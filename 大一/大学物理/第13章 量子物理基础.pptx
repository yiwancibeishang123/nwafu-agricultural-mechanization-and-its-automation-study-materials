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theme/themeOverride12.xml" ContentType="application/vnd.openxmlformats-officedocument.themeOverride+xml"/>
  <Override PartName="/ppt/theme/themeOverride30.xml" ContentType="application/vnd.openxmlformats-officedocument.themeOverr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theme/themeOverride5.xml" ContentType="application/vnd.openxmlformats-officedocument.themeOverr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heme/themeOverride1.xml" ContentType="application/vnd.openxmlformats-officedocument.themeOverr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heme/themeOverride39.xml" ContentType="application/vnd.openxmlformats-officedocument.themeOverride+xml"/>
  <Override PartName="/ppt/theme/themeOverride17.xml" ContentType="application/vnd.openxmlformats-officedocument.themeOverride+xml"/>
  <Override PartName="/ppt/theme/themeOverride28.xml" ContentType="application/vnd.openxmlformats-officedocument.themeOverride+xml"/>
  <Override PartName="/ppt/theme/themeOverride24.xml" ContentType="application/vnd.openxmlformats-officedocument.themeOverride+xml"/>
  <Default Extension="doc" ContentType="application/msword"/>
  <Override PartName="/ppt/theme/themeOverride35.xml" ContentType="application/vnd.openxmlformats-officedocument.themeOverr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theme/themeOverride13.xml" ContentType="application/vnd.openxmlformats-officedocument.themeOverride+xml"/>
  <Override PartName="/ppt/theme/themeOverride42.xml" ContentType="application/vnd.openxmlformats-officedocument.themeOverride+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notesSlides/notesSlide3.xml" ContentType="application/vnd.openxmlformats-officedocument.presentationml.notesSlide+xml"/>
  <Default Extension="png" ContentType="image/png"/>
  <Override PartName="/ppt/theme/themeOverride20.xml" ContentType="application/vnd.openxmlformats-officedocument.themeOverride+xml"/>
  <Override PartName="/ppt/theme/themeOverride31.xml" ContentType="application/vnd.openxmlformats-officedocument.themeOverr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theme/themeOverride6.xml" ContentType="application/vnd.openxmlformats-officedocument.themeOverr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heme/themeOverride2.xml" ContentType="application/vnd.openxmlformats-officedocument.themeOverr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theme/themeOverride29.xml" ContentType="application/vnd.openxmlformats-officedocument.themeOverride+xml"/>
  <Override PartName="/ppt/slideLayouts/slideLayout10.xml" ContentType="application/vnd.openxmlformats-officedocument.presentationml.slideLayout+xml"/>
  <Default Extension="vml" ContentType="application/vnd.openxmlformats-officedocument.vmlDrawing"/>
  <Override PartName="/ppt/theme/themeOverride18.xml" ContentType="application/vnd.openxmlformats-officedocument.themeOverride+xml"/>
  <Override PartName="/ppt/theme/themeOverride27.xml" ContentType="application/vnd.openxmlformats-officedocument.themeOverride+xml"/>
  <Override PartName="/ppt/theme/themeOverride36.xml" ContentType="application/vnd.openxmlformats-officedocument.themeOverride+xml"/>
  <Override PartName="/ppt/theme/themeOverride45.xml" ContentType="application/vnd.openxmlformats-officedocument.themeOverride+xml"/>
  <Override PartName="/ppt/theme/themeOverride16.xml" ContentType="application/vnd.openxmlformats-officedocument.themeOverride+xml"/>
  <Override PartName="/ppt/theme/themeOverride25.xml" ContentType="application/vnd.openxmlformats-officedocument.themeOverride+xml"/>
  <Override PartName="/ppt/notesSlides/notesSlide6.xml" ContentType="application/vnd.openxmlformats-officedocument.presentationml.notesSlide+xml"/>
  <Override PartName="/ppt/theme/themeOverride34.xml" ContentType="application/vnd.openxmlformats-officedocument.themeOverride+xml"/>
  <Override PartName="/ppt/theme/themeOverride43.xml" ContentType="application/vnd.openxmlformats-officedocument.themeOverr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theme/themeOverride9.xml" ContentType="application/vnd.openxmlformats-officedocument.themeOverride+xml"/>
  <Override PartName="/ppt/theme/themeOverride14.xml" ContentType="application/vnd.openxmlformats-officedocument.themeOverride+xml"/>
  <Override PartName="/ppt/notesSlides/notesSlide4.xml" ContentType="application/vnd.openxmlformats-officedocument.presentationml.notesSlide+xml"/>
  <Override PartName="/ppt/theme/themeOverride23.xml" ContentType="application/vnd.openxmlformats-officedocument.themeOverride+xml"/>
  <Override PartName="/ppt/theme/themeOverride32.xml" ContentType="application/vnd.openxmlformats-officedocument.themeOverride+xml"/>
  <Override PartName="/ppt/theme/themeOverride41.xml" ContentType="application/vnd.openxmlformats-officedocument.themeOverr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theme/themeOverride7.xml" ContentType="application/vnd.openxmlformats-officedocument.themeOverride+xml"/>
  <Override PartName="/ppt/theme/themeOverride21.xml" ContentType="application/vnd.openxmlformats-officedocument.themeOverr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Override10.xml" ContentType="application/vnd.openxmlformats-officedocument.themeOverr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wmf" ContentType="image/x-wmf"/>
  <Override PartName="/ppt/theme/themeOverride3.xml" ContentType="application/vnd.openxmlformats-officedocument.themeOverr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heme/themeOverride19.xml" ContentType="application/vnd.openxmlformats-officedocument.themeOverride+xml"/>
  <Override PartName="/ppt/theme/themeOverride37.xml" ContentType="application/vnd.openxmlformats-officedocument.themeOverride+xml"/>
  <Override PartName="/ppt/slides/slide79.xml" ContentType="application/vnd.openxmlformats-officedocument.presentationml.slide+xml"/>
  <Override PartName="/ppt/theme/themeOverride15.xml" ContentType="application/vnd.openxmlformats-officedocument.themeOverride+xml"/>
  <Override PartName="/ppt/theme/themeOverride26.xml" ContentType="application/vnd.openxmlformats-officedocument.themeOverride+xml"/>
  <Override PartName="/ppt/theme/themeOverride44.xml" ContentType="application/vnd.openxmlformats-officedocument.themeOverr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theme/themeOverride22.xml" ContentType="application/vnd.openxmlformats-officedocument.themeOverride+xml"/>
  <Override PartName="/ppt/notesSlides/notesSlide5.xml" ContentType="application/vnd.openxmlformats-officedocument.presentationml.notesSlide+xml"/>
  <Override PartName="/ppt/theme/themeOverride33.xml" ContentType="application/vnd.openxmlformats-officedocument.themeOverr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theme/themeOverride8.xml" ContentType="application/vnd.openxmlformats-officedocument.themeOverride+xml"/>
  <Override PartName="/ppt/theme/themeOverride11.xml" ContentType="application/vnd.openxmlformats-officedocument.themeOverride+xml"/>
  <Override PartName="/ppt/theme/themeOverride40.xml" ContentType="application/vnd.openxmlformats-officedocument.themeOverr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theme/themeOverride4.xml" ContentType="application/vnd.openxmlformats-officedocument.themeOverr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Default Extension="wav" ContentType="audio/wav"/>
  <Override PartName="/ppt/slides/slide20.xml" ContentType="application/vnd.openxmlformats-officedocument.presentationml.slide+xml"/>
  <Override PartName="/ppt/slideLayouts/slideLayout12.xml" ContentType="application/vnd.openxmlformats-officedocument.presentationml.slideLayout+xml"/>
  <Override PartName="/ppt/theme/themeOverride38.xml" ContentType="application/vnd.openxmlformats-officedocument.themeOverr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389" r:id="rId2"/>
    <p:sldId id="324" r:id="rId3"/>
    <p:sldId id="326" r:id="rId4"/>
    <p:sldId id="401" r:id="rId5"/>
    <p:sldId id="329" r:id="rId6"/>
    <p:sldId id="330" r:id="rId7"/>
    <p:sldId id="331" r:id="rId8"/>
    <p:sldId id="402" r:id="rId9"/>
    <p:sldId id="328" r:id="rId10"/>
    <p:sldId id="333" r:id="rId11"/>
    <p:sldId id="334" r:id="rId12"/>
    <p:sldId id="335" r:id="rId13"/>
    <p:sldId id="404" r:id="rId14"/>
    <p:sldId id="406" r:id="rId15"/>
    <p:sldId id="339" r:id="rId16"/>
    <p:sldId id="410" r:id="rId17"/>
    <p:sldId id="340" r:id="rId18"/>
    <p:sldId id="341" r:id="rId19"/>
    <p:sldId id="342" r:id="rId20"/>
    <p:sldId id="411" r:id="rId21"/>
    <p:sldId id="343" r:id="rId22"/>
    <p:sldId id="462" r:id="rId23"/>
    <p:sldId id="337" r:id="rId24"/>
    <p:sldId id="413" r:id="rId25"/>
    <p:sldId id="345" r:id="rId26"/>
    <p:sldId id="346" r:id="rId27"/>
    <p:sldId id="347" r:id="rId28"/>
    <p:sldId id="348" r:id="rId29"/>
    <p:sldId id="349" r:id="rId30"/>
    <p:sldId id="350" r:id="rId31"/>
    <p:sldId id="412" r:id="rId32"/>
    <p:sldId id="387" r:id="rId33"/>
    <p:sldId id="352" r:id="rId34"/>
    <p:sldId id="417" r:id="rId35"/>
    <p:sldId id="353" r:id="rId36"/>
    <p:sldId id="415" r:id="rId37"/>
    <p:sldId id="356" r:id="rId38"/>
    <p:sldId id="418" r:id="rId39"/>
    <p:sldId id="358" r:id="rId40"/>
    <p:sldId id="441" r:id="rId41"/>
    <p:sldId id="359" r:id="rId42"/>
    <p:sldId id="360" r:id="rId43"/>
    <p:sldId id="361" r:id="rId44"/>
    <p:sldId id="362" r:id="rId45"/>
    <p:sldId id="363" r:id="rId46"/>
    <p:sldId id="421" r:id="rId47"/>
    <p:sldId id="364" r:id="rId48"/>
    <p:sldId id="365" r:id="rId49"/>
    <p:sldId id="366" r:id="rId50"/>
    <p:sldId id="423" r:id="rId51"/>
    <p:sldId id="424" r:id="rId52"/>
    <p:sldId id="425" r:id="rId53"/>
    <p:sldId id="367" r:id="rId54"/>
    <p:sldId id="426" r:id="rId55"/>
    <p:sldId id="422" r:id="rId56"/>
    <p:sldId id="427" r:id="rId57"/>
    <p:sldId id="374" r:id="rId58"/>
    <p:sldId id="375" r:id="rId59"/>
    <p:sldId id="376" r:id="rId60"/>
    <p:sldId id="377" r:id="rId61"/>
    <p:sldId id="380" r:id="rId62"/>
    <p:sldId id="381" r:id="rId63"/>
    <p:sldId id="442" r:id="rId64"/>
    <p:sldId id="385" r:id="rId65"/>
    <p:sldId id="382" r:id="rId66"/>
    <p:sldId id="383" r:id="rId67"/>
    <p:sldId id="384" r:id="rId68"/>
    <p:sldId id="386" r:id="rId69"/>
    <p:sldId id="444" r:id="rId70"/>
    <p:sldId id="445" r:id="rId71"/>
    <p:sldId id="446" r:id="rId72"/>
    <p:sldId id="447" r:id="rId73"/>
    <p:sldId id="460" r:id="rId74"/>
    <p:sldId id="449" r:id="rId75"/>
    <p:sldId id="459" r:id="rId76"/>
    <p:sldId id="453" r:id="rId77"/>
    <p:sldId id="454" r:id="rId78"/>
    <p:sldId id="457" r:id="rId79"/>
    <p:sldId id="390" r:id="rId80"/>
    <p:sldId id="391" r:id="rId81"/>
    <p:sldId id="392" r:id="rId82"/>
    <p:sldId id="395" r:id="rId83"/>
    <p:sldId id="393" r:id="rId84"/>
    <p:sldId id="396" r:id="rId85"/>
    <p:sldId id="398" r:id="rId86"/>
    <p:sldId id="400" r:id="rId87"/>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charset="-122"/>
        <a:cs typeface="+mn-cs"/>
      </a:defRPr>
    </a:lvl5pPr>
    <a:lvl6pPr marL="2286000" algn="l" defTabSz="914400" rtl="0" eaLnBrk="1" latinLnBrk="0" hangingPunct="1">
      <a:defRPr kumimoji="1" sz="2400" kern="1200">
        <a:solidFill>
          <a:schemeClr val="tx1"/>
        </a:solidFill>
        <a:latin typeface="Times New Roman" pitchFamily="18" charset="0"/>
        <a:ea typeface="宋体" charset="-122"/>
        <a:cs typeface="+mn-cs"/>
      </a:defRPr>
    </a:lvl6pPr>
    <a:lvl7pPr marL="2743200" algn="l" defTabSz="914400" rtl="0" eaLnBrk="1" latinLnBrk="0" hangingPunct="1">
      <a:defRPr kumimoji="1" sz="2400" kern="1200">
        <a:solidFill>
          <a:schemeClr val="tx1"/>
        </a:solidFill>
        <a:latin typeface="Times New Roman" pitchFamily="18" charset="0"/>
        <a:ea typeface="宋体" charset="-122"/>
        <a:cs typeface="+mn-cs"/>
      </a:defRPr>
    </a:lvl7pPr>
    <a:lvl8pPr marL="3200400" algn="l" defTabSz="914400" rtl="0" eaLnBrk="1" latinLnBrk="0" hangingPunct="1">
      <a:defRPr kumimoji="1" sz="2400" kern="1200">
        <a:solidFill>
          <a:schemeClr val="tx1"/>
        </a:solidFill>
        <a:latin typeface="Times New Roman" pitchFamily="18" charset="0"/>
        <a:ea typeface="宋体" charset="-122"/>
        <a:cs typeface="+mn-cs"/>
      </a:defRPr>
    </a:lvl8pPr>
    <a:lvl9pPr marL="3657600" algn="l" defTabSz="914400" rtl="0" eaLnBrk="1" latinLnBrk="0" hangingPunct="1">
      <a:defRPr kumimoji="1" sz="2400" kern="1200">
        <a:solidFill>
          <a:schemeClr val="tx1"/>
        </a:solidFill>
        <a:latin typeface="Times New Roman" pitchFamily="18"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339933"/>
    <a:srgbClr val="0000FF"/>
    <a:srgbClr val="66FFFF"/>
    <a:srgbClr val="FF6600"/>
    <a:srgbClr val="FF3300"/>
    <a:srgbClr val="006600"/>
    <a:srgbClr val="00FFCC"/>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40" autoAdjust="0"/>
    <p:restoredTop sz="87613" autoAdjust="0"/>
  </p:normalViewPr>
  <p:slideViewPr>
    <p:cSldViewPr>
      <p:cViewPr varScale="1">
        <p:scale>
          <a:sx n="114" d="100"/>
          <a:sy n="114" d="100"/>
        </p:scale>
        <p:origin x="-154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46085125" cy="4608512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image" Target="../media/image39.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image" Target="../media/image43.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image" Target="../media/image45.e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54.emf"/><Relationship Id="rId3" Type="http://schemas.openxmlformats.org/officeDocument/2006/relationships/image" Target="../media/image49.emf"/><Relationship Id="rId7" Type="http://schemas.openxmlformats.org/officeDocument/2006/relationships/image" Target="../media/image53.emf"/><Relationship Id="rId2" Type="http://schemas.openxmlformats.org/officeDocument/2006/relationships/image" Target="../media/image48.emf"/><Relationship Id="rId1" Type="http://schemas.openxmlformats.org/officeDocument/2006/relationships/image" Target="../media/image47.emf"/><Relationship Id="rId6" Type="http://schemas.openxmlformats.org/officeDocument/2006/relationships/image" Target="../media/image52.emf"/><Relationship Id="rId5" Type="http://schemas.openxmlformats.org/officeDocument/2006/relationships/image" Target="../media/image51.emf"/><Relationship Id="rId4" Type="http://schemas.openxmlformats.org/officeDocument/2006/relationships/image" Target="../media/image50.emf"/><Relationship Id="rId9" Type="http://schemas.openxmlformats.org/officeDocument/2006/relationships/image" Target="../media/image55.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image" Target="../media/image56.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image" Target="../media/image58.emf"/><Relationship Id="rId6" Type="http://schemas.openxmlformats.org/officeDocument/2006/relationships/image" Target="../media/image63.emf"/><Relationship Id="rId5" Type="http://schemas.openxmlformats.org/officeDocument/2006/relationships/image" Target="../media/image62.emf"/><Relationship Id="rId4" Type="http://schemas.openxmlformats.org/officeDocument/2006/relationships/image" Target="../media/image61.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image" Target="../media/image64.emf"/><Relationship Id="rId4" Type="http://schemas.openxmlformats.org/officeDocument/2006/relationships/image" Target="../media/image67.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image" Target="../media/image77.emf"/><Relationship Id="rId1" Type="http://schemas.openxmlformats.org/officeDocument/2006/relationships/image" Target="../media/image76.emf"/><Relationship Id="rId6" Type="http://schemas.openxmlformats.org/officeDocument/2006/relationships/image" Target="../media/image81.emf"/><Relationship Id="rId5" Type="http://schemas.openxmlformats.org/officeDocument/2006/relationships/image" Target="../media/image80.emf"/><Relationship Id="rId4" Type="http://schemas.openxmlformats.org/officeDocument/2006/relationships/image" Target="../media/image79.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image" Target="../media/image83.emf"/><Relationship Id="rId1" Type="http://schemas.openxmlformats.org/officeDocument/2006/relationships/image" Target="../media/image82.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image" Target="../media/image87.emf"/><Relationship Id="rId1" Type="http://schemas.openxmlformats.org/officeDocument/2006/relationships/image" Target="../media/image86.emf"/><Relationship Id="rId6" Type="http://schemas.openxmlformats.org/officeDocument/2006/relationships/image" Target="../media/image91.emf"/><Relationship Id="rId5" Type="http://schemas.openxmlformats.org/officeDocument/2006/relationships/image" Target="../media/image90.emf"/><Relationship Id="rId4" Type="http://schemas.openxmlformats.org/officeDocument/2006/relationships/image" Target="../media/image89.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image" Target="../media/image93.emf"/><Relationship Id="rId1" Type="http://schemas.openxmlformats.org/officeDocument/2006/relationships/image" Target="../media/image92.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97.emf"/><Relationship Id="rId2" Type="http://schemas.openxmlformats.org/officeDocument/2006/relationships/image" Target="../media/image96.emf"/><Relationship Id="rId1" Type="http://schemas.openxmlformats.org/officeDocument/2006/relationships/image" Target="../media/image95.emf"/><Relationship Id="rId6" Type="http://schemas.openxmlformats.org/officeDocument/2006/relationships/image" Target="../media/image100.emf"/><Relationship Id="rId5" Type="http://schemas.openxmlformats.org/officeDocument/2006/relationships/image" Target="../media/image99.emf"/><Relationship Id="rId4" Type="http://schemas.openxmlformats.org/officeDocument/2006/relationships/image" Target="../media/image98.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03.emf"/><Relationship Id="rId1" Type="http://schemas.openxmlformats.org/officeDocument/2006/relationships/image" Target="../media/image102.e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05.emf"/><Relationship Id="rId1" Type="http://schemas.openxmlformats.org/officeDocument/2006/relationships/image" Target="../media/image104.e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12.emf"/><Relationship Id="rId1" Type="http://schemas.openxmlformats.org/officeDocument/2006/relationships/image" Target="../media/image111.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15.emf"/><Relationship Id="rId1" Type="http://schemas.openxmlformats.org/officeDocument/2006/relationships/image" Target="../media/image114.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image" Target="../media/image117.emf"/><Relationship Id="rId1" Type="http://schemas.openxmlformats.org/officeDocument/2006/relationships/image" Target="../media/image116.emf"/><Relationship Id="rId5" Type="http://schemas.openxmlformats.org/officeDocument/2006/relationships/image" Target="../media/image120.emf"/><Relationship Id="rId4" Type="http://schemas.openxmlformats.org/officeDocument/2006/relationships/image" Target="../media/image119.e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28.emf"/><Relationship Id="rId3" Type="http://schemas.openxmlformats.org/officeDocument/2006/relationships/image" Target="../media/image123.emf"/><Relationship Id="rId7" Type="http://schemas.openxmlformats.org/officeDocument/2006/relationships/image" Target="../media/image127.emf"/><Relationship Id="rId2" Type="http://schemas.openxmlformats.org/officeDocument/2006/relationships/image" Target="../media/image122.emf"/><Relationship Id="rId1" Type="http://schemas.openxmlformats.org/officeDocument/2006/relationships/image" Target="../media/image121.emf"/><Relationship Id="rId6" Type="http://schemas.openxmlformats.org/officeDocument/2006/relationships/image" Target="../media/image126.emf"/><Relationship Id="rId11" Type="http://schemas.openxmlformats.org/officeDocument/2006/relationships/image" Target="../media/image131.emf"/><Relationship Id="rId5" Type="http://schemas.openxmlformats.org/officeDocument/2006/relationships/image" Target="../media/image125.emf"/><Relationship Id="rId10" Type="http://schemas.openxmlformats.org/officeDocument/2006/relationships/image" Target="../media/image130.emf"/><Relationship Id="rId4" Type="http://schemas.openxmlformats.org/officeDocument/2006/relationships/image" Target="../media/image124.emf"/><Relationship Id="rId9" Type="http://schemas.openxmlformats.org/officeDocument/2006/relationships/image" Target="../media/image129.e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139.emf"/><Relationship Id="rId3" Type="http://schemas.openxmlformats.org/officeDocument/2006/relationships/image" Target="../media/image134.emf"/><Relationship Id="rId7" Type="http://schemas.openxmlformats.org/officeDocument/2006/relationships/image" Target="../media/image138.emf"/><Relationship Id="rId2" Type="http://schemas.openxmlformats.org/officeDocument/2006/relationships/image" Target="../media/image133.emf"/><Relationship Id="rId1" Type="http://schemas.openxmlformats.org/officeDocument/2006/relationships/image" Target="../media/image132.emf"/><Relationship Id="rId6" Type="http://schemas.openxmlformats.org/officeDocument/2006/relationships/image" Target="../media/image137.emf"/><Relationship Id="rId5" Type="http://schemas.openxmlformats.org/officeDocument/2006/relationships/image" Target="../media/image136.emf"/><Relationship Id="rId4" Type="http://schemas.openxmlformats.org/officeDocument/2006/relationships/image" Target="../media/image135.e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emf"/><Relationship Id="rId4" Type="http://schemas.openxmlformats.org/officeDocument/2006/relationships/image" Target="../media/image143.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46.emf"/><Relationship Id="rId2" Type="http://schemas.openxmlformats.org/officeDocument/2006/relationships/image" Target="../media/image145.emf"/><Relationship Id="rId1" Type="http://schemas.openxmlformats.org/officeDocument/2006/relationships/image" Target="../media/image144.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48.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52.emf"/><Relationship Id="rId2" Type="http://schemas.openxmlformats.org/officeDocument/2006/relationships/image" Target="../media/image151.emf"/><Relationship Id="rId1" Type="http://schemas.openxmlformats.org/officeDocument/2006/relationships/image" Target="../media/image150.emf"/><Relationship Id="rId4" Type="http://schemas.openxmlformats.org/officeDocument/2006/relationships/image" Target="../media/image153.e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155.emf"/><Relationship Id="rId1" Type="http://schemas.openxmlformats.org/officeDocument/2006/relationships/image" Target="../media/image154.e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163.emf"/><Relationship Id="rId13" Type="http://schemas.openxmlformats.org/officeDocument/2006/relationships/image" Target="../media/image168.emf"/><Relationship Id="rId3" Type="http://schemas.openxmlformats.org/officeDocument/2006/relationships/image" Target="../media/image158.emf"/><Relationship Id="rId7" Type="http://schemas.openxmlformats.org/officeDocument/2006/relationships/image" Target="../media/image162.emf"/><Relationship Id="rId12" Type="http://schemas.openxmlformats.org/officeDocument/2006/relationships/image" Target="../media/image167.emf"/><Relationship Id="rId2" Type="http://schemas.openxmlformats.org/officeDocument/2006/relationships/image" Target="../media/image157.emf"/><Relationship Id="rId1" Type="http://schemas.openxmlformats.org/officeDocument/2006/relationships/image" Target="../media/image156.emf"/><Relationship Id="rId6" Type="http://schemas.openxmlformats.org/officeDocument/2006/relationships/image" Target="../media/image161.emf"/><Relationship Id="rId11" Type="http://schemas.openxmlformats.org/officeDocument/2006/relationships/image" Target="../media/image166.emf"/><Relationship Id="rId5" Type="http://schemas.openxmlformats.org/officeDocument/2006/relationships/image" Target="../media/image160.emf"/><Relationship Id="rId10" Type="http://schemas.openxmlformats.org/officeDocument/2006/relationships/image" Target="../media/image165.emf"/><Relationship Id="rId4" Type="http://schemas.openxmlformats.org/officeDocument/2006/relationships/image" Target="../media/image159.emf"/><Relationship Id="rId9" Type="http://schemas.openxmlformats.org/officeDocument/2006/relationships/image" Target="../media/image164.e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78.emf"/><Relationship Id="rId2" Type="http://schemas.openxmlformats.org/officeDocument/2006/relationships/image" Target="../media/image177.emf"/><Relationship Id="rId1" Type="http://schemas.openxmlformats.org/officeDocument/2006/relationships/image" Target="../media/image176.emf"/><Relationship Id="rId4" Type="http://schemas.openxmlformats.org/officeDocument/2006/relationships/image" Target="../media/image179.e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84.emf"/><Relationship Id="rId2" Type="http://schemas.openxmlformats.org/officeDocument/2006/relationships/image" Target="../media/image183.emf"/><Relationship Id="rId1" Type="http://schemas.openxmlformats.org/officeDocument/2006/relationships/image" Target="../media/image182.emf"/><Relationship Id="rId4" Type="http://schemas.openxmlformats.org/officeDocument/2006/relationships/image" Target="../media/image185.e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88.emf"/><Relationship Id="rId2" Type="http://schemas.openxmlformats.org/officeDocument/2006/relationships/image" Target="../media/image187.emf"/><Relationship Id="rId1" Type="http://schemas.openxmlformats.org/officeDocument/2006/relationships/image" Target="../media/image186.emf"/><Relationship Id="rId4" Type="http://schemas.openxmlformats.org/officeDocument/2006/relationships/image" Target="../media/image189.e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194.emf"/><Relationship Id="rId1" Type="http://schemas.openxmlformats.org/officeDocument/2006/relationships/image" Target="../media/image193.e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96.emf"/><Relationship Id="rId1" Type="http://schemas.openxmlformats.org/officeDocument/2006/relationships/image" Target="../media/image195.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99.emf"/><Relationship Id="rId2" Type="http://schemas.openxmlformats.org/officeDocument/2006/relationships/image" Target="../media/image198.emf"/><Relationship Id="rId1" Type="http://schemas.openxmlformats.org/officeDocument/2006/relationships/image" Target="../media/image197.e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02.emf"/><Relationship Id="rId2" Type="http://schemas.openxmlformats.org/officeDocument/2006/relationships/image" Target="../media/image201.emf"/><Relationship Id="rId1" Type="http://schemas.openxmlformats.org/officeDocument/2006/relationships/image" Target="../media/image200.emf"/><Relationship Id="rId4" Type="http://schemas.openxmlformats.org/officeDocument/2006/relationships/image" Target="../media/image203.e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06.emf"/><Relationship Id="rId2" Type="http://schemas.openxmlformats.org/officeDocument/2006/relationships/image" Target="../media/image205.emf"/><Relationship Id="rId1" Type="http://schemas.openxmlformats.org/officeDocument/2006/relationships/image" Target="../media/image204.emf"/><Relationship Id="rId6" Type="http://schemas.openxmlformats.org/officeDocument/2006/relationships/image" Target="../media/image209.emf"/><Relationship Id="rId5" Type="http://schemas.openxmlformats.org/officeDocument/2006/relationships/image" Target="../media/image208.emf"/><Relationship Id="rId4" Type="http://schemas.openxmlformats.org/officeDocument/2006/relationships/image" Target="../media/image207.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10.e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13.emf"/><Relationship Id="rId2" Type="http://schemas.openxmlformats.org/officeDocument/2006/relationships/image" Target="../media/image212.emf"/><Relationship Id="rId1" Type="http://schemas.openxmlformats.org/officeDocument/2006/relationships/image" Target="../media/image211.emf"/><Relationship Id="rId4" Type="http://schemas.openxmlformats.org/officeDocument/2006/relationships/image" Target="../media/image21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542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942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42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542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542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40B8051F-8CE0-4B27-96C4-2D351EBB157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miter lim="800000"/>
            <a:headEnd/>
            <a:tailEnd/>
          </a:ln>
        </p:spPr>
        <p:txBody>
          <a:bodyPr/>
          <a:lstStyle/>
          <a:p>
            <a:fld id="{EF5EE58E-6B21-45DE-8298-DE59F3236000}" type="slidenum">
              <a:rPr lang="en-US" altLang="zh-CN" smtClean="0">
                <a:ea typeface="宋体" charset="-122"/>
              </a:rPr>
              <a:pPr/>
              <a:t>2</a:t>
            </a:fld>
            <a:endParaRPr lang="en-US" altLang="zh-CN" smtClean="0">
              <a:ea typeface="宋体" charset="-122"/>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p:spPr>
        <p:txBody>
          <a:bodyPr/>
          <a:lstStyle/>
          <a:p>
            <a:pPr eaLnBrk="1" hangingPunct="1"/>
            <a:endParaRPr lang="zh-CN" altLang="zh-CN" smtClean="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miter lim="800000"/>
            <a:headEnd/>
            <a:tailEnd/>
          </a:ln>
        </p:spPr>
        <p:txBody>
          <a:bodyPr/>
          <a:lstStyle/>
          <a:p>
            <a:fld id="{CA5FBA2E-7B21-4C93-8C56-2D26079DFA0C}" type="slidenum">
              <a:rPr lang="en-US" altLang="zh-CN" smtClean="0">
                <a:ea typeface="宋体" charset="-122"/>
              </a:rPr>
              <a:pPr/>
              <a:t>6</a:t>
            </a:fld>
            <a:endParaRPr lang="en-US" altLang="zh-CN" smtClean="0">
              <a:ea typeface="宋体" charset="-122"/>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p:spPr>
        <p:txBody>
          <a:bodyPr/>
          <a:lstStyle/>
          <a:p>
            <a:pPr eaLnBrk="1" hangingPunct="1"/>
            <a:r>
              <a:rPr kumimoji="0" lang="zh-CN" altLang="en-US" sz="1600" smtClean="0">
                <a:solidFill>
                  <a:srgbClr val="0000FF"/>
                </a:solidFill>
                <a:ea typeface="宋体" charset="-122"/>
              </a:rPr>
              <a:t>德国维恩</a:t>
            </a:r>
            <a:r>
              <a:rPr kumimoji="0" lang="zh-CN" altLang="en-US" smtClean="0">
                <a:solidFill>
                  <a:srgbClr val="0000FF"/>
                </a:solidFill>
                <a:ea typeface="宋体" charset="-122"/>
              </a:rPr>
              <a:t>（</a:t>
            </a:r>
            <a:r>
              <a:rPr kumimoji="0" lang="en-US" altLang="zh-CN" smtClean="0">
                <a:solidFill>
                  <a:srgbClr val="0000FF"/>
                </a:solidFill>
                <a:ea typeface="宋体" charset="-122"/>
              </a:rPr>
              <a:t>1864~1928</a:t>
            </a:r>
            <a:r>
              <a:rPr kumimoji="0" lang="zh-CN" altLang="en-US" smtClean="0">
                <a:solidFill>
                  <a:srgbClr val="0000FF"/>
                </a:solidFill>
                <a:ea typeface="宋体" charset="-122"/>
              </a:rPr>
              <a:t>）</a:t>
            </a:r>
            <a:r>
              <a:rPr kumimoji="0" lang="zh-CN" altLang="en-US" smtClean="0">
                <a:ea typeface="宋体" charset="-122"/>
              </a:rPr>
              <a:t> </a:t>
            </a:r>
            <a:r>
              <a:rPr kumimoji="0" lang="zh-CN" altLang="en-US" sz="1600" smtClean="0">
                <a:solidFill>
                  <a:srgbClr val="0000FF"/>
                </a:solidFill>
                <a:ea typeface="宋体" charset="-122"/>
              </a:rPr>
              <a:t>：因发现热辐射定律获</a:t>
            </a:r>
            <a:r>
              <a:rPr kumimoji="0" lang="en-US" altLang="zh-CN" sz="1600" smtClean="0">
                <a:solidFill>
                  <a:srgbClr val="0000FF"/>
                </a:solidFill>
                <a:ea typeface="宋体" charset="-122"/>
              </a:rPr>
              <a:t>1911</a:t>
            </a:r>
            <a:r>
              <a:rPr kumimoji="0" lang="zh-CN" altLang="en-US" sz="1600" smtClean="0">
                <a:solidFill>
                  <a:srgbClr val="0000FF"/>
                </a:solidFill>
                <a:ea typeface="宋体" charset="-122"/>
              </a:rPr>
              <a:t>年诺贝尔物理奖，后来发现其辐射公式只适用于短波。</a:t>
            </a:r>
          </a:p>
          <a:p>
            <a:pPr eaLnBrk="1" hangingPunct="1"/>
            <a:endParaRPr lang="en-US" altLang="zh-CN" smtClean="0">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miter lim="800000"/>
            <a:headEnd/>
            <a:tailEnd/>
          </a:ln>
        </p:spPr>
        <p:txBody>
          <a:bodyPr/>
          <a:lstStyle/>
          <a:p>
            <a:fld id="{5176C81F-D2BA-4CB9-87CC-1926CA8AFD79}" type="slidenum">
              <a:rPr lang="en-US" altLang="zh-CN" smtClean="0">
                <a:ea typeface="宋体" charset="-122"/>
              </a:rPr>
              <a:pPr/>
              <a:t>8</a:t>
            </a:fld>
            <a:endParaRPr lang="en-US" altLang="zh-CN" smtClean="0">
              <a:ea typeface="宋体" charset="-122"/>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p:spPr>
        <p:txBody>
          <a:bodyPr/>
          <a:lstStyle/>
          <a:p>
            <a:pPr eaLnBrk="1" hangingPunct="1"/>
            <a:endParaRPr kumimoji="0" lang="zh-CN" altLang="zh-CN" smtClean="0">
              <a:solidFill>
                <a:srgbClr val="0000FF"/>
              </a:solidFill>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miter lim="800000"/>
            <a:headEnd/>
            <a:tailEnd/>
          </a:ln>
        </p:spPr>
        <p:txBody>
          <a:bodyPr/>
          <a:lstStyle/>
          <a:p>
            <a:fld id="{100EF88D-4C52-4A04-A576-5C420118821D}" type="slidenum">
              <a:rPr lang="en-US" altLang="zh-CN" smtClean="0">
                <a:ea typeface="宋体" charset="-122"/>
              </a:rPr>
              <a:pPr/>
              <a:t>34</a:t>
            </a:fld>
            <a:endParaRPr lang="en-US" altLang="zh-CN" smtClean="0">
              <a:ea typeface="宋体" charset="-122"/>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p:spPr>
        <p:txBody>
          <a:bodyPr/>
          <a:lstStyle/>
          <a:p>
            <a:pPr eaLnBrk="1" hangingPunct="1"/>
            <a:r>
              <a:rPr kumimoji="0" lang="zh-CN" altLang="en-US" b="1" smtClean="0">
                <a:solidFill>
                  <a:schemeClr val="bg2"/>
                </a:solidFill>
                <a:ea typeface="宋体" charset="-122"/>
              </a:rPr>
              <a:t>概率波： </a:t>
            </a:r>
            <a:r>
              <a:rPr kumimoji="0" lang="en-US" altLang="zh-CN" b="1" smtClean="0">
                <a:solidFill>
                  <a:schemeClr val="bg2"/>
                </a:solidFill>
                <a:ea typeface="宋体" charset="-122"/>
              </a:rPr>
              <a:t>1926 </a:t>
            </a:r>
            <a:r>
              <a:rPr kumimoji="0" lang="zh-CN" altLang="en-US" b="1" smtClean="0">
                <a:solidFill>
                  <a:schemeClr val="bg2"/>
                </a:solidFill>
                <a:ea typeface="宋体" charset="-122"/>
              </a:rPr>
              <a:t>年</a:t>
            </a:r>
            <a:r>
              <a:rPr kumimoji="0" lang="en-US" altLang="zh-CN" b="1" smtClean="0">
                <a:solidFill>
                  <a:schemeClr val="bg2"/>
                </a:solidFill>
                <a:ea typeface="宋体" charset="-122"/>
              </a:rPr>
              <a:t>,</a:t>
            </a:r>
            <a:r>
              <a:rPr kumimoji="0" lang="zh-CN" altLang="en-US" b="1" smtClean="0">
                <a:solidFill>
                  <a:schemeClr val="bg2"/>
                </a:solidFill>
                <a:ea typeface="宋体" charset="-122"/>
              </a:rPr>
              <a:t>玻恩提出的观点。</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miter lim="800000"/>
            <a:headEnd/>
            <a:tailEnd/>
          </a:ln>
        </p:spPr>
        <p:txBody>
          <a:bodyPr/>
          <a:lstStyle/>
          <a:p>
            <a:fld id="{6191E0A1-1630-483E-9D18-B7BA84CEE4C0}" type="slidenum">
              <a:rPr lang="en-US" altLang="zh-CN" smtClean="0">
                <a:ea typeface="宋体" charset="-122"/>
              </a:rPr>
              <a:pPr/>
              <a:t>40</a:t>
            </a:fld>
            <a:endParaRPr lang="en-US" altLang="zh-CN" smtClean="0">
              <a:ea typeface="宋体" charset="-122"/>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xfrm>
            <a:off x="914400" y="4343400"/>
            <a:ext cx="5029200" cy="4114800"/>
          </a:xfrm>
          <a:noFill/>
        </p:spPr>
        <p:txBody>
          <a:bodyPr/>
          <a:lstStyle/>
          <a:p>
            <a:pPr eaLnBrk="1" hangingPunct="1"/>
            <a:endParaRPr lang="zh-CN" altLang="zh-CN" smtClean="0">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miter lim="800000"/>
            <a:headEnd/>
            <a:tailEnd/>
          </a:ln>
        </p:spPr>
        <p:txBody>
          <a:bodyPr/>
          <a:lstStyle/>
          <a:p>
            <a:fld id="{51715BEF-A3B7-4E43-8469-D4683C3B4BCF}" type="slidenum">
              <a:rPr lang="en-US" altLang="zh-CN" smtClean="0">
                <a:ea typeface="宋体" charset="-122"/>
              </a:rPr>
              <a:pPr/>
              <a:t>47</a:t>
            </a:fld>
            <a:endParaRPr lang="en-US" altLang="zh-CN" smtClean="0">
              <a:ea typeface="宋体" charset="-122"/>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p:spPr>
        <p:txBody>
          <a:bodyPr/>
          <a:lstStyle/>
          <a:p>
            <a:pPr eaLnBrk="1" hangingPunct="1"/>
            <a:r>
              <a:rPr lang="zh-CN" altLang="en-US" smtClean="0">
                <a:ea typeface="宋体" charset="-122"/>
              </a:rPr>
              <a:t>粒子只能在宽度为</a:t>
            </a:r>
            <a:r>
              <a:rPr lang="en-US" altLang="zh-CN" smtClean="0">
                <a:ea typeface="宋体" charset="-122"/>
              </a:rPr>
              <a:t>a</a:t>
            </a:r>
            <a:r>
              <a:rPr lang="zh-CN" altLang="en-US" smtClean="0">
                <a:ea typeface="宋体" charset="-122"/>
              </a:rPr>
              <a:t>的两个无限高势壁之间自由运动，就像一小球被限制在无限深的平底深谷中运动那样。</a:t>
            </a:r>
          </a:p>
          <a:p>
            <a:pPr eaLnBrk="1" hangingPunct="1"/>
            <a:r>
              <a:rPr lang="zh-CN" altLang="en-US" smtClean="0">
                <a:ea typeface="宋体" charset="-122"/>
              </a:rPr>
              <a:t>这种理想化了的势能曲线叫做无限深的方形势阱。</a:t>
            </a:r>
          </a:p>
          <a:p>
            <a:pPr eaLnBrk="1" hangingPunct="1"/>
            <a:r>
              <a:rPr lang="zh-CN" altLang="en-US" smtClean="0">
                <a:ea typeface="宋体" charset="-122"/>
              </a:rPr>
              <a:t>因为粒子限于沿</a:t>
            </a:r>
            <a:r>
              <a:rPr lang="en-US" altLang="zh-CN" smtClean="0">
                <a:ea typeface="宋体" charset="-122"/>
              </a:rPr>
              <a:t>x</a:t>
            </a:r>
            <a:r>
              <a:rPr lang="zh-CN" altLang="en-US" smtClean="0">
                <a:ea typeface="宋体" charset="-122"/>
              </a:rPr>
              <a:t>方向运动，故该势阱为一维无限深的方形势阱，简称一维方势阱。</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E742B15-D832-47F6-9290-88356C345EED}"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47A1D22-B47F-41B1-9180-F9C8214A3836}"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479A6BF-34FB-410B-B3BB-A7CAA3DAA0AD}"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E75DD39-48DA-4EE6-B404-370034850614}"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4B674524-1A04-4536-A6D8-6F284398E158}"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DFE138F8-BF1E-42E0-BE00-BFF89EC70EEA}"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F2D88CE4-5D9D-4DB0-9613-342773D68E5E}"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7332700-EA62-4A1D-8494-6E5B8CDAFFD2}"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C078354-DF90-4796-861A-CED138F62952}"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D39A057-B314-4020-B565-14B07F0DD339}"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550AF0B-ADEC-4F68-BD00-6FF95825CF75}"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609600"/>
            <a:ext cx="77724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85800" y="1981200"/>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981200"/>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85800" y="4114800"/>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4114800"/>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BEFE2C85-4B55-4293-B2CA-27BDA0975879}" type="slidenum">
              <a:rPr lang="en-US" altLang="zh-CN"/>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DF6FD9C1-7805-4779-9008-328BAEE30525}"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宋体" pitchFamily="2"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宋体" pitchFamily="2"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宋体" pitchFamily="2" charset="-122"/>
              </a:defRPr>
            </a:lvl1pPr>
          </a:lstStyle>
          <a:p>
            <a:pPr>
              <a:defRPr/>
            </a:pPr>
            <a:fld id="{141318F1-29A6-48CA-96FE-EA2E16748557}" type="slidenum">
              <a:rPr lang="en-US" altLang="zh-CN"/>
              <a:pPr>
                <a:defRPr/>
              </a:pPr>
              <a:t>‹#›</a:t>
            </a:fld>
            <a:endParaRPr lang="en-US" altLang="zh-CN"/>
          </a:p>
        </p:txBody>
      </p:sp>
      <p:sp>
        <p:nvSpPr>
          <p:cNvPr id="1031" name="Rectangle 7">
            <a:hlinkClick r:id="" action="ppaction://hlinkshowjump?jump=previousslide"/>
          </p:cNvPr>
          <p:cNvSpPr>
            <a:spLocks noChangeArrowheads="1"/>
          </p:cNvSpPr>
          <p:nvPr userDrawn="1"/>
        </p:nvSpPr>
        <p:spPr bwMode="auto">
          <a:xfrm>
            <a:off x="7308850" y="6669088"/>
            <a:ext cx="431800" cy="73025"/>
          </a:xfrm>
          <a:prstGeom prst="rect">
            <a:avLst/>
          </a:prstGeom>
          <a:noFill/>
          <a:ln w="9525">
            <a:noFill/>
            <a:miter lim="800000"/>
            <a:headEnd/>
            <a:tailEnd/>
          </a:ln>
          <a:effectLst/>
        </p:spPr>
        <p:txBody>
          <a:bodyPr wrap="none" anchor="ctr"/>
          <a:lstStyle/>
          <a:p>
            <a:endParaRPr lang="zh-CN" altLang="en-US"/>
          </a:p>
        </p:txBody>
      </p:sp>
      <p:sp>
        <p:nvSpPr>
          <p:cNvPr id="1032" name="Rectangle 8"/>
          <p:cNvSpPr>
            <a:spLocks noChangeArrowheads="1"/>
          </p:cNvSpPr>
          <p:nvPr userDrawn="1"/>
        </p:nvSpPr>
        <p:spPr bwMode="auto">
          <a:xfrm>
            <a:off x="7773988" y="6669088"/>
            <a:ext cx="431800" cy="73025"/>
          </a:xfrm>
          <a:prstGeom prst="rect">
            <a:avLst/>
          </a:prstGeom>
          <a:noFill/>
          <a:ln w="9525">
            <a:noFill/>
            <a:miter lim="800000"/>
            <a:headEnd/>
            <a:tailEnd/>
          </a:ln>
          <a:effectLst/>
        </p:spPr>
        <p:txBody>
          <a:bodyPr wrap="none" anchor="ctr"/>
          <a:lstStyle/>
          <a:p>
            <a:endParaRPr lang="zh-CN" altLang="en-US"/>
          </a:p>
        </p:txBody>
      </p:sp>
      <p:sp>
        <p:nvSpPr>
          <p:cNvPr id="1033" name="Rectangle 9">
            <a:hlinkClick r:id="" action="ppaction://hlinkshowjump?jump=nextslide"/>
          </p:cNvPr>
          <p:cNvSpPr>
            <a:spLocks noChangeArrowheads="1"/>
          </p:cNvSpPr>
          <p:nvPr userDrawn="1"/>
        </p:nvSpPr>
        <p:spPr bwMode="auto">
          <a:xfrm>
            <a:off x="8243888" y="6669088"/>
            <a:ext cx="431800" cy="73025"/>
          </a:xfrm>
          <a:prstGeom prst="rect">
            <a:avLst/>
          </a:prstGeom>
          <a:noFill/>
          <a:ln w="9525">
            <a:noFill/>
            <a:miter lim="800000"/>
            <a:headEnd/>
            <a:tailEnd/>
          </a:ln>
          <a:effectLst/>
        </p:spPr>
        <p:txBody>
          <a:bodyPr wrap="none" anchor="ctr"/>
          <a:lstStyle/>
          <a:p>
            <a:endParaRPr lang="zh-CN" alt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notesSlide" Target="../notesSlides/notesSlide1.xml"/><Relationship Id="rId7" Type="http://schemas.openxmlformats.org/officeDocument/2006/relationships/slide" Target="slide31.xml"/><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slide" Target="slide24.xml"/><Relationship Id="rId11" Type="http://schemas.openxmlformats.org/officeDocument/2006/relationships/slide" Target="slide69.xml"/><Relationship Id="rId5" Type="http://schemas.openxmlformats.org/officeDocument/2006/relationships/slide" Target="slide11.xml"/><Relationship Id="rId10" Type="http://schemas.openxmlformats.org/officeDocument/2006/relationships/slide" Target="slide63.xml"/><Relationship Id="rId4" Type="http://schemas.openxmlformats.org/officeDocument/2006/relationships/slide" Target="slide3.xml"/><Relationship Id="rId9" Type="http://schemas.openxmlformats.org/officeDocument/2006/relationships/slide" Target="slide5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jpeg"/><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7.xml"/><Relationship Id="rId1" Type="http://schemas.openxmlformats.org/officeDocument/2006/relationships/themeOverride" Target="../theme/themeOverride3.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oleObject" Target="../embeddings/oleObject6.bin"/><Relationship Id="rId2" Type="http://schemas.openxmlformats.org/officeDocument/2006/relationships/vmlDrawing" Target="../drawings/vmlDrawing2.vml"/><Relationship Id="rId1" Type="http://schemas.openxmlformats.org/officeDocument/2006/relationships/themeOverride" Target="../theme/themeOverride4.x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oleObject" Target="../embeddings/oleObject9.bin"/><Relationship Id="rId2" Type="http://schemas.openxmlformats.org/officeDocument/2006/relationships/vmlDrawing" Target="../drawings/vmlDrawing3.vml"/><Relationship Id="rId1" Type="http://schemas.openxmlformats.org/officeDocument/2006/relationships/themeOverride" Target="../theme/themeOverride5.xml"/><Relationship Id="rId6" Type="http://schemas.openxmlformats.org/officeDocument/2006/relationships/oleObject" Target="../embeddings/oleObject8.bin"/><Relationship Id="rId5" Type="http://schemas.openxmlformats.org/officeDocument/2006/relationships/oleObject" Target="../embeddings/oleObject7.bin"/><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mlDrawing" Target="../drawings/vmlDrawing4.vml"/><Relationship Id="rId1" Type="http://schemas.openxmlformats.org/officeDocument/2006/relationships/themeOverride" Target="../theme/themeOverride6.xml"/><Relationship Id="rId5" Type="http://schemas.openxmlformats.org/officeDocument/2006/relationships/image" Target="../media/image17.jpeg"/><Relationship Id="rId4"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Layout" Target="../slideLayouts/slideLayout7.xml"/><Relationship Id="rId1" Type="http://schemas.openxmlformats.org/officeDocument/2006/relationships/themeOverride" Target="../theme/themeOverride7.xml"/><Relationship Id="rId5" Type="http://schemas.openxmlformats.org/officeDocument/2006/relationships/slide" Target="slide2.xml"/><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mlDrawing" Target="../drawings/vmlDrawing5.vml"/><Relationship Id="rId1" Type="http://schemas.openxmlformats.org/officeDocument/2006/relationships/themeOverride" Target="../theme/themeOverride8.xml"/><Relationship Id="rId6" Type="http://schemas.openxmlformats.org/officeDocument/2006/relationships/image" Target="../media/image20.jpeg"/><Relationship Id="rId5" Type="http://schemas.openxmlformats.org/officeDocument/2006/relationships/oleObject" Target="../embeddings/oleObject11.bin"/><Relationship Id="rId4" Type="http://schemas.openxmlformats.org/officeDocument/2006/relationships/audio" Target="../media/audio3.wav"/></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22.jpe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7.vml"/></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image" Target="../media/image28.jpeg"/><Relationship Id="rId2" Type="http://schemas.openxmlformats.org/officeDocument/2006/relationships/slideLayout" Target="../slideLayouts/slideLayout2.xml"/><Relationship Id="rId1" Type="http://schemas.openxmlformats.org/officeDocument/2006/relationships/themeOverride" Target="../theme/themeOverride10.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oleObject" Target="../embeddings/oleObject15.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mlDrawing" Target="../drawings/vmlDrawing9.vml"/><Relationship Id="rId1" Type="http://schemas.openxmlformats.org/officeDocument/2006/relationships/themeOverride" Target="../theme/themeOverride11.xml"/><Relationship Id="rId5" Type="http://schemas.openxmlformats.org/officeDocument/2006/relationships/oleObject" Target="../embeddings/oleObject17.bin"/><Relationship Id="rId4" Type="http://schemas.openxmlformats.org/officeDocument/2006/relationships/oleObject" Target="../embeddings/oleObject16.bin"/></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mlDrawing" Target="../drawings/vmlDrawing10.vml"/><Relationship Id="rId1" Type="http://schemas.openxmlformats.org/officeDocument/2006/relationships/themeOverride" Target="../theme/themeOverride12.xml"/><Relationship Id="rId5" Type="http://schemas.openxmlformats.org/officeDocument/2006/relationships/oleObject" Target="../embeddings/oleObject19.bin"/><Relationship Id="rId4" Type="http://schemas.openxmlformats.org/officeDocument/2006/relationships/oleObject" Target="../embeddings/oleObject18.bin"/></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mlDrawing" Target="../drawings/vmlDrawing11.vml"/><Relationship Id="rId1" Type="http://schemas.openxmlformats.org/officeDocument/2006/relationships/themeOverride" Target="../theme/themeOverride13.xml"/><Relationship Id="rId5" Type="http://schemas.openxmlformats.org/officeDocument/2006/relationships/oleObject" Target="../embeddings/oleObject21.bin"/><Relationship Id="rId4" Type="http://schemas.openxmlformats.org/officeDocument/2006/relationships/oleObject" Target="../embeddings/oleObject20.bin"/></Relationships>
</file>

<file path=ppt/slides/_rels/slide2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slideLayout" Target="../slideLayouts/slideLayout7.xml"/><Relationship Id="rId1" Type="http://schemas.openxmlformats.org/officeDocument/2006/relationships/themeOverride" Target="../theme/themeOverride14.xml"/></Relationships>
</file>

<file path=ppt/slides/_rels/slide22.xml.rels><?xml version="1.0" encoding="UTF-8" standalone="yes"?>
<Relationships xmlns="http://schemas.openxmlformats.org/package/2006/relationships"><Relationship Id="rId2" Type="http://schemas.openxmlformats.org/officeDocument/2006/relationships/audio" Target="../media/audio4.wav"/><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slide" Target="slide2.xml"/><Relationship Id="rId2" Type="http://schemas.openxmlformats.org/officeDocument/2006/relationships/vmlDrawing" Target="../drawings/vmlDrawing12.vml"/><Relationship Id="rId1" Type="http://schemas.openxmlformats.org/officeDocument/2006/relationships/themeOverride" Target="../theme/themeOverride15.xml"/><Relationship Id="rId6" Type="http://schemas.openxmlformats.org/officeDocument/2006/relationships/oleObject" Target="../embeddings/oleObject24.bin"/><Relationship Id="rId5" Type="http://schemas.openxmlformats.org/officeDocument/2006/relationships/oleObject" Target="../embeddings/oleObject23.bin"/><Relationship Id="rId4" Type="http://schemas.openxmlformats.org/officeDocument/2006/relationships/oleObject" Target="../embeddings/oleObject22.bin"/></Relationships>
</file>

<file path=ppt/slides/_rels/slide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mlDrawing" Target="../drawings/vmlDrawing13.vml"/><Relationship Id="rId1" Type="http://schemas.openxmlformats.org/officeDocument/2006/relationships/themeOverride" Target="../theme/themeOverride16.xml"/><Relationship Id="rId5" Type="http://schemas.openxmlformats.org/officeDocument/2006/relationships/oleObject" Target="../embeddings/oleObject26.bin"/><Relationship Id="rId4" Type="http://schemas.openxmlformats.org/officeDocument/2006/relationships/oleObject" Target="../embeddings/oleObject25.bin"/></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mlDrawing" Target="../drawings/vmlDrawing14.vml"/><Relationship Id="rId1" Type="http://schemas.openxmlformats.org/officeDocument/2006/relationships/themeOverride" Target="../theme/themeOverride17.xml"/><Relationship Id="rId5" Type="http://schemas.openxmlformats.org/officeDocument/2006/relationships/oleObject" Target="../embeddings/oleObject28.bin"/><Relationship Id="rId4" Type="http://schemas.openxmlformats.org/officeDocument/2006/relationships/oleObject" Target="../embeddings/oleObject27.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slideLayout" Target="../slideLayouts/slideLayout7.xml"/><Relationship Id="rId7" Type="http://schemas.openxmlformats.org/officeDocument/2006/relationships/oleObject" Target="../embeddings/oleObject32.bin"/><Relationship Id="rId12" Type="http://schemas.openxmlformats.org/officeDocument/2006/relationships/oleObject" Target="../embeddings/oleObject37.bin"/><Relationship Id="rId2" Type="http://schemas.openxmlformats.org/officeDocument/2006/relationships/vmlDrawing" Target="../drawings/vmlDrawing15.vml"/><Relationship Id="rId1" Type="http://schemas.openxmlformats.org/officeDocument/2006/relationships/themeOverride" Target="../theme/themeOverride18.xml"/><Relationship Id="rId6" Type="http://schemas.openxmlformats.org/officeDocument/2006/relationships/oleObject" Target="../embeddings/oleObject31.bin"/><Relationship Id="rId11" Type="http://schemas.openxmlformats.org/officeDocument/2006/relationships/oleObject" Target="../embeddings/oleObject36.bin"/><Relationship Id="rId5" Type="http://schemas.openxmlformats.org/officeDocument/2006/relationships/oleObject" Target="../embeddings/oleObject30.bin"/><Relationship Id="rId10" Type="http://schemas.openxmlformats.org/officeDocument/2006/relationships/oleObject" Target="../embeddings/oleObject35.bin"/><Relationship Id="rId4" Type="http://schemas.openxmlformats.org/officeDocument/2006/relationships/oleObject" Target="../embeddings/oleObject29.bin"/><Relationship Id="rId9" Type="http://schemas.openxmlformats.org/officeDocument/2006/relationships/oleObject" Target="../embeddings/oleObject34.bin"/></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mlDrawing" Target="../drawings/vmlDrawing16.vml"/><Relationship Id="rId1" Type="http://schemas.openxmlformats.org/officeDocument/2006/relationships/themeOverride" Target="../theme/themeOverride19.xml"/><Relationship Id="rId5" Type="http://schemas.openxmlformats.org/officeDocument/2006/relationships/oleObject" Target="../embeddings/oleObject39.bin"/><Relationship Id="rId4" Type="http://schemas.openxmlformats.org/officeDocument/2006/relationships/oleObject" Target="../embeddings/oleObject38.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slideLayout" Target="../slideLayouts/slideLayout7.xml"/><Relationship Id="rId7" Type="http://schemas.openxmlformats.org/officeDocument/2006/relationships/oleObject" Target="../embeddings/oleObject43.bin"/><Relationship Id="rId2" Type="http://schemas.openxmlformats.org/officeDocument/2006/relationships/vmlDrawing" Target="../drawings/vmlDrawing17.vml"/><Relationship Id="rId1" Type="http://schemas.openxmlformats.org/officeDocument/2006/relationships/themeOverride" Target="../theme/themeOverride20.xml"/><Relationship Id="rId6" Type="http://schemas.openxmlformats.org/officeDocument/2006/relationships/oleObject" Target="../embeddings/oleObject42.bin"/><Relationship Id="rId5" Type="http://schemas.openxmlformats.org/officeDocument/2006/relationships/oleObject" Target="../embeddings/oleObject41.bin"/><Relationship Id="rId4" Type="http://schemas.openxmlformats.org/officeDocument/2006/relationships/oleObject" Target="../embeddings/oleObject40.bin"/><Relationship Id="rId9" Type="http://schemas.openxmlformats.org/officeDocument/2006/relationships/oleObject" Target="../embeddings/oleObject45.bin"/></Relationships>
</file>

<file path=ppt/slides/_rels/slide3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Layout" Target="../slideLayouts/slideLayout7.xml"/><Relationship Id="rId1" Type="http://schemas.openxmlformats.org/officeDocument/2006/relationships/themeOverride" Target="../theme/themeOverr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6.bin"/><Relationship Id="rId7" Type="http://schemas.openxmlformats.org/officeDocument/2006/relationships/image" Target="../media/image68.png"/><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49.bin"/><Relationship Id="rId5" Type="http://schemas.openxmlformats.org/officeDocument/2006/relationships/oleObject" Target="../embeddings/oleObject48.bin"/><Relationship Id="rId4" Type="http://schemas.openxmlformats.org/officeDocument/2006/relationships/oleObject" Target="../embeddings/oleObject47.bin"/></Relationships>
</file>

<file path=ppt/slides/_rels/slide33.xml.rels><?xml version="1.0" encoding="UTF-8" standalone="yes"?>
<Relationships xmlns="http://schemas.openxmlformats.org/package/2006/relationships"><Relationship Id="rId8" Type="http://schemas.openxmlformats.org/officeDocument/2006/relationships/image" Target="../media/image73.jpeg"/><Relationship Id="rId3" Type="http://schemas.openxmlformats.org/officeDocument/2006/relationships/audio" Target="../media/audio1.wav"/><Relationship Id="rId7" Type="http://schemas.openxmlformats.org/officeDocument/2006/relationships/image" Target="../media/image72.png"/><Relationship Id="rId2" Type="http://schemas.openxmlformats.org/officeDocument/2006/relationships/slideLayout" Target="../slideLayouts/slideLayout7.xml"/><Relationship Id="rId1" Type="http://schemas.openxmlformats.org/officeDocument/2006/relationships/themeOverride" Target="../theme/themeOverride22.xml"/><Relationship Id="rId6" Type="http://schemas.openxmlformats.org/officeDocument/2006/relationships/image" Target="../media/image71.png"/><Relationship Id="rId5" Type="http://schemas.openxmlformats.org/officeDocument/2006/relationships/image" Target="../media/image70.jpeg"/><Relationship Id="rId4" Type="http://schemas.openxmlformats.org/officeDocument/2006/relationships/image" Target="../media/image69.jpeg"/><Relationship Id="rId9" Type="http://schemas.openxmlformats.org/officeDocument/2006/relationships/image" Target="../media/image74.png"/></Relationships>
</file>

<file path=ppt/slides/_rels/slide34.xml.rels><?xml version="1.0" encoding="UTF-8" standalone="yes"?>
<Relationships xmlns="http://schemas.openxmlformats.org/package/2006/relationships"><Relationship Id="rId3" Type="http://schemas.openxmlformats.org/officeDocument/2006/relationships/hyperlink" Target="http://tupian.hudong.com/a2_52_29_01000000000000119092902306852_jpg.html"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5.jpeg"/></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slideLayout" Target="../slideLayouts/slideLayout7.xml"/><Relationship Id="rId7" Type="http://schemas.openxmlformats.org/officeDocument/2006/relationships/oleObject" Target="../embeddings/oleObject53.bin"/><Relationship Id="rId2" Type="http://schemas.openxmlformats.org/officeDocument/2006/relationships/vmlDrawing" Target="../drawings/vmlDrawing19.vml"/><Relationship Id="rId1" Type="http://schemas.openxmlformats.org/officeDocument/2006/relationships/themeOverride" Target="../theme/themeOverride23.xml"/><Relationship Id="rId6" Type="http://schemas.openxmlformats.org/officeDocument/2006/relationships/oleObject" Target="../embeddings/oleObject52.bin"/><Relationship Id="rId5" Type="http://schemas.openxmlformats.org/officeDocument/2006/relationships/oleObject" Target="../embeddings/oleObject51.bin"/><Relationship Id="rId4" Type="http://schemas.openxmlformats.org/officeDocument/2006/relationships/oleObject" Target="../embeddings/oleObject50.bin"/><Relationship Id="rId9" Type="http://schemas.openxmlformats.org/officeDocument/2006/relationships/oleObject" Target="../embeddings/oleObject55.bin"/></Relationships>
</file>

<file path=ppt/slides/_rels/slide3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58.bin"/><Relationship Id="rId5" Type="http://schemas.openxmlformats.org/officeDocument/2006/relationships/oleObject" Target="../embeddings/oleObject57.bin"/><Relationship Id="rId4" Type="http://schemas.openxmlformats.org/officeDocument/2006/relationships/oleObject" Target="../embeddings/oleObject56.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slideLayout" Target="../slideLayouts/slideLayout7.xml"/><Relationship Id="rId7" Type="http://schemas.openxmlformats.org/officeDocument/2006/relationships/oleObject" Target="../embeddings/oleObject62.bin"/><Relationship Id="rId2" Type="http://schemas.openxmlformats.org/officeDocument/2006/relationships/vmlDrawing" Target="../drawings/vmlDrawing21.vml"/><Relationship Id="rId1" Type="http://schemas.openxmlformats.org/officeDocument/2006/relationships/themeOverride" Target="../theme/themeOverride24.xml"/><Relationship Id="rId6" Type="http://schemas.openxmlformats.org/officeDocument/2006/relationships/oleObject" Target="../embeddings/oleObject61.bin"/><Relationship Id="rId5" Type="http://schemas.openxmlformats.org/officeDocument/2006/relationships/oleObject" Target="../embeddings/oleObject60.bin"/><Relationship Id="rId4" Type="http://schemas.openxmlformats.org/officeDocument/2006/relationships/oleObject" Target="../embeddings/oleObject59.bin"/><Relationship Id="rId9" Type="http://schemas.openxmlformats.org/officeDocument/2006/relationships/oleObject" Target="../embeddings/oleObject64.bin"/></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7.xml"/><Relationship Id="rId1" Type="http://schemas.openxmlformats.org/officeDocument/2006/relationships/vmlDrawing" Target="../drawings/vmlDrawing22.vml"/><Relationship Id="rId5" Type="http://schemas.openxmlformats.org/officeDocument/2006/relationships/oleObject" Target="../embeddings/oleObject67.bin"/><Relationship Id="rId4" Type="http://schemas.openxmlformats.org/officeDocument/2006/relationships/oleObject" Target="../embeddings/oleObject66.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70.bin"/><Relationship Id="rId3" Type="http://schemas.openxmlformats.org/officeDocument/2006/relationships/slideLayout" Target="../slideLayouts/slideLayout7.xml"/><Relationship Id="rId7" Type="http://schemas.openxmlformats.org/officeDocument/2006/relationships/oleObject" Target="../embeddings/oleObject69.bin"/><Relationship Id="rId2" Type="http://schemas.openxmlformats.org/officeDocument/2006/relationships/vmlDrawing" Target="../drawings/vmlDrawing23.vml"/><Relationship Id="rId1" Type="http://schemas.openxmlformats.org/officeDocument/2006/relationships/themeOverride" Target="../theme/themeOverride25.xml"/><Relationship Id="rId6" Type="http://schemas.openxmlformats.org/officeDocument/2006/relationships/image" Target="../media/image101.jpeg"/><Relationship Id="rId11" Type="http://schemas.openxmlformats.org/officeDocument/2006/relationships/oleObject" Target="../embeddings/oleObject73.bin"/><Relationship Id="rId5" Type="http://schemas.openxmlformats.org/officeDocument/2006/relationships/oleObject" Target="../embeddings/oleObject68.bin"/><Relationship Id="rId10" Type="http://schemas.openxmlformats.org/officeDocument/2006/relationships/oleObject" Target="../embeddings/oleObject72.bin"/><Relationship Id="rId4" Type="http://schemas.openxmlformats.org/officeDocument/2006/relationships/audio" Target="../media/audio5.wav"/><Relationship Id="rId9" Type="http://schemas.openxmlformats.org/officeDocument/2006/relationships/oleObject" Target="../embeddings/oleObject71.bin"/></Relationships>
</file>

<file path=ppt/slides/_rels/slide4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mlDrawing" Target="../drawings/vmlDrawing24.vml"/><Relationship Id="rId1" Type="http://schemas.openxmlformats.org/officeDocument/2006/relationships/themeOverride" Target="../theme/themeOverride26.xml"/><Relationship Id="rId5" Type="http://schemas.openxmlformats.org/officeDocument/2006/relationships/oleObject" Target="../embeddings/oleObject75.bin"/><Relationship Id="rId4" Type="http://schemas.openxmlformats.org/officeDocument/2006/relationships/oleObject" Target="../embeddings/oleObject74.bin"/></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mlDrawing" Target="../drawings/vmlDrawing25.vml"/><Relationship Id="rId1" Type="http://schemas.openxmlformats.org/officeDocument/2006/relationships/themeOverride" Target="../theme/themeOverride27.xml"/><Relationship Id="rId5" Type="http://schemas.openxmlformats.org/officeDocument/2006/relationships/oleObject" Target="../embeddings/oleObject77.bin"/><Relationship Id="rId4" Type="http://schemas.openxmlformats.org/officeDocument/2006/relationships/oleObject" Target="../embeddings/oleObject76.bin"/></Relationships>
</file>

<file path=ppt/slides/_rels/slide43.xml.rels><?xml version="1.0" encoding="UTF-8" standalone="yes"?>
<Relationships xmlns="http://schemas.openxmlformats.org/package/2006/relationships"><Relationship Id="rId3" Type="http://schemas.openxmlformats.org/officeDocument/2006/relationships/image" Target="../media/image106.jpeg"/><Relationship Id="rId7" Type="http://schemas.openxmlformats.org/officeDocument/2006/relationships/image" Target="../media/image110.jpeg"/><Relationship Id="rId2" Type="http://schemas.openxmlformats.org/officeDocument/2006/relationships/slideLayout" Target="../slideLayouts/slideLayout7.xml"/><Relationship Id="rId1" Type="http://schemas.openxmlformats.org/officeDocument/2006/relationships/themeOverride" Target="../theme/themeOverride28.xml"/><Relationship Id="rId6" Type="http://schemas.openxmlformats.org/officeDocument/2006/relationships/image" Target="../media/image109.jpeg"/><Relationship Id="rId5" Type="http://schemas.openxmlformats.org/officeDocument/2006/relationships/image" Target="../media/image108.jpeg"/><Relationship Id="rId4" Type="http://schemas.openxmlformats.org/officeDocument/2006/relationships/image" Target="../media/image107.jpe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mlDrawing" Target="../drawings/vmlDrawing26.vml"/><Relationship Id="rId1" Type="http://schemas.openxmlformats.org/officeDocument/2006/relationships/themeOverride" Target="../theme/themeOverride29.xml"/><Relationship Id="rId6" Type="http://schemas.openxmlformats.org/officeDocument/2006/relationships/image" Target="../media/image113.png"/><Relationship Id="rId5" Type="http://schemas.openxmlformats.org/officeDocument/2006/relationships/oleObject" Target="../embeddings/oleObject79.bin"/><Relationship Id="rId4" Type="http://schemas.openxmlformats.org/officeDocument/2006/relationships/oleObject" Target="../embeddings/oleObject78.bin"/></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mlDrawing" Target="../drawings/vmlDrawing27.vml"/><Relationship Id="rId1" Type="http://schemas.openxmlformats.org/officeDocument/2006/relationships/themeOverride" Target="../theme/themeOverride30.xml"/><Relationship Id="rId5" Type="http://schemas.openxmlformats.org/officeDocument/2006/relationships/oleObject" Target="../embeddings/oleObject81.bin"/><Relationship Id="rId4" Type="http://schemas.openxmlformats.org/officeDocument/2006/relationships/oleObject" Target="../embeddings/oleObject80.bin"/></Relationships>
</file>

<file path=ppt/slides/_rels/slide46.xml.rels><?xml version="1.0" encoding="UTF-8" standalone="yes"?>
<Relationships xmlns="http://schemas.openxmlformats.org/package/2006/relationships"><Relationship Id="rId2" Type="http://schemas.openxmlformats.org/officeDocument/2006/relationships/audio" Target="../media/audio6.wav"/><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85.bin"/><Relationship Id="rId3" Type="http://schemas.openxmlformats.org/officeDocument/2006/relationships/slideLayout" Target="../slideLayouts/slideLayout7.xml"/><Relationship Id="rId7" Type="http://schemas.openxmlformats.org/officeDocument/2006/relationships/oleObject" Target="../embeddings/oleObject84.bin"/><Relationship Id="rId2" Type="http://schemas.openxmlformats.org/officeDocument/2006/relationships/vmlDrawing" Target="../drawings/vmlDrawing28.vml"/><Relationship Id="rId1" Type="http://schemas.openxmlformats.org/officeDocument/2006/relationships/themeOverride" Target="../theme/themeOverride31.xml"/><Relationship Id="rId6" Type="http://schemas.openxmlformats.org/officeDocument/2006/relationships/oleObject" Target="../embeddings/oleObject83.bin"/><Relationship Id="rId5" Type="http://schemas.openxmlformats.org/officeDocument/2006/relationships/oleObject" Target="../embeddings/oleObject82.bin"/><Relationship Id="rId4" Type="http://schemas.openxmlformats.org/officeDocument/2006/relationships/notesSlide" Target="../notesSlides/notesSlide6.xml"/><Relationship Id="rId9" Type="http://schemas.openxmlformats.org/officeDocument/2006/relationships/oleObject" Target="../embeddings/oleObject86.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91.bin"/><Relationship Id="rId13" Type="http://schemas.openxmlformats.org/officeDocument/2006/relationships/oleObject" Target="../embeddings/oleObject96.bin"/><Relationship Id="rId3" Type="http://schemas.openxmlformats.org/officeDocument/2006/relationships/slideLayout" Target="../slideLayouts/slideLayout7.xml"/><Relationship Id="rId7" Type="http://schemas.openxmlformats.org/officeDocument/2006/relationships/oleObject" Target="../embeddings/oleObject90.bin"/><Relationship Id="rId12" Type="http://schemas.openxmlformats.org/officeDocument/2006/relationships/oleObject" Target="../embeddings/oleObject95.bin"/><Relationship Id="rId2" Type="http://schemas.openxmlformats.org/officeDocument/2006/relationships/vmlDrawing" Target="../drawings/vmlDrawing29.vml"/><Relationship Id="rId1" Type="http://schemas.openxmlformats.org/officeDocument/2006/relationships/themeOverride" Target="../theme/themeOverride32.xml"/><Relationship Id="rId6" Type="http://schemas.openxmlformats.org/officeDocument/2006/relationships/oleObject" Target="../embeddings/oleObject89.bin"/><Relationship Id="rId11" Type="http://schemas.openxmlformats.org/officeDocument/2006/relationships/oleObject" Target="../embeddings/oleObject94.bin"/><Relationship Id="rId5" Type="http://schemas.openxmlformats.org/officeDocument/2006/relationships/oleObject" Target="../embeddings/oleObject88.bin"/><Relationship Id="rId10" Type="http://schemas.openxmlformats.org/officeDocument/2006/relationships/oleObject" Target="../embeddings/oleObject93.bin"/><Relationship Id="rId4" Type="http://schemas.openxmlformats.org/officeDocument/2006/relationships/oleObject" Target="../embeddings/oleObject87.bin"/><Relationship Id="rId9" Type="http://schemas.openxmlformats.org/officeDocument/2006/relationships/oleObject" Target="../embeddings/oleObject92.bin"/><Relationship Id="rId14" Type="http://schemas.openxmlformats.org/officeDocument/2006/relationships/oleObject" Target="../embeddings/oleObject97.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02.bin"/><Relationship Id="rId3" Type="http://schemas.openxmlformats.org/officeDocument/2006/relationships/slideLayout" Target="../slideLayouts/slideLayout7.xml"/><Relationship Id="rId7" Type="http://schemas.openxmlformats.org/officeDocument/2006/relationships/oleObject" Target="../embeddings/oleObject101.bin"/><Relationship Id="rId2" Type="http://schemas.openxmlformats.org/officeDocument/2006/relationships/vmlDrawing" Target="../drawings/vmlDrawing30.vml"/><Relationship Id="rId1" Type="http://schemas.openxmlformats.org/officeDocument/2006/relationships/themeOverride" Target="../theme/themeOverride33.xml"/><Relationship Id="rId6" Type="http://schemas.openxmlformats.org/officeDocument/2006/relationships/oleObject" Target="../embeddings/oleObject100.bin"/><Relationship Id="rId11" Type="http://schemas.openxmlformats.org/officeDocument/2006/relationships/oleObject" Target="../embeddings/oleObject105.bin"/><Relationship Id="rId5" Type="http://schemas.openxmlformats.org/officeDocument/2006/relationships/oleObject" Target="../embeddings/oleObject99.bin"/><Relationship Id="rId10" Type="http://schemas.openxmlformats.org/officeDocument/2006/relationships/oleObject" Target="../embeddings/oleObject104.bin"/><Relationship Id="rId4" Type="http://schemas.openxmlformats.org/officeDocument/2006/relationships/oleObject" Target="../embeddings/oleObject98.bin"/><Relationship Id="rId9" Type="http://schemas.openxmlformats.org/officeDocument/2006/relationships/oleObject" Target="../embeddings/oleObject103.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109.bin"/><Relationship Id="rId5" Type="http://schemas.openxmlformats.org/officeDocument/2006/relationships/oleObject" Target="../embeddings/oleObject108.bin"/><Relationship Id="rId4" Type="http://schemas.openxmlformats.org/officeDocument/2006/relationships/oleObject" Target="../embeddings/oleObject107.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4.xml"/></Relationships>
</file>

<file path=ppt/slides/_rels/slide54.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112.bin"/><Relationship Id="rId5" Type="http://schemas.openxmlformats.org/officeDocument/2006/relationships/oleObject" Target="../embeddings/oleObject111.bin"/><Relationship Id="rId4" Type="http://schemas.openxmlformats.org/officeDocument/2006/relationships/oleObject" Target="../embeddings/oleObject110.bin"/></Relationships>
</file>

<file path=ppt/slides/_rels/slide55.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slideLayout" Target="../slideLayouts/slideLayout7.xml"/><Relationship Id="rId1" Type="http://schemas.openxmlformats.org/officeDocument/2006/relationships/vmlDrawing" Target="../drawings/vmlDrawing33.vml"/><Relationship Id="rId5" Type="http://schemas.openxmlformats.org/officeDocument/2006/relationships/slide" Target="slide2.xml"/><Relationship Id="rId4" Type="http://schemas.openxmlformats.org/officeDocument/2006/relationships/oleObject" Target="../embeddings/Microsoft_Office_Word_97_-_2003___1.doc"/></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oleObject" Target="../embeddings/oleObject116.bin"/><Relationship Id="rId5" Type="http://schemas.openxmlformats.org/officeDocument/2006/relationships/oleObject" Target="../embeddings/oleObject115.bin"/><Relationship Id="rId4" Type="http://schemas.openxmlformats.org/officeDocument/2006/relationships/oleObject" Target="../embeddings/oleObject114.bin"/></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mlDrawing" Target="../drawings/vmlDrawing35.vml"/><Relationship Id="rId1" Type="http://schemas.openxmlformats.org/officeDocument/2006/relationships/themeOverride" Target="../theme/themeOverride35.xml"/><Relationship Id="rId5" Type="http://schemas.openxmlformats.org/officeDocument/2006/relationships/oleObject" Target="../embeddings/oleObject118.bin"/><Relationship Id="rId4" Type="http://schemas.openxmlformats.org/officeDocument/2006/relationships/oleObject" Target="../embeddings/oleObject117.bin"/></Relationships>
</file>

<file path=ppt/slides/_rels/slide58.xml.rels><?xml version="1.0" encoding="UTF-8" standalone="yes"?>
<Relationships xmlns="http://schemas.openxmlformats.org/package/2006/relationships"><Relationship Id="rId8" Type="http://schemas.openxmlformats.org/officeDocument/2006/relationships/image" Target="../media/image172.jpeg"/><Relationship Id="rId13" Type="http://schemas.openxmlformats.org/officeDocument/2006/relationships/oleObject" Target="../embeddings/oleObject121.bin"/><Relationship Id="rId18" Type="http://schemas.openxmlformats.org/officeDocument/2006/relationships/oleObject" Target="../embeddings/oleObject126.bin"/><Relationship Id="rId3" Type="http://schemas.openxmlformats.org/officeDocument/2006/relationships/slideLayout" Target="../slideLayouts/slideLayout7.xml"/><Relationship Id="rId21" Type="http://schemas.openxmlformats.org/officeDocument/2006/relationships/image" Target="../media/image175.jpeg"/><Relationship Id="rId7" Type="http://schemas.openxmlformats.org/officeDocument/2006/relationships/image" Target="../media/image171.jpeg"/><Relationship Id="rId12" Type="http://schemas.openxmlformats.org/officeDocument/2006/relationships/oleObject" Target="../embeddings/oleObject120.bin"/><Relationship Id="rId17" Type="http://schemas.openxmlformats.org/officeDocument/2006/relationships/oleObject" Target="../embeddings/oleObject125.bin"/><Relationship Id="rId2" Type="http://schemas.openxmlformats.org/officeDocument/2006/relationships/vmlDrawing" Target="../drawings/vmlDrawing36.vml"/><Relationship Id="rId16" Type="http://schemas.openxmlformats.org/officeDocument/2006/relationships/oleObject" Target="../embeddings/oleObject124.bin"/><Relationship Id="rId20" Type="http://schemas.openxmlformats.org/officeDocument/2006/relationships/oleObject" Target="../embeddings/oleObject128.bin"/><Relationship Id="rId1" Type="http://schemas.openxmlformats.org/officeDocument/2006/relationships/themeOverride" Target="../theme/themeOverride36.xml"/><Relationship Id="rId6" Type="http://schemas.openxmlformats.org/officeDocument/2006/relationships/image" Target="../media/image170.jpeg"/><Relationship Id="rId11" Type="http://schemas.openxmlformats.org/officeDocument/2006/relationships/oleObject" Target="../embeddings/oleObject119.bin"/><Relationship Id="rId24" Type="http://schemas.openxmlformats.org/officeDocument/2006/relationships/oleObject" Target="../embeddings/oleObject131.bin"/><Relationship Id="rId5" Type="http://schemas.openxmlformats.org/officeDocument/2006/relationships/image" Target="../media/image169.jpeg"/><Relationship Id="rId15" Type="http://schemas.openxmlformats.org/officeDocument/2006/relationships/oleObject" Target="../embeddings/oleObject123.bin"/><Relationship Id="rId23" Type="http://schemas.openxmlformats.org/officeDocument/2006/relationships/oleObject" Target="../embeddings/oleObject130.bin"/><Relationship Id="rId10" Type="http://schemas.openxmlformats.org/officeDocument/2006/relationships/image" Target="../media/image174.jpeg"/><Relationship Id="rId19" Type="http://schemas.openxmlformats.org/officeDocument/2006/relationships/oleObject" Target="../embeddings/oleObject127.bin"/><Relationship Id="rId4" Type="http://schemas.openxmlformats.org/officeDocument/2006/relationships/audio" Target="../media/audio1.wav"/><Relationship Id="rId9" Type="http://schemas.openxmlformats.org/officeDocument/2006/relationships/image" Target="../media/image173.jpeg"/><Relationship Id="rId14" Type="http://schemas.openxmlformats.org/officeDocument/2006/relationships/oleObject" Target="../embeddings/oleObject122.bin"/><Relationship Id="rId22" Type="http://schemas.openxmlformats.org/officeDocument/2006/relationships/oleObject" Target="../embeddings/oleObject129.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134.bin"/><Relationship Id="rId3" Type="http://schemas.openxmlformats.org/officeDocument/2006/relationships/slideLayout" Target="../slideLayouts/slideLayout7.xml"/><Relationship Id="rId7" Type="http://schemas.openxmlformats.org/officeDocument/2006/relationships/oleObject" Target="../embeddings/oleObject133.bin"/><Relationship Id="rId2" Type="http://schemas.openxmlformats.org/officeDocument/2006/relationships/vmlDrawing" Target="../drawings/vmlDrawing37.vml"/><Relationship Id="rId1" Type="http://schemas.openxmlformats.org/officeDocument/2006/relationships/themeOverride" Target="../theme/themeOverride37.xml"/><Relationship Id="rId6" Type="http://schemas.openxmlformats.org/officeDocument/2006/relationships/oleObject" Target="../embeddings/oleObject132.bin"/><Relationship Id="rId5" Type="http://schemas.openxmlformats.org/officeDocument/2006/relationships/image" Target="../media/image180.jpeg"/><Relationship Id="rId10" Type="http://schemas.openxmlformats.org/officeDocument/2006/relationships/oleObject" Target="../embeddings/oleObject135.bin"/><Relationship Id="rId4" Type="http://schemas.openxmlformats.org/officeDocument/2006/relationships/audio" Target="../media/audio1.wav"/><Relationship Id="rId9" Type="http://schemas.openxmlformats.org/officeDocument/2006/relationships/image" Target="../media/image181.jpeg"/></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39.bin"/><Relationship Id="rId3" Type="http://schemas.openxmlformats.org/officeDocument/2006/relationships/slideLayout" Target="../slideLayouts/slideLayout2.xml"/><Relationship Id="rId7" Type="http://schemas.openxmlformats.org/officeDocument/2006/relationships/oleObject" Target="../embeddings/oleObject138.bin"/><Relationship Id="rId2" Type="http://schemas.openxmlformats.org/officeDocument/2006/relationships/vmlDrawing" Target="../drawings/vmlDrawing38.vml"/><Relationship Id="rId1" Type="http://schemas.openxmlformats.org/officeDocument/2006/relationships/themeOverride" Target="../theme/themeOverride38.xml"/><Relationship Id="rId6" Type="http://schemas.openxmlformats.org/officeDocument/2006/relationships/oleObject" Target="../embeddings/oleObject137.bin"/><Relationship Id="rId5" Type="http://schemas.openxmlformats.org/officeDocument/2006/relationships/oleObject" Target="../embeddings/oleObject136.bin"/><Relationship Id="rId4" Type="http://schemas.openxmlformats.org/officeDocument/2006/relationships/audio" Target="../media/audio1.wav"/></Relationships>
</file>

<file path=ppt/slides/_rels/slide61.xml.rels><?xml version="1.0" encoding="UTF-8" standalone="yes"?>
<Relationships xmlns="http://schemas.openxmlformats.org/package/2006/relationships"><Relationship Id="rId8" Type="http://schemas.openxmlformats.org/officeDocument/2006/relationships/image" Target="../media/image191.jpeg"/><Relationship Id="rId3" Type="http://schemas.openxmlformats.org/officeDocument/2006/relationships/slideLayout" Target="../slideLayouts/slideLayout7.xml"/><Relationship Id="rId7" Type="http://schemas.openxmlformats.org/officeDocument/2006/relationships/oleObject" Target="../embeddings/oleObject142.bin"/><Relationship Id="rId2" Type="http://schemas.openxmlformats.org/officeDocument/2006/relationships/vmlDrawing" Target="../drawings/vmlDrawing39.vml"/><Relationship Id="rId1" Type="http://schemas.openxmlformats.org/officeDocument/2006/relationships/themeOverride" Target="../theme/themeOverride39.xml"/><Relationship Id="rId6" Type="http://schemas.openxmlformats.org/officeDocument/2006/relationships/oleObject" Target="../embeddings/oleObject141.bin"/><Relationship Id="rId5" Type="http://schemas.openxmlformats.org/officeDocument/2006/relationships/oleObject" Target="../embeddings/oleObject140.bin"/><Relationship Id="rId4" Type="http://schemas.openxmlformats.org/officeDocument/2006/relationships/image" Target="../media/image190.jpeg"/><Relationship Id="rId9" Type="http://schemas.openxmlformats.org/officeDocument/2006/relationships/oleObject" Target="../embeddings/oleObject143.bin"/></Relationships>
</file>

<file path=ppt/slides/_rels/slide6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Layout" Target="../slideLayouts/slideLayout7.xml"/><Relationship Id="rId1" Type="http://schemas.openxmlformats.org/officeDocument/2006/relationships/themeOverride" Target="../theme/themeOverride40.xml"/></Relationships>
</file>

<file path=ppt/slides/_rels/slide63.xml.rels><?xml version="1.0" encoding="UTF-8" standalone="yes"?>
<Relationships xmlns="http://schemas.openxmlformats.org/package/2006/relationships"><Relationship Id="rId2" Type="http://schemas.openxmlformats.org/officeDocument/2006/relationships/image" Target="../media/image192.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41.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mlDrawing" Target="../drawings/vmlDrawing40.vml"/><Relationship Id="rId1" Type="http://schemas.openxmlformats.org/officeDocument/2006/relationships/themeOverride" Target="../theme/themeOverride42.xml"/><Relationship Id="rId5" Type="http://schemas.openxmlformats.org/officeDocument/2006/relationships/oleObject" Target="../embeddings/oleObject145.bin"/><Relationship Id="rId4" Type="http://schemas.openxmlformats.org/officeDocument/2006/relationships/oleObject" Target="../embeddings/oleObject144.bin"/></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mlDrawing" Target="../drawings/vmlDrawing41.vml"/><Relationship Id="rId1" Type="http://schemas.openxmlformats.org/officeDocument/2006/relationships/themeOverride" Target="../theme/themeOverride43.xml"/><Relationship Id="rId5" Type="http://schemas.openxmlformats.org/officeDocument/2006/relationships/oleObject" Target="../embeddings/oleObject147.bin"/><Relationship Id="rId4" Type="http://schemas.openxmlformats.org/officeDocument/2006/relationships/oleObject" Target="../embeddings/oleObject146.bin"/></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oleObject" Target="../embeddings/oleObject150.bin"/><Relationship Id="rId2" Type="http://schemas.openxmlformats.org/officeDocument/2006/relationships/vmlDrawing" Target="../drawings/vmlDrawing42.vml"/><Relationship Id="rId1" Type="http://schemas.openxmlformats.org/officeDocument/2006/relationships/themeOverride" Target="../theme/themeOverride44.xml"/><Relationship Id="rId6" Type="http://schemas.openxmlformats.org/officeDocument/2006/relationships/oleObject" Target="../embeddings/oleObject149.bin"/><Relationship Id="rId5" Type="http://schemas.openxmlformats.org/officeDocument/2006/relationships/oleObject" Target="../embeddings/oleObject148.bin"/><Relationship Id="rId4" Type="http://schemas.openxmlformats.org/officeDocument/2006/relationships/audio" Target="../media/audio1.wav"/></Relationships>
</file>

<file path=ppt/slides/_rels/slide6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Layout" Target="../slideLayouts/slideLayout7.xml"/><Relationship Id="rId1" Type="http://schemas.openxmlformats.org/officeDocument/2006/relationships/themeOverride" Target="../theme/themeOverride4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51.bin"/><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oleObject" Target="../embeddings/oleObject154.bin"/><Relationship Id="rId5" Type="http://schemas.openxmlformats.org/officeDocument/2006/relationships/oleObject" Target="../embeddings/oleObject153.bin"/><Relationship Id="rId4" Type="http://schemas.openxmlformats.org/officeDocument/2006/relationships/oleObject" Target="../embeddings/oleObject152.bin"/></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160.bin"/><Relationship Id="rId3" Type="http://schemas.openxmlformats.org/officeDocument/2006/relationships/oleObject" Target="../embeddings/oleObject155.bin"/><Relationship Id="rId7" Type="http://schemas.openxmlformats.org/officeDocument/2006/relationships/oleObject" Target="../embeddings/oleObject159.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oleObject" Target="../embeddings/oleObject158.bin"/><Relationship Id="rId5" Type="http://schemas.openxmlformats.org/officeDocument/2006/relationships/oleObject" Target="../embeddings/oleObject157.bin"/><Relationship Id="rId4" Type="http://schemas.openxmlformats.org/officeDocument/2006/relationships/oleObject" Target="../embeddings/oleObject156.bin"/></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61.bin"/><Relationship Id="rId2" Type="http://schemas.openxmlformats.org/officeDocument/2006/relationships/slideLayout" Target="../slideLayouts/slideLayout7.xml"/><Relationship Id="rId1" Type="http://schemas.openxmlformats.org/officeDocument/2006/relationships/vmlDrawing" Target="../drawings/vmlDrawing45.v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62.bin"/><Relationship Id="rId2" Type="http://schemas.openxmlformats.org/officeDocument/2006/relationships/slideLayout" Target="../slideLayouts/slideLayout12.xml"/><Relationship Id="rId1" Type="http://schemas.openxmlformats.org/officeDocument/2006/relationships/vmlDrawing" Target="../drawings/vmlDrawing46.vml"/><Relationship Id="rId6" Type="http://schemas.openxmlformats.org/officeDocument/2006/relationships/oleObject" Target="../embeddings/oleObject165.bin"/><Relationship Id="rId5" Type="http://schemas.openxmlformats.org/officeDocument/2006/relationships/oleObject" Target="../embeddings/oleObject164.bin"/><Relationship Id="rId4" Type="http://schemas.openxmlformats.org/officeDocument/2006/relationships/oleObject" Target="../embeddings/oleObject163.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215.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216.jpe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218.jpeg"/><Relationship Id="rId2" Type="http://schemas.openxmlformats.org/officeDocument/2006/relationships/image" Target="../media/image217.jpeg"/><Relationship Id="rId1" Type="http://schemas.openxmlformats.org/officeDocument/2006/relationships/slideLayout" Target="../slideLayouts/slideLayout7.xml"/><Relationship Id="rId5" Type="http://schemas.openxmlformats.org/officeDocument/2006/relationships/image" Target="../media/image68.png"/><Relationship Id="rId4" Type="http://schemas.openxmlformats.org/officeDocument/2006/relationships/image" Target="../media/image4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9" name="Rectangle 5"/>
          <p:cNvSpPr>
            <a:spLocks noChangeArrowheads="1"/>
          </p:cNvSpPr>
          <p:nvPr/>
        </p:nvSpPr>
        <p:spPr bwMode="auto">
          <a:xfrm>
            <a:off x="701675" y="2397125"/>
            <a:ext cx="7758113" cy="898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lgn="ctr">
              <a:defRPr/>
            </a:pPr>
            <a:r>
              <a:rPr lang="zh-CN" altLang="en-US" sz="5400" b="1" dirty="0">
                <a:solidFill>
                  <a:srgbClr val="FF0000"/>
                </a:solidFill>
                <a:effectLst>
                  <a:outerShdw blurRad="38100" dist="38100" dir="2700000" algn="tl">
                    <a:srgbClr val="FFFFFF"/>
                  </a:outerShdw>
                </a:effectLst>
                <a:ea typeface="隶书" pitchFamily="49" charset="-122"/>
              </a:rPr>
              <a:t>第</a:t>
            </a:r>
            <a:r>
              <a:rPr lang="en-US" altLang="zh-CN" sz="5400" b="1" dirty="0">
                <a:solidFill>
                  <a:srgbClr val="FF0000"/>
                </a:solidFill>
                <a:effectLst>
                  <a:outerShdw blurRad="38100" dist="38100" dir="2700000" algn="tl">
                    <a:srgbClr val="FFFFFF"/>
                  </a:outerShdw>
                </a:effectLst>
                <a:ea typeface="隶书" pitchFamily="49" charset="-122"/>
              </a:rPr>
              <a:t>6</a:t>
            </a:r>
            <a:r>
              <a:rPr lang="zh-CN" altLang="en-US" sz="5400" b="1" dirty="0">
                <a:solidFill>
                  <a:srgbClr val="FF0000"/>
                </a:solidFill>
                <a:effectLst>
                  <a:outerShdw blurRad="38100" dist="38100" dir="2700000" algn="tl">
                    <a:srgbClr val="FFFFFF"/>
                  </a:outerShdw>
                </a:effectLst>
                <a:ea typeface="隶书" pitchFamily="49" charset="-122"/>
              </a:rPr>
              <a:t>篇 量子力学</a:t>
            </a:r>
            <a:endParaRPr lang="zh-CN" altLang="en-US" dirty="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9749"/>
                                        </p:tgtEl>
                                        <p:attrNameLst>
                                          <p:attrName>style.visibility</p:attrName>
                                        </p:attrNameLst>
                                      </p:cBhvr>
                                      <p:to>
                                        <p:strVal val="visible"/>
                                      </p:to>
                                    </p:set>
                                    <p:animEffect transition="in" filter="wipe(down)">
                                      <p:cBhvr>
                                        <p:cTn id="7" dur="500"/>
                                        <p:tgtEl>
                                          <p:spTgt spid="159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Text Box 3"/>
          <p:cNvSpPr txBox="1">
            <a:spLocks noChangeArrowheads="1"/>
          </p:cNvSpPr>
          <p:nvPr/>
        </p:nvSpPr>
        <p:spPr bwMode="auto">
          <a:xfrm>
            <a:off x="736600" y="1223963"/>
            <a:ext cx="5105400" cy="519112"/>
          </a:xfrm>
          <a:prstGeom prst="rect">
            <a:avLst/>
          </a:prstGeom>
          <a:noFill/>
          <a:ln w="9525">
            <a:noFill/>
            <a:miter lim="800000"/>
            <a:headEnd/>
            <a:tailEnd/>
          </a:ln>
          <a:effectLst/>
        </p:spPr>
        <p:txBody>
          <a:bodyPr>
            <a:spAutoFit/>
          </a:bodyPr>
          <a:lstStyle/>
          <a:p>
            <a:pPr>
              <a:spcBef>
                <a:spcPct val="50000"/>
              </a:spcBef>
            </a:pPr>
            <a:r>
              <a:rPr lang="zh-CN" altLang="en-US" sz="2800" b="1" dirty="0">
                <a:solidFill>
                  <a:srgbClr val="0000FF"/>
                </a:solidFill>
              </a:rPr>
              <a:t>本章内容：</a:t>
            </a:r>
          </a:p>
        </p:txBody>
      </p:sp>
      <p:sp>
        <p:nvSpPr>
          <p:cNvPr id="91140" name="Text Box 4">
            <a:hlinkClick r:id="rId4" action="ppaction://hlinksldjump"/>
          </p:cNvPr>
          <p:cNvSpPr txBox="1">
            <a:spLocks noChangeArrowheads="1"/>
          </p:cNvSpPr>
          <p:nvPr/>
        </p:nvSpPr>
        <p:spPr bwMode="auto">
          <a:xfrm>
            <a:off x="1384300" y="1816100"/>
            <a:ext cx="7759700"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00FF"/>
                </a:solidFill>
              </a:rPr>
              <a:t>§ 13. 1  </a:t>
            </a:r>
            <a:r>
              <a:rPr lang="zh-CN" altLang="en-US" b="1" dirty="0">
                <a:solidFill>
                  <a:srgbClr val="0000FF"/>
                </a:solidFill>
              </a:rPr>
              <a:t>普朗克量子假设</a:t>
            </a:r>
          </a:p>
        </p:txBody>
      </p:sp>
      <p:sp>
        <p:nvSpPr>
          <p:cNvPr id="91141" name="Text Box 5">
            <a:hlinkClick r:id="rId5" action="ppaction://hlinksldjump"/>
          </p:cNvPr>
          <p:cNvSpPr txBox="1">
            <a:spLocks noChangeArrowheads="1"/>
          </p:cNvSpPr>
          <p:nvPr/>
        </p:nvSpPr>
        <p:spPr bwMode="auto">
          <a:xfrm>
            <a:off x="1384300" y="2305050"/>
            <a:ext cx="6273800"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00FF"/>
                </a:solidFill>
              </a:rPr>
              <a:t>§ 13. 2  </a:t>
            </a:r>
            <a:r>
              <a:rPr lang="zh-CN" altLang="en-US" b="1" dirty="0">
                <a:solidFill>
                  <a:srgbClr val="0000FF"/>
                </a:solidFill>
              </a:rPr>
              <a:t>光的量子性</a:t>
            </a:r>
          </a:p>
        </p:txBody>
      </p:sp>
      <p:sp>
        <p:nvSpPr>
          <p:cNvPr id="91143" name="Line 7"/>
          <p:cNvSpPr>
            <a:spLocks noChangeShapeType="1"/>
          </p:cNvSpPr>
          <p:nvPr/>
        </p:nvSpPr>
        <p:spPr bwMode="auto">
          <a:xfrm>
            <a:off x="55563" y="1104900"/>
            <a:ext cx="9043987" cy="0"/>
          </a:xfrm>
          <a:prstGeom prst="line">
            <a:avLst/>
          </a:prstGeom>
          <a:noFill/>
          <a:ln w="28575">
            <a:solidFill>
              <a:srgbClr val="0062E1">
                <a:alpha val="70195"/>
              </a:srgbClr>
            </a:solidFill>
            <a:round/>
            <a:headEnd/>
            <a:tailEnd/>
          </a:ln>
          <a:effectLst/>
        </p:spPr>
        <p:txBody>
          <a:bodyPr/>
          <a:lstStyle/>
          <a:p>
            <a:endParaRPr lang="zh-CN" altLang="en-US"/>
          </a:p>
        </p:txBody>
      </p:sp>
      <p:sp>
        <p:nvSpPr>
          <p:cNvPr id="91144" name="Line 8"/>
          <p:cNvSpPr>
            <a:spLocks noChangeShapeType="1"/>
          </p:cNvSpPr>
          <p:nvPr/>
        </p:nvSpPr>
        <p:spPr bwMode="auto">
          <a:xfrm>
            <a:off x="100013" y="6038850"/>
            <a:ext cx="9043987" cy="0"/>
          </a:xfrm>
          <a:prstGeom prst="line">
            <a:avLst/>
          </a:prstGeom>
          <a:noFill/>
          <a:ln w="76200">
            <a:solidFill>
              <a:srgbClr val="0062E1">
                <a:alpha val="50195"/>
              </a:srgbClr>
            </a:solidFill>
            <a:round/>
            <a:headEnd/>
            <a:tailEnd/>
          </a:ln>
          <a:effectLst/>
        </p:spPr>
        <p:txBody>
          <a:bodyPr/>
          <a:lstStyle/>
          <a:p>
            <a:endParaRPr lang="zh-CN" altLang="en-US"/>
          </a:p>
        </p:txBody>
      </p:sp>
      <p:sp>
        <p:nvSpPr>
          <p:cNvPr id="91145" name="Text Box 9">
            <a:hlinkClick r:id="rId6" action="ppaction://hlinksldjump"/>
          </p:cNvPr>
          <p:cNvSpPr txBox="1">
            <a:spLocks noChangeArrowheads="1"/>
          </p:cNvSpPr>
          <p:nvPr/>
        </p:nvSpPr>
        <p:spPr bwMode="auto">
          <a:xfrm>
            <a:off x="1357313" y="2794000"/>
            <a:ext cx="6911975"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00FF"/>
                </a:solidFill>
              </a:rPr>
              <a:t>§ 13</a:t>
            </a:r>
            <a:r>
              <a:rPr lang="en-US" altLang="zh-CN" b="1" dirty="0" smtClean="0">
                <a:solidFill>
                  <a:srgbClr val="0000FF"/>
                </a:solidFill>
              </a:rPr>
              <a:t>. 3   </a:t>
            </a:r>
            <a:r>
              <a:rPr lang="zh-CN" altLang="en-US" b="1" dirty="0">
                <a:solidFill>
                  <a:srgbClr val="0000FF"/>
                </a:solidFill>
              </a:rPr>
              <a:t>玻尔的氢原子理论</a:t>
            </a:r>
          </a:p>
        </p:txBody>
      </p:sp>
      <p:sp>
        <p:nvSpPr>
          <p:cNvPr id="91146" name="Text Box 10">
            <a:hlinkClick r:id="rId7" action="ppaction://hlinksldjump"/>
          </p:cNvPr>
          <p:cNvSpPr txBox="1">
            <a:spLocks noChangeArrowheads="1"/>
          </p:cNvSpPr>
          <p:nvPr/>
        </p:nvSpPr>
        <p:spPr bwMode="auto">
          <a:xfrm>
            <a:off x="1365250" y="3282950"/>
            <a:ext cx="7777163"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00FF"/>
                </a:solidFill>
              </a:rPr>
              <a:t>§ 13. 4  </a:t>
            </a:r>
            <a:r>
              <a:rPr lang="zh-CN" altLang="en-US" b="1" dirty="0">
                <a:solidFill>
                  <a:srgbClr val="0000FF"/>
                </a:solidFill>
              </a:rPr>
              <a:t>微观粒子的波粒二象性</a:t>
            </a:r>
          </a:p>
        </p:txBody>
      </p:sp>
      <p:sp>
        <p:nvSpPr>
          <p:cNvPr id="91147" name="Text Box 11">
            <a:hlinkClick r:id="rId8" action="ppaction://hlinksldjump"/>
          </p:cNvPr>
          <p:cNvSpPr txBox="1">
            <a:spLocks noChangeArrowheads="1"/>
          </p:cNvSpPr>
          <p:nvPr/>
        </p:nvSpPr>
        <p:spPr bwMode="auto">
          <a:xfrm>
            <a:off x="1365250" y="3816350"/>
            <a:ext cx="7632700"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00FF"/>
                </a:solidFill>
              </a:rPr>
              <a:t>§ 13. 5  </a:t>
            </a:r>
            <a:r>
              <a:rPr lang="zh-CN" altLang="en-US" b="1" dirty="0">
                <a:solidFill>
                  <a:srgbClr val="0000FF"/>
                </a:solidFill>
              </a:rPr>
              <a:t>波函数    一维定态薛定谔方程</a:t>
            </a:r>
          </a:p>
        </p:txBody>
      </p:sp>
      <p:sp>
        <p:nvSpPr>
          <p:cNvPr id="91148" name="Text Box 12">
            <a:hlinkClick r:id="rId9" action="ppaction://hlinksldjump"/>
          </p:cNvPr>
          <p:cNvSpPr txBox="1">
            <a:spLocks noChangeArrowheads="1"/>
          </p:cNvSpPr>
          <p:nvPr/>
        </p:nvSpPr>
        <p:spPr bwMode="auto">
          <a:xfrm>
            <a:off x="1365250" y="4305300"/>
            <a:ext cx="7632700"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00FF"/>
                </a:solidFill>
              </a:rPr>
              <a:t>§ 13. 6  </a:t>
            </a:r>
            <a:r>
              <a:rPr lang="zh-CN" altLang="en-US" b="1" dirty="0">
                <a:solidFill>
                  <a:srgbClr val="0000FF"/>
                </a:solidFill>
              </a:rPr>
              <a:t>量子力学对氢原子的应用 </a:t>
            </a:r>
          </a:p>
        </p:txBody>
      </p:sp>
      <p:sp>
        <p:nvSpPr>
          <p:cNvPr id="91149" name="Text Box 13">
            <a:hlinkClick r:id="rId10" action="ppaction://hlinksldjump"/>
          </p:cNvPr>
          <p:cNvSpPr txBox="1">
            <a:spLocks noChangeArrowheads="1"/>
          </p:cNvSpPr>
          <p:nvPr/>
        </p:nvSpPr>
        <p:spPr bwMode="auto">
          <a:xfrm>
            <a:off x="1365250" y="4838700"/>
            <a:ext cx="7632700"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00FF"/>
                </a:solidFill>
              </a:rPr>
              <a:t>§ 13. 7  </a:t>
            </a:r>
            <a:r>
              <a:rPr lang="zh-CN" altLang="en-US" b="1" dirty="0">
                <a:solidFill>
                  <a:srgbClr val="0000FF"/>
                </a:solidFill>
              </a:rPr>
              <a:t>原子的电子壳层结构</a:t>
            </a:r>
          </a:p>
        </p:txBody>
      </p:sp>
      <p:sp>
        <p:nvSpPr>
          <p:cNvPr id="91151" name="Text Box 15">
            <a:hlinkClick r:id="rId11" action="ppaction://hlinksldjump"/>
          </p:cNvPr>
          <p:cNvSpPr txBox="1">
            <a:spLocks noChangeArrowheads="1"/>
          </p:cNvSpPr>
          <p:nvPr/>
        </p:nvSpPr>
        <p:spPr bwMode="auto">
          <a:xfrm>
            <a:off x="1357313" y="5327650"/>
            <a:ext cx="7632700" cy="457200"/>
          </a:xfrm>
          <a:prstGeom prst="rect">
            <a:avLst/>
          </a:prstGeom>
          <a:noFill/>
          <a:ln w="9525">
            <a:noFill/>
            <a:miter lim="800000"/>
            <a:headEnd/>
            <a:tailEnd/>
          </a:ln>
          <a:effectLst/>
        </p:spPr>
        <p:txBody>
          <a:bodyPr>
            <a:spAutoFit/>
          </a:bodyPr>
          <a:lstStyle/>
          <a:p>
            <a:pPr>
              <a:spcBef>
                <a:spcPct val="50000"/>
              </a:spcBef>
            </a:pPr>
            <a:r>
              <a:rPr lang="en-US" altLang="zh-CN" b="1" dirty="0">
                <a:solidFill>
                  <a:srgbClr val="0000FF"/>
                </a:solidFill>
              </a:rPr>
              <a:t>§ 13. 8  </a:t>
            </a:r>
            <a:r>
              <a:rPr lang="zh-CN" altLang="en-US" b="1" dirty="0">
                <a:solidFill>
                  <a:srgbClr val="0000FF"/>
                </a:solidFill>
              </a:rPr>
              <a:t>激光原理</a:t>
            </a:r>
          </a:p>
        </p:txBody>
      </p:sp>
      <p:sp>
        <p:nvSpPr>
          <p:cNvPr id="13" name="Rectangle 43"/>
          <p:cNvSpPr>
            <a:spLocks noChangeArrowheads="1"/>
          </p:cNvSpPr>
          <p:nvPr/>
        </p:nvSpPr>
        <p:spPr bwMode="auto">
          <a:xfrm>
            <a:off x="755650" y="406400"/>
            <a:ext cx="7561263" cy="701675"/>
          </a:xfrm>
          <a:prstGeom prst="rect">
            <a:avLst/>
          </a:prstGeom>
          <a:noFill/>
          <a:ln w="9525">
            <a:noFill/>
            <a:miter lim="800000"/>
            <a:headEnd/>
            <a:tailEnd/>
          </a:ln>
          <a:effectLst/>
        </p:spPr>
        <p:txBody>
          <a:bodyPr anchor="ctr">
            <a:spAutoFit/>
          </a:bodyPr>
          <a:lstStyle/>
          <a:p>
            <a:pPr algn="ctr">
              <a:defRPr/>
            </a:pPr>
            <a:r>
              <a:rPr kumimoji="1" lang="zh-CN" altLang="en-US" sz="4000" b="1" dirty="0" smtClean="0">
                <a:solidFill>
                  <a:srgbClr val="FF3300"/>
                </a:solidFill>
                <a:effectLst>
                  <a:outerShdw blurRad="38100" dist="38100" dir="2700000" algn="tl">
                    <a:srgbClr val="C0C0C0"/>
                  </a:outerShdw>
                </a:effectLst>
                <a:ea typeface="隶书" pitchFamily="49" charset="-122"/>
                <a:cs typeface="Times New Roman" pitchFamily="18" charset="0"/>
              </a:rPr>
              <a:t>第</a:t>
            </a:r>
            <a:r>
              <a:rPr kumimoji="1" lang="en-US" altLang="zh-CN" sz="4000" b="1" dirty="0" smtClean="0">
                <a:solidFill>
                  <a:srgbClr val="FF3300"/>
                </a:solidFill>
                <a:effectLst>
                  <a:outerShdw blurRad="38100" dist="38100" dir="2700000" algn="tl">
                    <a:srgbClr val="C0C0C0"/>
                  </a:outerShdw>
                </a:effectLst>
                <a:ea typeface="隶书" pitchFamily="49" charset="-122"/>
                <a:cs typeface="Times New Roman" pitchFamily="18" charset="0"/>
              </a:rPr>
              <a:t>13</a:t>
            </a:r>
            <a:r>
              <a:rPr kumimoji="1" lang="zh-CN" altLang="en-US" sz="4000" b="1" dirty="0" smtClean="0">
                <a:solidFill>
                  <a:srgbClr val="FF3300"/>
                </a:solidFill>
                <a:effectLst>
                  <a:outerShdw blurRad="38100" dist="38100" dir="2700000" algn="tl">
                    <a:srgbClr val="C0C0C0"/>
                  </a:outerShdw>
                </a:effectLst>
                <a:ea typeface="隶书" pitchFamily="49" charset="-122"/>
                <a:cs typeface="Times New Roman" pitchFamily="18" charset="0"/>
              </a:rPr>
              <a:t>章     量子物理基础</a:t>
            </a:r>
            <a:endParaRPr kumimoji="1" lang="zh-CN" altLang="en-US" sz="4000" b="1" dirty="0">
              <a:solidFill>
                <a:srgbClr val="FF3300"/>
              </a:solidFill>
              <a:effectLst>
                <a:outerShdw blurRad="38100" dist="38100" dir="2700000" algn="tl">
                  <a:srgbClr val="C0C0C0"/>
                </a:outerShdw>
              </a:effectLst>
              <a:ea typeface="隶书" pitchFamily="49" charset="-122"/>
              <a:cs typeface="Times New Roman" pitchFamily="18" charset="0"/>
            </a:endParaRP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143"/>
                                        </p:tgtEl>
                                        <p:attrNameLst>
                                          <p:attrName>style.visibility</p:attrName>
                                        </p:attrNameLst>
                                      </p:cBhvr>
                                      <p:to>
                                        <p:strVal val="visible"/>
                                      </p:to>
                                    </p:set>
                                    <p:animEffect transition="in" filter="wipe(left)">
                                      <p:cBhvr>
                                        <p:cTn id="7" dur="500"/>
                                        <p:tgtEl>
                                          <p:spTgt spid="911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39"/>
                                        </p:tgtEl>
                                        <p:attrNameLst>
                                          <p:attrName>style.visibility</p:attrName>
                                        </p:attrNameLst>
                                      </p:cBhvr>
                                      <p:to>
                                        <p:strVal val="visible"/>
                                      </p:to>
                                    </p:set>
                                    <p:animEffect transition="in" filter="wipe(left)">
                                      <p:cBhvr>
                                        <p:cTn id="12" dur="500"/>
                                        <p:tgtEl>
                                          <p:spTgt spid="911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1140"/>
                                        </p:tgtEl>
                                        <p:attrNameLst>
                                          <p:attrName>style.visibility</p:attrName>
                                        </p:attrNameLst>
                                      </p:cBhvr>
                                      <p:to>
                                        <p:strVal val="visible"/>
                                      </p:to>
                                    </p:set>
                                    <p:animEffect transition="in" filter="wipe(left)">
                                      <p:cBhvr>
                                        <p:cTn id="17" dur="500"/>
                                        <p:tgtEl>
                                          <p:spTgt spid="911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1141"/>
                                        </p:tgtEl>
                                        <p:attrNameLst>
                                          <p:attrName>style.visibility</p:attrName>
                                        </p:attrNameLst>
                                      </p:cBhvr>
                                      <p:to>
                                        <p:strVal val="visible"/>
                                      </p:to>
                                    </p:set>
                                    <p:animEffect transition="in" filter="wipe(left)">
                                      <p:cBhvr>
                                        <p:cTn id="22" dur="500"/>
                                        <p:tgtEl>
                                          <p:spTgt spid="911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1145"/>
                                        </p:tgtEl>
                                        <p:attrNameLst>
                                          <p:attrName>style.visibility</p:attrName>
                                        </p:attrNameLst>
                                      </p:cBhvr>
                                      <p:to>
                                        <p:strVal val="visible"/>
                                      </p:to>
                                    </p:set>
                                    <p:animEffect transition="in" filter="wipe(left)">
                                      <p:cBhvr>
                                        <p:cTn id="27" dur="500"/>
                                        <p:tgtEl>
                                          <p:spTgt spid="9114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1146"/>
                                        </p:tgtEl>
                                        <p:attrNameLst>
                                          <p:attrName>style.visibility</p:attrName>
                                        </p:attrNameLst>
                                      </p:cBhvr>
                                      <p:to>
                                        <p:strVal val="visible"/>
                                      </p:to>
                                    </p:set>
                                    <p:animEffect transition="in" filter="wipe(left)">
                                      <p:cBhvr>
                                        <p:cTn id="32" dur="500"/>
                                        <p:tgtEl>
                                          <p:spTgt spid="9114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1147"/>
                                        </p:tgtEl>
                                        <p:attrNameLst>
                                          <p:attrName>style.visibility</p:attrName>
                                        </p:attrNameLst>
                                      </p:cBhvr>
                                      <p:to>
                                        <p:strVal val="visible"/>
                                      </p:to>
                                    </p:set>
                                    <p:animEffect transition="in" filter="wipe(left)">
                                      <p:cBhvr>
                                        <p:cTn id="37" dur="500"/>
                                        <p:tgtEl>
                                          <p:spTgt spid="911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1148"/>
                                        </p:tgtEl>
                                        <p:attrNameLst>
                                          <p:attrName>style.visibility</p:attrName>
                                        </p:attrNameLst>
                                      </p:cBhvr>
                                      <p:to>
                                        <p:strVal val="visible"/>
                                      </p:to>
                                    </p:set>
                                    <p:animEffect transition="in" filter="wipe(left)">
                                      <p:cBhvr>
                                        <p:cTn id="42" dur="500"/>
                                        <p:tgtEl>
                                          <p:spTgt spid="9114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1149"/>
                                        </p:tgtEl>
                                        <p:attrNameLst>
                                          <p:attrName>style.visibility</p:attrName>
                                        </p:attrNameLst>
                                      </p:cBhvr>
                                      <p:to>
                                        <p:strVal val="visible"/>
                                      </p:to>
                                    </p:set>
                                    <p:animEffect transition="in" filter="wipe(left)">
                                      <p:cBhvr>
                                        <p:cTn id="47" dur="500"/>
                                        <p:tgtEl>
                                          <p:spTgt spid="9114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91144"/>
                                        </p:tgtEl>
                                        <p:attrNameLst>
                                          <p:attrName>style.visibility</p:attrName>
                                        </p:attrNameLst>
                                      </p:cBhvr>
                                      <p:to>
                                        <p:strVal val="visible"/>
                                      </p:to>
                                    </p:set>
                                    <p:animEffect transition="in" filter="wipe(down)">
                                      <p:cBhvr>
                                        <p:cTn id="52" dur="500"/>
                                        <p:tgtEl>
                                          <p:spTgt spid="91144"/>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91151"/>
                                        </p:tgtEl>
                                        <p:attrNameLst>
                                          <p:attrName>style.visibility</p:attrName>
                                        </p:attrNameLst>
                                      </p:cBhvr>
                                      <p:to>
                                        <p:strVal val="visible"/>
                                      </p:to>
                                    </p:set>
                                    <p:animEffect transition="in" filter="wipe(left)">
                                      <p:cBhvr>
                                        <p:cTn id="55" dur="500"/>
                                        <p:tgtEl>
                                          <p:spTgt spid="91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p:bldP spid="91140" grpId="0"/>
      <p:bldP spid="91141" grpId="0"/>
      <p:bldP spid="91143" grpId="0" animBg="1"/>
      <p:bldP spid="91144" grpId="0" animBg="1"/>
      <p:bldP spid="91145" grpId="0"/>
      <p:bldP spid="91146" grpId="0"/>
      <p:bldP spid="91147" grpId="0"/>
      <p:bldP spid="91148" grpId="0"/>
      <p:bldP spid="91149" grpId="0"/>
      <p:bldP spid="91151"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611188" y="1447800"/>
            <a:ext cx="8280400" cy="979488"/>
          </a:xfrm>
          <a:prstGeom prst="rect">
            <a:avLst/>
          </a:prstGeom>
          <a:noFill/>
          <a:ln w="9525">
            <a:noFill/>
            <a:miter lim="800000"/>
            <a:headEnd/>
            <a:tailEnd/>
          </a:ln>
          <a:effectLst/>
        </p:spPr>
        <p:txBody>
          <a:bodyPr>
            <a:spAutoFit/>
          </a:bodyPr>
          <a:lstStyle/>
          <a:p>
            <a:pPr>
              <a:lnSpc>
                <a:spcPct val="120000"/>
              </a:lnSpc>
            </a:pPr>
            <a:r>
              <a:rPr lang="zh-CN" altLang="en-US" b="1">
                <a:solidFill>
                  <a:srgbClr val="FF0000"/>
                </a:solidFill>
                <a:latin typeface="宋体" charset="-122"/>
              </a:rPr>
              <a:t>热辐射</a:t>
            </a:r>
            <a:r>
              <a:rPr lang="en-US" altLang="zh-CN" b="1">
                <a:solidFill>
                  <a:schemeClr val="bg1"/>
                </a:solidFill>
                <a:latin typeface="宋体" charset="-122"/>
              </a:rPr>
              <a:t>:</a:t>
            </a:r>
            <a:r>
              <a:rPr lang="zh-CN" altLang="en-US" b="1">
                <a:solidFill>
                  <a:schemeClr val="bg1"/>
                </a:solidFill>
                <a:latin typeface="宋体" charset="-122"/>
              </a:rPr>
              <a:t>发射能量的量值和按照波长分布的规律都与温度有关的辐射称为</a:t>
            </a:r>
            <a:r>
              <a:rPr lang="zh-CN" altLang="en-US" b="1">
                <a:solidFill>
                  <a:srgbClr val="0000FF"/>
                </a:solidFill>
                <a:latin typeface="宋体" charset="-122"/>
              </a:rPr>
              <a:t>热辐射</a:t>
            </a:r>
            <a:r>
              <a:rPr lang="zh-CN" altLang="en-US" b="1">
                <a:solidFill>
                  <a:schemeClr val="bg1"/>
                </a:solidFill>
                <a:latin typeface="宋体" charset="-122"/>
              </a:rPr>
              <a:t>或</a:t>
            </a:r>
            <a:r>
              <a:rPr lang="zh-CN" altLang="en-US" b="1">
                <a:solidFill>
                  <a:srgbClr val="0000FF"/>
                </a:solidFill>
                <a:latin typeface="宋体" charset="-122"/>
              </a:rPr>
              <a:t>温度辐射</a:t>
            </a:r>
            <a:r>
              <a:rPr lang="zh-CN" altLang="en-US" b="1">
                <a:solidFill>
                  <a:schemeClr val="bg1"/>
                </a:solidFill>
                <a:latin typeface="宋体" charset="-122"/>
              </a:rPr>
              <a:t>。</a:t>
            </a:r>
          </a:p>
        </p:txBody>
      </p:sp>
      <p:sp>
        <p:nvSpPr>
          <p:cNvPr id="94211" name="Text Box 3"/>
          <p:cNvSpPr txBox="1">
            <a:spLocks noChangeArrowheads="1"/>
          </p:cNvSpPr>
          <p:nvPr/>
        </p:nvSpPr>
        <p:spPr bwMode="auto">
          <a:xfrm>
            <a:off x="215900" y="954088"/>
            <a:ext cx="2510624" cy="461665"/>
          </a:xfrm>
          <a:prstGeom prst="rect">
            <a:avLst/>
          </a:prstGeom>
          <a:noFill/>
          <a:ln w="9525">
            <a:noFill/>
            <a:miter lim="800000"/>
            <a:headEnd/>
            <a:tailEnd/>
          </a:ln>
          <a:effectLst/>
        </p:spPr>
        <p:txBody>
          <a:bodyPr wrap="none">
            <a:spAutoFit/>
          </a:bodyPr>
          <a:lstStyle/>
          <a:p>
            <a:r>
              <a:rPr lang="en-US" altLang="zh-CN" b="1" dirty="0" smtClean="0">
                <a:solidFill>
                  <a:srgbClr val="0000FF"/>
                </a:solidFill>
                <a:latin typeface="宋体" charset="-122"/>
              </a:rPr>
              <a:t>13.1.1 </a:t>
            </a:r>
            <a:r>
              <a:rPr lang="zh-CN" altLang="en-US" b="1" dirty="0" smtClean="0">
                <a:solidFill>
                  <a:srgbClr val="0000FF"/>
                </a:solidFill>
                <a:latin typeface="宋体" charset="-122"/>
              </a:rPr>
              <a:t>黑体辐射</a:t>
            </a:r>
            <a:endParaRPr lang="zh-CN" altLang="en-US" b="1" dirty="0">
              <a:solidFill>
                <a:srgbClr val="0000FF"/>
              </a:solidFill>
              <a:latin typeface="宋体" charset="-122"/>
            </a:endParaRPr>
          </a:p>
        </p:txBody>
      </p:sp>
      <p:sp>
        <p:nvSpPr>
          <p:cNvPr id="94212" name="Rectangle 4"/>
          <p:cNvSpPr>
            <a:spLocks noChangeArrowheads="1"/>
          </p:cNvSpPr>
          <p:nvPr/>
        </p:nvSpPr>
        <p:spPr bwMode="auto">
          <a:xfrm>
            <a:off x="2546350" y="361950"/>
            <a:ext cx="4770438" cy="579437"/>
          </a:xfrm>
          <a:prstGeom prst="rect">
            <a:avLst/>
          </a:prstGeom>
          <a:noFill/>
          <a:ln w="9525">
            <a:noFill/>
            <a:miter lim="800000"/>
            <a:headEnd/>
            <a:tailEnd/>
          </a:ln>
          <a:effectLst/>
        </p:spPr>
        <p:txBody>
          <a:bodyPr>
            <a:spAutoFit/>
          </a:bodyPr>
          <a:lstStyle/>
          <a:p>
            <a:r>
              <a:rPr lang="en-US" altLang="zh-CN" sz="3200" b="1" dirty="0">
                <a:solidFill>
                  <a:srgbClr val="0000FF"/>
                </a:solidFill>
                <a:latin typeface="黑体" pitchFamily="2" charset="-122"/>
                <a:ea typeface="黑体" pitchFamily="2" charset="-122"/>
              </a:rPr>
              <a:t>§</a:t>
            </a:r>
            <a:r>
              <a:rPr lang="en-US" altLang="zh-CN" sz="2800" b="1" dirty="0">
                <a:solidFill>
                  <a:srgbClr val="0000FF"/>
                </a:solidFill>
                <a:ea typeface="黑体" pitchFamily="2" charset="-122"/>
              </a:rPr>
              <a:t>13.1</a:t>
            </a:r>
            <a:r>
              <a:rPr lang="en-US" altLang="zh-CN" sz="2800" b="1" dirty="0">
                <a:solidFill>
                  <a:srgbClr val="0000FF"/>
                </a:solidFill>
                <a:latin typeface="黑体" pitchFamily="2" charset="-122"/>
                <a:ea typeface="黑体" pitchFamily="2" charset="-122"/>
              </a:rPr>
              <a:t>  </a:t>
            </a:r>
            <a:r>
              <a:rPr lang="zh-CN" altLang="en-US" sz="2800" b="1" dirty="0">
                <a:solidFill>
                  <a:srgbClr val="0000FF"/>
                </a:solidFill>
                <a:latin typeface="黑体" pitchFamily="2" charset="-122"/>
                <a:ea typeface="黑体" pitchFamily="2" charset="-122"/>
              </a:rPr>
              <a:t>普朗克量子假设</a:t>
            </a:r>
            <a:r>
              <a:rPr lang="zh-CN" altLang="en-US" sz="2800" b="1" dirty="0">
                <a:solidFill>
                  <a:srgbClr val="3333CC"/>
                </a:solidFill>
                <a:latin typeface="黑体" pitchFamily="2" charset="-122"/>
                <a:ea typeface="黑体" pitchFamily="2" charset="-122"/>
              </a:rPr>
              <a:t> </a:t>
            </a:r>
          </a:p>
        </p:txBody>
      </p:sp>
      <p:sp>
        <p:nvSpPr>
          <p:cNvPr id="94218" name="Rectangle 10"/>
          <p:cNvSpPr>
            <a:spLocks noChangeArrowheads="1"/>
          </p:cNvSpPr>
          <p:nvPr/>
        </p:nvSpPr>
        <p:spPr bwMode="auto">
          <a:xfrm>
            <a:off x="3527425" y="5807075"/>
            <a:ext cx="1828800" cy="466725"/>
          </a:xfrm>
          <a:prstGeom prst="rect">
            <a:avLst/>
          </a:prstGeom>
          <a:solidFill>
            <a:srgbClr val="CCFFFF"/>
          </a:solidFill>
          <a:ln w="9525">
            <a:solidFill>
              <a:srgbClr val="00FFFF"/>
            </a:solidFill>
            <a:miter lim="800000"/>
            <a:headEnd/>
            <a:tailEnd/>
          </a:ln>
          <a:effectLst/>
        </p:spPr>
        <p:txBody>
          <a:bodyPr>
            <a:spAutoFit/>
          </a:bodyPr>
          <a:lstStyle/>
          <a:p>
            <a:pPr algn="ctr"/>
            <a:r>
              <a:rPr lang="zh-CN" altLang="en-US" b="1">
                <a:solidFill>
                  <a:schemeClr val="bg1"/>
                </a:solidFill>
                <a:latin typeface="宋体" charset="-122"/>
              </a:rPr>
              <a:t>物体热辐射</a:t>
            </a:r>
          </a:p>
        </p:txBody>
      </p:sp>
      <p:grpSp>
        <p:nvGrpSpPr>
          <p:cNvPr id="94219" name="Group 11"/>
          <p:cNvGrpSpPr>
            <a:grpSpLocks/>
          </p:cNvGrpSpPr>
          <p:nvPr/>
        </p:nvGrpSpPr>
        <p:grpSpPr bwMode="auto">
          <a:xfrm>
            <a:off x="1343025" y="5807075"/>
            <a:ext cx="2125663" cy="466725"/>
            <a:chOff x="1248" y="288"/>
            <a:chExt cx="1200" cy="294"/>
          </a:xfrm>
        </p:grpSpPr>
        <p:sp>
          <p:nvSpPr>
            <p:cNvPr id="4122" name="Rectangle 12"/>
            <p:cNvSpPr>
              <a:spLocks noChangeArrowheads="1"/>
            </p:cNvSpPr>
            <p:nvPr/>
          </p:nvSpPr>
          <p:spPr bwMode="auto">
            <a:xfrm>
              <a:off x="1248" y="288"/>
              <a:ext cx="469" cy="294"/>
            </a:xfrm>
            <a:prstGeom prst="rect">
              <a:avLst/>
            </a:prstGeom>
            <a:solidFill>
              <a:srgbClr val="CCFFCC"/>
            </a:solidFill>
            <a:ln w="9525">
              <a:solidFill>
                <a:srgbClr val="00FF00"/>
              </a:solidFill>
              <a:miter lim="800000"/>
              <a:headEnd/>
              <a:tailEnd/>
            </a:ln>
            <a:effectLst/>
          </p:spPr>
          <p:txBody>
            <a:bodyPr>
              <a:spAutoFit/>
            </a:bodyPr>
            <a:lstStyle/>
            <a:p>
              <a:r>
                <a:rPr lang="zh-CN" altLang="en-US" b="1">
                  <a:solidFill>
                    <a:schemeClr val="bg1"/>
                  </a:solidFill>
                  <a:latin typeface="宋体" charset="-122"/>
                </a:rPr>
                <a:t>温度</a:t>
              </a:r>
            </a:p>
          </p:txBody>
        </p:sp>
        <p:sp>
          <p:nvSpPr>
            <p:cNvPr id="4123" name="Line 13"/>
            <p:cNvSpPr>
              <a:spLocks noChangeShapeType="1"/>
            </p:cNvSpPr>
            <p:nvPr/>
          </p:nvSpPr>
          <p:spPr bwMode="auto">
            <a:xfrm flipH="1">
              <a:off x="1824" y="435"/>
              <a:ext cx="624" cy="0"/>
            </a:xfrm>
            <a:prstGeom prst="line">
              <a:avLst/>
            </a:prstGeom>
            <a:noFill/>
            <a:ln w="57150">
              <a:solidFill>
                <a:srgbClr val="0000FF"/>
              </a:solidFill>
              <a:round/>
              <a:headEnd type="triangle" w="med" len="med"/>
              <a:tailEnd/>
            </a:ln>
            <a:effectLst/>
          </p:spPr>
          <p:txBody>
            <a:bodyPr/>
            <a:lstStyle/>
            <a:p>
              <a:endParaRPr lang="zh-CN" altLang="en-US"/>
            </a:p>
          </p:txBody>
        </p:sp>
      </p:grpSp>
      <p:grpSp>
        <p:nvGrpSpPr>
          <p:cNvPr id="94222" name="Group 14"/>
          <p:cNvGrpSpPr>
            <a:grpSpLocks/>
          </p:cNvGrpSpPr>
          <p:nvPr/>
        </p:nvGrpSpPr>
        <p:grpSpPr bwMode="auto">
          <a:xfrm>
            <a:off x="5360988" y="5807075"/>
            <a:ext cx="2667000" cy="466725"/>
            <a:chOff x="3648" y="288"/>
            <a:chExt cx="1528" cy="294"/>
          </a:xfrm>
        </p:grpSpPr>
        <p:sp>
          <p:nvSpPr>
            <p:cNvPr id="4120" name="Rectangle 15"/>
            <p:cNvSpPr>
              <a:spLocks noChangeArrowheads="1"/>
            </p:cNvSpPr>
            <p:nvPr/>
          </p:nvSpPr>
          <p:spPr bwMode="auto">
            <a:xfrm>
              <a:off x="4320" y="288"/>
              <a:ext cx="856" cy="294"/>
            </a:xfrm>
            <a:prstGeom prst="rect">
              <a:avLst/>
            </a:prstGeom>
            <a:solidFill>
              <a:srgbClr val="CCFFCC"/>
            </a:solidFill>
            <a:ln w="9525">
              <a:solidFill>
                <a:srgbClr val="00FF00"/>
              </a:solidFill>
              <a:miter lim="800000"/>
              <a:headEnd/>
              <a:tailEnd/>
            </a:ln>
            <a:effectLst/>
          </p:spPr>
          <p:txBody>
            <a:bodyPr>
              <a:spAutoFit/>
            </a:bodyPr>
            <a:lstStyle/>
            <a:p>
              <a:pPr algn="ctr"/>
              <a:r>
                <a:rPr lang="zh-CN" altLang="en-US" b="1">
                  <a:solidFill>
                    <a:schemeClr val="bg1"/>
                  </a:solidFill>
                  <a:latin typeface="宋体" charset="-122"/>
                </a:rPr>
                <a:t>材料性质</a:t>
              </a:r>
            </a:p>
          </p:txBody>
        </p:sp>
        <p:sp>
          <p:nvSpPr>
            <p:cNvPr id="4121" name="Line 16"/>
            <p:cNvSpPr>
              <a:spLocks noChangeShapeType="1"/>
            </p:cNvSpPr>
            <p:nvPr/>
          </p:nvSpPr>
          <p:spPr bwMode="auto">
            <a:xfrm flipH="1">
              <a:off x="3648" y="435"/>
              <a:ext cx="624" cy="0"/>
            </a:xfrm>
            <a:prstGeom prst="line">
              <a:avLst/>
            </a:prstGeom>
            <a:noFill/>
            <a:ln w="57150">
              <a:solidFill>
                <a:srgbClr val="3333CC"/>
              </a:solidFill>
              <a:round/>
              <a:headEnd/>
              <a:tailEnd type="triangle" w="med" len="med"/>
            </a:ln>
            <a:effectLst/>
          </p:spPr>
          <p:txBody>
            <a:bodyPr/>
            <a:lstStyle/>
            <a:p>
              <a:endParaRPr lang="zh-CN" altLang="en-US"/>
            </a:p>
          </p:txBody>
        </p:sp>
      </p:grpSp>
      <p:sp>
        <p:nvSpPr>
          <p:cNvPr id="94225" name="Text Box 17"/>
          <p:cNvSpPr txBox="1">
            <a:spLocks noChangeArrowheads="1"/>
          </p:cNvSpPr>
          <p:nvPr/>
        </p:nvSpPr>
        <p:spPr bwMode="auto">
          <a:xfrm>
            <a:off x="304800" y="4127500"/>
            <a:ext cx="5040313" cy="457200"/>
          </a:xfrm>
          <a:prstGeom prst="rect">
            <a:avLst/>
          </a:prstGeom>
          <a:noFill/>
          <a:ln w="9525">
            <a:noFill/>
            <a:miter lim="800000"/>
            <a:headEnd/>
            <a:tailEnd/>
          </a:ln>
          <a:effectLst/>
        </p:spPr>
        <p:txBody>
          <a:bodyPr>
            <a:spAutoFit/>
          </a:bodyPr>
          <a:lstStyle/>
          <a:p>
            <a:r>
              <a:rPr lang="zh-CN" altLang="en-US" b="1" dirty="0">
                <a:solidFill>
                  <a:schemeClr val="bg2"/>
                </a:solidFill>
                <a:latin typeface="宋体" charset="-122"/>
              </a:rPr>
              <a:t>（</a:t>
            </a:r>
            <a:r>
              <a:rPr lang="en-US" altLang="zh-CN" b="1" dirty="0">
                <a:solidFill>
                  <a:schemeClr val="bg2"/>
                </a:solidFill>
                <a:latin typeface="宋体" charset="-122"/>
              </a:rPr>
              <a:t>1</a:t>
            </a:r>
            <a:r>
              <a:rPr lang="zh-CN" altLang="en-US" b="1" dirty="0">
                <a:solidFill>
                  <a:schemeClr val="bg2"/>
                </a:solidFill>
                <a:latin typeface="宋体" charset="-122"/>
              </a:rPr>
              <a:t>）物质在任何温度下都有热辐射。      </a:t>
            </a:r>
          </a:p>
        </p:txBody>
      </p:sp>
      <p:sp>
        <p:nvSpPr>
          <p:cNvPr id="94227" name="Text Box 19"/>
          <p:cNvSpPr txBox="1">
            <a:spLocks noChangeArrowheads="1"/>
          </p:cNvSpPr>
          <p:nvPr/>
        </p:nvSpPr>
        <p:spPr bwMode="auto">
          <a:xfrm>
            <a:off x="304800" y="5018087"/>
            <a:ext cx="8743950" cy="457200"/>
          </a:xfrm>
          <a:prstGeom prst="rect">
            <a:avLst/>
          </a:prstGeom>
          <a:noFill/>
          <a:ln w="9525">
            <a:noFill/>
            <a:miter lim="800000"/>
            <a:headEnd/>
            <a:tailEnd/>
          </a:ln>
          <a:effectLst/>
        </p:spPr>
        <p:txBody>
          <a:bodyPr>
            <a:spAutoFit/>
          </a:bodyPr>
          <a:lstStyle/>
          <a:p>
            <a:r>
              <a:rPr lang="zh-CN" altLang="en-US" b="1" dirty="0">
                <a:solidFill>
                  <a:schemeClr val="bg2"/>
                </a:solidFill>
                <a:latin typeface="宋体" charset="-122"/>
              </a:rPr>
              <a:t>（</a:t>
            </a:r>
            <a:r>
              <a:rPr lang="en-US" altLang="zh-CN" b="1" dirty="0">
                <a:solidFill>
                  <a:schemeClr val="bg2"/>
                </a:solidFill>
                <a:latin typeface="宋体" charset="-122"/>
              </a:rPr>
              <a:t>2</a:t>
            </a:r>
            <a:r>
              <a:rPr lang="zh-CN" altLang="en-US" b="1" dirty="0">
                <a:solidFill>
                  <a:schemeClr val="bg2"/>
                </a:solidFill>
                <a:latin typeface="宋体" charset="-122"/>
              </a:rPr>
              <a:t>）温度越高，发射的能量越大，发射的电磁波的波长越短。</a:t>
            </a:r>
          </a:p>
        </p:txBody>
      </p:sp>
      <p:sp>
        <p:nvSpPr>
          <p:cNvPr id="94229" name="Text Box 21"/>
          <p:cNvSpPr txBox="1">
            <a:spLocks noChangeArrowheads="1"/>
          </p:cNvSpPr>
          <p:nvPr/>
        </p:nvSpPr>
        <p:spPr bwMode="auto">
          <a:xfrm>
            <a:off x="1014413" y="3235325"/>
            <a:ext cx="2330450" cy="457200"/>
          </a:xfrm>
          <a:prstGeom prst="rect">
            <a:avLst/>
          </a:prstGeom>
          <a:noFill/>
          <a:ln w="9525">
            <a:noFill/>
            <a:miter lim="800000"/>
            <a:headEnd/>
            <a:tailEnd/>
          </a:ln>
          <a:effectLst/>
        </p:spPr>
        <p:txBody>
          <a:bodyPr wrap="none">
            <a:spAutoFit/>
          </a:bodyPr>
          <a:lstStyle/>
          <a:p>
            <a:r>
              <a:rPr lang="zh-CN" altLang="en-US" b="1" dirty="0">
                <a:solidFill>
                  <a:schemeClr val="hlink"/>
                </a:solidFill>
                <a:latin typeface="宋体" charset="-122"/>
              </a:rPr>
              <a:t>热辐射的特点：</a:t>
            </a:r>
          </a:p>
        </p:txBody>
      </p:sp>
      <p:sp>
        <p:nvSpPr>
          <p:cNvPr id="94230" name="Rectangle 22"/>
          <p:cNvSpPr>
            <a:spLocks noChangeArrowheads="1"/>
          </p:cNvSpPr>
          <p:nvPr/>
        </p:nvSpPr>
        <p:spPr bwMode="auto">
          <a:xfrm>
            <a:off x="304800" y="5762625"/>
            <a:ext cx="950913" cy="457200"/>
          </a:xfrm>
          <a:prstGeom prst="rect">
            <a:avLst/>
          </a:prstGeom>
          <a:noFill/>
          <a:ln w="9525">
            <a:noFill/>
            <a:miter lim="800000"/>
            <a:headEnd/>
            <a:tailEnd/>
          </a:ln>
          <a:effectLst/>
        </p:spPr>
        <p:txBody>
          <a:bodyPr wrap="none">
            <a:spAutoFit/>
          </a:bodyPr>
          <a:lstStyle/>
          <a:p>
            <a:r>
              <a:rPr lang="zh-CN" altLang="en-US" b="1">
                <a:solidFill>
                  <a:schemeClr val="bg2"/>
                </a:solidFill>
                <a:latin typeface="宋体" charset="-122"/>
              </a:rPr>
              <a:t>（</a:t>
            </a:r>
            <a:r>
              <a:rPr lang="en-US" altLang="zh-CN" b="1">
                <a:solidFill>
                  <a:schemeClr val="bg2"/>
                </a:solidFill>
                <a:latin typeface="宋体" charset="-122"/>
              </a:rPr>
              <a:t>3</a:t>
            </a:r>
            <a:r>
              <a:rPr lang="zh-CN" altLang="en-US" b="1">
                <a:solidFill>
                  <a:schemeClr val="bg2"/>
                </a:solidFill>
                <a:latin typeface="宋体" charset="-122"/>
              </a:rPr>
              <a:t>）</a:t>
            </a:r>
          </a:p>
        </p:txBody>
      </p:sp>
      <p:sp>
        <p:nvSpPr>
          <p:cNvPr id="94232" name="AutoShape 24"/>
          <p:cNvSpPr>
            <a:spLocks noChangeAspect="1" noChangeArrowheads="1"/>
          </p:cNvSpPr>
          <p:nvPr/>
        </p:nvSpPr>
        <p:spPr bwMode="auto">
          <a:xfrm>
            <a:off x="611188" y="3267075"/>
            <a:ext cx="323850" cy="517525"/>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a:effectLst/>
        </p:spPr>
        <p:txBody>
          <a:bodyPr wrap="none" anchor="ctr"/>
          <a:lstStyle/>
          <a:p>
            <a:endParaRPr lang="zh-CN" altLang="en-US"/>
          </a:p>
        </p:txBody>
      </p:sp>
      <p:sp>
        <p:nvSpPr>
          <p:cNvPr id="94233" name="AutoShape 25"/>
          <p:cNvSpPr>
            <a:spLocks noChangeArrowheads="1"/>
          </p:cNvSpPr>
          <p:nvPr/>
        </p:nvSpPr>
        <p:spPr bwMode="auto">
          <a:xfrm>
            <a:off x="6686550" y="3871913"/>
            <a:ext cx="381000" cy="720725"/>
          </a:xfrm>
          <a:prstGeom prst="downArrow">
            <a:avLst>
              <a:gd name="adj1" fmla="val 50000"/>
              <a:gd name="adj2" fmla="val 47292"/>
            </a:avLst>
          </a:prstGeom>
          <a:solidFill>
            <a:srgbClr val="0000FF"/>
          </a:solidFill>
          <a:ln w="12700">
            <a:noFill/>
            <a:miter lim="800000"/>
            <a:headEnd/>
            <a:tailEnd/>
          </a:ln>
          <a:effectLst/>
        </p:spPr>
        <p:txBody>
          <a:bodyPr vert="eaVert" wrap="none" anchor="ctr"/>
          <a:lstStyle/>
          <a:p>
            <a:endParaRPr lang="zh-CN" altLang="en-US"/>
          </a:p>
        </p:txBody>
      </p:sp>
      <p:sp>
        <p:nvSpPr>
          <p:cNvPr id="94234" name="Rectangle 26"/>
          <p:cNvSpPr>
            <a:spLocks noChangeArrowheads="1"/>
          </p:cNvSpPr>
          <p:nvPr/>
        </p:nvSpPr>
        <p:spPr bwMode="auto">
          <a:xfrm>
            <a:off x="5619750" y="2992438"/>
            <a:ext cx="3157538" cy="914400"/>
          </a:xfrm>
          <a:prstGeom prst="rect">
            <a:avLst/>
          </a:prstGeom>
          <a:solidFill>
            <a:srgbClr val="99FF33">
              <a:alpha val="79999"/>
            </a:srgbClr>
          </a:solidFill>
          <a:ln w="9525">
            <a:solidFill>
              <a:schemeClr val="accent1"/>
            </a:solidFill>
            <a:miter lim="800000"/>
            <a:headEnd/>
            <a:tailEnd/>
          </a:ln>
          <a:effectLst/>
        </p:spPr>
        <p:txBody>
          <a:bodyPr wrap="none" anchor="ctr"/>
          <a:lstStyle/>
          <a:p>
            <a:pPr algn="ctr"/>
            <a:endParaRPr lang="zh-CN" altLang="zh-CN">
              <a:solidFill>
                <a:schemeClr val="bg2"/>
              </a:solidFill>
            </a:endParaRPr>
          </a:p>
        </p:txBody>
      </p:sp>
      <p:sp>
        <p:nvSpPr>
          <p:cNvPr id="94235" name="AutoShape 27"/>
          <p:cNvSpPr>
            <a:spLocks noChangeArrowheads="1"/>
          </p:cNvSpPr>
          <p:nvPr/>
        </p:nvSpPr>
        <p:spPr bwMode="auto">
          <a:xfrm rot="2974998">
            <a:off x="5880101" y="2316162"/>
            <a:ext cx="1149350" cy="606425"/>
          </a:xfrm>
          <a:prstGeom prst="rightArrow">
            <a:avLst>
              <a:gd name="adj1" fmla="val 56889"/>
              <a:gd name="adj2" fmla="val 86902"/>
            </a:avLst>
          </a:prstGeom>
          <a:solidFill>
            <a:schemeClr val="accent1"/>
          </a:solidFill>
          <a:ln w="15875">
            <a:solidFill>
              <a:srgbClr val="3366FF"/>
            </a:solidFill>
            <a:miter lim="800000"/>
            <a:headEnd/>
            <a:tailEnd/>
          </a:ln>
          <a:effectLst/>
        </p:spPr>
        <p:txBody>
          <a:bodyPr wrap="none" anchor="ctr"/>
          <a:lstStyle/>
          <a:p>
            <a:endParaRPr lang="zh-CN" altLang="en-US"/>
          </a:p>
        </p:txBody>
      </p:sp>
      <p:sp>
        <p:nvSpPr>
          <p:cNvPr id="94236" name="AutoShape 28"/>
          <p:cNvSpPr>
            <a:spLocks noChangeArrowheads="1"/>
          </p:cNvSpPr>
          <p:nvPr/>
        </p:nvSpPr>
        <p:spPr bwMode="auto">
          <a:xfrm flipV="1">
            <a:off x="6686550" y="3068638"/>
            <a:ext cx="1066800" cy="609600"/>
          </a:xfrm>
          <a:custGeom>
            <a:avLst/>
            <a:gdLst>
              <a:gd name="T0" fmla="*/ 30312727 w 21600"/>
              <a:gd name="T1" fmla="*/ 0 h 21600"/>
              <a:gd name="T2" fmla="*/ 30312727 w 21600"/>
              <a:gd name="T3" fmla="*/ 9683778 h 21600"/>
              <a:gd name="T4" fmla="*/ 7025076 w 21600"/>
              <a:gd name="T5" fmla="*/ 17204267 h 21600"/>
              <a:gd name="T6" fmla="*/ 52688067 w 21600"/>
              <a:gd name="T7" fmla="*/ 4841889 h 21600"/>
              <a:gd name="T8" fmla="*/ 17694720 60000 65536"/>
              <a:gd name="T9" fmla="*/ 5898240 60000 65536"/>
              <a:gd name="T10" fmla="*/ 5898240 60000 65536"/>
              <a:gd name="T11" fmla="*/ 0 60000 65536"/>
              <a:gd name="T12" fmla="*/ 12427 w 21600"/>
              <a:gd name="T13" fmla="*/ 3262 h 21600"/>
              <a:gd name="T14" fmla="*/ 17349 w 21600"/>
              <a:gd name="T15" fmla="*/ 8896 h 21600"/>
            </a:gdLst>
            <a:ahLst/>
            <a:cxnLst>
              <a:cxn ang="T8">
                <a:pos x="T0" y="T1"/>
              </a:cxn>
              <a:cxn ang="T9">
                <a:pos x="T2" y="T3"/>
              </a:cxn>
              <a:cxn ang="T10">
                <a:pos x="T4" y="T5"/>
              </a:cxn>
              <a:cxn ang="T11">
                <a:pos x="T6" y="T7"/>
              </a:cxn>
            </a:cxnLst>
            <a:rect l="T12" t="T13" r="T14" b="T15"/>
            <a:pathLst>
              <a:path w="21600" h="21600">
                <a:moveTo>
                  <a:pt x="21600" y="6079"/>
                </a:moveTo>
                <a:lnTo>
                  <a:pt x="12427" y="0"/>
                </a:lnTo>
                <a:lnTo>
                  <a:pt x="12427" y="3262"/>
                </a:lnTo>
                <a:cubicBezTo>
                  <a:pt x="5564" y="3262"/>
                  <a:pt x="0" y="7245"/>
                  <a:pt x="0" y="12158"/>
                </a:cubicBezTo>
                <a:lnTo>
                  <a:pt x="0" y="21600"/>
                </a:lnTo>
                <a:lnTo>
                  <a:pt x="5759" y="21600"/>
                </a:lnTo>
                <a:lnTo>
                  <a:pt x="5759" y="12158"/>
                </a:lnTo>
                <a:cubicBezTo>
                  <a:pt x="5759" y="10356"/>
                  <a:pt x="8744" y="8896"/>
                  <a:pt x="12427" y="8896"/>
                </a:cubicBezTo>
                <a:lnTo>
                  <a:pt x="12427" y="12158"/>
                </a:lnTo>
                <a:lnTo>
                  <a:pt x="21600" y="6079"/>
                </a:lnTo>
                <a:close/>
              </a:path>
            </a:pathLst>
          </a:custGeom>
          <a:solidFill>
            <a:schemeClr val="accent2"/>
          </a:solidFill>
          <a:ln w="9525">
            <a:solidFill>
              <a:schemeClr val="tx1"/>
            </a:solidFill>
            <a:miter lim="800000"/>
            <a:headEnd/>
            <a:tailEnd/>
          </a:ln>
          <a:effectLst/>
        </p:spPr>
        <p:txBody>
          <a:bodyPr wrap="none" anchor="ctr"/>
          <a:lstStyle/>
          <a:p>
            <a:endParaRPr lang="zh-CN" altLang="en-US"/>
          </a:p>
        </p:txBody>
      </p:sp>
      <p:sp>
        <p:nvSpPr>
          <p:cNvPr id="94237" name="AutoShape 29"/>
          <p:cNvSpPr>
            <a:spLocks noChangeArrowheads="1"/>
          </p:cNvSpPr>
          <p:nvPr/>
        </p:nvSpPr>
        <p:spPr bwMode="auto">
          <a:xfrm rot="8704775">
            <a:off x="6686550" y="2459038"/>
            <a:ext cx="1066800" cy="381000"/>
          </a:xfrm>
          <a:prstGeom prst="leftArrow">
            <a:avLst>
              <a:gd name="adj1" fmla="val 50000"/>
              <a:gd name="adj2" fmla="val 70000"/>
            </a:avLst>
          </a:prstGeom>
          <a:solidFill>
            <a:schemeClr val="hlink"/>
          </a:solidFill>
          <a:ln w="9525">
            <a:solidFill>
              <a:schemeClr val="hlink"/>
            </a:solidFill>
            <a:miter lim="800000"/>
            <a:headEnd/>
            <a:tailEnd/>
          </a:ln>
          <a:effectLst/>
        </p:spPr>
        <p:txBody>
          <a:bodyPr wrap="none" anchor="ctr"/>
          <a:lstStyle/>
          <a:p>
            <a:endParaRPr lang="zh-CN" altLang="en-US"/>
          </a:p>
        </p:txBody>
      </p:sp>
      <p:sp>
        <p:nvSpPr>
          <p:cNvPr id="94238" name="Text Box 30"/>
          <p:cNvSpPr txBox="1">
            <a:spLocks noChangeArrowheads="1"/>
          </p:cNvSpPr>
          <p:nvPr/>
        </p:nvSpPr>
        <p:spPr bwMode="auto">
          <a:xfrm>
            <a:off x="5538788" y="2455863"/>
            <a:ext cx="695325" cy="396875"/>
          </a:xfrm>
          <a:prstGeom prst="rect">
            <a:avLst/>
          </a:prstGeom>
          <a:noFill/>
          <a:ln w="9525">
            <a:noFill/>
            <a:miter lim="800000"/>
            <a:headEnd/>
            <a:tailEnd/>
          </a:ln>
          <a:effectLst/>
        </p:spPr>
        <p:txBody>
          <a:bodyPr wrap="none">
            <a:spAutoFit/>
          </a:bodyPr>
          <a:lstStyle/>
          <a:p>
            <a:r>
              <a:rPr lang="zh-CN" altLang="en-US" sz="2000" b="1">
                <a:solidFill>
                  <a:srgbClr val="0000FF"/>
                </a:solidFill>
                <a:ea typeface="楷体_GB2312" pitchFamily="49" charset="-122"/>
              </a:rPr>
              <a:t>入射</a:t>
            </a:r>
            <a:endParaRPr lang="zh-CN" altLang="en-US" sz="2000">
              <a:solidFill>
                <a:srgbClr val="0000FF"/>
              </a:solidFill>
            </a:endParaRPr>
          </a:p>
        </p:txBody>
      </p:sp>
      <p:sp>
        <p:nvSpPr>
          <p:cNvPr id="94239" name="Text Box 31"/>
          <p:cNvSpPr txBox="1">
            <a:spLocks noChangeArrowheads="1"/>
          </p:cNvSpPr>
          <p:nvPr/>
        </p:nvSpPr>
        <p:spPr bwMode="auto">
          <a:xfrm>
            <a:off x="7585075" y="2303463"/>
            <a:ext cx="695325" cy="396875"/>
          </a:xfrm>
          <a:prstGeom prst="rect">
            <a:avLst/>
          </a:prstGeom>
          <a:noFill/>
          <a:ln w="9525">
            <a:noFill/>
            <a:miter lim="800000"/>
            <a:headEnd/>
            <a:tailEnd/>
          </a:ln>
          <a:effectLst/>
        </p:spPr>
        <p:txBody>
          <a:bodyPr wrap="none">
            <a:spAutoFit/>
          </a:bodyPr>
          <a:lstStyle/>
          <a:p>
            <a:r>
              <a:rPr lang="zh-CN" altLang="en-US" sz="2000" b="1">
                <a:solidFill>
                  <a:schemeClr val="tx2"/>
                </a:solidFill>
                <a:ea typeface="楷体_GB2312" pitchFamily="49" charset="-122"/>
              </a:rPr>
              <a:t>反射</a:t>
            </a:r>
            <a:endParaRPr lang="zh-CN" altLang="en-US" sz="2000">
              <a:solidFill>
                <a:schemeClr val="tx2"/>
              </a:solidFill>
            </a:endParaRPr>
          </a:p>
        </p:txBody>
      </p:sp>
      <p:sp>
        <p:nvSpPr>
          <p:cNvPr id="94240" name="Text Box 32"/>
          <p:cNvSpPr txBox="1">
            <a:spLocks noChangeArrowheads="1"/>
          </p:cNvSpPr>
          <p:nvPr/>
        </p:nvSpPr>
        <p:spPr bwMode="auto">
          <a:xfrm>
            <a:off x="5772150" y="4035425"/>
            <a:ext cx="695325" cy="396875"/>
          </a:xfrm>
          <a:prstGeom prst="rect">
            <a:avLst/>
          </a:prstGeom>
          <a:noFill/>
          <a:ln w="9525">
            <a:noFill/>
            <a:miter lim="800000"/>
            <a:headEnd/>
            <a:tailEnd/>
          </a:ln>
          <a:effectLst/>
        </p:spPr>
        <p:txBody>
          <a:bodyPr wrap="none">
            <a:spAutoFit/>
          </a:bodyPr>
          <a:lstStyle/>
          <a:p>
            <a:r>
              <a:rPr lang="zh-CN" altLang="en-US" sz="2000" b="1">
                <a:solidFill>
                  <a:srgbClr val="0000FF"/>
                </a:solidFill>
                <a:ea typeface="楷体_GB2312" pitchFamily="49" charset="-122"/>
              </a:rPr>
              <a:t>透射</a:t>
            </a:r>
            <a:endParaRPr lang="zh-CN" altLang="en-US" sz="2000">
              <a:solidFill>
                <a:srgbClr val="0000FF"/>
              </a:solidFill>
            </a:endParaRPr>
          </a:p>
        </p:txBody>
      </p:sp>
      <p:sp>
        <p:nvSpPr>
          <p:cNvPr id="94241" name="Text Box 33"/>
          <p:cNvSpPr txBox="1">
            <a:spLocks noChangeArrowheads="1"/>
          </p:cNvSpPr>
          <p:nvPr/>
        </p:nvSpPr>
        <p:spPr bwMode="auto">
          <a:xfrm>
            <a:off x="7677150" y="3221038"/>
            <a:ext cx="930275" cy="457200"/>
          </a:xfrm>
          <a:prstGeom prst="rect">
            <a:avLst/>
          </a:prstGeom>
          <a:noFill/>
          <a:ln w="9525">
            <a:noFill/>
            <a:miter lim="800000"/>
            <a:headEnd/>
            <a:tailEnd/>
          </a:ln>
          <a:effectLst/>
        </p:spPr>
        <p:txBody>
          <a:bodyPr>
            <a:spAutoFit/>
          </a:bodyPr>
          <a:lstStyle/>
          <a:p>
            <a:r>
              <a:rPr lang="zh-CN" altLang="en-US" b="1">
                <a:solidFill>
                  <a:schemeClr val="accent2"/>
                </a:solidFill>
                <a:ea typeface="楷体_GB2312" pitchFamily="49" charset="-122"/>
              </a:rPr>
              <a:t>吸收</a:t>
            </a:r>
            <a:endParaRPr lang="zh-CN" altLang="en-US">
              <a:solidFill>
                <a:schemeClr val="accent2"/>
              </a:solidFill>
            </a:endParaRPr>
          </a:p>
        </p:txBody>
      </p:sp>
      <p:sp>
        <p:nvSpPr>
          <p:cNvPr id="94242" name="AutoShape 34"/>
          <p:cNvSpPr>
            <a:spLocks noChangeArrowheads="1"/>
          </p:cNvSpPr>
          <p:nvPr/>
        </p:nvSpPr>
        <p:spPr bwMode="auto">
          <a:xfrm>
            <a:off x="7372350" y="3906838"/>
            <a:ext cx="457200" cy="685800"/>
          </a:xfrm>
          <a:prstGeom prst="downArrow">
            <a:avLst>
              <a:gd name="adj1" fmla="val 50000"/>
              <a:gd name="adj2" fmla="val 37500"/>
            </a:avLst>
          </a:prstGeom>
          <a:solidFill>
            <a:srgbClr val="FF00FF"/>
          </a:solidFill>
          <a:ln w="9525">
            <a:solidFill>
              <a:srgbClr val="FFCC00"/>
            </a:solidFill>
            <a:miter lim="800000"/>
            <a:headEnd/>
            <a:tailEnd/>
          </a:ln>
          <a:effectLst/>
        </p:spPr>
        <p:txBody>
          <a:bodyPr vert="eaVert" wrap="none" anchor="ctr"/>
          <a:lstStyle/>
          <a:p>
            <a:endParaRPr lang="zh-CN" altLang="en-US"/>
          </a:p>
        </p:txBody>
      </p:sp>
      <p:sp>
        <p:nvSpPr>
          <p:cNvPr id="94243" name="Rectangle 35"/>
          <p:cNvSpPr>
            <a:spLocks noChangeArrowheads="1"/>
          </p:cNvSpPr>
          <p:nvPr/>
        </p:nvSpPr>
        <p:spPr bwMode="auto">
          <a:xfrm>
            <a:off x="7870825" y="4035425"/>
            <a:ext cx="695325" cy="396875"/>
          </a:xfrm>
          <a:prstGeom prst="rect">
            <a:avLst/>
          </a:prstGeom>
          <a:noFill/>
          <a:ln w="9525">
            <a:noFill/>
            <a:miter lim="800000"/>
            <a:headEnd/>
            <a:tailEnd/>
          </a:ln>
          <a:effectLst/>
        </p:spPr>
        <p:txBody>
          <a:bodyPr wrap="none">
            <a:spAutoFit/>
          </a:bodyPr>
          <a:lstStyle/>
          <a:p>
            <a:r>
              <a:rPr lang="zh-CN" altLang="en-US" sz="2000" b="1">
                <a:solidFill>
                  <a:srgbClr val="CC00CC"/>
                </a:solidFill>
                <a:ea typeface="楷体_GB2312" pitchFamily="49" charset="-122"/>
              </a:rPr>
              <a:t>辐射</a:t>
            </a: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212"/>
                                        </p:tgtEl>
                                        <p:attrNameLst>
                                          <p:attrName>style.visibility</p:attrName>
                                        </p:attrNameLst>
                                      </p:cBhvr>
                                      <p:to>
                                        <p:strVal val="visible"/>
                                      </p:to>
                                    </p:set>
                                    <p:animEffect transition="in" filter="wipe(left)">
                                      <p:cBhvr>
                                        <p:cTn id="7" dur="500"/>
                                        <p:tgtEl>
                                          <p:spTgt spid="942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211"/>
                                        </p:tgtEl>
                                        <p:attrNameLst>
                                          <p:attrName>style.visibility</p:attrName>
                                        </p:attrNameLst>
                                      </p:cBhvr>
                                      <p:to>
                                        <p:strVal val="visible"/>
                                      </p:to>
                                    </p:set>
                                    <p:animEffect transition="in" filter="wipe(left)">
                                      <p:cBhvr>
                                        <p:cTn id="12" dur="500"/>
                                        <p:tgtEl>
                                          <p:spTgt spid="942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210"/>
                                        </p:tgtEl>
                                        <p:attrNameLst>
                                          <p:attrName>style.visibility</p:attrName>
                                        </p:attrNameLst>
                                      </p:cBhvr>
                                      <p:to>
                                        <p:strVal val="visible"/>
                                      </p:to>
                                    </p:set>
                                    <p:animEffect transition="in" filter="wipe(left)">
                                      <p:cBhvr>
                                        <p:cTn id="17" dur="500"/>
                                        <p:tgtEl>
                                          <p:spTgt spid="942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234"/>
                                        </p:tgtEl>
                                        <p:attrNameLst>
                                          <p:attrName>style.visibility</p:attrName>
                                        </p:attrNameLst>
                                      </p:cBhvr>
                                      <p:to>
                                        <p:strVal val="visible"/>
                                      </p:to>
                                    </p:set>
                                    <p:animEffect transition="in" filter="wipe(left)">
                                      <p:cBhvr>
                                        <p:cTn id="22" dur="500"/>
                                        <p:tgtEl>
                                          <p:spTgt spid="942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4235"/>
                                        </p:tgtEl>
                                        <p:attrNameLst>
                                          <p:attrName>style.visibility</p:attrName>
                                        </p:attrNameLst>
                                      </p:cBhvr>
                                      <p:to>
                                        <p:strVal val="visible"/>
                                      </p:to>
                                    </p:set>
                                    <p:animEffect transition="in" filter="wipe(left)">
                                      <p:cBhvr>
                                        <p:cTn id="27" dur="500"/>
                                        <p:tgtEl>
                                          <p:spTgt spid="942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4238">
                                            <p:txEl>
                                              <p:pRg st="0" end="0"/>
                                            </p:txEl>
                                          </p:spTgt>
                                        </p:tgtEl>
                                        <p:attrNameLst>
                                          <p:attrName>style.visibility</p:attrName>
                                        </p:attrNameLst>
                                      </p:cBhvr>
                                      <p:to>
                                        <p:strVal val="visible"/>
                                      </p:to>
                                    </p:set>
                                    <p:animEffect transition="in" filter="wipe(left)">
                                      <p:cBhvr>
                                        <p:cTn id="32" dur="500"/>
                                        <p:tgtEl>
                                          <p:spTgt spid="94238">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4237"/>
                                        </p:tgtEl>
                                        <p:attrNameLst>
                                          <p:attrName>style.visibility</p:attrName>
                                        </p:attrNameLst>
                                      </p:cBhvr>
                                      <p:to>
                                        <p:strVal val="visible"/>
                                      </p:to>
                                    </p:set>
                                    <p:animEffect transition="in" filter="wipe(left)">
                                      <p:cBhvr>
                                        <p:cTn id="37" dur="500"/>
                                        <p:tgtEl>
                                          <p:spTgt spid="9423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4239">
                                            <p:txEl>
                                              <p:pRg st="0" end="0"/>
                                            </p:txEl>
                                          </p:spTgt>
                                        </p:tgtEl>
                                        <p:attrNameLst>
                                          <p:attrName>style.visibility</p:attrName>
                                        </p:attrNameLst>
                                      </p:cBhvr>
                                      <p:to>
                                        <p:strVal val="visible"/>
                                      </p:to>
                                    </p:set>
                                    <p:animEffect transition="in" filter="wipe(left)">
                                      <p:cBhvr>
                                        <p:cTn id="42" dur="500"/>
                                        <p:tgtEl>
                                          <p:spTgt spid="94239">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4236"/>
                                        </p:tgtEl>
                                        <p:attrNameLst>
                                          <p:attrName>style.visibility</p:attrName>
                                        </p:attrNameLst>
                                      </p:cBhvr>
                                      <p:to>
                                        <p:strVal val="visible"/>
                                      </p:to>
                                    </p:set>
                                    <p:animEffect transition="in" filter="wipe(left)">
                                      <p:cBhvr>
                                        <p:cTn id="47" dur="500"/>
                                        <p:tgtEl>
                                          <p:spTgt spid="9423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4241">
                                            <p:txEl>
                                              <p:pRg st="0" end="0"/>
                                            </p:txEl>
                                          </p:spTgt>
                                        </p:tgtEl>
                                        <p:attrNameLst>
                                          <p:attrName>style.visibility</p:attrName>
                                        </p:attrNameLst>
                                      </p:cBhvr>
                                      <p:to>
                                        <p:strVal val="visible"/>
                                      </p:to>
                                    </p:set>
                                    <p:animEffect transition="in" filter="wipe(left)">
                                      <p:cBhvr>
                                        <p:cTn id="52" dur="500"/>
                                        <p:tgtEl>
                                          <p:spTgt spid="94241">
                                            <p:txEl>
                                              <p:pRg st="0" end="0"/>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4233"/>
                                        </p:tgtEl>
                                        <p:attrNameLst>
                                          <p:attrName>style.visibility</p:attrName>
                                        </p:attrNameLst>
                                      </p:cBhvr>
                                      <p:to>
                                        <p:strVal val="visible"/>
                                      </p:to>
                                    </p:set>
                                    <p:animEffect transition="in" filter="wipe(left)">
                                      <p:cBhvr>
                                        <p:cTn id="57" dur="500"/>
                                        <p:tgtEl>
                                          <p:spTgt spid="9423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94240">
                                            <p:txEl>
                                              <p:pRg st="0" end="0"/>
                                            </p:txEl>
                                          </p:spTgt>
                                        </p:tgtEl>
                                        <p:attrNameLst>
                                          <p:attrName>style.visibility</p:attrName>
                                        </p:attrNameLst>
                                      </p:cBhvr>
                                      <p:to>
                                        <p:strVal val="visible"/>
                                      </p:to>
                                    </p:set>
                                    <p:animEffect transition="in" filter="wipe(left)">
                                      <p:cBhvr>
                                        <p:cTn id="62" dur="500"/>
                                        <p:tgtEl>
                                          <p:spTgt spid="94240">
                                            <p:txEl>
                                              <p:pRg st="0" end="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94242"/>
                                        </p:tgtEl>
                                        <p:attrNameLst>
                                          <p:attrName>style.visibility</p:attrName>
                                        </p:attrNameLst>
                                      </p:cBhvr>
                                      <p:to>
                                        <p:strVal val="visible"/>
                                      </p:to>
                                    </p:set>
                                    <p:animEffect transition="in" filter="wipe(left)">
                                      <p:cBhvr>
                                        <p:cTn id="67" dur="500"/>
                                        <p:tgtEl>
                                          <p:spTgt spid="9424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94243">
                                            <p:txEl>
                                              <p:pRg st="0" end="0"/>
                                            </p:txEl>
                                          </p:spTgt>
                                        </p:tgtEl>
                                        <p:attrNameLst>
                                          <p:attrName>style.visibility</p:attrName>
                                        </p:attrNameLst>
                                      </p:cBhvr>
                                      <p:to>
                                        <p:strVal val="visible"/>
                                      </p:to>
                                    </p:set>
                                    <p:animEffect transition="in" filter="wipe(left)">
                                      <p:cBhvr>
                                        <p:cTn id="72" dur="500"/>
                                        <p:tgtEl>
                                          <p:spTgt spid="94243">
                                            <p:txEl>
                                              <p:pRg st="0" end="0"/>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94232"/>
                                        </p:tgtEl>
                                        <p:attrNameLst>
                                          <p:attrName>style.visibility</p:attrName>
                                        </p:attrNameLst>
                                      </p:cBhvr>
                                      <p:to>
                                        <p:strVal val="visible"/>
                                      </p:to>
                                    </p:set>
                                    <p:animEffect transition="in" filter="wipe(left)">
                                      <p:cBhvr>
                                        <p:cTn id="77" dur="1000"/>
                                        <p:tgtEl>
                                          <p:spTgt spid="9423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94229"/>
                                        </p:tgtEl>
                                        <p:attrNameLst>
                                          <p:attrName>style.visibility</p:attrName>
                                        </p:attrNameLst>
                                      </p:cBhvr>
                                      <p:to>
                                        <p:strVal val="visible"/>
                                      </p:to>
                                    </p:set>
                                    <p:animEffect transition="in" filter="blinds(horizontal)">
                                      <p:cBhvr>
                                        <p:cTn id="82" dur="500"/>
                                        <p:tgtEl>
                                          <p:spTgt spid="9422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94225"/>
                                        </p:tgtEl>
                                        <p:attrNameLst>
                                          <p:attrName>style.visibility</p:attrName>
                                        </p:attrNameLst>
                                      </p:cBhvr>
                                      <p:to>
                                        <p:strVal val="visible"/>
                                      </p:to>
                                    </p:set>
                                    <p:animEffect transition="in" filter="blinds(horizontal)">
                                      <p:cBhvr>
                                        <p:cTn id="87" dur="500"/>
                                        <p:tgtEl>
                                          <p:spTgt spid="9422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94227"/>
                                        </p:tgtEl>
                                        <p:attrNameLst>
                                          <p:attrName>style.visibility</p:attrName>
                                        </p:attrNameLst>
                                      </p:cBhvr>
                                      <p:to>
                                        <p:strVal val="visible"/>
                                      </p:to>
                                    </p:set>
                                    <p:animEffect transition="in" filter="blinds(horizontal)">
                                      <p:cBhvr>
                                        <p:cTn id="92" dur="500"/>
                                        <p:tgtEl>
                                          <p:spTgt spid="94227"/>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94230"/>
                                        </p:tgtEl>
                                        <p:attrNameLst>
                                          <p:attrName>style.visibility</p:attrName>
                                        </p:attrNameLst>
                                      </p:cBhvr>
                                      <p:to>
                                        <p:strVal val="visible"/>
                                      </p:to>
                                    </p:set>
                                    <p:animEffect transition="in" filter="wipe(left)">
                                      <p:cBhvr>
                                        <p:cTn id="97" dur="500"/>
                                        <p:tgtEl>
                                          <p:spTgt spid="94230"/>
                                        </p:tgtEl>
                                      </p:cBhvr>
                                    </p:animEffect>
                                  </p:childTnLst>
                                </p:cTn>
                              </p:par>
                            </p:childTnLst>
                          </p:cTn>
                        </p:par>
                        <p:par>
                          <p:cTn id="98" fill="hold" nodeType="afterGroup">
                            <p:stCondLst>
                              <p:cond delay="500"/>
                            </p:stCondLst>
                            <p:childTnLst>
                              <p:par>
                                <p:cTn id="99" presetID="23" presetClass="entr" presetSubtype="32" fill="hold" grpId="0" nodeType="afterEffect">
                                  <p:stCondLst>
                                    <p:cond delay="0"/>
                                  </p:stCondLst>
                                  <p:childTnLst>
                                    <p:set>
                                      <p:cBhvr>
                                        <p:cTn id="100" dur="1" fill="hold">
                                          <p:stCondLst>
                                            <p:cond delay="0"/>
                                          </p:stCondLst>
                                        </p:cTn>
                                        <p:tgtEl>
                                          <p:spTgt spid="94218"/>
                                        </p:tgtEl>
                                        <p:attrNameLst>
                                          <p:attrName>style.visibility</p:attrName>
                                        </p:attrNameLst>
                                      </p:cBhvr>
                                      <p:to>
                                        <p:strVal val="visible"/>
                                      </p:to>
                                    </p:set>
                                    <p:anim calcmode="lin" valueType="num">
                                      <p:cBhvr>
                                        <p:cTn id="101" dur="500" fill="hold"/>
                                        <p:tgtEl>
                                          <p:spTgt spid="94218"/>
                                        </p:tgtEl>
                                        <p:attrNameLst>
                                          <p:attrName>ppt_w</p:attrName>
                                        </p:attrNameLst>
                                      </p:cBhvr>
                                      <p:tavLst>
                                        <p:tav tm="0">
                                          <p:val>
                                            <p:strVal val="4*#ppt_w"/>
                                          </p:val>
                                        </p:tav>
                                        <p:tav tm="100000">
                                          <p:val>
                                            <p:strVal val="#ppt_w"/>
                                          </p:val>
                                        </p:tav>
                                      </p:tavLst>
                                    </p:anim>
                                    <p:anim calcmode="lin" valueType="num">
                                      <p:cBhvr>
                                        <p:cTn id="102" dur="500" fill="hold"/>
                                        <p:tgtEl>
                                          <p:spTgt spid="94218"/>
                                        </p:tgtEl>
                                        <p:attrNameLst>
                                          <p:attrName>ppt_h</p:attrName>
                                        </p:attrNameLst>
                                      </p:cBhvr>
                                      <p:tavLst>
                                        <p:tav tm="0">
                                          <p:val>
                                            <p:strVal val="4*#ppt_h"/>
                                          </p:val>
                                        </p:tav>
                                        <p:tav tm="100000">
                                          <p:val>
                                            <p:strVal val="#ppt_h"/>
                                          </p:val>
                                        </p:tav>
                                      </p:tavLst>
                                    </p:anim>
                                  </p:childTnLst>
                                </p:cTn>
                              </p:par>
                            </p:childTnLst>
                          </p:cTn>
                        </p:par>
                        <p:par>
                          <p:cTn id="103" fill="hold" nodeType="afterGroup">
                            <p:stCondLst>
                              <p:cond delay="1000"/>
                            </p:stCondLst>
                            <p:childTnLst>
                              <p:par>
                                <p:cTn id="104" presetID="22" presetClass="entr" presetSubtype="8" fill="hold" nodeType="afterEffect">
                                  <p:stCondLst>
                                    <p:cond delay="1000"/>
                                  </p:stCondLst>
                                  <p:childTnLst>
                                    <p:set>
                                      <p:cBhvr>
                                        <p:cTn id="105" dur="1" fill="hold">
                                          <p:stCondLst>
                                            <p:cond delay="0"/>
                                          </p:stCondLst>
                                        </p:cTn>
                                        <p:tgtEl>
                                          <p:spTgt spid="94219"/>
                                        </p:tgtEl>
                                        <p:attrNameLst>
                                          <p:attrName>style.visibility</p:attrName>
                                        </p:attrNameLst>
                                      </p:cBhvr>
                                      <p:to>
                                        <p:strVal val="visible"/>
                                      </p:to>
                                    </p:set>
                                    <p:animEffect transition="in" filter="wipe(left)">
                                      <p:cBhvr>
                                        <p:cTn id="106" dur="500"/>
                                        <p:tgtEl>
                                          <p:spTgt spid="94219"/>
                                        </p:tgtEl>
                                      </p:cBhvr>
                                    </p:animEffect>
                                  </p:childTnLst>
                                </p:cTn>
                              </p:par>
                            </p:childTnLst>
                          </p:cTn>
                        </p:par>
                        <p:par>
                          <p:cTn id="107" fill="hold" nodeType="afterGroup">
                            <p:stCondLst>
                              <p:cond delay="2500"/>
                            </p:stCondLst>
                            <p:childTnLst>
                              <p:par>
                                <p:cTn id="108" presetID="22" presetClass="entr" presetSubtype="2" fill="hold" nodeType="afterEffect">
                                  <p:stCondLst>
                                    <p:cond delay="1000"/>
                                  </p:stCondLst>
                                  <p:childTnLst>
                                    <p:set>
                                      <p:cBhvr>
                                        <p:cTn id="109" dur="1" fill="hold">
                                          <p:stCondLst>
                                            <p:cond delay="0"/>
                                          </p:stCondLst>
                                        </p:cTn>
                                        <p:tgtEl>
                                          <p:spTgt spid="94222"/>
                                        </p:tgtEl>
                                        <p:attrNameLst>
                                          <p:attrName>style.visibility</p:attrName>
                                        </p:attrNameLst>
                                      </p:cBhvr>
                                      <p:to>
                                        <p:strVal val="visible"/>
                                      </p:to>
                                    </p:set>
                                    <p:animEffect transition="in" filter="wipe(right)">
                                      <p:cBhvr>
                                        <p:cTn id="110" dur="500"/>
                                        <p:tgtEl>
                                          <p:spTgt spid="94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p:bldP spid="94211" grpId="0"/>
      <p:bldP spid="94212" grpId="0"/>
      <p:bldP spid="94218" grpId="0" animBg="1" autoUpdateAnimBg="0"/>
      <p:bldP spid="94225" grpId="0" autoUpdateAnimBg="0"/>
      <p:bldP spid="94227" grpId="0" autoUpdateAnimBg="0"/>
      <p:bldP spid="94229" grpId="0" autoUpdateAnimBg="0"/>
      <p:bldP spid="94230" grpId="0"/>
      <p:bldP spid="94232" grpId="0" animBg="1"/>
      <p:bldP spid="94233" grpId="0" animBg="1"/>
      <p:bldP spid="94234" grpId="0" animBg="1" autoUpdateAnimBg="0"/>
      <p:bldP spid="94235" grpId="0" animBg="1"/>
      <p:bldP spid="94236" grpId="0" animBg="1"/>
      <p:bldP spid="94237" grpId="0" animBg="1"/>
      <p:bldP spid="94238" grpId="0" build="p" autoUpdateAnimBg="0"/>
      <p:bldP spid="94239" grpId="0" build="p" autoUpdateAnimBg="0"/>
      <p:bldP spid="94240" grpId="0" build="p" autoUpdateAnimBg="0"/>
      <p:bldP spid="94241" grpId="0" build="p" autoUpdateAnimBg="0"/>
      <p:bldP spid="94242" grpId="0" animBg="1"/>
      <p:bldP spid="94243"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16" name="Text Box 12"/>
          <p:cNvSpPr txBox="1">
            <a:spLocks noChangeArrowheads="1"/>
          </p:cNvSpPr>
          <p:nvPr/>
        </p:nvSpPr>
        <p:spPr bwMode="auto">
          <a:xfrm>
            <a:off x="341313" y="368300"/>
            <a:ext cx="8416925" cy="1422400"/>
          </a:xfrm>
          <a:prstGeom prst="rect">
            <a:avLst/>
          </a:prstGeom>
          <a:noFill/>
          <a:ln w="9525">
            <a:noFill/>
            <a:miter lim="800000"/>
            <a:headEnd/>
            <a:tailEnd/>
          </a:ln>
          <a:effectLst/>
        </p:spPr>
        <p:txBody>
          <a:bodyPr>
            <a:spAutoFit/>
          </a:bodyPr>
          <a:lstStyle/>
          <a:p>
            <a:pPr>
              <a:lnSpc>
                <a:spcPct val="120000"/>
              </a:lnSpc>
            </a:pPr>
            <a:r>
              <a:rPr lang="zh-CN" altLang="en-US" b="1">
                <a:solidFill>
                  <a:schemeClr val="tx2"/>
                </a:solidFill>
              </a:rPr>
              <a:t>单色辐射本领：</a:t>
            </a:r>
            <a:r>
              <a:rPr lang="zh-CN" altLang="en-US" b="1">
                <a:solidFill>
                  <a:schemeClr val="bg2"/>
                </a:solidFill>
              </a:rPr>
              <a:t>单位时间内从物体单位表面积发出的波长在</a:t>
            </a:r>
            <a:r>
              <a:rPr lang="en-US" altLang="zh-CN" b="1">
                <a:solidFill>
                  <a:schemeClr val="bg2"/>
                </a:solidFill>
              </a:rPr>
              <a:t>λ</a:t>
            </a:r>
            <a:r>
              <a:rPr lang="zh-CN" altLang="en-US" b="1">
                <a:solidFill>
                  <a:schemeClr val="bg2"/>
                </a:solidFill>
              </a:rPr>
              <a:t>附近单位波长间隔内的电磁波的能量，称为</a:t>
            </a:r>
            <a:r>
              <a:rPr lang="zh-CN" altLang="en-US" b="1">
                <a:solidFill>
                  <a:srgbClr val="3333CC"/>
                </a:solidFill>
              </a:rPr>
              <a:t>单色辐射本领</a:t>
            </a:r>
            <a:r>
              <a:rPr lang="zh-CN" altLang="en-US" b="1">
                <a:solidFill>
                  <a:schemeClr val="bg2"/>
                </a:solidFill>
              </a:rPr>
              <a:t>，或称</a:t>
            </a:r>
            <a:r>
              <a:rPr lang="zh-CN" altLang="en-US" b="1">
                <a:solidFill>
                  <a:srgbClr val="3333CC"/>
                </a:solidFill>
              </a:rPr>
              <a:t>单色辐出度</a:t>
            </a:r>
            <a:r>
              <a:rPr lang="zh-CN" altLang="en-US" b="1">
                <a:solidFill>
                  <a:schemeClr val="bg2"/>
                </a:solidFill>
              </a:rPr>
              <a:t>。 </a:t>
            </a:r>
          </a:p>
        </p:txBody>
      </p:sp>
      <p:sp>
        <p:nvSpPr>
          <p:cNvPr id="175117" name="Text Box 13"/>
          <p:cNvSpPr txBox="1">
            <a:spLocks noChangeArrowheads="1"/>
          </p:cNvSpPr>
          <p:nvPr/>
        </p:nvSpPr>
        <p:spPr bwMode="auto">
          <a:xfrm>
            <a:off x="385763" y="2754313"/>
            <a:ext cx="5130800" cy="1422400"/>
          </a:xfrm>
          <a:prstGeom prst="rect">
            <a:avLst/>
          </a:prstGeom>
          <a:noFill/>
          <a:ln w="9525">
            <a:noFill/>
            <a:miter lim="800000"/>
            <a:headEnd/>
            <a:tailEnd/>
          </a:ln>
          <a:effectLst/>
        </p:spPr>
        <p:txBody>
          <a:bodyPr>
            <a:spAutoFit/>
          </a:bodyPr>
          <a:lstStyle/>
          <a:p>
            <a:pPr>
              <a:lnSpc>
                <a:spcPct val="120000"/>
              </a:lnSpc>
            </a:pPr>
            <a:r>
              <a:rPr lang="zh-CN" altLang="en-US" b="1">
                <a:solidFill>
                  <a:schemeClr val="hlink"/>
                </a:solidFill>
              </a:rPr>
              <a:t>总辐射本领：</a:t>
            </a:r>
            <a:r>
              <a:rPr lang="zh-CN" altLang="en-US" b="1">
                <a:solidFill>
                  <a:schemeClr val="bg2"/>
                </a:solidFill>
              </a:rPr>
              <a:t>单位时间内从物体表面单位面积上所发射的各种波长的总辐射能量，称为</a:t>
            </a:r>
            <a:r>
              <a:rPr lang="zh-CN" altLang="en-US" b="1">
                <a:solidFill>
                  <a:srgbClr val="3333CC"/>
                </a:solidFill>
              </a:rPr>
              <a:t>总辐射本领</a:t>
            </a:r>
            <a:r>
              <a:rPr lang="zh-CN" altLang="en-US" b="1">
                <a:solidFill>
                  <a:schemeClr val="bg2"/>
                </a:solidFill>
              </a:rPr>
              <a:t>。 </a:t>
            </a:r>
          </a:p>
        </p:txBody>
      </p:sp>
      <p:graphicFrame>
        <p:nvGraphicFramePr>
          <p:cNvPr id="175119" name="Object 15"/>
          <p:cNvGraphicFramePr>
            <a:graphicFrameLocks noChangeAspect="1"/>
          </p:cNvGraphicFramePr>
          <p:nvPr/>
        </p:nvGraphicFramePr>
        <p:xfrm>
          <a:off x="1557338" y="1808163"/>
          <a:ext cx="2570162" cy="931862"/>
        </p:xfrm>
        <a:graphic>
          <a:graphicData uri="http://schemas.openxmlformats.org/presentationml/2006/ole">
            <p:oleObj spid="_x0000_s5124" name="公式" r:id="rId4" imgW="765360" imgH="318240" progId="Equation.3">
              <p:embed/>
            </p:oleObj>
          </a:graphicData>
        </a:graphic>
      </p:graphicFrame>
      <p:graphicFrame>
        <p:nvGraphicFramePr>
          <p:cNvPr id="175120" name="Object 16"/>
          <p:cNvGraphicFramePr>
            <a:graphicFrameLocks noChangeAspect="1"/>
          </p:cNvGraphicFramePr>
          <p:nvPr/>
        </p:nvGraphicFramePr>
        <p:xfrm>
          <a:off x="1692275" y="4464050"/>
          <a:ext cx="3001963" cy="766763"/>
        </p:xfrm>
        <a:graphic>
          <a:graphicData uri="http://schemas.openxmlformats.org/presentationml/2006/ole">
            <p:oleObj spid="_x0000_s5125" name="公式" r:id="rId5" imgW="1091160" imgH="269280" progId="Equation.3">
              <p:embed/>
            </p:oleObj>
          </a:graphicData>
        </a:graphic>
      </p:graphicFrame>
      <p:grpSp>
        <p:nvGrpSpPr>
          <p:cNvPr id="175121" name="Group 17"/>
          <p:cNvGrpSpPr>
            <a:grpSpLocks/>
          </p:cNvGrpSpPr>
          <p:nvPr/>
        </p:nvGrpSpPr>
        <p:grpSpPr bwMode="auto">
          <a:xfrm>
            <a:off x="5651500" y="1584325"/>
            <a:ext cx="3200400" cy="4032250"/>
            <a:chOff x="3744" y="1632"/>
            <a:chExt cx="1872" cy="2261"/>
          </a:xfrm>
        </p:grpSpPr>
        <p:pic>
          <p:nvPicPr>
            <p:cNvPr id="5132" name="Picture 18" descr="太阳1"/>
            <p:cNvPicPr>
              <a:picLocks noChangeAspect="1" noChangeArrowheads="1"/>
            </p:cNvPicPr>
            <p:nvPr/>
          </p:nvPicPr>
          <p:blipFill>
            <a:blip r:embed="rId6"/>
            <a:srcRect/>
            <a:stretch>
              <a:fillRect/>
            </a:stretch>
          </p:blipFill>
          <p:spPr bwMode="auto">
            <a:xfrm>
              <a:off x="3744" y="1680"/>
              <a:ext cx="1843" cy="2213"/>
            </a:xfrm>
            <a:prstGeom prst="rect">
              <a:avLst/>
            </a:prstGeom>
            <a:noFill/>
            <a:ln w="9525">
              <a:noFill/>
              <a:miter lim="800000"/>
              <a:headEnd/>
              <a:tailEnd/>
            </a:ln>
          </p:spPr>
        </p:pic>
        <p:sp>
          <p:nvSpPr>
            <p:cNvPr id="5133" name="Line 19"/>
            <p:cNvSpPr>
              <a:spLocks noChangeShapeType="1"/>
            </p:cNvSpPr>
            <p:nvPr/>
          </p:nvSpPr>
          <p:spPr bwMode="auto">
            <a:xfrm>
              <a:off x="3744" y="3888"/>
              <a:ext cx="1872" cy="0"/>
            </a:xfrm>
            <a:prstGeom prst="line">
              <a:avLst/>
            </a:prstGeom>
            <a:noFill/>
            <a:ln w="9525">
              <a:solidFill>
                <a:schemeClr val="hlink"/>
              </a:solidFill>
              <a:round/>
              <a:headEnd/>
              <a:tailEnd type="triangle" w="med" len="med"/>
            </a:ln>
            <a:effectLst/>
          </p:spPr>
          <p:txBody>
            <a:bodyPr/>
            <a:lstStyle/>
            <a:p>
              <a:endParaRPr lang="zh-CN" altLang="en-US"/>
            </a:p>
          </p:txBody>
        </p:sp>
        <p:sp>
          <p:nvSpPr>
            <p:cNvPr id="5134" name="Line 20"/>
            <p:cNvSpPr>
              <a:spLocks noChangeShapeType="1"/>
            </p:cNvSpPr>
            <p:nvPr/>
          </p:nvSpPr>
          <p:spPr bwMode="auto">
            <a:xfrm flipV="1">
              <a:off x="3744" y="1632"/>
              <a:ext cx="0" cy="2256"/>
            </a:xfrm>
            <a:prstGeom prst="line">
              <a:avLst/>
            </a:prstGeom>
            <a:noFill/>
            <a:ln w="9525">
              <a:solidFill>
                <a:schemeClr val="hlink"/>
              </a:solidFill>
              <a:round/>
              <a:headEnd/>
              <a:tailEnd type="triangle" w="med" len="med"/>
            </a:ln>
            <a:effectLst/>
          </p:spPr>
          <p:txBody>
            <a:bodyPr/>
            <a:lstStyle/>
            <a:p>
              <a:endParaRPr lang="zh-CN" altLang="en-US"/>
            </a:p>
          </p:txBody>
        </p:sp>
      </p:grpSp>
      <p:graphicFrame>
        <p:nvGraphicFramePr>
          <p:cNvPr id="175125" name="Object 21"/>
          <p:cNvGraphicFramePr>
            <a:graphicFrameLocks/>
          </p:cNvGraphicFramePr>
          <p:nvPr/>
        </p:nvGraphicFramePr>
        <p:xfrm>
          <a:off x="4710113" y="1493838"/>
          <a:ext cx="852487" cy="409575"/>
        </p:xfrm>
        <a:graphic>
          <a:graphicData uri="http://schemas.openxmlformats.org/presentationml/2006/ole">
            <p:oleObj spid="_x0000_s5127" name="公式" r:id="rId7" imgW="382680" imgH="179280" progId="Equation.3">
              <p:embed/>
            </p:oleObj>
          </a:graphicData>
        </a:graphic>
      </p:graphicFrame>
      <p:sp>
        <p:nvSpPr>
          <p:cNvPr id="175126" name="Rectangle 22"/>
          <p:cNvSpPr>
            <a:spLocks noChangeArrowheads="1"/>
          </p:cNvSpPr>
          <p:nvPr/>
        </p:nvSpPr>
        <p:spPr bwMode="auto">
          <a:xfrm>
            <a:off x="8435975" y="5499100"/>
            <a:ext cx="457200" cy="549275"/>
          </a:xfrm>
          <a:prstGeom prst="rect">
            <a:avLst/>
          </a:prstGeom>
          <a:noFill/>
          <a:ln w="9525">
            <a:noFill/>
            <a:miter lim="800000"/>
            <a:headEnd/>
            <a:tailEnd/>
          </a:ln>
          <a:effectLst/>
        </p:spPr>
        <p:txBody>
          <a:bodyPr>
            <a:spAutoFit/>
          </a:bodyPr>
          <a:lstStyle/>
          <a:p>
            <a:pPr>
              <a:lnSpc>
                <a:spcPct val="125000"/>
              </a:lnSpc>
            </a:pPr>
            <a:r>
              <a:rPr lang="en-US" altLang="zh-CN" b="1" i="1">
                <a:solidFill>
                  <a:schemeClr val="hlink"/>
                </a:solidFill>
                <a:sym typeface="Symbol" pitchFamily="18" charset="2"/>
              </a:rPr>
              <a:t></a:t>
            </a:r>
          </a:p>
        </p:txBody>
      </p:sp>
      <p:sp>
        <p:nvSpPr>
          <p:cNvPr id="175127" name="AutoShape 23"/>
          <p:cNvSpPr>
            <a:spLocks noChangeArrowheads="1"/>
          </p:cNvSpPr>
          <p:nvPr/>
        </p:nvSpPr>
        <p:spPr bwMode="auto">
          <a:xfrm>
            <a:off x="341313" y="5327650"/>
            <a:ext cx="360362"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a:effectLst/>
        </p:spPr>
        <p:txBody>
          <a:bodyPr wrap="none" anchor="ctr"/>
          <a:lstStyle/>
          <a:p>
            <a:endParaRPr lang="zh-CN" altLang="en-US"/>
          </a:p>
        </p:txBody>
      </p:sp>
      <p:sp>
        <p:nvSpPr>
          <p:cNvPr id="175128" name="Text Box 24"/>
          <p:cNvSpPr txBox="1">
            <a:spLocks noChangeArrowheads="1"/>
          </p:cNvSpPr>
          <p:nvPr/>
        </p:nvSpPr>
        <p:spPr bwMode="auto">
          <a:xfrm>
            <a:off x="657225" y="5357813"/>
            <a:ext cx="1444625" cy="457200"/>
          </a:xfrm>
          <a:prstGeom prst="rect">
            <a:avLst/>
          </a:prstGeom>
          <a:noFill/>
          <a:ln w="9525">
            <a:noFill/>
            <a:miter lim="800000"/>
            <a:headEnd/>
            <a:tailEnd/>
          </a:ln>
          <a:effectLst/>
        </p:spPr>
        <p:txBody>
          <a:bodyPr>
            <a:spAutoFit/>
          </a:bodyPr>
          <a:lstStyle/>
          <a:p>
            <a:r>
              <a:rPr lang="zh-CN" altLang="en-US" b="1">
                <a:solidFill>
                  <a:srgbClr val="0000FF"/>
                </a:solidFill>
              </a:rPr>
              <a:t>说明</a:t>
            </a:r>
          </a:p>
        </p:txBody>
      </p:sp>
      <p:sp>
        <p:nvSpPr>
          <p:cNvPr id="175129" name="Rectangle 25"/>
          <p:cNvSpPr>
            <a:spLocks noChangeArrowheads="1"/>
          </p:cNvSpPr>
          <p:nvPr/>
        </p:nvSpPr>
        <p:spPr bwMode="auto">
          <a:xfrm>
            <a:off x="657225" y="5859463"/>
            <a:ext cx="7875588" cy="512762"/>
          </a:xfrm>
          <a:prstGeom prst="rect">
            <a:avLst/>
          </a:prstGeom>
          <a:noFill/>
          <a:ln w="9525">
            <a:noFill/>
            <a:miter lim="800000"/>
            <a:headEnd/>
            <a:tailEnd/>
          </a:ln>
          <a:effectLst/>
        </p:spPr>
        <p:txBody>
          <a:bodyPr>
            <a:spAutoFit/>
          </a:bodyPr>
          <a:lstStyle/>
          <a:p>
            <a:pPr>
              <a:lnSpc>
                <a:spcPct val="115000"/>
              </a:lnSpc>
            </a:pPr>
            <a:r>
              <a:rPr kumimoji="0" lang="zh-CN" altLang="en-US" b="1">
                <a:solidFill>
                  <a:schemeClr val="bg1"/>
                </a:solidFill>
                <a:latin typeface="宋体" charset="-122"/>
              </a:rPr>
              <a:t>温</a:t>
            </a:r>
            <a:r>
              <a:rPr lang="zh-CN" altLang="en-US" b="1">
                <a:solidFill>
                  <a:schemeClr val="bg1"/>
                </a:solidFill>
                <a:latin typeface="宋体" charset="-122"/>
              </a:rPr>
              <a:t>度越高，辐出度越大；辐出度还与材料性质有关。</a:t>
            </a:r>
            <a:endParaRPr lang="zh-CN" altLang="en-US">
              <a:latin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5116"/>
                                        </p:tgtEl>
                                        <p:attrNameLst>
                                          <p:attrName>style.visibility</p:attrName>
                                        </p:attrNameLst>
                                      </p:cBhvr>
                                      <p:to>
                                        <p:strVal val="visible"/>
                                      </p:to>
                                    </p:set>
                                    <p:animEffect transition="in" filter="wipe(left)">
                                      <p:cBhvr>
                                        <p:cTn id="7" dur="500"/>
                                        <p:tgtEl>
                                          <p:spTgt spid="175116"/>
                                        </p:tgtEl>
                                      </p:cBhvr>
                                    </p:animEffect>
                                  </p:childTnLst>
                                </p:cTn>
                              </p:par>
                            </p:childTnLst>
                          </p:cTn>
                        </p:par>
                        <p:par>
                          <p:cTn id="8" fill="hold" nodeType="afterGroup">
                            <p:stCondLst>
                              <p:cond delay="500"/>
                            </p:stCondLst>
                            <p:childTnLst>
                              <p:par>
                                <p:cTn id="9" presetID="22" presetClass="entr" presetSubtype="8" fill="hold" nodeType="afterEffect">
                                  <p:stCondLst>
                                    <p:cond delay="1000"/>
                                  </p:stCondLst>
                                  <p:childTnLst>
                                    <p:set>
                                      <p:cBhvr>
                                        <p:cTn id="10" dur="1" fill="hold">
                                          <p:stCondLst>
                                            <p:cond delay="0"/>
                                          </p:stCondLst>
                                        </p:cTn>
                                        <p:tgtEl>
                                          <p:spTgt spid="175119"/>
                                        </p:tgtEl>
                                        <p:attrNameLst>
                                          <p:attrName>style.visibility</p:attrName>
                                        </p:attrNameLst>
                                      </p:cBhvr>
                                      <p:to>
                                        <p:strVal val="visible"/>
                                      </p:to>
                                    </p:set>
                                    <p:animEffect transition="in" filter="wipe(left)">
                                      <p:cBhvr>
                                        <p:cTn id="11" dur="500"/>
                                        <p:tgtEl>
                                          <p:spTgt spid="17511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nodeType="clickEffect">
                                  <p:stCondLst>
                                    <p:cond delay="0"/>
                                  </p:stCondLst>
                                  <p:childTnLst>
                                    <p:set>
                                      <p:cBhvr>
                                        <p:cTn id="15" dur="1" fill="hold">
                                          <p:stCondLst>
                                            <p:cond delay="0"/>
                                          </p:stCondLst>
                                        </p:cTn>
                                        <p:tgtEl>
                                          <p:spTgt spid="175121"/>
                                        </p:tgtEl>
                                        <p:attrNameLst>
                                          <p:attrName>style.visibility</p:attrName>
                                        </p:attrNameLst>
                                      </p:cBhvr>
                                      <p:to>
                                        <p:strVal val="visible"/>
                                      </p:to>
                                    </p:set>
                                    <p:animEffect transition="in" filter="box(out)">
                                      <p:cBhvr>
                                        <p:cTn id="16" dur="500"/>
                                        <p:tgtEl>
                                          <p:spTgt spid="175121"/>
                                        </p:tgtEl>
                                      </p:cBhvr>
                                    </p:animEffect>
                                  </p:childTnLst>
                                  <p:subTnLst>
                                    <p:audio>
                                      <p:cMediaNode>
                                        <p:cTn display="0" masterRel="sameClick">
                                          <p:stCondLst>
                                            <p:cond evt="begin" delay="0">
                                              <p:tn val="14"/>
                                            </p:cond>
                                          </p:stCondLst>
                                          <p:endCondLst>
                                            <p:cond evt="onStopAudio" delay="0">
                                              <p:tgtEl>
                                                <p:sldTgt/>
                                              </p:tgtEl>
                                            </p:cond>
                                          </p:endCondLst>
                                        </p:cTn>
                                        <p:tgtEl>
                                          <p:sndTgt r:embed="rId3" name="camera.wav" builtIn="1"/>
                                        </p:tgtEl>
                                      </p:cMediaNode>
                                    </p:audio>
                                  </p:sub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175125"/>
                                        </p:tgtEl>
                                        <p:attrNameLst>
                                          <p:attrName>style.visibility</p:attrName>
                                        </p:attrNameLst>
                                      </p:cBhvr>
                                      <p:to>
                                        <p:strVal val="visible"/>
                                      </p:to>
                                    </p:set>
                                    <p:animEffect transition="in" filter="wipe(left)">
                                      <p:cBhvr>
                                        <p:cTn id="20" dur="500"/>
                                        <p:tgtEl>
                                          <p:spTgt spid="175125"/>
                                        </p:tgtEl>
                                      </p:cBhvr>
                                    </p:animEffect>
                                  </p:childTnLst>
                                </p:cTn>
                              </p:par>
                            </p:childTnLst>
                          </p:cTn>
                        </p:par>
                        <p:par>
                          <p:cTn id="21" fill="hold" nodeType="afterGroup">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175126"/>
                                        </p:tgtEl>
                                        <p:attrNameLst>
                                          <p:attrName>style.visibility</p:attrName>
                                        </p:attrNameLst>
                                      </p:cBhvr>
                                      <p:to>
                                        <p:strVal val="visible"/>
                                      </p:to>
                                    </p:set>
                                    <p:animEffect transition="in" filter="wipe(left)">
                                      <p:cBhvr>
                                        <p:cTn id="24" dur="500"/>
                                        <p:tgtEl>
                                          <p:spTgt spid="17512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75117"/>
                                        </p:tgtEl>
                                        <p:attrNameLst>
                                          <p:attrName>style.visibility</p:attrName>
                                        </p:attrNameLst>
                                      </p:cBhvr>
                                      <p:to>
                                        <p:strVal val="visible"/>
                                      </p:to>
                                    </p:set>
                                    <p:animEffect transition="in" filter="wipe(left)">
                                      <p:cBhvr>
                                        <p:cTn id="29" dur="500"/>
                                        <p:tgtEl>
                                          <p:spTgt spid="175117"/>
                                        </p:tgtEl>
                                      </p:cBhvr>
                                    </p:animEffect>
                                  </p:childTnLst>
                                </p:cTn>
                              </p:par>
                            </p:childTnLst>
                          </p:cTn>
                        </p:par>
                        <p:par>
                          <p:cTn id="30" fill="hold" nodeType="afterGroup">
                            <p:stCondLst>
                              <p:cond delay="500"/>
                            </p:stCondLst>
                            <p:childTnLst>
                              <p:par>
                                <p:cTn id="31" presetID="12" presetClass="entr" presetSubtype="8" fill="hold" nodeType="afterEffect">
                                  <p:stCondLst>
                                    <p:cond delay="0"/>
                                  </p:stCondLst>
                                  <p:childTnLst>
                                    <p:set>
                                      <p:cBhvr>
                                        <p:cTn id="32" dur="1" fill="hold">
                                          <p:stCondLst>
                                            <p:cond delay="0"/>
                                          </p:stCondLst>
                                        </p:cTn>
                                        <p:tgtEl>
                                          <p:spTgt spid="175120"/>
                                        </p:tgtEl>
                                        <p:attrNameLst>
                                          <p:attrName>style.visibility</p:attrName>
                                        </p:attrNameLst>
                                      </p:cBhvr>
                                      <p:to>
                                        <p:strVal val="visible"/>
                                      </p:to>
                                    </p:set>
                                    <p:animEffect transition="in" filter="slide(fromLeft)">
                                      <p:cBhvr>
                                        <p:cTn id="33" dur="500"/>
                                        <p:tgtEl>
                                          <p:spTgt spid="17512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0" presetClass="entr" presetSubtype="0" decel="100000" fill="hold" grpId="0" nodeType="clickEffect">
                                  <p:stCondLst>
                                    <p:cond delay="0"/>
                                  </p:stCondLst>
                                  <p:childTnLst>
                                    <p:set>
                                      <p:cBhvr>
                                        <p:cTn id="37" dur="1" fill="hold">
                                          <p:stCondLst>
                                            <p:cond delay="0"/>
                                          </p:stCondLst>
                                        </p:cTn>
                                        <p:tgtEl>
                                          <p:spTgt spid="175127"/>
                                        </p:tgtEl>
                                        <p:attrNameLst>
                                          <p:attrName>style.visibility</p:attrName>
                                        </p:attrNameLst>
                                      </p:cBhvr>
                                      <p:to>
                                        <p:strVal val="visible"/>
                                      </p:to>
                                    </p:set>
                                    <p:anim calcmode="lin" valueType="num">
                                      <p:cBhvr>
                                        <p:cTn id="38" dur="1000" fill="hold"/>
                                        <p:tgtEl>
                                          <p:spTgt spid="175127"/>
                                        </p:tgtEl>
                                        <p:attrNameLst>
                                          <p:attrName>ppt_w</p:attrName>
                                        </p:attrNameLst>
                                      </p:cBhvr>
                                      <p:tavLst>
                                        <p:tav tm="0">
                                          <p:val>
                                            <p:strVal val="#ppt_w+.3"/>
                                          </p:val>
                                        </p:tav>
                                        <p:tav tm="100000">
                                          <p:val>
                                            <p:strVal val="#ppt_w"/>
                                          </p:val>
                                        </p:tav>
                                      </p:tavLst>
                                    </p:anim>
                                    <p:anim calcmode="lin" valueType="num">
                                      <p:cBhvr>
                                        <p:cTn id="39" dur="1000" fill="hold"/>
                                        <p:tgtEl>
                                          <p:spTgt spid="175127"/>
                                        </p:tgtEl>
                                        <p:attrNameLst>
                                          <p:attrName>ppt_h</p:attrName>
                                        </p:attrNameLst>
                                      </p:cBhvr>
                                      <p:tavLst>
                                        <p:tav tm="0">
                                          <p:val>
                                            <p:strVal val="#ppt_h"/>
                                          </p:val>
                                        </p:tav>
                                        <p:tav tm="100000">
                                          <p:val>
                                            <p:strVal val="#ppt_h"/>
                                          </p:val>
                                        </p:tav>
                                      </p:tavLst>
                                    </p:anim>
                                    <p:animEffect transition="in" filter="fade">
                                      <p:cBhvr>
                                        <p:cTn id="40" dur="1000"/>
                                        <p:tgtEl>
                                          <p:spTgt spid="175127"/>
                                        </p:tgtEl>
                                      </p:cBhvr>
                                    </p:animEffect>
                                  </p:childTnLst>
                                </p:cTn>
                              </p:par>
                            </p:childTnLst>
                          </p:cTn>
                        </p:par>
                        <p:par>
                          <p:cTn id="41" fill="hold" nodeType="afterGroup">
                            <p:stCondLst>
                              <p:cond delay="1000"/>
                            </p:stCondLst>
                            <p:childTnLst>
                              <p:par>
                                <p:cTn id="42" presetID="9" presetClass="entr" presetSubtype="0" fill="hold" grpId="0" nodeType="afterEffect">
                                  <p:stCondLst>
                                    <p:cond delay="0"/>
                                  </p:stCondLst>
                                  <p:childTnLst>
                                    <p:set>
                                      <p:cBhvr>
                                        <p:cTn id="43" dur="1" fill="hold">
                                          <p:stCondLst>
                                            <p:cond delay="0"/>
                                          </p:stCondLst>
                                        </p:cTn>
                                        <p:tgtEl>
                                          <p:spTgt spid="175128"/>
                                        </p:tgtEl>
                                        <p:attrNameLst>
                                          <p:attrName>style.visibility</p:attrName>
                                        </p:attrNameLst>
                                      </p:cBhvr>
                                      <p:to>
                                        <p:strVal val="visible"/>
                                      </p:to>
                                    </p:set>
                                    <p:animEffect transition="in" filter="dissolve">
                                      <p:cBhvr>
                                        <p:cTn id="44" dur="500"/>
                                        <p:tgtEl>
                                          <p:spTgt spid="17512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5129"/>
                                        </p:tgtEl>
                                        <p:attrNameLst>
                                          <p:attrName>style.visibility</p:attrName>
                                        </p:attrNameLst>
                                      </p:cBhvr>
                                      <p:to>
                                        <p:strVal val="visible"/>
                                      </p:to>
                                    </p:set>
                                    <p:animEffect transition="in" filter="wipe(left)">
                                      <p:cBhvr>
                                        <p:cTn id="49" dur="500"/>
                                        <p:tgtEl>
                                          <p:spTgt spid="175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16" grpId="0"/>
      <p:bldP spid="175117" grpId="0"/>
      <p:bldP spid="175126" grpId="0" autoUpdateAnimBg="0"/>
      <p:bldP spid="175127" grpId="0" animBg="1"/>
      <p:bldP spid="175128" grpId="0"/>
      <p:bldP spid="17512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7282" name="Picture 2" descr="黑体（吸收）"/>
          <p:cNvPicPr>
            <a:picLocks noChangeAspect="1" noChangeArrowheads="1"/>
          </p:cNvPicPr>
          <p:nvPr/>
        </p:nvPicPr>
        <p:blipFill>
          <a:blip r:embed="rId3">
            <a:clrChange>
              <a:clrFrom>
                <a:srgbClr val="326699"/>
              </a:clrFrom>
              <a:clrTo>
                <a:srgbClr val="326699">
                  <a:alpha val="0"/>
                </a:srgbClr>
              </a:clrTo>
            </a:clrChange>
            <a:lum bright="-24000"/>
          </a:blip>
          <a:srcRect/>
          <a:stretch>
            <a:fillRect/>
          </a:stretch>
        </p:blipFill>
        <p:spPr bwMode="auto">
          <a:xfrm>
            <a:off x="4113213" y="1992313"/>
            <a:ext cx="2052637" cy="1804987"/>
          </a:xfrm>
          <a:prstGeom prst="rect">
            <a:avLst/>
          </a:prstGeom>
          <a:noFill/>
          <a:ln w="9525">
            <a:noFill/>
            <a:miter lim="800000"/>
            <a:headEnd/>
            <a:tailEnd/>
          </a:ln>
        </p:spPr>
      </p:pic>
      <p:pic>
        <p:nvPicPr>
          <p:cNvPr id="97284" name="Picture 4" descr="黑体（辐射）"/>
          <p:cNvPicPr>
            <a:picLocks noChangeAspect="1" noChangeArrowheads="1"/>
          </p:cNvPicPr>
          <p:nvPr/>
        </p:nvPicPr>
        <p:blipFill>
          <a:blip r:embed="rId4">
            <a:clrChange>
              <a:clrFrom>
                <a:srgbClr val="326699"/>
              </a:clrFrom>
              <a:clrTo>
                <a:srgbClr val="326699">
                  <a:alpha val="0"/>
                </a:srgbClr>
              </a:clrTo>
            </a:clrChange>
            <a:lum bright="-24000"/>
          </a:blip>
          <a:srcRect r="3018"/>
          <a:stretch>
            <a:fillRect/>
          </a:stretch>
        </p:blipFill>
        <p:spPr bwMode="auto">
          <a:xfrm>
            <a:off x="6338888" y="2030413"/>
            <a:ext cx="2346325" cy="1835150"/>
          </a:xfrm>
          <a:prstGeom prst="rect">
            <a:avLst/>
          </a:prstGeom>
          <a:noFill/>
          <a:ln w="9525">
            <a:noFill/>
            <a:miter lim="800000"/>
            <a:headEnd/>
            <a:tailEnd/>
          </a:ln>
        </p:spPr>
      </p:pic>
      <p:sp>
        <p:nvSpPr>
          <p:cNvPr id="97285" name="Rectangle 5"/>
          <p:cNvSpPr>
            <a:spLocks noChangeArrowheads="1"/>
          </p:cNvSpPr>
          <p:nvPr/>
        </p:nvSpPr>
        <p:spPr bwMode="auto">
          <a:xfrm>
            <a:off x="365125" y="679450"/>
            <a:ext cx="2720975" cy="549275"/>
          </a:xfrm>
          <a:prstGeom prst="rect">
            <a:avLst/>
          </a:prstGeom>
          <a:noFill/>
          <a:ln w="9525">
            <a:noFill/>
            <a:miter lim="800000"/>
            <a:headEnd/>
            <a:tailEnd/>
          </a:ln>
          <a:effectLst/>
        </p:spPr>
        <p:txBody>
          <a:bodyPr>
            <a:spAutoFit/>
          </a:bodyPr>
          <a:lstStyle/>
          <a:p>
            <a:pPr>
              <a:lnSpc>
                <a:spcPct val="125000"/>
              </a:lnSpc>
            </a:pPr>
            <a:r>
              <a:rPr lang="zh-CN" altLang="en-US" b="1">
                <a:solidFill>
                  <a:schemeClr val="tx2"/>
                </a:solidFill>
                <a:latin typeface="宋体" charset="-122"/>
              </a:rPr>
              <a:t>绝对黑体</a:t>
            </a:r>
            <a:r>
              <a:rPr lang="en-US" altLang="zh-CN" b="1">
                <a:solidFill>
                  <a:schemeClr val="tx2"/>
                </a:solidFill>
                <a:latin typeface="宋体" charset="-122"/>
              </a:rPr>
              <a:t>(</a:t>
            </a:r>
            <a:r>
              <a:rPr lang="zh-CN" altLang="en-US" b="1">
                <a:solidFill>
                  <a:schemeClr val="tx2"/>
                </a:solidFill>
                <a:latin typeface="宋体" charset="-122"/>
              </a:rPr>
              <a:t>黑体</a:t>
            </a:r>
            <a:r>
              <a:rPr lang="en-US" altLang="zh-CN" b="1">
                <a:solidFill>
                  <a:schemeClr val="tx2"/>
                </a:solidFill>
                <a:latin typeface="宋体" charset="-122"/>
              </a:rPr>
              <a:t>)</a:t>
            </a:r>
            <a:r>
              <a:rPr lang="zh-CN" altLang="en-US" b="1">
                <a:solidFill>
                  <a:schemeClr val="tx2"/>
                </a:solidFill>
                <a:latin typeface="宋体" charset="-122"/>
              </a:rPr>
              <a:t>：</a:t>
            </a:r>
            <a:endParaRPr lang="zh-CN" altLang="en-US" b="1">
              <a:solidFill>
                <a:schemeClr val="bg1"/>
              </a:solidFill>
              <a:latin typeface="宋体" charset="-122"/>
            </a:endParaRPr>
          </a:p>
        </p:txBody>
      </p:sp>
      <p:sp>
        <p:nvSpPr>
          <p:cNvPr id="97286" name="Rectangle 6"/>
          <p:cNvSpPr>
            <a:spLocks noChangeArrowheads="1"/>
          </p:cNvSpPr>
          <p:nvPr/>
        </p:nvSpPr>
        <p:spPr bwMode="auto">
          <a:xfrm>
            <a:off x="695325" y="3976688"/>
            <a:ext cx="3454400" cy="512762"/>
          </a:xfrm>
          <a:prstGeom prst="rect">
            <a:avLst/>
          </a:prstGeom>
          <a:noFill/>
          <a:ln w="9525">
            <a:noFill/>
            <a:miter lim="800000"/>
            <a:headEnd/>
            <a:tailEnd/>
          </a:ln>
          <a:effectLst/>
        </p:spPr>
        <p:txBody>
          <a:bodyPr>
            <a:spAutoFit/>
          </a:bodyPr>
          <a:lstStyle/>
          <a:p>
            <a:pPr>
              <a:lnSpc>
                <a:spcPct val="115000"/>
              </a:lnSpc>
            </a:pPr>
            <a:r>
              <a:rPr lang="zh-CN" altLang="en-US" b="1">
                <a:solidFill>
                  <a:schemeClr val="hlink"/>
                </a:solidFill>
                <a:latin typeface="宋体" charset="-122"/>
              </a:rPr>
              <a:t>黑体辐射的特点：</a:t>
            </a:r>
          </a:p>
        </p:txBody>
      </p:sp>
      <p:sp>
        <p:nvSpPr>
          <p:cNvPr id="97288" name="Rectangle 8"/>
          <p:cNvSpPr>
            <a:spLocks noChangeArrowheads="1"/>
          </p:cNvSpPr>
          <p:nvPr/>
        </p:nvSpPr>
        <p:spPr bwMode="auto">
          <a:xfrm>
            <a:off x="566738" y="5265738"/>
            <a:ext cx="8401050" cy="549275"/>
          </a:xfrm>
          <a:prstGeom prst="rect">
            <a:avLst/>
          </a:prstGeom>
          <a:noFill/>
          <a:ln w="9525">
            <a:noFill/>
            <a:miter lim="800000"/>
            <a:headEnd/>
            <a:tailEnd/>
          </a:ln>
          <a:effectLst/>
        </p:spPr>
        <p:txBody>
          <a:bodyPr>
            <a:spAutoFit/>
          </a:bodyPr>
          <a:lstStyle/>
          <a:p>
            <a:pPr>
              <a:lnSpc>
                <a:spcPct val="125000"/>
              </a:lnSpc>
            </a:pPr>
            <a:r>
              <a:rPr lang="zh-CN" altLang="en-US" b="1">
                <a:solidFill>
                  <a:schemeClr val="bg1"/>
                </a:solidFill>
                <a:latin typeface="宋体" charset="-122"/>
              </a:rPr>
              <a:t>（</a:t>
            </a:r>
            <a:r>
              <a:rPr lang="en-US" altLang="zh-CN" b="1">
                <a:solidFill>
                  <a:schemeClr val="bg1"/>
                </a:solidFill>
                <a:latin typeface="宋体" charset="-122"/>
              </a:rPr>
              <a:t>2</a:t>
            </a:r>
            <a:r>
              <a:rPr lang="zh-CN" altLang="en-US" b="1">
                <a:solidFill>
                  <a:schemeClr val="bg1"/>
                </a:solidFill>
                <a:latin typeface="宋体" charset="-122"/>
              </a:rPr>
              <a:t>）与同温度其它物体的热辐射相比，</a:t>
            </a:r>
            <a:r>
              <a:rPr lang="zh-CN" altLang="en-US" b="1">
                <a:solidFill>
                  <a:srgbClr val="FF6600"/>
                </a:solidFill>
                <a:latin typeface="宋体" charset="-122"/>
              </a:rPr>
              <a:t>黑体热辐射本领最强。</a:t>
            </a:r>
          </a:p>
        </p:txBody>
      </p:sp>
      <p:sp>
        <p:nvSpPr>
          <p:cNvPr id="97289" name="Oval 9"/>
          <p:cNvSpPr>
            <a:spLocks noChangeArrowheads="1"/>
          </p:cNvSpPr>
          <p:nvPr/>
        </p:nvSpPr>
        <p:spPr bwMode="auto">
          <a:xfrm>
            <a:off x="836613" y="2344738"/>
            <a:ext cx="1873250" cy="792162"/>
          </a:xfrm>
          <a:prstGeom prst="ellipse">
            <a:avLst/>
          </a:prstGeom>
          <a:solidFill>
            <a:srgbClr val="000000"/>
          </a:solidFill>
          <a:ln w="9525">
            <a:solidFill>
              <a:schemeClr val="tx1"/>
            </a:solidFill>
            <a:round/>
            <a:headEnd/>
            <a:tailEnd/>
          </a:ln>
          <a:effectLst/>
        </p:spPr>
        <p:txBody>
          <a:bodyPr wrap="none" anchor="ctr"/>
          <a:lstStyle/>
          <a:p>
            <a:pPr algn="ctr"/>
            <a:r>
              <a:rPr lang="zh-CN" altLang="en-US" sz="2800" b="1">
                <a:latin typeface="宋体" charset="-122"/>
              </a:rPr>
              <a:t>煤烟</a:t>
            </a:r>
          </a:p>
        </p:txBody>
      </p:sp>
      <p:sp>
        <p:nvSpPr>
          <p:cNvPr id="97290" name="Rectangle 10"/>
          <p:cNvSpPr>
            <a:spLocks noChangeArrowheads="1"/>
          </p:cNvSpPr>
          <p:nvPr/>
        </p:nvSpPr>
        <p:spPr bwMode="auto">
          <a:xfrm>
            <a:off x="981075" y="3379788"/>
            <a:ext cx="1655763" cy="358775"/>
          </a:xfrm>
          <a:prstGeom prst="rect">
            <a:avLst/>
          </a:prstGeom>
          <a:solidFill>
            <a:schemeClr val="accent1"/>
          </a:solidFill>
          <a:ln w="9525">
            <a:solidFill>
              <a:schemeClr val="tx1"/>
            </a:solidFill>
            <a:miter lim="800000"/>
            <a:headEnd/>
            <a:tailEnd/>
          </a:ln>
          <a:effectLst/>
        </p:spPr>
        <p:txBody>
          <a:bodyPr wrap="none" anchor="ctr"/>
          <a:lstStyle/>
          <a:p>
            <a:pPr algn="ctr"/>
            <a:r>
              <a:rPr lang="zh-CN" altLang="en-US" b="1">
                <a:solidFill>
                  <a:srgbClr val="CC0000"/>
                </a:solidFill>
                <a:latin typeface="宋体" charset="-122"/>
              </a:rPr>
              <a:t>约</a:t>
            </a:r>
            <a:r>
              <a:rPr lang="en-US" altLang="zh-CN" b="1">
                <a:solidFill>
                  <a:srgbClr val="CC0000"/>
                </a:solidFill>
                <a:latin typeface="宋体" charset="-122"/>
              </a:rPr>
              <a:t>99</a:t>
            </a:r>
            <a:r>
              <a:rPr lang="en-US" altLang="zh-CN" b="1">
                <a:solidFill>
                  <a:srgbClr val="CC0000"/>
                </a:solidFill>
                <a:latin typeface="宋体" charset="-122"/>
                <a:cs typeface="Times New Roman" pitchFamily="18" charset="0"/>
              </a:rPr>
              <a:t>%</a:t>
            </a:r>
          </a:p>
        </p:txBody>
      </p:sp>
      <p:sp>
        <p:nvSpPr>
          <p:cNvPr id="97291" name="Rectangle 11"/>
          <p:cNvSpPr>
            <a:spLocks noChangeArrowheads="1"/>
          </p:cNvSpPr>
          <p:nvPr/>
        </p:nvSpPr>
        <p:spPr bwMode="auto">
          <a:xfrm>
            <a:off x="5430838" y="3830638"/>
            <a:ext cx="2232025" cy="396875"/>
          </a:xfrm>
          <a:prstGeom prst="rect">
            <a:avLst/>
          </a:prstGeom>
          <a:noFill/>
          <a:ln w="9525">
            <a:noFill/>
            <a:miter lim="800000"/>
            <a:headEnd/>
            <a:tailEnd/>
          </a:ln>
          <a:effectLst/>
        </p:spPr>
        <p:txBody>
          <a:bodyPr>
            <a:spAutoFit/>
          </a:bodyPr>
          <a:lstStyle/>
          <a:p>
            <a:r>
              <a:rPr lang="zh-CN" altLang="en-US" sz="2000" b="1">
                <a:solidFill>
                  <a:schemeClr val="bg1"/>
                </a:solidFill>
                <a:latin typeface="宋体" charset="-122"/>
              </a:rPr>
              <a:t>黑体模型</a:t>
            </a:r>
          </a:p>
        </p:txBody>
      </p:sp>
      <p:sp>
        <p:nvSpPr>
          <p:cNvPr id="97299" name="Rectangle 19"/>
          <p:cNvSpPr>
            <a:spLocks noChangeArrowheads="1"/>
          </p:cNvSpPr>
          <p:nvPr/>
        </p:nvSpPr>
        <p:spPr bwMode="auto">
          <a:xfrm>
            <a:off x="3392488" y="4654550"/>
            <a:ext cx="1828800" cy="466725"/>
          </a:xfrm>
          <a:prstGeom prst="rect">
            <a:avLst/>
          </a:prstGeom>
          <a:solidFill>
            <a:srgbClr val="CCFFFF"/>
          </a:solidFill>
          <a:ln w="9525">
            <a:solidFill>
              <a:srgbClr val="00FFFF"/>
            </a:solidFill>
            <a:miter lim="800000"/>
            <a:headEnd/>
            <a:tailEnd/>
          </a:ln>
          <a:effectLst/>
        </p:spPr>
        <p:txBody>
          <a:bodyPr>
            <a:spAutoFit/>
          </a:bodyPr>
          <a:lstStyle/>
          <a:p>
            <a:pPr algn="ctr"/>
            <a:r>
              <a:rPr lang="zh-CN" altLang="en-US" b="1">
                <a:solidFill>
                  <a:schemeClr val="bg1"/>
                </a:solidFill>
                <a:latin typeface="宋体" charset="-122"/>
              </a:rPr>
              <a:t>黑体热辐射</a:t>
            </a:r>
          </a:p>
        </p:txBody>
      </p:sp>
      <p:sp>
        <p:nvSpPr>
          <p:cNvPr id="97300" name="Rectangle 20"/>
          <p:cNvSpPr>
            <a:spLocks noChangeArrowheads="1"/>
          </p:cNvSpPr>
          <p:nvPr/>
        </p:nvSpPr>
        <p:spPr bwMode="auto">
          <a:xfrm>
            <a:off x="1335088" y="4654550"/>
            <a:ext cx="914400" cy="466725"/>
          </a:xfrm>
          <a:prstGeom prst="rect">
            <a:avLst/>
          </a:prstGeom>
          <a:solidFill>
            <a:srgbClr val="CCFFCC"/>
          </a:solidFill>
          <a:ln w="9525">
            <a:solidFill>
              <a:srgbClr val="00FF00"/>
            </a:solidFill>
            <a:miter lim="800000"/>
            <a:headEnd/>
            <a:tailEnd/>
          </a:ln>
          <a:effectLst/>
        </p:spPr>
        <p:txBody>
          <a:bodyPr>
            <a:spAutoFit/>
          </a:bodyPr>
          <a:lstStyle/>
          <a:p>
            <a:pPr algn="ctr"/>
            <a:r>
              <a:rPr lang="zh-CN" altLang="en-US" b="1">
                <a:solidFill>
                  <a:schemeClr val="bg1"/>
                </a:solidFill>
                <a:latin typeface="宋体" charset="-122"/>
              </a:rPr>
              <a:t>温度</a:t>
            </a:r>
          </a:p>
        </p:txBody>
      </p:sp>
      <p:sp>
        <p:nvSpPr>
          <p:cNvPr id="97301" name="Line 21"/>
          <p:cNvSpPr>
            <a:spLocks noChangeShapeType="1"/>
          </p:cNvSpPr>
          <p:nvPr/>
        </p:nvSpPr>
        <p:spPr bwMode="auto">
          <a:xfrm flipH="1">
            <a:off x="2325688" y="4887913"/>
            <a:ext cx="990600" cy="0"/>
          </a:xfrm>
          <a:prstGeom prst="line">
            <a:avLst/>
          </a:prstGeom>
          <a:noFill/>
          <a:ln w="57150">
            <a:solidFill>
              <a:srgbClr val="3333CC"/>
            </a:solidFill>
            <a:round/>
            <a:headEnd type="triangle" w="med" len="med"/>
            <a:tailEnd/>
          </a:ln>
          <a:effectLst/>
        </p:spPr>
        <p:txBody>
          <a:bodyPr/>
          <a:lstStyle/>
          <a:p>
            <a:endParaRPr lang="zh-CN" altLang="en-US"/>
          </a:p>
        </p:txBody>
      </p:sp>
      <p:sp>
        <p:nvSpPr>
          <p:cNvPr id="97302" name="Rectangle 22"/>
          <p:cNvSpPr>
            <a:spLocks noChangeArrowheads="1"/>
          </p:cNvSpPr>
          <p:nvPr/>
        </p:nvSpPr>
        <p:spPr bwMode="auto">
          <a:xfrm>
            <a:off x="6310313" y="4654550"/>
            <a:ext cx="1501775" cy="466725"/>
          </a:xfrm>
          <a:prstGeom prst="rect">
            <a:avLst/>
          </a:prstGeom>
          <a:solidFill>
            <a:srgbClr val="CCFFCC"/>
          </a:solidFill>
          <a:ln w="9525">
            <a:solidFill>
              <a:srgbClr val="00FF00"/>
            </a:solidFill>
            <a:miter lim="800000"/>
            <a:headEnd/>
            <a:tailEnd/>
          </a:ln>
          <a:effectLst/>
        </p:spPr>
        <p:txBody>
          <a:bodyPr>
            <a:spAutoFit/>
          </a:bodyPr>
          <a:lstStyle/>
          <a:p>
            <a:r>
              <a:rPr lang="zh-CN" altLang="en-US" b="1">
                <a:solidFill>
                  <a:schemeClr val="bg1"/>
                </a:solidFill>
                <a:latin typeface="宋体" charset="-122"/>
              </a:rPr>
              <a:t>材料性质</a:t>
            </a:r>
          </a:p>
        </p:txBody>
      </p:sp>
      <p:grpSp>
        <p:nvGrpSpPr>
          <p:cNvPr id="97303" name="Group 23"/>
          <p:cNvGrpSpPr>
            <a:grpSpLocks/>
          </p:cNvGrpSpPr>
          <p:nvPr/>
        </p:nvGrpSpPr>
        <p:grpSpPr bwMode="auto">
          <a:xfrm>
            <a:off x="5256213" y="4749800"/>
            <a:ext cx="990600" cy="304800"/>
            <a:chOff x="2990" y="2170"/>
            <a:chExt cx="624" cy="192"/>
          </a:xfrm>
        </p:grpSpPr>
        <p:sp>
          <p:nvSpPr>
            <p:cNvPr id="6162" name="Line 24"/>
            <p:cNvSpPr>
              <a:spLocks noChangeShapeType="1"/>
            </p:cNvSpPr>
            <p:nvPr/>
          </p:nvSpPr>
          <p:spPr bwMode="auto">
            <a:xfrm flipH="1">
              <a:off x="2990" y="2269"/>
              <a:ext cx="624" cy="0"/>
            </a:xfrm>
            <a:prstGeom prst="line">
              <a:avLst/>
            </a:prstGeom>
            <a:noFill/>
            <a:ln w="57150">
              <a:solidFill>
                <a:srgbClr val="3333CC"/>
              </a:solidFill>
              <a:round/>
              <a:headEnd/>
              <a:tailEnd type="triangle" w="med" len="med"/>
            </a:ln>
            <a:effectLst/>
          </p:spPr>
          <p:txBody>
            <a:bodyPr/>
            <a:lstStyle/>
            <a:p>
              <a:endParaRPr lang="zh-CN" altLang="en-US"/>
            </a:p>
          </p:txBody>
        </p:sp>
        <p:sp>
          <p:nvSpPr>
            <p:cNvPr id="6163" name="Line 25"/>
            <p:cNvSpPr>
              <a:spLocks noChangeShapeType="1"/>
            </p:cNvSpPr>
            <p:nvPr/>
          </p:nvSpPr>
          <p:spPr bwMode="auto">
            <a:xfrm>
              <a:off x="3216" y="2170"/>
              <a:ext cx="192" cy="192"/>
            </a:xfrm>
            <a:prstGeom prst="line">
              <a:avLst/>
            </a:prstGeom>
            <a:noFill/>
            <a:ln w="57150">
              <a:solidFill>
                <a:srgbClr val="FF0000"/>
              </a:solidFill>
              <a:round/>
              <a:headEnd/>
              <a:tailEnd/>
            </a:ln>
            <a:effectLst/>
          </p:spPr>
          <p:txBody>
            <a:bodyPr/>
            <a:lstStyle/>
            <a:p>
              <a:endParaRPr lang="zh-CN" altLang="en-US"/>
            </a:p>
          </p:txBody>
        </p:sp>
      </p:grpSp>
      <p:sp>
        <p:nvSpPr>
          <p:cNvPr id="97306" name="Text Box 26"/>
          <p:cNvSpPr txBox="1">
            <a:spLocks noChangeArrowheads="1"/>
          </p:cNvSpPr>
          <p:nvPr/>
        </p:nvSpPr>
        <p:spPr bwMode="auto">
          <a:xfrm>
            <a:off x="3086100" y="725488"/>
            <a:ext cx="5626100" cy="1006475"/>
          </a:xfrm>
          <a:prstGeom prst="rect">
            <a:avLst/>
          </a:prstGeom>
          <a:noFill/>
          <a:ln w="9525">
            <a:noFill/>
            <a:miter lim="800000"/>
            <a:headEnd/>
            <a:tailEnd/>
          </a:ln>
          <a:effectLst/>
        </p:spPr>
        <p:txBody>
          <a:bodyPr>
            <a:spAutoFit/>
          </a:bodyPr>
          <a:lstStyle/>
          <a:p>
            <a:pPr>
              <a:lnSpc>
                <a:spcPct val="125000"/>
              </a:lnSpc>
            </a:pPr>
            <a:r>
              <a:rPr lang="zh-CN" altLang="en-US" b="1">
                <a:solidFill>
                  <a:schemeClr val="bg1"/>
                </a:solidFill>
              </a:rPr>
              <a:t>能够全部吸收各种波长的辐射且不反射和透射的物体。</a:t>
            </a:r>
            <a:endParaRPr lang="zh-CN" altLang="en-US">
              <a:solidFill>
                <a:schemeClr val="bg2"/>
              </a:solidFill>
            </a:endParaRPr>
          </a:p>
        </p:txBody>
      </p:sp>
      <p:sp>
        <p:nvSpPr>
          <p:cNvPr id="97307" name="Text Box 27"/>
          <p:cNvSpPr txBox="1">
            <a:spLocks noChangeArrowheads="1"/>
          </p:cNvSpPr>
          <p:nvPr/>
        </p:nvSpPr>
        <p:spPr bwMode="auto">
          <a:xfrm>
            <a:off x="571500" y="4643438"/>
            <a:ext cx="990600"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2"/>
                </a:solidFill>
                <a:latin typeface="宋体" charset="-122"/>
              </a:rPr>
              <a:t>（</a:t>
            </a:r>
            <a:r>
              <a:rPr lang="en-US" altLang="zh-CN" b="1">
                <a:solidFill>
                  <a:schemeClr val="bg2"/>
                </a:solidFill>
                <a:latin typeface="宋体" charset="-122"/>
              </a:rPr>
              <a:t>1</a:t>
            </a:r>
            <a:r>
              <a:rPr lang="zh-CN" altLang="en-US" b="1">
                <a:solidFill>
                  <a:schemeClr val="bg2"/>
                </a:solidFill>
                <a:latin typeface="宋体" charset="-122"/>
              </a:rPr>
              <a:t>）</a:t>
            </a:r>
          </a:p>
        </p:txBody>
      </p:sp>
      <p:sp>
        <p:nvSpPr>
          <p:cNvPr id="97308" name="AutoShape 28"/>
          <p:cNvSpPr>
            <a:spLocks noChangeAspect="1" noChangeArrowheads="1"/>
          </p:cNvSpPr>
          <p:nvPr/>
        </p:nvSpPr>
        <p:spPr bwMode="auto">
          <a:xfrm>
            <a:off x="431800" y="4014788"/>
            <a:ext cx="323850" cy="517525"/>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a:effectLst/>
        </p:spPr>
        <p:txBody>
          <a:bodyPr wrap="none" anchor="ctr"/>
          <a:lstStyle/>
          <a:p>
            <a:endParaRPr lang="zh-CN" altLang="en-US"/>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285"/>
                                        </p:tgtEl>
                                        <p:attrNameLst>
                                          <p:attrName>style.visibility</p:attrName>
                                        </p:attrNameLst>
                                      </p:cBhvr>
                                      <p:to>
                                        <p:strVal val="visible"/>
                                      </p:to>
                                    </p:set>
                                    <p:animEffect transition="in" filter="wipe(left)">
                                      <p:cBhvr>
                                        <p:cTn id="7" dur="500"/>
                                        <p:tgtEl>
                                          <p:spTgt spid="972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306"/>
                                        </p:tgtEl>
                                        <p:attrNameLst>
                                          <p:attrName>style.visibility</p:attrName>
                                        </p:attrNameLst>
                                      </p:cBhvr>
                                      <p:to>
                                        <p:strVal val="visible"/>
                                      </p:to>
                                    </p:set>
                                    <p:animEffect transition="in" filter="wipe(left)">
                                      <p:cBhvr>
                                        <p:cTn id="12" dur="500"/>
                                        <p:tgtEl>
                                          <p:spTgt spid="973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289"/>
                                        </p:tgtEl>
                                        <p:attrNameLst>
                                          <p:attrName>style.visibility</p:attrName>
                                        </p:attrNameLst>
                                      </p:cBhvr>
                                      <p:to>
                                        <p:strVal val="visible"/>
                                      </p:to>
                                    </p:set>
                                    <p:animEffect transition="in" filter="wipe(left)">
                                      <p:cBhvr>
                                        <p:cTn id="17" dur="500"/>
                                        <p:tgtEl>
                                          <p:spTgt spid="97289"/>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97290"/>
                                        </p:tgtEl>
                                        <p:attrNameLst>
                                          <p:attrName>style.visibility</p:attrName>
                                        </p:attrNameLst>
                                      </p:cBhvr>
                                      <p:to>
                                        <p:strVal val="visible"/>
                                      </p:to>
                                    </p:set>
                                    <p:animEffect transition="in" filter="wipe(left)">
                                      <p:cBhvr>
                                        <p:cTn id="21" dur="500"/>
                                        <p:tgtEl>
                                          <p:spTgt spid="9729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97282"/>
                                        </p:tgtEl>
                                        <p:attrNameLst>
                                          <p:attrName>style.visibility</p:attrName>
                                        </p:attrNameLst>
                                      </p:cBhvr>
                                      <p:to>
                                        <p:strVal val="visible"/>
                                      </p:to>
                                    </p:set>
                                    <p:animEffect transition="in" filter="wipe(left)">
                                      <p:cBhvr>
                                        <p:cTn id="26" dur="500"/>
                                        <p:tgtEl>
                                          <p:spTgt spid="97282"/>
                                        </p:tgtEl>
                                      </p:cBhvr>
                                    </p:animEffect>
                                  </p:childTnLst>
                                </p:cTn>
                              </p:par>
                            </p:childTnLst>
                          </p:cTn>
                        </p:par>
                        <p:par>
                          <p:cTn id="27" fill="hold" nodeType="afterGroup">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97291"/>
                                        </p:tgtEl>
                                        <p:attrNameLst>
                                          <p:attrName>style.visibility</p:attrName>
                                        </p:attrNameLst>
                                      </p:cBhvr>
                                      <p:to>
                                        <p:strVal val="visible"/>
                                      </p:to>
                                    </p:set>
                                    <p:animEffect transition="in" filter="dissolve">
                                      <p:cBhvr>
                                        <p:cTn id="30" dur="500"/>
                                        <p:tgtEl>
                                          <p:spTgt spid="9729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32" fill="hold" nodeType="clickEffect">
                                  <p:stCondLst>
                                    <p:cond delay="0"/>
                                  </p:stCondLst>
                                  <p:childTnLst>
                                    <p:set>
                                      <p:cBhvr>
                                        <p:cTn id="34" dur="1" fill="hold">
                                          <p:stCondLst>
                                            <p:cond delay="0"/>
                                          </p:stCondLst>
                                        </p:cTn>
                                        <p:tgtEl>
                                          <p:spTgt spid="97284"/>
                                        </p:tgtEl>
                                        <p:attrNameLst>
                                          <p:attrName>style.visibility</p:attrName>
                                        </p:attrNameLst>
                                      </p:cBhvr>
                                      <p:to>
                                        <p:strVal val="visible"/>
                                      </p:to>
                                    </p:set>
                                    <p:animEffect transition="in" filter="box(out)">
                                      <p:cBhvr>
                                        <p:cTn id="35" dur="500"/>
                                        <p:tgtEl>
                                          <p:spTgt spid="9728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7308"/>
                                        </p:tgtEl>
                                        <p:attrNameLst>
                                          <p:attrName>style.visibility</p:attrName>
                                        </p:attrNameLst>
                                      </p:cBhvr>
                                      <p:to>
                                        <p:strVal val="visible"/>
                                      </p:to>
                                    </p:set>
                                    <p:animEffect transition="in" filter="wipe(left)">
                                      <p:cBhvr>
                                        <p:cTn id="40" dur="1000"/>
                                        <p:tgtEl>
                                          <p:spTgt spid="9730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97286"/>
                                        </p:tgtEl>
                                        <p:attrNameLst>
                                          <p:attrName>style.visibility</p:attrName>
                                        </p:attrNameLst>
                                      </p:cBhvr>
                                      <p:to>
                                        <p:strVal val="visible"/>
                                      </p:to>
                                    </p:set>
                                    <p:animEffect transition="in" filter="wipe(left)">
                                      <p:cBhvr>
                                        <p:cTn id="45" dur="500"/>
                                        <p:tgtEl>
                                          <p:spTgt spid="9728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97307"/>
                                        </p:tgtEl>
                                        <p:attrNameLst>
                                          <p:attrName>style.visibility</p:attrName>
                                        </p:attrNameLst>
                                      </p:cBhvr>
                                      <p:to>
                                        <p:strVal val="visible"/>
                                      </p:to>
                                    </p:set>
                                    <p:animEffect transition="in" filter="wipe(left)">
                                      <p:cBhvr>
                                        <p:cTn id="50" dur="500"/>
                                        <p:tgtEl>
                                          <p:spTgt spid="97307"/>
                                        </p:tgtEl>
                                      </p:cBhvr>
                                    </p:animEffect>
                                  </p:childTnLst>
                                </p:cTn>
                              </p:par>
                            </p:childTnLst>
                          </p:cTn>
                        </p:par>
                        <p:par>
                          <p:cTn id="51" fill="hold" nodeType="afterGroup">
                            <p:stCondLst>
                              <p:cond delay="500"/>
                            </p:stCondLst>
                            <p:childTnLst>
                              <p:par>
                                <p:cTn id="52" presetID="23" presetClass="entr" presetSubtype="288" fill="hold" grpId="0" nodeType="afterEffect">
                                  <p:stCondLst>
                                    <p:cond delay="0"/>
                                  </p:stCondLst>
                                  <p:childTnLst>
                                    <p:set>
                                      <p:cBhvr>
                                        <p:cTn id="53" dur="1" fill="hold">
                                          <p:stCondLst>
                                            <p:cond delay="0"/>
                                          </p:stCondLst>
                                        </p:cTn>
                                        <p:tgtEl>
                                          <p:spTgt spid="97299"/>
                                        </p:tgtEl>
                                        <p:attrNameLst>
                                          <p:attrName>style.visibility</p:attrName>
                                        </p:attrNameLst>
                                      </p:cBhvr>
                                      <p:to>
                                        <p:strVal val="visible"/>
                                      </p:to>
                                    </p:set>
                                    <p:anim calcmode="lin" valueType="num">
                                      <p:cBhvr>
                                        <p:cTn id="54" dur="500" fill="hold"/>
                                        <p:tgtEl>
                                          <p:spTgt spid="97299"/>
                                        </p:tgtEl>
                                        <p:attrNameLst>
                                          <p:attrName>ppt_w</p:attrName>
                                        </p:attrNameLst>
                                      </p:cBhvr>
                                      <p:tavLst>
                                        <p:tav tm="0">
                                          <p:val>
                                            <p:strVal val="4/3*#ppt_w"/>
                                          </p:val>
                                        </p:tav>
                                        <p:tav tm="100000">
                                          <p:val>
                                            <p:strVal val="#ppt_w"/>
                                          </p:val>
                                        </p:tav>
                                      </p:tavLst>
                                    </p:anim>
                                    <p:anim calcmode="lin" valueType="num">
                                      <p:cBhvr>
                                        <p:cTn id="55" dur="500" fill="hold"/>
                                        <p:tgtEl>
                                          <p:spTgt spid="97299"/>
                                        </p:tgtEl>
                                        <p:attrNameLst>
                                          <p:attrName>ppt_h</p:attrName>
                                        </p:attrNameLst>
                                      </p:cBhvr>
                                      <p:tavLst>
                                        <p:tav tm="0">
                                          <p:val>
                                            <p:strVal val="4/3*#ppt_h"/>
                                          </p:val>
                                        </p:tav>
                                        <p:tav tm="100000">
                                          <p:val>
                                            <p:strVal val="#ppt_h"/>
                                          </p:val>
                                        </p:tav>
                                      </p:tavLst>
                                    </p:anim>
                                  </p:childTnLst>
                                </p:cTn>
                              </p:par>
                            </p:childTnLst>
                          </p:cTn>
                        </p:par>
                        <p:par>
                          <p:cTn id="56" fill="hold" nodeType="afterGroup">
                            <p:stCondLst>
                              <p:cond delay="1000"/>
                            </p:stCondLst>
                            <p:childTnLst>
                              <p:par>
                                <p:cTn id="57" presetID="9" presetClass="entr" presetSubtype="0" fill="hold" grpId="0" nodeType="afterEffect">
                                  <p:stCondLst>
                                    <p:cond delay="0"/>
                                  </p:stCondLst>
                                  <p:childTnLst>
                                    <p:set>
                                      <p:cBhvr>
                                        <p:cTn id="58" dur="1" fill="hold">
                                          <p:stCondLst>
                                            <p:cond delay="0"/>
                                          </p:stCondLst>
                                        </p:cTn>
                                        <p:tgtEl>
                                          <p:spTgt spid="97300"/>
                                        </p:tgtEl>
                                        <p:attrNameLst>
                                          <p:attrName>style.visibility</p:attrName>
                                        </p:attrNameLst>
                                      </p:cBhvr>
                                      <p:to>
                                        <p:strVal val="visible"/>
                                      </p:to>
                                    </p:set>
                                    <p:animEffect transition="in" filter="dissolve">
                                      <p:cBhvr>
                                        <p:cTn id="59" dur="500"/>
                                        <p:tgtEl>
                                          <p:spTgt spid="97300"/>
                                        </p:tgtEl>
                                      </p:cBhvr>
                                    </p:animEffect>
                                  </p:childTnLst>
                                </p:cTn>
                              </p:par>
                            </p:childTnLst>
                          </p:cTn>
                        </p:par>
                        <p:par>
                          <p:cTn id="60" fill="hold" nodeType="afterGroup">
                            <p:stCondLst>
                              <p:cond delay="1500"/>
                            </p:stCondLst>
                            <p:childTnLst>
                              <p:par>
                                <p:cTn id="61" presetID="9" presetClass="entr" presetSubtype="0" fill="hold" grpId="0" nodeType="afterEffect">
                                  <p:stCondLst>
                                    <p:cond delay="0"/>
                                  </p:stCondLst>
                                  <p:childTnLst>
                                    <p:set>
                                      <p:cBhvr>
                                        <p:cTn id="62" dur="1" fill="hold">
                                          <p:stCondLst>
                                            <p:cond delay="0"/>
                                          </p:stCondLst>
                                        </p:cTn>
                                        <p:tgtEl>
                                          <p:spTgt spid="97302"/>
                                        </p:tgtEl>
                                        <p:attrNameLst>
                                          <p:attrName>style.visibility</p:attrName>
                                        </p:attrNameLst>
                                      </p:cBhvr>
                                      <p:to>
                                        <p:strVal val="visible"/>
                                      </p:to>
                                    </p:set>
                                    <p:animEffect transition="in" filter="dissolve">
                                      <p:cBhvr>
                                        <p:cTn id="63" dur="500"/>
                                        <p:tgtEl>
                                          <p:spTgt spid="9730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97301"/>
                                        </p:tgtEl>
                                        <p:attrNameLst>
                                          <p:attrName>style.visibility</p:attrName>
                                        </p:attrNameLst>
                                      </p:cBhvr>
                                      <p:to>
                                        <p:strVal val="visible"/>
                                      </p:to>
                                    </p:set>
                                    <p:animEffect transition="in" filter="dissolve">
                                      <p:cBhvr>
                                        <p:cTn id="68" dur="500"/>
                                        <p:tgtEl>
                                          <p:spTgt spid="9730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2" fill="hold" nodeType="clickEffect">
                                  <p:stCondLst>
                                    <p:cond delay="0"/>
                                  </p:stCondLst>
                                  <p:childTnLst>
                                    <p:set>
                                      <p:cBhvr>
                                        <p:cTn id="72" dur="1" fill="hold">
                                          <p:stCondLst>
                                            <p:cond delay="0"/>
                                          </p:stCondLst>
                                        </p:cTn>
                                        <p:tgtEl>
                                          <p:spTgt spid="97303"/>
                                        </p:tgtEl>
                                        <p:attrNameLst>
                                          <p:attrName>style.visibility</p:attrName>
                                        </p:attrNameLst>
                                      </p:cBhvr>
                                      <p:to>
                                        <p:strVal val="visible"/>
                                      </p:to>
                                    </p:set>
                                    <p:animEffect transition="in" filter="wipe(right)">
                                      <p:cBhvr>
                                        <p:cTn id="73" dur="500"/>
                                        <p:tgtEl>
                                          <p:spTgt spid="97303"/>
                                        </p:tgtEl>
                                      </p:cBhvr>
                                    </p:animEffect>
                                  </p:childTnLst>
                                </p:cTn>
                              </p:par>
                            </p:childTnLst>
                          </p:cTn>
                        </p:par>
                        <p:par>
                          <p:cTn id="74" fill="hold" nodeType="afterGroup">
                            <p:stCondLst>
                              <p:cond delay="500"/>
                            </p:stCondLst>
                            <p:childTnLst>
                              <p:par>
                                <p:cTn id="75" presetID="35" presetClass="emph" presetSubtype="0" repeatCount="3000" fill="hold" nodeType="afterEffect">
                                  <p:stCondLst>
                                    <p:cond delay="0"/>
                                  </p:stCondLst>
                                  <p:childTnLst>
                                    <p:anim calcmode="discrete" valueType="str">
                                      <p:cBhvr>
                                        <p:cTn id="76" dur="1000" fill="hold"/>
                                        <p:tgtEl>
                                          <p:spTgt spid="97303"/>
                                        </p:tgtEl>
                                        <p:attrNameLst>
                                          <p:attrName>style.visibility</p:attrName>
                                        </p:attrNameLst>
                                      </p:cBhvr>
                                      <p:tavLst>
                                        <p:tav tm="0">
                                          <p:val>
                                            <p:strVal val="hidden"/>
                                          </p:val>
                                        </p:tav>
                                        <p:tav tm="50000">
                                          <p:val>
                                            <p:strVal val="visible"/>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97288"/>
                                        </p:tgtEl>
                                        <p:attrNameLst>
                                          <p:attrName>style.visibility</p:attrName>
                                        </p:attrNameLst>
                                      </p:cBhvr>
                                      <p:to>
                                        <p:strVal val="visible"/>
                                      </p:to>
                                    </p:set>
                                    <p:animEffect transition="in" filter="wipe(left)">
                                      <p:cBhvr>
                                        <p:cTn id="81" dur="500"/>
                                        <p:tgtEl>
                                          <p:spTgt spid="97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5" grpId="0" autoUpdateAnimBg="0"/>
      <p:bldP spid="97286" grpId="0" autoUpdateAnimBg="0"/>
      <p:bldP spid="97288" grpId="0" autoUpdateAnimBg="0"/>
      <p:bldP spid="97289" grpId="0" animBg="1" autoUpdateAnimBg="0"/>
      <p:bldP spid="97290" grpId="0" animBg="1" autoUpdateAnimBg="0"/>
      <p:bldP spid="97291" grpId="0" autoUpdateAnimBg="0"/>
      <p:bldP spid="97299" grpId="0" animBg="1" autoUpdateAnimBg="0"/>
      <p:bldP spid="97300" grpId="0" animBg="1" autoUpdateAnimBg="0"/>
      <p:bldP spid="97301" grpId="0" animBg="1"/>
      <p:bldP spid="97302" grpId="0" animBg="1" autoUpdateAnimBg="0"/>
      <p:bldP spid="97306" grpId="0"/>
      <p:bldP spid="97307" grpId="0"/>
      <p:bldP spid="97308"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Freeform 2"/>
          <p:cNvSpPr>
            <a:spLocks/>
          </p:cNvSpPr>
          <p:nvPr/>
        </p:nvSpPr>
        <p:spPr bwMode="auto">
          <a:xfrm>
            <a:off x="1216025" y="2220913"/>
            <a:ext cx="5284788" cy="3914775"/>
          </a:xfrm>
          <a:custGeom>
            <a:avLst/>
            <a:gdLst>
              <a:gd name="T0" fmla="*/ 0 w 3329"/>
              <a:gd name="T1" fmla="*/ 2147483647 h 2466"/>
              <a:gd name="T2" fmla="*/ 2048888019 w 3329"/>
              <a:gd name="T3" fmla="*/ 57964388 h 2466"/>
              <a:gd name="T4" fmla="*/ 2147483647 w 3329"/>
              <a:gd name="T5" fmla="*/ 2147483647 h 2466"/>
              <a:gd name="T6" fmla="*/ 0 60000 65536"/>
              <a:gd name="T7" fmla="*/ 0 60000 65536"/>
              <a:gd name="T8" fmla="*/ 0 60000 65536"/>
            </a:gdLst>
            <a:ahLst/>
            <a:cxnLst>
              <a:cxn ang="T6">
                <a:pos x="T0" y="T1"/>
              </a:cxn>
              <a:cxn ang="T7">
                <a:pos x="T2" y="T3"/>
              </a:cxn>
              <a:cxn ang="T8">
                <a:pos x="T4" y="T5"/>
              </a:cxn>
            </a:cxnLst>
            <a:rect l="0" t="0" r="r" b="b"/>
            <a:pathLst>
              <a:path w="3329" h="2466">
                <a:moveTo>
                  <a:pt x="0" y="2466"/>
                </a:moveTo>
                <a:cubicBezTo>
                  <a:pt x="436" y="2365"/>
                  <a:pt x="355" y="0"/>
                  <a:pt x="813" y="23"/>
                </a:cubicBezTo>
                <a:cubicBezTo>
                  <a:pt x="1248" y="15"/>
                  <a:pt x="1429" y="2232"/>
                  <a:pt x="3329" y="2292"/>
                </a:cubicBezTo>
              </a:path>
            </a:pathLst>
          </a:custGeom>
          <a:gradFill rotWithShape="1">
            <a:gsLst>
              <a:gs pos="0">
                <a:srgbClr val="008080">
                  <a:alpha val="75000"/>
                </a:srgbClr>
              </a:gs>
              <a:gs pos="100000">
                <a:srgbClr val="003B3B">
                  <a:alpha val="71999"/>
                </a:srgbClr>
              </a:gs>
            </a:gsLst>
            <a:lin ang="0" scaled="1"/>
          </a:gradFill>
          <a:ln w="28575" cmpd="sng">
            <a:solidFill>
              <a:srgbClr val="FFCC00"/>
            </a:solidFill>
            <a:round/>
            <a:headEnd/>
            <a:tailEnd/>
          </a:ln>
          <a:effectLst/>
        </p:spPr>
        <p:txBody>
          <a:bodyPr/>
          <a:lstStyle/>
          <a:p>
            <a:endParaRPr lang="zh-CN" altLang="en-US"/>
          </a:p>
        </p:txBody>
      </p:sp>
      <p:sp>
        <p:nvSpPr>
          <p:cNvPr id="98307" name="Text Box 3"/>
          <p:cNvSpPr txBox="1">
            <a:spLocks noChangeArrowheads="1"/>
          </p:cNvSpPr>
          <p:nvPr/>
        </p:nvSpPr>
        <p:spPr bwMode="auto">
          <a:xfrm>
            <a:off x="4211638" y="682625"/>
            <a:ext cx="4267200" cy="457200"/>
          </a:xfrm>
          <a:prstGeom prst="rect">
            <a:avLst/>
          </a:prstGeom>
          <a:noFill/>
          <a:ln w="9525">
            <a:noFill/>
            <a:miter lim="800000"/>
            <a:headEnd/>
            <a:tailEnd/>
          </a:ln>
          <a:effectLst/>
        </p:spPr>
        <p:txBody>
          <a:bodyPr>
            <a:spAutoFit/>
          </a:bodyPr>
          <a:lstStyle/>
          <a:p>
            <a:r>
              <a:rPr lang="en-US" altLang="zh-CN" b="1">
                <a:solidFill>
                  <a:srgbClr val="0000FF"/>
                </a:solidFill>
              </a:rPr>
              <a:t>1.  </a:t>
            </a:r>
            <a:r>
              <a:rPr lang="zh-CN" altLang="en-US" b="1">
                <a:solidFill>
                  <a:srgbClr val="0000FF"/>
                </a:solidFill>
                <a:ea typeface="楷体_GB2312" pitchFamily="49" charset="-122"/>
              </a:rPr>
              <a:t>斯特藩</a:t>
            </a:r>
            <a:r>
              <a:rPr lang="en-US" altLang="zh-CN" b="1">
                <a:solidFill>
                  <a:srgbClr val="0000FF"/>
                </a:solidFill>
                <a:ea typeface="楷体_GB2312" pitchFamily="49" charset="-122"/>
              </a:rPr>
              <a:t>——</a:t>
            </a:r>
            <a:r>
              <a:rPr lang="zh-CN" altLang="en-US" b="1">
                <a:solidFill>
                  <a:srgbClr val="0000FF"/>
                </a:solidFill>
                <a:ea typeface="楷体_GB2312" pitchFamily="49" charset="-122"/>
              </a:rPr>
              <a:t>玻耳兹曼定律</a:t>
            </a:r>
          </a:p>
        </p:txBody>
      </p:sp>
      <p:graphicFrame>
        <p:nvGraphicFramePr>
          <p:cNvPr id="98308" name="Object 4"/>
          <p:cNvGraphicFramePr>
            <a:graphicFrameLocks/>
          </p:cNvGraphicFramePr>
          <p:nvPr/>
        </p:nvGraphicFramePr>
        <p:xfrm>
          <a:off x="4826000" y="1179513"/>
          <a:ext cx="3436938" cy="590550"/>
        </p:xfrm>
        <a:graphic>
          <a:graphicData uri="http://schemas.openxmlformats.org/presentationml/2006/ole">
            <p:oleObj spid="_x0000_s7172" name="公式" r:id="rId5" imgW="1620720" imgH="269280" progId="Equation.3">
              <p:embed/>
            </p:oleObj>
          </a:graphicData>
        </a:graphic>
      </p:graphicFrame>
      <p:graphicFrame>
        <p:nvGraphicFramePr>
          <p:cNvPr id="98309" name="Object 5"/>
          <p:cNvGraphicFramePr>
            <a:graphicFrameLocks/>
          </p:cNvGraphicFramePr>
          <p:nvPr/>
        </p:nvGraphicFramePr>
        <p:xfrm>
          <a:off x="5427663" y="2124075"/>
          <a:ext cx="3252787" cy="363538"/>
        </p:xfrm>
        <a:graphic>
          <a:graphicData uri="http://schemas.openxmlformats.org/presentationml/2006/ole">
            <p:oleObj spid="_x0000_s7173" name="公式" r:id="rId6" imgW="1539000" imgH="154800" progId="Equation.3">
              <p:embed/>
            </p:oleObj>
          </a:graphicData>
        </a:graphic>
      </p:graphicFrame>
      <p:sp>
        <p:nvSpPr>
          <p:cNvPr id="98310" name="Rectangle 6"/>
          <p:cNvSpPr>
            <a:spLocks noChangeArrowheads="1"/>
          </p:cNvSpPr>
          <p:nvPr/>
        </p:nvSpPr>
        <p:spPr bwMode="auto">
          <a:xfrm>
            <a:off x="4787900" y="2103438"/>
            <a:ext cx="1219200" cy="396875"/>
          </a:xfrm>
          <a:prstGeom prst="rect">
            <a:avLst/>
          </a:prstGeom>
          <a:noFill/>
          <a:ln w="9525">
            <a:noFill/>
            <a:miter lim="800000"/>
            <a:headEnd/>
            <a:tailEnd/>
          </a:ln>
          <a:effectLst/>
        </p:spPr>
        <p:txBody>
          <a:bodyPr>
            <a:spAutoFit/>
          </a:bodyPr>
          <a:lstStyle/>
          <a:p>
            <a:r>
              <a:rPr lang="zh-CN" altLang="en-US" sz="2000" b="1">
                <a:solidFill>
                  <a:schemeClr val="bg1"/>
                </a:solidFill>
              </a:rPr>
              <a:t>式中</a:t>
            </a:r>
          </a:p>
        </p:txBody>
      </p:sp>
      <p:sp>
        <p:nvSpPr>
          <p:cNvPr id="98311" name="Rectangle 7"/>
          <p:cNvSpPr>
            <a:spLocks noChangeArrowheads="1"/>
          </p:cNvSpPr>
          <p:nvPr/>
        </p:nvSpPr>
        <p:spPr bwMode="auto">
          <a:xfrm>
            <a:off x="4724400" y="2740025"/>
            <a:ext cx="3962400"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辐出度与</a:t>
            </a:r>
            <a:r>
              <a:rPr lang="zh-CN" altLang="en-US" b="1">
                <a:solidFill>
                  <a:schemeClr val="bg1"/>
                </a:solidFill>
              </a:rPr>
              <a:t> </a:t>
            </a:r>
            <a:r>
              <a:rPr lang="en-US" altLang="zh-CN" b="1" i="1">
                <a:solidFill>
                  <a:srgbClr val="FF6600"/>
                </a:solidFill>
              </a:rPr>
              <a:t>T </a:t>
            </a:r>
            <a:r>
              <a:rPr lang="en-US" altLang="zh-CN" b="1" baseline="45000">
                <a:solidFill>
                  <a:srgbClr val="FF6600"/>
                </a:solidFill>
              </a:rPr>
              <a:t>4</a:t>
            </a:r>
            <a:r>
              <a:rPr lang="en-US" altLang="zh-CN" sz="2000" b="1" i="1">
                <a:solidFill>
                  <a:schemeClr val="bg1"/>
                </a:solidFill>
              </a:rPr>
              <a:t> </a:t>
            </a:r>
            <a:r>
              <a:rPr lang="zh-CN" altLang="en-US" b="1">
                <a:solidFill>
                  <a:schemeClr val="bg1"/>
                </a:solidFill>
                <a:latin typeface="楷体_GB2312" pitchFamily="49" charset="-122"/>
                <a:ea typeface="楷体_GB2312" pitchFamily="49" charset="-122"/>
              </a:rPr>
              <a:t>成正比</a:t>
            </a:r>
            <a:r>
              <a:rPr lang="en-US" altLang="zh-CN" b="1">
                <a:solidFill>
                  <a:schemeClr val="bg1"/>
                </a:solidFill>
                <a:latin typeface="楷体_GB2312" pitchFamily="49" charset="-122"/>
                <a:ea typeface="楷体_GB2312" pitchFamily="49" charset="-122"/>
              </a:rPr>
              <a:t>.</a:t>
            </a:r>
          </a:p>
        </p:txBody>
      </p:sp>
      <p:graphicFrame>
        <p:nvGraphicFramePr>
          <p:cNvPr id="98312" name="Object 8"/>
          <p:cNvGraphicFramePr>
            <a:graphicFrameLocks/>
          </p:cNvGraphicFramePr>
          <p:nvPr/>
        </p:nvGraphicFramePr>
        <p:xfrm>
          <a:off x="4999038" y="4659313"/>
          <a:ext cx="3217862" cy="434975"/>
        </p:xfrm>
        <a:graphic>
          <a:graphicData uri="http://schemas.openxmlformats.org/presentationml/2006/ole">
            <p:oleObj spid="_x0000_s7176" name="公式" r:id="rId7" imgW="1514520" imgH="187560" progId="Equation.3">
              <p:embed/>
            </p:oleObj>
          </a:graphicData>
        </a:graphic>
      </p:graphicFrame>
      <p:sp>
        <p:nvSpPr>
          <p:cNvPr id="98313" name="Rectangle 9"/>
          <p:cNvSpPr>
            <a:spLocks noChangeArrowheads="1"/>
          </p:cNvSpPr>
          <p:nvPr/>
        </p:nvSpPr>
        <p:spPr bwMode="auto">
          <a:xfrm>
            <a:off x="4343400" y="3425825"/>
            <a:ext cx="274320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00FF"/>
                </a:solidFill>
              </a:rPr>
              <a:t>2.  </a:t>
            </a:r>
            <a:r>
              <a:rPr lang="zh-CN" altLang="en-US" b="1">
                <a:solidFill>
                  <a:srgbClr val="0000FF"/>
                </a:solidFill>
                <a:ea typeface="楷体_GB2312" pitchFamily="49" charset="-122"/>
              </a:rPr>
              <a:t>维恩位移定律</a:t>
            </a:r>
          </a:p>
        </p:txBody>
      </p:sp>
      <p:sp>
        <p:nvSpPr>
          <p:cNvPr id="98314" name="Text Box 10"/>
          <p:cNvSpPr txBox="1">
            <a:spLocks noChangeArrowheads="1"/>
          </p:cNvSpPr>
          <p:nvPr/>
        </p:nvSpPr>
        <p:spPr bwMode="auto">
          <a:xfrm>
            <a:off x="4724400" y="3976688"/>
            <a:ext cx="4213225"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峰值波长 </a:t>
            </a:r>
            <a:r>
              <a:rPr lang="zh-CN" altLang="en-US" b="1" i="1">
                <a:solidFill>
                  <a:srgbClr val="FF6600"/>
                </a:solidFill>
                <a:sym typeface="Symbol" pitchFamily="18" charset="2"/>
              </a:rPr>
              <a:t></a:t>
            </a:r>
            <a:r>
              <a:rPr lang="zh-CN" altLang="en-US" sz="1000" b="1" i="1">
                <a:solidFill>
                  <a:srgbClr val="FF6600"/>
                </a:solidFill>
                <a:sym typeface="Symbol" pitchFamily="18" charset="2"/>
              </a:rPr>
              <a:t> </a:t>
            </a:r>
            <a:r>
              <a:rPr lang="en-US" altLang="zh-CN" b="1" i="1" baseline="-12000">
                <a:solidFill>
                  <a:srgbClr val="FF6600"/>
                </a:solidFill>
              </a:rPr>
              <a:t>m</a:t>
            </a:r>
            <a:r>
              <a:rPr lang="en-US" altLang="zh-CN" b="1" baseline="-12000">
                <a:solidFill>
                  <a:schemeClr val="bg1"/>
                </a:solidFill>
              </a:rPr>
              <a:t> </a:t>
            </a:r>
            <a:r>
              <a:rPr lang="zh-CN" altLang="en-US" b="1">
                <a:solidFill>
                  <a:schemeClr val="bg1"/>
                </a:solidFill>
                <a:ea typeface="楷体_GB2312" pitchFamily="49" charset="-122"/>
              </a:rPr>
              <a:t>与温度</a:t>
            </a:r>
            <a:r>
              <a:rPr lang="zh-CN" altLang="en-US">
                <a:solidFill>
                  <a:srgbClr val="FF6600"/>
                </a:solidFill>
              </a:rPr>
              <a:t> </a:t>
            </a:r>
            <a:r>
              <a:rPr lang="en-US" altLang="zh-CN" b="1" i="1">
                <a:solidFill>
                  <a:srgbClr val="FF6600"/>
                </a:solidFill>
              </a:rPr>
              <a:t>T</a:t>
            </a:r>
            <a:r>
              <a:rPr lang="en-US" altLang="zh-CN" i="1">
                <a:solidFill>
                  <a:srgbClr val="FF6600"/>
                </a:solidFill>
              </a:rPr>
              <a:t> </a:t>
            </a:r>
            <a:r>
              <a:rPr lang="zh-CN" altLang="en-US" b="1">
                <a:solidFill>
                  <a:schemeClr val="bg1"/>
                </a:solidFill>
                <a:ea typeface="楷体_GB2312" pitchFamily="49" charset="-122"/>
              </a:rPr>
              <a:t>成反比</a:t>
            </a:r>
          </a:p>
        </p:txBody>
      </p:sp>
      <p:sp>
        <p:nvSpPr>
          <p:cNvPr id="98315" name="Freeform 11"/>
          <p:cNvSpPr>
            <a:spLocks/>
          </p:cNvSpPr>
          <p:nvPr/>
        </p:nvSpPr>
        <p:spPr bwMode="auto">
          <a:xfrm>
            <a:off x="1516063" y="4559300"/>
            <a:ext cx="5003800" cy="1593850"/>
          </a:xfrm>
          <a:custGeom>
            <a:avLst/>
            <a:gdLst>
              <a:gd name="T0" fmla="*/ 0 w 3152"/>
              <a:gd name="T1" fmla="*/ 2147483647 h 1004"/>
              <a:gd name="T2" fmla="*/ 1958162200 w 3152"/>
              <a:gd name="T3" fmla="*/ 20161250 h 1004"/>
              <a:gd name="T4" fmla="*/ 2147483647 w 3152"/>
              <a:gd name="T5" fmla="*/ 2147483647 h 1004"/>
              <a:gd name="T6" fmla="*/ 0 60000 65536"/>
              <a:gd name="T7" fmla="*/ 0 60000 65536"/>
              <a:gd name="T8" fmla="*/ 0 60000 65536"/>
            </a:gdLst>
            <a:ahLst/>
            <a:cxnLst>
              <a:cxn ang="T6">
                <a:pos x="T0" y="T1"/>
              </a:cxn>
              <a:cxn ang="T7">
                <a:pos x="T2" y="T3"/>
              </a:cxn>
              <a:cxn ang="T8">
                <a:pos x="T4" y="T5"/>
              </a:cxn>
            </a:cxnLst>
            <a:rect l="0" t="0" r="r" b="b"/>
            <a:pathLst>
              <a:path w="3152" h="1004">
                <a:moveTo>
                  <a:pt x="0" y="1004"/>
                </a:moveTo>
                <a:cubicBezTo>
                  <a:pt x="273" y="943"/>
                  <a:pt x="334" y="0"/>
                  <a:pt x="777" y="8"/>
                </a:cubicBezTo>
                <a:cubicBezTo>
                  <a:pt x="1155" y="37"/>
                  <a:pt x="1212" y="854"/>
                  <a:pt x="3152" y="878"/>
                </a:cubicBezTo>
              </a:path>
            </a:pathLst>
          </a:custGeom>
          <a:gradFill rotWithShape="1">
            <a:gsLst>
              <a:gs pos="0">
                <a:srgbClr val="336600"/>
              </a:gs>
              <a:gs pos="100000">
                <a:srgbClr val="182F00"/>
              </a:gs>
            </a:gsLst>
            <a:lin ang="0" scaled="1"/>
          </a:gradFill>
          <a:ln w="28575" cmpd="sng">
            <a:solidFill>
              <a:srgbClr val="FFCC00"/>
            </a:solidFill>
            <a:round/>
            <a:headEnd/>
            <a:tailEnd/>
          </a:ln>
          <a:effectLst/>
        </p:spPr>
        <p:txBody>
          <a:bodyPr/>
          <a:lstStyle/>
          <a:p>
            <a:endParaRPr lang="zh-CN" altLang="en-US"/>
          </a:p>
        </p:txBody>
      </p:sp>
      <p:sp>
        <p:nvSpPr>
          <p:cNvPr id="98316" name="Freeform 12"/>
          <p:cNvSpPr>
            <a:spLocks/>
          </p:cNvSpPr>
          <p:nvPr/>
        </p:nvSpPr>
        <p:spPr bwMode="auto">
          <a:xfrm>
            <a:off x="1890713" y="5645150"/>
            <a:ext cx="4684712" cy="493713"/>
          </a:xfrm>
          <a:custGeom>
            <a:avLst/>
            <a:gdLst>
              <a:gd name="T0" fmla="*/ 0 w 2951"/>
              <a:gd name="T1" fmla="*/ 783770181 h 311"/>
              <a:gd name="T2" fmla="*/ 2147483647 w 2951"/>
              <a:gd name="T3" fmla="*/ 15120953 h 311"/>
              <a:gd name="T4" fmla="*/ 2147483647 w 2951"/>
              <a:gd name="T5" fmla="*/ 607359065 h 311"/>
              <a:gd name="T6" fmla="*/ 0 60000 65536"/>
              <a:gd name="T7" fmla="*/ 0 60000 65536"/>
              <a:gd name="T8" fmla="*/ 0 60000 65536"/>
            </a:gdLst>
            <a:ahLst/>
            <a:cxnLst>
              <a:cxn ang="T6">
                <a:pos x="T0" y="T1"/>
              </a:cxn>
              <a:cxn ang="T7">
                <a:pos x="T2" y="T3"/>
              </a:cxn>
              <a:cxn ang="T8">
                <a:pos x="T4" y="T5"/>
              </a:cxn>
            </a:cxnLst>
            <a:rect l="0" t="0" r="r" b="b"/>
            <a:pathLst>
              <a:path w="2951" h="311">
                <a:moveTo>
                  <a:pt x="0" y="311"/>
                </a:moveTo>
                <a:cubicBezTo>
                  <a:pt x="362" y="194"/>
                  <a:pt x="533" y="0"/>
                  <a:pt x="929" y="6"/>
                </a:cubicBezTo>
                <a:cubicBezTo>
                  <a:pt x="1397" y="11"/>
                  <a:pt x="1495" y="208"/>
                  <a:pt x="2951" y="241"/>
                </a:cubicBezTo>
              </a:path>
            </a:pathLst>
          </a:custGeom>
          <a:solidFill>
            <a:srgbClr val="663300"/>
          </a:solidFill>
          <a:ln w="28575" cmpd="sng">
            <a:solidFill>
              <a:srgbClr val="FFCC00"/>
            </a:solidFill>
            <a:round/>
            <a:headEnd/>
            <a:tailEnd/>
          </a:ln>
          <a:effectLst/>
        </p:spPr>
        <p:txBody>
          <a:bodyPr/>
          <a:lstStyle/>
          <a:p>
            <a:endParaRPr lang="zh-CN" altLang="en-US"/>
          </a:p>
        </p:txBody>
      </p:sp>
      <p:sp>
        <p:nvSpPr>
          <p:cNvPr id="98317" name="Freeform 13"/>
          <p:cNvSpPr>
            <a:spLocks/>
          </p:cNvSpPr>
          <p:nvPr/>
        </p:nvSpPr>
        <p:spPr bwMode="auto">
          <a:xfrm>
            <a:off x="2489200" y="5905500"/>
            <a:ext cx="4030663" cy="233363"/>
          </a:xfrm>
          <a:custGeom>
            <a:avLst/>
            <a:gdLst>
              <a:gd name="T0" fmla="*/ 0 w 2539"/>
              <a:gd name="T1" fmla="*/ 370464556 h 147"/>
              <a:gd name="T2" fmla="*/ 2147483647 w 2539"/>
              <a:gd name="T3" fmla="*/ 42843542 h 147"/>
              <a:gd name="T4" fmla="*/ 2147483647 w 2539"/>
              <a:gd name="T5" fmla="*/ 312500045 h 147"/>
              <a:gd name="T6" fmla="*/ 0 60000 65536"/>
              <a:gd name="T7" fmla="*/ 0 60000 65536"/>
              <a:gd name="T8" fmla="*/ 0 60000 65536"/>
            </a:gdLst>
            <a:ahLst/>
            <a:cxnLst>
              <a:cxn ang="T6">
                <a:pos x="T0" y="T1"/>
              </a:cxn>
              <a:cxn ang="T7">
                <a:pos x="T2" y="T3"/>
              </a:cxn>
              <a:cxn ang="T8">
                <a:pos x="T4" y="T5"/>
              </a:cxn>
            </a:cxnLst>
            <a:rect l="0" t="0" r="r" b="b"/>
            <a:pathLst>
              <a:path w="2539" h="147">
                <a:moveTo>
                  <a:pt x="0" y="147"/>
                </a:moveTo>
                <a:cubicBezTo>
                  <a:pt x="357" y="49"/>
                  <a:pt x="929" y="0"/>
                  <a:pt x="1184" y="17"/>
                </a:cubicBezTo>
                <a:cubicBezTo>
                  <a:pt x="1432" y="17"/>
                  <a:pt x="1857" y="134"/>
                  <a:pt x="2539" y="124"/>
                </a:cubicBezTo>
              </a:path>
            </a:pathLst>
          </a:custGeom>
          <a:solidFill>
            <a:srgbClr val="003366">
              <a:alpha val="69019"/>
            </a:srgbClr>
          </a:solidFill>
          <a:ln w="28575" cmpd="sng">
            <a:solidFill>
              <a:srgbClr val="FFCC00"/>
            </a:solidFill>
            <a:round/>
            <a:headEnd/>
            <a:tailEnd/>
          </a:ln>
          <a:effectLst/>
        </p:spPr>
        <p:txBody>
          <a:bodyPr/>
          <a:lstStyle/>
          <a:p>
            <a:endParaRPr lang="zh-CN" altLang="en-US"/>
          </a:p>
        </p:txBody>
      </p:sp>
      <p:grpSp>
        <p:nvGrpSpPr>
          <p:cNvPr id="7182" name="Group 14"/>
          <p:cNvGrpSpPr>
            <a:grpSpLocks/>
          </p:cNvGrpSpPr>
          <p:nvPr/>
        </p:nvGrpSpPr>
        <p:grpSpPr bwMode="auto">
          <a:xfrm>
            <a:off x="539750" y="1196975"/>
            <a:ext cx="6480175" cy="5414963"/>
            <a:chOff x="295" y="663"/>
            <a:chExt cx="4082" cy="3411"/>
          </a:xfrm>
        </p:grpSpPr>
        <p:sp>
          <p:nvSpPr>
            <p:cNvPr id="7201" name="Text Box 15"/>
            <p:cNvSpPr txBox="1">
              <a:spLocks noChangeArrowheads="1"/>
            </p:cNvSpPr>
            <p:nvPr/>
          </p:nvSpPr>
          <p:spPr bwMode="auto">
            <a:xfrm>
              <a:off x="1202" y="3824"/>
              <a:ext cx="2836" cy="250"/>
            </a:xfrm>
            <a:prstGeom prst="rect">
              <a:avLst/>
            </a:prstGeom>
            <a:noFill/>
            <a:ln w="9525">
              <a:noFill/>
              <a:miter lim="800000"/>
              <a:headEnd/>
              <a:tailEnd/>
            </a:ln>
            <a:effectLst/>
          </p:spPr>
          <p:txBody>
            <a:bodyPr wrap="none">
              <a:spAutoFit/>
            </a:bodyPr>
            <a:lstStyle/>
            <a:p>
              <a:r>
                <a:rPr lang="en-US" altLang="zh-CN" sz="2000">
                  <a:solidFill>
                    <a:srgbClr val="DDDDDD"/>
                  </a:solidFill>
                </a:rPr>
                <a:t>  </a:t>
              </a:r>
              <a:r>
                <a:rPr lang="en-US" altLang="zh-CN" sz="2000">
                  <a:solidFill>
                    <a:schemeClr val="bg1"/>
                  </a:solidFill>
                </a:rPr>
                <a:t>0.5               1.0                1.5               2.0</a:t>
              </a:r>
            </a:p>
          </p:txBody>
        </p:sp>
        <p:sp>
          <p:nvSpPr>
            <p:cNvPr id="7202" name="Text Box 16"/>
            <p:cNvSpPr txBox="1">
              <a:spLocks noChangeArrowheads="1"/>
            </p:cNvSpPr>
            <p:nvPr/>
          </p:nvSpPr>
          <p:spPr bwMode="auto">
            <a:xfrm>
              <a:off x="295" y="1159"/>
              <a:ext cx="318" cy="2815"/>
            </a:xfrm>
            <a:prstGeom prst="rect">
              <a:avLst/>
            </a:prstGeom>
            <a:noFill/>
            <a:ln w="9525">
              <a:noFill/>
              <a:miter lim="800000"/>
              <a:headEnd/>
              <a:tailEnd/>
            </a:ln>
            <a:effectLst/>
          </p:spPr>
          <p:txBody>
            <a:bodyPr>
              <a:spAutoFit/>
            </a:bodyPr>
            <a:lstStyle/>
            <a:p>
              <a:pPr algn="ctr">
                <a:lnSpc>
                  <a:spcPct val="115000"/>
                </a:lnSpc>
                <a:spcBef>
                  <a:spcPct val="50000"/>
                </a:spcBef>
              </a:pPr>
              <a:r>
                <a:rPr lang="en-US" altLang="zh-CN" sz="2000">
                  <a:solidFill>
                    <a:schemeClr val="bg1"/>
                  </a:solidFill>
                </a:rPr>
                <a:t>10</a:t>
              </a:r>
            </a:p>
            <a:p>
              <a:pPr algn="ctr">
                <a:lnSpc>
                  <a:spcPct val="115000"/>
                </a:lnSpc>
                <a:spcBef>
                  <a:spcPct val="50000"/>
                </a:spcBef>
              </a:pPr>
              <a:endParaRPr lang="en-US" altLang="zh-CN" sz="2000">
                <a:solidFill>
                  <a:schemeClr val="bg1"/>
                </a:solidFill>
              </a:endParaRPr>
            </a:p>
            <a:p>
              <a:pPr algn="ctr">
                <a:lnSpc>
                  <a:spcPct val="115000"/>
                </a:lnSpc>
                <a:spcBef>
                  <a:spcPct val="50000"/>
                </a:spcBef>
              </a:pPr>
              <a:endParaRPr lang="en-US" altLang="zh-CN" sz="2000">
                <a:solidFill>
                  <a:schemeClr val="bg1"/>
                </a:solidFill>
              </a:endParaRPr>
            </a:p>
            <a:p>
              <a:pPr algn="ctr">
                <a:lnSpc>
                  <a:spcPct val="115000"/>
                </a:lnSpc>
                <a:spcBef>
                  <a:spcPct val="50000"/>
                </a:spcBef>
              </a:pPr>
              <a:endParaRPr lang="en-US" altLang="zh-CN" sz="2000">
                <a:solidFill>
                  <a:schemeClr val="bg1"/>
                </a:solidFill>
              </a:endParaRPr>
            </a:p>
            <a:p>
              <a:pPr algn="ctr">
                <a:lnSpc>
                  <a:spcPct val="115000"/>
                </a:lnSpc>
                <a:spcBef>
                  <a:spcPct val="50000"/>
                </a:spcBef>
              </a:pPr>
              <a:r>
                <a:rPr lang="en-US" altLang="zh-CN" sz="2000">
                  <a:solidFill>
                    <a:schemeClr val="bg1"/>
                  </a:solidFill>
                </a:rPr>
                <a:t>5</a:t>
              </a:r>
            </a:p>
            <a:p>
              <a:pPr algn="ctr">
                <a:lnSpc>
                  <a:spcPct val="115000"/>
                </a:lnSpc>
                <a:spcBef>
                  <a:spcPct val="50000"/>
                </a:spcBef>
              </a:pPr>
              <a:endParaRPr lang="en-US" altLang="zh-CN" sz="2000">
                <a:solidFill>
                  <a:schemeClr val="bg1"/>
                </a:solidFill>
              </a:endParaRPr>
            </a:p>
            <a:p>
              <a:pPr algn="ctr">
                <a:lnSpc>
                  <a:spcPct val="115000"/>
                </a:lnSpc>
                <a:spcBef>
                  <a:spcPct val="50000"/>
                </a:spcBef>
              </a:pPr>
              <a:endParaRPr lang="en-US" altLang="zh-CN" sz="2000">
                <a:solidFill>
                  <a:schemeClr val="bg1"/>
                </a:solidFill>
              </a:endParaRPr>
            </a:p>
            <a:p>
              <a:pPr algn="ctr">
                <a:lnSpc>
                  <a:spcPct val="115000"/>
                </a:lnSpc>
                <a:spcBef>
                  <a:spcPct val="50000"/>
                </a:spcBef>
              </a:pPr>
              <a:endParaRPr lang="en-US" altLang="zh-CN" sz="2000">
                <a:solidFill>
                  <a:schemeClr val="bg1"/>
                </a:solidFill>
              </a:endParaRPr>
            </a:p>
            <a:p>
              <a:pPr algn="ctr">
                <a:lnSpc>
                  <a:spcPct val="115000"/>
                </a:lnSpc>
                <a:spcBef>
                  <a:spcPct val="50000"/>
                </a:spcBef>
              </a:pPr>
              <a:r>
                <a:rPr lang="en-US" altLang="zh-CN" sz="2000">
                  <a:solidFill>
                    <a:schemeClr val="bg1"/>
                  </a:solidFill>
                </a:rPr>
                <a:t>0</a:t>
              </a:r>
            </a:p>
          </p:txBody>
        </p:sp>
        <p:grpSp>
          <p:nvGrpSpPr>
            <p:cNvPr id="7203" name="Group 17"/>
            <p:cNvGrpSpPr>
              <a:grpSpLocks/>
            </p:cNvGrpSpPr>
            <p:nvPr/>
          </p:nvGrpSpPr>
          <p:grpSpPr bwMode="auto">
            <a:xfrm>
              <a:off x="612" y="663"/>
              <a:ext cx="3765" cy="3130"/>
              <a:chOff x="612" y="663"/>
              <a:chExt cx="3765" cy="3130"/>
            </a:xfrm>
          </p:grpSpPr>
          <p:sp>
            <p:nvSpPr>
              <p:cNvPr id="7207" name="Line 18"/>
              <p:cNvSpPr>
                <a:spLocks noChangeShapeType="1"/>
              </p:cNvSpPr>
              <p:nvPr/>
            </p:nvSpPr>
            <p:spPr bwMode="auto">
              <a:xfrm flipV="1">
                <a:off x="612" y="663"/>
                <a:ext cx="0" cy="3129"/>
              </a:xfrm>
              <a:prstGeom prst="line">
                <a:avLst/>
              </a:prstGeom>
              <a:noFill/>
              <a:ln w="28575">
                <a:solidFill>
                  <a:srgbClr val="000000"/>
                </a:solidFill>
                <a:round/>
                <a:headEnd/>
                <a:tailEnd type="triangle" w="med" len="lg"/>
              </a:ln>
              <a:effectLst/>
            </p:spPr>
            <p:txBody>
              <a:bodyPr/>
              <a:lstStyle/>
              <a:p>
                <a:endParaRPr lang="zh-CN" altLang="en-US"/>
              </a:p>
            </p:txBody>
          </p:sp>
          <p:sp>
            <p:nvSpPr>
              <p:cNvPr id="7208" name="Line 19"/>
              <p:cNvSpPr>
                <a:spLocks noChangeShapeType="1"/>
              </p:cNvSpPr>
              <p:nvPr/>
            </p:nvSpPr>
            <p:spPr bwMode="auto">
              <a:xfrm>
                <a:off x="612" y="3793"/>
                <a:ext cx="3765" cy="0"/>
              </a:xfrm>
              <a:prstGeom prst="line">
                <a:avLst/>
              </a:prstGeom>
              <a:noFill/>
              <a:ln w="28575">
                <a:solidFill>
                  <a:srgbClr val="000000"/>
                </a:solidFill>
                <a:round/>
                <a:headEnd/>
                <a:tailEnd type="triangle" w="med" len="lg"/>
              </a:ln>
              <a:effectLst/>
            </p:spPr>
            <p:txBody>
              <a:bodyPr/>
              <a:lstStyle/>
              <a:p>
                <a:endParaRPr lang="zh-CN" altLang="en-US"/>
              </a:p>
            </p:txBody>
          </p:sp>
        </p:grpSp>
        <p:grpSp>
          <p:nvGrpSpPr>
            <p:cNvPr id="7204" name="Group 20"/>
            <p:cNvGrpSpPr>
              <a:grpSpLocks/>
            </p:cNvGrpSpPr>
            <p:nvPr/>
          </p:nvGrpSpPr>
          <p:grpSpPr bwMode="auto">
            <a:xfrm>
              <a:off x="612" y="1298"/>
              <a:ext cx="45" cy="1270"/>
              <a:chOff x="612" y="1298"/>
              <a:chExt cx="91" cy="1270"/>
            </a:xfrm>
          </p:grpSpPr>
          <p:sp>
            <p:nvSpPr>
              <p:cNvPr id="7205" name="Line 21"/>
              <p:cNvSpPr>
                <a:spLocks noChangeShapeType="1"/>
              </p:cNvSpPr>
              <p:nvPr/>
            </p:nvSpPr>
            <p:spPr bwMode="auto">
              <a:xfrm>
                <a:off x="612" y="1298"/>
                <a:ext cx="91" cy="0"/>
              </a:xfrm>
              <a:prstGeom prst="line">
                <a:avLst/>
              </a:prstGeom>
              <a:noFill/>
              <a:ln w="28575">
                <a:solidFill>
                  <a:srgbClr val="000000"/>
                </a:solidFill>
                <a:round/>
                <a:headEnd/>
                <a:tailEnd/>
              </a:ln>
              <a:effectLst/>
            </p:spPr>
            <p:txBody>
              <a:bodyPr/>
              <a:lstStyle/>
              <a:p>
                <a:endParaRPr lang="zh-CN" altLang="en-US"/>
              </a:p>
            </p:txBody>
          </p:sp>
          <p:sp>
            <p:nvSpPr>
              <p:cNvPr id="7206" name="Line 22"/>
              <p:cNvSpPr>
                <a:spLocks noChangeShapeType="1"/>
              </p:cNvSpPr>
              <p:nvPr/>
            </p:nvSpPr>
            <p:spPr bwMode="auto">
              <a:xfrm>
                <a:off x="612" y="2568"/>
                <a:ext cx="91" cy="0"/>
              </a:xfrm>
              <a:prstGeom prst="line">
                <a:avLst/>
              </a:prstGeom>
              <a:noFill/>
              <a:ln w="28575">
                <a:solidFill>
                  <a:srgbClr val="000000"/>
                </a:solidFill>
                <a:round/>
                <a:headEnd/>
                <a:tailEnd/>
              </a:ln>
              <a:effectLst/>
            </p:spPr>
            <p:txBody>
              <a:bodyPr/>
              <a:lstStyle/>
              <a:p>
                <a:endParaRPr lang="zh-CN" altLang="en-US"/>
              </a:p>
            </p:txBody>
          </p:sp>
        </p:grpSp>
      </p:grpSp>
      <p:grpSp>
        <p:nvGrpSpPr>
          <p:cNvPr id="7183" name="Group 23"/>
          <p:cNvGrpSpPr>
            <a:grpSpLocks/>
          </p:cNvGrpSpPr>
          <p:nvPr/>
        </p:nvGrpSpPr>
        <p:grpSpPr bwMode="auto">
          <a:xfrm>
            <a:off x="222250" y="1057275"/>
            <a:ext cx="7840663" cy="5299075"/>
            <a:chOff x="50" y="584"/>
            <a:chExt cx="4939" cy="3338"/>
          </a:xfrm>
        </p:grpSpPr>
        <p:grpSp>
          <p:nvGrpSpPr>
            <p:cNvPr id="7197" name="Group 24"/>
            <p:cNvGrpSpPr>
              <a:grpSpLocks/>
            </p:cNvGrpSpPr>
            <p:nvPr/>
          </p:nvGrpSpPr>
          <p:grpSpPr bwMode="auto">
            <a:xfrm>
              <a:off x="657" y="584"/>
              <a:ext cx="4332" cy="3338"/>
              <a:chOff x="657" y="584"/>
              <a:chExt cx="4332" cy="3338"/>
            </a:xfrm>
          </p:grpSpPr>
          <p:sp>
            <p:nvSpPr>
              <p:cNvPr id="7199" name="Text Box 25"/>
              <p:cNvSpPr txBox="1">
                <a:spLocks noChangeArrowheads="1"/>
              </p:cNvSpPr>
              <p:nvPr/>
            </p:nvSpPr>
            <p:spPr bwMode="auto">
              <a:xfrm>
                <a:off x="657" y="584"/>
                <a:ext cx="1762" cy="250"/>
              </a:xfrm>
              <a:prstGeom prst="rect">
                <a:avLst/>
              </a:prstGeom>
              <a:noFill/>
              <a:ln w="9525">
                <a:noFill/>
                <a:miter lim="800000"/>
                <a:headEnd/>
                <a:tailEnd/>
              </a:ln>
              <a:effectLst/>
            </p:spPr>
            <p:txBody>
              <a:bodyPr wrap="none">
                <a:spAutoFit/>
              </a:bodyPr>
              <a:lstStyle/>
              <a:p>
                <a:r>
                  <a:rPr lang="en-US" altLang="zh-CN" sz="2000" i="1">
                    <a:solidFill>
                      <a:srgbClr val="0000FF"/>
                    </a:solidFill>
                  </a:rPr>
                  <a:t>M</a:t>
                </a:r>
                <a:r>
                  <a:rPr lang="en-US" altLang="zh-CN" sz="2000" i="1" baseline="-22000">
                    <a:solidFill>
                      <a:srgbClr val="0000FF"/>
                    </a:solidFill>
                  </a:rPr>
                  <a:t>B</a:t>
                </a:r>
                <a:r>
                  <a:rPr lang="en-US" altLang="zh-CN" sz="2000" i="1" baseline="-22000">
                    <a:solidFill>
                      <a:srgbClr val="0000FF"/>
                    </a:solidFill>
                    <a:sym typeface="Symbol" pitchFamily="18" charset="2"/>
                  </a:rPr>
                  <a:t> </a:t>
                </a:r>
                <a:r>
                  <a:rPr lang="en-US" altLang="zh-CN" sz="2000">
                    <a:solidFill>
                      <a:srgbClr val="0000FF"/>
                    </a:solidFill>
                    <a:sym typeface="Symbol" pitchFamily="18" charset="2"/>
                  </a:rPr>
                  <a:t>(</a:t>
                </a:r>
                <a:r>
                  <a:rPr lang="en-US" altLang="zh-CN" sz="2000">
                    <a:solidFill>
                      <a:srgbClr val="0000FF"/>
                    </a:solidFill>
                  </a:rPr>
                  <a:t>10</a:t>
                </a:r>
                <a:r>
                  <a:rPr lang="en-US" altLang="zh-CN" sz="2000" baseline="30000">
                    <a:solidFill>
                      <a:srgbClr val="0000FF"/>
                    </a:solidFill>
                  </a:rPr>
                  <a:t>-7</a:t>
                </a:r>
                <a:r>
                  <a:rPr lang="en-US" altLang="zh-CN" sz="2000">
                    <a:solidFill>
                      <a:srgbClr val="0000FF"/>
                    </a:solidFill>
                    <a:sym typeface="Symbol" pitchFamily="18" charset="2"/>
                  </a:rPr>
                  <a:t> </a:t>
                </a:r>
                <a:r>
                  <a:rPr lang="en-US" altLang="zh-CN" sz="2000">
                    <a:solidFill>
                      <a:srgbClr val="0000FF"/>
                    </a:solidFill>
                  </a:rPr>
                  <a:t>×</a:t>
                </a:r>
                <a:r>
                  <a:rPr lang="en-US" altLang="zh-CN" sz="2000">
                    <a:solidFill>
                      <a:srgbClr val="0000FF"/>
                    </a:solidFill>
                    <a:sym typeface="Symbol" pitchFamily="18" charset="2"/>
                  </a:rPr>
                  <a:t> W / m</a:t>
                </a:r>
                <a:r>
                  <a:rPr lang="en-US" altLang="zh-CN" sz="2000" baseline="30000">
                    <a:solidFill>
                      <a:srgbClr val="0000FF"/>
                    </a:solidFill>
                    <a:sym typeface="Symbol" pitchFamily="18" charset="2"/>
                  </a:rPr>
                  <a:t>2 </a:t>
                </a:r>
                <a:r>
                  <a:rPr lang="en-US" altLang="zh-CN" sz="2000" b="1">
                    <a:solidFill>
                      <a:srgbClr val="0000FF"/>
                    </a:solidFill>
                    <a:cs typeface="Times New Roman" pitchFamily="18" charset="0"/>
                    <a:sym typeface="Symbol" pitchFamily="18" charset="2"/>
                  </a:rPr>
                  <a:t>·</a:t>
                </a:r>
                <a:r>
                  <a:rPr lang="en-US" altLang="zh-CN" sz="2000">
                    <a:solidFill>
                      <a:srgbClr val="0000FF"/>
                    </a:solidFill>
                    <a:cs typeface="Times New Roman" pitchFamily="18" charset="0"/>
                    <a:sym typeface="Symbol" pitchFamily="18" charset="2"/>
                  </a:rPr>
                  <a:t> </a:t>
                </a:r>
                <a:r>
                  <a:rPr lang="en-US" altLang="zh-CN" sz="2000">
                    <a:solidFill>
                      <a:srgbClr val="0000FF"/>
                    </a:solidFill>
                    <a:sym typeface="Symbol" pitchFamily="18" charset="2"/>
                  </a:rPr>
                  <a:t>m)</a:t>
                </a:r>
              </a:p>
            </p:txBody>
          </p:sp>
          <p:sp>
            <p:nvSpPr>
              <p:cNvPr id="7200" name="Rectangle 26"/>
              <p:cNvSpPr>
                <a:spLocks noChangeArrowheads="1"/>
              </p:cNvSpPr>
              <p:nvPr/>
            </p:nvSpPr>
            <p:spPr bwMode="auto">
              <a:xfrm>
                <a:off x="4383" y="3672"/>
                <a:ext cx="606" cy="250"/>
              </a:xfrm>
              <a:prstGeom prst="rect">
                <a:avLst/>
              </a:prstGeom>
              <a:noFill/>
              <a:ln w="9525">
                <a:noFill/>
                <a:miter lim="800000"/>
                <a:headEnd/>
                <a:tailEnd/>
              </a:ln>
              <a:effectLst/>
            </p:spPr>
            <p:txBody>
              <a:bodyPr wrap="none">
                <a:spAutoFit/>
              </a:bodyPr>
              <a:lstStyle/>
              <a:p>
                <a:r>
                  <a:rPr lang="en-US" altLang="zh-CN" sz="2000" i="1">
                    <a:solidFill>
                      <a:srgbClr val="0000FF"/>
                    </a:solidFill>
                    <a:sym typeface="Symbol" pitchFamily="18" charset="2"/>
                  </a:rPr>
                  <a:t> </a:t>
                </a:r>
                <a:r>
                  <a:rPr lang="en-US" altLang="zh-CN" sz="2000">
                    <a:solidFill>
                      <a:srgbClr val="0000FF"/>
                    </a:solidFill>
                    <a:sym typeface="Symbol" pitchFamily="18" charset="2"/>
                  </a:rPr>
                  <a:t>( m)</a:t>
                </a:r>
              </a:p>
            </p:txBody>
          </p:sp>
        </p:grpSp>
        <p:sp>
          <p:nvSpPr>
            <p:cNvPr id="7198" name="Text Box 27"/>
            <p:cNvSpPr txBox="1">
              <a:spLocks noChangeArrowheads="1"/>
            </p:cNvSpPr>
            <p:nvPr/>
          </p:nvSpPr>
          <p:spPr bwMode="auto">
            <a:xfrm>
              <a:off x="50" y="803"/>
              <a:ext cx="116" cy="250"/>
            </a:xfrm>
            <a:prstGeom prst="rect">
              <a:avLst/>
            </a:prstGeom>
            <a:noFill/>
            <a:ln w="9525">
              <a:noFill/>
              <a:miter lim="800000"/>
              <a:headEnd/>
              <a:tailEnd/>
            </a:ln>
            <a:effectLst/>
          </p:spPr>
          <p:txBody>
            <a:bodyPr wrap="none">
              <a:spAutoFit/>
            </a:bodyPr>
            <a:lstStyle/>
            <a:p>
              <a:endParaRPr lang="zh-CN" altLang="zh-CN" sz="2000">
                <a:solidFill>
                  <a:srgbClr val="DDDDDD"/>
                </a:solidFill>
              </a:endParaRPr>
            </a:p>
          </p:txBody>
        </p:sp>
      </p:grpSp>
      <p:sp>
        <p:nvSpPr>
          <p:cNvPr id="7184" name="Line 28"/>
          <p:cNvSpPr>
            <a:spLocks noChangeShapeType="1"/>
          </p:cNvSpPr>
          <p:nvPr/>
        </p:nvSpPr>
        <p:spPr bwMode="auto">
          <a:xfrm>
            <a:off x="2224088" y="1844675"/>
            <a:ext cx="0" cy="4321175"/>
          </a:xfrm>
          <a:prstGeom prst="line">
            <a:avLst/>
          </a:prstGeom>
          <a:noFill/>
          <a:ln w="19050">
            <a:solidFill>
              <a:srgbClr val="FF6600"/>
            </a:solidFill>
            <a:prstDash val="dash"/>
            <a:round/>
            <a:headEnd/>
            <a:tailEnd/>
          </a:ln>
          <a:effectLst/>
        </p:spPr>
        <p:txBody>
          <a:bodyPr/>
          <a:lstStyle/>
          <a:p>
            <a:endParaRPr lang="zh-CN" altLang="en-US"/>
          </a:p>
        </p:txBody>
      </p:sp>
      <p:sp>
        <p:nvSpPr>
          <p:cNvPr id="7185" name="Line 29"/>
          <p:cNvSpPr>
            <a:spLocks noChangeShapeType="1"/>
          </p:cNvSpPr>
          <p:nvPr/>
        </p:nvSpPr>
        <p:spPr bwMode="auto">
          <a:xfrm>
            <a:off x="3016250" y="1844675"/>
            <a:ext cx="0" cy="4321175"/>
          </a:xfrm>
          <a:prstGeom prst="line">
            <a:avLst/>
          </a:prstGeom>
          <a:noFill/>
          <a:ln w="19050">
            <a:solidFill>
              <a:srgbClr val="FF6600"/>
            </a:solidFill>
            <a:prstDash val="dash"/>
            <a:round/>
            <a:headEnd/>
            <a:tailEnd/>
          </a:ln>
          <a:effectLst/>
        </p:spPr>
        <p:txBody>
          <a:bodyPr/>
          <a:lstStyle/>
          <a:p>
            <a:endParaRPr lang="zh-CN" altLang="en-US"/>
          </a:p>
        </p:txBody>
      </p:sp>
      <p:sp>
        <p:nvSpPr>
          <p:cNvPr id="7186" name="Text Box 30"/>
          <p:cNvSpPr txBox="1">
            <a:spLocks noChangeArrowheads="1"/>
          </p:cNvSpPr>
          <p:nvPr/>
        </p:nvSpPr>
        <p:spPr bwMode="auto">
          <a:xfrm>
            <a:off x="2151063" y="3332163"/>
            <a:ext cx="981075" cy="366712"/>
          </a:xfrm>
          <a:prstGeom prst="rect">
            <a:avLst/>
          </a:prstGeom>
          <a:noFill/>
          <a:ln w="9525">
            <a:noFill/>
            <a:miter lim="800000"/>
            <a:headEnd/>
            <a:tailEnd/>
          </a:ln>
          <a:effectLst/>
        </p:spPr>
        <p:txBody>
          <a:bodyPr>
            <a:spAutoFit/>
          </a:bodyPr>
          <a:lstStyle/>
          <a:p>
            <a:r>
              <a:rPr lang="zh-CN" altLang="en-US" sz="1800" b="1">
                <a:solidFill>
                  <a:schemeClr val="tx2"/>
                </a:solidFill>
              </a:rPr>
              <a:t>可见光</a:t>
            </a:r>
          </a:p>
        </p:txBody>
      </p:sp>
      <p:sp>
        <p:nvSpPr>
          <p:cNvPr id="7187" name="Text Box 31"/>
          <p:cNvSpPr txBox="1">
            <a:spLocks noChangeArrowheads="1"/>
          </p:cNvSpPr>
          <p:nvPr/>
        </p:nvSpPr>
        <p:spPr bwMode="auto">
          <a:xfrm>
            <a:off x="3211513" y="1463675"/>
            <a:ext cx="184150" cy="214313"/>
          </a:xfrm>
          <a:prstGeom prst="rect">
            <a:avLst/>
          </a:prstGeom>
          <a:noFill/>
          <a:ln w="9525">
            <a:noFill/>
            <a:miter lim="800000"/>
            <a:headEnd/>
            <a:tailEnd/>
          </a:ln>
          <a:effectLst/>
        </p:spPr>
        <p:txBody>
          <a:bodyPr wrap="none">
            <a:spAutoFit/>
          </a:bodyPr>
          <a:lstStyle/>
          <a:p>
            <a:endParaRPr lang="zh-CN" altLang="zh-CN" sz="800"/>
          </a:p>
        </p:txBody>
      </p:sp>
      <p:sp>
        <p:nvSpPr>
          <p:cNvPr id="98336" name="Text Box 32"/>
          <p:cNvSpPr txBox="1">
            <a:spLocks noChangeArrowheads="1"/>
          </p:cNvSpPr>
          <p:nvPr/>
        </p:nvSpPr>
        <p:spPr bwMode="auto">
          <a:xfrm>
            <a:off x="3016250" y="4446588"/>
            <a:ext cx="819150" cy="366712"/>
          </a:xfrm>
          <a:prstGeom prst="rect">
            <a:avLst/>
          </a:prstGeom>
          <a:noFill/>
          <a:ln w="9525">
            <a:noFill/>
            <a:miter lim="800000"/>
            <a:headEnd/>
            <a:tailEnd/>
          </a:ln>
          <a:effectLst/>
        </p:spPr>
        <p:txBody>
          <a:bodyPr wrap="none">
            <a:spAutoFit/>
          </a:bodyPr>
          <a:lstStyle/>
          <a:p>
            <a:r>
              <a:rPr lang="en-US" altLang="zh-CN" sz="1800" b="1">
                <a:solidFill>
                  <a:schemeClr val="bg1"/>
                </a:solidFill>
              </a:rPr>
              <a:t>5000K</a:t>
            </a:r>
          </a:p>
        </p:txBody>
      </p:sp>
      <p:sp>
        <p:nvSpPr>
          <p:cNvPr id="98337" name="Text Box 33"/>
          <p:cNvSpPr txBox="1">
            <a:spLocks noChangeArrowheads="1"/>
          </p:cNvSpPr>
          <p:nvPr/>
        </p:nvSpPr>
        <p:spPr bwMode="auto">
          <a:xfrm>
            <a:off x="3059113" y="2732088"/>
            <a:ext cx="819150" cy="366712"/>
          </a:xfrm>
          <a:prstGeom prst="rect">
            <a:avLst/>
          </a:prstGeom>
          <a:noFill/>
          <a:ln w="9525">
            <a:noFill/>
            <a:miter lim="800000"/>
            <a:headEnd/>
            <a:tailEnd/>
          </a:ln>
          <a:effectLst/>
        </p:spPr>
        <p:txBody>
          <a:bodyPr wrap="none">
            <a:spAutoFit/>
          </a:bodyPr>
          <a:lstStyle/>
          <a:p>
            <a:r>
              <a:rPr lang="en-US" altLang="zh-CN" sz="1800" b="1">
                <a:solidFill>
                  <a:schemeClr val="bg1"/>
                </a:solidFill>
              </a:rPr>
              <a:t>6000K</a:t>
            </a:r>
          </a:p>
        </p:txBody>
      </p:sp>
      <p:sp>
        <p:nvSpPr>
          <p:cNvPr id="98338" name="Line 34"/>
          <p:cNvSpPr>
            <a:spLocks noChangeShapeType="1"/>
          </p:cNvSpPr>
          <p:nvPr/>
        </p:nvSpPr>
        <p:spPr bwMode="auto">
          <a:xfrm>
            <a:off x="4284663" y="5949950"/>
            <a:ext cx="0" cy="217488"/>
          </a:xfrm>
          <a:prstGeom prst="line">
            <a:avLst/>
          </a:prstGeom>
          <a:noFill/>
          <a:ln w="19050">
            <a:solidFill>
              <a:srgbClr val="00FF00"/>
            </a:solidFill>
            <a:prstDash val="dash"/>
            <a:round/>
            <a:headEnd/>
            <a:tailEnd/>
          </a:ln>
          <a:effectLst/>
        </p:spPr>
        <p:txBody>
          <a:bodyPr/>
          <a:lstStyle/>
          <a:p>
            <a:endParaRPr lang="zh-CN" altLang="en-US"/>
          </a:p>
        </p:txBody>
      </p:sp>
      <p:sp>
        <p:nvSpPr>
          <p:cNvPr id="98339" name="Line 35"/>
          <p:cNvSpPr>
            <a:spLocks noChangeShapeType="1"/>
          </p:cNvSpPr>
          <p:nvPr/>
        </p:nvSpPr>
        <p:spPr bwMode="auto">
          <a:xfrm>
            <a:off x="2733675" y="4581525"/>
            <a:ext cx="0" cy="1584325"/>
          </a:xfrm>
          <a:prstGeom prst="line">
            <a:avLst/>
          </a:prstGeom>
          <a:noFill/>
          <a:ln w="9525">
            <a:solidFill>
              <a:srgbClr val="00FF00"/>
            </a:solidFill>
            <a:prstDash val="lgDash"/>
            <a:round/>
            <a:headEnd/>
            <a:tailEnd/>
          </a:ln>
          <a:effectLst/>
        </p:spPr>
        <p:txBody>
          <a:bodyPr/>
          <a:lstStyle/>
          <a:p>
            <a:endParaRPr lang="zh-CN" altLang="en-US"/>
          </a:p>
        </p:txBody>
      </p:sp>
      <p:sp>
        <p:nvSpPr>
          <p:cNvPr id="98340" name="Line 36"/>
          <p:cNvSpPr>
            <a:spLocks noChangeShapeType="1"/>
          </p:cNvSpPr>
          <p:nvPr/>
        </p:nvSpPr>
        <p:spPr bwMode="auto">
          <a:xfrm>
            <a:off x="2484438" y="2276475"/>
            <a:ext cx="0" cy="3889375"/>
          </a:xfrm>
          <a:prstGeom prst="line">
            <a:avLst/>
          </a:prstGeom>
          <a:noFill/>
          <a:ln w="19050">
            <a:solidFill>
              <a:srgbClr val="00FF00"/>
            </a:solidFill>
            <a:prstDash val="lgDash"/>
            <a:round/>
            <a:headEnd/>
            <a:tailEnd/>
          </a:ln>
          <a:effectLst/>
        </p:spPr>
        <p:txBody>
          <a:bodyPr/>
          <a:lstStyle/>
          <a:p>
            <a:endParaRPr lang="zh-CN" altLang="en-US"/>
          </a:p>
        </p:txBody>
      </p:sp>
      <p:sp>
        <p:nvSpPr>
          <p:cNvPr id="98341" name="Text Box 37"/>
          <p:cNvSpPr txBox="1">
            <a:spLocks noChangeArrowheads="1"/>
          </p:cNvSpPr>
          <p:nvPr/>
        </p:nvSpPr>
        <p:spPr bwMode="auto">
          <a:xfrm>
            <a:off x="2871788" y="5670550"/>
            <a:ext cx="819150" cy="366713"/>
          </a:xfrm>
          <a:prstGeom prst="rect">
            <a:avLst/>
          </a:prstGeom>
          <a:noFill/>
          <a:ln w="9525">
            <a:noFill/>
            <a:miter lim="800000"/>
            <a:headEnd/>
            <a:tailEnd/>
          </a:ln>
          <a:effectLst/>
        </p:spPr>
        <p:txBody>
          <a:bodyPr wrap="none">
            <a:spAutoFit/>
          </a:bodyPr>
          <a:lstStyle/>
          <a:p>
            <a:r>
              <a:rPr lang="en-US" altLang="zh-CN" sz="1800" b="1">
                <a:solidFill>
                  <a:schemeClr val="bg1"/>
                </a:solidFill>
              </a:rPr>
              <a:t>3000K</a:t>
            </a:r>
          </a:p>
        </p:txBody>
      </p:sp>
      <p:sp>
        <p:nvSpPr>
          <p:cNvPr id="98342" name="Text Box 38"/>
          <p:cNvSpPr txBox="1">
            <a:spLocks noChangeArrowheads="1"/>
          </p:cNvSpPr>
          <p:nvPr/>
        </p:nvSpPr>
        <p:spPr bwMode="auto">
          <a:xfrm>
            <a:off x="2943225" y="5311775"/>
            <a:ext cx="819150" cy="366713"/>
          </a:xfrm>
          <a:prstGeom prst="rect">
            <a:avLst/>
          </a:prstGeom>
          <a:noFill/>
          <a:ln w="9525">
            <a:noFill/>
            <a:miter lim="800000"/>
            <a:headEnd/>
            <a:tailEnd/>
          </a:ln>
          <a:effectLst/>
        </p:spPr>
        <p:txBody>
          <a:bodyPr wrap="none">
            <a:spAutoFit/>
          </a:bodyPr>
          <a:lstStyle/>
          <a:p>
            <a:r>
              <a:rPr lang="en-US" altLang="zh-CN" sz="1800" b="1">
                <a:solidFill>
                  <a:schemeClr val="bg1"/>
                </a:solidFill>
              </a:rPr>
              <a:t>4000K</a:t>
            </a:r>
          </a:p>
        </p:txBody>
      </p:sp>
      <p:sp>
        <p:nvSpPr>
          <p:cNvPr id="98343" name="Line 39"/>
          <p:cNvSpPr>
            <a:spLocks noChangeShapeType="1"/>
          </p:cNvSpPr>
          <p:nvPr/>
        </p:nvSpPr>
        <p:spPr bwMode="auto">
          <a:xfrm>
            <a:off x="3348038" y="5661025"/>
            <a:ext cx="0" cy="504825"/>
          </a:xfrm>
          <a:prstGeom prst="line">
            <a:avLst/>
          </a:prstGeom>
          <a:noFill/>
          <a:ln w="19050">
            <a:solidFill>
              <a:srgbClr val="00FF00"/>
            </a:solidFill>
            <a:prstDash val="dash"/>
            <a:round/>
            <a:headEnd/>
            <a:tailEnd/>
          </a:ln>
          <a:effectLst/>
        </p:spPr>
        <p:txBody>
          <a:bodyPr/>
          <a:lstStyle/>
          <a:p>
            <a:endParaRPr lang="zh-CN" altLang="en-US"/>
          </a:p>
        </p:txBody>
      </p:sp>
      <p:sp>
        <p:nvSpPr>
          <p:cNvPr id="98344" name="Rectangle 40"/>
          <p:cNvSpPr>
            <a:spLocks noChangeArrowheads="1"/>
          </p:cNvSpPr>
          <p:nvPr/>
        </p:nvSpPr>
        <p:spPr bwMode="auto">
          <a:xfrm>
            <a:off x="431800" y="414338"/>
            <a:ext cx="3509963" cy="549275"/>
          </a:xfrm>
          <a:prstGeom prst="rect">
            <a:avLst/>
          </a:prstGeom>
          <a:noFill/>
          <a:ln w="9525">
            <a:noFill/>
            <a:miter lim="800000"/>
            <a:headEnd/>
            <a:tailEnd/>
          </a:ln>
          <a:effectLst/>
        </p:spPr>
        <p:txBody>
          <a:bodyPr>
            <a:spAutoFit/>
          </a:bodyPr>
          <a:lstStyle/>
          <a:p>
            <a:pPr>
              <a:lnSpc>
                <a:spcPct val="125000"/>
              </a:lnSpc>
            </a:pPr>
            <a:r>
              <a:rPr lang="zh-CN" altLang="en-US" b="1">
                <a:solidFill>
                  <a:schemeClr val="tx2"/>
                </a:solidFill>
                <a:latin typeface="宋体" charset="-122"/>
              </a:rPr>
              <a:t>黑体辐射定律：</a:t>
            </a:r>
            <a:endParaRPr lang="zh-CN" altLang="en-US" b="1">
              <a:solidFill>
                <a:schemeClr val="bg1"/>
              </a:solidFill>
              <a:latin typeface="宋体" charset="-122"/>
            </a:endParaRP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8344"/>
                                        </p:tgtEl>
                                        <p:attrNameLst>
                                          <p:attrName>style.visibility</p:attrName>
                                        </p:attrNameLst>
                                      </p:cBhvr>
                                      <p:to>
                                        <p:strVal val="visible"/>
                                      </p:to>
                                    </p:set>
                                    <p:animEffect transition="in" filter="wipe(left)">
                                      <p:cBhvr>
                                        <p:cTn id="7" dur="500"/>
                                        <p:tgtEl>
                                          <p:spTgt spid="983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8307"/>
                                        </p:tgtEl>
                                        <p:attrNameLst>
                                          <p:attrName>style.visibility</p:attrName>
                                        </p:attrNameLst>
                                      </p:cBhvr>
                                      <p:to>
                                        <p:strVal val="visible"/>
                                      </p:to>
                                    </p:set>
                                    <p:animEffect transition="in" filter="wipe(left)">
                                      <p:cBhvr>
                                        <p:cTn id="12" dur="500"/>
                                        <p:tgtEl>
                                          <p:spTgt spid="983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8308"/>
                                        </p:tgtEl>
                                        <p:attrNameLst>
                                          <p:attrName>style.visibility</p:attrName>
                                        </p:attrNameLst>
                                      </p:cBhvr>
                                      <p:to>
                                        <p:strVal val="visible"/>
                                      </p:to>
                                    </p:set>
                                    <p:animEffect transition="in" filter="wipe(left)">
                                      <p:cBhvr>
                                        <p:cTn id="17" dur="500"/>
                                        <p:tgtEl>
                                          <p:spTgt spid="98308"/>
                                        </p:tgtEl>
                                      </p:cBhvr>
                                    </p:animEffect>
                                  </p:childTnLst>
                                </p:cTn>
                              </p:par>
                            </p:childTnLst>
                          </p:cTn>
                        </p:par>
                        <p:par>
                          <p:cTn id="18" fill="hold" nodeType="afterGroup">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98310"/>
                                        </p:tgtEl>
                                        <p:attrNameLst>
                                          <p:attrName>style.visibility</p:attrName>
                                        </p:attrNameLst>
                                      </p:cBhvr>
                                      <p:to>
                                        <p:strVal val="visible"/>
                                      </p:to>
                                    </p:set>
                                  </p:childTnLst>
                                </p:cTn>
                              </p:par>
                            </p:childTnLst>
                          </p:cTn>
                        </p:par>
                        <p:par>
                          <p:cTn id="21" fill="hold" nodeType="afterGroup">
                            <p:stCondLst>
                              <p:cond delay="1000"/>
                            </p:stCondLst>
                            <p:childTnLst>
                              <p:par>
                                <p:cTn id="22" presetID="1" presetClass="entr" presetSubtype="0" fill="hold" nodeType="afterEffect">
                                  <p:stCondLst>
                                    <p:cond delay="0"/>
                                  </p:stCondLst>
                                  <p:childTnLst>
                                    <p:set>
                                      <p:cBhvr>
                                        <p:cTn id="23" dur="1" fill="hold">
                                          <p:stCondLst>
                                            <p:cond delay="499"/>
                                          </p:stCondLst>
                                        </p:cTn>
                                        <p:tgtEl>
                                          <p:spTgt spid="98309"/>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98311"/>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8313"/>
                                        </p:tgtEl>
                                        <p:attrNameLst>
                                          <p:attrName>style.visibility</p:attrName>
                                        </p:attrNameLst>
                                      </p:cBhvr>
                                      <p:to>
                                        <p:strVal val="visible"/>
                                      </p:to>
                                    </p:set>
                                    <p:animEffect transition="in" filter="wipe(left)">
                                      <p:cBhvr>
                                        <p:cTn id="32" dur="500"/>
                                        <p:tgtEl>
                                          <p:spTgt spid="9831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8314"/>
                                        </p:tgtEl>
                                        <p:attrNameLst>
                                          <p:attrName>style.visibility</p:attrName>
                                        </p:attrNameLst>
                                      </p:cBhvr>
                                      <p:to>
                                        <p:strVal val="visible"/>
                                      </p:to>
                                    </p:set>
                                    <p:animEffect transition="in" filter="wipe(left)">
                                      <p:cBhvr>
                                        <p:cTn id="37" dur="500"/>
                                        <p:tgtEl>
                                          <p:spTgt spid="9831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8312"/>
                                        </p:tgtEl>
                                        <p:attrNameLst>
                                          <p:attrName>style.visibility</p:attrName>
                                        </p:attrNameLst>
                                      </p:cBhvr>
                                      <p:to>
                                        <p:strVal val="visible"/>
                                      </p:to>
                                    </p:set>
                                    <p:animEffect transition="in" filter="wipe(left)">
                                      <p:cBhvr>
                                        <p:cTn id="42" dur="500"/>
                                        <p:tgtEl>
                                          <p:spTgt spid="983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2" fill="hold" grpId="0" nodeType="clickEffect">
                                  <p:stCondLst>
                                    <p:cond delay="0"/>
                                  </p:stCondLst>
                                  <p:childTnLst>
                                    <p:set>
                                      <p:cBhvr>
                                        <p:cTn id="46" dur="1" fill="hold">
                                          <p:stCondLst>
                                            <p:cond delay="0"/>
                                          </p:stCondLst>
                                        </p:cTn>
                                        <p:tgtEl>
                                          <p:spTgt spid="98317"/>
                                        </p:tgtEl>
                                        <p:attrNameLst>
                                          <p:attrName>style.visibility</p:attrName>
                                        </p:attrNameLst>
                                      </p:cBhvr>
                                      <p:to>
                                        <p:strVal val="visible"/>
                                      </p:to>
                                    </p:set>
                                    <p:animEffect transition="in" filter="wipe(right)">
                                      <p:cBhvr>
                                        <p:cTn id="47" dur="1000"/>
                                        <p:tgtEl>
                                          <p:spTgt spid="98317"/>
                                        </p:tgtEl>
                                      </p:cBhvr>
                                    </p:animEffect>
                                  </p:childTnLst>
                                </p:cTn>
                              </p:par>
                            </p:childTnLst>
                          </p:cTn>
                        </p:par>
                        <p:par>
                          <p:cTn id="48" fill="hold" nodeType="afterGroup">
                            <p:stCondLst>
                              <p:cond delay="1000"/>
                            </p:stCondLst>
                            <p:childTnLst>
                              <p:par>
                                <p:cTn id="49" presetID="9" presetClass="entr" presetSubtype="0" fill="hold" grpId="0" nodeType="afterEffect">
                                  <p:stCondLst>
                                    <p:cond delay="0"/>
                                  </p:stCondLst>
                                  <p:childTnLst>
                                    <p:set>
                                      <p:cBhvr>
                                        <p:cTn id="50" dur="1" fill="hold">
                                          <p:stCondLst>
                                            <p:cond delay="0"/>
                                          </p:stCondLst>
                                        </p:cTn>
                                        <p:tgtEl>
                                          <p:spTgt spid="98341"/>
                                        </p:tgtEl>
                                        <p:attrNameLst>
                                          <p:attrName>style.visibility</p:attrName>
                                        </p:attrNameLst>
                                      </p:cBhvr>
                                      <p:to>
                                        <p:strVal val="visible"/>
                                      </p:to>
                                    </p:set>
                                    <p:animEffect transition="in" filter="dissolve">
                                      <p:cBhvr>
                                        <p:cTn id="51" dur="500"/>
                                        <p:tgtEl>
                                          <p:spTgt spid="9834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2" fill="hold" grpId="0" nodeType="clickEffect">
                                  <p:stCondLst>
                                    <p:cond delay="0"/>
                                  </p:stCondLst>
                                  <p:childTnLst>
                                    <p:set>
                                      <p:cBhvr>
                                        <p:cTn id="55" dur="1" fill="hold">
                                          <p:stCondLst>
                                            <p:cond delay="0"/>
                                          </p:stCondLst>
                                        </p:cTn>
                                        <p:tgtEl>
                                          <p:spTgt spid="98316"/>
                                        </p:tgtEl>
                                        <p:attrNameLst>
                                          <p:attrName>style.visibility</p:attrName>
                                        </p:attrNameLst>
                                      </p:cBhvr>
                                      <p:to>
                                        <p:strVal val="visible"/>
                                      </p:to>
                                    </p:set>
                                    <p:animEffect transition="in" filter="wipe(right)">
                                      <p:cBhvr>
                                        <p:cTn id="56" dur="1000"/>
                                        <p:tgtEl>
                                          <p:spTgt spid="98316"/>
                                        </p:tgtEl>
                                      </p:cBhvr>
                                    </p:animEffect>
                                  </p:childTnLst>
                                </p:cTn>
                              </p:par>
                            </p:childTnLst>
                          </p:cTn>
                        </p:par>
                        <p:par>
                          <p:cTn id="57" fill="hold" nodeType="afterGroup">
                            <p:stCondLst>
                              <p:cond delay="1000"/>
                            </p:stCondLst>
                            <p:childTnLst>
                              <p:par>
                                <p:cTn id="58" presetID="9" presetClass="entr" presetSubtype="0" fill="hold" nodeType="afterEffect">
                                  <p:stCondLst>
                                    <p:cond delay="0"/>
                                  </p:stCondLst>
                                  <p:childTnLst>
                                    <p:set>
                                      <p:cBhvr>
                                        <p:cTn id="59" dur="1" fill="hold">
                                          <p:stCondLst>
                                            <p:cond delay="0"/>
                                          </p:stCondLst>
                                        </p:cTn>
                                        <p:tgtEl>
                                          <p:spTgt spid="98342"/>
                                        </p:tgtEl>
                                        <p:attrNameLst>
                                          <p:attrName>style.visibility</p:attrName>
                                        </p:attrNameLst>
                                      </p:cBhvr>
                                      <p:to>
                                        <p:strVal val="visible"/>
                                      </p:to>
                                    </p:set>
                                    <p:animEffect transition="in" filter="dissolve">
                                      <p:cBhvr>
                                        <p:cTn id="60" dur="500"/>
                                        <p:tgtEl>
                                          <p:spTgt spid="9834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2" fill="hold" grpId="0" nodeType="clickEffect">
                                  <p:stCondLst>
                                    <p:cond delay="0"/>
                                  </p:stCondLst>
                                  <p:childTnLst>
                                    <p:set>
                                      <p:cBhvr>
                                        <p:cTn id="64" dur="1" fill="hold">
                                          <p:stCondLst>
                                            <p:cond delay="0"/>
                                          </p:stCondLst>
                                        </p:cTn>
                                        <p:tgtEl>
                                          <p:spTgt spid="98315"/>
                                        </p:tgtEl>
                                        <p:attrNameLst>
                                          <p:attrName>style.visibility</p:attrName>
                                        </p:attrNameLst>
                                      </p:cBhvr>
                                      <p:to>
                                        <p:strVal val="visible"/>
                                      </p:to>
                                    </p:set>
                                    <p:animEffect transition="in" filter="wipe(right)">
                                      <p:cBhvr>
                                        <p:cTn id="65" dur="2000"/>
                                        <p:tgtEl>
                                          <p:spTgt spid="98315"/>
                                        </p:tgtEl>
                                      </p:cBhvr>
                                    </p:animEffect>
                                  </p:childTnLst>
                                </p:cTn>
                              </p:par>
                              <p:par>
                                <p:cTn id="66" presetID="9" presetClass="entr" presetSubtype="0" fill="hold" grpId="0" nodeType="withEffect">
                                  <p:stCondLst>
                                    <p:cond delay="500"/>
                                  </p:stCondLst>
                                  <p:childTnLst>
                                    <p:set>
                                      <p:cBhvr>
                                        <p:cTn id="67" dur="1" fill="hold">
                                          <p:stCondLst>
                                            <p:cond delay="0"/>
                                          </p:stCondLst>
                                        </p:cTn>
                                        <p:tgtEl>
                                          <p:spTgt spid="98336"/>
                                        </p:tgtEl>
                                        <p:attrNameLst>
                                          <p:attrName>style.visibility</p:attrName>
                                        </p:attrNameLst>
                                      </p:cBhvr>
                                      <p:to>
                                        <p:strVal val="visible"/>
                                      </p:to>
                                    </p:set>
                                    <p:animEffect transition="in" filter="dissolve">
                                      <p:cBhvr>
                                        <p:cTn id="68" dur="1000"/>
                                        <p:tgtEl>
                                          <p:spTgt spid="9833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2" fill="hold" grpId="0" nodeType="clickEffect">
                                  <p:stCondLst>
                                    <p:cond delay="0"/>
                                  </p:stCondLst>
                                  <p:childTnLst>
                                    <p:set>
                                      <p:cBhvr>
                                        <p:cTn id="72" dur="1" fill="hold">
                                          <p:stCondLst>
                                            <p:cond delay="0"/>
                                          </p:stCondLst>
                                        </p:cTn>
                                        <p:tgtEl>
                                          <p:spTgt spid="98306"/>
                                        </p:tgtEl>
                                        <p:attrNameLst>
                                          <p:attrName>style.visibility</p:attrName>
                                        </p:attrNameLst>
                                      </p:cBhvr>
                                      <p:to>
                                        <p:strVal val="visible"/>
                                      </p:to>
                                    </p:set>
                                    <p:animEffect transition="in" filter="wipe(right)">
                                      <p:cBhvr>
                                        <p:cTn id="73" dur="2000"/>
                                        <p:tgtEl>
                                          <p:spTgt spid="98306"/>
                                        </p:tgtEl>
                                      </p:cBhvr>
                                    </p:animEffect>
                                  </p:childTnLst>
                                </p:cTn>
                              </p:par>
                              <p:par>
                                <p:cTn id="74" presetID="9" presetClass="entr" presetSubtype="0" fill="hold" grpId="0" nodeType="withEffect">
                                  <p:stCondLst>
                                    <p:cond delay="500"/>
                                  </p:stCondLst>
                                  <p:childTnLst>
                                    <p:set>
                                      <p:cBhvr>
                                        <p:cTn id="75" dur="1" fill="hold">
                                          <p:stCondLst>
                                            <p:cond delay="0"/>
                                          </p:stCondLst>
                                        </p:cTn>
                                        <p:tgtEl>
                                          <p:spTgt spid="98337"/>
                                        </p:tgtEl>
                                        <p:attrNameLst>
                                          <p:attrName>style.visibility</p:attrName>
                                        </p:attrNameLst>
                                      </p:cBhvr>
                                      <p:to>
                                        <p:strVal val="visible"/>
                                      </p:to>
                                    </p:set>
                                    <p:animEffect transition="in" filter="dissolve">
                                      <p:cBhvr>
                                        <p:cTn id="76" dur="1000"/>
                                        <p:tgtEl>
                                          <p:spTgt spid="98337"/>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9" presetClass="entr" presetSubtype="0" fill="hold" grpId="0" nodeType="clickEffect">
                                  <p:stCondLst>
                                    <p:cond delay="0"/>
                                  </p:stCondLst>
                                  <p:childTnLst>
                                    <p:set>
                                      <p:cBhvr>
                                        <p:cTn id="80" dur="1" fill="hold">
                                          <p:stCondLst>
                                            <p:cond delay="0"/>
                                          </p:stCondLst>
                                        </p:cTn>
                                        <p:tgtEl>
                                          <p:spTgt spid="98338"/>
                                        </p:tgtEl>
                                        <p:attrNameLst>
                                          <p:attrName>style.visibility</p:attrName>
                                        </p:attrNameLst>
                                      </p:cBhvr>
                                      <p:to>
                                        <p:strVal val="visible"/>
                                      </p:to>
                                    </p:set>
                                    <p:animEffect transition="in" filter="dissolve">
                                      <p:cBhvr>
                                        <p:cTn id="81" dur="500"/>
                                        <p:tgtEl>
                                          <p:spTgt spid="98338"/>
                                        </p:tgtEl>
                                      </p:cBhvr>
                                    </p:animEffect>
                                  </p:childTnLst>
                                </p:cTn>
                              </p:par>
                            </p:childTnLst>
                          </p:cTn>
                        </p:par>
                        <p:par>
                          <p:cTn id="82" fill="hold" nodeType="afterGroup">
                            <p:stCondLst>
                              <p:cond delay="500"/>
                            </p:stCondLst>
                            <p:childTnLst>
                              <p:par>
                                <p:cTn id="83" presetID="9" presetClass="entr" presetSubtype="0" fill="hold" grpId="0" nodeType="afterEffect">
                                  <p:stCondLst>
                                    <p:cond delay="0"/>
                                  </p:stCondLst>
                                  <p:childTnLst>
                                    <p:set>
                                      <p:cBhvr>
                                        <p:cTn id="84" dur="1" fill="hold">
                                          <p:stCondLst>
                                            <p:cond delay="0"/>
                                          </p:stCondLst>
                                        </p:cTn>
                                        <p:tgtEl>
                                          <p:spTgt spid="98343"/>
                                        </p:tgtEl>
                                        <p:attrNameLst>
                                          <p:attrName>style.visibility</p:attrName>
                                        </p:attrNameLst>
                                      </p:cBhvr>
                                      <p:to>
                                        <p:strVal val="visible"/>
                                      </p:to>
                                    </p:set>
                                    <p:animEffect transition="in" filter="dissolve">
                                      <p:cBhvr>
                                        <p:cTn id="85" dur="500"/>
                                        <p:tgtEl>
                                          <p:spTgt spid="98343"/>
                                        </p:tgtEl>
                                      </p:cBhvr>
                                    </p:animEffect>
                                  </p:childTnLst>
                                </p:cTn>
                              </p:par>
                            </p:childTnLst>
                          </p:cTn>
                        </p:par>
                        <p:par>
                          <p:cTn id="86" fill="hold" nodeType="afterGroup">
                            <p:stCondLst>
                              <p:cond delay="1000"/>
                            </p:stCondLst>
                            <p:childTnLst>
                              <p:par>
                                <p:cTn id="87" presetID="9" presetClass="entr" presetSubtype="0" fill="hold" grpId="0" nodeType="afterEffect">
                                  <p:stCondLst>
                                    <p:cond delay="0"/>
                                  </p:stCondLst>
                                  <p:childTnLst>
                                    <p:set>
                                      <p:cBhvr>
                                        <p:cTn id="88" dur="1" fill="hold">
                                          <p:stCondLst>
                                            <p:cond delay="0"/>
                                          </p:stCondLst>
                                        </p:cTn>
                                        <p:tgtEl>
                                          <p:spTgt spid="98339"/>
                                        </p:tgtEl>
                                        <p:attrNameLst>
                                          <p:attrName>style.visibility</p:attrName>
                                        </p:attrNameLst>
                                      </p:cBhvr>
                                      <p:to>
                                        <p:strVal val="visible"/>
                                      </p:to>
                                    </p:set>
                                    <p:animEffect transition="in" filter="dissolve">
                                      <p:cBhvr>
                                        <p:cTn id="89" dur="500"/>
                                        <p:tgtEl>
                                          <p:spTgt spid="98339"/>
                                        </p:tgtEl>
                                      </p:cBhvr>
                                    </p:animEffect>
                                  </p:childTnLst>
                                </p:cTn>
                              </p:par>
                            </p:childTnLst>
                          </p:cTn>
                        </p:par>
                        <p:par>
                          <p:cTn id="90" fill="hold" nodeType="afterGroup">
                            <p:stCondLst>
                              <p:cond delay="1500"/>
                            </p:stCondLst>
                            <p:childTnLst>
                              <p:par>
                                <p:cTn id="91" presetID="9" presetClass="entr" presetSubtype="0" fill="hold" grpId="0" nodeType="afterEffect">
                                  <p:stCondLst>
                                    <p:cond delay="0"/>
                                  </p:stCondLst>
                                  <p:childTnLst>
                                    <p:set>
                                      <p:cBhvr>
                                        <p:cTn id="92" dur="1" fill="hold">
                                          <p:stCondLst>
                                            <p:cond delay="0"/>
                                          </p:stCondLst>
                                        </p:cTn>
                                        <p:tgtEl>
                                          <p:spTgt spid="98340"/>
                                        </p:tgtEl>
                                        <p:attrNameLst>
                                          <p:attrName>style.visibility</p:attrName>
                                        </p:attrNameLst>
                                      </p:cBhvr>
                                      <p:to>
                                        <p:strVal val="visible"/>
                                      </p:to>
                                    </p:set>
                                    <p:animEffect transition="in" filter="dissolve">
                                      <p:cBhvr>
                                        <p:cTn id="93" dur="500"/>
                                        <p:tgtEl>
                                          <p:spTgt spid="98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animBg="1"/>
      <p:bldP spid="98307" grpId="0"/>
      <p:bldP spid="98310" grpId="0" autoUpdateAnimBg="0"/>
      <p:bldP spid="98311" grpId="0" autoUpdateAnimBg="0"/>
      <p:bldP spid="98313" grpId="0" autoUpdateAnimBg="0"/>
      <p:bldP spid="98314" grpId="0" autoUpdateAnimBg="0"/>
      <p:bldP spid="98315" grpId="0" animBg="1"/>
      <p:bldP spid="98316" grpId="0" animBg="1"/>
      <p:bldP spid="98317" grpId="0" animBg="1"/>
      <p:bldP spid="98336" grpId="0"/>
      <p:bldP spid="98337" grpId="0"/>
      <p:bldP spid="98338" grpId="0" animBg="1"/>
      <p:bldP spid="98339" grpId="0" animBg="1"/>
      <p:bldP spid="98340" grpId="0" animBg="1"/>
      <p:bldP spid="98341" grpId="0"/>
      <p:bldP spid="98343" grpId="0" animBg="1"/>
      <p:bldP spid="98344"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684213" y="2259013"/>
            <a:ext cx="4383087" cy="822325"/>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由维恩位移定律，得太阳表面温度：</a:t>
            </a:r>
          </a:p>
        </p:txBody>
      </p:sp>
      <p:pic>
        <p:nvPicPr>
          <p:cNvPr id="99332" name="Picture 4" descr="太阳（温度）"/>
          <p:cNvPicPr>
            <a:picLocks noChangeAspect="1" noChangeArrowheads="1"/>
          </p:cNvPicPr>
          <p:nvPr/>
        </p:nvPicPr>
        <p:blipFill>
          <a:blip r:embed="rId4">
            <a:clrChange>
              <a:clrFrom>
                <a:srgbClr val="326699"/>
              </a:clrFrom>
              <a:clrTo>
                <a:srgbClr val="326699">
                  <a:alpha val="0"/>
                </a:srgbClr>
              </a:clrTo>
            </a:clrChange>
            <a:lum bright="-78000"/>
          </a:blip>
          <a:srcRect/>
          <a:stretch>
            <a:fillRect/>
          </a:stretch>
        </p:blipFill>
        <p:spPr bwMode="auto">
          <a:xfrm>
            <a:off x="5292725" y="638175"/>
            <a:ext cx="3240088" cy="1876425"/>
          </a:xfrm>
          <a:prstGeom prst="rect">
            <a:avLst/>
          </a:prstGeom>
          <a:noFill/>
          <a:ln w="9525">
            <a:noFill/>
            <a:miter lim="800000"/>
            <a:headEnd/>
            <a:tailEnd/>
          </a:ln>
        </p:spPr>
      </p:pic>
      <p:graphicFrame>
        <p:nvGraphicFramePr>
          <p:cNvPr id="99335" name="Object 7"/>
          <p:cNvGraphicFramePr>
            <a:graphicFrameLocks noChangeAspect="1"/>
          </p:cNvGraphicFramePr>
          <p:nvPr/>
        </p:nvGraphicFramePr>
        <p:xfrm>
          <a:off x="5967413" y="2484438"/>
          <a:ext cx="403225" cy="384175"/>
        </p:xfrm>
        <a:graphic>
          <a:graphicData uri="http://schemas.openxmlformats.org/presentationml/2006/ole">
            <p:oleObj spid="_x0000_s8196" name="公式" r:id="rId5" imgW="179280" imgH="171360" progId="Equation.3">
              <p:embed/>
            </p:oleObj>
          </a:graphicData>
        </a:graphic>
      </p:graphicFrame>
      <p:graphicFrame>
        <p:nvGraphicFramePr>
          <p:cNvPr id="99336" name="Object 8"/>
          <p:cNvGraphicFramePr>
            <a:graphicFrameLocks noChangeAspect="1"/>
          </p:cNvGraphicFramePr>
          <p:nvPr/>
        </p:nvGraphicFramePr>
        <p:xfrm>
          <a:off x="1450975" y="3024188"/>
          <a:ext cx="3976688" cy="823912"/>
        </p:xfrm>
        <a:graphic>
          <a:graphicData uri="http://schemas.openxmlformats.org/presentationml/2006/ole">
            <p:oleObj spid="_x0000_s8197" name="公式" r:id="rId6" imgW="1873080" imgH="375120" progId="Equation.3">
              <p:embed/>
            </p:oleObj>
          </a:graphicData>
        </a:graphic>
      </p:graphicFrame>
      <p:graphicFrame>
        <p:nvGraphicFramePr>
          <p:cNvPr id="99337" name="Object 9"/>
          <p:cNvGraphicFramePr>
            <a:graphicFrameLocks noChangeAspect="1"/>
          </p:cNvGraphicFramePr>
          <p:nvPr/>
        </p:nvGraphicFramePr>
        <p:xfrm>
          <a:off x="1376363" y="4419600"/>
          <a:ext cx="3775075" cy="457200"/>
        </p:xfrm>
        <a:graphic>
          <a:graphicData uri="http://schemas.openxmlformats.org/presentationml/2006/ole">
            <p:oleObj spid="_x0000_s8198" name="公式" r:id="rId7" imgW="1775160" imgH="203760" progId="Equation.3">
              <p:embed/>
            </p:oleObj>
          </a:graphicData>
        </a:graphic>
      </p:graphicFrame>
      <p:sp>
        <p:nvSpPr>
          <p:cNvPr id="99338" name="Rectangle 10"/>
          <p:cNvSpPr>
            <a:spLocks noChangeArrowheads="1"/>
          </p:cNvSpPr>
          <p:nvPr/>
        </p:nvSpPr>
        <p:spPr bwMode="auto">
          <a:xfrm>
            <a:off x="739775" y="3878263"/>
            <a:ext cx="7658100"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由斯特藩</a:t>
            </a:r>
            <a:r>
              <a:rPr lang="en-US" altLang="zh-CN" b="1">
                <a:solidFill>
                  <a:schemeClr val="bg1"/>
                </a:solidFill>
                <a:ea typeface="楷体_GB2312" pitchFamily="49" charset="-122"/>
              </a:rPr>
              <a:t>—</a:t>
            </a:r>
            <a:r>
              <a:rPr lang="zh-CN" altLang="en-US" b="1">
                <a:solidFill>
                  <a:schemeClr val="bg1"/>
                </a:solidFill>
                <a:ea typeface="楷体_GB2312" pitchFamily="49" charset="-122"/>
              </a:rPr>
              <a:t>玻耳兹曼定律，得辐出度：</a:t>
            </a:r>
          </a:p>
        </p:txBody>
      </p:sp>
      <p:sp>
        <p:nvSpPr>
          <p:cNvPr id="99339" name="Text Box 11"/>
          <p:cNvSpPr txBox="1">
            <a:spLocks noChangeArrowheads="1"/>
          </p:cNvSpPr>
          <p:nvPr/>
        </p:nvSpPr>
        <p:spPr bwMode="auto">
          <a:xfrm>
            <a:off x="657225" y="728663"/>
            <a:ext cx="4427538" cy="1354137"/>
          </a:xfrm>
          <a:prstGeom prst="rect">
            <a:avLst/>
          </a:prstGeom>
          <a:noFill/>
          <a:ln w="9525">
            <a:noFill/>
            <a:miter lim="800000"/>
            <a:headEnd/>
            <a:tailEnd/>
          </a:ln>
          <a:effectLst/>
        </p:spPr>
        <p:txBody>
          <a:bodyPr>
            <a:spAutoFit/>
          </a:bodyPr>
          <a:lstStyle/>
          <a:p>
            <a:pPr>
              <a:lnSpc>
                <a:spcPct val="115000"/>
              </a:lnSpc>
            </a:pPr>
            <a:r>
              <a:rPr lang="zh-CN" altLang="en-US" b="1">
                <a:solidFill>
                  <a:schemeClr val="bg1"/>
                </a:solidFill>
              </a:rPr>
              <a:t>测得太阳光谱的峰值波长在绿光区域，为</a:t>
            </a:r>
            <a:r>
              <a:rPr lang="zh-CN" altLang="en-US" b="1">
                <a:solidFill>
                  <a:srgbClr val="DDDDDD"/>
                </a:solidFill>
              </a:rPr>
              <a:t> </a:t>
            </a:r>
            <a:r>
              <a:rPr lang="zh-CN" altLang="en-US" b="1" i="1">
                <a:solidFill>
                  <a:srgbClr val="FF6600"/>
                </a:solidFill>
                <a:sym typeface="Symbol" pitchFamily="18" charset="2"/>
              </a:rPr>
              <a:t></a:t>
            </a:r>
            <a:r>
              <a:rPr lang="en-US" altLang="zh-CN" b="1" i="1" baseline="-20000">
                <a:solidFill>
                  <a:srgbClr val="FF6600"/>
                </a:solidFill>
                <a:sym typeface="Symbol" pitchFamily="18" charset="2"/>
              </a:rPr>
              <a:t>m</a:t>
            </a:r>
            <a:r>
              <a:rPr lang="en-US" altLang="zh-CN" b="1" baseline="-20000">
                <a:solidFill>
                  <a:srgbClr val="FF6600"/>
                </a:solidFill>
                <a:sym typeface="Symbol" pitchFamily="18" charset="2"/>
              </a:rPr>
              <a:t> </a:t>
            </a:r>
            <a:r>
              <a:rPr lang="en-US" altLang="zh-CN" b="1" i="1">
                <a:solidFill>
                  <a:srgbClr val="FF6600"/>
                </a:solidFill>
                <a:sym typeface="Symbol" pitchFamily="18" charset="2"/>
              </a:rPr>
              <a:t>= </a:t>
            </a:r>
            <a:r>
              <a:rPr lang="en-US" altLang="zh-CN" b="1">
                <a:solidFill>
                  <a:srgbClr val="FF6600"/>
                </a:solidFill>
                <a:sym typeface="Symbol" pitchFamily="18" charset="2"/>
              </a:rPr>
              <a:t>0.47 m</a:t>
            </a:r>
            <a:r>
              <a:rPr lang="zh-CN" altLang="en-US" b="1">
                <a:solidFill>
                  <a:srgbClr val="FF6600"/>
                </a:solidFill>
                <a:sym typeface="Symbol" pitchFamily="18" charset="2"/>
              </a:rPr>
              <a:t>。</a:t>
            </a:r>
            <a:r>
              <a:rPr lang="zh-CN" altLang="en-US" b="1">
                <a:solidFill>
                  <a:schemeClr val="bg1"/>
                </a:solidFill>
                <a:sym typeface="Symbol" pitchFamily="18" charset="2"/>
              </a:rPr>
              <a:t>试估算</a:t>
            </a:r>
            <a:r>
              <a:rPr lang="zh-CN" altLang="en-US" b="1">
                <a:solidFill>
                  <a:schemeClr val="accent2"/>
                </a:solidFill>
              </a:rPr>
              <a:t>太阳的表面温度和辐出度。</a:t>
            </a:r>
          </a:p>
        </p:txBody>
      </p:sp>
      <p:sp>
        <p:nvSpPr>
          <p:cNvPr id="99340" name="Rectangle 12"/>
          <p:cNvSpPr>
            <a:spLocks noChangeArrowheads="1"/>
          </p:cNvSpPr>
          <p:nvPr/>
        </p:nvSpPr>
        <p:spPr bwMode="auto">
          <a:xfrm>
            <a:off x="141288" y="766763"/>
            <a:ext cx="488950" cy="457200"/>
          </a:xfrm>
          <a:prstGeom prst="rect">
            <a:avLst/>
          </a:prstGeom>
          <a:noFill/>
          <a:ln w="9525">
            <a:noFill/>
            <a:miter lim="800000"/>
            <a:headEnd/>
            <a:tailEnd/>
          </a:ln>
          <a:effectLst/>
        </p:spPr>
        <p:txBody>
          <a:bodyPr wrap="none">
            <a:spAutoFit/>
          </a:bodyPr>
          <a:lstStyle/>
          <a:p>
            <a:r>
              <a:rPr lang="zh-CN" altLang="en-US" b="1">
                <a:solidFill>
                  <a:schemeClr val="tx2"/>
                </a:solidFill>
              </a:rPr>
              <a:t>例</a:t>
            </a:r>
          </a:p>
        </p:txBody>
      </p:sp>
      <p:sp>
        <p:nvSpPr>
          <p:cNvPr id="99341" name="Text Box 13"/>
          <p:cNvSpPr txBox="1">
            <a:spLocks noChangeArrowheads="1"/>
          </p:cNvSpPr>
          <p:nvPr/>
        </p:nvSpPr>
        <p:spPr bwMode="auto">
          <a:xfrm>
            <a:off x="476250" y="5408613"/>
            <a:ext cx="8010525" cy="933450"/>
          </a:xfrm>
          <a:prstGeom prst="rect">
            <a:avLst/>
          </a:prstGeom>
          <a:noFill/>
          <a:ln w="9525">
            <a:noFill/>
            <a:miter lim="800000"/>
            <a:headEnd/>
            <a:tailEnd/>
          </a:ln>
          <a:effectLst/>
        </p:spPr>
        <p:txBody>
          <a:bodyPr>
            <a:spAutoFit/>
          </a:bodyPr>
          <a:lstStyle/>
          <a:p>
            <a:pPr>
              <a:lnSpc>
                <a:spcPct val="115000"/>
              </a:lnSpc>
            </a:pPr>
            <a:r>
              <a:rPr lang="zh-CN" altLang="en-US" b="1">
                <a:solidFill>
                  <a:schemeClr val="bg1"/>
                </a:solidFill>
                <a:ea typeface="楷体_GB2312" pitchFamily="49" charset="-122"/>
              </a:rPr>
              <a:t>太阳不是黑体，所以按黑体计算出的</a:t>
            </a:r>
            <a:r>
              <a:rPr lang="zh-CN" altLang="en-US" b="1">
                <a:solidFill>
                  <a:schemeClr val="bg1"/>
                </a:solidFill>
              </a:rPr>
              <a:t> </a:t>
            </a:r>
            <a:r>
              <a:rPr lang="en-US" altLang="zh-CN" b="1" i="1">
                <a:solidFill>
                  <a:srgbClr val="FF6600"/>
                </a:solidFill>
              </a:rPr>
              <a:t>T</a:t>
            </a:r>
            <a:r>
              <a:rPr lang="en-US" altLang="zh-CN" b="1" baseline="-20000">
                <a:solidFill>
                  <a:srgbClr val="FF6600"/>
                </a:solidFill>
              </a:rPr>
              <a:t>s</a:t>
            </a:r>
            <a:r>
              <a:rPr lang="en-US" altLang="zh-CN" b="1">
                <a:solidFill>
                  <a:srgbClr val="FF6600"/>
                </a:solidFill>
              </a:rPr>
              <a:t> </a:t>
            </a:r>
            <a:r>
              <a:rPr lang="zh-CN" altLang="en-US" b="1">
                <a:solidFill>
                  <a:schemeClr val="bg1"/>
                </a:solidFill>
                <a:ea typeface="楷体_GB2312" pitchFamily="49" charset="-122"/>
              </a:rPr>
              <a:t>高于太阳的实际温度；</a:t>
            </a:r>
            <a:r>
              <a:rPr lang="en-US" altLang="zh-CN" b="1" i="1">
                <a:solidFill>
                  <a:srgbClr val="FF6600"/>
                </a:solidFill>
              </a:rPr>
              <a:t>M</a:t>
            </a:r>
            <a:r>
              <a:rPr lang="en-US" altLang="zh-CN" b="1" i="1" baseline="-20000">
                <a:solidFill>
                  <a:srgbClr val="FF6600"/>
                </a:solidFill>
              </a:rPr>
              <a:t>B </a:t>
            </a:r>
            <a:r>
              <a:rPr lang="en-US" altLang="zh-CN" b="1">
                <a:solidFill>
                  <a:srgbClr val="FF6600"/>
                </a:solidFill>
              </a:rPr>
              <a:t>(</a:t>
            </a:r>
            <a:r>
              <a:rPr lang="en-US" altLang="zh-CN" b="1" i="1">
                <a:solidFill>
                  <a:srgbClr val="FF6600"/>
                </a:solidFill>
              </a:rPr>
              <a:t>T</a:t>
            </a:r>
            <a:r>
              <a:rPr lang="en-US" altLang="zh-CN" b="1">
                <a:solidFill>
                  <a:srgbClr val="FF6600"/>
                </a:solidFill>
              </a:rPr>
              <a:t>)</a:t>
            </a:r>
            <a:r>
              <a:rPr lang="en-US" altLang="zh-CN" b="1" baseline="-20000">
                <a:solidFill>
                  <a:schemeClr val="bg1"/>
                </a:solidFill>
              </a:rPr>
              <a:t> </a:t>
            </a:r>
            <a:r>
              <a:rPr lang="zh-CN" altLang="en-US" b="1">
                <a:solidFill>
                  <a:schemeClr val="bg1"/>
                </a:solidFill>
                <a:ea typeface="楷体_GB2312" pitchFamily="49" charset="-122"/>
              </a:rPr>
              <a:t>高于实际辐出度。</a:t>
            </a:r>
          </a:p>
        </p:txBody>
      </p:sp>
      <p:sp>
        <p:nvSpPr>
          <p:cNvPr id="99342" name="Rectangle 14"/>
          <p:cNvSpPr>
            <a:spLocks noChangeArrowheads="1"/>
          </p:cNvSpPr>
          <p:nvPr/>
        </p:nvSpPr>
        <p:spPr bwMode="auto">
          <a:xfrm>
            <a:off x="450850" y="4884738"/>
            <a:ext cx="1255713" cy="457200"/>
          </a:xfrm>
          <a:prstGeom prst="rect">
            <a:avLst/>
          </a:prstGeom>
          <a:noFill/>
          <a:ln w="9525">
            <a:noFill/>
            <a:miter lim="800000"/>
            <a:headEnd/>
            <a:tailEnd/>
          </a:ln>
          <a:effectLst/>
        </p:spPr>
        <p:txBody>
          <a:bodyPr>
            <a:spAutoFit/>
          </a:bodyPr>
          <a:lstStyle/>
          <a:p>
            <a:r>
              <a:rPr lang="zh-CN" altLang="en-US" b="1">
                <a:solidFill>
                  <a:srgbClr val="FF6600"/>
                </a:solidFill>
                <a:latin typeface="宋体" charset="-122"/>
              </a:rPr>
              <a:t>说明</a:t>
            </a:r>
          </a:p>
        </p:txBody>
      </p:sp>
      <p:grpSp>
        <p:nvGrpSpPr>
          <p:cNvPr id="99346" name="Group 18"/>
          <p:cNvGrpSpPr>
            <a:grpSpLocks/>
          </p:cNvGrpSpPr>
          <p:nvPr/>
        </p:nvGrpSpPr>
        <p:grpSpPr bwMode="auto">
          <a:xfrm>
            <a:off x="5292725" y="549275"/>
            <a:ext cx="3794125" cy="2400300"/>
            <a:chOff x="3334" y="346"/>
            <a:chExt cx="2390" cy="1512"/>
          </a:xfrm>
        </p:grpSpPr>
        <p:sp>
          <p:nvSpPr>
            <p:cNvPr id="8207" name="Rectangle 3"/>
            <p:cNvSpPr>
              <a:spLocks noChangeArrowheads="1"/>
            </p:cNvSpPr>
            <p:nvPr/>
          </p:nvSpPr>
          <p:spPr bwMode="auto">
            <a:xfrm>
              <a:off x="5284" y="1570"/>
              <a:ext cx="440" cy="288"/>
            </a:xfrm>
            <a:prstGeom prst="rect">
              <a:avLst/>
            </a:prstGeom>
            <a:noFill/>
            <a:ln w="9525">
              <a:noFill/>
              <a:miter lim="800000"/>
              <a:headEnd/>
              <a:tailEnd/>
            </a:ln>
            <a:effectLst/>
          </p:spPr>
          <p:txBody>
            <a:bodyPr>
              <a:spAutoFit/>
            </a:bodyPr>
            <a:lstStyle/>
            <a:p>
              <a:r>
                <a:rPr lang="en-US" altLang="zh-CN" b="1" i="1">
                  <a:solidFill>
                    <a:srgbClr val="000000"/>
                  </a:solidFill>
                  <a:sym typeface="Symbol" pitchFamily="18" charset="2"/>
                </a:rPr>
                <a:t></a:t>
              </a:r>
            </a:p>
          </p:txBody>
        </p:sp>
        <p:sp>
          <p:nvSpPr>
            <p:cNvPr id="8208" name="Line 5"/>
            <p:cNvSpPr>
              <a:spLocks noChangeShapeType="1"/>
            </p:cNvSpPr>
            <p:nvPr/>
          </p:nvSpPr>
          <p:spPr bwMode="auto">
            <a:xfrm>
              <a:off x="3334" y="384"/>
              <a:ext cx="0" cy="1186"/>
            </a:xfrm>
            <a:prstGeom prst="line">
              <a:avLst/>
            </a:prstGeom>
            <a:noFill/>
            <a:ln w="19050">
              <a:solidFill>
                <a:schemeClr val="bg1"/>
              </a:solidFill>
              <a:round/>
              <a:headEnd type="triangle" w="med" len="lg"/>
              <a:tailEnd type="none" w="med" len="lg"/>
            </a:ln>
            <a:effectLst/>
          </p:spPr>
          <p:txBody>
            <a:bodyPr/>
            <a:lstStyle/>
            <a:p>
              <a:endParaRPr lang="zh-CN" altLang="en-US"/>
            </a:p>
          </p:txBody>
        </p:sp>
        <p:sp>
          <p:nvSpPr>
            <p:cNvPr id="8209" name="Text Box 6"/>
            <p:cNvSpPr txBox="1">
              <a:spLocks noChangeArrowheads="1"/>
            </p:cNvSpPr>
            <p:nvPr/>
          </p:nvSpPr>
          <p:spPr bwMode="auto">
            <a:xfrm>
              <a:off x="3379" y="346"/>
              <a:ext cx="362" cy="250"/>
            </a:xfrm>
            <a:prstGeom prst="rect">
              <a:avLst/>
            </a:prstGeom>
            <a:noFill/>
            <a:ln w="9525">
              <a:noFill/>
              <a:miter lim="800000"/>
              <a:headEnd/>
              <a:tailEnd/>
            </a:ln>
            <a:effectLst/>
          </p:spPr>
          <p:txBody>
            <a:bodyPr wrap="none">
              <a:spAutoFit/>
            </a:bodyPr>
            <a:lstStyle/>
            <a:p>
              <a:r>
                <a:rPr lang="en-US" altLang="zh-CN" sz="2000" b="1" i="1">
                  <a:solidFill>
                    <a:schemeClr val="bg1"/>
                  </a:solidFill>
                </a:rPr>
                <a:t>M</a:t>
              </a:r>
              <a:r>
                <a:rPr lang="en-US" altLang="zh-CN" sz="2000" b="1" i="1" baseline="-25000">
                  <a:solidFill>
                    <a:schemeClr val="bg1"/>
                  </a:solidFill>
                </a:rPr>
                <a:t>λ</a:t>
              </a:r>
              <a:endParaRPr lang="en-US" altLang="zh-CN" sz="2000" b="1" i="1">
                <a:solidFill>
                  <a:schemeClr val="bg1"/>
                </a:solidFill>
              </a:endParaRPr>
            </a:p>
          </p:txBody>
        </p:sp>
        <p:sp>
          <p:nvSpPr>
            <p:cNvPr id="8210" name="Line 15"/>
            <p:cNvSpPr>
              <a:spLocks noChangeShapeType="1"/>
            </p:cNvSpPr>
            <p:nvPr/>
          </p:nvSpPr>
          <p:spPr bwMode="auto">
            <a:xfrm>
              <a:off x="3336" y="1570"/>
              <a:ext cx="2163" cy="0"/>
            </a:xfrm>
            <a:prstGeom prst="line">
              <a:avLst/>
            </a:prstGeom>
            <a:noFill/>
            <a:ln w="19050">
              <a:solidFill>
                <a:schemeClr val="bg1"/>
              </a:solidFill>
              <a:round/>
              <a:headEnd/>
              <a:tailEnd type="triangle" w="med" len="lg"/>
            </a:ln>
            <a:effectLst/>
          </p:spPr>
          <p:txBody>
            <a:bodyPr/>
            <a:lstStyle/>
            <a:p>
              <a:endParaRPr lang="zh-CN" altLang="en-US"/>
            </a:p>
          </p:txBody>
        </p:sp>
      </p:grpSp>
      <p:sp>
        <p:nvSpPr>
          <p:cNvPr id="99344" name="Rectangle 16"/>
          <p:cNvSpPr>
            <a:spLocks noChangeArrowheads="1"/>
          </p:cNvSpPr>
          <p:nvPr/>
        </p:nvSpPr>
        <p:spPr bwMode="auto">
          <a:xfrm>
            <a:off x="115888" y="2259013"/>
            <a:ext cx="488950" cy="457200"/>
          </a:xfrm>
          <a:prstGeom prst="rect">
            <a:avLst/>
          </a:prstGeom>
          <a:noFill/>
          <a:ln w="9525">
            <a:noFill/>
            <a:miter lim="800000"/>
            <a:headEnd/>
            <a:tailEnd/>
          </a:ln>
          <a:effectLst/>
        </p:spPr>
        <p:txBody>
          <a:bodyPr wrap="none">
            <a:spAutoFit/>
          </a:bodyPr>
          <a:lstStyle/>
          <a:p>
            <a:r>
              <a:rPr lang="zh-CN" altLang="en-US" b="1">
                <a:solidFill>
                  <a:schemeClr val="tx2"/>
                </a:solidFill>
              </a:rPr>
              <a:t>解</a:t>
            </a:r>
          </a:p>
        </p:txBody>
      </p:sp>
      <p:sp>
        <p:nvSpPr>
          <p:cNvPr id="99345" name="AutoShape 17"/>
          <p:cNvSpPr>
            <a:spLocks noChangeArrowheads="1"/>
          </p:cNvSpPr>
          <p:nvPr/>
        </p:nvSpPr>
        <p:spPr bwMode="auto">
          <a:xfrm>
            <a:off x="161925" y="4824413"/>
            <a:ext cx="360363" cy="576262"/>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a:effectLst/>
        </p:spPr>
        <p:txBody>
          <a:bodyPr wrap="none" anchor="ctr"/>
          <a:lstStyle/>
          <a:p>
            <a:endParaRPr lang="zh-CN" altLang="en-US"/>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340"/>
                                        </p:tgtEl>
                                        <p:attrNameLst>
                                          <p:attrName>style.visibility</p:attrName>
                                        </p:attrNameLst>
                                      </p:cBhvr>
                                      <p:to>
                                        <p:strVal val="visible"/>
                                      </p:to>
                                    </p:set>
                                    <p:animEffect transition="in" filter="wipe(left)">
                                      <p:cBhvr>
                                        <p:cTn id="7" dur="500"/>
                                        <p:tgtEl>
                                          <p:spTgt spid="993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99346"/>
                                        </p:tgtEl>
                                        <p:attrNameLst>
                                          <p:attrName>style.visibility</p:attrName>
                                        </p:attrNameLst>
                                      </p:cBhvr>
                                      <p:to>
                                        <p:strVal val="visible"/>
                                      </p:to>
                                    </p:set>
                                    <p:animEffect transition="in" filter="wipe(down)">
                                      <p:cBhvr>
                                        <p:cTn id="12" dur="500"/>
                                        <p:tgtEl>
                                          <p:spTgt spid="993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339"/>
                                        </p:tgtEl>
                                        <p:attrNameLst>
                                          <p:attrName>style.visibility</p:attrName>
                                        </p:attrNameLst>
                                      </p:cBhvr>
                                      <p:to>
                                        <p:strVal val="visible"/>
                                      </p:to>
                                    </p:set>
                                    <p:animEffect transition="in" filter="wipe(left)">
                                      <p:cBhvr>
                                        <p:cTn id="17" dur="500"/>
                                        <p:tgtEl>
                                          <p:spTgt spid="993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99332"/>
                                        </p:tgtEl>
                                        <p:attrNameLst>
                                          <p:attrName>style.visibility</p:attrName>
                                        </p:attrNameLst>
                                      </p:cBhvr>
                                      <p:to>
                                        <p:strVal val="visible"/>
                                      </p:to>
                                    </p:set>
                                    <p:animEffect transition="in" filter="wipe(down)">
                                      <p:cBhvr>
                                        <p:cTn id="22" dur="500"/>
                                        <p:tgtEl>
                                          <p:spTgt spid="99332"/>
                                        </p:tgtEl>
                                      </p:cBhvr>
                                    </p:animEffect>
                                  </p:childTnLst>
                                </p:cTn>
                              </p:par>
                            </p:childTnLst>
                          </p:cTn>
                        </p:par>
                        <p:par>
                          <p:cTn id="23" fill="hold" nodeType="afterGroup">
                            <p:stCondLst>
                              <p:cond delay="500"/>
                            </p:stCondLst>
                            <p:childTnLst>
                              <p:par>
                                <p:cTn id="24" presetID="4" presetClass="entr" presetSubtype="16" fill="hold" nodeType="afterEffect">
                                  <p:stCondLst>
                                    <p:cond delay="1000"/>
                                  </p:stCondLst>
                                  <p:childTnLst>
                                    <p:set>
                                      <p:cBhvr>
                                        <p:cTn id="25" dur="1" fill="hold">
                                          <p:stCondLst>
                                            <p:cond delay="0"/>
                                          </p:stCondLst>
                                        </p:cTn>
                                        <p:tgtEl>
                                          <p:spTgt spid="99335"/>
                                        </p:tgtEl>
                                        <p:attrNameLst>
                                          <p:attrName>style.visibility</p:attrName>
                                        </p:attrNameLst>
                                      </p:cBhvr>
                                      <p:to>
                                        <p:strVal val="visible"/>
                                      </p:to>
                                    </p:set>
                                    <p:animEffect transition="in" filter="box(in)">
                                      <p:cBhvr>
                                        <p:cTn id="26" dur="500"/>
                                        <p:tgtEl>
                                          <p:spTgt spid="9933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99344"/>
                                        </p:tgtEl>
                                        <p:attrNameLst>
                                          <p:attrName>style.visibility</p:attrName>
                                        </p:attrNameLst>
                                      </p:cBhvr>
                                      <p:to>
                                        <p:strVal val="visible"/>
                                      </p:to>
                                    </p:set>
                                    <p:animEffect transition="in" filter="wipe(down)">
                                      <p:cBhvr>
                                        <p:cTn id="31" dur="500"/>
                                        <p:tgtEl>
                                          <p:spTgt spid="9934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99330"/>
                                        </p:tgtEl>
                                        <p:attrNameLst>
                                          <p:attrName>style.visibility</p:attrName>
                                        </p:attrNameLst>
                                      </p:cBhvr>
                                      <p:to>
                                        <p:strVal val="visible"/>
                                      </p:to>
                                    </p:se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99336"/>
                                        </p:tgtEl>
                                        <p:attrNameLst>
                                          <p:attrName>style.visibility</p:attrName>
                                        </p:attrNameLst>
                                      </p:cBhvr>
                                      <p:to>
                                        <p:strVal val="visible"/>
                                      </p:to>
                                    </p:set>
                                    <p:animEffect transition="in" filter="wipe(left)">
                                      <p:cBhvr>
                                        <p:cTn id="39" dur="500"/>
                                        <p:tgtEl>
                                          <p:spTgt spid="9933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99338"/>
                                        </p:tgtEl>
                                        <p:attrNameLst>
                                          <p:attrName>style.visibility</p:attrName>
                                        </p:attrNameLst>
                                      </p:cBhvr>
                                      <p:to>
                                        <p:strVal val="visible"/>
                                      </p:to>
                                    </p:se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99337"/>
                                        </p:tgtEl>
                                        <p:attrNameLst>
                                          <p:attrName>style.visibility</p:attrName>
                                        </p:attrNameLst>
                                      </p:cBhvr>
                                      <p:to>
                                        <p:strVal val="visible"/>
                                      </p:to>
                                    </p:set>
                                    <p:animEffect transition="in" filter="wipe(left)">
                                      <p:cBhvr>
                                        <p:cTn id="47" dur="500"/>
                                        <p:tgtEl>
                                          <p:spTgt spid="9933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99345"/>
                                        </p:tgtEl>
                                        <p:attrNameLst>
                                          <p:attrName>style.visibility</p:attrName>
                                        </p:attrNameLst>
                                      </p:cBhvr>
                                      <p:to>
                                        <p:strVal val="visible"/>
                                      </p:to>
                                    </p:set>
                                    <p:animEffect transition="in" filter="dissolve">
                                      <p:cBhvr>
                                        <p:cTn id="52" dur="500"/>
                                        <p:tgtEl>
                                          <p:spTgt spid="99345"/>
                                        </p:tgtEl>
                                      </p:cBhvr>
                                    </p:animEffect>
                                  </p:childTnLst>
                                </p:cTn>
                              </p:par>
                            </p:childTnLst>
                          </p:cTn>
                        </p:par>
                        <p:par>
                          <p:cTn id="53" fill="hold" nodeType="afterGroup">
                            <p:stCondLst>
                              <p:cond delay="500"/>
                            </p:stCondLst>
                            <p:childTnLst>
                              <p:par>
                                <p:cTn id="54" presetID="9" presetClass="entr" presetSubtype="0" fill="hold" grpId="0" nodeType="afterEffect">
                                  <p:stCondLst>
                                    <p:cond delay="0"/>
                                  </p:stCondLst>
                                  <p:childTnLst>
                                    <p:set>
                                      <p:cBhvr>
                                        <p:cTn id="55" dur="1" fill="hold">
                                          <p:stCondLst>
                                            <p:cond delay="0"/>
                                          </p:stCondLst>
                                        </p:cTn>
                                        <p:tgtEl>
                                          <p:spTgt spid="99342"/>
                                        </p:tgtEl>
                                        <p:attrNameLst>
                                          <p:attrName>style.visibility</p:attrName>
                                        </p:attrNameLst>
                                      </p:cBhvr>
                                      <p:to>
                                        <p:strVal val="visible"/>
                                      </p:to>
                                    </p:set>
                                    <p:animEffect transition="in" filter="dissolve">
                                      <p:cBhvr>
                                        <p:cTn id="56" dur="500"/>
                                        <p:tgtEl>
                                          <p:spTgt spid="9934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99341"/>
                                        </p:tgtEl>
                                        <p:attrNameLst>
                                          <p:attrName>style.visibility</p:attrName>
                                        </p:attrNameLst>
                                      </p:cBhvr>
                                      <p:to>
                                        <p:strVal val="visible"/>
                                      </p:to>
                                    </p:set>
                                    <p:animEffect transition="in" filter="wipe(left)">
                                      <p:cBhvr>
                                        <p:cTn id="61" dur="500"/>
                                        <p:tgtEl>
                                          <p:spTgt spid="99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0" grpId="0" autoUpdateAnimBg="0"/>
      <p:bldP spid="99338" grpId="0" autoUpdateAnimBg="0"/>
      <p:bldP spid="99339" grpId="0"/>
      <p:bldP spid="99340" grpId="0"/>
      <p:bldP spid="99341" grpId="0" autoUpdateAnimBg="0"/>
      <p:bldP spid="99342" grpId="0"/>
      <p:bldP spid="99344" grpId="0"/>
      <p:bldP spid="99345"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Line 4"/>
          <p:cNvSpPr>
            <a:spLocks noChangeShapeType="1"/>
          </p:cNvSpPr>
          <p:nvPr/>
        </p:nvSpPr>
        <p:spPr bwMode="auto">
          <a:xfrm flipV="1">
            <a:off x="206375" y="2052638"/>
            <a:ext cx="0" cy="3976687"/>
          </a:xfrm>
          <a:prstGeom prst="line">
            <a:avLst/>
          </a:prstGeom>
          <a:noFill/>
          <a:ln w="28575">
            <a:solidFill>
              <a:schemeClr val="hlink"/>
            </a:solidFill>
            <a:round/>
            <a:headEnd/>
            <a:tailEnd type="triangle" w="med" len="lg"/>
          </a:ln>
          <a:effectLst/>
        </p:spPr>
        <p:txBody>
          <a:bodyPr/>
          <a:lstStyle/>
          <a:p>
            <a:endParaRPr lang="zh-CN" altLang="en-US"/>
          </a:p>
        </p:txBody>
      </p:sp>
      <p:sp>
        <p:nvSpPr>
          <p:cNvPr id="9219" name="Line 5"/>
          <p:cNvSpPr>
            <a:spLocks noChangeShapeType="1"/>
          </p:cNvSpPr>
          <p:nvPr/>
        </p:nvSpPr>
        <p:spPr bwMode="auto">
          <a:xfrm>
            <a:off x="161925" y="6021388"/>
            <a:ext cx="6489700" cy="1587"/>
          </a:xfrm>
          <a:prstGeom prst="line">
            <a:avLst/>
          </a:prstGeom>
          <a:noFill/>
          <a:ln w="28575">
            <a:solidFill>
              <a:schemeClr val="hlink"/>
            </a:solidFill>
            <a:round/>
            <a:headEnd/>
            <a:tailEnd type="triangle" w="med" len="lg"/>
          </a:ln>
          <a:effectLst/>
        </p:spPr>
        <p:txBody>
          <a:bodyPr/>
          <a:lstStyle/>
          <a:p>
            <a:endParaRPr lang="zh-CN" altLang="en-US"/>
          </a:p>
        </p:txBody>
      </p:sp>
      <p:sp>
        <p:nvSpPr>
          <p:cNvPr id="9220" name="Text Box 6"/>
          <p:cNvSpPr txBox="1">
            <a:spLocks noChangeArrowheads="1"/>
          </p:cNvSpPr>
          <p:nvPr/>
        </p:nvSpPr>
        <p:spPr bwMode="auto">
          <a:xfrm>
            <a:off x="206375" y="1979613"/>
            <a:ext cx="955675" cy="457200"/>
          </a:xfrm>
          <a:prstGeom prst="rect">
            <a:avLst/>
          </a:prstGeom>
          <a:noFill/>
          <a:ln w="9525">
            <a:noFill/>
            <a:miter lim="800000"/>
            <a:headEnd/>
            <a:tailEnd/>
          </a:ln>
          <a:effectLst/>
        </p:spPr>
        <p:txBody>
          <a:bodyPr>
            <a:spAutoFit/>
          </a:bodyPr>
          <a:lstStyle/>
          <a:p>
            <a:r>
              <a:rPr lang="en-US" altLang="zh-CN" b="1" i="1">
                <a:solidFill>
                  <a:schemeClr val="bg1"/>
                </a:solidFill>
              </a:rPr>
              <a:t>M</a:t>
            </a:r>
            <a:r>
              <a:rPr lang="en-US" altLang="zh-CN" b="1" i="1" baseline="-20000">
                <a:solidFill>
                  <a:schemeClr val="bg1"/>
                </a:solidFill>
              </a:rPr>
              <a:t>B</a:t>
            </a:r>
            <a:r>
              <a:rPr lang="en-US" altLang="zh-CN" b="1" i="1" baseline="-20000">
                <a:solidFill>
                  <a:schemeClr val="bg1"/>
                </a:solidFill>
                <a:sym typeface="Symbol" pitchFamily="18" charset="2"/>
              </a:rPr>
              <a:t></a:t>
            </a:r>
            <a:endParaRPr lang="en-US" altLang="en-US" b="1" i="1" baseline="-20000">
              <a:solidFill>
                <a:schemeClr val="bg1"/>
              </a:solidFill>
              <a:sym typeface="Symbol" pitchFamily="18" charset="2"/>
            </a:endParaRPr>
          </a:p>
        </p:txBody>
      </p:sp>
      <p:sp>
        <p:nvSpPr>
          <p:cNvPr id="9221" name="Rectangle 7"/>
          <p:cNvSpPr>
            <a:spLocks noChangeArrowheads="1"/>
          </p:cNvSpPr>
          <p:nvPr/>
        </p:nvSpPr>
        <p:spPr bwMode="auto">
          <a:xfrm>
            <a:off x="6281738" y="6021388"/>
            <a:ext cx="360362" cy="457200"/>
          </a:xfrm>
          <a:prstGeom prst="rect">
            <a:avLst/>
          </a:prstGeom>
          <a:noFill/>
          <a:ln w="9525">
            <a:noFill/>
            <a:miter lim="800000"/>
            <a:headEnd/>
            <a:tailEnd/>
          </a:ln>
          <a:effectLst/>
        </p:spPr>
        <p:txBody>
          <a:bodyPr>
            <a:spAutoFit/>
          </a:bodyPr>
          <a:lstStyle/>
          <a:p>
            <a:r>
              <a:rPr lang="en-US" altLang="zh-CN" b="1" i="1">
                <a:solidFill>
                  <a:schemeClr val="bg1"/>
                </a:solidFill>
                <a:sym typeface="Symbol" pitchFamily="18" charset="2"/>
              </a:rPr>
              <a:t></a:t>
            </a:r>
          </a:p>
        </p:txBody>
      </p:sp>
      <p:sp>
        <p:nvSpPr>
          <p:cNvPr id="176136" name="Rectangle 8"/>
          <p:cNvSpPr>
            <a:spLocks noChangeArrowheads="1"/>
          </p:cNvSpPr>
          <p:nvPr/>
        </p:nvSpPr>
        <p:spPr bwMode="auto">
          <a:xfrm>
            <a:off x="836613" y="2035175"/>
            <a:ext cx="2592387" cy="854075"/>
          </a:xfrm>
          <a:prstGeom prst="rect">
            <a:avLst/>
          </a:prstGeom>
          <a:noFill/>
          <a:ln w="9525">
            <a:noFill/>
            <a:miter lim="800000"/>
            <a:headEnd/>
            <a:tailEnd/>
          </a:ln>
          <a:effectLst/>
        </p:spPr>
        <p:txBody>
          <a:bodyPr>
            <a:spAutoFit/>
          </a:bodyPr>
          <a:lstStyle/>
          <a:p>
            <a:pPr>
              <a:lnSpc>
                <a:spcPct val="125000"/>
              </a:lnSpc>
            </a:pPr>
            <a:r>
              <a:rPr lang="zh-CN" altLang="en-US" sz="2000" b="1">
                <a:solidFill>
                  <a:srgbClr val="CC00CC"/>
                </a:solidFill>
                <a:latin typeface="楷体_GB2312" pitchFamily="49" charset="-122"/>
                <a:ea typeface="楷体_GB2312" pitchFamily="49" charset="-122"/>
              </a:rPr>
              <a:t>瑞利 </a:t>
            </a:r>
            <a:r>
              <a:rPr lang="en-US" altLang="zh-CN" sz="2000" b="1">
                <a:solidFill>
                  <a:srgbClr val="CC00CC"/>
                </a:solidFill>
                <a:ea typeface="楷体_GB2312" pitchFamily="49" charset="-122"/>
              </a:rPr>
              <a:t>—</a:t>
            </a:r>
            <a:r>
              <a:rPr lang="en-US" altLang="zh-CN" sz="2000" b="1">
                <a:solidFill>
                  <a:srgbClr val="CC00CC"/>
                </a:solidFill>
                <a:latin typeface="楷体_GB2312" pitchFamily="49" charset="-122"/>
                <a:ea typeface="楷体_GB2312" pitchFamily="49" charset="-122"/>
              </a:rPr>
              <a:t> </a:t>
            </a:r>
            <a:r>
              <a:rPr lang="zh-CN" altLang="en-US" sz="2000" b="1">
                <a:solidFill>
                  <a:srgbClr val="CC00CC"/>
                </a:solidFill>
                <a:latin typeface="楷体_GB2312" pitchFamily="49" charset="-122"/>
                <a:ea typeface="楷体_GB2312" pitchFamily="49" charset="-122"/>
              </a:rPr>
              <a:t>金斯公式</a:t>
            </a:r>
          </a:p>
          <a:p>
            <a:pPr algn="ctr">
              <a:lnSpc>
                <a:spcPct val="125000"/>
              </a:lnSpc>
            </a:pPr>
            <a:r>
              <a:rPr lang="en-US" altLang="zh-CN" sz="2000" b="1">
                <a:solidFill>
                  <a:srgbClr val="CC00CC"/>
                </a:solidFill>
              </a:rPr>
              <a:t>(1900</a:t>
            </a:r>
            <a:r>
              <a:rPr lang="zh-CN" altLang="en-US" sz="2000" b="1">
                <a:solidFill>
                  <a:srgbClr val="CC00CC"/>
                </a:solidFill>
              </a:rPr>
              <a:t>年</a:t>
            </a:r>
            <a:r>
              <a:rPr lang="en-US" altLang="zh-CN" sz="2000" b="1">
                <a:solidFill>
                  <a:srgbClr val="CC00CC"/>
                </a:solidFill>
              </a:rPr>
              <a:t>)</a:t>
            </a:r>
          </a:p>
        </p:txBody>
      </p:sp>
      <p:sp>
        <p:nvSpPr>
          <p:cNvPr id="176137" name="Text Box 9"/>
          <p:cNvSpPr txBox="1">
            <a:spLocks noChangeArrowheads="1"/>
          </p:cNvSpPr>
          <p:nvPr/>
        </p:nvSpPr>
        <p:spPr bwMode="auto">
          <a:xfrm>
            <a:off x="2816225" y="5005388"/>
            <a:ext cx="1268413" cy="854075"/>
          </a:xfrm>
          <a:prstGeom prst="rect">
            <a:avLst/>
          </a:prstGeom>
          <a:noFill/>
          <a:ln w="9525">
            <a:noFill/>
            <a:miter lim="800000"/>
            <a:headEnd/>
            <a:tailEnd/>
          </a:ln>
          <a:effectLst/>
        </p:spPr>
        <p:txBody>
          <a:bodyPr>
            <a:spAutoFit/>
          </a:bodyPr>
          <a:lstStyle/>
          <a:p>
            <a:pPr algn="ctr">
              <a:lnSpc>
                <a:spcPct val="125000"/>
              </a:lnSpc>
            </a:pPr>
            <a:r>
              <a:rPr lang="zh-CN" altLang="en-US" sz="2000" b="1">
                <a:solidFill>
                  <a:srgbClr val="3333CC"/>
                </a:solidFill>
                <a:ea typeface="楷体_GB2312" pitchFamily="49" charset="-122"/>
              </a:rPr>
              <a:t>维恩公式</a:t>
            </a:r>
          </a:p>
          <a:p>
            <a:pPr algn="ctr">
              <a:lnSpc>
                <a:spcPct val="125000"/>
              </a:lnSpc>
            </a:pPr>
            <a:r>
              <a:rPr lang="en-US" altLang="zh-CN" sz="2000" b="1">
                <a:solidFill>
                  <a:srgbClr val="0000FF"/>
                </a:solidFill>
              </a:rPr>
              <a:t>(1893</a:t>
            </a:r>
            <a:r>
              <a:rPr lang="zh-CN" altLang="en-US" sz="2000" b="1">
                <a:solidFill>
                  <a:srgbClr val="0000FF"/>
                </a:solidFill>
              </a:rPr>
              <a:t>年</a:t>
            </a:r>
            <a:r>
              <a:rPr lang="en-US" altLang="zh-CN" sz="2000" b="1">
                <a:solidFill>
                  <a:srgbClr val="0000FF"/>
                </a:solidFill>
              </a:rPr>
              <a:t>)</a:t>
            </a:r>
          </a:p>
        </p:txBody>
      </p:sp>
      <p:sp>
        <p:nvSpPr>
          <p:cNvPr id="9224" name="Freeform 14"/>
          <p:cNvSpPr>
            <a:spLocks/>
          </p:cNvSpPr>
          <p:nvPr/>
        </p:nvSpPr>
        <p:spPr bwMode="auto">
          <a:xfrm>
            <a:off x="476250" y="2976563"/>
            <a:ext cx="5635625" cy="2743200"/>
          </a:xfrm>
          <a:custGeom>
            <a:avLst/>
            <a:gdLst>
              <a:gd name="T0" fmla="*/ 0 w 6136"/>
              <a:gd name="T1" fmla="*/ 2147483647 h 2833"/>
              <a:gd name="T2" fmla="*/ 1437417773 w 6136"/>
              <a:gd name="T3" fmla="*/ 32816728 h 2833"/>
              <a:gd name="T4" fmla="*/ 2147483647 w 6136"/>
              <a:gd name="T5" fmla="*/ 2147483647 h 2833"/>
              <a:gd name="T6" fmla="*/ 0 60000 65536"/>
              <a:gd name="T7" fmla="*/ 0 60000 65536"/>
              <a:gd name="T8" fmla="*/ 0 60000 65536"/>
            </a:gdLst>
            <a:ahLst/>
            <a:cxnLst>
              <a:cxn ang="T6">
                <a:pos x="T0" y="T1"/>
              </a:cxn>
              <a:cxn ang="T7">
                <a:pos x="T2" y="T3"/>
              </a:cxn>
              <a:cxn ang="T8">
                <a:pos x="T4" y="T5"/>
              </a:cxn>
            </a:cxnLst>
            <a:rect l="0" t="0" r="r" b="b"/>
            <a:pathLst>
              <a:path w="6136" h="2833">
                <a:moveTo>
                  <a:pt x="0" y="2833"/>
                </a:moveTo>
                <a:cubicBezTo>
                  <a:pt x="787" y="2586"/>
                  <a:pt x="776" y="35"/>
                  <a:pt x="1704" y="35"/>
                </a:cubicBezTo>
                <a:cubicBezTo>
                  <a:pt x="2656" y="0"/>
                  <a:pt x="2410" y="2139"/>
                  <a:pt x="6136" y="2515"/>
                </a:cubicBezTo>
              </a:path>
            </a:pathLst>
          </a:custGeom>
          <a:noFill/>
          <a:ln w="28575" cap="flat" cmpd="sng">
            <a:solidFill>
              <a:srgbClr val="FF99CC"/>
            </a:solidFill>
            <a:prstDash val="sysDot"/>
            <a:round/>
            <a:headEnd/>
            <a:tailEnd/>
          </a:ln>
          <a:effectLst/>
        </p:spPr>
        <p:txBody>
          <a:bodyPr/>
          <a:lstStyle/>
          <a:p>
            <a:endParaRPr lang="zh-CN" altLang="en-US"/>
          </a:p>
        </p:txBody>
      </p:sp>
      <p:sp>
        <p:nvSpPr>
          <p:cNvPr id="176143" name="Freeform 15"/>
          <p:cNvSpPr>
            <a:spLocks/>
          </p:cNvSpPr>
          <p:nvPr/>
        </p:nvSpPr>
        <p:spPr bwMode="auto">
          <a:xfrm>
            <a:off x="3041650" y="2214563"/>
            <a:ext cx="2981325" cy="3171825"/>
          </a:xfrm>
          <a:custGeom>
            <a:avLst/>
            <a:gdLst>
              <a:gd name="T0" fmla="*/ 0 w 1878"/>
              <a:gd name="T1" fmla="*/ 0 h 1998"/>
              <a:gd name="T2" fmla="*/ 2147483647 w 1878"/>
              <a:gd name="T3" fmla="*/ 2147483647 h 1998"/>
              <a:gd name="T4" fmla="*/ 0 60000 65536"/>
              <a:gd name="T5" fmla="*/ 0 60000 65536"/>
            </a:gdLst>
            <a:ahLst/>
            <a:cxnLst>
              <a:cxn ang="T4">
                <a:pos x="T0" y="T1"/>
              </a:cxn>
              <a:cxn ang="T5">
                <a:pos x="T2" y="T3"/>
              </a:cxn>
            </a:cxnLst>
            <a:rect l="0" t="0" r="r" b="b"/>
            <a:pathLst>
              <a:path w="1878" h="1998">
                <a:moveTo>
                  <a:pt x="0" y="0"/>
                </a:moveTo>
                <a:cubicBezTo>
                  <a:pt x="299" y="1627"/>
                  <a:pt x="1160" y="1890"/>
                  <a:pt x="1878" y="1998"/>
                </a:cubicBezTo>
              </a:path>
            </a:pathLst>
          </a:custGeom>
          <a:noFill/>
          <a:ln w="28575" cmpd="sng">
            <a:solidFill>
              <a:srgbClr val="800080"/>
            </a:solidFill>
            <a:round/>
            <a:headEnd/>
            <a:tailEnd/>
          </a:ln>
          <a:effectLst/>
        </p:spPr>
        <p:txBody>
          <a:bodyPr/>
          <a:lstStyle/>
          <a:p>
            <a:endParaRPr lang="zh-CN" altLang="en-US"/>
          </a:p>
        </p:txBody>
      </p:sp>
      <p:sp>
        <p:nvSpPr>
          <p:cNvPr id="9226" name="Text Box 16"/>
          <p:cNvSpPr txBox="1">
            <a:spLocks noChangeArrowheads="1"/>
          </p:cNvSpPr>
          <p:nvPr/>
        </p:nvSpPr>
        <p:spPr bwMode="auto">
          <a:xfrm>
            <a:off x="6102350" y="5300663"/>
            <a:ext cx="1366838" cy="396875"/>
          </a:xfrm>
          <a:prstGeom prst="rect">
            <a:avLst/>
          </a:prstGeom>
          <a:noFill/>
          <a:ln w="9525">
            <a:noFill/>
            <a:miter lim="800000"/>
            <a:headEnd/>
            <a:tailEnd/>
          </a:ln>
          <a:effectLst/>
        </p:spPr>
        <p:txBody>
          <a:bodyPr>
            <a:spAutoFit/>
          </a:bodyPr>
          <a:lstStyle/>
          <a:p>
            <a:r>
              <a:rPr lang="zh-CN" altLang="en-US" sz="2000" b="1">
                <a:solidFill>
                  <a:schemeClr val="tx2"/>
                </a:solidFill>
                <a:ea typeface="楷体_GB2312" pitchFamily="49" charset="-122"/>
              </a:rPr>
              <a:t>试验曲线</a:t>
            </a:r>
          </a:p>
        </p:txBody>
      </p:sp>
      <p:sp>
        <p:nvSpPr>
          <p:cNvPr id="176145" name="Freeform 17"/>
          <p:cNvSpPr>
            <a:spLocks/>
          </p:cNvSpPr>
          <p:nvPr/>
        </p:nvSpPr>
        <p:spPr bwMode="auto">
          <a:xfrm>
            <a:off x="495300" y="2976563"/>
            <a:ext cx="5607050" cy="2752725"/>
          </a:xfrm>
          <a:custGeom>
            <a:avLst/>
            <a:gdLst>
              <a:gd name="T0" fmla="*/ 0 w 3532"/>
              <a:gd name="T1" fmla="*/ 2147483647 h 1734"/>
              <a:gd name="T2" fmla="*/ 2147483647 w 3532"/>
              <a:gd name="T3" fmla="*/ 52924075 h 1734"/>
              <a:gd name="T4" fmla="*/ 2147483647 w 3532"/>
              <a:gd name="T5" fmla="*/ 2147483647 h 1734"/>
              <a:gd name="T6" fmla="*/ 0 60000 65536"/>
              <a:gd name="T7" fmla="*/ 0 60000 65536"/>
              <a:gd name="T8" fmla="*/ 0 60000 65536"/>
            </a:gdLst>
            <a:ahLst/>
            <a:cxnLst>
              <a:cxn ang="T6">
                <a:pos x="T0" y="T1"/>
              </a:cxn>
              <a:cxn ang="T7">
                <a:pos x="T2" y="T3"/>
              </a:cxn>
              <a:cxn ang="T8">
                <a:pos x="T4" y="T5"/>
              </a:cxn>
            </a:cxnLst>
            <a:rect l="0" t="0" r="r" b="b"/>
            <a:pathLst>
              <a:path w="3532" h="1734">
                <a:moveTo>
                  <a:pt x="0" y="1728"/>
                </a:moveTo>
                <a:cubicBezTo>
                  <a:pt x="455" y="1577"/>
                  <a:pt x="449" y="21"/>
                  <a:pt x="986" y="21"/>
                </a:cubicBezTo>
                <a:cubicBezTo>
                  <a:pt x="1537" y="0"/>
                  <a:pt x="1376" y="1505"/>
                  <a:pt x="3532" y="1734"/>
                </a:cubicBezTo>
              </a:path>
            </a:pathLst>
          </a:custGeom>
          <a:noFill/>
          <a:ln w="28575" cap="flat" cmpd="sng">
            <a:solidFill>
              <a:srgbClr val="0000FF">
                <a:alpha val="74901"/>
              </a:srgbClr>
            </a:solidFill>
            <a:prstDash val="solid"/>
            <a:round/>
            <a:headEnd/>
            <a:tailEnd/>
          </a:ln>
          <a:effectLst/>
        </p:spPr>
        <p:txBody>
          <a:bodyPr/>
          <a:lstStyle/>
          <a:p>
            <a:endParaRPr lang="zh-CN" altLang="en-US"/>
          </a:p>
        </p:txBody>
      </p:sp>
      <p:sp>
        <p:nvSpPr>
          <p:cNvPr id="176146" name="Freeform 18"/>
          <p:cNvSpPr>
            <a:spLocks/>
          </p:cNvSpPr>
          <p:nvPr/>
        </p:nvSpPr>
        <p:spPr bwMode="auto">
          <a:xfrm>
            <a:off x="476250" y="2976563"/>
            <a:ext cx="5635625" cy="2743200"/>
          </a:xfrm>
          <a:custGeom>
            <a:avLst/>
            <a:gdLst>
              <a:gd name="T0" fmla="*/ 0 w 6136"/>
              <a:gd name="T1" fmla="*/ 2147483647 h 2833"/>
              <a:gd name="T2" fmla="*/ 1437417773 w 6136"/>
              <a:gd name="T3" fmla="*/ 32816728 h 2833"/>
              <a:gd name="T4" fmla="*/ 2147483647 w 6136"/>
              <a:gd name="T5" fmla="*/ 2147483647 h 2833"/>
              <a:gd name="T6" fmla="*/ 0 60000 65536"/>
              <a:gd name="T7" fmla="*/ 0 60000 65536"/>
              <a:gd name="T8" fmla="*/ 0 60000 65536"/>
            </a:gdLst>
            <a:ahLst/>
            <a:cxnLst>
              <a:cxn ang="T6">
                <a:pos x="T0" y="T1"/>
              </a:cxn>
              <a:cxn ang="T7">
                <a:pos x="T2" y="T3"/>
              </a:cxn>
              <a:cxn ang="T8">
                <a:pos x="T4" y="T5"/>
              </a:cxn>
            </a:cxnLst>
            <a:rect l="0" t="0" r="r" b="b"/>
            <a:pathLst>
              <a:path w="6136" h="2833">
                <a:moveTo>
                  <a:pt x="0" y="2833"/>
                </a:moveTo>
                <a:cubicBezTo>
                  <a:pt x="787" y="2586"/>
                  <a:pt x="776" y="35"/>
                  <a:pt x="1704" y="35"/>
                </a:cubicBezTo>
                <a:cubicBezTo>
                  <a:pt x="2656" y="0"/>
                  <a:pt x="2410" y="2139"/>
                  <a:pt x="6136" y="2515"/>
                </a:cubicBezTo>
              </a:path>
            </a:pathLst>
          </a:custGeom>
          <a:noFill/>
          <a:ln w="28575" cap="flat" cmpd="sng">
            <a:solidFill>
              <a:srgbClr val="FF0000">
                <a:alpha val="74901"/>
              </a:srgbClr>
            </a:solidFill>
            <a:prstDash val="solid"/>
            <a:round/>
            <a:headEnd/>
            <a:tailEnd/>
          </a:ln>
          <a:effectLst/>
        </p:spPr>
        <p:txBody>
          <a:bodyPr/>
          <a:lstStyle/>
          <a:p>
            <a:endParaRPr lang="zh-CN" altLang="en-US"/>
          </a:p>
        </p:txBody>
      </p:sp>
      <p:sp>
        <p:nvSpPr>
          <p:cNvPr id="176150" name="Text Box 22"/>
          <p:cNvSpPr txBox="1">
            <a:spLocks noChangeArrowheads="1"/>
          </p:cNvSpPr>
          <p:nvPr/>
        </p:nvSpPr>
        <p:spPr bwMode="auto">
          <a:xfrm>
            <a:off x="217488" y="1073150"/>
            <a:ext cx="4949825" cy="461963"/>
          </a:xfrm>
          <a:prstGeom prst="rect">
            <a:avLst/>
          </a:prstGeom>
          <a:noFill/>
          <a:ln w="9525">
            <a:noFill/>
            <a:miter lim="800000"/>
            <a:headEnd/>
            <a:tailEnd/>
          </a:ln>
          <a:effectLst/>
        </p:spPr>
        <p:txBody>
          <a:bodyPr>
            <a:spAutoFit/>
          </a:bodyPr>
          <a:lstStyle/>
          <a:p>
            <a:r>
              <a:rPr lang="zh-CN" altLang="en-US" b="1">
                <a:solidFill>
                  <a:srgbClr val="FF0000"/>
                </a:solidFill>
                <a:latin typeface="宋体" charset="-122"/>
              </a:rPr>
              <a:t>黑体辐射的经典解释 </a:t>
            </a:r>
          </a:p>
        </p:txBody>
      </p:sp>
      <p:grpSp>
        <p:nvGrpSpPr>
          <p:cNvPr id="176156" name="Group 28"/>
          <p:cNvGrpSpPr>
            <a:grpSpLocks/>
          </p:cNvGrpSpPr>
          <p:nvPr/>
        </p:nvGrpSpPr>
        <p:grpSpPr bwMode="auto">
          <a:xfrm>
            <a:off x="5876925" y="908050"/>
            <a:ext cx="2592388" cy="3565525"/>
            <a:chOff x="3702" y="572"/>
            <a:chExt cx="1633" cy="2246"/>
          </a:xfrm>
        </p:grpSpPr>
        <p:pic>
          <p:nvPicPr>
            <p:cNvPr id="9233" name="Picture 25" descr="004"/>
            <p:cNvPicPr>
              <a:picLocks noChangeAspect="1" noChangeArrowheads="1"/>
            </p:cNvPicPr>
            <p:nvPr/>
          </p:nvPicPr>
          <p:blipFill>
            <a:blip r:embed="rId3"/>
            <a:srcRect/>
            <a:stretch>
              <a:fillRect/>
            </a:stretch>
          </p:blipFill>
          <p:spPr bwMode="auto">
            <a:xfrm>
              <a:off x="3844" y="572"/>
              <a:ext cx="1303" cy="1843"/>
            </a:xfrm>
            <a:prstGeom prst="rect">
              <a:avLst/>
            </a:prstGeom>
            <a:noFill/>
            <a:ln w="9525">
              <a:noFill/>
              <a:miter lim="800000"/>
              <a:headEnd/>
              <a:tailEnd/>
            </a:ln>
          </p:spPr>
        </p:pic>
        <p:sp>
          <p:nvSpPr>
            <p:cNvPr id="9234" name="Rectangle 26"/>
            <p:cNvSpPr>
              <a:spLocks noChangeArrowheads="1"/>
            </p:cNvSpPr>
            <p:nvPr/>
          </p:nvSpPr>
          <p:spPr bwMode="auto">
            <a:xfrm>
              <a:off x="3702" y="2472"/>
              <a:ext cx="1633" cy="346"/>
            </a:xfrm>
            <a:prstGeom prst="rect">
              <a:avLst/>
            </a:prstGeom>
            <a:noFill/>
            <a:ln w="9525">
              <a:noFill/>
              <a:miter lim="800000"/>
              <a:headEnd/>
              <a:tailEnd/>
            </a:ln>
            <a:effectLst/>
          </p:spPr>
          <p:txBody>
            <a:bodyPr>
              <a:spAutoFit/>
            </a:bodyPr>
            <a:lstStyle/>
            <a:p>
              <a:pPr>
                <a:lnSpc>
                  <a:spcPct val="125000"/>
                </a:lnSpc>
              </a:pPr>
              <a:r>
                <a:rPr lang="zh-CN" altLang="en-US" b="1">
                  <a:solidFill>
                    <a:srgbClr val="0000FF"/>
                  </a:solidFill>
                  <a:latin typeface="楷体_GB2312" pitchFamily="49" charset="-122"/>
                  <a:ea typeface="楷体_GB2312" pitchFamily="49" charset="-122"/>
                </a:rPr>
                <a:t>瑞利</a:t>
              </a:r>
              <a:r>
                <a:rPr lang="en-US" altLang="zh-CN" b="1">
                  <a:solidFill>
                    <a:srgbClr val="0000FF"/>
                  </a:solidFill>
                  <a:latin typeface="楷体_GB2312" pitchFamily="49" charset="-122"/>
                  <a:ea typeface="楷体_GB2312" pitchFamily="49" charset="-122"/>
                </a:rPr>
                <a:t>(1842</a:t>
              </a:r>
              <a:r>
                <a:rPr lang="zh-CN" altLang="en-US" b="1">
                  <a:solidFill>
                    <a:srgbClr val="0000FF"/>
                  </a:solidFill>
                  <a:latin typeface="楷体_GB2312" pitchFamily="49" charset="-122"/>
                  <a:ea typeface="楷体_GB2312" pitchFamily="49" charset="-122"/>
                </a:rPr>
                <a:t>～</a:t>
              </a:r>
              <a:r>
                <a:rPr lang="en-US" altLang="zh-CN" b="1">
                  <a:solidFill>
                    <a:srgbClr val="0000FF"/>
                  </a:solidFill>
                  <a:latin typeface="楷体_GB2312" pitchFamily="49" charset="-122"/>
                  <a:ea typeface="楷体_GB2312" pitchFamily="49" charset="-122"/>
                </a:rPr>
                <a:t>1919)</a:t>
              </a:r>
            </a:p>
          </p:txBody>
        </p:sp>
      </p:grpSp>
      <p:sp>
        <p:nvSpPr>
          <p:cNvPr id="176155" name="AutoShape 27"/>
          <p:cNvSpPr>
            <a:spLocks noChangeArrowheads="1"/>
          </p:cNvSpPr>
          <p:nvPr/>
        </p:nvSpPr>
        <p:spPr bwMode="auto">
          <a:xfrm>
            <a:off x="3627438" y="1223963"/>
            <a:ext cx="1798637" cy="1049337"/>
          </a:xfrm>
          <a:prstGeom prst="cloudCallout">
            <a:avLst>
              <a:gd name="adj1" fmla="val 84954"/>
              <a:gd name="adj2" fmla="val 52574"/>
            </a:avLst>
          </a:prstGeom>
          <a:gradFill rotWithShape="0">
            <a:gsLst>
              <a:gs pos="0">
                <a:srgbClr val="666666"/>
              </a:gs>
              <a:gs pos="50000">
                <a:srgbClr val="DADADA"/>
              </a:gs>
              <a:gs pos="100000">
                <a:srgbClr val="666666"/>
              </a:gs>
            </a:gsLst>
            <a:lin ang="540000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r>
              <a:rPr kumimoji="0" lang="en-US" altLang="zh-CN" b="1">
                <a:solidFill>
                  <a:schemeClr val="bg2"/>
                </a:solidFill>
                <a:latin typeface="楷体_GB2312" pitchFamily="49" charset="-122"/>
                <a:ea typeface="楷体_GB2312" pitchFamily="49" charset="-122"/>
              </a:rPr>
              <a:t> </a:t>
            </a:r>
            <a:r>
              <a:rPr kumimoji="0" lang="en-US" altLang="zh-CN" b="1">
                <a:solidFill>
                  <a:srgbClr val="CC00CC"/>
                </a:solidFill>
                <a:latin typeface="Times New Roman"/>
                <a:ea typeface="楷体_GB2312" pitchFamily="49" charset="-122"/>
              </a:rPr>
              <a:t>“</a:t>
            </a:r>
            <a:r>
              <a:rPr kumimoji="0" lang="zh-CN" altLang="en-US" b="1">
                <a:solidFill>
                  <a:srgbClr val="CC00CC"/>
                </a:solidFill>
                <a:latin typeface="楷体_GB2312" pitchFamily="49" charset="-122"/>
                <a:ea typeface="楷体_GB2312" pitchFamily="49" charset="-122"/>
              </a:rPr>
              <a:t>紫外灾难</a:t>
            </a:r>
            <a:r>
              <a:rPr kumimoji="0" lang="zh-CN" altLang="en-US" b="1">
                <a:solidFill>
                  <a:srgbClr val="CC00CC"/>
                </a:solidFill>
                <a:latin typeface="Times New Roman"/>
                <a:ea typeface="楷体_GB2312" pitchFamily="49" charset="-122"/>
              </a:rPr>
              <a:t>”</a:t>
            </a:r>
            <a:endParaRPr kumimoji="0" lang="zh-CN" altLang="en-US" b="1">
              <a:solidFill>
                <a:srgbClr val="CC00CC"/>
              </a:solidFill>
              <a:effectLst>
                <a:outerShdw blurRad="38100" dist="38100" dir="2700000" algn="tl">
                  <a:srgbClr val="000000"/>
                </a:outerShdw>
              </a:effectLst>
              <a:latin typeface="楷体_GB2312" pitchFamily="49" charset="-122"/>
              <a:ea typeface="楷体_GB2312" pitchFamily="49" charset="-122"/>
            </a:endParaRPr>
          </a:p>
        </p:txBody>
      </p:sp>
      <p:sp>
        <p:nvSpPr>
          <p:cNvPr id="9232" name="Text Box 3"/>
          <p:cNvSpPr txBox="1">
            <a:spLocks noChangeArrowheads="1"/>
          </p:cNvSpPr>
          <p:nvPr/>
        </p:nvSpPr>
        <p:spPr bwMode="auto">
          <a:xfrm>
            <a:off x="206375" y="444500"/>
            <a:ext cx="3740150" cy="461963"/>
          </a:xfrm>
          <a:prstGeom prst="rect">
            <a:avLst/>
          </a:prstGeom>
          <a:noFill/>
          <a:ln w="9525">
            <a:noFill/>
            <a:miter lim="800000"/>
            <a:headEnd/>
            <a:tailEnd/>
          </a:ln>
          <a:effectLst/>
        </p:spPr>
        <p:txBody>
          <a:bodyPr>
            <a:spAutoFit/>
          </a:bodyPr>
          <a:lstStyle/>
          <a:p>
            <a:r>
              <a:rPr lang="en-US" altLang="zh-CN" b="1" dirty="0" smtClean="0">
                <a:solidFill>
                  <a:srgbClr val="0000FF"/>
                </a:solidFill>
                <a:latin typeface="宋体" charset="-122"/>
              </a:rPr>
              <a:t>13.1.2 </a:t>
            </a:r>
            <a:r>
              <a:rPr lang="zh-CN" altLang="en-US" b="1" dirty="0" smtClean="0">
                <a:solidFill>
                  <a:srgbClr val="0000FF"/>
                </a:solidFill>
                <a:latin typeface="宋体" charset="-122"/>
              </a:rPr>
              <a:t>普</a:t>
            </a:r>
            <a:r>
              <a:rPr lang="zh-CN" altLang="en-US" b="1" dirty="0">
                <a:solidFill>
                  <a:srgbClr val="0000FF"/>
                </a:solidFill>
                <a:latin typeface="宋体" charset="-122"/>
              </a:rPr>
              <a:t>朗克量子假设</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6150"/>
                                        </p:tgtEl>
                                        <p:attrNameLst>
                                          <p:attrName>style.visibility</p:attrName>
                                        </p:attrNameLst>
                                      </p:cBhvr>
                                      <p:to>
                                        <p:strVal val="visible"/>
                                      </p:to>
                                    </p:set>
                                    <p:animEffect transition="in" filter="wipe(left)">
                                      <p:cBhvr>
                                        <p:cTn id="7" dur="500"/>
                                        <p:tgtEl>
                                          <p:spTgt spid="1761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76145"/>
                                        </p:tgtEl>
                                        <p:attrNameLst>
                                          <p:attrName>style.visibility</p:attrName>
                                        </p:attrNameLst>
                                      </p:cBhvr>
                                      <p:to>
                                        <p:strVal val="visible"/>
                                      </p:to>
                                    </p:set>
                                    <p:animEffect transition="in" filter="wipe(right)">
                                      <p:cBhvr>
                                        <p:cTn id="12" dur="3000"/>
                                        <p:tgtEl>
                                          <p:spTgt spid="176145"/>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76137"/>
                                        </p:tgtEl>
                                        <p:attrNameLst>
                                          <p:attrName>style.visibility</p:attrName>
                                        </p:attrNameLst>
                                      </p:cBhvr>
                                      <p:to>
                                        <p:strVal val="visible"/>
                                      </p:to>
                                    </p:set>
                                    <p:animEffect transition="in" filter="dissolve">
                                      <p:cBhvr>
                                        <p:cTn id="15" dur="500"/>
                                        <p:tgtEl>
                                          <p:spTgt spid="17613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76143"/>
                                        </p:tgtEl>
                                        <p:attrNameLst>
                                          <p:attrName>style.visibility</p:attrName>
                                        </p:attrNameLst>
                                      </p:cBhvr>
                                      <p:to>
                                        <p:strVal val="visible"/>
                                      </p:to>
                                    </p:set>
                                    <p:animEffect transition="in" filter="wipe(down)">
                                      <p:cBhvr>
                                        <p:cTn id="20" dur="1000"/>
                                        <p:tgtEl>
                                          <p:spTgt spid="176143"/>
                                        </p:tgtEl>
                                      </p:cBhvr>
                                    </p:animEffect>
                                  </p:childTnLst>
                                </p:cTn>
                              </p:par>
                            </p:childTnLst>
                          </p:cTn>
                        </p:par>
                        <p:par>
                          <p:cTn id="21" fill="hold" nodeType="afterGroup">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176136"/>
                                        </p:tgtEl>
                                        <p:attrNameLst>
                                          <p:attrName>style.visibility</p:attrName>
                                        </p:attrNameLst>
                                      </p:cBhvr>
                                      <p:to>
                                        <p:strVal val="visible"/>
                                      </p:to>
                                    </p:set>
                                    <p:animEffect transition="in" filter="dissolve">
                                      <p:cBhvr>
                                        <p:cTn id="24" dur="500"/>
                                        <p:tgtEl>
                                          <p:spTgt spid="17613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32" fill="hold" nodeType="clickEffect">
                                  <p:stCondLst>
                                    <p:cond delay="0"/>
                                  </p:stCondLst>
                                  <p:childTnLst>
                                    <p:set>
                                      <p:cBhvr>
                                        <p:cTn id="28" dur="1" fill="hold">
                                          <p:stCondLst>
                                            <p:cond delay="0"/>
                                          </p:stCondLst>
                                        </p:cTn>
                                        <p:tgtEl>
                                          <p:spTgt spid="176156"/>
                                        </p:tgtEl>
                                        <p:attrNameLst>
                                          <p:attrName>style.visibility</p:attrName>
                                        </p:attrNameLst>
                                      </p:cBhvr>
                                      <p:to>
                                        <p:strVal val="visible"/>
                                      </p:to>
                                    </p:set>
                                    <p:animEffect transition="in" filter="box(out)">
                                      <p:cBhvr>
                                        <p:cTn id="29" dur="500"/>
                                        <p:tgtEl>
                                          <p:spTgt spid="17615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6155"/>
                                        </p:tgtEl>
                                        <p:attrNameLst>
                                          <p:attrName>style.visibility</p:attrName>
                                        </p:attrNameLst>
                                      </p:cBhvr>
                                      <p:to>
                                        <p:strVal val="visible"/>
                                      </p:to>
                                    </p:set>
                                    <p:animEffect transition="in" filter="wipe(left)">
                                      <p:cBhvr>
                                        <p:cTn id="34" dur="3000"/>
                                        <p:tgtEl>
                                          <p:spTgt spid="17615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176146"/>
                                        </p:tgtEl>
                                        <p:attrNameLst>
                                          <p:attrName>style.visibility</p:attrName>
                                        </p:attrNameLst>
                                      </p:cBhvr>
                                      <p:to>
                                        <p:strVal val="visible"/>
                                      </p:to>
                                    </p:set>
                                    <p:animEffect transition="in" filter="wipe(right)">
                                      <p:cBhvr>
                                        <p:cTn id="39" dur="2000"/>
                                        <p:tgtEl>
                                          <p:spTgt spid="17614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5" presetClass="emph" presetSubtype="0" repeatCount="3000" fill="hold" grpId="1" nodeType="clickEffect">
                                  <p:stCondLst>
                                    <p:cond delay="0"/>
                                  </p:stCondLst>
                                  <p:childTnLst>
                                    <p:anim calcmode="discrete" valueType="str">
                                      <p:cBhvr>
                                        <p:cTn id="43" dur="1000" fill="hold"/>
                                        <p:tgtEl>
                                          <p:spTgt spid="17614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6" grpId="0"/>
      <p:bldP spid="176137" grpId="0"/>
      <p:bldP spid="176143" grpId="0" animBg="1"/>
      <p:bldP spid="176145" grpId="0" animBg="1"/>
      <p:bldP spid="176146" grpId="0" animBg="1"/>
      <p:bldP spid="176146" grpId="1" animBg="1"/>
      <p:bldP spid="176150" grpId="0" autoUpdateAnimBg="0"/>
      <p:bldP spid="17615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19"/>
          <p:cNvSpPr>
            <a:spLocks noChangeShapeType="1"/>
          </p:cNvSpPr>
          <p:nvPr/>
        </p:nvSpPr>
        <p:spPr bwMode="auto">
          <a:xfrm flipV="1">
            <a:off x="476250" y="2432050"/>
            <a:ext cx="0" cy="3976688"/>
          </a:xfrm>
          <a:prstGeom prst="line">
            <a:avLst/>
          </a:prstGeom>
          <a:noFill/>
          <a:ln w="28575">
            <a:solidFill>
              <a:schemeClr val="hlink"/>
            </a:solidFill>
            <a:round/>
            <a:headEnd/>
            <a:tailEnd type="triangle" w="med" len="lg"/>
          </a:ln>
          <a:effectLst/>
        </p:spPr>
        <p:txBody>
          <a:bodyPr/>
          <a:lstStyle/>
          <a:p>
            <a:endParaRPr lang="zh-CN" altLang="en-US"/>
          </a:p>
        </p:txBody>
      </p:sp>
      <p:sp>
        <p:nvSpPr>
          <p:cNvPr id="10243" name="Line 20"/>
          <p:cNvSpPr>
            <a:spLocks noChangeShapeType="1"/>
          </p:cNvSpPr>
          <p:nvPr/>
        </p:nvSpPr>
        <p:spPr bwMode="auto">
          <a:xfrm>
            <a:off x="431800" y="6400800"/>
            <a:ext cx="6489700" cy="1588"/>
          </a:xfrm>
          <a:prstGeom prst="line">
            <a:avLst/>
          </a:prstGeom>
          <a:noFill/>
          <a:ln w="28575">
            <a:solidFill>
              <a:schemeClr val="hlink"/>
            </a:solidFill>
            <a:round/>
            <a:headEnd/>
            <a:tailEnd type="triangle" w="med" len="lg"/>
          </a:ln>
          <a:effectLst/>
        </p:spPr>
        <p:txBody>
          <a:bodyPr/>
          <a:lstStyle/>
          <a:p>
            <a:endParaRPr lang="zh-CN" altLang="en-US"/>
          </a:p>
        </p:txBody>
      </p:sp>
      <p:sp>
        <p:nvSpPr>
          <p:cNvPr id="10244" name="Text Box 21"/>
          <p:cNvSpPr txBox="1">
            <a:spLocks noChangeArrowheads="1"/>
          </p:cNvSpPr>
          <p:nvPr/>
        </p:nvSpPr>
        <p:spPr bwMode="auto">
          <a:xfrm>
            <a:off x="476250" y="2359025"/>
            <a:ext cx="955675" cy="457200"/>
          </a:xfrm>
          <a:prstGeom prst="rect">
            <a:avLst/>
          </a:prstGeom>
          <a:noFill/>
          <a:ln w="9525">
            <a:noFill/>
            <a:miter lim="800000"/>
            <a:headEnd/>
            <a:tailEnd/>
          </a:ln>
          <a:effectLst/>
        </p:spPr>
        <p:txBody>
          <a:bodyPr>
            <a:spAutoFit/>
          </a:bodyPr>
          <a:lstStyle/>
          <a:p>
            <a:r>
              <a:rPr lang="en-US" altLang="zh-CN" b="1" i="1">
                <a:solidFill>
                  <a:schemeClr val="bg1"/>
                </a:solidFill>
              </a:rPr>
              <a:t>M</a:t>
            </a:r>
            <a:r>
              <a:rPr lang="en-US" altLang="zh-CN" b="1" i="1" baseline="-20000">
                <a:solidFill>
                  <a:schemeClr val="bg1"/>
                </a:solidFill>
              </a:rPr>
              <a:t>B</a:t>
            </a:r>
            <a:r>
              <a:rPr lang="en-US" altLang="zh-CN" b="1" i="1" baseline="-20000">
                <a:solidFill>
                  <a:schemeClr val="bg1"/>
                </a:solidFill>
                <a:sym typeface="Symbol" pitchFamily="18" charset="2"/>
              </a:rPr>
              <a:t></a:t>
            </a:r>
            <a:endParaRPr lang="en-US" altLang="en-US" b="1" i="1" baseline="-20000">
              <a:solidFill>
                <a:schemeClr val="bg1"/>
              </a:solidFill>
              <a:sym typeface="Symbol" pitchFamily="18" charset="2"/>
            </a:endParaRPr>
          </a:p>
        </p:txBody>
      </p:sp>
      <p:sp>
        <p:nvSpPr>
          <p:cNvPr id="10245" name="Rectangle 22"/>
          <p:cNvSpPr>
            <a:spLocks noChangeArrowheads="1"/>
          </p:cNvSpPr>
          <p:nvPr/>
        </p:nvSpPr>
        <p:spPr bwMode="auto">
          <a:xfrm>
            <a:off x="6551613" y="6400800"/>
            <a:ext cx="360362" cy="457200"/>
          </a:xfrm>
          <a:prstGeom prst="rect">
            <a:avLst/>
          </a:prstGeom>
          <a:noFill/>
          <a:ln w="9525">
            <a:noFill/>
            <a:miter lim="800000"/>
            <a:headEnd/>
            <a:tailEnd/>
          </a:ln>
          <a:effectLst/>
        </p:spPr>
        <p:txBody>
          <a:bodyPr>
            <a:spAutoFit/>
          </a:bodyPr>
          <a:lstStyle/>
          <a:p>
            <a:r>
              <a:rPr lang="en-US" altLang="zh-CN" b="1" i="1">
                <a:solidFill>
                  <a:schemeClr val="bg1"/>
                </a:solidFill>
                <a:sym typeface="Symbol" pitchFamily="18" charset="2"/>
              </a:rPr>
              <a:t></a:t>
            </a:r>
          </a:p>
        </p:txBody>
      </p:sp>
      <p:sp>
        <p:nvSpPr>
          <p:cNvPr id="96279" name="Rectangle 23"/>
          <p:cNvSpPr>
            <a:spLocks noChangeArrowheads="1"/>
          </p:cNvSpPr>
          <p:nvPr/>
        </p:nvSpPr>
        <p:spPr bwMode="auto">
          <a:xfrm>
            <a:off x="1106488" y="2414588"/>
            <a:ext cx="2592387" cy="854075"/>
          </a:xfrm>
          <a:prstGeom prst="rect">
            <a:avLst/>
          </a:prstGeom>
          <a:noFill/>
          <a:ln w="9525">
            <a:noFill/>
            <a:miter lim="800000"/>
            <a:headEnd/>
            <a:tailEnd/>
          </a:ln>
          <a:effectLst/>
        </p:spPr>
        <p:txBody>
          <a:bodyPr>
            <a:spAutoFit/>
          </a:bodyPr>
          <a:lstStyle/>
          <a:p>
            <a:pPr>
              <a:lnSpc>
                <a:spcPct val="125000"/>
              </a:lnSpc>
            </a:pPr>
            <a:r>
              <a:rPr lang="zh-CN" altLang="en-US" sz="2000" b="1">
                <a:solidFill>
                  <a:srgbClr val="CC00CC"/>
                </a:solidFill>
                <a:latin typeface="楷体_GB2312" pitchFamily="49" charset="-122"/>
                <a:ea typeface="楷体_GB2312" pitchFamily="49" charset="-122"/>
              </a:rPr>
              <a:t>瑞利 </a:t>
            </a:r>
            <a:r>
              <a:rPr lang="en-US" altLang="zh-CN" sz="2000" b="1">
                <a:solidFill>
                  <a:srgbClr val="CC00CC"/>
                </a:solidFill>
                <a:ea typeface="楷体_GB2312" pitchFamily="49" charset="-122"/>
              </a:rPr>
              <a:t>—</a:t>
            </a:r>
            <a:r>
              <a:rPr lang="en-US" altLang="zh-CN" sz="2000" b="1">
                <a:solidFill>
                  <a:srgbClr val="CC00CC"/>
                </a:solidFill>
                <a:latin typeface="楷体_GB2312" pitchFamily="49" charset="-122"/>
                <a:ea typeface="楷体_GB2312" pitchFamily="49" charset="-122"/>
              </a:rPr>
              <a:t> </a:t>
            </a:r>
            <a:r>
              <a:rPr lang="zh-CN" altLang="en-US" sz="2000" b="1">
                <a:solidFill>
                  <a:srgbClr val="CC00CC"/>
                </a:solidFill>
                <a:latin typeface="楷体_GB2312" pitchFamily="49" charset="-122"/>
                <a:ea typeface="楷体_GB2312" pitchFamily="49" charset="-122"/>
              </a:rPr>
              <a:t>金斯公式</a:t>
            </a:r>
          </a:p>
          <a:p>
            <a:pPr algn="ctr">
              <a:lnSpc>
                <a:spcPct val="125000"/>
              </a:lnSpc>
            </a:pPr>
            <a:r>
              <a:rPr lang="en-US" altLang="zh-CN" sz="2000" b="1">
                <a:solidFill>
                  <a:srgbClr val="CC00CC"/>
                </a:solidFill>
              </a:rPr>
              <a:t>(1900</a:t>
            </a:r>
            <a:r>
              <a:rPr lang="zh-CN" altLang="en-US" sz="2000" b="1">
                <a:solidFill>
                  <a:srgbClr val="CC00CC"/>
                </a:solidFill>
              </a:rPr>
              <a:t>年</a:t>
            </a:r>
            <a:r>
              <a:rPr lang="en-US" altLang="zh-CN" sz="2000" b="1">
                <a:solidFill>
                  <a:srgbClr val="CC00CC"/>
                </a:solidFill>
              </a:rPr>
              <a:t>)</a:t>
            </a:r>
          </a:p>
        </p:txBody>
      </p:sp>
      <p:sp>
        <p:nvSpPr>
          <p:cNvPr id="96280" name="Text Box 24"/>
          <p:cNvSpPr txBox="1">
            <a:spLocks noChangeArrowheads="1"/>
          </p:cNvSpPr>
          <p:nvPr/>
        </p:nvSpPr>
        <p:spPr bwMode="auto">
          <a:xfrm>
            <a:off x="3086100" y="5384800"/>
            <a:ext cx="1268413" cy="854075"/>
          </a:xfrm>
          <a:prstGeom prst="rect">
            <a:avLst/>
          </a:prstGeom>
          <a:noFill/>
          <a:ln w="9525">
            <a:noFill/>
            <a:miter lim="800000"/>
            <a:headEnd/>
            <a:tailEnd/>
          </a:ln>
          <a:effectLst/>
        </p:spPr>
        <p:txBody>
          <a:bodyPr>
            <a:spAutoFit/>
          </a:bodyPr>
          <a:lstStyle/>
          <a:p>
            <a:pPr algn="ctr">
              <a:lnSpc>
                <a:spcPct val="125000"/>
              </a:lnSpc>
            </a:pPr>
            <a:r>
              <a:rPr lang="zh-CN" altLang="en-US" sz="2000" b="1">
                <a:solidFill>
                  <a:srgbClr val="3333CC"/>
                </a:solidFill>
                <a:ea typeface="楷体_GB2312" pitchFamily="49" charset="-122"/>
              </a:rPr>
              <a:t>维恩公式</a:t>
            </a:r>
          </a:p>
          <a:p>
            <a:pPr algn="ctr">
              <a:lnSpc>
                <a:spcPct val="125000"/>
              </a:lnSpc>
            </a:pPr>
            <a:r>
              <a:rPr lang="en-US" altLang="zh-CN" sz="2000" b="1">
                <a:solidFill>
                  <a:srgbClr val="0000FF"/>
                </a:solidFill>
              </a:rPr>
              <a:t>(1893</a:t>
            </a:r>
            <a:r>
              <a:rPr lang="zh-CN" altLang="en-US" sz="2000" b="1">
                <a:solidFill>
                  <a:srgbClr val="0000FF"/>
                </a:solidFill>
              </a:rPr>
              <a:t>年</a:t>
            </a:r>
            <a:r>
              <a:rPr lang="en-US" altLang="zh-CN" sz="2000" b="1">
                <a:solidFill>
                  <a:srgbClr val="0000FF"/>
                </a:solidFill>
              </a:rPr>
              <a:t>)</a:t>
            </a:r>
          </a:p>
        </p:txBody>
      </p:sp>
      <p:sp>
        <p:nvSpPr>
          <p:cNvPr id="10248" name="Freeform 25"/>
          <p:cNvSpPr>
            <a:spLocks/>
          </p:cNvSpPr>
          <p:nvPr/>
        </p:nvSpPr>
        <p:spPr bwMode="auto">
          <a:xfrm>
            <a:off x="746125" y="3355975"/>
            <a:ext cx="5635625" cy="2743200"/>
          </a:xfrm>
          <a:custGeom>
            <a:avLst/>
            <a:gdLst>
              <a:gd name="T0" fmla="*/ 0 w 6136"/>
              <a:gd name="T1" fmla="*/ 2147483647 h 2833"/>
              <a:gd name="T2" fmla="*/ 1437417773 w 6136"/>
              <a:gd name="T3" fmla="*/ 32816728 h 2833"/>
              <a:gd name="T4" fmla="*/ 2147483647 w 6136"/>
              <a:gd name="T5" fmla="*/ 2147483647 h 2833"/>
              <a:gd name="T6" fmla="*/ 0 60000 65536"/>
              <a:gd name="T7" fmla="*/ 0 60000 65536"/>
              <a:gd name="T8" fmla="*/ 0 60000 65536"/>
            </a:gdLst>
            <a:ahLst/>
            <a:cxnLst>
              <a:cxn ang="T6">
                <a:pos x="T0" y="T1"/>
              </a:cxn>
              <a:cxn ang="T7">
                <a:pos x="T2" y="T3"/>
              </a:cxn>
              <a:cxn ang="T8">
                <a:pos x="T4" y="T5"/>
              </a:cxn>
            </a:cxnLst>
            <a:rect l="0" t="0" r="r" b="b"/>
            <a:pathLst>
              <a:path w="6136" h="2833">
                <a:moveTo>
                  <a:pt x="0" y="2833"/>
                </a:moveTo>
                <a:cubicBezTo>
                  <a:pt x="787" y="2586"/>
                  <a:pt x="776" y="35"/>
                  <a:pt x="1704" y="35"/>
                </a:cubicBezTo>
                <a:cubicBezTo>
                  <a:pt x="2656" y="0"/>
                  <a:pt x="2410" y="2139"/>
                  <a:pt x="6136" y="2515"/>
                </a:cubicBezTo>
              </a:path>
            </a:pathLst>
          </a:custGeom>
          <a:noFill/>
          <a:ln w="28575" cap="flat" cmpd="sng">
            <a:solidFill>
              <a:srgbClr val="FF99CC"/>
            </a:solidFill>
            <a:prstDash val="sysDot"/>
            <a:round/>
            <a:headEnd/>
            <a:tailEnd/>
          </a:ln>
          <a:effectLst/>
        </p:spPr>
        <p:txBody>
          <a:bodyPr/>
          <a:lstStyle/>
          <a:p>
            <a:endParaRPr lang="zh-CN" altLang="en-US"/>
          </a:p>
        </p:txBody>
      </p:sp>
      <p:sp>
        <p:nvSpPr>
          <p:cNvPr id="96282" name="Freeform 26"/>
          <p:cNvSpPr>
            <a:spLocks/>
          </p:cNvSpPr>
          <p:nvPr/>
        </p:nvSpPr>
        <p:spPr bwMode="auto">
          <a:xfrm>
            <a:off x="3311525" y="2593975"/>
            <a:ext cx="2981325" cy="3171825"/>
          </a:xfrm>
          <a:custGeom>
            <a:avLst/>
            <a:gdLst>
              <a:gd name="T0" fmla="*/ 0 w 1878"/>
              <a:gd name="T1" fmla="*/ 0 h 1998"/>
              <a:gd name="T2" fmla="*/ 2147483647 w 1878"/>
              <a:gd name="T3" fmla="*/ 2147483647 h 1998"/>
              <a:gd name="T4" fmla="*/ 0 60000 65536"/>
              <a:gd name="T5" fmla="*/ 0 60000 65536"/>
            </a:gdLst>
            <a:ahLst/>
            <a:cxnLst>
              <a:cxn ang="T4">
                <a:pos x="T0" y="T1"/>
              </a:cxn>
              <a:cxn ang="T5">
                <a:pos x="T2" y="T3"/>
              </a:cxn>
            </a:cxnLst>
            <a:rect l="0" t="0" r="r" b="b"/>
            <a:pathLst>
              <a:path w="1878" h="1998">
                <a:moveTo>
                  <a:pt x="0" y="0"/>
                </a:moveTo>
                <a:cubicBezTo>
                  <a:pt x="299" y="1627"/>
                  <a:pt x="1160" y="1890"/>
                  <a:pt x="1878" y="1998"/>
                </a:cubicBezTo>
              </a:path>
            </a:pathLst>
          </a:custGeom>
          <a:noFill/>
          <a:ln w="28575" cmpd="sng">
            <a:solidFill>
              <a:srgbClr val="800080"/>
            </a:solidFill>
            <a:round/>
            <a:headEnd/>
            <a:tailEnd/>
          </a:ln>
          <a:effectLst/>
        </p:spPr>
        <p:txBody>
          <a:bodyPr/>
          <a:lstStyle/>
          <a:p>
            <a:endParaRPr lang="zh-CN" altLang="en-US"/>
          </a:p>
        </p:txBody>
      </p:sp>
      <p:sp>
        <p:nvSpPr>
          <p:cNvPr id="10250" name="Text Box 27"/>
          <p:cNvSpPr txBox="1">
            <a:spLocks noChangeArrowheads="1"/>
          </p:cNvSpPr>
          <p:nvPr/>
        </p:nvSpPr>
        <p:spPr bwMode="auto">
          <a:xfrm>
            <a:off x="6372225" y="5680075"/>
            <a:ext cx="1366838" cy="396875"/>
          </a:xfrm>
          <a:prstGeom prst="rect">
            <a:avLst/>
          </a:prstGeom>
          <a:noFill/>
          <a:ln w="9525">
            <a:noFill/>
            <a:miter lim="800000"/>
            <a:headEnd/>
            <a:tailEnd/>
          </a:ln>
          <a:effectLst/>
        </p:spPr>
        <p:txBody>
          <a:bodyPr>
            <a:spAutoFit/>
          </a:bodyPr>
          <a:lstStyle/>
          <a:p>
            <a:r>
              <a:rPr lang="zh-CN" altLang="en-US" sz="2000" b="1">
                <a:solidFill>
                  <a:srgbClr val="FF6600"/>
                </a:solidFill>
                <a:ea typeface="楷体_GB2312" pitchFamily="49" charset="-122"/>
              </a:rPr>
              <a:t>试验曲线</a:t>
            </a:r>
          </a:p>
        </p:txBody>
      </p:sp>
      <p:sp>
        <p:nvSpPr>
          <p:cNvPr id="96284" name="Freeform 28"/>
          <p:cNvSpPr>
            <a:spLocks/>
          </p:cNvSpPr>
          <p:nvPr/>
        </p:nvSpPr>
        <p:spPr bwMode="auto">
          <a:xfrm>
            <a:off x="765175" y="3355975"/>
            <a:ext cx="5607050" cy="2752725"/>
          </a:xfrm>
          <a:custGeom>
            <a:avLst/>
            <a:gdLst>
              <a:gd name="T0" fmla="*/ 0 w 3532"/>
              <a:gd name="T1" fmla="*/ 2147483647 h 1734"/>
              <a:gd name="T2" fmla="*/ 2147483647 w 3532"/>
              <a:gd name="T3" fmla="*/ 52924075 h 1734"/>
              <a:gd name="T4" fmla="*/ 2147483647 w 3532"/>
              <a:gd name="T5" fmla="*/ 2147483647 h 1734"/>
              <a:gd name="T6" fmla="*/ 0 60000 65536"/>
              <a:gd name="T7" fmla="*/ 0 60000 65536"/>
              <a:gd name="T8" fmla="*/ 0 60000 65536"/>
            </a:gdLst>
            <a:ahLst/>
            <a:cxnLst>
              <a:cxn ang="T6">
                <a:pos x="T0" y="T1"/>
              </a:cxn>
              <a:cxn ang="T7">
                <a:pos x="T2" y="T3"/>
              </a:cxn>
              <a:cxn ang="T8">
                <a:pos x="T4" y="T5"/>
              </a:cxn>
            </a:cxnLst>
            <a:rect l="0" t="0" r="r" b="b"/>
            <a:pathLst>
              <a:path w="3532" h="1734">
                <a:moveTo>
                  <a:pt x="0" y="1728"/>
                </a:moveTo>
                <a:cubicBezTo>
                  <a:pt x="455" y="1577"/>
                  <a:pt x="449" y="21"/>
                  <a:pt x="986" y="21"/>
                </a:cubicBezTo>
                <a:cubicBezTo>
                  <a:pt x="1537" y="0"/>
                  <a:pt x="1376" y="1505"/>
                  <a:pt x="3532" y="1734"/>
                </a:cubicBezTo>
              </a:path>
            </a:pathLst>
          </a:custGeom>
          <a:noFill/>
          <a:ln w="28575" cap="flat" cmpd="sng">
            <a:solidFill>
              <a:srgbClr val="0000FF">
                <a:alpha val="74901"/>
              </a:srgbClr>
            </a:solidFill>
            <a:prstDash val="solid"/>
            <a:round/>
            <a:headEnd/>
            <a:tailEnd/>
          </a:ln>
          <a:effectLst/>
        </p:spPr>
        <p:txBody>
          <a:bodyPr/>
          <a:lstStyle/>
          <a:p>
            <a:endParaRPr lang="zh-CN" altLang="en-US"/>
          </a:p>
        </p:txBody>
      </p:sp>
      <p:sp>
        <p:nvSpPr>
          <p:cNvPr id="96285" name="Freeform 29"/>
          <p:cNvSpPr>
            <a:spLocks/>
          </p:cNvSpPr>
          <p:nvPr/>
        </p:nvSpPr>
        <p:spPr bwMode="auto">
          <a:xfrm>
            <a:off x="746125" y="3355975"/>
            <a:ext cx="5635625" cy="2743200"/>
          </a:xfrm>
          <a:custGeom>
            <a:avLst/>
            <a:gdLst>
              <a:gd name="T0" fmla="*/ 0 w 6136"/>
              <a:gd name="T1" fmla="*/ 2147483647 h 2833"/>
              <a:gd name="T2" fmla="*/ 1437417773 w 6136"/>
              <a:gd name="T3" fmla="*/ 32816728 h 2833"/>
              <a:gd name="T4" fmla="*/ 2147483647 w 6136"/>
              <a:gd name="T5" fmla="*/ 2147483647 h 2833"/>
              <a:gd name="T6" fmla="*/ 0 60000 65536"/>
              <a:gd name="T7" fmla="*/ 0 60000 65536"/>
              <a:gd name="T8" fmla="*/ 0 60000 65536"/>
            </a:gdLst>
            <a:ahLst/>
            <a:cxnLst>
              <a:cxn ang="T6">
                <a:pos x="T0" y="T1"/>
              </a:cxn>
              <a:cxn ang="T7">
                <a:pos x="T2" y="T3"/>
              </a:cxn>
              <a:cxn ang="T8">
                <a:pos x="T4" y="T5"/>
              </a:cxn>
            </a:cxnLst>
            <a:rect l="0" t="0" r="r" b="b"/>
            <a:pathLst>
              <a:path w="6136" h="2833">
                <a:moveTo>
                  <a:pt x="0" y="2833"/>
                </a:moveTo>
                <a:cubicBezTo>
                  <a:pt x="787" y="2586"/>
                  <a:pt x="776" y="35"/>
                  <a:pt x="1704" y="35"/>
                </a:cubicBezTo>
                <a:cubicBezTo>
                  <a:pt x="2656" y="0"/>
                  <a:pt x="2410" y="2139"/>
                  <a:pt x="6136" y="2515"/>
                </a:cubicBezTo>
              </a:path>
            </a:pathLst>
          </a:custGeom>
          <a:noFill/>
          <a:ln w="28575" cap="flat" cmpd="sng">
            <a:solidFill>
              <a:srgbClr val="FF0000">
                <a:alpha val="74901"/>
              </a:srgbClr>
            </a:solidFill>
            <a:prstDash val="solid"/>
            <a:round/>
            <a:headEnd/>
            <a:tailEnd/>
          </a:ln>
          <a:effectLst/>
        </p:spPr>
        <p:txBody>
          <a:bodyPr/>
          <a:lstStyle/>
          <a:p>
            <a:endParaRPr lang="zh-CN" altLang="en-US"/>
          </a:p>
        </p:txBody>
      </p:sp>
      <p:sp>
        <p:nvSpPr>
          <p:cNvPr id="96291" name="Rectangle 35"/>
          <p:cNvSpPr>
            <a:spLocks noChangeArrowheads="1"/>
          </p:cNvSpPr>
          <p:nvPr/>
        </p:nvSpPr>
        <p:spPr bwMode="auto">
          <a:xfrm>
            <a:off x="693738" y="450850"/>
            <a:ext cx="3240087" cy="457200"/>
          </a:xfrm>
          <a:prstGeom prst="rect">
            <a:avLst/>
          </a:prstGeom>
          <a:noFill/>
          <a:ln w="9525">
            <a:noFill/>
            <a:miter lim="800000"/>
            <a:headEnd/>
            <a:tailEnd/>
          </a:ln>
          <a:effectLst/>
        </p:spPr>
        <p:txBody>
          <a:bodyPr>
            <a:spAutoFit/>
          </a:bodyPr>
          <a:lstStyle/>
          <a:p>
            <a:r>
              <a:rPr lang="zh-CN" altLang="en-US" b="1">
                <a:solidFill>
                  <a:schemeClr val="hlink"/>
                </a:solidFill>
                <a:latin typeface="宋体" charset="-122"/>
              </a:rPr>
              <a:t>普朗克公式</a:t>
            </a:r>
            <a:r>
              <a:rPr lang="en-US" altLang="zh-CN" b="1">
                <a:solidFill>
                  <a:schemeClr val="hlink"/>
                </a:solidFill>
                <a:latin typeface="宋体" charset="-122"/>
              </a:rPr>
              <a:t>(1900</a:t>
            </a:r>
            <a:r>
              <a:rPr lang="zh-CN" altLang="en-US" b="1">
                <a:solidFill>
                  <a:schemeClr val="hlink"/>
                </a:solidFill>
                <a:latin typeface="宋体" charset="-122"/>
              </a:rPr>
              <a:t>年</a:t>
            </a:r>
            <a:r>
              <a:rPr lang="en-US" altLang="zh-CN" b="1">
                <a:solidFill>
                  <a:schemeClr val="hlink"/>
                </a:solidFill>
                <a:latin typeface="宋体" charset="-122"/>
              </a:rPr>
              <a:t>)</a:t>
            </a:r>
            <a:r>
              <a:rPr lang="zh-CN" altLang="en-US" b="1">
                <a:solidFill>
                  <a:schemeClr val="hlink"/>
                </a:solidFill>
                <a:latin typeface="宋体" charset="-122"/>
              </a:rPr>
              <a:t>：</a:t>
            </a:r>
          </a:p>
        </p:txBody>
      </p:sp>
      <p:graphicFrame>
        <p:nvGraphicFramePr>
          <p:cNvPr id="96292" name="Object 36"/>
          <p:cNvGraphicFramePr>
            <a:graphicFrameLocks noChangeAspect="1"/>
          </p:cNvGraphicFramePr>
          <p:nvPr/>
        </p:nvGraphicFramePr>
        <p:xfrm>
          <a:off x="971550" y="1403350"/>
          <a:ext cx="4060825" cy="993775"/>
        </p:xfrm>
        <a:graphic>
          <a:graphicData uri="http://schemas.openxmlformats.org/presentationml/2006/ole">
            <p:oleObj spid="_x0000_s10254" name="公式" r:id="rId4" imgW="1449720" imgH="342720" progId="Equation.3">
              <p:embed/>
            </p:oleObj>
          </a:graphicData>
        </a:graphic>
      </p:graphicFrame>
      <p:pic>
        <p:nvPicPr>
          <p:cNvPr id="96293" name="Picture 37" descr="40-bio1"/>
          <p:cNvPicPr>
            <a:picLocks noChangeAspect="1" noChangeArrowheads="1"/>
          </p:cNvPicPr>
          <p:nvPr/>
        </p:nvPicPr>
        <p:blipFill>
          <a:blip r:embed="rId5"/>
          <a:srcRect b="1888"/>
          <a:stretch>
            <a:fillRect/>
          </a:stretch>
        </p:blipFill>
        <p:spPr bwMode="auto">
          <a:xfrm>
            <a:off x="7181850" y="414338"/>
            <a:ext cx="1625600" cy="2070100"/>
          </a:xfrm>
          <a:prstGeom prst="rect">
            <a:avLst/>
          </a:prstGeom>
          <a:noFill/>
          <a:ln w="9525">
            <a:noFill/>
            <a:miter lim="800000"/>
            <a:headEnd/>
            <a:tailEnd/>
          </a:ln>
        </p:spPr>
      </p:pic>
      <p:sp>
        <p:nvSpPr>
          <p:cNvPr id="96294" name="Rectangle 38"/>
          <p:cNvSpPr>
            <a:spLocks noChangeArrowheads="1"/>
          </p:cNvSpPr>
          <p:nvPr/>
        </p:nvSpPr>
        <p:spPr bwMode="auto">
          <a:xfrm>
            <a:off x="5021263" y="4149725"/>
            <a:ext cx="3249612" cy="457200"/>
          </a:xfrm>
          <a:prstGeom prst="rect">
            <a:avLst/>
          </a:prstGeom>
          <a:noFill/>
          <a:ln w="9525">
            <a:noFill/>
            <a:miter lim="800000"/>
            <a:headEnd/>
            <a:tailEnd/>
          </a:ln>
          <a:effectLst/>
        </p:spPr>
        <p:txBody>
          <a:bodyPr wrap="none">
            <a:spAutoFit/>
          </a:bodyPr>
          <a:lstStyle/>
          <a:p>
            <a:r>
              <a:rPr lang="en-US" altLang="zh-TW" b="1">
                <a:solidFill>
                  <a:srgbClr val="0000FF"/>
                </a:solidFill>
                <a:latin typeface="楷体_GB2312" pitchFamily="49" charset="-122"/>
                <a:ea typeface="楷体_GB2312" pitchFamily="49" charset="-122"/>
              </a:rPr>
              <a:t>(</a:t>
            </a:r>
            <a:r>
              <a:rPr lang="zh-TW" altLang="en-US" b="1">
                <a:solidFill>
                  <a:srgbClr val="0000FF"/>
                </a:solidFill>
                <a:latin typeface="楷体_GB2312" pitchFamily="49" charset="-122"/>
                <a:ea typeface="楷体_GB2312" pitchFamily="49" charset="-122"/>
              </a:rPr>
              <a:t>拯救紫外危</a:t>
            </a:r>
            <a:r>
              <a:rPr lang="zh-CN" altLang="en-US" b="1">
                <a:solidFill>
                  <a:srgbClr val="0000FF"/>
                </a:solidFill>
                <a:latin typeface="楷体_GB2312" pitchFamily="49" charset="-122"/>
                <a:ea typeface="楷体_GB2312" pitchFamily="49" charset="-122"/>
              </a:rPr>
              <a:t>机</a:t>
            </a:r>
            <a:r>
              <a:rPr lang="zh-TW" altLang="en-US" b="1">
                <a:solidFill>
                  <a:srgbClr val="0000FF"/>
                </a:solidFill>
                <a:latin typeface="楷体_GB2312" pitchFamily="49" charset="-122"/>
                <a:ea typeface="楷体_GB2312" pitchFamily="49" charset="-122"/>
              </a:rPr>
              <a:t>的英雄</a:t>
            </a:r>
            <a:r>
              <a:rPr lang="en-US" altLang="zh-TW" b="1">
                <a:solidFill>
                  <a:srgbClr val="0000FF"/>
                </a:solidFill>
                <a:latin typeface="楷体_GB2312" pitchFamily="49" charset="-122"/>
                <a:ea typeface="楷体_GB2312" pitchFamily="49" charset="-122"/>
              </a:rPr>
              <a:t>)</a:t>
            </a:r>
            <a:endParaRPr lang="en-US" altLang="zh-CN" b="1">
              <a:solidFill>
                <a:srgbClr val="0000FF"/>
              </a:solidFill>
              <a:latin typeface="楷体_GB2312" pitchFamily="49" charset="-122"/>
              <a:ea typeface="楷体_GB2312" pitchFamily="49" charset="-122"/>
            </a:endParaRPr>
          </a:p>
        </p:txBody>
      </p:sp>
      <p:sp>
        <p:nvSpPr>
          <p:cNvPr id="96295" name="Text Box 39"/>
          <p:cNvSpPr txBox="1">
            <a:spLocks noChangeArrowheads="1"/>
          </p:cNvSpPr>
          <p:nvPr/>
        </p:nvSpPr>
        <p:spPr bwMode="auto">
          <a:xfrm>
            <a:off x="4076700" y="2708275"/>
            <a:ext cx="3060700" cy="1354138"/>
          </a:xfrm>
          <a:prstGeom prst="rect">
            <a:avLst/>
          </a:prstGeom>
          <a:noFill/>
          <a:ln w="9525">
            <a:noFill/>
            <a:miter lim="800000"/>
            <a:headEnd/>
            <a:tailEnd/>
          </a:ln>
          <a:effectLst/>
        </p:spPr>
        <p:txBody>
          <a:bodyPr>
            <a:spAutoFit/>
          </a:bodyPr>
          <a:lstStyle/>
          <a:p>
            <a:pPr>
              <a:lnSpc>
                <a:spcPct val="115000"/>
              </a:lnSpc>
            </a:pPr>
            <a:r>
              <a:rPr lang="en-US" altLang="zh-CN" b="1">
                <a:solidFill>
                  <a:schemeClr val="bg1"/>
                </a:solidFill>
                <a:ea typeface="楷体_GB2312" pitchFamily="49" charset="-122"/>
              </a:rPr>
              <a:t>     </a:t>
            </a:r>
            <a:r>
              <a:rPr lang="zh-CN" altLang="en-US" b="1">
                <a:solidFill>
                  <a:schemeClr val="bg1"/>
                </a:solidFill>
                <a:ea typeface="楷体_GB2312" pitchFamily="49" charset="-122"/>
              </a:rPr>
              <a:t>为解释这一公式，普朗克提出了能量量子化假设。</a:t>
            </a: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96284"/>
                                        </p:tgtEl>
                                        <p:attrNameLst>
                                          <p:attrName>style.visibility</p:attrName>
                                        </p:attrNameLst>
                                      </p:cBhvr>
                                      <p:to>
                                        <p:strVal val="visible"/>
                                      </p:to>
                                    </p:set>
                                    <p:animEffect transition="in" filter="wipe(right)">
                                      <p:cBhvr>
                                        <p:cTn id="7" dur="3000"/>
                                        <p:tgtEl>
                                          <p:spTgt spid="9628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6280"/>
                                        </p:tgtEl>
                                        <p:attrNameLst>
                                          <p:attrName>style.visibility</p:attrName>
                                        </p:attrNameLst>
                                      </p:cBhvr>
                                      <p:to>
                                        <p:strVal val="visible"/>
                                      </p:to>
                                    </p:set>
                                    <p:animEffect transition="in" filter="dissolve">
                                      <p:cBhvr>
                                        <p:cTn id="10" dur="500"/>
                                        <p:tgtEl>
                                          <p:spTgt spid="9628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96282"/>
                                        </p:tgtEl>
                                        <p:attrNameLst>
                                          <p:attrName>style.visibility</p:attrName>
                                        </p:attrNameLst>
                                      </p:cBhvr>
                                      <p:to>
                                        <p:strVal val="visible"/>
                                      </p:to>
                                    </p:set>
                                    <p:animEffect transition="in" filter="wipe(down)">
                                      <p:cBhvr>
                                        <p:cTn id="15" dur="1000"/>
                                        <p:tgtEl>
                                          <p:spTgt spid="96282"/>
                                        </p:tgtEl>
                                      </p:cBhvr>
                                    </p:animEffect>
                                  </p:childTnLst>
                                </p:cTn>
                              </p:par>
                            </p:childTnLst>
                          </p:cTn>
                        </p:par>
                        <p:par>
                          <p:cTn id="16" fill="hold" nodeType="afterGroup">
                            <p:stCondLst>
                              <p:cond delay="1000"/>
                            </p:stCondLst>
                            <p:childTnLst>
                              <p:par>
                                <p:cTn id="17" presetID="9" presetClass="entr" presetSubtype="0" fill="hold" grpId="0" nodeType="afterEffect">
                                  <p:stCondLst>
                                    <p:cond delay="0"/>
                                  </p:stCondLst>
                                  <p:childTnLst>
                                    <p:set>
                                      <p:cBhvr>
                                        <p:cTn id="18" dur="1" fill="hold">
                                          <p:stCondLst>
                                            <p:cond delay="0"/>
                                          </p:stCondLst>
                                        </p:cTn>
                                        <p:tgtEl>
                                          <p:spTgt spid="96279"/>
                                        </p:tgtEl>
                                        <p:attrNameLst>
                                          <p:attrName>style.visibility</p:attrName>
                                        </p:attrNameLst>
                                      </p:cBhvr>
                                      <p:to>
                                        <p:strVal val="visible"/>
                                      </p:to>
                                    </p:set>
                                    <p:animEffect transition="in" filter="dissolve">
                                      <p:cBhvr>
                                        <p:cTn id="19" dur="500"/>
                                        <p:tgtEl>
                                          <p:spTgt spid="9627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96285"/>
                                        </p:tgtEl>
                                        <p:attrNameLst>
                                          <p:attrName>style.visibility</p:attrName>
                                        </p:attrNameLst>
                                      </p:cBhvr>
                                      <p:to>
                                        <p:strVal val="visible"/>
                                      </p:to>
                                    </p:set>
                                    <p:animEffect transition="in" filter="wipe(right)">
                                      <p:cBhvr>
                                        <p:cTn id="24" dur="2000"/>
                                        <p:tgtEl>
                                          <p:spTgt spid="9628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5" presetClass="emph" presetSubtype="0" repeatCount="3000" fill="hold" grpId="1" nodeType="clickEffect">
                                  <p:stCondLst>
                                    <p:cond delay="0"/>
                                  </p:stCondLst>
                                  <p:childTnLst>
                                    <p:anim calcmode="discrete" valueType="str">
                                      <p:cBhvr>
                                        <p:cTn id="28" dur="1000" fill="hold"/>
                                        <p:tgtEl>
                                          <p:spTgt spid="96285"/>
                                        </p:tgtEl>
                                        <p:attrNameLst>
                                          <p:attrName>style.visibility</p:attrName>
                                        </p:attrNameLst>
                                      </p:cBhvr>
                                      <p:tavLst>
                                        <p:tav tm="0">
                                          <p:val>
                                            <p:strVal val="hidden"/>
                                          </p:val>
                                        </p:tav>
                                        <p:tav tm="50000">
                                          <p:val>
                                            <p:strVal val="visible"/>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96291"/>
                                        </p:tgtEl>
                                        <p:attrNameLst>
                                          <p:attrName>style.visibility</p:attrName>
                                        </p:attrNameLst>
                                      </p:cBhvr>
                                      <p:to>
                                        <p:strVal val="visible"/>
                                      </p:to>
                                    </p:set>
                                    <p:animEffect transition="in" filter="dissolve">
                                      <p:cBhvr>
                                        <p:cTn id="33" dur="500"/>
                                        <p:tgtEl>
                                          <p:spTgt spid="96291"/>
                                        </p:tgtEl>
                                      </p:cBhvr>
                                    </p:animEffect>
                                  </p:childTnLst>
                                </p:cTn>
                              </p:par>
                            </p:childTnLst>
                          </p:cTn>
                        </p:par>
                        <p:par>
                          <p:cTn id="34" fill="hold" nodeType="afterGroup">
                            <p:stCondLst>
                              <p:cond delay="500"/>
                            </p:stCondLst>
                            <p:childTnLst>
                              <p:par>
                                <p:cTn id="35" presetID="9" presetClass="entr" presetSubtype="0" fill="hold" nodeType="afterEffect">
                                  <p:stCondLst>
                                    <p:cond delay="0"/>
                                  </p:stCondLst>
                                  <p:childTnLst>
                                    <p:set>
                                      <p:cBhvr>
                                        <p:cTn id="36" dur="1" fill="hold">
                                          <p:stCondLst>
                                            <p:cond delay="0"/>
                                          </p:stCondLst>
                                        </p:cTn>
                                        <p:tgtEl>
                                          <p:spTgt spid="96293"/>
                                        </p:tgtEl>
                                        <p:attrNameLst>
                                          <p:attrName>style.visibility</p:attrName>
                                        </p:attrNameLst>
                                      </p:cBhvr>
                                      <p:to>
                                        <p:strVal val="visible"/>
                                      </p:to>
                                    </p:set>
                                    <p:animEffect transition="in" filter="dissolve">
                                      <p:cBhvr>
                                        <p:cTn id="37" dur="500"/>
                                        <p:tgtEl>
                                          <p:spTgt spid="96293"/>
                                        </p:tgtEl>
                                      </p:cBhvr>
                                    </p:animEffect>
                                  </p:childTnLst>
                                </p:cTn>
                              </p:par>
                            </p:childTnLst>
                          </p:cTn>
                        </p:par>
                        <p:par>
                          <p:cTn id="38" fill="hold" nodeType="afterGroup">
                            <p:stCondLst>
                              <p:cond delay="1000"/>
                            </p:stCondLst>
                            <p:childTnLst>
                              <p:par>
                                <p:cTn id="39" presetID="22" presetClass="entr" presetSubtype="8" fill="hold" nodeType="afterEffect">
                                  <p:stCondLst>
                                    <p:cond delay="0"/>
                                  </p:stCondLst>
                                  <p:childTnLst>
                                    <p:set>
                                      <p:cBhvr>
                                        <p:cTn id="40" dur="1" fill="hold">
                                          <p:stCondLst>
                                            <p:cond delay="0"/>
                                          </p:stCondLst>
                                        </p:cTn>
                                        <p:tgtEl>
                                          <p:spTgt spid="96292"/>
                                        </p:tgtEl>
                                        <p:attrNameLst>
                                          <p:attrName>style.visibility</p:attrName>
                                        </p:attrNameLst>
                                      </p:cBhvr>
                                      <p:to>
                                        <p:strVal val="visible"/>
                                      </p:to>
                                    </p:set>
                                    <p:animEffect transition="in" filter="wipe(left)">
                                      <p:cBhvr>
                                        <p:cTn id="41" dur="500"/>
                                        <p:tgtEl>
                                          <p:spTgt spid="96292"/>
                                        </p:tgtEl>
                                      </p:cBhvr>
                                    </p:animEffect>
                                  </p:childTnLst>
                                </p:cTn>
                              </p:par>
                              <p:par>
                                <p:cTn id="42" presetID="35" presetClass="emph" presetSubtype="0" repeatCount="3000" fill="hold" nodeType="withEffect">
                                  <p:stCondLst>
                                    <p:cond delay="0"/>
                                  </p:stCondLst>
                                  <p:childTnLst>
                                    <p:anim calcmode="discrete" valueType="str">
                                      <p:cBhvr>
                                        <p:cTn id="43" dur="1000" fill="hold"/>
                                        <p:tgtEl>
                                          <p:spTgt spid="96292"/>
                                        </p:tgtEl>
                                        <p:attrNameLst>
                                          <p:attrName>style.visibility</p:attrName>
                                        </p:attrNameLst>
                                      </p:cBhvr>
                                      <p:tavLst>
                                        <p:tav tm="0">
                                          <p:val>
                                            <p:strVal val="hidden"/>
                                          </p:val>
                                        </p:tav>
                                        <p:tav tm="50000">
                                          <p:val>
                                            <p:strVal val="visible"/>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6295"/>
                                        </p:tgtEl>
                                        <p:attrNameLst>
                                          <p:attrName>style.visibility</p:attrName>
                                        </p:attrNameLst>
                                      </p:cBhvr>
                                      <p:to>
                                        <p:strVal val="visible"/>
                                      </p:to>
                                    </p:set>
                                    <p:animEffect transition="in" filter="wipe(left)">
                                      <p:cBhvr>
                                        <p:cTn id="48" dur="500"/>
                                        <p:tgtEl>
                                          <p:spTgt spid="9629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6294"/>
                                        </p:tgtEl>
                                        <p:attrNameLst>
                                          <p:attrName>style.visibility</p:attrName>
                                        </p:attrNameLst>
                                      </p:cBhvr>
                                      <p:to>
                                        <p:strVal val="visible"/>
                                      </p:to>
                                    </p:set>
                                    <p:animEffect transition="in" filter="wipe(left)">
                                      <p:cBhvr>
                                        <p:cTn id="53" dur="500"/>
                                        <p:tgtEl>
                                          <p:spTgt spid="96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79" grpId="0"/>
      <p:bldP spid="96280" grpId="0"/>
      <p:bldP spid="96282" grpId="0" animBg="1"/>
      <p:bldP spid="96284" grpId="0" animBg="1"/>
      <p:bldP spid="96285" grpId="0" animBg="1"/>
      <p:bldP spid="96285" grpId="1" animBg="1"/>
      <p:bldP spid="96291" grpId="0"/>
      <p:bldP spid="96294" grpId="0"/>
      <p:bldP spid="96295"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descr="花岗岩"/>
          <p:cNvSpPr>
            <a:spLocks noChangeArrowheads="1"/>
          </p:cNvSpPr>
          <p:nvPr/>
        </p:nvSpPr>
        <p:spPr bwMode="auto">
          <a:xfrm>
            <a:off x="6172200" y="441325"/>
            <a:ext cx="2568575" cy="3505200"/>
          </a:xfrm>
          <a:prstGeom prst="rect">
            <a:avLst/>
          </a:prstGeom>
          <a:blipFill dpi="0" rotWithShape="0">
            <a:blip r:embed="rId4">
              <a:alphaModFix amt="67000"/>
            </a:blip>
            <a:srcRect/>
            <a:tile tx="0" ty="0" sx="100000" sy="100000" flip="none" algn="tl"/>
          </a:blipFill>
          <a:ln w="9525">
            <a:solidFill>
              <a:schemeClr val="tx1"/>
            </a:solidFill>
            <a:miter lim="800000"/>
            <a:headEnd/>
            <a:tailEnd/>
          </a:ln>
          <a:effectLst/>
        </p:spPr>
        <p:txBody>
          <a:bodyPr wrap="none" anchor="ctr"/>
          <a:lstStyle/>
          <a:p>
            <a:endParaRPr lang="zh-CN" altLang="en-US"/>
          </a:p>
        </p:txBody>
      </p:sp>
      <p:sp>
        <p:nvSpPr>
          <p:cNvPr id="11267" name="Freeform 3"/>
          <p:cNvSpPr>
            <a:spLocks/>
          </p:cNvSpPr>
          <p:nvPr/>
        </p:nvSpPr>
        <p:spPr bwMode="auto">
          <a:xfrm>
            <a:off x="6659563" y="746125"/>
            <a:ext cx="2179637" cy="2973388"/>
          </a:xfrm>
          <a:custGeom>
            <a:avLst/>
            <a:gdLst>
              <a:gd name="T0" fmla="*/ 2147483647 w 1048"/>
              <a:gd name="T1" fmla="*/ 2147483647 h 1544"/>
              <a:gd name="T2" fmla="*/ 2147483647 w 1048"/>
              <a:gd name="T3" fmla="*/ 919730148 h 1544"/>
              <a:gd name="T4" fmla="*/ 2147483647 w 1048"/>
              <a:gd name="T5" fmla="*/ 385693101 h 1544"/>
              <a:gd name="T6" fmla="*/ 1937865757 w 1048"/>
              <a:gd name="T7" fmla="*/ 29668404 h 1544"/>
              <a:gd name="T8" fmla="*/ 1107351267 w 1048"/>
              <a:gd name="T9" fmla="*/ 207680753 h 1544"/>
              <a:gd name="T10" fmla="*/ 276838857 w 1048"/>
              <a:gd name="T11" fmla="*/ 1275754845 h 1544"/>
              <a:gd name="T12" fmla="*/ 69209714 w 1048"/>
              <a:gd name="T13" fmla="*/ 2147483647 h 1544"/>
              <a:gd name="T14" fmla="*/ 692095062 w 1048"/>
              <a:gd name="T15" fmla="*/ 2147483647 h 1544"/>
              <a:gd name="T16" fmla="*/ 1937865757 w 1048"/>
              <a:gd name="T17" fmla="*/ 2147483647 h 1544"/>
              <a:gd name="T18" fmla="*/ 2147483647 w 1048"/>
              <a:gd name="T19" fmla="*/ 2147483647 h 1544"/>
              <a:gd name="T20" fmla="*/ 2147483647 w 1048"/>
              <a:gd name="T21" fmla="*/ 2147483647 h 1544"/>
              <a:gd name="T22" fmla="*/ 2147483647 w 1048"/>
              <a:gd name="T23" fmla="*/ 2147483647 h 154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48" h="1544">
                <a:moveTo>
                  <a:pt x="928" y="632"/>
                </a:moveTo>
                <a:cubicBezTo>
                  <a:pt x="888" y="520"/>
                  <a:pt x="832" y="336"/>
                  <a:pt x="784" y="248"/>
                </a:cubicBezTo>
                <a:cubicBezTo>
                  <a:pt x="736" y="160"/>
                  <a:pt x="696" y="144"/>
                  <a:pt x="640" y="104"/>
                </a:cubicBezTo>
                <a:cubicBezTo>
                  <a:pt x="584" y="64"/>
                  <a:pt x="512" y="16"/>
                  <a:pt x="448" y="8"/>
                </a:cubicBezTo>
                <a:cubicBezTo>
                  <a:pt x="384" y="0"/>
                  <a:pt x="320" y="0"/>
                  <a:pt x="256" y="56"/>
                </a:cubicBezTo>
                <a:cubicBezTo>
                  <a:pt x="192" y="112"/>
                  <a:pt x="104" y="216"/>
                  <a:pt x="64" y="344"/>
                </a:cubicBezTo>
                <a:cubicBezTo>
                  <a:pt x="24" y="472"/>
                  <a:pt x="0" y="664"/>
                  <a:pt x="16" y="824"/>
                </a:cubicBezTo>
                <a:cubicBezTo>
                  <a:pt x="32" y="984"/>
                  <a:pt x="88" y="1192"/>
                  <a:pt x="160" y="1304"/>
                </a:cubicBezTo>
                <a:cubicBezTo>
                  <a:pt x="232" y="1416"/>
                  <a:pt x="344" y="1472"/>
                  <a:pt x="448" y="1496"/>
                </a:cubicBezTo>
                <a:cubicBezTo>
                  <a:pt x="552" y="1520"/>
                  <a:pt x="688" y="1544"/>
                  <a:pt x="784" y="1448"/>
                </a:cubicBezTo>
                <a:cubicBezTo>
                  <a:pt x="880" y="1352"/>
                  <a:pt x="1000" y="1064"/>
                  <a:pt x="1024" y="920"/>
                </a:cubicBezTo>
                <a:cubicBezTo>
                  <a:pt x="1048" y="776"/>
                  <a:pt x="968" y="744"/>
                  <a:pt x="928" y="632"/>
                </a:cubicBezTo>
                <a:close/>
              </a:path>
            </a:pathLst>
          </a:custGeom>
          <a:gradFill rotWithShape="0">
            <a:gsLst>
              <a:gs pos="0">
                <a:srgbClr val="333333">
                  <a:alpha val="49001"/>
                </a:srgbClr>
              </a:gs>
              <a:gs pos="100000">
                <a:srgbClr val="181818"/>
              </a:gs>
            </a:gsLst>
            <a:path path="rect">
              <a:fillToRect l="50000" t="50000" r="50000" b="50000"/>
            </a:path>
          </a:gradFill>
          <a:ln w="9525">
            <a:solidFill>
              <a:schemeClr val="tx1"/>
            </a:solidFill>
            <a:round/>
            <a:headEnd/>
            <a:tailEnd/>
          </a:ln>
          <a:effectLst/>
        </p:spPr>
        <p:txBody>
          <a:bodyPr/>
          <a:lstStyle/>
          <a:p>
            <a:endParaRPr lang="zh-CN" altLang="en-US"/>
          </a:p>
        </p:txBody>
      </p:sp>
      <p:sp useBgFill="1">
        <p:nvSpPr>
          <p:cNvPr id="11268" name="Rectangle 4"/>
          <p:cNvSpPr>
            <a:spLocks noChangeArrowheads="1"/>
          </p:cNvSpPr>
          <p:nvPr/>
        </p:nvSpPr>
        <p:spPr bwMode="auto">
          <a:xfrm>
            <a:off x="8763000" y="2193925"/>
            <a:ext cx="76200" cy="609600"/>
          </a:xfrm>
          <a:prstGeom prst="rect">
            <a:avLst/>
          </a:prstGeom>
          <a:ln w="9525">
            <a:noFill/>
            <a:miter lim="800000"/>
            <a:headEnd/>
            <a:tailEnd/>
          </a:ln>
          <a:effectLst/>
        </p:spPr>
        <p:txBody>
          <a:bodyPr wrap="none" anchor="ctr"/>
          <a:lstStyle/>
          <a:p>
            <a:endParaRPr lang="zh-CN" altLang="en-US"/>
          </a:p>
        </p:txBody>
      </p:sp>
      <p:sp>
        <p:nvSpPr>
          <p:cNvPr id="11269" name="Oval 5"/>
          <p:cNvSpPr>
            <a:spLocks noChangeArrowheads="1"/>
          </p:cNvSpPr>
          <p:nvPr/>
        </p:nvSpPr>
        <p:spPr bwMode="auto">
          <a:xfrm>
            <a:off x="6553200" y="2041525"/>
            <a:ext cx="228600" cy="228600"/>
          </a:xfrm>
          <a:prstGeom prst="ellipse">
            <a:avLst/>
          </a:prstGeom>
          <a:solidFill>
            <a:srgbClr val="00FF99"/>
          </a:solidFill>
          <a:ln w="9525">
            <a:solidFill>
              <a:schemeClr val="tx1"/>
            </a:solidFill>
            <a:round/>
            <a:headEnd/>
            <a:tailEnd/>
          </a:ln>
          <a:effectLst/>
        </p:spPr>
        <p:txBody>
          <a:bodyPr wrap="none" anchor="ctr"/>
          <a:lstStyle/>
          <a:p>
            <a:endParaRPr lang="zh-CN" altLang="en-US"/>
          </a:p>
        </p:txBody>
      </p:sp>
      <p:sp>
        <p:nvSpPr>
          <p:cNvPr id="11270" name="Text Box 6"/>
          <p:cNvSpPr txBox="1">
            <a:spLocks noChangeArrowheads="1"/>
          </p:cNvSpPr>
          <p:nvPr/>
        </p:nvSpPr>
        <p:spPr bwMode="auto">
          <a:xfrm>
            <a:off x="7543800" y="1584325"/>
            <a:ext cx="609600" cy="1006475"/>
          </a:xfrm>
          <a:prstGeom prst="rect">
            <a:avLst/>
          </a:prstGeom>
          <a:noFill/>
          <a:ln w="9525">
            <a:noFill/>
            <a:miter lim="800000"/>
            <a:headEnd/>
            <a:tailEnd/>
          </a:ln>
          <a:effectLst/>
        </p:spPr>
        <p:txBody>
          <a:bodyPr>
            <a:spAutoFit/>
          </a:bodyPr>
          <a:lstStyle/>
          <a:p>
            <a:r>
              <a:rPr lang="zh-CN" altLang="en-US" sz="2000" b="1">
                <a:solidFill>
                  <a:srgbClr val="FFCC66"/>
                </a:solidFill>
              </a:rPr>
              <a:t>电磁波</a:t>
            </a:r>
          </a:p>
        </p:txBody>
      </p:sp>
      <p:sp>
        <p:nvSpPr>
          <p:cNvPr id="11271" name="Oval 7"/>
          <p:cNvSpPr>
            <a:spLocks noChangeArrowheads="1"/>
          </p:cNvSpPr>
          <p:nvPr/>
        </p:nvSpPr>
        <p:spPr bwMode="auto">
          <a:xfrm>
            <a:off x="6781800" y="1127125"/>
            <a:ext cx="228600" cy="228600"/>
          </a:xfrm>
          <a:prstGeom prst="ellipse">
            <a:avLst/>
          </a:prstGeom>
          <a:solidFill>
            <a:srgbClr val="00FF99"/>
          </a:solidFill>
          <a:ln w="9525">
            <a:solidFill>
              <a:schemeClr val="tx1"/>
            </a:solidFill>
            <a:round/>
            <a:headEnd/>
            <a:tailEnd/>
          </a:ln>
          <a:effectLst/>
        </p:spPr>
        <p:txBody>
          <a:bodyPr wrap="none" anchor="ctr"/>
          <a:lstStyle/>
          <a:p>
            <a:endParaRPr lang="zh-CN" altLang="en-US"/>
          </a:p>
        </p:txBody>
      </p:sp>
      <p:sp>
        <p:nvSpPr>
          <p:cNvPr id="11272" name="Oval 8"/>
          <p:cNvSpPr>
            <a:spLocks noChangeArrowheads="1"/>
          </p:cNvSpPr>
          <p:nvPr/>
        </p:nvSpPr>
        <p:spPr bwMode="auto">
          <a:xfrm>
            <a:off x="7467600" y="3489325"/>
            <a:ext cx="228600" cy="228600"/>
          </a:xfrm>
          <a:prstGeom prst="ellipse">
            <a:avLst/>
          </a:prstGeom>
          <a:solidFill>
            <a:srgbClr val="00FF99"/>
          </a:solidFill>
          <a:ln w="9525">
            <a:solidFill>
              <a:schemeClr val="tx1"/>
            </a:solidFill>
            <a:round/>
            <a:headEnd/>
            <a:tailEnd/>
          </a:ln>
          <a:effectLst/>
        </p:spPr>
        <p:txBody>
          <a:bodyPr wrap="none" anchor="ctr"/>
          <a:lstStyle/>
          <a:p>
            <a:endParaRPr lang="zh-CN" altLang="en-US"/>
          </a:p>
        </p:txBody>
      </p:sp>
      <p:sp>
        <p:nvSpPr>
          <p:cNvPr id="11273" name="Oval 9"/>
          <p:cNvSpPr>
            <a:spLocks noChangeArrowheads="1"/>
          </p:cNvSpPr>
          <p:nvPr/>
        </p:nvSpPr>
        <p:spPr bwMode="auto">
          <a:xfrm>
            <a:off x="6705600" y="2879725"/>
            <a:ext cx="228600" cy="228600"/>
          </a:xfrm>
          <a:prstGeom prst="ellipse">
            <a:avLst/>
          </a:prstGeom>
          <a:solidFill>
            <a:srgbClr val="00FF99"/>
          </a:solidFill>
          <a:ln w="9525">
            <a:solidFill>
              <a:schemeClr val="tx1"/>
            </a:solidFill>
            <a:round/>
            <a:headEnd/>
            <a:tailEnd/>
          </a:ln>
          <a:effectLst/>
        </p:spPr>
        <p:txBody>
          <a:bodyPr wrap="none" anchor="ctr"/>
          <a:lstStyle/>
          <a:p>
            <a:endParaRPr lang="zh-CN" altLang="en-US"/>
          </a:p>
        </p:txBody>
      </p:sp>
      <p:sp>
        <p:nvSpPr>
          <p:cNvPr id="11274" name="Oval 10"/>
          <p:cNvSpPr>
            <a:spLocks noChangeArrowheads="1"/>
          </p:cNvSpPr>
          <p:nvPr/>
        </p:nvSpPr>
        <p:spPr bwMode="auto">
          <a:xfrm>
            <a:off x="8305800" y="1355725"/>
            <a:ext cx="228600" cy="228600"/>
          </a:xfrm>
          <a:prstGeom prst="ellipse">
            <a:avLst/>
          </a:prstGeom>
          <a:solidFill>
            <a:srgbClr val="00FF99"/>
          </a:solidFill>
          <a:ln w="9525">
            <a:solidFill>
              <a:schemeClr val="tx1"/>
            </a:solidFill>
            <a:round/>
            <a:headEnd/>
            <a:tailEnd/>
          </a:ln>
          <a:effectLst/>
        </p:spPr>
        <p:txBody>
          <a:bodyPr wrap="none" anchor="ctr"/>
          <a:lstStyle/>
          <a:p>
            <a:endParaRPr lang="zh-CN" altLang="en-US"/>
          </a:p>
        </p:txBody>
      </p:sp>
      <p:sp>
        <p:nvSpPr>
          <p:cNvPr id="11275" name="Oval 11"/>
          <p:cNvSpPr>
            <a:spLocks noChangeArrowheads="1"/>
          </p:cNvSpPr>
          <p:nvPr/>
        </p:nvSpPr>
        <p:spPr bwMode="auto">
          <a:xfrm>
            <a:off x="7467600" y="669925"/>
            <a:ext cx="228600" cy="228600"/>
          </a:xfrm>
          <a:prstGeom prst="ellipse">
            <a:avLst/>
          </a:prstGeom>
          <a:solidFill>
            <a:srgbClr val="00FF99"/>
          </a:solidFill>
          <a:ln w="9525">
            <a:solidFill>
              <a:schemeClr val="tx1"/>
            </a:solidFill>
            <a:round/>
            <a:headEnd/>
            <a:tailEnd/>
          </a:ln>
          <a:effectLst/>
        </p:spPr>
        <p:txBody>
          <a:bodyPr wrap="none" anchor="ctr"/>
          <a:lstStyle/>
          <a:p>
            <a:endParaRPr lang="zh-CN" altLang="en-US"/>
          </a:p>
        </p:txBody>
      </p:sp>
      <p:sp>
        <p:nvSpPr>
          <p:cNvPr id="101388" name="Text Box 12"/>
          <p:cNvSpPr txBox="1">
            <a:spLocks noChangeArrowheads="1"/>
          </p:cNvSpPr>
          <p:nvPr/>
        </p:nvSpPr>
        <p:spPr bwMode="auto">
          <a:xfrm>
            <a:off x="152400" y="441325"/>
            <a:ext cx="5049838" cy="457200"/>
          </a:xfrm>
          <a:prstGeom prst="rect">
            <a:avLst/>
          </a:prstGeom>
          <a:noFill/>
          <a:ln w="9525">
            <a:noFill/>
            <a:miter lim="800000"/>
            <a:headEnd/>
            <a:tailEnd/>
          </a:ln>
          <a:effectLst/>
        </p:spPr>
        <p:txBody>
          <a:bodyPr>
            <a:spAutoFit/>
          </a:bodyPr>
          <a:lstStyle/>
          <a:p>
            <a:r>
              <a:rPr lang="zh-CN" altLang="en-US" b="1">
                <a:solidFill>
                  <a:schemeClr val="hlink"/>
                </a:solidFill>
                <a:latin typeface="宋体" charset="-122"/>
              </a:rPr>
              <a:t>普朗克能量量子假设</a:t>
            </a:r>
          </a:p>
        </p:txBody>
      </p:sp>
      <p:sp>
        <p:nvSpPr>
          <p:cNvPr id="101389" name="AutoShape 13"/>
          <p:cNvSpPr>
            <a:spLocks noChangeArrowheads="1"/>
          </p:cNvSpPr>
          <p:nvPr/>
        </p:nvSpPr>
        <p:spPr bwMode="auto">
          <a:xfrm>
            <a:off x="827088" y="1179513"/>
            <a:ext cx="5181600" cy="1574800"/>
          </a:xfrm>
          <a:prstGeom prst="wedgeRectCallout">
            <a:avLst>
              <a:gd name="adj1" fmla="val 60694"/>
              <a:gd name="adj2" fmla="val 11796"/>
            </a:avLst>
          </a:prstGeom>
          <a:solidFill>
            <a:srgbClr val="CCFFFF"/>
          </a:solidFill>
          <a:ln w="9525">
            <a:solidFill>
              <a:srgbClr val="00FFFF"/>
            </a:solidFill>
            <a:miter lim="800000"/>
            <a:headEnd/>
            <a:tailEnd/>
          </a:ln>
          <a:effectLst/>
        </p:spPr>
        <p:txBody>
          <a:bodyPr/>
          <a:lstStyle/>
          <a:p>
            <a:pPr>
              <a:lnSpc>
                <a:spcPct val="125000"/>
              </a:lnSpc>
            </a:pPr>
            <a:r>
              <a:rPr lang="en-US" altLang="zh-CN" b="1">
                <a:solidFill>
                  <a:schemeClr val="bg1"/>
                </a:solidFill>
                <a:latin typeface="宋体" charset="-122"/>
              </a:rPr>
              <a:t> </a:t>
            </a:r>
            <a:r>
              <a:rPr lang="zh-CN" altLang="en-US" b="1">
                <a:solidFill>
                  <a:schemeClr val="bg1"/>
                </a:solidFill>
                <a:latin typeface="宋体" charset="-122"/>
              </a:rPr>
              <a:t>腔壁上带电谐振子能量不能连续变化，若谐振子频率为</a:t>
            </a:r>
            <a:r>
              <a:rPr lang="zh-CN" altLang="en-US" b="1">
                <a:solidFill>
                  <a:srgbClr val="FF6600"/>
                </a:solidFill>
                <a:ea typeface="楷体_GB2312" pitchFamily="49" charset="-122"/>
              </a:rPr>
              <a:t> </a:t>
            </a:r>
            <a:r>
              <a:rPr lang="en-US" altLang="zh-CN" i="1">
                <a:solidFill>
                  <a:srgbClr val="FF6600"/>
                </a:solidFill>
                <a:ea typeface="楷体_GB2312" pitchFamily="49" charset="-122"/>
              </a:rPr>
              <a:t>v</a:t>
            </a:r>
            <a:r>
              <a:rPr lang="en-US" altLang="zh-CN" b="1" i="1">
                <a:solidFill>
                  <a:schemeClr val="bg1"/>
                </a:solidFill>
                <a:ea typeface="楷体_GB2312" pitchFamily="49" charset="-122"/>
              </a:rPr>
              <a:t> </a:t>
            </a:r>
            <a:r>
              <a:rPr lang="zh-CN" altLang="en-US" b="1">
                <a:solidFill>
                  <a:schemeClr val="bg1"/>
                </a:solidFill>
              </a:rPr>
              <a:t>，则其能量是</a:t>
            </a:r>
          </a:p>
          <a:p>
            <a:pPr>
              <a:lnSpc>
                <a:spcPct val="125000"/>
              </a:lnSpc>
            </a:pPr>
            <a:r>
              <a:rPr lang="en-US" altLang="zh-CN" i="1">
                <a:solidFill>
                  <a:srgbClr val="FF6600"/>
                </a:solidFill>
                <a:ea typeface="楷体_GB2312" pitchFamily="49" charset="-122"/>
              </a:rPr>
              <a:t>hv</a:t>
            </a:r>
            <a:r>
              <a:rPr lang="en-US" altLang="zh-CN" i="1">
                <a:solidFill>
                  <a:schemeClr val="bg1"/>
                </a:solidFill>
                <a:ea typeface="楷体_GB2312" pitchFamily="49" charset="-122"/>
              </a:rPr>
              <a:t> </a:t>
            </a:r>
            <a:r>
              <a:rPr lang="en-US" altLang="zh-CN">
                <a:solidFill>
                  <a:schemeClr val="bg1"/>
                </a:solidFill>
                <a:ea typeface="楷体_GB2312" pitchFamily="49" charset="-122"/>
              </a:rPr>
              <a:t>,  </a:t>
            </a:r>
            <a:r>
              <a:rPr lang="en-US" altLang="zh-CN">
                <a:solidFill>
                  <a:srgbClr val="FF6600"/>
                </a:solidFill>
                <a:ea typeface="楷体_GB2312" pitchFamily="49" charset="-122"/>
              </a:rPr>
              <a:t>2</a:t>
            </a:r>
            <a:r>
              <a:rPr lang="en-US" altLang="zh-CN" i="1">
                <a:solidFill>
                  <a:srgbClr val="FF6600"/>
                </a:solidFill>
                <a:ea typeface="楷体_GB2312" pitchFamily="49" charset="-122"/>
              </a:rPr>
              <a:t>hv</a:t>
            </a:r>
            <a:r>
              <a:rPr lang="en-US" altLang="zh-CN">
                <a:solidFill>
                  <a:schemeClr val="bg1"/>
                </a:solidFill>
                <a:ea typeface="楷体_GB2312" pitchFamily="49" charset="-122"/>
              </a:rPr>
              <a:t>,  </a:t>
            </a:r>
            <a:r>
              <a:rPr lang="en-US" altLang="zh-CN">
                <a:solidFill>
                  <a:srgbClr val="FF6600"/>
                </a:solidFill>
                <a:ea typeface="楷体_GB2312" pitchFamily="49" charset="-122"/>
              </a:rPr>
              <a:t>3</a:t>
            </a:r>
            <a:r>
              <a:rPr lang="en-US" altLang="zh-CN" i="1">
                <a:solidFill>
                  <a:srgbClr val="FF6600"/>
                </a:solidFill>
                <a:ea typeface="楷体_GB2312" pitchFamily="49" charset="-122"/>
              </a:rPr>
              <a:t>hv</a:t>
            </a:r>
            <a:r>
              <a:rPr lang="en-US" altLang="zh-CN" i="1">
                <a:solidFill>
                  <a:schemeClr val="bg1"/>
                </a:solidFill>
                <a:ea typeface="楷体_GB2312" pitchFamily="49" charset="-122"/>
              </a:rPr>
              <a:t> </a:t>
            </a:r>
            <a:r>
              <a:rPr lang="en-US" altLang="zh-CN">
                <a:solidFill>
                  <a:schemeClr val="bg1"/>
                </a:solidFill>
                <a:latin typeface="宋体" charset="-122"/>
              </a:rPr>
              <a:t>, …,</a:t>
            </a:r>
            <a:r>
              <a:rPr lang="en-US" altLang="zh-CN">
                <a:solidFill>
                  <a:schemeClr val="bg1"/>
                </a:solidFill>
                <a:ea typeface="楷体_GB2312" pitchFamily="49" charset="-122"/>
              </a:rPr>
              <a:t> </a:t>
            </a:r>
            <a:r>
              <a:rPr lang="en-US" altLang="zh-CN" i="1">
                <a:solidFill>
                  <a:schemeClr val="bg1"/>
                </a:solidFill>
                <a:ea typeface="楷体_GB2312" pitchFamily="49" charset="-122"/>
              </a:rPr>
              <a:t> </a:t>
            </a:r>
            <a:r>
              <a:rPr lang="en-US" altLang="zh-CN" i="1">
                <a:solidFill>
                  <a:srgbClr val="FF6600"/>
                </a:solidFill>
                <a:ea typeface="楷体_GB2312" pitchFamily="49" charset="-122"/>
              </a:rPr>
              <a:t>nhv</a:t>
            </a:r>
            <a:r>
              <a:rPr lang="en-US" altLang="zh-CN" i="1">
                <a:solidFill>
                  <a:schemeClr val="bg1"/>
                </a:solidFill>
                <a:ea typeface="楷体_GB2312" pitchFamily="49" charset="-122"/>
              </a:rPr>
              <a:t> </a:t>
            </a:r>
            <a:r>
              <a:rPr lang="en-US" altLang="zh-CN">
                <a:solidFill>
                  <a:schemeClr val="bg1"/>
                </a:solidFill>
                <a:latin typeface="宋体" charset="-122"/>
              </a:rPr>
              <a:t>, …</a:t>
            </a:r>
            <a:r>
              <a:rPr lang="en-US" altLang="zh-CN">
                <a:solidFill>
                  <a:schemeClr val="bg1"/>
                </a:solidFill>
                <a:ea typeface="楷体_GB2312" pitchFamily="49" charset="-122"/>
              </a:rPr>
              <a:t> </a:t>
            </a:r>
            <a:r>
              <a:rPr lang="zh-CN" altLang="en-US" i="1">
                <a:solidFill>
                  <a:schemeClr val="bg1"/>
                </a:solidFill>
                <a:ea typeface="楷体_GB2312" pitchFamily="49" charset="-122"/>
              </a:rPr>
              <a:t>　</a:t>
            </a:r>
          </a:p>
        </p:txBody>
      </p:sp>
      <p:sp>
        <p:nvSpPr>
          <p:cNvPr id="101390" name="Text Box 14"/>
          <p:cNvSpPr txBox="1">
            <a:spLocks noChangeArrowheads="1"/>
          </p:cNvSpPr>
          <p:nvPr/>
        </p:nvSpPr>
        <p:spPr bwMode="auto">
          <a:xfrm>
            <a:off x="152400" y="4881563"/>
            <a:ext cx="7820025" cy="1014412"/>
          </a:xfrm>
          <a:prstGeom prst="rect">
            <a:avLst/>
          </a:prstGeom>
          <a:noFill/>
          <a:ln w="9525">
            <a:noFill/>
            <a:miter lim="800000"/>
            <a:headEnd/>
            <a:tailEnd/>
          </a:ln>
          <a:effectLst/>
        </p:spPr>
        <p:txBody>
          <a:bodyPr>
            <a:spAutoFit/>
          </a:bodyPr>
          <a:lstStyle/>
          <a:p>
            <a:pPr>
              <a:lnSpc>
                <a:spcPct val="125000"/>
              </a:lnSpc>
            </a:pPr>
            <a:r>
              <a:rPr lang="zh-CN" altLang="en-US" b="1">
                <a:solidFill>
                  <a:schemeClr val="bg1"/>
                </a:solidFill>
                <a:latin typeface="楷体_GB2312" pitchFamily="49" charset="-122"/>
                <a:ea typeface="楷体_GB2312" pitchFamily="49" charset="-122"/>
              </a:rPr>
              <a:t>（</a:t>
            </a:r>
            <a:r>
              <a:rPr lang="en-US" altLang="zh-CN" b="1">
                <a:solidFill>
                  <a:schemeClr val="bg1"/>
                </a:solidFill>
                <a:latin typeface="楷体_GB2312" pitchFamily="49" charset="-122"/>
                <a:ea typeface="楷体_GB2312" pitchFamily="49" charset="-122"/>
              </a:rPr>
              <a:t>1</a:t>
            </a:r>
            <a:r>
              <a:rPr lang="zh-CN" altLang="en-US" b="1">
                <a:solidFill>
                  <a:schemeClr val="bg1"/>
                </a:solidFill>
                <a:latin typeface="楷体_GB2312" pitchFamily="49" charset="-122"/>
                <a:ea typeface="楷体_GB2312" pitchFamily="49" charset="-122"/>
              </a:rPr>
              <a:t>）首次提出微观粒子</a:t>
            </a:r>
            <a:r>
              <a:rPr lang="zh-CN" altLang="en-US" b="1">
                <a:solidFill>
                  <a:schemeClr val="bg1"/>
                </a:solidFill>
                <a:ea typeface="楷体_GB2312" pitchFamily="49" charset="-122"/>
              </a:rPr>
              <a:t>的</a:t>
            </a:r>
            <a:r>
              <a:rPr lang="zh-CN" altLang="en-US" b="1">
                <a:solidFill>
                  <a:schemeClr val="bg1"/>
                </a:solidFill>
                <a:latin typeface="楷体_GB2312" pitchFamily="49" charset="-122"/>
                <a:ea typeface="楷体_GB2312" pitchFamily="49" charset="-122"/>
              </a:rPr>
              <a:t>能量是量子化的，打破了经典物理学中</a:t>
            </a:r>
            <a:r>
              <a:rPr lang="zh-CN" altLang="en-US" b="1">
                <a:solidFill>
                  <a:schemeClr val="bg1"/>
                </a:solidFill>
                <a:ea typeface="楷体_GB2312" pitchFamily="49" charset="-122"/>
              </a:rPr>
              <a:t>能量</a:t>
            </a:r>
            <a:r>
              <a:rPr lang="zh-CN" altLang="en-US" b="1">
                <a:solidFill>
                  <a:schemeClr val="bg1"/>
                </a:solidFill>
                <a:latin typeface="楷体_GB2312" pitchFamily="49" charset="-122"/>
                <a:ea typeface="楷体_GB2312" pitchFamily="49" charset="-122"/>
              </a:rPr>
              <a:t>连续的观念，</a:t>
            </a:r>
            <a:r>
              <a:rPr lang="zh-CN" altLang="en-US" b="1">
                <a:solidFill>
                  <a:srgbClr val="000000"/>
                </a:solidFill>
                <a:latin typeface="宋体" charset="-122"/>
              </a:rPr>
              <a:t>直接导致了量子力学的诞生</a:t>
            </a:r>
            <a:r>
              <a:rPr lang="zh-CN" altLang="en-US" b="1">
                <a:solidFill>
                  <a:schemeClr val="bg1"/>
                </a:solidFill>
                <a:latin typeface="楷体_GB2312" pitchFamily="49" charset="-122"/>
                <a:ea typeface="楷体_GB2312" pitchFamily="49" charset="-122"/>
              </a:rPr>
              <a:t>。</a:t>
            </a:r>
          </a:p>
        </p:txBody>
      </p:sp>
      <p:sp>
        <p:nvSpPr>
          <p:cNvPr id="101391" name="Text Box 15"/>
          <p:cNvSpPr txBox="1">
            <a:spLocks noChangeArrowheads="1"/>
          </p:cNvSpPr>
          <p:nvPr/>
        </p:nvSpPr>
        <p:spPr bwMode="auto">
          <a:xfrm>
            <a:off x="881063" y="2927350"/>
            <a:ext cx="5184775"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普朗克常数</a:t>
            </a:r>
            <a:r>
              <a:rPr lang="zh-CN" altLang="en-US" b="1">
                <a:solidFill>
                  <a:schemeClr val="bg1"/>
                </a:solidFill>
                <a:latin typeface="楷体_GB2312" pitchFamily="49" charset="-122"/>
                <a:ea typeface="楷体_GB2312" pitchFamily="49" charset="-122"/>
              </a:rPr>
              <a:t>  </a:t>
            </a:r>
            <a:r>
              <a:rPr lang="en-US" altLang="zh-CN" b="1" i="1">
                <a:solidFill>
                  <a:srgbClr val="FF6600"/>
                </a:solidFill>
              </a:rPr>
              <a:t>h</a:t>
            </a:r>
            <a:r>
              <a:rPr lang="en-US" altLang="zh-CN" b="1">
                <a:solidFill>
                  <a:srgbClr val="FF6600"/>
                </a:solidFill>
              </a:rPr>
              <a:t> = 6.626×10</a:t>
            </a:r>
            <a:r>
              <a:rPr lang="en-US" altLang="zh-CN" b="1" baseline="30000">
                <a:solidFill>
                  <a:srgbClr val="FF6600"/>
                </a:solidFill>
              </a:rPr>
              <a:t>-34</a:t>
            </a:r>
            <a:r>
              <a:rPr lang="en-US" altLang="zh-CN" b="1">
                <a:solidFill>
                  <a:srgbClr val="FF6600"/>
                </a:solidFill>
              </a:rPr>
              <a:t>  J·s</a:t>
            </a:r>
            <a:r>
              <a:rPr lang="en-US" altLang="zh-CN" b="1">
                <a:solidFill>
                  <a:schemeClr val="bg1"/>
                </a:solidFill>
                <a:latin typeface="楷体_GB2312" pitchFamily="49" charset="-122"/>
                <a:ea typeface="楷体_GB2312" pitchFamily="49" charset="-122"/>
              </a:rPr>
              <a:t> </a:t>
            </a:r>
          </a:p>
        </p:txBody>
      </p:sp>
      <p:sp>
        <p:nvSpPr>
          <p:cNvPr id="101392" name="AutoShape 16"/>
          <p:cNvSpPr>
            <a:spLocks noChangeArrowheads="1"/>
          </p:cNvSpPr>
          <p:nvPr/>
        </p:nvSpPr>
        <p:spPr bwMode="auto">
          <a:xfrm>
            <a:off x="8142288" y="4005263"/>
            <a:ext cx="533400" cy="2232025"/>
          </a:xfrm>
          <a:prstGeom prst="wedgeRectCallout">
            <a:avLst>
              <a:gd name="adj1" fmla="val 20537"/>
              <a:gd name="adj2" fmla="val -87412"/>
            </a:avLst>
          </a:prstGeom>
          <a:solidFill>
            <a:srgbClr val="003366">
              <a:alpha val="18039"/>
            </a:srgbClr>
          </a:solidFill>
          <a:ln w="9525">
            <a:solidFill>
              <a:schemeClr val="hlink"/>
            </a:solidFill>
            <a:miter lim="800000"/>
            <a:headEnd/>
            <a:tailEnd/>
          </a:ln>
          <a:effectLst/>
        </p:spPr>
        <p:txBody>
          <a:bodyPr/>
          <a:lstStyle/>
          <a:p>
            <a:pPr algn="ctr">
              <a:lnSpc>
                <a:spcPct val="115000"/>
              </a:lnSpc>
            </a:pPr>
            <a:r>
              <a:rPr lang="zh-CN" altLang="en-US" sz="2000" b="1">
                <a:solidFill>
                  <a:srgbClr val="0000FF"/>
                </a:solidFill>
              </a:rPr>
              <a:t>腔壁上的原子</a:t>
            </a:r>
          </a:p>
        </p:txBody>
      </p:sp>
      <p:sp>
        <p:nvSpPr>
          <p:cNvPr id="101393" name="AutoShape 17"/>
          <p:cNvSpPr>
            <a:spLocks noChangeArrowheads="1"/>
          </p:cNvSpPr>
          <p:nvPr/>
        </p:nvSpPr>
        <p:spPr bwMode="auto">
          <a:xfrm>
            <a:off x="6858000" y="1812925"/>
            <a:ext cx="762000" cy="685800"/>
          </a:xfrm>
          <a:prstGeom prst="leftRightArrowCallout">
            <a:avLst>
              <a:gd name="adj1" fmla="val 12037"/>
              <a:gd name="adj2" fmla="val 18403"/>
              <a:gd name="adj3" fmla="val 23858"/>
              <a:gd name="adj4" fmla="val 39741"/>
            </a:avLst>
          </a:prstGeom>
          <a:solidFill>
            <a:srgbClr val="003366"/>
          </a:solidFill>
          <a:ln w="9525">
            <a:solidFill>
              <a:schemeClr val="folHlink"/>
            </a:solidFill>
            <a:miter lim="800000"/>
            <a:headEnd/>
            <a:tailEnd/>
          </a:ln>
          <a:effectLst/>
        </p:spPr>
        <p:txBody>
          <a:bodyPr wrap="none" anchor="ctr"/>
          <a:lstStyle/>
          <a:p>
            <a:pPr algn="ctr"/>
            <a:r>
              <a:rPr lang="zh-CN" altLang="en-US" sz="2000" b="1">
                <a:solidFill>
                  <a:srgbClr val="FFFF99"/>
                </a:solidFill>
              </a:rPr>
              <a:t>能</a:t>
            </a:r>
          </a:p>
          <a:p>
            <a:pPr algn="ctr"/>
            <a:r>
              <a:rPr lang="zh-CN" altLang="en-US" sz="2000" b="1">
                <a:solidFill>
                  <a:srgbClr val="FFFF99"/>
                </a:solidFill>
              </a:rPr>
              <a:t>量</a:t>
            </a:r>
          </a:p>
        </p:txBody>
      </p:sp>
      <p:sp>
        <p:nvSpPr>
          <p:cNvPr id="101394" name="Rectangle 18"/>
          <p:cNvSpPr>
            <a:spLocks noChangeArrowheads="1"/>
          </p:cNvSpPr>
          <p:nvPr/>
        </p:nvSpPr>
        <p:spPr bwMode="auto">
          <a:xfrm>
            <a:off x="755650" y="3425825"/>
            <a:ext cx="5181600" cy="1006475"/>
          </a:xfrm>
          <a:prstGeom prst="rect">
            <a:avLst/>
          </a:prstGeom>
          <a:noFill/>
          <a:ln w="9525">
            <a:noFill/>
            <a:miter lim="800000"/>
            <a:headEnd/>
            <a:tailEnd/>
          </a:ln>
          <a:effectLst/>
        </p:spPr>
        <p:txBody>
          <a:bodyPr>
            <a:spAutoFit/>
          </a:bodyPr>
          <a:lstStyle/>
          <a:p>
            <a:pPr>
              <a:lnSpc>
                <a:spcPct val="125000"/>
              </a:lnSpc>
            </a:pPr>
            <a:r>
              <a:rPr lang="zh-CN" altLang="en-US" b="1">
                <a:solidFill>
                  <a:schemeClr val="bg1"/>
                </a:solidFill>
                <a:latin typeface="宋体" charset="-122"/>
              </a:rPr>
              <a:t>与腔内电磁场交换能量时，谐振子能量的变化是</a:t>
            </a:r>
            <a:r>
              <a:rPr lang="zh-CN" altLang="en-US" b="1">
                <a:solidFill>
                  <a:srgbClr val="FF6600"/>
                </a:solidFill>
                <a:ea typeface="楷体_GB2312" pitchFamily="49" charset="-122"/>
              </a:rPr>
              <a:t> </a:t>
            </a:r>
            <a:r>
              <a:rPr lang="en-US" altLang="zh-CN" b="1" i="1">
                <a:solidFill>
                  <a:srgbClr val="FF6600"/>
                </a:solidFill>
                <a:ea typeface="楷体_GB2312" pitchFamily="49" charset="-122"/>
              </a:rPr>
              <a:t>hv</a:t>
            </a:r>
            <a:r>
              <a:rPr lang="en-US" altLang="zh-CN" i="1">
                <a:solidFill>
                  <a:srgbClr val="66FFFF"/>
                </a:solidFill>
                <a:ea typeface="楷体_GB2312" pitchFamily="49" charset="-122"/>
              </a:rPr>
              <a:t> </a:t>
            </a:r>
            <a:r>
              <a:rPr lang="zh-CN" altLang="en-US" b="1">
                <a:solidFill>
                  <a:schemeClr val="bg1"/>
                </a:solidFill>
                <a:latin typeface="宋体" charset="-122"/>
              </a:rPr>
              <a:t>的整数倍</a:t>
            </a:r>
            <a:r>
              <a:rPr lang="zh-CN" altLang="en-US" b="1">
                <a:solidFill>
                  <a:schemeClr val="bg1"/>
                </a:solidFill>
                <a:latin typeface="宋体" charset="-122"/>
                <a:ea typeface="楷体_GB2312" pitchFamily="49" charset="-122"/>
              </a:rPr>
              <a:t>。</a:t>
            </a:r>
          </a:p>
        </p:txBody>
      </p:sp>
      <p:sp>
        <p:nvSpPr>
          <p:cNvPr id="11283" name="Oval 19"/>
          <p:cNvSpPr>
            <a:spLocks noChangeArrowheads="1"/>
          </p:cNvSpPr>
          <p:nvPr/>
        </p:nvSpPr>
        <p:spPr bwMode="auto">
          <a:xfrm>
            <a:off x="8382000" y="3108325"/>
            <a:ext cx="228600" cy="228600"/>
          </a:xfrm>
          <a:prstGeom prst="ellipse">
            <a:avLst/>
          </a:prstGeom>
          <a:solidFill>
            <a:srgbClr val="00FF99"/>
          </a:solidFill>
          <a:ln w="9525">
            <a:solidFill>
              <a:schemeClr val="tx1"/>
            </a:solidFill>
            <a:round/>
            <a:headEnd/>
            <a:tailEnd/>
          </a:ln>
          <a:effectLst/>
        </p:spPr>
        <p:txBody>
          <a:bodyPr wrap="none" anchor="ctr"/>
          <a:lstStyle/>
          <a:p>
            <a:endParaRPr lang="zh-CN" altLang="en-US"/>
          </a:p>
        </p:txBody>
      </p:sp>
      <p:sp>
        <p:nvSpPr>
          <p:cNvPr id="101396" name="Rectangle 20"/>
          <p:cNvSpPr>
            <a:spLocks noChangeArrowheads="1"/>
          </p:cNvSpPr>
          <p:nvPr/>
        </p:nvSpPr>
        <p:spPr bwMode="auto">
          <a:xfrm>
            <a:off x="723900" y="4432300"/>
            <a:ext cx="1400175" cy="457200"/>
          </a:xfrm>
          <a:prstGeom prst="rect">
            <a:avLst/>
          </a:prstGeom>
          <a:noFill/>
          <a:ln w="9525">
            <a:noFill/>
            <a:miter lim="800000"/>
            <a:headEnd/>
            <a:tailEnd/>
          </a:ln>
          <a:effectLst/>
        </p:spPr>
        <p:txBody>
          <a:bodyPr>
            <a:spAutoFit/>
          </a:bodyPr>
          <a:lstStyle/>
          <a:p>
            <a:r>
              <a:rPr lang="zh-CN" altLang="en-US" b="1">
                <a:solidFill>
                  <a:srgbClr val="FF6600"/>
                </a:solidFill>
                <a:latin typeface="宋体" charset="-122"/>
              </a:rPr>
              <a:t>说明</a:t>
            </a:r>
          </a:p>
        </p:txBody>
      </p:sp>
      <p:sp>
        <p:nvSpPr>
          <p:cNvPr id="101397" name="AutoShape 21"/>
          <p:cNvSpPr>
            <a:spLocks noChangeArrowheads="1"/>
          </p:cNvSpPr>
          <p:nvPr/>
        </p:nvSpPr>
        <p:spPr bwMode="auto">
          <a:xfrm>
            <a:off x="334963" y="4356100"/>
            <a:ext cx="360362" cy="576263"/>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a:effectLst/>
        </p:spPr>
        <p:txBody>
          <a:bodyPr wrap="none" anchor="ctr"/>
          <a:lstStyle/>
          <a:p>
            <a:endParaRPr lang="zh-CN" altLang="en-US"/>
          </a:p>
        </p:txBody>
      </p:sp>
      <p:sp>
        <p:nvSpPr>
          <p:cNvPr id="24" name="Text Box 6"/>
          <p:cNvSpPr txBox="1">
            <a:spLocks noChangeArrowheads="1"/>
          </p:cNvSpPr>
          <p:nvPr/>
        </p:nvSpPr>
        <p:spPr bwMode="auto">
          <a:xfrm>
            <a:off x="82550" y="5981700"/>
            <a:ext cx="8245475" cy="477838"/>
          </a:xfrm>
          <a:prstGeom prst="rect">
            <a:avLst/>
          </a:prstGeom>
          <a:noFill/>
          <a:ln w="9525">
            <a:noFill/>
            <a:miter lim="800000"/>
            <a:headEnd/>
            <a:tailEnd/>
          </a:ln>
          <a:effectLst/>
        </p:spPr>
        <p:txBody>
          <a:bodyPr>
            <a:spAutoFit/>
          </a:bodyPr>
          <a:lstStyle/>
          <a:p>
            <a:pPr>
              <a:lnSpc>
                <a:spcPct val="120000"/>
              </a:lnSpc>
            </a:pPr>
            <a:r>
              <a:rPr lang="en-US" altLang="zh-CN" b="1">
                <a:solidFill>
                  <a:srgbClr val="000000"/>
                </a:solidFill>
                <a:latin typeface="宋体" charset="-122"/>
              </a:rPr>
              <a:t> </a:t>
            </a:r>
            <a:r>
              <a:rPr lang="zh-CN" altLang="en-US" b="1">
                <a:solidFill>
                  <a:srgbClr val="000000"/>
                </a:solidFill>
                <a:latin typeface="宋体" charset="-122"/>
              </a:rPr>
              <a:t>（</a:t>
            </a:r>
            <a:r>
              <a:rPr lang="en-US" altLang="zh-CN" b="1">
                <a:solidFill>
                  <a:srgbClr val="000000"/>
                </a:solidFill>
                <a:latin typeface="宋体" charset="-122"/>
              </a:rPr>
              <a:t>2</a:t>
            </a:r>
            <a:r>
              <a:rPr lang="zh-CN" altLang="en-US" b="1">
                <a:solidFill>
                  <a:srgbClr val="000000"/>
                </a:solidFill>
                <a:latin typeface="宋体" charset="-122"/>
              </a:rPr>
              <a:t>）</a:t>
            </a:r>
            <a:r>
              <a:rPr lang="en-US" altLang="zh-CN" b="1">
                <a:solidFill>
                  <a:schemeClr val="bg1"/>
                </a:solidFill>
                <a:latin typeface="宋体" charset="-122"/>
              </a:rPr>
              <a:t>1918</a:t>
            </a:r>
            <a:r>
              <a:rPr lang="zh-CN" altLang="en-US" b="1">
                <a:solidFill>
                  <a:schemeClr val="bg1"/>
                </a:solidFill>
                <a:latin typeface="宋体" charset="-122"/>
              </a:rPr>
              <a:t>年，获诺贝尔物理奖。</a:t>
            </a:r>
          </a:p>
        </p:txBody>
      </p:sp>
      <p:sp>
        <p:nvSpPr>
          <p:cNvPr id="23" name="AutoShape 15">
            <a:hlinkClick r:id="rId5" action="ppaction://hlinksldjump" highlightClick="1"/>
          </p:cNvPr>
          <p:cNvSpPr>
            <a:spLocks noChangeAspect="1" noChangeArrowheads="1"/>
          </p:cNvSpPr>
          <p:nvPr/>
        </p:nvSpPr>
        <p:spPr bwMode="auto">
          <a:xfrm>
            <a:off x="8528050" y="6362700"/>
            <a:ext cx="244475" cy="244475"/>
          </a:xfrm>
          <a:prstGeom prst="actionButtonBeginning">
            <a:avLst/>
          </a:prstGeom>
          <a:solidFill>
            <a:srgbClr val="99CCFF"/>
          </a:solidFill>
          <a:ln w="19050">
            <a:noFill/>
            <a:miter lim="800000"/>
            <a:headEnd/>
            <a:tailEnd/>
          </a:ln>
        </p:spPr>
        <p:txBody>
          <a:bodyPr wrap="none" anchor="ctr"/>
          <a:lstStyle/>
          <a:p>
            <a:endParaRPr lang="zh-CN" altLang="en-US"/>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1388"/>
                                        </p:tgtEl>
                                        <p:attrNameLst>
                                          <p:attrName>style.visibility</p:attrName>
                                        </p:attrNameLst>
                                      </p:cBhvr>
                                      <p:to>
                                        <p:strVal val="visible"/>
                                      </p:to>
                                    </p:set>
                                    <p:animEffect transition="in" filter="wipe(left)">
                                      <p:cBhvr>
                                        <p:cTn id="7" dur="500"/>
                                        <p:tgtEl>
                                          <p:spTgt spid="1013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1392"/>
                                        </p:tgtEl>
                                        <p:attrNameLst>
                                          <p:attrName>style.visibility</p:attrName>
                                        </p:attrNameLst>
                                      </p:cBhvr>
                                      <p:to>
                                        <p:strVal val="visible"/>
                                      </p:to>
                                    </p:set>
                                    <p:animEffect transition="in" filter="wipe(up)">
                                      <p:cBhvr>
                                        <p:cTn id="12" dur="500"/>
                                        <p:tgtEl>
                                          <p:spTgt spid="101392"/>
                                        </p:tgtEl>
                                      </p:cBhvr>
                                    </p:animEffect>
                                  </p:childTnLst>
                                </p:cTn>
                              </p:par>
                            </p:childTnLst>
                          </p:cTn>
                        </p:par>
                        <p:par>
                          <p:cTn id="13" fill="hold" nodeType="afterGroup">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01393"/>
                                        </p:tgtEl>
                                        <p:attrNameLst>
                                          <p:attrName>style.visibility</p:attrName>
                                        </p:attrNameLst>
                                      </p:cBhvr>
                                      <p:to>
                                        <p:strVal val="visible"/>
                                      </p:to>
                                    </p:set>
                                    <p:anim calcmode="lin" valueType="num">
                                      <p:cBhvr additive="base">
                                        <p:cTn id="16" dur="500" fill="hold"/>
                                        <p:tgtEl>
                                          <p:spTgt spid="101393"/>
                                        </p:tgtEl>
                                        <p:attrNameLst>
                                          <p:attrName>ppt_x</p:attrName>
                                        </p:attrNameLst>
                                      </p:cBhvr>
                                      <p:tavLst>
                                        <p:tav tm="0">
                                          <p:val>
                                            <p:strVal val="#ppt_x"/>
                                          </p:val>
                                        </p:tav>
                                        <p:tav tm="100000">
                                          <p:val>
                                            <p:strVal val="#ppt_x"/>
                                          </p:val>
                                        </p:tav>
                                      </p:tavLst>
                                    </p:anim>
                                    <p:anim calcmode="lin" valueType="num">
                                      <p:cBhvr additive="base">
                                        <p:cTn id="17" dur="500" fill="hold"/>
                                        <p:tgtEl>
                                          <p:spTgt spid="101393"/>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14"/>
                                            </p:cond>
                                          </p:stCondLst>
                                          <p:endCondLst>
                                            <p:cond evt="onStopAudio" delay="0">
                                              <p:tgtEl>
                                                <p:sldTgt/>
                                              </p:tgtEl>
                                            </p:cond>
                                          </p:endCondLst>
                                        </p:cTn>
                                        <p:tgtEl>
                                          <p:sndTgt r:embed="rId3" name="cashreg.wav" builtIn="1"/>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2" fill="hold" grpId="0" nodeType="clickEffect">
                                  <p:stCondLst>
                                    <p:cond delay="0"/>
                                  </p:stCondLst>
                                  <p:childTnLst>
                                    <p:set>
                                      <p:cBhvr>
                                        <p:cTn id="21" dur="1" fill="hold">
                                          <p:stCondLst>
                                            <p:cond delay="0"/>
                                          </p:stCondLst>
                                        </p:cTn>
                                        <p:tgtEl>
                                          <p:spTgt spid="101389"/>
                                        </p:tgtEl>
                                        <p:attrNameLst>
                                          <p:attrName>style.visibility</p:attrName>
                                        </p:attrNameLst>
                                      </p:cBhvr>
                                      <p:to>
                                        <p:strVal val="visible"/>
                                      </p:to>
                                    </p:set>
                                    <p:animEffect transition="in" filter="slide(fromRight)">
                                      <p:cBhvr>
                                        <p:cTn id="22" dur="500"/>
                                        <p:tgtEl>
                                          <p:spTgt spid="101389"/>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01391"/>
                                        </p:tgtEl>
                                        <p:attrNameLst>
                                          <p:attrName>style.visibility</p:attrName>
                                        </p:attrNameLst>
                                      </p:cBhvr>
                                      <p:to>
                                        <p:strVal val="visible"/>
                                      </p:to>
                                    </p:set>
                                    <p:animEffect transition="in" filter="wipe(left)">
                                      <p:cBhvr>
                                        <p:cTn id="26" dur="500"/>
                                        <p:tgtEl>
                                          <p:spTgt spid="10139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01394"/>
                                        </p:tgtEl>
                                        <p:attrNameLst>
                                          <p:attrName>style.visibility</p:attrName>
                                        </p:attrNameLst>
                                      </p:cBhvr>
                                      <p:to>
                                        <p:strVal val="visible"/>
                                      </p:to>
                                    </p:set>
                                    <p:animEffect transition="in" filter="dissolve">
                                      <p:cBhvr>
                                        <p:cTn id="31" dur="500"/>
                                        <p:tgtEl>
                                          <p:spTgt spid="10139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01397"/>
                                        </p:tgtEl>
                                        <p:attrNameLst>
                                          <p:attrName>style.visibility</p:attrName>
                                        </p:attrNameLst>
                                      </p:cBhvr>
                                      <p:to>
                                        <p:strVal val="visible"/>
                                      </p:to>
                                    </p:set>
                                    <p:animEffect transition="in" filter="dissolve">
                                      <p:cBhvr>
                                        <p:cTn id="36" dur="500"/>
                                        <p:tgtEl>
                                          <p:spTgt spid="101397"/>
                                        </p:tgtEl>
                                      </p:cBhvr>
                                    </p:animEffect>
                                  </p:childTnLst>
                                </p:cTn>
                              </p:par>
                            </p:childTnLst>
                          </p:cTn>
                        </p:par>
                        <p:par>
                          <p:cTn id="37" fill="hold" nodeType="afterGroup">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101396"/>
                                        </p:tgtEl>
                                        <p:attrNameLst>
                                          <p:attrName>style.visibility</p:attrName>
                                        </p:attrNameLst>
                                      </p:cBhvr>
                                      <p:to>
                                        <p:strVal val="visible"/>
                                      </p:to>
                                    </p:set>
                                    <p:animEffect transition="in" filter="dissolve">
                                      <p:cBhvr>
                                        <p:cTn id="40" dur="500"/>
                                        <p:tgtEl>
                                          <p:spTgt spid="10139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01390"/>
                                        </p:tgtEl>
                                        <p:attrNameLst>
                                          <p:attrName>style.visibility</p:attrName>
                                        </p:attrNameLst>
                                      </p:cBhvr>
                                      <p:to>
                                        <p:strVal val="visible"/>
                                      </p:to>
                                    </p:set>
                                    <p:animEffect transition="in" filter="wipe(left)">
                                      <p:cBhvr>
                                        <p:cTn id="45" dur="500"/>
                                        <p:tgtEl>
                                          <p:spTgt spid="10139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4">
                                            <p:txEl>
                                              <p:pRg st="0" end="0"/>
                                            </p:txEl>
                                          </p:spTgt>
                                        </p:tgtEl>
                                        <p:attrNameLst>
                                          <p:attrName>style.visibility</p:attrName>
                                        </p:attrNameLst>
                                      </p:cBhvr>
                                      <p:to>
                                        <p:strVal val="visible"/>
                                      </p:to>
                                    </p:set>
                                    <p:animEffect transition="in" filter="wipe(left)">
                                      <p:cBhvr>
                                        <p:cTn id="50" dur="500"/>
                                        <p:tgtEl>
                                          <p:spTgt spid="24">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left)">
                                      <p:cBhvr>
                                        <p:cTn id="5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8" grpId="0"/>
      <p:bldP spid="101389" grpId="0" animBg="1" autoUpdateAnimBg="0"/>
      <p:bldP spid="101390" grpId="0" autoUpdateAnimBg="0"/>
      <p:bldP spid="101391" grpId="0" autoUpdateAnimBg="0"/>
      <p:bldP spid="101392" grpId="0" animBg="1" autoUpdateAnimBg="0"/>
      <p:bldP spid="101393" grpId="0" animBg="1" autoUpdateAnimBg="0"/>
      <p:bldP spid="101394" grpId="0" autoUpdateAnimBg="0"/>
      <p:bldP spid="101396" grpId="0" autoUpdateAnimBg="0"/>
      <p:bldP spid="101397" grpId="0" animBg="1"/>
      <p:bldP spid="24" grpId="0" build="p" autoUpdateAnimBg="0"/>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7" name="Text Box 7"/>
          <p:cNvSpPr txBox="1">
            <a:spLocks noChangeArrowheads="1"/>
          </p:cNvSpPr>
          <p:nvPr/>
        </p:nvSpPr>
        <p:spPr bwMode="auto">
          <a:xfrm>
            <a:off x="161925" y="773113"/>
            <a:ext cx="4756150" cy="517065"/>
          </a:xfrm>
          <a:prstGeom prst="rect">
            <a:avLst/>
          </a:prstGeom>
          <a:noFill/>
          <a:ln w="9525">
            <a:noFill/>
            <a:miter lim="800000"/>
            <a:headEnd/>
            <a:tailEnd/>
          </a:ln>
          <a:effectLst/>
        </p:spPr>
        <p:txBody>
          <a:bodyPr>
            <a:spAutoFit/>
          </a:bodyPr>
          <a:lstStyle/>
          <a:p>
            <a:pPr>
              <a:lnSpc>
                <a:spcPct val="115000"/>
              </a:lnSpc>
            </a:pPr>
            <a:r>
              <a:rPr lang="en-US" altLang="zh-CN" b="1" dirty="0" smtClean="0">
                <a:solidFill>
                  <a:srgbClr val="0000FF"/>
                </a:solidFill>
              </a:rPr>
              <a:t>13.2.1 </a:t>
            </a:r>
            <a:r>
              <a:rPr lang="zh-CN" altLang="en-US" b="1" dirty="0" smtClean="0">
                <a:solidFill>
                  <a:srgbClr val="0000FF"/>
                </a:solidFill>
              </a:rPr>
              <a:t>光电效应</a:t>
            </a:r>
            <a:r>
              <a:rPr lang="zh-CN" altLang="en-US" b="1" dirty="0">
                <a:solidFill>
                  <a:srgbClr val="0000FF"/>
                </a:solidFill>
              </a:rPr>
              <a:t>的实验规律</a:t>
            </a:r>
          </a:p>
        </p:txBody>
      </p:sp>
      <p:sp>
        <p:nvSpPr>
          <p:cNvPr id="102408" name="Text Box 8"/>
          <p:cNvSpPr txBox="1">
            <a:spLocks noChangeArrowheads="1"/>
          </p:cNvSpPr>
          <p:nvPr/>
        </p:nvSpPr>
        <p:spPr bwMode="auto">
          <a:xfrm>
            <a:off x="271463" y="3119438"/>
            <a:ext cx="2082800" cy="457200"/>
          </a:xfrm>
          <a:prstGeom prst="rect">
            <a:avLst/>
          </a:prstGeom>
          <a:noFill/>
          <a:ln w="9525">
            <a:noFill/>
            <a:miter lim="800000"/>
            <a:headEnd/>
            <a:tailEnd/>
          </a:ln>
          <a:effectLst/>
        </p:spPr>
        <p:txBody>
          <a:bodyPr>
            <a:spAutoFit/>
          </a:bodyPr>
          <a:lstStyle/>
          <a:p>
            <a:pPr>
              <a:buClr>
                <a:srgbClr val="006600"/>
              </a:buClr>
              <a:buFont typeface="Wingdings" pitchFamily="2" charset="2"/>
              <a:buChar char="v"/>
            </a:pPr>
            <a:r>
              <a:rPr lang="zh-CN" altLang="en-US" b="1">
                <a:solidFill>
                  <a:schemeClr val="hlink"/>
                </a:solidFill>
              </a:rPr>
              <a:t>饱和电流</a:t>
            </a:r>
            <a:r>
              <a:rPr lang="zh-CN" altLang="en-US" b="1">
                <a:solidFill>
                  <a:srgbClr val="FFCC66"/>
                </a:solidFill>
              </a:rPr>
              <a:t> </a:t>
            </a:r>
            <a:r>
              <a:rPr lang="en-US" altLang="zh-CN" b="1" i="1">
                <a:solidFill>
                  <a:schemeClr val="accent2"/>
                </a:solidFill>
              </a:rPr>
              <a:t>i</a:t>
            </a:r>
            <a:r>
              <a:rPr lang="en-US" altLang="zh-CN" b="1" i="1" baseline="-25000">
                <a:solidFill>
                  <a:schemeClr val="accent2"/>
                </a:solidFill>
              </a:rPr>
              <a:t>S </a:t>
            </a:r>
            <a:endParaRPr lang="en-US" altLang="zh-CN" b="1">
              <a:solidFill>
                <a:schemeClr val="accent2"/>
              </a:solidFill>
            </a:endParaRPr>
          </a:p>
        </p:txBody>
      </p:sp>
      <p:sp>
        <p:nvSpPr>
          <p:cNvPr id="102409" name="Rectangle 9"/>
          <p:cNvSpPr>
            <a:spLocks noChangeArrowheads="1"/>
          </p:cNvSpPr>
          <p:nvPr/>
        </p:nvSpPr>
        <p:spPr bwMode="auto">
          <a:xfrm>
            <a:off x="234950" y="4040188"/>
            <a:ext cx="2354263" cy="511175"/>
          </a:xfrm>
          <a:prstGeom prst="rect">
            <a:avLst/>
          </a:prstGeom>
          <a:noFill/>
          <a:ln w="9525">
            <a:noFill/>
            <a:miter lim="800000"/>
            <a:headEnd/>
            <a:tailEnd/>
          </a:ln>
          <a:effectLst/>
        </p:spPr>
        <p:txBody>
          <a:bodyPr>
            <a:spAutoFit/>
          </a:bodyPr>
          <a:lstStyle/>
          <a:p>
            <a:pPr>
              <a:lnSpc>
                <a:spcPct val="115000"/>
              </a:lnSpc>
              <a:buClr>
                <a:srgbClr val="006600"/>
              </a:buClr>
              <a:buFont typeface="Wingdings" pitchFamily="2" charset="2"/>
              <a:buChar char="v"/>
            </a:pPr>
            <a:r>
              <a:rPr lang="zh-CN" altLang="en-US" b="1">
                <a:solidFill>
                  <a:schemeClr val="hlink"/>
                </a:solidFill>
              </a:rPr>
              <a:t>遏止电压</a:t>
            </a:r>
            <a:r>
              <a:rPr lang="zh-CN" altLang="en-US" b="1">
                <a:solidFill>
                  <a:srgbClr val="FFCC66"/>
                </a:solidFill>
              </a:rPr>
              <a:t> </a:t>
            </a:r>
            <a:r>
              <a:rPr lang="en-US" altLang="zh-CN" b="1" i="1">
                <a:solidFill>
                  <a:schemeClr val="accent2"/>
                </a:solidFill>
              </a:rPr>
              <a:t>U</a:t>
            </a:r>
            <a:r>
              <a:rPr lang="en-US" altLang="zh-CN" b="1" i="1" baseline="-14000">
                <a:solidFill>
                  <a:schemeClr val="accent2"/>
                </a:solidFill>
              </a:rPr>
              <a:t>a </a:t>
            </a:r>
            <a:r>
              <a:rPr lang="en-US" altLang="zh-CN" b="1" i="1" baseline="-14000">
                <a:solidFill>
                  <a:srgbClr val="99FFCC"/>
                </a:solidFill>
              </a:rPr>
              <a:t> </a:t>
            </a:r>
            <a:endParaRPr lang="en-US" altLang="zh-CN" b="1">
              <a:solidFill>
                <a:srgbClr val="66FFCC"/>
              </a:solidFill>
            </a:endParaRPr>
          </a:p>
        </p:txBody>
      </p:sp>
      <p:sp>
        <p:nvSpPr>
          <p:cNvPr id="102410" name="Rectangle 10"/>
          <p:cNvSpPr>
            <a:spLocks noChangeArrowheads="1"/>
          </p:cNvSpPr>
          <p:nvPr/>
        </p:nvSpPr>
        <p:spPr bwMode="auto">
          <a:xfrm>
            <a:off x="1809750" y="3586163"/>
            <a:ext cx="2254250" cy="512762"/>
          </a:xfrm>
          <a:prstGeom prst="rect">
            <a:avLst/>
          </a:prstGeom>
          <a:noFill/>
          <a:ln w="9525">
            <a:noFill/>
            <a:miter lim="800000"/>
            <a:headEnd/>
            <a:tailEnd/>
          </a:ln>
          <a:effectLst/>
        </p:spPr>
        <p:txBody>
          <a:bodyPr>
            <a:spAutoFit/>
          </a:bodyPr>
          <a:lstStyle/>
          <a:p>
            <a:pPr>
              <a:lnSpc>
                <a:spcPct val="115000"/>
              </a:lnSpc>
            </a:pPr>
            <a:r>
              <a:rPr lang="en-US" altLang="zh-CN" b="1" i="1">
                <a:solidFill>
                  <a:schemeClr val="accent2"/>
                </a:solidFill>
              </a:rPr>
              <a:t>i</a:t>
            </a:r>
            <a:r>
              <a:rPr lang="en-US" altLang="zh-CN" b="1" i="1" baseline="-25000">
                <a:solidFill>
                  <a:schemeClr val="accent2"/>
                </a:solidFill>
              </a:rPr>
              <a:t>S</a:t>
            </a:r>
            <a:r>
              <a:rPr lang="en-US" altLang="zh-CN" b="1" i="1" baseline="-25000">
                <a:solidFill>
                  <a:srgbClr val="66FFFF"/>
                </a:solidFill>
              </a:rPr>
              <a:t> </a:t>
            </a:r>
            <a:r>
              <a:rPr lang="en-US" altLang="zh-CN" b="1" i="1" baseline="-25000">
                <a:solidFill>
                  <a:srgbClr val="CC00CC"/>
                </a:solidFill>
              </a:rPr>
              <a:t> </a:t>
            </a:r>
            <a:r>
              <a:rPr lang="en-US" altLang="zh-CN" b="1">
                <a:solidFill>
                  <a:srgbClr val="CC00CC"/>
                </a:solidFill>
              </a:rPr>
              <a:t>∝</a:t>
            </a:r>
            <a:r>
              <a:rPr lang="en-US" altLang="zh-CN" b="1">
                <a:solidFill>
                  <a:srgbClr val="FF99CC"/>
                </a:solidFill>
              </a:rPr>
              <a:t> </a:t>
            </a:r>
            <a:r>
              <a:rPr lang="zh-CN" altLang="en-US" b="1">
                <a:solidFill>
                  <a:schemeClr val="bg1"/>
                </a:solidFill>
              </a:rPr>
              <a:t>光电子数</a:t>
            </a:r>
          </a:p>
        </p:txBody>
      </p:sp>
      <p:graphicFrame>
        <p:nvGraphicFramePr>
          <p:cNvPr id="102411" name="Object 11"/>
          <p:cNvGraphicFramePr>
            <a:graphicFrameLocks noChangeAspect="1"/>
          </p:cNvGraphicFramePr>
          <p:nvPr/>
        </p:nvGraphicFramePr>
        <p:xfrm>
          <a:off x="1377950" y="4575175"/>
          <a:ext cx="1508125" cy="436563"/>
        </p:xfrm>
        <a:graphic>
          <a:graphicData uri="http://schemas.openxmlformats.org/presentationml/2006/ole">
            <p:oleObj spid="_x0000_s12294" name="公式" r:id="rId5" imgW="700200" imgH="187560" progId="Equation.3">
              <p:embed/>
            </p:oleObj>
          </a:graphicData>
        </a:graphic>
      </p:graphicFrame>
      <p:sp>
        <p:nvSpPr>
          <p:cNvPr id="102412" name="Rectangle 12"/>
          <p:cNvSpPr>
            <a:spLocks noChangeArrowheads="1"/>
          </p:cNvSpPr>
          <p:nvPr/>
        </p:nvSpPr>
        <p:spPr bwMode="auto">
          <a:xfrm>
            <a:off x="966788" y="3616325"/>
            <a:ext cx="1438275" cy="512763"/>
          </a:xfrm>
          <a:prstGeom prst="rect">
            <a:avLst/>
          </a:prstGeom>
          <a:noFill/>
          <a:ln w="9525">
            <a:noFill/>
            <a:miter lim="800000"/>
            <a:headEnd/>
            <a:tailEnd/>
          </a:ln>
          <a:effectLst/>
        </p:spPr>
        <p:txBody>
          <a:bodyPr>
            <a:spAutoFit/>
          </a:bodyPr>
          <a:lstStyle/>
          <a:p>
            <a:pPr>
              <a:lnSpc>
                <a:spcPct val="115000"/>
              </a:lnSpc>
            </a:pPr>
            <a:r>
              <a:rPr lang="en-US" altLang="zh-CN" i="1">
                <a:solidFill>
                  <a:schemeClr val="accent2"/>
                </a:solidFill>
              </a:rPr>
              <a:t>I </a:t>
            </a:r>
            <a:r>
              <a:rPr lang="en-US" altLang="zh-CN" b="1" i="1">
                <a:solidFill>
                  <a:schemeClr val="accent2"/>
                </a:solidFill>
              </a:rPr>
              <a:t> </a:t>
            </a:r>
            <a:r>
              <a:rPr lang="en-US" altLang="zh-CN" b="1">
                <a:solidFill>
                  <a:srgbClr val="CC00CC"/>
                </a:solidFill>
              </a:rPr>
              <a:t>∝</a:t>
            </a:r>
          </a:p>
        </p:txBody>
      </p:sp>
      <p:sp>
        <p:nvSpPr>
          <p:cNvPr id="12296" name="Rectangle 26"/>
          <p:cNvSpPr>
            <a:spLocks noChangeArrowheads="1"/>
          </p:cNvSpPr>
          <p:nvPr/>
        </p:nvSpPr>
        <p:spPr bwMode="auto">
          <a:xfrm>
            <a:off x="1331913" y="188913"/>
            <a:ext cx="5940425" cy="739775"/>
          </a:xfrm>
          <a:prstGeom prst="rect">
            <a:avLst/>
          </a:prstGeom>
          <a:noFill/>
          <a:ln w="9525">
            <a:noFill/>
            <a:miter lim="800000"/>
            <a:headEnd/>
            <a:tailEnd/>
          </a:ln>
          <a:effectLst/>
        </p:spPr>
        <p:txBody>
          <a:bodyPr tIns="165048" bIns="76176">
            <a:spAutoFit/>
          </a:bodyPr>
          <a:lstStyle/>
          <a:p>
            <a:pPr algn="ctr">
              <a:lnSpc>
                <a:spcPct val="115000"/>
              </a:lnSpc>
            </a:pPr>
            <a:r>
              <a:rPr lang="en-US" altLang="zh-CN" sz="2800" b="1">
                <a:solidFill>
                  <a:srgbClr val="0000FF"/>
                </a:solidFill>
                <a:latin typeface="黑体" pitchFamily="2" charset="-122"/>
                <a:ea typeface="黑体" pitchFamily="2" charset="-122"/>
              </a:rPr>
              <a:t>§</a:t>
            </a:r>
            <a:r>
              <a:rPr lang="en-US" altLang="zh-CN" sz="2800" b="1">
                <a:solidFill>
                  <a:srgbClr val="0000FF"/>
                </a:solidFill>
                <a:ea typeface="黑体" pitchFamily="2" charset="-122"/>
              </a:rPr>
              <a:t>13.2</a:t>
            </a:r>
            <a:r>
              <a:rPr lang="en-US" altLang="zh-CN" sz="2800" b="1">
                <a:solidFill>
                  <a:srgbClr val="0000FF"/>
                </a:solidFill>
                <a:latin typeface="黑体" pitchFamily="2" charset="-122"/>
                <a:ea typeface="黑体" pitchFamily="2" charset="-122"/>
              </a:rPr>
              <a:t> </a:t>
            </a:r>
            <a:r>
              <a:rPr lang="zh-CN" altLang="en-US" sz="2800" b="1">
                <a:solidFill>
                  <a:srgbClr val="0000FF"/>
                </a:solidFill>
                <a:latin typeface="黑体" pitchFamily="2" charset="-122"/>
                <a:ea typeface="黑体" pitchFamily="2" charset="-122"/>
              </a:rPr>
              <a:t>光的量子性</a:t>
            </a:r>
          </a:p>
        </p:txBody>
      </p:sp>
      <p:sp>
        <p:nvSpPr>
          <p:cNvPr id="102427" name="Freeform 27"/>
          <p:cNvSpPr>
            <a:spLocks/>
          </p:cNvSpPr>
          <p:nvPr/>
        </p:nvSpPr>
        <p:spPr bwMode="auto">
          <a:xfrm>
            <a:off x="5354638" y="4475163"/>
            <a:ext cx="2924175" cy="1482725"/>
          </a:xfrm>
          <a:custGeom>
            <a:avLst/>
            <a:gdLst>
              <a:gd name="T0" fmla="*/ 0 w 1842"/>
              <a:gd name="T1" fmla="*/ 2147483647 h 934"/>
              <a:gd name="T2" fmla="*/ 1784270625 w 1842"/>
              <a:gd name="T3" fmla="*/ 869454700 h 934"/>
              <a:gd name="T4" fmla="*/ 2147483647 w 1842"/>
              <a:gd name="T5" fmla="*/ 252015625 h 934"/>
              <a:gd name="T6" fmla="*/ 2147483647 w 1842"/>
              <a:gd name="T7" fmla="*/ 17641888 h 9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42" h="934">
                <a:moveTo>
                  <a:pt x="0" y="934"/>
                </a:moveTo>
                <a:cubicBezTo>
                  <a:pt x="326" y="853"/>
                  <a:pt x="643" y="401"/>
                  <a:pt x="708" y="345"/>
                </a:cubicBezTo>
                <a:cubicBezTo>
                  <a:pt x="751" y="301"/>
                  <a:pt x="838" y="200"/>
                  <a:pt x="968" y="100"/>
                </a:cubicBezTo>
                <a:cubicBezTo>
                  <a:pt x="1098" y="0"/>
                  <a:pt x="1421" y="10"/>
                  <a:pt x="1842" y="7"/>
                </a:cubicBezTo>
              </a:path>
            </a:pathLst>
          </a:custGeom>
          <a:noFill/>
          <a:ln w="28575" cmpd="sng">
            <a:solidFill>
              <a:srgbClr val="0000FF"/>
            </a:solidFill>
            <a:round/>
            <a:headEnd/>
            <a:tailEnd/>
          </a:ln>
          <a:effectLst/>
        </p:spPr>
        <p:txBody>
          <a:bodyPr/>
          <a:lstStyle/>
          <a:p>
            <a:endParaRPr lang="zh-CN" altLang="en-US"/>
          </a:p>
        </p:txBody>
      </p:sp>
      <p:sp>
        <p:nvSpPr>
          <p:cNvPr id="102428" name="Text Box 28"/>
          <p:cNvSpPr txBox="1">
            <a:spLocks noChangeArrowheads="1"/>
          </p:cNvSpPr>
          <p:nvPr/>
        </p:nvSpPr>
        <p:spPr bwMode="auto">
          <a:xfrm>
            <a:off x="7818438" y="5395913"/>
            <a:ext cx="428625" cy="396875"/>
          </a:xfrm>
          <a:prstGeom prst="rect">
            <a:avLst/>
          </a:prstGeom>
          <a:noFill/>
          <a:ln w="9525">
            <a:noFill/>
            <a:miter lim="800000"/>
            <a:headEnd/>
            <a:tailEnd/>
          </a:ln>
          <a:effectLst/>
        </p:spPr>
        <p:txBody>
          <a:bodyPr wrap="none">
            <a:spAutoFit/>
          </a:bodyPr>
          <a:lstStyle/>
          <a:p>
            <a:r>
              <a:rPr lang="en-US" altLang="zh-CN" sz="2000" b="1" i="1">
                <a:solidFill>
                  <a:schemeClr val="tx2"/>
                </a:solidFill>
              </a:rPr>
              <a:t>i</a:t>
            </a:r>
            <a:r>
              <a:rPr lang="en-US" altLang="zh-CN" sz="2000" b="1" i="1" baseline="-18000">
                <a:solidFill>
                  <a:schemeClr val="tx2"/>
                </a:solidFill>
              </a:rPr>
              <a:t>S</a:t>
            </a:r>
            <a:r>
              <a:rPr lang="en-US" altLang="zh-CN" sz="2000" b="1" baseline="-18000">
                <a:solidFill>
                  <a:schemeClr val="tx2"/>
                </a:solidFill>
              </a:rPr>
              <a:t>3</a:t>
            </a:r>
            <a:endParaRPr lang="en-US" altLang="zh-CN" sz="2000" b="1">
              <a:solidFill>
                <a:schemeClr val="tx2"/>
              </a:solidFill>
            </a:endParaRPr>
          </a:p>
        </p:txBody>
      </p:sp>
      <p:sp>
        <p:nvSpPr>
          <p:cNvPr id="102429" name="Text Box 29"/>
          <p:cNvSpPr txBox="1">
            <a:spLocks noChangeArrowheads="1"/>
          </p:cNvSpPr>
          <p:nvPr/>
        </p:nvSpPr>
        <p:spPr bwMode="auto">
          <a:xfrm>
            <a:off x="7820025" y="4441825"/>
            <a:ext cx="428625" cy="396875"/>
          </a:xfrm>
          <a:prstGeom prst="rect">
            <a:avLst/>
          </a:prstGeom>
          <a:noFill/>
          <a:ln w="9525">
            <a:noFill/>
            <a:miter lim="800000"/>
            <a:headEnd/>
            <a:tailEnd/>
          </a:ln>
          <a:effectLst/>
        </p:spPr>
        <p:txBody>
          <a:bodyPr wrap="none">
            <a:spAutoFit/>
          </a:bodyPr>
          <a:lstStyle/>
          <a:p>
            <a:r>
              <a:rPr lang="en-US" altLang="zh-CN" sz="2000" b="1" i="1">
                <a:solidFill>
                  <a:schemeClr val="tx2"/>
                </a:solidFill>
              </a:rPr>
              <a:t>i</a:t>
            </a:r>
            <a:r>
              <a:rPr lang="en-US" altLang="zh-CN" sz="2000" b="1" i="1" baseline="-18000">
                <a:solidFill>
                  <a:schemeClr val="tx2"/>
                </a:solidFill>
              </a:rPr>
              <a:t>S</a:t>
            </a:r>
            <a:r>
              <a:rPr lang="en-US" altLang="zh-CN" sz="2000" b="1" baseline="-18000">
                <a:solidFill>
                  <a:schemeClr val="tx2"/>
                </a:solidFill>
              </a:rPr>
              <a:t>1</a:t>
            </a:r>
            <a:endParaRPr lang="en-US" altLang="zh-CN" sz="2000" b="1">
              <a:solidFill>
                <a:schemeClr val="tx2"/>
              </a:solidFill>
            </a:endParaRPr>
          </a:p>
        </p:txBody>
      </p:sp>
      <p:sp>
        <p:nvSpPr>
          <p:cNvPr id="102430" name="Text Box 30"/>
          <p:cNvSpPr txBox="1">
            <a:spLocks noChangeArrowheads="1"/>
          </p:cNvSpPr>
          <p:nvPr/>
        </p:nvSpPr>
        <p:spPr bwMode="auto">
          <a:xfrm>
            <a:off x="7820025" y="4906963"/>
            <a:ext cx="428625" cy="396875"/>
          </a:xfrm>
          <a:prstGeom prst="rect">
            <a:avLst/>
          </a:prstGeom>
          <a:noFill/>
          <a:ln w="9525">
            <a:noFill/>
            <a:miter lim="800000"/>
            <a:headEnd/>
            <a:tailEnd/>
          </a:ln>
          <a:effectLst/>
        </p:spPr>
        <p:txBody>
          <a:bodyPr wrap="none">
            <a:spAutoFit/>
          </a:bodyPr>
          <a:lstStyle/>
          <a:p>
            <a:r>
              <a:rPr lang="en-US" altLang="zh-CN" sz="2000" b="1" i="1">
                <a:solidFill>
                  <a:schemeClr val="tx2"/>
                </a:solidFill>
              </a:rPr>
              <a:t>i</a:t>
            </a:r>
            <a:r>
              <a:rPr lang="en-US" altLang="zh-CN" sz="2000" b="1" i="1" baseline="-18000">
                <a:solidFill>
                  <a:schemeClr val="tx2"/>
                </a:solidFill>
              </a:rPr>
              <a:t>S</a:t>
            </a:r>
            <a:r>
              <a:rPr lang="en-US" altLang="zh-CN" sz="2000" b="1" baseline="-18000">
                <a:solidFill>
                  <a:schemeClr val="tx2"/>
                </a:solidFill>
              </a:rPr>
              <a:t>2</a:t>
            </a:r>
            <a:endParaRPr lang="en-US" altLang="zh-CN" sz="2000" b="1">
              <a:solidFill>
                <a:schemeClr val="tx2"/>
              </a:solidFill>
            </a:endParaRPr>
          </a:p>
        </p:txBody>
      </p:sp>
      <p:sp>
        <p:nvSpPr>
          <p:cNvPr id="102431" name="Text Box 31"/>
          <p:cNvSpPr txBox="1">
            <a:spLocks noChangeArrowheads="1"/>
          </p:cNvSpPr>
          <p:nvPr/>
        </p:nvSpPr>
        <p:spPr bwMode="auto">
          <a:xfrm>
            <a:off x="8324850" y="4295775"/>
            <a:ext cx="365125" cy="396875"/>
          </a:xfrm>
          <a:prstGeom prst="rect">
            <a:avLst/>
          </a:prstGeom>
          <a:noFill/>
          <a:ln w="9525">
            <a:noFill/>
            <a:miter lim="800000"/>
            <a:headEnd/>
            <a:tailEnd/>
          </a:ln>
          <a:effectLst/>
        </p:spPr>
        <p:txBody>
          <a:bodyPr wrap="none">
            <a:spAutoFit/>
          </a:bodyPr>
          <a:lstStyle/>
          <a:p>
            <a:pPr algn="r"/>
            <a:r>
              <a:rPr lang="en-US" altLang="zh-CN" sz="2000" b="1" i="1">
                <a:solidFill>
                  <a:schemeClr val="bg1"/>
                </a:solidFill>
              </a:rPr>
              <a:t>I</a:t>
            </a:r>
            <a:r>
              <a:rPr lang="en-US" altLang="zh-CN" sz="2000" b="1" baseline="-20000">
                <a:solidFill>
                  <a:schemeClr val="bg1"/>
                </a:solidFill>
              </a:rPr>
              <a:t>1</a:t>
            </a:r>
            <a:endParaRPr lang="en-US" altLang="zh-CN" sz="2000" b="1">
              <a:solidFill>
                <a:schemeClr val="bg1"/>
              </a:solidFill>
            </a:endParaRPr>
          </a:p>
        </p:txBody>
      </p:sp>
      <p:sp>
        <p:nvSpPr>
          <p:cNvPr id="102432" name="Text Box 32"/>
          <p:cNvSpPr txBox="1">
            <a:spLocks noChangeArrowheads="1"/>
          </p:cNvSpPr>
          <p:nvPr/>
        </p:nvSpPr>
        <p:spPr bwMode="auto">
          <a:xfrm>
            <a:off x="8312150" y="4759325"/>
            <a:ext cx="365125" cy="396875"/>
          </a:xfrm>
          <a:prstGeom prst="rect">
            <a:avLst/>
          </a:prstGeom>
          <a:noFill/>
          <a:ln w="9525">
            <a:noFill/>
            <a:miter lim="800000"/>
            <a:headEnd/>
            <a:tailEnd/>
          </a:ln>
          <a:effectLst/>
        </p:spPr>
        <p:txBody>
          <a:bodyPr wrap="none">
            <a:spAutoFit/>
          </a:bodyPr>
          <a:lstStyle/>
          <a:p>
            <a:pPr algn="r"/>
            <a:r>
              <a:rPr lang="en-US" altLang="zh-CN" sz="2000" b="1" i="1">
                <a:solidFill>
                  <a:schemeClr val="bg1"/>
                </a:solidFill>
              </a:rPr>
              <a:t>I</a:t>
            </a:r>
            <a:r>
              <a:rPr lang="en-US" altLang="zh-CN" sz="2000" b="1" baseline="-20000">
                <a:solidFill>
                  <a:schemeClr val="bg1"/>
                </a:solidFill>
              </a:rPr>
              <a:t>2</a:t>
            </a:r>
            <a:endParaRPr lang="en-US" altLang="zh-CN" sz="2000" b="1">
              <a:solidFill>
                <a:schemeClr val="bg1"/>
              </a:solidFill>
            </a:endParaRPr>
          </a:p>
        </p:txBody>
      </p:sp>
      <p:sp>
        <p:nvSpPr>
          <p:cNvPr id="102433" name="Text Box 33"/>
          <p:cNvSpPr txBox="1">
            <a:spLocks noChangeArrowheads="1"/>
          </p:cNvSpPr>
          <p:nvPr/>
        </p:nvSpPr>
        <p:spPr bwMode="auto">
          <a:xfrm>
            <a:off x="8280400" y="5260975"/>
            <a:ext cx="365125" cy="396875"/>
          </a:xfrm>
          <a:prstGeom prst="rect">
            <a:avLst/>
          </a:prstGeom>
          <a:noFill/>
          <a:ln w="9525">
            <a:noFill/>
            <a:miter lim="800000"/>
            <a:headEnd/>
            <a:tailEnd/>
          </a:ln>
          <a:effectLst/>
        </p:spPr>
        <p:txBody>
          <a:bodyPr wrap="none">
            <a:spAutoFit/>
          </a:bodyPr>
          <a:lstStyle/>
          <a:p>
            <a:pPr algn="r"/>
            <a:r>
              <a:rPr lang="en-US" altLang="zh-CN" sz="2000" b="1" i="1">
                <a:solidFill>
                  <a:schemeClr val="bg1"/>
                </a:solidFill>
              </a:rPr>
              <a:t>I</a:t>
            </a:r>
            <a:r>
              <a:rPr lang="en-US" altLang="zh-CN" sz="2000" b="1" baseline="-20000">
                <a:solidFill>
                  <a:schemeClr val="bg1"/>
                </a:solidFill>
              </a:rPr>
              <a:t>3</a:t>
            </a:r>
            <a:endParaRPr lang="en-US" altLang="zh-CN" sz="2000" b="1">
              <a:solidFill>
                <a:schemeClr val="bg1"/>
              </a:solidFill>
            </a:endParaRPr>
          </a:p>
        </p:txBody>
      </p:sp>
      <p:sp useBgFill="1">
        <p:nvSpPr>
          <p:cNvPr id="102434" name="Rectangle 34"/>
          <p:cNvSpPr>
            <a:spLocks noChangeArrowheads="1"/>
          </p:cNvSpPr>
          <p:nvPr/>
        </p:nvSpPr>
        <p:spPr bwMode="auto">
          <a:xfrm>
            <a:off x="5165725" y="5156200"/>
            <a:ext cx="1116013" cy="815975"/>
          </a:xfrm>
          <a:prstGeom prst="rect">
            <a:avLst/>
          </a:prstGeom>
          <a:ln w="9525">
            <a:noFill/>
            <a:miter lim="800000"/>
            <a:headEnd/>
            <a:tailEnd/>
          </a:ln>
          <a:effectLst/>
        </p:spPr>
        <p:txBody>
          <a:bodyPr wrap="none" anchor="ctr"/>
          <a:lstStyle/>
          <a:p>
            <a:endParaRPr lang="zh-CN" altLang="en-US"/>
          </a:p>
        </p:txBody>
      </p:sp>
      <p:grpSp>
        <p:nvGrpSpPr>
          <p:cNvPr id="102435" name="Group 35"/>
          <p:cNvGrpSpPr>
            <a:grpSpLocks/>
          </p:cNvGrpSpPr>
          <p:nvPr/>
        </p:nvGrpSpPr>
        <p:grpSpPr bwMode="auto">
          <a:xfrm>
            <a:off x="5127625" y="4295775"/>
            <a:ext cx="3463925" cy="1676400"/>
            <a:chOff x="446" y="1250"/>
            <a:chExt cx="2182" cy="1056"/>
          </a:xfrm>
        </p:grpSpPr>
        <p:sp>
          <p:nvSpPr>
            <p:cNvPr id="12334" name="Line 36"/>
            <p:cNvSpPr>
              <a:spLocks noChangeShapeType="1"/>
            </p:cNvSpPr>
            <p:nvPr/>
          </p:nvSpPr>
          <p:spPr bwMode="auto">
            <a:xfrm flipV="1">
              <a:off x="1165" y="1250"/>
              <a:ext cx="0" cy="1056"/>
            </a:xfrm>
            <a:prstGeom prst="line">
              <a:avLst/>
            </a:prstGeom>
            <a:noFill/>
            <a:ln w="19050">
              <a:solidFill>
                <a:srgbClr val="000000"/>
              </a:solidFill>
              <a:round/>
              <a:headEnd/>
              <a:tailEnd type="triangle" w="med" len="lg"/>
            </a:ln>
            <a:effectLst/>
          </p:spPr>
          <p:txBody>
            <a:bodyPr/>
            <a:lstStyle/>
            <a:p>
              <a:endParaRPr lang="zh-CN" altLang="en-US"/>
            </a:p>
          </p:txBody>
        </p:sp>
        <p:sp>
          <p:nvSpPr>
            <p:cNvPr id="12335" name="Line 37"/>
            <p:cNvSpPr>
              <a:spLocks noChangeShapeType="1"/>
            </p:cNvSpPr>
            <p:nvPr/>
          </p:nvSpPr>
          <p:spPr bwMode="auto">
            <a:xfrm>
              <a:off x="446" y="2306"/>
              <a:ext cx="2182" cy="0"/>
            </a:xfrm>
            <a:prstGeom prst="line">
              <a:avLst/>
            </a:prstGeom>
            <a:noFill/>
            <a:ln w="19050">
              <a:solidFill>
                <a:srgbClr val="000000"/>
              </a:solidFill>
              <a:round/>
              <a:headEnd/>
              <a:tailEnd type="triangle" w="med" len="lg"/>
            </a:ln>
            <a:effectLst/>
          </p:spPr>
          <p:txBody>
            <a:bodyPr/>
            <a:lstStyle/>
            <a:p>
              <a:endParaRPr lang="zh-CN" altLang="en-US"/>
            </a:p>
          </p:txBody>
        </p:sp>
      </p:grpSp>
      <p:sp>
        <p:nvSpPr>
          <p:cNvPr id="102438" name="Freeform 38"/>
          <p:cNvSpPr>
            <a:spLocks/>
          </p:cNvSpPr>
          <p:nvPr/>
        </p:nvSpPr>
        <p:spPr bwMode="auto">
          <a:xfrm>
            <a:off x="5343525" y="5441950"/>
            <a:ext cx="2924175" cy="530225"/>
          </a:xfrm>
          <a:custGeom>
            <a:avLst/>
            <a:gdLst>
              <a:gd name="T0" fmla="*/ 0 w 2170"/>
              <a:gd name="T1" fmla="*/ 273481080 h 1028"/>
              <a:gd name="T2" fmla="*/ 1514443708 w 2170"/>
              <a:gd name="T3" fmla="*/ 101624223 h 1028"/>
              <a:gd name="T4" fmla="*/ 2070104335 w 2170"/>
              <a:gd name="T5" fmla="*/ 30061385 h 1028"/>
              <a:gd name="T6" fmla="*/ 2147483647 w 2170"/>
              <a:gd name="T7" fmla="*/ 2926553 h 10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70" h="1028">
                <a:moveTo>
                  <a:pt x="0" y="1028"/>
                </a:moveTo>
                <a:cubicBezTo>
                  <a:pt x="384" y="939"/>
                  <a:pt x="758" y="443"/>
                  <a:pt x="834" y="382"/>
                </a:cubicBezTo>
                <a:cubicBezTo>
                  <a:pt x="885" y="333"/>
                  <a:pt x="987" y="223"/>
                  <a:pt x="1140" y="113"/>
                </a:cubicBezTo>
                <a:cubicBezTo>
                  <a:pt x="1293" y="3"/>
                  <a:pt x="1676" y="0"/>
                  <a:pt x="2170" y="11"/>
                </a:cubicBezTo>
              </a:path>
            </a:pathLst>
          </a:custGeom>
          <a:noFill/>
          <a:ln w="28575" cmpd="sng">
            <a:solidFill>
              <a:srgbClr val="0000FF"/>
            </a:solidFill>
            <a:round/>
            <a:headEnd/>
            <a:tailEnd/>
          </a:ln>
          <a:effectLst/>
        </p:spPr>
        <p:txBody>
          <a:bodyPr/>
          <a:lstStyle/>
          <a:p>
            <a:endParaRPr lang="zh-CN" altLang="en-US"/>
          </a:p>
        </p:txBody>
      </p:sp>
      <p:sp>
        <p:nvSpPr>
          <p:cNvPr id="102439" name="Freeform 39"/>
          <p:cNvSpPr>
            <a:spLocks/>
          </p:cNvSpPr>
          <p:nvPr/>
        </p:nvSpPr>
        <p:spPr bwMode="auto">
          <a:xfrm>
            <a:off x="5341938" y="4959350"/>
            <a:ext cx="2924175" cy="1012825"/>
          </a:xfrm>
          <a:custGeom>
            <a:avLst/>
            <a:gdLst>
              <a:gd name="T0" fmla="*/ 0 w 1842"/>
              <a:gd name="T1" fmla="*/ 1607859688 h 638"/>
              <a:gd name="T2" fmla="*/ 1784270625 w 1842"/>
              <a:gd name="T3" fmla="*/ 594756875 h 638"/>
              <a:gd name="T4" fmla="*/ 2147483647 w 1842"/>
              <a:gd name="T5" fmla="*/ 171370625 h 638"/>
              <a:gd name="T6" fmla="*/ 2147483647 w 1842"/>
              <a:gd name="T7" fmla="*/ 12601575 h 63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42" h="638">
                <a:moveTo>
                  <a:pt x="0" y="638"/>
                </a:moveTo>
                <a:cubicBezTo>
                  <a:pt x="326" y="583"/>
                  <a:pt x="643" y="274"/>
                  <a:pt x="708" y="236"/>
                </a:cubicBezTo>
                <a:cubicBezTo>
                  <a:pt x="751" y="205"/>
                  <a:pt x="838" y="137"/>
                  <a:pt x="968" y="68"/>
                </a:cubicBezTo>
                <a:cubicBezTo>
                  <a:pt x="1098" y="0"/>
                  <a:pt x="1394" y="14"/>
                  <a:pt x="1842" y="5"/>
                </a:cubicBezTo>
              </a:path>
            </a:pathLst>
          </a:custGeom>
          <a:noFill/>
          <a:ln w="28575" cmpd="sng">
            <a:solidFill>
              <a:srgbClr val="0000FF"/>
            </a:solidFill>
            <a:round/>
            <a:headEnd/>
            <a:tailEnd/>
          </a:ln>
          <a:effectLst/>
        </p:spPr>
        <p:txBody>
          <a:bodyPr/>
          <a:lstStyle/>
          <a:p>
            <a:endParaRPr lang="zh-CN" altLang="en-US"/>
          </a:p>
        </p:txBody>
      </p:sp>
      <p:sp>
        <p:nvSpPr>
          <p:cNvPr id="102440" name="Text Box 40"/>
          <p:cNvSpPr txBox="1">
            <a:spLocks noChangeArrowheads="1"/>
          </p:cNvSpPr>
          <p:nvPr/>
        </p:nvSpPr>
        <p:spPr bwMode="auto">
          <a:xfrm>
            <a:off x="5148263" y="5811838"/>
            <a:ext cx="488950" cy="519112"/>
          </a:xfrm>
          <a:prstGeom prst="rect">
            <a:avLst/>
          </a:prstGeom>
          <a:noFill/>
          <a:ln w="9525">
            <a:noFill/>
            <a:miter lim="800000"/>
            <a:headEnd/>
            <a:tailEnd/>
          </a:ln>
          <a:effectLst/>
        </p:spPr>
        <p:txBody>
          <a:bodyPr wrap="none">
            <a:spAutoFit/>
          </a:bodyPr>
          <a:lstStyle/>
          <a:p>
            <a:pPr algn="r"/>
            <a:r>
              <a:rPr lang="en-US" altLang="zh-CN" sz="2000" b="1" i="1">
                <a:solidFill>
                  <a:schemeClr val="tx2"/>
                </a:solidFill>
              </a:rPr>
              <a:t>U</a:t>
            </a:r>
            <a:r>
              <a:rPr lang="en-US" altLang="zh-CN" sz="2800" b="1" i="1" baseline="-20000">
                <a:solidFill>
                  <a:schemeClr val="tx2"/>
                </a:solidFill>
              </a:rPr>
              <a:t>a</a:t>
            </a:r>
            <a:endParaRPr lang="en-US" altLang="zh-CN" sz="2800" b="1" i="1">
              <a:solidFill>
                <a:schemeClr val="tx2"/>
              </a:solidFill>
            </a:endParaRPr>
          </a:p>
        </p:txBody>
      </p:sp>
      <p:sp>
        <p:nvSpPr>
          <p:cNvPr id="102441" name="Rectangle 41"/>
          <p:cNvSpPr>
            <a:spLocks noChangeArrowheads="1"/>
          </p:cNvSpPr>
          <p:nvPr/>
        </p:nvSpPr>
        <p:spPr bwMode="auto">
          <a:xfrm>
            <a:off x="8299450" y="5999163"/>
            <a:ext cx="368300" cy="396875"/>
          </a:xfrm>
          <a:prstGeom prst="rect">
            <a:avLst/>
          </a:prstGeom>
          <a:noFill/>
          <a:ln w="9525">
            <a:noFill/>
            <a:miter lim="800000"/>
            <a:headEnd/>
            <a:tailEnd/>
          </a:ln>
          <a:effectLst/>
        </p:spPr>
        <p:txBody>
          <a:bodyPr wrap="none">
            <a:spAutoFit/>
          </a:bodyPr>
          <a:lstStyle/>
          <a:p>
            <a:pPr algn="r"/>
            <a:r>
              <a:rPr lang="en-US" altLang="zh-CN" sz="2000" b="1" i="1">
                <a:solidFill>
                  <a:schemeClr val="bg1"/>
                </a:solidFill>
              </a:rPr>
              <a:t>U</a:t>
            </a:r>
          </a:p>
        </p:txBody>
      </p:sp>
      <p:sp>
        <p:nvSpPr>
          <p:cNvPr id="102442" name="Text Box 42"/>
          <p:cNvSpPr txBox="1">
            <a:spLocks noChangeArrowheads="1"/>
          </p:cNvSpPr>
          <p:nvPr/>
        </p:nvSpPr>
        <p:spPr bwMode="auto">
          <a:xfrm>
            <a:off x="5995988" y="4129088"/>
            <a:ext cx="254000" cy="396875"/>
          </a:xfrm>
          <a:prstGeom prst="rect">
            <a:avLst/>
          </a:prstGeom>
          <a:noFill/>
          <a:ln w="9525">
            <a:noFill/>
            <a:miter lim="800000"/>
            <a:headEnd/>
            <a:tailEnd/>
          </a:ln>
          <a:effectLst/>
        </p:spPr>
        <p:txBody>
          <a:bodyPr wrap="none">
            <a:spAutoFit/>
          </a:bodyPr>
          <a:lstStyle/>
          <a:p>
            <a:pPr algn="r"/>
            <a:r>
              <a:rPr lang="en-US" altLang="zh-CN" sz="2000" b="1" i="1">
                <a:solidFill>
                  <a:schemeClr val="bg1"/>
                </a:solidFill>
              </a:rPr>
              <a:t>i</a:t>
            </a:r>
          </a:p>
        </p:txBody>
      </p:sp>
      <p:sp>
        <p:nvSpPr>
          <p:cNvPr id="102443" name="Rectangle 43"/>
          <p:cNvSpPr>
            <a:spLocks noChangeArrowheads="1"/>
          </p:cNvSpPr>
          <p:nvPr/>
        </p:nvSpPr>
        <p:spPr bwMode="auto">
          <a:xfrm>
            <a:off x="7024688" y="3984625"/>
            <a:ext cx="1016000" cy="396875"/>
          </a:xfrm>
          <a:prstGeom prst="rect">
            <a:avLst/>
          </a:prstGeom>
          <a:noFill/>
          <a:ln w="9525">
            <a:noFill/>
            <a:miter lim="800000"/>
            <a:headEnd/>
            <a:tailEnd/>
          </a:ln>
          <a:effectLst/>
        </p:spPr>
        <p:txBody>
          <a:bodyPr wrap="none">
            <a:spAutoFit/>
          </a:bodyPr>
          <a:lstStyle/>
          <a:p>
            <a:pPr algn="r"/>
            <a:r>
              <a:rPr lang="en-US" altLang="zh-CN" sz="2000" b="1" i="1">
                <a:solidFill>
                  <a:schemeClr val="bg1"/>
                </a:solidFill>
              </a:rPr>
              <a:t>I</a:t>
            </a:r>
            <a:r>
              <a:rPr lang="en-US" altLang="zh-CN" sz="2000" b="1" baseline="-22000">
                <a:solidFill>
                  <a:schemeClr val="bg1"/>
                </a:solidFill>
              </a:rPr>
              <a:t>1</a:t>
            </a:r>
            <a:r>
              <a:rPr lang="en-US" altLang="zh-CN" sz="2000" b="1">
                <a:solidFill>
                  <a:schemeClr val="bg1"/>
                </a:solidFill>
              </a:rPr>
              <a:t>&gt;</a:t>
            </a:r>
            <a:r>
              <a:rPr lang="en-US" altLang="zh-CN" sz="2000" b="1" i="1">
                <a:solidFill>
                  <a:schemeClr val="bg1"/>
                </a:solidFill>
              </a:rPr>
              <a:t>I</a:t>
            </a:r>
            <a:r>
              <a:rPr lang="en-US" altLang="zh-CN" sz="2000" b="1" baseline="-22000">
                <a:solidFill>
                  <a:schemeClr val="bg1"/>
                </a:solidFill>
              </a:rPr>
              <a:t>2</a:t>
            </a:r>
            <a:r>
              <a:rPr lang="en-US" altLang="zh-CN" sz="2000" b="1" i="1">
                <a:solidFill>
                  <a:schemeClr val="bg1"/>
                </a:solidFill>
              </a:rPr>
              <a:t>&gt;I</a:t>
            </a:r>
            <a:r>
              <a:rPr lang="en-US" altLang="zh-CN" sz="2000" b="1" baseline="-22000">
                <a:solidFill>
                  <a:schemeClr val="bg1"/>
                </a:solidFill>
              </a:rPr>
              <a:t>3</a:t>
            </a:r>
          </a:p>
        </p:txBody>
      </p:sp>
      <p:grpSp>
        <p:nvGrpSpPr>
          <p:cNvPr id="102445" name="Group 45"/>
          <p:cNvGrpSpPr>
            <a:grpSpLocks/>
          </p:cNvGrpSpPr>
          <p:nvPr/>
        </p:nvGrpSpPr>
        <p:grpSpPr bwMode="auto">
          <a:xfrm>
            <a:off x="5786438" y="4102100"/>
            <a:ext cx="2754312" cy="1892300"/>
            <a:chOff x="3689" y="1447"/>
            <a:chExt cx="1735" cy="1234"/>
          </a:xfrm>
        </p:grpSpPr>
        <p:sp>
          <p:nvSpPr>
            <p:cNvPr id="12332" name="Line 46"/>
            <p:cNvSpPr>
              <a:spLocks noChangeShapeType="1"/>
            </p:cNvSpPr>
            <p:nvPr/>
          </p:nvSpPr>
          <p:spPr bwMode="auto">
            <a:xfrm flipV="1">
              <a:off x="3689" y="1447"/>
              <a:ext cx="0" cy="1234"/>
            </a:xfrm>
            <a:prstGeom prst="line">
              <a:avLst/>
            </a:prstGeom>
            <a:noFill/>
            <a:ln w="19050">
              <a:solidFill>
                <a:srgbClr val="000000"/>
              </a:solidFill>
              <a:round/>
              <a:headEnd/>
              <a:tailEnd type="triangle" w="med" len="lg"/>
            </a:ln>
            <a:effectLst/>
          </p:spPr>
          <p:txBody>
            <a:bodyPr/>
            <a:lstStyle/>
            <a:p>
              <a:endParaRPr lang="zh-CN" altLang="en-US"/>
            </a:p>
          </p:txBody>
        </p:sp>
        <p:sp>
          <p:nvSpPr>
            <p:cNvPr id="12333" name="Line 47"/>
            <p:cNvSpPr>
              <a:spLocks noChangeShapeType="1"/>
            </p:cNvSpPr>
            <p:nvPr/>
          </p:nvSpPr>
          <p:spPr bwMode="auto">
            <a:xfrm>
              <a:off x="3689" y="2681"/>
              <a:ext cx="1735" cy="0"/>
            </a:xfrm>
            <a:prstGeom prst="line">
              <a:avLst/>
            </a:prstGeom>
            <a:noFill/>
            <a:ln w="19050">
              <a:solidFill>
                <a:srgbClr val="000000"/>
              </a:solidFill>
              <a:round/>
              <a:headEnd/>
              <a:tailEnd type="triangle" w="med" len="lg"/>
            </a:ln>
            <a:effectLst/>
          </p:spPr>
          <p:txBody>
            <a:bodyPr/>
            <a:lstStyle/>
            <a:p>
              <a:endParaRPr lang="zh-CN" altLang="en-US"/>
            </a:p>
          </p:txBody>
        </p:sp>
      </p:grpSp>
      <p:grpSp>
        <p:nvGrpSpPr>
          <p:cNvPr id="102448" name="Group 48"/>
          <p:cNvGrpSpPr>
            <a:grpSpLocks/>
          </p:cNvGrpSpPr>
          <p:nvPr/>
        </p:nvGrpSpPr>
        <p:grpSpPr bwMode="auto">
          <a:xfrm>
            <a:off x="5745163" y="4098925"/>
            <a:ext cx="2698750" cy="2165350"/>
            <a:chOff x="3724" y="1311"/>
            <a:chExt cx="1700" cy="1356"/>
          </a:xfrm>
        </p:grpSpPr>
        <p:sp>
          <p:nvSpPr>
            <p:cNvPr id="12330" name="Text Box 49"/>
            <p:cNvSpPr txBox="1">
              <a:spLocks noChangeArrowheads="1"/>
            </p:cNvSpPr>
            <p:nvPr/>
          </p:nvSpPr>
          <p:spPr bwMode="auto">
            <a:xfrm>
              <a:off x="5224" y="2418"/>
              <a:ext cx="200" cy="249"/>
            </a:xfrm>
            <a:prstGeom prst="rect">
              <a:avLst/>
            </a:prstGeom>
            <a:noFill/>
            <a:ln w="9525">
              <a:noFill/>
              <a:miter lim="800000"/>
              <a:headEnd/>
              <a:tailEnd/>
            </a:ln>
            <a:effectLst/>
          </p:spPr>
          <p:txBody>
            <a:bodyPr wrap="none">
              <a:spAutoFit/>
            </a:bodyPr>
            <a:lstStyle/>
            <a:p>
              <a:pPr algn="r"/>
              <a:r>
                <a:rPr lang="en-US" altLang="zh-CN" sz="2000" i="1">
                  <a:solidFill>
                    <a:schemeClr val="bg1"/>
                  </a:solidFill>
                  <a:sym typeface="Symbol" pitchFamily="18" charset="2"/>
                </a:rPr>
                <a:t></a:t>
              </a:r>
            </a:p>
          </p:txBody>
        </p:sp>
        <p:sp>
          <p:nvSpPr>
            <p:cNvPr id="12331" name="Text Box 50"/>
            <p:cNvSpPr txBox="1">
              <a:spLocks noChangeArrowheads="1"/>
            </p:cNvSpPr>
            <p:nvPr/>
          </p:nvSpPr>
          <p:spPr bwMode="auto">
            <a:xfrm>
              <a:off x="3724" y="1311"/>
              <a:ext cx="308" cy="249"/>
            </a:xfrm>
            <a:prstGeom prst="rect">
              <a:avLst/>
            </a:prstGeom>
            <a:noFill/>
            <a:ln w="9525">
              <a:noFill/>
              <a:miter lim="800000"/>
              <a:headEnd/>
              <a:tailEnd/>
            </a:ln>
            <a:effectLst/>
          </p:spPr>
          <p:txBody>
            <a:bodyPr>
              <a:spAutoFit/>
            </a:bodyPr>
            <a:lstStyle/>
            <a:p>
              <a:pPr algn="r"/>
              <a:r>
                <a:rPr lang="en-US" altLang="zh-CN" sz="2000" b="1" i="1">
                  <a:solidFill>
                    <a:schemeClr val="bg1"/>
                  </a:solidFill>
                </a:rPr>
                <a:t>U</a:t>
              </a:r>
              <a:r>
                <a:rPr lang="en-US" altLang="zh-CN" sz="2000" b="1" i="1" baseline="-20000">
                  <a:solidFill>
                    <a:schemeClr val="bg1"/>
                  </a:solidFill>
                </a:rPr>
                <a:t>a</a:t>
              </a:r>
              <a:endParaRPr lang="en-US" altLang="zh-CN" sz="2000" b="1" i="1">
                <a:solidFill>
                  <a:schemeClr val="bg1"/>
                </a:solidFill>
              </a:endParaRPr>
            </a:p>
          </p:txBody>
        </p:sp>
      </p:grpSp>
      <p:sp>
        <p:nvSpPr>
          <p:cNvPr id="102451" name="Line 51"/>
          <p:cNvSpPr>
            <a:spLocks noChangeShapeType="1"/>
          </p:cNvSpPr>
          <p:nvPr/>
        </p:nvSpPr>
        <p:spPr bwMode="auto">
          <a:xfrm flipV="1">
            <a:off x="6546850" y="4446588"/>
            <a:ext cx="936625" cy="1541462"/>
          </a:xfrm>
          <a:prstGeom prst="line">
            <a:avLst/>
          </a:prstGeom>
          <a:noFill/>
          <a:ln w="38100">
            <a:solidFill>
              <a:srgbClr val="00FF00"/>
            </a:solidFill>
            <a:round/>
            <a:headEnd/>
            <a:tailEnd/>
          </a:ln>
          <a:effectLst/>
        </p:spPr>
        <p:txBody>
          <a:bodyPr/>
          <a:lstStyle/>
          <a:p>
            <a:endParaRPr lang="zh-CN" altLang="en-US"/>
          </a:p>
        </p:txBody>
      </p:sp>
      <p:grpSp>
        <p:nvGrpSpPr>
          <p:cNvPr id="102452" name="Group 52"/>
          <p:cNvGrpSpPr>
            <a:grpSpLocks/>
          </p:cNvGrpSpPr>
          <p:nvPr/>
        </p:nvGrpSpPr>
        <p:grpSpPr bwMode="auto">
          <a:xfrm>
            <a:off x="6616700" y="4775200"/>
            <a:ext cx="687388" cy="1069975"/>
            <a:chOff x="4168" y="3008"/>
            <a:chExt cx="433" cy="674"/>
          </a:xfrm>
        </p:grpSpPr>
        <p:sp>
          <p:nvSpPr>
            <p:cNvPr id="12326" name="Oval 53"/>
            <p:cNvSpPr>
              <a:spLocks noChangeArrowheads="1"/>
            </p:cNvSpPr>
            <p:nvPr/>
          </p:nvSpPr>
          <p:spPr bwMode="auto">
            <a:xfrm flipV="1">
              <a:off x="4168" y="3634"/>
              <a:ext cx="48" cy="48"/>
            </a:xfrm>
            <a:prstGeom prst="ellipse">
              <a:avLst/>
            </a:prstGeom>
            <a:solidFill>
              <a:srgbClr val="006600"/>
            </a:solidFill>
            <a:ln w="9525">
              <a:solidFill>
                <a:srgbClr val="FFCC66"/>
              </a:solidFill>
              <a:round/>
              <a:headEnd/>
              <a:tailEnd/>
            </a:ln>
            <a:effectLst/>
          </p:spPr>
          <p:txBody>
            <a:bodyPr wrap="none" anchor="ctr"/>
            <a:lstStyle/>
            <a:p>
              <a:endParaRPr lang="zh-CN" altLang="en-US"/>
            </a:p>
          </p:txBody>
        </p:sp>
        <p:sp>
          <p:nvSpPr>
            <p:cNvPr id="12327" name="Oval 54"/>
            <p:cNvSpPr>
              <a:spLocks noChangeArrowheads="1"/>
            </p:cNvSpPr>
            <p:nvPr/>
          </p:nvSpPr>
          <p:spPr bwMode="auto">
            <a:xfrm flipV="1">
              <a:off x="4293" y="3427"/>
              <a:ext cx="49" cy="48"/>
            </a:xfrm>
            <a:prstGeom prst="ellipse">
              <a:avLst/>
            </a:prstGeom>
            <a:solidFill>
              <a:srgbClr val="006600"/>
            </a:solidFill>
            <a:ln w="9525">
              <a:solidFill>
                <a:srgbClr val="FFCC66"/>
              </a:solidFill>
              <a:round/>
              <a:headEnd/>
              <a:tailEnd/>
            </a:ln>
            <a:effectLst/>
          </p:spPr>
          <p:txBody>
            <a:bodyPr wrap="none" anchor="ctr"/>
            <a:lstStyle/>
            <a:p>
              <a:endParaRPr lang="zh-CN" altLang="en-US"/>
            </a:p>
          </p:txBody>
        </p:sp>
        <p:sp>
          <p:nvSpPr>
            <p:cNvPr id="12328" name="Oval 55"/>
            <p:cNvSpPr>
              <a:spLocks noChangeArrowheads="1"/>
            </p:cNvSpPr>
            <p:nvPr/>
          </p:nvSpPr>
          <p:spPr bwMode="auto">
            <a:xfrm flipV="1">
              <a:off x="4427" y="3216"/>
              <a:ext cx="48" cy="48"/>
            </a:xfrm>
            <a:prstGeom prst="ellipse">
              <a:avLst/>
            </a:prstGeom>
            <a:solidFill>
              <a:srgbClr val="006600"/>
            </a:solidFill>
            <a:ln w="9525">
              <a:solidFill>
                <a:srgbClr val="FFCC66"/>
              </a:solidFill>
              <a:round/>
              <a:headEnd/>
              <a:tailEnd/>
            </a:ln>
            <a:effectLst/>
          </p:spPr>
          <p:txBody>
            <a:bodyPr wrap="none" anchor="ctr"/>
            <a:lstStyle/>
            <a:p>
              <a:endParaRPr lang="zh-CN" altLang="en-US"/>
            </a:p>
          </p:txBody>
        </p:sp>
        <p:sp>
          <p:nvSpPr>
            <p:cNvPr id="12329" name="Oval 56"/>
            <p:cNvSpPr>
              <a:spLocks noChangeArrowheads="1"/>
            </p:cNvSpPr>
            <p:nvPr/>
          </p:nvSpPr>
          <p:spPr bwMode="auto">
            <a:xfrm flipV="1">
              <a:off x="4553" y="3008"/>
              <a:ext cx="48" cy="48"/>
            </a:xfrm>
            <a:prstGeom prst="ellipse">
              <a:avLst/>
            </a:prstGeom>
            <a:solidFill>
              <a:srgbClr val="006600"/>
            </a:solidFill>
            <a:ln w="9525">
              <a:solidFill>
                <a:srgbClr val="FFCC66"/>
              </a:solidFill>
              <a:round/>
              <a:headEnd/>
              <a:tailEnd/>
            </a:ln>
            <a:effectLst/>
          </p:spPr>
          <p:txBody>
            <a:bodyPr wrap="none" anchor="ctr"/>
            <a:lstStyle/>
            <a:p>
              <a:endParaRPr lang="zh-CN" altLang="en-US"/>
            </a:p>
          </p:txBody>
        </p:sp>
      </p:grpSp>
      <p:sp>
        <p:nvSpPr>
          <p:cNvPr id="102457" name="Rectangle 57"/>
          <p:cNvSpPr>
            <a:spLocks noChangeArrowheads="1"/>
          </p:cNvSpPr>
          <p:nvPr/>
        </p:nvSpPr>
        <p:spPr bwMode="auto">
          <a:xfrm>
            <a:off x="6048375" y="5545138"/>
            <a:ext cx="425450" cy="457200"/>
          </a:xfrm>
          <a:prstGeom prst="rect">
            <a:avLst/>
          </a:prstGeom>
          <a:noFill/>
          <a:ln w="9525">
            <a:noFill/>
            <a:miter lim="800000"/>
            <a:headEnd/>
            <a:tailEnd/>
          </a:ln>
          <a:effectLst/>
        </p:spPr>
        <p:txBody>
          <a:bodyPr wrap="none">
            <a:spAutoFit/>
          </a:bodyPr>
          <a:lstStyle/>
          <a:p>
            <a:pPr algn="r"/>
            <a:r>
              <a:rPr lang="en-US" altLang="zh-CN" b="1" i="1">
                <a:solidFill>
                  <a:schemeClr val="tx2"/>
                </a:solidFill>
                <a:sym typeface="Symbol" pitchFamily="18" charset="2"/>
              </a:rPr>
              <a:t></a:t>
            </a:r>
            <a:r>
              <a:rPr lang="en-US" altLang="zh-CN" sz="2000" i="1" baseline="-24000">
                <a:solidFill>
                  <a:schemeClr val="tx2"/>
                </a:solidFill>
                <a:sym typeface="Symbol" pitchFamily="18" charset="2"/>
              </a:rPr>
              <a:t>0</a:t>
            </a:r>
          </a:p>
        </p:txBody>
      </p:sp>
      <p:sp>
        <p:nvSpPr>
          <p:cNvPr id="102458" name="Rectangle 58"/>
          <p:cNvSpPr>
            <a:spLocks noChangeArrowheads="1"/>
          </p:cNvSpPr>
          <p:nvPr/>
        </p:nvSpPr>
        <p:spPr bwMode="auto">
          <a:xfrm>
            <a:off x="801688" y="5011738"/>
            <a:ext cx="3314700" cy="933450"/>
          </a:xfrm>
          <a:prstGeom prst="rect">
            <a:avLst/>
          </a:prstGeom>
          <a:noFill/>
          <a:ln w="9525">
            <a:noFill/>
            <a:miter lim="800000"/>
            <a:headEnd/>
            <a:tailEnd/>
          </a:ln>
          <a:effectLst/>
        </p:spPr>
        <p:txBody>
          <a:bodyPr>
            <a:spAutoFit/>
          </a:bodyPr>
          <a:lstStyle/>
          <a:p>
            <a:pPr>
              <a:lnSpc>
                <a:spcPct val="115000"/>
              </a:lnSpc>
            </a:pPr>
            <a:r>
              <a:rPr lang="zh-CN" altLang="en-US" b="1">
                <a:solidFill>
                  <a:schemeClr val="bg1"/>
                </a:solidFill>
              </a:rPr>
              <a:t>光电子最大初动能和</a:t>
            </a:r>
            <a:r>
              <a:rPr lang="zh-CN" altLang="en-US" b="1" i="1">
                <a:solidFill>
                  <a:schemeClr val="accent2"/>
                </a:solidFill>
                <a:ea typeface="楷体_GB2312" pitchFamily="49" charset="-122"/>
                <a:sym typeface="Symbol" pitchFamily="18" charset="2"/>
              </a:rPr>
              <a:t></a:t>
            </a:r>
            <a:r>
              <a:rPr lang="zh-CN" altLang="en-US" b="1">
                <a:solidFill>
                  <a:schemeClr val="accent2"/>
                </a:solidFill>
                <a:ea typeface="楷体_GB2312" pitchFamily="49" charset="-122"/>
              </a:rPr>
              <a:t> </a:t>
            </a:r>
            <a:r>
              <a:rPr lang="zh-CN" altLang="en-US" b="1">
                <a:solidFill>
                  <a:schemeClr val="bg1"/>
                </a:solidFill>
              </a:rPr>
              <a:t>成线性关系</a:t>
            </a:r>
          </a:p>
        </p:txBody>
      </p:sp>
      <p:sp>
        <p:nvSpPr>
          <p:cNvPr id="102459" name="Rectangle 59"/>
          <p:cNvSpPr>
            <a:spLocks noChangeArrowheads="1"/>
          </p:cNvSpPr>
          <p:nvPr/>
        </p:nvSpPr>
        <p:spPr bwMode="auto">
          <a:xfrm>
            <a:off x="323850" y="5943600"/>
            <a:ext cx="3792538" cy="457200"/>
          </a:xfrm>
          <a:prstGeom prst="rect">
            <a:avLst/>
          </a:prstGeom>
          <a:noFill/>
          <a:ln w="9525">
            <a:noFill/>
            <a:miter lim="800000"/>
            <a:headEnd/>
            <a:tailEnd/>
          </a:ln>
          <a:effectLst/>
        </p:spPr>
        <p:txBody>
          <a:bodyPr>
            <a:spAutoFit/>
          </a:bodyPr>
          <a:lstStyle/>
          <a:p>
            <a:pPr>
              <a:buClr>
                <a:srgbClr val="006600"/>
              </a:buClr>
              <a:buFont typeface="Wingdings" pitchFamily="2" charset="2"/>
              <a:buChar char="v"/>
            </a:pPr>
            <a:r>
              <a:rPr lang="zh-CN" altLang="en-US" b="1">
                <a:solidFill>
                  <a:schemeClr val="hlink"/>
                </a:solidFill>
              </a:rPr>
              <a:t>截止频率</a:t>
            </a:r>
            <a:r>
              <a:rPr lang="zh-CN" altLang="en-US" sz="2000" b="1">
                <a:solidFill>
                  <a:schemeClr val="bg1"/>
                </a:solidFill>
              </a:rPr>
              <a:t> </a:t>
            </a:r>
            <a:r>
              <a:rPr lang="zh-CN" altLang="en-US" b="1" i="1">
                <a:solidFill>
                  <a:schemeClr val="accent2"/>
                </a:solidFill>
                <a:sym typeface="Symbol" pitchFamily="18" charset="2"/>
              </a:rPr>
              <a:t></a:t>
            </a:r>
            <a:r>
              <a:rPr lang="en-US" altLang="zh-CN" b="1" baseline="-25000">
                <a:solidFill>
                  <a:schemeClr val="accent2"/>
                </a:solidFill>
                <a:sym typeface="Symbol" pitchFamily="18" charset="2"/>
              </a:rPr>
              <a:t>0</a:t>
            </a:r>
            <a:r>
              <a:rPr lang="zh-CN" altLang="en-US" b="1">
                <a:solidFill>
                  <a:schemeClr val="bg1"/>
                </a:solidFill>
                <a:sym typeface="Symbol" pitchFamily="18" charset="2"/>
              </a:rPr>
              <a:t>（</a:t>
            </a:r>
            <a:r>
              <a:rPr lang="zh-CN" altLang="en-US" b="1">
                <a:solidFill>
                  <a:srgbClr val="006600"/>
                </a:solidFill>
                <a:ea typeface="楷体_GB2312" pitchFamily="49" charset="-122"/>
                <a:sym typeface="Symbol" pitchFamily="18" charset="2"/>
              </a:rPr>
              <a:t>红限</a:t>
            </a:r>
            <a:r>
              <a:rPr lang="zh-CN" altLang="en-US" b="1">
                <a:solidFill>
                  <a:schemeClr val="bg1"/>
                </a:solidFill>
                <a:sym typeface="Symbol" pitchFamily="18" charset="2"/>
              </a:rPr>
              <a:t>）</a:t>
            </a:r>
            <a:endParaRPr lang="zh-CN" altLang="en-US" b="1" u="sng">
              <a:solidFill>
                <a:schemeClr val="bg1"/>
              </a:solidFill>
            </a:endParaRPr>
          </a:p>
        </p:txBody>
      </p:sp>
      <p:sp>
        <p:nvSpPr>
          <p:cNvPr id="102460" name="Rectangle 60"/>
          <p:cNvSpPr>
            <a:spLocks noChangeArrowheads="1"/>
          </p:cNvSpPr>
          <p:nvPr/>
        </p:nvSpPr>
        <p:spPr bwMode="auto">
          <a:xfrm>
            <a:off x="207963" y="2655888"/>
            <a:ext cx="2728912" cy="457200"/>
          </a:xfrm>
          <a:prstGeom prst="rect">
            <a:avLst/>
          </a:prstGeom>
          <a:noFill/>
          <a:ln w="9525">
            <a:noFill/>
            <a:miter lim="800000"/>
            <a:headEnd/>
            <a:tailEnd/>
          </a:ln>
          <a:effectLst/>
        </p:spPr>
        <p:txBody>
          <a:bodyPr>
            <a:spAutoFit/>
          </a:bodyPr>
          <a:lstStyle/>
          <a:p>
            <a:pPr>
              <a:buClr>
                <a:srgbClr val="006600"/>
              </a:buClr>
              <a:buFont typeface="Wingdings" pitchFamily="2" charset="2"/>
              <a:buChar char="v"/>
            </a:pPr>
            <a:r>
              <a:rPr lang="zh-CN" altLang="en-US" b="1">
                <a:solidFill>
                  <a:schemeClr val="hlink"/>
                </a:solidFill>
              </a:rPr>
              <a:t>弛豫时间</a:t>
            </a:r>
            <a:endParaRPr lang="zh-CN" altLang="en-US" b="1" u="sng">
              <a:solidFill>
                <a:schemeClr val="hlink"/>
              </a:solidFill>
            </a:endParaRPr>
          </a:p>
        </p:txBody>
      </p:sp>
      <p:sp>
        <p:nvSpPr>
          <p:cNvPr id="102461" name="Text Box 61"/>
          <p:cNvSpPr txBox="1">
            <a:spLocks noChangeArrowheads="1"/>
          </p:cNvSpPr>
          <p:nvPr/>
        </p:nvSpPr>
        <p:spPr bwMode="auto">
          <a:xfrm>
            <a:off x="2003425" y="2655888"/>
            <a:ext cx="3295650" cy="457200"/>
          </a:xfrm>
          <a:prstGeom prst="rect">
            <a:avLst/>
          </a:prstGeom>
          <a:noFill/>
          <a:ln w="9525">
            <a:noFill/>
            <a:miter lim="800000"/>
            <a:headEnd/>
            <a:tailEnd/>
          </a:ln>
          <a:effectLst/>
        </p:spPr>
        <p:txBody>
          <a:bodyPr wrap="none">
            <a:spAutoFit/>
          </a:bodyPr>
          <a:lstStyle/>
          <a:p>
            <a:pPr algn="r"/>
            <a:r>
              <a:rPr lang="zh-CN" altLang="en-US" b="1">
                <a:solidFill>
                  <a:schemeClr val="bg1"/>
                </a:solidFill>
              </a:rPr>
              <a:t>迟滞时间不超过</a:t>
            </a:r>
            <a:r>
              <a:rPr lang="zh-CN" altLang="en-US" b="1">
                <a:solidFill>
                  <a:schemeClr val="bg1"/>
                </a:solidFill>
                <a:ea typeface="楷体_GB2312" pitchFamily="49" charset="-122"/>
              </a:rPr>
              <a:t> </a:t>
            </a:r>
            <a:r>
              <a:rPr lang="en-US" altLang="zh-CN" b="1">
                <a:solidFill>
                  <a:schemeClr val="accent2"/>
                </a:solidFill>
                <a:ea typeface="楷体_GB2312" pitchFamily="49" charset="-122"/>
              </a:rPr>
              <a:t>10</a:t>
            </a:r>
            <a:r>
              <a:rPr lang="en-US" altLang="zh-CN" b="1" baseline="30000">
                <a:solidFill>
                  <a:schemeClr val="accent2"/>
                </a:solidFill>
                <a:latin typeface="宋体" charset="-122"/>
                <a:ea typeface="楷体_GB2312" pitchFamily="49" charset="-122"/>
              </a:rPr>
              <a:t>-</a:t>
            </a:r>
            <a:r>
              <a:rPr lang="en-US" altLang="zh-CN" b="1" baseline="30000">
                <a:solidFill>
                  <a:schemeClr val="accent2"/>
                </a:solidFill>
                <a:ea typeface="楷体_GB2312" pitchFamily="49" charset="-122"/>
              </a:rPr>
              <a:t>9</a:t>
            </a:r>
            <a:r>
              <a:rPr lang="en-US" altLang="zh-CN">
                <a:solidFill>
                  <a:schemeClr val="accent2"/>
                </a:solidFill>
                <a:ea typeface="楷体_GB2312" pitchFamily="49" charset="-122"/>
              </a:rPr>
              <a:t> </a:t>
            </a:r>
            <a:r>
              <a:rPr lang="zh-CN" altLang="en-US" b="1">
                <a:solidFill>
                  <a:schemeClr val="bg1"/>
                </a:solidFill>
              </a:rPr>
              <a:t>秒</a:t>
            </a:r>
          </a:p>
        </p:txBody>
      </p:sp>
      <p:sp>
        <p:nvSpPr>
          <p:cNvPr id="102462" name="Rectangle 62"/>
          <p:cNvSpPr>
            <a:spLocks noChangeArrowheads="1"/>
          </p:cNvSpPr>
          <p:nvPr/>
        </p:nvSpPr>
        <p:spPr bwMode="auto">
          <a:xfrm>
            <a:off x="5459413" y="6172200"/>
            <a:ext cx="3289300" cy="396875"/>
          </a:xfrm>
          <a:prstGeom prst="rect">
            <a:avLst/>
          </a:prstGeom>
          <a:noFill/>
          <a:ln w="9525">
            <a:noFill/>
            <a:miter lim="800000"/>
            <a:headEnd/>
            <a:tailEnd/>
          </a:ln>
          <a:effectLst/>
        </p:spPr>
        <p:txBody>
          <a:bodyPr>
            <a:spAutoFit/>
          </a:bodyPr>
          <a:lstStyle/>
          <a:p>
            <a:r>
              <a:rPr lang="zh-CN" altLang="en-US" sz="2000" b="1">
                <a:solidFill>
                  <a:schemeClr val="bg1"/>
                </a:solidFill>
                <a:ea typeface="楷体_GB2312" pitchFamily="49" charset="-122"/>
              </a:rPr>
              <a:t>遏止电压与频率关系曲线</a:t>
            </a:r>
          </a:p>
        </p:txBody>
      </p:sp>
      <p:sp>
        <p:nvSpPr>
          <p:cNvPr id="102463" name="AutoShape 63"/>
          <p:cNvSpPr>
            <a:spLocks/>
          </p:cNvSpPr>
          <p:nvPr/>
        </p:nvSpPr>
        <p:spPr bwMode="auto">
          <a:xfrm>
            <a:off x="4954588" y="4238625"/>
            <a:ext cx="452437" cy="1982788"/>
          </a:xfrm>
          <a:prstGeom prst="borderCallout2">
            <a:avLst>
              <a:gd name="adj1" fmla="val 5764"/>
              <a:gd name="adj2" fmla="val -16843"/>
              <a:gd name="adj3" fmla="val 5764"/>
              <a:gd name="adj4" fmla="val -97894"/>
              <a:gd name="adj5" fmla="val 10412"/>
              <a:gd name="adj6" fmla="val -389963"/>
            </a:avLst>
          </a:prstGeom>
          <a:solidFill>
            <a:schemeClr val="accent1"/>
          </a:solidFill>
          <a:ln w="9525">
            <a:solidFill>
              <a:srgbClr val="0000FF"/>
            </a:solidFill>
            <a:miter lim="800000"/>
            <a:headEnd/>
            <a:tailEnd/>
          </a:ln>
          <a:effectLst/>
        </p:spPr>
        <p:txBody>
          <a:bodyPr/>
          <a:lstStyle/>
          <a:p>
            <a:pPr algn="ctr">
              <a:lnSpc>
                <a:spcPct val="90000"/>
              </a:lnSpc>
            </a:pPr>
            <a:r>
              <a:rPr lang="zh-CN" altLang="en-US" sz="2000" b="1">
                <a:solidFill>
                  <a:srgbClr val="660066"/>
                </a:solidFill>
                <a:ea typeface="楷体_GB2312" pitchFamily="49" charset="-122"/>
              </a:rPr>
              <a:t>和</a:t>
            </a:r>
            <a:r>
              <a:rPr lang="en-US" altLang="zh-CN" sz="2000" i="1">
                <a:solidFill>
                  <a:srgbClr val="660066"/>
                </a:solidFill>
                <a:ea typeface="楷体_GB2312" pitchFamily="49" charset="-122"/>
              </a:rPr>
              <a:t>v </a:t>
            </a:r>
            <a:r>
              <a:rPr lang="zh-CN" altLang="en-US" sz="2000" b="1">
                <a:solidFill>
                  <a:srgbClr val="660066"/>
                </a:solidFill>
                <a:ea typeface="楷体_GB2312" pitchFamily="49" charset="-122"/>
              </a:rPr>
              <a:t>成线性关系</a:t>
            </a:r>
          </a:p>
        </p:txBody>
      </p:sp>
      <p:sp>
        <p:nvSpPr>
          <p:cNvPr id="102467" name="Line 67"/>
          <p:cNvSpPr>
            <a:spLocks noChangeShapeType="1"/>
          </p:cNvSpPr>
          <p:nvPr/>
        </p:nvSpPr>
        <p:spPr bwMode="auto">
          <a:xfrm flipH="1">
            <a:off x="2678113" y="4441825"/>
            <a:ext cx="395287" cy="0"/>
          </a:xfrm>
          <a:prstGeom prst="line">
            <a:avLst/>
          </a:prstGeom>
          <a:noFill/>
          <a:ln w="9525">
            <a:solidFill>
              <a:srgbClr val="0000FF"/>
            </a:solidFill>
            <a:round/>
            <a:headEnd/>
            <a:tailEnd/>
          </a:ln>
          <a:effectLst/>
        </p:spPr>
        <p:txBody>
          <a:bodyPr/>
          <a:lstStyle/>
          <a:p>
            <a:endParaRPr lang="zh-CN" altLang="en-US"/>
          </a:p>
        </p:txBody>
      </p:sp>
      <p:sp>
        <p:nvSpPr>
          <p:cNvPr id="102468" name="Text Box 68"/>
          <p:cNvSpPr txBox="1">
            <a:spLocks noChangeArrowheads="1"/>
          </p:cNvSpPr>
          <p:nvPr/>
        </p:nvSpPr>
        <p:spPr bwMode="auto">
          <a:xfrm>
            <a:off x="522288" y="1358900"/>
            <a:ext cx="4541837" cy="1296988"/>
          </a:xfrm>
          <a:prstGeom prst="rect">
            <a:avLst/>
          </a:prstGeom>
          <a:noFill/>
          <a:ln w="9525">
            <a:noFill/>
            <a:miter lim="800000"/>
            <a:headEnd/>
            <a:tailEnd/>
          </a:ln>
          <a:effectLst/>
        </p:spPr>
        <p:txBody>
          <a:bodyPr>
            <a:spAutoFit/>
          </a:bodyPr>
          <a:lstStyle/>
          <a:p>
            <a:pPr>
              <a:lnSpc>
                <a:spcPct val="110000"/>
              </a:lnSpc>
            </a:pPr>
            <a:r>
              <a:rPr lang="en-US" altLang="zh-CN" b="1">
                <a:solidFill>
                  <a:schemeClr val="bg2"/>
                </a:solidFill>
              </a:rPr>
              <a:t>      </a:t>
            </a:r>
            <a:r>
              <a:rPr lang="zh-CN" altLang="en-US" b="1">
                <a:solidFill>
                  <a:schemeClr val="bg2"/>
                </a:solidFill>
                <a:latin typeface="楷体_GB2312" pitchFamily="49" charset="-122"/>
                <a:ea typeface="楷体_GB2312" pitchFamily="49" charset="-122"/>
              </a:rPr>
              <a:t>光照射到金属表面，电子从金属表面逸出的现象称为光电效应</a:t>
            </a:r>
            <a:r>
              <a:rPr lang="zh-CN" altLang="en-US">
                <a:solidFill>
                  <a:schemeClr val="bg2"/>
                </a:solidFill>
                <a:latin typeface="楷体_GB2312" pitchFamily="49" charset="-122"/>
                <a:ea typeface="楷体_GB2312" pitchFamily="49" charset="-122"/>
              </a:rPr>
              <a:t> </a:t>
            </a:r>
            <a:r>
              <a:rPr lang="zh-CN" altLang="en-US" b="1">
                <a:solidFill>
                  <a:schemeClr val="bg2"/>
                </a:solidFill>
                <a:latin typeface="楷体_GB2312" pitchFamily="49" charset="-122"/>
                <a:ea typeface="楷体_GB2312" pitchFamily="49" charset="-122"/>
              </a:rPr>
              <a:t>，所发射的电子称为光电子。</a:t>
            </a:r>
          </a:p>
        </p:txBody>
      </p:sp>
      <p:pic>
        <p:nvPicPr>
          <p:cNvPr id="12325" name="图片 1"/>
          <p:cNvPicPr>
            <a:picLocks noChangeAspect="1"/>
          </p:cNvPicPr>
          <p:nvPr/>
        </p:nvPicPr>
        <p:blipFill>
          <a:blip r:embed="rId6"/>
          <a:srcRect/>
          <a:stretch>
            <a:fillRect/>
          </a:stretch>
        </p:blipFill>
        <p:spPr bwMode="auto">
          <a:xfrm>
            <a:off x="5675313" y="1092200"/>
            <a:ext cx="2857500" cy="2305050"/>
          </a:xfrm>
          <a:prstGeom prst="rect">
            <a:avLst/>
          </a:prstGeom>
          <a:noFill/>
          <a:ln w="9525">
            <a:noFill/>
            <a:miter lim="800000"/>
            <a:headEnd/>
            <a:tailEnd/>
          </a:ln>
        </p:spPr>
      </p:pic>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07"/>
                                        </p:tgtEl>
                                        <p:attrNameLst>
                                          <p:attrName>style.visibility</p:attrName>
                                        </p:attrNameLst>
                                      </p:cBhvr>
                                      <p:to>
                                        <p:strVal val="visible"/>
                                      </p:to>
                                    </p:set>
                                    <p:animEffect transition="in" filter="wipe(left)">
                                      <p:cBhvr>
                                        <p:cTn id="7" dur="500"/>
                                        <p:tgtEl>
                                          <p:spTgt spid="1024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68"/>
                                        </p:tgtEl>
                                        <p:attrNameLst>
                                          <p:attrName>style.visibility</p:attrName>
                                        </p:attrNameLst>
                                      </p:cBhvr>
                                      <p:to>
                                        <p:strVal val="visible"/>
                                      </p:to>
                                    </p:set>
                                    <p:animEffect transition="in" filter="wipe(left)">
                                      <p:cBhvr>
                                        <p:cTn id="12" dur="500"/>
                                        <p:tgtEl>
                                          <p:spTgt spid="102468"/>
                                        </p:tgtEl>
                                      </p:cBhvr>
                                    </p:animEffect>
                                  </p:childTnLst>
                                  <p:subTnLst>
                                    <p:audio>
                                      <p:cMediaNode>
                                        <p:cTn display="0" masterRel="sameClick">
                                          <p:stCondLst>
                                            <p:cond evt="begin" delay="0">
                                              <p:tn val="10"/>
                                            </p:cond>
                                          </p:stCondLst>
                                          <p:endCondLst>
                                            <p:cond evt="onStopAudio" delay="0">
                                              <p:tgtEl>
                                                <p:sldTgt/>
                                              </p:tgtEl>
                                            </p:cond>
                                          </p:endCondLst>
                                        </p:cTn>
                                        <p:tgtEl>
                                          <p:sndTgt r:embed="rId4" name="TYPE.WAV" builtIn="1"/>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2441"/>
                                        </p:tgtEl>
                                        <p:attrNameLst>
                                          <p:attrName>style.visibility</p:attrName>
                                        </p:attrNameLst>
                                      </p:cBhvr>
                                      <p:to>
                                        <p:strVal val="visible"/>
                                      </p:to>
                                    </p:set>
                                    <p:animEffect transition="in" filter="dissolve">
                                      <p:cBhvr>
                                        <p:cTn id="17" dur="500"/>
                                        <p:tgtEl>
                                          <p:spTgt spid="102441"/>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02442"/>
                                        </p:tgtEl>
                                        <p:attrNameLst>
                                          <p:attrName>style.visibility</p:attrName>
                                        </p:attrNameLst>
                                      </p:cBhvr>
                                      <p:to>
                                        <p:strVal val="visible"/>
                                      </p:to>
                                    </p:set>
                                    <p:animEffect transition="in" filter="dissolve">
                                      <p:cBhvr>
                                        <p:cTn id="20" dur="500"/>
                                        <p:tgtEl>
                                          <p:spTgt spid="102442"/>
                                        </p:tgtEl>
                                      </p:cBhvr>
                                    </p:animEffect>
                                  </p:childTnLst>
                                </p:cTn>
                              </p:par>
                              <p:par>
                                <p:cTn id="21" presetID="9" presetClass="entr" presetSubtype="0" fill="hold" nodeType="withEffect">
                                  <p:stCondLst>
                                    <p:cond delay="0"/>
                                  </p:stCondLst>
                                  <p:childTnLst>
                                    <p:set>
                                      <p:cBhvr>
                                        <p:cTn id="22" dur="1" fill="hold">
                                          <p:stCondLst>
                                            <p:cond delay="0"/>
                                          </p:stCondLst>
                                        </p:cTn>
                                        <p:tgtEl>
                                          <p:spTgt spid="102435"/>
                                        </p:tgtEl>
                                        <p:attrNameLst>
                                          <p:attrName>style.visibility</p:attrName>
                                        </p:attrNameLst>
                                      </p:cBhvr>
                                      <p:to>
                                        <p:strVal val="visible"/>
                                      </p:to>
                                    </p:set>
                                    <p:animEffect transition="in" filter="dissolve">
                                      <p:cBhvr>
                                        <p:cTn id="23" dur="500"/>
                                        <p:tgtEl>
                                          <p:spTgt spid="10243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2427"/>
                                        </p:tgtEl>
                                        <p:attrNameLst>
                                          <p:attrName>style.visibility</p:attrName>
                                        </p:attrNameLst>
                                      </p:cBhvr>
                                      <p:to>
                                        <p:strVal val="visible"/>
                                      </p:to>
                                    </p:set>
                                    <p:animEffect transition="in" filter="wipe(left)">
                                      <p:cBhvr>
                                        <p:cTn id="28" dur="2000"/>
                                        <p:tgtEl>
                                          <p:spTgt spid="102427"/>
                                        </p:tgtEl>
                                      </p:cBhvr>
                                    </p:animEffect>
                                  </p:childTnLst>
                                </p:cTn>
                              </p:par>
                            </p:childTnLst>
                          </p:cTn>
                        </p:par>
                        <p:par>
                          <p:cTn id="29" fill="hold" nodeType="afterGroup">
                            <p:stCondLst>
                              <p:cond delay="2000"/>
                            </p:stCondLst>
                            <p:childTnLst>
                              <p:par>
                                <p:cTn id="30" presetID="9" presetClass="entr" presetSubtype="0" fill="hold" grpId="0" nodeType="afterEffect">
                                  <p:stCondLst>
                                    <p:cond delay="0"/>
                                  </p:stCondLst>
                                  <p:childTnLst>
                                    <p:set>
                                      <p:cBhvr>
                                        <p:cTn id="31" dur="1" fill="hold">
                                          <p:stCondLst>
                                            <p:cond delay="0"/>
                                          </p:stCondLst>
                                        </p:cTn>
                                        <p:tgtEl>
                                          <p:spTgt spid="102429"/>
                                        </p:tgtEl>
                                        <p:attrNameLst>
                                          <p:attrName>style.visibility</p:attrName>
                                        </p:attrNameLst>
                                      </p:cBhvr>
                                      <p:to>
                                        <p:strVal val="visible"/>
                                      </p:to>
                                    </p:set>
                                    <p:animEffect transition="in" filter="dissolve">
                                      <p:cBhvr>
                                        <p:cTn id="32" dur="500"/>
                                        <p:tgtEl>
                                          <p:spTgt spid="102429"/>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02431"/>
                                        </p:tgtEl>
                                        <p:attrNameLst>
                                          <p:attrName>style.visibility</p:attrName>
                                        </p:attrNameLst>
                                      </p:cBhvr>
                                      <p:to>
                                        <p:strVal val="visible"/>
                                      </p:to>
                                    </p:set>
                                    <p:animEffect transition="in" filter="dissolve">
                                      <p:cBhvr>
                                        <p:cTn id="35" dur="500"/>
                                        <p:tgtEl>
                                          <p:spTgt spid="102431"/>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102460"/>
                                        </p:tgtEl>
                                        <p:attrNameLst>
                                          <p:attrName>style.visibility</p:attrName>
                                        </p:attrNameLst>
                                      </p:cBhvr>
                                      <p:to>
                                        <p:strVal val="visible"/>
                                      </p:to>
                                    </p:set>
                                    <p:animEffect transition="in" filter="slide(fromBottom)">
                                      <p:cBhvr>
                                        <p:cTn id="40" dur="500"/>
                                        <p:tgtEl>
                                          <p:spTgt spid="102460"/>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02461"/>
                                        </p:tgtEl>
                                        <p:attrNameLst>
                                          <p:attrName>style.visibility</p:attrName>
                                        </p:attrNameLst>
                                      </p:cBhvr>
                                      <p:to>
                                        <p:strVal val="visible"/>
                                      </p:to>
                                    </p:set>
                                    <p:animEffect transition="in" filter="wipe(left)">
                                      <p:cBhvr>
                                        <p:cTn id="44" dur="500"/>
                                        <p:tgtEl>
                                          <p:spTgt spid="10246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2" presetClass="entr" presetSubtype="8" fill="hold" grpId="0" nodeType="clickEffect">
                                  <p:stCondLst>
                                    <p:cond delay="0"/>
                                  </p:stCondLst>
                                  <p:childTnLst>
                                    <p:set>
                                      <p:cBhvr>
                                        <p:cTn id="48" dur="1" fill="hold">
                                          <p:stCondLst>
                                            <p:cond delay="0"/>
                                          </p:stCondLst>
                                        </p:cTn>
                                        <p:tgtEl>
                                          <p:spTgt spid="102408"/>
                                        </p:tgtEl>
                                        <p:attrNameLst>
                                          <p:attrName>style.visibility</p:attrName>
                                        </p:attrNameLst>
                                      </p:cBhvr>
                                      <p:to>
                                        <p:strVal val="visible"/>
                                      </p:to>
                                    </p:set>
                                    <p:animEffect transition="in" filter="slide(fromLeft)">
                                      <p:cBhvr>
                                        <p:cTn id="49" dur="500"/>
                                        <p:tgtEl>
                                          <p:spTgt spid="10240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2" presetClass="entr" presetSubtype="8" fill="hold" grpId="0" nodeType="clickEffect">
                                  <p:stCondLst>
                                    <p:cond delay="0"/>
                                  </p:stCondLst>
                                  <p:childTnLst>
                                    <p:set>
                                      <p:cBhvr>
                                        <p:cTn id="53" dur="1" fill="hold">
                                          <p:stCondLst>
                                            <p:cond delay="0"/>
                                          </p:stCondLst>
                                        </p:cTn>
                                        <p:tgtEl>
                                          <p:spTgt spid="102410"/>
                                        </p:tgtEl>
                                        <p:attrNameLst>
                                          <p:attrName>style.visibility</p:attrName>
                                        </p:attrNameLst>
                                      </p:cBhvr>
                                      <p:to>
                                        <p:strVal val="visible"/>
                                      </p:to>
                                    </p:set>
                                    <p:animEffect transition="in" filter="slide(fromLeft)">
                                      <p:cBhvr>
                                        <p:cTn id="54" dur="500"/>
                                        <p:tgtEl>
                                          <p:spTgt spid="10241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xit" presetSubtype="2" fill="hold" grpId="0" nodeType="clickEffect">
                                  <p:stCondLst>
                                    <p:cond delay="0"/>
                                  </p:stCondLst>
                                  <p:childTnLst>
                                    <p:animEffect transition="out" filter="wipe(right)">
                                      <p:cBhvr>
                                        <p:cTn id="58" dur="1000"/>
                                        <p:tgtEl>
                                          <p:spTgt spid="102434"/>
                                        </p:tgtEl>
                                      </p:cBhvr>
                                    </p:animEffect>
                                    <p:set>
                                      <p:cBhvr>
                                        <p:cTn id="59" dur="1" fill="hold">
                                          <p:stCondLst>
                                            <p:cond delay="999"/>
                                          </p:stCondLst>
                                        </p:cTn>
                                        <p:tgtEl>
                                          <p:spTgt spid="102434"/>
                                        </p:tgtEl>
                                        <p:attrNameLst>
                                          <p:attrName>style.visibility</p:attrName>
                                        </p:attrNameLst>
                                      </p:cBhvr>
                                      <p:to>
                                        <p:strVal val="hidden"/>
                                      </p:to>
                                    </p:set>
                                  </p:childTnLst>
                                </p:cTn>
                              </p:par>
                            </p:childTnLst>
                          </p:cTn>
                        </p:par>
                        <p:par>
                          <p:cTn id="60" fill="hold" nodeType="afterGroup">
                            <p:stCondLst>
                              <p:cond delay="1000"/>
                            </p:stCondLst>
                            <p:childTnLst>
                              <p:par>
                                <p:cTn id="61" presetID="9" presetClass="entr" presetSubtype="0" fill="hold" grpId="0" nodeType="afterEffect">
                                  <p:stCondLst>
                                    <p:cond delay="0"/>
                                  </p:stCondLst>
                                  <p:childTnLst>
                                    <p:set>
                                      <p:cBhvr>
                                        <p:cTn id="62" dur="1" fill="hold">
                                          <p:stCondLst>
                                            <p:cond delay="0"/>
                                          </p:stCondLst>
                                        </p:cTn>
                                        <p:tgtEl>
                                          <p:spTgt spid="102440"/>
                                        </p:tgtEl>
                                        <p:attrNameLst>
                                          <p:attrName>style.visibility</p:attrName>
                                        </p:attrNameLst>
                                      </p:cBhvr>
                                      <p:to>
                                        <p:strVal val="visible"/>
                                      </p:to>
                                    </p:set>
                                    <p:animEffect transition="in" filter="dissolve">
                                      <p:cBhvr>
                                        <p:cTn id="63" dur="500"/>
                                        <p:tgtEl>
                                          <p:spTgt spid="10244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2" presetClass="entr" presetSubtype="8" fill="hold" grpId="0" nodeType="clickEffect">
                                  <p:stCondLst>
                                    <p:cond delay="0"/>
                                  </p:stCondLst>
                                  <p:childTnLst>
                                    <p:set>
                                      <p:cBhvr>
                                        <p:cTn id="67" dur="1" fill="hold">
                                          <p:stCondLst>
                                            <p:cond delay="0"/>
                                          </p:stCondLst>
                                        </p:cTn>
                                        <p:tgtEl>
                                          <p:spTgt spid="102409"/>
                                        </p:tgtEl>
                                        <p:attrNameLst>
                                          <p:attrName>style.visibility</p:attrName>
                                        </p:attrNameLst>
                                      </p:cBhvr>
                                      <p:to>
                                        <p:strVal val="visible"/>
                                      </p:to>
                                    </p:set>
                                    <p:animEffect transition="in" filter="slide(fromLeft)">
                                      <p:cBhvr>
                                        <p:cTn id="68" dur="500"/>
                                        <p:tgtEl>
                                          <p:spTgt spid="102409"/>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2" presetClass="entr" presetSubtype="8" fill="hold" nodeType="clickEffect">
                                  <p:stCondLst>
                                    <p:cond delay="0"/>
                                  </p:stCondLst>
                                  <p:childTnLst>
                                    <p:set>
                                      <p:cBhvr>
                                        <p:cTn id="72" dur="1" fill="hold">
                                          <p:stCondLst>
                                            <p:cond delay="0"/>
                                          </p:stCondLst>
                                        </p:cTn>
                                        <p:tgtEl>
                                          <p:spTgt spid="102411"/>
                                        </p:tgtEl>
                                        <p:attrNameLst>
                                          <p:attrName>style.visibility</p:attrName>
                                        </p:attrNameLst>
                                      </p:cBhvr>
                                      <p:to>
                                        <p:strVal val="visible"/>
                                      </p:to>
                                    </p:set>
                                    <p:animEffect transition="in" filter="slide(fromLeft)">
                                      <p:cBhvr>
                                        <p:cTn id="73" dur="500"/>
                                        <p:tgtEl>
                                          <p:spTgt spid="102411"/>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02439"/>
                                        </p:tgtEl>
                                        <p:attrNameLst>
                                          <p:attrName>style.visibility</p:attrName>
                                        </p:attrNameLst>
                                      </p:cBhvr>
                                      <p:to>
                                        <p:strVal val="visible"/>
                                      </p:to>
                                    </p:set>
                                    <p:animEffect transition="in" filter="wipe(left)">
                                      <p:cBhvr>
                                        <p:cTn id="78" dur="1000"/>
                                        <p:tgtEl>
                                          <p:spTgt spid="102439"/>
                                        </p:tgtEl>
                                      </p:cBhvr>
                                    </p:animEffect>
                                  </p:childTnLst>
                                </p:cTn>
                              </p:par>
                            </p:childTnLst>
                          </p:cTn>
                        </p:par>
                        <p:par>
                          <p:cTn id="79" fill="hold" nodeType="afterGroup">
                            <p:stCondLst>
                              <p:cond delay="1000"/>
                            </p:stCondLst>
                            <p:childTnLst>
                              <p:par>
                                <p:cTn id="80" presetID="9" presetClass="entr" presetSubtype="0" fill="hold" grpId="0" nodeType="afterEffect">
                                  <p:stCondLst>
                                    <p:cond delay="0"/>
                                  </p:stCondLst>
                                  <p:childTnLst>
                                    <p:set>
                                      <p:cBhvr>
                                        <p:cTn id="81" dur="1" fill="hold">
                                          <p:stCondLst>
                                            <p:cond delay="0"/>
                                          </p:stCondLst>
                                        </p:cTn>
                                        <p:tgtEl>
                                          <p:spTgt spid="102430"/>
                                        </p:tgtEl>
                                        <p:attrNameLst>
                                          <p:attrName>style.visibility</p:attrName>
                                        </p:attrNameLst>
                                      </p:cBhvr>
                                      <p:to>
                                        <p:strVal val="visible"/>
                                      </p:to>
                                    </p:set>
                                    <p:animEffect transition="in" filter="dissolve">
                                      <p:cBhvr>
                                        <p:cTn id="82" dur="500"/>
                                        <p:tgtEl>
                                          <p:spTgt spid="102430"/>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102432"/>
                                        </p:tgtEl>
                                        <p:attrNameLst>
                                          <p:attrName>style.visibility</p:attrName>
                                        </p:attrNameLst>
                                      </p:cBhvr>
                                      <p:to>
                                        <p:strVal val="visible"/>
                                      </p:to>
                                    </p:set>
                                    <p:animEffect transition="in" filter="dissolve">
                                      <p:cBhvr>
                                        <p:cTn id="85" dur="500"/>
                                        <p:tgtEl>
                                          <p:spTgt spid="102432"/>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02438"/>
                                        </p:tgtEl>
                                        <p:attrNameLst>
                                          <p:attrName>style.visibility</p:attrName>
                                        </p:attrNameLst>
                                      </p:cBhvr>
                                      <p:to>
                                        <p:strVal val="visible"/>
                                      </p:to>
                                    </p:set>
                                    <p:animEffect transition="in" filter="wipe(left)">
                                      <p:cBhvr>
                                        <p:cTn id="90" dur="1000"/>
                                        <p:tgtEl>
                                          <p:spTgt spid="102438"/>
                                        </p:tgtEl>
                                      </p:cBhvr>
                                    </p:animEffect>
                                  </p:childTnLst>
                                </p:cTn>
                              </p:par>
                            </p:childTnLst>
                          </p:cTn>
                        </p:par>
                        <p:par>
                          <p:cTn id="91" fill="hold" nodeType="afterGroup">
                            <p:stCondLst>
                              <p:cond delay="1000"/>
                            </p:stCondLst>
                            <p:childTnLst>
                              <p:par>
                                <p:cTn id="92" presetID="9" presetClass="entr" presetSubtype="0" fill="hold" grpId="0" nodeType="afterEffect">
                                  <p:stCondLst>
                                    <p:cond delay="0"/>
                                  </p:stCondLst>
                                  <p:childTnLst>
                                    <p:set>
                                      <p:cBhvr>
                                        <p:cTn id="93" dur="1" fill="hold">
                                          <p:stCondLst>
                                            <p:cond delay="0"/>
                                          </p:stCondLst>
                                        </p:cTn>
                                        <p:tgtEl>
                                          <p:spTgt spid="102428"/>
                                        </p:tgtEl>
                                        <p:attrNameLst>
                                          <p:attrName>style.visibility</p:attrName>
                                        </p:attrNameLst>
                                      </p:cBhvr>
                                      <p:to>
                                        <p:strVal val="visible"/>
                                      </p:to>
                                    </p:set>
                                    <p:animEffect transition="in" filter="dissolve">
                                      <p:cBhvr>
                                        <p:cTn id="94" dur="500"/>
                                        <p:tgtEl>
                                          <p:spTgt spid="102428"/>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102433"/>
                                        </p:tgtEl>
                                        <p:attrNameLst>
                                          <p:attrName>style.visibility</p:attrName>
                                        </p:attrNameLst>
                                      </p:cBhvr>
                                      <p:to>
                                        <p:strVal val="visible"/>
                                      </p:to>
                                    </p:set>
                                    <p:animEffect transition="in" filter="dissolve">
                                      <p:cBhvr>
                                        <p:cTn id="97" dur="500"/>
                                        <p:tgtEl>
                                          <p:spTgt spid="102433"/>
                                        </p:tgtEl>
                                      </p:cBhvr>
                                    </p:animEffect>
                                  </p:childTnLst>
                                </p:cTn>
                              </p:par>
                            </p:childTnLst>
                          </p:cTn>
                        </p:par>
                        <p:par>
                          <p:cTn id="98" fill="hold" nodeType="afterGroup">
                            <p:stCondLst>
                              <p:cond delay="1500"/>
                            </p:stCondLst>
                            <p:childTnLst>
                              <p:par>
                                <p:cTn id="99" presetID="1" presetClass="entr" presetSubtype="0" fill="hold" grpId="0" nodeType="afterEffect">
                                  <p:stCondLst>
                                    <p:cond delay="0"/>
                                  </p:stCondLst>
                                  <p:childTnLst>
                                    <p:set>
                                      <p:cBhvr>
                                        <p:cTn id="100" dur="1" fill="hold">
                                          <p:stCondLst>
                                            <p:cond delay="0"/>
                                          </p:stCondLst>
                                        </p:cTn>
                                        <p:tgtEl>
                                          <p:spTgt spid="102443"/>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2" presetClass="entr" presetSubtype="8" fill="hold" grpId="0" nodeType="clickEffect">
                                  <p:stCondLst>
                                    <p:cond delay="0"/>
                                  </p:stCondLst>
                                  <p:childTnLst>
                                    <p:set>
                                      <p:cBhvr>
                                        <p:cTn id="104" dur="1" fill="hold">
                                          <p:stCondLst>
                                            <p:cond delay="0"/>
                                          </p:stCondLst>
                                        </p:cTn>
                                        <p:tgtEl>
                                          <p:spTgt spid="102412"/>
                                        </p:tgtEl>
                                        <p:attrNameLst>
                                          <p:attrName>style.visibility</p:attrName>
                                        </p:attrNameLst>
                                      </p:cBhvr>
                                      <p:to>
                                        <p:strVal val="visible"/>
                                      </p:to>
                                    </p:set>
                                    <p:animEffect transition="in" filter="slide(fromLeft)">
                                      <p:cBhvr>
                                        <p:cTn id="105" dur="500"/>
                                        <p:tgtEl>
                                          <p:spTgt spid="102412"/>
                                        </p:tgtEl>
                                      </p:cBhvr>
                                    </p:animEffect>
                                  </p:childTnLst>
                                </p:cTn>
                              </p:par>
                            </p:childTnLst>
                          </p:cTn>
                        </p:par>
                        <p:par>
                          <p:cTn id="106" fill="hold" nodeType="afterGroup">
                            <p:stCondLst>
                              <p:cond delay="500"/>
                            </p:stCondLst>
                            <p:childTnLst>
                              <p:par>
                                <p:cTn id="107" presetID="1" presetClass="entr" presetSubtype="0" fill="hold" nodeType="afterEffect">
                                  <p:stCondLst>
                                    <p:cond delay="0"/>
                                  </p:stCondLst>
                                  <p:childTnLst>
                                    <p:set>
                                      <p:cBhvr>
                                        <p:cTn id="108" dur="1" fill="hold">
                                          <p:stCondLst>
                                            <p:cond delay="0"/>
                                          </p:stCondLst>
                                        </p:cTn>
                                        <p:tgtEl>
                                          <p:spTgt spid="10244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02462"/>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02448"/>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9" presetClass="entr" presetSubtype="0" fill="hold" nodeType="clickEffect">
                                  <p:stCondLst>
                                    <p:cond delay="0"/>
                                  </p:stCondLst>
                                  <p:childTnLst>
                                    <p:set>
                                      <p:cBhvr>
                                        <p:cTn id="116" dur="1" fill="hold">
                                          <p:stCondLst>
                                            <p:cond delay="0"/>
                                          </p:stCondLst>
                                        </p:cTn>
                                        <p:tgtEl>
                                          <p:spTgt spid="102452"/>
                                        </p:tgtEl>
                                        <p:attrNameLst>
                                          <p:attrName>style.visibility</p:attrName>
                                        </p:attrNameLst>
                                      </p:cBhvr>
                                      <p:to>
                                        <p:strVal val="visible"/>
                                      </p:to>
                                    </p:set>
                                    <p:animEffect transition="in" filter="dissolve">
                                      <p:cBhvr>
                                        <p:cTn id="117" dur="500"/>
                                        <p:tgtEl>
                                          <p:spTgt spid="102452"/>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102451"/>
                                        </p:tgtEl>
                                        <p:attrNameLst>
                                          <p:attrName>style.visibility</p:attrName>
                                        </p:attrNameLst>
                                      </p:cBhvr>
                                      <p:to>
                                        <p:strVal val="visible"/>
                                      </p:to>
                                    </p:set>
                                    <p:animEffect transition="in" filter="wipe(down)">
                                      <p:cBhvr>
                                        <p:cTn id="122" dur="1000"/>
                                        <p:tgtEl>
                                          <p:spTgt spid="102451"/>
                                        </p:tgtEl>
                                      </p:cBhvr>
                                    </p:animEffect>
                                  </p:childTnLst>
                                </p:cTn>
                              </p:par>
                            </p:childTnLst>
                          </p:cTn>
                        </p:par>
                        <p:par>
                          <p:cTn id="123" fill="hold" nodeType="afterGroup">
                            <p:stCondLst>
                              <p:cond delay="1000"/>
                            </p:stCondLst>
                            <p:childTnLst>
                              <p:par>
                                <p:cTn id="124" presetID="22" presetClass="entr" presetSubtype="4" fill="hold" grpId="0" nodeType="afterEffect">
                                  <p:stCondLst>
                                    <p:cond delay="0"/>
                                  </p:stCondLst>
                                  <p:childTnLst>
                                    <p:set>
                                      <p:cBhvr>
                                        <p:cTn id="125" dur="1" fill="hold">
                                          <p:stCondLst>
                                            <p:cond delay="0"/>
                                          </p:stCondLst>
                                        </p:cTn>
                                        <p:tgtEl>
                                          <p:spTgt spid="102457"/>
                                        </p:tgtEl>
                                        <p:attrNameLst>
                                          <p:attrName>style.visibility</p:attrName>
                                        </p:attrNameLst>
                                      </p:cBhvr>
                                      <p:to>
                                        <p:strVal val="visible"/>
                                      </p:to>
                                    </p:set>
                                    <p:animEffect transition="in" filter="wipe(down)">
                                      <p:cBhvr>
                                        <p:cTn id="126" dur="500"/>
                                        <p:tgtEl>
                                          <p:spTgt spid="102457"/>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2" fill="hold" grpId="0" nodeType="clickEffect">
                                  <p:stCondLst>
                                    <p:cond delay="0"/>
                                  </p:stCondLst>
                                  <p:childTnLst>
                                    <p:set>
                                      <p:cBhvr>
                                        <p:cTn id="130" dur="1" fill="hold">
                                          <p:stCondLst>
                                            <p:cond delay="0"/>
                                          </p:stCondLst>
                                        </p:cTn>
                                        <p:tgtEl>
                                          <p:spTgt spid="102463"/>
                                        </p:tgtEl>
                                        <p:attrNameLst>
                                          <p:attrName>style.visibility</p:attrName>
                                        </p:attrNameLst>
                                      </p:cBhvr>
                                      <p:to>
                                        <p:strVal val="visible"/>
                                      </p:to>
                                    </p:set>
                                    <p:animEffect transition="in" filter="wipe(right)">
                                      <p:cBhvr>
                                        <p:cTn id="131" dur="500"/>
                                        <p:tgtEl>
                                          <p:spTgt spid="102463"/>
                                        </p:tgtEl>
                                      </p:cBhvr>
                                    </p:animEffect>
                                  </p:childTnLst>
                                </p:cTn>
                              </p:par>
                            </p:childTnLst>
                          </p:cTn>
                        </p:par>
                        <p:par>
                          <p:cTn id="132" fill="hold" nodeType="afterGroup">
                            <p:stCondLst>
                              <p:cond delay="500"/>
                            </p:stCondLst>
                            <p:childTnLst>
                              <p:par>
                                <p:cTn id="133" presetID="1" presetClass="entr" presetSubtype="0" fill="hold" grpId="0" nodeType="afterEffect">
                                  <p:stCondLst>
                                    <p:cond delay="0"/>
                                  </p:stCondLst>
                                  <p:childTnLst>
                                    <p:set>
                                      <p:cBhvr>
                                        <p:cTn id="134" dur="1" fill="hold">
                                          <p:stCondLst>
                                            <p:cond delay="0"/>
                                          </p:stCondLst>
                                        </p:cTn>
                                        <p:tgtEl>
                                          <p:spTgt spid="102467"/>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102458"/>
                                        </p:tgtEl>
                                        <p:attrNameLst>
                                          <p:attrName>style.visibility</p:attrName>
                                        </p:attrNameLst>
                                      </p:cBhvr>
                                      <p:to>
                                        <p:strVal val="visible"/>
                                      </p:to>
                                    </p:set>
                                    <p:animEffect transition="in" filter="wipe(left)">
                                      <p:cBhvr>
                                        <p:cTn id="139" dur="500"/>
                                        <p:tgtEl>
                                          <p:spTgt spid="102458"/>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12" presetClass="entr" presetSubtype="4" fill="hold" grpId="0" nodeType="clickEffect">
                                  <p:stCondLst>
                                    <p:cond delay="0"/>
                                  </p:stCondLst>
                                  <p:childTnLst>
                                    <p:set>
                                      <p:cBhvr>
                                        <p:cTn id="143" dur="1" fill="hold">
                                          <p:stCondLst>
                                            <p:cond delay="0"/>
                                          </p:stCondLst>
                                        </p:cTn>
                                        <p:tgtEl>
                                          <p:spTgt spid="102459"/>
                                        </p:tgtEl>
                                        <p:attrNameLst>
                                          <p:attrName>style.visibility</p:attrName>
                                        </p:attrNameLst>
                                      </p:cBhvr>
                                      <p:to>
                                        <p:strVal val="visible"/>
                                      </p:to>
                                    </p:set>
                                    <p:animEffect transition="in" filter="slide(fromBottom)">
                                      <p:cBhvr>
                                        <p:cTn id="144" dur="500"/>
                                        <p:tgtEl>
                                          <p:spTgt spid="102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7" grpId="0"/>
      <p:bldP spid="102408" grpId="0" autoUpdateAnimBg="0"/>
      <p:bldP spid="102409" grpId="0" autoUpdateAnimBg="0"/>
      <p:bldP spid="102410" grpId="0" autoUpdateAnimBg="0"/>
      <p:bldP spid="102412" grpId="0" autoUpdateAnimBg="0"/>
      <p:bldP spid="102427" grpId="0" animBg="1"/>
      <p:bldP spid="102428" grpId="0"/>
      <p:bldP spid="102429" grpId="0"/>
      <p:bldP spid="102430" grpId="0"/>
      <p:bldP spid="102431" grpId="0"/>
      <p:bldP spid="102432" grpId="0"/>
      <p:bldP spid="102433" grpId="0"/>
      <p:bldP spid="102434" grpId="0" animBg="1"/>
      <p:bldP spid="102438" grpId="0" animBg="1"/>
      <p:bldP spid="102439" grpId="0" animBg="1"/>
      <p:bldP spid="102440" grpId="0"/>
      <p:bldP spid="102441" grpId="0"/>
      <p:bldP spid="102442" grpId="0"/>
      <p:bldP spid="102443" grpId="0"/>
      <p:bldP spid="102451" grpId="0" animBg="1"/>
      <p:bldP spid="102457" grpId="0"/>
      <p:bldP spid="102458" grpId="0"/>
      <p:bldP spid="102459" grpId="0" autoUpdateAnimBg="0"/>
      <p:bldP spid="102460" grpId="0" autoUpdateAnimBg="0"/>
      <p:bldP spid="102461" grpId="0"/>
      <p:bldP spid="102462" grpId="0"/>
      <p:bldP spid="102463" grpId="0" animBg="1"/>
      <p:bldP spid="102467" grpId="0" animBg="1"/>
      <p:bldP spid="102468"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6" name="Rectangle 2"/>
          <p:cNvSpPr>
            <a:spLocks noChangeArrowheads="1"/>
          </p:cNvSpPr>
          <p:nvPr/>
        </p:nvSpPr>
        <p:spPr bwMode="auto">
          <a:xfrm>
            <a:off x="174625" y="3381375"/>
            <a:ext cx="4346575" cy="519113"/>
          </a:xfrm>
          <a:prstGeom prst="rect">
            <a:avLst/>
          </a:prstGeom>
          <a:noFill/>
          <a:ln w="9525">
            <a:noFill/>
            <a:miter lim="800000"/>
            <a:headEnd/>
            <a:tailEnd/>
          </a:ln>
          <a:effectLst/>
        </p:spPr>
        <p:txBody>
          <a:bodyPr wrap="none">
            <a:spAutoFit/>
          </a:bodyPr>
          <a:lstStyle/>
          <a:p>
            <a:r>
              <a:rPr lang="zh-CN" altLang="en-US" b="1">
                <a:solidFill>
                  <a:schemeClr val="hlink"/>
                </a:solidFill>
                <a:latin typeface="宋体" charset="-122"/>
              </a:rPr>
              <a:t>经典物理与实验规律的矛盾：</a:t>
            </a:r>
            <a:r>
              <a:rPr lang="zh-CN" altLang="en-US" sz="2800" b="1">
                <a:solidFill>
                  <a:srgbClr val="0000FF"/>
                </a:solidFill>
                <a:latin typeface="宋体" charset="-122"/>
              </a:rPr>
              <a:t> </a:t>
            </a:r>
          </a:p>
        </p:txBody>
      </p:sp>
      <p:sp>
        <p:nvSpPr>
          <p:cNvPr id="103427" name="Rectangle 3"/>
          <p:cNvSpPr>
            <a:spLocks noChangeArrowheads="1"/>
          </p:cNvSpPr>
          <p:nvPr/>
        </p:nvSpPr>
        <p:spPr bwMode="auto">
          <a:xfrm>
            <a:off x="504825" y="4035425"/>
            <a:ext cx="7988300" cy="1006475"/>
          </a:xfrm>
          <a:prstGeom prst="rect">
            <a:avLst/>
          </a:prstGeom>
          <a:noFill/>
          <a:ln w="9525">
            <a:noFill/>
            <a:miter lim="800000"/>
            <a:headEnd/>
            <a:tailEnd/>
          </a:ln>
          <a:effectLst/>
        </p:spPr>
        <p:txBody>
          <a:bodyPr>
            <a:spAutoFit/>
          </a:bodyPr>
          <a:lstStyle/>
          <a:p>
            <a:pPr>
              <a:lnSpc>
                <a:spcPct val="125000"/>
              </a:lnSpc>
              <a:buClr>
                <a:srgbClr val="006600"/>
              </a:buClr>
              <a:buFontTx/>
              <a:buChar char="•"/>
            </a:pPr>
            <a:r>
              <a:rPr lang="en-US" altLang="zh-CN" b="1">
                <a:solidFill>
                  <a:schemeClr val="bg1"/>
                </a:solidFill>
                <a:latin typeface="宋体" charset="-122"/>
              </a:rPr>
              <a:t> </a:t>
            </a:r>
            <a:r>
              <a:rPr lang="zh-CN" altLang="en-US" b="1">
                <a:solidFill>
                  <a:schemeClr val="bg1"/>
                </a:solidFill>
                <a:latin typeface="宋体" charset="-122"/>
              </a:rPr>
              <a:t>电子在电磁波作用下作受迫振动，直到获得足够能量 </a:t>
            </a:r>
          </a:p>
          <a:p>
            <a:pPr>
              <a:lnSpc>
                <a:spcPct val="125000"/>
              </a:lnSpc>
              <a:buClr>
                <a:srgbClr val="006600"/>
              </a:buClr>
            </a:pPr>
            <a:r>
              <a:rPr lang="zh-CN" altLang="en-US" b="1">
                <a:solidFill>
                  <a:schemeClr val="bg1"/>
                </a:solidFill>
                <a:latin typeface="宋体" charset="-122"/>
              </a:rPr>
              <a:t> </a:t>
            </a:r>
            <a:r>
              <a:rPr lang="en-US" altLang="zh-CN" b="1">
                <a:solidFill>
                  <a:schemeClr val="bg1"/>
                </a:solidFill>
                <a:latin typeface="宋体" charset="-122"/>
              </a:rPr>
              <a:t>(</a:t>
            </a:r>
            <a:r>
              <a:rPr lang="zh-CN" altLang="en-US" b="1">
                <a:solidFill>
                  <a:schemeClr val="bg1"/>
                </a:solidFill>
                <a:latin typeface="宋体" charset="-122"/>
              </a:rPr>
              <a:t>与光强</a:t>
            </a:r>
            <a:r>
              <a:rPr lang="en-US" altLang="zh-CN" b="1" i="1">
                <a:solidFill>
                  <a:schemeClr val="accent2"/>
                </a:solidFill>
                <a:latin typeface="宋体" charset="-122"/>
              </a:rPr>
              <a:t>I </a:t>
            </a:r>
            <a:r>
              <a:rPr lang="zh-CN" altLang="en-US" b="1">
                <a:solidFill>
                  <a:schemeClr val="bg1"/>
                </a:solidFill>
                <a:latin typeface="宋体" charset="-122"/>
              </a:rPr>
              <a:t>有关</a:t>
            </a:r>
            <a:r>
              <a:rPr lang="en-US" altLang="zh-CN" b="1">
                <a:solidFill>
                  <a:schemeClr val="bg1"/>
                </a:solidFill>
                <a:latin typeface="宋体" charset="-122"/>
              </a:rPr>
              <a:t>) </a:t>
            </a:r>
            <a:r>
              <a:rPr lang="zh-CN" altLang="en-US" b="1">
                <a:solidFill>
                  <a:schemeClr val="bg1"/>
                </a:solidFill>
                <a:latin typeface="宋体" charset="-122"/>
              </a:rPr>
              <a:t>逸出，不应存在红限 </a:t>
            </a:r>
            <a:r>
              <a:rPr lang="zh-CN" altLang="en-US" b="1" i="1">
                <a:solidFill>
                  <a:schemeClr val="accent2"/>
                </a:solidFill>
                <a:latin typeface="宋体" charset="-122"/>
                <a:sym typeface="Symbol" pitchFamily="18" charset="2"/>
              </a:rPr>
              <a:t></a:t>
            </a:r>
            <a:r>
              <a:rPr lang="en-US" altLang="zh-CN" b="1" baseline="-25000">
                <a:solidFill>
                  <a:schemeClr val="accent2"/>
                </a:solidFill>
                <a:latin typeface="宋体" charset="-122"/>
                <a:sym typeface="Symbol" pitchFamily="18" charset="2"/>
              </a:rPr>
              <a:t>0</a:t>
            </a:r>
            <a:r>
              <a:rPr lang="en-US" altLang="zh-CN" b="1" baseline="-25000">
                <a:solidFill>
                  <a:srgbClr val="66FFFF"/>
                </a:solidFill>
                <a:latin typeface="宋体" charset="-122"/>
                <a:sym typeface="Symbol" pitchFamily="18" charset="2"/>
              </a:rPr>
              <a:t>  </a:t>
            </a:r>
            <a:r>
              <a:rPr lang="zh-CN" altLang="en-US" b="1">
                <a:solidFill>
                  <a:schemeClr val="bg1"/>
                </a:solidFill>
                <a:latin typeface="宋体" charset="-122"/>
              </a:rPr>
              <a:t>。</a:t>
            </a:r>
          </a:p>
        </p:txBody>
      </p:sp>
      <p:sp>
        <p:nvSpPr>
          <p:cNvPr id="103428" name="Rectangle 4"/>
          <p:cNvSpPr>
            <a:spLocks noChangeArrowheads="1"/>
          </p:cNvSpPr>
          <p:nvPr/>
        </p:nvSpPr>
        <p:spPr bwMode="auto">
          <a:xfrm>
            <a:off x="523875" y="5608638"/>
            <a:ext cx="8639175" cy="566737"/>
          </a:xfrm>
          <a:prstGeom prst="rect">
            <a:avLst/>
          </a:prstGeom>
          <a:noFill/>
          <a:ln w="9525">
            <a:noFill/>
            <a:miter lim="800000"/>
            <a:headEnd/>
            <a:tailEnd/>
          </a:ln>
          <a:effectLst/>
        </p:spPr>
        <p:txBody>
          <a:bodyPr>
            <a:spAutoFit/>
          </a:bodyPr>
          <a:lstStyle/>
          <a:p>
            <a:pPr marL="177800" indent="-177800">
              <a:lnSpc>
                <a:spcPct val="130000"/>
              </a:lnSpc>
              <a:buClr>
                <a:srgbClr val="006600"/>
              </a:buClr>
              <a:buFontTx/>
              <a:buChar char="•"/>
            </a:pPr>
            <a:r>
              <a:rPr lang="zh-CN" altLang="en-US" b="1">
                <a:solidFill>
                  <a:schemeClr val="bg1"/>
                </a:solidFill>
                <a:latin typeface="宋体" charset="-122"/>
              </a:rPr>
              <a:t>当光强很小时，电子要逸出，必须经较长时间的能量积累。</a:t>
            </a:r>
          </a:p>
        </p:txBody>
      </p:sp>
      <p:sp>
        <p:nvSpPr>
          <p:cNvPr id="103429" name="Text Box 5"/>
          <p:cNvSpPr txBox="1">
            <a:spLocks noChangeArrowheads="1"/>
          </p:cNvSpPr>
          <p:nvPr/>
        </p:nvSpPr>
        <p:spPr bwMode="auto">
          <a:xfrm>
            <a:off x="512763" y="1042988"/>
            <a:ext cx="7988300" cy="457200"/>
          </a:xfrm>
          <a:prstGeom prst="rect">
            <a:avLst/>
          </a:prstGeom>
          <a:noFill/>
          <a:ln w="9525">
            <a:noFill/>
            <a:miter lim="800000"/>
            <a:headEnd/>
            <a:tailEnd/>
          </a:ln>
          <a:effectLst/>
        </p:spPr>
        <p:txBody>
          <a:bodyPr>
            <a:spAutoFit/>
          </a:bodyPr>
          <a:lstStyle/>
          <a:p>
            <a:pPr>
              <a:buClr>
                <a:srgbClr val="006600"/>
              </a:buClr>
              <a:buFontTx/>
              <a:buChar char="•"/>
            </a:pPr>
            <a:r>
              <a:rPr lang="en-US" altLang="zh-CN" b="1">
                <a:solidFill>
                  <a:schemeClr val="bg1"/>
                </a:solidFill>
                <a:latin typeface="宋体" charset="-122"/>
              </a:rPr>
              <a:t> </a:t>
            </a:r>
            <a:r>
              <a:rPr lang="zh-CN" altLang="en-US" b="1">
                <a:solidFill>
                  <a:schemeClr val="bg1"/>
                </a:solidFill>
                <a:latin typeface="宋体" charset="-122"/>
              </a:rPr>
              <a:t>只有光的频率 </a:t>
            </a:r>
            <a:r>
              <a:rPr lang="zh-CN" altLang="en-US" b="1" i="1">
                <a:solidFill>
                  <a:schemeClr val="accent2"/>
                </a:solidFill>
                <a:latin typeface="宋体" charset="-122"/>
                <a:sym typeface="Symbol" pitchFamily="18" charset="2"/>
              </a:rPr>
              <a:t> </a:t>
            </a:r>
            <a:r>
              <a:rPr lang="zh-CN" altLang="en-US" b="1">
                <a:solidFill>
                  <a:schemeClr val="accent2"/>
                </a:solidFill>
                <a:latin typeface="宋体" charset="-122"/>
                <a:sym typeface="Symbol" pitchFamily="18" charset="2"/>
              </a:rPr>
              <a:t> </a:t>
            </a:r>
            <a:r>
              <a:rPr lang="zh-CN" altLang="en-US" b="1" i="1">
                <a:solidFill>
                  <a:schemeClr val="accent2"/>
                </a:solidFill>
                <a:latin typeface="宋体" charset="-122"/>
                <a:sym typeface="Symbol" pitchFamily="18" charset="2"/>
              </a:rPr>
              <a:t></a:t>
            </a:r>
            <a:r>
              <a:rPr lang="en-US" altLang="zh-CN" b="1" baseline="-22000">
                <a:solidFill>
                  <a:schemeClr val="accent2"/>
                </a:solidFill>
                <a:latin typeface="宋体" charset="-122"/>
                <a:sym typeface="Symbol" pitchFamily="18" charset="2"/>
              </a:rPr>
              <a:t>0</a:t>
            </a:r>
            <a:r>
              <a:rPr lang="en-US" altLang="zh-CN" b="1" i="1" baseline="-22000">
                <a:solidFill>
                  <a:srgbClr val="66FFFF"/>
                </a:solidFill>
                <a:latin typeface="宋体" charset="-122"/>
                <a:sym typeface="Symbol" pitchFamily="18" charset="2"/>
              </a:rPr>
              <a:t> </a:t>
            </a:r>
            <a:r>
              <a:rPr lang="zh-CN" altLang="en-US" b="1">
                <a:solidFill>
                  <a:schemeClr val="bg1"/>
                </a:solidFill>
                <a:latin typeface="宋体" charset="-122"/>
              </a:rPr>
              <a:t>时，电子才会逸出。</a:t>
            </a:r>
            <a:endParaRPr lang="zh-CN" altLang="en-US" b="1" i="1" baseline="-22000">
              <a:solidFill>
                <a:srgbClr val="66FFFF"/>
              </a:solidFill>
              <a:latin typeface="宋体" charset="-122"/>
            </a:endParaRPr>
          </a:p>
        </p:txBody>
      </p:sp>
      <p:sp>
        <p:nvSpPr>
          <p:cNvPr id="103430" name="Rectangle 6"/>
          <p:cNvSpPr>
            <a:spLocks noChangeArrowheads="1"/>
          </p:cNvSpPr>
          <p:nvPr/>
        </p:nvSpPr>
        <p:spPr bwMode="auto">
          <a:xfrm>
            <a:off x="512763" y="2200275"/>
            <a:ext cx="4933950" cy="457200"/>
          </a:xfrm>
          <a:prstGeom prst="rect">
            <a:avLst/>
          </a:prstGeom>
          <a:noFill/>
          <a:ln w="9525">
            <a:noFill/>
            <a:miter lim="800000"/>
            <a:headEnd/>
            <a:tailEnd/>
          </a:ln>
          <a:effectLst/>
        </p:spPr>
        <p:txBody>
          <a:bodyPr wrap="none">
            <a:spAutoFit/>
          </a:bodyPr>
          <a:lstStyle/>
          <a:p>
            <a:pPr>
              <a:buClr>
                <a:srgbClr val="006600"/>
              </a:buClr>
              <a:buFontTx/>
              <a:buChar char="•"/>
            </a:pPr>
            <a:r>
              <a:rPr lang="en-US" altLang="zh-CN" b="1">
                <a:solidFill>
                  <a:schemeClr val="bg1"/>
                </a:solidFill>
                <a:latin typeface="宋体" charset="-122"/>
              </a:rPr>
              <a:t> </a:t>
            </a:r>
            <a:r>
              <a:rPr lang="zh-CN" altLang="en-US" b="1">
                <a:solidFill>
                  <a:schemeClr val="bg1"/>
                </a:solidFill>
                <a:latin typeface="宋体" charset="-122"/>
              </a:rPr>
              <a:t>逸出光电子的多少取决于光强</a:t>
            </a:r>
            <a:r>
              <a:rPr lang="en-US" altLang="zh-CN" b="1" i="1">
                <a:solidFill>
                  <a:schemeClr val="accent2"/>
                </a:solidFill>
                <a:latin typeface="宋体" charset="-122"/>
              </a:rPr>
              <a:t>I</a:t>
            </a:r>
            <a:r>
              <a:rPr lang="zh-CN" altLang="en-US" b="1">
                <a:solidFill>
                  <a:schemeClr val="bg1"/>
                </a:solidFill>
                <a:latin typeface="宋体" charset="-122"/>
              </a:rPr>
              <a:t>。</a:t>
            </a:r>
          </a:p>
        </p:txBody>
      </p:sp>
      <p:sp>
        <p:nvSpPr>
          <p:cNvPr id="103431" name="Rectangle 7"/>
          <p:cNvSpPr>
            <a:spLocks noChangeArrowheads="1"/>
          </p:cNvSpPr>
          <p:nvPr/>
        </p:nvSpPr>
        <p:spPr bwMode="auto">
          <a:xfrm>
            <a:off x="512763" y="2779713"/>
            <a:ext cx="7040562" cy="457200"/>
          </a:xfrm>
          <a:prstGeom prst="rect">
            <a:avLst/>
          </a:prstGeom>
          <a:noFill/>
          <a:ln w="9525">
            <a:noFill/>
            <a:miter lim="800000"/>
            <a:headEnd/>
            <a:tailEnd/>
          </a:ln>
          <a:effectLst/>
        </p:spPr>
        <p:txBody>
          <a:bodyPr>
            <a:spAutoFit/>
          </a:bodyPr>
          <a:lstStyle/>
          <a:p>
            <a:pPr>
              <a:buClr>
                <a:srgbClr val="006600"/>
              </a:buClr>
              <a:buFontTx/>
              <a:buChar char="•"/>
            </a:pPr>
            <a:r>
              <a:rPr lang="en-US" altLang="zh-CN" b="1">
                <a:solidFill>
                  <a:schemeClr val="bg1"/>
                </a:solidFill>
                <a:latin typeface="宋体" charset="-122"/>
              </a:rPr>
              <a:t> </a:t>
            </a:r>
            <a:r>
              <a:rPr lang="zh-CN" altLang="en-US" b="1">
                <a:solidFill>
                  <a:schemeClr val="bg1"/>
                </a:solidFill>
                <a:latin typeface="宋体" charset="-122"/>
              </a:rPr>
              <a:t>光电子即时发射，滞后时间不超过</a:t>
            </a:r>
            <a:r>
              <a:rPr lang="en-US" altLang="zh-CN" b="1">
                <a:solidFill>
                  <a:schemeClr val="accent2"/>
                </a:solidFill>
              </a:rPr>
              <a:t>10</a:t>
            </a:r>
            <a:r>
              <a:rPr lang="en-US" altLang="zh-CN" b="1" baseline="30000">
                <a:solidFill>
                  <a:schemeClr val="accent2"/>
                </a:solidFill>
                <a:cs typeface="Times New Roman" pitchFamily="18" charset="0"/>
              </a:rPr>
              <a:t>–</a:t>
            </a:r>
            <a:r>
              <a:rPr lang="en-US" altLang="zh-CN" b="1" baseline="30000">
                <a:solidFill>
                  <a:schemeClr val="accent2"/>
                </a:solidFill>
              </a:rPr>
              <a:t>9</a:t>
            </a:r>
            <a:r>
              <a:rPr lang="en-US" altLang="zh-CN">
                <a:solidFill>
                  <a:schemeClr val="bg1"/>
                </a:solidFill>
                <a:latin typeface="宋体" charset="-122"/>
              </a:rPr>
              <a:t> </a:t>
            </a:r>
            <a:r>
              <a:rPr lang="zh-CN" altLang="en-US" b="1">
                <a:solidFill>
                  <a:schemeClr val="bg1"/>
                </a:solidFill>
                <a:latin typeface="宋体" charset="-122"/>
              </a:rPr>
              <a:t>秒</a:t>
            </a:r>
            <a:r>
              <a:rPr lang="zh-CN" altLang="en-US" b="1">
                <a:solidFill>
                  <a:schemeClr val="bg1"/>
                </a:solidFill>
                <a:latin typeface="宋体" charset="-122"/>
                <a:sym typeface="Symbol" pitchFamily="18" charset="2"/>
              </a:rPr>
              <a:t>。</a:t>
            </a:r>
          </a:p>
        </p:txBody>
      </p:sp>
      <p:sp>
        <p:nvSpPr>
          <p:cNvPr id="103432" name="Rectangle 8"/>
          <p:cNvSpPr>
            <a:spLocks noChangeArrowheads="1"/>
          </p:cNvSpPr>
          <p:nvPr/>
        </p:nvSpPr>
        <p:spPr bwMode="auto">
          <a:xfrm>
            <a:off x="704850" y="458788"/>
            <a:ext cx="1662113" cy="512762"/>
          </a:xfrm>
          <a:prstGeom prst="rect">
            <a:avLst/>
          </a:prstGeom>
          <a:noFill/>
          <a:ln w="9525">
            <a:noFill/>
            <a:miter lim="800000"/>
            <a:headEnd/>
            <a:tailEnd/>
          </a:ln>
          <a:effectLst/>
        </p:spPr>
        <p:txBody>
          <a:bodyPr>
            <a:spAutoFit/>
          </a:bodyPr>
          <a:lstStyle/>
          <a:p>
            <a:pPr>
              <a:lnSpc>
                <a:spcPct val="115000"/>
              </a:lnSpc>
            </a:pPr>
            <a:r>
              <a:rPr lang="zh-CN" altLang="en-US" b="1">
                <a:solidFill>
                  <a:schemeClr val="accent2"/>
                </a:solidFill>
                <a:latin typeface="宋体" charset="-122"/>
              </a:rPr>
              <a:t>总结</a:t>
            </a:r>
          </a:p>
        </p:txBody>
      </p:sp>
      <p:sp>
        <p:nvSpPr>
          <p:cNvPr id="103433" name="AutoShape 9"/>
          <p:cNvSpPr>
            <a:spLocks noChangeArrowheads="1"/>
          </p:cNvSpPr>
          <p:nvPr/>
        </p:nvSpPr>
        <p:spPr bwMode="auto">
          <a:xfrm>
            <a:off x="384175" y="447675"/>
            <a:ext cx="360363" cy="576263"/>
          </a:xfrm>
          <a:prstGeom prst="star4">
            <a:avLst>
              <a:gd name="adj" fmla="val 18519"/>
            </a:avLst>
          </a:prstGeom>
          <a:gradFill rotWithShape="0">
            <a:gsLst>
              <a:gs pos="0">
                <a:schemeClr val="accent2"/>
              </a:gs>
              <a:gs pos="100000">
                <a:schemeClr val="accent2">
                  <a:gamma/>
                  <a:shade val="46275"/>
                  <a:invGamma/>
                </a:schemeClr>
              </a:gs>
            </a:gsLst>
            <a:path path="shape">
              <a:fillToRect l="50000" t="50000" r="50000" b="50000"/>
            </a:path>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103434" name="Rectangle 10"/>
          <p:cNvSpPr>
            <a:spLocks noChangeArrowheads="1"/>
          </p:cNvSpPr>
          <p:nvPr/>
        </p:nvSpPr>
        <p:spPr bwMode="auto">
          <a:xfrm>
            <a:off x="512763" y="1538288"/>
            <a:ext cx="7916862" cy="549275"/>
          </a:xfrm>
          <a:prstGeom prst="rect">
            <a:avLst/>
          </a:prstGeom>
          <a:noFill/>
          <a:ln w="9525">
            <a:noFill/>
            <a:miter lim="800000"/>
            <a:headEnd/>
            <a:tailEnd/>
          </a:ln>
          <a:effectLst/>
        </p:spPr>
        <p:txBody>
          <a:bodyPr>
            <a:spAutoFit/>
          </a:bodyPr>
          <a:lstStyle/>
          <a:p>
            <a:pPr>
              <a:lnSpc>
                <a:spcPct val="125000"/>
              </a:lnSpc>
              <a:buClr>
                <a:srgbClr val="006600"/>
              </a:buClr>
              <a:buFontTx/>
              <a:buChar char="•"/>
            </a:pPr>
            <a:r>
              <a:rPr lang="en-US" altLang="zh-CN" b="1">
                <a:solidFill>
                  <a:schemeClr val="bg1"/>
                </a:solidFill>
                <a:latin typeface="宋体" charset="-122"/>
              </a:rPr>
              <a:t> </a:t>
            </a:r>
            <a:r>
              <a:rPr lang="zh-CN" altLang="en-US" b="1">
                <a:solidFill>
                  <a:schemeClr val="bg1"/>
                </a:solidFill>
                <a:latin typeface="宋体" charset="-122"/>
              </a:rPr>
              <a:t>光电子最大初动能和光频率</a:t>
            </a:r>
            <a:r>
              <a:rPr lang="zh-CN" altLang="en-US" b="1" i="1">
                <a:solidFill>
                  <a:schemeClr val="accent2"/>
                </a:solidFill>
                <a:latin typeface="宋体" charset="-122"/>
                <a:sym typeface="Symbol" pitchFamily="18" charset="2"/>
              </a:rPr>
              <a:t></a:t>
            </a:r>
            <a:r>
              <a:rPr lang="zh-CN" altLang="en-US" i="1">
                <a:solidFill>
                  <a:srgbClr val="66FFFF"/>
                </a:solidFill>
                <a:latin typeface="宋体" charset="-122"/>
                <a:sym typeface="Symbol" pitchFamily="18" charset="2"/>
              </a:rPr>
              <a:t> </a:t>
            </a:r>
            <a:r>
              <a:rPr lang="zh-CN" altLang="en-US" b="1">
                <a:solidFill>
                  <a:schemeClr val="bg1"/>
                </a:solidFill>
                <a:latin typeface="宋体" charset="-122"/>
                <a:sym typeface="Symbol" pitchFamily="18" charset="2"/>
              </a:rPr>
              <a:t>成线性关系。</a:t>
            </a:r>
            <a:r>
              <a:rPr lang="zh-CN" altLang="en-US">
                <a:latin typeface="宋体" charset="-122"/>
                <a:sym typeface="Symbol" pitchFamily="18" charset="2"/>
              </a:rPr>
              <a:t> </a:t>
            </a:r>
          </a:p>
        </p:txBody>
      </p:sp>
      <p:sp>
        <p:nvSpPr>
          <p:cNvPr id="103435" name="Rectangle 11"/>
          <p:cNvSpPr>
            <a:spLocks noChangeArrowheads="1"/>
          </p:cNvSpPr>
          <p:nvPr/>
        </p:nvSpPr>
        <p:spPr bwMode="auto">
          <a:xfrm>
            <a:off x="533400" y="5060950"/>
            <a:ext cx="8281988" cy="549275"/>
          </a:xfrm>
          <a:prstGeom prst="rect">
            <a:avLst/>
          </a:prstGeom>
          <a:noFill/>
          <a:ln w="9525">
            <a:noFill/>
            <a:miter lim="800000"/>
            <a:headEnd/>
            <a:tailEnd/>
          </a:ln>
          <a:effectLst/>
        </p:spPr>
        <p:txBody>
          <a:bodyPr>
            <a:spAutoFit/>
          </a:bodyPr>
          <a:lstStyle/>
          <a:p>
            <a:pPr>
              <a:lnSpc>
                <a:spcPct val="125000"/>
              </a:lnSpc>
              <a:buClr>
                <a:srgbClr val="006600"/>
              </a:buClr>
              <a:buFontTx/>
              <a:buChar char="•"/>
            </a:pPr>
            <a:r>
              <a:rPr lang="en-US" altLang="zh-CN" b="1">
                <a:solidFill>
                  <a:schemeClr val="bg1"/>
                </a:solidFill>
                <a:latin typeface="宋体" charset="-122"/>
              </a:rPr>
              <a:t> </a:t>
            </a:r>
            <a:r>
              <a:rPr lang="zh-CN" altLang="en-US" b="1">
                <a:solidFill>
                  <a:schemeClr val="bg1"/>
                </a:solidFill>
                <a:latin typeface="宋体" charset="-122"/>
              </a:rPr>
              <a:t>光电子最大初动能取决于光强，和光的频率</a:t>
            </a:r>
            <a:r>
              <a:rPr lang="zh-CN" altLang="en-US" b="1" i="1">
                <a:solidFill>
                  <a:schemeClr val="accent2"/>
                </a:solidFill>
                <a:latin typeface="宋体" charset="-122"/>
                <a:sym typeface="Symbol" pitchFamily="18" charset="2"/>
              </a:rPr>
              <a:t></a:t>
            </a:r>
            <a:r>
              <a:rPr lang="zh-CN" altLang="en-US" b="1">
                <a:solidFill>
                  <a:schemeClr val="bg1"/>
                </a:solidFill>
                <a:latin typeface="宋体" charset="-122"/>
              </a:rPr>
              <a:t>无关。</a:t>
            </a: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103433"/>
                                        </p:tgtEl>
                                        <p:attrNameLst>
                                          <p:attrName>style.visibility</p:attrName>
                                        </p:attrNameLst>
                                      </p:cBhvr>
                                      <p:to>
                                        <p:strVal val="visible"/>
                                      </p:to>
                                    </p:set>
                                    <p:anim calcmode="lin" valueType="num">
                                      <p:cBhvr>
                                        <p:cTn id="7" dur="1000" fill="hold"/>
                                        <p:tgtEl>
                                          <p:spTgt spid="103433"/>
                                        </p:tgtEl>
                                        <p:attrNameLst>
                                          <p:attrName>ppt_w</p:attrName>
                                        </p:attrNameLst>
                                      </p:cBhvr>
                                      <p:tavLst>
                                        <p:tav tm="0">
                                          <p:val>
                                            <p:strVal val="#ppt_w+.3"/>
                                          </p:val>
                                        </p:tav>
                                        <p:tav tm="100000">
                                          <p:val>
                                            <p:strVal val="#ppt_w"/>
                                          </p:val>
                                        </p:tav>
                                      </p:tavLst>
                                    </p:anim>
                                    <p:anim calcmode="lin" valueType="num">
                                      <p:cBhvr>
                                        <p:cTn id="8" dur="1000" fill="hold"/>
                                        <p:tgtEl>
                                          <p:spTgt spid="103433"/>
                                        </p:tgtEl>
                                        <p:attrNameLst>
                                          <p:attrName>ppt_h</p:attrName>
                                        </p:attrNameLst>
                                      </p:cBhvr>
                                      <p:tavLst>
                                        <p:tav tm="0">
                                          <p:val>
                                            <p:strVal val="#ppt_h"/>
                                          </p:val>
                                        </p:tav>
                                        <p:tav tm="100000">
                                          <p:val>
                                            <p:strVal val="#ppt_h"/>
                                          </p:val>
                                        </p:tav>
                                      </p:tavLst>
                                    </p:anim>
                                    <p:animEffect transition="in" filter="fade">
                                      <p:cBhvr>
                                        <p:cTn id="9" dur="1000"/>
                                        <p:tgtEl>
                                          <p:spTgt spid="103433"/>
                                        </p:tgtEl>
                                      </p:cBhvr>
                                    </p:animEffect>
                                  </p:childTnLst>
                                </p:cTn>
                              </p:par>
                            </p:childTnLst>
                          </p:cTn>
                        </p:par>
                        <p:par>
                          <p:cTn id="10" fill="hold" nodeType="afterGroup">
                            <p:stCondLst>
                              <p:cond delay="1000"/>
                            </p:stCondLst>
                            <p:childTnLst>
                              <p:par>
                                <p:cTn id="11" presetID="9" presetClass="entr" presetSubtype="0" fill="hold" grpId="0" nodeType="afterEffect">
                                  <p:stCondLst>
                                    <p:cond delay="0"/>
                                  </p:stCondLst>
                                  <p:childTnLst>
                                    <p:set>
                                      <p:cBhvr>
                                        <p:cTn id="12" dur="1" fill="hold">
                                          <p:stCondLst>
                                            <p:cond delay="0"/>
                                          </p:stCondLst>
                                        </p:cTn>
                                        <p:tgtEl>
                                          <p:spTgt spid="103432"/>
                                        </p:tgtEl>
                                        <p:attrNameLst>
                                          <p:attrName>style.visibility</p:attrName>
                                        </p:attrNameLst>
                                      </p:cBhvr>
                                      <p:to>
                                        <p:strVal val="visible"/>
                                      </p:to>
                                    </p:set>
                                    <p:animEffect transition="in" filter="dissolve">
                                      <p:cBhvr>
                                        <p:cTn id="13" dur="500"/>
                                        <p:tgtEl>
                                          <p:spTgt spid="10343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3429"/>
                                        </p:tgtEl>
                                        <p:attrNameLst>
                                          <p:attrName>style.visibility</p:attrName>
                                        </p:attrNameLst>
                                      </p:cBhvr>
                                      <p:to>
                                        <p:strVal val="visible"/>
                                      </p:to>
                                    </p:set>
                                    <p:animEffect transition="in" filter="wipe(left)">
                                      <p:cBhvr>
                                        <p:cTn id="18" dur="500"/>
                                        <p:tgtEl>
                                          <p:spTgt spid="10342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3434"/>
                                        </p:tgtEl>
                                        <p:attrNameLst>
                                          <p:attrName>style.visibility</p:attrName>
                                        </p:attrNameLst>
                                      </p:cBhvr>
                                      <p:to>
                                        <p:strVal val="visible"/>
                                      </p:to>
                                    </p:set>
                                    <p:animEffect transition="in" filter="wipe(left)">
                                      <p:cBhvr>
                                        <p:cTn id="23" dur="500"/>
                                        <p:tgtEl>
                                          <p:spTgt spid="10343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03430"/>
                                        </p:tgtEl>
                                        <p:attrNameLst>
                                          <p:attrName>style.visibility</p:attrName>
                                        </p:attrNameLst>
                                      </p:cBhvr>
                                      <p:to>
                                        <p:strVal val="visible"/>
                                      </p:to>
                                    </p:set>
                                    <p:animEffect transition="in" filter="wipe(left)">
                                      <p:cBhvr>
                                        <p:cTn id="28" dur="500"/>
                                        <p:tgtEl>
                                          <p:spTgt spid="10343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3431"/>
                                        </p:tgtEl>
                                        <p:attrNameLst>
                                          <p:attrName>style.visibility</p:attrName>
                                        </p:attrNameLst>
                                      </p:cBhvr>
                                      <p:to>
                                        <p:strVal val="visible"/>
                                      </p:to>
                                    </p:set>
                                    <p:animEffect transition="in" filter="wipe(left)">
                                      <p:cBhvr>
                                        <p:cTn id="33" dur="500"/>
                                        <p:tgtEl>
                                          <p:spTgt spid="10343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3426"/>
                                        </p:tgtEl>
                                        <p:attrNameLst>
                                          <p:attrName>style.visibility</p:attrName>
                                        </p:attrNameLst>
                                      </p:cBhvr>
                                      <p:to>
                                        <p:strVal val="visible"/>
                                      </p:to>
                                    </p:set>
                                    <p:animEffect transition="in" filter="wipe(left)">
                                      <p:cBhvr>
                                        <p:cTn id="38" dur="500"/>
                                        <p:tgtEl>
                                          <p:spTgt spid="10342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2" presetClass="entr" presetSubtype="8" fill="hold" nodeType="clickEffect">
                                  <p:stCondLst>
                                    <p:cond delay="0"/>
                                  </p:stCondLst>
                                  <p:childTnLst>
                                    <p:set>
                                      <p:cBhvr>
                                        <p:cTn id="42" dur="1" fill="hold">
                                          <p:stCondLst>
                                            <p:cond delay="0"/>
                                          </p:stCondLst>
                                        </p:cTn>
                                        <p:tgtEl>
                                          <p:spTgt spid="103427"/>
                                        </p:tgtEl>
                                        <p:attrNameLst>
                                          <p:attrName>style.visibility</p:attrName>
                                        </p:attrNameLst>
                                      </p:cBhvr>
                                      <p:to>
                                        <p:strVal val="visible"/>
                                      </p:to>
                                    </p:set>
                                    <p:animEffect transition="in" filter="slide(fromLeft)">
                                      <p:cBhvr>
                                        <p:cTn id="43" dur="500"/>
                                        <p:tgtEl>
                                          <p:spTgt spid="10342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03435"/>
                                        </p:tgtEl>
                                        <p:attrNameLst>
                                          <p:attrName>style.visibility</p:attrName>
                                        </p:attrNameLst>
                                      </p:cBhvr>
                                      <p:to>
                                        <p:strVal val="visible"/>
                                      </p:to>
                                    </p:set>
                                    <p:animEffect transition="in" filter="wipe(left)">
                                      <p:cBhvr>
                                        <p:cTn id="48" dur="500"/>
                                        <p:tgtEl>
                                          <p:spTgt spid="10343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2" presetClass="entr" presetSubtype="8" fill="hold" grpId="0" nodeType="clickEffect">
                                  <p:stCondLst>
                                    <p:cond delay="0"/>
                                  </p:stCondLst>
                                  <p:childTnLst>
                                    <p:set>
                                      <p:cBhvr>
                                        <p:cTn id="52" dur="1" fill="hold">
                                          <p:stCondLst>
                                            <p:cond delay="0"/>
                                          </p:stCondLst>
                                        </p:cTn>
                                        <p:tgtEl>
                                          <p:spTgt spid="103428"/>
                                        </p:tgtEl>
                                        <p:attrNameLst>
                                          <p:attrName>style.visibility</p:attrName>
                                        </p:attrNameLst>
                                      </p:cBhvr>
                                      <p:to>
                                        <p:strVal val="visible"/>
                                      </p:to>
                                    </p:set>
                                    <p:animEffect transition="in" filter="slide(fromLeft)">
                                      <p:cBhvr>
                                        <p:cTn id="53" dur="500"/>
                                        <p:tgtEl>
                                          <p:spTgt spid="103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p:bldP spid="103428" grpId="0" autoUpdateAnimBg="0"/>
      <p:bldP spid="103429" grpId="0"/>
      <p:bldP spid="103430" grpId="0"/>
      <p:bldP spid="103431" grpId="0"/>
      <p:bldP spid="103432" grpId="0"/>
      <p:bldP spid="103433" grpId="0" animBg="1"/>
      <p:bldP spid="103434" grpId="0"/>
      <p:bldP spid="10343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49" name="Rectangle 25"/>
          <p:cNvSpPr>
            <a:spLocks noChangeArrowheads="1"/>
          </p:cNvSpPr>
          <p:nvPr/>
        </p:nvSpPr>
        <p:spPr bwMode="auto">
          <a:xfrm>
            <a:off x="180975" y="368300"/>
            <a:ext cx="7010400" cy="461963"/>
          </a:xfrm>
          <a:prstGeom prst="rect">
            <a:avLst/>
          </a:prstGeom>
          <a:noFill/>
          <a:ln w="9525">
            <a:noFill/>
            <a:miter lim="800000"/>
            <a:headEnd/>
            <a:tailEnd/>
          </a:ln>
          <a:effectLst/>
        </p:spPr>
        <p:txBody>
          <a:bodyPr>
            <a:spAutoFit/>
          </a:bodyPr>
          <a:lstStyle/>
          <a:p>
            <a:r>
              <a:rPr lang="en-US" altLang="zh-CN" b="1" dirty="0" smtClean="0">
                <a:solidFill>
                  <a:srgbClr val="0000FF"/>
                </a:solidFill>
              </a:rPr>
              <a:t>13.2.2 </a:t>
            </a:r>
            <a:r>
              <a:rPr lang="zh-CN" altLang="en-US" b="1" dirty="0" smtClean="0">
                <a:solidFill>
                  <a:srgbClr val="0000FF"/>
                </a:solidFill>
              </a:rPr>
              <a:t>爱因斯坦</a:t>
            </a:r>
            <a:r>
              <a:rPr lang="zh-CN" altLang="en-US" b="1" dirty="0">
                <a:solidFill>
                  <a:srgbClr val="0000FF"/>
                </a:solidFill>
              </a:rPr>
              <a:t>光电效应方程 </a:t>
            </a:r>
          </a:p>
        </p:txBody>
      </p:sp>
      <p:sp>
        <p:nvSpPr>
          <p:cNvPr id="180250" name="Rectangle 26"/>
          <p:cNvSpPr>
            <a:spLocks noChangeArrowheads="1"/>
          </p:cNvSpPr>
          <p:nvPr/>
        </p:nvSpPr>
        <p:spPr bwMode="auto">
          <a:xfrm>
            <a:off x="701675" y="1042988"/>
            <a:ext cx="5805488" cy="1052512"/>
          </a:xfrm>
          <a:prstGeom prst="rect">
            <a:avLst/>
          </a:prstGeom>
          <a:noFill/>
          <a:ln w="9525">
            <a:noFill/>
            <a:miter lim="800000"/>
            <a:headEnd/>
            <a:tailEnd/>
          </a:ln>
          <a:effectLst/>
        </p:spPr>
        <p:txBody>
          <a:bodyPr>
            <a:spAutoFit/>
          </a:bodyPr>
          <a:lstStyle/>
          <a:p>
            <a:pPr>
              <a:lnSpc>
                <a:spcPct val="120000"/>
              </a:lnSpc>
            </a:pPr>
            <a:r>
              <a:rPr lang="zh-CN" altLang="en-US" b="1" dirty="0">
                <a:solidFill>
                  <a:srgbClr val="FF0000"/>
                </a:solidFill>
              </a:rPr>
              <a:t>光子：</a:t>
            </a:r>
            <a:r>
              <a:rPr lang="zh-CN" altLang="en-US" b="1" dirty="0">
                <a:solidFill>
                  <a:schemeClr val="bg2"/>
                </a:solidFill>
              </a:rPr>
              <a:t>   光是以光速运动的粒子流</a:t>
            </a:r>
            <a:r>
              <a:rPr lang="zh-CN" altLang="en-US" b="1" i="1" dirty="0">
                <a:solidFill>
                  <a:schemeClr val="bg2"/>
                </a:solidFill>
              </a:rPr>
              <a:t> </a:t>
            </a:r>
            <a:r>
              <a:rPr lang="zh-CN" altLang="en-US" b="1" dirty="0">
                <a:solidFill>
                  <a:schemeClr val="bg2"/>
                </a:solidFill>
              </a:rPr>
              <a:t>，每一光子能量为 </a:t>
            </a:r>
            <a:r>
              <a:rPr lang="en-US" altLang="zh-CN" i="1" dirty="0">
                <a:solidFill>
                  <a:schemeClr val="bg2"/>
                </a:solidFill>
              </a:rPr>
              <a:t>h</a:t>
            </a:r>
            <a:r>
              <a:rPr lang="en-US" altLang="zh-CN" i="1" dirty="0">
                <a:solidFill>
                  <a:schemeClr val="bg2"/>
                </a:solidFill>
                <a:sym typeface="Symbol" pitchFamily="18" charset="2"/>
              </a:rPr>
              <a:t></a:t>
            </a:r>
            <a:r>
              <a:rPr lang="en-US" altLang="zh-CN" b="1" i="1" dirty="0">
                <a:solidFill>
                  <a:schemeClr val="bg2"/>
                </a:solidFill>
                <a:sym typeface="Symbol" pitchFamily="18" charset="2"/>
              </a:rPr>
              <a:t> </a:t>
            </a:r>
            <a:r>
              <a:rPr lang="zh-CN" altLang="en-US" sz="2800" b="1" dirty="0">
                <a:solidFill>
                  <a:schemeClr val="bg2"/>
                </a:solidFill>
                <a:sym typeface="Symbol" pitchFamily="18" charset="2"/>
              </a:rPr>
              <a:t>，</a:t>
            </a:r>
            <a:r>
              <a:rPr lang="zh-CN" altLang="en-US" b="1" dirty="0">
                <a:solidFill>
                  <a:schemeClr val="bg2"/>
                </a:solidFill>
                <a:sym typeface="Symbol" pitchFamily="18" charset="2"/>
              </a:rPr>
              <a:t>电子吸收一个光子</a:t>
            </a:r>
          </a:p>
        </p:txBody>
      </p:sp>
      <p:graphicFrame>
        <p:nvGraphicFramePr>
          <p:cNvPr id="180251" name="Object 27"/>
          <p:cNvGraphicFramePr>
            <a:graphicFrameLocks noChangeAspect="1"/>
          </p:cNvGraphicFramePr>
          <p:nvPr/>
        </p:nvGraphicFramePr>
        <p:xfrm>
          <a:off x="1646238" y="2214563"/>
          <a:ext cx="2476500" cy="550862"/>
        </p:xfrm>
        <a:graphic>
          <a:graphicData uri="http://schemas.openxmlformats.org/presentationml/2006/ole">
            <p:oleObj spid="_x0000_s14340" name="公式" r:id="rId3" imgW="1881000" imgH="407880" progId="Equation.3">
              <p:embed/>
            </p:oleObj>
          </a:graphicData>
        </a:graphic>
      </p:graphicFrame>
      <p:sp>
        <p:nvSpPr>
          <p:cNvPr id="180252" name="Text Box 28"/>
          <p:cNvSpPr txBox="1">
            <a:spLocks noChangeArrowheads="1"/>
          </p:cNvSpPr>
          <p:nvPr/>
        </p:nvSpPr>
        <p:spPr bwMode="auto">
          <a:xfrm>
            <a:off x="4076700" y="2306638"/>
            <a:ext cx="2047875" cy="396875"/>
          </a:xfrm>
          <a:prstGeom prst="rect">
            <a:avLst/>
          </a:prstGeom>
          <a:noFill/>
          <a:ln w="9525">
            <a:noFill/>
            <a:miter lim="800000"/>
            <a:headEnd/>
            <a:tailEnd/>
          </a:ln>
          <a:effectLst/>
        </p:spPr>
        <p:txBody>
          <a:bodyPr>
            <a:spAutoFit/>
          </a:bodyPr>
          <a:lstStyle/>
          <a:p>
            <a:r>
              <a:rPr lang="zh-CN" altLang="en-US" sz="2000" b="1">
                <a:solidFill>
                  <a:schemeClr val="bg2"/>
                </a:solidFill>
              </a:rPr>
              <a:t>（</a:t>
            </a:r>
            <a:r>
              <a:rPr lang="en-US" altLang="zh-CN" sz="2000" i="1">
                <a:solidFill>
                  <a:schemeClr val="bg2"/>
                </a:solidFill>
              </a:rPr>
              <a:t>A </a:t>
            </a:r>
            <a:r>
              <a:rPr lang="zh-CN" altLang="en-US" sz="2000" b="1">
                <a:solidFill>
                  <a:schemeClr val="bg2"/>
                </a:solidFill>
                <a:latin typeface="楷体_GB2312" pitchFamily="49" charset="-122"/>
                <a:ea typeface="楷体_GB2312" pitchFamily="49" charset="-122"/>
              </a:rPr>
              <a:t>为</a:t>
            </a:r>
            <a:r>
              <a:rPr lang="zh-CN" altLang="en-US" sz="2000" b="1">
                <a:solidFill>
                  <a:schemeClr val="bg2"/>
                </a:solidFill>
                <a:ea typeface="楷体_GB2312" pitchFamily="49" charset="-122"/>
                <a:sym typeface="Symbol" pitchFamily="18" charset="2"/>
              </a:rPr>
              <a:t>逸</a:t>
            </a:r>
            <a:r>
              <a:rPr lang="zh-CN" altLang="en-US" sz="2000" b="1">
                <a:solidFill>
                  <a:schemeClr val="bg2"/>
                </a:solidFill>
                <a:latin typeface="楷体_GB2312" pitchFamily="49" charset="-122"/>
                <a:ea typeface="楷体_GB2312" pitchFamily="49" charset="-122"/>
              </a:rPr>
              <a:t>出功）</a:t>
            </a:r>
          </a:p>
        </p:txBody>
      </p:sp>
      <p:sp>
        <p:nvSpPr>
          <p:cNvPr id="180253" name="Rectangle 29"/>
          <p:cNvSpPr>
            <a:spLocks noChangeArrowheads="1"/>
          </p:cNvSpPr>
          <p:nvPr/>
        </p:nvSpPr>
        <p:spPr bwMode="auto">
          <a:xfrm>
            <a:off x="479425" y="4773613"/>
            <a:ext cx="8639175" cy="1006475"/>
          </a:xfrm>
          <a:prstGeom prst="rect">
            <a:avLst/>
          </a:prstGeom>
          <a:noFill/>
          <a:ln w="9525">
            <a:noFill/>
            <a:miter lim="800000"/>
            <a:headEnd/>
            <a:tailEnd/>
          </a:ln>
          <a:effectLst/>
        </p:spPr>
        <p:txBody>
          <a:bodyPr>
            <a:spAutoFit/>
          </a:bodyPr>
          <a:lstStyle/>
          <a:p>
            <a:pPr>
              <a:lnSpc>
                <a:spcPct val="125000"/>
              </a:lnSpc>
              <a:buClr>
                <a:srgbClr val="0000FF"/>
              </a:buClr>
              <a:buFontTx/>
              <a:buChar char="•"/>
            </a:pPr>
            <a:r>
              <a:rPr lang="en-US" altLang="zh-CN" b="1">
                <a:solidFill>
                  <a:schemeClr val="bg2"/>
                </a:solidFill>
                <a:ea typeface="楷体_GB2312" pitchFamily="49" charset="-122"/>
              </a:rPr>
              <a:t> </a:t>
            </a:r>
            <a:r>
              <a:rPr lang="zh-CN" altLang="en-US" b="1">
                <a:solidFill>
                  <a:schemeClr val="bg2"/>
                </a:solidFill>
                <a:ea typeface="楷体_GB2312" pitchFamily="49" charset="-122"/>
              </a:rPr>
              <a:t>单位时间到达单位垂直面积的光子数为</a:t>
            </a:r>
            <a:r>
              <a:rPr lang="en-US" altLang="zh-CN" i="1">
                <a:solidFill>
                  <a:schemeClr val="accent2"/>
                </a:solidFill>
                <a:ea typeface="楷体_GB2312" pitchFamily="49" charset="-122"/>
              </a:rPr>
              <a:t>N</a:t>
            </a:r>
            <a:r>
              <a:rPr lang="zh-CN" altLang="en-US" b="1">
                <a:solidFill>
                  <a:schemeClr val="bg2"/>
                </a:solidFill>
                <a:ea typeface="楷体_GB2312" pitchFamily="49" charset="-122"/>
              </a:rPr>
              <a:t>，则光强 </a:t>
            </a:r>
            <a:r>
              <a:rPr lang="en-US" altLang="zh-CN" i="1">
                <a:solidFill>
                  <a:schemeClr val="accent2"/>
                </a:solidFill>
                <a:ea typeface="楷体_GB2312" pitchFamily="49" charset="-122"/>
              </a:rPr>
              <a:t>I = Nh</a:t>
            </a:r>
            <a:r>
              <a:rPr lang="en-US" altLang="zh-CN" i="1">
                <a:solidFill>
                  <a:schemeClr val="accent2"/>
                </a:solidFill>
                <a:sym typeface="Symbol" pitchFamily="18" charset="2"/>
              </a:rPr>
              <a:t></a:t>
            </a:r>
            <a:r>
              <a:rPr lang="en-US" altLang="zh-CN">
                <a:solidFill>
                  <a:schemeClr val="bg2"/>
                </a:solidFill>
              </a:rPr>
              <a:t> </a:t>
            </a:r>
            <a:r>
              <a:rPr lang="en-US" altLang="zh-CN" b="1">
                <a:solidFill>
                  <a:schemeClr val="bg2"/>
                </a:solidFill>
                <a:ea typeface="楷体_GB2312" pitchFamily="49" charset="-122"/>
              </a:rPr>
              <a:t>.</a:t>
            </a:r>
          </a:p>
          <a:p>
            <a:pPr>
              <a:lnSpc>
                <a:spcPct val="125000"/>
              </a:lnSpc>
              <a:buClr>
                <a:srgbClr val="0000FF"/>
              </a:buClr>
              <a:buFont typeface="Wingdings" pitchFamily="2" charset="2"/>
              <a:buNone/>
            </a:pPr>
            <a:r>
              <a:rPr lang="en-US" altLang="zh-CN" i="1">
                <a:solidFill>
                  <a:schemeClr val="bg2"/>
                </a:solidFill>
                <a:ea typeface="楷体_GB2312" pitchFamily="49" charset="-122"/>
              </a:rPr>
              <a:t>   </a:t>
            </a:r>
            <a:r>
              <a:rPr lang="en-US" altLang="zh-CN" i="1">
                <a:solidFill>
                  <a:schemeClr val="accent2"/>
                </a:solidFill>
                <a:ea typeface="楷体_GB2312" pitchFamily="49" charset="-122"/>
              </a:rPr>
              <a:t>I</a:t>
            </a:r>
            <a:r>
              <a:rPr lang="en-US" altLang="zh-CN" i="1">
                <a:solidFill>
                  <a:schemeClr val="bg2"/>
                </a:solidFill>
                <a:ea typeface="楷体_GB2312" pitchFamily="49" charset="-122"/>
              </a:rPr>
              <a:t> </a:t>
            </a:r>
            <a:r>
              <a:rPr lang="zh-CN" altLang="en-US" b="1">
                <a:solidFill>
                  <a:schemeClr val="bg2"/>
                </a:solidFill>
                <a:ea typeface="楷体_GB2312" pitchFamily="49" charset="-122"/>
              </a:rPr>
              <a:t>越强 </a:t>
            </a:r>
            <a:r>
              <a:rPr lang="en-US" altLang="zh-CN" b="1">
                <a:solidFill>
                  <a:schemeClr val="bg2"/>
                </a:solidFill>
                <a:ea typeface="楷体_GB2312" pitchFamily="49" charset="-122"/>
              </a:rPr>
              <a:t>,  </a:t>
            </a:r>
            <a:r>
              <a:rPr lang="zh-CN" altLang="en-US" b="1">
                <a:solidFill>
                  <a:schemeClr val="bg2"/>
                </a:solidFill>
                <a:ea typeface="楷体_GB2312" pitchFamily="49" charset="-122"/>
              </a:rPr>
              <a:t>到阴极的光子越多</a:t>
            </a:r>
            <a:r>
              <a:rPr lang="en-US" altLang="zh-CN" b="1">
                <a:solidFill>
                  <a:schemeClr val="bg2"/>
                </a:solidFill>
                <a:ea typeface="楷体_GB2312" pitchFamily="49" charset="-122"/>
              </a:rPr>
              <a:t>,  </a:t>
            </a:r>
            <a:r>
              <a:rPr lang="zh-CN" altLang="en-US" b="1">
                <a:solidFill>
                  <a:schemeClr val="bg2"/>
                </a:solidFill>
                <a:ea typeface="楷体_GB2312" pitchFamily="49" charset="-122"/>
              </a:rPr>
              <a:t>则</a:t>
            </a:r>
            <a:r>
              <a:rPr lang="zh-CN" altLang="en-US" b="1">
                <a:solidFill>
                  <a:schemeClr val="bg2"/>
                </a:solidFill>
                <a:ea typeface="楷体_GB2312" pitchFamily="49" charset="-122"/>
                <a:sym typeface="Symbol" pitchFamily="18" charset="2"/>
              </a:rPr>
              <a:t>逸</a:t>
            </a:r>
            <a:r>
              <a:rPr lang="zh-CN" altLang="en-US" b="1">
                <a:solidFill>
                  <a:schemeClr val="bg2"/>
                </a:solidFill>
                <a:ea typeface="楷体_GB2312" pitchFamily="49" charset="-122"/>
              </a:rPr>
              <a:t>出的光电子越多。</a:t>
            </a:r>
          </a:p>
        </p:txBody>
      </p:sp>
      <p:sp>
        <p:nvSpPr>
          <p:cNvPr id="180254" name="Text Box 30"/>
          <p:cNvSpPr txBox="1">
            <a:spLocks noChangeArrowheads="1"/>
          </p:cNvSpPr>
          <p:nvPr/>
        </p:nvSpPr>
        <p:spPr bwMode="auto">
          <a:xfrm>
            <a:off x="538163" y="5835650"/>
            <a:ext cx="8026400" cy="457200"/>
          </a:xfrm>
          <a:prstGeom prst="rect">
            <a:avLst/>
          </a:prstGeom>
          <a:noFill/>
          <a:ln w="9525">
            <a:noFill/>
            <a:miter lim="800000"/>
            <a:headEnd/>
            <a:tailEnd/>
          </a:ln>
          <a:effectLst/>
        </p:spPr>
        <p:txBody>
          <a:bodyPr wrap="none">
            <a:spAutoFit/>
          </a:bodyPr>
          <a:lstStyle/>
          <a:p>
            <a:pPr algn="r">
              <a:buClr>
                <a:srgbClr val="0000FF"/>
              </a:buClr>
              <a:buFontTx/>
              <a:buChar char="•"/>
            </a:pPr>
            <a:r>
              <a:rPr lang="en-US" altLang="zh-CN" b="1">
                <a:solidFill>
                  <a:schemeClr val="bg2"/>
                </a:solidFill>
                <a:ea typeface="楷体_GB2312" pitchFamily="49" charset="-122"/>
              </a:rPr>
              <a:t> </a:t>
            </a:r>
            <a:r>
              <a:rPr lang="zh-CN" altLang="en-US" b="1">
                <a:solidFill>
                  <a:schemeClr val="bg2"/>
                </a:solidFill>
                <a:ea typeface="楷体_GB2312" pitchFamily="49" charset="-122"/>
              </a:rPr>
              <a:t>电子吸收一个光子即可逸出，不需要长时间的能量积累。</a:t>
            </a:r>
          </a:p>
        </p:txBody>
      </p:sp>
      <p:sp>
        <p:nvSpPr>
          <p:cNvPr id="14344" name="Text Box 31"/>
          <p:cNvSpPr txBox="1">
            <a:spLocks noChangeArrowheads="1"/>
          </p:cNvSpPr>
          <p:nvPr/>
        </p:nvSpPr>
        <p:spPr bwMode="auto">
          <a:xfrm>
            <a:off x="479425" y="4518025"/>
            <a:ext cx="184150" cy="457200"/>
          </a:xfrm>
          <a:prstGeom prst="rect">
            <a:avLst/>
          </a:prstGeom>
          <a:noFill/>
          <a:ln w="9525">
            <a:noFill/>
            <a:miter lim="800000"/>
            <a:headEnd/>
            <a:tailEnd/>
          </a:ln>
          <a:effectLst/>
        </p:spPr>
        <p:txBody>
          <a:bodyPr wrap="none">
            <a:spAutoFit/>
          </a:bodyPr>
          <a:lstStyle/>
          <a:p>
            <a:pPr algn="r"/>
            <a:endParaRPr lang="zh-CN" altLang="zh-CN">
              <a:solidFill>
                <a:schemeClr val="bg2"/>
              </a:solidFill>
              <a:ea typeface="楷体_GB2312" pitchFamily="49" charset="-122"/>
            </a:endParaRPr>
          </a:p>
        </p:txBody>
      </p:sp>
      <p:sp>
        <p:nvSpPr>
          <p:cNvPr id="180256" name="Rectangle 32"/>
          <p:cNvSpPr>
            <a:spLocks noChangeArrowheads="1"/>
          </p:cNvSpPr>
          <p:nvPr/>
        </p:nvSpPr>
        <p:spPr bwMode="auto">
          <a:xfrm>
            <a:off x="479425" y="3294063"/>
            <a:ext cx="8151813" cy="1006475"/>
          </a:xfrm>
          <a:prstGeom prst="rect">
            <a:avLst/>
          </a:prstGeom>
          <a:noFill/>
          <a:ln w="9525">
            <a:noFill/>
            <a:miter lim="800000"/>
            <a:headEnd/>
            <a:tailEnd/>
          </a:ln>
          <a:effectLst/>
        </p:spPr>
        <p:txBody>
          <a:bodyPr>
            <a:spAutoFit/>
          </a:bodyPr>
          <a:lstStyle/>
          <a:p>
            <a:pPr>
              <a:lnSpc>
                <a:spcPct val="125000"/>
              </a:lnSpc>
              <a:buClr>
                <a:srgbClr val="0000FF"/>
              </a:buClr>
              <a:buFontTx/>
              <a:buChar char="•"/>
            </a:pPr>
            <a:r>
              <a:rPr lang="en-US" altLang="zh-CN" b="1">
                <a:solidFill>
                  <a:schemeClr val="bg2"/>
                </a:solidFill>
                <a:ea typeface="楷体_GB2312" pitchFamily="49" charset="-122"/>
              </a:rPr>
              <a:t> </a:t>
            </a:r>
            <a:r>
              <a:rPr lang="zh-CN" altLang="en-US" b="1">
                <a:solidFill>
                  <a:schemeClr val="bg2"/>
                </a:solidFill>
                <a:ea typeface="楷体_GB2312" pitchFamily="49" charset="-122"/>
              </a:rPr>
              <a:t>光频率</a:t>
            </a:r>
            <a:r>
              <a:rPr lang="zh-CN" altLang="en-US" i="1">
                <a:solidFill>
                  <a:schemeClr val="accent2"/>
                </a:solidFill>
                <a:ea typeface="楷体_GB2312" pitchFamily="49" charset="-122"/>
                <a:sym typeface="Symbol" pitchFamily="18" charset="2"/>
              </a:rPr>
              <a:t> </a:t>
            </a:r>
            <a:r>
              <a:rPr lang="en-US" altLang="zh-CN" i="1">
                <a:solidFill>
                  <a:schemeClr val="accent2"/>
                </a:solidFill>
                <a:ea typeface="楷体_GB2312" pitchFamily="49" charset="-122"/>
                <a:sym typeface="Symbol" pitchFamily="18" charset="2"/>
              </a:rPr>
              <a:t>&gt; A/h</a:t>
            </a:r>
            <a:r>
              <a:rPr lang="en-US" altLang="zh-CN" b="1" i="1">
                <a:solidFill>
                  <a:schemeClr val="bg2"/>
                </a:solidFill>
                <a:ea typeface="楷体_GB2312" pitchFamily="49" charset="-122"/>
                <a:sym typeface="Symbol" pitchFamily="18" charset="2"/>
              </a:rPr>
              <a:t> </a:t>
            </a:r>
            <a:r>
              <a:rPr lang="zh-CN" altLang="en-US" b="1">
                <a:solidFill>
                  <a:schemeClr val="bg2"/>
                </a:solidFill>
                <a:ea typeface="楷体_GB2312" pitchFamily="49" charset="-122"/>
              </a:rPr>
              <a:t>时，</a:t>
            </a:r>
            <a:r>
              <a:rPr lang="zh-CN" altLang="en-US" b="1">
                <a:solidFill>
                  <a:schemeClr val="bg2"/>
                </a:solidFill>
                <a:ea typeface="楷体_GB2312" pitchFamily="49" charset="-122"/>
                <a:sym typeface="Symbol" pitchFamily="18" charset="2"/>
              </a:rPr>
              <a:t>电子吸收一个光子即可克服逸出功</a:t>
            </a:r>
            <a:r>
              <a:rPr lang="zh-CN" altLang="en-US" b="1">
                <a:solidFill>
                  <a:srgbClr val="0000FF"/>
                </a:solidFill>
                <a:ea typeface="楷体_GB2312" pitchFamily="49" charset="-122"/>
                <a:sym typeface="Symbol" pitchFamily="18" charset="2"/>
              </a:rPr>
              <a:t> </a:t>
            </a:r>
            <a:r>
              <a:rPr lang="en-US" altLang="zh-CN" i="1">
                <a:solidFill>
                  <a:schemeClr val="accent2"/>
                </a:solidFill>
                <a:ea typeface="楷体_GB2312" pitchFamily="49" charset="-122"/>
              </a:rPr>
              <a:t>A</a:t>
            </a:r>
            <a:r>
              <a:rPr lang="en-US" altLang="zh-CN">
                <a:solidFill>
                  <a:schemeClr val="bg2"/>
                </a:solidFill>
                <a:ea typeface="楷体_GB2312" pitchFamily="49" charset="-122"/>
                <a:sym typeface="Symbol" pitchFamily="18" charset="2"/>
              </a:rPr>
              <a:t> </a:t>
            </a:r>
          </a:p>
          <a:p>
            <a:pPr>
              <a:lnSpc>
                <a:spcPct val="125000"/>
              </a:lnSpc>
              <a:buClr>
                <a:srgbClr val="0000FF"/>
              </a:buClr>
            </a:pPr>
            <a:r>
              <a:rPr lang="en-US" altLang="zh-CN" b="1">
                <a:solidFill>
                  <a:schemeClr val="bg2"/>
                </a:solidFill>
                <a:ea typeface="楷体_GB2312" pitchFamily="49" charset="-122"/>
                <a:sym typeface="Symbol" pitchFamily="18" charset="2"/>
              </a:rPr>
              <a:t>  </a:t>
            </a:r>
            <a:r>
              <a:rPr lang="zh-CN" altLang="en-US" b="1">
                <a:solidFill>
                  <a:schemeClr val="bg2"/>
                </a:solidFill>
                <a:ea typeface="楷体_GB2312" pitchFamily="49" charset="-122"/>
                <a:sym typeface="Symbol" pitchFamily="18" charset="2"/>
              </a:rPr>
              <a:t>逸出。</a:t>
            </a:r>
          </a:p>
        </p:txBody>
      </p:sp>
      <p:sp>
        <p:nvSpPr>
          <p:cNvPr id="180257" name="Rectangle 33"/>
          <p:cNvSpPr>
            <a:spLocks noChangeArrowheads="1"/>
          </p:cNvSpPr>
          <p:nvPr/>
        </p:nvSpPr>
        <p:spPr bwMode="auto">
          <a:xfrm>
            <a:off x="695325" y="2754313"/>
            <a:ext cx="809625" cy="457200"/>
          </a:xfrm>
          <a:prstGeom prst="rect">
            <a:avLst/>
          </a:prstGeom>
          <a:noFill/>
          <a:ln w="9525">
            <a:noFill/>
            <a:miter lim="800000"/>
            <a:headEnd/>
            <a:tailEnd/>
          </a:ln>
          <a:effectLst/>
        </p:spPr>
        <p:txBody>
          <a:bodyPr>
            <a:spAutoFit/>
          </a:bodyPr>
          <a:lstStyle/>
          <a:p>
            <a:r>
              <a:rPr lang="zh-CN" altLang="en-US" b="1">
                <a:solidFill>
                  <a:schemeClr val="hlink"/>
                </a:solidFill>
              </a:rPr>
              <a:t>讨论</a:t>
            </a:r>
          </a:p>
        </p:txBody>
      </p:sp>
      <p:sp>
        <p:nvSpPr>
          <p:cNvPr id="180259" name="Rectangle 35"/>
          <p:cNvSpPr>
            <a:spLocks noChangeArrowheads="1"/>
          </p:cNvSpPr>
          <p:nvPr/>
        </p:nvSpPr>
        <p:spPr bwMode="auto">
          <a:xfrm>
            <a:off x="479425" y="4224338"/>
            <a:ext cx="7916863" cy="549275"/>
          </a:xfrm>
          <a:prstGeom prst="rect">
            <a:avLst/>
          </a:prstGeom>
          <a:noFill/>
          <a:ln w="9525">
            <a:noFill/>
            <a:miter lim="800000"/>
            <a:headEnd/>
            <a:tailEnd/>
          </a:ln>
          <a:effectLst/>
        </p:spPr>
        <p:txBody>
          <a:bodyPr>
            <a:spAutoFit/>
          </a:bodyPr>
          <a:lstStyle/>
          <a:p>
            <a:pPr>
              <a:lnSpc>
                <a:spcPct val="125000"/>
              </a:lnSpc>
              <a:buClr>
                <a:srgbClr val="0000FF"/>
              </a:buClr>
              <a:buFontTx/>
              <a:buChar char="•"/>
            </a:pPr>
            <a:r>
              <a:rPr lang="en-US" altLang="zh-CN" b="1">
                <a:solidFill>
                  <a:schemeClr val="bg2"/>
                </a:solidFill>
                <a:ea typeface="楷体_GB2312" pitchFamily="49" charset="-122"/>
              </a:rPr>
              <a:t> </a:t>
            </a:r>
            <a:r>
              <a:rPr lang="zh-CN" altLang="en-US" b="1">
                <a:solidFill>
                  <a:schemeClr val="bg2"/>
                </a:solidFill>
                <a:ea typeface="楷体_GB2312" pitchFamily="49" charset="-122"/>
              </a:rPr>
              <a:t>光电子最大初动能和光频率</a:t>
            </a:r>
            <a:r>
              <a:rPr lang="zh-CN" altLang="en-US" b="1">
                <a:solidFill>
                  <a:schemeClr val="accent2"/>
                </a:solidFill>
                <a:ea typeface="楷体_GB2312" pitchFamily="49" charset="-122"/>
              </a:rPr>
              <a:t> </a:t>
            </a:r>
            <a:r>
              <a:rPr lang="zh-CN" altLang="en-US" i="1">
                <a:solidFill>
                  <a:schemeClr val="accent2"/>
                </a:solidFill>
                <a:ea typeface="楷体_GB2312" pitchFamily="49" charset="-122"/>
                <a:sym typeface="Symbol" pitchFamily="18" charset="2"/>
              </a:rPr>
              <a:t></a:t>
            </a:r>
            <a:r>
              <a:rPr lang="zh-CN" altLang="en-US" b="1" i="1">
                <a:solidFill>
                  <a:schemeClr val="accent2"/>
                </a:solidFill>
                <a:ea typeface="楷体_GB2312" pitchFamily="49" charset="-122"/>
                <a:sym typeface="Symbol" pitchFamily="18" charset="2"/>
              </a:rPr>
              <a:t> </a:t>
            </a:r>
            <a:r>
              <a:rPr lang="zh-CN" altLang="en-US" b="1">
                <a:solidFill>
                  <a:schemeClr val="bg2"/>
                </a:solidFill>
                <a:ea typeface="楷体_GB2312" pitchFamily="49" charset="-122"/>
                <a:sym typeface="Symbol" pitchFamily="18" charset="2"/>
              </a:rPr>
              <a:t>成线性关系。</a:t>
            </a:r>
            <a:r>
              <a:rPr lang="zh-CN" altLang="en-US">
                <a:solidFill>
                  <a:schemeClr val="bg2"/>
                </a:solidFill>
                <a:ea typeface="楷体_GB2312" pitchFamily="49" charset="-122"/>
                <a:sym typeface="Symbol" pitchFamily="18" charset="2"/>
              </a:rPr>
              <a:t> </a:t>
            </a:r>
          </a:p>
        </p:txBody>
      </p:sp>
      <p:sp>
        <p:nvSpPr>
          <p:cNvPr id="180260" name="AutoShape 36"/>
          <p:cNvSpPr>
            <a:spLocks noChangeArrowheads="1"/>
          </p:cNvSpPr>
          <p:nvPr/>
        </p:nvSpPr>
        <p:spPr bwMode="auto">
          <a:xfrm>
            <a:off x="385763" y="2798763"/>
            <a:ext cx="360362" cy="576262"/>
          </a:xfrm>
          <a:prstGeom prst="star4">
            <a:avLst>
              <a:gd name="adj" fmla="val 18519"/>
            </a:avLst>
          </a:prstGeom>
          <a:gradFill rotWithShape="0">
            <a:gsLst>
              <a:gs pos="0">
                <a:schemeClr val="accent2"/>
              </a:gs>
              <a:gs pos="100000">
                <a:schemeClr val="accent2">
                  <a:gamma/>
                  <a:shade val="46275"/>
                  <a:invGamma/>
                </a:schemeClr>
              </a:gs>
            </a:gsLst>
            <a:path path="shape">
              <a:fillToRect l="50000" t="50000" r="50000" b="50000"/>
            </a:path>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pic>
        <p:nvPicPr>
          <p:cNvPr id="180262" name="Picture 38" descr="nt"/>
          <p:cNvPicPr>
            <a:picLocks noChangeAspect="1" noChangeArrowheads="1"/>
          </p:cNvPicPr>
          <p:nvPr/>
        </p:nvPicPr>
        <p:blipFill>
          <a:blip r:embed="rId4"/>
          <a:srcRect/>
          <a:stretch>
            <a:fillRect/>
          </a:stretch>
        </p:blipFill>
        <p:spPr bwMode="auto">
          <a:xfrm>
            <a:off x="7272338" y="368300"/>
            <a:ext cx="1543050" cy="21605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0249"/>
                                        </p:tgtEl>
                                        <p:attrNameLst>
                                          <p:attrName>style.visibility</p:attrName>
                                        </p:attrNameLst>
                                      </p:cBhvr>
                                      <p:to>
                                        <p:strVal val="visible"/>
                                      </p:to>
                                    </p:set>
                                    <p:animEffect transition="in" filter="wipe(left)">
                                      <p:cBhvr>
                                        <p:cTn id="7" dur="500"/>
                                        <p:tgtEl>
                                          <p:spTgt spid="18024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80262"/>
                                        </p:tgtEl>
                                        <p:attrNameLst>
                                          <p:attrName>style.visibility</p:attrName>
                                        </p:attrNameLst>
                                      </p:cBhvr>
                                      <p:to>
                                        <p:strVal val="visible"/>
                                      </p:to>
                                    </p:set>
                                    <p:animEffect transition="in" filter="wipe(left)">
                                      <p:cBhvr>
                                        <p:cTn id="11" dur="500"/>
                                        <p:tgtEl>
                                          <p:spTgt spid="18026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80250"/>
                                        </p:tgtEl>
                                        <p:attrNameLst>
                                          <p:attrName>style.visibility</p:attrName>
                                        </p:attrNameLst>
                                      </p:cBhvr>
                                      <p:to>
                                        <p:strVal val="visible"/>
                                      </p:to>
                                    </p:set>
                                    <p:animEffect transition="in" filter="wipe(left)">
                                      <p:cBhvr>
                                        <p:cTn id="16" dur="500"/>
                                        <p:tgtEl>
                                          <p:spTgt spid="18025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0" presetClass="entr" presetSubtype="0" decel="100000" fill="hold" grpId="0" nodeType="clickEffect">
                                  <p:stCondLst>
                                    <p:cond delay="0"/>
                                  </p:stCondLst>
                                  <p:childTnLst>
                                    <p:set>
                                      <p:cBhvr>
                                        <p:cTn id="20" dur="1" fill="hold">
                                          <p:stCondLst>
                                            <p:cond delay="0"/>
                                          </p:stCondLst>
                                        </p:cTn>
                                        <p:tgtEl>
                                          <p:spTgt spid="180260"/>
                                        </p:tgtEl>
                                        <p:attrNameLst>
                                          <p:attrName>style.visibility</p:attrName>
                                        </p:attrNameLst>
                                      </p:cBhvr>
                                      <p:to>
                                        <p:strVal val="visible"/>
                                      </p:to>
                                    </p:set>
                                    <p:anim calcmode="lin" valueType="num">
                                      <p:cBhvr>
                                        <p:cTn id="21" dur="1000" fill="hold"/>
                                        <p:tgtEl>
                                          <p:spTgt spid="180260"/>
                                        </p:tgtEl>
                                        <p:attrNameLst>
                                          <p:attrName>ppt_w</p:attrName>
                                        </p:attrNameLst>
                                      </p:cBhvr>
                                      <p:tavLst>
                                        <p:tav tm="0">
                                          <p:val>
                                            <p:strVal val="#ppt_w+.3"/>
                                          </p:val>
                                        </p:tav>
                                        <p:tav tm="100000">
                                          <p:val>
                                            <p:strVal val="#ppt_w"/>
                                          </p:val>
                                        </p:tav>
                                      </p:tavLst>
                                    </p:anim>
                                    <p:anim calcmode="lin" valueType="num">
                                      <p:cBhvr>
                                        <p:cTn id="22" dur="1000" fill="hold"/>
                                        <p:tgtEl>
                                          <p:spTgt spid="180260"/>
                                        </p:tgtEl>
                                        <p:attrNameLst>
                                          <p:attrName>ppt_h</p:attrName>
                                        </p:attrNameLst>
                                      </p:cBhvr>
                                      <p:tavLst>
                                        <p:tav tm="0">
                                          <p:val>
                                            <p:strVal val="#ppt_h"/>
                                          </p:val>
                                        </p:tav>
                                        <p:tav tm="100000">
                                          <p:val>
                                            <p:strVal val="#ppt_h"/>
                                          </p:val>
                                        </p:tav>
                                      </p:tavLst>
                                    </p:anim>
                                    <p:animEffect transition="in" filter="fade">
                                      <p:cBhvr>
                                        <p:cTn id="23" dur="1000"/>
                                        <p:tgtEl>
                                          <p:spTgt spid="180260"/>
                                        </p:tgtEl>
                                      </p:cBhvr>
                                    </p:animEffect>
                                  </p:childTnLst>
                                </p:cTn>
                              </p:par>
                            </p:childTnLst>
                          </p:cTn>
                        </p:par>
                        <p:par>
                          <p:cTn id="24" fill="hold" nodeType="afterGroup">
                            <p:stCondLst>
                              <p:cond delay="1000"/>
                            </p:stCondLst>
                            <p:childTnLst>
                              <p:par>
                                <p:cTn id="25" presetID="22" presetClass="entr" presetSubtype="8" fill="hold" nodeType="afterEffect">
                                  <p:stCondLst>
                                    <p:cond delay="0"/>
                                  </p:stCondLst>
                                  <p:childTnLst>
                                    <p:set>
                                      <p:cBhvr>
                                        <p:cTn id="26" dur="1" fill="hold">
                                          <p:stCondLst>
                                            <p:cond delay="0"/>
                                          </p:stCondLst>
                                        </p:cTn>
                                        <p:tgtEl>
                                          <p:spTgt spid="180251"/>
                                        </p:tgtEl>
                                        <p:attrNameLst>
                                          <p:attrName>style.visibility</p:attrName>
                                        </p:attrNameLst>
                                      </p:cBhvr>
                                      <p:to>
                                        <p:strVal val="visible"/>
                                      </p:to>
                                    </p:set>
                                    <p:animEffect transition="in" filter="wipe(left)">
                                      <p:cBhvr>
                                        <p:cTn id="27" dur="500"/>
                                        <p:tgtEl>
                                          <p:spTgt spid="180251"/>
                                        </p:tgtEl>
                                      </p:cBhvr>
                                    </p:animEffect>
                                  </p:childTnLst>
                                </p:cTn>
                              </p:par>
                            </p:childTnLst>
                          </p:cTn>
                        </p:par>
                        <p:par>
                          <p:cTn id="28" fill="hold" nodeType="afterGroup">
                            <p:stCondLst>
                              <p:cond delay="1500"/>
                            </p:stCondLst>
                            <p:childTnLst>
                              <p:par>
                                <p:cTn id="29" presetID="1" presetClass="entr" presetSubtype="0" fill="hold" grpId="0" nodeType="afterEffect">
                                  <p:stCondLst>
                                    <p:cond delay="0"/>
                                  </p:stCondLst>
                                  <p:childTnLst>
                                    <p:set>
                                      <p:cBhvr>
                                        <p:cTn id="30" dur="1" fill="hold">
                                          <p:stCondLst>
                                            <p:cond delay="499"/>
                                          </p:stCondLst>
                                        </p:cTn>
                                        <p:tgtEl>
                                          <p:spTgt spid="180252"/>
                                        </p:tgtEl>
                                        <p:attrNameLst>
                                          <p:attrName>style.visibility</p:attrName>
                                        </p:attrNameLst>
                                      </p:cBhvr>
                                      <p:to>
                                        <p:strVal val="visible"/>
                                      </p:to>
                                    </p:set>
                                  </p:childTnLst>
                                </p:cTn>
                              </p:par>
                            </p:childTnLst>
                          </p:cTn>
                        </p:par>
                        <p:par>
                          <p:cTn id="31" fill="hold" nodeType="afterGroup">
                            <p:stCondLst>
                              <p:cond delay="2000"/>
                            </p:stCondLst>
                            <p:childTnLst>
                              <p:par>
                                <p:cTn id="32" presetID="9" presetClass="entr" presetSubtype="0" fill="hold" grpId="0" nodeType="afterEffect">
                                  <p:stCondLst>
                                    <p:cond delay="0"/>
                                  </p:stCondLst>
                                  <p:childTnLst>
                                    <p:set>
                                      <p:cBhvr>
                                        <p:cTn id="33" dur="1" fill="hold">
                                          <p:stCondLst>
                                            <p:cond delay="0"/>
                                          </p:stCondLst>
                                        </p:cTn>
                                        <p:tgtEl>
                                          <p:spTgt spid="180257"/>
                                        </p:tgtEl>
                                        <p:attrNameLst>
                                          <p:attrName>style.visibility</p:attrName>
                                        </p:attrNameLst>
                                      </p:cBhvr>
                                      <p:to>
                                        <p:strVal val="visible"/>
                                      </p:to>
                                    </p:set>
                                    <p:animEffect transition="in" filter="dissolve">
                                      <p:cBhvr>
                                        <p:cTn id="34" dur="500"/>
                                        <p:tgtEl>
                                          <p:spTgt spid="18025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80256"/>
                                        </p:tgtEl>
                                        <p:attrNameLst>
                                          <p:attrName>style.visibility</p:attrName>
                                        </p:attrNameLst>
                                      </p:cBhvr>
                                      <p:to>
                                        <p:strVal val="visible"/>
                                      </p:to>
                                    </p:set>
                                    <p:animEffect transition="in" filter="wipe(left)">
                                      <p:cBhvr>
                                        <p:cTn id="39" dur="500"/>
                                        <p:tgtEl>
                                          <p:spTgt spid="18025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80259"/>
                                        </p:tgtEl>
                                        <p:attrNameLst>
                                          <p:attrName>style.visibility</p:attrName>
                                        </p:attrNameLst>
                                      </p:cBhvr>
                                      <p:to>
                                        <p:strVal val="visible"/>
                                      </p:to>
                                    </p:set>
                                    <p:animEffect transition="in" filter="wipe(left)">
                                      <p:cBhvr>
                                        <p:cTn id="44" dur="500"/>
                                        <p:tgtEl>
                                          <p:spTgt spid="18025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80253"/>
                                        </p:tgtEl>
                                        <p:attrNameLst>
                                          <p:attrName>style.visibility</p:attrName>
                                        </p:attrNameLst>
                                      </p:cBhvr>
                                      <p:to>
                                        <p:strVal val="visible"/>
                                      </p:to>
                                    </p:set>
                                    <p:animEffect transition="in" filter="wipe(left)">
                                      <p:cBhvr>
                                        <p:cTn id="49" dur="500"/>
                                        <p:tgtEl>
                                          <p:spTgt spid="18025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80254"/>
                                        </p:tgtEl>
                                        <p:attrNameLst>
                                          <p:attrName>style.visibility</p:attrName>
                                        </p:attrNameLst>
                                      </p:cBhvr>
                                      <p:to>
                                        <p:strVal val="visible"/>
                                      </p:to>
                                    </p:set>
                                    <p:animEffect transition="in" filter="wipe(left)">
                                      <p:cBhvr>
                                        <p:cTn id="54" dur="500"/>
                                        <p:tgtEl>
                                          <p:spTgt spid="180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49" grpId="0"/>
      <p:bldP spid="180250" grpId="0"/>
      <p:bldP spid="180252" grpId="0" autoUpdateAnimBg="0"/>
      <p:bldP spid="180253" grpId="0" autoUpdateAnimBg="0"/>
      <p:bldP spid="180254" grpId="0"/>
      <p:bldP spid="180256" grpId="0"/>
      <p:bldP spid="180257" grpId="0"/>
      <p:bldP spid="180259" grpId="0"/>
      <p:bldP spid="18026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8" name="Text Box 6"/>
          <p:cNvSpPr txBox="1">
            <a:spLocks noChangeArrowheads="1"/>
          </p:cNvSpPr>
          <p:nvPr/>
        </p:nvSpPr>
        <p:spPr bwMode="auto">
          <a:xfrm>
            <a:off x="1016000" y="765175"/>
            <a:ext cx="7380288" cy="968375"/>
          </a:xfrm>
          <a:prstGeom prst="rect">
            <a:avLst/>
          </a:prstGeom>
          <a:noFill/>
          <a:ln w="9525">
            <a:noFill/>
            <a:miter lim="800000"/>
            <a:headEnd/>
            <a:tailEnd/>
          </a:ln>
          <a:effectLst/>
        </p:spPr>
        <p:txBody>
          <a:bodyPr>
            <a:spAutoFit/>
          </a:bodyPr>
          <a:lstStyle/>
          <a:p>
            <a:pPr>
              <a:lnSpc>
                <a:spcPct val="120000"/>
              </a:lnSpc>
            </a:pPr>
            <a:r>
              <a:rPr lang="zh-CN" altLang="en-US" b="1">
                <a:solidFill>
                  <a:schemeClr val="bg2"/>
                </a:solidFill>
              </a:rPr>
              <a:t>要打破人皮肤分子的化学键产生光灼伤，光子的能量需达到</a:t>
            </a:r>
            <a:r>
              <a:rPr lang="en-US" altLang="zh-CN" b="1">
                <a:solidFill>
                  <a:srgbClr val="FF6600"/>
                </a:solidFill>
              </a:rPr>
              <a:t>3.50eV</a:t>
            </a:r>
            <a:r>
              <a:rPr lang="zh-CN" altLang="en-US" b="1">
                <a:solidFill>
                  <a:schemeClr val="bg2"/>
                </a:solidFill>
              </a:rPr>
              <a:t>．这对应的</a:t>
            </a:r>
            <a:r>
              <a:rPr lang="zh-CN" altLang="en-US" b="1">
                <a:solidFill>
                  <a:srgbClr val="FF6600"/>
                </a:solidFill>
              </a:rPr>
              <a:t>波长</a:t>
            </a:r>
            <a:r>
              <a:rPr lang="zh-CN" altLang="en-US" b="1">
                <a:solidFill>
                  <a:schemeClr val="bg2"/>
                </a:solidFill>
              </a:rPr>
              <a:t>为多少？</a:t>
            </a:r>
          </a:p>
        </p:txBody>
      </p:sp>
      <p:sp>
        <p:nvSpPr>
          <p:cNvPr id="182279" name="Text Box 7"/>
          <p:cNvSpPr txBox="1">
            <a:spLocks noChangeArrowheads="1"/>
          </p:cNvSpPr>
          <p:nvPr/>
        </p:nvSpPr>
        <p:spPr bwMode="auto">
          <a:xfrm>
            <a:off x="1016000" y="1981200"/>
            <a:ext cx="6884988"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2"/>
                </a:solidFill>
              </a:rPr>
              <a:t>根据光量子的定义，有</a:t>
            </a:r>
          </a:p>
        </p:txBody>
      </p:sp>
      <p:sp>
        <p:nvSpPr>
          <p:cNvPr id="182283" name="Text Box 11"/>
          <p:cNvSpPr txBox="1">
            <a:spLocks noChangeArrowheads="1"/>
          </p:cNvSpPr>
          <p:nvPr/>
        </p:nvSpPr>
        <p:spPr bwMode="auto">
          <a:xfrm>
            <a:off x="1150938" y="4186238"/>
            <a:ext cx="7246937"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2"/>
                </a:solidFill>
              </a:rPr>
              <a:t>可见，在紫外光范围内，因而紫外光产生光灼伤。</a:t>
            </a:r>
          </a:p>
        </p:txBody>
      </p:sp>
      <p:sp>
        <p:nvSpPr>
          <p:cNvPr id="182284" name="Rectangle 12"/>
          <p:cNvSpPr>
            <a:spLocks noChangeArrowheads="1"/>
          </p:cNvSpPr>
          <p:nvPr/>
        </p:nvSpPr>
        <p:spPr bwMode="auto">
          <a:xfrm>
            <a:off x="476250" y="811213"/>
            <a:ext cx="488950" cy="457200"/>
          </a:xfrm>
          <a:prstGeom prst="rect">
            <a:avLst/>
          </a:prstGeom>
          <a:noFill/>
          <a:ln w="9525">
            <a:noFill/>
            <a:miter lim="800000"/>
            <a:headEnd/>
            <a:tailEnd/>
          </a:ln>
          <a:effectLst/>
        </p:spPr>
        <p:txBody>
          <a:bodyPr wrap="none">
            <a:spAutoFit/>
          </a:bodyPr>
          <a:lstStyle/>
          <a:p>
            <a:r>
              <a:rPr lang="zh-CN" altLang="en-US" b="1">
                <a:solidFill>
                  <a:schemeClr val="tx2"/>
                </a:solidFill>
              </a:rPr>
              <a:t>例</a:t>
            </a:r>
          </a:p>
        </p:txBody>
      </p:sp>
      <p:sp>
        <p:nvSpPr>
          <p:cNvPr id="182285" name="Rectangle 13"/>
          <p:cNvSpPr>
            <a:spLocks noChangeArrowheads="1"/>
          </p:cNvSpPr>
          <p:nvPr/>
        </p:nvSpPr>
        <p:spPr bwMode="auto">
          <a:xfrm>
            <a:off x="522288" y="1981200"/>
            <a:ext cx="488950" cy="457200"/>
          </a:xfrm>
          <a:prstGeom prst="rect">
            <a:avLst/>
          </a:prstGeom>
          <a:noFill/>
          <a:ln w="9525">
            <a:noFill/>
            <a:miter lim="800000"/>
            <a:headEnd/>
            <a:tailEnd/>
          </a:ln>
          <a:effectLst/>
        </p:spPr>
        <p:txBody>
          <a:bodyPr wrap="none">
            <a:spAutoFit/>
          </a:bodyPr>
          <a:lstStyle/>
          <a:p>
            <a:r>
              <a:rPr lang="zh-CN" altLang="en-US" b="1">
                <a:solidFill>
                  <a:schemeClr val="tx2"/>
                </a:solidFill>
              </a:rPr>
              <a:t>解</a:t>
            </a:r>
          </a:p>
        </p:txBody>
      </p:sp>
      <p:graphicFrame>
        <p:nvGraphicFramePr>
          <p:cNvPr id="182286" name="Object 14"/>
          <p:cNvGraphicFramePr>
            <a:graphicFrameLocks noChangeAspect="1"/>
          </p:cNvGraphicFramePr>
          <p:nvPr/>
        </p:nvGraphicFramePr>
        <p:xfrm>
          <a:off x="1736725" y="2881313"/>
          <a:ext cx="5905500" cy="928687"/>
        </p:xfrm>
        <a:graphic>
          <a:graphicData uri="http://schemas.openxmlformats.org/presentationml/2006/ole">
            <p:oleObj spid="_x0000_s15367" name="公式" r:id="rId3" imgW="2264040" imgH="34272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2284"/>
                                        </p:tgtEl>
                                        <p:attrNameLst>
                                          <p:attrName>style.visibility</p:attrName>
                                        </p:attrNameLst>
                                      </p:cBhvr>
                                      <p:to>
                                        <p:strVal val="visible"/>
                                      </p:to>
                                    </p:set>
                                    <p:animEffect transition="in" filter="wipe(left)">
                                      <p:cBhvr>
                                        <p:cTn id="7" dur="500"/>
                                        <p:tgtEl>
                                          <p:spTgt spid="1822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2278"/>
                                        </p:tgtEl>
                                        <p:attrNameLst>
                                          <p:attrName>style.visibility</p:attrName>
                                        </p:attrNameLst>
                                      </p:cBhvr>
                                      <p:to>
                                        <p:strVal val="visible"/>
                                      </p:to>
                                    </p:set>
                                    <p:animEffect transition="in" filter="wipe(left)">
                                      <p:cBhvr>
                                        <p:cTn id="12" dur="500"/>
                                        <p:tgtEl>
                                          <p:spTgt spid="1822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2285"/>
                                        </p:tgtEl>
                                        <p:attrNameLst>
                                          <p:attrName>style.visibility</p:attrName>
                                        </p:attrNameLst>
                                      </p:cBhvr>
                                      <p:to>
                                        <p:strVal val="visible"/>
                                      </p:to>
                                    </p:set>
                                    <p:animEffect transition="in" filter="wipe(left)">
                                      <p:cBhvr>
                                        <p:cTn id="17" dur="500"/>
                                        <p:tgtEl>
                                          <p:spTgt spid="18228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2279"/>
                                        </p:tgtEl>
                                        <p:attrNameLst>
                                          <p:attrName>style.visibility</p:attrName>
                                        </p:attrNameLst>
                                      </p:cBhvr>
                                      <p:to>
                                        <p:strVal val="visible"/>
                                      </p:to>
                                    </p:set>
                                    <p:animEffect transition="in" filter="wipe(left)">
                                      <p:cBhvr>
                                        <p:cTn id="22" dur="500"/>
                                        <p:tgtEl>
                                          <p:spTgt spid="1822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82286"/>
                                        </p:tgtEl>
                                        <p:attrNameLst>
                                          <p:attrName>style.visibility</p:attrName>
                                        </p:attrNameLst>
                                      </p:cBhvr>
                                      <p:to>
                                        <p:strVal val="visible"/>
                                      </p:to>
                                    </p:set>
                                    <p:animEffect transition="in" filter="wipe(left)">
                                      <p:cBhvr>
                                        <p:cTn id="27" dur="500"/>
                                        <p:tgtEl>
                                          <p:spTgt spid="1822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2283"/>
                                        </p:tgtEl>
                                        <p:attrNameLst>
                                          <p:attrName>style.visibility</p:attrName>
                                        </p:attrNameLst>
                                      </p:cBhvr>
                                      <p:to>
                                        <p:strVal val="visible"/>
                                      </p:to>
                                    </p:set>
                                    <p:animEffect transition="in" filter="wipe(left)">
                                      <p:cBhvr>
                                        <p:cTn id="32" dur="500"/>
                                        <p:tgtEl>
                                          <p:spTgt spid="182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8" grpId="0"/>
      <p:bldP spid="182279" grpId="0"/>
      <p:bldP spid="182283" grpId="0"/>
      <p:bldP spid="182284" grpId="0"/>
      <p:bldP spid="182285"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07540" name="Group 20"/>
          <p:cNvGrpSpPr>
            <a:grpSpLocks/>
          </p:cNvGrpSpPr>
          <p:nvPr/>
        </p:nvGrpSpPr>
        <p:grpSpPr bwMode="auto">
          <a:xfrm>
            <a:off x="6832600" y="3319463"/>
            <a:ext cx="587375" cy="0"/>
            <a:chOff x="4332" y="1485"/>
            <a:chExt cx="370" cy="0"/>
          </a:xfrm>
        </p:grpSpPr>
        <p:sp>
          <p:nvSpPr>
            <p:cNvPr id="16438" name="Line 21"/>
            <p:cNvSpPr>
              <a:spLocks noChangeShapeType="1"/>
            </p:cNvSpPr>
            <p:nvPr/>
          </p:nvSpPr>
          <p:spPr bwMode="auto">
            <a:xfrm flipH="1">
              <a:off x="4558" y="1485"/>
              <a:ext cx="144" cy="0"/>
            </a:xfrm>
            <a:prstGeom prst="line">
              <a:avLst/>
            </a:prstGeom>
            <a:noFill/>
            <a:ln w="3175">
              <a:solidFill>
                <a:schemeClr val="bg1"/>
              </a:solidFill>
              <a:round/>
              <a:headEnd/>
              <a:tailEnd type="triangle" w="sm" len="med"/>
            </a:ln>
            <a:effectLst/>
          </p:spPr>
          <p:txBody>
            <a:bodyPr/>
            <a:lstStyle/>
            <a:p>
              <a:endParaRPr lang="zh-CN" altLang="en-US"/>
            </a:p>
          </p:txBody>
        </p:sp>
        <p:sp>
          <p:nvSpPr>
            <p:cNvPr id="16439" name="Line 22"/>
            <p:cNvSpPr>
              <a:spLocks noChangeShapeType="1"/>
            </p:cNvSpPr>
            <p:nvPr/>
          </p:nvSpPr>
          <p:spPr bwMode="auto">
            <a:xfrm flipH="1">
              <a:off x="4332" y="1485"/>
              <a:ext cx="144" cy="0"/>
            </a:xfrm>
            <a:prstGeom prst="line">
              <a:avLst/>
            </a:prstGeom>
            <a:noFill/>
            <a:ln w="9525">
              <a:solidFill>
                <a:schemeClr val="bg1"/>
              </a:solidFill>
              <a:round/>
              <a:headEnd type="triangle" w="sm" len="med"/>
              <a:tailEnd/>
            </a:ln>
            <a:effectLst/>
          </p:spPr>
          <p:txBody>
            <a:bodyPr/>
            <a:lstStyle/>
            <a:p>
              <a:endParaRPr lang="zh-CN" altLang="en-US"/>
            </a:p>
          </p:txBody>
        </p:sp>
      </p:grpSp>
      <p:grpSp>
        <p:nvGrpSpPr>
          <p:cNvPr id="107535" name="Group 15"/>
          <p:cNvGrpSpPr>
            <a:grpSpLocks/>
          </p:cNvGrpSpPr>
          <p:nvPr/>
        </p:nvGrpSpPr>
        <p:grpSpPr bwMode="auto">
          <a:xfrm>
            <a:off x="6759575" y="2708275"/>
            <a:ext cx="854075" cy="1143000"/>
            <a:chOff x="2774" y="316"/>
            <a:chExt cx="538" cy="720"/>
          </a:xfrm>
        </p:grpSpPr>
        <p:pic>
          <p:nvPicPr>
            <p:cNvPr id="16434" name="Picture 16" descr="谱线2"/>
            <p:cNvPicPr>
              <a:picLocks noChangeAspect="1" noChangeArrowheads="1"/>
            </p:cNvPicPr>
            <p:nvPr/>
          </p:nvPicPr>
          <p:blipFill>
            <a:blip r:embed="rId3">
              <a:clrChange>
                <a:clrFrom>
                  <a:srgbClr val="305BA9"/>
                </a:clrFrom>
                <a:clrTo>
                  <a:srgbClr val="305BA9">
                    <a:alpha val="0"/>
                  </a:srgbClr>
                </a:clrTo>
              </a:clrChange>
              <a:lum bright="-24000"/>
            </a:blip>
            <a:srcRect/>
            <a:stretch>
              <a:fillRect/>
            </a:stretch>
          </p:blipFill>
          <p:spPr bwMode="auto">
            <a:xfrm>
              <a:off x="2832" y="604"/>
              <a:ext cx="336" cy="432"/>
            </a:xfrm>
            <a:prstGeom prst="rect">
              <a:avLst/>
            </a:prstGeom>
            <a:noFill/>
            <a:ln w="9525">
              <a:noFill/>
              <a:miter lim="800000"/>
              <a:headEnd/>
              <a:tailEnd/>
            </a:ln>
          </p:spPr>
        </p:pic>
        <p:grpSp>
          <p:nvGrpSpPr>
            <p:cNvPr id="16435" name="Group 17"/>
            <p:cNvGrpSpPr>
              <a:grpSpLocks/>
            </p:cNvGrpSpPr>
            <p:nvPr/>
          </p:nvGrpSpPr>
          <p:grpSpPr bwMode="auto">
            <a:xfrm>
              <a:off x="2774" y="316"/>
              <a:ext cx="538" cy="288"/>
              <a:chOff x="4032" y="2400"/>
              <a:chExt cx="538" cy="288"/>
            </a:xfrm>
          </p:grpSpPr>
          <p:sp>
            <p:nvSpPr>
              <p:cNvPr id="16436" name="Text Box 18"/>
              <p:cNvSpPr txBox="1">
                <a:spLocks noChangeArrowheads="1"/>
              </p:cNvSpPr>
              <p:nvPr/>
            </p:nvSpPr>
            <p:spPr bwMode="auto">
              <a:xfrm>
                <a:off x="4032" y="2400"/>
                <a:ext cx="538" cy="288"/>
              </a:xfrm>
              <a:prstGeom prst="rect">
                <a:avLst/>
              </a:prstGeom>
              <a:noFill/>
              <a:ln w="9525">
                <a:noFill/>
                <a:miter lim="800000"/>
                <a:headEnd/>
                <a:tailEnd/>
              </a:ln>
              <a:effectLst/>
            </p:spPr>
            <p:txBody>
              <a:bodyPr>
                <a:spAutoFit/>
              </a:bodyPr>
              <a:lstStyle/>
              <a:p>
                <a:r>
                  <a:rPr lang="en-US" altLang="zh-CN" b="1" i="1">
                    <a:solidFill>
                      <a:srgbClr val="0000FF"/>
                    </a:solidFill>
                  </a:rPr>
                  <a:t>λ</a:t>
                </a:r>
                <a:endParaRPr lang="en-US" altLang="zh-CN" b="1" i="1" baseline="-16000">
                  <a:solidFill>
                    <a:srgbClr val="0000FF"/>
                  </a:solidFill>
                </a:endParaRPr>
              </a:p>
            </p:txBody>
          </p:sp>
          <p:sp>
            <p:nvSpPr>
              <p:cNvPr id="16437" name="Rectangle 19"/>
              <p:cNvSpPr>
                <a:spLocks noChangeArrowheads="1"/>
              </p:cNvSpPr>
              <p:nvPr/>
            </p:nvSpPr>
            <p:spPr bwMode="auto">
              <a:xfrm>
                <a:off x="4176" y="2499"/>
                <a:ext cx="168" cy="183"/>
              </a:xfrm>
              <a:prstGeom prst="rect">
                <a:avLst/>
              </a:prstGeom>
              <a:noFill/>
              <a:ln w="9525">
                <a:noFill/>
                <a:miter lim="800000"/>
                <a:headEnd/>
                <a:tailEnd/>
              </a:ln>
              <a:effectLst/>
            </p:spPr>
            <p:txBody>
              <a:bodyPr wrap="none">
                <a:spAutoFit/>
              </a:bodyPr>
              <a:lstStyle/>
              <a:p>
                <a:r>
                  <a:rPr lang="en-US" altLang="zh-CN" sz="2000" b="1" baseline="-16000">
                    <a:solidFill>
                      <a:srgbClr val="0000FF"/>
                    </a:solidFill>
                  </a:rPr>
                  <a:t>0</a:t>
                </a:r>
              </a:p>
            </p:txBody>
          </p:sp>
        </p:grpSp>
      </p:grpSp>
      <p:sp>
        <p:nvSpPr>
          <p:cNvPr id="107522" name="Freeform 2"/>
          <p:cNvSpPr>
            <a:spLocks/>
          </p:cNvSpPr>
          <p:nvPr/>
        </p:nvSpPr>
        <p:spPr bwMode="auto">
          <a:xfrm>
            <a:off x="1863725" y="4972050"/>
            <a:ext cx="790575" cy="358775"/>
          </a:xfrm>
          <a:custGeom>
            <a:avLst/>
            <a:gdLst>
              <a:gd name="T0" fmla="*/ 0 w 4106"/>
              <a:gd name="T1" fmla="*/ 37005607 h 1940"/>
              <a:gd name="T2" fmla="*/ 9564687 w 4106"/>
              <a:gd name="T3" fmla="*/ 4753954 h 1940"/>
              <a:gd name="T4" fmla="*/ 26803111 w 4106"/>
              <a:gd name="T5" fmla="*/ 65529514 h 1940"/>
              <a:gd name="T6" fmla="*/ 42966577 w 4106"/>
              <a:gd name="T7" fmla="*/ 4719741 h 1940"/>
              <a:gd name="T8" fmla="*/ 62318336 w 4106"/>
              <a:gd name="T9" fmla="*/ 65768821 h 1940"/>
              <a:gd name="T10" fmla="*/ 77258393 w 4106"/>
              <a:gd name="T11" fmla="*/ 3898997 h 1940"/>
              <a:gd name="T12" fmla="*/ 93607276 w 4106"/>
              <a:gd name="T13" fmla="*/ 65939886 h 1940"/>
              <a:gd name="T14" fmla="*/ 110882861 w 4106"/>
              <a:gd name="T15" fmla="*/ 4343582 h 1940"/>
              <a:gd name="T16" fmla="*/ 127231744 w 4106"/>
              <a:gd name="T17" fmla="*/ 66350258 h 1940"/>
              <a:gd name="T18" fmla="*/ 143580627 w 4106"/>
              <a:gd name="T19" fmla="*/ 4343582 h 1940"/>
              <a:gd name="T20" fmla="*/ 152218420 w 4106"/>
              <a:gd name="T21" fmla="*/ 35329721 h 19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106" h="1940">
                <a:moveTo>
                  <a:pt x="0" y="1082"/>
                </a:moveTo>
                <a:cubicBezTo>
                  <a:pt x="37" y="925"/>
                  <a:pt x="137" y="0"/>
                  <a:pt x="258" y="139"/>
                </a:cubicBezTo>
                <a:cubicBezTo>
                  <a:pt x="454" y="139"/>
                  <a:pt x="573" y="1916"/>
                  <a:pt x="723" y="1916"/>
                </a:cubicBezTo>
                <a:cubicBezTo>
                  <a:pt x="873" y="1916"/>
                  <a:pt x="999" y="137"/>
                  <a:pt x="1159" y="138"/>
                </a:cubicBezTo>
                <a:cubicBezTo>
                  <a:pt x="1319" y="139"/>
                  <a:pt x="1527" y="1927"/>
                  <a:pt x="1681" y="1923"/>
                </a:cubicBezTo>
                <a:cubicBezTo>
                  <a:pt x="1835" y="1919"/>
                  <a:pt x="1943" y="113"/>
                  <a:pt x="2084" y="114"/>
                </a:cubicBezTo>
                <a:cubicBezTo>
                  <a:pt x="2225" y="115"/>
                  <a:pt x="2374" y="1926"/>
                  <a:pt x="2525" y="1928"/>
                </a:cubicBezTo>
                <a:cubicBezTo>
                  <a:pt x="2676" y="1930"/>
                  <a:pt x="2840" y="125"/>
                  <a:pt x="2991" y="127"/>
                </a:cubicBezTo>
                <a:cubicBezTo>
                  <a:pt x="3142" y="129"/>
                  <a:pt x="3285" y="1940"/>
                  <a:pt x="3432" y="1940"/>
                </a:cubicBezTo>
                <a:cubicBezTo>
                  <a:pt x="3579" y="1940"/>
                  <a:pt x="3714" y="127"/>
                  <a:pt x="3873" y="127"/>
                </a:cubicBezTo>
                <a:cubicBezTo>
                  <a:pt x="4032" y="127"/>
                  <a:pt x="4057" y="844"/>
                  <a:pt x="4106" y="1033"/>
                </a:cubicBezTo>
              </a:path>
            </a:pathLst>
          </a:custGeom>
          <a:noFill/>
          <a:ln w="28575" cmpd="sng">
            <a:solidFill>
              <a:srgbClr val="FF0000"/>
            </a:solidFill>
            <a:round/>
            <a:headEnd/>
            <a:tailEnd/>
          </a:ln>
          <a:effectLst/>
        </p:spPr>
        <p:txBody>
          <a:bodyPr/>
          <a:lstStyle/>
          <a:p>
            <a:endParaRPr lang="zh-CN" altLang="en-US"/>
          </a:p>
        </p:txBody>
      </p:sp>
      <p:sp>
        <p:nvSpPr>
          <p:cNvPr id="107523" name="Line 3"/>
          <p:cNvSpPr>
            <a:spLocks noChangeShapeType="1"/>
          </p:cNvSpPr>
          <p:nvPr/>
        </p:nvSpPr>
        <p:spPr bwMode="auto">
          <a:xfrm flipV="1">
            <a:off x="5175250" y="3568700"/>
            <a:ext cx="2160588" cy="1619250"/>
          </a:xfrm>
          <a:prstGeom prst="line">
            <a:avLst/>
          </a:prstGeom>
          <a:noFill/>
          <a:ln w="15875">
            <a:solidFill>
              <a:srgbClr val="339933"/>
            </a:solidFill>
            <a:round/>
            <a:headEnd/>
            <a:tailEnd/>
          </a:ln>
          <a:effectLst/>
        </p:spPr>
        <p:txBody>
          <a:bodyPr/>
          <a:lstStyle/>
          <a:p>
            <a:endParaRPr lang="zh-CN" altLang="en-US"/>
          </a:p>
        </p:txBody>
      </p:sp>
      <p:sp useBgFill="1">
        <p:nvSpPr>
          <p:cNvPr id="107553" name="Rectangle 33"/>
          <p:cNvSpPr>
            <a:spLocks noChangeArrowheads="1"/>
          </p:cNvSpPr>
          <p:nvPr/>
        </p:nvSpPr>
        <p:spPr bwMode="auto">
          <a:xfrm>
            <a:off x="6553200" y="2770188"/>
            <a:ext cx="1214438" cy="1152525"/>
          </a:xfrm>
          <a:prstGeom prst="rect">
            <a:avLst/>
          </a:prstGeom>
          <a:ln w="9525">
            <a:noFill/>
            <a:miter lim="800000"/>
            <a:headEnd/>
            <a:tailEnd/>
          </a:ln>
          <a:effectLst/>
        </p:spPr>
        <p:txBody>
          <a:bodyPr wrap="none" anchor="ctr"/>
          <a:lstStyle/>
          <a:p>
            <a:endParaRPr lang="zh-CN" altLang="en-US"/>
          </a:p>
        </p:txBody>
      </p:sp>
      <p:sp>
        <p:nvSpPr>
          <p:cNvPr id="107524" name="Freeform 4"/>
          <p:cNvSpPr>
            <a:spLocks/>
          </p:cNvSpPr>
          <p:nvPr/>
        </p:nvSpPr>
        <p:spPr bwMode="auto">
          <a:xfrm>
            <a:off x="6183313" y="4324350"/>
            <a:ext cx="504825" cy="431800"/>
          </a:xfrm>
          <a:custGeom>
            <a:avLst/>
            <a:gdLst>
              <a:gd name="T0" fmla="*/ 67746692 w 368"/>
              <a:gd name="T1" fmla="*/ 513639780 h 363"/>
              <a:gd name="T2" fmla="*/ 31991913 w 368"/>
              <a:gd name="T3" fmla="*/ 314126768 h 363"/>
              <a:gd name="T4" fmla="*/ 269104648 w 368"/>
              <a:gd name="T5" fmla="*/ 377801209 h 363"/>
              <a:gd name="T6" fmla="*/ 254050438 w 368"/>
              <a:gd name="T7" fmla="*/ 166968614 h 363"/>
              <a:gd name="T8" fmla="*/ 487400307 w 368"/>
              <a:gd name="T9" fmla="*/ 233472952 h 363"/>
              <a:gd name="T10" fmla="*/ 462936871 w 368"/>
              <a:gd name="T11" fmla="*/ 25470252 h 363"/>
              <a:gd name="T12" fmla="*/ 692522502 w 368"/>
              <a:gd name="T13" fmla="*/ 10187863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68" h="363">
                <a:moveTo>
                  <a:pt x="36" y="363"/>
                </a:moveTo>
                <a:cubicBezTo>
                  <a:pt x="33" y="340"/>
                  <a:pt x="0" y="237"/>
                  <a:pt x="17" y="222"/>
                </a:cubicBezTo>
                <a:cubicBezTo>
                  <a:pt x="36" y="205"/>
                  <a:pt x="124" y="284"/>
                  <a:pt x="143" y="267"/>
                </a:cubicBezTo>
                <a:cubicBezTo>
                  <a:pt x="162" y="250"/>
                  <a:pt x="114" y="136"/>
                  <a:pt x="135" y="118"/>
                </a:cubicBezTo>
                <a:cubicBezTo>
                  <a:pt x="153" y="102"/>
                  <a:pt x="241" y="181"/>
                  <a:pt x="259" y="165"/>
                </a:cubicBezTo>
                <a:cubicBezTo>
                  <a:pt x="279" y="147"/>
                  <a:pt x="226" y="37"/>
                  <a:pt x="246" y="18"/>
                </a:cubicBezTo>
                <a:cubicBezTo>
                  <a:pt x="267" y="0"/>
                  <a:pt x="343" y="61"/>
                  <a:pt x="368" y="72"/>
                </a:cubicBezTo>
              </a:path>
            </a:pathLst>
          </a:custGeom>
          <a:noFill/>
          <a:ln w="28575" cmpd="sng">
            <a:solidFill>
              <a:srgbClr val="FF6600"/>
            </a:solidFill>
            <a:round/>
            <a:headEnd/>
            <a:tailEnd/>
          </a:ln>
          <a:effectLst/>
        </p:spPr>
        <p:txBody>
          <a:bodyPr/>
          <a:lstStyle/>
          <a:p>
            <a:endParaRPr lang="zh-CN" altLang="en-US"/>
          </a:p>
        </p:txBody>
      </p:sp>
      <p:sp>
        <p:nvSpPr>
          <p:cNvPr id="107525" name="Freeform 5"/>
          <p:cNvSpPr>
            <a:spLocks/>
          </p:cNvSpPr>
          <p:nvPr/>
        </p:nvSpPr>
        <p:spPr bwMode="auto">
          <a:xfrm rot="-2225896">
            <a:off x="5753100" y="4119563"/>
            <a:ext cx="790575" cy="188912"/>
          </a:xfrm>
          <a:custGeom>
            <a:avLst/>
            <a:gdLst>
              <a:gd name="T0" fmla="*/ 0 w 4106"/>
              <a:gd name="T1" fmla="*/ 10259869 h 1940"/>
              <a:gd name="T2" fmla="*/ 9564687 w 4106"/>
              <a:gd name="T3" fmla="*/ 1318002 h 1940"/>
              <a:gd name="T4" fmla="*/ 26803111 w 4106"/>
              <a:gd name="T5" fmla="*/ 18168173 h 1940"/>
              <a:gd name="T6" fmla="*/ 42966577 w 4106"/>
              <a:gd name="T7" fmla="*/ 1308556 h 1940"/>
              <a:gd name="T8" fmla="*/ 62318336 w 4106"/>
              <a:gd name="T9" fmla="*/ 18234585 h 1940"/>
              <a:gd name="T10" fmla="*/ 77258393 w 4106"/>
              <a:gd name="T11" fmla="*/ 1080986 h 1940"/>
              <a:gd name="T12" fmla="*/ 93607276 w 4106"/>
              <a:gd name="T13" fmla="*/ 18281910 h 1940"/>
              <a:gd name="T14" fmla="*/ 110882861 w 4106"/>
              <a:gd name="T15" fmla="*/ 1204265 h 1940"/>
              <a:gd name="T16" fmla="*/ 127231744 w 4106"/>
              <a:gd name="T17" fmla="*/ 18395744 h 1940"/>
              <a:gd name="T18" fmla="*/ 143580627 w 4106"/>
              <a:gd name="T19" fmla="*/ 1204265 h 1940"/>
              <a:gd name="T20" fmla="*/ 152218420 w 4106"/>
              <a:gd name="T21" fmla="*/ 9795282 h 19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106" h="1940">
                <a:moveTo>
                  <a:pt x="0" y="1082"/>
                </a:moveTo>
                <a:cubicBezTo>
                  <a:pt x="37" y="925"/>
                  <a:pt x="137" y="0"/>
                  <a:pt x="258" y="139"/>
                </a:cubicBezTo>
                <a:cubicBezTo>
                  <a:pt x="454" y="139"/>
                  <a:pt x="573" y="1916"/>
                  <a:pt x="723" y="1916"/>
                </a:cubicBezTo>
                <a:cubicBezTo>
                  <a:pt x="873" y="1916"/>
                  <a:pt x="999" y="137"/>
                  <a:pt x="1159" y="138"/>
                </a:cubicBezTo>
                <a:cubicBezTo>
                  <a:pt x="1319" y="139"/>
                  <a:pt x="1527" y="1927"/>
                  <a:pt x="1681" y="1923"/>
                </a:cubicBezTo>
                <a:cubicBezTo>
                  <a:pt x="1835" y="1919"/>
                  <a:pt x="1943" y="113"/>
                  <a:pt x="2084" y="114"/>
                </a:cubicBezTo>
                <a:cubicBezTo>
                  <a:pt x="2225" y="115"/>
                  <a:pt x="2374" y="1926"/>
                  <a:pt x="2525" y="1928"/>
                </a:cubicBezTo>
                <a:cubicBezTo>
                  <a:pt x="2676" y="1930"/>
                  <a:pt x="2840" y="125"/>
                  <a:pt x="2991" y="127"/>
                </a:cubicBezTo>
                <a:cubicBezTo>
                  <a:pt x="3142" y="129"/>
                  <a:pt x="3285" y="1940"/>
                  <a:pt x="3432" y="1940"/>
                </a:cubicBezTo>
                <a:cubicBezTo>
                  <a:pt x="3579" y="1940"/>
                  <a:pt x="3714" y="127"/>
                  <a:pt x="3873" y="127"/>
                </a:cubicBezTo>
                <a:cubicBezTo>
                  <a:pt x="4032" y="127"/>
                  <a:pt x="4057" y="844"/>
                  <a:pt x="4106" y="1033"/>
                </a:cubicBezTo>
              </a:path>
            </a:pathLst>
          </a:custGeom>
          <a:noFill/>
          <a:ln w="28575" cmpd="sng">
            <a:solidFill>
              <a:srgbClr val="FF6600"/>
            </a:solidFill>
            <a:round/>
            <a:headEnd/>
            <a:tailEnd/>
          </a:ln>
          <a:effectLst/>
        </p:spPr>
        <p:txBody>
          <a:bodyPr/>
          <a:lstStyle/>
          <a:p>
            <a:endParaRPr lang="zh-CN" altLang="en-US"/>
          </a:p>
        </p:txBody>
      </p:sp>
      <p:sp>
        <p:nvSpPr>
          <p:cNvPr id="107526" name="Rectangle 6"/>
          <p:cNvSpPr>
            <a:spLocks noChangeArrowheads="1"/>
          </p:cNvSpPr>
          <p:nvPr/>
        </p:nvSpPr>
        <p:spPr bwMode="auto">
          <a:xfrm>
            <a:off x="6343650" y="4573588"/>
            <a:ext cx="323850" cy="396875"/>
          </a:xfrm>
          <a:prstGeom prst="rect">
            <a:avLst/>
          </a:prstGeom>
          <a:noFill/>
          <a:ln w="9525">
            <a:noFill/>
            <a:miter lim="800000"/>
            <a:headEnd/>
            <a:tailEnd/>
          </a:ln>
          <a:effectLst/>
        </p:spPr>
        <p:txBody>
          <a:bodyPr wrap="none">
            <a:spAutoFit/>
          </a:bodyPr>
          <a:lstStyle/>
          <a:p>
            <a:r>
              <a:rPr lang="en-US" altLang="zh-CN" sz="2000" b="1" i="1">
                <a:solidFill>
                  <a:srgbClr val="0000FF"/>
                </a:solidFill>
                <a:sym typeface="Symbol" pitchFamily="18" charset="2"/>
              </a:rPr>
              <a:t></a:t>
            </a:r>
          </a:p>
        </p:txBody>
      </p:sp>
      <p:sp>
        <p:nvSpPr>
          <p:cNvPr id="107527" name="Text Box 7"/>
          <p:cNvSpPr txBox="1">
            <a:spLocks noChangeArrowheads="1"/>
          </p:cNvSpPr>
          <p:nvPr/>
        </p:nvSpPr>
        <p:spPr bwMode="auto">
          <a:xfrm>
            <a:off x="5464175" y="4751388"/>
            <a:ext cx="488950" cy="457200"/>
          </a:xfrm>
          <a:prstGeom prst="rect">
            <a:avLst/>
          </a:prstGeom>
          <a:noFill/>
          <a:ln w="9525">
            <a:noFill/>
            <a:miter lim="800000"/>
            <a:headEnd/>
            <a:tailEnd/>
          </a:ln>
          <a:effectLst/>
        </p:spPr>
        <p:txBody>
          <a:bodyPr wrap="none">
            <a:spAutoFit/>
          </a:bodyPr>
          <a:lstStyle/>
          <a:p>
            <a:r>
              <a:rPr lang="en-US" altLang="zh-CN" b="1" i="1">
                <a:solidFill>
                  <a:srgbClr val="660066"/>
                </a:solidFill>
              </a:rPr>
              <a:t>θ</a:t>
            </a:r>
          </a:p>
        </p:txBody>
      </p:sp>
      <p:grpSp>
        <p:nvGrpSpPr>
          <p:cNvPr id="107528" name="Group 8"/>
          <p:cNvGrpSpPr>
            <a:grpSpLocks/>
          </p:cNvGrpSpPr>
          <p:nvPr/>
        </p:nvGrpSpPr>
        <p:grpSpPr bwMode="auto">
          <a:xfrm>
            <a:off x="5588000" y="3670300"/>
            <a:ext cx="647700" cy="457200"/>
            <a:chOff x="1338" y="3119"/>
            <a:chExt cx="408" cy="288"/>
          </a:xfrm>
        </p:grpSpPr>
        <p:sp>
          <p:nvSpPr>
            <p:cNvPr id="16432" name="Text Box 9"/>
            <p:cNvSpPr txBox="1">
              <a:spLocks noChangeArrowheads="1"/>
            </p:cNvSpPr>
            <p:nvPr/>
          </p:nvSpPr>
          <p:spPr bwMode="auto">
            <a:xfrm>
              <a:off x="1338" y="3119"/>
              <a:ext cx="408" cy="288"/>
            </a:xfrm>
            <a:prstGeom prst="rect">
              <a:avLst/>
            </a:prstGeom>
            <a:noFill/>
            <a:ln w="9525">
              <a:noFill/>
              <a:miter lim="800000"/>
              <a:headEnd/>
              <a:tailEnd/>
            </a:ln>
            <a:effectLst/>
          </p:spPr>
          <p:txBody>
            <a:bodyPr>
              <a:spAutoFit/>
            </a:bodyPr>
            <a:lstStyle/>
            <a:p>
              <a:r>
                <a:rPr lang="en-US" altLang="zh-CN" b="1" i="1">
                  <a:solidFill>
                    <a:srgbClr val="0000FF"/>
                  </a:solidFill>
                  <a:sym typeface="Symbol" pitchFamily="18" charset="2"/>
                </a:rPr>
                <a:t></a:t>
              </a:r>
              <a:r>
                <a:rPr lang="en-US" altLang="zh-CN" b="1" baseline="-25000">
                  <a:solidFill>
                    <a:srgbClr val="0000FF"/>
                  </a:solidFill>
                  <a:sym typeface="Symbol" pitchFamily="18" charset="2"/>
                </a:rPr>
                <a:t>0</a:t>
              </a:r>
            </a:p>
          </p:txBody>
        </p:sp>
        <p:sp>
          <p:nvSpPr>
            <p:cNvPr id="16433" name="Rectangle 10"/>
            <p:cNvSpPr>
              <a:spLocks noChangeArrowheads="1"/>
            </p:cNvSpPr>
            <p:nvPr/>
          </p:nvSpPr>
          <p:spPr bwMode="auto">
            <a:xfrm>
              <a:off x="1518" y="3187"/>
              <a:ext cx="116" cy="212"/>
            </a:xfrm>
            <a:prstGeom prst="rect">
              <a:avLst/>
            </a:prstGeom>
            <a:noFill/>
            <a:ln w="9525">
              <a:noFill/>
              <a:miter lim="800000"/>
              <a:headEnd/>
              <a:tailEnd/>
            </a:ln>
            <a:effectLst/>
          </p:spPr>
          <p:txBody>
            <a:bodyPr wrap="none">
              <a:spAutoFit/>
            </a:bodyPr>
            <a:lstStyle/>
            <a:p>
              <a:endParaRPr lang="zh-CN" altLang="zh-CN" b="1" baseline="-16000">
                <a:solidFill>
                  <a:srgbClr val="00FFFF"/>
                </a:solidFill>
              </a:endParaRPr>
            </a:p>
          </p:txBody>
        </p:sp>
      </p:grpSp>
      <p:pic>
        <p:nvPicPr>
          <p:cNvPr id="107532" name="Picture 12" descr="谱线3"/>
          <p:cNvPicPr>
            <a:picLocks noChangeAspect="1" noChangeArrowheads="1"/>
          </p:cNvPicPr>
          <p:nvPr/>
        </p:nvPicPr>
        <p:blipFill>
          <a:blip r:embed="rId4">
            <a:clrChange>
              <a:clrFrom>
                <a:srgbClr val="245CA7"/>
              </a:clrFrom>
              <a:clrTo>
                <a:srgbClr val="245CA7">
                  <a:alpha val="0"/>
                </a:srgbClr>
              </a:clrTo>
            </a:clrChange>
            <a:lum bright="-12000"/>
          </a:blip>
          <a:srcRect/>
          <a:stretch>
            <a:fillRect/>
          </a:stretch>
        </p:blipFill>
        <p:spPr bwMode="auto">
          <a:xfrm>
            <a:off x="4773613" y="2465388"/>
            <a:ext cx="762000" cy="533400"/>
          </a:xfrm>
          <a:prstGeom prst="rect">
            <a:avLst/>
          </a:prstGeom>
          <a:noFill/>
          <a:ln w="9525">
            <a:noFill/>
            <a:miter lim="800000"/>
            <a:headEnd/>
            <a:tailEnd/>
          </a:ln>
        </p:spPr>
      </p:pic>
      <p:pic>
        <p:nvPicPr>
          <p:cNvPr id="107533" name="Picture 13" descr="谱线5"/>
          <p:cNvPicPr>
            <a:picLocks noChangeAspect="1" noChangeArrowheads="1"/>
          </p:cNvPicPr>
          <p:nvPr/>
        </p:nvPicPr>
        <p:blipFill>
          <a:blip r:embed="rId5">
            <a:clrChange>
              <a:clrFrom>
                <a:srgbClr val="245CA7"/>
              </a:clrFrom>
              <a:clrTo>
                <a:srgbClr val="245CA7">
                  <a:alpha val="0"/>
                </a:srgbClr>
              </a:clrTo>
            </a:clrChange>
            <a:lum bright="-24000"/>
          </a:blip>
          <a:srcRect/>
          <a:stretch>
            <a:fillRect/>
          </a:stretch>
        </p:blipFill>
        <p:spPr bwMode="auto">
          <a:xfrm>
            <a:off x="2511425" y="4535488"/>
            <a:ext cx="647700" cy="652462"/>
          </a:xfrm>
          <a:prstGeom prst="rect">
            <a:avLst/>
          </a:prstGeom>
          <a:noFill/>
          <a:ln w="9525">
            <a:noFill/>
            <a:miter lim="800000"/>
            <a:headEnd/>
            <a:tailEnd/>
          </a:ln>
        </p:spPr>
      </p:pic>
      <p:pic>
        <p:nvPicPr>
          <p:cNvPr id="107534" name="Picture 14" descr="谱线4"/>
          <p:cNvPicPr>
            <a:picLocks noChangeAspect="1" noChangeArrowheads="1"/>
          </p:cNvPicPr>
          <p:nvPr/>
        </p:nvPicPr>
        <p:blipFill>
          <a:blip r:embed="rId6">
            <a:clrChange>
              <a:clrFrom>
                <a:srgbClr val="245CA7"/>
              </a:clrFrom>
              <a:clrTo>
                <a:srgbClr val="245CA7">
                  <a:alpha val="0"/>
                </a:srgbClr>
              </a:clrTo>
            </a:clrChange>
            <a:lum bright="-12000"/>
          </a:blip>
          <a:srcRect/>
          <a:stretch>
            <a:fillRect/>
          </a:stretch>
        </p:blipFill>
        <p:spPr bwMode="auto">
          <a:xfrm>
            <a:off x="2943225" y="3098800"/>
            <a:ext cx="863600" cy="620713"/>
          </a:xfrm>
          <a:prstGeom prst="rect">
            <a:avLst/>
          </a:prstGeom>
          <a:noFill/>
          <a:ln w="9525">
            <a:noFill/>
            <a:miter lim="800000"/>
            <a:headEnd/>
            <a:tailEnd/>
          </a:ln>
        </p:spPr>
      </p:pic>
      <p:sp>
        <p:nvSpPr>
          <p:cNvPr id="107543" name="Text Box 23"/>
          <p:cNvSpPr txBox="1">
            <a:spLocks noChangeArrowheads="1"/>
          </p:cNvSpPr>
          <p:nvPr/>
        </p:nvSpPr>
        <p:spPr bwMode="auto">
          <a:xfrm>
            <a:off x="7453313" y="2933700"/>
            <a:ext cx="520700" cy="396875"/>
          </a:xfrm>
          <a:prstGeom prst="rect">
            <a:avLst/>
          </a:prstGeom>
          <a:noFill/>
          <a:ln w="9525">
            <a:noFill/>
            <a:miter lim="800000"/>
            <a:headEnd/>
            <a:tailEnd/>
          </a:ln>
          <a:effectLst/>
        </p:spPr>
        <p:txBody>
          <a:bodyPr wrap="none">
            <a:spAutoFit/>
          </a:bodyPr>
          <a:lstStyle/>
          <a:p>
            <a:r>
              <a:rPr lang="en-US" altLang="zh-CN" sz="1800" b="1">
                <a:solidFill>
                  <a:srgbClr val="0000FF"/>
                </a:solidFill>
                <a:sym typeface="Symbol" pitchFamily="18" charset="2"/>
              </a:rPr>
              <a:t> </a:t>
            </a:r>
            <a:r>
              <a:rPr lang="en-US" altLang="zh-CN" sz="2000" b="1" i="1">
                <a:solidFill>
                  <a:srgbClr val="0000FF"/>
                </a:solidFill>
                <a:sym typeface="Symbol" pitchFamily="18" charset="2"/>
              </a:rPr>
              <a:t></a:t>
            </a:r>
          </a:p>
        </p:txBody>
      </p:sp>
      <p:sp>
        <p:nvSpPr>
          <p:cNvPr id="107548" name="Freeform 28"/>
          <p:cNvSpPr>
            <a:spLocks/>
          </p:cNvSpPr>
          <p:nvPr/>
        </p:nvSpPr>
        <p:spPr bwMode="auto">
          <a:xfrm>
            <a:off x="5535613" y="4967288"/>
            <a:ext cx="73025" cy="215900"/>
          </a:xfrm>
          <a:custGeom>
            <a:avLst/>
            <a:gdLst>
              <a:gd name="T0" fmla="*/ 0 w 363"/>
              <a:gd name="T1" fmla="*/ 0 h 726"/>
              <a:gd name="T2" fmla="*/ 11007664 w 363"/>
              <a:gd name="T3" fmla="*/ 28122908 h 726"/>
              <a:gd name="T4" fmla="*/ 14690498 w 363"/>
              <a:gd name="T5" fmla="*/ 64204972 h 726"/>
              <a:gd name="T6" fmla="*/ 0 60000 65536"/>
              <a:gd name="T7" fmla="*/ 0 60000 65536"/>
              <a:gd name="T8" fmla="*/ 0 60000 65536"/>
            </a:gdLst>
            <a:ahLst/>
            <a:cxnLst>
              <a:cxn ang="T6">
                <a:pos x="T0" y="T1"/>
              </a:cxn>
              <a:cxn ang="T7">
                <a:pos x="T2" y="T3"/>
              </a:cxn>
              <a:cxn ang="T8">
                <a:pos x="T4" y="T5"/>
              </a:cxn>
            </a:cxnLst>
            <a:rect l="0" t="0" r="r" b="b"/>
            <a:pathLst>
              <a:path w="363" h="726">
                <a:moveTo>
                  <a:pt x="0" y="0"/>
                </a:moveTo>
                <a:cubicBezTo>
                  <a:pt x="106" y="98"/>
                  <a:pt x="212" y="197"/>
                  <a:pt x="272" y="318"/>
                </a:cubicBezTo>
                <a:cubicBezTo>
                  <a:pt x="332" y="439"/>
                  <a:pt x="348" y="658"/>
                  <a:pt x="363" y="726"/>
                </a:cubicBezTo>
              </a:path>
            </a:pathLst>
          </a:custGeom>
          <a:noFill/>
          <a:ln w="9525">
            <a:solidFill>
              <a:srgbClr val="000000"/>
            </a:solidFill>
            <a:round/>
            <a:headEnd/>
            <a:tailEnd/>
          </a:ln>
          <a:effectLst/>
        </p:spPr>
        <p:txBody>
          <a:bodyPr/>
          <a:lstStyle/>
          <a:p>
            <a:endParaRPr lang="zh-CN" altLang="en-US"/>
          </a:p>
        </p:txBody>
      </p:sp>
      <p:sp>
        <p:nvSpPr>
          <p:cNvPr id="107549" name="Text Box 29"/>
          <p:cNvSpPr txBox="1">
            <a:spLocks noChangeArrowheads="1"/>
          </p:cNvSpPr>
          <p:nvPr/>
        </p:nvSpPr>
        <p:spPr bwMode="auto">
          <a:xfrm>
            <a:off x="7119938" y="3922713"/>
            <a:ext cx="1277937" cy="396875"/>
          </a:xfrm>
          <a:prstGeom prst="rect">
            <a:avLst/>
          </a:prstGeom>
          <a:noFill/>
          <a:ln w="9525">
            <a:noFill/>
            <a:miter lim="800000"/>
            <a:headEnd/>
            <a:tailEnd/>
          </a:ln>
          <a:effectLst/>
        </p:spPr>
        <p:txBody>
          <a:bodyPr>
            <a:spAutoFit/>
          </a:bodyPr>
          <a:lstStyle/>
          <a:p>
            <a:r>
              <a:rPr lang="zh-CN" altLang="en-US" sz="2000" b="1">
                <a:solidFill>
                  <a:schemeClr val="bg1"/>
                </a:solidFill>
                <a:ea typeface="楷体_GB2312" pitchFamily="49" charset="-122"/>
              </a:rPr>
              <a:t>检测器</a:t>
            </a:r>
          </a:p>
        </p:txBody>
      </p:sp>
      <p:grpSp>
        <p:nvGrpSpPr>
          <p:cNvPr id="107550" name="Group 30"/>
          <p:cNvGrpSpPr>
            <a:grpSpLocks/>
          </p:cNvGrpSpPr>
          <p:nvPr/>
        </p:nvGrpSpPr>
        <p:grpSpPr bwMode="auto">
          <a:xfrm>
            <a:off x="3951288" y="4438650"/>
            <a:ext cx="647700" cy="438150"/>
            <a:chOff x="1338" y="3119"/>
            <a:chExt cx="408" cy="276"/>
          </a:xfrm>
        </p:grpSpPr>
        <p:sp>
          <p:nvSpPr>
            <p:cNvPr id="16430" name="Text Box 31"/>
            <p:cNvSpPr txBox="1">
              <a:spLocks noChangeArrowheads="1"/>
            </p:cNvSpPr>
            <p:nvPr/>
          </p:nvSpPr>
          <p:spPr bwMode="auto">
            <a:xfrm>
              <a:off x="1338" y="3119"/>
              <a:ext cx="408" cy="250"/>
            </a:xfrm>
            <a:prstGeom prst="rect">
              <a:avLst/>
            </a:prstGeom>
            <a:noFill/>
            <a:ln w="9525">
              <a:noFill/>
              <a:miter lim="800000"/>
              <a:headEnd/>
              <a:tailEnd/>
            </a:ln>
            <a:effectLst/>
          </p:spPr>
          <p:txBody>
            <a:bodyPr>
              <a:spAutoFit/>
            </a:bodyPr>
            <a:lstStyle/>
            <a:p>
              <a:r>
                <a:rPr lang="en-US" altLang="zh-CN" sz="2000" b="1" i="1">
                  <a:solidFill>
                    <a:srgbClr val="0000FF"/>
                  </a:solidFill>
                  <a:sym typeface="Symbol" pitchFamily="18" charset="2"/>
                </a:rPr>
                <a:t></a:t>
              </a:r>
              <a:r>
                <a:rPr lang="en-US" altLang="zh-CN" sz="2000" b="1" baseline="-25000">
                  <a:solidFill>
                    <a:srgbClr val="0000FF"/>
                  </a:solidFill>
                  <a:sym typeface="Symbol" pitchFamily="18" charset="2"/>
                </a:rPr>
                <a:t>0</a:t>
              </a:r>
            </a:p>
          </p:txBody>
        </p:sp>
        <p:sp>
          <p:nvSpPr>
            <p:cNvPr id="16431" name="Rectangle 32"/>
            <p:cNvSpPr>
              <a:spLocks noChangeArrowheads="1"/>
            </p:cNvSpPr>
            <p:nvPr/>
          </p:nvSpPr>
          <p:spPr bwMode="auto">
            <a:xfrm>
              <a:off x="1518" y="3212"/>
              <a:ext cx="116" cy="183"/>
            </a:xfrm>
            <a:prstGeom prst="rect">
              <a:avLst/>
            </a:prstGeom>
            <a:noFill/>
            <a:ln w="9525">
              <a:noFill/>
              <a:miter lim="800000"/>
              <a:headEnd/>
              <a:tailEnd/>
            </a:ln>
            <a:effectLst/>
          </p:spPr>
          <p:txBody>
            <a:bodyPr wrap="none">
              <a:spAutoFit/>
            </a:bodyPr>
            <a:lstStyle/>
            <a:p>
              <a:endParaRPr lang="zh-CN" altLang="zh-CN" sz="2000" b="1" baseline="-16000"/>
            </a:p>
          </p:txBody>
        </p:sp>
      </p:grpSp>
      <p:grpSp>
        <p:nvGrpSpPr>
          <p:cNvPr id="107554" name="Group 34"/>
          <p:cNvGrpSpPr>
            <a:grpSpLocks/>
          </p:cNvGrpSpPr>
          <p:nvPr/>
        </p:nvGrpSpPr>
        <p:grpSpPr bwMode="auto">
          <a:xfrm>
            <a:off x="6848475" y="3535363"/>
            <a:ext cx="774700" cy="496887"/>
            <a:chOff x="4342" y="1575"/>
            <a:chExt cx="488" cy="313"/>
          </a:xfrm>
        </p:grpSpPr>
        <p:sp>
          <p:nvSpPr>
            <p:cNvPr id="16428" name="Rectangle 35"/>
            <p:cNvSpPr>
              <a:spLocks noChangeArrowheads="1"/>
            </p:cNvSpPr>
            <p:nvPr/>
          </p:nvSpPr>
          <p:spPr bwMode="auto">
            <a:xfrm rot="-2222169">
              <a:off x="4377" y="1575"/>
              <a:ext cx="453" cy="177"/>
            </a:xfrm>
            <a:prstGeom prst="rect">
              <a:avLst/>
            </a:prstGeom>
            <a:noFill/>
            <a:ln w="28575">
              <a:solidFill>
                <a:srgbClr val="00FF99"/>
              </a:solidFill>
              <a:miter lim="800000"/>
              <a:headEnd/>
              <a:tailEnd/>
            </a:ln>
            <a:effectLst/>
          </p:spPr>
          <p:txBody>
            <a:bodyPr wrap="none" anchor="ctr"/>
            <a:lstStyle/>
            <a:p>
              <a:endParaRPr lang="zh-CN" altLang="en-US"/>
            </a:p>
          </p:txBody>
        </p:sp>
        <p:sp>
          <p:nvSpPr>
            <p:cNvPr id="16429" name="Line 36"/>
            <p:cNvSpPr>
              <a:spLocks noChangeShapeType="1"/>
            </p:cNvSpPr>
            <p:nvPr/>
          </p:nvSpPr>
          <p:spPr bwMode="auto">
            <a:xfrm>
              <a:off x="4342" y="1706"/>
              <a:ext cx="137" cy="182"/>
            </a:xfrm>
            <a:prstGeom prst="line">
              <a:avLst/>
            </a:prstGeom>
            <a:noFill/>
            <a:ln w="76200">
              <a:solidFill>
                <a:srgbClr val="006699"/>
              </a:solidFill>
              <a:round/>
              <a:headEnd/>
              <a:tailEnd/>
            </a:ln>
            <a:effectLst/>
          </p:spPr>
          <p:txBody>
            <a:bodyPr/>
            <a:lstStyle/>
            <a:p>
              <a:endParaRPr lang="zh-CN" altLang="en-US"/>
            </a:p>
          </p:txBody>
        </p:sp>
      </p:grpSp>
      <p:sp>
        <p:nvSpPr>
          <p:cNvPr id="107557" name="Rectangle 37"/>
          <p:cNvSpPr>
            <a:spLocks noChangeArrowheads="1"/>
          </p:cNvSpPr>
          <p:nvPr/>
        </p:nvSpPr>
        <p:spPr bwMode="auto">
          <a:xfrm>
            <a:off x="161925" y="414338"/>
            <a:ext cx="5432425" cy="461665"/>
          </a:xfrm>
          <a:prstGeom prst="rect">
            <a:avLst/>
          </a:prstGeom>
          <a:noFill/>
          <a:ln w="9525">
            <a:noFill/>
            <a:miter lim="800000"/>
            <a:headEnd/>
            <a:tailEnd/>
          </a:ln>
          <a:effectLst/>
        </p:spPr>
        <p:txBody>
          <a:bodyPr wrap="square">
            <a:spAutoFit/>
          </a:bodyPr>
          <a:lstStyle/>
          <a:p>
            <a:r>
              <a:rPr lang="en-US" altLang="zh-CN" b="1" dirty="0" smtClean="0">
                <a:solidFill>
                  <a:srgbClr val="3333CC"/>
                </a:solidFill>
                <a:cs typeface="Times New Roman" pitchFamily="18" charset="0"/>
              </a:rPr>
              <a:t>13.2.3</a:t>
            </a:r>
            <a:r>
              <a:rPr lang="en-US" altLang="zh-CN" b="1" dirty="0" smtClean="0">
                <a:solidFill>
                  <a:srgbClr val="3333CC"/>
                </a:solidFill>
                <a:latin typeface="宋体" charset="-122"/>
                <a:cs typeface="Times New Roman" pitchFamily="18" charset="0"/>
              </a:rPr>
              <a:t> </a:t>
            </a:r>
            <a:r>
              <a:rPr lang="zh-CN" altLang="en-US" b="1" dirty="0" smtClean="0">
                <a:solidFill>
                  <a:srgbClr val="3333CC"/>
                </a:solidFill>
                <a:latin typeface="宋体" charset="-122"/>
                <a:cs typeface="Times New Roman" pitchFamily="18" charset="0"/>
              </a:rPr>
              <a:t>康普顿效应</a:t>
            </a:r>
            <a:r>
              <a:rPr lang="zh-CN" altLang="en-US" b="1" dirty="0">
                <a:solidFill>
                  <a:srgbClr val="3333CC"/>
                </a:solidFill>
                <a:latin typeface="宋体" charset="-122"/>
                <a:cs typeface="Times New Roman" pitchFamily="18" charset="0"/>
              </a:rPr>
              <a:t>及光子理论的解释</a:t>
            </a:r>
          </a:p>
        </p:txBody>
      </p:sp>
      <p:sp>
        <p:nvSpPr>
          <p:cNvPr id="107558" name="Text Box 38"/>
          <p:cNvSpPr txBox="1">
            <a:spLocks noChangeArrowheads="1"/>
          </p:cNvSpPr>
          <p:nvPr/>
        </p:nvSpPr>
        <p:spPr bwMode="auto">
          <a:xfrm>
            <a:off x="3402013" y="6040438"/>
            <a:ext cx="2655887" cy="457200"/>
          </a:xfrm>
          <a:prstGeom prst="rect">
            <a:avLst/>
          </a:prstGeom>
          <a:noFill/>
          <a:ln w="9525">
            <a:noFill/>
            <a:miter lim="800000"/>
            <a:headEnd/>
            <a:tailEnd/>
          </a:ln>
          <a:effectLst/>
        </p:spPr>
        <p:txBody>
          <a:bodyPr>
            <a:spAutoFit/>
          </a:bodyPr>
          <a:lstStyle/>
          <a:p>
            <a:pPr algn="ctr"/>
            <a:r>
              <a:rPr lang="zh-CN" altLang="en-US" b="1">
                <a:solidFill>
                  <a:srgbClr val="0000FF"/>
                </a:solidFill>
              </a:rPr>
              <a:t>实验装置示意图</a:t>
            </a:r>
          </a:p>
        </p:txBody>
      </p:sp>
      <p:sp>
        <p:nvSpPr>
          <p:cNvPr id="107559" name="Line 39"/>
          <p:cNvSpPr>
            <a:spLocks noChangeShapeType="1"/>
          </p:cNvSpPr>
          <p:nvPr/>
        </p:nvSpPr>
        <p:spPr bwMode="auto">
          <a:xfrm>
            <a:off x="1214438" y="5186363"/>
            <a:ext cx="4249737" cy="0"/>
          </a:xfrm>
          <a:prstGeom prst="line">
            <a:avLst/>
          </a:prstGeom>
          <a:noFill/>
          <a:ln w="15875">
            <a:solidFill>
              <a:schemeClr val="bg2"/>
            </a:solidFill>
            <a:round/>
            <a:headEnd/>
            <a:tailEnd/>
          </a:ln>
          <a:effectLst/>
        </p:spPr>
        <p:txBody>
          <a:bodyPr/>
          <a:lstStyle/>
          <a:p>
            <a:endParaRPr lang="zh-CN" altLang="en-US"/>
          </a:p>
        </p:txBody>
      </p:sp>
      <p:sp>
        <p:nvSpPr>
          <p:cNvPr id="107560" name="Oval 40"/>
          <p:cNvSpPr>
            <a:spLocks noChangeArrowheads="1"/>
          </p:cNvSpPr>
          <p:nvPr/>
        </p:nvSpPr>
        <p:spPr bwMode="auto">
          <a:xfrm>
            <a:off x="495300" y="4160838"/>
            <a:ext cx="1150938" cy="1279525"/>
          </a:xfrm>
          <a:prstGeom prst="ellipse">
            <a:avLst/>
          </a:prstGeom>
          <a:gradFill rotWithShape="1">
            <a:gsLst>
              <a:gs pos="0">
                <a:srgbClr val="0099FF">
                  <a:alpha val="37999"/>
                </a:srgbClr>
              </a:gs>
              <a:gs pos="100000">
                <a:srgbClr val="004776">
                  <a:alpha val="75000"/>
                </a:srgbClr>
              </a:gs>
            </a:gsLst>
            <a:path path="shape">
              <a:fillToRect l="50000" t="50000" r="50000" b="50000"/>
            </a:path>
          </a:gradFill>
          <a:ln w="19050">
            <a:solidFill>
              <a:schemeClr val="folHlink">
                <a:alpha val="74117"/>
              </a:schemeClr>
            </a:solidFill>
            <a:round/>
            <a:headEnd/>
            <a:tailEnd/>
          </a:ln>
          <a:effectLst/>
        </p:spPr>
        <p:txBody>
          <a:bodyPr wrap="none" anchor="ctr"/>
          <a:lstStyle/>
          <a:p>
            <a:endParaRPr lang="zh-CN" altLang="en-US"/>
          </a:p>
        </p:txBody>
      </p:sp>
      <p:sp>
        <p:nvSpPr>
          <p:cNvPr id="107561" name="Rectangle 41"/>
          <p:cNvSpPr>
            <a:spLocks noChangeArrowheads="1"/>
          </p:cNvSpPr>
          <p:nvPr/>
        </p:nvSpPr>
        <p:spPr bwMode="auto">
          <a:xfrm>
            <a:off x="950913" y="3735388"/>
            <a:ext cx="239712" cy="479425"/>
          </a:xfrm>
          <a:prstGeom prst="rect">
            <a:avLst/>
          </a:prstGeom>
          <a:gradFill rotWithShape="1">
            <a:gsLst>
              <a:gs pos="0">
                <a:srgbClr val="006699">
                  <a:gamma/>
                  <a:shade val="46275"/>
                  <a:invGamma/>
                  <a:alpha val="85001"/>
                </a:srgbClr>
              </a:gs>
              <a:gs pos="50000">
                <a:srgbClr val="006699"/>
              </a:gs>
              <a:gs pos="100000">
                <a:srgbClr val="006699">
                  <a:gamma/>
                  <a:shade val="46275"/>
                  <a:invGamma/>
                  <a:alpha val="85001"/>
                </a:srgbClr>
              </a:gs>
            </a:gsLst>
            <a:lin ang="0" scaled="1"/>
          </a:gradFill>
          <a:ln>
            <a:noFill/>
          </a:ln>
          <a:effectLst/>
          <a:extLst>
            <a:ext uri="{91240B29-F687-4F45-9708-019B960494DF}">
              <a14:hiddenLine xmlns="" xmlns:a14="http://schemas.microsoft.com/office/drawing/2010/main" w="9525">
                <a:solidFill>
                  <a:schemeClr val="folHlink">
                    <a:alpha val="73000"/>
                  </a:schemeClr>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107562" name="Line 42"/>
          <p:cNvSpPr>
            <a:spLocks noChangeShapeType="1"/>
          </p:cNvSpPr>
          <p:nvPr/>
        </p:nvSpPr>
        <p:spPr bwMode="auto">
          <a:xfrm>
            <a:off x="950913" y="3681413"/>
            <a:ext cx="0" cy="481012"/>
          </a:xfrm>
          <a:prstGeom prst="line">
            <a:avLst/>
          </a:prstGeom>
          <a:noFill/>
          <a:ln w="9525">
            <a:solidFill>
              <a:schemeClr val="folHlink">
                <a:alpha val="72940"/>
              </a:schemeClr>
            </a:solidFill>
            <a:round/>
            <a:headEnd/>
            <a:tailEnd/>
          </a:ln>
          <a:effectLst/>
        </p:spPr>
        <p:txBody>
          <a:bodyPr/>
          <a:lstStyle/>
          <a:p>
            <a:endParaRPr lang="zh-CN" altLang="en-US"/>
          </a:p>
        </p:txBody>
      </p:sp>
      <p:sp>
        <p:nvSpPr>
          <p:cNvPr id="107563" name="Line 43"/>
          <p:cNvSpPr>
            <a:spLocks noChangeShapeType="1"/>
          </p:cNvSpPr>
          <p:nvPr/>
        </p:nvSpPr>
        <p:spPr bwMode="auto">
          <a:xfrm>
            <a:off x="1190625" y="3681413"/>
            <a:ext cx="0" cy="481012"/>
          </a:xfrm>
          <a:prstGeom prst="line">
            <a:avLst/>
          </a:prstGeom>
          <a:noFill/>
          <a:ln w="9525">
            <a:solidFill>
              <a:schemeClr val="folHlink">
                <a:alpha val="72940"/>
              </a:schemeClr>
            </a:solidFill>
            <a:round/>
            <a:headEnd/>
            <a:tailEnd/>
          </a:ln>
          <a:effectLst/>
        </p:spPr>
        <p:txBody>
          <a:bodyPr/>
          <a:lstStyle/>
          <a:p>
            <a:endParaRPr lang="zh-CN" altLang="en-US"/>
          </a:p>
        </p:txBody>
      </p:sp>
      <p:sp>
        <p:nvSpPr>
          <p:cNvPr id="107564" name="Rectangle 44"/>
          <p:cNvSpPr>
            <a:spLocks noChangeArrowheads="1"/>
          </p:cNvSpPr>
          <p:nvPr/>
        </p:nvSpPr>
        <p:spPr bwMode="auto">
          <a:xfrm>
            <a:off x="950913" y="5424488"/>
            <a:ext cx="239712" cy="479425"/>
          </a:xfrm>
          <a:prstGeom prst="rect">
            <a:avLst/>
          </a:prstGeom>
          <a:gradFill rotWithShape="1">
            <a:gsLst>
              <a:gs pos="0">
                <a:srgbClr val="002F47"/>
              </a:gs>
              <a:gs pos="50000">
                <a:srgbClr val="006699"/>
              </a:gs>
              <a:gs pos="100000">
                <a:srgbClr val="002F47"/>
              </a:gs>
            </a:gsLst>
            <a:lin ang="0" scaled="1"/>
          </a:gradFill>
          <a:ln w="9525">
            <a:noFill/>
            <a:miter lim="800000"/>
            <a:headEnd/>
            <a:tailEnd/>
          </a:ln>
          <a:effectLst/>
        </p:spPr>
        <p:txBody>
          <a:bodyPr wrap="none" anchor="ctr"/>
          <a:lstStyle/>
          <a:p>
            <a:endParaRPr lang="zh-CN" altLang="en-US"/>
          </a:p>
        </p:txBody>
      </p:sp>
      <p:sp>
        <p:nvSpPr>
          <p:cNvPr id="107565" name="Line 45"/>
          <p:cNvSpPr>
            <a:spLocks noChangeShapeType="1"/>
          </p:cNvSpPr>
          <p:nvPr/>
        </p:nvSpPr>
        <p:spPr bwMode="auto">
          <a:xfrm>
            <a:off x="950913" y="5440363"/>
            <a:ext cx="0" cy="481012"/>
          </a:xfrm>
          <a:prstGeom prst="line">
            <a:avLst/>
          </a:prstGeom>
          <a:noFill/>
          <a:ln w="9525">
            <a:solidFill>
              <a:schemeClr val="folHlink">
                <a:alpha val="72940"/>
              </a:schemeClr>
            </a:solidFill>
            <a:round/>
            <a:headEnd/>
            <a:tailEnd/>
          </a:ln>
          <a:effectLst/>
        </p:spPr>
        <p:txBody>
          <a:bodyPr/>
          <a:lstStyle/>
          <a:p>
            <a:endParaRPr lang="zh-CN" altLang="en-US"/>
          </a:p>
        </p:txBody>
      </p:sp>
      <p:sp>
        <p:nvSpPr>
          <p:cNvPr id="107566" name="Line 46"/>
          <p:cNvSpPr>
            <a:spLocks noChangeShapeType="1"/>
          </p:cNvSpPr>
          <p:nvPr/>
        </p:nvSpPr>
        <p:spPr bwMode="auto">
          <a:xfrm>
            <a:off x="1190625" y="5440363"/>
            <a:ext cx="0" cy="481012"/>
          </a:xfrm>
          <a:prstGeom prst="line">
            <a:avLst/>
          </a:prstGeom>
          <a:noFill/>
          <a:ln w="9525">
            <a:solidFill>
              <a:schemeClr val="folHlink">
                <a:alpha val="72940"/>
              </a:schemeClr>
            </a:solidFill>
            <a:round/>
            <a:headEnd/>
            <a:tailEnd/>
          </a:ln>
          <a:effectLst/>
        </p:spPr>
        <p:txBody>
          <a:bodyPr/>
          <a:lstStyle/>
          <a:p>
            <a:endParaRPr lang="zh-CN" altLang="en-US"/>
          </a:p>
        </p:txBody>
      </p:sp>
      <p:sp>
        <p:nvSpPr>
          <p:cNvPr id="107567" name="Line 47"/>
          <p:cNvSpPr>
            <a:spLocks noChangeShapeType="1"/>
          </p:cNvSpPr>
          <p:nvPr/>
        </p:nvSpPr>
        <p:spPr bwMode="auto">
          <a:xfrm>
            <a:off x="1071563" y="3575050"/>
            <a:ext cx="0" cy="693738"/>
          </a:xfrm>
          <a:prstGeom prst="line">
            <a:avLst/>
          </a:prstGeom>
          <a:noFill/>
          <a:ln w="38100">
            <a:solidFill>
              <a:srgbClr val="FF6600">
                <a:alpha val="67058"/>
              </a:srgbClr>
            </a:solidFill>
            <a:round/>
            <a:headEnd/>
            <a:tailEnd/>
          </a:ln>
          <a:effectLst/>
        </p:spPr>
        <p:txBody>
          <a:bodyPr/>
          <a:lstStyle/>
          <a:p>
            <a:endParaRPr lang="zh-CN" altLang="en-US"/>
          </a:p>
        </p:txBody>
      </p:sp>
      <p:sp>
        <p:nvSpPr>
          <p:cNvPr id="107568" name="Line 48"/>
          <p:cNvSpPr>
            <a:spLocks noChangeShapeType="1"/>
          </p:cNvSpPr>
          <p:nvPr/>
        </p:nvSpPr>
        <p:spPr bwMode="auto">
          <a:xfrm>
            <a:off x="1071563" y="5281613"/>
            <a:ext cx="0" cy="742950"/>
          </a:xfrm>
          <a:prstGeom prst="line">
            <a:avLst/>
          </a:prstGeom>
          <a:noFill/>
          <a:ln w="38100">
            <a:solidFill>
              <a:srgbClr val="FF6600">
                <a:alpha val="70195"/>
              </a:srgbClr>
            </a:solidFill>
            <a:round/>
            <a:headEnd/>
            <a:tailEnd/>
          </a:ln>
          <a:effectLst/>
        </p:spPr>
        <p:txBody>
          <a:bodyPr/>
          <a:lstStyle/>
          <a:p>
            <a:endParaRPr lang="zh-CN" altLang="en-US"/>
          </a:p>
        </p:txBody>
      </p:sp>
      <p:sp>
        <p:nvSpPr>
          <p:cNvPr id="107569" name="AutoShape 49"/>
          <p:cNvSpPr>
            <a:spLocks noChangeArrowheads="1"/>
          </p:cNvSpPr>
          <p:nvPr/>
        </p:nvSpPr>
        <p:spPr bwMode="auto">
          <a:xfrm rot="5400000">
            <a:off x="885031" y="5076032"/>
            <a:ext cx="371475" cy="144462"/>
          </a:xfrm>
          <a:prstGeom prst="parallelogram">
            <a:avLst>
              <a:gd name="adj" fmla="val 66465"/>
            </a:avLst>
          </a:prstGeom>
          <a:gradFill rotWithShape="1">
            <a:gsLst>
              <a:gs pos="0">
                <a:srgbClr val="3366CC">
                  <a:alpha val="76999"/>
                </a:srgbClr>
              </a:gs>
              <a:gs pos="100000">
                <a:srgbClr val="182F5E">
                  <a:alpha val="87000"/>
                </a:srgbClr>
              </a:gs>
            </a:gsLst>
            <a:path path="shape">
              <a:fillToRect l="50000" t="50000" r="50000" b="50000"/>
            </a:path>
          </a:gradFill>
          <a:ln w="9525">
            <a:solidFill>
              <a:srgbClr val="FFFFFF">
                <a:alpha val="76862"/>
              </a:srgbClr>
            </a:solidFill>
            <a:miter lim="800000"/>
            <a:headEnd/>
            <a:tailEnd/>
          </a:ln>
          <a:effectLst/>
        </p:spPr>
        <p:txBody>
          <a:bodyPr wrap="none" anchor="ctr"/>
          <a:lstStyle/>
          <a:p>
            <a:endParaRPr lang="zh-CN" altLang="en-US"/>
          </a:p>
        </p:txBody>
      </p:sp>
      <p:sp>
        <p:nvSpPr>
          <p:cNvPr id="107570" name="Line 50"/>
          <p:cNvSpPr>
            <a:spLocks noChangeShapeType="1"/>
          </p:cNvSpPr>
          <p:nvPr/>
        </p:nvSpPr>
        <p:spPr bwMode="auto">
          <a:xfrm>
            <a:off x="2006600" y="3821113"/>
            <a:ext cx="0" cy="1079500"/>
          </a:xfrm>
          <a:prstGeom prst="line">
            <a:avLst/>
          </a:prstGeom>
          <a:noFill/>
          <a:ln w="57150">
            <a:solidFill>
              <a:schemeClr val="bg2">
                <a:alpha val="61960"/>
              </a:schemeClr>
            </a:solidFill>
            <a:round/>
            <a:headEnd/>
            <a:tailEnd/>
          </a:ln>
          <a:effectLst/>
        </p:spPr>
        <p:txBody>
          <a:bodyPr/>
          <a:lstStyle/>
          <a:p>
            <a:endParaRPr lang="zh-CN" altLang="en-US"/>
          </a:p>
        </p:txBody>
      </p:sp>
      <p:sp>
        <p:nvSpPr>
          <p:cNvPr id="107571" name="Rectangle 51"/>
          <p:cNvSpPr>
            <a:spLocks noChangeArrowheads="1"/>
          </p:cNvSpPr>
          <p:nvPr/>
        </p:nvSpPr>
        <p:spPr bwMode="auto">
          <a:xfrm>
            <a:off x="4814888" y="4967288"/>
            <a:ext cx="504825" cy="576262"/>
          </a:xfrm>
          <a:prstGeom prst="rect">
            <a:avLst/>
          </a:prstGeom>
          <a:solidFill>
            <a:srgbClr val="808000">
              <a:alpha val="65881"/>
            </a:srgbClr>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808000"/>
            </a:extrusionClr>
          </a:sp3d>
        </p:spPr>
        <p:txBody>
          <a:bodyPr wrap="none" anchor="ctr">
            <a:flatTx/>
          </a:bodyPr>
          <a:lstStyle/>
          <a:p>
            <a:endParaRPr lang="zh-CN" altLang="en-US"/>
          </a:p>
        </p:txBody>
      </p:sp>
      <p:sp>
        <p:nvSpPr>
          <p:cNvPr id="107572" name="Text Box 52"/>
          <p:cNvSpPr txBox="1">
            <a:spLocks noChangeArrowheads="1"/>
          </p:cNvSpPr>
          <p:nvPr/>
        </p:nvSpPr>
        <p:spPr bwMode="auto">
          <a:xfrm>
            <a:off x="627063" y="3167063"/>
            <a:ext cx="942975" cy="396875"/>
          </a:xfrm>
          <a:prstGeom prst="rect">
            <a:avLst/>
          </a:prstGeom>
          <a:noFill/>
          <a:ln w="9525">
            <a:noFill/>
            <a:miter lim="800000"/>
            <a:headEnd/>
            <a:tailEnd/>
          </a:ln>
          <a:effectLst/>
        </p:spPr>
        <p:txBody>
          <a:bodyPr wrap="none">
            <a:spAutoFit/>
          </a:bodyPr>
          <a:lstStyle/>
          <a:p>
            <a:r>
              <a:rPr lang="en-US" altLang="zh-CN" sz="2000" b="1">
                <a:solidFill>
                  <a:schemeClr val="bg1"/>
                </a:solidFill>
                <a:ea typeface="楷体_GB2312" pitchFamily="49" charset="-122"/>
              </a:rPr>
              <a:t>X </a:t>
            </a:r>
            <a:r>
              <a:rPr lang="zh-CN" altLang="en-US" sz="2000" b="1">
                <a:solidFill>
                  <a:schemeClr val="bg1"/>
                </a:solidFill>
                <a:ea typeface="楷体_GB2312" pitchFamily="49" charset="-122"/>
              </a:rPr>
              <a:t>光管</a:t>
            </a:r>
          </a:p>
        </p:txBody>
      </p:sp>
      <p:sp>
        <p:nvSpPr>
          <p:cNvPr id="107573" name="Text Box 53"/>
          <p:cNvSpPr txBox="1">
            <a:spLocks noChangeArrowheads="1"/>
          </p:cNvSpPr>
          <p:nvPr/>
        </p:nvSpPr>
        <p:spPr bwMode="auto">
          <a:xfrm>
            <a:off x="1647825" y="3219450"/>
            <a:ext cx="989013" cy="396875"/>
          </a:xfrm>
          <a:prstGeom prst="rect">
            <a:avLst/>
          </a:prstGeom>
          <a:noFill/>
          <a:ln w="9525">
            <a:noFill/>
            <a:miter lim="800000"/>
            <a:headEnd/>
            <a:tailEnd/>
          </a:ln>
          <a:effectLst/>
        </p:spPr>
        <p:txBody>
          <a:bodyPr>
            <a:spAutoFit/>
          </a:bodyPr>
          <a:lstStyle/>
          <a:p>
            <a:r>
              <a:rPr lang="zh-CN" altLang="en-US" sz="2000" b="1">
                <a:solidFill>
                  <a:schemeClr val="bg1"/>
                </a:solidFill>
                <a:ea typeface="楷体_GB2312" pitchFamily="49" charset="-122"/>
              </a:rPr>
              <a:t>光阑</a:t>
            </a:r>
          </a:p>
        </p:txBody>
      </p:sp>
      <p:sp>
        <p:nvSpPr>
          <p:cNvPr id="107574" name="Text Box 54"/>
          <p:cNvSpPr txBox="1">
            <a:spLocks noChangeArrowheads="1"/>
          </p:cNvSpPr>
          <p:nvPr/>
        </p:nvSpPr>
        <p:spPr bwMode="auto">
          <a:xfrm>
            <a:off x="4479925" y="5543550"/>
            <a:ext cx="1622425" cy="396875"/>
          </a:xfrm>
          <a:prstGeom prst="rect">
            <a:avLst/>
          </a:prstGeom>
          <a:noFill/>
          <a:ln w="9525">
            <a:noFill/>
            <a:miter lim="800000"/>
            <a:headEnd/>
            <a:tailEnd/>
          </a:ln>
          <a:effectLst/>
        </p:spPr>
        <p:txBody>
          <a:bodyPr>
            <a:spAutoFit/>
          </a:bodyPr>
          <a:lstStyle/>
          <a:p>
            <a:r>
              <a:rPr lang="zh-CN" altLang="en-US" sz="2000" b="1">
                <a:solidFill>
                  <a:schemeClr val="bg1"/>
                </a:solidFill>
                <a:ea typeface="楷体_GB2312" pitchFamily="49" charset="-122"/>
              </a:rPr>
              <a:t>散射物体</a:t>
            </a:r>
          </a:p>
        </p:txBody>
      </p:sp>
      <p:sp>
        <p:nvSpPr>
          <p:cNvPr id="107575" name="Line 55"/>
          <p:cNvSpPr>
            <a:spLocks noChangeShapeType="1"/>
          </p:cNvSpPr>
          <p:nvPr/>
        </p:nvSpPr>
        <p:spPr bwMode="auto">
          <a:xfrm>
            <a:off x="5391150" y="5184775"/>
            <a:ext cx="3024188" cy="0"/>
          </a:xfrm>
          <a:prstGeom prst="line">
            <a:avLst/>
          </a:prstGeom>
          <a:noFill/>
          <a:ln w="15875">
            <a:solidFill>
              <a:schemeClr val="bg2"/>
            </a:solidFill>
            <a:round/>
            <a:headEnd/>
            <a:tailEnd/>
          </a:ln>
          <a:effectLst/>
        </p:spPr>
        <p:txBody>
          <a:bodyPr/>
          <a:lstStyle/>
          <a:p>
            <a:endParaRPr lang="zh-CN" altLang="en-US"/>
          </a:p>
        </p:txBody>
      </p:sp>
      <p:sp>
        <p:nvSpPr>
          <p:cNvPr id="107576" name="Line 56"/>
          <p:cNvSpPr>
            <a:spLocks noChangeShapeType="1"/>
          </p:cNvSpPr>
          <p:nvPr/>
        </p:nvSpPr>
        <p:spPr bwMode="auto">
          <a:xfrm>
            <a:off x="2006600" y="5399088"/>
            <a:ext cx="0" cy="858837"/>
          </a:xfrm>
          <a:prstGeom prst="line">
            <a:avLst/>
          </a:prstGeom>
          <a:noFill/>
          <a:ln w="57150">
            <a:solidFill>
              <a:schemeClr val="bg2">
                <a:alpha val="61960"/>
              </a:schemeClr>
            </a:solidFill>
            <a:round/>
            <a:headEnd/>
            <a:tailEnd/>
          </a:ln>
          <a:effectLst/>
        </p:spPr>
        <p:txBody>
          <a:bodyPr/>
          <a:lstStyle/>
          <a:p>
            <a:endParaRPr lang="zh-CN" altLang="en-US"/>
          </a:p>
        </p:txBody>
      </p:sp>
      <p:pic>
        <p:nvPicPr>
          <p:cNvPr id="107578" name="Picture 58" descr="1196824788805_1196824788805_r"/>
          <p:cNvPicPr>
            <a:picLocks noChangeAspect="1" noChangeArrowheads="1"/>
          </p:cNvPicPr>
          <p:nvPr/>
        </p:nvPicPr>
        <p:blipFill>
          <a:blip r:embed="rId7"/>
          <a:srcRect/>
          <a:stretch>
            <a:fillRect/>
          </a:stretch>
        </p:blipFill>
        <p:spPr bwMode="auto">
          <a:xfrm>
            <a:off x="7227888" y="414338"/>
            <a:ext cx="1522412" cy="1754187"/>
          </a:xfrm>
          <a:prstGeom prst="rect">
            <a:avLst/>
          </a:prstGeom>
          <a:noFill/>
          <a:ln w="9525">
            <a:noFill/>
            <a:miter lim="800000"/>
            <a:headEnd/>
            <a:tailEnd/>
          </a:ln>
        </p:spPr>
      </p:pic>
      <p:sp>
        <p:nvSpPr>
          <p:cNvPr id="107579" name="Text Box 59"/>
          <p:cNvSpPr txBox="1">
            <a:spLocks noChangeArrowheads="1"/>
          </p:cNvSpPr>
          <p:nvPr/>
        </p:nvSpPr>
        <p:spPr bwMode="auto">
          <a:xfrm>
            <a:off x="566738" y="1042988"/>
            <a:ext cx="6300787" cy="1406525"/>
          </a:xfrm>
          <a:prstGeom prst="rect">
            <a:avLst/>
          </a:prstGeom>
          <a:noFill/>
          <a:ln w="9525">
            <a:noFill/>
            <a:miter lim="800000"/>
            <a:headEnd/>
            <a:tailEnd/>
          </a:ln>
          <a:effectLst/>
        </p:spPr>
        <p:txBody>
          <a:bodyPr>
            <a:spAutoFit/>
          </a:bodyPr>
          <a:lstStyle/>
          <a:p>
            <a:pPr>
              <a:lnSpc>
                <a:spcPct val="120000"/>
              </a:lnSpc>
            </a:pPr>
            <a:r>
              <a:rPr kumimoji="0" lang="en-US" altLang="zh-CN" b="1">
                <a:solidFill>
                  <a:srgbClr val="0000FF"/>
                </a:solidFill>
                <a:latin typeface="楷体_GB2312" pitchFamily="49" charset="-122"/>
                <a:ea typeface="楷体_GB2312" pitchFamily="49" charset="-122"/>
              </a:rPr>
              <a:t>    </a:t>
            </a:r>
            <a:r>
              <a:rPr kumimoji="0" lang="zh-CN" altLang="en-US" b="1">
                <a:solidFill>
                  <a:srgbClr val="0000FF"/>
                </a:solidFill>
                <a:latin typeface="楷体_GB2312" pitchFamily="49" charset="-122"/>
                <a:ea typeface="楷体_GB2312" pitchFamily="49" charset="-122"/>
              </a:rPr>
              <a:t>康普顿（</a:t>
            </a:r>
            <a:r>
              <a:rPr kumimoji="0" lang="en-US" altLang="zh-CN" b="1">
                <a:solidFill>
                  <a:srgbClr val="0000FF"/>
                </a:solidFill>
                <a:latin typeface="楷体_GB2312" pitchFamily="49" charset="-122"/>
                <a:ea typeface="楷体_GB2312" pitchFamily="49" charset="-122"/>
              </a:rPr>
              <a:t>1892-1962</a:t>
            </a:r>
            <a:r>
              <a:rPr kumimoji="0" lang="zh-CN" altLang="en-US" b="1">
                <a:solidFill>
                  <a:srgbClr val="0000FF"/>
                </a:solidFill>
                <a:latin typeface="楷体_GB2312" pitchFamily="49" charset="-122"/>
                <a:ea typeface="楷体_GB2312" pitchFamily="49" charset="-122"/>
              </a:rPr>
              <a:t>）：</a:t>
            </a:r>
            <a:r>
              <a:rPr kumimoji="0" lang="zh-CN" altLang="en-US" b="1">
                <a:solidFill>
                  <a:schemeClr val="bg2"/>
                </a:solidFill>
                <a:latin typeface="楷体_GB2312" pitchFamily="49" charset="-122"/>
                <a:ea typeface="楷体_GB2312" pitchFamily="49" charset="-122"/>
              </a:rPr>
              <a:t>他所发现的</a:t>
            </a:r>
            <a:r>
              <a:rPr kumimoji="0" lang="zh-CN" altLang="en-US" b="1">
                <a:solidFill>
                  <a:schemeClr val="bg2"/>
                </a:solidFill>
                <a:ea typeface="楷体_GB2312" pitchFamily="49" charset="-122"/>
              </a:rPr>
              <a:t>“</a:t>
            </a:r>
            <a:r>
              <a:rPr kumimoji="0" lang="zh-CN" altLang="en-US" b="1">
                <a:solidFill>
                  <a:schemeClr val="bg2"/>
                </a:solidFill>
                <a:latin typeface="楷体_GB2312" pitchFamily="49" charset="-122"/>
                <a:ea typeface="楷体_GB2312" pitchFamily="49" charset="-122"/>
              </a:rPr>
              <a:t>康普顿效应</a:t>
            </a:r>
            <a:r>
              <a:rPr kumimoji="0" lang="zh-CN" altLang="en-US" b="1">
                <a:solidFill>
                  <a:schemeClr val="bg2"/>
                </a:solidFill>
                <a:ea typeface="楷体_GB2312" pitchFamily="49" charset="-122"/>
              </a:rPr>
              <a:t>”</a:t>
            </a:r>
            <a:r>
              <a:rPr kumimoji="0" lang="zh-CN" altLang="en-US" b="1">
                <a:solidFill>
                  <a:schemeClr val="bg2"/>
                </a:solidFill>
                <a:latin typeface="楷体_GB2312" pitchFamily="49" charset="-122"/>
                <a:ea typeface="楷体_GB2312" pitchFamily="49" charset="-122"/>
              </a:rPr>
              <a:t>是发展量子物理学的核心，</a:t>
            </a:r>
            <a:r>
              <a:rPr kumimoji="0" lang="en-US" altLang="zh-CN" b="1">
                <a:solidFill>
                  <a:schemeClr val="bg1"/>
                </a:solidFill>
                <a:latin typeface="楷体_GB2312" pitchFamily="49" charset="-122"/>
                <a:ea typeface="楷体_GB2312" pitchFamily="49" charset="-122"/>
              </a:rPr>
              <a:t>1927</a:t>
            </a:r>
            <a:r>
              <a:rPr kumimoji="0" lang="zh-CN" altLang="en-US" b="1">
                <a:solidFill>
                  <a:schemeClr val="bg1"/>
                </a:solidFill>
                <a:latin typeface="楷体_GB2312" pitchFamily="49" charset="-122"/>
                <a:ea typeface="楷体_GB2312" pitchFamily="49" charset="-122"/>
              </a:rPr>
              <a:t>年诺贝尔物理学奖得主。</a:t>
            </a:r>
            <a:r>
              <a:rPr kumimoji="0" lang="zh-CN" altLang="en-US">
                <a:solidFill>
                  <a:schemeClr val="bg1"/>
                </a:solidFill>
                <a:latin typeface="楷体_GB2312" pitchFamily="49" charset="-122"/>
                <a:ea typeface="楷体_GB2312" pitchFamily="49" charset="-122"/>
              </a:rPr>
              <a:t> </a:t>
            </a: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7557"/>
                                        </p:tgtEl>
                                        <p:attrNameLst>
                                          <p:attrName>style.visibility</p:attrName>
                                        </p:attrNameLst>
                                      </p:cBhvr>
                                      <p:to>
                                        <p:strVal val="visible"/>
                                      </p:to>
                                    </p:set>
                                    <p:animEffect transition="in" filter="wipe(left)">
                                      <p:cBhvr>
                                        <p:cTn id="7" dur="500"/>
                                        <p:tgtEl>
                                          <p:spTgt spid="1075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07578"/>
                                        </p:tgtEl>
                                        <p:attrNameLst>
                                          <p:attrName>style.visibility</p:attrName>
                                        </p:attrNameLst>
                                      </p:cBhvr>
                                      <p:to>
                                        <p:strVal val="visible"/>
                                      </p:to>
                                    </p:set>
                                    <p:animEffect transition="in" filter="box(out)">
                                      <p:cBhvr>
                                        <p:cTn id="12" dur="500"/>
                                        <p:tgtEl>
                                          <p:spTgt spid="1075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7579"/>
                                        </p:tgtEl>
                                        <p:attrNameLst>
                                          <p:attrName>style.visibility</p:attrName>
                                        </p:attrNameLst>
                                      </p:cBhvr>
                                      <p:to>
                                        <p:strVal val="visible"/>
                                      </p:to>
                                    </p:set>
                                    <p:animEffect transition="in" filter="wipe(left)">
                                      <p:cBhvr>
                                        <p:cTn id="17" dur="500"/>
                                        <p:tgtEl>
                                          <p:spTgt spid="1075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7558"/>
                                        </p:tgtEl>
                                        <p:attrNameLst>
                                          <p:attrName>style.visibility</p:attrName>
                                        </p:attrNameLst>
                                      </p:cBhvr>
                                      <p:to>
                                        <p:strVal val="visible"/>
                                      </p:to>
                                    </p:set>
                                    <p:animEffect transition="in" filter="wipe(left)">
                                      <p:cBhvr>
                                        <p:cTn id="22" dur="500"/>
                                        <p:tgtEl>
                                          <p:spTgt spid="10755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7559"/>
                                        </p:tgtEl>
                                        <p:attrNameLst>
                                          <p:attrName>style.visibility</p:attrName>
                                        </p:attrNameLst>
                                      </p:cBhvr>
                                      <p:to>
                                        <p:strVal val="visible"/>
                                      </p:to>
                                    </p:set>
                                    <p:animEffect transition="in" filter="wipe(left)">
                                      <p:cBhvr>
                                        <p:cTn id="27" dur="500"/>
                                        <p:tgtEl>
                                          <p:spTgt spid="10755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07560"/>
                                        </p:tgtEl>
                                        <p:attrNameLst>
                                          <p:attrName>style.visibility</p:attrName>
                                        </p:attrNameLst>
                                      </p:cBhvr>
                                      <p:to>
                                        <p:strVal val="visible"/>
                                      </p:to>
                                    </p:set>
                                    <p:animEffect transition="in" filter="wipe(left)">
                                      <p:cBhvr>
                                        <p:cTn id="30" dur="500"/>
                                        <p:tgtEl>
                                          <p:spTgt spid="107560"/>
                                        </p:tgtEl>
                                      </p:cBhvr>
                                    </p:animEffect>
                                  </p:childTnLst>
                                </p:cTn>
                              </p:par>
                              <p:par>
                                <p:cTn id="31" presetID="22" presetClass="entr" presetSubtype="8" fill="hold" nodeType="withEffect">
                                  <p:stCondLst>
                                    <p:cond delay="0"/>
                                  </p:stCondLst>
                                  <p:childTnLst>
                                    <p:set>
                                      <p:cBhvr>
                                        <p:cTn id="32" dur="1" fill="hold">
                                          <p:stCondLst>
                                            <p:cond delay="0"/>
                                          </p:stCondLst>
                                        </p:cTn>
                                        <p:tgtEl>
                                          <p:spTgt spid="107561"/>
                                        </p:tgtEl>
                                        <p:attrNameLst>
                                          <p:attrName>style.visibility</p:attrName>
                                        </p:attrNameLst>
                                      </p:cBhvr>
                                      <p:to>
                                        <p:strVal val="visible"/>
                                      </p:to>
                                    </p:set>
                                    <p:animEffect transition="in" filter="wipe(left)">
                                      <p:cBhvr>
                                        <p:cTn id="33" dur="500"/>
                                        <p:tgtEl>
                                          <p:spTgt spid="107561"/>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07562"/>
                                        </p:tgtEl>
                                        <p:attrNameLst>
                                          <p:attrName>style.visibility</p:attrName>
                                        </p:attrNameLst>
                                      </p:cBhvr>
                                      <p:to>
                                        <p:strVal val="visible"/>
                                      </p:to>
                                    </p:set>
                                    <p:animEffect transition="in" filter="wipe(left)">
                                      <p:cBhvr>
                                        <p:cTn id="36" dur="500"/>
                                        <p:tgtEl>
                                          <p:spTgt spid="107562"/>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07563"/>
                                        </p:tgtEl>
                                        <p:attrNameLst>
                                          <p:attrName>style.visibility</p:attrName>
                                        </p:attrNameLst>
                                      </p:cBhvr>
                                      <p:to>
                                        <p:strVal val="visible"/>
                                      </p:to>
                                    </p:set>
                                    <p:animEffect transition="in" filter="wipe(left)">
                                      <p:cBhvr>
                                        <p:cTn id="39" dur="500"/>
                                        <p:tgtEl>
                                          <p:spTgt spid="107563"/>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07564"/>
                                        </p:tgtEl>
                                        <p:attrNameLst>
                                          <p:attrName>style.visibility</p:attrName>
                                        </p:attrNameLst>
                                      </p:cBhvr>
                                      <p:to>
                                        <p:strVal val="visible"/>
                                      </p:to>
                                    </p:set>
                                    <p:animEffect transition="in" filter="wipe(left)">
                                      <p:cBhvr>
                                        <p:cTn id="42" dur="500"/>
                                        <p:tgtEl>
                                          <p:spTgt spid="107564"/>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07565"/>
                                        </p:tgtEl>
                                        <p:attrNameLst>
                                          <p:attrName>style.visibility</p:attrName>
                                        </p:attrNameLst>
                                      </p:cBhvr>
                                      <p:to>
                                        <p:strVal val="visible"/>
                                      </p:to>
                                    </p:set>
                                    <p:animEffect transition="in" filter="wipe(left)">
                                      <p:cBhvr>
                                        <p:cTn id="45" dur="500"/>
                                        <p:tgtEl>
                                          <p:spTgt spid="107565"/>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07566"/>
                                        </p:tgtEl>
                                        <p:attrNameLst>
                                          <p:attrName>style.visibility</p:attrName>
                                        </p:attrNameLst>
                                      </p:cBhvr>
                                      <p:to>
                                        <p:strVal val="visible"/>
                                      </p:to>
                                    </p:set>
                                    <p:animEffect transition="in" filter="wipe(left)">
                                      <p:cBhvr>
                                        <p:cTn id="48" dur="500"/>
                                        <p:tgtEl>
                                          <p:spTgt spid="107566"/>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107567"/>
                                        </p:tgtEl>
                                        <p:attrNameLst>
                                          <p:attrName>style.visibility</p:attrName>
                                        </p:attrNameLst>
                                      </p:cBhvr>
                                      <p:to>
                                        <p:strVal val="visible"/>
                                      </p:to>
                                    </p:set>
                                    <p:animEffect transition="in" filter="wipe(left)">
                                      <p:cBhvr>
                                        <p:cTn id="51" dur="500"/>
                                        <p:tgtEl>
                                          <p:spTgt spid="107567"/>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107568"/>
                                        </p:tgtEl>
                                        <p:attrNameLst>
                                          <p:attrName>style.visibility</p:attrName>
                                        </p:attrNameLst>
                                      </p:cBhvr>
                                      <p:to>
                                        <p:strVal val="visible"/>
                                      </p:to>
                                    </p:set>
                                    <p:animEffect transition="in" filter="wipe(left)">
                                      <p:cBhvr>
                                        <p:cTn id="54" dur="500"/>
                                        <p:tgtEl>
                                          <p:spTgt spid="107568"/>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107569"/>
                                        </p:tgtEl>
                                        <p:attrNameLst>
                                          <p:attrName>style.visibility</p:attrName>
                                        </p:attrNameLst>
                                      </p:cBhvr>
                                      <p:to>
                                        <p:strVal val="visible"/>
                                      </p:to>
                                    </p:set>
                                    <p:animEffect transition="in" filter="wipe(left)">
                                      <p:cBhvr>
                                        <p:cTn id="57" dur="500"/>
                                        <p:tgtEl>
                                          <p:spTgt spid="107569"/>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107570"/>
                                        </p:tgtEl>
                                        <p:attrNameLst>
                                          <p:attrName>style.visibility</p:attrName>
                                        </p:attrNameLst>
                                      </p:cBhvr>
                                      <p:to>
                                        <p:strVal val="visible"/>
                                      </p:to>
                                    </p:set>
                                    <p:animEffect transition="in" filter="wipe(left)">
                                      <p:cBhvr>
                                        <p:cTn id="60" dur="500"/>
                                        <p:tgtEl>
                                          <p:spTgt spid="107570"/>
                                        </p:tgtEl>
                                      </p:cBhvr>
                                    </p:animEffect>
                                  </p:childTnLst>
                                </p:cTn>
                              </p:par>
                              <p:par>
                                <p:cTn id="61" presetID="22" presetClass="entr" presetSubtype="8" fill="hold" grpId="0" nodeType="withEffect">
                                  <p:stCondLst>
                                    <p:cond delay="0"/>
                                  </p:stCondLst>
                                  <p:childTnLst>
                                    <p:set>
                                      <p:cBhvr>
                                        <p:cTn id="62" dur="1" fill="hold">
                                          <p:stCondLst>
                                            <p:cond delay="0"/>
                                          </p:stCondLst>
                                        </p:cTn>
                                        <p:tgtEl>
                                          <p:spTgt spid="107571"/>
                                        </p:tgtEl>
                                        <p:attrNameLst>
                                          <p:attrName>style.visibility</p:attrName>
                                        </p:attrNameLst>
                                      </p:cBhvr>
                                      <p:to>
                                        <p:strVal val="visible"/>
                                      </p:to>
                                    </p:set>
                                    <p:animEffect transition="in" filter="wipe(left)">
                                      <p:cBhvr>
                                        <p:cTn id="63" dur="500"/>
                                        <p:tgtEl>
                                          <p:spTgt spid="107571"/>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107576"/>
                                        </p:tgtEl>
                                        <p:attrNameLst>
                                          <p:attrName>style.visibility</p:attrName>
                                        </p:attrNameLst>
                                      </p:cBhvr>
                                      <p:to>
                                        <p:strVal val="visible"/>
                                      </p:to>
                                    </p:set>
                                    <p:animEffect transition="in" filter="wipe(left)">
                                      <p:cBhvr>
                                        <p:cTn id="66" dur="500"/>
                                        <p:tgtEl>
                                          <p:spTgt spid="107576"/>
                                        </p:tgtEl>
                                      </p:cBhvr>
                                    </p:animEffect>
                                  </p:childTnLst>
                                </p:cTn>
                              </p:par>
                              <p:par>
                                <p:cTn id="67" presetID="22" presetClass="entr" presetSubtype="8" fill="hold" nodeType="withEffect">
                                  <p:stCondLst>
                                    <p:cond delay="0"/>
                                  </p:stCondLst>
                                  <p:childTnLst>
                                    <p:set>
                                      <p:cBhvr>
                                        <p:cTn id="68" dur="1" fill="hold">
                                          <p:stCondLst>
                                            <p:cond delay="0"/>
                                          </p:stCondLst>
                                        </p:cTn>
                                        <p:tgtEl>
                                          <p:spTgt spid="107572"/>
                                        </p:tgtEl>
                                        <p:attrNameLst>
                                          <p:attrName>style.visibility</p:attrName>
                                        </p:attrNameLst>
                                      </p:cBhvr>
                                      <p:to>
                                        <p:strVal val="visible"/>
                                      </p:to>
                                    </p:set>
                                    <p:animEffect transition="in" filter="wipe(left)">
                                      <p:cBhvr>
                                        <p:cTn id="69" dur="500"/>
                                        <p:tgtEl>
                                          <p:spTgt spid="107572"/>
                                        </p:tgtEl>
                                      </p:cBhvr>
                                    </p:animEffect>
                                  </p:childTnLst>
                                </p:cTn>
                              </p:par>
                              <p:par>
                                <p:cTn id="70" presetID="22" presetClass="entr" presetSubtype="8" fill="hold" nodeType="withEffect">
                                  <p:stCondLst>
                                    <p:cond delay="0"/>
                                  </p:stCondLst>
                                  <p:childTnLst>
                                    <p:set>
                                      <p:cBhvr>
                                        <p:cTn id="71" dur="1" fill="hold">
                                          <p:stCondLst>
                                            <p:cond delay="0"/>
                                          </p:stCondLst>
                                        </p:cTn>
                                        <p:tgtEl>
                                          <p:spTgt spid="107573"/>
                                        </p:tgtEl>
                                        <p:attrNameLst>
                                          <p:attrName>style.visibility</p:attrName>
                                        </p:attrNameLst>
                                      </p:cBhvr>
                                      <p:to>
                                        <p:strVal val="visible"/>
                                      </p:to>
                                    </p:set>
                                    <p:animEffect transition="in" filter="wipe(left)">
                                      <p:cBhvr>
                                        <p:cTn id="72" dur="500"/>
                                        <p:tgtEl>
                                          <p:spTgt spid="107573"/>
                                        </p:tgtEl>
                                      </p:cBhvr>
                                    </p:animEffect>
                                  </p:childTnLst>
                                </p:cTn>
                              </p:par>
                              <p:par>
                                <p:cTn id="73" presetID="22" presetClass="entr" presetSubtype="8" fill="hold" nodeType="withEffect">
                                  <p:stCondLst>
                                    <p:cond delay="0"/>
                                  </p:stCondLst>
                                  <p:childTnLst>
                                    <p:set>
                                      <p:cBhvr>
                                        <p:cTn id="74" dur="1" fill="hold">
                                          <p:stCondLst>
                                            <p:cond delay="0"/>
                                          </p:stCondLst>
                                        </p:cTn>
                                        <p:tgtEl>
                                          <p:spTgt spid="107574"/>
                                        </p:tgtEl>
                                        <p:attrNameLst>
                                          <p:attrName>style.visibility</p:attrName>
                                        </p:attrNameLst>
                                      </p:cBhvr>
                                      <p:to>
                                        <p:strVal val="visible"/>
                                      </p:to>
                                    </p:set>
                                    <p:animEffect transition="in" filter="wipe(left)">
                                      <p:cBhvr>
                                        <p:cTn id="75" dur="500"/>
                                        <p:tgtEl>
                                          <p:spTgt spid="107574"/>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107575"/>
                                        </p:tgtEl>
                                        <p:attrNameLst>
                                          <p:attrName>style.visibility</p:attrName>
                                        </p:attrNameLst>
                                      </p:cBhvr>
                                      <p:to>
                                        <p:strVal val="visible"/>
                                      </p:to>
                                    </p:set>
                                    <p:animEffect transition="in" filter="wipe(left)">
                                      <p:cBhvr>
                                        <p:cTn id="78" dur="500"/>
                                        <p:tgtEl>
                                          <p:spTgt spid="10757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07522"/>
                                        </p:tgtEl>
                                        <p:attrNameLst>
                                          <p:attrName>style.visibility</p:attrName>
                                        </p:attrNameLst>
                                      </p:cBhvr>
                                      <p:to>
                                        <p:strVal val="visible"/>
                                      </p:to>
                                    </p:set>
                                  </p:childTnLst>
                                </p:cTn>
                              </p:par>
                              <p:par>
                                <p:cTn id="83" presetID="63" presetClass="path" presetSubtype="0" decel="50000" fill="hold" grpId="1" nodeType="withEffect">
                                  <p:stCondLst>
                                    <p:cond delay="0"/>
                                  </p:stCondLst>
                                  <p:childTnLst>
                                    <p:animMotion origin="layout" path="M -1.11111E-6 3.7037E-7 L 0.20868 3.7037E-7 " pathEditMode="relative" rAng="0" ptsTypes="AA">
                                      <p:cBhvr>
                                        <p:cTn id="84" dur="500" fill="hold"/>
                                        <p:tgtEl>
                                          <p:spTgt spid="107522"/>
                                        </p:tgtEl>
                                        <p:attrNameLst>
                                          <p:attrName>ppt_x</p:attrName>
                                          <p:attrName>ppt_y</p:attrName>
                                        </p:attrNameLst>
                                      </p:cBhvr>
                                      <p:rCtr x="104" y="0"/>
                                    </p:animMotion>
                                  </p:childTnLst>
                                </p:cTn>
                              </p:par>
                            </p:childTnLst>
                          </p:cTn>
                        </p:par>
                        <p:par>
                          <p:cTn id="85" fill="hold" nodeType="afterGroup">
                            <p:stCondLst>
                              <p:cond delay="500"/>
                            </p:stCondLst>
                            <p:childTnLst>
                              <p:par>
                                <p:cTn id="86" presetID="1" presetClass="entr" presetSubtype="0" fill="hold" nodeType="afterEffect">
                                  <p:stCondLst>
                                    <p:cond delay="0"/>
                                  </p:stCondLst>
                                  <p:childTnLst>
                                    <p:set>
                                      <p:cBhvr>
                                        <p:cTn id="87" dur="1" fill="hold">
                                          <p:stCondLst>
                                            <p:cond delay="0"/>
                                          </p:stCondLst>
                                        </p:cTn>
                                        <p:tgtEl>
                                          <p:spTgt spid="107550"/>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9" presetClass="entr" presetSubtype="0" fill="hold" nodeType="clickEffect">
                                  <p:stCondLst>
                                    <p:cond delay="0"/>
                                  </p:stCondLst>
                                  <p:childTnLst>
                                    <p:set>
                                      <p:cBhvr>
                                        <p:cTn id="91" dur="1" fill="hold">
                                          <p:stCondLst>
                                            <p:cond delay="0"/>
                                          </p:stCondLst>
                                        </p:cTn>
                                        <p:tgtEl>
                                          <p:spTgt spid="107554"/>
                                        </p:tgtEl>
                                        <p:attrNameLst>
                                          <p:attrName>style.visibility</p:attrName>
                                        </p:attrNameLst>
                                      </p:cBhvr>
                                      <p:to>
                                        <p:strVal val="visible"/>
                                      </p:to>
                                    </p:set>
                                    <p:animEffect transition="in" filter="dissolve">
                                      <p:cBhvr>
                                        <p:cTn id="92" dur="500"/>
                                        <p:tgtEl>
                                          <p:spTgt spid="107554"/>
                                        </p:tgtEl>
                                      </p:cBhvr>
                                    </p:animEffect>
                                  </p:childTnLst>
                                </p:cTn>
                              </p:par>
                              <p:par>
                                <p:cTn id="93" presetID="9" presetClass="entr" presetSubtype="0" fill="hold" grpId="1" nodeType="withEffect">
                                  <p:stCondLst>
                                    <p:cond delay="0"/>
                                  </p:stCondLst>
                                  <p:childTnLst>
                                    <p:set>
                                      <p:cBhvr>
                                        <p:cTn id="94" dur="1" fill="hold">
                                          <p:stCondLst>
                                            <p:cond delay="0"/>
                                          </p:stCondLst>
                                        </p:cTn>
                                        <p:tgtEl>
                                          <p:spTgt spid="107549"/>
                                        </p:tgtEl>
                                        <p:attrNameLst>
                                          <p:attrName>style.visibility</p:attrName>
                                        </p:attrNameLst>
                                      </p:cBhvr>
                                      <p:to>
                                        <p:strVal val="visible"/>
                                      </p:to>
                                    </p:set>
                                    <p:animEffect transition="in" filter="dissolve">
                                      <p:cBhvr>
                                        <p:cTn id="95" dur="500"/>
                                        <p:tgtEl>
                                          <p:spTgt spid="107549"/>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18" presetClass="entr" presetSubtype="3" fill="hold" grpId="0" nodeType="clickEffect">
                                  <p:stCondLst>
                                    <p:cond delay="0"/>
                                  </p:stCondLst>
                                  <p:childTnLst>
                                    <p:set>
                                      <p:cBhvr>
                                        <p:cTn id="99" dur="1" fill="hold">
                                          <p:stCondLst>
                                            <p:cond delay="0"/>
                                          </p:stCondLst>
                                        </p:cTn>
                                        <p:tgtEl>
                                          <p:spTgt spid="107525"/>
                                        </p:tgtEl>
                                        <p:attrNameLst>
                                          <p:attrName>style.visibility</p:attrName>
                                        </p:attrNameLst>
                                      </p:cBhvr>
                                      <p:to>
                                        <p:strVal val="visible"/>
                                      </p:to>
                                    </p:set>
                                    <p:animEffect transition="in" filter="strips(upRight)">
                                      <p:cBhvr>
                                        <p:cTn id="100" dur="500"/>
                                        <p:tgtEl>
                                          <p:spTgt spid="107525"/>
                                        </p:tgtEl>
                                      </p:cBhvr>
                                    </p:animEffect>
                                  </p:childTnLst>
                                </p:cTn>
                              </p:par>
                              <p:par>
                                <p:cTn id="101" presetID="18" presetClass="entr" presetSubtype="3" fill="hold" grpId="0" nodeType="withEffect">
                                  <p:stCondLst>
                                    <p:cond delay="0"/>
                                  </p:stCondLst>
                                  <p:childTnLst>
                                    <p:set>
                                      <p:cBhvr>
                                        <p:cTn id="102" dur="1" fill="hold">
                                          <p:stCondLst>
                                            <p:cond delay="0"/>
                                          </p:stCondLst>
                                        </p:cTn>
                                        <p:tgtEl>
                                          <p:spTgt spid="107524"/>
                                        </p:tgtEl>
                                        <p:attrNameLst>
                                          <p:attrName>style.visibility</p:attrName>
                                        </p:attrNameLst>
                                      </p:cBhvr>
                                      <p:to>
                                        <p:strVal val="visible"/>
                                      </p:to>
                                    </p:set>
                                    <p:animEffect transition="in" filter="strips(upRight)">
                                      <p:cBhvr>
                                        <p:cTn id="103" dur="500"/>
                                        <p:tgtEl>
                                          <p:spTgt spid="107524"/>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107523"/>
                                        </p:tgtEl>
                                        <p:attrNameLst>
                                          <p:attrName>style.visibility</p:attrName>
                                        </p:attrNameLst>
                                      </p:cBhvr>
                                      <p:to>
                                        <p:strVal val="visible"/>
                                      </p:to>
                                    </p:set>
                                    <p:animEffect transition="in" filter="dissolve">
                                      <p:cBhvr>
                                        <p:cTn id="106" dur="500"/>
                                        <p:tgtEl>
                                          <p:spTgt spid="107523"/>
                                        </p:tgtEl>
                                      </p:cBhvr>
                                    </p:animEffect>
                                  </p:childTnLst>
                                </p:cTn>
                              </p:par>
                            </p:childTnLst>
                          </p:cTn>
                        </p:par>
                        <p:par>
                          <p:cTn id="107" fill="hold" nodeType="afterGroup">
                            <p:stCondLst>
                              <p:cond delay="500"/>
                            </p:stCondLst>
                            <p:childTnLst>
                              <p:par>
                                <p:cTn id="108" presetID="9" presetClass="entr" presetSubtype="0" fill="hold" nodeType="afterEffect">
                                  <p:stCondLst>
                                    <p:cond delay="0"/>
                                  </p:stCondLst>
                                  <p:childTnLst>
                                    <p:set>
                                      <p:cBhvr>
                                        <p:cTn id="109" dur="1" fill="hold">
                                          <p:stCondLst>
                                            <p:cond delay="0"/>
                                          </p:stCondLst>
                                        </p:cTn>
                                        <p:tgtEl>
                                          <p:spTgt spid="107526"/>
                                        </p:tgtEl>
                                        <p:attrNameLst>
                                          <p:attrName>style.visibility</p:attrName>
                                        </p:attrNameLst>
                                      </p:cBhvr>
                                      <p:to>
                                        <p:strVal val="visible"/>
                                      </p:to>
                                    </p:set>
                                    <p:animEffect transition="in" filter="dissolve">
                                      <p:cBhvr>
                                        <p:cTn id="110" dur="500"/>
                                        <p:tgtEl>
                                          <p:spTgt spid="107526"/>
                                        </p:tgtEl>
                                      </p:cBhvr>
                                    </p:animEffect>
                                  </p:childTnLst>
                                </p:cTn>
                              </p:par>
                              <p:par>
                                <p:cTn id="111" presetID="9" presetClass="entr" presetSubtype="0" fill="hold" nodeType="withEffect">
                                  <p:stCondLst>
                                    <p:cond delay="0"/>
                                  </p:stCondLst>
                                  <p:childTnLst>
                                    <p:set>
                                      <p:cBhvr>
                                        <p:cTn id="112" dur="1" fill="hold">
                                          <p:stCondLst>
                                            <p:cond delay="0"/>
                                          </p:stCondLst>
                                        </p:cTn>
                                        <p:tgtEl>
                                          <p:spTgt spid="107528"/>
                                        </p:tgtEl>
                                        <p:attrNameLst>
                                          <p:attrName>style.visibility</p:attrName>
                                        </p:attrNameLst>
                                      </p:cBhvr>
                                      <p:to>
                                        <p:strVal val="visible"/>
                                      </p:to>
                                    </p:set>
                                    <p:animEffect transition="in" filter="dissolve">
                                      <p:cBhvr>
                                        <p:cTn id="113" dur="500"/>
                                        <p:tgtEl>
                                          <p:spTgt spid="107528"/>
                                        </p:tgtEl>
                                      </p:cBhvr>
                                    </p:animEffect>
                                  </p:childTnLst>
                                </p:cTn>
                              </p:par>
                              <p:par>
                                <p:cTn id="114" presetID="9" presetClass="entr" presetSubtype="0" fill="hold" grpId="0" nodeType="withEffect">
                                  <p:stCondLst>
                                    <p:cond delay="0"/>
                                  </p:stCondLst>
                                  <p:childTnLst>
                                    <p:set>
                                      <p:cBhvr>
                                        <p:cTn id="115" dur="1" fill="hold">
                                          <p:stCondLst>
                                            <p:cond delay="0"/>
                                          </p:stCondLst>
                                        </p:cTn>
                                        <p:tgtEl>
                                          <p:spTgt spid="107527"/>
                                        </p:tgtEl>
                                        <p:attrNameLst>
                                          <p:attrName>style.visibility</p:attrName>
                                        </p:attrNameLst>
                                      </p:cBhvr>
                                      <p:to>
                                        <p:strVal val="visible"/>
                                      </p:to>
                                    </p:set>
                                    <p:animEffect transition="in" filter="dissolve">
                                      <p:cBhvr>
                                        <p:cTn id="116" dur="500"/>
                                        <p:tgtEl>
                                          <p:spTgt spid="107527"/>
                                        </p:tgtEl>
                                      </p:cBhvr>
                                    </p:animEffect>
                                  </p:childTnLst>
                                </p:cTn>
                              </p:par>
                              <p:par>
                                <p:cTn id="117" presetID="9" presetClass="entr" presetSubtype="0" fill="hold" grpId="0" nodeType="withEffect">
                                  <p:stCondLst>
                                    <p:cond delay="0"/>
                                  </p:stCondLst>
                                  <p:childTnLst>
                                    <p:set>
                                      <p:cBhvr>
                                        <p:cTn id="118" dur="1" fill="hold">
                                          <p:stCondLst>
                                            <p:cond delay="0"/>
                                          </p:stCondLst>
                                        </p:cTn>
                                        <p:tgtEl>
                                          <p:spTgt spid="107548"/>
                                        </p:tgtEl>
                                        <p:attrNameLst>
                                          <p:attrName>style.visibility</p:attrName>
                                        </p:attrNameLst>
                                      </p:cBhvr>
                                      <p:to>
                                        <p:strVal val="visible"/>
                                      </p:to>
                                    </p:set>
                                    <p:animEffect transition="in" filter="dissolve">
                                      <p:cBhvr>
                                        <p:cTn id="119" dur="500"/>
                                        <p:tgtEl>
                                          <p:spTgt spid="107548"/>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9" presetClass="entr" presetSubtype="0" fill="hold" nodeType="clickEffect">
                                  <p:stCondLst>
                                    <p:cond delay="0"/>
                                  </p:stCondLst>
                                  <p:childTnLst>
                                    <p:set>
                                      <p:cBhvr>
                                        <p:cTn id="123" dur="1" fill="hold">
                                          <p:stCondLst>
                                            <p:cond delay="0"/>
                                          </p:stCondLst>
                                        </p:cTn>
                                        <p:tgtEl>
                                          <p:spTgt spid="107535"/>
                                        </p:tgtEl>
                                        <p:attrNameLst>
                                          <p:attrName>style.visibility</p:attrName>
                                        </p:attrNameLst>
                                      </p:cBhvr>
                                      <p:to>
                                        <p:strVal val="visible"/>
                                      </p:to>
                                    </p:set>
                                    <p:animEffect transition="in" filter="dissolve">
                                      <p:cBhvr>
                                        <p:cTn id="124" dur="500"/>
                                        <p:tgtEl>
                                          <p:spTgt spid="107535"/>
                                        </p:tgtEl>
                                      </p:cBhvr>
                                    </p:animEffect>
                                  </p:childTnLst>
                                </p:cTn>
                              </p:par>
                              <p:par>
                                <p:cTn id="125" presetID="9" presetClass="exit" presetSubtype="0" fill="hold" nodeType="withEffect">
                                  <p:stCondLst>
                                    <p:cond delay="0"/>
                                  </p:stCondLst>
                                  <p:childTnLst>
                                    <p:animEffect transition="out" filter="dissolve">
                                      <p:cBhvr>
                                        <p:cTn id="126" dur="500"/>
                                        <p:tgtEl>
                                          <p:spTgt spid="107554"/>
                                        </p:tgtEl>
                                      </p:cBhvr>
                                    </p:animEffect>
                                    <p:set>
                                      <p:cBhvr>
                                        <p:cTn id="127" dur="1" fill="hold">
                                          <p:stCondLst>
                                            <p:cond delay="499"/>
                                          </p:stCondLst>
                                        </p:cTn>
                                        <p:tgtEl>
                                          <p:spTgt spid="107554"/>
                                        </p:tgtEl>
                                        <p:attrNameLst>
                                          <p:attrName>style.visibility</p:attrName>
                                        </p:attrNameLst>
                                      </p:cBhvr>
                                      <p:to>
                                        <p:strVal val="hidden"/>
                                      </p:to>
                                    </p:set>
                                  </p:childTnLst>
                                </p:cTn>
                              </p:par>
                              <p:par>
                                <p:cTn id="128" presetID="1" presetClass="exit" presetSubtype="0" fill="hold" grpId="0" nodeType="withEffect">
                                  <p:stCondLst>
                                    <p:cond delay="0"/>
                                  </p:stCondLst>
                                  <p:childTnLst>
                                    <p:set>
                                      <p:cBhvr>
                                        <p:cTn id="129" dur="1" fill="hold">
                                          <p:stCondLst>
                                            <p:cond delay="0"/>
                                          </p:stCondLst>
                                        </p:cTn>
                                        <p:tgtEl>
                                          <p:spTgt spid="107553"/>
                                        </p:tgtEl>
                                        <p:attrNameLst>
                                          <p:attrName>style.visibility</p:attrName>
                                        </p:attrNameLst>
                                      </p:cBhvr>
                                      <p:to>
                                        <p:strVal val="hidden"/>
                                      </p:to>
                                    </p:set>
                                  </p:childTnLst>
                                </p:cTn>
                              </p:par>
                              <p:par>
                                <p:cTn id="130" presetID="9" presetClass="exit" presetSubtype="0" fill="hold" grpId="0" nodeType="withEffect">
                                  <p:stCondLst>
                                    <p:cond delay="0"/>
                                  </p:stCondLst>
                                  <p:childTnLst>
                                    <p:animEffect transition="out" filter="dissolve">
                                      <p:cBhvr>
                                        <p:cTn id="131" dur="500"/>
                                        <p:tgtEl>
                                          <p:spTgt spid="107549"/>
                                        </p:tgtEl>
                                      </p:cBhvr>
                                    </p:animEffect>
                                    <p:set>
                                      <p:cBhvr>
                                        <p:cTn id="132" dur="1" fill="hold">
                                          <p:stCondLst>
                                            <p:cond delay="499"/>
                                          </p:stCondLst>
                                        </p:cTn>
                                        <p:tgtEl>
                                          <p:spTgt spid="107549"/>
                                        </p:tgtEl>
                                        <p:attrNameLst>
                                          <p:attrName>style.visibility</p:attrName>
                                        </p:attrNameLst>
                                      </p:cBhvr>
                                      <p:to>
                                        <p:strVal val="hidden"/>
                                      </p:to>
                                    </p:se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50" presetClass="entr" presetSubtype="0" decel="100000" fill="hold" nodeType="clickEffect">
                                  <p:stCondLst>
                                    <p:cond delay="0"/>
                                  </p:stCondLst>
                                  <p:childTnLst>
                                    <p:set>
                                      <p:cBhvr>
                                        <p:cTn id="136" dur="1" fill="hold">
                                          <p:stCondLst>
                                            <p:cond delay="0"/>
                                          </p:stCondLst>
                                        </p:cTn>
                                        <p:tgtEl>
                                          <p:spTgt spid="107540"/>
                                        </p:tgtEl>
                                        <p:attrNameLst>
                                          <p:attrName>style.visibility</p:attrName>
                                        </p:attrNameLst>
                                      </p:cBhvr>
                                      <p:to>
                                        <p:strVal val="visible"/>
                                      </p:to>
                                    </p:set>
                                    <p:anim calcmode="lin" valueType="num">
                                      <p:cBhvr>
                                        <p:cTn id="137" dur="1000" fill="hold"/>
                                        <p:tgtEl>
                                          <p:spTgt spid="107540"/>
                                        </p:tgtEl>
                                        <p:attrNameLst>
                                          <p:attrName>ppt_w</p:attrName>
                                        </p:attrNameLst>
                                      </p:cBhvr>
                                      <p:tavLst>
                                        <p:tav tm="0">
                                          <p:val>
                                            <p:strVal val="#ppt_w+.3"/>
                                          </p:val>
                                        </p:tav>
                                        <p:tav tm="100000">
                                          <p:val>
                                            <p:strVal val="#ppt_w"/>
                                          </p:val>
                                        </p:tav>
                                      </p:tavLst>
                                    </p:anim>
                                    <p:anim calcmode="lin" valueType="num">
                                      <p:cBhvr>
                                        <p:cTn id="138" dur="1000" fill="hold"/>
                                        <p:tgtEl>
                                          <p:spTgt spid="107540"/>
                                        </p:tgtEl>
                                        <p:attrNameLst>
                                          <p:attrName>ppt_h</p:attrName>
                                        </p:attrNameLst>
                                      </p:cBhvr>
                                      <p:tavLst>
                                        <p:tav tm="0">
                                          <p:val>
                                            <p:strVal val="#ppt_h"/>
                                          </p:val>
                                        </p:tav>
                                        <p:tav tm="100000">
                                          <p:val>
                                            <p:strVal val="#ppt_h"/>
                                          </p:val>
                                        </p:tav>
                                      </p:tavLst>
                                    </p:anim>
                                    <p:animEffect transition="in" filter="fade">
                                      <p:cBhvr>
                                        <p:cTn id="139" dur="1000"/>
                                        <p:tgtEl>
                                          <p:spTgt spid="107540"/>
                                        </p:tgtEl>
                                      </p:cBhvr>
                                    </p:animEffect>
                                  </p:childTnLst>
                                </p:cTn>
                              </p:par>
                            </p:childTnLst>
                          </p:cTn>
                        </p:par>
                        <p:par>
                          <p:cTn id="140" fill="hold" nodeType="afterGroup">
                            <p:stCondLst>
                              <p:cond delay="1000"/>
                            </p:stCondLst>
                            <p:childTnLst>
                              <p:par>
                                <p:cTn id="141" presetID="9" presetClass="entr" presetSubtype="0" fill="hold" grpId="0" nodeType="afterEffect">
                                  <p:stCondLst>
                                    <p:cond delay="0"/>
                                  </p:stCondLst>
                                  <p:childTnLst>
                                    <p:set>
                                      <p:cBhvr>
                                        <p:cTn id="142" dur="1" fill="hold">
                                          <p:stCondLst>
                                            <p:cond delay="0"/>
                                          </p:stCondLst>
                                        </p:cTn>
                                        <p:tgtEl>
                                          <p:spTgt spid="107543"/>
                                        </p:tgtEl>
                                        <p:attrNameLst>
                                          <p:attrName>style.visibility</p:attrName>
                                        </p:attrNameLst>
                                      </p:cBhvr>
                                      <p:to>
                                        <p:strVal val="visible"/>
                                      </p:to>
                                    </p:set>
                                    <p:animEffect transition="in" filter="dissolve">
                                      <p:cBhvr>
                                        <p:cTn id="143" dur="500"/>
                                        <p:tgtEl>
                                          <p:spTgt spid="107543"/>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 presetClass="entr" presetSubtype="4" fill="hold" nodeType="clickEffect">
                                  <p:stCondLst>
                                    <p:cond delay="0"/>
                                  </p:stCondLst>
                                  <p:childTnLst>
                                    <p:set>
                                      <p:cBhvr>
                                        <p:cTn id="147" dur="1" fill="hold">
                                          <p:stCondLst>
                                            <p:cond delay="0"/>
                                          </p:stCondLst>
                                        </p:cTn>
                                        <p:tgtEl>
                                          <p:spTgt spid="107532"/>
                                        </p:tgtEl>
                                        <p:attrNameLst>
                                          <p:attrName>style.visibility</p:attrName>
                                        </p:attrNameLst>
                                      </p:cBhvr>
                                      <p:to>
                                        <p:strVal val="visible"/>
                                      </p:to>
                                    </p:set>
                                    <p:anim calcmode="lin" valueType="num">
                                      <p:cBhvr additive="base">
                                        <p:cTn id="148" dur="500" fill="hold"/>
                                        <p:tgtEl>
                                          <p:spTgt spid="107532"/>
                                        </p:tgtEl>
                                        <p:attrNameLst>
                                          <p:attrName>ppt_x</p:attrName>
                                        </p:attrNameLst>
                                      </p:cBhvr>
                                      <p:tavLst>
                                        <p:tav tm="0">
                                          <p:val>
                                            <p:strVal val="#ppt_x"/>
                                          </p:val>
                                        </p:tav>
                                        <p:tav tm="100000">
                                          <p:val>
                                            <p:strVal val="#ppt_x"/>
                                          </p:val>
                                        </p:tav>
                                      </p:tavLst>
                                    </p:anim>
                                    <p:anim calcmode="lin" valueType="num">
                                      <p:cBhvr additive="base">
                                        <p:cTn id="149" dur="500" fill="hold"/>
                                        <p:tgtEl>
                                          <p:spTgt spid="107532"/>
                                        </p:tgtEl>
                                        <p:attrNameLst>
                                          <p:attrName>ppt_y</p:attrName>
                                        </p:attrNameLst>
                                      </p:cBhvr>
                                      <p:tavLst>
                                        <p:tav tm="0">
                                          <p:val>
                                            <p:strVal val="1+#ppt_h/2"/>
                                          </p:val>
                                        </p:tav>
                                        <p:tav tm="100000">
                                          <p:val>
                                            <p:strVal val="#ppt_y"/>
                                          </p:val>
                                        </p:tav>
                                      </p:tavLst>
                                    </p:anim>
                                  </p:childTnLst>
                                </p:cTn>
                              </p:par>
                            </p:childTnLst>
                          </p:cTn>
                        </p:par>
                        <p:par>
                          <p:cTn id="150" fill="hold" nodeType="afterGroup">
                            <p:stCondLst>
                              <p:cond delay="500"/>
                            </p:stCondLst>
                            <p:childTnLst>
                              <p:par>
                                <p:cTn id="151" presetID="2" presetClass="entr" presetSubtype="4" fill="hold" nodeType="afterEffect">
                                  <p:stCondLst>
                                    <p:cond delay="0"/>
                                  </p:stCondLst>
                                  <p:childTnLst>
                                    <p:set>
                                      <p:cBhvr>
                                        <p:cTn id="152" dur="1" fill="hold">
                                          <p:stCondLst>
                                            <p:cond delay="0"/>
                                          </p:stCondLst>
                                        </p:cTn>
                                        <p:tgtEl>
                                          <p:spTgt spid="107534"/>
                                        </p:tgtEl>
                                        <p:attrNameLst>
                                          <p:attrName>style.visibility</p:attrName>
                                        </p:attrNameLst>
                                      </p:cBhvr>
                                      <p:to>
                                        <p:strVal val="visible"/>
                                      </p:to>
                                    </p:set>
                                    <p:anim calcmode="lin" valueType="num">
                                      <p:cBhvr additive="base">
                                        <p:cTn id="153" dur="500" fill="hold"/>
                                        <p:tgtEl>
                                          <p:spTgt spid="107534"/>
                                        </p:tgtEl>
                                        <p:attrNameLst>
                                          <p:attrName>ppt_x</p:attrName>
                                        </p:attrNameLst>
                                      </p:cBhvr>
                                      <p:tavLst>
                                        <p:tav tm="0">
                                          <p:val>
                                            <p:strVal val="#ppt_x"/>
                                          </p:val>
                                        </p:tav>
                                        <p:tav tm="100000">
                                          <p:val>
                                            <p:strVal val="#ppt_x"/>
                                          </p:val>
                                        </p:tav>
                                      </p:tavLst>
                                    </p:anim>
                                    <p:anim calcmode="lin" valueType="num">
                                      <p:cBhvr additive="base">
                                        <p:cTn id="154" dur="500" fill="hold"/>
                                        <p:tgtEl>
                                          <p:spTgt spid="107534"/>
                                        </p:tgtEl>
                                        <p:attrNameLst>
                                          <p:attrName>ppt_y</p:attrName>
                                        </p:attrNameLst>
                                      </p:cBhvr>
                                      <p:tavLst>
                                        <p:tav tm="0">
                                          <p:val>
                                            <p:strVal val="1+#ppt_h/2"/>
                                          </p:val>
                                        </p:tav>
                                        <p:tav tm="100000">
                                          <p:val>
                                            <p:strVal val="#ppt_y"/>
                                          </p:val>
                                        </p:tav>
                                      </p:tavLst>
                                    </p:anim>
                                  </p:childTnLst>
                                </p:cTn>
                              </p:par>
                            </p:childTnLst>
                          </p:cTn>
                        </p:par>
                        <p:par>
                          <p:cTn id="155" fill="hold" nodeType="afterGroup">
                            <p:stCondLst>
                              <p:cond delay="1000"/>
                            </p:stCondLst>
                            <p:childTnLst>
                              <p:par>
                                <p:cTn id="156" presetID="2" presetClass="entr" presetSubtype="4" fill="hold" nodeType="afterEffect">
                                  <p:stCondLst>
                                    <p:cond delay="0"/>
                                  </p:stCondLst>
                                  <p:childTnLst>
                                    <p:set>
                                      <p:cBhvr>
                                        <p:cTn id="157" dur="1" fill="hold">
                                          <p:stCondLst>
                                            <p:cond delay="0"/>
                                          </p:stCondLst>
                                        </p:cTn>
                                        <p:tgtEl>
                                          <p:spTgt spid="107533"/>
                                        </p:tgtEl>
                                        <p:attrNameLst>
                                          <p:attrName>style.visibility</p:attrName>
                                        </p:attrNameLst>
                                      </p:cBhvr>
                                      <p:to>
                                        <p:strVal val="visible"/>
                                      </p:to>
                                    </p:set>
                                    <p:anim calcmode="lin" valueType="num">
                                      <p:cBhvr additive="base">
                                        <p:cTn id="158" dur="500" fill="hold"/>
                                        <p:tgtEl>
                                          <p:spTgt spid="107533"/>
                                        </p:tgtEl>
                                        <p:attrNameLst>
                                          <p:attrName>ppt_x</p:attrName>
                                        </p:attrNameLst>
                                      </p:cBhvr>
                                      <p:tavLst>
                                        <p:tav tm="0">
                                          <p:val>
                                            <p:strVal val="#ppt_x"/>
                                          </p:val>
                                        </p:tav>
                                        <p:tav tm="100000">
                                          <p:val>
                                            <p:strVal val="#ppt_x"/>
                                          </p:val>
                                        </p:tav>
                                      </p:tavLst>
                                    </p:anim>
                                    <p:anim calcmode="lin" valueType="num">
                                      <p:cBhvr additive="base">
                                        <p:cTn id="159" dur="500" fill="hold"/>
                                        <p:tgtEl>
                                          <p:spTgt spid="1075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nimBg="1"/>
      <p:bldP spid="107522" grpId="1" animBg="1"/>
      <p:bldP spid="107523" grpId="0" animBg="1"/>
      <p:bldP spid="107553" grpId="0" animBg="1"/>
      <p:bldP spid="107524" grpId="0" animBg="1"/>
      <p:bldP spid="107525" grpId="0" animBg="1"/>
      <p:bldP spid="107527" grpId="0"/>
      <p:bldP spid="107543" grpId="0"/>
      <p:bldP spid="107548" grpId="0" animBg="1"/>
      <p:bldP spid="107549" grpId="0"/>
      <p:bldP spid="107549" grpId="1"/>
      <p:bldP spid="107559" grpId="0" animBg="1"/>
      <p:bldP spid="107560" grpId="0" animBg="1"/>
      <p:bldP spid="107562" grpId="0" animBg="1"/>
      <p:bldP spid="107563" grpId="0" animBg="1"/>
      <p:bldP spid="107564" grpId="0" animBg="1"/>
      <p:bldP spid="107565" grpId="0" animBg="1"/>
      <p:bldP spid="107566" grpId="0" animBg="1"/>
      <p:bldP spid="107567" grpId="0" animBg="1"/>
      <p:bldP spid="107568" grpId="0" animBg="1"/>
      <p:bldP spid="107569" grpId="0" animBg="1"/>
      <p:bldP spid="107570" grpId="0" animBg="1"/>
      <p:bldP spid="107571" grpId="0" animBg="1"/>
      <p:bldP spid="107575" grpId="0" animBg="1"/>
      <p:bldP spid="107576" grpId="0" animBg="1"/>
      <p:bldP spid="10757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2" name="Rectangle 4"/>
          <p:cNvSpPr>
            <a:spLocks noChangeArrowheads="1"/>
          </p:cNvSpPr>
          <p:nvPr/>
        </p:nvSpPr>
        <p:spPr bwMode="auto">
          <a:xfrm>
            <a:off x="881063" y="1584325"/>
            <a:ext cx="7651750" cy="530225"/>
          </a:xfrm>
          <a:prstGeom prst="rect">
            <a:avLst/>
          </a:prstGeom>
          <a:noFill/>
          <a:ln w="9525">
            <a:noFill/>
            <a:miter lim="800000"/>
            <a:headEnd/>
            <a:tailEnd/>
          </a:ln>
          <a:effectLst/>
        </p:spPr>
        <p:txBody>
          <a:bodyPr>
            <a:spAutoFit/>
          </a:bodyPr>
          <a:lstStyle/>
          <a:p>
            <a:pPr>
              <a:lnSpc>
                <a:spcPct val="120000"/>
              </a:lnSpc>
            </a:pPr>
            <a:r>
              <a:rPr lang="en-US" altLang="zh-CN" b="1">
                <a:solidFill>
                  <a:schemeClr val="bg1"/>
                </a:solidFill>
                <a:latin typeface="楷体_GB2312" pitchFamily="49" charset="-122"/>
                <a:ea typeface="楷体_GB2312" pitchFamily="49" charset="-122"/>
              </a:rPr>
              <a:t>(1)</a:t>
            </a:r>
            <a:r>
              <a:rPr lang="zh-CN" altLang="en-US" b="1">
                <a:solidFill>
                  <a:schemeClr val="bg1"/>
                </a:solidFill>
                <a:latin typeface="楷体_GB2312" pitchFamily="49" charset="-122"/>
                <a:ea typeface="楷体_GB2312" pitchFamily="49" charset="-122"/>
              </a:rPr>
              <a:t>散射线中有两种波长</a:t>
            </a:r>
            <a:r>
              <a:rPr lang="zh-CN" altLang="en-US" b="1" i="1">
                <a:solidFill>
                  <a:schemeClr val="accent2"/>
                </a:solidFill>
                <a:latin typeface="楷体_GB2312" pitchFamily="49" charset="-122"/>
                <a:ea typeface="楷体_GB2312" pitchFamily="49" charset="-122"/>
                <a:sym typeface="Symbol" pitchFamily="18" charset="2"/>
              </a:rPr>
              <a:t></a:t>
            </a:r>
            <a:r>
              <a:rPr lang="en-US" altLang="zh-CN" b="1" baseline="-25000">
                <a:solidFill>
                  <a:schemeClr val="accent2"/>
                </a:solidFill>
                <a:latin typeface="楷体_GB2312" pitchFamily="49" charset="-122"/>
                <a:ea typeface="楷体_GB2312" pitchFamily="49" charset="-122"/>
                <a:sym typeface="Symbol" pitchFamily="18" charset="2"/>
              </a:rPr>
              <a:t>0</a:t>
            </a:r>
            <a:r>
              <a:rPr lang="en-US" altLang="zh-CN" b="1" i="1" baseline="-16000">
                <a:solidFill>
                  <a:srgbClr val="66FFFF"/>
                </a:solidFill>
                <a:latin typeface="楷体_GB2312" pitchFamily="49" charset="-122"/>
                <a:ea typeface="楷体_GB2312" pitchFamily="49" charset="-122"/>
              </a:rPr>
              <a:t> </a:t>
            </a:r>
            <a:r>
              <a:rPr lang="zh-CN" altLang="en-US" b="1">
                <a:solidFill>
                  <a:schemeClr val="bg1"/>
                </a:solidFill>
                <a:latin typeface="楷体_GB2312" pitchFamily="49" charset="-122"/>
                <a:ea typeface="楷体_GB2312" pitchFamily="49" charset="-122"/>
              </a:rPr>
              <a:t>和</a:t>
            </a:r>
            <a:r>
              <a:rPr lang="zh-CN" altLang="en-US" b="1" i="1">
                <a:solidFill>
                  <a:schemeClr val="accent2"/>
                </a:solidFill>
                <a:latin typeface="楷体_GB2312" pitchFamily="49" charset="-122"/>
                <a:ea typeface="楷体_GB2312" pitchFamily="49" charset="-122"/>
                <a:sym typeface="Symbol" pitchFamily="18" charset="2"/>
              </a:rPr>
              <a:t></a:t>
            </a:r>
            <a:r>
              <a:rPr lang="zh-CN" altLang="en-US" b="1">
                <a:solidFill>
                  <a:schemeClr val="bg1"/>
                </a:solidFill>
                <a:latin typeface="楷体_GB2312" pitchFamily="49" charset="-122"/>
                <a:ea typeface="楷体_GB2312" pitchFamily="49" charset="-122"/>
              </a:rPr>
              <a:t>，且</a:t>
            </a:r>
            <a:r>
              <a:rPr lang="zh-CN" altLang="en-US" b="1" i="1">
                <a:solidFill>
                  <a:schemeClr val="accent2"/>
                </a:solidFill>
                <a:latin typeface="楷体_GB2312" pitchFamily="49" charset="-122"/>
                <a:ea typeface="楷体_GB2312" pitchFamily="49" charset="-122"/>
                <a:sym typeface="Symbol" pitchFamily="18" charset="2"/>
              </a:rPr>
              <a:t> </a:t>
            </a:r>
            <a:r>
              <a:rPr lang="en-US" altLang="zh-CN" b="1">
                <a:solidFill>
                  <a:schemeClr val="accent2"/>
                </a:solidFill>
                <a:ea typeface="楷体_GB2312" pitchFamily="49" charset="-122"/>
                <a:sym typeface="Symbol" pitchFamily="18" charset="2"/>
              </a:rPr>
              <a:t>&gt; </a:t>
            </a:r>
            <a:r>
              <a:rPr lang="en-US" altLang="zh-CN" b="1" i="1">
                <a:solidFill>
                  <a:schemeClr val="accent2"/>
                </a:solidFill>
                <a:latin typeface="楷体_GB2312" pitchFamily="49" charset="-122"/>
                <a:ea typeface="楷体_GB2312" pitchFamily="49" charset="-122"/>
                <a:sym typeface="Symbol" pitchFamily="18" charset="2"/>
              </a:rPr>
              <a:t></a:t>
            </a:r>
            <a:r>
              <a:rPr lang="en-US" altLang="zh-CN" b="1" baseline="-25000">
                <a:solidFill>
                  <a:schemeClr val="accent2"/>
                </a:solidFill>
                <a:latin typeface="楷体_GB2312" pitchFamily="49" charset="-122"/>
                <a:ea typeface="楷体_GB2312" pitchFamily="49" charset="-122"/>
                <a:sym typeface="Symbol" pitchFamily="18" charset="2"/>
              </a:rPr>
              <a:t>0</a:t>
            </a:r>
            <a:r>
              <a:rPr lang="en-US" altLang="zh-CN" b="1">
                <a:latin typeface="楷体_GB2312" pitchFamily="49" charset="-122"/>
                <a:ea typeface="楷体_GB2312" pitchFamily="49" charset="-122"/>
              </a:rPr>
              <a:t> </a:t>
            </a:r>
            <a:r>
              <a:rPr lang="en-US" altLang="zh-CN" b="1">
                <a:solidFill>
                  <a:schemeClr val="bg2"/>
                </a:solidFill>
                <a:latin typeface="楷体_GB2312" pitchFamily="49" charset="-122"/>
                <a:ea typeface="楷体_GB2312" pitchFamily="49" charset="-122"/>
              </a:rPr>
              <a:t>;</a:t>
            </a:r>
          </a:p>
        </p:txBody>
      </p:sp>
      <p:grpSp>
        <p:nvGrpSpPr>
          <p:cNvPr id="186380" name="Group 12"/>
          <p:cNvGrpSpPr>
            <a:grpSpLocks/>
          </p:cNvGrpSpPr>
          <p:nvPr/>
        </p:nvGrpSpPr>
        <p:grpSpPr bwMode="auto">
          <a:xfrm>
            <a:off x="881063" y="2325688"/>
            <a:ext cx="7651750" cy="968375"/>
            <a:chOff x="555" y="998"/>
            <a:chExt cx="4820" cy="610"/>
          </a:xfrm>
        </p:grpSpPr>
        <p:sp>
          <p:nvSpPr>
            <p:cNvPr id="17416" name="Text Box 8"/>
            <p:cNvSpPr txBox="1">
              <a:spLocks noChangeArrowheads="1"/>
            </p:cNvSpPr>
            <p:nvPr/>
          </p:nvSpPr>
          <p:spPr bwMode="auto">
            <a:xfrm>
              <a:off x="555" y="998"/>
              <a:ext cx="4820" cy="610"/>
            </a:xfrm>
            <a:prstGeom prst="rect">
              <a:avLst/>
            </a:prstGeom>
            <a:noFill/>
            <a:ln w="9525">
              <a:noFill/>
              <a:miter lim="800000"/>
              <a:headEnd/>
              <a:tailEnd/>
            </a:ln>
            <a:effectLst/>
          </p:spPr>
          <p:txBody>
            <a:bodyPr>
              <a:spAutoFit/>
            </a:bodyPr>
            <a:lstStyle/>
            <a:p>
              <a:pPr>
                <a:lnSpc>
                  <a:spcPct val="120000"/>
                </a:lnSpc>
              </a:pPr>
              <a:r>
                <a:rPr lang="en-US" altLang="zh-CN" b="1">
                  <a:solidFill>
                    <a:schemeClr val="bg2"/>
                  </a:solidFill>
                  <a:latin typeface="楷体_GB2312" pitchFamily="49" charset="-122"/>
                  <a:ea typeface="楷体_GB2312" pitchFamily="49" charset="-122"/>
                </a:rPr>
                <a:t>(2)</a:t>
              </a:r>
              <a:r>
                <a:rPr lang="zh-CN" altLang="en-US" b="1">
                  <a:solidFill>
                    <a:schemeClr val="bg2"/>
                  </a:solidFill>
                  <a:latin typeface="楷体_GB2312" pitchFamily="49" charset="-122"/>
                  <a:ea typeface="楷体_GB2312" pitchFamily="49" charset="-122"/>
                </a:rPr>
                <a:t>波长差         随散射角</a:t>
              </a:r>
              <a:r>
                <a:rPr lang="en-US" altLang="zh-CN" b="1" i="1">
                  <a:solidFill>
                    <a:srgbClr val="FF6600"/>
                  </a:solidFill>
                  <a:latin typeface="楷体_GB2312" pitchFamily="49" charset="-122"/>
                  <a:ea typeface="楷体_GB2312" pitchFamily="49" charset="-122"/>
                </a:rPr>
                <a:t>θ</a:t>
              </a:r>
              <a:r>
                <a:rPr lang="zh-CN" altLang="en-US" b="1">
                  <a:solidFill>
                    <a:schemeClr val="bg2"/>
                  </a:solidFill>
                  <a:latin typeface="楷体_GB2312" pitchFamily="49" charset="-122"/>
                  <a:ea typeface="楷体_GB2312" pitchFamily="49" charset="-122"/>
                </a:rPr>
                <a:t>的增加而增加，波长</a:t>
              </a:r>
              <a:r>
                <a:rPr lang="zh-CN" altLang="en-US" b="1" i="1">
                  <a:solidFill>
                    <a:schemeClr val="accent2"/>
                  </a:solidFill>
                  <a:latin typeface="楷体_GB2312" pitchFamily="49" charset="-122"/>
                  <a:ea typeface="楷体_GB2312" pitchFamily="49" charset="-122"/>
                  <a:sym typeface="Symbol" pitchFamily="18" charset="2"/>
                </a:rPr>
                <a:t> </a:t>
              </a:r>
            </a:p>
            <a:p>
              <a:pPr>
                <a:lnSpc>
                  <a:spcPct val="120000"/>
                </a:lnSpc>
              </a:pPr>
              <a:r>
                <a:rPr lang="zh-CN" altLang="en-US" b="1" i="1">
                  <a:solidFill>
                    <a:schemeClr val="accent2"/>
                  </a:solidFill>
                  <a:latin typeface="楷体_GB2312" pitchFamily="49" charset="-122"/>
                  <a:ea typeface="楷体_GB2312" pitchFamily="49" charset="-122"/>
                  <a:sym typeface="Symbol" pitchFamily="18" charset="2"/>
                </a:rPr>
                <a:t>   </a:t>
              </a:r>
              <a:r>
                <a:rPr lang="zh-CN" altLang="en-US" b="1">
                  <a:solidFill>
                    <a:schemeClr val="bg2"/>
                  </a:solidFill>
                  <a:latin typeface="楷体_GB2312" pitchFamily="49" charset="-122"/>
                  <a:ea typeface="楷体_GB2312" pitchFamily="49" charset="-122"/>
                </a:rPr>
                <a:t>的谱线强度随</a:t>
              </a:r>
              <a:r>
                <a:rPr lang="en-US" altLang="zh-CN" b="1" i="1">
                  <a:solidFill>
                    <a:srgbClr val="FF6600"/>
                  </a:solidFill>
                  <a:latin typeface="楷体_GB2312" pitchFamily="49" charset="-122"/>
                  <a:ea typeface="楷体_GB2312" pitchFamily="49" charset="-122"/>
                </a:rPr>
                <a:t>θ</a:t>
              </a:r>
              <a:r>
                <a:rPr lang="zh-CN" altLang="en-US" b="1">
                  <a:solidFill>
                    <a:schemeClr val="bg2"/>
                  </a:solidFill>
                  <a:latin typeface="楷体_GB2312" pitchFamily="49" charset="-122"/>
                  <a:ea typeface="楷体_GB2312" pitchFamily="49" charset="-122"/>
                </a:rPr>
                <a:t>的增加而增加</a:t>
              </a:r>
              <a:r>
                <a:rPr lang="en-US" altLang="zh-CN" b="1">
                  <a:solidFill>
                    <a:schemeClr val="bg2"/>
                  </a:solidFill>
                  <a:latin typeface="楷体_GB2312" pitchFamily="49" charset="-122"/>
                  <a:ea typeface="楷体_GB2312" pitchFamily="49" charset="-122"/>
                </a:rPr>
                <a:t>; </a:t>
              </a:r>
            </a:p>
          </p:txBody>
        </p:sp>
        <p:graphicFrame>
          <p:nvGraphicFramePr>
            <p:cNvPr id="17417" name="Object 5"/>
            <p:cNvGraphicFramePr>
              <a:graphicFrameLocks noChangeAspect="1"/>
            </p:cNvGraphicFramePr>
            <p:nvPr/>
          </p:nvGraphicFramePr>
          <p:xfrm>
            <a:off x="1463" y="1054"/>
            <a:ext cx="852" cy="259"/>
          </p:xfrm>
          <a:graphic>
            <a:graphicData uri="http://schemas.openxmlformats.org/presentationml/2006/ole">
              <p:oleObj spid="_x0000_s17417" name="公式" r:id="rId3" imgW="627120" imgH="179280" progId="Equation.3">
                <p:embed/>
              </p:oleObj>
            </a:graphicData>
          </a:graphic>
        </p:graphicFrame>
      </p:grpSp>
      <p:sp>
        <p:nvSpPr>
          <p:cNvPr id="186375" name="Text Box 7"/>
          <p:cNvSpPr txBox="1">
            <a:spLocks noChangeArrowheads="1"/>
          </p:cNvSpPr>
          <p:nvPr/>
        </p:nvSpPr>
        <p:spPr bwMode="auto">
          <a:xfrm>
            <a:off x="431800" y="863600"/>
            <a:ext cx="2895600" cy="457200"/>
          </a:xfrm>
          <a:prstGeom prst="rect">
            <a:avLst/>
          </a:prstGeom>
          <a:noFill/>
          <a:ln w="9525">
            <a:noFill/>
            <a:miter lim="800000"/>
            <a:headEnd/>
            <a:tailEnd/>
          </a:ln>
          <a:effectLst/>
        </p:spPr>
        <p:txBody>
          <a:bodyPr>
            <a:spAutoFit/>
          </a:bodyPr>
          <a:lstStyle/>
          <a:p>
            <a:r>
              <a:rPr lang="en-US" altLang="zh-CN" b="1">
                <a:solidFill>
                  <a:schemeClr val="hlink"/>
                </a:solidFill>
                <a:latin typeface="宋体" charset="-122"/>
              </a:rPr>
              <a:t>1</a:t>
            </a:r>
            <a:r>
              <a:rPr lang="zh-CN" altLang="en-US" b="1">
                <a:solidFill>
                  <a:schemeClr val="hlink"/>
                </a:solidFill>
                <a:latin typeface="宋体" charset="-122"/>
              </a:rPr>
              <a:t>、实验规律</a:t>
            </a:r>
          </a:p>
        </p:txBody>
      </p:sp>
      <p:grpSp>
        <p:nvGrpSpPr>
          <p:cNvPr id="186379" name="Group 11"/>
          <p:cNvGrpSpPr>
            <a:grpSpLocks/>
          </p:cNvGrpSpPr>
          <p:nvPr/>
        </p:nvGrpSpPr>
        <p:grpSpPr bwMode="auto">
          <a:xfrm>
            <a:off x="927100" y="3384550"/>
            <a:ext cx="7470775" cy="1406525"/>
            <a:chOff x="612" y="1678"/>
            <a:chExt cx="4706" cy="886"/>
          </a:xfrm>
        </p:grpSpPr>
        <p:sp>
          <p:nvSpPr>
            <p:cNvPr id="17414" name="Text Box 9"/>
            <p:cNvSpPr txBox="1">
              <a:spLocks noChangeArrowheads="1"/>
            </p:cNvSpPr>
            <p:nvPr/>
          </p:nvSpPr>
          <p:spPr bwMode="auto">
            <a:xfrm>
              <a:off x="612" y="1678"/>
              <a:ext cx="4706" cy="886"/>
            </a:xfrm>
            <a:prstGeom prst="rect">
              <a:avLst/>
            </a:prstGeom>
            <a:noFill/>
            <a:ln w="9525">
              <a:noFill/>
              <a:miter lim="800000"/>
              <a:headEnd/>
              <a:tailEnd/>
            </a:ln>
            <a:effectLst/>
          </p:spPr>
          <p:txBody>
            <a:bodyPr>
              <a:spAutoFit/>
            </a:bodyPr>
            <a:lstStyle/>
            <a:p>
              <a:pPr marL="457200" indent="-457200">
                <a:lnSpc>
                  <a:spcPct val="120000"/>
                </a:lnSpc>
                <a:buFontTx/>
                <a:buAutoNum type="arabicParenBoth" startAt="3"/>
              </a:pPr>
              <a:r>
                <a:rPr lang="en-US" altLang="zh-CN" b="1">
                  <a:solidFill>
                    <a:schemeClr val="bg2"/>
                  </a:solidFill>
                  <a:latin typeface="楷体_GB2312" pitchFamily="49" charset="-122"/>
                  <a:ea typeface="楷体_GB2312" pitchFamily="49" charset="-122"/>
                </a:rPr>
                <a:t>   </a:t>
              </a:r>
              <a:r>
                <a:rPr lang="zh-CN" altLang="en-US" b="1">
                  <a:solidFill>
                    <a:schemeClr val="bg2"/>
                  </a:solidFill>
                  <a:latin typeface="楷体_GB2312" pitchFamily="49" charset="-122"/>
                  <a:ea typeface="楷体_GB2312" pitchFamily="49" charset="-122"/>
                </a:rPr>
                <a:t>与散射物质无关，原波长</a:t>
              </a:r>
              <a:r>
                <a:rPr lang="zh-CN" altLang="en-US" b="1" i="1">
                  <a:solidFill>
                    <a:schemeClr val="accent2"/>
                  </a:solidFill>
                  <a:latin typeface="楷体_GB2312" pitchFamily="49" charset="-122"/>
                  <a:ea typeface="楷体_GB2312" pitchFamily="49" charset="-122"/>
                  <a:sym typeface="Symbol" pitchFamily="18" charset="2"/>
                </a:rPr>
                <a:t></a:t>
              </a:r>
              <a:r>
                <a:rPr lang="en-US" altLang="zh-CN" b="1" baseline="-25000">
                  <a:solidFill>
                    <a:schemeClr val="accent2"/>
                  </a:solidFill>
                  <a:latin typeface="楷体_GB2312" pitchFamily="49" charset="-122"/>
                  <a:ea typeface="楷体_GB2312" pitchFamily="49" charset="-122"/>
                  <a:sym typeface="Symbol" pitchFamily="18" charset="2"/>
                </a:rPr>
                <a:t>0</a:t>
              </a:r>
              <a:r>
                <a:rPr lang="zh-CN" altLang="en-US" b="1">
                  <a:solidFill>
                    <a:schemeClr val="bg2"/>
                  </a:solidFill>
                  <a:latin typeface="楷体_GB2312" pitchFamily="49" charset="-122"/>
                  <a:ea typeface="楷体_GB2312" pitchFamily="49" charset="-122"/>
                </a:rPr>
                <a:t>谱线的强度随散射</a:t>
              </a:r>
            </a:p>
            <a:p>
              <a:pPr marL="457200" indent="-457200">
                <a:lnSpc>
                  <a:spcPct val="120000"/>
                </a:lnSpc>
              </a:pPr>
              <a:r>
                <a:rPr lang="zh-CN" altLang="en-US" b="1">
                  <a:solidFill>
                    <a:schemeClr val="bg2"/>
                  </a:solidFill>
                  <a:latin typeface="楷体_GB2312" pitchFamily="49" charset="-122"/>
                  <a:ea typeface="楷体_GB2312" pitchFamily="49" charset="-122"/>
                </a:rPr>
                <a:t>   物质原子序数的增加而增加，波长为</a:t>
              </a:r>
              <a:r>
                <a:rPr lang="zh-CN" altLang="en-US" b="1" i="1">
                  <a:solidFill>
                    <a:schemeClr val="accent2"/>
                  </a:solidFill>
                  <a:latin typeface="楷体_GB2312" pitchFamily="49" charset="-122"/>
                  <a:ea typeface="楷体_GB2312" pitchFamily="49" charset="-122"/>
                  <a:sym typeface="Symbol" pitchFamily="18" charset="2"/>
                </a:rPr>
                <a:t></a:t>
              </a:r>
              <a:r>
                <a:rPr lang="zh-CN" altLang="en-US" b="1">
                  <a:solidFill>
                    <a:schemeClr val="bg2"/>
                  </a:solidFill>
                  <a:latin typeface="楷体_GB2312" pitchFamily="49" charset="-122"/>
                  <a:ea typeface="楷体_GB2312" pitchFamily="49" charset="-122"/>
                </a:rPr>
                <a:t>的谱线强度随散射物质原子序数的增加而减小。 </a:t>
              </a:r>
            </a:p>
          </p:txBody>
        </p:sp>
        <p:graphicFrame>
          <p:nvGraphicFramePr>
            <p:cNvPr id="17415" name="Object 10"/>
            <p:cNvGraphicFramePr>
              <a:graphicFrameLocks noChangeAspect="1"/>
            </p:cNvGraphicFramePr>
            <p:nvPr/>
          </p:nvGraphicFramePr>
          <p:xfrm>
            <a:off x="952" y="1735"/>
            <a:ext cx="312" cy="229"/>
          </p:xfrm>
          <a:graphic>
            <a:graphicData uri="http://schemas.openxmlformats.org/presentationml/2006/ole">
              <p:oleObj spid="_x0000_s17415" name="公式" r:id="rId4" imgW="187200" imgH="138600"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6375"/>
                                        </p:tgtEl>
                                        <p:attrNameLst>
                                          <p:attrName>style.visibility</p:attrName>
                                        </p:attrNameLst>
                                      </p:cBhvr>
                                      <p:to>
                                        <p:strVal val="visible"/>
                                      </p:to>
                                    </p:set>
                                    <p:animEffect transition="in" filter="wipe(left)">
                                      <p:cBhvr>
                                        <p:cTn id="7" dur="500"/>
                                        <p:tgtEl>
                                          <p:spTgt spid="1863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6372"/>
                                        </p:tgtEl>
                                        <p:attrNameLst>
                                          <p:attrName>style.visibility</p:attrName>
                                        </p:attrNameLst>
                                      </p:cBhvr>
                                      <p:to>
                                        <p:strVal val="visible"/>
                                      </p:to>
                                    </p:set>
                                    <p:animEffect transition="in" filter="wipe(left)">
                                      <p:cBhvr>
                                        <p:cTn id="12" dur="500"/>
                                        <p:tgtEl>
                                          <p:spTgt spid="1863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6380"/>
                                        </p:tgtEl>
                                        <p:attrNameLst>
                                          <p:attrName>style.visibility</p:attrName>
                                        </p:attrNameLst>
                                      </p:cBhvr>
                                      <p:to>
                                        <p:strVal val="visible"/>
                                      </p:to>
                                    </p:set>
                                    <p:animEffect transition="in" filter="wipe(left)">
                                      <p:cBhvr>
                                        <p:cTn id="17" dur="500"/>
                                        <p:tgtEl>
                                          <p:spTgt spid="1863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86379"/>
                                        </p:tgtEl>
                                        <p:attrNameLst>
                                          <p:attrName>style.visibility</p:attrName>
                                        </p:attrNameLst>
                                      </p:cBhvr>
                                      <p:to>
                                        <p:strVal val="visible"/>
                                      </p:to>
                                    </p:set>
                                    <p:animEffect transition="in" filter="wipe(left)">
                                      <p:cBhvr>
                                        <p:cTn id="22" dur="500"/>
                                        <p:tgtEl>
                                          <p:spTgt spid="186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2" grpId="0"/>
      <p:bldP spid="186375"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187325" y="673100"/>
            <a:ext cx="3798888" cy="457200"/>
          </a:xfrm>
          <a:prstGeom prst="rect">
            <a:avLst/>
          </a:prstGeom>
          <a:noFill/>
          <a:ln w="9525">
            <a:noFill/>
            <a:miter lim="800000"/>
            <a:headEnd/>
            <a:tailEnd/>
          </a:ln>
          <a:effectLst/>
        </p:spPr>
        <p:txBody>
          <a:bodyPr>
            <a:spAutoFit/>
          </a:bodyPr>
          <a:lstStyle/>
          <a:p>
            <a:r>
              <a:rPr lang="en-US" altLang="zh-CN" b="1">
                <a:solidFill>
                  <a:schemeClr val="tx2"/>
                </a:solidFill>
              </a:rPr>
              <a:t>2</a:t>
            </a:r>
            <a:r>
              <a:rPr lang="zh-CN" altLang="en-US" b="1">
                <a:solidFill>
                  <a:schemeClr val="tx2"/>
                </a:solidFill>
              </a:rPr>
              <a:t>、经典物理的解释</a:t>
            </a:r>
          </a:p>
        </p:txBody>
      </p:sp>
      <p:sp>
        <p:nvSpPr>
          <p:cNvPr id="108547" name="Rectangle 3"/>
          <p:cNvSpPr>
            <a:spLocks noChangeArrowheads="1"/>
          </p:cNvSpPr>
          <p:nvPr/>
        </p:nvSpPr>
        <p:spPr bwMode="auto">
          <a:xfrm>
            <a:off x="476250" y="5049838"/>
            <a:ext cx="8370888" cy="512762"/>
          </a:xfrm>
          <a:prstGeom prst="rect">
            <a:avLst/>
          </a:prstGeom>
          <a:noFill/>
          <a:ln w="9525">
            <a:noFill/>
            <a:miter lim="800000"/>
            <a:headEnd/>
            <a:tailEnd/>
          </a:ln>
          <a:effectLst/>
        </p:spPr>
        <p:txBody>
          <a:bodyPr>
            <a:spAutoFit/>
          </a:bodyPr>
          <a:lstStyle/>
          <a:p>
            <a:pPr>
              <a:lnSpc>
                <a:spcPct val="115000"/>
              </a:lnSpc>
            </a:pPr>
            <a:r>
              <a:rPr lang="zh-CN" altLang="en-US" b="1">
                <a:solidFill>
                  <a:schemeClr val="bg1"/>
                </a:solidFill>
                <a:latin typeface="楷体_GB2312" pitchFamily="49" charset="-122"/>
                <a:ea typeface="楷体_GB2312" pitchFamily="49" charset="-122"/>
              </a:rPr>
              <a:t>经典理论只能说明波长不变的散射，而</a:t>
            </a:r>
            <a:r>
              <a:rPr lang="zh-CN" altLang="en-US" b="1">
                <a:solidFill>
                  <a:srgbClr val="0000FF"/>
                </a:solidFill>
                <a:latin typeface="楷体_GB2312" pitchFamily="49" charset="-122"/>
                <a:ea typeface="楷体_GB2312" pitchFamily="49" charset="-122"/>
              </a:rPr>
              <a:t>不能说明康普顿散射</a:t>
            </a:r>
            <a:r>
              <a:rPr lang="zh-CN" altLang="en-US" b="1">
                <a:solidFill>
                  <a:schemeClr val="bg1"/>
                </a:solidFill>
                <a:latin typeface="楷体_GB2312" pitchFamily="49" charset="-122"/>
                <a:ea typeface="楷体_GB2312" pitchFamily="49" charset="-122"/>
              </a:rPr>
              <a:t>。</a:t>
            </a:r>
          </a:p>
        </p:txBody>
      </p:sp>
      <p:sp>
        <p:nvSpPr>
          <p:cNvPr id="108548" name="Rectangle 4"/>
          <p:cNvSpPr>
            <a:spLocks noChangeArrowheads="1"/>
          </p:cNvSpPr>
          <p:nvPr/>
        </p:nvSpPr>
        <p:spPr bwMode="auto">
          <a:xfrm>
            <a:off x="3932238" y="3595688"/>
            <a:ext cx="1143000" cy="831850"/>
          </a:xfrm>
          <a:prstGeom prst="rect">
            <a:avLst/>
          </a:prstGeom>
          <a:solidFill>
            <a:srgbClr val="CCFFCC"/>
          </a:solidFill>
          <a:ln w="9525">
            <a:solidFill>
              <a:srgbClr val="00FF00"/>
            </a:solidFill>
            <a:miter lim="800000"/>
            <a:headEnd/>
            <a:tailEnd/>
          </a:ln>
          <a:effectLst/>
        </p:spPr>
        <p:txBody>
          <a:bodyPr>
            <a:spAutoFit/>
          </a:bodyPr>
          <a:lstStyle/>
          <a:p>
            <a:pPr algn="ctr"/>
            <a:r>
              <a:rPr lang="zh-CN" altLang="en-US" b="1">
                <a:solidFill>
                  <a:schemeClr val="bg1"/>
                </a:solidFill>
                <a:ea typeface="楷体_GB2312" pitchFamily="49" charset="-122"/>
              </a:rPr>
              <a:t>电子受迫振动</a:t>
            </a:r>
          </a:p>
        </p:txBody>
      </p:sp>
      <p:sp>
        <p:nvSpPr>
          <p:cNvPr id="108549" name="Rectangle 5"/>
          <p:cNvSpPr>
            <a:spLocks noChangeArrowheads="1"/>
          </p:cNvSpPr>
          <p:nvPr/>
        </p:nvSpPr>
        <p:spPr bwMode="auto">
          <a:xfrm>
            <a:off x="6308725" y="3611563"/>
            <a:ext cx="1143000" cy="831850"/>
          </a:xfrm>
          <a:prstGeom prst="rect">
            <a:avLst/>
          </a:prstGeom>
          <a:solidFill>
            <a:srgbClr val="CCFFCC"/>
          </a:solidFill>
          <a:ln w="9525">
            <a:solidFill>
              <a:srgbClr val="00FF00"/>
            </a:solidFill>
            <a:miter lim="800000"/>
            <a:headEnd/>
            <a:tailEnd/>
          </a:ln>
          <a:effectLst/>
        </p:spPr>
        <p:txBody>
          <a:bodyPr>
            <a:spAutoFit/>
          </a:bodyPr>
          <a:lstStyle/>
          <a:p>
            <a:pPr algn="ctr"/>
            <a:r>
              <a:rPr lang="zh-CN" altLang="en-US" b="1">
                <a:solidFill>
                  <a:schemeClr val="bg1"/>
                </a:solidFill>
                <a:ea typeface="楷体_GB2312" pitchFamily="49" charset="-122"/>
              </a:rPr>
              <a:t>同频率散射线</a:t>
            </a:r>
          </a:p>
        </p:txBody>
      </p:sp>
      <p:sp>
        <p:nvSpPr>
          <p:cNvPr id="108550" name="Line 6"/>
          <p:cNvSpPr>
            <a:spLocks noChangeShapeType="1"/>
          </p:cNvSpPr>
          <p:nvPr/>
        </p:nvSpPr>
        <p:spPr bwMode="auto">
          <a:xfrm flipV="1">
            <a:off x="2698750" y="4011613"/>
            <a:ext cx="1152525" cy="14287"/>
          </a:xfrm>
          <a:prstGeom prst="line">
            <a:avLst/>
          </a:prstGeom>
          <a:noFill/>
          <a:ln w="57150">
            <a:solidFill>
              <a:srgbClr val="0000FF"/>
            </a:solidFill>
            <a:round/>
            <a:headEnd/>
            <a:tailEnd type="triangle" w="med" len="lg"/>
          </a:ln>
          <a:effectLst/>
        </p:spPr>
        <p:txBody>
          <a:bodyPr/>
          <a:lstStyle/>
          <a:p>
            <a:endParaRPr lang="zh-CN" altLang="en-US"/>
          </a:p>
        </p:txBody>
      </p:sp>
      <p:sp>
        <p:nvSpPr>
          <p:cNvPr id="108551" name="Rectangle 7"/>
          <p:cNvSpPr>
            <a:spLocks noChangeArrowheads="1"/>
          </p:cNvSpPr>
          <p:nvPr/>
        </p:nvSpPr>
        <p:spPr bwMode="auto">
          <a:xfrm>
            <a:off x="5245100" y="3578225"/>
            <a:ext cx="1036638" cy="396875"/>
          </a:xfrm>
          <a:prstGeom prst="rect">
            <a:avLst/>
          </a:prstGeom>
          <a:noFill/>
          <a:ln w="9525">
            <a:noFill/>
            <a:miter lim="800000"/>
            <a:headEnd/>
            <a:tailEnd/>
          </a:ln>
          <a:effectLst/>
        </p:spPr>
        <p:txBody>
          <a:bodyPr>
            <a:spAutoFit/>
          </a:bodyPr>
          <a:lstStyle/>
          <a:p>
            <a:r>
              <a:rPr lang="zh-CN" altLang="en-US" sz="2000" b="1">
                <a:solidFill>
                  <a:schemeClr val="bg1"/>
                </a:solidFill>
                <a:ea typeface="楷体_GB2312" pitchFamily="49" charset="-122"/>
              </a:rPr>
              <a:t>发射</a:t>
            </a:r>
          </a:p>
        </p:txBody>
      </p:sp>
      <p:sp>
        <p:nvSpPr>
          <p:cNvPr id="108552" name="Line 8"/>
          <p:cNvSpPr>
            <a:spLocks noChangeShapeType="1"/>
          </p:cNvSpPr>
          <p:nvPr/>
        </p:nvSpPr>
        <p:spPr bwMode="auto">
          <a:xfrm>
            <a:off x="5091113" y="4011613"/>
            <a:ext cx="1136650" cy="0"/>
          </a:xfrm>
          <a:prstGeom prst="line">
            <a:avLst/>
          </a:prstGeom>
          <a:noFill/>
          <a:ln w="57150">
            <a:solidFill>
              <a:srgbClr val="3333CC"/>
            </a:solidFill>
            <a:round/>
            <a:headEnd/>
            <a:tailEnd type="triangle" w="med" len="lg"/>
          </a:ln>
          <a:effectLst/>
        </p:spPr>
        <p:txBody>
          <a:bodyPr/>
          <a:lstStyle/>
          <a:p>
            <a:endParaRPr lang="zh-CN" altLang="en-US"/>
          </a:p>
        </p:txBody>
      </p:sp>
      <p:sp>
        <p:nvSpPr>
          <p:cNvPr id="108553" name="Rectangle 9"/>
          <p:cNvSpPr>
            <a:spLocks noChangeArrowheads="1"/>
          </p:cNvSpPr>
          <p:nvPr/>
        </p:nvSpPr>
        <p:spPr bwMode="auto">
          <a:xfrm>
            <a:off x="1474788" y="3605213"/>
            <a:ext cx="1143000" cy="831850"/>
          </a:xfrm>
          <a:prstGeom prst="rect">
            <a:avLst/>
          </a:prstGeom>
          <a:solidFill>
            <a:srgbClr val="CCFFCC"/>
          </a:solidFill>
          <a:ln w="9525">
            <a:solidFill>
              <a:srgbClr val="00FF00"/>
            </a:solidFill>
            <a:miter lim="800000"/>
            <a:headEnd/>
            <a:tailEnd/>
          </a:ln>
          <a:effectLst/>
        </p:spPr>
        <p:txBody>
          <a:bodyPr>
            <a:spAutoFit/>
          </a:bodyPr>
          <a:lstStyle/>
          <a:p>
            <a:pPr algn="ctr"/>
            <a:r>
              <a:rPr lang="en-US" altLang="zh-CN" b="1">
                <a:solidFill>
                  <a:schemeClr val="bg1"/>
                </a:solidFill>
              </a:rPr>
              <a:t> </a:t>
            </a:r>
            <a:r>
              <a:rPr lang="zh-CN" altLang="en-US" b="1">
                <a:solidFill>
                  <a:schemeClr val="bg1"/>
                </a:solidFill>
                <a:ea typeface="楷体_GB2312" pitchFamily="49" charset="-122"/>
              </a:rPr>
              <a:t>单色电磁波</a:t>
            </a:r>
          </a:p>
        </p:txBody>
      </p:sp>
      <p:sp>
        <p:nvSpPr>
          <p:cNvPr id="18442" name="Line 10"/>
          <p:cNvSpPr>
            <a:spLocks noChangeShapeType="1"/>
          </p:cNvSpPr>
          <p:nvPr/>
        </p:nvSpPr>
        <p:spPr bwMode="auto">
          <a:xfrm>
            <a:off x="2051050" y="2446338"/>
            <a:ext cx="4392613" cy="0"/>
          </a:xfrm>
          <a:prstGeom prst="line">
            <a:avLst/>
          </a:prstGeom>
          <a:noFill/>
          <a:ln w="15875">
            <a:solidFill>
              <a:srgbClr val="000000"/>
            </a:solidFill>
            <a:round/>
            <a:headEnd/>
            <a:tailEnd/>
          </a:ln>
          <a:effectLst/>
        </p:spPr>
        <p:txBody>
          <a:bodyPr/>
          <a:lstStyle/>
          <a:p>
            <a:endParaRPr lang="zh-CN" altLang="en-US"/>
          </a:p>
        </p:txBody>
      </p:sp>
      <p:sp>
        <p:nvSpPr>
          <p:cNvPr id="108555" name="Freeform 11"/>
          <p:cNvSpPr>
            <a:spLocks/>
          </p:cNvSpPr>
          <p:nvPr/>
        </p:nvSpPr>
        <p:spPr bwMode="auto">
          <a:xfrm>
            <a:off x="2698750" y="2206625"/>
            <a:ext cx="790575" cy="503238"/>
          </a:xfrm>
          <a:custGeom>
            <a:avLst/>
            <a:gdLst>
              <a:gd name="T0" fmla="*/ 0 w 4106"/>
              <a:gd name="T1" fmla="*/ 72806606 h 1940"/>
              <a:gd name="T2" fmla="*/ 9564687 w 4106"/>
              <a:gd name="T3" fmla="*/ 9353223 h 1940"/>
              <a:gd name="T4" fmla="*/ 26803111 w 4106"/>
              <a:gd name="T5" fmla="*/ 128925425 h 1940"/>
              <a:gd name="T6" fmla="*/ 42966577 w 4106"/>
              <a:gd name="T7" fmla="*/ 9285779 h 1940"/>
              <a:gd name="T8" fmla="*/ 62318336 w 4106"/>
              <a:gd name="T9" fmla="*/ 129396497 h 1940"/>
              <a:gd name="T10" fmla="*/ 77258393 w 4106"/>
              <a:gd name="T11" fmla="*/ 7671007 h 1940"/>
              <a:gd name="T12" fmla="*/ 93607276 w 4106"/>
              <a:gd name="T13" fmla="*/ 129732941 h 1940"/>
              <a:gd name="T14" fmla="*/ 110882861 w 4106"/>
              <a:gd name="T15" fmla="*/ 8545708 h 1940"/>
              <a:gd name="T16" fmla="*/ 127231744 w 4106"/>
              <a:gd name="T17" fmla="*/ 130540456 h 1940"/>
              <a:gd name="T18" fmla="*/ 143580627 w 4106"/>
              <a:gd name="T19" fmla="*/ 8545708 h 1940"/>
              <a:gd name="T20" fmla="*/ 152218420 w 4106"/>
              <a:gd name="T21" fmla="*/ 69509360 h 19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106" h="1940">
                <a:moveTo>
                  <a:pt x="0" y="1082"/>
                </a:moveTo>
                <a:cubicBezTo>
                  <a:pt x="37" y="925"/>
                  <a:pt x="137" y="0"/>
                  <a:pt x="258" y="139"/>
                </a:cubicBezTo>
                <a:cubicBezTo>
                  <a:pt x="454" y="139"/>
                  <a:pt x="573" y="1916"/>
                  <a:pt x="723" y="1916"/>
                </a:cubicBezTo>
                <a:cubicBezTo>
                  <a:pt x="873" y="1916"/>
                  <a:pt x="999" y="137"/>
                  <a:pt x="1159" y="138"/>
                </a:cubicBezTo>
                <a:cubicBezTo>
                  <a:pt x="1319" y="139"/>
                  <a:pt x="1527" y="1927"/>
                  <a:pt x="1681" y="1923"/>
                </a:cubicBezTo>
                <a:cubicBezTo>
                  <a:pt x="1835" y="1919"/>
                  <a:pt x="1943" y="113"/>
                  <a:pt x="2084" y="114"/>
                </a:cubicBezTo>
                <a:cubicBezTo>
                  <a:pt x="2225" y="115"/>
                  <a:pt x="2374" y="1926"/>
                  <a:pt x="2525" y="1928"/>
                </a:cubicBezTo>
                <a:cubicBezTo>
                  <a:pt x="2676" y="1930"/>
                  <a:pt x="2840" y="125"/>
                  <a:pt x="2991" y="127"/>
                </a:cubicBezTo>
                <a:cubicBezTo>
                  <a:pt x="3142" y="129"/>
                  <a:pt x="3285" y="1940"/>
                  <a:pt x="3432" y="1940"/>
                </a:cubicBezTo>
                <a:cubicBezTo>
                  <a:pt x="3579" y="1940"/>
                  <a:pt x="3714" y="127"/>
                  <a:pt x="3873" y="127"/>
                </a:cubicBezTo>
                <a:cubicBezTo>
                  <a:pt x="4032" y="127"/>
                  <a:pt x="4057" y="844"/>
                  <a:pt x="4106" y="1033"/>
                </a:cubicBezTo>
              </a:path>
            </a:pathLst>
          </a:custGeom>
          <a:noFill/>
          <a:ln w="28575" cmpd="sng">
            <a:solidFill>
              <a:srgbClr val="FF0000"/>
            </a:solidFill>
            <a:round/>
            <a:headEnd/>
            <a:tailEnd/>
          </a:ln>
          <a:effectLst/>
        </p:spPr>
        <p:txBody>
          <a:bodyPr/>
          <a:lstStyle/>
          <a:p>
            <a:endParaRPr lang="zh-CN" altLang="en-US"/>
          </a:p>
        </p:txBody>
      </p:sp>
      <p:sp>
        <p:nvSpPr>
          <p:cNvPr id="108556" name="Freeform 12"/>
          <p:cNvSpPr>
            <a:spLocks/>
          </p:cNvSpPr>
          <p:nvPr/>
        </p:nvSpPr>
        <p:spPr bwMode="auto">
          <a:xfrm rot="-2225896">
            <a:off x="5435600" y="1341438"/>
            <a:ext cx="790575" cy="288925"/>
          </a:xfrm>
          <a:custGeom>
            <a:avLst/>
            <a:gdLst>
              <a:gd name="T0" fmla="*/ 0 w 4106"/>
              <a:gd name="T1" fmla="*/ 23999093 h 1940"/>
              <a:gd name="T2" fmla="*/ 9564687 w 4106"/>
              <a:gd name="T3" fmla="*/ 3083008 h 1940"/>
              <a:gd name="T4" fmla="*/ 26803111 w 4106"/>
              <a:gd name="T5" fmla="*/ 42497442 h 1940"/>
              <a:gd name="T6" fmla="*/ 42966577 w 4106"/>
              <a:gd name="T7" fmla="*/ 3060818 h 1940"/>
              <a:gd name="T8" fmla="*/ 62318336 w 4106"/>
              <a:gd name="T9" fmla="*/ 42652628 h 1940"/>
              <a:gd name="T10" fmla="*/ 77258393 w 4106"/>
              <a:gd name="T11" fmla="*/ 2528541 h 1940"/>
              <a:gd name="T12" fmla="*/ 93607276 w 4106"/>
              <a:gd name="T13" fmla="*/ 42763581 h 1940"/>
              <a:gd name="T14" fmla="*/ 110882861 w 4106"/>
              <a:gd name="T15" fmla="*/ 2816870 h 1940"/>
              <a:gd name="T16" fmla="*/ 127231744 w 4106"/>
              <a:gd name="T17" fmla="*/ 43029719 h 1940"/>
              <a:gd name="T18" fmla="*/ 143580627 w 4106"/>
              <a:gd name="T19" fmla="*/ 2816870 h 1940"/>
              <a:gd name="T20" fmla="*/ 152218420 w 4106"/>
              <a:gd name="T21" fmla="*/ 22912199 h 19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106" h="1940">
                <a:moveTo>
                  <a:pt x="0" y="1082"/>
                </a:moveTo>
                <a:cubicBezTo>
                  <a:pt x="37" y="925"/>
                  <a:pt x="137" y="0"/>
                  <a:pt x="258" y="139"/>
                </a:cubicBezTo>
                <a:cubicBezTo>
                  <a:pt x="454" y="139"/>
                  <a:pt x="573" y="1916"/>
                  <a:pt x="723" y="1916"/>
                </a:cubicBezTo>
                <a:cubicBezTo>
                  <a:pt x="873" y="1916"/>
                  <a:pt x="999" y="137"/>
                  <a:pt x="1159" y="138"/>
                </a:cubicBezTo>
                <a:cubicBezTo>
                  <a:pt x="1319" y="139"/>
                  <a:pt x="1527" y="1927"/>
                  <a:pt x="1681" y="1923"/>
                </a:cubicBezTo>
                <a:cubicBezTo>
                  <a:pt x="1835" y="1919"/>
                  <a:pt x="1943" y="113"/>
                  <a:pt x="2084" y="114"/>
                </a:cubicBezTo>
                <a:cubicBezTo>
                  <a:pt x="2225" y="115"/>
                  <a:pt x="2374" y="1926"/>
                  <a:pt x="2525" y="1928"/>
                </a:cubicBezTo>
                <a:cubicBezTo>
                  <a:pt x="2676" y="1930"/>
                  <a:pt x="2840" y="125"/>
                  <a:pt x="2991" y="127"/>
                </a:cubicBezTo>
                <a:cubicBezTo>
                  <a:pt x="3142" y="129"/>
                  <a:pt x="3285" y="1940"/>
                  <a:pt x="3432" y="1940"/>
                </a:cubicBezTo>
                <a:cubicBezTo>
                  <a:pt x="3579" y="1940"/>
                  <a:pt x="3714" y="127"/>
                  <a:pt x="3873" y="127"/>
                </a:cubicBezTo>
                <a:cubicBezTo>
                  <a:pt x="4032" y="127"/>
                  <a:pt x="4057" y="844"/>
                  <a:pt x="4106" y="1033"/>
                </a:cubicBezTo>
              </a:path>
            </a:pathLst>
          </a:custGeom>
          <a:noFill/>
          <a:ln w="28575" cmpd="sng">
            <a:solidFill>
              <a:srgbClr val="FF0000"/>
            </a:solidFill>
            <a:round/>
            <a:headEnd/>
            <a:tailEnd/>
          </a:ln>
          <a:effectLst/>
        </p:spPr>
        <p:txBody>
          <a:bodyPr/>
          <a:lstStyle/>
          <a:p>
            <a:endParaRPr lang="zh-CN" altLang="en-US"/>
          </a:p>
        </p:txBody>
      </p:sp>
      <p:sp>
        <p:nvSpPr>
          <p:cNvPr id="108557" name="Text Box 13"/>
          <p:cNvSpPr txBox="1">
            <a:spLocks noChangeArrowheads="1"/>
          </p:cNvSpPr>
          <p:nvPr/>
        </p:nvSpPr>
        <p:spPr bwMode="auto">
          <a:xfrm>
            <a:off x="4859338" y="2009775"/>
            <a:ext cx="488950" cy="457200"/>
          </a:xfrm>
          <a:prstGeom prst="rect">
            <a:avLst/>
          </a:prstGeom>
          <a:noFill/>
          <a:ln w="9525">
            <a:noFill/>
            <a:miter lim="800000"/>
            <a:headEnd/>
            <a:tailEnd/>
          </a:ln>
          <a:effectLst/>
        </p:spPr>
        <p:txBody>
          <a:bodyPr wrap="none">
            <a:spAutoFit/>
          </a:bodyPr>
          <a:lstStyle/>
          <a:p>
            <a:r>
              <a:rPr lang="en-US" altLang="zh-CN" b="1" i="1">
                <a:solidFill>
                  <a:srgbClr val="9900CC"/>
                </a:solidFill>
              </a:rPr>
              <a:t>θ</a:t>
            </a:r>
          </a:p>
        </p:txBody>
      </p:sp>
      <p:sp>
        <p:nvSpPr>
          <p:cNvPr id="108558" name="Freeform 14"/>
          <p:cNvSpPr>
            <a:spLocks/>
          </p:cNvSpPr>
          <p:nvPr/>
        </p:nvSpPr>
        <p:spPr bwMode="auto">
          <a:xfrm>
            <a:off x="4930775" y="2225675"/>
            <a:ext cx="73025" cy="215900"/>
          </a:xfrm>
          <a:custGeom>
            <a:avLst/>
            <a:gdLst>
              <a:gd name="T0" fmla="*/ 0 w 363"/>
              <a:gd name="T1" fmla="*/ 0 h 726"/>
              <a:gd name="T2" fmla="*/ 11007664 w 363"/>
              <a:gd name="T3" fmla="*/ 28122908 h 726"/>
              <a:gd name="T4" fmla="*/ 14690498 w 363"/>
              <a:gd name="T5" fmla="*/ 64204972 h 726"/>
              <a:gd name="T6" fmla="*/ 0 60000 65536"/>
              <a:gd name="T7" fmla="*/ 0 60000 65536"/>
              <a:gd name="T8" fmla="*/ 0 60000 65536"/>
            </a:gdLst>
            <a:ahLst/>
            <a:cxnLst>
              <a:cxn ang="T6">
                <a:pos x="T0" y="T1"/>
              </a:cxn>
              <a:cxn ang="T7">
                <a:pos x="T2" y="T3"/>
              </a:cxn>
              <a:cxn ang="T8">
                <a:pos x="T4" y="T5"/>
              </a:cxn>
            </a:cxnLst>
            <a:rect l="0" t="0" r="r" b="b"/>
            <a:pathLst>
              <a:path w="363" h="726">
                <a:moveTo>
                  <a:pt x="0" y="0"/>
                </a:moveTo>
                <a:cubicBezTo>
                  <a:pt x="106" y="98"/>
                  <a:pt x="212" y="197"/>
                  <a:pt x="272" y="318"/>
                </a:cubicBezTo>
                <a:cubicBezTo>
                  <a:pt x="332" y="439"/>
                  <a:pt x="348" y="658"/>
                  <a:pt x="363" y="726"/>
                </a:cubicBezTo>
              </a:path>
            </a:pathLst>
          </a:custGeom>
          <a:noFill/>
          <a:ln w="9525">
            <a:solidFill>
              <a:srgbClr val="000000"/>
            </a:solidFill>
            <a:round/>
            <a:headEnd/>
            <a:tailEnd/>
          </a:ln>
          <a:effectLst/>
        </p:spPr>
        <p:txBody>
          <a:bodyPr/>
          <a:lstStyle/>
          <a:p>
            <a:endParaRPr lang="zh-CN" altLang="en-US"/>
          </a:p>
        </p:txBody>
      </p:sp>
      <p:sp>
        <p:nvSpPr>
          <p:cNvPr id="108559" name="Line 15"/>
          <p:cNvSpPr>
            <a:spLocks noChangeShapeType="1"/>
          </p:cNvSpPr>
          <p:nvPr/>
        </p:nvSpPr>
        <p:spPr bwMode="auto">
          <a:xfrm flipV="1">
            <a:off x="4570413" y="1039813"/>
            <a:ext cx="1873250" cy="1403350"/>
          </a:xfrm>
          <a:prstGeom prst="line">
            <a:avLst/>
          </a:prstGeom>
          <a:noFill/>
          <a:ln w="19050">
            <a:solidFill>
              <a:srgbClr val="000000"/>
            </a:solidFill>
            <a:round/>
            <a:headEnd/>
            <a:tailEnd/>
          </a:ln>
          <a:effectLst/>
        </p:spPr>
        <p:txBody>
          <a:bodyPr/>
          <a:lstStyle/>
          <a:p>
            <a:endParaRPr lang="zh-CN" altLang="en-US"/>
          </a:p>
        </p:txBody>
      </p:sp>
      <p:sp>
        <p:nvSpPr>
          <p:cNvPr id="108561" name="AutoShape 17"/>
          <p:cNvSpPr>
            <a:spLocks noChangeArrowheads="1"/>
          </p:cNvSpPr>
          <p:nvPr/>
        </p:nvSpPr>
        <p:spPr bwMode="auto">
          <a:xfrm>
            <a:off x="5435600" y="2636838"/>
            <a:ext cx="1511300" cy="504825"/>
          </a:xfrm>
          <a:prstGeom prst="wedgeRectCallout">
            <a:avLst>
              <a:gd name="adj1" fmla="val -104935"/>
              <a:gd name="adj2" fmla="val -70440"/>
            </a:avLst>
          </a:prstGeom>
          <a:solidFill>
            <a:srgbClr val="CCFFFF"/>
          </a:solidFill>
          <a:ln w="9525">
            <a:solidFill>
              <a:srgbClr val="00FFFF"/>
            </a:solidFill>
            <a:miter lim="800000"/>
            <a:headEnd/>
            <a:tailEnd/>
          </a:ln>
          <a:effectLst/>
        </p:spPr>
        <p:txBody>
          <a:bodyPr/>
          <a:lstStyle/>
          <a:p>
            <a:pPr algn="ctr"/>
            <a:r>
              <a:rPr lang="zh-CN" altLang="en-US" sz="2000" b="1">
                <a:solidFill>
                  <a:schemeClr val="bg1"/>
                </a:solidFill>
                <a:ea typeface="楷体_GB2312" pitchFamily="49" charset="-122"/>
              </a:rPr>
              <a:t>受迫振动</a:t>
            </a:r>
            <a:r>
              <a:rPr lang="en-US" altLang="zh-CN" i="1">
                <a:solidFill>
                  <a:srgbClr val="000099"/>
                </a:solidFill>
                <a:latin typeface="宋体" charset="-122"/>
              </a:rPr>
              <a:t>v</a:t>
            </a:r>
            <a:r>
              <a:rPr lang="en-US" altLang="zh-CN" b="1" i="1" baseline="-22000">
                <a:solidFill>
                  <a:srgbClr val="000099"/>
                </a:solidFill>
              </a:rPr>
              <a:t>0</a:t>
            </a:r>
            <a:endParaRPr lang="en-US" altLang="zh-CN">
              <a:solidFill>
                <a:srgbClr val="000099"/>
              </a:solidFill>
            </a:endParaRPr>
          </a:p>
        </p:txBody>
      </p:sp>
      <p:grpSp>
        <p:nvGrpSpPr>
          <p:cNvPr id="18449" name="Group 18"/>
          <p:cNvGrpSpPr>
            <a:grpSpLocks/>
          </p:cNvGrpSpPr>
          <p:nvPr/>
        </p:nvGrpSpPr>
        <p:grpSpPr bwMode="auto">
          <a:xfrm>
            <a:off x="4413250" y="2354263"/>
            <a:ext cx="215900" cy="215900"/>
            <a:chOff x="2780" y="902"/>
            <a:chExt cx="136" cy="136"/>
          </a:xfrm>
        </p:grpSpPr>
        <p:sp>
          <p:nvSpPr>
            <p:cNvPr id="18456" name="Oval 19"/>
            <p:cNvSpPr>
              <a:spLocks noChangeArrowheads="1"/>
            </p:cNvSpPr>
            <p:nvPr/>
          </p:nvSpPr>
          <p:spPr bwMode="auto">
            <a:xfrm>
              <a:off x="2780" y="902"/>
              <a:ext cx="136" cy="136"/>
            </a:xfrm>
            <a:prstGeom prst="ellipse">
              <a:avLst/>
            </a:prstGeom>
            <a:gradFill rotWithShape="1">
              <a:gsLst>
                <a:gs pos="0">
                  <a:srgbClr val="FFFF00"/>
                </a:gs>
                <a:gs pos="100000">
                  <a:srgbClr val="FF9966"/>
                </a:gs>
              </a:gsLst>
              <a:path path="shape">
                <a:fillToRect l="50000" t="50000" r="50000" b="50000"/>
              </a:path>
            </a:gradFill>
            <a:ln w="9525">
              <a:solidFill>
                <a:schemeClr val="tx1"/>
              </a:solidFill>
              <a:round/>
              <a:headEnd/>
              <a:tailEnd/>
            </a:ln>
            <a:effectLst/>
          </p:spPr>
          <p:txBody>
            <a:bodyPr wrap="none" anchor="ctr"/>
            <a:lstStyle/>
            <a:p>
              <a:endParaRPr lang="zh-CN" altLang="en-US"/>
            </a:p>
          </p:txBody>
        </p:sp>
        <p:sp>
          <p:nvSpPr>
            <p:cNvPr id="18457" name="Line 20"/>
            <p:cNvSpPr>
              <a:spLocks noChangeShapeType="1"/>
            </p:cNvSpPr>
            <p:nvPr/>
          </p:nvSpPr>
          <p:spPr bwMode="auto">
            <a:xfrm>
              <a:off x="2802" y="970"/>
              <a:ext cx="91" cy="0"/>
            </a:xfrm>
            <a:prstGeom prst="line">
              <a:avLst/>
            </a:prstGeom>
            <a:noFill/>
            <a:ln w="38100">
              <a:solidFill>
                <a:schemeClr val="tx1"/>
              </a:solidFill>
              <a:round/>
              <a:headEnd/>
              <a:tailEnd/>
            </a:ln>
            <a:effectLst/>
          </p:spPr>
          <p:txBody>
            <a:bodyPr/>
            <a:lstStyle/>
            <a:p>
              <a:endParaRPr lang="zh-CN" altLang="en-US"/>
            </a:p>
          </p:txBody>
        </p:sp>
      </p:grpSp>
      <p:sp>
        <p:nvSpPr>
          <p:cNvPr id="18450" name="Rectangle 21"/>
          <p:cNvSpPr>
            <a:spLocks noChangeArrowheads="1"/>
          </p:cNvSpPr>
          <p:nvPr/>
        </p:nvSpPr>
        <p:spPr bwMode="auto">
          <a:xfrm>
            <a:off x="4210050" y="2225675"/>
            <a:ext cx="504825" cy="576263"/>
          </a:xfrm>
          <a:prstGeom prst="rect">
            <a:avLst/>
          </a:prstGeom>
          <a:solidFill>
            <a:srgbClr val="808000">
              <a:alpha val="32156"/>
            </a:srgbClr>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808000"/>
            </a:extrusionClr>
          </a:sp3d>
        </p:spPr>
        <p:txBody>
          <a:bodyPr wrap="none" anchor="ctr">
            <a:flatTx/>
          </a:bodyPr>
          <a:lstStyle/>
          <a:p>
            <a:endParaRPr lang="zh-CN" altLang="en-US"/>
          </a:p>
        </p:txBody>
      </p:sp>
      <p:graphicFrame>
        <p:nvGraphicFramePr>
          <p:cNvPr id="108566" name="Object 22"/>
          <p:cNvGraphicFramePr>
            <a:graphicFrameLocks noChangeAspect="1"/>
          </p:cNvGraphicFramePr>
          <p:nvPr/>
        </p:nvGraphicFramePr>
        <p:xfrm>
          <a:off x="5245100" y="989013"/>
          <a:ext cx="684213" cy="409575"/>
        </p:xfrm>
        <a:graphic>
          <a:graphicData uri="http://schemas.openxmlformats.org/presentationml/2006/ole">
            <p:oleObj spid="_x0000_s18451" name="公式" r:id="rId4" imgW="309600" imgH="179280" progId="Equation.3">
              <p:embed/>
            </p:oleObj>
          </a:graphicData>
        </a:graphic>
      </p:graphicFrame>
      <p:graphicFrame>
        <p:nvGraphicFramePr>
          <p:cNvPr id="108567" name="Object 23"/>
          <p:cNvGraphicFramePr>
            <a:graphicFrameLocks noChangeAspect="1"/>
          </p:cNvGraphicFramePr>
          <p:nvPr/>
        </p:nvGraphicFramePr>
        <p:xfrm>
          <a:off x="2938463" y="1854200"/>
          <a:ext cx="684212" cy="411163"/>
        </p:xfrm>
        <a:graphic>
          <a:graphicData uri="http://schemas.openxmlformats.org/presentationml/2006/ole">
            <p:oleObj spid="_x0000_s18452" name="公式" r:id="rId5" imgW="309600" imgH="179280" progId="Equation.3">
              <p:embed/>
            </p:oleObj>
          </a:graphicData>
        </a:graphic>
      </p:graphicFrame>
      <p:sp>
        <p:nvSpPr>
          <p:cNvPr id="108568" name="Text Box 24"/>
          <p:cNvSpPr txBox="1">
            <a:spLocks noChangeArrowheads="1"/>
          </p:cNvSpPr>
          <p:nvPr/>
        </p:nvSpPr>
        <p:spPr bwMode="auto">
          <a:xfrm>
            <a:off x="2843213" y="3573463"/>
            <a:ext cx="963612" cy="396875"/>
          </a:xfrm>
          <a:prstGeom prst="rect">
            <a:avLst/>
          </a:prstGeom>
          <a:noFill/>
          <a:ln w="9525">
            <a:noFill/>
            <a:miter lim="800000"/>
            <a:headEnd/>
            <a:tailEnd/>
          </a:ln>
          <a:effectLst/>
        </p:spPr>
        <p:txBody>
          <a:bodyPr>
            <a:spAutoFit/>
          </a:bodyPr>
          <a:lstStyle/>
          <a:p>
            <a:r>
              <a:rPr lang="zh-CN" altLang="en-US" sz="2000" b="1">
                <a:solidFill>
                  <a:schemeClr val="bg1"/>
                </a:solidFill>
                <a:ea typeface="楷体_GB2312" pitchFamily="49" charset="-122"/>
              </a:rPr>
              <a:t>照射</a:t>
            </a:r>
          </a:p>
        </p:txBody>
      </p:sp>
      <p:sp>
        <p:nvSpPr>
          <p:cNvPr id="18454" name="Rectangle 25"/>
          <p:cNvSpPr>
            <a:spLocks noChangeArrowheads="1"/>
          </p:cNvSpPr>
          <p:nvPr/>
        </p:nvSpPr>
        <p:spPr bwMode="auto">
          <a:xfrm>
            <a:off x="3924300" y="2852738"/>
            <a:ext cx="1206500" cy="396875"/>
          </a:xfrm>
          <a:prstGeom prst="rect">
            <a:avLst/>
          </a:prstGeom>
          <a:noFill/>
          <a:ln w="9525">
            <a:noFill/>
            <a:miter lim="800000"/>
            <a:headEnd/>
            <a:tailEnd/>
          </a:ln>
          <a:effectLst/>
        </p:spPr>
        <p:txBody>
          <a:bodyPr wrap="none">
            <a:spAutoFit/>
          </a:bodyPr>
          <a:lstStyle/>
          <a:p>
            <a:r>
              <a:rPr lang="zh-CN" altLang="en-US" sz="2000" b="1">
                <a:solidFill>
                  <a:schemeClr val="bg1"/>
                </a:solidFill>
                <a:ea typeface="楷体_GB2312" pitchFamily="49" charset="-122"/>
              </a:rPr>
              <a:t>散射物体</a:t>
            </a:r>
          </a:p>
        </p:txBody>
      </p:sp>
      <p:sp>
        <p:nvSpPr>
          <p:cNvPr id="108570" name="AutoShape 26"/>
          <p:cNvSpPr>
            <a:spLocks noChangeArrowheads="1"/>
          </p:cNvSpPr>
          <p:nvPr/>
        </p:nvSpPr>
        <p:spPr bwMode="auto">
          <a:xfrm>
            <a:off x="161925" y="5049838"/>
            <a:ext cx="360363" cy="576262"/>
          </a:xfrm>
          <a:prstGeom prst="star4">
            <a:avLst>
              <a:gd name="adj" fmla="val 18519"/>
            </a:avLst>
          </a:prstGeom>
          <a:gradFill rotWithShape="0">
            <a:gsLst>
              <a:gs pos="0">
                <a:schemeClr val="accent2"/>
              </a:gs>
              <a:gs pos="100000">
                <a:schemeClr val="accent2">
                  <a:gamma/>
                  <a:shade val="46275"/>
                  <a:invGamma/>
                </a:schemeClr>
              </a:gs>
            </a:gsLst>
            <a:path path="shape">
              <a:fillToRect l="50000" t="50000" r="50000" b="50000"/>
            </a:path>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46"/>
                                        </p:tgtEl>
                                        <p:attrNameLst>
                                          <p:attrName>style.visibility</p:attrName>
                                        </p:attrNameLst>
                                      </p:cBhvr>
                                      <p:to>
                                        <p:strVal val="visible"/>
                                      </p:to>
                                    </p:set>
                                    <p:animEffect transition="in" filter="wipe(left)">
                                      <p:cBhvr>
                                        <p:cTn id="7" dur="500"/>
                                        <p:tgtEl>
                                          <p:spTgt spid="1085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108555"/>
                                        </p:tgtEl>
                                        <p:attrNameLst>
                                          <p:attrName>style.visibility</p:attrName>
                                        </p:attrNameLst>
                                      </p:cBhvr>
                                      <p:to>
                                        <p:strVal val="visible"/>
                                      </p:to>
                                    </p:set>
                                    <p:animEffect transition="in" filter="slide(fromLeft)">
                                      <p:cBhvr>
                                        <p:cTn id="12" dur="500"/>
                                        <p:tgtEl>
                                          <p:spTgt spid="108555"/>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108567"/>
                                        </p:tgtEl>
                                        <p:attrNameLst>
                                          <p:attrName>style.visibility</p:attrName>
                                        </p:attrNameLst>
                                      </p:cBhvr>
                                      <p:to>
                                        <p:strVal val="visible"/>
                                      </p:to>
                                    </p:set>
                                    <p:animEffect transition="in" filter="wipe(left)">
                                      <p:cBhvr>
                                        <p:cTn id="16" dur="500"/>
                                        <p:tgtEl>
                                          <p:spTgt spid="10856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6" fill="hold" grpId="0" nodeType="clickEffect">
                                  <p:stCondLst>
                                    <p:cond delay="0"/>
                                  </p:stCondLst>
                                  <p:childTnLst>
                                    <p:set>
                                      <p:cBhvr>
                                        <p:cTn id="20" dur="1" fill="hold">
                                          <p:stCondLst>
                                            <p:cond delay="0"/>
                                          </p:stCondLst>
                                        </p:cTn>
                                        <p:tgtEl>
                                          <p:spTgt spid="108561"/>
                                        </p:tgtEl>
                                        <p:attrNameLst>
                                          <p:attrName>style.visibility</p:attrName>
                                        </p:attrNameLst>
                                      </p:cBhvr>
                                      <p:to>
                                        <p:strVal val="visible"/>
                                      </p:to>
                                    </p:set>
                                    <p:animEffect transition="in" filter="strips(downRight)">
                                      <p:cBhvr>
                                        <p:cTn id="21" dur="500"/>
                                        <p:tgtEl>
                                          <p:spTgt spid="10856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3" fill="hold" grpId="0" nodeType="clickEffect">
                                  <p:stCondLst>
                                    <p:cond delay="0"/>
                                  </p:stCondLst>
                                  <p:childTnLst>
                                    <p:set>
                                      <p:cBhvr>
                                        <p:cTn id="25" dur="1" fill="hold">
                                          <p:stCondLst>
                                            <p:cond delay="0"/>
                                          </p:stCondLst>
                                        </p:cTn>
                                        <p:tgtEl>
                                          <p:spTgt spid="108559"/>
                                        </p:tgtEl>
                                        <p:attrNameLst>
                                          <p:attrName>style.visibility</p:attrName>
                                        </p:attrNameLst>
                                      </p:cBhvr>
                                      <p:to>
                                        <p:strVal val="visible"/>
                                      </p:to>
                                    </p:set>
                                    <p:animEffect transition="in" filter="strips(upRight)">
                                      <p:cBhvr>
                                        <p:cTn id="26" dur="500"/>
                                        <p:tgtEl>
                                          <p:spTgt spid="108559"/>
                                        </p:tgtEl>
                                      </p:cBhvr>
                                    </p:animEffect>
                                  </p:childTnLst>
                                </p:cTn>
                              </p:par>
                              <p:par>
                                <p:cTn id="27" presetID="18" presetClass="entr" presetSubtype="3" fill="hold" grpId="0" nodeType="withEffect">
                                  <p:stCondLst>
                                    <p:cond delay="0"/>
                                  </p:stCondLst>
                                  <p:childTnLst>
                                    <p:set>
                                      <p:cBhvr>
                                        <p:cTn id="28" dur="1" fill="hold">
                                          <p:stCondLst>
                                            <p:cond delay="0"/>
                                          </p:stCondLst>
                                        </p:cTn>
                                        <p:tgtEl>
                                          <p:spTgt spid="108556"/>
                                        </p:tgtEl>
                                        <p:attrNameLst>
                                          <p:attrName>style.visibility</p:attrName>
                                        </p:attrNameLst>
                                      </p:cBhvr>
                                      <p:to>
                                        <p:strVal val="visible"/>
                                      </p:to>
                                    </p:set>
                                    <p:animEffect transition="in" filter="strips(upRight)">
                                      <p:cBhvr>
                                        <p:cTn id="29" dur="500"/>
                                        <p:tgtEl>
                                          <p:spTgt spid="108556"/>
                                        </p:tgtEl>
                                      </p:cBhvr>
                                    </p:animEffect>
                                  </p:childTnLst>
                                </p:cTn>
                              </p:par>
                              <p:par>
                                <p:cTn id="30" presetID="9" presetClass="entr" presetSubtype="0" fill="hold" nodeType="withEffect">
                                  <p:stCondLst>
                                    <p:cond delay="0"/>
                                  </p:stCondLst>
                                  <p:childTnLst>
                                    <p:set>
                                      <p:cBhvr>
                                        <p:cTn id="31" dur="1" fill="hold">
                                          <p:stCondLst>
                                            <p:cond delay="0"/>
                                          </p:stCondLst>
                                        </p:cTn>
                                        <p:tgtEl>
                                          <p:spTgt spid="108566"/>
                                        </p:tgtEl>
                                        <p:attrNameLst>
                                          <p:attrName>style.visibility</p:attrName>
                                        </p:attrNameLst>
                                      </p:cBhvr>
                                      <p:to>
                                        <p:strVal val="visible"/>
                                      </p:to>
                                    </p:set>
                                    <p:animEffect transition="in" filter="dissolve">
                                      <p:cBhvr>
                                        <p:cTn id="32" dur="500"/>
                                        <p:tgtEl>
                                          <p:spTgt spid="108566"/>
                                        </p:tgtEl>
                                      </p:cBhvr>
                                    </p:animEffect>
                                  </p:childTnLst>
                                </p:cTn>
                              </p:par>
                            </p:childTnLst>
                          </p:cTn>
                        </p:par>
                        <p:par>
                          <p:cTn id="33" fill="hold" nodeType="afterGroup">
                            <p:stCondLst>
                              <p:cond delay="500"/>
                            </p:stCondLst>
                            <p:childTnLst>
                              <p:par>
                                <p:cTn id="34" presetID="1" presetClass="entr" presetSubtype="0" fill="hold" grpId="0" nodeType="afterEffect">
                                  <p:stCondLst>
                                    <p:cond delay="0"/>
                                  </p:stCondLst>
                                  <p:childTnLst>
                                    <p:set>
                                      <p:cBhvr>
                                        <p:cTn id="35" dur="1" fill="hold">
                                          <p:stCondLst>
                                            <p:cond delay="0"/>
                                          </p:stCondLst>
                                        </p:cTn>
                                        <p:tgtEl>
                                          <p:spTgt spid="10855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08558"/>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8553"/>
                                        </p:tgtEl>
                                        <p:attrNameLst>
                                          <p:attrName>style.visibility</p:attrName>
                                        </p:attrNameLst>
                                      </p:cBhvr>
                                      <p:to>
                                        <p:strVal val="visible"/>
                                      </p:to>
                                    </p:set>
                                    <p:animEffect transition="in" filter="dissolve">
                                      <p:cBhvr>
                                        <p:cTn id="42" dur="500"/>
                                        <p:tgtEl>
                                          <p:spTgt spid="108553"/>
                                        </p:tgtEl>
                                      </p:cBhvr>
                                    </p:animEffect>
                                  </p:childTnLst>
                                </p:cTn>
                              </p:par>
                            </p:childTnLst>
                          </p:cTn>
                        </p:par>
                        <p:par>
                          <p:cTn id="43" fill="hold" nodeType="afterGroup">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108550"/>
                                        </p:tgtEl>
                                        <p:attrNameLst>
                                          <p:attrName>style.visibility</p:attrName>
                                        </p:attrNameLst>
                                      </p:cBhvr>
                                      <p:to>
                                        <p:strVal val="visible"/>
                                      </p:to>
                                    </p:set>
                                    <p:animEffect transition="in" filter="wipe(left)">
                                      <p:cBhvr>
                                        <p:cTn id="46" dur="500"/>
                                        <p:tgtEl>
                                          <p:spTgt spid="108550"/>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08568"/>
                                        </p:tgtEl>
                                        <p:attrNameLst>
                                          <p:attrName>style.visibility</p:attrName>
                                        </p:attrNameLst>
                                      </p:cBhvr>
                                      <p:to>
                                        <p:strVal val="visible"/>
                                      </p:to>
                                    </p:set>
                                    <p:animEffect transition="in" filter="dissolve">
                                      <p:cBhvr>
                                        <p:cTn id="49" dur="500"/>
                                        <p:tgtEl>
                                          <p:spTgt spid="10856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108548"/>
                                        </p:tgtEl>
                                        <p:attrNameLst>
                                          <p:attrName>style.visibility</p:attrName>
                                        </p:attrNameLst>
                                      </p:cBhvr>
                                      <p:to>
                                        <p:strVal val="visible"/>
                                      </p:to>
                                    </p:set>
                                    <p:animEffect transition="in" filter="dissolve">
                                      <p:cBhvr>
                                        <p:cTn id="54" dur="500"/>
                                        <p:tgtEl>
                                          <p:spTgt spid="108548"/>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08551"/>
                                        </p:tgtEl>
                                        <p:attrNameLst>
                                          <p:attrName>style.visibility</p:attrName>
                                        </p:attrNameLst>
                                      </p:cBhvr>
                                      <p:to>
                                        <p:strVal val="visible"/>
                                      </p:to>
                                    </p:set>
                                    <p:animEffect transition="in" filter="wipe(left)">
                                      <p:cBhvr>
                                        <p:cTn id="59" dur="500"/>
                                        <p:tgtEl>
                                          <p:spTgt spid="108551"/>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108552"/>
                                        </p:tgtEl>
                                        <p:attrNameLst>
                                          <p:attrName>style.visibility</p:attrName>
                                        </p:attrNameLst>
                                      </p:cBhvr>
                                      <p:to>
                                        <p:strVal val="visible"/>
                                      </p:to>
                                    </p:set>
                                    <p:animEffect transition="in" filter="wipe(left)">
                                      <p:cBhvr>
                                        <p:cTn id="62" dur="500"/>
                                        <p:tgtEl>
                                          <p:spTgt spid="108552"/>
                                        </p:tgtEl>
                                      </p:cBhvr>
                                    </p:animEffect>
                                  </p:childTnLst>
                                </p:cTn>
                              </p:par>
                            </p:childTnLst>
                          </p:cTn>
                        </p:par>
                        <p:par>
                          <p:cTn id="63" fill="hold" nodeType="afterGroup">
                            <p:stCondLst>
                              <p:cond delay="500"/>
                            </p:stCondLst>
                            <p:childTnLst>
                              <p:par>
                                <p:cTn id="64" presetID="9" presetClass="entr" presetSubtype="0" fill="hold" grpId="0" nodeType="afterEffect">
                                  <p:stCondLst>
                                    <p:cond delay="0"/>
                                  </p:stCondLst>
                                  <p:childTnLst>
                                    <p:set>
                                      <p:cBhvr>
                                        <p:cTn id="65" dur="1" fill="hold">
                                          <p:stCondLst>
                                            <p:cond delay="0"/>
                                          </p:stCondLst>
                                        </p:cTn>
                                        <p:tgtEl>
                                          <p:spTgt spid="108549"/>
                                        </p:tgtEl>
                                        <p:attrNameLst>
                                          <p:attrName>style.visibility</p:attrName>
                                        </p:attrNameLst>
                                      </p:cBhvr>
                                      <p:to>
                                        <p:strVal val="visible"/>
                                      </p:to>
                                    </p:set>
                                    <p:animEffect transition="in" filter="dissolve">
                                      <p:cBhvr>
                                        <p:cTn id="66" dur="500"/>
                                        <p:tgtEl>
                                          <p:spTgt spid="10854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0" presetClass="entr" presetSubtype="0" decel="100000" fill="hold" grpId="0" nodeType="clickEffect">
                                  <p:stCondLst>
                                    <p:cond delay="0"/>
                                  </p:stCondLst>
                                  <p:childTnLst>
                                    <p:set>
                                      <p:cBhvr>
                                        <p:cTn id="70" dur="1" fill="hold">
                                          <p:stCondLst>
                                            <p:cond delay="0"/>
                                          </p:stCondLst>
                                        </p:cTn>
                                        <p:tgtEl>
                                          <p:spTgt spid="108570"/>
                                        </p:tgtEl>
                                        <p:attrNameLst>
                                          <p:attrName>style.visibility</p:attrName>
                                        </p:attrNameLst>
                                      </p:cBhvr>
                                      <p:to>
                                        <p:strVal val="visible"/>
                                      </p:to>
                                    </p:set>
                                    <p:anim calcmode="lin" valueType="num">
                                      <p:cBhvr>
                                        <p:cTn id="71" dur="1000" fill="hold"/>
                                        <p:tgtEl>
                                          <p:spTgt spid="108570"/>
                                        </p:tgtEl>
                                        <p:attrNameLst>
                                          <p:attrName>ppt_w</p:attrName>
                                        </p:attrNameLst>
                                      </p:cBhvr>
                                      <p:tavLst>
                                        <p:tav tm="0">
                                          <p:val>
                                            <p:strVal val="#ppt_w+.3"/>
                                          </p:val>
                                        </p:tav>
                                        <p:tav tm="100000">
                                          <p:val>
                                            <p:strVal val="#ppt_w"/>
                                          </p:val>
                                        </p:tav>
                                      </p:tavLst>
                                    </p:anim>
                                    <p:anim calcmode="lin" valueType="num">
                                      <p:cBhvr>
                                        <p:cTn id="72" dur="1000" fill="hold"/>
                                        <p:tgtEl>
                                          <p:spTgt spid="108570"/>
                                        </p:tgtEl>
                                        <p:attrNameLst>
                                          <p:attrName>ppt_h</p:attrName>
                                        </p:attrNameLst>
                                      </p:cBhvr>
                                      <p:tavLst>
                                        <p:tav tm="0">
                                          <p:val>
                                            <p:strVal val="#ppt_h"/>
                                          </p:val>
                                        </p:tav>
                                        <p:tav tm="100000">
                                          <p:val>
                                            <p:strVal val="#ppt_h"/>
                                          </p:val>
                                        </p:tav>
                                      </p:tavLst>
                                    </p:anim>
                                    <p:animEffect transition="in" filter="fade">
                                      <p:cBhvr>
                                        <p:cTn id="73" dur="1000"/>
                                        <p:tgtEl>
                                          <p:spTgt spid="108570"/>
                                        </p:tgtEl>
                                      </p:cBhvr>
                                    </p:animEffect>
                                  </p:childTnLst>
                                </p:cTn>
                              </p:par>
                            </p:childTnLst>
                          </p:cTn>
                        </p:par>
                        <p:par>
                          <p:cTn id="74" fill="hold" nodeType="afterGroup">
                            <p:stCondLst>
                              <p:cond delay="1000"/>
                            </p:stCondLst>
                            <p:childTnLst>
                              <p:par>
                                <p:cTn id="75" presetID="9" presetClass="entr" presetSubtype="0" fill="hold" grpId="0" nodeType="afterEffect">
                                  <p:stCondLst>
                                    <p:cond delay="0"/>
                                  </p:stCondLst>
                                  <p:childTnLst>
                                    <p:set>
                                      <p:cBhvr>
                                        <p:cTn id="76" dur="1" fill="hold">
                                          <p:stCondLst>
                                            <p:cond delay="0"/>
                                          </p:stCondLst>
                                        </p:cTn>
                                        <p:tgtEl>
                                          <p:spTgt spid="108547"/>
                                        </p:tgtEl>
                                        <p:attrNameLst>
                                          <p:attrName>style.visibility</p:attrName>
                                        </p:attrNameLst>
                                      </p:cBhvr>
                                      <p:to>
                                        <p:strVal val="visible"/>
                                      </p:to>
                                    </p:set>
                                    <p:animEffect transition="in" filter="dissolve">
                                      <p:cBhvr>
                                        <p:cTn id="77" dur="500"/>
                                        <p:tgtEl>
                                          <p:spTgt spid="108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p:bldP spid="108547" grpId="0" autoUpdateAnimBg="0"/>
      <p:bldP spid="108548" grpId="0" animBg="1" autoUpdateAnimBg="0"/>
      <p:bldP spid="108549" grpId="0" animBg="1" autoUpdateAnimBg="0"/>
      <p:bldP spid="108550" grpId="0" animBg="1"/>
      <p:bldP spid="108551" grpId="0"/>
      <p:bldP spid="108552" grpId="0" animBg="1"/>
      <p:bldP spid="108553" grpId="0" animBg="1" autoUpdateAnimBg="0"/>
      <p:bldP spid="108555" grpId="0" animBg="1"/>
      <p:bldP spid="108556" grpId="0" animBg="1"/>
      <p:bldP spid="108557" grpId="0"/>
      <p:bldP spid="108558" grpId="0" animBg="1"/>
      <p:bldP spid="108559" grpId="0" animBg="1"/>
      <p:bldP spid="108561" grpId="0" animBg="1" autoUpdateAnimBg="0"/>
      <p:bldP spid="108568" grpId="0"/>
      <p:bldP spid="108570"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174625" y="512763"/>
            <a:ext cx="2911475" cy="457200"/>
          </a:xfrm>
          <a:prstGeom prst="rect">
            <a:avLst/>
          </a:prstGeom>
          <a:noFill/>
          <a:ln w="9525">
            <a:noFill/>
            <a:miter lim="800000"/>
            <a:headEnd/>
            <a:tailEnd/>
          </a:ln>
          <a:effectLst/>
        </p:spPr>
        <p:txBody>
          <a:bodyPr>
            <a:spAutoFit/>
          </a:bodyPr>
          <a:lstStyle/>
          <a:p>
            <a:r>
              <a:rPr lang="en-US" altLang="zh-CN" b="1">
                <a:solidFill>
                  <a:schemeClr val="tx2"/>
                </a:solidFill>
              </a:rPr>
              <a:t>3</a:t>
            </a:r>
            <a:r>
              <a:rPr lang="zh-CN" altLang="en-US" b="1">
                <a:solidFill>
                  <a:schemeClr val="tx2"/>
                </a:solidFill>
              </a:rPr>
              <a:t>、光子理论的解释</a:t>
            </a:r>
          </a:p>
        </p:txBody>
      </p:sp>
      <p:sp>
        <p:nvSpPr>
          <p:cNvPr id="109571" name="Rectangle 3"/>
          <p:cNvSpPr>
            <a:spLocks noChangeArrowheads="1"/>
          </p:cNvSpPr>
          <p:nvPr/>
        </p:nvSpPr>
        <p:spPr bwMode="auto">
          <a:xfrm>
            <a:off x="296863" y="3159125"/>
            <a:ext cx="4560887" cy="457200"/>
          </a:xfrm>
          <a:prstGeom prst="rect">
            <a:avLst/>
          </a:prstGeom>
          <a:noFill/>
          <a:ln w="9525">
            <a:noFill/>
            <a:miter lim="800000"/>
            <a:headEnd/>
            <a:tailEnd/>
          </a:ln>
          <a:effectLst/>
        </p:spPr>
        <p:txBody>
          <a:bodyPr>
            <a:spAutoFit/>
          </a:bodyPr>
          <a:lstStyle/>
          <a:p>
            <a:r>
              <a:rPr lang="zh-CN" altLang="en-US" b="1">
                <a:solidFill>
                  <a:srgbClr val="0000FF"/>
                </a:solidFill>
                <a:ea typeface="楷体_GB2312" pitchFamily="49" charset="-122"/>
              </a:rPr>
              <a:t>康普顿效应的微观机制：</a:t>
            </a:r>
          </a:p>
        </p:txBody>
      </p:sp>
      <p:sp>
        <p:nvSpPr>
          <p:cNvPr id="109572" name="Rectangle 4"/>
          <p:cNvSpPr>
            <a:spLocks noChangeArrowheads="1"/>
          </p:cNvSpPr>
          <p:nvPr/>
        </p:nvSpPr>
        <p:spPr bwMode="auto">
          <a:xfrm>
            <a:off x="296863" y="1127125"/>
            <a:ext cx="5295900" cy="457200"/>
          </a:xfrm>
          <a:prstGeom prst="rect">
            <a:avLst/>
          </a:prstGeom>
          <a:noFill/>
          <a:ln w="9525">
            <a:noFill/>
            <a:miter lim="800000"/>
            <a:headEnd/>
            <a:tailEnd/>
          </a:ln>
          <a:effectLst/>
        </p:spPr>
        <p:txBody>
          <a:bodyPr>
            <a:spAutoFit/>
          </a:bodyPr>
          <a:lstStyle/>
          <a:p>
            <a:r>
              <a:rPr lang="zh-CN" altLang="en-US" b="1">
                <a:solidFill>
                  <a:srgbClr val="0000FF"/>
                </a:solidFill>
              </a:rPr>
              <a:t>（</a:t>
            </a:r>
            <a:r>
              <a:rPr lang="en-US" altLang="zh-CN" b="1">
                <a:solidFill>
                  <a:srgbClr val="0000FF"/>
                </a:solidFill>
              </a:rPr>
              <a:t>1</a:t>
            </a:r>
            <a:r>
              <a:rPr lang="zh-CN" altLang="en-US" b="1">
                <a:solidFill>
                  <a:srgbClr val="0000FF"/>
                </a:solidFill>
              </a:rPr>
              <a:t>）</a:t>
            </a:r>
            <a:r>
              <a:rPr lang="zh-CN" altLang="en-US" b="1">
                <a:solidFill>
                  <a:srgbClr val="0000FF"/>
                </a:solidFill>
                <a:latin typeface="楷体_GB2312" pitchFamily="49" charset="-122"/>
                <a:ea typeface="楷体_GB2312" pitchFamily="49" charset="-122"/>
              </a:rPr>
              <a:t>入射光子与外层电子弹性碰撞 </a:t>
            </a:r>
          </a:p>
        </p:txBody>
      </p:sp>
      <p:sp>
        <p:nvSpPr>
          <p:cNvPr id="109573" name="Rectangle 5"/>
          <p:cNvSpPr>
            <a:spLocks noChangeArrowheads="1"/>
          </p:cNvSpPr>
          <p:nvPr/>
        </p:nvSpPr>
        <p:spPr bwMode="auto">
          <a:xfrm>
            <a:off x="838200" y="1987550"/>
            <a:ext cx="809625" cy="831850"/>
          </a:xfrm>
          <a:prstGeom prst="rect">
            <a:avLst/>
          </a:prstGeom>
          <a:noFill/>
          <a:ln w="9525">
            <a:solidFill>
              <a:schemeClr val="hlink"/>
            </a:solidFill>
            <a:miter lim="800000"/>
            <a:headEnd/>
            <a:tailEnd/>
          </a:ln>
          <a:effectLst/>
        </p:spPr>
        <p:txBody>
          <a:bodyPr>
            <a:spAutoFit/>
          </a:bodyPr>
          <a:lstStyle/>
          <a:p>
            <a:r>
              <a:rPr lang="zh-CN" altLang="en-US" b="1">
                <a:solidFill>
                  <a:schemeClr val="bg1"/>
                </a:solidFill>
                <a:ea typeface="楷体_GB2312" pitchFamily="49" charset="-122"/>
              </a:rPr>
              <a:t>外层</a:t>
            </a:r>
          </a:p>
          <a:p>
            <a:r>
              <a:rPr lang="zh-CN" altLang="en-US" b="1">
                <a:solidFill>
                  <a:schemeClr val="bg1"/>
                </a:solidFill>
                <a:ea typeface="楷体_GB2312" pitchFamily="49" charset="-122"/>
              </a:rPr>
              <a:t>电子</a:t>
            </a:r>
          </a:p>
        </p:txBody>
      </p:sp>
      <p:grpSp>
        <p:nvGrpSpPr>
          <p:cNvPr id="109574" name="Group 6"/>
          <p:cNvGrpSpPr>
            <a:grpSpLocks/>
          </p:cNvGrpSpPr>
          <p:nvPr/>
        </p:nvGrpSpPr>
        <p:grpSpPr bwMode="auto">
          <a:xfrm>
            <a:off x="1736725" y="1808163"/>
            <a:ext cx="3343275" cy="1162050"/>
            <a:chOff x="672" y="852"/>
            <a:chExt cx="2106" cy="732"/>
          </a:xfrm>
        </p:grpSpPr>
        <p:sp>
          <p:nvSpPr>
            <p:cNvPr id="19475" name="Rectangle 7"/>
            <p:cNvSpPr>
              <a:spLocks noChangeArrowheads="1"/>
            </p:cNvSpPr>
            <p:nvPr/>
          </p:nvSpPr>
          <p:spPr bwMode="auto">
            <a:xfrm>
              <a:off x="1008" y="852"/>
              <a:ext cx="1683" cy="294"/>
            </a:xfrm>
            <a:prstGeom prst="rect">
              <a:avLst/>
            </a:prstGeom>
            <a:noFill/>
            <a:ln w="9525">
              <a:solidFill>
                <a:schemeClr val="hlink"/>
              </a:solidFill>
              <a:miter lim="800000"/>
              <a:headEnd/>
              <a:tailEnd/>
            </a:ln>
            <a:effectLst/>
          </p:spPr>
          <p:txBody>
            <a:bodyPr>
              <a:spAutoFit/>
            </a:bodyPr>
            <a:lstStyle/>
            <a:p>
              <a:r>
                <a:rPr lang="zh-CN" altLang="en-US" b="1">
                  <a:solidFill>
                    <a:schemeClr val="bg1"/>
                  </a:solidFill>
                  <a:ea typeface="楷体_GB2312" pitchFamily="49" charset="-122"/>
                </a:rPr>
                <a:t>受原子核束缚较弱</a:t>
              </a:r>
            </a:p>
          </p:txBody>
        </p:sp>
        <p:sp>
          <p:nvSpPr>
            <p:cNvPr id="19476" name="Rectangle 8"/>
            <p:cNvSpPr>
              <a:spLocks noChangeArrowheads="1"/>
            </p:cNvSpPr>
            <p:nvPr/>
          </p:nvSpPr>
          <p:spPr bwMode="auto">
            <a:xfrm>
              <a:off x="1016" y="1290"/>
              <a:ext cx="1762" cy="294"/>
            </a:xfrm>
            <a:prstGeom prst="rect">
              <a:avLst/>
            </a:prstGeom>
            <a:noFill/>
            <a:ln w="9525">
              <a:solidFill>
                <a:schemeClr val="hlink"/>
              </a:solidFill>
              <a:miter lim="800000"/>
              <a:headEnd/>
              <a:tailEnd/>
            </a:ln>
            <a:effectLst/>
          </p:spPr>
          <p:txBody>
            <a:bodyPr wrap="none">
              <a:spAutoFit/>
            </a:bodyPr>
            <a:lstStyle/>
            <a:p>
              <a:r>
                <a:rPr lang="zh-CN" altLang="en-US" b="1">
                  <a:solidFill>
                    <a:schemeClr val="bg1"/>
                  </a:solidFill>
                  <a:ea typeface="楷体_GB2312" pitchFamily="49" charset="-122"/>
                </a:rPr>
                <a:t>动能＜＜光子能量</a:t>
              </a:r>
              <a:r>
                <a:rPr lang="zh-CN" altLang="en-US" b="1">
                  <a:solidFill>
                    <a:schemeClr val="bg1"/>
                  </a:solidFill>
                </a:rPr>
                <a:t>  </a:t>
              </a:r>
            </a:p>
          </p:txBody>
        </p:sp>
        <p:sp>
          <p:nvSpPr>
            <p:cNvPr id="19477" name="Line 9"/>
            <p:cNvSpPr>
              <a:spLocks noChangeShapeType="1"/>
            </p:cNvSpPr>
            <p:nvPr/>
          </p:nvSpPr>
          <p:spPr bwMode="auto">
            <a:xfrm flipV="1">
              <a:off x="672" y="906"/>
              <a:ext cx="288" cy="288"/>
            </a:xfrm>
            <a:prstGeom prst="line">
              <a:avLst/>
            </a:prstGeom>
            <a:noFill/>
            <a:ln w="38100">
              <a:solidFill>
                <a:srgbClr val="339966"/>
              </a:solidFill>
              <a:round/>
              <a:headEnd/>
              <a:tailEnd type="triangle" w="med" len="med"/>
            </a:ln>
            <a:effectLst/>
          </p:spPr>
          <p:txBody>
            <a:bodyPr/>
            <a:lstStyle/>
            <a:p>
              <a:endParaRPr lang="zh-CN" altLang="en-US"/>
            </a:p>
          </p:txBody>
        </p:sp>
        <p:sp>
          <p:nvSpPr>
            <p:cNvPr id="19478" name="Line 10"/>
            <p:cNvSpPr>
              <a:spLocks noChangeShapeType="1"/>
            </p:cNvSpPr>
            <p:nvPr/>
          </p:nvSpPr>
          <p:spPr bwMode="auto">
            <a:xfrm>
              <a:off x="672" y="1242"/>
              <a:ext cx="240" cy="240"/>
            </a:xfrm>
            <a:prstGeom prst="line">
              <a:avLst/>
            </a:prstGeom>
            <a:noFill/>
            <a:ln w="38100">
              <a:solidFill>
                <a:srgbClr val="339966"/>
              </a:solidFill>
              <a:round/>
              <a:headEnd/>
              <a:tailEnd type="triangle" w="med" len="med"/>
            </a:ln>
            <a:effectLst/>
          </p:spPr>
          <p:txBody>
            <a:bodyPr/>
            <a:lstStyle/>
            <a:p>
              <a:endParaRPr lang="zh-CN" altLang="en-US"/>
            </a:p>
          </p:txBody>
        </p:sp>
      </p:grpSp>
      <p:grpSp>
        <p:nvGrpSpPr>
          <p:cNvPr id="109579" name="Group 11"/>
          <p:cNvGrpSpPr>
            <a:grpSpLocks/>
          </p:cNvGrpSpPr>
          <p:nvPr/>
        </p:nvGrpSpPr>
        <p:grpSpPr bwMode="auto">
          <a:xfrm>
            <a:off x="5021263" y="1763713"/>
            <a:ext cx="2035175" cy="1162050"/>
            <a:chOff x="2784" y="852"/>
            <a:chExt cx="1109" cy="732"/>
          </a:xfrm>
        </p:grpSpPr>
        <p:sp>
          <p:nvSpPr>
            <p:cNvPr id="19471" name="Text Box 12"/>
            <p:cNvSpPr txBox="1">
              <a:spLocks noChangeArrowheads="1"/>
            </p:cNvSpPr>
            <p:nvPr/>
          </p:nvSpPr>
          <p:spPr bwMode="auto">
            <a:xfrm>
              <a:off x="3120" y="852"/>
              <a:ext cx="773" cy="294"/>
            </a:xfrm>
            <a:prstGeom prst="rect">
              <a:avLst/>
            </a:prstGeom>
            <a:noFill/>
            <a:ln w="9525">
              <a:solidFill>
                <a:schemeClr val="hlink"/>
              </a:solidFill>
              <a:miter lim="800000"/>
              <a:headEnd/>
              <a:tailEnd/>
            </a:ln>
            <a:effectLst/>
          </p:spPr>
          <p:txBody>
            <a:bodyPr wrap="none">
              <a:spAutoFit/>
            </a:bodyPr>
            <a:lstStyle/>
            <a:p>
              <a:r>
                <a:rPr lang="zh-CN" altLang="en-US" b="1">
                  <a:solidFill>
                    <a:schemeClr val="bg1"/>
                  </a:solidFill>
                  <a:ea typeface="楷体_GB2312" pitchFamily="49" charset="-122"/>
                </a:rPr>
                <a:t>近似自由</a:t>
              </a:r>
            </a:p>
          </p:txBody>
        </p:sp>
        <p:sp>
          <p:nvSpPr>
            <p:cNvPr id="19472" name="Rectangle 13"/>
            <p:cNvSpPr>
              <a:spLocks noChangeArrowheads="1"/>
            </p:cNvSpPr>
            <p:nvPr/>
          </p:nvSpPr>
          <p:spPr bwMode="auto">
            <a:xfrm>
              <a:off x="3120" y="1290"/>
              <a:ext cx="773" cy="294"/>
            </a:xfrm>
            <a:prstGeom prst="rect">
              <a:avLst/>
            </a:prstGeom>
            <a:noFill/>
            <a:ln w="9525">
              <a:solidFill>
                <a:schemeClr val="hlink"/>
              </a:solidFill>
              <a:miter lim="800000"/>
              <a:headEnd/>
              <a:tailEnd/>
            </a:ln>
            <a:effectLst/>
          </p:spPr>
          <p:txBody>
            <a:bodyPr wrap="none">
              <a:spAutoFit/>
            </a:bodyPr>
            <a:lstStyle/>
            <a:p>
              <a:r>
                <a:rPr lang="zh-CN" altLang="en-US" b="1">
                  <a:solidFill>
                    <a:schemeClr val="bg1"/>
                  </a:solidFill>
                  <a:ea typeface="楷体_GB2312" pitchFamily="49" charset="-122"/>
                </a:rPr>
                <a:t>近似静止</a:t>
              </a:r>
            </a:p>
          </p:txBody>
        </p:sp>
        <p:sp>
          <p:nvSpPr>
            <p:cNvPr id="19473" name="Line 14"/>
            <p:cNvSpPr>
              <a:spLocks noChangeShapeType="1"/>
            </p:cNvSpPr>
            <p:nvPr/>
          </p:nvSpPr>
          <p:spPr bwMode="auto">
            <a:xfrm>
              <a:off x="2784" y="1434"/>
              <a:ext cx="288" cy="0"/>
            </a:xfrm>
            <a:prstGeom prst="line">
              <a:avLst/>
            </a:prstGeom>
            <a:noFill/>
            <a:ln w="38100">
              <a:solidFill>
                <a:srgbClr val="339966"/>
              </a:solidFill>
              <a:round/>
              <a:headEnd/>
              <a:tailEnd type="triangle" w="med" len="med"/>
            </a:ln>
            <a:effectLst/>
          </p:spPr>
          <p:txBody>
            <a:bodyPr/>
            <a:lstStyle/>
            <a:p>
              <a:endParaRPr lang="zh-CN" altLang="en-US"/>
            </a:p>
          </p:txBody>
        </p:sp>
        <p:sp>
          <p:nvSpPr>
            <p:cNvPr id="19474" name="Line 15"/>
            <p:cNvSpPr>
              <a:spLocks noChangeShapeType="1"/>
            </p:cNvSpPr>
            <p:nvPr/>
          </p:nvSpPr>
          <p:spPr bwMode="auto">
            <a:xfrm>
              <a:off x="2784" y="1002"/>
              <a:ext cx="288" cy="0"/>
            </a:xfrm>
            <a:prstGeom prst="line">
              <a:avLst/>
            </a:prstGeom>
            <a:noFill/>
            <a:ln w="38100">
              <a:solidFill>
                <a:srgbClr val="339966"/>
              </a:solidFill>
              <a:round/>
              <a:headEnd/>
              <a:tailEnd type="triangle" w="med" len="med"/>
            </a:ln>
            <a:effectLst/>
          </p:spPr>
          <p:txBody>
            <a:bodyPr/>
            <a:lstStyle/>
            <a:p>
              <a:endParaRPr lang="zh-CN" altLang="en-US"/>
            </a:p>
          </p:txBody>
        </p:sp>
      </p:grpSp>
      <p:grpSp>
        <p:nvGrpSpPr>
          <p:cNvPr id="109584" name="Group 16"/>
          <p:cNvGrpSpPr>
            <a:grpSpLocks/>
          </p:cNvGrpSpPr>
          <p:nvPr/>
        </p:nvGrpSpPr>
        <p:grpSpPr bwMode="auto">
          <a:xfrm>
            <a:off x="7137400" y="2168525"/>
            <a:ext cx="1868488" cy="831850"/>
            <a:chOff x="4320" y="1248"/>
            <a:chExt cx="1104" cy="976"/>
          </a:xfrm>
        </p:grpSpPr>
        <p:sp>
          <p:nvSpPr>
            <p:cNvPr id="19469" name="Rectangle 17"/>
            <p:cNvSpPr>
              <a:spLocks noChangeArrowheads="1"/>
            </p:cNvSpPr>
            <p:nvPr/>
          </p:nvSpPr>
          <p:spPr bwMode="auto">
            <a:xfrm>
              <a:off x="4656" y="1248"/>
              <a:ext cx="768" cy="976"/>
            </a:xfrm>
            <a:prstGeom prst="rect">
              <a:avLst/>
            </a:prstGeom>
            <a:noFill/>
            <a:ln w="9525">
              <a:solidFill>
                <a:schemeClr val="hlink"/>
              </a:solidFill>
              <a:miter lim="800000"/>
              <a:headEnd/>
              <a:tailEnd/>
            </a:ln>
            <a:effectLst/>
          </p:spPr>
          <p:txBody>
            <a:bodyPr>
              <a:spAutoFit/>
            </a:bodyPr>
            <a:lstStyle/>
            <a:p>
              <a:r>
                <a:rPr lang="zh-CN" altLang="en-US" b="1">
                  <a:solidFill>
                    <a:schemeClr val="bg1"/>
                  </a:solidFill>
                  <a:latin typeface="楷体_GB2312" pitchFamily="49" charset="-122"/>
                  <a:ea typeface="楷体_GB2312" pitchFamily="49" charset="-122"/>
                </a:rPr>
                <a:t>静止自由电子</a:t>
              </a:r>
            </a:p>
          </p:txBody>
        </p:sp>
        <p:sp>
          <p:nvSpPr>
            <p:cNvPr id="19470" name="Line 18"/>
            <p:cNvSpPr>
              <a:spLocks noChangeShapeType="1"/>
            </p:cNvSpPr>
            <p:nvPr/>
          </p:nvSpPr>
          <p:spPr bwMode="auto">
            <a:xfrm>
              <a:off x="4320" y="1510"/>
              <a:ext cx="336" cy="0"/>
            </a:xfrm>
            <a:prstGeom prst="line">
              <a:avLst/>
            </a:prstGeom>
            <a:noFill/>
            <a:ln w="57150">
              <a:solidFill>
                <a:srgbClr val="339966"/>
              </a:solidFill>
              <a:round/>
              <a:headEnd/>
              <a:tailEnd type="triangle" w="med" len="med"/>
            </a:ln>
            <a:effectLst/>
          </p:spPr>
          <p:txBody>
            <a:bodyPr/>
            <a:lstStyle/>
            <a:p>
              <a:endParaRPr lang="zh-CN" altLang="en-US"/>
            </a:p>
          </p:txBody>
        </p:sp>
      </p:grpSp>
      <p:sp>
        <p:nvSpPr>
          <p:cNvPr id="109587" name="Rectangle 19"/>
          <p:cNvSpPr>
            <a:spLocks noChangeArrowheads="1"/>
          </p:cNvSpPr>
          <p:nvPr/>
        </p:nvSpPr>
        <p:spPr bwMode="auto">
          <a:xfrm>
            <a:off x="296863" y="3608388"/>
            <a:ext cx="8640762" cy="1354137"/>
          </a:xfrm>
          <a:prstGeom prst="rect">
            <a:avLst/>
          </a:prstGeom>
          <a:noFill/>
          <a:ln w="9525">
            <a:noFill/>
            <a:miter lim="800000"/>
            <a:headEnd/>
            <a:tailEnd/>
          </a:ln>
          <a:effectLst/>
        </p:spPr>
        <p:txBody>
          <a:bodyPr>
            <a:spAutoFit/>
          </a:bodyPr>
          <a:lstStyle/>
          <a:p>
            <a:pPr>
              <a:lnSpc>
                <a:spcPct val="115000"/>
              </a:lnSpc>
            </a:pPr>
            <a:r>
              <a:rPr lang="en-US" altLang="zh-CN" b="1">
                <a:solidFill>
                  <a:schemeClr val="bg1"/>
                </a:solidFill>
                <a:ea typeface="楷体_GB2312" pitchFamily="49" charset="-122"/>
              </a:rPr>
              <a:t>        </a:t>
            </a:r>
            <a:r>
              <a:rPr lang="zh-CN" altLang="en-US" b="1">
                <a:solidFill>
                  <a:schemeClr val="bg1"/>
                </a:solidFill>
                <a:ea typeface="楷体_GB2312" pitchFamily="49" charset="-122"/>
              </a:rPr>
              <a:t>自由电子吸收一个入射光子后发射一个波长较长的光子，且电子与光子沿不同方向运动，由于能量、动量守恒，康普顿散射过程可以看成是入射光子与自由电子的弹性碰撞。</a:t>
            </a:r>
          </a:p>
        </p:txBody>
      </p:sp>
      <p:sp>
        <p:nvSpPr>
          <p:cNvPr id="109588" name="Rectangle 20"/>
          <p:cNvSpPr>
            <a:spLocks noChangeArrowheads="1"/>
          </p:cNvSpPr>
          <p:nvPr/>
        </p:nvSpPr>
        <p:spPr bwMode="auto">
          <a:xfrm>
            <a:off x="881063" y="5019675"/>
            <a:ext cx="5264150"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通过理论计算，得</a:t>
            </a:r>
            <a:r>
              <a:rPr lang="zh-CN" altLang="en-US" b="1">
                <a:solidFill>
                  <a:schemeClr val="accent2"/>
                </a:solidFill>
                <a:ea typeface="楷体_GB2312" pitchFamily="49" charset="-122"/>
              </a:rPr>
              <a:t>波长改变量</a:t>
            </a:r>
            <a:r>
              <a:rPr lang="zh-CN" altLang="en-US" b="1">
                <a:solidFill>
                  <a:schemeClr val="bg1"/>
                </a:solidFill>
                <a:ea typeface="楷体_GB2312" pitchFamily="49" charset="-122"/>
              </a:rPr>
              <a:t>：</a:t>
            </a:r>
            <a:endParaRPr lang="zh-CN" altLang="en-US">
              <a:solidFill>
                <a:schemeClr val="bg1"/>
              </a:solidFill>
              <a:ea typeface="楷体_GB2312" pitchFamily="49" charset="-122"/>
            </a:endParaRPr>
          </a:p>
        </p:txBody>
      </p:sp>
      <p:graphicFrame>
        <p:nvGraphicFramePr>
          <p:cNvPr id="109589" name="Object 21"/>
          <p:cNvGraphicFramePr>
            <a:graphicFrameLocks/>
          </p:cNvGraphicFramePr>
          <p:nvPr/>
        </p:nvGraphicFramePr>
        <p:xfrm>
          <a:off x="592138" y="5476875"/>
          <a:ext cx="2746375" cy="833438"/>
        </p:xfrm>
        <a:graphic>
          <a:graphicData uri="http://schemas.openxmlformats.org/presentationml/2006/ole">
            <p:oleObj spid="_x0000_s19467" name="公式" r:id="rId4" imgW="1262160" imgH="350640" progId="Equation.3">
              <p:embed/>
            </p:oleObj>
          </a:graphicData>
        </a:graphic>
      </p:graphicFrame>
      <p:graphicFrame>
        <p:nvGraphicFramePr>
          <p:cNvPr id="109590" name="Object 22"/>
          <p:cNvGraphicFramePr>
            <a:graphicFrameLocks/>
          </p:cNvGraphicFramePr>
          <p:nvPr/>
        </p:nvGraphicFramePr>
        <p:xfrm>
          <a:off x="3402013" y="5476875"/>
          <a:ext cx="1474787" cy="754063"/>
        </p:xfrm>
        <a:graphic>
          <a:graphicData uri="http://schemas.openxmlformats.org/presentationml/2006/ole">
            <p:oleObj spid="_x0000_s19468" name="公式" r:id="rId5" imgW="643320" imgH="318240" progId="Equation.3">
              <p:embed/>
            </p:oleObj>
          </a:graphicData>
        </a:graphic>
      </p:graphicFrame>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570"/>
                                        </p:tgtEl>
                                        <p:attrNameLst>
                                          <p:attrName>style.visibility</p:attrName>
                                        </p:attrNameLst>
                                      </p:cBhvr>
                                      <p:to>
                                        <p:strVal val="visible"/>
                                      </p:to>
                                    </p:set>
                                    <p:animEffect transition="in" filter="wipe(left)">
                                      <p:cBhvr>
                                        <p:cTn id="7" dur="500"/>
                                        <p:tgtEl>
                                          <p:spTgt spid="1095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9572"/>
                                        </p:tgtEl>
                                        <p:attrNameLst>
                                          <p:attrName>style.visibility</p:attrName>
                                        </p:attrNameLst>
                                      </p:cBhvr>
                                      <p:to>
                                        <p:strVal val="visible"/>
                                      </p:to>
                                    </p:set>
                                    <p:animEffect transition="in" filter="wipe(left)">
                                      <p:cBhvr>
                                        <p:cTn id="12" dur="500"/>
                                        <p:tgtEl>
                                          <p:spTgt spid="1095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9573"/>
                                        </p:tgtEl>
                                        <p:attrNameLst>
                                          <p:attrName>style.visibility</p:attrName>
                                        </p:attrNameLst>
                                      </p:cBhvr>
                                      <p:to>
                                        <p:strVal val="visible"/>
                                      </p:to>
                                    </p:set>
                                    <p:animEffect transition="in" filter="wipe(left)">
                                      <p:cBhvr>
                                        <p:cTn id="17" dur="500"/>
                                        <p:tgtEl>
                                          <p:spTgt spid="1095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09574"/>
                                        </p:tgtEl>
                                        <p:attrNameLst>
                                          <p:attrName>style.visibility</p:attrName>
                                        </p:attrNameLst>
                                      </p:cBhvr>
                                      <p:to>
                                        <p:strVal val="visible"/>
                                      </p:to>
                                    </p:set>
                                    <p:animEffect transition="in" filter="dissolve">
                                      <p:cBhvr>
                                        <p:cTn id="22" dur="500"/>
                                        <p:tgtEl>
                                          <p:spTgt spid="10957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109579"/>
                                        </p:tgtEl>
                                        <p:attrNameLst>
                                          <p:attrName>style.visibility</p:attrName>
                                        </p:attrNameLst>
                                      </p:cBhvr>
                                      <p:to>
                                        <p:strVal val="visible"/>
                                      </p:to>
                                    </p:set>
                                    <p:animEffect transition="in" filter="slide(fromLeft)">
                                      <p:cBhvr>
                                        <p:cTn id="27" dur="500"/>
                                        <p:tgtEl>
                                          <p:spTgt spid="10957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nodeType="clickEffect">
                                  <p:stCondLst>
                                    <p:cond delay="0"/>
                                  </p:stCondLst>
                                  <p:childTnLst>
                                    <p:set>
                                      <p:cBhvr>
                                        <p:cTn id="31" dur="1" fill="hold">
                                          <p:stCondLst>
                                            <p:cond delay="0"/>
                                          </p:stCondLst>
                                        </p:cTn>
                                        <p:tgtEl>
                                          <p:spTgt spid="109584"/>
                                        </p:tgtEl>
                                        <p:attrNameLst>
                                          <p:attrName>style.visibility</p:attrName>
                                        </p:attrNameLst>
                                      </p:cBhvr>
                                      <p:to>
                                        <p:strVal val="visible"/>
                                      </p:to>
                                    </p:set>
                                    <p:animEffect transition="in" filter="slide(fromLeft)">
                                      <p:cBhvr>
                                        <p:cTn id="32" dur="500"/>
                                        <p:tgtEl>
                                          <p:spTgt spid="10958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9571"/>
                                        </p:tgtEl>
                                        <p:attrNameLst>
                                          <p:attrName>style.visibility</p:attrName>
                                        </p:attrNameLst>
                                      </p:cBhvr>
                                      <p:to>
                                        <p:strVal val="visible"/>
                                      </p:to>
                                    </p:set>
                                    <p:animEffect transition="in" filter="dissolve">
                                      <p:cBhvr>
                                        <p:cTn id="37" dur="500"/>
                                        <p:tgtEl>
                                          <p:spTgt spid="10957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9587"/>
                                        </p:tgtEl>
                                        <p:attrNameLst>
                                          <p:attrName>style.visibility</p:attrName>
                                        </p:attrNameLst>
                                      </p:cBhvr>
                                      <p:to>
                                        <p:strVal val="visible"/>
                                      </p:to>
                                    </p:set>
                                    <p:animEffect transition="in" filter="dissolve">
                                      <p:cBhvr>
                                        <p:cTn id="42" dur="500"/>
                                        <p:tgtEl>
                                          <p:spTgt spid="10958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9588"/>
                                        </p:tgtEl>
                                        <p:attrNameLst>
                                          <p:attrName>style.visibility</p:attrName>
                                        </p:attrNameLst>
                                      </p:cBhvr>
                                      <p:to>
                                        <p:strVal val="visible"/>
                                      </p:to>
                                    </p:set>
                                    <p:animEffect transition="in" filter="wipe(left)">
                                      <p:cBhvr>
                                        <p:cTn id="47" dur="500"/>
                                        <p:tgtEl>
                                          <p:spTgt spid="10958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09589"/>
                                        </p:tgtEl>
                                        <p:attrNameLst>
                                          <p:attrName>style.visibility</p:attrName>
                                        </p:attrNameLst>
                                      </p:cBhvr>
                                      <p:to>
                                        <p:strVal val="visible"/>
                                      </p:to>
                                    </p:set>
                                    <p:animEffect transition="in" filter="wipe(left)">
                                      <p:cBhvr>
                                        <p:cTn id="52" dur="500"/>
                                        <p:tgtEl>
                                          <p:spTgt spid="10958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09590"/>
                                        </p:tgtEl>
                                        <p:attrNameLst>
                                          <p:attrName>style.visibility</p:attrName>
                                        </p:attrNameLst>
                                      </p:cBhvr>
                                      <p:to>
                                        <p:strVal val="visible"/>
                                      </p:to>
                                    </p:set>
                                    <p:animEffect transition="in" filter="wipe(left)">
                                      <p:cBhvr>
                                        <p:cTn id="57" dur="500"/>
                                        <p:tgtEl>
                                          <p:spTgt spid="109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p:bldP spid="109571" grpId="0" autoUpdateAnimBg="0"/>
      <p:bldP spid="109572" grpId="0"/>
      <p:bldP spid="109573" grpId="0" animBg="1"/>
      <p:bldP spid="109587" grpId="0" autoUpdateAnimBg="0"/>
      <p:bldP spid="109588"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Rectangle 2"/>
          <p:cNvSpPr>
            <a:spLocks noChangeArrowheads="1"/>
          </p:cNvSpPr>
          <p:nvPr/>
        </p:nvSpPr>
        <p:spPr bwMode="auto">
          <a:xfrm>
            <a:off x="250825" y="1314450"/>
            <a:ext cx="6526213" cy="512763"/>
          </a:xfrm>
          <a:prstGeom prst="rect">
            <a:avLst/>
          </a:prstGeom>
          <a:noFill/>
          <a:ln w="9525">
            <a:noFill/>
            <a:miter lim="800000"/>
            <a:headEnd/>
            <a:tailEnd/>
          </a:ln>
          <a:effectLst/>
        </p:spPr>
        <p:txBody>
          <a:bodyPr>
            <a:spAutoFit/>
          </a:bodyPr>
          <a:lstStyle/>
          <a:p>
            <a:pPr>
              <a:lnSpc>
                <a:spcPct val="115000"/>
              </a:lnSpc>
            </a:pPr>
            <a:r>
              <a:rPr lang="zh-CN" altLang="en-US" b="1">
                <a:solidFill>
                  <a:srgbClr val="0000FF"/>
                </a:solidFill>
              </a:rPr>
              <a:t>（</a:t>
            </a:r>
            <a:r>
              <a:rPr lang="en-US" altLang="zh-CN" b="1">
                <a:solidFill>
                  <a:srgbClr val="0000FF"/>
                </a:solidFill>
              </a:rPr>
              <a:t>2</a:t>
            </a:r>
            <a:r>
              <a:rPr lang="zh-CN" altLang="en-US" b="1">
                <a:solidFill>
                  <a:srgbClr val="0000FF"/>
                </a:solidFill>
              </a:rPr>
              <a:t>） </a:t>
            </a:r>
            <a:r>
              <a:rPr lang="en-US" altLang="zh-CN" b="1">
                <a:solidFill>
                  <a:srgbClr val="0000FF"/>
                </a:solidFill>
                <a:ea typeface="楷体_GB2312" pitchFamily="49" charset="-122"/>
              </a:rPr>
              <a:t>X</a:t>
            </a:r>
            <a:r>
              <a:rPr lang="en-US" altLang="zh-CN" b="1">
                <a:solidFill>
                  <a:srgbClr val="0000FF"/>
                </a:solidFill>
                <a:latin typeface="楷体_GB2312" pitchFamily="49" charset="-122"/>
                <a:ea typeface="楷体_GB2312" pitchFamily="49" charset="-122"/>
              </a:rPr>
              <a:t> </a:t>
            </a:r>
            <a:r>
              <a:rPr lang="zh-CN" altLang="en-US" b="1">
                <a:solidFill>
                  <a:srgbClr val="0000FF"/>
                </a:solidFill>
                <a:latin typeface="楷体_GB2312" pitchFamily="49" charset="-122"/>
                <a:ea typeface="楷体_GB2312" pitchFamily="49" charset="-122"/>
              </a:rPr>
              <a:t>射线光子和原子内层电子相互作用</a:t>
            </a:r>
          </a:p>
        </p:txBody>
      </p:sp>
      <p:sp>
        <p:nvSpPr>
          <p:cNvPr id="110595" name="Rectangle 3"/>
          <p:cNvSpPr>
            <a:spLocks noChangeArrowheads="1"/>
          </p:cNvSpPr>
          <p:nvPr/>
        </p:nvSpPr>
        <p:spPr bwMode="auto">
          <a:xfrm>
            <a:off x="366713" y="2536825"/>
            <a:ext cx="8382000"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光子质量远小于原子，碰撞时光子不损失能量，波长不变。</a:t>
            </a:r>
          </a:p>
        </p:txBody>
      </p:sp>
      <p:sp>
        <p:nvSpPr>
          <p:cNvPr id="110611" name="Rectangle 19"/>
          <p:cNvSpPr>
            <a:spLocks noChangeArrowheads="1"/>
          </p:cNvSpPr>
          <p:nvPr/>
        </p:nvSpPr>
        <p:spPr bwMode="auto">
          <a:xfrm>
            <a:off x="582613" y="2079625"/>
            <a:ext cx="7988300"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内层电子被紧束缚，光子相当于和整个原子发生碰撞。</a:t>
            </a:r>
          </a:p>
        </p:txBody>
      </p:sp>
      <p:graphicFrame>
        <p:nvGraphicFramePr>
          <p:cNvPr id="110612" name="Object 20"/>
          <p:cNvGraphicFramePr>
            <a:graphicFrameLocks noChangeAspect="1"/>
          </p:cNvGraphicFramePr>
          <p:nvPr/>
        </p:nvGraphicFramePr>
        <p:xfrm>
          <a:off x="2817813" y="719138"/>
          <a:ext cx="2879725" cy="414337"/>
        </p:xfrm>
        <a:graphic>
          <a:graphicData uri="http://schemas.openxmlformats.org/presentationml/2006/ole">
            <p:oleObj spid="_x0000_s20485" name="公式" r:id="rId4" imgW="1343520" imgH="179280" progId="Equation.3">
              <p:embed/>
            </p:oleObj>
          </a:graphicData>
        </a:graphic>
      </p:graphicFrame>
      <p:sp>
        <p:nvSpPr>
          <p:cNvPr id="110613" name="Text Box 21"/>
          <p:cNvSpPr txBox="1">
            <a:spLocks noChangeArrowheads="1"/>
          </p:cNvSpPr>
          <p:nvPr/>
        </p:nvSpPr>
        <p:spPr bwMode="auto">
          <a:xfrm>
            <a:off x="927100" y="674688"/>
            <a:ext cx="2286000" cy="457200"/>
          </a:xfrm>
          <a:prstGeom prst="rect">
            <a:avLst/>
          </a:prstGeom>
          <a:noFill/>
          <a:ln w="9525">
            <a:noFill/>
            <a:miter lim="800000"/>
            <a:headEnd/>
            <a:tailEnd/>
          </a:ln>
          <a:effectLst/>
        </p:spPr>
        <p:txBody>
          <a:bodyPr>
            <a:spAutoFit/>
          </a:bodyPr>
          <a:lstStyle/>
          <a:p>
            <a:r>
              <a:rPr lang="zh-CN" altLang="en-US" b="1">
                <a:solidFill>
                  <a:schemeClr val="tx2"/>
                </a:solidFill>
                <a:ea typeface="楷体_GB2312" pitchFamily="49" charset="-122"/>
              </a:rPr>
              <a:t>康普顿波长</a:t>
            </a:r>
          </a:p>
        </p:txBody>
      </p:sp>
      <p:grpSp>
        <p:nvGrpSpPr>
          <p:cNvPr id="110629" name="Group 37"/>
          <p:cNvGrpSpPr>
            <a:grpSpLocks/>
          </p:cNvGrpSpPr>
          <p:nvPr/>
        </p:nvGrpSpPr>
        <p:grpSpPr bwMode="auto">
          <a:xfrm>
            <a:off x="6237288" y="458788"/>
            <a:ext cx="2609850" cy="855662"/>
            <a:chOff x="1775" y="90"/>
            <a:chExt cx="1644" cy="539"/>
          </a:xfrm>
        </p:grpSpPr>
        <p:graphicFrame>
          <p:nvGraphicFramePr>
            <p:cNvPr id="20488" name="Object 38"/>
            <p:cNvGraphicFramePr>
              <a:graphicFrameLocks noChangeAspect="1"/>
            </p:cNvGraphicFramePr>
            <p:nvPr/>
          </p:nvGraphicFramePr>
          <p:xfrm>
            <a:off x="1916" y="119"/>
            <a:ext cx="1245" cy="458"/>
          </p:xfrm>
          <a:graphic>
            <a:graphicData uri="http://schemas.openxmlformats.org/presentationml/2006/ole">
              <p:oleObj spid="_x0000_s20488" name="公式" r:id="rId5" imgW="822600" imgH="334440" progId="Equation.3">
                <p:embed/>
              </p:oleObj>
            </a:graphicData>
          </a:graphic>
        </p:graphicFrame>
        <p:sp>
          <p:nvSpPr>
            <p:cNvPr id="20489" name="Oval 39"/>
            <p:cNvSpPr>
              <a:spLocks noChangeArrowheads="1"/>
            </p:cNvSpPr>
            <p:nvPr/>
          </p:nvSpPr>
          <p:spPr bwMode="auto">
            <a:xfrm>
              <a:off x="1775" y="90"/>
              <a:ext cx="1644" cy="539"/>
            </a:xfrm>
            <a:prstGeom prst="ellipse">
              <a:avLst/>
            </a:prstGeom>
            <a:noFill/>
            <a:ln w="9525" algn="ctr">
              <a:solidFill>
                <a:srgbClr val="800080"/>
              </a:solidFill>
              <a:round/>
              <a:headEnd/>
              <a:tailEnd/>
            </a:ln>
            <a:effectLst/>
          </p:spPr>
          <p:txBody>
            <a:bodyPr wrap="none" anchor="ctr">
              <a:spAutoFit/>
            </a:bodyPr>
            <a:lstStyle/>
            <a:p>
              <a:endParaRPr lang="zh-CN" altLang="en-US"/>
            </a:p>
          </p:txBody>
        </p:sp>
      </p:gr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613"/>
                                        </p:tgtEl>
                                        <p:attrNameLst>
                                          <p:attrName>style.visibility</p:attrName>
                                        </p:attrNameLst>
                                      </p:cBhvr>
                                      <p:to>
                                        <p:strVal val="visible"/>
                                      </p:to>
                                    </p:set>
                                    <p:animEffect transition="in" filter="wipe(left)">
                                      <p:cBhvr>
                                        <p:cTn id="7" dur="500"/>
                                        <p:tgtEl>
                                          <p:spTgt spid="110613"/>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499"/>
                                          </p:stCondLst>
                                        </p:cTn>
                                        <p:tgtEl>
                                          <p:spTgt spid="1106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6" presetClass="emph" presetSubtype="0" fill="hold" nodeType="clickEffect">
                                  <p:stCondLst>
                                    <p:cond delay="0"/>
                                  </p:stCondLst>
                                  <p:childTnLst>
                                    <p:animScale>
                                      <p:cBhvr>
                                        <p:cTn id="14" dur="2000" fill="hold"/>
                                        <p:tgtEl>
                                          <p:spTgt spid="110629"/>
                                        </p:tgtEl>
                                      </p:cBhvr>
                                      <p:by x="150000" y="150000"/>
                                    </p:animScale>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10594"/>
                                        </p:tgtEl>
                                        <p:attrNameLst>
                                          <p:attrName>style.visibility</p:attrName>
                                        </p:attrNameLst>
                                      </p:cBhvr>
                                      <p:to>
                                        <p:strVal val="visible"/>
                                      </p:to>
                                    </p:set>
                                    <p:animEffect transition="in" filter="dissolve">
                                      <p:cBhvr>
                                        <p:cTn id="19" dur="500"/>
                                        <p:tgtEl>
                                          <p:spTgt spid="11059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110611"/>
                                        </p:tgtEl>
                                        <p:attrNameLst>
                                          <p:attrName>style.visibility</p:attrName>
                                        </p:attrNameLst>
                                      </p:cBhvr>
                                      <p:to>
                                        <p:strVal val="visible"/>
                                      </p:to>
                                    </p:set>
                                    <p:animEffect transition="in" filter="slide(fromLeft)">
                                      <p:cBhvr>
                                        <p:cTn id="24" dur="500"/>
                                        <p:tgtEl>
                                          <p:spTgt spid="11061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10595"/>
                                        </p:tgtEl>
                                        <p:attrNameLst>
                                          <p:attrName>style.visibility</p:attrName>
                                        </p:attrNameLst>
                                      </p:cBhvr>
                                      <p:to>
                                        <p:strVal val="visible"/>
                                      </p:to>
                                    </p:set>
                                    <p:animEffect transition="in" filter="wipe(left)">
                                      <p:cBhvr>
                                        <p:cTn id="29" dur="500"/>
                                        <p:tgtEl>
                                          <p:spTgt spid="110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autoUpdateAnimBg="0"/>
      <p:bldP spid="110595" grpId="0" autoUpdateAnimBg="0"/>
      <p:bldP spid="110611" grpId="0" autoUpdateAnimBg="0"/>
      <p:bldP spid="1106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7396" name="Group 4"/>
          <p:cNvGrpSpPr>
            <a:grpSpLocks/>
          </p:cNvGrpSpPr>
          <p:nvPr/>
        </p:nvGrpSpPr>
        <p:grpSpPr bwMode="auto">
          <a:xfrm>
            <a:off x="1681163" y="576263"/>
            <a:ext cx="2784475" cy="1090612"/>
            <a:chOff x="1429" y="3430"/>
            <a:chExt cx="1754" cy="687"/>
          </a:xfrm>
        </p:grpSpPr>
        <p:sp>
          <p:nvSpPr>
            <p:cNvPr id="21541" name="Text Box 5"/>
            <p:cNvSpPr txBox="1">
              <a:spLocks noChangeArrowheads="1"/>
            </p:cNvSpPr>
            <p:nvPr/>
          </p:nvSpPr>
          <p:spPr bwMode="auto">
            <a:xfrm>
              <a:off x="1429" y="3641"/>
              <a:ext cx="579" cy="294"/>
            </a:xfrm>
            <a:prstGeom prst="rect">
              <a:avLst/>
            </a:prstGeom>
            <a:solidFill>
              <a:srgbClr val="CCFFFF"/>
            </a:solidFill>
            <a:ln w="9525">
              <a:solidFill>
                <a:srgbClr val="00FFFF"/>
              </a:solidFill>
              <a:miter lim="800000"/>
              <a:headEnd/>
              <a:tailEnd/>
            </a:ln>
            <a:effectLst/>
          </p:spPr>
          <p:txBody>
            <a:bodyPr>
              <a:spAutoFit/>
            </a:bodyPr>
            <a:lstStyle/>
            <a:p>
              <a:pPr algn="ctr"/>
              <a:r>
                <a:rPr lang="zh-CN" altLang="en-US" b="1">
                  <a:solidFill>
                    <a:schemeClr val="bg1"/>
                  </a:solidFill>
                  <a:ea typeface="楷体_GB2312" pitchFamily="49" charset="-122"/>
                </a:rPr>
                <a:t>光子</a:t>
              </a:r>
            </a:p>
          </p:txBody>
        </p:sp>
        <p:sp>
          <p:nvSpPr>
            <p:cNvPr id="21542" name="Text Box 6"/>
            <p:cNvSpPr txBox="1">
              <a:spLocks noChangeArrowheads="1"/>
            </p:cNvSpPr>
            <p:nvPr/>
          </p:nvSpPr>
          <p:spPr bwMode="auto">
            <a:xfrm>
              <a:off x="2281" y="3430"/>
              <a:ext cx="902" cy="294"/>
            </a:xfrm>
            <a:prstGeom prst="rect">
              <a:avLst/>
            </a:prstGeom>
            <a:solidFill>
              <a:srgbClr val="CCFFFF"/>
            </a:solidFill>
            <a:ln w="9525">
              <a:solidFill>
                <a:srgbClr val="00FFFF"/>
              </a:solidFill>
              <a:miter lim="800000"/>
              <a:headEnd/>
              <a:tailEnd/>
            </a:ln>
            <a:effectLst/>
          </p:spPr>
          <p:txBody>
            <a:bodyPr>
              <a:spAutoFit/>
            </a:bodyPr>
            <a:lstStyle/>
            <a:p>
              <a:pPr algn="ctr"/>
              <a:r>
                <a:rPr lang="zh-CN" altLang="en-US" b="1">
                  <a:solidFill>
                    <a:schemeClr val="bg1"/>
                  </a:solidFill>
                  <a:ea typeface="楷体_GB2312" pitchFamily="49" charset="-122"/>
                </a:rPr>
                <a:t>内层电子</a:t>
              </a:r>
            </a:p>
          </p:txBody>
        </p:sp>
        <p:sp>
          <p:nvSpPr>
            <p:cNvPr id="21543" name="Text Box 7"/>
            <p:cNvSpPr txBox="1">
              <a:spLocks noChangeArrowheads="1"/>
            </p:cNvSpPr>
            <p:nvPr/>
          </p:nvSpPr>
          <p:spPr bwMode="auto">
            <a:xfrm>
              <a:off x="2281" y="3823"/>
              <a:ext cx="902" cy="294"/>
            </a:xfrm>
            <a:prstGeom prst="rect">
              <a:avLst/>
            </a:prstGeom>
            <a:solidFill>
              <a:srgbClr val="CCFFFF"/>
            </a:solidFill>
            <a:ln w="9525">
              <a:solidFill>
                <a:srgbClr val="00FFFF"/>
              </a:solidFill>
              <a:miter lim="800000"/>
              <a:headEnd/>
              <a:tailEnd/>
            </a:ln>
            <a:effectLst/>
          </p:spPr>
          <p:txBody>
            <a:bodyPr>
              <a:spAutoFit/>
            </a:bodyPr>
            <a:lstStyle/>
            <a:p>
              <a:pPr algn="ctr"/>
              <a:r>
                <a:rPr lang="zh-CN" altLang="en-US" b="1">
                  <a:solidFill>
                    <a:schemeClr val="bg1"/>
                  </a:solidFill>
                  <a:ea typeface="楷体_GB2312" pitchFamily="49" charset="-122"/>
                </a:rPr>
                <a:t>外层电子</a:t>
              </a:r>
            </a:p>
          </p:txBody>
        </p:sp>
        <p:grpSp>
          <p:nvGrpSpPr>
            <p:cNvPr id="21544" name="Group 8"/>
            <p:cNvGrpSpPr>
              <a:grpSpLocks/>
            </p:cNvGrpSpPr>
            <p:nvPr/>
          </p:nvGrpSpPr>
          <p:grpSpPr bwMode="auto">
            <a:xfrm>
              <a:off x="2052" y="3534"/>
              <a:ext cx="148" cy="486"/>
              <a:chOff x="2052" y="3534"/>
              <a:chExt cx="148" cy="486"/>
            </a:xfrm>
          </p:grpSpPr>
          <p:sp>
            <p:nvSpPr>
              <p:cNvPr id="21545" name="Line 9"/>
              <p:cNvSpPr>
                <a:spLocks noChangeShapeType="1"/>
              </p:cNvSpPr>
              <p:nvPr/>
            </p:nvSpPr>
            <p:spPr bwMode="auto">
              <a:xfrm flipV="1">
                <a:off x="2052" y="3534"/>
                <a:ext cx="148" cy="259"/>
              </a:xfrm>
              <a:prstGeom prst="line">
                <a:avLst/>
              </a:prstGeom>
              <a:noFill/>
              <a:ln w="38100">
                <a:solidFill>
                  <a:srgbClr val="0000FF"/>
                </a:solidFill>
                <a:round/>
                <a:headEnd/>
                <a:tailEnd type="triangle" w="med" len="med"/>
              </a:ln>
              <a:effectLst/>
            </p:spPr>
            <p:txBody>
              <a:bodyPr/>
              <a:lstStyle/>
              <a:p>
                <a:endParaRPr lang="zh-CN" altLang="en-US"/>
              </a:p>
            </p:txBody>
          </p:sp>
          <p:sp>
            <p:nvSpPr>
              <p:cNvPr id="21546" name="Line 10"/>
              <p:cNvSpPr>
                <a:spLocks noChangeShapeType="1"/>
              </p:cNvSpPr>
              <p:nvPr/>
            </p:nvSpPr>
            <p:spPr bwMode="auto">
              <a:xfrm>
                <a:off x="2052" y="3793"/>
                <a:ext cx="136" cy="227"/>
              </a:xfrm>
              <a:prstGeom prst="line">
                <a:avLst/>
              </a:prstGeom>
              <a:noFill/>
              <a:ln w="38100">
                <a:solidFill>
                  <a:srgbClr val="0000FF"/>
                </a:solidFill>
                <a:round/>
                <a:headEnd/>
                <a:tailEnd type="triangle" w="med" len="med"/>
              </a:ln>
              <a:effectLst/>
            </p:spPr>
            <p:txBody>
              <a:bodyPr/>
              <a:lstStyle/>
              <a:p>
                <a:endParaRPr lang="zh-CN" altLang="en-US"/>
              </a:p>
            </p:txBody>
          </p:sp>
        </p:grpSp>
      </p:grpSp>
      <p:grpSp>
        <p:nvGrpSpPr>
          <p:cNvPr id="187403" name="Group 11"/>
          <p:cNvGrpSpPr>
            <a:grpSpLocks/>
          </p:cNvGrpSpPr>
          <p:nvPr/>
        </p:nvGrpSpPr>
        <p:grpSpPr bwMode="auto">
          <a:xfrm>
            <a:off x="4678363" y="600075"/>
            <a:ext cx="3363912" cy="1066800"/>
            <a:chOff x="3120" y="768"/>
            <a:chExt cx="2109" cy="769"/>
          </a:xfrm>
        </p:grpSpPr>
        <p:grpSp>
          <p:nvGrpSpPr>
            <p:cNvPr id="21536" name="Group 12"/>
            <p:cNvGrpSpPr>
              <a:grpSpLocks/>
            </p:cNvGrpSpPr>
            <p:nvPr/>
          </p:nvGrpSpPr>
          <p:grpSpPr bwMode="auto">
            <a:xfrm>
              <a:off x="3120" y="1200"/>
              <a:ext cx="2109" cy="337"/>
              <a:chOff x="3120" y="1200"/>
              <a:chExt cx="2109" cy="337"/>
            </a:xfrm>
          </p:grpSpPr>
          <p:sp>
            <p:nvSpPr>
              <p:cNvPr id="21539" name="Rectangle 13"/>
              <p:cNvSpPr>
                <a:spLocks noChangeArrowheads="1"/>
              </p:cNvSpPr>
              <p:nvPr/>
            </p:nvSpPr>
            <p:spPr bwMode="auto">
              <a:xfrm>
                <a:off x="3571" y="1200"/>
                <a:ext cx="1658" cy="337"/>
              </a:xfrm>
              <a:prstGeom prst="rect">
                <a:avLst/>
              </a:prstGeom>
              <a:solidFill>
                <a:srgbClr val="CCFFFF"/>
              </a:solidFill>
              <a:ln w="9525">
                <a:solidFill>
                  <a:srgbClr val="00FFFF"/>
                </a:solidFill>
                <a:miter lim="800000"/>
                <a:headEnd/>
                <a:tailEnd/>
              </a:ln>
              <a:effectLst/>
            </p:spPr>
            <p:txBody>
              <a:bodyPr wrap="none">
                <a:spAutoFit/>
              </a:bodyPr>
              <a:lstStyle/>
              <a:p>
                <a:pPr algn="ctr"/>
                <a:r>
                  <a:rPr lang="zh-CN" altLang="en-US" b="1">
                    <a:solidFill>
                      <a:schemeClr val="bg1"/>
                    </a:solidFill>
                    <a:ea typeface="楷体_GB2312" pitchFamily="49" charset="-122"/>
                  </a:rPr>
                  <a:t>波长变大的散射线</a:t>
                </a:r>
              </a:p>
            </p:txBody>
          </p:sp>
          <p:sp>
            <p:nvSpPr>
              <p:cNvPr id="21540" name="Line 14"/>
              <p:cNvSpPr>
                <a:spLocks noChangeShapeType="1"/>
              </p:cNvSpPr>
              <p:nvPr/>
            </p:nvSpPr>
            <p:spPr bwMode="auto">
              <a:xfrm>
                <a:off x="3120" y="1350"/>
                <a:ext cx="288" cy="0"/>
              </a:xfrm>
              <a:prstGeom prst="line">
                <a:avLst/>
              </a:prstGeom>
              <a:noFill/>
              <a:ln w="38100">
                <a:solidFill>
                  <a:srgbClr val="0000FF"/>
                </a:solidFill>
                <a:round/>
                <a:headEnd/>
                <a:tailEnd type="triangle" w="med" len="med"/>
              </a:ln>
              <a:effectLst/>
            </p:spPr>
            <p:txBody>
              <a:bodyPr/>
              <a:lstStyle/>
              <a:p>
                <a:endParaRPr lang="zh-CN" altLang="en-US"/>
              </a:p>
            </p:txBody>
          </p:sp>
        </p:grpSp>
        <p:sp>
          <p:nvSpPr>
            <p:cNvPr id="21537" name="Rectangle 15"/>
            <p:cNvSpPr>
              <a:spLocks noChangeArrowheads="1"/>
            </p:cNvSpPr>
            <p:nvPr/>
          </p:nvSpPr>
          <p:spPr bwMode="auto">
            <a:xfrm>
              <a:off x="3571" y="768"/>
              <a:ext cx="1658" cy="336"/>
            </a:xfrm>
            <a:prstGeom prst="rect">
              <a:avLst/>
            </a:prstGeom>
            <a:solidFill>
              <a:srgbClr val="CCFFFF"/>
            </a:solidFill>
            <a:ln w="9525">
              <a:solidFill>
                <a:srgbClr val="00FFFF"/>
              </a:solidFill>
              <a:miter lim="800000"/>
              <a:headEnd/>
              <a:tailEnd/>
            </a:ln>
            <a:effectLst/>
          </p:spPr>
          <p:txBody>
            <a:bodyPr wrap="none">
              <a:spAutoFit/>
            </a:bodyPr>
            <a:lstStyle/>
            <a:p>
              <a:pPr algn="ctr"/>
              <a:r>
                <a:rPr lang="zh-CN" altLang="en-US" b="1">
                  <a:solidFill>
                    <a:schemeClr val="bg1"/>
                  </a:solidFill>
                  <a:ea typeface="楷体_GB2312" pitchFamily="49" charset="-122"/>
                </a:rPr>
                <a:t>波长不变的散射线</a:t>
              </a:r>
            </a:p>
          </p:txBody>
        </p:sp>
        <p:sp>
          <p:nvSpPr>
            <p:cNvPr id="21538" name="Line 16"/>
            <p:cNvSpPr>
              <a:spLocks noChangeShapeType="1"/>
            </p:cNvSpPr>
            <p:nvPr/>
          </p:nvSpPr>
          <p:spPr bwMode="auto">
            <a:xfrm>
              <a:off x="3120" y="918"/>
              <a:ext cx="288" cy="0"/>
            </a:xfrm>
            <a:prstGeom prst="line">
              <a:avLst/>
            </a:prstGeom>
            <a:noFill/>
            <a:ln w="38100">
              <a:solidFill>
                <a:srgbClr val="0000FF"/>
              </a:solidFill>
              <a:round/>
              <a:headEnd/>
              <a:tailEnd type="triangle" w="med" len="med"/>
            </a:ln>
            <a:effectLst/>
          </p:spPr>
          <p:txBody>
            <a:bodyPr/>
            <a:lstStyle/>
            <a:p>
              <a:endParaRPr lang="zh-CN" altLang="en-US"/>
            </a:p>
          </p:txBody>
        </p:sp>
      </p:grpSp>
      <p:sp>
        <p:nvSpPr>
          <p:cNvPr id="187409" name="Text Box 17"/>
          <p:cNvSpPr txBox="1">
            <a:spLocks noChangeArrowheads="1"/>
          </p:cNvSpPr>
          <p:nvPr/>
        </p:nvSpPr>
        <p:spPr bwMode="auto">
          <a:xfrm>
            <a:off x="993775" y="911225"/>
            <a:ext cx="974725" cy="457200"/>
          </a:xfrm>
          <a:prstGeom prst="rect">
            <a:avLst/>
          </a:prstGeom>
          <a:noFill/>
          <a:ln w="9525">
            <a:noFill/>
            <a:miter lim="800000"/>
            <a:headEnd/>
            <a:tailEnd/>
          </a:ln>
          <a:effectLst/>
        </p:spPr>
        <p:txBody>
          <a:bodyPr>
            <a:spAutoFit/>
          </a:bodyPr>
          <a:lstStyle/>
          <a:p>
            <a:r>
              <a:rPr lang="en-US" altLang="zh-CN" b="1">
                <a:solidFill>
                  <a:schemeClr val="bg1"/>
                </a:solidFill>
              </a:rPr>
              <a:t>(1) </a:t>
            </a:r>
          </a:p>
        </p:txBody>
      </p:sp>
      <p:sp>
        <p:nvSpPr>
          <p:cNvPr id="187410" name="Rectangle 18"/>
          <p:cNvSpPr>
            <a:spLocks noChangeArrowheads="1"/>
          </p:cNvSpPr>
          <p:nvPr/>
        </p:nvSpPr>
        <p:spPr bwMode="auto">
          <a:xfrm>
            <a:off x="385763" y="300038"/>
            <a:ext cx="1155700" cy="457200"/>
          </a:xfrm>
          <a:prstGeom prst="rect">
            <a:avLst/>
          </a:prstGeom>
          <a:noFill/>
          <a:ln w="9525">
            <a:noFill/>
            <a:miter lim="800000"/>
            <a:headEnd/>
            <a:tailEnd/>
          </a:ln>
          <a:effectLst/>
        </p:spPr>
        <p:txBody>
          <a:bodyPr>
            <a:spAutoFit/>
          </a:bodyPr>
          <a:lstStyle/>
          <a:p>
            <a:r>
              <a:rPr lang="zh-CN" altLang="en-US" b="1">
                <a:solidFill>
                  <a:schemeClr val="hlink"/>
                </a:solidFill>
              </a:rPr>
              <a:t>说明</a:t>
            </a:r>
          </a:p>
        </p:txBody>
      </p:sp>
      <p:sp>
        <p:nvSpPr>
          <p:cNvPr id="187411" name="AutoShape 19"/>
          <p:cNvSpPr>
            <a:spLocks noChangeArrowheads="1"/>
          </p:cNvSpPr>
          <p:nvPr/>
        </p:nvSpPr>
        <p:spPr bwMode="auto">
          <a:xfrm>
            <a:off x="93663" y="279400"/>
            <a:ext cx="360362" cy="576263"/>
          </a:xfrm>
          <a:prstGeom prst="star4">
            <a:avLst>
              <a:gd name="adj" fmla="val 18519"/>
            </a:avLst>
          </a:prstGeom>
          <a:gradFill rotWithShape="0">
            <a:gsLst>
              <a:gs pos="0">
                <a:schemeClr val="accent2"/>
              </a:gs>
              <a:gs pos="100000">
                <a:schemeClr val="accent2">
                  <a:gamma/>
                  <a:shade val="46275"/>
                  <a:invGamma/>
                </a:schemeClr>
              </a:gs>
            </a:gsLst>
            <a:path path="shape">
              <a:fillToRect l="50000" t="50000" r="50000" b="50000"/>
            </a:path>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187412" name="Text Box 20"/>
          <p:cNvSpPr txBox="1">
            <a:spLocks noChangeArrowheads="1"/>
          </p:cNvSpPr>
          <p:nvPr/>
        </p:nvSpPr>
        <p:spPr bwMode="auto">
          <a:xfrm>
            <a:off x="746125" y="1931988"/>
            <a:ext cx="990600" cy="457200"/>
          </a:xfrm>
          <a:prstGeom prst="rect">
            <a:avLst/>
          </a:prstGeom>
          <a:noFill/>
          <a:ln w="9525">
            <a:noFill/>
            <a:miter lim="800000"/>
            <a:headEnd/>
            <a:tailEnd/>
          </a:ln>
          <a:effectLst/>
        </p:spPr>
        <p:txBody>
          <a:bodyPr>
            <a:spAutoFit/>
          </a:bodyPr>
          <a:lstStyle/>
          <a:p>
            <a:pPr algn="ctr"/>
            <a:r>
              <a:rPr lang="en-US" altLang="zh-CN" b="1">
                <a:solidFill>
                  <a:schemeClr val="bg1"/>
                </a:solidFill>
              </a:rPr>
              <a:t>(2) </a:t>
            </a:r>
          </a:p>
        </p:txBody>
      </p:sp>
      <p:graphicFrame>
        <p:nvGraphicFramePr>
          <p:cNvPr id="187413" name="Group 21"/>
          <p:cNvGraphicFramePr>
            <a:graphicFrameLocks noGrp="1"/>
          </p:cNvGraphicFramePr>
          <p:nvPr/>
        </p:nvGraphicFramePr>
        <p:xfrm>
          <a:off x="1835150" y="1898650"/>
          <a:ext cx="6629400" cy="1349574"/>
        </p:xfrm>
        <a:graphic>
          <a:graphicData uri="http://schemas.openxmlformats.org/drawingml/2006/table">
            <a:tbl>
              <a:tblPr/>
              <a:tblGrid>
                <a:gridCol w="4919663"/>
                <a:gridCol w="869950"/>
                <a:gridCol w="839787"/>
              </a:tblGrid>
              <a:tr h="51791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tx1"/>
                          </a:solidFill>
                          <a:effectLst/>
                          <a:latin typeface="Times New Roman" pitchFamily="18" charset="0"/>
                          <a:ea typeface="宋体" pitchFamily="2" charset="-122"/>
                        </a:rPr>
                        <a:t>                                            </a:t>
                      </a:r>
                      <a:r>
                        <a:rPr kumimoji="1" lang="zh-CN" altLang="en-US" sz="2000" b="1" i="0" u="none" strike="noStrike" cap="none" normalizeH="0" baseline="0" smtClean="0">
                          <a:ln>
                            <a:noFill/>
                          </a:ln>
                          <a:solidFill>
                            <a:srgbClr val="0000FF"/>
                          </a:solidFill>
                          <a:effectLst/>
                          <a:latin typeface="Times New Roman" pitchFamily="18" charset="0"/>
                          <a:ea typeface="宋体" pitchFamily="2" charset="-122"/>
                        </a:rPr>
                        <a:t>波长</a:t>
                      </a:r>
                    </a:p>
                  </a:txBody>
                  <a:tcPr marT="45698" marB="45698" anchor="ctr" horzOverflow="overflow">
                    <a:lnL w="127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00CC99">
                        <a:alpha val="81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1" u="none" strike="noStrike" cap="none" normalizeH="0" baseline="0" smtClean="0">
                          <a:ln>
                            <a:noFill/>
                          </a:ln>
                          <a:solidFill>
                            <a:schemeClr val="tx1"/>
                          </a:solidFill>
                          <a:effectLst/>
                          <a:latin typeface="Times New Roman" pitchFamily="18" charset="0"/>
                          <a:ea typeface="宋体" pitchFamily="2" charset="-122"/>
                          <a:sym typeface="Symbol" pitchFamily="18" charset="2"/>
                        </a:rPr>
                        <a:t> </a:t>
                      </a:r>
                      <a:r>
                        <a:rPr kumimoji="1" lang="en-US" altLang="zh-CN" sz="2400" b="1" i="1" u="none" strike="noStrike" cap="none" normalizeH="0" baseline="0" smtClean="0">
                          <a:ln>
                            <a:noFill/>
                          </a:ln>
                          <a:solidFill>
                            <a:srgbClr val="0000FF"/>
                          </a:solidFill>
                          <a:effectLst/>
                          <a:latin typeface="Times New Roman" pitchFamily="18" charset="0"/>
                          <a:ea typeface="宋体" pitchFamily="2" charset="-122"/>
                          <a:sym typeface="Symbol" pitchFamily="18" charset="2"/>
                        </a:rPr>
                        <a:t></a:t>
                      </a:r>
                      <a:r>
                        <a:rPr kumimoji="1" lang="en-US" altLang="zh-CN" sz="2400" b="1" i="0" u="none" strike="noStrike" cap="none" normalizeH="0" baseline="-16000" smtClean="0">
                          <a:ln>
                            <a:noFill/>
                          </a:ln>
                          <a:solidFill>
                            <a:srgbClr val="0000FF"/>
                          </a:solidFill>
                          <a:effectLst/>
                          <a:latin typeface="Times New Roman" pitchFamily="18" charset="0"/>
                          <a:ea typeface="宋体" pitchFamily="2" charset="-122"/>
                        </a:rPr>
                        <a:t>0</a:t>
                      </a:r>
                    </a:p>
                  </a:txBody>
                  <a:tcPr marT="45698" marB="456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99">
                        <a:alpha val="81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1" u="none" strike="noStrike" cap="none" normalizeH="0" baseline="0" smtClean="0">
                          <a:ln>
                            <a:noFill/>
                          </a:ln>
                          <a:solidFill>
                            <a:schemeClr val="tx1"/>
                          </a:solidFill>
                          <a:effectLst/>
                          <a:latin typeface="Times New Roman" pitchFamily="18" charset="0"/>
                          <a:ea typeface="宋体" pitchFamily="2" charset="-122"/>
                          <a:sym typeface="Symbol" pitchFamily="18" charset="2"/>
                        </a:rPr>
                        <a:t>  </a:t>
                      </a:r>
                      <a:r>
                        <a:rPr kumimoji="1" lang="en-US" altLang="zh-CN" sz="2400" b="1" i="1" u="none" strike="noStrike" cap="none" normalizeH="0" baseline="0" smtClean="0">
                          <a:ln>
                            <a:noFill/>
                          </a:ln>
                          <a:solidFill>
                            <a:srgbClr val="0000FF"/>
                          </a:solidFill>
                          <a:effectLst/>
                          <a:latin typeface="Times New Roman" pitchFamily="18" charset="0"/>
                          <a:ea typeface="宋体" pitchFamily="2" charset="-122"/>
                          <a:sym typeface="Symbol" pitchFamily="18" charset="2"/>
                        </a:rPr>
                        <a:t></a:t>
                      </a:r>
                      <a:r>
                        <a:rPr kumimoji="1" lang="en-US" altLang="zh-CN" sz="2400" b="1" i="1" u="none" strike="noStrike" cap="none" normalizeH="0" baseline="0" smtClean="0">
                          <a:ln>
                            <a:noFill/>
                          </a:ln>
                          <a:solidFill>
                            <a:srgbClr val="0000FF"/>
                          </a:solidFill>
                          <a:effectLst/>
                          <a:latin typeface="Times New Roman" pitchFamily="18" charset="0"/>
                          <a:ea typeface="宋体" pitchFamily="2" charset="-122"/>
                        </a:rPr>
                        <a:t> </a:t>
                      </a:r>
                    </a:p>
                  </a:txBody>
                  <a:tcPr marT="45698" marB="45698" anchor="ctr" horzOverflow="overflow">
                    <a:lnL w="12700"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99">
                        <a:alpha val="81000"/>
                      </a:srgbClr>
                    </a:solidFill>
                  </a:tcPr>
                </a:tc>
              </a:tr>
              <a:tr h="40938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rgbClr val="660066"/>
                          </a:solidFill>
                          <a:effectLst/>
                          <a:latin typeface="楷体_GB2312" pitchFamily="49" charset="-122"/>
                          <a:ea typeface="楷体_GB2312" pitchFamily="49" charset="-122"/>
                        </a:rPr>
                        <a:t>轻元素（多数电子处于弱束缚状态 ）</a:t>
                      </a:r>
                    </a:p>
                  </a:txBody>
                  <a:tcPr marT="45698" marB="45698" anchor="ctr" horzOverflow="overflow">
                    <a:lnL w="127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CC99">
                        <a:alpha val="8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bg1"/>
                          </a:solidFill>
                          <a:effectLst/>
                          <a:latin typeface="楷体_GB2312" pitchFamily="49" charset="-122"/>
                          <a:ea typeface="楷体_GB2312" pitchFamily="49" charset="-122"/>
                        </a:rPr>
                        <a:t>弱</a:t>
                      </a:r>
                    </a:p>
                  </a:txBody>
                  <a:tcPr marT="45698" marB="456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alpha val="5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smtClean="0">
                          <a:ln>
                            <a:noFill/>
                          </a:ln>
                          <a:solidFill>
                            <a:schemeClr val="tx2"/>
                          </a:solidFill>
                          <a:effectLst/>
                          <a:latin typeface="楷体_GB2312" pitchFamily="49" charset="-122"/>
                          <a:ea typeface="楷体_GB2312" pitchFamily="49" charset="-122"/>
                        </a:rPr>
                        <a:t>强</a:t>
                      </a:r>
                    </a:p>
                  </a:txBody>
                  <a:tcPr marT="45698" marB="45698" anchor="b" horzOverflow="overflow">
                    <a:lnL w="12700"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alpha val="50000"/>
                      </a:srgbClr>
                    </a:solidFill>
                  </a:tcPr>
                </a:tc>
              </a:tr>
              <a:tr h="42207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rgbClr val="660066"/>
                          </a:solidFill>
                          <a:effectLst/>
                          <a:latin typeface="楷体_GB2312" pitchFamily="49" charset="-122"/>
                          <a:ea typeface="楷体_GB2312" pitchFamily="49" charset="-122"/>
                        </a:rPr>
                        <a:t>重元素（多数电子处于强束缚状态 ）</a:t>
                      </a:r>
                    </a:p>
                  </a:txBody>
                  <a:tcPr marT="45698" marB="45698" anchor="ctr" horzOverflow="overflow">
                    <a:lnL w="127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00CC99">
                        <a:alpha val="80000"/>
                      </a:srgb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smtClean="0">
                          <a:ln>
                            <a:noFill/>
                          </a:ln>
                          <a:solidFill>
                            <a:schemeClr val="tx2"/>
                          </a:solidFill>
                          <a:effectLst/>
                          <a:latin typeface="楷体_GB2312" pitchFamily="49" charset="-122"/>
                          <a:ea typeface="楷体_GB2312" pitchFamily="49" charset="-122"/>
                        </a:rPr>
                        <a:t>强</a:t>
                      </a:r>
                    </a:p>
                  </a:txBody>
                  <a:tcPr marT="45698" marB="456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006666">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bg1"/>
                          </a:solidFill>
                          <a:effectLst/>
                          <a:latin typeface="楷体_GB2312" pitchFamily="49" charset="-122"/>
                          <a:ea typeface="楷体_GB2312" pitchFamily="49" charset="-122"/>
                        </a:rPr>
                        <a:t>弱</a:t>
                      </a:r>
                    </a:p>
                  </a:txBody>
                  <a:tcPr marT="45698" marB="45698" anchor="ctr" horzOverflow="overflow">
                    <a:lnL w="12700"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006666">
                        <a:alpha val="50000"/>
                      </a:srgbClr>
                    </a:solidFill>
                  </a:tcPr>
                </a:tc>
              </a:tr>
            </a:tbl>
          </a:graphicData>
        </a:graphic>
      </p:graphicFrame>
      <p:grpSp>
        <p:nvGrpSpPr>
          <p:cNvPr id="187436" name="Group 44"/>
          <p:cNvGrpSpPr>
            <a:grpSpLocks/>
          </p:cNvGrpSpPr>
          <p:nvPr/>
        </p:nvGrpSpPr>
        <p:grpSpPr bwMode="auto">
          <a:xfrm>
            <a:off x="6597650" y="3384550"/>
            <a:ext cx="2339975" cy="2978150"/>
            <a:chOff x="357" y="2245"/>
            <a:chExt cx="1474" cy="1876"/>
          </a:xfrm>
        </p:grpSpPr>
        <p:pic>
          <p:nvPicPr>
            <p:cNvPr id="21534" name="Picture 42" descr="14964_1_1"/>
            <p:cNvPicPr>
              <a:picLocks noChangeAspect="1" noChangeArrowheads="1"/>
            </p:cNvPicPr>
            <p:nvPr/>
          </p:nvPicPr>
          <p:blipFill>
            <a:blip r:embed="rId3"/>
            <a:srcRect/>
            <a:stretch>
              <a:fillRect/>
            </a:stretch>
          </p:blipFill>
          <p:spPr bwMode="auto">
            <a:xfrm>
              <a:off x="414" y="2245"/>
              <a:ext cx="1260" cy="1614"/>
            </a:xfrm>
            <a:prstGeom prst="rect">
              <a:avLst/>
            </a:prstGeom>
            <a:noFill/>
            <a:ln w="9525">
              <a:noFill/>
              <a:miter lim="800000"/>
              <a:headEnd/>
              <a:tailEnd/>
            </a:ln>
          </p:spPr>
        </p:pic>
        <p:sp>
          <p:nvSpPr>
            <p:cNvPr id="21535" name="Text Box 43"/>
            <p:cNvSpPr txBox="1">
              <a:spLocks noChangeArrowheads="1"/>
            </p:cNvSpPr>
            <p:nvPr/>
          </p:nvSpPr>
          <p:spPr bwMode="auto">
            <a:xfrm>
              <a:off x="357" y="3890"/>
              <a:ext cx="1474" cy="231"/>
            </a:xfrm>
            <a:prstGeom prst="rect">
              <a:avLst/>
            </a:prstGeom>
            <a:noFill/>
            <a:ln w="9525">
              <a:noFill/>
              <a:miter lim="800000"/>
              <a:headEnd/>
              <a:tailEnd/>
            </a:ln>
            <a:effectLst/>
          </p:spPr>
          <p:txBody>
            <a:bodyPr>
              <a:spAutoFit/>
            </a:bodyPr>
            <a:lstStyle/>
            <a:p>
              <a:pPr>
                <a:spcBef>
                  <a:spcPct val="50000"/>
                </a:spcBef>
              </a:pPr>
              <a:r>
                <a:rPr kumimoji="0" lang="zh-CN" altLang="en-US" sz="1800" b="1">
                  <a:solidFill>
                    <a:srgbClr val="0000FF"/>
                  </a:solidFill>
                  <a:latin typeface="宋体" charset="-122"/>
                </a:rPr>
                <a:t>吴有训（</a:t>
              </a:r>
              <a:r>
                <a:rPr kumimoji="0" lang="en-US" altLang="zh-CN" sz="1800" b="1">
                  <a:solidFill>
                    <a:srgbClr val="0000FF"/>
                  </a:solidFill>
                  <a:latin typeface="宋体" charset="-122"/>
                </a:rPr>
                <a:t>1897-1977</a:t>
              </a:r>
              <a:r>
                <a:rPr kumimoji="0" lang="zh-CN" altLang="en-US" sz="1800" b="1">
                  <a:solidFill>
                    <a:srgbClr val="0000FF"/>
                  </a:solidFill>
                  <a:latin typeface="宋体" charset="-122"/>
                </a:rPr>
                <a:t>）</a:t>
              </a:r>
            </a:p>
          </p:txBody>
        </p:sp>
      </p:grpSp>
      <p:sp>
        <p:nvSpPr>
          <p:cNvPr id="187437" name="Text Box 45"/>
          <p:cNvSpPr txBox="1">
            <a:spLocks noChangeArrowheads="1"/>
          </p:cNvSpPr>
          <p:nvPr/>
        </p:nvSpPr>
        <p:spPr bwMode="auto">
          <a:xfrm>
            <a:off x="431800" y="3429000"/>
            <a:ext cx="6165850" cy="3013075"/>
          </a:xfrm>
          <a:prstGeom prst="rect">
            <a:avLst/>
          </a:prstGeom>
          <a:noFill/>
          <a:ln w="9525">
            <a:noFill/>
            <a:miter lim="800000"/>
            <a:headEnd/>
            <a:tailEnd/>
          </a:ln>
          <a:effectLst/>
        </p:spPr>
        <p:txBody>
          <a:bodyPr>
            <a:spAutoFit/>
          </a:bodyPr>
          <a:lstStyle/>
          <a:p>
            <a:r>
              <a:rPr lang="en-US" altLang="zh-CN" b="1">
                <a:solidFill>
                  <a:schemeClr val="bg1"/>
                </a:solidFill>
                <a:latin typeface="楷体_GB2312" pitchFamily="49" charset="-122"/>
                <a:ea typeface="楷体_GB2312" pitchFamily="49" charset="-122"/>
              </a:rPr>
              <a:t>    </a:t>
            </a:r>
            <a:r>
              <a:rPr lang="zh-CN" altLang="en-US" b="1">
                <a:solidFill>
                  <a:schemeClr val="bg1"/>
                </a:solidFill>
                <a:latin typeface="楷体_GB2312" pitchFamily="49" charset="-122"/>
                <a:ea typeface="楷体_GB2312" pitchFamily="49" charset="-122"/>
              </a:rPr>
              <a:t>江西人，中国近代物理学奠基人，教育家，</a:t>
            </a:r>
            <a:r>
              <a:rPr lang="en-US" altLang="zh-CN" b="1">
                <a:solidFill>
                  <a:schemeClr val="bg1"/>
                </a:solidFill>
                <a:latin typeface="楷体_GB2312" pitchFamily="49" charset="-122"/>
                <a:ea typeface="楷体_GB2312" pitchFamily="49" charset="-122"/>
              </a:rPr>
              <a:t>1921</a:t>
            </a:r>
            <a:r>
              <a:rPr lang="zh-CN" altLang="en-US" b="1">
                <a:solidFill>
                  <a:schemeClr val="bg1"/>
                </a:solidFill>
                <a:latin typeface="楷体_GB2312" pitchFamily="49" charset="-122"/>
                <a:ea typeface="楷体_GB2312" pitchFamily="49" charset="-122"/>
              </a:rPr>
              <a:t>年赴美入芝加哥大学，随康普顿从事物理学研究，</a:t>
            </a:r>
            <a:r>
              <a:rPr lang="en-US" altLang="zh-CN" b="1">
                <a:solidFill>
                  <a:schemeClr val="bg1"/>
                </a:solidFill>
                <a:latin typeface="楷体_GB2312" pitchFamily="49" charset="-122"/>
                <a:ea typeface="楷体_GB2312" pitchFamily="49" charset="-122"/>
              </a:rPr>
              <a:t>1926</a:t>
            </a:r>
            <a:r>
              <a:rPr lang="zh-CN" altLang="en-US" b="1">
                <a:solidFill>
                  <a:schemeClr val="bg1"/>
                </a:solidFill>
                <a:latin typeface="楷体_GB2312" pitchFamily="49" charset="-122"/>
                <a:ea typeface="楷体_GB2312" pitchFamily="49" charset="-122"/>
              </a:rPr>
              <a:t>年获博士学位。在参与康普顿的</a:t>
            </a:r>
            <a:r>
              <a:rPr lang="en-US" altLang="zh-CN" b="1">
                <a:solidFill>
                  <a:schemeClr val="bg1"/>
                </a:solidFill>
                <a:latin typeface="楷体_GB2312" pitchFamily="49" charset="-122"/>
                <a:ea typeface="楷体_GB2312" pitchFamily="49" charset="-122"/>
              </a:rPr>
              <a:t>X</a:t>
            </a:r>
            <a:r>
              <a:rPr lang="zh-CN" altLang="en-US" b="1">
                <a:solidFill>
                  <a:schemeClr val="bg1"/>
                </a:solidFill>
                <a:latin typeface="楷体_GB2312" pitchFamily="49" charset="-122"/>
                <a:ea typeface="楷体_GB2312" pitchFamily="49" charset="-122"/>
              </a:rPr>
              <a:t>射线散射研究的开创工作时，他以精湛的实验技术和卓越的理论分析，验证了康普顿效应。</a:t>
            </a:r>
            <a:r>
              <a:rPr lang="en-US" altLang="zh-CN" b="1">
                <a:solidFill>
                  <a:schemeClr val="bg1"/>
                </a:solidFill>
                <a:latin typeface="楷体_GB2312" pitchFamily="49" charset="-122"/>
                <a:ea typeface="楷体_GB2312" pitchFamily="49" charset="-122"/>
              </a:rPr>
              <a:t>1924</a:t>
            </a:r>
            <a:r>
              <a:rPr lang="zh-CN" altLang="en-US" b="1">
                <a:solidFill>
                  <a:schemeClr val="bg1"/>
                </a:solidFill>
                <a:latin typeface="楷体_GB2312" pitchFamily="49" charset="-122"/>
                <a:ea typeface="楷体_GB2312" pitchFamily="49" charset="-122"/>
              </a:rPr>
              <a:t>年与康普顿合作发表</a:t>
            </a:r>
            <a:r>
              <a:rPr lang="en-US" altLang="zh-CN" b="1">
                <a:solidFill>
                  <a:schemeClr val="bg1"/>
                </a:solidFill>
                <a:latin typeface="楷体_GB2312" pitchFamily="49" charset="-122"/>
                <a:ea typeface="楷体_GB2312" pitchFamily="49" charset="-122"/>
              </a:rPr>
              <a:t>《</a:t>
            </a:r>
            <a:r>
              <a:rPr lang="zh-CN" altLang="en-US" b="1">
                <a:solidFill>
                  <a:schemeClr val="bg1"/>
                </a:solidFill>
                <a:latin typeface="楷体_GB2312" pitchFamily="49" charset="-122"/>
                <a:ea typeface="楷体_GB2312" pitchFamily="49" charset="-122"/>
              </a:rPr>
              <a:t>经过轻元素散射后的钼</a:t>
            </a:r>
            <a:r>
              <a:rPr lang="en-US" altLang="zh-CN" b="1">
                <a:solidFill>
                  <a:schemeClr val="bg1"/>
                </a:solidFill>
                <a:latin typeface="楷体_GB2312" pitchFamily="49" charset="-122"/>
                <a:ea typeface="楷体_GB2312" pitchFamily="49" charset="-122"/>
              </a:rPr>
              <a:t>Ka</a:t>
            </a:r>
            <a:r>
              <a:rPr lang="zh-CN" altLang="en-US" b="1">
                <a:solidFill>
                  <a:schemeClr val="bg1"/>
                </a:solidFill>
                <a:latin typeface="楷体_GB2312" pitchFamily="49" charset="-122"/>
                <a:ea typeface="楷体_GB2312" pitchFamily="49" charset="-122"/>
              </a:rPr>
              <a:t>射线的波长</a:t>
            </a:r>
            <a:r>
              <a:rPr lang="en-US" altLang="zh-CN" b="1">
                <a:solidFill>
                  <a:schemeClr val="bg1"/>
                </a:solidFill>
                <a:latin typeface="楷体_GB2312" pitchFamily="49" charset="-122"/>
                <a:ea typeface="楷体_GB2312" pitchFamily="49" charset="-122"/>
              </a:rPr>
              <a:t>》</a:t>
            </a:r>
            <a:r>
              <a:rPr lang="zh-CN" altLang="en-US" b="1">
                <a:solidFill>
                  <a:schemeClr val="bg1"/>
                </a:solidFill>
                <a:latin typeface="楷体_GB2312" pitchFamily="49" charset="-122"/>
                <a:ea typeface="楷体_GB2312" pitchFamily="49" charset="-122"/>
              </a:rPr>
              <a:t>。被康普顿赞为</a:t>
            </a:r>
            <a:r>
              <a:rPr lang="zh-CN" altLang="en-US" b="1">
                <a:solidFill>
                  <a:srgbClr val="FF6600"/>
                </a:solidFill>
                <a:ea typeface="楷体_GB2312" pitchFamily="49" charset="-122"/>
              </a:rPr>
              <a:t>“</a:t>
            </a:r>
            <a:r>
              <a:rPr lang="zh-CN" altLang="en-US" b="1">
                <a:solidFill>
                  <a:srgbClr val="FF6600"/>
                </a:solidFill>
                <a:latin typeface="楷体_GB2312" pitchFamily="49" charset="-122"/>
                <a:ea typeface="楷体_GB2312" pitchFamily="49" charset="-122"/>
              </a:rPr>
              <a:t>一生最得意的学生</a:t>
            </a:r>
            <a:r>
              <a:rPr lang="zh-CN" altLang="en-US" b="1">
                <a:solidFill>
                  <a:srgbClr val="FF6600"/>
                </a:solidFill>
                <a:ea typeface="楷体_GB2312" pitchFamily="49" charset="-122"/>
              </a:rPr>
              <a:t>”</a:t>
            </a:r>
            <a:r>
              <a:rPr lang="zh-CN" altLang="en-US" b="1">
                <a:solidFill>
                  <a:srgbClr val="FF6600"/>
                </a:solidFill>
                <a:latin typeface="楷体_GB2312" pitchFamily="49" charset="-122"/>
                <a:ea typeface="楷体_GB2312" pitchFamily="49" charset="-122"/>
              </a:rPr>
              <a:t>。</a:t>
            </a:r>
            <a:endParaRPr lang="zh-CN" altLang="en-US">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187411"/>
                                        </p:tgtEl>
                                        <p:attrNameLst>
                                          <p:attrName>style.visibility</p:attrName>
                                        </p:attrNameLst>
                                      </p:cBhvr>
                                      <p:to>
                                        <p:strVal val="visible"/>
                                      </p:to>
                                    </p:set>
                                    <p:anim calcmode="lin" valueType="num">
                                      <p:cBhvr>
                                        <p:cTn id="7" dur="1000" fill="hold"/>
                                        <p:tgtEl>
                                          <p:spTgt spid="187411"/>
                                        </p:tgtEl>
                                        <p:attrNameLst>
                                          <p:attrName>ppt_w</p:attrName>
                                        </p:attrNameLst>
                                      </p:cBhvr>
                                      <p:tavLst>
                                        <p:tav tm="0">
                                          <p:val>
                                            <p:strVal val="#ppt_w+.3"/>
                                          </p:val>
                                        </p:tav>
                                        <p:tav tm="100000">
                                          <p:val>
                                            <p:strVal val="#ppt_w"/>
                                          </p:val>
                                        </p:tav>
                                      </p:tavLst>
                                    </p:anim>
                                    <p:anim calcmode="lin" valueType="num">
                                      <p:cBhvr>
                                        <p:cTn id="8" dur="1000" fill="hold"/>
                                        <p:tgtEl>
                                          <p:spTgt spid="187411"/>
                                        </p:tgtEl>
                                        <p:attrNameLst>
                                          <p:attrName>ppt_h</p:attrName>
                                        </p:attrNameLst>
                                      </p:cBhvr>
                                      <p:tavLst>
                                        <p:tav tm="0">
                                          <p:val>
                                            <p:strVal val="#ppt_h"/>
                                          </p:val>
                                        </p:tav>
                                        <p:tav tm="100000">
                                          <p:val>
                                            <p:strVal val="#ppt_h"/>
                                          </p:val>
                                        </p:tav>
                                      </p:tavLst>
                                    </p:anim>
                                    <p:animEffect transition="in" filter="fade">
                                      <p:cBhvr>
                                        <p:cTn id="9" dur="1000"/>
                                        <p:tgtEl>
                                          <p:spTgt spid="187411"/>
                                        </p:tgtEl>
                                      </p:cBhvr>
                                    </p:animEffect>
                                  </p:childTnLst>
                                </p:cTn>
                              </p:par>
                            </p:childTnLst>
                          </p:cTn>
                        </p:par>
                        <p:par>
                          <p:cTn id="10" fill="hold" nodeType="afterGroup">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8741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7409"/>
                                        </p:tgtEl>
                                        <p:attrNameLst>
                                          <p:attrName>style.visibility</p:attrName>
                                        </p:attrNameLst>
                                      </p:cBhvr>
                                      <p:to>
                                        <p:strVal val="visible"/>
                                      </p:to>
                                    </p:set>
                                    <p:animEffect transition="in" filter="wipe(left)">
                                      <p:cBhvr>
                                        <p:cTn id="17" dur="500"/>
                                        <p:tgtEl>
                                          <p:spTgt spid="187409"/>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187396"/>
                                        </p:tgtEl>
                                        <p:attrNameLst>
                                          <p:attrName>style.visibility</p:attrName>
                                        </p:attrNameLst>
                                      </p:cBhvr>
                                      <p:to>
                                        <p:strVal val="visible"/>
                                      </p:to>
                                    </p:set>
                                    <p:animEffect transition="in" filter="wipe(left)">
                                      <p:cBhvr>
                                        <p:cTn id="21" dur="500"/>
                                        <p:tgtEl>
                                          <p:spTgt spid="18739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87403"/>
                                        </p:tgtEl>
                                        <p:attrNameLst>
                                          <p:attrName>style.visibility</p:attrName>
                                        </p:attrNameLst>
                                      </p:cBhvr>
                                      <p:to>
                                        <p:strVal val="visible"/>
                                      </p:to>
                                    </p:set>
                                    <p:animEffect transition="in" filter="wipe(left)">
                                      <p:cBhvr>
                                        <p:cTn id="26" dur="500"/>
                                        <p:tgtEl>
                                          <p:spTgt spid="18740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87412"/>
                                        </p:tgtEl>
                                        <p:attrNameLst>
                                          <p:attrName>style.visibility</p:attrName>
                                        </p:attrNameLst>
                                      </p:cBhvr>
                                      <p:to>
                                        <p:strVal val="visible"/>
                                      </p:to>
                                    </p:set>
                                  </p:childTnLst>
                                </p:cTn>
                              </p:par>
                            </p:childTnLst>
                          </p:cTn>
                        </p:par>
                        <p:par>
                          <p:cTn id="31" fill="hold" nodeType="afterGroup">
                            <p:stCondLst>
                              <p:cond delay="500"/>
                            </p:stCondLst>
                            <p:childTnLst>
                              <p:par>
                                <p:cTn id="32" presetID="4" presetClass="entr" presetSubtype="32" fill="hold" nodeType="afterEffect">
                                  <p:stCondLst>
                                    <p:cond delay="0"/>
                                  </p:stCondLst>
                                  <p:childTnLst>
                                    <p:set>
                                      <p:cBhvr>
                                        <p:cTn id="33" dur="1" fill="hold">
                                          <p:stCondLst>
                                            <p:cond delay="0"/>
                                          </p:stCondLst>
                                        </p:cTn>
                                        <p:tgtEl>
                                          <p:spTgt spid="187413"/>
                                        </p:tgtEl>
                                        <p:attrNameLst>
                                          <p:attrName>style.visibility</p:attrName>
                                        </p:attrNameLst>
                                      </p:cBhvr>
                                      <p:to>
                                        <p:strVal val="visible"/>
                                      </p:to>
                                    </p:set>
                                    <p:animEffect transition="in" filter="box(out)">
                                      <p:cBhvr>
                                        <p:cTn id="34" dur="500"/>
                                        <p:tgtEl>
                                          <p:spTgt spid="187413"/>
                                        </p:tgtEl>
                                      </p:cBhvr>
                                    </p:animEffect>
                                  </p:childTnLst>
                                  <p:subTnLst>
                                    <p:audio>
                                      <p:cMediaNode>
                                        <p:cTn display="0" masterRel="sameClick">
                                          <p:stCondLst>
                                            <p:cond evt="begin" delay="0">
                                              <p:tn val="32"/>
                                            </p:cond>
                                          </p:stCondLst>
                                          <p:endCondLst>
                                            <p:cond evt="onStopAudio" delay="0">
                                              <p:tgtEl>
                                                <p:sldTgt/>
                                              </p:tgtEl>
                                            </p:cond>
                                          </p:endCondLst>
                                        </p:cTn>
                                        <p:tgtEl>
                                          <p:sndTgt r:embed="rId2" name="camera.wav" builtIn="1"/>
                                        </p:tgtEl>
                                      </p:cMediaNode>
                                    </p:audio>
                                  </p:sub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32" fill="hold" nodeType="clickEffect">
                                  <p:stCondLst>
                                    <p:cond delay="0"/>
                                  </p:stCondLst>
                                  <p:childTnLst>
                                    <p:set>
                                      <p:cBhvr>
                                        <p:cTn id="38" dur="1" fill="hold">
                                          <p:stCondLst>
                                            <p:cond delay="0"/>
                                          </p:stCondLst>
                                        </p:cTn>
                                        <p:tgtEl>
                                          <p:spTgt spid="187436"/>
                                        </p:tgtEl>
                                        <p:attrNameLst>
                                          <p:attrName>style.visibility</p:attrName>
                                        </p:attrNameLst>
                                      </p:cBhvr>
                                      <p:to>
                                        <p:strVal val="visible"/>
                                      </p:to>
                                    </p:set>
                                    <p:animEffect transition="in" filter="box(out)">
                                      <p:cBhvr>
                                        <p:cTn id="39" dur="500"/>
                                        <p:tgtEl>
                                          <p:spTgt spid="18743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87437"/>
                                        </p:tgtEl>
                                        <p:attrNameLst>
                                          <p:attrName>style.visibility</p:attrName>
                                        </p:attrNameLst>
                                      </p:cBhvr>
                                      <p:to>
                                        <p:strVal val="visible"/>
                                      </p:to>
                                    </p:set>
                                    <p:animEffect transition="in" filter="wipe(down)">
                                      <p:cBhvr>
                                        <p:cTn id="44" dur="500"/>
                                        <p:tgtEl>
                                          <p:spTgt spid="187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09" grpId="0" autoUpdateAnimBg="0"/>
      <p:bldP spid="187410" grpId="0" autoUpdateAnimBg="0"/>
      <p:bldP spid="187411" grpId="0" animBg="1"/>
      <p:bldP spid="187412" grpId="0" autoUpdateAnimBg="0"/>
      <p:bldP spid="18743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41" name="Rectangle 25"/>
          <p:cNvSpPr>
            <a:spLocks noChangeArrowheads="1"/>
          </p:cNvSpPr>
          <p:nvPr/>
        </p:nvSpPr>
        <p:spPr bwMode="auto">
          <a:xfrm>
            <a:off x="792163" y="2033588"/>
            <a:ext cx="576262" cy="2647950"/>
          </a:xfrm>
          <a:prstGeom prst="rect">
            <a:avLst/>
          </a:prstGeom>
          <a:noFill/>
          <a:ln w="9525">
            <a:noFill/>
            <a:miter lim="800000"/>
            <a:headEnd/>
            <a:tailEnd/>
          </a:ln>
          <a:effectLst/>
        </p:spPr>
        <p:txBody>
          <a:bodyPr>
            <a:spAutoFit/>
          </a:bodyPr>
          <a:lstStyle/>
          <a:p>
            <a:r>
              <a:rPr lang="zh-CN" altLang="en-US" b="1">
                <a:solidFill>
                  <a:srgbClr val="0000FF"/>
                </a:solidFill>
                <a:ea typeface="楷体_GB2312" pitchFamily="49" charset="-122"/>
              </a:rPr>
              <a:t>吴有训实验结果</a:t>
            </a:r>
          </a:p>
        </p:txBody>
      </p:sp>
      <p:pic>
        <p:nvPicPr>
          <p:cNvPr id="111750" name="Picture 134" descr="13"/>
          <p:cNvPicPr>
            <a:picLocks noChangeAspect="1" noChangeArrowheads="1"/>
          </p:cNvPicPr>
          <p:nvPr/>
        </p:nvPicPr>
        <p:blipFill>
          <a:blip r:embed="rId3"/>
          <a:srcRect l="1935" t="2875" r="2594" b="9132"/>
          <a:stretch>
            <a:fillRect/>
          </a:stretch>
        </p:blipFill>
        <p:spPr bwMode="auto">
          <a:xfrm>
            <a:off x="1331913" y="549275"/>
            <a:ext cx="7021512" cy="5849938"/>
          </a:xfrm>
          <a:prstGeom prst="rect">
            <a:avLst/>
          </a:prstGeom>
          <a:noFill/>
          <a:ln w="9525">
            <a:noFill/>
            <a:miter lim="800000"/>
            <a:headEnd/>
            <a:tailEnd/>
          </a:ln>
        </p:spPr>
      </p:pic>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11750"/>
                                        </p:tgtEl>
                                        <p:attrNameLst>
                                          <p:attrName>style.visibility</p:attrName>
                                        </p:attrNameLst>
                                      </p:cBhvr>
                                      <p:to>
                                        <p:strVal val="visible"/>
                                      </p:to>
                                    </p:set>
                                    <p:animEffect transition="in" filter="box(out)">
                                      <p:cBhvr>
                                        <p:cTn id="7" dur="500"/>
                                        <p:tgtEl>
                                          <p:spTgt spid="111750"/>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1641"/>
                                        </p:tgtEl>
                                        <p:attrNameLst>
                                          <p:attrName>style.visibility</p:attrName>
                                        </p:attrNameLst>
                                      </p:cBhvr>
                                      <p:to>
                                        <p:strVal val="visible"/>
                                      </p:to>
                                    </p:set>
                                    <p:animEffect transition="in" filter="dissolve">
                                      <p:cBhvr>
                                        <p:cTn id="11" dur="500"/>
                                        <p:tgtEl>
                                          <p:spTgt spid="1116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41"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92075" y="458788"/>
            <a:ext cx="4933950" cy="457200"/>
          </a:xfrm>
          <a:prstGeom prst="rect">
            <a:avLst/>
          </a:prstGeom>
          <a:noFill/>
          <a:ln w="9525">
            <a:noFill/>
            <a:miter lim="800000"/>
            <a:headEnd/>
            <a:tailEnd/>
          </a:ln>
          <a:effectLst/>
        </p:spPr>
        <p:txBody>
          <a:bodyPr wrap="none">
            <a:spAutoFit/>
          </a:bodyPr>
          <a:lstStyle/>
          <a:p>
            <a:r>
              <a:rPr lang="en-US" altLang="zh-CN" b="1">
                <a:solidFill>
                  <a:srgbClr val="3333CC"/>
                </a:solidFill>
                <a:latin typeface="宋体" charset="-122"/>
              </a:rPr>
              <a:t>4</a:t>
            </a:r>
            <a:r>
              <a:rPr lang="zh-CN" altLang="en-US" b="1">
                <a:solidFill>
                  <a:srgbClr val="3333CC"/>
                </a:solidFill>
                <a:latin typeface="宋体" charset="-122"/>
              </a:rPr>
              <a:t>、光电效应与康普顿效应的区别：</a:t>
            </a:r>
          </a:p>
        </p:txBody>
      </p:sp>
      <p:sp>
        <p:nvSpPr>
          <p:cNvPr id="3" name="Text Box 7"/>
          <p:cNvSpPr txBox="1">
            <a:spLocks noChangeArrowheads="1"/>
          </p:cNvSpPr>
          <p:nvPr/>
        </p:nvSpPr>
        <p:spPr bwMode="auto">
          <a:xfrm>
            <a:off x="209550" y="908050"/>
            <a:ext cx="8505825" cy="977900"/>
          </a:xfrm>
          <a:prstGeom prst="rect">
            <a:avLst/>
          </a:prstGeom>
          <a:noFill/>
          <a:ln w="9525">
            <a:noFill/>
            <a:miter lim="800000"/>
            <a:headEnd/>
            <a:tailEnd/>
          </a:ln>
          <a:effectLst/>
        </p:spPr>
        <p:txBody>
          <a:bodyPr>
            <a:spAutoFit/>
          </a:bodyPr>
          <a:lstStyle/>
          <a:p>
            <a:pPr>
              <a:lnSpc>
                <a:spcPct val="120000"/>
              </a:lnSpc>
            </a:pPr>
            <a:r>
              <a:rPr lang="en-US" altLang="zh-CN" b="1">
                <a:solidFill>
                  <a:schemeClr val="bg2"/>
                </a:solidFill>
              </a:rPr>
              <a:t>(1)</a:t>
            </a:r>
            <a:r>
              <a:rPr lang="zh-CN" altLang="en-US" b="1">
                <a:solidFill>
                  <a:srgbClr val="FF0000"/>
                </a:solidFill>
                <a:latin typeface="楷体_GB2312" pitchFamily="49" charset="-122"/>
                <a:ea typeface="楷体_GB2312" pitchFamily="49" charset="-122"/>
              </a:rPr>
              <a:t>光电效应</a:t>
            </a:r>
            <a:r>
              <a:rPr lang="zh-CN" altLang="en-US" b="1">
                <a:solidFill>
                  <a:schemeClr val="bg2"/>
                </a:solidFill>
                <a:latin typeface="楷体_GB2312" pitchFamily="49" charset="-122"/>
                <a:ea typeface="楷体_GB2312" pitchFamily="49" charset="-122"/>
              </a:rPr>
              <a:t>是处于原子内部束缚态的电子与光子的作用，  </a:t>
            </a:r>
          </a:p>
          <a:p>
            <a:pPr>
              <a:lnSpc>
                <a:spcPct val="120000"/>
              </a:lnSpc>
            </a:pPr>
            <a:r>
              <a:rPr lang="zh-CN" altLang="en-US" b="1">
                <a:solidFill>
                  <a:schemeClr val="bg2"/>
                </a:solidFill>
                <a:latin typeface="楷体_GB2312" pitchFamily="49" charset="-122"/>
                <a:ea typeface="楷体_GB2312" pitchFamily="49" charset="-122"/>
              </a:rPr>
              <a:t>  这时束缚态的电子吸收了光子的全部能量而逸出金属表面；</a:t>
            </a:r>
          </a:p>
        </p:txBody>
      </p:sp>
      <p:sp>
        <p:nvSpPr>
          <p:cNvPr id="4" name="Text Box 8"/>
          <p:cNvSpPr txBox="1">
            <a:spLocks noChangeArrowheads="1"/>
          </p:cNvSpPr>
          <p:nvPr/>
        </p:nvSpPr>
        <p:spPr bwMode="auto">
          <a:xfrm>
            <a:off x="204788" y="1887538"/>
            <a:ext cx="8362950" cy="1422400"/>
          </a:xfrm>
          <a:prstGeom prst="rect">
            <a:avLst/>
          </a:prstGeom>
          <a:noFill/>
          <a:ln w="9525">
            <a:noFill/>
            <a:miter lim="800000"/>
            <a:headEnd/>
            <a:tailEnd/>
          </a:ln>
          <a:effectLst/>
        </p:spPr>
        <p:txBody>
          <a:bodyPr>
            <a:spAutoFit/>
          </a:bodyPr>
          <a:lstStyle/>
          <a:p>
            <a:pPr>
              <a:lnSpc>
                <a:spcPct val="120000"/>
              </a:lnSpc>
            </a:pPr>
            <a:r>
              <a:rPr lang="en-US" altLang="zh-CN" b="1">
                <a:solidFill>
                  <a:schemeClr val="bg2"/>
                </a:solidFill>
              </a:rPr>
              <a:t>(2)</a:t>
            </a:r>
            <a:r>
              <a:rPr lang="zh-CN" altLang="en-US" b="1">
                <a:solidFill>
                  <a:srgbClr val="FF0000"/>
                </a:solidFill>
                <a:latin typeface="楷体_GB2312" pitchFamily="49" charset="-122"/>
                <a:ea typeface="楷体_GB2312" pitchFamily="49" charset="-122"/>
              </a:rPr>
              <a:t>康普顿效应</a:t>
            </a:r>
            <a:r>
              <a:rPr lang="zh-CN" altLang="en-US" b="1">
                <a:solidFill>
                  <a:schemeClr val="bg2"/>
                </a:solidFill>
                <a:latin typeface="楷体_GB2312" pitchFamily="49" charset="-122"/>
                <a:ea typeface="楷体_GB2312" pitchFamily="49" charset="-122"/>
              </a:rPr>
              <a:t>则是光子与准自由电子的弹性碰撞，光子只是</a:t>
            </a:r>
          </a:p>
          <a:p>
            <a:pPr>
              <a:lnSpc>
                <a:spcPct val="120000"/>
              </a:lnSpc>
            </a:pPr>
            <a:r>
              <a:rPr lang="zh-CN" altLang="en-US" b="1">
                <a:solidFill>
                  <a:schemeClr val="bg2"/>
                </a:solidFill>
                <a:latin typeface="楷体_GB2312" pitchFamily="49" charset="-122"/>
                <a:ea typeface="楷体_GB2312" pitchFamily="49" charset="-122"/>
              </a:rPr>
              <a:t>  将一部分能量传给电子，故散射光子的能量（频率）低于</a:t>
            </a:r>
          </a:p>
          <a:p>
            <a:pPr>
              <a:lnSpc>
                <a:spcPct val="120000"/>
              </a:lnSpc>
            </a:pPr>
            <a:r>
              <a:rPr lang="zh-CN" altLang="en-US" b="1">
                <a:solidFill>
                  <a:schemeClr val="bg2"/>
                </a:solidFill>
                <a:latin typeface="楷体_GB2312" pitchFamily="49" charset="-122"/>
                <a:ea typeface="楷体_GB2312" pitchFamily="49" charset="-122"/>
              </a:rPr>
              <a:t>  入射光子的能量</a:t>
            </a:r>
            <a:r>
              <a:rPr lang="zh-CN" altLang="en-US" b="1">
                <a:solidFill>
                  <a:schemeClr val="bg2"/>
                </a:solidFill>
                <a:ea typeface="楷体_GB2312" pitchFamily="49" charset="-122"/>
              </a:rPr>
              <a:t>（频率）</a:t>
            </a:r>
            <a:r>
              <a:rPr lang="zh-CN" altLang="en-US"/>
              <a:t> </a:t>
            </a:r>
            <a:r>
              <a:rPr lang="zh-CN" altLang="en-US" b="1">
                <a:solidFill>
                  <a:schemeClr val="bg2"/>
                </a:solidFill>
                <a:latin typeface="楷体_GB2312" pitchFamily="49" charset="-122"/>
                <a:ea typeface="楷体_GB2312" pitchFamily="49" charset="-122"/>
              </a:rPr>
              <a:t>。</a:t>
            </a:r>
          </a:p>
        </p:txBody>
      </p:sp>
      <p:sp>
        <p:nvSpPr>
          <p:cNvPr id="6" name="Text Box 4"/>
          <p:cNvSpPr txBox="1">
            <a:spLocks noChangeArrowheads="1"/>
          </p:cNvSpPr>
          <p:nvPr/>
        </p:nvSpPr>
        <p:spPr bwMode="auto">
          <a:xfrm>
            <a:off x="328613" y="3560763"/>
            <a:ext cx="4800600" cy="457200"/>
          </a:xfrm>
          <a:prstGeom prst="rect">
            <a:avLst/>
          </a:prstGeom>
          <a:noFill/>
          <a:ln w="9525">
            <a:noFill/>
            <a:miter lim="800000"/>
            <a:headEnd/>
            <a:tailEnd/>
          </a:ln>
          <a:effectLst/>
        </p:spPr>
        <p:txBody>
          <a:bodyPr>
            <a:spAutoFit/>
          </a:bodyPr>
          <a:lstStyle/>
          <a:p>
            <a:r>
              <a:rPr lang="en-US" altLang="zh-CN" b="1">
                <a:solidFill>
                  <a:srgbClr val="3333CC"/>
                </a:solidFill>
                <a:latin typeface="宋体" charset="-122"/>
              </a:rPr>
              <a:t>5</a:t>
            </a:r>
            <a:r>
              <a:rPr lang="zh-CN" altLang="en-US" b="1">
                <a:solidFill>
                  <a:srgbClr val="3333CC"/>
                </a:solidFill>
                <a:latin typeface="宋体" charset="-122"/>
              </a:rPr>
              <a:t>、康普顿散射实验的意义</a:t>
            </a:r>
            <a:endParaRPr lang="zh-CN" altLang="en-US">
              <a:solidFill>
                <a:srgbClr val="3333CC"/>
              </a:solidFill>
              <a:latin typeface="宋体" charset="-122"/>
            </a:endParaRPr>
          </a:p>
        </p:txBody>
      </p:sp>
      <p:sp>
        <p:nvSpPr>
          <p:cNvPr id="7" name="Text Box 5"/>
          <p:cNvSpPr txBox="1">
            <a:spLocks noChangeArrowheads="1"/>
          </p:cNvSpPr>
          <p:nvPr/>
        </p:nvSpPr>
        <p:spPr bwMode="auto">
          <a:xfrm>
            <a:off x="328613" y="5208588"/>
            <a:ext cx="8439150" cy="1422400"/>
          </a:xfrm>
          <a:prstGeom prst="rect">
            <a:avLst/>
          </a:prstGeom>
          <a:noFill/>
          <a:ln w="9525">
            <a:noFill/>
            <a:miter lim="800000"/>
            <a:headEnd/>
            <a:tailEnd/>
          </a:ln>
          <a:effectLst/>
        </p:spPr>
        <p:txBody>
          <a:bodyPr>
            <a:spAutoFit/>
          </a:bodyPr>
          <a:lstStyle/>
          <a:p>
            <a:pPr>
              <a:lnSpc>
                <a:spcPct val="120000"/>
              </a:lnSpc>
            </a:pPr>
            <a:r>
              <a:rPr lang="en-US" altLang="zh-CN" b="1">
                <a:solidFill>
                  <a:schemeClr val="bg2"/>
                </a:solidFill>
                <a:latin typeface="楷体_GB2312" pitchFamily="49" charset="-122"/>
                <a:ea typeface="楷体_GB2312" pitchFamily="49" charset="-122"/>
              </a:rPr>
              <a:t>  (2)</a:t>
            </a:r>
            <a:r>
              <a:rPr lang="zh-CN" altLang="en-US" b="1">
                <a:solidFill>
                  <a:schemeClr val="bg2"/>
                </a:solidFill>
                <a:latin typeface="楷体_GB2312" pitchFamily="49" charset="-122"/>
                <a:ea typeface="楷体_GB2312" pitchFamily="49" charset="-122"/>
              </a:rPr>
              <a:t>有力地支持了爱因斯坦的</a:t>
            </a:r>
            <a:r>
              <a:rPr lang="zh-CN" altLang="en-US" b="1">
                <a:solidFill>
                  <a:schemeClr val="bg2"/>
                </a:solidFill>
                <a:latin typeface="宋体" charset="-122"/>
                <a:ea typeface="楷体_GB2312" pitchFamily="49" charset="-122"/>
              </a:rPr>
              <a:t>“</a:t>
            </a:r>
            <a:r>
              <a:rPr lang="zh-CN" altLang="en-US" b="1">
                <a:solidFill>
                  <a:schemeClr val="bg2"/>
                </a:solidFill>
                <a:latin typeface="楷体_GB2312" pitchFamily="49" charset="-122"/>
                <a:ea typeface="楷体_GB2312" pitchFamily="49" charset="-122"/>
              </a:rPr>
              <a:t>光量子</a:t>
            </a:r>
            <a:r>
              <a:rPr lang="zh-CN" altLang="en-US" b="1">
                <a:solidFill>
                  <a:schemeClr val="bg2"/>
                </a:solidFill>
                <a:latin typeface="宋体" charset="-122"/>
                <a:ea typeface="楷体_GB2312" pitchFamily="49" charset="-122"/>
              </a:rPr>
              <a:t>”</a:t>
            </a:r>
            <a:r>
              <a:rPr lang="zh-CN" altLang="en-US" b="1">
                <a:solidFill>
                  <a:schemeClr val="bg2"/>
                </a:solidFill>
                <a:latin typeface="楷体_GB2312" pitchFamily="49" charset="-122"/>
                <a:ea typeface="楷体_GB2312" pitchFamily="49" charset="-122"/>
              </a:rPr>
              <a:t>概念。光电效应揭示了光子的能量和频率的关系，康普顿效应进一步揭示了光子的动量与波长的关系。即</a:t>
            </a:r>
            <a:r>
              <a:rPr lang="zh-CN" altLang="en-US" b="1">
                <a:solidFill>
                  <a:srgbClr val="FF0000"/>
                </a:solidFill>
                <a:latin typeface="楷体_GB2312" pitchFamily="49" charset="-122"/>
                <a:ea typeface="楷体_GB2312" pitchFamily="49" charset="-122"/>
              </a:rPr>
              <a:t>波粒二象性</a:t>
            </a:r>
          </a:p>
        </p:txBody>
      </p:sp>
      <p:sp>
        <p:nvSpPr>
          <p:cNvPr id="9" name="Text Box 11"/>
          <p:cNvSpPr txBox="1">
            <a:spLocks noChangeArrowheads="1"/>
          </p:cNvSpPr>
          <p:nvPr/>
        </p:nvSpPr>
        <p:spPr bwMode="auto">
          <a:xfrm>
            <a:off x="57150" y="4240213"/>
            <a:ext cx="8982075" cy="920750"/>
          </a:xfrm>
          <a:prstGeom prst="rect">
            <a:avLst/>
          </a:prstGeom>
          <a:noFill/>
          <a:ln w="9525">
            <a:noFill/>
            <a:miter lim="800000"/>
            <a:headEnd/>
            <a:tailEnd/>
          </a:ln>
          <a:effectLst/>
        </p:spPr>
        <p:txBody>
          <a:bodyPr>
            <a:spAutoFit/>
          </a:bodyPr>
          <a:lstStyle/>
          <a:p>
            <a:pPr>
              <a:lnSpc>
                <a:spcPct val="120000"/>
              </a:lnSpc>
            </a:pPr>
            <a:r>
              <a:rPr lang="en-US" altLang="zh-CN" b="1">
                <a:solidFill>
                  <a:schemeClr val="bg2"/>
                </a:solidFill>
                <a:latin typeface="楷体_GB2312" pitchFamily="49" charset="-122"/>
                <a:ea typeface="楷体_GB2312" pitchFamily="49" charset="-122"/>
              </a:rPr>
              <a:t>   (1)</a:t>
            </a:r>
            <a:r>
              <a:rPr lang="zh-CN" altLang="en-US" b="1">
                <a:solidFill>
                  <a:schemeClr val="bg2"/>
                </a:solidFill>
                <a:latin typeface="楷体_GB2312" pitchFamily="49" charset="-122"/>
                <a:ea typeface="楷体_GB2312" pitchFamily="49" charset="-122"/>
              </a:rPr>
              <a:t>证实了在微观的单个碰撞事件中，动量和能量守恒定律仍</a:t>
            </a:r>
          </a:p>
          <a:p>
            <a:pPr>
              <a:lnSpc>
                <a:spcPct val="120000"/>
              </a:lnSpc>
            </a:pPr>
            <a:r>
              <a:rPr lang="zh-CN" altLang="en-US" b="1">
                <a:solidFill>
                  <a:schemeClr val="bg2"/>
                </a:solidFill>
                <a:latin typeface="楷体_GB2312" pitchFamily="49" charset="-122"/>
                <a:ea typeface="楷体_GB2312" pitchFamily="49" charset="-122"/>
              </a:rPr>
              <a:t>      然是成立的。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2" name="WHOOSH.WAV" builtIn="1"/>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subTnLst>
                                    <p:audio>
                                      <p:cMediaNode>
                                        <p:cTn display="0" masterRel="sameClick">
                                          <p:stCondLst>
                                            <p:cond evt="begin" delay="0">
                                              <p:tn val="10"/>
                                            </p:cond>
                                          </p:stCondLst>
                                          <p:endCondLst>
                                            <p:cond evt="onStopAudio" delay="0">
                                              <p:tgtEl>
                                                <p:sldTgt/>
                                              </p:tgtEl>
                                            </p:cond>
                                          </p:endCondLst>
                                        </p:cTn>
                                        <p:tgtEl>
                                          <p:sndTgt r:embed="rId2" name="WHOOSH.WAV" builtIn="1"/>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subTnLst>
                                    <p:audio>
                                      <p:cMediaNode>
                                        <p:cTn display="0" masterRel="sameClick">
                                          <p:stCondLst>
                                            <p:cond evt="begin" delay="0">
                                              <p:tn val="15"/>
                                            </p:cond>
                                          </p:stCondLst>
                                          <p:endCondLst>
                                            <p:cond evt="onStopAudio" delay="0">
                                              <p:tgtEl>
                                                <p:sldTgt/>
                                              </p:tgtEl>
                                            </p:cond>
                                          </p:endCondLst>
                                        </p:cTn>
                                        <p:tgtEl>
                                          <p:sndTgt r:embed="rId2" name="WHOOSH.WAV" builtIn="1"/>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P spid="6" grpId="0" autoUpdateAnimBg="0"/>
      <p:bldP spid="7" grpId="0" autoUpdateAnimBg="0"/>
      <p:bldP spid="9"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5474" name="Object 2"/>
          <p:cNvGraphicFramePr>
            <a:graphicFrameLocks/>
          </p:cNvGraphicFramePr>
          <p:nvPr/>
        </p:nvGraphicFramePr>
        <p:xfrm>
          <a:off x="3255963" y="1954213"/>
          <a:ext cx="1720850" cy="754062"/>
        </p:xfrm>
        <a:graphic>
          <a:graphicData uri="http://schemas.openxmlformats.org/presentationml/2006/ole">
            <p:oleObj spid="_x0000_s24578" name="公式" r:id="rId4" imgW="773640" imgH="318240" progId="Equation.3">
              <p:embed/>
            </p:oleObj>
          </a:graphicData>
        </a:graphic>
      </p:graphicFrame>
      <p:graphicFrame>
        <p:nvGraphicFramePr>
          <p:cNvPr id="105475" name="Object 3"/>
          <p:cNvGraphicFramePr>
            <a:graphicFrameLocks noChangeAspect="1"/>
          </p:cNvGraphicFramePr>
          <p:nvPr/>
        </p:nvGraphicFramePr>
        <p:xfrm>
          <a:off x="3178175" y="2854325"/>
          <a:ext cx="2428875" cy="806450"/>
        </p:xfrm>
        <a:graphic>
          <a:graphicData uri="http://schemas.openxmlformats.org/presentationml/2006/ole">
            <p:oleObj spid="_x0000_s24579" name="公式" r:id="rId5" imgW="985320" imgH="318240" progId="Equation.3">
              <p:embed/>
            </p:oleObj>
          </a:graphicData>
        </a:graphic>
      </p:graphicFrame>
      <p:sp>
        <p:nvSpPr>
          <p:cNvPr id="105476" name="Rectangle 4"/>
          <p:cNvSpPr>
            <a:spLocks noChangeArrowheads="1"/>
          </p:cNvSpPr>
          <p:nvPr/>
        </p:nvSpPr>
        <p:spPr bwMode="auto">
          <a:xfrm>
            <a:off x="1230313" y="3062288"/>
            <a:ext cx="2667000" cy="457200"/>
          </a:xfrm>
          <a:prstGeom prst="rect">
            <a:avLst/>
          </a:prstGeom>
          <a:noFill/>
          <a:ln w="9525">
            <a:noFill/>
            <a:miter lim="800000"/>
            <a:headEnd/>
            <a:tailEnd/>
          </a:ln>
          <a:effectLst/>
        </p:spPr>
        <p:txBody>
          <a:bodyPr>
            <a:spAutoFit/>
          </a:bodyPr>
          <a:lstStyle/>
          <a:p>
            <a:pPr algn="just"/>
            <a:r>
              <a:rPr lang="zh-CN" altLang="en-US" b="1">
                <a:solidFill>
                  <a:srgbClr val="FF0000"/>
                </a:solidFill>
                <a:latin typeface="宋体" charset="-122"/>
              </a:rPr>
              <a:t>光子动量</a:t>
            </a:r>
          </a:p>
        </p:txBody>
      </p:sp>
      <p:sp>
        <p:nvSpPr>
          <p:cNvPr id="105477" name="Text Box 5"/>
          <p:cNvSpPr txBox="1">
            <a:spLocks noChangeArrowheads="1"/>
          </p:cNvSpPr>
          <p:nvPr/>
        </p:nvSpPr>
        <p:spPr bwMode="auto">
          <a:xfrm>
            <a:off x="141288" y="458788"/>
            <a:ext cx="4791075" cy="517525"/>
          </a:xfrm>
          <a:prstGeom prst="rect">
            <a:avLst/>
          </a:prstGeom>
          <a:noFill/>
          <a:ln w="9525">
            <a:noFill/>
            <a:miter lim="800000"/>
            <a:headEnd/>
            <a:tailEnd/>
          </a:ln>
          <a:effectLst/>
        </p:spPr>
        <p:txBody>
          <a:bodyPr>
            <a:spAutoFit/>
          </a:bodyPr>
          <a:lstStyle/>
          <a:p>
            <a:pPr>
              <a:lnSpc>
                <a:spcPct val="115000"/>
              </a:lnSpc>
            </a:pPr>
            <a:r>
              <a:rPr lang="zh-CN" altLang="en-US" b="1">
                <a:solidFill>
                  <a:srgbClr val="3333CC"/>
                </a:solidFill>
                <a:latin typeface="宋体" charset="-122"/>
              </a:rPr>
              <a:t>光的波粒二象性：</a:t>
            </a:r>
          </a:p>
        </p:txBody>
      </p:sp>
      <p:graphicFrame>
        <p:nvGraphicFramePr>
          <p:cNvPr id="105478" name="Object 6"/>
          <p:cNvGraphicFramePr>
            <a:graphicFrameLocks/>
          </p:cNvGraphicFramePr>
          <p:nvPr/>
        </p:nvGraphicFramePr>
        <p:xfrm>
          <a:off x="3316288" y="1268413"/>
          <a:ext cx="1930400" cy="630237"/>
        </p:xfrm>
        <a:graphic>
          <a:graphicData uri="http://schemas.openxmlformats.org/presentationml/2006/ole">
            <p:oleObj spid="_x0000_s24582" name="公式" r:id="rId6" imgW="798120" imgH="203760" progId="Equation.3">
              <p:embed/>
            </p:oleObj>
          </a:graphicData>
        </a:graphic>
      </p:graphicFrame>
      <p:sp>
        <p:nvSpPr>
          <p:cNvPr id="105479" name="Text Box 7"/>
          <p:cNvSpPr txBox="1">
            <a:spLocks noChangeArrowheads="1"/>
          </p:cNvSpPr>
          <p:nvPr/>
        </p:nvSpPr>
        <p:spPr bwMode="auto">
          <a:xfrm>
            <a:off x="1223963" y="1262063"/>
            <a:ext cx="1987550" cy="457200"/>
          </a:xfrm>
          <a:prstGeom prst="rect">
            <a:avLst/>
          </a:prstGeom>
          <a:noFill/>
          <a:ln w="9525">
            <a:noFill/>
            <a:miter lim="800000"/>
            <a:headEnd/>
            <a:tailEnd/>
          </a:ln>
          <a:effectLst/>
        </p:spPr>
        <p:txBody>
          <a:bodyPr>
            <a:spAutoFit/>
          </a:bodyPr>
          <a:lstStyle/>
          <a:p>
            <a:r>
              <a:rPr lang="zh-CN" altLang="en-US" b="1">
                <a:solidFill>
                  <a:srgbClr val="FF0000"/>
                </a:solidFill>
                <a:latin typeface="宋体" charset="-122"/>
              </a:rPr>
              <a:t>光子能量</a:t>
            </a:r>
          </a:p>
        </p:txBody>
      </p:sp>
      <p:sp>
        <p:nvSpPr>
          <p:cNvPr id="105480" name="Rectangle 8"/>
          <p:cNvSpPr>
            <a:spLocks noChangeArrowheads="1"/>
          </p:cNvSpPr>
          <p:nvPr/>
        </p:nvSpPr>
        <p:spPr bwMode="auto">
          <a:xfrm>
            <a:off x="1223963" y="2162175"/>
            <a:ext cx="2301875" cy="457200"/>
          </a:xfrm>
          <a:prstGeom prst="rect">
            <a:avLst/>
          </a:prstGeom>
          <a:noFill/>
          <a:ln w="9525">
            <a:noFill/>
            <a:miter lim="800000"/>
            <a:headEnd/>
            <a:tailEnd/>
          </a:ln>
          <a:effectLst/>
        </p:spPr>
        <p:txBody>
          <a:bodyPr>
            <a:spAutoFit/>
          </a:bodyPr>
          <a:lstStyle/>
          <a:p>
            <a:r>
              <a:rPr lang="zh-CN" altLang="en-US" b="1">
                <a:solidFill>
                  <a:srgbClr val="FF0000"/>
                </a:solidFill>
                <a:latin typeface="宋体" charset="-122"/>
              </a:rPr>
              <a:t>光子质量</a:t>
            </a:r>
          </a:p>
        </p:txBody>
      </p:sp>
      <p:sp>
        <p:nvSpPr>
          <p:cNvPr id="105481" name="AutoShape 9"/>
          <p:cNvSpPr>
            <a:spLocks noChangeArrowheads="1"/>
          </p:cNvSpPr>
          <p:nvPr/>
        </p:nvSpPr>
        <p:spPr bwMode="auto">
          <a:xfrm>
            <a:off x="2276475" y="3805238"/>
            <a:ext cx="1711325" cy="838200"/>
          </a:xfrm>
          <a:prstGeom prst="star24">
            <a:avLst>
              <a:gd name="adj" fmla="val 45630"/>
            </a:avLst>
          </a:prstGeom>
          <a:solidFill>
            <a:srgbClr val="00FF00">
              <a:alpha val="49019"/>
            </a:srgbClr>
          </a:solidFill>
          <a:ln w="28575">
            <a:solidFill>
              <a:srgbClr val="00FFFF"/>
            </a:solidFill>
            <a:miter lim="800000"/>
            <a:headEnd/>
            <a:tailEnd/>
          </a:ln>
          <a:effectLst/>
        </p:spPr>
        <p:txBody>
          <a:bodyPr wrap="none" anchor="ctr"/>
          <a:lstStyle/>
          <a:p>
            <a:pPr algn="ctr"/>
            <a:r>
              <a:rPr lang="zh-CN" altLang="en-US" b="1">
                <a:solidFill>
                  <a:schemeClr val="tx2"/>
                </a:solidFill>
                <a:latin typeface="宋体" charset="-122"/>
              </a:rPr>
              <a:t>粒子性</a:t>
            </a:r>
          </a:p>
        </p:txBody>
      </p:sp>
      <p:sp>
        <p:nvSpPr>
          <p:cNvPr id="105482" name="AutoShape 10"/>
          <p:cNvSpPr>
            <a:spLocks noChangeArrowheads="1"/>
          </p:cNvSpPr>
          <p:nvPr/>
        </p:nvSpPr>
        <p:spPr bwMode="auto">
          <a:xfrm>
            <a:off x="4987925" y="3986213"/>
            <a:ext cx="1941513" cy="547687"/>
          </a:xfrm>
          <a:prstGeom prst="doubleWave">
            <a:avLst>
              <a:gd name="adj1" fmla="val 10319"/>
              <a:gd name="adj2" fmla="val -9000"/>
            </a:avLst>
          </a:prstGeom>
          <a:solidFill>
            <a:srgbClr val="00FF00">
              <a:alpha val="47842"/>
            </a:srgbClr>
          </a:solidFill>
          <a:ln w="28575">
            <a:solidFill>
              <a:srgbClr val="00FFFF"/>
            </a:solidFill>
            <a:miter lim="800000"/>
            <a:headEnd/>
            <a:tailEnd/>
          </a:ln>
          <a:effectLst/>
        </p:spPr>
        <p:txBody>
          <a:bodyPr wrap="none" anchor="ctr"/>
          <a:lstStyle/>
          <a:p>
            <a:pPr algn="ctr"/>
            <a:r>
              <a:rPr lang="zh-CN" altLang="en-US" b="1">
                <a:solidFill>
                  <a:schemeClr val="tx2"/>
                </a:solidFill>
                <a:latin typeface="宋体" charset="-122"/>
              </a:rPr>
              <a:t>波动性</a:t>
            </a:r>
          </a:p>
        </p:txBody>
      </p:sp>
      <p:sp>
        <p:nvSpPr>
          <p:cNvPr id="105483" name="AutoShape 11"/>
          <p:cNvSpPr>
            <a:spLocks noChangeArrowheads="1"/>
          </p:cNvSpPr>
          <p:nvPr/>
        </p:nvSpPr>
        <p:spPr bwMode="auto">
          <a:xfrm>
            <a:off x="4110038" y="4051300"/>
            <a:ext cx="758825" cy="277813"/>
          </a:xfrm>
          <a:prstGeom prst="leftRightArrow">
            <a:avLst>
              <a:gd name="adj1" fmla="val 35944"/>
              <a:gd name="adj2" fmla="val 66288"/>
            </a:avLst>
          </a:prstGeom>
          <a:solidFill>
            <a:srgbClr val="0000FF"/>
          </a:solidFill>
          <a:ln w="9525">
            <a:solidFill>
              <a:schemeClr val="bg1"/>
            </a:solidFill>
            <a:miter lim="800000"/>
            <a:headEnd/>
            <a:tailEnd/>
          </a:ln>
          <a:effectLst/>
        </p:spPr>
        <p:txBody>
          <a:bodyPr wrap="none" anchor="ctr"/>
          <a:lstStyle/>
          <a:p>
            <a:endParaRPr lang="zh-CN" altLang="en-US"/>
          </a:p>
        </p:txBody>
      </p:sp>
      <p:sp>
        <p:nvSpPr>
          <p:cNvPr id="12" name="AutoShape 15">
            <a:hlinkClick r:id="rId7" action="ppaction://hlinksldjump" highlightClick="1"/>
          </p:cNvPr>
          <p:cNvSpPr>
            <a:spLocks noChangeAspect="1" noChangeArrowheads="1"/>
          </p:cNvSpPr>
          <p:nvPr/>
        </p:nvSpPr>
        <p:spPr bwMode="auto">
          <a:xfrm>
            <a:off x="8720138" y="6280150"/>
            <a:ext cx="244475" cy="244475"/>
          </a:xfrm>
          <a:prstGeom prst="actionButtonBeginning">
            <a:avLst/>
          </a:prstGeom>
          <a:solidFill>
            <a:srgbClr val="99CCFF"/>
          </a:solidFill>
          <a:ln w="19050">
            <a:noFill/>
            <a:miter lim="800000"/>
            <a:headEnd/>
            <a:tailEnd/>
          </a:ln>
        </p:spPr>
        <p:txBody>
          <a:bodyPr wrap="none" anchor="ctr"/>
          <a:lstStyle/>
          <a:p>
            <a:endParaRPr lang="zh-CN" altLang="en-US"/>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5477"/>
                                        </p:tgtEl>
                                        <p:attrNameLst>
                                          <p:attrName>style.visibility</p:attrName>
                                        </p:attrNameLst>
                                      </p:cBhvr>
                                      <p:to>
                                        <p:strVal val="visible"/>
                                      </p:to>
                                    </p:set>
                                    <p:animEffect transition="in" filter="wipe(left)">
                                      <p:cBhvr>
                                        <p:cTn id="7" dur="500"/>
                                        <p:tgtEl>
                                          <p:spTgt spid="1054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479"/>
                                        </p:tgtEl>
                                        <p:attrNameLst>
                                          <p:attrName>style.visibility</p:attrName>
                                        </p:attrNameLst>
                                      </p:cBhvr>
                                      <p:to>
                                        <p:strVal val="visible"/>
                                      </p:to>
                                    </p:set>
                                    <p:animEffect transition="in" filter="wipe(left)">
                                      <p:cBhvr>
                                        <p:cTn id="12" dur="500"/>
                                        <p:tgtEl>
                                          <p:spTgt spid="105479"/>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105478"/>
                                        </p:tgtEl>
                                        <p:attrNameLst>
                                          <p:attrName>style.visibility</p:attrName>
                                        </p:attrNameLst>
                                      </p:cBhvr>
                                      <p:to>
                                        <p:strVal val="visible"/>
                                      </p:to>
                                    </p:set>
                                    <p:animEffect transition="in" filter="wipe(left)">
                                      <p:cBhvr>
                                        <p:cTn id="16" dur="500"/>
                                        <p:tgtEl>
                                          <p:spTgt spid="10547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05480"/>
                                        </p:tgtEl>
                                        <p:attrNameLst>
                                          <p:attrName>style.visibility</p:attrName>
                                        </p:attrNameLst>
                                      </p:cBhvr>
                                      <p:to>
                                        <p:strVal val="visible"/>
                                      </p:to>
                                    </p:set>
                                    <p:animEffect transition="in" filter="dissolve">
                                      <p:cBhvr>
                                        <p:cTn id="21" dur="500"/>
                                        <p:tgtEl>
                                          <p:spTgt spid="105480"/>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105474"/>
                                        </p:tgtEl>
                                        <p:attrNameLst>
                                          <p:attrName>style.visibility</p:attrName>
                                        </p:attrNameLst>
                                      </p:cBhvr>
                                      <p:to>
                                        <p:strVal val="visible"/>
                                      </p:to>
                                    </p:set>
                                    <p:animEffect transition="in" filter="wipe(left)">
                                      <p:cBhvr>
                                        <p:cTn id="25" dur="500"/>
                                        <p:tgtEl>
                                          <p:spTgt spid="10547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05476"/>
                                        </p:tgtEl>
                                        <p:attrNameLst>
                                          <p:attrName>style.visibility</p:attrName>
                                        </p:attrNameLst>
                                      </p:cBhvr>
                                      <p:to>
                                        <p:strVal val="visible"/>
                                      </p:to>
                                    </p:set>
                                  </p:childTnLst>
                                </p:cTn>
                              </p:par>
                            </p:childTnLst>
                          </p:cTn>
                        </p:par>
                        <p:par>
                          <p:cTn id="30" fill="hold" nodeType="afterGroup">
                            <p:stCondLst>
                              <p:cond delay="500"/>
                            </p:stCondLst>
                            <p:childTnLst>
                              <p:par>
                                <p:cTn id="31" presetID="22" presetClass="entr" presetSubtype="8" fill="hold" nodeType="afterEffect">
                                  <p:stCondLst>
                                    <p:cond delay="0"/>
                                  </p:stCondLst>
                                  <p:childTnLst>
                                    <p:set>
                                      <p:cBhvr>
                                        <p:cTn id="32" dur="1" fill="hold">
                                          <p:stCondLst>
                                            <p:cond delay="0"/>
                                          </p:stCondLst>
                                        </p:cTn>
                                        <p:tgtEl>
                                          <p:spTgt spid="105475"/>
                                        </p:tgtEl>
                                        <p:attrNameLst>
                                          <p:attrName>style.visibility</p:attrName>
                                        </p:attrNameLst>
                                      </p:cBhvr>
                                      <p:to>
                                        <p:strVal val="visible"/>
                                      </p:to>
                                    </p:set>
                                    <p:animEffect transition="in" filter="wipe(left)">
                                      <p:cBhvr>
                                        <p:cTn id="33" dur="500"/>
                                        <p:tgtEl>
                                          <p:spTgt spid="10547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8" presetClass="entr" presetSubtype="3" fill="hold" grpId="0" nodeType="clickEffect">
                                  <p:stCondLst>
                                    <p:cond delay="0"/>
                                  </p:stCondLst>
                                  <p:childTnLst>
                                    <p:set>
                                      <p:cBhvr>
                                        <p:cTn id="37" dur="1" fill="hold">
                                          <p:stCondLst>
                                            <p:cond delay="0"/>
                                          </p:stCondLst>
                                        </p:cTn>
                                        <p:tgtEl>
                                          <p:spTgt spid="105481"/>
                                        </p:tgtEl>
                                        <p:attrNameLst>
                                          <p:attrName>style.visibility</p:attrName>
                                        </p:attrNameLst>
                                      </p:cBhvr>
                                      <p:to>
                                        <p:strVal val="visible"/>
                                      </p:to>
                                    </p:set>
                                    <p:animEffect transition="in" filter="strips(upRight)">
                                      <p:cBhvr>
                                        <p:cTn id="38" dur="500"/>
                                        <p:tgtEl>
                                          <p:spTgt spid="105481"/>
                                        </p:tgtEl>
                                      </p:cBhvr>
                                    </p:animEffect>
                                  </p:childTnLst>
                                </p:cTn>
                              </p:par>
                            </p:childTnLst>
                          </p:cTn>
                        </p:par>
                        <p:par>
                          <p:cTn id="39" fill="hold" nodeType="afterGroup">
                            <p:stCondLst>
                              <p:cond delay="500"/>
                            </p:stCondLst>
                            <p:childTnLst>
                              <p:par>
                                <p:cTn id="40" presetID="18" presetClass="entr" presetSubtype="12" fill="hold" grpId="0" nodeType="afterEffect">
                                  <p:stCondLst>
                                    <p:cond delay="0"/>
                                  </p:stCondLst>
                                  <p:childTnLst>
                                    <p:set>
                                      <p:cBhvr>
                                        <p:cTn id="41" dur="1" fill="hold">
                                          <p:stCondLst>
                                            <p:cond delay="0"/>
                                          </p:stCondLst>
                                        </p:cTn>
                                        <p:tgtEl>
                                          <p:spTgt spid="105482"/>
                                        </p:tgtEl>
                                        <p:attrNameLst>
                                          <p:attrName>style.visibility</p:attrName>
                                        </p:attrNameLst>
                                      </p:cBhvr>
                                      <p:to>
                                        <p:strVal val="visible"/>
                                      </p:to>
                                    </p:set>
                                    <p:animEffect transition="in" filter="strips(downLeft)">
                                      <p:cBhvr>
                                        <p:cTn id="42" dur="500"/>
                                        <p:tgtEl>
                                          <p:spTgt spid="10548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9" presetClass="entr" presetSubtype="10" fill="hold" grpId="0" nodeType="clickEffect">
                                  <p:stCondLst>
                                    <p:cond delay="0"/>
                                  </p:stCondLst>
                                  <p:childTnLst>
                                    <p:set>
                                      <p:cBhvr>
                                        <p:cTn id="46" dur="1" fill="hold">
                                          <p:stCondLst>
                                            <p:cond delay="0"/>
                                          </p:stCondLst>
                                        </p:cTn>
                                        <p:tgtEl>
                                          <p:spTgt spid="105483"/>
                                        </p:tgtEl>
                                        <p:attrNameLst>
                                          <p:attrName>style.visibility</p:attrName>
                                        </p:attrNameLst>
                                      </p:cBhvr>
                                      <p:to>
                                        <p:strVal val="visible"/>
                                      </p:to>
                                    </p:set>
                                    <p:anim calcmode="lin" valueType="num">
                                      <p:cBhvr>
                                        <p:cTn id="47" dur="5000" fill="hold"/>
                                        <p:tgtEl>
                                          <p:spTgt spid="105483"/>
                                        </p:tgtEl>
                                        <p:attrNameLst>
                                          <p:attrName>ppt_w</p:attrName>
                                        </p:attrNameLst>
                                      </p:cBhvr>
                                      <p:tavLst>
                                        <p:tav tm="0" fmla="#ppt_w*sin(2.5*pi*$)">
                                          <p:val>
                                            <p:fltVal val="0"/>
                                          </p:val>
                                        </p:tav>
                                        <p:tav tm="100000">
                                          <p:val>
                                            <p:fltVal val="1"/>
                                          </p:val>
                                        </p:tav>
                                      </p:tavLst>
                                    </p:anim>
                                    <p:anim calcmode="lin" valueType="num">
                                      <p:cBhvr>
                                        <p:cTn id="48" dur="5000" fill="hold"/>
                                        <p:tgtEl>
                                          <p:spTgt spid="105483"/>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left)">
                                      <p:cBhvr>
                                        <p:cTn id="5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6" grpId="0" autoUpdateAnimBg="0"/>
      <p:bldP spid="105477" grpId="0"/>
      <p:bldP spid="105479" grpId="0"/>
      <p:bldP spid="105480" grpId="0"/>
      <p:bldP spid="105481" grpId="0" animBg="1"/>
      <p:bldP spid="105482" grpId="0" animBg="1"/>
      <p:bldP spid="105483" grpId="0" animBg="1"/>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9449" name="Group 9"/>
          <p:cNvGrpSpPr>
            <a:grpSpLocks/>
          </p:cNvGrpSpPr>
          <p:nvPr/>
        </p:nvGrpSpPr>
        <p:grpSpPr bwMode="auto">
          <a:xfrm>
            <a:off x="6958013" y="2198687"/>
            <a:ext cx="1979612" cy="3452813"/>
            <a:chOff x="4383" y="1385"/>
            <a:chExt cx="1247" cy="2175"/>
          </a:xfrm>
        </p:grpSpPr>
        <p:sp>
          <p:nvSpPr>
            <p:cNvPr id="25605" name="Rectangle 4"/>
            <p:cNvSpPr>
              <a:spLocks noChangeArrowheads="1"/>
            </p:cNvSpPr>
            <p:nvPr/>
          </p:nvSpPr>
          <p:spPr bwMode="auto">
            <a:xfrm>
              <a:off x="4383" y="3118"/>
              <a:ext cx="1247" cy="442"/>
            </a:xfrm>
            <a:prstGeom prst="rect">
              <a:avLst/>
            </a:prstGeom>
            <a:noFill/>
            <a:ln w="9525">
              <a:noFill/>
              <a:miter lim="800000"/>
              <a:headEnd/>
              <a:tailEnd/>
            </a:ln>
            <a:effectLst/>
          </p:spPr>
          <p:txBody>
            <a:bodyPr wrap="none" anchor="ctr">
              <a:spAutoFit/>
            </a:bodyPr>
            <a:lstStyle/>
            <a:p>
              <a:pPr algn="ctr"/>
              <a:r>
                <a:rPr lang="zh-CN" altLang="en-US" sz="2000" b="1" dirty="0">
                  <a:solidFill>
                    <a:srgbClr val="0000FF"/>
                  </a:solidFill>
                  <a:latin typeface="宋体" charset="-122"/>
                </a:rPr>
                <a:t>玻尔</a:t>
              </a:r>
            </a:p>
            <a:p>
              <a:pPr algn="ctr"/>
              <a:r>
                <a:rPr lang="zh-CN" altLang="en-US" sz="2000" b="1" dirty="0">
                  <a:solidFill>
                    <a:srgbClr val="0000FF"/>
                  </a:solidFill>
                  <a:latin typeface="宋体" charset="-122"/>
                </a:rPr>
                <a:t>（</a:t>
              </a:r>
              <a:r>
                <a:rPr lang="en-US" altLang="zh-CN" sz="2000" b="1" dirty="0">
                  <a:solidFill>
                    <a:srgbClr val="0000FF"/>
                  </a:solidFill>
                  <a:latin typeface="宋体" charset="-122"/>
                </a:rPr>
                <a:t>1885—1962</a:t>
              </a:r>
              <a:r>
                <a:rPr lang="zh-CN" altLang="en-US" sz="2000" b="1" dirty="0">
                  <a:solidFill>
                    <a:srgbClr val="0000FF"/>
                  </a:solidFill>
                  <a:latin typeface="宋体" charset="-122"/>
                </a:rPr>
                <a:t>）</a:t>
              </a:r>
            </a:p>
          </p:txBody>
        </p:sp>
        <p:pic>
          <p:nvPicPr>
            <p:cNvPr id="25606" name="Picture 5" descr="22bohr"/>
            <p:cNvPicPr>
              <a:picLocks noChangeAspect="1" noChangeArrowheads="1"/>
            </p:cNvPicPr>
            <p:nvPr/>
          </p:nvPicPr>
          <p:blipFill>
            <a:blip r:embed="rId2"/>
            <a:srcRect/>
            <a:stretch>
              <a:fillRect/>
            </a:stretch>
          </p:blipFill>
          <p:spPr bwMode="auto">
            <a:xfrm>
              <a:off x="4439" y="1385"/>
              <a:ext cx="1143" cy="1531"/>
            </a:xfrm>
            <a:prstGeom prst="rect">
              <a:avLst/>
            </a:prstGeom>
            <a:noFill/>
            <a:ln w="57150">
              <a:noFill/>
              <a:miter lim="800000"/>
              <a:headEnd/>
              <a:tailEnd/>
            </a:ln>
          </p:spPr>
        </p:pic>
      </p:grpSp>
      <p:sp>
        <p:nvSpPr>
          <p:cNvPr id="189446" name="Text Box 6"/>
          <p:cNvSpPr txBox="1">
            <a:spLocks noChangeArrowheads="1"/>
          </p:cNvSpPr>
          <p:nvPr/>
        </p:nvSpPr>
        <p:spPr bwMode="auto">
          <a:xfrm>
            <a:off x="701675" y="1719263"/>
            <a:ext cx="6057900" cy="4473575"/>
          </a:xfrm>
          <a:prstGeom prst="rect">
            <a:avLst/>
          </a:prstGeom>
          <a:noFill/>
          <a:ln w="9525">
            <a:noFill/>
            <a:miter lim="800000"/>
            <a:headEnd/>
            <a:tailEnd/>
          </a:ln>
          <a:effectLst/>
        </p:spPr>
        <p:txBody>
          <a:bodyPr>
            <a:spAutoFit/>
          </a:bodyPr>
          <a:lstStyle/>
          <a:p>
            <a:pPr>
              <a:lnSpc>
                <a:spcPct val="120000"/>
              </a:lnSpc>
            </a:pPr>
            <a:r>
              <a:rPr lang="en-US" altLang="zh-CN" b="1" dirty="0">
                <a:solidFill>
                  <a:schemeClr val="bg2"/>
                </a:solidFill>
                <a:latin typeface="楷体_GB2312" pitchFamily="49" charset="-122"/>
                <a:ea typeface="楷体_GB2312" pitchFamily="49" charset="-122"/>
              </a:rPr>
              <a:t>    </a:t>
            </a:r>
            <a:r>
              <a:rPr lang="zh-CN" altLang="en-US" b="1" dirty="0">
                <a:solidFill>
                  <a:schemeClr val="bg2"/>
                </a:solidFill>
                <a:latin typeface="楷体_GB2312" pitchFamily="49" charset="-122"/>
                <a:ea typeface="楷体_GB2312" pitchFamily="49" charset="-122"/>
              </a:rPr>
              <a:t>丹麦物理学家。</a:t>
            </a:r>
            <a:r>
              <a:rPr lang="en-US" altLang="zh-CN" b="1" dirty="0">
                <a:solidFill>
                  <a:schemeClr val="bg2"/>
                </a:solidFill>
                <a:latin typeface="楷体_GB2312" pitchFamily="49" charset="-122"/>
                <a:ea typeface="楷体_GB2312" pitchFamily="49" charset="-122"/>
              </a:rPr>
              <a:t>1913</a:t>
            </a:r>
            <a:r>
              <a:rPr lang="zh-CN" altLang="en-US" b="1" dirty="0">
                <a:solidFill>
                  <a:schemeClr val="bg2"/>
                </a:solidFill>
                <a:latin typeface="楷体_GB2312" pitchFamily="49" charset="-122"/>
                <a:ea typeface="楷体_GB2312" pitchFamily="49" charset="-122"/>
              </a:rPr>
              <a:t>年对原子结构和量子力学的研究作出了重要贡献，并因此获得了</a:t>
            </a:r>
            <a:r>
              <a:rPr lang="en-US" altLang="zh-CN" b="1" dirty="0">
                <a:solidFill>
                  <a:schemeClr val="accent2"/>
                </a:solidFill>
                <a:latin typeface="楷体_GB2312" pitchFamily="49" charset="-122"/>
                <a:ea typeface="楷体_GB2312" pitchFamily="49" charset="-122"/>
              </a:rPr>
              <a:t>1922</a:t>
            </a:r>
            <a:r>
              <a:rPr lang="zh-CN" altLang="en-US" b="1" dirty="0">
                <a:solidFill>
                  <a:schemeClr val="accent2"/>
                </a:solidFill>
                <a:latin typeface="楷体_GB2312" pitchFamily="49" charset="-122"/>
                <a:ea typeface="楷体_GB2312" pitchFamily="49" charset="-122"/>
              </a:rPr>
              <a:t>年的诺贝尔物理学奖</a:t>
            </a:r>
            <a:r>
              <a:rPr lang="zh-CN" altLang="en-US" b="1" dirty="0">
                <a:solidFill>
                  <a:schemeClr val="bg2"/>
                </a:solidFill>
                <a:latin typeface="楷体_GB2312" pitchFamily="49" charset="-122"/>
                <a:ea typeface="楷体_GB2312" pitchFamily="49" charset="-122"/>
              </a:rPr>
              <a:t>。在哥本哈根的研究所里，波尔曾与许多</a:t>
            </a:r>
            <a:r>
              <a:rPr lang="en-US" altLang="zh-CN" b="1" dirty="0">
                <a:solidFill>
                  <a:schemeClr val="bg2"/>
                </a:solidFill>
                <a:latin typeface="楷体_GB2312" pitchFamily="49" charset="-122"/>
                <a:ea typeface="楷体_GB2312" pitchFamily="49" charset="-122"/>
              </a:rPr>
              <a:t>19</a:t>
            </a:r>
            <a:r>
              <a:rPr lang="zh-CN" altLang="en-US" b="1" dirty="0">
                <a:solidFill>
                  <a:schemeClr val="bg2"/>
                </a:solidFill>
                <a:latin typeface="楷体_GB2312" pitchFamily="49" charset="-122"/>
                <a:ea typeface="楷体_GB2312" pitchFamily="49" charset="-122"/>
              </a:rPr>
              <a:t>世纪顶尖的物理学家开展合作并予以指导。波尔还是参与曼哈顿工程的物理学家之一。</a:t>
            </a:r>
            <a:r>
              <a:rPr lang="en-US" altLang="zh-CN" b="1" dirty="0">
                <a:solidFill>
                  <a:schemeClr val="bg2"/>
                </a:solidFill>
                <a:latin typeface="楷体_GB2312" pitchFamily="49" charset="-122"/>
                <a:ea typeface="楷体_GB2312" pitchFamily="49" charset="-122"/>
              </a:rPr>
              <a:t>1912</a:t>
            </a:r>
            <a:r>
              <a:rPr lang="zh-CN" altLang="en-US" b="1" dirty="0">
                <a:solidFill>
                  <a:schemeClr val="bg2"/>
                </a:solidFill>
                <a:latin typeface="楷体_GB2312" pitchFamily="49" charset="-122"/>
                <a:ea typeface="楷体_GB2312" pitchFamily="49" charset="-122"/>
              </a:rPr>
              <a:t>年，玻尔与玛格瑞特结婚，他们的儿子</a:t>
            </a:r>
            <a:r>
              <a:rPr lang="en-US" altLang="zh-CN" b="1" dirty="0">
                <a:solidFill>
                  <a:schemeClr val="bg2"/>
                </a:solidFill>
                <a:latin typeface="楷体_GB2312" pitchFamily="49" charset="-122"/>
                <a:ea typeface="楷体_GB2312" pitchFamily="49" charset="-122"/>
              </a:rPr>
              <a:t>A</a:t>
            </a:r>
            <a:r>
              <a:rPr lang="en-US" altLang="zh-CN" b="1" dirty="0">
                <a:solidFill>
                  <a:schemeClr val="bg2"/>
                </a:solidFill>
                <a:ea typeface="楷体_GB2312" pitchFamily="49" charset="-122"/>
              </a:rPr>
              <a:t>·</a:t>
            </a:r>
            <a:r>
              <a:rPr lang="zh-CN" altLang="en-US" b="1" dirty="0">
                <a:solidFill>
                  <a:schemeClr val="bg2"/>
                </a:solidFill>
                <a:latin typeface="楷体_GB2312" pitchFamily="49" charset="-122"/>
                <a:ea typeface="楷体_GB2312" pitchFamily="49" charset="-122"/>
              </a:rPr>
              <a:t>尼尔斯</a:t>
            </a:r>
            <a:r>
              <a:rPr lang="en-US" altLang="zh-CN" b="1" dirty="0">
                <a:solidFill>
                  <a:schemeClr val="bg2"/>
                </a:solidFill>
                <a:ea typeface="楷体_GB2312" pitchFamily="49" charset="-122"/>
              </a:rPr>
              <a:t>·</a:t>
            </a:r>
            <a:r>
              <a:rPr lang="zh-CN" altLang="en-US" b="1" dirty="0">
                <a:solidFill>
                  <a:schemeClr val="bg2"/>
                </a:solidFill>
                <a:latin typeface="楷体_GB2312" pitchFamily="49" charset="-122"/>
                <a:ea typeface="楷体_GB2312" pitchFamily="49" charset="-122"/>
              </a:rPr>
              <a:t>玻尔长大后也成为了一名重要的物理学家。同其父一样，小玻尔于</a:t>
            </a:r>
            <a:r>
              <a:rPr lang="en-US" altLang="zh-CN" b="1" dirty="0">
                <a:solidFill>
                  <a:schemeClr val="accent2"/>
                </a:solidFill>
                <a:latin typeface="楷体_GB2312" pitchFamily="49" charset="-122"/>
                <a:ea typeface="楷体_GB2312" pitchFamily="49" charset="-122"/>
              </a:rPr>
              <a:t>1975</a:t>
            </a:r>
            <a:r>
              <a:rPr lang="zh-CN" altLang="en-US" b="1" dirty="0">
                <a:solidFill>
                  <a:schemeClr val="accent2"/>
                </a:solidFill>
                <a:latin typeface="楷体_GB2312" pitchFamily="49" charset="-122"/>
                <a:ea typeface="楷体_GB2312" pitchFamily="49" charset="-122"/>
              </a:rPr>
              <a:t>年获得了诺贝尔奖</a:t>
            </a:r>
            <a:r>
              <a:rPr lang="zh-CN" altLang="en-US" b="1" dirty="0">
                <a:solidFill>
                  <a:schemeClr val="bg2"/>
                </a:solidFill>
                <a:latin typeface="楷体_GB2312" pitchFamily="49" charset="-122"/>
                <a:ea typeface="楷体_GB2312" pitchFamily="49" charset="-122"/>
              </a:rPr>
              <a:t>。玻尔被称为</a:t>
            </a:r>
            <a:r>
              <a:rPr lang="en-US" altLang="zh-CN" b="1" dirty="0">
                <a:solidFill>
                  <a:schemeClr val="bg2"/>
                </a:solidFill>
                <a:latin typeface="楷体_GB2312" pitchFamily="49" charset="-122"/>
                <a:ea typeface="楷体_GB2312" pitchFamily="49" charset="-122"/>
              </a:rPr>
              <a:t>20</a:t>
            </a:r>
            <a:r>
              <a:rPr lang="zh-CN" altLang="en-US" b="1" dirty="0">
                <a:solidFill>
                  <a:schemeClr val="bg2"/>
                </a:solidFill>
                <a:latin typeface="楷体_GB2312" pitchFamily="49" charset="-122"/>
                <a:ea typeface="楷体_GB2312" pitchFamily="49" charset="-122"/>
              </a:rPr>
              <a:t>世纪最具影响力的物理学家之一。 </a:t>
            </a:r>
          </a:p>
        </p:txBody>
      </p:sp>
      <p:sp>
        <p:nvSpPr>
          <p:cNvPr id="25604" name="Rectangle 7"/>
          <p:cNvSpPr>
            <a:spLocks noChangeArrowheads="1"/>
          </p:cNvSpPr>
          <p:nvPr/>
        </p:nvSpPr>
        <p:spPr bwMode="auto">
          <a:xfrm>
            <a:off x="438150" y="565150"/>
            <a:ext cx="7772400" cy="685800"/>
          </a:xfrm>
          <a:prstGeom prst="rect">
            <a:avLst/>
          </a:prstGeom>
          <a:noFill/>
          <a:ln w="9525">
            <a:noFill/>
            <a:miter lim="800000"/>
            <a:headEnd/>
            <a:tailEnd/>
          </a:ln>
          <a:effectLst/>
        </p:spPr>
        <p:txBody>
          <a:bodyPr anchor="ctr"/>
          <a:lstStyle/>
          <a:p>
            <a:pPr algn="ctr"/>
            <a:r>
              <a:rPr lang="en-US" altLang="zh-CN" sz="2800" b="1" dirty="0">
                <a:solidFill>
                  <a:srgbClr val="0000FF"/>
                </a:solidFill>
                <a:ea typeface="黑体" pitchFamily="2" charset="-122"/>
              </a:rPr>
              <a:t>§</a:t>
            </a:r>
            <a:r>
              <a:rPr lang="en-US" altLang="zh-CN" sz="2800" b="1" dirty="0">
                <a:solidFill>
                  <a:srgbClr val="0000FF"/>
                </a:solidFill>
              </a:rPr>
              <a:t>13.3</a:t>
            </a:r>
            <a:r>
              <a:rPr lang="en-US" altLang="zh-CN" sz="2800" b="1" dirty="0">
                <a:solidFill>
                  <a:srgbClr val="3333CC"/>
                </a:solidFill>
                <a:latin typeface="黑体" pitchFamily="2" charset="-122"/>
                <a:ea typeface="黑体" pitchFamily="2" charset="-122"/>
                <a:cs typeface="Times New Roman" pitchFamily="18" charset="0"/>
              </a:rPr>
              <a:t> </a:t>
            </a:r>
            <a:r>
              <a:rPr lang="zh-CN" altLang="en-US" sz="2800" b="1" dirty="0">
                <a:solidFill>
                  <a:srgbClr val="3333CC"/>
                </a:solidFill>
                <a:latin typeface="黑体" pitchFamily="2" charset="-122"/>
                <a:ea typeface="黑体" pitchFamily="2" charset="-122"/>
                <a:cs typeface="Times New Roman" pitchFamily="18" charset="0"/>
              </a:rPr>
              <a:t>玻尔的氢原子理论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89449"/>
                                        </p:tgtEl>
                                        <p:attrNameLst>
                                          <p:attrName>style.visibility</p:attrName>
                                        </p:attrNameLst>
                                      </p:cBhvr>
                                      <p:to>
                                        <p:strVal val="visible"/>
                                      </p:to>
                                    </p:set>
                                    <p:animEffect transition="in" filter="dissolve">
                                      <p:cBhvr>
                                        <p:cTn id="7" dur="500"/>
                                        <p:tgtEl>
                                          <p:spTgt spid="1894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9446">
                                            <p:txEl>
                                              <p:pRg st="0" end="0"/>
                                            </p:txEl>
                                          </p:spTgt>
                                        </p:tgtEl>
                                        <p:attrNameLst>
                                          <p:attrName>style.visibility</p:attrName>
                                        </p:attrNameLst>
                                      </p:cBhvr>
                                      <p:to>
                                        <p:strVal val="visible"/>
                                      </p:to>
                                    </p:set>
                                    <p:animEffect transition="in" filter="wipe(left)">
                                      <p:cBhvr>
                                        <p:cTn id="12" dur="500"/>
                                        <p:tgtEl>
                                          <p:spTgt spid="1894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666" name="Object 2"/>
          <p:cNvGraphicFramePr>
            <a:graphicFrameLocks/>
          </p:cNvGraphicFramePr>
          <p:nvPr/>
        </p:nvGraphicFramePr>
        <p:xfrm>
          <a:off x="792163" y="2068513"/>
          <a:ext cx="4062412" cy="730250"/>
        </p:xfrm>
        <a:graphic>
          <a:graphicData uri="http://schemas.openxmlformats.org/presentationml/2006/ole">
            <p:oleObj spid="_x0000_s26626" name="公式" r:id="rId4" imgW="1913760" imgH="334440" progId="Equation.3">
              <p:embed/>
            </p:oleObj>
          </a:graphicData>
        </a:graphic>
      </p:graphicFrame>
      <p:sp>
        <p:nvSpPr>
          <p:cNvPr id="113667" name="Rectangle 3"/>
          <p:cNvSpPr>
            <a:spLocks noChangeArrowheads="1"/>
          </p:cNvSpPr>
          <p:nvPr/>
        </p:nvSpPr>
        <p:spPr bwMode="auto">
          <a:xfrm>
            <a:off x="635000" y="2754313"/>
            <a:ext cx="4038600"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氢光谱的里德伯常量</a:t>
            </a:r>
            <a:r>
              <a:rPr lang="zh-CN" altLang="en-US">
                <a:solidFill>
                  <a:schemeClr val="bg1"/>
                </a:solidFill>
                <a:latin typeface="宋体" charset="-122"/>
              </a:rPr>
              <a:t> </a:t>
            </a:r>
          </a:p>
        </p:txBody>
      </p:sp>
      <p:graphicFrame>
        <p:nvGraphicFramePr>
          <p:cNvPr id="113668" name="Object 4"/>
          <p:cNvGraphicFramePr>
            <a:graphicFrameLocks/>
          </p:cNvGraphicFramePr>
          <p:nvPr/>
        </p:nvGraphicFramePr>
        <p:xfrm>
          <a:off x="3817938" y="2843213"/>
          <a:ext cx="2914650" cy="366712"/>
        </p:xfrm>
        <a:graphic>
          <a:graphicData uri="http://schemas.openxmlformats.org/presentationml/2006/ole">
            <p:oleObj spid="_x0000_s26628" name="公式" r:id="rId5" imgW="1539000" imgH="179280" progId="Equation.3">
              <p:embed/>
            </p:oleObj>
          </a:graphicData>
        </a:graphic>
      </p:graphicFrame>
      <p:sp>
        <p:nvSpPr>
          <p:cNvPr id="113669" name="Rectangle 5"/>
          <p:cNvSpPr>
            <a:spLocks noChangeArrowheads="1"/>
          </p:cNvSpPr>
          <p:nvPr/>
        </p:nvSpPr>
        <p:spPr bwMode="auto">
          <a:xfrm>
            <a:off x="63500" y="3332163"/>
            <a:ext cx="8153400" cy="457200"/>
          </a:xfrm>
          <a:prstGeom prst="rect">
            <a:avLst/>
          </a:prstGeom>
          <a:noFill/>
          <a:ln w="9525">
            <a:noFill/>
            <a:miter lim="800000"/>
            <a:headEnd/>
            <a:tailEnd/>
          </a:ln>
          <a:effectLst/>
        </p:spPr>
        <p:txBody>
          <a:bodyPr>
            <a:spAutoFit/>
          </a:bodyPr>
          <a:lstStyle/>
          <a:p>
            <a:r>
              <a:rPr lang="en-US" altLang="zh-CN" b="1">
                <a:solidFill>
                  <a:schemeClr val="bg1"/>
                </a:solidFill>
                <a:latin typeface="宋体" charset="-122"/>
              </a:rPr>
              <a:t>(3) </a:t>
            </a:r>
            <a:r>
              <a:rPr lang="en-US" altLang="zh-CN" b="1" i="1">
                <a:solidFill>
                  <a:schemeClr val="accent2"/>
                </a:solidFill>
              </a:rPr>
              <a:t>k </a:t>
            </a:r>
            <a:r>
              <a:rPr lang="en-US" altLang="zh-CN" b="1">
                <a:solidFill>
                  <a:schemeClr val="accent2"/>
                </a:solidFill>
              </a:rPr>
              <a:t>= 1 (</a:t>
            </a:r>
            <a:r>
              <a:rPr lang="en-US" altLang="zh-CN" b="1" i="1">
                <a:solidFill>
                  <a:schemeClr val="accent2"/>
                </a:solidFill>
              </a:rPr>
              <a:t>n </a:t>
            </a:r>
            <a:r>
              <a:rPr lang="en-US" altLang="zh-CN" b="1">
                <a:solidFill>
                  <a:schemeClr val="accent2"/>
                </a:solidFill>
              </a:rPr>
              <a:t>= 2, 3, 4, … )</a:t>
            </a:r>
            <a:r>
              <a:rPr lang="en-US" altLang="zh-CN">
                <a:solidFill>
                  <a:schemeClr val="bg1"/>
                </a:solidFill>
                <a:latin typeface="宋体" charset="-122"/>
              </a:rPr>
              <a:t> </a:t>
            </a:r>
            <a:r>
              <a:rPr lang="zh-CN" altLang="en-US" b="1">
                <a:solidFill>
                  <a:schemeClr val="bg1"/>
                </a:solidFill>
                <a:latin typeface="宋体" charset="-122"/>
              </a:rPr>
              <a:t>谱线系</a:t>
            </a:r>
            <a:r>
              <a:rPr lang="en-US" altLang="zh-CN" b="1">
                <a:solidFill>
                  <a:schemeClr val="bg1"/>
                </a:solidFill>
                <a:latin typeface="宋体" charset="-122"/>
              </a:rPr>
              <a:t>——</a:t>
            </a:r>
            <a:r>
              <a:rPr lang="zh-CN" altLang="en-US" b="1">
                <a:solidFill>
                  <a:schemeClr val="bg1"/>
                </a:solidFill>
                <a:latin typeface="宋体" charset="-122"/>
              </a:rPr>
              <a:t>拉曼系  （</a:t>
            </a:r>
            <a:r>
              <a:rPr lang="en-US" altLang="zh-CN" b="1">
                <a:solidFill>
                  <a:schemeClr val="bg1"/>
                </a:solidFill>
                <a:latin typeface="宋体" charset="-122"/>
              </a:rPr>
              <a:t>1908</a:t>
            </a:r>
            <a:r>
              <a:rPr lang="zh-CN" altLang="en-US" b="1">
                <a:solidFill>
                  <a:schemeClr val="bg1"/>
                </a:solidFill>
                <a:latin typeface="宋体" charset="-122"/>
              </a:rPr>
              <a:t>年）</a:t>
            </a:r>
          </a:p>
        </p:txBody>
      </p:sp>
      <p:sp>
        <p:nvSpPr>
          <p:cNvPr id="113670" name="Rectangle 6"/>
          <p:cNvSpPr>
            <a:spLocks noChangeArrowheads="1"/>
          </p:cNvSpPr>
          <p:nvPr/>
        </p:nvSpPr>
        <p:spPr bwMode="auto">
          <a:xfrm>
            <a:off x="115888" y="1666875"/>
            <a:ext cx="4095750" cy="457200"/>
          </a:xfrm>
          <a:prstGeom prst="rect">
            <a:avLst/>
          </a:prstGeom>
          <a:noFill/>
          <a:ln w="9525">
            <a:noFill/>
            <a:miter lim="800000"/>
            <a:headEnd/>
            <a:tailEnd/>
          </a:ln>
          <a:effectLst/>
        </p:spPr>
        <p:txBody>
          <a:bodyPr>
            <a:spAutoFit/>
          </a:bodyPr>
          <a:lstStyle/>
          <a:p>
            <a:r>
              <a:rPr lang="en-US" altLang="zh-CN" b="1">
                <a:solidFill>
                  <a:schemeClr val="bg1"/>
                </a:solidFill>
                <a:latin typeface="宋体" charset="-122"/>
              </a:rPr>
              <a:t>(2) </a:t>
            </a:r>
            <a:r>
              <a:rPr lang="zh-CN" altLang="en-US" b="1">
                <a:solidFill>
                  <a:schemeClr val="bg1"/>
                </a:solidFill>
                <a:latin typeface="宋体" charset="-122"/>
              </a:rPr>
              <a:t>谱线的波数可表示为</a:t>
            </a:r>
          </a:p>
        </p:txBody>
      </p:sp>
      <p:sp>
        <p:nvSpPr>
          <p:cNvPr id="113671" name="Rectangle 7"/>
          <p:cNvSpPr>
            <a:spLocks noChangeArrowheads="1"/>
          </p:cNvSpPr>
          <p:nvPr/>
        </p:nvSpPr>
        <p:spPr bwMode="auto">
          <a:xfrm>
            <a:off x="566738" y="3827463"/>
            <a:ext cx="7696200" cy="457200"/>
          </a:xfrm>
          <a:prstGeom prst="rect">
            <a:avLst/>
          </a:prstGeom>
          <a:noFill/>
          <a:ln w="9525">
            <a:noFill/>
            <a:miter lim="800000"/>
            <a:headEnd/>
            <a:tailEnd/>
          </a:ln>
          <a:effectLst/>
        </p:spPr>
        <p:txBody>
          <a:bodyPr>
            <a:spAutoFit/>
          </a:bodyPr>
          <a:lstStyle/>
          <a:p>
            <a:r>
              <a:rPr lang="en-US" altLang="zh-CN">
                <a:solidFill>
                  <a:srgbClr val="00FFFF"/>
                </a:solidFill>
              </a:rPr>
              <a:t> </a:t>
            </a:r>
            <a:r>
              <a:rPr lang="en-US" altLang="zh-CN" b="1" i="1">
                <a:solidFill>
                  <a:schemeClr val="accent2"/>
                </a:solidFill>
              </a:rPr>
              <a:t>k </a:t>
            </a:r>
            <a:r>
              <a:rPr lang="en-US" altLang="zh-CN" b="1">
                <a:solidFill>
                  <a:schemeClr val="accent2"/>
                </a:solidFill>
              </a:rPr>
              <a:t>= 2 (</a:t>
            </a:r>
            <a:r>
              <a:rPr lang="en-US" altLang="zh-CN" b="1" i="1">
                <a:solidFill>
                  <a:schemeClr val="accent2"/>
                </a:solidFill>
              </a:rPr>
              <a:t>n </a:t>
            </a:r>
            <a:r>
              <a:rPr lang="en-US" altLang="zh-CN" b="1">
                <a:solidFill>
                  <a:schemeClr val="accent2"/>
                </a:solidFill>
              </a:rPr>
              <a:t>= 3, 4, 5, … )</a:t>
            </a:r>
            <a:r>
              <a:rPr lang="en-US" altLang="zh-CN">
                <a:solidFill>
                  <a:schemeClr val="bg1"/>
                </a:solidFill>
                <a:latin typeface="宋体" charset="-122"/>
              </a:rPr>
              <a:t> </a:t>
            </a:r>
            <a:r>
              <a:rPr lang="zh-CN" altLang="en-US" b="1">
                <a:solidFill>
                  <a:schemeClr val="bg1"/>
                </a:solidFill>
                <a:latin typeface="宋体" charset="-122"/>
              </a:rPr>
              <a:t>谱线系</a:t>
            </a:r>
            <a:r>
              <a:rPr lang="en-US" altLang="zh-CN" b="1">
                <a:solidFill>
                  <a:schemeClr val="bg1"/>
                </a:solidFill>
                <a:latin typeface="宋体" charset="-122"/>
              </a:rPr>
              <a:t>——</a:t>
            </a:r>
            <a:r>
              <a:rPr lang="zh-CN" altLang="en-US" b="1">
                <a:solidFill>
                  <a:schemeClr val="bg1"/>
                </a:solidFill>
                <a:latin typeface="宋体" charset="-122"/>
              </a:rPr>
              <a:t>巴耳末系（</a:t>
            </a:r>
            <a:r>
              <a:rPr lang="en-US" altLang="zh-CN" b="1">
                <a:solidFill>
                  <a:schemeClr val="bg1"/>
                </a:solidFill>
                <a:latin typeface="宋体" charset="-122"/>
              </a:rPr>
              <a:t>1880</a:t>
            </a:r>
            <a:r>
              <a:rPr lang="zh-CN" altLang="en-US" b="1">
                <a:solidFill>
                  <a:schemeClr val="bg1"/>
                </a:solidFill>
                <a:latin typeface="宋体" charset="-122"/>
              </a:rPr>
              <a:t>年）</a:t>
            </a:r>
          </a:p>
        </p:txBody>
      </p:sp>
      <p:sp>
        <p:nvSpPr>
          <p:cNvPr id="113673" name="Rectangle 9"/>
          <p:cNvSpPr>
            <a:spLocks noChangeArrowheads="1"/>
          </p:cNvSpPr>
          <p:nvPr/>
        </p:nvSpPr>
        <p:spPr bwMode="auto">
          <a:xfrm>
            <a:off x="115888" y="1127125"/>
            <a:ext cx="3962400" cy="457200"/>
          </a:xfrm>
          <a:prstGeom prst="rect">
            <a:avLst/>
          </a:prstGeom>
          <a:noFill/>
          <a:ln w="9525">
            <a:noFill/>
            <a:miter lim="800000"/>
            <a:headEnd/>
            <a:tailEnd/>
          </a:ln>
          <a:effectLst/>
        </p:spPr>
        <p:txBody>
          <a:bodyPr>
            <a:spAutoFit/>
          </a:bodyPr>
          <a:lstStyle/>
          <a:p>
            <a:r>
              <a:rPr lang="en-US" altLang="zh-CN" b="1">
                <a:solidFill>
                  <a:schemeClr val="bg1"/>
                </a:solidFill>
                <a:latin typeface="宋体" charset="-122"/>
              </a:rPr>
              <a:t>(1) </a:t>
            </a:r>
            <a:r>
              <a:rPr lang="zh-CN" altLang="en-US" b="1">
                <a:solidFill>
                  <a:schemeClr val="bg1"/>
                </a:solidFill>
                <a:latin typeface="宋体" charset="-122"/>
              </a:rPr>
              <a:t>分立线状光谱；</a:t>
            </a:r>
          </a:p>
        </p:txBody>
      </p:sp>
      <p:sp>
        <p:nvSpPr>
          <p:cNvPr id="113676" name="Rectangle 12"/>
          <p:cNvSpPr>
            <a:spLocks noChangeArrowheads="1"/>
          </p:cNvSpPr>
          <p:nvPr/>
        </p:nvSpPr>
        <p:spPr bwMode="auto">
          <a:xfrm>
            <a:off x="5157788" y="2266950"/>
            <a:ext cx="3105150" cy="396875"/>
          </a:xfrm>
          <a:prstGeom prst="rect">
            <a:avLst/>
          </a:prstGeom>
          <a:noFill/>
          <a:ln w="9525">
            <a:noFill/>
            <a:miter lim="800000"/>
            <a:headEnd/>
            <a:tailEnd/>
          </a:ln>
          <a:effectLst/>
        </p:spPr>
        <p:txBody>
          <a:bodyPr>
            <a:spAutoFit/>
          </a:bodyPr>
          <a:lstStyle/>
          <a:p>
            <a:r>
              <a:rPr lang="zh-CN" altLang="en-US" sz="2000" b="1">
                <a:solidFill>
                  <a:schemeClr val="accent2"/>
                </a:solidFill>
                <a:latin typeface="宋体" charset="-122"/>
              </a:rPr>
              <a:t>里德伯</a:t>
            </a:r>
            <a:r>
              <a:rPr lang="en-US" altLang="zh-CN" sz="2000" b="1">
                <a:solidFill>
                  <a:schemeClr val="accent2"/>
                </a:solidFill>
                <a:latin typeface="宋体" charset="-122"/>
              </a:rPr>
              <a:t>—</a:t>
            </a:r>
            <a:r>
              <a:rPr lang="zh-CN" altLang="en-US" sz="2000" b="1">
                <a:solidFill>
                  <a:schemeClr val="accent2"/>
                </a:solidFill>
                <a:latin typeface="宋体" charset="-122"/>
              </a:rPr>
              <a:t>里兹并合原则</a:t>
            </a:r>
          </a:p>
        </p:txBody>
      </p:sp>
      <p:sp>
        <p:nvSpPr>
          <p:cNvPr id="113677" name="Text Box 13"/>
          <p:cNvSpPr txBox="1">
            <a:spLocks noChangeArrowheads="1"/>
          </p:cNvSpPr>
          <p:nvPr/>
        </p:nvSpPr>
        <p:spPr bwMode="auto">
          <a:xfrm>
            <a:off x="296863" y="4643438"/>
            <a:ext cx="8010525" cy="1406525"/>
          </a:xfrm>
          <a:prstGeom prst="rect">
            <a:avLst/>
          </a:prstGeom>
          <a:noFill/>
          <a:ln w="9525">
            <a:noFill/>
            <a:miter lim="800000"/>
            <a:headEnd/>
            <a:tailEnd/>
          </a:ln>
          <a:effectLst/>
        </p:spPr>
        <p:txBody>
          <a:bodyPr>
            <a:spAutoFit/>
          </a:bodyPr>
          <a:lstStyle/>
          <a:p>
            <a:pPr>
              <a:lnSpc>
                <a:spcPct val="120000"/>
              </a:lnSpc>
            </a:pPr>
            <a:r>
              <a:rPr lang="en-US" altLang="zh-CN" b="1">
                <a:solidFill>
                  <a:schemeClr val="bg2"/>
                </a:solidFill>
                <a:latin typeface="宋体" charset="-122"/>
              </a:rPr>
              <a:t>    </a:t>
            </a:r>
            <a:r>
              <a:rPr lang="zh-CN" altLang="en-US" b="1">
                <a:solidFill>
                  <a:schemeClr val="bg2"/>
                </a:solidFill>
                <a:latin typeface="宋体" charset="-122"/>
              </a:rPr>
              <a:t>卢瑟福的核型结构不可能存在稳定的原子，辐射的原子光谱也应是连续的。</a:t>
            </a:r>
          </a:p>
          <a:p>
            <a:pPr>
              <a:lnSpc>
                <a:spcPct val="120000"/>
              </a:lnSpc>
            </a:pPr>
            <a:r>
              <a:rPr lang="zh-CN" altLang="en-US" b="1">
                <a:solidFill>
                  <a:schemeClr val="bg2"/>
                </a:solidFill>
                <a:latin typeface="宋体" charset="-122"/>
              </a:rPr>
              <a:t>    </a:t>
            </a:r>
            <a:r>
              <a:rPr lang="zh-CN" altLang="en-US" b="1">
                <a:solidFill>
                  <a:schemeClr val="accent2"/>
                </a:solidFill>
                <a:latin typeface="宋体" charset="-122"/>
              </a:rPr>
              <a:t>这些结论与原子光谱的实验规律相矛盾！ </a:t>
            </a:r>
          </a:p>
        </p:txBody>
      </p:sp>
      <p:grpSp>
        <p:nvGrpSpPr>
          <p:cNvPr id="113690" name="Group 26"/>
          <p:cNvGrpSpPr>
            <a:grpSpLocks/>
          </p:cNvGrpSpPr>
          <p:nvPr/>
        </p:nvGrpSpPr>
        <p:grpSpPr bwMode="auto">
          <a:xfrm>
            <a:off x="3446463" y="904875"/>
            <a:ext cx="4635500" cy="768350"/>
            <a:chOff x="2171" y="570"/>
            <a:chExt cx="2920" cy="484"/>
          </a:xfrm>
        </p:grpSpPr>
        <p:sp>
          <p:nvSpPr>
            <p:cNvPr id="26637" name="Rectangle 15"/>
            <p:cNvSpPr>
              <a:spLocks noChangeArrowheads="1"/>
            </p:cNvSpPr>
            <p:nvPr/>
          </p:nvSpPr>
          <p:spPr bwMode="auto">
            <a:xfrm>
              <a:off x="2171" y="572"/>
              <a:ext cx="2920" cy="465"/>
            </a:xfrm>
            <a:prstGeom prst="rect">
              <a:avLst/>
            </a:prstGeom>
            <a:noFill/>
            <a:ln w="28575">
              <a:solidFill>
                <a:schemeClr val="bg1"/>
              </a:solidFill>
              <a:miter lim="800000"/>
              <a:headEnd/>
              <a:tailEnd/>
            </a:ln>
            <a:effectLst/>
          </p:spPr>
          <p:txBody>
            <a:bodyPr wrap="none" anchor="ctr"/>
            <a:lstStyle/>
            <a:p>
              <a:endParaRPr lang="zh-CN" altLang="en-US"/>
            </a:p>
          </p:txBody>
        </p:sp>
        <p:sp>
          <p:nvSpPr>
            <p:cNvPr id="26638" name="Line 16"/>
            <p:cNvSpPr>
              <a:spLocks noChangeShapeType="1"/>
            </p:cNvSpPr>
            <p:nvPr/>
          </p:nvSpPr>
          <p:spPr bwMode="auto">
            <a:xfrm>
              <a:off x="2371" y="571"/>
              <a:ext cx="0" cy="466"/>
            </a:xfrm>
            <a:prstGeom prst="line">
              <a:avLst/>
            </a:prstGeom>
            <a:noFill/>
            <a:ln w="38100">
              <a:solidFill>
                <a:srgbClr val="FF0000"/>
              </a:solidFill>
              <a:round/>
              <a:headEnd/>
              <a:tailEnd/>
            </a:ln>
            <a:effectLst/>
          </p:spPr>
          <p:txBody>
            <a:bodyPr/>
            <a:lstStyle/>
            <a:p>
              <a:endParaRPr lang="zh-CN" altLang="en-US"/>
            </a:p>
          </p:txBody>
        </p:sp>
        <p:sp>
          <p:nvSpPr>
            <p:cNvPr id="26639" name="Line 17"/>
            <p:cNvSpPr>
              <a:spLocks noChangeShapeType="1"/>
            </p:cNvSpPr>
            <p:nvPr/>
          </p:nvSpPr>
          <p:spPr bwMode="auto">
            <a:xfrm>
              <a:off x="3345" y="571"/>
              <a:ext cx="0" cy="466"/>
            </a:xfrm>
            <a:prstGeom prst="line">
              <a:avLst/>
            </a:prstGeom>
            <a:noFill/>
            <a:ln w="38100">
              <a:solidFill>
                <a:srgbClr val="008000"/>
              </a:solidFill>
              <a:round/>
              <a:headEnd/>
              <a:tailEnd/>
            </a:ln>
            <a:effectLst/>
          </p:spPr>
          <p:txBody>
            <a:bodyPr/>
            <a:lstStyle/>
            <a:p>
              <a:endParaRPr lang="zh-CN" altLang="en-US"/>
            </a:p>
          </p:txBody>
        </p:sp>
        <p:sp>
          <p:nvSpPr>
            <p:cNvPr id="26640" name="Line 18"/>
            <p:cNvSpPr>
              <a:spLocks noChangeShapeType="1"/>
            </p:cNvSpPr>
            <p:nvPr/>
          </p:nvSpPr>
          <p:spPr bwMode="auto">
            <a:xfrm>
              <a:off x="3832" y="571"/>
              <a:ext cx="0" cy="466"/>
            </a:xfrm>
            <a:prstGeom prst="line">
              <a:avLst/>
            </a:prstGeom>
            <a:noFill/>
            <a:ln w="38100">
              <a:solidFill>
                <a:srgbClr val="006699"/>
              </a:solidFill>
              <a:round/>
              <a:headEnd/>
              <a:tailEnd/>
            </a:ln>
            <a:effectLst/>
          </p:spPr>
          <p:txBody>
            <a:bodyPr/>
            <a:lstStyle/>
            <a:p>
              <a:endParaRPr lang="zh-CN" altLang="en-US"/>
            </a:p>
          </p:txBody>
        </p:sp>
        <p:sp>
          <p:nvSpPr>
            <p:cNvPr id="26641" name="Line 19"/>
            <p:cNvSpPr>
              <a:spLocks noChangeShapeType="1"/>
            </p:cNvSpPr>
            <p:nvPr/>
          </p:nvSpPr>
          <p:spPr bwMode="auto">
            <a:xfrm>
              <a:off x="4089" y="571"/>
              <a:ext cx="0" cy="466"/>
            </a:xfrm>
            <a:prstGeom prst="line">
              <a:avLst/>
            </a:prstGeom>
            <a:noFill/>
            <a:ln w="38100">
              <a:solidFill>
                <a:srgbClr val="CC00CC"/>
              </a:solidFill>
              <a:round/>
              <a:headEnd/>
              <a:tailEnd/>
            </a:ln>
            <a:effectLst/>
          </p:spPr>
          <p:txBody>
            <a:bodyPr/>
            <a:lstStyle/>
            <a:p>
              <a:endParaRPr lang="zh-CN" altLang="en-US"/>
            </a:p>
          </p:txBody>
        </p:sp>
        <p:sp>
          <p:nvSpPr>
            <p:cNvPr id="26642" name="Line 20"/>
            <p:cNvSpPr>
              <a:spLocks noChangeShapeType="1"/>
            </p:cNvSpPr>
            <p:nvPr/>
          </p:nvSpPr>
          <p:spPr bwMode="auto">
            <a:xfrm>
              <a:off x="4290" y="571"/>
              <a:ext cx="0" cy="466"/>
            </a:xfrm>
            <a:prstGeom prst="line">
              <a:avLst/>
            </a:prstGeom>
            <a:noFill/>
            <a:ln w="38100">
              <a:solidFill>
                <a:srgbClr val="666699"/>
              </a:solidFill>
              <a:round/>
              <a:headEnd/>
              <a:tailEnd/>
            </a:ln>
            <a:effectLst/>
          </p:spPr>
          <p:txBody>
            <a:bodyPr/>
            <a:lstStyle/>
            <a:p>
              <a:endParaRPr lang="zh-CN" altLang="en-US"/>
            </a:p>
          </p:txBody>
        </p:sp>
        <p:sp>
          <p:nvSpPr>
            <p:cNvPr id="26643" name="Line 21"/>
            <p:cNvSpPr>
              <a:spLocks noChangeShapeType="1"/>
            </p:cNvSpPr>
            <p:nvPr/>
          </p:nvSpPr>
          <p:spPr bwMode="auto">
            <a:xfrm>
              <a:off x="4347" y="571"/>
              <a:ext cx="0" cy="466"/>
            </a:xfrm>
            <a:prstGeom prst="line">
              <a:avLst/>
            </a:prstGeom>
            <a:noFill/>
            <a:ln w="38100">
              <a:solidFill>
                <a:srgbClr val="666699"/>
              </a:solidFill>
              <a:round/>
              <a:headEnd/>
              <a:tailEnd/>
            </a:ln>
            <a:effectLst/>
          </p:spPr>
          <p:txBody>
            <a:bodyPr/>
            <a:lstStyle/>
            <a:p>
              <a:endParaRPr lang="zh-CN" altLang="en-US"/>
            </a:p>
          </p:txBody>
        </p:sp>
        <p:sp>
          <p:nvSpPr>
            <p:cNvPr id="26644" name="Line 22"/>
            <p:cNvSpPr>
              <a:spLocks noChangeShapeType="1"/>
            </p:cNvSpPr>
            <p:nvPr/>
          </p:nvSpPr>
          <p:spPr bwMode="auto">
            <a:xfrm>
              <a:off x="4404" y="571"/>
              <a:ext cx="0" cy="466"/>
            </a:xfrm>
            <a:prstGeom prst="line">
              <a:avLst/>
            </a:prstGeom>
            <a:noFill/>
            <a:ln w="38100">
              <a:solidFill>
                <a:srgbClr val="666699"/>
              </a:solidFill>
              <a:round/>
              <a:headEnd/>
              <a:tailEnd/>
            </a:ln>
            <a:effectLst/>
          </p:spPr>
          <p:txBody>
            <a:bodyPr/>
            <a:lstStyle/>
            <a:p>
              <a:endParaRPr lang="zh-CN" altLang="en-US"/>
            </a:p>
          </p:txBody>
        </p:sp>
        <p:sp>
          <p:nvSpPr>
            <p:cNvPr id="26645" name="Line 23"/>
            <p:cNvSpPr>
              <a:spLocks noChangeShapeType="1"/>
            </p:cNvSpPr>
            <p:nvPr/>
          </p:nvSpPr>
          <p:spPr bwMode="auto">
            <a:xfrm>
              <a:off x="4433" y="571"/>
              <a:ext cx="0" cy="466"/>
            </a:xfrm>
            <a:prstGeom prst="line">
              <a:avLst/>
            </a:prstGeom>
            <a:noFill/>
            <a:ln w="38100">
              <a:solidFill>
                <a:srgbClr val="666699"/>
              </a:solidFill>
              <a:round/>
              <a:headEnd/>
              <a:tailEnd/>
            </a:ln>
            <a:effectLst/>
          </p:spPr>
          <p:txBody>
            <a:bodyPr/>
            <a:lstStyle/>
            <a:p>
              <a:endParaRPr lang="zh-CN" altLang="en-US"/>
            </a:p>
          </p:txBody>
        </p:sp>
        <p:sp>
          <p:nvSpPr>
            <p:cNvPr id="26646" name="Line 24"/>
            <p:cNvSpPr>
              <a:spLocks noChangeShapeType="1"/>
            </p:cNvSpPr>
            <p:nvPr/>
          </p:nvSpPr>
          <p:spPr bwMode="auto">
            <a:xfrm>
              <a:off x="4470" y="596"/>
              <a:ext cx="0" cy="458"/>
            </a:xfrm>
            <a:prstGeom prst="line">
              <a:avLst/>
            </a:prstGeom>
            <a:noFill/>
            <a:ln w="9525">
              <a:noFill/>
              <a:round/>
              <a:headEnd/>
              <a:tailEnd/>
            </a:ln>
            <a:effectLst/>
          </p:spPr>
          <p:txBody>
            <a:bodyPr/>
            <a:lstStyle/>
            <a:p>
              <a:endParaRPr lang="zh-CN" altLang="en-US"/>
            </a:p>
          </p:txBody>
        </p:sp>
        <p:sp>
          <p:nvSpPr>
            <p:cNvPr id="26647" name="Line 25"/>
            <p:cNvSpPr>
              <a:spLocks noChangeShapeType="1"/>
            </p:cNvSpPr>
            <p:nvPr/>
          </p:nvSpPr>
          <p:spPr bwMode="auto">
            <a:xfrm>
              <a:off x="4454" y="570"/>
              <a:ext cx="0" cy="457"/>
            </a:xfrm>
            <a:prstGeom prst="line">
              <a:avLst/>
            </a:prstGeom>
            <a:noFill/>
            <a:ln w="9525">
              <a:solidFill>
                <a:schemeClr val="tx1"/>
              </a:solidFill>
              <a:round/>
              <a:headEnd/>
              <a:tailEnd/>
            </a:ln>
            <a:effectLst/>
          </p:spPr>
          <p:txBody>
            <a:bodyPr/>
            <a:lstStyle/>
            <a:p>
              <a:endParaRPr lang="zh-CN" altLang="en-US"/>
            </a:p>
          </p:txBody>
        </p:sp>
      </p:grpSp>
      <p:sp>
        <p:nvSpPr>
          <p:cNvPr id="26" name="Text Box 6"/>
          <p:cNvSpPr txBox="1">
            <a:spLocks noChangeArrowheads="1"/>
          </p:cNvSpPr>
          <p:nvPr/>
        </p:nvSpPr>
        <p:spPr bwMode="auto">
          <a:xfrm>
            <a:off x="158750" y="447675"/>
            <a:ext cx="7002463" cy="457200"/>
          </a:xfrm>
          <a:prstGeom prst="rect">
            <a:avLst/>
          </a:prstGeom>
          <a:noFill/>
          <a:ln w="9525">
            <a:noFill/>
            <a:miter lim="800000"/>
            <a:headEnd/>
            <a:tailEnd/>
          </a:ln>
          <a:effectLst/>
        </p:spPr>
        <p:txBody>
          <a:bodyPr>
            <a:spAutoFit/>
          </a:bodyPr>
          <a:lstStyle/>
          <a:p>
            <a:r>
              <a:rPr lang="en-US" altLang="zh-CN" b="1" dirty="0" smtClean="0">
                <a:solidFill>
                  <a:srgbClr val="3333CC"/>
                </a:solidFill>
              </a:rPr>
              <a:t>13.3.1 </a:t>
            </a:r>
            <a:r>
              <a:rPr lang="zh-CN" altLang="en-US" b="1" dirty="0" smtClean="0">
                <a:solidFill>
                  <a:srgbClr val="3333CC"/>
                </a:solidFill>
              </a:rPr>
              <a:t>氢原子</a:t>
            </a:r>
            <a:r>
              <a:rPr lang="zh-CN" altLang="en-US" b="1" dirty="0">
                <a:solidFill>
                  <a:srgbClr val="3333CC"/>
                </a:solidFill>
              </a:rPr>
              <a:t>光谱的实验规律</a:t>
            </a:r>
          </a:p>
        </p:txBody>
      </p:sp>
    </p:spTree>
  </p:cSld>
  <p:clrMapOvr>
    <a:overrideClrMapping bg1="dk2" tx1="lt1" bg2="dk1" tx2="lt2" accent1="accent1" accent2="accent2" accent3="accent3" accent4="accent4" accent5="accent5" accent6="accent6" hlink="hlink" folHlink="folHlink"/>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3673"/>
                                        </p:tgtEl>
                                        <p:attrNameLst>
                                          <p:attrName>style.visibility</p:attrName>
                                        </p:attrNameLst>
                                      </p:cBhvr>
                                      <p:to>
                                        <p:strVal val="visible"/>
                                      </p:to>
                                    </p:set>
                                    <p:animEffect transition="in" filter="wipe(left)">
                                      <p:cBhvr>
                                        <p:cTn id="7" dur="500"/>
                                        <p:tgtEl>
                                          <p:spTgt spid="113673"/>
                                        </p:tgtEl>
                                      </p:cBhvr>
                                    </p:animEffect>
                                  </p:childTnLst>
                                </p:cTn>
                              </p:par>
                            </p:childTnLst>
                          </p:cTn>
                        </p:par>
                        <p:par>
                          <p:cTn id="8" fill="hold" nodeType="afterGroup">
                            <p:stCondLst>
                              <p:cond delay="500"/>
                            </p:stCondLst>
                            <p:childTnLst>
                              <p:par>
                                <p:cTn id="9" presetID="4" presetClass="entr" presetSubtype="32" fill="hold" nodeType="afterEffect">
                                  <p:stCondLst>
                                    <p:cond delay="0"/>
                                  </p:stCondLst>
                                  <p:childTnLst>
                                    <p:set>
                                      <p:cBhvr>
                                        <p:cTn id="10" dur="1" fill="hold">
                                          <p:stCondLst>
                                            <p:cond delay="0"/>
                                          </p:stCondLst>
                                        </p:cTn>
                                        <p:tgtEl>
                                          <p:spTgt spid="113690"/>
                                        </p:tgtEl>
                                        <p:attrNameLst>
                                          <p:attrName>style.visibility</p:attrName>
                                        </p:attrNameLst>
                                      </p:cBhvr>
                                      <p:to>
                                        <p:strVal val="visible"/>
                                      </p:to>
                                    </p:set>
                                    <p:animEffect transition="in" filter="box(out)">
                                      <p:cBhvr>
                                        <p:cTn id="11" dur="500"/>
                                        <p:tgtEl>
                                          <p:spTgt spid="11369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3670"/>
                                        </p:tgtEl>
                                        <p:attrNameLst>
                                          <p:attrName>style.visibility</p:attrName>
                                        </p:attrNameLst>
                                      </p:cBhvr>
                                      <p:to>
                                        <p:strVal val="visible"/>
                                      </p:to>
                                    </p:set>
                                    <p:animEffect transition="in" filter="wipe(left)">
                                      <p:cBhvr>
                                        <p:cTn id="16" dur="500"/>
                                        <p:tgtEl>
                                          <p:spTgt spid="11367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13666"/>
                                        </p:tgtEl>
                                        <p:attrNameLst>
                                          <p:attrName>style.visibility</p:attrName>
                                        </p:attrNameLst>
                                      </p:cBhvr>
                                      <p:to>
                                        <p:strVal val="visible"/>
                                      </p:to>
                                    </p:set>
                                    <p:animEffect transition="in" filter="wipe(left)">
                                      <p:cBhvr>
                                        <p:cTn id="21" dur="500"/>
                                        <p:tgtEl>
                                          <p:spTgt spid="11366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3676"/>
                                        </p:tgtEl>
                                        <p:attrNameLst>
                                          <p:attrName>style.visibility</p:attrName>
                                        </p:attrNameLst>
                                      </p:cBhvr>
                                      <p:to>
                                        <p:strVal val="visible"/>
                                      </p:to>
                                    </p:set>
                                    <p:animEffect transition="in" filter="wipe(left)">
                                      <p:cBhvr>
                                        <p:cTn id="26" dur="500"/>
                                        <p:tgtEl>
                                          <p:spTgt spid="11367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3667"/>
                                        </p:tgtEl>
                                        <p:attrNameLst>
                                          <p:attrName>style.visibility</p:attrName>
                                        </p:attrNameLst>
                                      </p:cBhvr>
                                      <p:to>
                                        <p:strVal val="visible"/>
                                      </p:to>
                                    </p:set>
                                    <p:animEffect transition="in" filter="wipe(left)">
                                      <p:cBhvr>
                                        <p:cTn id="31" dur="500"/>
                                        <p:tgtEl>
                                          <p:spTgt spid="113667"/>
                                        </p:tgtEl>
                                      </p:cBhvr>
                                    </p:animEffect>
                                  </p:childTnLst>
                                </p:cTn>
                              </p:par>
                            </p:childTnLst>
                          </p:cTn>
                        </p:par>
                        <p:par>
                          <p:cTn id="32" fill="hold" nodeType="afterGroup">
                            <p:stCondLst>
                              <p:cond delay="500"/>
                            </p:stCondLst>
                            <p:childTnLst>
                              <p:par>
                                <p:cTn id="33" presetID="22" presetClass="entr" presetSubtype="8" fill="hold" nodeType="afterEffect">
                                  <p:stCondLst>
                                    <p:cond delay="0"/>
                                  </p:stCondLst>
                                  <p:childTnLst>
                                    <p:set>
                                      <p:cBhvr>
                                        <p:cTn id="34" dur="1" fill="hold">
                                          <p:stCondLst>
                                            <p:cond delay="0"/>
                                          </p:stCondLst>
                                        </p:cTn>
                                        <p:tgtEl>
                                          <p:spTgt spid="113668"/>
                                        </p:tgtEl>
                                        <p:attrNameLst>
                                          <p:attrName>style.visibility</p:attrName>
                                        </p:attrNameLst>
                                      </p:cBhvr>
                                      <p:to>
                                        <p:strVal val="visible"/>
                                      </p:to>
                                    </p:set>
                                    <p:animEffect transition="in" filter="wipe(left)">
                                      <p:cBhvr>
                                        <p:cTn id="35" dur="500"/>
                                        <p:tgtEl>
                                          <p:spTgt spid="11366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13669"/>
                                        </p:tgtEl>
                                        <p:attrNameLst>
                                          <p:attrName>style.visibility</p:attrName>
                                        </p:attrNameLst>
                                      </p:cBhvr>
                                      <p:to>
                                        <p:strVal val="visible"/>
                                      </p:to>
                                    </p:set>
                                    <p:animEffect transition="in" filter="wipe(left)">
                                      <p:cBhvr>
                                        <p:cTn id="40" dur="500"/>
                                        <p:tgtEl>
                                          <p:spTgt spid="11366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13671"/>
                                        </p:tgtEl>
                                        <p:attrNameLst>
                                          <p:attrName>style.visibility</p:attrName>
                                        </p:attrNameLst>
                                      </p:cBhvr>
                                      <p:to>
                                        <p:strVal val="visible"/>
                                      </p:to>
                                    </p:set>
                                    <p:animEffect transition="in" filter="wipe(left)">
                                      <p:cBhvr>
                                        <p:cTn id="45" dur="500"/>
                                        <p:tgtEl>
                                          <p:spTgt spid="11367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13677"/>
                                        </p:tgtEl>
                                        <p:attrNameLst>
                                          <p:attrName>style.visibility</p:attrName>
                                        </p:attrNameLst>
                                      </p:cBhvr>
                                      <p:to>
                                        <p:strVal val="visible"/>
                                      </p:to>
                                    </p:set>
                                    <p:animEffect transition="in" filter="wipe(left)">
                                      <p:cBhvr>
                                        <p:cTn id="50" dur="500"/>
                                        <p:tgtEl>
                                          <p:spTgt spid="11367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wipe(left)">
                                      <p:cBhvr>
                                        <p:cTn id="5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autoUpdateAnimBg="0"/>
      <p:bldP spid="113669" grpId="0" autoUpdateAnimBg="0"/>
      <p:bldP spid="113670" grpId="0" autoUpdateAnimBg="0"/>
      <p:bldP spid="113671" grpId="0" autoUpdateAnimBg="0"/>
      <p:bldP spid="113673" grpId="0" autoUpdateAnimBg="0"/>
      <p:bldP spid="113676" grpId="0" autoUpdateAnimBg="0"/>
      <p:bldP spid="113677" grpId="0"/>
      <p:bldP spid="2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4690" name="Object 2"/>
          <p:cNvGraphicFramePr>
            <a:graphicFrameLocks noChangeAspect="1"/>
          </p:cNvGraphicFramePr>
          <p:nvPr/>
        </p:nvGraphicFramePr>
        <p:xfrm>
          <a:off x="1466850" y="5634038"/>
          <a:ext cx="1662113" cy="730250"/>
        </p:xfrm>
        <a:graphic>
          <a:graphicData uri="http://schemas.openxmlformats.org/presentationml/2006/ole">
            <p:oleObj spid="_x0000_s27650" name="公式" r:id="rId4" imgW="773640" imgH="334440" progId="Equation.3">
              <p:embed/>
            </p:oleObj>
          </a:graphicData>
        </a:graphic>
      </p:graphicFrame>
      <p:sp>
        <p:nvSpPr>
          <p:cNvPr id="114691" name="Rectangle 3"/>
          <p:cNvSpPr>
            <a:spLocks noChangeArrowheads="1"/>
          </p:cNvSpPr>
          <p:nvPr/>
        </p:nvSpPr>
        <p:spPr bwMode="auto">
          <a:xfrm>
            <a:off x="457200" y="3967163"/>
            <a:ext cx="2376488" cy="457200"/>
          </a:xfrm>
          <a:prstGeom prst="rect">
            <a:avLst/>
          </a:prstGeom>
          <a:noFill/>
          <a:ln w="9525">
            <a:noFill/>
            <a:miter lim="800000"/>
            <a:headEnd/>
            <a:tailEnd/>
          </a:ln>
          <a:effectLst/>
        </p:spPr>
        <p:txBody>
          <a:bodyPr>
            <a:spAutoFit/>
          </a:bodyPr>
          <a:lstStyle/>
          <a:p>
            <a:r>
              <a:rPr lang="en-US" altLang="zh-CN" b="1">
                <a:solidFill>
                  <a:srgbClr val="FF0000"/>
                </a:solidFill>
                <a:latin typeface="宋体" charset="-122"/>
              </a:rPr>
              <a:t>2.</a:t>
            </a:r>
            <a:r>
              <a:rPr lang="zh-CN" altLang="en-US" b="1">
                <a:solidFill>
                  <a:srgbClr val="FF0000"/>
                </a:solidFill>
                <a:latin typeface="宋体" charset="-122"/>
              </a:rPr>
              <a:t>频率假设</a:t>
            </a:r>
            <a:endParaRPr lang="zh-CN" altLang="en-US">
              <a:solidFill>
                <a:srgbClr val="FF0000"/>
              </a:solidFill>
              <a:latin typeface="宋体" charset="-122"/>
            </a:endParaRPr>
          </a:p>
        </p:txBody>
      </p:sp>
      <p:grpSp>
        <p:nvGrpSpPr>
          <p:cNvPr id="114692" name="Group 4"/>
          <p:cNvGrpSpPr>
            <a:grpSpLocks/>
          </p:cNvGrpSpPr>
          <p:nvPr/>
        </p:nvGrpSpPr>
        <p:grpSpPr bwMode="auto">
          <a:xfrm>
            <a:off x="5918200" y="4495800"/>
            <a:ext cx="2052638" cy="1511300"/>
            <a:chOff x="3728" y="2832"/>
            <a:chExt cx="1293" cy="952"/>
          </a:xfrm>
        </p:grpSpPr>
        <p:sp>
          <p:nvSpPr>
            <p:cNvPr id="27673" name="Line 5"/>
            <p:cNvSpPr>
              <a:spLocks noChangeShapeType="1"/>
            </p:cNvSpPr>
            <p:nvPr/>
          </p:nvSpPr>
          <p:spPr bwMode="auto">
            <a:xfrm>
              <a:off x="4013" y="2912"/>
              <a:ext cx="1008" cy="0"/>
            </a:xfrm>
            <a:prstGeom prst="line">
              <a:avLst/>
            </a:prstGeom>
            <a:noFill/>
            <a:ln w="38100">
              <a:solidFill>
                <a:schemeClr val="bg1"/>
              </a:solidFill>
              <a:round/>
              <a:headEnd/>
              <a:tailEnd/>
            </a:ln>
            <a:effectLst/>
          </p:spPr>
          <p:txBody>
            <a:bodyPr/>
            <a:lstStyle/>
            <a:p>
              <a:endParaRPr lang="zh-CN" altLang="en-US"/>
            </a:p>
          </p:txBody>
        </p:sp>
        <p:sp>
          <p:nvSpPr>
            <p:cNvPr id="27674" name="Line 6"/>
            <p:cNvSpPr>
              <a:spLocks noChangeShapeType="1"/>
            </p:cNvSpPr>
            <p:nvPr/>
          </p:nvSpPr>
          <p:spPr bwMode="auto">
            <a:xfrm>
              <a:off x="4013" y="3680"/>
              <a:ext cx="1008" cy="0"/>
            </a:xfrm>
            <a:prstGeom prst="line">
              <a:avLst/>
            </a:prstGeom>
            <a:noFill/>
            <a:ln w="38100">
              <a:solidFill>
                <a:schemeClr val="bg1"/>
              </a:solidFill>
              <a:round/>
              <a:headEnd/>
              <a:tailEnd/>
            </a:ln>
            <a:effectLst/>
          </p:spPr>
          <p:txBody>
            <a:bodyPr/>
            <a:lstStyle/>
            <a:p>
              <a:endParaRPr lang="zh-CN" altLang="en-US"/>
            </a:p>
          </p:txBody>
        </p:sp>
        <p:graphicFrame>
          <p:nvGraphicFramePr>
            <p:cNvPr id="27675" name="Object 7"/>
            <p:cNvGraphicFramePr>
              <a:graphicFrameLocks/>
            </p:cNvGraphicFramePr>
            <p:nvPr/>
          </p:nvGraphicFramePr>
          <p:xfrm>
            <a:off x="3728" y="2832"/>
            <a:ext cx="240" cy="952"/>
          </p:xfrm>
          <a:graphic>
            <a:graphicData uri="http://schemas.openxmlformats.org/presentationml/2006/ole">
              <p:oleObj spid="_x0000_s27675" name="Equation" r:id="rId5" imgW="309600" imgH="1280520" progId="Equation.3">
                <p:embed/>
              </p:oleObj>
            </a:graphicData>
          </a:graphic>
        </p:graphicFrame>
      </p:grpSp>
      <p:sp>
        <p:nvSpPr>
          <p:cNvPr id="114696" name="Line 8"/>
          <p:cNvSpPr>
            <a:spLocks noChangeShapeType="1"/>
          </p:cNvSpPr>
          <p:nvPr/>
        </p:nvSpPr>
        <p:spPr bwMode="auto">
          <a:xfrm>
            <a:off x="6996113" y="4856163"/>
            <a:ext cx="0" cy="838200"/>
          </a:xfrm>
          <a:prstGeom prst="line">
            <a:avLst/>
          </a:prstGeom>
          <a:noFill/>
          <a:ln w="38100">
            <a:solidFill>
              <a:srgbClr val="0000FF"/>
            </a:solidFill>
            <a:round/>
            <a:headEnd/>
            <a:tailEnd type="triangle" w="med" len="med"/>
          </a:ln>
          <a:effectLst/>
        </p:spPr>
        <p:txBody>
          <a:bodyPr/>
          <a:lstStyle/>
          <a:p>
            <a:endParaRPr lang="zh-CN" altLang="en-US"/>
          </a:p>
        </p:txBody>
      </p:sp>
      <p:grpSp>
        <p:nvGrpSpPr>
          <p:cNvPr id="114697" name="Group 9"/>
          <p:cNvGrpSpPr>
            <a:grpSpLocks/>
          </p:cNvGrpSpPr>
          <p:nvPr/>
        </p:nvGrpSpPr>
        <p:grpSpPr bwMode="auto">
          <a:xfrm>
            <a:off x="7307263" y="5084763"/>
            <a:ext cx="1152525" cy="288925"/>
            <a:chOff x="2562" y="1570"/>
            <a:chExt cx="3539" cy="1815"/>
          </a:xfrm>
        </p:grpSpPr>
        <p:sp>
          <p:nvSpPr>
            <p:cNvPr id="27671" name="Freeform 10"/>
            <p:cNvSpPr>
              <a:spLocks/>
            </p:cNvSpPr>
            <p:nvPr/>
          </p:nvSpPr>
          <p:spPr bwMode="auto">
            <a:xfrm rot="10773799">
              <a:off x="2562" y="1570"/>
              <a:ext cx="2569" cy="1815"/>
            </a:xfrm>
            <a:custGeom>
              <a:avLst/>
              <a:gdLst>
                <a:gd name="T0" fmla="*/ 2594 w 2544"/>
                <a:gd name="T1" fmla="*/ 3471 h 880"/>
                <a:gd name="T2" fmla="*/ 2350 w 2544"/>
                <a:gd name="T3" fmla="*/ 204 h 880"/>
                <a:gd name="T4" fmla="*/ 2056 w 2544"/>
                <a:gd name="T5" fmla="*/ 3471 h 880"/>
                <a:gd name="T6" fmla="*/ 1714 w 2544"/>
                <a:gd name="T7" fmla="*/ 204 h 880"/>
                <a:gd name="T8" fmla="*/ 1370 w 2544"/>
                <a:gd name="T9" fmla="*/ 3471 h 880"/>
                <a:gd name="T10" fmla="*/ 1126 w 2544"/>
                <a:gd name="T11" fmla="*/ 204 h 880"/>
                <a:gd name="T12" fmla="*/ 832 w 2544"/>
                <a:gd name="T13" fmla="*/ 3471 h 880"/>
                <a:gd name="T14" fmla="*/ 538 w 2544"/>
                <a:gd name="T15" fmla="*/ 0 h 880"/>
                <a:gd name="T16" fmla="*/ 196 w 2544"/>
                <a:gd name="T17" fmla="*/ 3471 h 880"/>
                <a:gd name="T18" fmla="*/ 0 w 2544"/>
                <a:gd name="T19" fmla="*/ 1634 h 8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544" h="880">
                  <a:moveTo>
                    <a:pt x="2544" y="816"/>
                  </a:moveTo>
                  <a:cubicBezTo>
                    <a:pt x="2468" y="432"/>
                    <a:pt x="2392" y="48"/>
                    <a:pt x="2304" y="48"/>
                  </a:cubicBezTo>
                  <a:cubicBezTo>
                    <a:pt x="2216" y="48"/>
                    <a:pt x="2120" y="816"/>
                    <a:pt x="2016" y="816"/>
                  </a:cubicBezTo>
                  <a:cubicBezTo>
                    <a:pt x="1912" y="816"/>
                    <a:pt x="1792" y="48"/>
                    <a:pt x="1680" y="48"/>
                  </a:cubicBezTo>
                  <a:cubicBezTo>
                    <a:pt x="1568" y="48"/>
                    <a:pt x="1440" y="816"/>
                    <a:pt x="1344" y="816"/>
                  </a:cubicBezTo>
                  <a:cubicBezTo>
                    <a:pt x="1248" y="816"/>
                    <a:pt x="1192" y="48"/>
                    <a:pt x="1104" y="48"/>
                  </a:cubicBezTo>
                  <a:cubicBezTo>
                    <a:pt x="1016" y="48"/>
                    <a:pt x="912" y="824"/>
                    <a:pt x="816" y="816"/>
                  </a:cubicBezTo>
                  <a:cubicBezTo>
                    <a:pt x="720" y="808"/>
                    <a:pt x="632" y="0"/>
                    <a:pt x="528" y="0"/>
                  </a:cubicBezTo>
                  <a:cubicBezTo>
                    <a:pt x="424" y="0"/>
                    <a:pt x="280" y="752"/>
                    <a:pt x="192" y="816"/>
                  </a:cubicBezTo>
                  <a:cubicBezTo>
                    <a:pt x="104" y="880"/>
                    <a:pt x="32" y="456"/>
                    <a:pt x="0" y="384"/>
                  </a:cubicBezTo>
                </a:path>
              </a:pathLst>
            </a:custGeom>
            <a:noFill/>
            <a:ln w="38100" cmpd="sng">
              <a:solidFill>
                <a:srgbClr val="FF6600"/>
              </a:solidFill>
              <a:round/>
              <a:headEnd/>
              <a:tailEnd/>
            </a:ln>
            <a:effectLst/>
          </p:spPr>
          <p:txBody>
            <a:bodyPr/>
            <a:lstStyle/>
            <a:p>
              <a:endParaRPr lang="zh-CN" altLang="en-US"/>
            </a:p>
          </p:txBody>
        </p:sp>
        <p:sp>
          <p:nvSpPr>
            <p:cNvPr id="27672" name="Line 11"/>
            <p:cNvSpPr>
              <a:spLocks noChangeShapeType="1"/>
            </p:cNvSpPr>
            <p:nvPr/>
          </p:nvSpPr>
          <p:spPr bwMode="auto">
            <a:xfrm>
              <a:off x="5138" y="2568"/>
              <a:ext cx="963" cy="0"/>
            </a:xfrm>
            <a:prstGeom prst="line">
              <a:avLst/>
            </a:prstGeom>
            <a:noFill/>
            <a:ln w="28575">
              <a:solidFill>
                <a:srgbClr val="FF6600"/>
              </a:solidFill>
              <a:round/>
              <a:headEnd/>
              <a:tailEnd type="triangle" w="med" len="lg"/>
            </a:ln>
            <a:effectLst/>
          </p:spPr>
          <p:txBody>
            <a:bodyPr/>
            <a:lstStyle/>
            <a:p>
              <a:endParaRPr lang="zh-CN" altLang="en-US"/>
            </a:p>
          </p:txBody>
        </p:sp>
      </p:grpSp>
      <p:sp>
        <p:nvSpPr>
          <p:cNvPr id="114700" name="Text Box 12"/>
          <p:cNvSpPr txBox="1">
            <a:spLocks noChangeArrowheads="1"/>
          </p:cNvSpPr>
          <p:nvPr/>
        </p:nvSpPr>
        <p:spPr bwMode="auto">
          <a:xfrm>
            <a:off x="161925" y="631825"/>
            <a:ext cx="4914900" cy="457200"/>
          </a:xfrm>
          <a:prstGeom prst="rect">
            <a:avLst/>
          </a:prstGeom>
          <a:noFill/>
          <a:ln w="9525">
            <a:noFill/>
            <a:miter lim="800000"/>
            <a:headEnd/>
            <a:tailEnd/>
          </a:ln>
          <a:effectLst/>
        </p:spPr>
        <p:txBody>
          <a:bodyPr>
            <a:spAutoFit/>
          </a:bodyPr>
          <a:lstStyle/>
          <a:p>
            <a:r>
              <a:rPr lang="en-US" altLang="zh-CN" b="1" dirty="0" smtClean="0">
                <a:solidFill>
                  <a:srgbClr val="3333CC"/>
                </a:solidFill>
                <a:cs typeface="Times New Roman" pitchFamily="18" charset="0"/>
              </a:rPr>
              <a:t>13.3.2</a:t>
            </a:r>
            <a:r>
              <a:rPr lang="en-US" altLang="zh-CN" b="1" dirty="0" smtClean="0">
                <a:solidFill>
                  <a:srgbClr val="3333CC"/>
                </a:solidFill>
                <a:latin typeface="宋体" charset="-122"/>
              </a:rPr>
              <a:t> </a:t>
            </a:r>
            <a:r>
              <a:rPr lang="zh-CN" altLang="en-US" b="1" dirty="0" smtClean="0">
                <a:solidFill>
                  <a:srgbClr val="3333CC"/>
                </a:solidFill>
                <a:latin typeface="宋体" charset="-122"/>
              </a:rPr>
              <a:t> </a:t>
            </a:r>
            <a:r>
              <a:rPr lang="zh-CN" altLang="en-US" b="1" dirty="0">
                <a:solidFill>
                  <a:srgbClr val="3333CC"/>
                </a:solidFill>
                <a:latin typeface="宋体" charset="-122"/>
              </a:rPr>
              <a:t>玻尔的氢原子理论</a:t>
            </a:r>
          </a:p>
        </p:txBody>
      </p:sp>
      <p:sp>
        <p:nvSpPr>
          <p:cNvPr id="114702" name="Rectangle 14"/>
          <p:cNvSpPr>
            <a:spLocks noChangeArrowheads="1"/>
          </p:cNvSpPr>
          <p:nvPr/>
        </p:nvSpPr>
        <p:spPr bwMode="auto">
          <a:xfrm>
            <a:off x="457200" y="1295400"/>
            <a:ext cx="1981200" cy="457200"/>
          </a:xfrm>
          <a:prstGeom prst="rect">
            <a:avLst/>
          </a:prstGeom>
          <a:noFill/>
          <a:ln w="9525">
            <a:noFill/>
            <a:miter lim="800000"/>
            <a:headEnd/>
            <a:tailEnd/>
          </a:ln>
          <a:effectLst/>
        </p:spPr>
        <p:txBody>
          <a:bodyPr>
            <a:spAutoFit/>
          </a:bodyPr>
          <a:lstStyle/>
          <a:p>
            <a:pPr marL="457200" indent="-457200"/>
            <a:r>
              <a:rPr lang="en-US" altLang="zh-CN" b="1">
                <a:solidFill>
                  <a:srgbClr val="FF0000"/>
                </a:solidFill>
                <a:latin typeface="宋体" charset="-122"/>
              </a:rPr>
              <a:t>1. </a:t>
            </a:r>
            <a:r>
              <a:rPr lang="zh-CN" altLang="en-US" b="1">
                <a:solidFill>
                  <a:srgbClr val="FF0000"/>
                </a:solidFill>
                <a:latin typeface="宋体" charset="-122"/>
              </a:rPr>
              <a:t>定态假设</a:t>
            </a:r>
          </a:p>
        </p:txBody>
      </p:sp>
      <p:sp>
        <p:nvSpPr>
          <p:cNvPr id="114703" name="Rectangle 15"/>
          <p:cNvSpPr>
            <a:spLocks noChangeArrowheads="1"/>
          </p:cNvSpPr>
          <p:nvPr/>
        </p:nvSpPr>
        <p:spPr bwMode="auto">
          <a:xfrm>
            <a:off x="762000" y="4424363"/>
            <a:ext cx="4814888" cy="1041400"/>
          </a:xfrm>
          <a:prstGeom prst="rect">
            <a:avLst/>
          </a:prstGeom>
          <a:noFill/>
          <a:ln w="9525">
            <a:noFill/>
            <a:miter lim="800000"/>
            <a:headEnd/>
            <a:tailEnd/>
          </a:ln>
          <a:effectLst/>
        </p:spPr>
        <p:txBody>
          <a:bodyPr>
            <a:spAutoFit/>
          </a:bodyPr>
          <a:lstStyle/>
          <a:p>
            <a:pPr>
              <a:lnSpc>
                <a:spcPct val="130000"/>
              </a:lnSpc>
              <a:spcBef>
                <a:spcPct val="50000"/>
              </a:spcBef>
            </a:pPr>
            <a:r>
              <a:rPr lang="zh-CN" altLang="en-US" b="1">
                <a:solidFill>
                  <a:schemeClr val="bg1"/>
                </a:solidFill>
                <a:latin typeface="宋体" charset="-122"/>
              </a:rPr>
              <a:t>原子从一个定态跃迁到另一定态，会发射或吸收一个光子，频率为</a:t>
            </a:r>
          </a:p>
        </p:txBody>
      </p:sp>
      <p:sp>
        <p:nvSpPr>
          <p:cNvPr id="114704" name="Rectangle 16"/>
          <p:cNvSpPr>
            <a:spLocks noChangeArrowheads="1"/>
          </p:cNvSpPr>
          <p:nvPr/>
        </p:nvSpPr>
        <p:spPr bwMode="auto">
          <a:xfrm>
            <a:off x="1295400" y="2036763"/>
            <a:ext cx="533400" cy="1562100"/>
          </a:xfrm>
          <a:prstGeom prst="rect">
            <a:avLst/>
          </a:prstGeom>
          <a:solidFill>
            <a:srgbClr val="CCFFFF"/>
          </a:solidFill>
          <a:ln w="9525">
            <a:solidFill>
              <a:srgbClr val="00FFFF"/>
            </a:solidFill>
            <a:miter lim="800000"/>
            <a:headEnd/>
            <a:tailEnd/>
          </a:ln>
          <a:effectLst/>
        </p:spPr>
        <p:txBody>
          <a:bodyPr>
            <a:spAutoFit/>
          </a:bodyPr>
          <a:lstStyle/>
          <a:p>
            <a:pPr>
              <a:spcBef>
                <a:spcPct val="50000"/>
              </a:spcBef>
            </a:pPr>
            <a:r>
              <a:rPr lang="zh-CN" altLang="en-US" b="1">
                <a:solidFill>
                  <a:schemeClr val="bg1"/>
                </a:solidFill>
                <a:latin typeface="宋体" charset="-122"/>
              </a:rPr>
              <a:t>稳定状态</a:t>
            </a:r>
          </a:p>
        </p:txBody>
      </p:sp>
      <p:sp>
        <p:nvSpPr>
          <p:cNvPr id="114705" name="Rectangle 17"/>
          <p:cNvSpPr>
            <a:spLocks noChangeArrowheads="1"/>
          </p:cNvSpPr>
          <p:nvPr/>
        </p:nvSpPr>
        <p:spPr bwMode="auto">
          <a:xfrm>
            <a:off x="1981200" y="3200400"/>
            <a:ext cx="4256088" cy="457200"/>
          </a:xfrm>
          <a:prstGeom prst="rect">
            <a:avLst/>
          </a:prstGeom>
          <a:noFill/>
          <a:ln w="9525">
            <a:noFill/>
            <a:miter lim="800000"/>
            <a:headEnd/>
            <a:tailEnd/>
          </a:ln>
          <a:effectLst/>
        </p:spPr>
        <p:txBody>
          <a:bodyPr>
            <a:spAutoFit/>
          </a:bodyPr>
          <a:lstStyle/>
          <a:p>
            <a:pPr>
              <a:buFontTx/>
              <a:buChar char="•"/>
            </a:pPr>
            <a:r>
              <a:rPr lang="en-US" altLang="zh-CN" b="1">
                <a:solidFill>
                  <a:schemeClr val="bg1"/>
                </a:solidFill>
                <a:latin typeface="宋体" charset="-122"/>
              </a:rPr>
              <a:t> </a:t>
            </a:r>
            <a:r>
              <a:rPr lang="zh-CN" altLang="en-US" b="1">
                <a:solidFill>
                  <a:schemeClr val="bg1"/>
                </a:solidFill>
                <a:latin typeface="宋体" charset="-122"/>
              </a:rPr>
              <a:t>这些定态的能量不连续</a:t>
            </a:r>
          </a:p>
        </p:txBody>
      </p:sp>
      <p:sp>
        <p:nvSpPr>
          <p:cNvPr id="114706" name="Rectangle 18"/>
          <p:cNvSpPr>
            <a:spLocks noChangeArrowheads="1"/>
          </p:cNvSpPr>
          <p:nvPr/>
        </p:nvSpPr>
        <p:spPr bwMode="auto">
          <a:xfrm>
            <a:off x="1981200" y="2590800"/>
            <a:ext cx="3670300" cy="457200"/>
          </a:xfrm>
          <a:prstGeom prst="rect">
            <a:avLst/>
          </a:prstGeom>
          <a:noFill/>
          <a:ln w="9525">
            <a:noFill/>
            <a:miter lim="800000"/>
            <a:headEnd/>
            <a:tailEnd/>
          </a:ln>
          <a:effectLst/>
        </p:spPr>
        <p:txBody>
          <a:bodyPr>
            <a:spAutoFit/>
          </a:bodyPr>
          <a:lstStyle/>
          <a:p>
            <a:pPr>
              <a:spcBef>
                <a:spcPct val="50000"/>
              </a:spcBef>
              <a:buFontTx/>
              <a:buChar char="•"/>
            </a:pPr>
            <a:r>
              <a:rPr lang="en-US" altLang="zh-CN" b="1">
                <a:solidFill>
                  <a:schemeClr val="bg1"/>
                </a:solidFill>
                <a:latin typeface="宋体" charset="-122"/>
              </a:rPr>
              <a:t> </a:t>
            </a:r>
            <a:r>
              <a:rPr lang="zh-CN" altLang="en-US" b="1">
                <a:solidFill>
                  <a:schemeClr val="bg1"/>
                </a:solidFill>
                <a:latin typeface="宋体" charset="-122"/>
              </a:rPr>
              <a:t>不辐射电磁波</a:t>
            </a:r>
          </a:p>
        </p:txBody>
      </p:sp>
      <p:sp>
        <p:nvSpPr>
          <p:cNvPr id="114707" name="Rectangle 19"/>
          <p:cNvSpPr>
            <a:spLocks noChangeArrowheads="1"/>
          </p:cNvSpPr>
          <p:nvPr/>
        </p:nvSpPr>
        <p:spPr bwMode="auto">
          <a:xfrm>
            <a:off x="1981200" y="1981200"/>
            <a:ext cx="3446463" cy="457200"/>
          </a:xfrm>
          <a:prstGeom prst="rect">
            <a:avLst/>
          </a:prstGeom>
          <a:noFill/>
          <a:ln w="9525">
            <a:noFill/>
            <a:miter lim="800000"/>
            <a:headEnd/>
            <a:tailEnd/>
          </a:ln>
          <a:effectLst/>
        </p:spPr>
        <p:txBody>
          <a:bodyPr>
            <a:spAutoFit/>
          </a:bodyPr>
          <a:lstStyle/>
          <a:p>
            <a:pPr>
              <a:buFontTx/>
              <a:buChar char="•"/>
            </a:pPr>
            <a:r>
              <a:rPr lang="en-US" altLang="zh-CN" b="1">
                <a:solidFill>
                  <a:schemeClr val="bg1"/>
                </a:solidFill>
                <a:latin typeface="宋体" charset="-122"/>
              </a:rPr>
              <a:t> </a:t>
            </a:r>
            <a:r>
              <a:rPr lang="zh-CN" altLang="en-US" b="1">
                <a:solidFill>
                  <a:schemeClr val="bg1"/>
                </a:solidFill>
                <a:latin typeface="宋体" charset="-122"/>
              </a:rPr>
              <a:t>电子作圆周运动</a:t>
            </a:r>
          </a:p>
        </p:txBody>
      </p:sp>
      <p:sp>
        <p:nvSpPr>
          <p:cNvPr id="114708" name="Text Box 20"/>
          <p:cNvSpPr txBox="1">
            <a:spLocks noChangeArrowheads="1"/>
          </p:cNvSpPr>
          <p:nvPr/>
        </p:nvSpPr>
        <p:spPr bwMode="auto">
          <a:xfrm>
            <a:off x="8210550" y="5157788"/>
            <a:ext cx="609600" cy="579437"/>
          </a:xfrm>
          <a:prstGeom prst="rect">
            <a:avLst/>
          </a:prstGeom>
          <a:noFill/>
          <a:ln w="9525">
            <a:noFill/>
            <a:miter lim="800000"/>
            <a:headEnd/>
            <a:tailEnd/>
          </a:ln>
          <a:effectLst/>
        </p:spPr>
        <p:txBody>
          <a:bodyPr>
            <a:spAutoFit/>
          </a:bodyPr>
          <a:lstStyle/>
          <a:p>
            <a:pPr>
              <a:spcBef>
                <a:spcPct val="50000"/>
              </a:spcBef>
            </a:pPr>
            <a:r>
              <a:rPr lang="en-US" altLang="zh-CN" sz="3200" i="1">
                <a:solidFill>
                  <a:srgbClr val="FF6600"/>
                </a:solidFill>
              </a:rPr>
              <a:t>v</a:t>
            </a:r>
          </a:p>
        </p:txBody>
      </p:sp>
      <p:sp>
        <p:nvSpPr>
          <p:cNvPr id="114709" name="Rectangle 21"/>
          <p:cNvSpPr>
            <a:spLocks noChangeArrowheads="1"/>
          </p:cNvSpPr>
          <p:nvPr/>
        </p:nvSpPr>
        <p:spPr bwMode="auto">
          <a:xfrm>
            <a:off x="3446463" y="5678488"/>
            <a:ext cx="2114550" cy="488950"/>
          </a:xfrm>
          <a:prstGeom prst="rect">
            <a:avLst/>
          </a:prstGeom>
          <a:noFill/>
          <a:ln w="9525">
            <a:noFill/>
            <a:miter lim="800000"/>
            <a:headEnd/>
            <a:tailEnd/>
          </a:ln>
          <a:effectLst/>
        </p:spPr>
        <p:txBody>
          <a:bodyPr>
            <a:spAutoFit/>
          </a:bodyPr>
          <a:lstStyle/>
          <a:p>
            <a:pPr>
              <a:lnSpc>
                <a:spcPct val="130000"/>
              </a:lnSpc>
              <a:spcBef>
                <a:spcPct val="50000"/>
              </a:spcBef>
            </a:pPr>
            <a:r>
              <a:rPr lang="zh-CN" altLang="en-US" sz="2000" b="1">
                <a:solidFill>
                  <a:schemeClr val="accent2"/>
                </a:solidFill>
                <a:latin typeface="宋体" charset="-122"/>
              </a:rPr>
              <a:t>辐射频率公式</a:t>
            </a:r>
          </a:p>
        </p:txBody>
      </p:sp>
      <p:grpSp>
        <p:nvGrpSpPr>
          <p:cNvPr id="114716" name="Group 28"/>
          <p:cNvGrpSpPr>
            <a:grpSpLocks/>
          </p:cNvGrpSpPr>
          <p:nvPr/>
        </p:nvGrpSpPr>
        <p:grpSpPr bwMode="auto">
          <a:xfrm>
            <a:off x="6102350" y="1314450"/>
            <a:ext cx="2205038" cy="2454275"/>
            <a:chOff x="3844" y="828"/>
            <a:chExt cx="1389" cy="1546"/>
          </a:xfrm>
        </p:grpSpPr>
        <p:grpSp>
          <p:nvGrpSpPr>
            <p:cNvPr id="27665" name="Group 24"/>
            <p:cNvGrpSpPr>
              <a:grpSpLocks/>
            </p:cNvGrpSpPr>
            <p:nvPr/>
          </p:nvGrpSpPr>
          <p:grpSpPr bwMode="auto">
            <a:xfrm>
              <a:off x="3844" y="828"/>
              <a:ext cx="1389" cy="1332"/>
              <a:chOff x="4014" y="828"/>
              <a:chExt cx="1389" cy="1332"/>
            </a:xfrm>
          </p:grpSpPr>
          <p:sp>
            <p:nvSpPr>
              <p:cNvPr id="27669" name="AutoShape 22"/>
              <p:cNvSpPr>
                <a:spLocks noChangeArrowheads="1"/>
              </p:cNvSpPr>
              <p:nvPr/>
            </p:nvSpPr>
            <p:spPr bwMode="auto">
              <a:xfrm>
                <a:off x="4014" y="828"/>
                <a:ext cx="1389" cy="1332"/>
              </a:xfrm>
              <a:custGeom>
                <a:avLst/>
                <a:gdLst>
                  <a:gd name="T0" fmla="*/ 45 w 21600"/>
                  <a:gd name="T1" fmla="*/ 0 h 21600"/>
                  <a:gd name="T2" fmla="*/ 13 w 21600"/>
                  <a:gd name="T3" fmla="*/ 12 h 21600"/>
                  <a:gd name="T4" fmla="*/ 0 w 21600"/>
                  <a:gd name="T5" fmla="*/ 41 h 21600"/>
                  <a:gd name="T6" fmla="*/ 13 w 21600"/>
                  <a:gd name="T7" fmla="*/ 70 h 21600"/>
                  <a:gd name="T8" fmla="*/ 45 w 21600"/>
                  <a:gd name="T9" fmla="*/ 82 h 21600"/>
                  <a:gd name="T10" fmla="*/ 76 w 21600"/>
                  <a:gd name="T11" fmla="*/ 70 h 21600"/>
                  <a:gd name="T12" fmla="*/ 89 w 21600"/>
                  <a:gd name="T13" fmla="*/ 41 h 21600"/>
                  <a:gd name="T14" fmla="*/ 76 w 21600"/>
                  <a:gd name="T15" fmla="*/ 12 h 21600"/>
                  <a:gd name="T16" fmla="*/ 0 60000 65536"/>
                  <a:gd name="T17" fmla="*/ 0 60000 65536"/>
                  <a:gd name="T18" fmla="*/ 0 60000 65536"/>
                  <a:gd name="T19" fmla="*/ 0 60000 65536"/>
                  <a:gd name="T20" fmla="*/ 0 60000 65536"/>
                  <a:gd name="T21" fmla="*/ 0 60000 65536"/>
                  <a:gd name="T22" fmla="*/ 0 60000 65536"/>
                  <a:gd name="T23" fmla="*/ 0 60000 65536"/>
                  <a:gd name="T24" fmla="*/ 3157 w 21600"/>
                  <a:gd name="T25" fmla="*/ 3162 h 21600"/>
                  <a:gd name="T26" fmla="*/ 18443 w 21600"/>
                  <a:gd name="T27" fmla="*/ 18438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15875">
                <a:solidFill>
                  <a:srgbClr val="0000FF"/>
                </a:solidFill>
                <a:round/>
                <a:headEnd/>
                <a:tailEnd/>
              </a:ln>
              <a:effectLst/>
            </p:spPr>
            <p:txBody>
              <a:bodyPr wrap="none" anchor="ctr"/>
              <a:lstStyle/>
              <a:p>
                <a:endParaRPr lang="zh-CN" altLang="en-US"/>
              </a:p>
            </p:txBody>
          </p:sp>
          <p:sp>
            <p:nvSpPr>
              <p:cNvPr id="27670" name="Oval 23"/>
              <p:cNvSpPr>
                <a:spLocks noChangeArrowheads="1"/>
              </p:cNvSpPr>
              <p:nvPr/>
            </p:nvSpPr>
            <p:spPr bwMode="auto">
              <a:xfrm>
                <a:off x="4620" y="1399"/>
                <a:ext cx="198" cy="198"/>
              </a:xfrm>
              <a:prstGeom prst="ellipse">
                <a:avLst/>
              </a:prstGeom>
              <a:solidFill>
                <a:schemeClr val="accent1"/>
              </a:solidFill>
              <a:ln w="15875">
                <a:solidFill>
                  <a:srgbClr val="0000FF"/>
                </a:solidFill>
                <a:round/>
                <a:headEnd/>
                <a:tailEnd/>
              </a:ln>
              <a:effectLst/>
            </p:spPr>
            <p:txBody>
              <a:bodyPr wrap="none" anchor="ctr"/>
              <a:lstStyle/>
              <a:p>
                <a:endParaRPr lang="zh-CN" altLang="en-US"/>
              </a:p>
            </p:txBody>
          </p:sp>
        </p:grpSp>
        <p:sp>
          <p:nvSpPr>
            <p:cNvPr id="27666" name="Text Box 25"/>
            <p:cNvSpPr txBox="1">
              <a:spLocks noChangeArrowheads="1"/>
            </p:cNvSpPr>
            <p:nvPr/>
          </p:nvSpPr>
          <p:spPr bwMode="auto">
            <a:xfrm>
              <a:off x="4439" y="1464"/>
              <a:ext cx="510" cy="327"/>
            </a:xfrm>
            <a:prstGeom prst="rect">
              <a:avLst/>
            </a:prstGeom>
            <a:noFill/>
            <a:ln w="9525">
              <a:noFill/>
              <a:miter lim="800000"/>
              <a:headEnd/>
              <a:tailEnd/>
            </a:ln>
            <a:effectLst/>
          </p:spPr>
          <p:txBody>
            <a:bodyPr>
              <a:spAutoFit/>
            </a:bodyPr>
            <a:lstStyle/>
            <a:p>
              <a:pPr>
                <a:spcBef>
                  <a:spcPct val="50000"/>
                </a:spcBef>
              </a:pPr>
              <a:r>
                <a:rPr lang="en-US" altLang="zh-CN" sz="2800" i="1">
                  <a:solidFill>
                    <a:srgbClr val="FF6600"/>
                  </a:solidFill>
                </a:rPr>
                <a:t>r</a:t>
              </a:r>
              <a:r>
                <a:rPr lang="en-US" altLang="zh-CN" baseline="-25000">
                  <a:solidFill>
                    <a:srgbClr val="FF6600"/>
                  </a:solidFill>
                </a:rPr>
                <a:t>1</a:t>
              </a:r>
            </a:p>
          </p:txBody>
        </p:sp>
        <p:sp>
          <p:nvSpPr>
            <p:cNvPr id="27667" name="Text Box 26"/>
            <p:cNvSpPr txBox="1">
              <a:spLocks noChangeArrowheads="1"/>
            </p:cNvSpPr>
            <p:nvPr/>
          </p:nvSpPr>
          <p:spPr bwMode="auto">
            <a:xfrm>
              <a:off x="4440" y="1706"/>
              <a:ext cx="510" cy="327"/>
            </a:xfrm>
            <a:prstGeom prst="rect">
              <a:avLst/>
            </a:prstGeom>
            <a:noFill/>
            <a:ln w="9525">
              <a:noFill/>
              <a:miter lim="800000"/>
              <a:headEnd/>
              <a:tailEnd/>
            </a:ln>
            <a:effectLst/>
          </p:spPr>
          <p:txBody>
            <a:bodyPr>
              <a:spAutoFit/>
            </a:bodyPr>
            <a:lstStyle/>
            <a:p>
              <a:pPr>
                <a:spcBef>
                  <a:spcPct val="50000"/>
                </a:spcBef>
              </a:pPr>
              <a:r>
                <a:rPr lang="en-US" altLang="zh-CN" sz="2800" i="1">
                  <a:solidFill>
                    <a:srgbClr val="FF6600"/>
                  </a:solidFill>
                </a:rPr>
                <a:t>r</a:t>
              </a:r>
              <a:r>
                <a:rPr lang="en-US" altLang="zh-CN" baseline="-25000">
                  <a:solidFill>
                    <a:srgbClr val="FF6600"/>
                  </a:solidFill>
                </a:rPr>
                <a:t>2</a:t>
              </a:r>
            </a:p>
          </p:txBody>
        </p:sp>
        <p:sp>
          <p:nvSpPr>
            <p:cNvPr id="27668" name="Text Box 27"/>
            <p:cNvSpPr txBox="1">
              <a:spLocks noChangeArrowheads="1"/>
            </p:cNvSpPr>
            <p:nvPr/>
          </p:nvSpPr>
          <p:spPr bwMode="auto">
            <a:xfrm>
              <a:off x="4326" y="2047"/>
              <a:ext cx="510" cy="327"/>
            </a:xfrm>
            <a:prstGeom prst="rect">
              <a:avLst/>
            </a:prstGeom>
            <a:noFill/>
            <a:ln w="9525">
              <a:noFill/>
              <a:miter lim="800000"/>
              <a:headEnd/>
              <a:tailEnd/>
            </a:ln>
            <a:effectLst/>
          </p:spPr>
          <p:txBody>
            <a:bodyPr>
              <a:spAutoFit/>
            </a:bodyPr>
            <a:lstStyle/>
            <a:p>
              <a:pPr algn="ctr">
                <a:spcBef>
                  <a:spcPct val="50000"/>
                </a:spcBef>
              </a:pPr>
              <a:r>
                <a:rPr lang="en-US" altLang="zh-CN" sz="2800" i="1">
                  <a:solidFill>
                    <a:srgbClr val="FF6600"/>
                  </a:solidFill>
                </a:rPr>
                <a:t>r</a:t>
              </a:r>
              <a:r>
                <a:rPr lang="en-US" altLang="zh-CN" baseline="-25000">
                  <a:solidFill>
                    <a:srgbClr val="FF6600"/>
                  </a:solidFill>
                </a:rPr>
                <a:t>3</a:t>
              </a:r>
            </a:p>
          </p:txBody>
        </p:sp>
      </p:grpSp>
    </p:spTree>
  </p:cSld>
  <p:clrMapOvr>
    <a:overrideClrMapping bg1="dk2" tx1="lt1" bg2="dk1" tx2="lt2" accent1="accent1" accent2="accent2" accent3="accent3" accent4="accent4" accent5="accent5" accent6="accent6" hlink="hlink" folHlink="folHlink"/>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700"/>
                                        </p:tgtEl>
                                        <p:attrNameLst>
                                          <p:attrName>style.visibility</p:attrName>
                                        </p:attrNameLst>
                                      </p:cBhvr>
                                      <p:to>
                                        <p:strVal val="visible"/>
                                      </p:to>
                                    </p:set>
                                    <p:animEffect transition="in" filter="wipe(left)">
                                      <p:cBhvr>
                                        <p:cTn id="7" dur="500"/>
                                        <p:tgtEl>
                                          <p:spTgt spid="1147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4702"/>
                                        </p:tgtEl>
                                        <p:attrNameLst>
                                          <p:attrName>style.visibility</p:attrName>
                                        </p:attrNameLst>
                                      </p:cBhvr>
                                      <p:to>
                                        <p:strVal val="visible"/>
                                      </p:to>
                                    </p:set>
                                    <p:animEffect transition="in" filter="wipe(left)">
                                      <p:cBhvr>
                                        <p:cTn id="12" dur="500"/>
                                        <p:tgtEl>
                                          <p:spTgt spid="1147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4704"/>
                                        </p:tgtEl>
                                        <p:attrNameLst>
                                          <p:attrName>style.visibility</p:attrName>
                                        </p:attrNameLst>
                                      </p:cBhvr>
                                      <p:to>
                                        <p:strVal val="visible"/>
                                      </p:to>
                                    </p:set>
                                    <p:anim calcmode="lin" valueType="num">
                                      <p:cBhvr additive="base">
                                        <p:cTn id="17" dur="500" fill="hold"/>
                                        <p:tgtEl>
                                          <p:spTgt spid="114704"/>
                                        </p:tgtEl>
                                        <p:attrNameLst>
                                          <p:attrName>ppt_x</p:attrName>
                                        </p:attrNameLst>
                                      </p:cBhvr>
                                      <p:tavLst>
                                        <p:tav tm="0">
                                          <p:val>
                                            <p:strVal val="#ppt_x"/>
                                          </p:val>
                                        </p:tav>
                                        <p:tav tm="100000">
                                          <p:val>
                                            <p:strVal val="#ppt_x"/>
                                          </p:val>
                                        </p:tav>
                                      </p:tavLst>
                                    </p:anim>
                                    <p:anim calcmode="lin" valueType="num">
                                      <p:cBhvr additive="base">
                                        <p:cTn id="18" dur="500" fill="hold"/>
                                        <p:tgtEl>
                                          <p:spTgt spid="114704"/>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114707"/>
                                        </p:tgtEl>
                                        <p:attrNameLst>
                                          <p:attrName>style.visibility</p:attrName>
                                        </p:attrNameLst>
                                      </p:cBhvr>
                                      <p:to>
                                        <p:strVal val="visible"/>
                                      </p:to>
                                    </p:set>
                                    <p:animEffect transition="in" filter="slide(fromLeft)">
                                      <p:cBhvr>
                                        <p:cTn id="23" dur="500"/>
                                        <p:tgtEl>
                                          <p:spTgt spid="114707"/>
                                        </p:tgtEl>
                                      </p:cBhvr>
                                    </p:animEffect>
                                  </p:childTnLst>
                                </p:cTn>
                              </p:par>
                            </p:childTnLst>
                          </p:cTn>
                        </p:par>
                        <p:par>
                          <p:cTn id="24" fill="hold" nodeType="afterGroup">
                            <p:stCondLst>
                              <p:cond delay="500"/>
                            </p:stCondLst>
                            <p:childTnLst>
                              <p:par>
                                <p:cTn id="25" presetID="12" presetClass="entr" presetSubtype="8" fill="hold" grpId="0" nodeType="afterEffect">
                                  <p:stCondLst>
                                    <p:cond delay="500"/>
                                  </p:stCondLst>
                                  <p:childTnLst>
                                    <p:set>
                                      <p:cBhvr>
                                        <p:cTn id="26" dur="1" fill="hold">
                                          <p:stCondLst>
                                            <p:cond delay="0"/>
                                          </p:stCondLst>
                                        </p:cTn>
                                        <p:tgtEl>
                                          <p:spTgt spid="114706"/>
                                        </p:tgtEl>
                                        <p:attrNameLst>
                                          <p:attrName>style.visibility</p:attrName>
                                        </p:attrNameLst>
                                      </p:cBhvr>
                                      <p:to>
                                        <p:strVal val="visible"/>
                                      </p:to>
                                    </p:set>
                                    <p:animEffect transition="in" filter="slide(fromLeft)">
                                      <p:cBhvr>
                                        <p:cTn id="27" dur="500"/>
                                        <p:tgtEl>
                                          <p:spTgt spid="114706"/>
                                        </p:tgtEl>
                                      </p:cBhvr>
                                    </p:animEffect>
                                  </p:childTnLst>
                                </p:cTn>
                              </p:par>
                            </p:childTnLst>
                          </p:cTn>
                        </p:par>
                        <p:par>
                          <p:cTn id="28" fill="hold" nodeType="afterGroup">
                            <p:stCondLst>
                              <p:cond delay="1500"/>
                            </p:stCondLst>
                            <p:childTnLst>
                              <p:par>
                                <p:cTn id="29" presetID="12" presetClass="entr" presetSubtype="8" fill="hold" grpId="0" nodeType="afterEffect">
                                  <p:stCondLst>
                                    <p:cond delay="500"/>
                                  </p:stCondLst>
                                  <p:childTnLst>
                                    <p:set>
                                      <p:cBhvr>
                                        <p:cTn id="30" dur="1" fill="hold">
                                          <p:stCondLst>
                                            <p:cond delay="0"/>
                                          </p:stCondLst>
                                        </p:cTn>
                                        <p:tgtEl>
                                          <p:spTgt spid="114705"/>
                                        </p:tgtEl>
                                        <p:attrNameLst>
                                          <p:attrName>style.visibility</p:attrName>
                                        </p:attrNameLst>
                                      </p:cBhvr>
                                      <p:to>
                                        <p:strVal val="visible"/>
                                      </p:to>
                                    </p:set>
                                    <p:animEffect transition="in" filter="slide(fromLeft)">
                                      <p:cBhvr>
                                        <p:cTn id="31" dur="500"/>
                                        <p:tgtEl>
                                          <p:spTgt spid="11470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32" fill="hold" nodeType="clickEffect">
                                  <p:stCondLst>
                                    <p:cond delay="0"/>
                                  </p:stCondLst>
                                  <p:childTnLst>
                                    <p:set>
                                      <p:cBhvr>
                                        <p:cTn id="35" dur="1" fill="hold">
                                          <p:stCondLst>
                                            <p:cond delay="0"/>
                                          </p:stCondLst>
                                        </p:cTn>
                                        <p:tgtEl>
                                          <p:spTgt spid="114716"/>
                                        </p:tgtEl>
                                        <p:attrNameLst>
                                          <p:attrName>style.visibility</p:attrName>
                                        </p:attrNameLst>
                                      </p:cBhvr>
                                      <p:to>
                                        <p:strVal val="visible"/>
                                      </p:to>
                                    </p:set>
                                    <p:animEffect transition="in" filter="box(out)">
                                      <p:cBhvr>
                                        <p:cTn id="36" dur="500"/>
                                        <p:tgtEl>
                                          <p:spTgt spid="11471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8" fill="hold" grpId="0" nodeType="clickEffect">
                                  <p:stCondLst>
                                    <p:cond delay="0"/>
                                  </p:stCondLst>
                                  <p:childTnLst>
                                    <p:set>
                                      <p:cBhvr>
                                        <p:cTn id="40" dur="1" fill="hold">
                                          <p:stCondLst>
                                            <p:cond delay="0"/>
                                          </p:stCondLst>
                                        </p:cTn>
                                        <p:tgtEl>
                                          <p:spTgt spid="114691"/>
                                        </p:tgtEl>
                                        <p:attrNameLst>
                                          <p:attrName>style.visibility</p:attrName>
                                        </p:attrNameLst>
                                      </p:cBhvr>
                                      <p:to>
                                        <p:strVal val="visible"/>
                                      </p:to>
                                    </p:set>
                                    <p:animEffect transition="in" filter="slide(fromLeft)">
                                      <p:cBhvr>
                                        <p:cTn id="41" dur="500"/>
                                        <p:tgtEl>
                                          <p:spTgt spid="11469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114692"/>
                                        </p:tgtEl>
                                        <p:attrNameLst>
                                          <p:attrName>style.visibility</p:attrName>
                                        </p:attrNameLst>
                                      </p:cBhvr>
                                      <p:to>
                                        <p:strVal val="visible"/>
                                      </p:to>
                                    </p:set>
                                    <p:animEffect transition="in" filter="dissolve">
                                      <p:cBhvr>
                                        <p:cTn id="46" dur="500"/>
                                        <p:tgtEl>
                                          <p:spTgt spid="11469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1" fill="hold" grpId="0" nodeType="clickEffect">
                                  <p:stCondLst>
                                    <p:cond delay="0"/>
                                  </p:stCondLst>
                                  <p:childTnLst>
                                    <p:set>
                                      <p:cBhvr>
                                        <p:cTn id="50" dur="1" fill="hold">
                                          <p:stCondLst>
                                            <p:cond delay="0"/>
                                          </p:stCondLst>
                                        </p:cTn>
                                        <p:tgtEl>
                                          <p:spTgt spid="114696"/>
                                        </p:tgtEl>
                                        <p:attrNameLst>
                                          <p:attrName>style.visibility</p:attrName>
                                        </p:attrNameLst>
                                      </p:cBhvr>
                                      <p:to>
                                        <p:strVal val="visible"/>
                                      </p:to>
                                    </p:set>
                                    <p:animEffect transition="in" filter="slide(fromTop)">
                                      <p:cBhvr>
                                        <p:cTn id="51" dur="500"/>
                                        <p:tgtEl>
                                          <p:spTgt spid="114696"/>
                                        </p:tgtEl>
                                      </p:cBhvr>
                                    </p:animEffect>
                                  </p:childTnLst>
                                </p:cTn>
                              </p:par>
                              <p:par>
                                <p:cTn id="52" presetID="12" presetClass="entr" presetSubtype="8" fill="hold" nodeType="withEffect">
                                  <p:stCondLst>
                                    <p:cond delay="0"/>
                                  </p:stCondLst>
                                  <p:childTnLst>
                                    <p:set>
                                      <p:cBhvr>
                                        <p:cTn id="53" dur="1" fill="hold">
                                          <p:stCondLst>
                                            <p:cond delay="0"/>
                                          </p:stCondLst>
                                        </p:cTn>
                                        <p:tgtEl>
                                          <p:spTgt spid="114697"/>
                                        </p:tgtEl>
                                        <p:attrNameLst>
                                          <p:attrName>style.visibility</p:attrName>
                                        </p:attrNameLst>
                                      </p:cBhvr>
                                      <p:to>
                                        <p:strVal val="visible"/>
                                      </p:to>
                                    </p:set>
                                    <p:animEffect transition="in" filter="slide(fromLeft)">
                                      <p:cBhvr>
                                        <p:cTn id="54" dur="500"/>
                                        <p:tgtEl>
                                          <p:spTgt spid="114697"/>
                                        </p:tgtEl>
                                      </p:cBhvr>
                                    </p:animEffect>
                                  </p:childTnLst>
                                </p:cTn>
                              </p:par>
                            </p:childTnLst>
                          </p:cTn>
                        </p:par>
                        <p:par>
                          <p:cTn id="55" fill="hold" nodeType="afterGroup">
                            <p:stCondLst>
                              <p:cond delay="500"/>
                            </p:stCondLst>
                            <p:childTnLst>
                              <p:par>
                                <p:cTn id="56" presetID="1" presetClass="entr" presetSubtype="0" fill="hold" grpId="0" nodeType="afterEffect">
                                  <p:stCondLst>
                                    <p:cond delay="0"/>
                                  </p:stCondLst>
                                  <p:childTnLst>
                                    <p:set>
                                      <p:cBhvr>
                                        <p:cTn id="57" dur="1" fill="hold">
                                          <p:stCondLst>
                                            <p:cond delay="499"/>
                                          </p:stCondLst>
                                        </p:cTn>
                                        <p:tgtEl>
                                          <p:spTgt spid="114708"/>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499"/>
                                          </p:stCondLst>
                                        </p:cTn>
                                        <p:tgtEl>
                                          <p:spTgt spid="114703"/>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2" presetClass="entr" presetSubtype="2" fill="hold" nodeType="clickEffect">
                                  <p:stCondLst>
                                    <p:cond delay="0"/>
                                  </p:stCondLst>
                                  <p:childTnLst>
                                    <p:set>
                                      <p:cBhvr>
                                        <p:cTn id="65" dur="1" fill="hold">
                                          <p:stCondLst>
                                            <p:cond delay="0"/>
                                          </p:stCondLst>
                                        </p:cTn>
                                        <p:tgtEl>
                                          <p:spTgt spid="114690"/>
                                        </p:tgtEl>
                                        <p:attrNameLst>
                                          <p:attrName>style.visibility</p:attrName>
                                        </p:attrNameLst>
                                      </p:cBhvr>
                                      <p:to>
                                        <p:strVal val="visible"/>
                                      </p:to>
                                    </p:set>
                                    <p:animEffect transition="in" filter="slide(fromRight)">
                                      <p:cBhvr>
                                        <p:cTn id="66" dur="500"/>
                                        <p:tgtEl>
                                          <p:spTgt spid="11469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1147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autoUpdateAnimBg="0"/>
      <p:bldP spid="114696" grpId="0" animBg="1"/>
      <p:bldP spid="114700" grpId="0"/>
      <p:bldP spid="114702" grpId="0"/>
      <p:bldP spid="114703" grpId="0" autoUpdateAnimBg="0"/>
      <p:bldP spid="114704" grpId="0" animBg="1"/>
      <p:bldP spid="114705" grpId="0" autoUpdateAnimBg="0"/>
      <p:bldP spid="114706" grpId="0" autoUpdateAnimBg="0"/>
      <p:bldP spid="114707" grpId="0" autoUpdateAnimBg="0"/>
      <p:bldP spid="114708" grpId="0" autoUpdateAnimBg="0"/>
      <p:bldP spid="114709"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7" name="Rectangle 5"/>
          <p:cNvSpPr>
            <a:spLocks noChangeArrowheads="1"/>
          </p:cNvSpPr>
          <p:nvPr/>
        </p:nvSpPr>
        <p:spPr bwMode="auto">
          <a:xfrm>
            <a:off x="690563" y="2162175"/>
            <a:ext cx="2667000"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向心力是库仑力 </a:t>
            </a:r>
          </a:p>
        </p:txBody>
      </p:sp>
      <p:graphicFrame>
        <p:nvGraphicFramePr>
          <p:cNvPr id="115718" name="Object 6"/>
          <p:cNvGraphicFramePr>
            <a:graphicFrameLocks noChangeAspect="1"/>
          </p:cNvGraphicFramePr>
          <p:nvPr/>
        </p:nvGraphicFramePr>
        <p:xfrm>
          <a:off x="3459163" y="2033588"/>
          <a:ext cx="1878012" cy="823912"/>
        </p:xfrm>
        <a:graphic>
          <a:graphicData uri="http://schemas.openxmlformats.org/presentationml/2006/ole">
            <p:oleObj spid="_x0000_s28675" name="公式" r:id="rId4" imgW="871200" imgH="375120" progId="Equation.3">
              <p:embed/>
            </p:oleObj>
          </a:graphicData>
        </a:graphic>
      </p:graphicFrame>
      <p:graphicFrame>
        <p:nvGraphicFramePr>
          <p:cNvPr id="115719" name="Object 7"/>
          <p:cNvGraphicFramePr>
            <a:graphicFrameLocks noChangeAspect="1"/>
          </p:cNvGraphicFramePr>
          <p:nvPr/>
        </p:nvGraphicFramePr>
        <p:xfrm>
          <a:off x="3459163" y="1089025"/>
          <a:ext cx="1878012" cy="730250"/>
        </p:xfrm>
        <a:graphic>
          <a:graphicData uri="http://schemas.openxmlformats.org/presentationml/2006/ole">
            <p:oleObj spid="_x0000_s28676" name="公式" r:id="rId5" imgW="871200" imgH="334440" progId="Equation.3">
              <p:embed/>
            </p:oleObj>
          </a:graphicData>
        </a:graphic>
      </p:graphicFrame>
      <p:sp>
        <p:nvSpPr>
          <p:cNvPr id="115720" name="Rectangle 8"/>
          <p:cNvSpPr>
            <a:spLocks noChangeArrowheads="1"/>
          </p:cNvSpPr>
          <p:nvPr/>
        </p:nvSpPr>
        <p:spPr bwMode="auto">
          <a:xfrm>
            <a:off x="611188" y="2997200"/>
            <a:ext cx="5638800"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由上两式得</a:t>
            </a:r>
            <a:r>
              <a:rPr lang="en-US" altLang="zh-CN" b="1">
                <a:solidFill>
                  <a:schemeClr val="bg1"/>
                </a:solidFill>
                <a:latin typeface="宋体" charset="-122"/>
              </a:rPr>
              <a:t>, </a:t>
            </a:r>
            <a:r>
              <a:rPr lang="zh-CN" altLang="en-US" b="1">
                <a:solidFill>
                  <a:schemeClr val="bg1"/>
                </a:solidFill>
                <a:latin typeface="宋体" charset="-122"/>
              </a:rPr>
              <a:t>第</a:t>
            </a:r>
            <a:r>
              <a:rPr lang="en-US" altLang="zh-CN" b="1" i="1">
                <a:solidFill>
                  <a:schemeClr val="accent2"/>
                </a:solidFill>
              </a:rPr>
              <a:t>n</a:t>
            </a:r>
            <a:r>
              <a:rPr lang="zh-CN" altLang="en-US" b="1">
                <a:solidFill>
                  <a:schemeClr val="bg1"/>
                </a:solidFill>
                <a:latin typeface="宋体" charset="-122"/>
              </a:rPr>
              <a:t>个定态的轨道半径为 </a:t>
            </a:r>
          </a:p>
        </p:txBody>
      </p:sp>
      <p:graphicFrame>
        <p:nvGraphicFramePr>
          <p:cNvPr id="115721" name="Object 9"/>
          <p:cNvGraphicFramePr>
            <a:graphicFrameLocks noChangeAspect="1"/>
          </p:cNvGraphicFramePr>
          <p:nvPr/>
        </p:nvGraphicFramePr>
        <p:xfrm>
          <a:off x="1106488" y="3608388"/>
          <a:ext cx="3987800" cy="755650"/>
        </p:xfrm>
        <a:graphic>
          <a:graphicData uri="http://schemas.openxmlformats.org/presentationml/2006/ole">
            <p:oleObj spid="_x0000_s28678" name="公式" r:id="rId6" imgW="1873080" imgH="342720" progId="Equation.3">
              <p:embed/>
            </p:oleObj>
          </a:graphicData>
        </a:graphic>
      </p:graphicFrame>
      <p:sp>
        <p:nvSpPr>
          <p:cNvPr id="115728" name="Rectangle 16"/>
          <p:cNvSpPr>
            <a:spLocks noChangeArrowheads="1"/>
          </p:cNvSpPr>
          <p:nvPr/>
        </p:nvSpPr>
        <p:spPr bwMode="auto">
          <a:xfrm>
            <a:off x="196850" y="541338"/>
            <a:ext cx="4375150" cy="457200"/>
          </a:xfrm>
          <a:prstGeom prst="rect">
            <a:avLst/>
          </a:prstGeom>
          <a:noFill/>
          <a:ln w="9525">
            <a:noFill/>
            <a:miter lim="800000"/>
            <a:headEnd/>
            <a:tailEnd/>
          </a:ln>
          <a:effectLst/>
        </p:spPr>
        <p:txBody>
          <a:bodyPr>
            <a:spAutoFit/>
          </a:bodyPr>
          <a:lstStyle/>
          <a:p>
            <a:pPr algn="just"/>
            <a:r>
              <a:rPr lang="en-US" altLang="zh-CN" b="1">
                <a:solidFill>
                  <a:srgbClr val="FF0000"/>
                </a:solidFill>
                <a:latin typeface="宋体" charset="-122"/>
              </a:rPr>
              <a:t>3.  </a:t>
            </a:r>
            <a:r>
              <a:rPr lang="zh-CN" altLang="en-US" b="1">
                <a:solidFill>
                  <a:srgbClr val="FF0000"/>
                </a:solidFill>
                <a:latin typeface="宋体" charset="-122"/>
              </a:rPr>
              <a:t>轨道角动量量子化假设     </a:t>
            </a:r>
          </a:p>
        </p:txBody>
      </p:sp>
      <p:graphicFrame>
        <p:nvGraphicFramePr>
          <p:cNvPr id="115729" name="Object 17"/>
          <p:cNvGraphicFramePr>
            <a:graphicFrameLocks noChangeAspect="1"/>
          </p:cNvGraphicFramePr>
          <p:nvPr/>
        </p:nvGraphicFramePr>
        <p:xfrm>
          <a:off x="2501900" y="4570413"/>
          <a:ext cx="1738313" cy="388937"/>
        </p:xfrm>
        <a:graphic>
          <a:graphicData uri="http://schemas.openxmlformats.org/presentationml/2006/ole">
            <p:oleObj spid="_x0000_s28680" name="公式" r:id="rId7" imgW="806040" imgH="171360" progId="Equation.3">
              <p:embed/>
            </p:oleObj>
          </a:graphicData>
        </a:graphic>
      </p:graphicFrame>
      <p:graphicFrame>
        <p:nvGraphicFramePr>
          <p:cNvPr id="115730" name="Object 18"/>
          <p:cNvGraphicFramePr>
            <a:graphicFrameLocks noChangeAspect="1"/>
          </p:cNvGraphicFramePr>
          <p:nvPr/>
        </p:nvGraphicFramePr>
        <p:xfrm>
          <a:off x="881063" y="5634038"/>
          <a:ext cx="2563812" cy="823912"/>
        </p:xfrm>
        <a:graphic>
          <a:graphicData uri="http://schemas.openxmlformats.org/presentationml/2006/ole">
            <p:oleObj spid="_x0000_s28681" name="公式" r:id="rId8" imgW="1221480" imgH="375120" progId="Equation.3">
              <p:embed/>
            </p:oleObj>
          </a:graphicData>
        </a:graphic>
      </p:graphicFrame>
      <p:sp>
        <p:nvSpPr>
          <p:cNvPr id="115731" name="Rectangle 19"/>
          <p:cNvSpPr>
            <a:spLocks noChangeArrowheads="1"/>
          </p:cNvSpPr>
          <p:nvPr/>
        </p:nvSpPr>
        <p:spPr bwMode="auto">
          <a:xfrm>
            <a:off x="762000" y="5157788"/>
            <a:ext cx="2324100"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氢原子能量</a:t>
            </a:r>
          </a:p>
        </p:txBody>
      </p:sp>
      <p:sp>
        <p:nvSpPr>
          <p:cNvPr id="115732" name="AutoShape 20"/>
          <p:cNvSpPr>
            <a:spLocks noChangeArrowheads="1"/>
          </p:cNvSpPr>
          <p:nvPr/>
        </p:nvSpPr>
        <p:spPr bwMode="auto">
          <a:xfrm>
            <a:off x="7451725" y="5949950"/>
            <a:ext cx="1358900" cy="431800"/>
          </a:xfrm>
          <a:prstGeom prst="wedgeRectCallout">
            <a:avLst>
              <a:gd name="adj1" fmla="val -65653"/>
              <a:gd name="adj2" fmla="val -72796"/>
            </a:avLst>
          </a:prstGeom>
          <a:solidFill>
            <a:srgbClr val="CCFFCC"/>
          </a:solidFill>
          <a:ln w="9525">
            <a:solidFill>
              <a:srgbClr val="00FF00"/>
            </a:solidFill>
            <a:miter lim="800000"/>
            <a:headEnd/>
            <a:tailEnd/>
          </a:ln>
          <a:effectLst/>
        </p:spPr>
        <p:txBody>
          <a:bodyPr/>
          <a:lstStyle/>
          <a:p>
            <a:pPr algn="ctr"/>
            <a:r>
              <a:rPr lang="en-US" altLang="zh-CN" sz="2000" b="1">
                <a:solidFill>
                  <a:srgbClr val="FF6600"/>
                </a:solidFill>
                <a:latin typeface="宋体" charset="-122"/>
              </a:rPr>
              <a:t>-13.6 eV</a:t>
            </a:r>
          </a:p>
        </p:txBody>
      </p:sp>
      <p:sp>
        <p:nvSpPr>
          <p:cNvPr id="115733" name="Rectangle 21"/>
          <p:cNvSpPr>
            <a:spLocks noChangeArrowheads="1"/>
          </p:cNvSpPr>
          <p:nvPr/>
        </p:nvSpPr>
        <p:spPr bwMode="auto">
          <a:xfrm>
            <a:off x="700088" y="1216025"/>
            <a:ext cx="2881312" cy="457200"/>
          </a:xfrm>
          <a:prstGeom prst="rect">
            <a:avLst/>
          </a:prstGeom>
          <a:noFill/>
          <a:ln w="9525">
            <a:noFill/>
            <a:miter lim="800000"/>
            <a:headEnd/>
            <a:tailEnd/>
          </a:ln>
          <a:effectLst/>
        </p:spPr>
        <p:txBody>
          <a:bodyPr>
            <a:spAutoFit/>
          </a:bodyPr>
          <a:lstStyle/>
          <a:p>
            <a:r>
              <a:rPr lang="zh-CN" altLang="en-US" b="1">
                <a:solidFill>
                  <a:srgbClr val="3333CC"/>
                </a:solidFill>
                <a:latin typeface="宋体" charset="-122"/>
              </a:rPr>
              <a:t>角动量量子化条件</a:t>
            </a:r>
          </a:p>
        </p:txBody>
      </p:sp>
      <p:sp>
        <p:nvSpPr>
          <p:cNvPr id="115734" name="Rectangle 22"/>
          <p:cNvSpPr>
            <a:spLocks noChangeArrowheads="1"/>
          </p:cNvSpPr>
          <p:nvPr/>
        </p:nvSpPr>
        <p:spPr bwMode="auto">
          <a:xfrm>
            <a:off x="755650" y="4508500"/>
            <a:ext cx="1881188"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玻尔半径</a:t>
            </a:r>
          </a:p>
        </p:txBody>
      </p:sp>
      <p:graphicFrame>
        <p:nvGraphicFramePr>
          <p:cNvPr id="115735" name="Object 23"/>
          <p:cNvGraphicFramePr>
            <a:graphicFrameLocks noChangeAspect="1"/>
          </p:cNvGraphicFramePr>
          <p:nvPr/>
        </p:nvGraphicFramePr>
        <p:xfrm>
          <a:off x="3402013" y="5634038"/>
          <a:ext cx="1443037" cy="825500"/>
        </p:xfrm>
        <a:graphic>
          <a:graphicData uri="http://schemas.openxmlformats.org/presentationml/2006/ole">
            <p:oleObj spid="_x0000_s28686" name="公式" r:id="rId9" imgW="667800" imgH="375120" progId="Equation.3">
              <p:embed/>
            </p:oleObj>
          </a:graphicData>
        </a:graphic>
      </p:graphicFrame>
      <p:graphicFrame>
        <p:nvGraphicFramePr>
          <p:cNvPr id="115736" name="Object 24"/>
          <p:cNvGraphicFramePr>
            <a:graphicFrameLocks noChangeAspect="1"/>
          </p:cNvGraphicFramePr>
          <p:nvPr/>
        </p:nvGraphicFramePr>
        <p:xfrm>
          <a:off x="6732588" y="5678488"/>
          <a:ext cx="661987" cy="730250"/>
        </p:xfrm>
        <a:graphic>
          <a:graphicData uri="http://schemas.openxmlformats.org/presentationml/2006/ole">
            <p:oleObj spid="_x0000_s28687" name="公式" r:id="rId10" imgW="301320" imgH="334440" progId="Equation.3">
              <p:embed/>
            </p:oleObj>
          </a:graphicData>
        </a:graphic>
      </p:graphicFrame>
      <p:graphicFrame>
        <p:nvGraphicFramePr>
          <p:cNvPr id="115737" name="Object 25"/>
          <p:cNvGraphicFramePr>
            <a:graphicFrameLocks noChangeAspect="1"/>
          </p:cNvGraphicFramePr>
          <p:nvPr/>
        </p:nvGraphicFramePr>
        <p:xfrm>
          <a:off x="4824413" y="5611813"/>
          <a:ext cx="1833562" cy="871537"/>
        </p:xfrm>
        <a:graphic>
          <a:graphicData uri="http://schemas.openxmlformats.org/presentationml/2006/ole">
            <p:oleObj spid="_x0000_s28688" name="公式" r:id="rId11" imgW="855000" imgH="399600" progId="Equation.3">
              <p:embed/>
            </p:oleObj>
          </a:graphicData>
        </a:graphic>
      </p:graphicFrame>
      <p:grpSp>
        <p:nvGrpSpPr>
          <p:cNvPr id="115751" name="Group 39"/>
          <p:cNvGrpSpPr>
            <a:grpSpLocks/>
          </p:cNvGrpSpPr>
          <p:nvPr/>
        </p:nvGrpSpPr>
        <p:grpSpPr bwMode="auto">
          <a:xfrm>
            <a:off x="6146800" y="2979738"/>
            <a:ext cx="2205038" cy="2454275"/>
            <a:chOff x="3872" y="1877"/>
            <a:chExt cx="1389" cy="1546"/>
          </a:xfrm>
        </p:grpSpPr>
        <p:grpSp>
          <p:nvGrpSpPr>
            <p:cNvPr id="28698" name="Group 27"/>
            <p:cNvGrpSpPr>
              <a:grpSpLocks/>
            </p:cNvGrpSpPr>
            <p:nvPr/>
          </p:nvGrpSpPr>
          <p:grpSpPr bwMode="auto">
            <a:xfrm>
              <a:off x="3872" y="1877"/>
              <a:ext cx="1389" cy="1332"/>
              <a:chOff x="4014" y="828"/>
              <a:chExt cx="1389" cy="1332"/>
            </a:xfrm>
          </p:grpSpPr>
          <p:sp>
            <p:nvSpPr>
              <p:cNvPr id="28702" name="AutoShape 28"/>
              <p:cNvSpPr>
                <a:spLocks noChangeArrowheads="1"/>
              </p:cNvSpPr>
              <p:nvPr/>
            </p:nvSpPr>
            <p:spPr bwMode="auto">
              <a:xfrm>
                <a:off x="4014" y="828"/>
                <a:ext cx="1389" cy="1332"/>
              </a:xfrm>
              <a:custGeom>
                <a:avLst/>
                <a:gdLst>
                  <a:gd name="T0" fmla="*/ 45 w 21600"/>
                  <a:gd name="T1" fmla="*/ 0 h 21600"/>
                  <a:gd name="T2" fmla="*/ 13 w 21600"/>
                  <a:gd name="T3" fmla="*/ 12 h 21600"/>
                  <a:gd name="T4" fmla="*/ 0 w 21600"/>
                  <a:gd name="T5" fmla="*/ 41 h 21600"/>
                  <a:gd name="T6" fmla="*/ 13 w 21600"/>
                  <a:gd name="T7" fmla="*/ 70 h 21600"/>
                  <a:gd name="T8" fmla="*/ 45 w 21600"/>
                  <a:gd name="T9" fmla="*/ 82 h 21600"/>
                  <a:gd name="T10" fmla="*/ 76 w 21600"/>
                  <a:gd name="T11" fmla="*/ 70 h 21600"/>
                  <a:gd name="T12" fmla="*/ 89 w 21600"/>
                  <a:gd name="T13" fmla="*/ 41 h 21600"/>
                  <a:gd name="T14" fmla="*/ 76 w 21600"/>
                  <a:gd name="T15" fmla="*/ 12 h 21600"/>
                  <a:gd name="T16" fmla="*/ 0 60000 65536"/>
                  <a:gd name="T17" fmla="*/ 0 60000 65536"/>
                  <a:gd name="T18" fmla="*/ 0 60000 65536"/>
                  <a:gd name="T19" fmla="*/ 0 60000 65536"/>
                  <a:gd name="T20" fmla="*/ 0 60000 65536"/>
                  <a:gd name="T21" fmla="*/ 0 60000 65536"/>
                  <a:gd name="T22" fmla="*/ 0 60000 65536"/>
                  <a:gd name="T23" fmla="*/ 0 60000 65536"/>
                  <a:gd name="T24" fmla="*/ 3157 w 21600"/>
                  <a:gd name="T25" fmla="*/ 3162 h 21600"/>
                  <a:gd name="T26" fmla="*/ 18443 w 21600"/>
                  <a:gd name="T27" fmla="*/ 18438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15875">
                <a:solidFill>
                  <a:srgbClr val="0000FF"/>
                </a:solidFill>
                <a:round/>
                <a:headEnd/>
                <a:tailEnd/>
              </a:ln>
              <a:effectLst/>
            </p:spPr>
            <p:txBody>
              <a:bodyPr wrap="none" anchor="ctr"/>
              <a:lstStyle/>
              <a:p>
                <a:endParaRPr lang="zh-CN" altLang="en-US"/>
              </a:p>
            </p:txBody>
          </p:sp>
          <p:sp>
            <p:nvSpPr>
              <p:cNvPr id="28703" name="Oval 29"/>
              <p:cNvSpPr>
                <a:spLocks noChangeArrowheads="1"/>
              </p:cNvSpPr>
              <p:nvPr/>
            </p:nvSpPr>
            <p:spPr bwMode="auto">
              <a:xfrm>
                <a:off x="4620" y="1399"/>
                <a:ext cx="198" cy="198"/>
              </a:xfrm>
              <a:prstGeom prst="ellipse">
                <a:avLst/>
              </a:prstGeom>
              <a:solidFill>
                <a:schemeClr val="accent1"/>
              </a:solidFill>
              <a:ln w="15875">
                <a:solidFill>
                  <a:srgbClr val="0000FF"/>
                </a:solidFill>
                <a:round/>
                <a:headEnd/>
                <a:tailEnd/>
              </a:ln>
              <a:effectLst/>
            </p:spPr>
            <p:txBody>
              <a:bodyPr wrap="none" anchor="ctr"/>
              <a:lstStyle/>
              <a:p>
                <a:endParaRPr lang="zh-CN" altLang="en-US"/>
              </a:p>
            </p:txBody>
          </p:sp>
        </p:grpSp>
        <p:sp>
          <p:nvSpPr>
            <p:cNvPr id="28699" name="Text Box 30"/>
            <p:cNvSpPr txBox="1">
              <a:spLocks noChangeArrowheads="1"/>
            </p:cNvSpPr>
            <p:nvPr/>
          </p:nvSpPr>
          <p:spPr bwMode="auto">
            <a:xfrm>
              <a:off x="4467" y="2513"/>
              <a:ext cx="510" cy="327"/>
            </a:xfrm>
            <a:prstGeom prst="rect">
              <a:avLst/>
            </a:prstGeom>
            <a:noFill/>
            <a:ln w="9525">
              <a:noFill/>
              <a:miter lim="800000"/>
              <a:headEnd/>
              <a:tailEnd/>
            </a:ln>
            <a:effectLst/>
          </p:spPr>
          <p:txBody>
            <a:bodyPr>
              <a:spAutoFit/>
            </a:bodyPr>
            <a:lstStyle/>
            <a:p>
              <a:pPr>
                <a:spcBef>
                  <a:spcPct val="50000"/>
                </a:spcBef>
              </a:pPr>
              <a:r>
                <a:rPr lang="en-US" altLang="zh-CN" sz="2800" i="1">
                  <a:solidFill>
                    <a:srgbClr val="FF6600"/>
                  </a:solidFill>
                </a:rPr>
                <a:t>r</a:t>
              </a:r>
              <a:r>
                <a:rPr lang="en-US" altLang="zh-CN" baseline="-25000">
                  <a:solidFill>
                    <a:srgbClr val="FF6600"/>
                  </a:solidFill>
                </a:rPr>
                <a:t>1</a:t>
              </a:r>
            </a:p>
          </p:txBody>
        </p:sp>
        <p:sp>
          <p:nvSpPr>
            <p:cNvPr id="28700" name="Text Box 31"/>
            <p:cNvSpPr txBox="1">
              <a:spLocks noChangeArrowheads="1"/>
            </p:cNvSpPr>
            <p:nvPr/>
          </p:nvSpPr>
          <p:spPr bwMode="auto">
            <a:xfrm>
              <a:off x="4297" y="2755"/>
              <a:ext cx="907" cy="327"/>
            </a:xfrm>
            <a:prstGeom prst="rect">
              <a:avLst/>
            </a:prstGeom>
            <a:noFill/>
            <a:ln w="9525">
              <a:noFill/>
              <a:miter lim="800000"/>
              <a:headEnd/>
              <a:tailEnd/>
            </a:ln>
            <a:effectLst/>
          </p:spPr>
          <p:txBody>
            <a:bodyPr>
              <a:spAutoFit/>
            </a:bodyPr>
            <a:lstStyle/>
            <a:p>
              <a:pPr>
                <a:spcBef>
                  <a:spcPct val="50000"/>
                </a:spcBef>
              </a:pPr>
              <a:r>
                <a:rPr lang="en-US" altLang="zh-CN" sz="2800" i="1">
                  <a:solidFill>
                    <a:srgbClr val="FF6600"/>
                  </a:solidFill>
                </a:rPr>
                <a:t>r</a:t>
              </a:r>
              <a:r>
                <a:rPr lang="en-US" altLang="zh-CN" baseline="-25000">
                  <a:solidFill>
                    <a:srgbClr val="FF6600"/>
                  </a:solidFill>
                </a:rPr>
                <a:t>2</a:t>
              </a:r>
              <a:r>
                <a:rPr lang="en-US" altLang="zh-CN">
                  <a:solidFill>
                    <a:srgbClr val="FF6600"/>
                  </a:solidFill>
                </a:rPr>
                <a:t>=4 </a:t>
              </a:r>
              <a:r>
                <a:rPr lang="en-US" altLang="zh-CN" i="1">
                  <a:solidFill>
                    <a:srgbClr val="FF6600"/>
                  </a:solidFill>
                </a:rPr>
                <a:t>r</a:t>
              </a:r>
              <a:r>
                <a:rPr lang="en-US" altLang="zh-CN" baseline="-25000">
                  <a:solidFill>
                    <a:srgbClr val="FF6600"/>
                  </a:solidFill>
                </a:rPr>
                <a:t>1</a:t>
              </a:r>
            </a:p>
          </p:txBody>
        </p:sp>
        <p:sp>
          <p:nvSpPr>
            <p:cNvPr id="28701" name="Text Box 32"/>
            <p:cNvSpPr txBox="1">
              <a:spLocks noChangeArrowheads="1"/>
            </p:cNvSpPr>
            <p:nvPr/>
          </p:nvSpPr>
          <p:spPr bwMode="auto">
            <a:xfrm>
              <a:off x="4042" y="3096"/>
              <a:ext cx="1191" cy="327"/>
            </a:xfrm>
            <a:prstGeom prst="rect">
              <a:avLst/>
            </a:prstGeom>
            <a:noFill/>
            <a:ln w="9525">
              <a:noFill/>
              <a:miter lim="800000"/>
              <a:headEnd/>
              <a:tailEnd/>
            </a:ln>
            <a:effectLst/>
          </p:spPr>
          <p:txBody>
            <a:bodyPr>
              <a:spAutoFit/>
            </a:bodyPr>
            <a:lstStyle/>
            <a:p>
              <a:pPr algn="ctr">
                <a:spcBef>
                  <a:spcPct val="50000"/>
                </a:spcBef>
              </a:pPr>
              <a:r>
                <a:rPr lang="en-US" altLang="zh-CN" sz="2800" i="1">
                  <a:solidFill>
                    <a:srgbClr val="FF6600"/>
                  </a:solidFill>
                </a:rPr>
                <a:t>r</a:t>
              </a:r>
              <a:r>
                <a:rPr lang="en-US" altLang="zh-CN" baseline="-25000">
                  <a:solidFill>
                    <a:srgbClr val="FF6600"/>
                  </a:solidFill>
                </a:rPr>
                <a:t>3</a:t>
              </a:r>
              <a:r>
                <a:rPr lang="en-US" altLang="zh-CN">
                  <a:solidFill>
                    <a:srgbClr val="FF6600"/>
                  </a:solidFill>
                </a:rPr>
                <a:t>=9 </a:t>
              </a:r>
              <a:r>
                <a:rPr lang="en-US" altLang="zh-CN" i="1">
                  <a:solidFill>
                    <a:srgbClr val="FF6600"/>
                  </a:solidFill>
                </a:rPr>
                <a:t>r</a:t>
              </a:r>
              <a:r>
                <a:rPr lang="en-US" altLang="zh-CN" baseline="-25000">
                  <a:solidFill>
                    <a:srgbClr val="FF6600"/>
                  </a:solidFill>
                </a:rPr>
                <a:t>1</a:t>
              </a:r>
            </a:p>
          </p:txBody>
        </p:sp>
      </p:grpSp>
      <p:grpSp>
        <p:nvGrpSpPr>
          <p:cNvPr id="115750" name="Group 38"/>
          <p:cNvGrpSpPr>
            <a:grpSpLocks/>
          </p:cNvGrpSpPr>
          <p:nvPr/>
        </p:nvGrpSpPr>
        <p:grpSpPr bwMode="auto">
          <a:xfrm>
            <a:off x="6057900" y="593725"/>
            <a:ext cx="2703513" cy="2070100"/>
            <a:chOff x="3816" y="374"/>
            <a:chExt cx="1703" cy="1304"/>
          </a:xfrm>
        </p:grpSpPr>
        <p:sp>
          <p:nvSpPr>
            <p:cNvPr id="28691" name="Oval 33"/>
            <p:cNvSpPr>
              <a:spLocks noChangeArrowheads="1"/>
            </p:cNvSpPr>
            <p:nvPr/>
          </p:nvSpPr>
          <p:spPr bwMode="auto">
            <a:xfrm>
              <a:off x="3816" y="374"/>
              <a:ext cx="1389" cy="1304"/>
            </a:xfrm>
            <a:prstGeom prst="ellipse">
              <a:avLst/>
            </a:prstGeom>
            <a:solidFill>
              <a:schemeClr val="accent1"/>
            </a:solidFill>
            <a:ln w="15875">
              <a:solidFill>
                <a:srgbClr val="0000FF"/>
              </a:solidFill>
              <a:round/>
              <a:headEnd/>
              <a:tailEnd/>
            </a:ln>
            <a:effectLst/>
          </p:spPr>
          <p:txBody>
            <a:bodyPr wrap="none" anchor="ctr"/>
            <a:lstStyle/>
            <a:p>
              <a:endParaRPr lang="zh-CN" altLang="en-US"/>
            </a:p>
          </p:txBody>
        </p:sp>
        <p:graphicFrame>
          <p:nvGraphicFramePr>
            <p:cNvPr id="28692" name="Object 3"/>
            <p:cNvGraphicFramePr>
              <a:graphicFrameLocks/>
            </p:cNvGraphicFramePr>
            <p:nvPr/>
          </p:nvGraphicFramePr>
          <p:xfrm>
            <a:off x="5375" y="771"/>
            <a:ext cx="144" cy="211"/>
          </p:xfrm>
          <a:graphic>
            <a:graphicData uri="http://schemas.openxmlformats.org/presentationml/2006/ole">
              <p:oleObj spid="_x0000_s28692" name="公式" r:id="rId12" imgW="179280" imgH="244800" progId="Equation.3">
                <p:embed/>
              </p:oleObj>
            </a:graphicData>
          </a:graphic>
        </p:graphicFrame>
        <p:sp>
          <p:nvSpPr>
            <p:cNvPr id="28693" name="Text Box 4"/>
            <p:cNvSpPr txBox="1">
              <a:spLocks noChangeArrowheads="1"/>
            </p:cNvSpPr>
            <p:nvPr/>
          </p:nvSpPr>
          <p:spPr bwMode="auto">
            <a:xfrm>
              <a:off x="4685" y="419"/>
              <a:ext cx="191" cy="288"/>
            </a:xfrm>
            <a:prstGeom prst="rect">
              <a:avLst/>
            </a:prstGeom>
            <a:noFill/>
            <a:ln w="9525">
              <a:noFill/>
              <a:miter lim="800000"/>
              <a:headEnd/>
              <a:tailEnd/>
            </a:ln>
            <a:effectLst/>
          </p:spPr>
          <p:txBody>
            <a:bodyPr wrap="none">
              <a:spAutoFit/>
            </a:bodyPr>
            <a:lstStyle/>
            <a:p>
              <a:r>
                <a:rPr lang="en-US" altLang="zh-CN" b="1" i="1">
                  <a:solidFill>
                    <a:schemeClr val="accent2"/>
                  </a:solidFill>
                </a:rPr>
                <a:t>r</a:t>
              </a:r>
            </a:p>
          </p:txBody>
        </p:sp>
        <p:sp>
          <p:nvSpPr>
            <p:cNvPr id="115746" name="Oval 34"/>
            <p:cNvSpPr>
              <a:spLocks noChangeArrowheads="1"/>
            </p:cNvSpPr>
            <p:nvPr/>
          </p:nvSpPr>
          <p:spPr bwMode="auto">
            <a:xfrm>
              <a:off x="4383" y="942"/>
              <a:ext cx="255" cy="226"/>
            </a:xfrm>
            <a:prstGeom prst="ellipse">
              <a:avLst/>
            </a:prstGeom>
            <a:gradFill rotWithShape="1">
              <a:gsLst>
                <a:gs pos="0">
                  <a:schemeClr val="accent2">
                    <a:alpha val="58000"/>
                  </a:schemeClr>
                </a:gs>
                <a:gs pos="100000">
                  <a:schemeClr val="accent2">
                    <a:gamma/>
                    <a:shade val="46275"/>
                    <a:invGamma/>
                  </a:schemeClr>
                </a:gs>
              </a:gsLst>
              <a:path path="shape">
                <a:fillToRect l="50000" t="50000" r="50000" b="50000"/>
              </a:path>
            </a:gra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28695" name="Oval 35"/>
            <p:cNvSpPr>
              <a:spLocks noChangeArrowheads="1"/>
            </p:cNvSpPr>
            <p:nvPr/>
          </p:nvSpPr>
          <p:spPr bwMode="auto">
            <a:xfrm>
              <a:off x="4978" y="544"/>
              <a:ext cx="113" cy="114"/>
            </a:xfrm>
            <a:prstGeom prst="ellipse">
              <a:avLst/>
            </a:prstGeom>
            <a:gradFill rotWithShape="1">
              <a:gsLst>
                <a:gs pos="0">
                  <a:srgbClr val="66FFFF">
                    <a:alpha val="82999"/>
                  </a:srgbClr>
                </a:gs>
                <a:gs pos="100000">
                  <a:srgbClr val="2F7676"/>
                </a:gs>
              </a:gsLst>
              <a:path path="shape">
                <a:fillToRect l="50000" t="50000" r="50000" b="50000"/>
              </a:path>
            </a:gradFill>
            <a:ln w="9525">
              <a:solidFill>
                <a:schemeClr val="tx1"/>
              </a:solidFill>
              <a:round/>
              <a:headEnd/>
              <a:tailEnd/>
            </a:ln>
            <a:effectLst/>
          </p:spPr>
          <p:txBody>
            <a:bodyPr wrap="none" anchor="ctr"/>
            <a:lstStyle/>
            <a:p>
              <a:endParaRPr lang="zh-CN" altLang="en-US"/>
            </a:p>
          </p:txBody>
        </p:sp>
        <p:sp>
          <p:nvSpPr>
            <p:cNvPr id="28696" name="Line 36"/>
            <p:cNvSpPr>
              <a:spLocks noChangeShapeType="1"/>
            </p:cNvSpPr>
            <p:nvPr/>
          </p:nvSpPr>
          <p:spPr bwMode="auto">
            <a:xfrm flipV="1">
              <a:off x="4524" y="601"/>
              <a:ext cx="511" cy="453"/>
            </a:xfrm>
            <a:prstGeom prst="line">
              <a:avLst/>
            </a:prstGeom>
            <a:noFill/>
            <a:ln w="19050">
              <a:solidFill>
                <a:schemeClr val="tx2"/>
              </a:solidFill>
              <a:round/>
              <a:headEnd/>
              <a:tailEnd/>
            </a:ln>
            <a:effectLst/>
          </p:spPr>
          <p:txBody>
            <a:bodyPr/>
            <a:lstStyle/>
            <a:p>
              <a:endParaRPr lang="zh-CN" altLang="en-US"/>
            </a:p>
          </p:txBody>
        </p:sp>
        <p:sp>
          <p:nvSpPr>
            <p:cNvPr id="28697" name="Line 37"/>
            <p:cNvSpPr>
              <a:spLocks noChangeShapeType="1"/>
            </p:cNvSpPr>
            <p:nvPr/>
          </p:nvSpPr>
          <p:spPr bwMode="auto">
            <a:xfrm>
              <a:off x="5035" y="601"/>
              <a:ext cx="396" cy="482"/>
            </a:xfrm>
            <a:prstGeom prst="line">
              <a:avLst/>
            </a:prstGeom>
            <a:noFill/>
            <a:ln w="19050">
              <a:solidFill>
                <a:srgbClr val="FF0000"/>
              </a:solidFill>
              <a:round/>
              <a:headEnd/>
              <a:tailEnd type="stealth" w="lg" len="lg"/>
            </a:ln>
            <a:effectLst/>
          </p:spPr>
          <p:txBody>
            <a:bodyPr/>
            <a:lstStyle/>
            <a:p>
              <a:endParaRPr lang="zh-CN" altLang="en-US"/>
            </a:p>
          </p:txBody>
        </p:sp>
      </p:grpSp>
    </p:spTree>
  </p:cSld>
  <p:clrMapOvr>
    <a:overrideClrMapping bg1="dk2" tx1="lt1" bg2="dk1" tx2="lt2" accent1="accent1" accent2="accent2" accent3="accent3" accent4="accent4" accent5="accent5" accent6="accent6" hlink="hlink" folHlink="folHlink"/>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728"/>
                                        </p:tgtEl>
                                        <p:attrNameLst>
                                          <p:attrName>style.visibility</p:attrName>
                                        </p:attrNameLst>
                                      </p:cBhvr>
                                      <p:to>
                                        <p:strVal val="visible"/>
                                      </p:to>
                                    </p:set>
                                    <p:animEffect transition="in" filter="wipe(left)">
                                      <p:cBhvr>
                                        <p:cTn id="7" dur="500"/>
                                        <p:tgtEl>
                                          <p:spTgt spid="1157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15750"/>
                                        </p:tgtEl>
                                        <p:attrNameLst>
                                          <p:attrName>style.visibility</p:attrName>
                                        </p:attrNameLst>
                                      </p:cBhvr>
                                      <p:to>
                                        <p:strVal val="visible"/>
                                      </p:to>
                                    </p:set>
                                    <p:animEffect transition="in" filter="box(in)">
                                      <p:cBhvr>
                                        <p:cTn id="12" dur="500"/>
                                        <p:tgtEl>
                                          <p:spTgt spid="1157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5733"/>
                                        </p:tgtEl>
                                        <p:attrNameLst>
                                          <p:attrName>style.visibility</p:attrName>
                                        </p:attrNameLst>
                                      </p:cBhvr>
                                      <p:to>
                                        <p:strVal val="visible"/>
                                      </p:to>
                                    </p:set>
                                    <p:animEffect transition="in" filter="wipe(left)">
                                      <p:cBhvr>
                                        <p:cTn id="17" dur="500"/>
                                        <p:tgtEl>
                                          <p:spTgt spid="115733"/>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115719"/>
                                        </p:tgtEl>
                                        <p:attrNameLst>
                                          <p:attrName>style.visibility</p:attrName>
                                        </p:attrNameLst>
                                      </p:cBhvr>
                                      <p:to>
                                        <p:strVal val="visible"/>
                                      </p:to>
                                    </p:set>
                                    <p:animEffect transition="in" filter="wipe(left)">
                                      <p:cBhvr>
                                        <p:cTn id="21" dur="500"/>
                                        <p:tgtEl>
                                          <p:spTgt spid="11571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15717"/>
                                        </p:tgtEl>
                                        <p:attrNameLst>
                                          <p:attrName>style.visibility</p:attrName>
                                        </p:attrNameLst>
                                      </p:cBhvr>
                                      <p:to>
                                        <p:strVal val="visible"/>
                                      </p:to>
                                    </p:set>
                                  </p:childTnLst>
                                </p:cTn>
                              </p:par>
                            </p:childTnLst>
                          </p:cTn>
                        </p:par>
                        <p:par>
                          <p:cTn id="26" fill="hold" nodeType="afterGroup">
                            <p:stCondLst>
                              <p:cond delay="500"/>
                            </p:stCondLst>
                            <p:childTnLst>
                              <p:par>
                                <p:cTn id="27" presetID="9" presetClass="entr" presetSubtype="0" fill="hold" nodeType="afterEffect">
                                  <p:stCondLst>
                                    <p:cond delay="0"/>
                                  </p:stCondLst>
                                  <p:childTnLst>
                                    <p:set>
                                      <p:cBhvr>
                                        <p:cTn id="28" dur="1" fill="hold">
                                          <p:stCondLst>
                                            <p:cond delay="0"/>
                                          </p:stCondLst>
                                        </p:cTn>
                                        <p:tgtEl>
                                          <p:spTgt spid="115718"/>
                                        </p:tgtEl>
                                        <p:attrNameLst>
                                          <p:attrName>style.visibility</p:attrName>
                                        </p:attrNameLst>
                                      </p:cBhvr>
                                      <p:to>
                                        <p:strVal val="visible"/>
                                      </p:to>
                                    </p:set>
                                    <p:animEffect transition="in" filter="dissolve">
                                      <p:cBhvr>
                                        <p:cTn id="29" dur="500"/>
                                        <p:tgtEl>
                                          <p:spTgt spid="11571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 presetClass="entr" presetSubtype="16" fill="hold" nodeType="clickEffect">
                                  <p:stCondLst>
                                    <p:cond delay="0"/>
                                  </p:stCondLst>
                                  <p:childTnLst>
                                    <p:set>
                                      <p:cBhvr>
                                        <p:cTn id="33" dur="1" fill="hold">
                                          <p:stCondLst>
                                            <p:cond delay="0"/>
                                          </p:stCondLst>
                                        </p:cTn>
                                        <p:tgtEl>
                                          <p:spTgt spid="115751"/>
                                        </p:tgtEl>
                                        <p:attrNameLst>
                                          <p:attrName>style.visibility</p:attrName>
                                        </p:attrNameLst>
                                      </p:cBhvr>
                                      <p:to>
                                        <p:strVal val="visible"/>
                                      </p:to>
                                    </p:set>
                                    <p:animEffect transition="in" filter="box(in)">
                                      <p:cBhvr>
                                        <p:cTn id="34" dur="500"/>
                                        <p:tgtEl>
                                          <p:spTgt spid="11575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5720"/>
                                        </p:tgtEl>
                                        <p:attrNameLst>
                                          <p:attrName>style.visibility</p:attrName>
                                        </p:attrNameLst>
                                      </p:cBhvr>
                                      <p:to>
                                        <p:strVal val="visible"/>
                                      </p:to>
                                    </p:set>
                                    <p:animEffect transition="in" filter="wipe(left)">
                                      <p:cBhvr>
                                        <p:cTn id="39" dur="500"/>
                                        <p:tgtEl>
                                          <p:spTgt spid="115720"/>
                                        </p:tgtEl>
                                      </p:cBhvr>
                                    </p:animEffect>
                                  </p:childTnLst>
                                </p:cTn>
                              </p:par>
                            </p:childTnLst>
                          </p:cTn>
                        </p:par>
                        <p:par>
                          <p:cTn id="40" fill="hold" nodeType="afterGroup">
                            <p:stCondLst>
                              <p:cond delay="500"/>
                            </p:stCondLst>
                            <p:childTnLst>
                              <p:par>
                                <p:cTn id="41" presetID="22" presetClass="entr" presetSubtype="8" fill="hold" nodeType="afterEffect">
                                  <p:stCondLst>
                                    <p:cond delay="0"/>
                                  </p:stCondLst>
                                  <p:childTnLst>
                                    <p:set>
                                      <p:cBhvr>
                                        <p:cTn id="42" dur="1" fill="hold">
                                          <p:stCondLst>
                                            <p:cond delay="0"/>
                                          </p:stCondLst>
                                        </p:cTn>
                                        <p:tgtEl>
                                          <p:spTgt spid="115721"/>
                                        </p:tgtEl>
                                        <p:attrNameLst>
                                          <p:attrName>style.visibility</p:attrName>
                                        </p:attrNameLst>
                                      </p:cBhvr>
                                      <p:to>
                                        <p:strVal val="visible"/>
                                      </p:to>
                                    </p:set>
                                    <p:animEffect transition="in" filter="wipe(left)">
                                      <p:cBhvr>
                                        <p:cTn id="43" dur="500"/>
                                        <p:tgtEl>
                                          <p:spTgt spid="11572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15734"/>
                                        </p:tgtEl>
                                        <p:attrNameLst>
                                          <p:attrName>style.visibility</p:attrName>
                                        </p:attrNameLst>
                                      </p:cBhvr>
                                      <p:to>
                                        <p:strVal val="visible"/>
                                      </p:to>
                                    </p:set>
                                    <p:animEffect transition="in" filter="dissolve">
                                      <p:cBhvr>
                                        <p:cTn id="48" dur="500"/>
                                        <p:tgtEl>
                                          <p:spTgt spid="11573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115729"/>
                                        </p:tgtEl>
                                        <p:attrNameLst>
                                          <p:attrName>style.visibility</p:attrName>
                                        </p:attrNameLst>
                                      </p:cBhvr>
                                      <p:to>
                                        <p:strVal val="visible"/>
                                      </p:to>
                                    </p:set>
                                    <p:animEffect transition="in" filter="wipe(left)">
                                      <p:cBhvr>
                                        <p:cTn id="53" dur="500"/>
                                        <p:tgtEl>
                                          <p:spTgt spid="11572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115731"/>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15730"/>
                                        </p:tgtEl>
                                        <p:attrNameLst>
                                          <p:attrName>style.visibility</p:attrName>
                                        </p:attrNameLst>
                                      </p:cBhvr>
                                      <p:to>
                                        <p:strVal val="visible"/>
                                      </p:to>
                                    </p:set>
                                    <p:animEffect transition="in" filter="wipe(left)">
                                      <p:cBhvr>
                                        <p:cTn id="62" dur="500"/>
                                        <p:tgtEl>
                                          <p:spTgt spid="11573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115735"/>
                                        </p:tgtEl>
                                        <p:attrNameLst>
                                          <p:attrName>style.visibility</p:attrName>
                                        </p:attrNameLst>
                                      </p:cBhvr>
                                      <p:to>
                                        <p:strVal val="visible"/>
                                      </p:to>
                                    </p:set>
                                    <p:animEffect transition="in" filter="wipe(left)">
                                      <p:cBhvr>
                                        <p:cTn id="67" dur="500"/>
                                        <p:tgtEl>
                                          <p:spTgt spid="11573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115737"/>
                                        </p:tgtEl>
                                        <p:attrNameLst>
                                          <p:attrName>style.visibility</p:attrName>
                                        </p:attrNameLst>
                                      </p:cBhvr>
                                      <p:to>
                                        <p:strVal val="visible"/>
                                      </p:to>
                                    </p:set>
                                    <p:animEffect transition="in" filter="wipe(left)">
                                      <p:cBhvr>
                                        <p:cTn id="72" dur="500"/>
                                        <p:tgtEl>
                                          <p:spTgt spid="11573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115736"/>
                                        </p:tgtEl>
                                        <p:attrNameLst>
                                          <p:attrName>style.visibility</p:attrName>
                                        </p:attrNameLst>
                                      </p:cBhvr>
                                      <p:to>
                                        <p:strVal val="visible"/>
                                      </p:to>
                                    </p:set>
                                    <p:animEffect transition="in" filter="wipe(left)">
                                      <p:cBhvr>
                                        <p:cTn id="77" dur="500"/>
                                        <p:tgtEl>
                                          <p:spTgt spid="11573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8" presetClass="entr" presetSubtype="6" fill="hold" grpId="0" nodeType="clickEffect">
                                  <p:stCondLst>
                                    <p:cond delay="0"/>
                                  </p:stCondLst>
                                  <p:childTnLst>
                                    <p:set>
                                      <p:cBhvr>
                                        <p:cTn id="81" dur="1" fill="hold">
                                          <p:stCondLst>
                                            <p:cond delay="0"/>
                                          </p:stCondLst>
                                        </p:cTn>
                                        <p:tgtEl>
                                          <p:spTgt spid="115732"/>
                                        </p:tgtEl>
                                        <p:attrNameLst>
                                          <p:attrName>style.visibility</p:attrName>
                                        </p:attrNameLst>
                                      </p:cBhvr>
                                      <p:to>
                                        <p:strVal val="visible"/>
                                      </p:to>
                                    </p:set>
                                    <p:animEffect transition="in" filter="strips(downRight)">
                                      <p:cBhvr>
                                        <p:cTn id="82" dur="500"/>
                                        <p:tgtEl>
                                          <p:spTgt spid="115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7" grpId="0" autoUpdateAnimBg="0"/>
      <p:bldP spid="115720" grpId="0" autoUpdateAnimBg="0"/>
      <p:bldP spid="115728" grpId="0"/>
      <p:bldP spid="115731" grpId="0" autoUpdateAnimBg="0"/>
      <p:bldP spid="115732" grpId="0" animBg="1" autoUpdateAnimBg="0"/>
      <p:bldP spid="115733" grpId="0"/>
      <p:bldP spid="11573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457200" y="376238"/>
            <a:ext cx="993775" cy="396875"/>
          </a:xfrm>
          <a:prstGeom prst="rect">
            <a:avLst/>
          </a:prstGeom>
          <a:noFill/>
          <a:ln w="9525">
            <a:noFill/>
            <a:miter lim="800000"/>
            <a:headEnd/>
            <a:tailEnd/>
          </a:ln>
          <a:effectLst/>
        </p:spPr>
        <p:txBody>
          <a:bodyPr wrap="none">
            <a:spAutoFit/>
          </a:bodyPr>
          <a:lstStyle/>
          <a:p>
            <a:r>
              <a:rPr lang="en-US" altLang="zh-CN" sz="2000" b="1" i="1">
                <a:solidFill>
                  <a:srgbClr val="3333CC"/>
                </a:solidFill>
              </a:rPr>
              <a:t>E</a:t>
            </a:r>
            <a:r>
              <a:rPr lang="en-US" altLang="zh-CN" sz="2000" b="1" baseline="-18000">
                <a:solidFill>
                  <a:srgbClr val="3333CC"/>
                </a:solidFill>
              </a:rPr>
              <a:t>n </a:t>
            </a:r>
            <a:r>
              <a:rPr lang="en-US" altLang="zh-CN" sz="2000">
                <a:solidFill>
                  <a:srgbClr val="3333CC"/>
                </a:solidFill>
              </a:rPr>
              <a:t>(</a:t>
            </a:r>
            <a:r>
              <a:rPr lang="en-US" altLang="zh-CN" sz="2000" b="1" baseline="-18000">
                <a:solidFill>
                  <a:srgbClr val="3333CC"/>
                </a:solidFill>
              </a:rPr>
              <a:t> </a:t>
            </a:r>
            <a:r>
              <a:rPr lang="en-US" altLang="zh-CN" sz="2000" b="1">
                <a:solidFill>
                  <a:srgbClr val="3333CC"/>
                </a:solidFill>
              </a:rPr>
              <a:t>eV</a:t>
            </a:r>
            <a:r>
              <a:rPr lang="en-US" altLang="zh-CN" sz="2000">
                <a:solidFill>
                  <a:srgbClr val="3333CC"/>
                </a:solidFill>
              </a:rPr>
              <a:t>)</a:t>
            </a:r>
          </a:p>
        </p:txBody>
      </p:sp>
      <p:sp>
        <p:nvSpPr>
          <p:cNvPr id="29699" name="Text Box 3"/>
          <p:cNvSpPr txBox="1">
            <a:spLocks noChangeArrowheads="1"/>
          </p:cNvSpPr>
          <p:nvPr/>
        </p:nvSpPr>
        <p:spPr bwMode="auto">
          <a:xfrm>
            <a:off x="3132138" y="279400"/>
            <a:ext cx="2925762" cy="457200"/>
          </a:xfrm>
          <a:prstGeom prst="rect">
            <a:avLst/>
          </a:prstGeom>
          <a:noFill/>
          <a:ln w="9525">
            <a:noFill/>
            <a:miter lim="800000"/>
            <a:headEnd/>
            <a:tailEnd/>
          </a:ln>
          <a:effectLst/>
        </p:spPr>
        <p:txBody>
          <a:bodyPr>
            <a:spAutoFit/>
          </a:bodyPr>
          <a:lstStyle/>
          <a:p>
            <a:pPr algn="ctr"/>
            <a:r>
              <a:rPr lang="zh-CN" altLang="en-US" b="1">
                <a:solidFill>
                  <a:schemeClr val="tx2"/>
                </a:solidFill>
              </a:rPr>
              <a:t>氢原子能级图</a:t>
            </a:r>
          </a:p>
        </p:txBody>
      </p:sp>
      <p:grpSp>
        <p:nvGrpSpPr>
          <p:cNvPr id="116740" name="Group 4"/>
          <p:cNvGrpSpPr>
            <a:grpSpLocks/>
          </p:cNvGrpSpPr>
          <p:nvPr/>
        </p:nvGrpSpPr>
        <p:grpSpPr bwMode="auto">
          <a:xfrm>
            <a:off x="1736725" y="5859463"/>
            <a:ext cx="1103313" cy="623887"/>
            <a:chOff x="838" y="3783"/>
            <a:chExt cx="695" cy="393"/>
          </a:xfrm>
        </p:grpSpPr>
        <p:sp>
          <p:nvSpPr>
            <p:cNvPr id="29754" name="AutoShape 5"/>
            <p:cNvSpPr>
              <a:spLocks/>
            </p:cNvSpPr>
            <p:nvPr/>
          </p:nvSpPr>
          <p:spPr bwMode="auto">
            <a:xfrm rot="-5400000">
              <a:off x="1136" y="3591"/>
              <a:ext cx="95" cy="480"/>
            </a:xfrm>
            <a:prstGeom prst="leftBrace">
              <a:avLst>
                <a:gd name="adj1" fmla="val 42105"/>
                <a:gd name="adj2" fmla="val 50000"/>
              </a:avLst>
            </a:prstGeom>
            <a:noFill/>
            <a:ln w="9525">
              <a:solidFill>
                <a:schemeClr val="bg1"/>
              </a:solidFill>
              <a:round/>
              <a:headEnd/>
              <a:tailEnd/>
            </a:ln>
            <a:effectLst/>
          </p:spPr>
          <p:txBody>
            <a:bodyPr wrap="none" anchor="ctr"/>
            <a:lstStyle/>
            <a:p>
              <a:endParaRPr lang="zh-CN" altLang="en-US"/>
            </a:p>
          </p:txBody>
        </p:sp>
        <p:sp>
          <p:nvSpPr>
            <p:cNvPr id="29755" name="Text Box 6"/>
            <p:cNvSpPr txBox="1">
              <a:spLocks noChangeArrowheads="1"/>
            </p:cNvSpPr>
            <p:nvPr/>
          </p:nvSpPr>
          <p:spPr bwMode="auto">
            <a:xfrm>
              <a:off x="838" y="3888"/>
              <a:ext cx="695" cy="288"/>
            </a:xfrm>
            <a:prstGeom prst="rect">
              <a:avLst/>
            </a:prstGeom>
            <a:noFill/>
            <a:ln w="9525">
              <a:noFill/>
              <a:miter lim="800000"/>
              <a:headEnd/>
              <a:tailEnd/>
            </a:ln>
            <a:effectLst/>
          </p:spPr>
          <p:txBody>
            <a:bodyPr wrap="none">
              <a:spAutoFit/>
            </a:bodyPr>
            <a:lstStyle/>
            <a:p>
              <a:r>
                <a:rPr lang="zh-CN" altLang="en-US" b="1">
                  <a:solidFill>
                    <a:srgbClr val="660066"/>
                  </a:solidFill>
                  <a:ea typeface="楷体_GB2312" pitchFamily="49" charset="-122"/>
                </a:rPr>
                <a:t>赖曼系</a:t>
              </a:r>
            </a:p>
          </p:txBody>
        </p:sp>
      </p:grpSp>
      <p:grpSp>
        <p:nvGrpSpPr>
          <p:cNvPr id="116743" name="Group 7"/>
          <p:cNvGrpSpPr>
            <a:grpSpLocks/>
          </p:cNvGrpSpPr>
          <p:nvPr/>
        </p:nvGrpSpPr>
        <p:grpSpPr bwMode="auto">
          <a:xfrm>
            <a:off x="3222625" y="5859463"/>
            <a:ext cx="1409700" cy="608012"/>
            <a:chOff x="1756" y="3793"/>
            <a:chExt cx="888" cy="383"/>
          </a:xfrm>
        </p:grpSpPr>
        <p:sp>
          <p:nvSpPr>
            <p:cNvPr id="29752" name="AutoShape 8"/>
            <p:cNvSpPr>
              <a:spLocks/>
            </p:cNvSpPr>
            <p:nvPr/>
          </p:nvSpPr>
          <p:spPr bwMode="auto">
            <a:xfrm rot="-5400000">
              <a:off x="2150" y="3601"/>
              <a:ext cx="95" cy="480"/>
            </a:xfrm>
            <a:prstGeom prst="leftBrace">
              <a:avLst>
                <a:gd name="adj1" fmla="val 42105"/>
                <a:gd name="adj2" fmla="val 50000"/>
              </a:avLst>
            </a:prstGeom>
            <a:noFill/>
            <a:ln w="9525">
              <a:solidFill>
                <a:schemeClr val="bg1"/>
              </a:solidFill>
              <a:round/>
              <a:headEnd/>
              <a:tailEnd/>
            </a:ln>
            <a:effectLst/>
          </p:spPr>
          <p:txBody>
            <a:bodyPr wrap="none" anchor="ctr"/>
            <a:lstStyle/>
            <a:p>
              <a:endParaRPr lang="zh-CN" altLang="en-US"/>
            </a:p>
          </p:txBody>
        </p:sp>
        <p:sp>
          <p:nvSpPr>
            <p:cNvPr id="29753" name="Text Box 9"/>
            <p:cNvSpPr txBox="1">
              <a:spLocks noChangeArrowheads="1"/>
            </p:cNvSpPr>
            <p:nvPr/>
          </p:nvSpPr>
          <p:spPr bwMode="auto">
            <a:xfrm>
              <a:off x="1756" y="3888"/>
              <a:ext cx="888" cy="288"/>
            </a:xfrm>
            <a:prstGeom prst="rect">
              <a:avLst/>
            </a:prstGeom>
            <a:noFill/>
            <a:ln w="9525">
              <a:noFill/>
              <a:miter lim="800000"/>
              <a:headEnd/>
              <a:tailEnd/>
            </a:ln>
            <a:effectLst/>
          </p:spPr>
          <p:txBody>
            <a:bodyPr wrap="none">
              <a:spAutoFit/>
            </a:bodyPr>
            <a:lstStyle/>
            <a:p>
              <a:r>
                <a:rPr lang="zh-CN" altLang="en-US" b="1">
                  <a:solidFill>
                    <a:srgbClr val="660066"/>
                  </a:solidFill>
                  <a:ea typeface="楷体_GB2312" pitchFamily="49" charset="-122"/>
                </a:rPr>
                <a:t>巴耳末系</a:t>
              </a:r>
            </a:p>
          </p:txBody>
        </p:sp>
      </p:grpSp>
      <p:grpSp>
        <p:nvGrpSpPr>
          <p:cNvPr id="116746" name="Group 10"/>
          <p:cNvGrpSpPr>
            <a:grpSpLocks/>
          </p:cNvGrpSpPr>
          <p:nvPr/>
        </p:nvGrpSpPr>
        <p:grpSpPr bwMode="auto">
          <a:xfrm>
            <a:off x="4976813" y="5859463"/>
            <a:ext cx="1103312" cy="609600"/>
            <a:chOff x="2832" y="3792"/>
            <a:chExt cx="695" cy="384"/>
          </a:xfrm>
        </p:grpSpPr>
        <p:sp>
          <p:nvSpPr>
            <p:cNvPr id="29750" name="AutoShape 11"/>
            <p:cNvSpPr>
              <a:spLocks/>
            </p:cNvSpPr>
            <p:nvPr/>
          </p:nvSpPr>
          <p:spPr bwMode="auto">
            <a:xfrm rot="-5400000">
              <a:off x="3130" y="3600"/>
              <a:ext cx="95" cy="480"/>
            </a:xfrm>
            <a:prstGeom prst="leftBrace">
              <a:avLst>
                <a:gd name="adj1" fmla="val 42105"/>
                <a:gd name="adj2" fmla="val 50000"/>
              </a:avLst>
            </a:prstGeom>
            <a:noFill/>
            <a:ln w="9525">
              <a:solidFill>
                <a:schemeClr val="bg1"/>
              </a:solidFill>
              <a:round/>
              <a:headEnd/>
              <a:tailEnd/>
            </a:ln>
            <a:effectLst/>
          </p:spPr>
          <p:txBody>
            <a:bodyPr wrap="none" anchor="ctr"/>
            <a:lstStyle/>
            <a:p>
              <a:endParaRPr lang="zh-CN" altLang="en-US"/>
            </a:p>
          </p:txBody>
        </p:sp>
        <p:sp>
          <p:nvSpPr>
            <p:cNvPr id="29751" name="Text Box 12"/>
            <p:cNvSpPr txBox="1">
              <a:spLocks noChangeArrowheads="1"/>
            </p:cNvSpPr>
            <p:nvPr/>
          </p:nvSpPr>
          <p:spPr bwMode="auto">
            <a:xfrm>
              <a:off x="2832" y="3888"/>
              <a:ext cx="695" cy="288"/>
            </a:xfrm>
            <a:prstGeom prst="rect">
              <a:avLst/>
            </a:prstGeom>
            <a:noFill/>
            <a:ln w="9525">
              <a:noFill/>
              <a:miter lim="800000"/>
              <a:headEnd/>
              <a:tailEnd/>
            </a:ln>
            <a:effectLst/>
          </p:spPr>
          <p:txBody>
            <a:bodyPr wrap="none">
              <a:spAutoFit/>
            </a:bodyPr>
            <a:lstStyle/>
            <a:p>
              <a:r>
                <a:rPr lang="zh-CN" altLang="en-US" b="1">
                  <a:solidFill>
                    <a:srgbClr val="660066"/>
                  </a:solidFill>
                  <a:ea typeface="楷体_GB2312" pitchFamily="49" charset="-122"/>
                </a:rPr>
                <a:t>帕邢系</a:t>
              </a:r>
            </a:p>
          </p:txBody>
        </p:sp>
      </p:grpSp>
      <p:grpSp>
        <p:nvGrpSpPr>
          <p:cNvPr id="116749" name="Group 13"/>
          <p:cNvGrpSpPr>
            <a:grpSpLocks/>
          </p:cNvGrpSpPr>
          <p:nvPr/>
        </p:nvGrpSpPr>
        <p:grpSpPr bwMode="auto">
          <a:xfrm>
            <a:off x="6416675" y="5859463"/>
            <a:ext cx="1409700" cy="609600"/>
            <a:chOff x="3744" y="3792"/>
            <a:chExt cx="888" cy="384"/>
          </a:xfrm>
        </p:grpSpPr>
        <p:sp>
          <p:nvSpPr>
            <p:cNvPr id="29748" name="AutoShape 14"/>
            <p:cNvSpPr>
              <a:spLocks/>
            </p:cNvSpPr>
            <p:nvPr/>
          </p:nvSpPr>
          <p:spPr bwMode="auto">
            <a:xfrm rot="-5400000">
              <a:off x="4138" y="3600"/>
              <a:ext cx="95" cy="480"/>
            </a:xfrm>
            <a:prstGeom prst="leftBrace">
              <a:avLst>
                <a:gd name="adj1" fmla="val 42105"/>
                <a:gd name="adj2" fmla="val 50000"/>
              </a:avLst>
            </a:prstGeom>
            <a:noFill/>
            <a:ln w="9525">
              <a:solidFill>
                <a:schemeClr val="bg1"/>
              </a:solidFill>
              <a:round/>
              <a:headEnd/>
              <a:tailEnd/>
            </a:ln>
            <a:effectLst/>
          </p:spPr>
          <p:txBody>
            <a:bodyPr wrap="none" anchor="ctr"/>
            <a:lstStyle/>
            <a:p>
              <a:endParaRPr lang="zh-CN" altLang="en-US"/>
            </a:p>
          </p:txBody>
        </p:sp>
        <p:sp>
          <p:nvSpPr>
            <p:cNvPr id="29749" name="Text Box 15"/>
            <p:cNvSpPr txBox="1">
              <a:spLocks noChangeArrowheads="1"/>
            </p:cNvSpPr>
            <p:nvPr/>
          </p:nvSpPr>
          <p:spPr bwMode="auto">
            <a:xfrm>
              <a:off x="3744" y="3888"/>
              <a:ext cx="888" cy="288"/>
            </a:xfrm>
            <a:prstGeom prst="rect">
              <a:avLst/>
            </a:prstGeom>
            <a:noFill/>
            <a:ln w="9525">
              <a:noFill/>
              <a:miter lim="800000"/>
              <a:headEnd/>
              <a:tailEnd/>
            </a:ln>
            <a:effectLst/>
          </p:spPr>
          <p:txBody>
            <a:bodyPr wrap="none">
              <a:spAutoFit/>
            </a:bodyPr>
            <a:lstStyle/>
            <a:p>
              <a:r>
                <a:rPr lang="zh-CN" altLang="en-US" b="1">
                  <a:solidFill>
                    <a:srgbClr val="660066"/>
                  </a:solidFill>
                  <a:ea typeface="楷体_GB2312" pitchFamily="49" charset="-122"/>
                </a:rPr>
                <a:t>布拉开系</a:t>
              </a:r>
            </a:p>
          </p:txBody>
        </p:sp>
      </p:grpSp>
      <p:sp>
        <p:nvSpPr>
          <p:cNvPr id="116752" name="Line 16"/>
          <p:cNvSpPr>
            <a:spLocks noChangeShapeType="1"/>
          </p:cNvSpPr>
          <p:nvPr/>
        </p:nvSpPr>
        <p:spPr bwMode="auto">
          <a:xfrm>
            <a:off x="1908175" y="2471738"/>
            <a:ext cx="26988" cy="3298825"/>
          </a:xfrm>
          <a:prstGeom prst="line">
            <a:avLst/>
          </a:prstGeom>
          <a:noFill/>
          <a:ln w="19050">
            <a:solidFill>
              <a:srgbClr val="FF6600"/>
            </a:solidFill>
            <a:round/>
            <a:headEnd type="oval" w="med" len="med"/>
            <a:tailEnd type="triangle" w="med" len="med"/>
          </a:ln>
          <a:effectLst/>
        </p:spPr>
        <p:txBody>
          <a:bodyPr/>
          <a:lstStyle/>
          <a:p>
            <a:endParaRPr lang="zh-CN" altLang="en-US"/>
          </a:p>
        </p:txBody>
      </p:sp>
      <p:sp>
        <p:nvSpPr>
          <p:cNvPr id="116753" name="Line 17"/>
          <p:cNvSpPr>
            <a:spLocks noChangeShapeType="1"/>
          </p:cNvSpPr>
          <p:nvPr/>
        </p:nvSpPr>
        <p:spPr bwMode="auto">
          <a:xfrm>
            <a:off x="2085975" y="1752600"/>
            <a:ext cx="1588" cy="4022725"/>
          </a:xfrm>
          <a:prstGeom prst="line">
            <a:avLst/>
          </a:prstGeom>
          <a:noFill/>
          <a:ln w="19050">
            <a:solidFill>
              <a:srgbClr val="FF6600"/>
            </a:solidFill>
            <a:round/>
            <a:headEnd type="oval" w="med" len="med"/>
            <a:tailEnd type="triangle" w="med" len="med"/>
          </a:ln>
          <a:effectLst/>
        </p:spPr>
        <p:txBody>
          <a:bodyPr/>
          <a:lstStyle/>
          <a:p>
            <a:endParaRPr lang="zh-CN" altLang="en-US"/>
          </a:p>
        </p:txBody>
      </p:sp>
      <p:sp>
        <p:nvSpPr>
          <p:cNvPr id="116754" name="Line 18"/>
          <p:cNvSpPr>
            <a:spLocks noChangeShapeType="1"/>
          </p:cNvSpPr>
          <p:nvPr/>
        </p:nvSpPr>
        <p:spPr bwMode="auto">
          <a:xfrm>
            <a:off x="2251075" y="1412875"/>
            <a:ext cx="1588" cy="4362450"/>
          </a:xfrm>
          <a:prstGeom prst="line">
            <a:avLst/>
          </a:prstGeom>
          <a:noFill/>
          <a:ln w="19050">
            <a:solidFill>
              <a:srgbClr val="FF6600"/>
            </a:solidFill>
            <a:round/>
            <a:headEnd type="oval" w="med" len="med"/>
            <a:tailEnd type="triangle" w="med" len="med"/>
          </a:ln>
          <a:effectLst/>
        </p:spPr>
        <p:txBody>
          <a:bodyPr/>
          <a:lstStyle/>
          <a:p>
            <a:endParaRPr lang="zh-CN" altLang="en-US"/>
          </a:p>
        </p:txBody>
      </p:sp>
      <p:sp>
        <p:nvSpPr>
          <p:cNvPr id="116755" name="Line 19"/>
          <p:cNvSpPr>
            <a:spLocks noChangeShapeType="1"/>
          </p:cNvSpPr>
          <p:nvPr/>
        </p:nvSpPr>
        <p:spPr bwMode="auto">
          <a:xfrm>
            <a:off x="2403475" y="1290638"/>
            <a:ext cx="1588" cy="4484687"/>
          </a:xfrm>
          <a:prstGeom prst="line">
            <a:avLst/>
          </a:prstGeom>
          <a:noFill/>
          <a:ln w="19050">
            <a:solidFill>
              <a:srgbClr val="FF6600"/>
            </a:solidFill>
            <a:round/>
            <a:headEnd type="oval" w="med" len="med"/>
            <a:tailEnd type="triangle" w="med" len="med"/>
          </a:ln>
          <a:effectLst/>
        </p:spPr>
        <p:txBody>
          <a:bodyPr/>
          <a:lstStyle/>
          <a:p>
            <a:endParaRPr lang="zh-CN" altLang="en-US"/>
          </a:p>
        </p:txBody>
      </p:sp>
      <p:sp>
        <p:nvSpPr>
          <p:cNvPr id="116756" name="Line 20"/>
          <p:cNvSpPr>
            <a:spLocks noChangeShapeType="1"/>
          </p:cNvSpPr>
          <p:nvPr/>
        </p:nvSpPr>
        <p:spPr bwMode="auto">
          <a:xfrm>
            <a:off x="2589213" y="1214438"/>
            <a:ext cx="1587" cy="4560887"/>
          </a:xfrm>
          <a:prstGeom prst="line">
            <a:avLst/>
          </a:prstGeom>
          <a:noFill/>
          <a:ln w="19050">
            <a:solidFill>
              <a:srgbClr val="FF6600"/>
            </a:solidFill>
            <a:round/>
            <a:headEnd type="oval" w="med" len="med"/>
            <a:tailEnd type="triangle" w="med" len="med"/>
          </a:ln>
          <a:effectLst/>
        </p:spPr>
        <p:txBody>
          <a:bodyPr/>
          <a:lstStyle/>
          <a:p>
            <a:endParaRPr lang="zh-CN" altLang="en-US"/>
          </a:p>
        </p:txBody>
      </p:sp>
      <p:sp>
        <p:nvSpPr>
          <p:cNvPr id="116757" name="Line 21"/>
          <p:cNvSpPr>
            <a:spLocks noChangeShapeType="1"/>
          </p:cNvSpPr>
          <p:nvPr/>
        </p:nvSpPr>
        <p:spPr bwMode="auto">
          <a:xfrm>
            <a:off x="3533775" y="1752600"/>
            <a:ext cx="1588" cy="757238"/>
          </a:xfrm>
          <a:prstGeom prst="line">
            <a:avLst/>
          </a:prstGeom>
          <a:noFill/>
          <a:ln w="19050">
            <a:solidFill>
              <a:srgbClr val="FF6600"/>
            </a:solidFill>
            <a:round/>
            <a:headEnd type="oval" w="med" len="med"/>
            <a:tailEnd type="triangle" w="med" len="med"/>
          </a:ln>
          <a:effectLst/>
        </p:spPr>
        <p:txBody>
          <a:bodyPr/>
          <a:lstStyle/>
          <a:p>
            <a:endParaRPr lang="zh-CN" altLang="en-US"/>
          </a:p>
        </p:txBody>
      </p:sp>
      <p:sp>
        <p:nvSpPr>
          <p:cNvPr id="116758" name="Line 22"/>
          <p:cNvSpPr>
            <a:spLocks noChangeShapeType="1"/>
          </p:cNvSpPr>
          <p:nvPr/>
        </p:nvSpPr>
        <p:spPr bwMode="auto">
          <a:xfrm>
            <a:off x="3684588" y="1412875"/>
            <a:ext cx="1587" cy="1096963"/>
          </a:xfrm>
          <a:prstGeom prst="line">
            <a:avLst/>
          </a:prstGeom>
          <a:noFill/>
          <a:ln w="19050">
            <a:solidFill>
              <a:srgbClr val="FF6600"/>
            </a:solidFill>
            <a:round/>
            <a:headEnd type="oval" w="med" len="med"/>
            <a:tailEnd type="triangle" w="med" len="med"/>
          </a:ln>
          <a:effectLst/>
        </p:spPr>
        <p:txBody>
          <a:bodyPr/>
          <a:lstStyle/>
          <a:p>
            <a:endParaRPr lang="zh-CN" altLang="en-US"/>
          </a:p>
        </p:txBody>
      </p:sp>
      <p:sp>
        <p:nvSpPr>
          <p:cNvPr id="116759" name="Line 23"/>
          <p:cNvSpPr>
            <a:spLocks noChangeShapeType="1"/>
          </p:cNvSpPr>
          <p:nvPr/>
        </p:nvSpPr>
        <p:spPr bwMode="auto">
          <a:xfrm>
            <a:off x="3989388" y="1214438"/>
            <a:ext cx="1587" cy="1295400"/>
          </a:xfrm>
          <a:prstGeom prst="line">
            <a:avLst/>
          </a:prstGeom>
          <a:noFill/>
          <a:ln w="19050">
            <a:solidFill>
              <a:srgbClr val="FF6600"/>
            </a:solidFill>
            <a:round/>
            <a:headEnd type="oval" w="med" len="med"/>
            <a:tailEnd type="triangle" w="med" len="med"/>
          </a:ln>
          <a:effectLst/>
        </p:spPr>
        <p:txBody>
          <a:bodyPr/>
          <a:lstStyle/>
          <a:p>
            <a:endParaRPr lang="zh-CN" altLang="en-US"/>
          </a:p>
        </p:txBody>
      </p:sp>
      <p:sp>
        <p:nvSpPr>
          <p:cNvPr id="116760" name="Line 24"/>
          <p:cNvSpPr>
            <a:spLocks noChangeShapeType="1"/>
          </p:cNvSpPr>
          <p:nvPr/>
        </p:nvSpPr>
        <p:spPr bwMode="auto">
          <a:xfrm>
            <a:off x="5105400" y="1412875"/>
            <a:ext cx="0" cy="334963"/>
          </a:xfrm>
          <a:prstGeom prst="line">
            <a:avLst/>
          </a:prstGeom>
          <a:noFill/>
          <a:ln w="19050">
            <a:solidFill>
              <a:srgbClr val="FF6600"/>
            </a:solidFill>
            <a:round/>
            <a:headEnd type="oval" w="med" len="med"/>
            <a:tailEnd type="triangle" w="med" len="med"/>
          </a:ln>
          <a:effectLst/>
        </p:spPr>
        <p:txBody>
          <a:bodyPr/>
          <a:lstStyle/>
          <a:p>
            <a:endParaRPr lang="zh-CN" altLang="en-US"/>
          </a:p>
        </p:txBody>
      </p:sp>
      <p:sp>
        <p:nvSpPr>
          <p:cNvPr id="116761" name="Line 25"/>
          <p:cNvSpPr>
            <a:spLocks noChangeShapeType="1"/>
          </p:cNvSpPr>
          <p:nvPr/>
        </p:nvSpPr>
        <p:spPr bwMode="auto">
          <a:xfrm>
            <a:off x="5257800" y="1287463"/>
            <a:ext cx="0" cy="460375"/>
          </a:xfrm>
          <a:prstGeom prst="line">
            <a:avLst/>
          </a:prstGeom>
          <a:noFill/>
          <a:ln w="19050">
            <a:solidFill>
              <a:srgbClr val="FF6600"/>
            </a:solidFill>
            <a:round/>
            <a:headEnd type="oval" w="med" len="med"/>
            <a:tailEnd type="triangle" w="med" len="med"/>
          </a:ln>
          <a:effectLst/>
        </p:spPr>
        <p:txBody>
          <a:bodyPr/>
          <a:lstStyle/>
          <a:p>
            <a:endParaRPr lang="zh-CN" altLang="en-US"/>
          </a:p>
        </p:txBody>
      </p:sp>
      <p:sp>
        <p:nvSpPr>
          <p:cNvPr id="116762" name="Line 26"/>
          <p:cNvSpPr>
            <a:spLocks noChangeShapeType="1"/>
          </p:cNvSpPr>
          <p:nvPr/>
        </p:nvSpPr>
        <p:spPr bwMode="auto">
          <a:xfrm>
            <a:off x="5410200" y="1212850"/>
            <a:ext cx="0" cy="534988"/>
          </a:xfrm>
          <a:prstGeom prst="line">
            <a:avLst/>
          </a:prstGeom>
          <a:noFill/>
          <a:ln w="19050">
            <a:solidFill>
              <a:srgbClr val="FF6600"/>
            </a:solidFill>
            <a:round/>
            <a:headEnd type="oval" w="med" len="med"/>
            <a:tailEnd type="triangle" w="med" len="med"/>
          </a:ln>
          <a:effectLst/>
        </p:spPr>
        <p:txBody>
          <a:bodyPr/>
          <a:lstStyle/>
          <a:p>
            <a:endParaRPr lang="zh-CN" altLang="en-US"/>
          </a:p>
        </p:txBody>
      </p:sp>
      <p:sp>
        <p:nvSpPr>
          <p:cNvPr id="116763" name="Line 27"/>
          <p:cNvSpPr>
            <a:spLocks noChangeShapeType="1"/>
          </p:cNvSpPr>
          <p:nvPr/>
        </p:nvSpPr>
        <p:spPr bwMode="auto">
          <a:xfrm>
            <a:off x="5562600" y="1138238"/>
            <a:ext cx="0" cy="609600"/>
          </a:xfrm>
          <a:prstGeom prst="line">
            <a:avLst/>
          </a:prstGeom>
          <a:noFill/>
          <a:ln w="19050">
            <a:solidFill>
              <a:srgbClr val="FF6600"/>
            </a:solidFill>
            <a:round/>
            <a:headEnd type="oval" w="med" len="med"/>
            <a:tailEnd type="triangle" w="med" len="med"/>
          </a:ln>
          <a:effectLst/>
        </p:spPr>
        <p:txBody>
          <a:bodyPr/>
          <a:lstStyle/>
          <a:p>
            <a:endParaRPr lang="zh-CN" altLang="en-US"/>
          </a:p>
        </p:txBody>
      </p:sp>
      <p:sp>
        <p:nvSpPr>
          <p:cNvPr id="116764" name="Line 28"/>
          <p:cNvSpPr>
            <a:spLocks noChangeShapeType="1"/>
          </p:cNvSpPr>
          <p:nvPr/>
        </p:nvSpPr>
        <p:spPr bwMode="auto">
          <a:xfrm>
            <a:off x="3838575" y="1290638"/>
            <a:ext cx="0" cy="1211262"/>
          </a:xfrm>
          <a:prstGeom prst="line">
            <a:avLst/>
          </a:prstGeom>
          <a:noFill/>
          <a:ln w="19050">
            <a:solidFill>
              <a:srgbClr val="FF6600"/>
            </a:solidFill>
            <a:round/>
            <a:headEnd type="oval" w="med" len="med"/>
            <a:tailEnd type="triangle" w="med" len="med"/>
          </a:ln>
          <a:effectLst/>
        </p:spPr>
        <p:txBody>
          <a:bodyPr/>
          <a:lstStyle/>
          <a:p>
            <a:endParaRPr lang="zh-CN" altLang="en-US"/>
          </a:p>
        </p:txBody>
      </p:sp>
      <p:sp>
        <p:nvSpPr>
          <p:cNvPr id="116765" name="Text Box 29"/>
          <p:cNvSpPr txBox="1">
            <a:spLocks noChangeArrowheads="1"/>
          </p:cNvSpPr>
          <p:nvPr/>
        </p:nvSpPr>
        <p:spPr bwMode="auto">
          <a:xfrm>
            <a:off x="619125" y="5611813"/>
            <a:ext cx="712788" cy="396875"/>
          </a:xfrm>
          <a:prstGeom prst="rect">
            <a:avLst/>
          </a:prstGeom>
          <a:noFill/>
          <a:ln w="9525">
            <a:noFill/>
            <a:miter lim="800000"/>
            <a:headEnd/>
            <a:tailEnd/>
          </a:ln>
          <a:effectLst/>
        </p:spPr>
        <p:txBody>
          <a:bodyPr wrap="none">
            <a:spAutoFit/>
          </a:bodyPr>
          <a:lstStyle/>
          <a:p>
            <a:r>
              <a:rPr lang="en-US" altLang="zh-CN" sz="2000" b="1">
                <a:solidFill>
                  <a:srgbClr val="3333CC"/>
                </a:solidFill>
              </a:rPr>
              <a:t>-13.6</a:t>
            </a:r>
          </a:p>
        </p:txBody>
      </p:sp>
      <p:sp>
        <p:nvSpPr>
          <p:cNvPr id="116766" name="Text Box 30"/>
          <p:cNvSpPr txBox="1">
            <a:spLocks noChangeArrowheads="1"/>
          </p:cNvSpPr>
          <p:nvPr/>
        </p:nvSpPr>
        <p:spPr bwMode="auto">
          <a:xfrm>
            <a:off x="600075" y="1568450"/>
            <a:ext cx="712788" cy="396875"/>
          </a:xfrm>
          <a:prstGeom prst="rect">
            <a:avLst/>
          </a:prstGeom>
          <a:noFill/>
          <a:ln w="9525">
            <a:noFill/>
            <a:miter lim="800000"/>
            <a:headEnd/>
            <a:tailEnd/>
          </a:ln>
          <a:effectLst/>
        </p:spPr>
        <p:txBody>
          <a:bodyPr wrap="none">
            <a:spAutoFit/>
          </a:bodyPr>
          <a:lstStyle/>
          <a:p>
            <a:r>
              <a:rPr lang="en-US" altLang="zh-CN" sz="2000" b="1">
                <a:solidFill>
                  <a:srgbClr val="3333CC"/>
                </a:solidFill>
              </a:rPr>
              <a:t>-1.51</a:t>
            </a:r>
          </a:p>
        </p:txBody>
      </p:sp>
      <p:sp>
        <p:nvSpPr>
          <p:cNvPr id="116767" name="Text Box 31"/>
          <p:cNvSpPr txBox="1">
            <a:spLocks noChangeArrowheads="1"/>
          </p:cNvSpPr>
          <p:nvPr/>
        </p:nvSpPr>
        <p:spPr bwMode="auto">
          <a:xfrm>
            <a:off x="600075" y="2254250"/>
            <a:ext cx="712788" cy="396875"/>
          </a:xfrm>
          <a:prstGeom prst="rect">
            <a:avLst/>
          </a:prstGeom>
          <a:noFill/>
          <a:ln w="9525">
            <a:noFill/>
            <a:miter lim="800000"/>
            <a:headEnd/>
            <a:tailEnd/>
          </a:ln>
          <a:effectLst/>
        </p:spPr>
        <p:txBody>
          <a:bodyPr wrap="none">
            <a:spAutoFit/>
          </a:bodyPr>
          <a:lstStyle/>
          <a:p>
            <a:r>
              <a:rPr lang="en-US" altLang="zh-CN" sz="2000" b="1">
                <a:solidFill>
                  <a:srgbClr val="3333CC"/>
                </a:solidFill>
              </a:rPr>
              <a:t>-3.39</a:t>
            </a:r>
          </a:p>
        </p:txBody>
      </p:sp>
      <p:sp>
        <p:nvSpPr>
          <p:cNvPr id="116768" name="Text Box 32"/>
          <p:cNvSpPr txBox="1">
            <a:spLocks noChangeArrowheads="1"/>
          </p:cNvSpPr>
          <p:nvPr/>
        </p:nvSpPr>
        <p:spPr bwMode="auto">
          <a:xfrm>
            <a:off x="904875" y="882650"/>
            <a:ext cx="311150" cy="396875"/>
          </a:xfrm>
          <a:prstGeom prst="rect">
            <a:avLst/>
          </a:prstGeom>
          <a:noFill/>
          <a:ln w="9525">
            <a:noFill/>
            <a:miter lim="800000"/>
            <a:headEnd/>
            <a:tailEnd/>
          </a:ln>
          <a:effectLst/>
        </p:spPr>
        <p:txBody>
          <a:bodyPr wrap="none">
            <a:spAutoFit/>
          </a:bodyPr>
          <a:lstStyle/>
          <a:p>
            <a:r>
              <a:rPr lang="en-US" altLang="zh-CN" sz="2000" b="1">
                <a:solidFill>
                  <a:srgbClr val="3333CC"/>
                </a:solidFill>
              </a:rPr>
              <a:t>0</a:t>
            </a:r>
          </a:p>
        </p:txBody>
      </p:sp>
      <p:graphicFrame>
        <p:nvGraphicFramePr>
          <p:cNvPr id="116769" name="Object 33"/>
          <p:cNvGraphicFramePr>
            <a:graphicFrameLocks noChangeAspect="1"/>
          </p:cNvGraphicFramePr>
          <p:nvPr/>
        </p:nvGraphicFramePr>
        <p:xfrm>
          <a:off x="566738" y="3643313"/>
          <a:ext cx="1057275" cy="730250"/>
        </p:xfrm>
        <a:graphic>
          <a:graphicData uri="http://schemas.openxmlformats.org/presentationml/2006/ole">
            <p:oleObj spid="_x0000_s29721" name="公式" r:id="rId4" imgW="480600" imgH="334440" progId="Equation.3">
              <p:embed/>
            </p:oleObj>
          </a:graphicData>
        </a:graphic>
      </p:graphicFrame>
      <p:grpSp>
        <p:nvGrpSpPr>
          <p:cNvPr id="116770" name="Group 34"/>
          <p:cNvGrpSpPr>
            <a:grpSpLocks/>
          </p:cNvGrpSpPr>
          <p:nvPr/>
        </p:nvGrpSpPr>
        <p:grpSpPr bwMode="auto">
          <a:xfrm>
            <a:off x="3886200" y="3429000"/>
            <a:ext cx="2924175" cy="838200"/>
            <a:chOff x="2526" y="2160"/>
            <a:chExt cx="1842" cy="528"/>
          </a:xfrm>
        </p:grpSpPr>
        <p:sp>
          <p:nvSpPr>
            <p:cNvPr id="29745" name="Rectangle 35"/>
            <p:cNvSpPr>
              <a:spLocks noChangeArrowheads="1"/>
            </p:cNvSpPr>
            <p:nvPr/>
          </p:nvSpPr>
          <p:spPr bwMode="auto">
            <a:xfrm>
              <a:off x="2526" y="2160"/>
              <a:ext cx="1842" cy="528"/>
            </a:xfrm>
            <a:prstGeom prst="rect">
              <a:avLst/>
            </a:prstGeom>
            <a:solidFill>
              <a:srgbClr val="CCFFFF">
                <a:alpha val="32156"/>
              </a:srgbClr>
            </a:solidFill>
            <a:ln w="19050">
              <a:solidFill>
                <a:srgbClr val="00FFFF"/>
              </a:solidFill>
              <a:miter lim="800000"/>
              <a:headEnd/>
              <a:tailEnd/>
            </a:ln>
            <a:effectLst/>
          </p:spPr>
          <p:txBody>
            <a:bodyPr wrap="none" anchor="ctr"/>
            <a:lstStyle/>
            <a:p>
              <a:endParaRPr lang="zh-CN" altLang="en-US"/>
            </a:p>
          </p:txBody>
        </p:sp>
        <p:graphicFrame>
          <p:nvGraphicFramePr>
            <p:cNvPr id="29746" name="Object 36"/>
            <p:cNvGraphicFramePr>
              <a:graphicFrameLocks/>
            </p:cNvGraphicFramePr>
            <p:nvPr/>
          </p:nvGraphicFramePr>
          <p:xfrm>
            <a:off x="3120" y="2160"/>
            <a:ext cx="1104" cy="519"/>
          </p:xfrm>
          <a:graphic>
            <a:graphicData uri="http://schemas.openxmlformats.org/presentationml/2006/ole">
              <p:oleObj spid="_x0000_s29746" name="公式" r:id="rId5" imgW="1636920" imgH="693360" progId="Equation.3">
                <p:embed/>
              </p:oleObj>
            </a:graphicData>
          </a:graphic>
        </p:graphicFrame>
        <p:sp>
          <p:nvSpPr>
            <p:cNvPr id="29747" name="Text Box 37"/>
            <p:cNvSpPr txBox="1">
              <a:spLocks noChangeArrowheads="1"/>
            </p:cNvSpPr>
            <p:nvPr/>
          </p:nvSpPr>
          <p:spPr bwMode="auto">
            <a:xfrm>
              <a:off x="2526" y="2286"/>
              <a:ext cx="502" cy="288"/>
            </a:xfrm>
            <a:prstGeom prst="rect">
              <a:avLst/>
            </a:prstGeom>
            <a:noFill/>
            <a:ln w="19050">
              <a:noFill/>
              <a:miter lim="800000"/>
              <a:headEnd/>
              <a:tailEnd/>
            </a:ln>
            <a:effectLst/>
          </p:spPr>
          <p:txBody>
            <a:bodyPr wrap="none">
              <a:spAutoFit/>
            </a:bodyPr>
            <a:lstStyle/>
            <a:p>
              <a:r>
                <a:rPr lang="zh-CN" altLang="en-US" b="1">
                  <a:solidFill>
                    <a:schemeClr val="bg1"/>
                  </a:solidFill>
                  <a:ea typeface="楷体_GB2312" pitchFamily="49" charset="-122"/>
                </a:rPr>
                <a:t>光频</a:t>
              </a:r>
            </a:p>
          </p:txBody>
        </p:sp>
      </p:grpSp>
      <p:sp>
        <p:nvSpPr>
          <p:cNvPr id="29723" name="Line 38"/>
          <p:cNvSpPr>
            <a:spLocks noChangeShapeType="1"/>
          </p:cNvSpPr>
          <p:nvPr/>
        </p:nvSpPr>
        <p:spPr bwMode="auto">
          <a:xfrm>
            <a:off x="8686800" y="381000"/>
            <a:ext cx="0" cy="5715000"/>
          </a:xfrm>
          <a:prstGeom prst="line">
            <a:avLst/>
          </a:prstGeom>
          <a:noFill/>
          <a:ln w="57150">
            <a:solidFill>
              <a:srgbClr val="006699"/>
            </a:solidFill>
            <a:round/>
            <a:headEnd/>
            <a:tailEnd/>
          </a:ln>
          <a:effectLst/>
        </p:spPr>
        <p:txBody>
          <a:bodyPr/>
          <a:lstStyle/>
          <a:p>
            <a:endParaRPr lang="zh-CN" altLang="en-US"/>
          </a:p>
        </p:txBody>
      </p:sp>
      <p:sp>
        <p:nvSpPr>
          <p:cNvPr id="29724" name="Line 39"/>
          <p:cNvSpPr>
            <a:spLocks noChangeShapeType="1"/>
          </p:cNvSpPr>
          <p:nvPr/>
        </p:nvSpPr>
        <p:spPr bwMode="auto">
          <a:xfrm>
            <a:off x="1403350" y="1752600"/>
            <a:ext cx="6408738" cy="0"/>
          </a:xfrm>
          <a:prstGeom prst="line">
            <a:avLst/>
          </a:prstGeom>
          <a:noFill/>
          <a:ln w="19050">
            <a:solidFill>
              <a:srgbClr val="008080">
                <a:alpha val="85881"/>
              </a:srgbClr>
            </a:solidFill>
            <a:round/>
            <a:headEnd/>
            <a:tailEnd/>
          </a:ln>
          <a:effectLst/>
        </p:spPr>
        <p:txBody>
          <a:bodyPr/>
          <a:lstStyle/>
          <a:p>
            <a:endParaRPr lang="zh-CN" altLang="en-US"/>
          </a:p>
        </p:txBody>
      </p:sp>
      <p:sp>
        <p:nvSpPr>
          <p:cNvPr id="29725" name="Line 40"/>
          <p:cNvSpPr>
            <a:spLocks noChangeShapeType="1"/>
          </p:cNvSpPr>
          <p:nvPr/>
        </p:nvSpPr>
        <p:spPr bwMode="auto">
          <a:xfrm>
            <a:off x="1403350" y="1412875"/>
            <a:ext cx="6408738" cy="0"/>
          </a:xfrm>
          <a:prstGeom prst="line">
            <a:avLst/>
          </a:prstGeom>
          <a:noFill/>
          <a:ln w="19050">
            <a:solidFill>
              <a:srgbClr val="008080">
                <a:alpha val="83136"/>
              </a:srgbClr>
            </a:solidFill>
            <a:round/>
            <a:headEnd/>
            <a:tailEnd/>
          </a:ln>
          <a:effectLst/>
        </p:spPr>
        <p:txBody>
          <a:bodyPr/>
          <a:lstStyle/>
          <a:p>
            <a:endParaRPr lang="zh-CN" altLang="en-US"/>
          </a:p>
        </p:txBody>
      </p:sp>
      <p:sp>
        <p:nvSpPr>
          <p:cNvPr id="29726" name="Line 41"/>
          <p:cNvSpPr>
            <a:spLocks noChangeShapeType="1"/>
          </p:cNvSpPr>
          <p:nvPr/>
        </p:nvSpPr>
        <p:spPr bwMode="auto">
          <a:xfrm>
            <a:off x="1403350" y="1284288"/>
            <a:ext cx="6408738" cy="0"/>
          </a:xfrm>
          <a:prstGeom prst="line">
            <a:avLst/>
          </a:prstGeom>
          <a:noFill/>
          <a:ln w="19050">
            <a:solidFill>
              <a:srgbClr val="008080">
                <a:alpha val="83136"/>
              </a:srgbClr>
            </a:solidFill>
            <a:round/>
            <a:headEnd/>
            <a:tailEnd/>
          </a:ln>
          <a:effectLst/>
        </p:spPr>
        <p:txBody>
          <a:bodyPr/>
          <a:lstStyle/>
          <a:p>
            <a:endParaRPr lang="zh-CN" altLang="en-US"/>
          </a:p>
        </p:txBody>
      </p:sp>
      <p:sp>
        <p:nvSpPr>
          <p:cNvPr id="29727" name="Line 42"/>
          <p:cNvSpPr>
            <a:spLocks noChangeShapeType="1"/>
          </p:cNvSpPr>
          <p:nvPr/>
        </p:nvSpPr>
        <p:spPr bwMode="auto">
          <a:xfrm>
            <a:off x="1403350" y="1196975"/>
            <a:ext cx="6408738" cy="0"/>
          </a:xfrm>
          <a:prstGeom prst="line">
            <a:avLst/>
          </a:prstGeom>
          <a:noFill/>
          <a:ln w="19050">
            <a:solidFill>
              <a:srgbClr val="008080">
                <a:alpha val="83136"/>
              </a:srgbClr>
            </a:solidFill>
            <a:round/>
            <a:headEnd/>
            <a:tailEnd/>
          </a:ln>
          <a:effectLst/>
        </p:spPr>
        <p:txBody>
          <a:bodyPr/>
          <a:lstStyle/>
          <a:p>
            <a:endParaRPr lang="zh-CN" altLang="en-US"/>
          </a:p>
        </p:txBody>
      </p:sp>
      <p:sp>
        <p:nvSpPr>
          <p:cNvPr id="29728" name="Line 43"/>
          <p:cNvSpPr>
            <a:spLocks noChangeShapeType="1"/>
          </p:cNvSpPr>
          <p:nvPr/>
        </p:nvSpPr>
        <p:spPr bwMode="auto">
          <a:xfrm>
            <a:off x="1403350" y="1139825"/>
            <a:ext cx="6408738" cy="0"/>
          </a:xfrm>
          <a:prstGeom prst="line">
            <a:avLst/>
          </a:prstGeom>
          <a:noFill/>
          <a:ln w="19050">
            <a:solidFill>
              <a:srgbClr val="008080">
                <a:alpha val="83136"/>
              </a:srgbClr>
            </a:solidFill>
            <a:round/>
            <a:headEnd/>
            <a:tailEnd/>
          </a:ln>
          <a:effectLst/>
        </p:spPr>
        <p:txBody>
          <a:bodyPr/>
          <a:lstStyle/>
          <a:p>
            <a:endParaRPr lang="zh-CN" altLang="en-US"/>
          </a:p>
        </p:txBody>
      </p:sp>
      <p:sp>
        <p:nvSpPr>
          <p:cNvPr id="29729" name="Line 44"/>
          <p:cNvSpPr>
            <a:spLocks noChangeShapeType="1"/>
          </p:cNvSpPr>
          <p:nvPr/>
        </p:nvSpPr>
        <p:spPr bwMode="auto">
          <a:xfrm>
            <a:off x="1403350" y="2492375"/>
            <a:ext cx="6408738" cy="0"/>
          </a:xfrm>
          <a:prstGeom prst="line">
            <a:avLst/>
          </a:prstGeom>
          <a:noFill/>
          <a:ln w="19050">
            <a:solidFill>
              <a:srgbClr val="008080">
                <a:alpha val="85881"/>
              </a:srgbClr>
            </a:solidFill>
            <a:round/>
            <a:headEnd/>
            <a:tailEnd/>
          </a:ln>
          <a:effectLst/>
        </p:spPr>
        <p:txBody>
          <a:bodyPr/>
          <a:lstStyle/>
          <a:p>
            <a:endParaRPr lang="zh-CN" altLang="en-US"/>
          </a:p>
        </p:txBody>
      </p:sp>
      <p:sp>
        <p:nvSpPr>
          <p:cNvPr id="29730" name="Line 45"/>
          <p:cNvSpPr>
            <a:spLocks noChangeShapeType="1"/>
          </p:cNvSpPr>
          <p:nvPr/>
        </p:nvSpPr>
        <p:spPr bwMode="auto">
          <a:xfrm>
            <a:off x="1403350" y="5805488"/>
            <a:ext cx="6408738" cy="0"/>
          </a:xfrm>
          <a:prstGeom prst="line">
            <a:avLst/>
          </a:prstGeom>
          <a:noFill/>
          <a:ln w="19050">
            <a:solidFill>
              <a:srgbClr val="008080">
                <a:alpha val="85881"/>
              </a:srgbClr>
            </a:solidFill>
            <a:round/>
            <a:headEnd/>
            <a:tailEnd/>
          </a:ln>
          <a:effectLst/>
        </p:spPr>
        <p:txBody>
          <a:bodyPr/>
          <a:lstStyle/>
          <a:p>
            <a:endParaRPr lang="zh-CN" altLang="en-US"/>
          </a:p>
        </p:txBody>
      </p:sp>
      <p:sp>
        <p:nvSpPr>
          <p:cNvPr id="116782" name="Rectangle 46"/>
          <p:cNvSpPr>
            <a:spLocks noChangeArrowheads="1"/>
          </p:cNvSpPr>
          <p:nvPr/>
        </p:nvSpPr>
        <p:spPr bwMode="auto">
          <a:xfrm>
            <a:off x="1403350" y="836613"/>
            <a:ext cx="6408738" cy="288925"/>
          </a:xfrm>
          <a:prstGeom prst="rect">
            <a:avLst/>
          </a:prstGeom>
          <a:gradFill rotWithShape="1">
            <a:gsLst>
              <a:gs pos="0">
                <a:schemeClr val="accent1">
                  <a:gamma/>
                  <a:shade val="46275"/>
                  <a:invGamma/>
                  <a:alpha val="58000"/>
                </a:schemeClr>
              </a:gs>
              <a:gs pos="100000">
                <a:schemeClr val="accent1">
                  <a:alpha val="73000"/>
                </a:schemeClr>
              </a:gs>
            </a:gsLst>
            <a:lin ang="5400000" scaled="1"/>
          </a:gradFill>
          <a:ln>
            <a:noFill/>
          </a:ln>
          <a:effectLst/>
          <a:extLst>
            <a:ext uri="{91240B29-F687-4F45-9708-019B960494DF}">
              <a14:hiddenLine xmlns="" xmlns:a14="http://schemas.microsoft.com/office/drawing/2010/main" w="1905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116783" name="Line 47"/>
          <p:cNvSpPr>
            <a:spLocks noChangeShapeType="1"/>
          </p:cNvSpPr>
          <p:nvPr/>
        </p:nvSpPr>
        <p:spPr bwMode="auto">
          <a:xfrm>
            <a:off x="6804025" y="1268413"/>
            <a:ext cx="0" cy="144462"/>
          </a:xfrm>
          <a:prstGeom prst="line">
            <a:avLst/>
          </a:prstGeom>
          <a:noFill/>
          <a:ln w="19050">
            <a:solidFill>
              <a:srgbClr val="FF6600"/>
            </a:solidFill>
            <a:round/>
            <a:headEnd/>
            <a:tailEnd type="triangle" w="med" len="med"/>
          </a:ln>
          <a:effectLst/>
        </p:spPr>
        <p:txBody>
          <a:bodyPr/>
          <a:lstStyle/>
          <a:p>
            <a:endParaRPr lang="zh-CN" altLang="en-US"/>
          </a:p>
        </p:txBody>
      </p:sp>
      <p:sp>
        <p:nvSpPr>
          <p:cNvPr id="116784" name="Line 48"/>
          <p:cNvSpPr>
            <a:spLocks noChangeShapeType="1"/>
          </p:cNvSpPr>
          <p:nvPr/>
        </p:nvSpPr>
        <p:spPr bwMode="auto">
          <a:xfrm>
            <a:off x="6948488" y="1196975"/>
            <a:ext cx="0" cy="215900"/>
          </a:xfrm>
          <a:prstGeom prst="line">
            <a:avLst/>
          </a:prstGeom>
          <a:noFill/>
          <a:ln w="19050">
            <a:solidFill>
              <a:srgbClr val="FF6600"/>
            </a:solidFill>
            <a:round/>
            <a:headEnd/>
            <a:tailEnd type="triangle" w="med" len="med"/>
          </a:ln>
          <a:effectLst/>
        </p:spPr>
        <p:txBody>
          <a:bodyPr/>
          <a:lstStyle/>
          <a:p>
            <a:endParaRPr lang="zh-CN" altLang="en-US"/>
          </a:p>
        </p:txBody>
      </p:sp>
      <p:sp>
        <p:nvSpPr>
          <p:cNvPr id="116785" name="Line 49"/>
          <p:cNvSpPr>
            <a:spLocks noChangeShapeType="1"/>
          </p:cNvSpPr>
          <p:nvPr/>
        </p:nvSpPr>
        <p:spPr bwMode="auto">
          <a:xfrm>
            <a:off x="7092950" y="1125538"/>
            <a:ext cx="0" cy="287337"/>
          </a:xfrm>
          <a:prstGeom prst="line">
            <a:avLst/>
          </a:prstGeom>
          <a:noFill/>
          <a:ln w="19050">
            <a:solidFill>
              <a:srgbClr val="FF6600"/>
            </a:solidFill>
            <a:round/>
            <a:headEnd/>
            <a:tailEnd type="triangle" w="med" len="med"/>
          </a:ln>
          <a:effectLst/>
        </p:spPr>
        <p:txBody>
          <a:bodyPr/>
          <a:lstStyle/>
          <a:p>
            <a:endParaRPr lang="zh-CN" altLang="en-US"/>
          </a:p>
        </p:txBody>
      </p:sp>
      <p:sp>
        <p:nvSpPr>
          <p:cNvPr id="29735" name="Text Box 50"/>
          <p:cNvSpPr txBox="1">
            <a:spLocks noChangeArrowheads="1"/>
          </p:cNvSpPr>
          <p:nvPr/>
        </p:nvSpPr>
        <p:spPr bwMode="auto">
          <a:xfrm>
            <a:off x="7916863" y="5589588"/>
            <a:ext cx="723900" cy="396875"/>
          </a:xfrm>
          <a:prstGeom prst="rect">
            <a:avLst/>
          </a:prstGeom>
          <a:noFill/>
          <a:ln w="9525">
            <a:noFill/>
            <a:miter lim="800000"/>
            <a:headEnd/>
            <a:tailEnd/>
          </a:ln>
          <a:effectLst/>
        </p:spPr>
        <p:txBody>
          <a:bodyPr wrap="none">
            <a:spAutoFit/>
          </a:bodyPr>
          <a:lstStyle/>
          <a:p>
            <a:r>
              <a:rPr lang="en-US" altLang="zh-CN" sz="2000" b="1" i="1">
                <a:solidFill>
                  <a:schemeClr val="bg1"/>
                </a:solidFill>
              </a:rPr>
              <a:t>n</a:t>
            </a:r>
            <a:r>
              <a:rPr lang="en-US" altLang="zh-CN" sz="2000" b="1">
                <a:solidFill>
                  <a:schemeClr val="bg1"/>
                </a:solidFill>
              </a:rPr>
              <a:t> = 1</a:t>
            </a:r>
          </a:p>
        </p:txBody>
      </p:sp>
      <p:sp>
        <p:nvSpPr>
          <p:cNvPr id="29736" name="Text Box 51"/>
          <p:cNvSpPr txBox="1">
            <a:spLocks noChangeArrowheads="1"/>
          </p:cNvSpPr>
          <p:nvPr/>
        </p:nvSpPr>
        <p:spPr bwMode="auto">
          <a:xfrm>
            <a:off x="7956550" y="2305050"/>
            <a:ext cx="723900" cy="396875"/>
          </a:xfrm>
          <a:prstGeom prst="rect">
            <a:avLst/>
          </a:prstGeom>
          <a:noFill/>
          <a:ln w="9525">
            <a:noFill/>
            <a:miter lim="800000"/>
            <a:headEnd/>
            <a:tailEnd/>
          </a:ln>
          <a:effectLst/>
        </p:spPr>
        <p:txBody>
          <a:bodyPr wrap="none">
            <a:spAutoFit/>
          </a:bodyPr>
          <a:lstStyle/>
          <a:p>
            <a:r>
              <a:rPr lang="en-US" altLang="zh-CN" sz="2000" b="1" i="1">
                <a:solidFill>
                  <a:schemeClr val="bg1"/>
                </a:solidFill>
              </a:rPr>
              <a:t>n</a:t>
            </a:r>
            <a:r>
              <a:rPr lang="en-US" altLang="zh-CN" sz="2000" b="1">
                <a:solidFill>
                  <a:schemeClr val="bg1"/>
                </a:solidFill>
              </a:rPr>
              <a:t> = 2</a:t>
            </a:r>
          </a:p>
        </p:txBody>
      </p:sp>
      <p:sp>
        <p:nvSpPr>
          <p:cNvPr id="29737" name="Text Box 52"/>
          <p:cNvSpPr txBox="1">
            <a:spLocks noChangeArrowheads="1"/>
          </p:cNvSpPr>
          <p:nvPr/>
        </p:nvSpPr>
        <p:spPr bwMode="auto">
          <a:xfrm>
            <a:off x="7959725" y="1857375"/>
            <a:ext cx="723900" cy="396875"/>
          </a:xfrm>
          <a:prstGeom prst="rect">
            <a:avLst/>
          </a:prstGeom>
          <a:noFill/>
          <a:ln w="9525">
            <a:noFill/>
            <a:miter lim="800000"/>
            <a:headEnd/>
            <a:tailEnd/>
          </a:ln>
          <a:effectLst/>
        </p:spPr>
        <p:txBody>
          <a:bodyPr wrap="none">
            <a:spAutoFit/>
          </a:bodyPr>
          <a:lstStyle/>
          <a:p>
            <a:r>
              <a:rPr lang="en-US" altLang="zh-CN" sz="2000" b="1" i="1">
                <a:solidFill>
                  <a:schemeClr val="bg1"/>
                </a:solidFill>
              </a:rPr>
              <a:t>n</a:t>
            </a:r>
            <a:r>
              <a:rPr lang="en-US" altLang="zh-CN" sz="2000" b="1">
                <a:solidFill>
                  <a:schemeClr val="bg1"/>
                </a:solidFill>
              </a:rPr>
              <a:t> = 3</a:t>
            </a:r>
          </a:p>
        </p:txBody>
      </p:sp>
      <p:sp>
        <p:nvSpPr>
          <p:cNvPr id="29738" name="Text Box 53"/>
          <p:cNvSpPr txBox="1">
            <a:spLocks noChangeArrowheads="1"/>
          </p:cNvSpPr>
          <p:nvPr/>
        </p:nvSpPr>
        <p:spPr bwMode="auto">
          <a:xfrm>
            <a:off x="7959725" y="1425575"/>
            <a:ext cx="723900" cy="396875"/>
          </a:xfrm>
          <a:prstGeom prst="rect">
            <a:avLst/>
          </a:prstGeom>
          <a:noFill/>
          <a:ln w="9525">
            <a:noFill/>
            <a:miter lim="800000"/>
            <a:headEnd/>
            <a:tailEnd/>
          </a:ln>
          <a:effectLst/>
        </p:spPr>
        <p:txBody>
          <a:bodyPr wrap="none">
            <a:spAutoFit/>
          </a:bodyPr>
          <a:lstStyle/>
          <a:p>
            <a:r>
              <a:rPr lang="en-US" altLang="zh-CN" sz="2000" b="1" i="1">
                <a:solidFill>
                  <a:schemeClr val="bg1"/>
                </a:solidFill>
              </a:rPr>
              <a:t>n</a:t>
            </a:r>
            <a:r>
              <a:rPr lang="en-US" altLang="zh-CN" sz="2000" b="1">
                <a:solidFill>
                  <a:schemeClr val="bg1"/>
                </a:solidFill>
              </a:rPr>
              <a:t> = 4</a:t>
            </a:r>
          </a:p>
        </p:txBody>
      </p:sp>
      <p:sp>
        <p:nvSpPr>
          <p:cNvPr id="29739" name="Text Box 54"/>
          <p:cNvSpPr txBox="1">
            <a:spLocks noChangeArrowheads="1"/>
          </p:cNvSpPr>
          <p:nvPr/>
        </p:nvSpPr>
        <p:spPr bwMode="auto">
          <a:xfrm>
            <a:off x="7959725" y="1081088"/>
            <a:ext cx="723900" cy="396875"/>
          </a:xfrm>
          <a:prstGeom prst="rect">
            <a:avLst/>
          </a:prstGeom>
          <a:noFill/>
          <a:ln w="9525">
            <a:noFill/>
            <a:miter lim="800000"/>
            <a:headEnd/>
            <a:tailEnd/>
          </a:ln>
          <a:effectLst/>
        </p:spPr>
        <p:txBody>
          <a:bodyPr wrap="none">
            <a:spAutoFit/>
          </a:bodyPr>
          <a:lstStyle/>
          <a:p>
            <a:r>
              <a:rPr lang="en-US" altLang="zh-CN" sz="2000" b="1" i="1">
                <a:solidFill>
                  <a:schemeClr val="bg1"/>
                </a:solidFill>
              </a:rPr>
              <a:t>n</a:t>
            </a:r>
            <a:r>
              <a:rPr lang="en-US" altLang="zh-CN" sz="2000" b="1">
                <a:solidFill>
                  <a:schemeClr val="bg1"/>
                </a:solidFill>
              </a:rPr>
              <a:t> = 5</a:t>
            </a:r>
          </a:p>
        </p:txBody>
      </p:sp>
      <p:sp>
        <p:nvSpPr>
          <p:cNvPr id="29740" name="Text Box 55"/>
          <p:cNvSpPr txBox="1">
            <a:spLocks noChangeArrowheads="1"/>
          </p:cNvSpPr>
          <p:nvPr/>
        </p:nvSpPr>
        <p:spPr bwMode="auto">
          <a:xfrm>
            <a:off x="7956550" y="706438"/>
            <a:ext cx="723900" cy="396875"/>
          </a:xfrm>
          <a:prstGeom prst="rect">
            <a:avLst/>
          </a:prstGeom>
          <a:noFill/>
          <a:ln w="9525">
            <a:noFill/>
            <a:miter lim="800000"/>
            <a:headEnd/>
            <a:tailEnd/>
          </a:ln>
          <a:effectLst/>
        </p:spPr>
        <p:txBody>
          <a:bodyPr wrap="none">
            <a:spAutoFit/>
          </a:bodyPr>
          <a:lstStyle/>
          <a:p>
            <a:r>
              <a:rPr lang="en-US" altLang="zh-CN" sz="2000" b="1" i="1">
                <a:solidFill>
                  <a:schemeClr val="bg1"/>
                </a:solidFill>
              </a:rPr>
              <a:t>n</a:t>
            </a:r>
            <a:r>
              <a:rPr lang="en-US" altLang="zh-CN" sz="2000" b="1">
                <a:solidFill>
                  <a:schemeClr val="bg1"/>
                </a:solidFill>
              </a:rPr>
              <a:t> = 6</a:t>
            </a:r>
          </a:p>
        </p:txBody>
      </p:sp>
      <p:sp>
        <p:nvSpPr>
          <p:cNvPr id="29741" name="Line 56"/>
          <p:cNvSpPr>
            <a:spLocks noChangeShapeType="1"/>
          </p:cNvSpPr>
          <p:nvPr/>
        </p:nvSpPr>
        <p:spPr bwMode="auto">
          <a:xfrm>
            <a:off x="7812088" y="1773238"/>
            <a:ext cx="215900" cy="287337"/>
          </a:xfrm>
          <a:prstGeom prst="line">
            <a:avLst/>
          </a:prstGeom>
          <a:noFill/>
          <a:ln w="15875">
            <a:solidFill>
              <a:schemeClr val="hlink"/>
            </a:solidFill>
            <a:round/>
            <a:headEnd/>
            <a:tailEnd/>
          </a:ln>
          <a:effectLst/>
        </p:spPr>
        <p:txBody>
          <a:bodyPr/>
          <a:lstStyle/>
          <a:p>
            <a:endParaRPr lang="zh-CN" altLang="en-US"/>
          </a:p>
        </p:txBody>
      </p:sp>
      <p:sp>
        <p:nvSpPr>
          <p:cNvPr id="29742" name="Line 57"/>
          <p:cNvSpPr>
            <a:spLocks noChangeShapeType="1"/>
          </p:cNvSpPr>
          <p:nvPr/>
        </p:nvSpPr>
        <p:spPr bwMode="auto">
          <a:xfrm>
            <a:off x="7812088" y="1412875"/>
            <a:ext cx="215900" cy="215900"/>
          </a:xfrm>
          <a:prstGeom prst="line">
            <a:avLst/>
          </a:prstGeom>
          <a:noFill/>
          <a:ln w="15875">
            <a:solidFill>
              <a:schemeClr val="hlink"/>
            </a:solidFill>
            <a:round/>
            <a:headEnd/>
            <a:tailEnd/>
          </a:ln>
          <a:effectLst/>
        </p:spPr>
        <p:txBody>
          <a:bodyPr/>
          <a:lstStyle/>
          <a:p>
            <a:endParaRPr lang="zh-CN" altLang="en-US"/>
          </a:p>
        </p:txBody>
      </p:sp>
      <p:sp>
        <p:nvSpPr>
          <p:cNvPr id="29743" name="Line 58"/>
          <p:cNvSpPr>
            <a:spLocks noChangeShapeType="1"/>
          </p:cNvSpPr>
          <p:nvPr/>
        </p:nvSpPr>
        <p:spPr bwMode="auto">
          <a:xfrm>
            <a:off x="7812088" y="1295400"/>
            <a:ext cx="215900" cy="0"/>
          </a:xfrm>
          <a:prstGeom prst="line">
            <a:avLst/>
          </a:prstGeom>
          <a:noFill/>
          <a:ln w="15875">
            <a:solidFill>
              <a:schemeClr val="hlink"/>
            </a:solidFill>
            <a:round/>
            <a:headEnd/>
            <a:tailEnd/>
          </a:ln>
          <a:effectLst/>
        </p:spPr>
        <p:txBody>
          <a:bodyPr/>
          <a:lstStyle/>
          <a:p>
            <a:endParaRPr lang="zh-CN" altLang="en-US"/>
          </a:p>
        </p:txBody>
      </p:sp>
      <p:sp>
        <p:nvSpPr>
          <p:cNvPr id="29744" name="Line 59"/>
          <p:cNvSpPr>
            <a:spLocks noChangeShapeType="1"/>
          </p:cNvSpPr>
          <p:nvPr/>
        </p:nvSpPr>
        <p:spPr bwMode="auto">
          <a:xfrm flipV="1">
            <a:off x="7812088" y="981075"/>
            <a:ext cx="215900" cy="215900"/>
          </a:xfrm>
          <a:prstGeom prst="line">
            <a:avLst/>
          </a:prstGeom>
          <a:noFill/>
          <a:ln w="15875">
            <a:solidFill>
              <a:schemeClr val="hlink"/>
            </a:solidFill>
            <a:round/>
            <a:headEnd/>
            <a:tailEnd/>
          </a:ln>
          <a:effectLst/>
        </p:spPr>
        <p:txBody>
          <a:bodyPr/>
          <a:lstStyle/>
          <a:p>
            <a:endParaRPr lang="zh-CN" altLang="en-US"/>
          </a:p>
        </p:txBody>
      </p:sp>
    </p:spTree>
  </p:cSld>
  <p:clrMapOvr>
    <a:overrideClrMapping bg1="dk2" tx1="lt1" bg2="dk1" tx2="lt2" accent1="accent1" accent2="accent2" accent3="accent3" accent4="accent4" accent5="accent5" accent6="accent6" hlink="hlink" folHlink="folHlink"/>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6765"/>
                                        </p:tgtEl>
                                        <p:attrNameLst>
                                          <p:attrName>style.visibility</p:attrName>
                                        </p:attrNameLst>
                                      </p:cBhvr>
                                      <p:to>
                                        <p:strVal val="visible"/>
                                      </p:to>
                                    </p:set>
                                    <p:animEffect transition="in" filter="dissolve">
                                      <p:cBhvr>
                                        <p:cTn id="7" dur="500"/>
                                        <p:tgtEl>
                                          <p:spTgt spid="116765"/>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499"/>
                                          </p:stCondLst>
                                        </p:cTn>
                                        <p:tgtEl>
                                          <p:spTgt spid="11676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16767"/>
                                        </p:tgtEl>
                                        <p:attrNameLst>
                                          <p:attrName>style.visibility</p:attrName>
                                        </p:attrNameLst>
                                      </p:cBhvr>
                                      <p:to>
                                        <p:strVal val="visible"/>
                                      </p:to>
                                    </p:set>
                                    <p:animEffect transition="in" filter="dissolve">
                                      <p:cBhvr>
                                        <p:cTn id="15" dur="500"/>
                                        <p:tgtEl>
                                          <p:spTgt spid="116767"/>
                                        </p:tgtEl>
                                      </p:cBhvr>
                                    </p:animEffect>
                                  </p:childTnLst>
                                </p:cTn>
                              </p:par>
                            </p:childTnLst>
                          </p:cTn>
                        </p:par>
                        <p:par>
                          <p:cTn id="16" fill="hold" nodeType="afterGroup">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116766"/>
                                        </p:tgtEl>
                                        <p:attrNameLst>
                                          <p:attrName>style.visibility</p:attrName>
                                        </p:attrNameLst>
                                      </p:cBhvr>
                                      <p:to>
                                        <p:strVal val="visible"/>
                                      </p:to>
                                    </p:set>
                                    <p:animEffect transition="in" filter="dissolve">
                                      <p:cBhvr>
                                        <p:cTn id="19" dur="500"/>
                                        <p:tgtEl>
                                          <p:spTgt spid="116766"/>
                                        </p:tgtEl>
                                      </p:cBhvr>
                                    </p:animEffect>
                                  </p:childTnLst>
                                </p:cTn>
                              </p:par>
                            </p:childTnLst>
                          </p:cTn>
                        </p:par>
                        <p:par>
                          <p:cTn id="20" fill="hold" nodeType="afterGroup">
                            <p:stCondLst>
                              <p:cond delay="1000"/>
                            </p:stCondLst>
                            <p:childTnLst>
                              <p:par>
                                <p:cTn id="21" presetID="9" presetClass="entr" presetSubtype="0" fill="hold" grpId="0" nodeType="afterEffect">
                                  <p:stCondLst>
                                    <p:cond delay="0"/>
                                  </p:stCondLst>
                                  <p:childTnLst>
                                    <p:set>
                                      <p:cBhvr>
                                        <p:cTn id="22" dur="1" fill="hold">
                                          <p:stCondLst>
                                            <p:cond delay="0"/>
                                          </p:stCondLst>
                                        </p:cTn>
                                        <p:tgtEl>
                                          <p:spTgt spid="116768"/>
                                        </p:tgtEl>
                                        <p:attrNameLst>
                                          <p:attrName>style.visibility</p:attrName>
                                        </p:attrNameLst>
                                      </p:cBhvr>
                                      <p:to>
                                        <p:strVal val="visible"/>
                                      </p:to>
                                    </p:set>
                                    <p:animEffect transition="in" filter="dissolve">
                                      <p:cBhvr>
                                        <p:cTn id="23" dur="500"/>
                                        <p:tgtEl>
                                          <p:spTgt spid="11676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116770"/>
                                        </p:tgtEl>
                                        <p:attrNameLst>
                                          <p:attrName>style.visibility</p:attrName>
                                        </p:attrNameLst>
                                      </p:cBhvr>
                                      <p:to>
                                        <p:strVal val="visible"/>
                                      </p:to>
                                    </p:set>
                                    <p:animEffect transition="in" filter="dissolve">
                                      <p:cBhvr>
                                        <p:cTn id="28" dur="500"/>
                                        <p:tgtEl>
                                          <p:spTgt spid="11677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1" fill="hold" grpId="0" nodeType="clickEffect">
                                  <p:stCondLst>
                                    <p:cond delay="0"/>
                                  </p:stCondLst>
                                  <p:childTnLst>
                                    <p:set>
                                      <p:cBhvr>
                                        <p:cTn id="32" dur="1" fill="hold">
                                          <p:stCondLst>
                                            <p:cond delay="0"/>
                                          </p:stCondLst>
                                        </p:cTn>
                                        <p:tgtEl>
                                          <p:spTgt spid="116752"/>
                                        </p:tgtEl>
                                        <p:attrNameLst>
                                          <p:attrName>style.visibility</p:attrName>
                                        </p:attrNameLst>
                                      </p:cBhvr>
                                      <p:to>
                                        <p:strVal val="visible"/>
                                      </p:to>
                                    </p:set>
                                    <p:anim calcmode="lin" valueType="num">
                                      <p:cBhvr>
                                        <p:cTn id="33" dur="500" fill="hold"/>
                                        <p:tgtEl>
                                          <p:spTgt spid="116752"/>
                                        </p:tgtEl>
                                        <p:attrNameLst>
                                          <p:attrName>ppt_x</p:attrName>
                                        </p:attrNameLst>
                                      </p:cBhvr>
                                      <p:tavLst>
                                        <p:tav tm="0">
                                          <p:val>
                                            <p:strVal val="#ppt_x"/>
                                          </p:val>
                                        </p:tav>
                                        <p:tav tm="100000">
                                          <p:val>
                                            <p:strVal val="#ppt_x"/>
                                          </p:val>
                                        </p:tav>
                                      </p:tavLst>
                                    </p:anim>
                                    <p:anim calcmode="lin" valueType="num">
                                      <p:cBhvr>
                                        <p:cTn id="34" dur="500" fill="hold"/>
                                        <p:tgtEl>
                                          <p:spTgt spid="116752"/>
                                        </p:tgtEl>
                                        <p:attrNameLst>
                                          <p:attrName>ppt_y</p:attrName>
                                        </p:attrNameLst>
                                      </p:cBhvr>
                                      <p:tavLst>
                                        <p:tav tm="0">
                                          <p:val>
                                            <p:strVal val="#ppt_y-#ppt_h/2"/>
                                          </p:val>
                                        </p:tav>
                                        <p:tav tm="100000">
                                          <p:val>
                                            <p:strVal val="#ppt_y"/>
                                          </p:val>
                                        </p:tav>
                                      </p:tavLst>
                                    </p:anim>
                                    <p:anim calcmode="lin" valueType="num">
                                      <p:cBhvr>
                                        <p:cTn id="35" dur="500" fill="hold"/>
                                        <p:tgtEl>
                                          <p:spTgt spid="116752"/>
                                        </p:tgtEl>
                                        <p:attrNameLst>
                                          <p:attrName>ppt_w</p:attrName>
                                        </p:attrNameLst>
                                      </p:cBhvr>
                                      <p:tavLst>
                                        <p:tav tm="0">
                                          <p:val>
                                            <p:strVal val="#ppt_w"/>
                                          </p:val>
                                        </p:tav>
                                        <p:tav tm="100000">
                                          <p:val>
                                            <p:strVal val="#ppt_w"/>
                                          </p:val>
                                        </p:tav>
                                      </p:tavLst>
                                    </p:anim>
                                    <p:anim calcmode="lin" valueType="num">
                                      <p:cBhvr>
                                        <p:cTn id="36" dur="500" fill="hold"/>
                                        <p:tgtEl>
                                          <p:spTgt spid="116752"/>
                                        </p:tgtEl>
                                        <p:attrNameLst>
                                          <p:attrName>ppt_h</p:attrName>
                                        </p:attrNameLst>
                                      </p:cBhvr>
                                      <p:tavLst>
                                        <p:tav tm="0">
                                          <p:val>
                                            <p:fltVal val="0"/>
                                          </p:val>
                                        </p:tav>
                                        <p:tav tm="100000">
                                          <p:val>
                                            <p:strVal val="#ppt_h"/>
                                          </p:val>
                                        </p:tav>
                                      </p:tavLst>
                                    </p:anim>
                                  </p:childTnLst>
                                </p:cTn>
                              </p:par>
                            </p:childTnLst>
                          </p:cTn>
                        </p:par>
                        <p:par>
                          <p:cTn id="37" fill="hold" nodeType="afterGroup">
                            <p:stCondLst>
                              <p:cond delay="500"/>
                            </p:stCondLst>
                            <p:childTnLst>
                              <p:par>
                                <p:cTn id="38" presetID="17" presetClass="entr" presetSubtype="1" fill="hold" grpId="0" nodeType="afterEffect">
                                  <p:stCondLst>
                                    <p:cond delay="1000"/>
                                  </p:stCondLst>
                                  <p:childTnLst>
                                    <p:set>
                                      <p:cBhvr>
                                        <p:cTn id="39" dur="1" fill="hold">
                                          <p:stCondLst>
                                            <p:cond delay="0"/>
                                          </p:stCondLst>
                                        </p:cTn>
                                        <p:tgtEl>
                                          <p:spTgt spid="116753"/>
                                        </p:tgtEl>
                                        <p:attrNameLst>
                                          <p:attrName>style.visibility</p:attrName>
                                        </p:attrNameLst>
                                      </p:cBhvr>
                                      <p:to>
                                        <p:strVal val="visible"/>
                                      </p:to>
                                    </p:set>
                                    <p:anim calcmode="lin" valueType="num">
                                      <p:cBhvr>
                                        <p:cTn id="40" dur="500" fill="hold"/>
                                        <p:tgtEl>
                                          <p:spTgt spid="116753"/>
                                        </p:tgtEl>
                                        <p:attrNameLst>
                                          <p:attrName>ppt_x</p:attrName>
                                        </p:attrNameLst>
                                      </p:cBhvr>
                                      <p:tavLst>
                                        <p:tav tm="0">
                                          <p:val>
                                            <p:strVal val="#ppt_x"/>
                                          </p:val>
                                        </p:tav>
                                        <p:tav tm="100000">
                                          <p:val>
                                            <p:strVal val="#ppt_x"/>
                                          </p:val>
                                        </p:tav>
                                      </p:tavLst>
                                    </p:anim>
                                    <p:anim calcmode="lin" valueType="num">
                                      <p:cBhvr>
                                        <p:cTn id="41" dur="500" fill="hold"/>
                                        <p:tgtEl>
                                          <p:spTgt spid="116753"/>
                                        </p:tgtEl>
                                        <p:attrNameLst>
                                          <p:attrName>ppt_y</p:attrName>
                                        </p:attrNameLst>
                                      </p:cBhvr>
                                      <p:tavLst>
                                        <p:tav tm="0">
                                          <p:val>
                                            <p:strVal val="#ppt_y-#ppt_h/2"/>
                                          </p:val>
                                        </p:tav>
                                        <p:tav tm="100000">
                                          <p:val>
                                            <p:strVal val="#ppt_y"/>
                                          </p:val>
                                        </p:tav>
                                      </p:tavLst>
                                    </p:anim>
                                    <p:anim calcmode="lin" valueType="num">
                                      <p:cBhvr>
                                        <p:cTn id="42" dur="500" fill="hold"/>
                                        <p:tgtEl>
                                          <p:spTgt spid="116753"/>
                                        </p:tgtEl>
                                        <p:attrNameLst>
                                          <p:attrName>ppt_w</p:attrName>
                                        </p:attrNameLst>
                                      </p:cBhvr>
                                      <p:tavLst>
                                        <p:tav tm="0">
                                          <p:val>
                                            <p:strVal val="#ppt_w"/>
                                          </p:val>
                                        </p:tav>
                                        <p:tav tm="100000">
                                          <p:val>
                                            <p:strVal val="#ppt_w"/>
                                          </p:val>
                                        </p:tav>
                                      </p:tavLst>
                                    </p:anim>
                                    <p:anim calcmode="lin" valueType="num">
                                      <p:cBhvr>
                                        <p:cTn id="43" dur="500" fill="hold"/>
                                        <p:tgtEl>
                                          <p:spTgt spid="116753"/>
                                        </p:tgtEl>
                                        <p:attrNameLst>
                                          <p:attrName>ppt_h</p:attrName>
                                        </p:attrNameLst>
                                      </p:cBhvr>
                                      <p:tavLst>
                                        <p:tav tm="0">
                                          <p:val>
                                            <p:fltVal val="0"/>
                                          </p:val>
                                        </p:tav>
                                        <p:tav tm="100000">
                                          <p:val>
                                            <p:strVal val="#ppt_h"/>
                                          </p:val>
                                        </p:tav>
                                      </p:tavLst>
                                    </p:anim>
                                  </p:childTnLst>
                                </p:cTn>
                              </p:par>
                            </p:childTnLst>
                          </p:cTn>
                        </p:par>
                        <p:par>
                          <p:cTn id="44" fill="hold" nodeType="afterGroup">
                            <p:stCondLst>
                              <p:cond delay="2000"/>
                            </p:stCondLst>
                            <p:childTnLst>
                              <p:par>
                                <p:cTn id="45" presetID="17" presetClass="entr" presetSubtype="1" fill="hold" grpId="0" nodeType="afterEffect">
                                  <p:stCondLst>
                                    <p:cond delay="1000"/>
                                  </p:stCondLst>
                                  <p:childTnLst>
                                    <p:set>
                                      <p:cBhvr>
                                        <p:cTn id="46" dur="1" fill="hold">
                                          <p:stCondLst>
                                            <p:cond delay="0"/>
                                          </p:stCondLst>
                                        </p:cTn>
                                        <p:tgtEl>
                                          <p:spTgt spid="116754"/>
                                        </p:tgtEl>
                                        <p:attrNameLst>
                                          <p:attrName>style.visibility</p:attrName>
                                        </p:attrNameLst>
                                      </p:cBhvr>
                                      <p:to>
                                        <p:strVal val="visible"/>
                                      </p:to>
                                    </p:set>
                                    <p:anim calcmode="lin" valueType="num">
                                      <p:cBhvr>
                                        <p:cTn id="47" dur="500" fill="hold"/>
                                        <p:tgtEl>
                                          <p:spTgt spid="116754"/>
                                        </p:tgtEl>
                                        <p:attrNameLst>
                                          <p:attrName>ppt_x</p:attrName>
                                        </p:attrNameLst>
                                      </p:cBhvr>
                                      <p:tavLst>
                                        <p:tav tm="0">
                                          <p:val>
                                            <p:strVal val="#ppt_x"/>
                                          </p:val>
                                        </p:tav>
                                        <p:tav tm="100000">
                                          <p:val>
                                            <p:strVal val="#ppt_x"/>
                                          </p:val>
                                        </p:tav>
                                      </p:tavLst>
                                    </p:anim>
                                    <p:anim calcmode="lin" valueType="num">
                                      <p:cBhvr>
                                        <p:cTn id="48" dur="500" fill="hold"/>
                                        <p:tgtEl>
                                          <p:spTgt spid="116754"/>
                                        </p:tgtEl>
                                        <p:attrNameLst>
                                          <p:attrName>ppt_y</p:attrName>
                                        </p:attrNameLst>
                                      </p:cBhvr>
                                      <p:tavLst>
                                        <p:tav tm="0">
                                          <p:val>
                                            <p:strVal val="#ppt_y-#ppt_h/2"/>
                                          </p:val>
                                        </p:tav>
                                        <p:tav tm="100000">
                                          <p:val>
                                            <p:strVal val="#ppt_y"/>
                                          </p:val>
                                        </p:tav>
                                      </p:tavLst>
                                    </p:anim>
                                    <p:anim calcmode="lin" valueType="num">
                                      <p:cBhvr>
                                        <p:cTn id="49" dur="500" fill="hold"/>
                                        <p:tgtEl>
                                          <p:spTgt spid="116754"/>
                                        </p:tgtEl>
                                        <p:attrNameLst>
                                          <p:attrName>ppt_w</p:attrName>
                                        </p:attrNameLst>
                                      </p:cBhvr>
                                      <p:tavLst>
                                        <p:tav tm="0">
                                          <p:val>
                                            <p:strVal val="#ppt_w"/>
                                          </p:val>
                                        </p:tav>
                                        <p:tav tm="100000">
                                          <p:val>
                                            <p:strVal val="#ppt_w"/>
                                          </p:val>
                                        </p:tav>
                                      </p:tavLst>
                                    </p:anim>
                                    <p:anim calcmode="lin" valueType="num">
                                      <p:cBhvr>
                                        <p:cTn id="50" dur="500" fill="hold"/>
                                        <p:tgtEl>
                                          <p:spTgt spid="116754"/>
                                        </p:tgtEl>
                                        <p:attrNameLst>
                                          <p:attrName>ppt_h</p:attrName>
                                        </p:attrNameLst>
                                      </p:cBhvr>
                                      <p:tavLst>
                                        <p:tav tm="0">
                                          <p:val>
                                            <p:fltVal val="0"/>
                                          </p:val>
                                        </p:tav>
                                        <p:tav tm="100000">
                                          <p:val>
                                            <p:strVal val="#ppt_h"/>
                                          </p:val>
                                        </p:tav>
                                      </p:tavLst>
                                    </p:anim>
                                  </p:childTnLst>
                                </p:cTn>
                              </p:par>
                            </p:childTnLst>
                          </p:cTn>
                        </p:par>
                        <p:par>
                          <p:cTn id="51" fill="hold" nodeType="afterGroup">
                            <p:stCondLst>
                              <p:cond delay="3500"/>
                            </p:stCondLst>
                            <p:childTnLst>
                              <p:par>
                                <p:cTn id="52" presetID="17" presetClass="entr" presetSubtype="1" fill="hold" grpId="0" nodeType="afterEffect">
                                  <p:stCondLst>
                                    <p:cond delay="1000"/>
                                  </p:stCondLst>
                                  <p:childTnLst>
                                    <p:set>
                                      <p:cBhvr>
                                        <p:cTn id="53" dur="1" fill="hold">
                                          <p:stCondLst>
                                            <p:cond delay="0"/>
                                          </p:stCondLst>
                                        </p:cTn>
                                        <p:tgtEl>
                                          <p:spTgt spid="116755"/>
                                        </p:tgtEl>
                                        <p:attrNameLst>
                                          <p:attrName>style.visibility</p:attrName>
                                        </p:attrNameLst>
                                      </p:cBhvr>
                                      <p:to>
                                        <p:strVal val="visible"/>
                                      </p:to>
                                    </p:set>
                                    <p:anim calcmode="lin" valueType="num">
                                      <p:cBhvr>
                                        <p:cTn id="54" dur="500" fill="hold"/>
                                        <p:tgtEl>
                                          <p:spTgt spid="116755"/>
                                        </p:tgtEl>
                                        <p:attrNameLst>
                                          <p:attrName>ppt_x</p:attrName>
                                        </p:attrNameLst>
                                      </p:cBhvr>
                                      <p:tavLst>
                                        <p:tav tm="0">
                                          <p:val>
                                            <p:strVal val="#ppt_x"/>
                                          </p:val>
                                        </p:tav>
                                        <p:tav tm="100000">
                                          <p:val>
                                            <p:strVal val="#ppt_x"/>
                                          </p:val>
                                        </p:tav>
                                      </p:tavLst>
                                    </p:anim>
                                    <p:anim calcmode="lin" valueType="num">
                                      <p:cBhvr>
                                        <p:cTn id="55" dur="500" fill="hold"/>
                                        <p:tgtEl>
                                          <p:spTgt spid="116755"/>
                                        </p:tgtEl>
                                        <p:attrNameLst>
                                          <p:attrName>ppt_y</p:attrName>
                                        </p:attrNameLst>
                                      </p:cBhvr>
                                      <p:tavLst>
                                        <p:tav tm="0">
                                          <p:val>
                                            <p:strVal val="#ppt_y-#ppt_h/2"/>
                                          </p:val>
                                        </p:tav>
                                        <p:tav tm="100000">
                                          <p:val>
                                            <p:strVal val="#ppt_y"/>
                                          </p:val>
                                        </p:tav>
                                      </p:tavLst>
                                    </p:anim>
                                    <p:anim calcmode="lin" valueType="num">
                                      <p:cBhvr>
                                        <p:cTn id="56" dur="500" fill="hold"/>
                                        <p:tgtEl>
                                          <p:spTgt spid="116755"/>
                                        </p:tgtEl>
                                        <p:attrNameLst>
                                          <p:attrName>ppt_w</p:attrName>
                                        </p:attrNameLst>
                                      </p:cBhvr>
                                      <p:tavLst>
                                        <p:tav tm="0">
                                          <p:val>
                                            <p:strVal val="#ppt_w"/>
                                          </p:val>
                                        </p:tav>
                                        <p:tav tm="100000">
                                          <p:val>
                                            <p:strVal val="#ppt_w"/>
                                          </p:val>
                                        </p:tav>
                                      </p:tavLst>
                                    </p:anim>
                                    <p:anim calcmode="lin" valueType="num">
                                      <p:cBhvr>
                                        <p:cTn id="57" dur="500" fill="hold"/>
                                        <p:tgtEl>
                                          <p:spTgt spid="116755"/>
                                        </p:tgtEl>
                                        <p:attrNameLst>
                                          <p:attrName>ppt_h</p:attrName>
                                        </p:attrNameLst>
                                      </p:cBhvr>
                                      <p:tavLst>
                                        <p:tav tm="0">
                                          <p:val>
                                            <p:fltVal val="0"/>
                                          </p:val>
                                        </p:tav>
                                        <p:tav tm="100000">
                                          <p:val>
                                            <p:strVal val="#ppt_h"/>
                                          </p:val>
                                        </p:tav>
                                      </p:tavLst>
                                    </p:anim>
                                  </p:childTnLst>
                                </p:cTn>
                              </p:par>
                            </p:childTnLst>
                          </p:cTn>
                        </p:par>
                        <p:par>
                          <p:cTn id="58" fill="hold" nodeType="afterGroup">
                            <p:stCondLst>
                              <p:cond delay="5000"/>
                            </p:stCondLst>
                            <p:childTnLst>
                              <p:par>
                                <p:cTn id="59" presetID="17" presetClass="entr" presetSubtype="1" fill="hold" grpId="0" nodeType="afterEffect">
                                  <p:stCondLst>
                                    <p:cond delay="1000"/>
                                  </p:stCondLst>
                                  <p:childTnLst>
                                    <p:set>
                                      <p:cBhvr>
                                        <p:cTn id="60" dur="1" fill="hold">
                                          <p:stCondLst>
                                            <p:cond delay="0"/>
                                          </p:stCondLst>
                                        </p:cTn>
                                        <p:tgtEl>
                                          <p:spTgt spid="116756"/>
                                        </p:tgtEl>
                                        <p:attrNameLst>
                                          <p:attrName>style.visibility</p:attrName>
                                        </p:attrNameLst>
                                      </p:cBhvr>
                                      <p:to>
                                        <p:strVal val="visible"/>
                                      </p:to>
                                    </p:set>
                                    <p:anim calcmode="lin" valueType="num">
                                      <p:cBhvr>
                                        <p:cTn id="61" dur="500" fill="hold"/>
                                        <p:tgtEl>
                                          <p:spTgt spid="116756"/>
                                        </p:tgtEl>
                                        <p:attrNameLst>
                                          <p:attrName>ppt_x</p:attrName>
                                        </p:attrNameLst>
                                      </p:cBhvr>
                                      <p:tavLst>
                                        <p:tav tm="0">
                                          <p:val>
                                            <p:strVal val="#ppt_x"/>
                                          </p:val>
                                        </p:tav>
                                        <p:tav tm="100000">
                                          <p:val>
                                            <p:strVal val="#ppt_x"/>
                                          </p:val>
                                        </p:tav>
                                      </p:tavLst>
                                    </p:anim>
                                    <p:anim calcmode="lin" valueType="num">
                                      <p:cBhvr>
                                        <p:cTn id="62" dur="500" fill="hold"/>
                                        <p:tgtEl>
                                          <p:spTgt spid="116756"/>
                                        </p:tgtEl>
                                        <p:attrNameLst>
                                          <p:attrName>ppt_y</p:attrName>
                                        </p:attrNameLst>
                                      </p:cBhvr>
                                      <p:tavLst>
                                        <p:tav tm="0">
                                          <p:val>
                                            <p:strVal val="#ppt_y-#ppt_h/2"/>
                                          </p:val>
                                        </p:tav>
                                        <p:tav tm="100000">
                                          <p:val>
                                            <p:strVal val="#ppt_y"/>
                                          </p:val>
                                        </p:tav>
                                      </p:tavLst>
                                    </p:anim>
                                    <p:anim calcmode="lin" valueType="num">
                                      <p:cBhvr>
                                        <p:cTn id="63" dur="500" fill="hold"/>
                                        <p:tgtEl>
                                          <p:spTgt spid="116756"/>
                                        </p:tgtEl>
                                        <p:attrNameLst>
                                          <p:attrName>ppt_w</p:attrName>
                                        </p:attrNameLst>
                                      </p:cBhvr>
                                      <p:tavLst>
                                        <p:tav tm="0">
                                          <p:val>
                                            <p:strVal val="#ppt_w"/>
                                          </p:val>
                                        </p:tav>
                                        <p:tav tm="100000">
                                          <p:val>
                                            <p:strVal val="#ppt_w"/>
                                          </p:val>
                                        </p:tav>
                                      </p:tavLst>
                                    </p:anim>
                                    <p:anim calcmode="lin" valueType="num">
                                      <p:cBhvr>
                                        <p:cTn id="64" dur="500" fill="hold"/>
                                        <p:tgtEl>
                                          <p:spTgt spid="116756"/>
                                        </p:tgtEl>
                                        <p:attrNameLst>
                                          <p:attrName>ppt_h</p:attrName>
                                        </p:attrNameLst>
                                      </p:cBhvr>
                                      <p:tavLst>
                                        <p:tav tm="0">
                                          <p:val>
                                            <p:fltVal val="0"/>
                                          </p:val>
                                        </p:tav>
                                        <p:tav tm="100000">
                                          <p:val>
                                            <p:strVal val="#ppt_h"/>
                                          </p:val>
                                        </p:tav>
                                      </p:tavLst>
                                    </p:anim>
                                  </p:childTnLst>
                                </p:cTn>
                              </p:par>
                            </p:childTnLst>
                          </p:cTn>
                        </p:par>
                        <p:par>
                          <p:cTn id="65" fill="hold" nodeType="afterGroup">
                            <p:stCondLst>
                              <p:cond delay="6500"/>
                            </p:stCondLst>
                            <p:childTnLst>
                              <p:par>
                                <p:cTn id="66" presetID="1" presetClass="entr" presetSubtype="0" fill="hold" nodeType="afterEffect">
                                  <p:stCondLst>
                                    <p:cond delay="1000"/>
                                  </p:stCondLst>
                                  <p:childTnLst>
                                    <p:set>
                                      <p:cBhvr>
                                        <p:cTn id="67" dur="1" fill="hold">
                                          <p:stCondLst>
                                            <p:cond delay="499"/>
                                          </p:stCondLst>
                                        </p:cTn>
                                        <p:tgtEl>
                                          <p:spTgt spid="116740"/>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7" presetClass="entr" presetSubtype="1" fill="hold" grpId="0" nodeType="clickEffect">
                                  <p:stCondLst>
                                    <p:cond delay="0"/>
                                  </p:stCondLst>
                                  <p:childTnLst>
                                    <p:set>
                                      <p:cBhvr>
                                        <p:cTn id="71" dur="1" fill="hold">
                                          <p:stCondLst>
                                            <p:cond delay="0"/>
                                          </p:stCondLst>
                                        </p:cTn>
                                        <p:tgtEl>
                                          <p:spTgt spid="116757"/>
                                        </p:tgtEl>
                                        <p:attrNameLst>
                                          <p:attrName>style.visibility</p:attrName>
                                        </p:attrNameLst>
                                      </p:cBhvr>
                                      <p:to>
                                        <p:strVal val="visible"/>
                                      </p:to>
                                    </p:set>
                                    <p:anim calcmode="lin" valueType="num">
                                      <p:cBhvr>
                                        <p:cTn id="72" dur="500" fill="hold"/>
                                        <p:tgtEl>
                                          <p:spTgt spid="116757"/>
                                        </p:tgtEl>
                                        <p:attrNameLst>
                                          <p:attrName>ppt_x</p:attrName>
                                        </p:attrNameLst>
                                      </p:cBhvr>
                                      <p:tavLst>
                                        <p:tav tm="0">
                                          <p:val>
                                            <p:strVal val="#ppt_x"/>
                                          </p:val>
                                        </p:tav>
                                        <p:tav tm="100000">
                                          <p:val>
                                            <p:strVal val="#ppt_x"/>
                                          </p:val>
                                        </p:tav>
                                      </p:tavLst>
                                    </p:anim>
                                    <p:anim calcmode="lin" valueType="num">
                                      <p:cBhvr>
                                        <p:cTn id="73" dur="500" fill="hold"/>
                                        <p:tgtEl>
                                          <p:spTgt spid="116757"/>
                                        </p:tgtEl>
                                        <p:attrNameLst>
                                          <p:attrName>ppt_y</p:attrName>
                                        </p:attrNameLst>
                                      </p:cBhvr>
                                      <p:tavLst>
                                        <p:tav tm="0">
                                          <p:val>
                                            <p:strVal val="#ppt_y-#ppt_h/2"/>
                                          </p:val>
                                        </p:tav>
                                        <p:tav tm="100000">
                                          <p:val>
                                            <p:strVal val="#ppt_y"/>
                                          </p:val>
                                        </p:tav>
                                      </p:tavLst>
                                    </p:anim>
                                    <p:anim calcmode="lin" valueType="num">
                                      <p:cBhvr>
                                        <p:cTn id="74" dur="500" fill="hold"/>
                                        <p:tgtEl>
                                          <p:spTgt spid="116757"/>
                                        </p:tgtEl>
                                        <p:attrNameLst>
                                          <p:attrName>ppt_w</p:attrName>
                                        </p:attrNameLst>
                                      </p:cBhvr>
                                      <p:tavLst>
                                        <p:tav tm="0">
                                          <p:val>
                                            <p:strVal val="#ppt_w"/>
                                          </p:val>
                                        </p:tav>
                                        <p:tav tm="100000">
                                          <p:val>
                                            <p:strVal val="#ppt_w"/>
                                          </p:val>
                                        </p:tav>
                                      </p:tavLst>
                                    </p:anim>
                                    <p:anim calcmode="lin" valueType="num">
                                      <p:cBhvr>
                                        <p:cTn id="75" dur="500" fill="hold"/>
                                        <p:tgtEl>
                                          <p:spTgt spid="116757"/>
                                        </p:tgtEl>
                                        <p:attrNameLst>
                                          <p:attrName>ppt_h</p:attrName>
                                        </p:attrNameLst>
                                      </p:cBhvr>
                                      <p:tavLst>
                                        <p:tav tm="0">
                                          <p:val>
                                            <p:fltVal val="0"/>
                                          </p:val>
                                        </p:tav>
                                        <p:tav tm="100000">
                                          <p:val>
                                            <p:strVal val="#ppt_h"/>
                                          </p:val>
                                        </p:tav>
                                      </p:tavLst>
                                    </p:anim>
                                  </p:childTnLst>
                                </p:cTn>
                              </p:par>
                            </p:childTnLst>
                          </p:cTn>
                        </p:par>
                        <p:par>
                          <p:cTn id="76" fill="hold" nodeType="afterGroup">
                            <p:stCondLst>
                              <p:cond delay="500"/>
                            </p:stCondLst>
                            <p:childTnLst>
                              <p:par>
                                <p:cTn id="77" presetID="17" presetClass="entr" presetSubtype="1" fill="hold" grpId="0" nodeType="afterEffect">
                                  <p:stCondLst>
                                    <p:cond delay="0"/>
                                  </p:stCondLst>
                                  <p:childTnLst>
                                    <p:set>
                                      <p:cBhvr>
                                        <p:cTn id="78" dur="1" fill="hold">
                                          <p:stCondLst>
                                            <p:cond delay="0"/>
                                          </p:stCondLst>
                                        </p:cTn>
                                        <p:tgtEl>
                                          <p:spTgt spid="116758"/>
                                        </p:tgtEl>
                                        <p:attrNameLst>
                                          <p:attrName>style.visibility</p:attrName>
                                        </p:attrNameLst>
                                      </p:cBhvr>
                                      <p:to>
                                        <p:strVal val="visible"/>
                                      </p:to>
                                    </p:set>
                                    <p:anim calcmode="lin" valueType="num">
                                      <p:cBhvr>
                                        <p:cTn id="79" dur="500" fill="hold"/>
                                        <p:tgtEl>
                                          <p:spTgt spid="116758"/>
                                        </p:tgtEl>
                                        <p:attrNameLst>
                                          <p:attrName>ppt_x</p:attrName>
                                        </p:attrNameLst>
                                      </p:cBhvr>
                                      <p:tavLst>
                                        <p:tav tm="0">
                                          <p:val>
                                            <p:strVal val="#ppt_x"/>
                                          </p:val>
                                        </p:tav>
                                        <p:tav tm="100000">
                                          <p:val>
                                            <p:strVal val="#ppt_x"/>
                                          </p:val>
                                        </p:tav>
                                      </p:tavLst>
                                    </p:anim>
                                    <p:anim calcmode="lin" valueType="num">
                                      <p:cBhvr>
                                        <p:cTn id="80" dur="500" fill="hold"/>
                                        <p:tgtEl>
                                          <p:spTgt spid="116758"/>
                                        </p:tgtEl>
                                        <p:attrNameLst>
                                          <p:attrName>ppt_y</p:attrName>
                                        </p:attrNameLst>
                                      </p:cBhvr>
                                      <p:tavLst>
                                        <p:tav tm="0">
                                          <p:val>
                                            <p:strVal val="#ppt_y-#ppt_h/2"/>
                                          </p:val>
                                        </p:tav>
                                        <p:tav tm="100000">
                                          <p:val>
                                            <p:strVal val="#ppt_y"/>
                                          </p:val>
                                        </p:tav>
                                      </p:tavLst>
                                    </p:anim>
                                    <p:anim calcmode="lin" valueType="num">
                                      <p:cBhvr>
                                        <p:cTn id="81" dur="500" fill="hold"/>
                                        <p:tgtEl>
                                          <p:spTgt spid="116758"/>
                                        </p:tgtEl>
                                        <p:attrNameLst>
                                          <p:attrName>ppt_w</p:attrName>
                                        </p:attrNameLst>
                                      </p:cBhvr>
                                      <p:tavLst>
                                        <p:tav tm="0">
                                          <p:val>
                                            <p:strVal val="#ppt_w"/>
                                          </p:val>
                                        </p:tav>
                                        <p:tav tm="100000">
                                          <p:val>
                                            <p:strVal val="#ppt_w"/>
                                          </p:val>
                                        </p:tav>
                                      </p:tavLst>
                                    </p:anim>
                                    <p:anim calcmode="lin" valueType="num">
                                      <p:cBhvr>
                                        <p:cTn id="82" dur="500" fill="hold"/>
                                        <p:tgtEl>
                                          <p:spTgt spid="116758"/>
                                        </p:tgtEl>
                                        <p:attrNameLst>
                                          <p:attrName>ppt_h</p:attrName>
                                        </p:attrNameLst>
                                      </p:cBhvr>
                                      <p:tavLst>
                                        <p:tav tm="0">
                                          <p:val>
                                            <p:fltVal val="0"/>
                                          </p:val>
                                        </p:tav>
                                        <p:tav tm="100000">
                                          <p:val>
                                            <p:strVal val="#ppt_h"/>
                                          </p:val>
                                        </p:tav>
                                      </p:tavLst>
                                    </p:anim>
                                  </p:childTnLst>
                                </p:cTn>
                              </p:par>
                            </p:childTnLst>
                          </p:cTn>
                        </p:par>
                        <p:par>
                          <p:cTn id="83" fill="hold" nodeType="afterGroup">
                            <p:stCondLst>
                              <p:cond delay="1000"/>
                            </p:stCondLst>
                            <p:childTnLst>
                              <p:par>
                                <p:cTn id="84" presetID="17" presetClass="entr" presetSubtype="1" fill="hold" grpId="0" nodeType="afterEffect">
                                  <p:stCondLst>
                                    <p:cond delay="0"/>
                                  </p:stCondLst>
                                  <p:childTnLst>
                                    <p:set>
                                      <p:cBhvr>
                                        <p:cTn id="85" dur="1" fill="hold">
                                          <p:stCondLst>
                                            <p:cond delay="0"/>
                                          </p:stCondLst>
                                        </p:cTn>
                                        <p:tgtEl>
                                          <p:spTgt spid="116764"/>
                                        </p:tgtEl>
                                        <p:attrNameLst>
                                          <p:attrName>style.visibility</p:attrName>
                                        </p:attrNameLst>
                                      </p:cBhvr>
                                      <p:to>
                                        <p:strVal val="visible"/>
                                      </p:to>
                                    </p:set>
                                    <p:anim calcmode="lin" valueType="num">
                                      <p:cBhvr>
                                        <p:cTn id="86" dur="500" fill="hold"/>
                                        <p:tgtEl>
                                          <p:spTgt spid="116764"/>
                                        </p:tgtEl>
                                        <p:attrNameLst>
                                          <p:attrName>ppt_x</p:attrName>
                                        </p:attrNameLst>
                                      </p:cBhvr>
                                      <p:tavLst>
                                        <p:tav tm="0">
                                          <p:val>
                                            <p:strVal val="#ppt_x"/>
                                          </p:val>
                                        </p:tav>
                                        <p:tav tm="100000">
                                          <p:val>
                                            <p:strVal val="#ppt_x"/>
                                          </p:val>
                                        </p:tav>
                                      </p:tavLst>
                                    </p:anim>
                                    <p:anim calcmode="lin" valueType="num">
                                      <p:cBhvr>
                                        <p:cTn id="87" dur="500" fill="hold"/>
                                        <p:tgtEl>
                                          <p:spTgt spid="116764"/>
                                        </p:tgtEl>
                                        <p:attrNameLst>
                                          <p:attrName>ppt_y</p:attrName>
                                        </p:attrNameLst>
                                      </p:cBhvr>
                                      <p:tavLst>
                                        <p:tav tm="0">
                                          <p:val>
                                            <p:strVal val="#ppt_y-#ppt_h/2"/>
                                          </p:val>
                                        </p:tav>
                                        <p:tav tm="100000">
                                          <p:val>
                                            <p:strVal val="#ppt_y"/>
                                          </p:val>
                                        </p:tav>
                                      </p:tavLst>
                                    </p:anim>
                                    <p:anim calcmode="lin" valueType="num">
                                      <p:cBhvr>
                                        <p:cTn id="88" dur="500" fill="hold"/>
                                        <p:tgtEl>
                                          <p:spTgt spid="116764"/>
                                        </p:tgtEl>
                                        <p:attrNameLst>
                                          <p:attrName>ppt_w</p:attrName>
                                        </p:attrNameLst>
                                      </p:cBhvr>
                                      <p:tavLst>
                                        <p:tav tm="0">
                                          <p:val>
                                            <p:strVal val="#ppt_w"/>
                                          </p:val>
                                        </p:tav>
                                        <p:tav tm="100000">
                                          <p:val>
                                            <p:strVal val="#ppt_w"/>
                                          </p:val>
                                        </p:tav>
                                      </p:tavLst>
                                    </p:anim>
                                    <p:anim calcmode="lin" valueType="num">
                                      <p:cBhvr>
                                        <p:cTn id="89" dur="500" fill="hold"/>
                                        <p:tgtEl>
                                          <p:spTgt spid="116764"/>
                                        </p:tgtEl>
                                        <p:attrNameLst>
                                          <p:attrName>ppt_h</p:attrName>
                                        </p:attrNameLst>
                                      </p:cBhvr>
                                      <p:tavLst>
                                        <p:tav tm="0">
                                          <p:val>
                                            <p:fltVal val="0"/>
                                          </p:val>
                                        </p:tav>
                                        <p:tav tm="100000">
                                          <p:val>
                                            <p:strVal val="#ppt_h"/>
                                          </p:val>
                                        </p:tav>
                                      </p:tavLst>
                                    </p:anim>
                                  </p:childTnLst>
                                </p:cTn>
                              </p:par>
                            </p:childTnLst>
                          </p:cTn>
                        </p:par>
                        <p:par>
                          <p:cTn id="90" fill="hold" nodeType="afterGroup">
                            <p:stCondLst>
                              <p:cond delay="1500"/>
                            </p:stCondLst>
                            <p:childTnLst>
                              <p:par>
                                <p:cTn id="91" presetID="17" presetClass="entr" presetSubtype="1" fill="hold" grpId="0" nodeType="afterEffect">
                                  <p:stCondLst>
                                    <p:cond delay="0"/>
                                  </p:stCondLst>
                                  <p:childTnLst>
                                    <p:set>
                                      <p:cBhvr>
                                        <p:cTn id="92" dur="1" fill="hold">
                                          <p:stCondLst>
                                            <p:cond delay="0"/>
                                          </p:stCondLst>
                                        </p:cTn>
                                        <p:tgtEl>
                                          <p:spTgt spid="116759"/>
                                        </p:tgtEl>
                                        <p:attrNameLst>
                                          <p:attrName>style.visibility</p:attrName>
                                        </p:attrNameLst>
                                      </p:cBhvr>
                                      <p:to>
                                        <p:strVal val="visible"/>
                                      </p:to>
                                    </p:set>
                                    <p:anim calcmode="lin" valueType="num">
                                      <p:cBhvr>
                                        <p:cTn id="93" dur="500" fill="hold"/>
                                        <p:tgtEl>
                                          <p:spTgt spid="116759"/>
                                        </p:tgtEl>
                                        <p:attrNameLst>
                                          <p:attrName>ppt_x</p:attrName>
                                        </p:attrNameLst>
                                      </p:cBhvr>
                                      <p:tavLst>
                                        <p:tav tm="0">
                                          <p:val>
                                            <p:strVal val="#ppt_x"/>
                                          </p:val>
                                        </p:tav>
                                        <p:tav tm="100000">
                                          <p:val>
                                            <p:strVal val="#ppt_x"/>
                                          </p:val>
                                        </p:tav>
                                      </p:tavLst>
                                    </p:anim>
                                    <p:anim calcmode="lin" valueType="num">
                                      <p:cBhvr>
                                        <p:cTn id="94" dur="500" fill="hold"/>
                                        <p:tgtEl>
                                          <p:spTgt spid="116759"/>
                                        </p:tgtEl>
                                        <p:attrNameLst>
                                          <p:attrName>ppt_y</p:attrName>
                                        </p:attrNameLst>
                                      </p:cBhvr>
                                      <p:tavLst>
                                        <p:tav tm="0">
                                          <p:val>
                                            <p:strVal val="#ppt_y-#ppt_h/2"/>
                                          </p:val>
                                        </p:tav>
                                        <p:tav tm="100000">
                                          <p:val>
                                            <p:strVal val="#ppt_y"/>
                                          </p:val>
                                        </p:tav>
                                      </p:tavLst>
                                    </p:anim>
                                    <p:anim calcmode="lin" valueType="num">
                                      <p:cBhvr>
                                        <p:cTn id="95" dur="500" fill="hold"/>
                                        <p:tgtEl>
                                          <p:spTgt spid="116759"/>
                                        </p:tgtEl>
                                        <p:attrNameLst>
                                          <p:attrName>ppt_w</p:attrName>
                                        </p:attrNameLst>
                                      </p:cBhvr>
                                      <p:tavLst>
                                        <p:tav tm="0">
                                          <p:val>
                                            <p:strVal val="#ppt_w"/>
                                          </p:val>
                                        </p:tav>
                                        <p:tav tm="100000">
                                          <p:val>
                                            <p:strVal val="#ppt_w"/>
                                          </p:val>
                                        </p:tav>
                                      </p:tavLst>
                                    </p:anim>
                                    <p:anim calcmode="lin" valueType="num">
                                      <p:cBhvr>
                                        <p:cTn id="96" dur="500" fill="hold"/>
                                        <p:tgtEl>
                                          <p:spTgt spid="116759"/>
                                        </p:tgtEl>
                                        <p:attrNameLst>
                                          <p:attrName>ppt_h</p:attrName>
                                        </p:attrNameLst>
                                      </p:cBhvr>
                                      <p:tavLst>
                                        <p:tav tm="0">
                                          <p:val>
                                            <p:fltVal val="0"/>
                                          </p:val>
                                        </p:tav>
                                        <p:tav tm="100000">
                                          <p:val>
                                            <p:strVal val="#ppt_h"/>
                                          </p:val>
                                        </p:tav>
                                      </p:tavLst>
                                    </p:anim>
                                  </p:childTnLst>
                                </p:cTn>
                              </p:par>
                            </p:childTnLst>
                          </p:cTn>
                        </p:par>
                        <p:par>
                          <p:cTn id="97" fill="hold" nodeType="afterGroup">
                            <p:stCondLst>
                              <p:cond delay="2000"/>
                            </p:stCondLst>
                            <p:childTnLst>
                              <p:par>
                                <p:cTn id="98" presetID="1" presetClass="entr" presetSubtype="0" fill="hold" nodeType="afterEffect">
                                  <p:stCondLst>
                                    <p:cond delay="1000"/>
                                  </p:stCondLst>
                                  <p:childTnLst>
                                    <p:set>
                                      <p:cBhvr>
                                        <p:cTn id="99" dur="1" fill="hold">
                                          <p:stCondLst>
                                            <p:cond delay="499"/>
                                          </p:stCondLst>
                                        </p:cTn>
                                        <p:tgtEl>
                                          <p:spTgt spid="116743"/>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7" presetClass="entr" presetSubtype="1" fill="hold" grpId="0" nodeType="clickEffect">
                                  <p:stCondLst>
                                    <p:cond delay="0"/>
                                  </p:stCondLst>
                                  <p:childTnLst>
                                    <p:set>
                                      <p:cBhvr>
                                        <p:cTn id="103" dur="1" fill="hold">
                                          <p:stCondLst>
                                            <p:cond delay="0"/>
                                          </p:stCondLst>
                                        </p:cTn>
                                        <p:tgtEl>
                                          <p:spTgt spid="116760"/>
                                        </p:tgtEl>
                                        <p:attrNameLst>
                                          <p:attrName>style.visibility</p:attrName>
                                        </p:attrNameLst>
                                      </p:cBhvr>
                                      <p:to>
                                        <p:strVal val="visible"/>
                                      </p:to>
                                    </p:set>
                                    <p:anim calcmode="lin" valueType="num">
                                      <p:cBhvr>
                                        <p:cTn id="104" dur="500" fill="hold"/>
                                        <p:tgtEl>
                                          <p:spTgt spid="116760"/>
                                        </p:tgtEl>
                                        <p:attrNameLst>
                                          <p:attrName>ppt_x</p:attrName>
                                        </p:attrNameLst>
                                      </p:cBhvr>
                                      <p:tavLst>
                                        <p:tav tm="0">
                                          <p:val>
                                            <p:strVal val="#ppt_x"/>
                                          </p:val>
                                        </p:tav>
                                        <p:tav tm="100000">
                                          <p:val>
                                            <p:strVal val="#ppt_x"/>
                                          </p:val>
                                        </p:tav>
                                      </p:tavLst>
                                    </p:anim>
                                    <p:anim calcmode="lin" valueType="num">
                                      <p:cBhvr>
                                        <p:cTn id="105" dur="500" fill="hold"/>
                                        <p:tgtEl>
                                          <p:spTgt spid="116760"/>
                                        </p:tgtEl>
                                        <p:attrNameLst>
                                          <p:attrName>ppt_y</p:attrName>
                                        </p:attrNameLst>
                                      </p:cBhvr>
                                      <p:tavLst>
                                        <p:tav tm="0">
                                          <p:val>
                                            <p:strVal val="#ppt_y-#ppt_h/2"/>
                                          </p:val>
                                        </p:tav>
                                        <p:tav tm="100000">
                                          <p:val>
                                            <p:strVal val="#ppt_y"/>
                                          </p:val>
                                        </p:tav>
                                      </p:tavLst>
                                    </p:anim>
                                    <p:anim calcmode="lin" valueType="num">
                                      <p:cBhvr>
                                        <p:cTn id="106" dur="500" fill="hold"/>
                                        <p:tgtEl>
                                          <p:spTgt spid="116760"/>
                                        </p:tgtEl>
                                        <p:attrNameLst>
                                          <p:attrName>ppt_w</p:attrName>
                                        </p:attrNameLst>
                                      </p:cBhvr>
                                      <p:tavLst>
                                        <p:tav tm="0">
                                          <p:val>
                                            <p:strVal val="#ppt_w"/>
                                          </p:val>
                                        </p:tav>
                                        <p:tav tm="100000">
                                          <p:val>
                                            <p:strVal val="#ppt_w"/>
                                          </p:val>
                                        </p:tav>
                                      </p:tavLst>
                                    </p:anim>
                                    <p:anim calcmode="lin" valueType="num">
                                      <p:cBhvr>
                                        <p:cTn id="107" dur="500" fill="hold"/>
                                        <p:tgtEl>
                                          <p:spTgt spid="116760"/>
                                        </p:tgtEl>
                                        <p:attrNameLst>
                                          <p:attrName>ppt_h</p:attrName>
                                        </p:attrNameLst>
                                      </p:cBhvr>
                                      <p:tavLst>
                                        <p:tav tm="0">
                                          <p:val>
                                            <p:fltVal val="0"/>
                                          </p:val>
                                        </p:tav>
                                        <p:tav tm="100000">
                                          <p:val>
                                            <p:strVal val="#ppt_h"/>
                                          </p:val>
                                        </p:tav>
                                      </p:tavLst>
                                    </p:anim>
                                  </p:childTnLst>
                                </p:cTn>
                              </p:par>
                            </p:childTnLst>
                          </p:cTn>
                        </p:par>
                        <p:par>
                          <p:cTn id="108" fill="hold" nodeType="afterGroup">
                            <p:stCondLst>
                              <p:cond delay="500"/>
                            </p:stCondLst>
                            <p:childTnLst>
                              <p:par>
                                <p:cTn id="109" presetID="17" presetClass="entr" presetSubtype="1" fill="hold" grpId="0" nodeType="afterEffect">
                                  <p:stCondLst>
                                    <p:cond delay="0"/>
                                  </p:stCondLst>
                                  <p:childTnLst>
                                    <p:set>
                                      <p:cBhvr>
                                        <p:cTn id="110" dur="1" fill="hold">
                                          <p:stCondLst>
                                            <p:cond delay="0"/>
                                          </p:stCondLst>
                                        </p:cTn>
                                        <p:tgtEl>
                                          <p:spTgt spid="116761"/>
                                        </p:tgtEl>
                                        <p:attrNameLst>
                                          <p:attrName>style.visibility</p:attrName>
                                        </p:attrNameLst>
                                      </p:cBhvr>
                                      <p:to>
                                        <p:strVal val="visible"/>
                                      </p:to>
                                    </p:set>
                                    <p:anim calcmode="lin" valueType="num">
                                      <p:cBhvr>
                                        <p:cTn id="111" dur="500" fill="hold"/>
                                        <p:tgtEl>
                                          <p:spTgt spid="116761"/>
                                        </p:tgtEl>
                                        <p:attrNameLst>
                                          <p:attrName>ppt_x</p:attrName>
                                        </p:attrNameLst>
                                      </p:cBhvr>
                                      <p:tavLst>
                                        <p:tav tm="0">
                                          <p:val>
                                            <p:strVal val="#ppt_x"/>
                                          </p:val>
                                        </p:tav>
                                        <p:tav tm="100000">
                                          <p:val>
                                            <p:strVal val="#ppt_x"/>
                                          </p:val>
                                        </p:tav>
                                      </p:tavLst>
                                    </p:anim>
                                    <p:anim calcmode="lin" valueType="num">
                                      <p:cBhvr>
                                        <p:cTn id="112" dur="500" fill="hold"/>
                                        <p:tgtEl>
                                          <p:spTgt spid="116761"/>
                                        </p:tgtEl>
                                        <p:attrNameLst>
                                          <p:attrName>ppt_y</p:attrName>
                                        </p:attrNameLst>
                                      </p:cBhvr>
                                      <p:tavLst>
                                        <p:tav tm="0">
                                          <p:val>
                                            <p:strVal val="#ppt_y-#ppt_h/2"/>
                                          </p:val>
                                        </p:tav>
                                        <p:tav tm="100000">
                                          <p:val>
                                            <p:strVal val="#ppt_y"/>
                                          </p:val>
                                        </p:tav>
                                      </p:tavLst>
                                    </p:anim>
                                    <p:anim calcmode="lin" valueType="num">
                                      <p:cBhvr>
                                        <p:cTn id="113" dur="500" fill="hold"/>
                                        <p:tgtEl>
                                          <p:spTgt spid="116761"/>
                                        </p:tgtEl>
                                        <p:attrNameLst>
                                          <p:attrName>ppt_w</p:attrName>
                                        </p:attrNameLst>
                                      </p:cBhvr>
                                      <p:tavLst>
                                        <p:tav tm="0">
                                          <p:val>
                                            <p:strVal val="#ppt_w"/>
                                          </p:val>
                                        </p:tav>
                                        <p:tav tm="100000">
                                          <p:val>
                                            <p:strVal val="#ppt_w"/>
                                          </p:val>
                                        </p:tav>
                                      </p:tavLst>
                                    </p:anim>
                                    <p:anim calcmode="lin" valueType="num">
                                      <p:cBhvr>
                                        <p:cTn id="114" dur="500" fill="hold"/>
                                        <p:tgtEl>
                                          <p:spTgt spid="116761"/>
                                        </p:tgtEl>
                                        <p:attrNameLst>
                                          <p:attrName>ppt_h</p:attrName>
                                        </p:attrNameLst>
                                      </p:cBhvr>
                                      <p:tavLst>
                                        <p:tav tm="0">
                                          <p:val>
                                            <p:fltVal val="0"/>
                                          </p:val>
                                        </p:tav>
                                        <p:tav tm="100000">
                                          <p:val>
                                            <p:strVal val="#ppt_h"/>
                                          </p:val>
                                        </p:tav>
                                      </p:tavLst>
                                    </p:anim>
                                  </p:childTnLst>
                                </p:cTn>
                              </p:par>
                            </p:childTnLst>
                          </p:cTn>
                        </p:par>
                        <p:par>
                          <p:cTn id="115" fill="hold" nodeType="afterGroup">
                            <p:stCondLst>
                              <p:cond delay="1000"/>
                            </p:stCondLst>
                            <p:childTnLst>
                              <p:par>
                                <p:cTn id="116" presetID="17" presetClass="entr" presetSubtype="1" fill="hold" grpId="0" nodeType="afterEffect">
                                  <p:stCondLst>
                                    <p:cond delay="0"/>
                                  </p:stCondLst>
                                  <p:childTnLst>
                                    <p:set>
                                      <p:cBhvr>
                                        <p:cTn id="117" dur="1" fill="hold">
                                          <p:stCondLst>
                                            <p:cond delay="0"/>
                                          </p:stCondLst>
                                        </p:cTn>
                                        <p:tgtEl>
                                          <p:spTgt spid="116762"/>
                                        </p:tgtEl>
                                        <p:attrNameLst>
                                          <p:attrName>style.visibility</p:attrName>
                                        </p:attrNameLst>
                                      </p:cBhvr>
                                      <p:to>
                                        <p:strVal val="visible"/>
                                      </p:to>
                                    </p:set>
                                    <p:anim calcmode="lin" valueType="num">
                                      <p:cBhvr>
                                        <p:cTn id="118" dur="500" fill="hold"/>
                                        <p:tgtEl>
                                          <p:spTgt spid="116762"/>
                                        </p:tgtEl>
                                        <p:attrNameLst>
                                          <p:attrName>ppt_x</p:attrName>
                                        </p:attrNameLst>
                                      </p:cBhvr>
                                      <p:tavLst>
                                        <p:tav tm="0">
                                          <p:val>
                                            <p:strVal val="#ppt_x"/>
                                          </p:val>
                                        </p:tav>
                                        <p:tav tm="100000">
                                          <p:val>
                                            <p:strVal val="#ppt_x"/>
                                          </p:val>
                                        </p:tav>
                                      </p:tavLst>
                                    </p:anim>
                                    <p:anim calcmode="lin" valueType="num">
                                      <p:cBhvr>
                                        <p:cTn id="119" dur="500" fill="hold"/>
                                        <p:tgtEl>
                                          <p:spTgt spid="116762"/>
                                        </p:tgtEl>
                                        <p:attrNameLst>
                                          <p:attrName>ppt_y</p:attrName>
                                        </p:attrNameLst>
                                      </p:cBhvr>
                                      <p:tavLst>
                                        <p:tav tm="0">
                                          <p:val>
                                            <p:strVal val="#ppt_y-#ppt_h/2"/>
                                          </p:val>
                                        </p:tav>
                                        <p:tav tm="100000">
                                          <p:val>
                                            <p:strVal val="#ppt_y"/>
                                          </p:val>
                                        </p:tav>
                                      </p:tavLst>
                                    </p:anim>
                                    <p:anim calcmode="lin" valueType="num">
                                      <p:cBhvr>
                                        <p:cTn id="120" dur="500" fill="hold"/>
                                        <p:tgtEl>
                                          <p:spTgt spid="116762"/>
                                        </p:tgtEl>
                                        <p:attrNameLst>
                                          <p:attrName>ppt_w</p:attrName>
                                        </p:attrNameLst>
                                      </p:cBhvr>
                                      <p:tavLst>
                                        <p:tav tm="0">
                                          <p:val>
                                            <p:strVal val="#ppt_w"/>
                                          </p:val>
                                        </p:tav>
                                        <p:tav tm="100000">
                                          <p:val>
                                            <p:strVal val="#ppt_w"/>
                                          </p:val>
                                        </p:tav>
                                      </p:tavLst>
                                    </p:anim>
                                    <p:anim calcmode="lin" valueType="num">
                                      <p:cBhvr>
                                        <p:cTn id="121" dur="500" fill="hold"/>
                                        <p:tgtEl>
                                          <p:spTgt spid="116762"/>
                                        </p:tgtEl>
                                        <p:attrNameLst>
                                          <p:attrName>ppt_h</p:attrName>
                                        </p:attrNameLst>
                                      </p:cBhvr>
                                      <p:tavLst>
                                        <p:tav tm="0">
                                          <p:val>
                                            <p:fltVal val="0"/>
                                          </p:val>
                                        </p:tav>
                                        <p:tav tm="100000">
                                          <p:val>
                                            <p:strVal val="#ppt_h"/>
                                          </p:val>
                                        </p:tav>
                                      </p:tavLst>
                                    </p:anim>
                                  </p:childTnLst>
                                </p:cTn>
                              </p:par>
                            </p:childTnLst>
                          </p:cTn>
                        </p:par>
                        <p:par>
                          <p:cTn id="122" fill="hold" nodeType="afterGroup">
                            <p:stCondLst>
                              <p:cond delay="1500"/>
                            </p:stCondLst>
                            <p:childTnLst>
                              <p:par>
                                <p:cTn id="123" presetID="17" presetClass="entr" presetSubtype="1" fill="hold" grpId="0" nodeType="afterEffect">
                                  <p:stCondLst>
                                    <p:cond delay="0"/>
                                  </p:stCondLst>
                                  <p:childTnLst>
                                    <p:set>
                                      <p:cBhvr>
                                        <p:cTn id="124" dur="1" fill="hold">
                                          <p:stCondLst>
                                            <p:cond delay="0"/>
                                          </p:stCondLst>
                                        </p:cTn>
                                        <p:tgtEl>
                                          <p:spTgt spid="116763"/>
                                        </p:tgtEl>
                                        <p:attrNameLst>
                                          <p:attrName>style.visibility</p:attrName>
                                        </p:attrNameLst>
                                      </p:cBhvr>
                                      <p:to>
                                        <p:strVal val="visible"/>
                                      </p:to>
                                    </p:set>
                                    <p:anim calcmode="lin" valueType="num">
                                      <p:cBhvr>
                                        <p:cTn id="125" dur="500" fill="hold"/>
                                        <p:tgtEl>
                                          <p:spTgt spid="116763"/>
                                        </p:tgtEl>
                                        <p:attrNameLst>
                                          <p:attrName>ppt_x</p:attrName>
                                        </p:attrNameLst>
                                      </p:cBhvr>
                                      <p:tavLst>
                                        <p:tav tm="0">
                                          <p:val>
                                            <p:strVal val="#ppt_x"/>
                                          </p:val>
                                        </p:tav>
                                        <p:tav tm="100000">
                                          <p:val>
                                            <p:strVal val="#ppt_x"/>
                                          </p:val>
                                        </p:tav>
                                      </p:tavLst>
                                    </p:anim>
                                    <p:anim calcmode="lin" valueType="num">
                                      <p:cBhvr>
                                        <p:cTn id="126" dur="500" fill="hold"/>
                                        <p:tgtEl>
                                          <p:spTgt spid="116763"/>
                                        </p:tgtEl>
                                        <p:attrNameLst>
                                          <p:attrName>ppt_y</p:attrName>
                                        </p:attrNameLst>
                                      </p:cBhvr>
                                      <p:tavLst>
                                        <p:tav tm="0">
                                          <p:val>
                                            <p:strVal val="#ppt_y-#ppt_h/2"/>
                                          </p:val>
                                        </p:tav>
                                        <p:tav tm="100000">
                                          <p:val>
                                            <p:strVal val="#ppt_y"/>
                                          </p:val>
                                        </p:tav>
                                      </p:tavLst>
                                    </p:anim>
                                    <p:anim calcmode="lin" valueType="num">
                                      <p:cBhvr>
                                        <p:cTn id="127" dur="500" fill="hold"/>
                                        <p:tgtEl>
                                          <p:spTgt spid="116763"/>
                                        </p:tgtEl>
                                        <p:attrNameLst>
                                          <p:attrName>ppt_w</p:attrName>
                                        </p:attrNameLst>
                                      </p:cBhvr>
                                      <p:tavLst>
                                        <p:tav tm="0">
                                          <p:val>
                                            <p:strVal val="#ppt_w"/>
                                          </p:val>
                                        </p:tav>
                                        <p:tav tm="100000">
                                          <p:val>
                                            <p:strVal val="#ppt_w"/>
                                          </p:val>
                                        </p:tav>
                                      </p:tavLst>
                                    </p:anim>
                                    <p:anim calcmode="lin" valueType="num">
                                      <p:cBhvr>
                                        <p:cTn id="128" dur="500" fill="hold"/>
                                        <p:tgtEl>
                                          <p:spTgt spid="116763"/>
                                        </p:tgtEl>
                                        <p:attrNameLst>
                                          <p:attrName>ppt_h</p:attrName>
                                        </p:attrNameLst>
                                      </p:cBhvr>
                                      <p:tavLst>
                                        <p:tav tm="0">
                                          <p:val>
                                            <p:fltVal val="0"/>
                                          </p:val>
                                        </p:tav>
                                        <p:tav tm="100000">
                                          <p:val>
                                            <p:strVal val="#ppt_h"/>
                                          </p:val>
                                        </p:tav>
                                      </p:tavLst>
                                    </p:anim>
                                  </p:childTnLst>
                                </p:cTn>
                              </p:par>
                            </p:childTnLst>
                          </p:cTn>
                        </p:par>
                        <p:par>
                          <p:cTn id="129" fill="hold" nodeType="afterGroup">
                            <p:stCondLst>
                              <p:cond delay="2000"/>
                            </p:stCondLst>
                            <p:childTnLst>
                              <p:par>
                                <p:cTn id="130" presetID="1" presetClass="entr" presetSubtype="0" fill="hold" nodeType="afterEffect">
                                  <p:stCondLst>
                                    <p:cond delay="1000"/>
                                  </p:stCondLst>
                                  <p:childTnLst>
                                    <p:set>
                                      <p:cBhvr>
                                        <p:cTn id="131" dur="1" fill="hold">
                                          <p:stCondLst>
                                            <p:cond delay="499"/>
                                          </p:stCondLst>
                                        </p:cTn>
                                        <p:tgtEl>
                                          <p:spTgt spid="116746"/>
                                        </p:tgtEl>
                                        <p:attrNameLst>
                                          <p:attrName>style.visibility</p:attrName>
                                        </p:attrNameLst>
                                      </p:cBhvr>
                                      <p:to>
                                        <p:strVal val="visible"/>
                                      </p:to>
                                    </p:se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9" presetClass="entr" presetSubtype="0" fill="hold" grpId="0" nodeType="clickEffect">
                                  <p:stCondLst>
                                    <p:cond delay="0"/>
                                  </p:stCondLst>
                                  <p:childTnLst>
                                    <p:set>
                                      <p:cBhvr>
                                        <p:cTn id="135" dur="1" fill="hold">
                                          <p:stCondLst>
                                            <p:cond delay="0"/>
                                          </p:stCondLst>
                                        </p:cTn>
                                        <p:tgtEl>
                                          <p:spTgt spid="116783"/>
                                        </p:tgtEl>
                                        <p:attrNameLst>
                                          <p:attrName>style.visibility</p:attrName>
                                        </p:attrNameLst>
                                      </p:cBhvr>
                                      <p:to>
                                        <p:strVal val="visible"/>
                                      </p:to>
                                    </p:set>
                                    <p:animEffect transition="in" filter="dissolve">
                                      <p:cBhvr>
                                        <p:cTn id="136" dur="500"/>
                                        <p:tgtEl>
                                          <p:spTgt spid="116783"/>
                                        </p:tgtEl>
                                      </p:cBhvr>
                                    </p:animEffect>
                                  </p:childTnLst>
                                </p:cTn>
                              </p:par>
                              <p:par>
                                <p:cTn id="137" presetID="9" presetClass="entr" presetSubtype="0" fill="hold" grpId="0" nodeType="withEffect">
                                  <p:stCondLst>
                                    <p:cond delay="0"/>
                                  </p:stCondLst>
                                  <p:childTnLst>
                                    <p:set>
                                      <p:cBhvr>
                                        <p:cTn id="138" dur="1" fill="hold">
                                          <p:stCondLst>
                                            <p:cond delay="0"/>
                                          </p:stCondLst>
                                        </p:cTn>
                                        <p:tgtEl>
                                          <p:spTgt spid="116785"/>
                                        </p:tgtEl>
                                        <p:attrNameLst>
                                          <p:attrName>style.visibility</p:attrName>
                                        </p:attrNameLst>
                                      </p:cBhvr>
                                      <p:to>
                                        <p:strVal val="visible"/>
                                      </p:to>
                                    </p:set>
                                    <p:animEffect transition="in" filter="dissolve">
                                      <p:cBhvr>
                                        <p:cTn id="139" dur="500"/>
                                        <p:tgtEl>
                                          <p:spTgt spid="116785"/>
                                        </p:tgtEl>
                                      </p:cBhvr>
                                    </p:animEffect>
                                  </p:childTnLst>
                                </p:cTn>
                              </p:par>
                              <p:par>
                                <p:cTn id="140" presetID="9" presetClass="entr" presetSubtype="0" fill="hold" grpId="0" nodeType="withEffect">
                                  <p:stCondLst>
                                    <p:cond delay="0"/>
                                  </p:stCondLst>
                                  <p:childTnLst>
                                    <p:set>
                                      <p:cBhvr>
                                        <p:cTn id="141" dur="1" fill="hold">
                                          <p:stCondLst>
                                            <p:cond delay="0"/>
                                          </p:stCondLst>
                                        </p:cTn>
                                        <p:tgtEl>
                                          <p:spTgt spid="116784"/>
                                        </p:tgtEl>
                                        <p:attrNameLst>
                                          <p:attrName>style.visibility</p:attrName>
                                        </p:attrNameLst>
                                      </p:cBhvr>
                                      <p:to>
                                        <p:strVal val="visible"/>
                                      </p:to>
                                    </p:set>
                                    <p:animEffect transition="in" filter="dissolve">
                                      <p:cBhvr>
                                        <p:cTn id="142" dur="500"/>
                                        <p:tgtEl>
                                          <p:spTgt spid="116784"/>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9" presetClass="entr" presetSubtype="0" fill="hold" nodeType="clickEffect">
                                  <p:stCondLst>
                                    <p:cond delay="0"/>
                                  </p:stCondLst>
                                  <p:childTnLst>
                                    <p:set>
                                      <p:cBhvr>
                                        <p:cTn id="146" dur="1" fill="hold">
                                          <p:stCondLst>
                                            <p:cond delay="0"/>
                                          </p:stCondLst>
                                        </p:cTn>
                                        <p:tgtEl>
                                          <p:spTgt spid="116749"/>
                                        </p:tgtEl>
                                        <p:attrNameLst>
                                          <p:attrName>style.visibility</p:attrName>
                                        </p:attrNameLst>
                                      </p:cBhvr>
                                      <p:to>
                                        <p:strVal val="visible"/>
                                      </p:to>
                                    </p:set>
                                    <p:animEffect transition="in" filter="dissolve">
                                      <p:cBhvr>
                                        <p:cTn id="147" dur="500"/>
                                        <p:tgtEl>
                                          <p:spTgt spid="116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52" grpId="0" animBg="1"/>
      <p:bldP spid="116753" grpId="0" animBg="1"/>
      <p:bldP spid="116754" grpId="0" animBg="1"/>
      <p:bldP spid="116755" grpId="0" animBg="1"/>
      <p:bldP spid="116756" grpId="0" animBg="1"/>
      <p:bldP spid="116757" grpId="0" animBg="1"/>
      <p:bldP spid="116758" grpId="0" animBg="1"/>
      <p:bldP spid="116759" grpId="0" animBg="1"/>
      <p:bldP spid="116760" grpId="0" animBg="1"/>
      <p:bldP spid="116761" grpId="0" animBg="1"/>
      <p:bldP spid="116762" grpId="0" animBg="1"/>
      <p:bldP spid="116763" grpId="0" animBg="1"/>
      <p:bldP spid="116764" grpId="0" animBg="1"/>
      <p:bldP spid="116765" grpId="0" autoUpdateAnimBg="0"/>
      <p:bldP spid="116766" grpId="0" autoUpdateAnimBg="0"/>
      <p:bldP spid="116767" grpId="0" autoUpdateAnimBg="0"/>
      <p:bldP spid="116768" grpId="0" autoUpdateAnimBg="0"/>
      <p:bldP spid="116783" grpId="0" animBg="1"/>
      <p:bldP spid="116784" grpId="0" animBg="1"/>
      <p:bldP spid="11678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7762" name="Object 2"/>
          <p:cNvGraphicFramePr>
            <a:graphicFrameLocks/>
          </p:cNvGraphicFramePr>
          <p:nvPr/>
        </p:nvGraphicFramePr>
        <p:xfrm>
          <a:off x="1601788" y="1179513"/>
          <a:ext cx="1824037" cy="798512"/>
        </p:xfrm>
        <a:graphic>
          <a:graphicData uri="http://schemas.openxmlformats.org/presentationml/2006/ole">
            <p:oleObj spid="_x0000_s30722" name="公式" r:id="rId4" imgW="855000" imgH="367200" progId="Equation.3">
              <p:embed/>
            </p:oleObj>
          </a:graphicData>
        </a:graphic>
      </p:graphicFrame>
      <p:sp>
        <p:nvSpPr>
          <p:cNvPr id="117763" name="Rectangle 3"/>
          <p:cNvSpPr>
            <a:spLocks noChangeArrowheads="1"/>
          </p:cNvSpPr>
          <p:nvPr/>
        </p:nvSpPr>
        <p:spPr bwMode="auto">
          <a:xfrm>
            <a:off x="733425" y="588963"/>
            <a:ext cx="2636838" cy="457200"/>
          </a:xfrm>
          <a:prstGeom prst="rect">
            <a:avLst/>
          </a:prstGeom>
          <a:noFill/>
          <a:ln w="9525">
            <a:noFill/>
            <a:miter lim="800000"/>
            <a:headEnd/>
            <a:tailEnd/>
          </a:ln>
          <a:effectLst/>
        </p:spPr>
        <p:txBody>
          <a:bodyPr wrap="none">
            <a:spAutoFit/>
          </a:bodyPr>
          <a:lstStyle/>
          <a:p>
            <a:r>
              <a:rPr lang="zh-CN" altLang="en-US" b="1">
                <a:solidFill>
                  <a:schemeClr val="bg1"/>
                </a:solidFill>
                <a:latin typeface="宋体" charset="-122"/>
              </a:rPr>
              <a:t>波数</a:t>
            </a:r>
            <a:r>
              <a:rPr lang="en-US" altLang="zh-CN" b="1">
                <a:solidFill>
                  <a:schemeClr val="accent2"/>
                </a:solidFill>
                <a:latin typeface="宋体" charset="-122"/>
              </a:rPr>
              <a:t>(</a:t>
            </a:r>
            <a:r>
              <a:rPr lang="zh-CN" altLang="en-US" b="1">
                <a:solidFill>
                  <a:schemeClr val="accent2"/>
                </a:solidFill>
                <a:latin typeface="宋体" charset="-122"/>
              </a:rPr>
              <a:t>波长的倒数</a:t>
            </a:r>
            <a:r>
              <a:rPr lang="en-US" altLang="zh-CN" b="1">
                <a:solidFill>
                  <a:schemeClr val="accent2"/>
                </a:solidFill>
                <a:latin typeface="宋体" charset="-122"/>
              </a:rPr>
              <a:t>)</a:t>
            </a:r>
          </a:p>
        </p:txBody>
      </p:sp>
      <p:graphicFrame>
        <p:nvGraphicFramePr>
          <p:cNvPr id="117764" name="Object 4"/>
          <p:cNvGraphicFramePr>
            <a:graphicFrameLocks/>
          </p:cNvGraphicFramePr>
          <p:nvPr/>
        </p:nvGraphicFramePr>
        <p:xfrm>
          <a:off x="3222625" y="5184775"/>
          <a:ext cx="3336925" cy="434975"/>
        </p:xfrm>
        <a:graphic>
          <a:graphicData uri="http://schemas.openxmlformats.org/presentationml/2006/ole">
            <p:oleObj spid="_x0000_s30724" name="公式" r:id="rId5" imgW="1571760" imgH="187560" progId="Equation.3">
              <p:embed/>
            </p:oleObj>
          </a:graphicData>
        </a:graphic>
      </p:graphicFrame>
      <p:sp>
        <p:nvSpPr>
          <p:cNvPr id="117765" name="Text Box 5"/>
          <p:cNvSpPr txBox="1">
            <a:spLocks noChangeArrowheads="1"/>
          </p:cNvSpPr>
          <p:nvPr/>
        </p:nvSpPr>
        <p:spPr bwMode="auto">
          <a:xfrm>
            <a:off x="762000" y="5168900"/>
            <a:ext cx="2022475" cy="457200"/>
          </a:xfrm>
          <a:prstGeom prst="rect">
            <a:avLst/>
          </a:prstGeom>
          <a:noFill/>
          <a:ln w="9525">
            <a:noFill/>
            <a:miter lim="800000"/>
            <a:headEnd/>
            <a:tailEnd/>
          </a:ln>
          <a:effectLst/>
        </p:spPr>
        <p:txBody>
          <a:bodyPr wrap="none">
            <a:spAutoFit/>
          </a:bodyPr>
          <a:lstStyle/>
          <a:p>
            <a:r>
              <a:rPr lang="zh-CN" altLang="en-US" b="1">
                <a:solidFill>
                  <a:schemeClr val="bg1"/>
                </a:solidFill>
                <a:latin typeface="宋体" charset="-122"/>
              </a:rPr>
              <a:t>当时实验测得</a:t>
            </a:r>
          </a:p>
        </p:txBody>
      </p:sp>
      <p:graphicFrame>
        <p:nvGraphicFramePr>
          <p:cNvPr id="117766" name="Object 6"/>
          <p:cNvGraphicFramePr>
            <a:graphicFrameLocks/>
          </p:cNvGraphicFramePr>
          <p:nvPr/>
        </p:nvGraphicFramePr>
        <p:xfrm>
          <a:off x="2085975" y="2033588"/>
          <a:ext cx="1781175" cy="727075"/>
        </p:xfrm>
        <a:graphic>
          <a:graphicData uri="http://schemas.openxmlformats.org/presentationml/2006/ole">
            <p:oleObj spid="_x0000_s30726" name="公式" r:id="rId6" imgW="830520" imgH="334440" progId="Equation.3">
              <p:embed/>
            </p:oleObj>
          </a:graphicData>
        </a:graphic>
      </p:graphicFrame>
      <p:graphicFrame>
        <p:nvGraphicFramePr>
          <p:cNvPr id="117767" name="Object 7"/>
          <p:cNvGraphicFramePr>
            <a:graphicFrameLocks/>
          </p:cNvGraphicFramePr>
          <p:nvPr/>
        </p:nvGraphicFramePr>
        <p:xfrm>
          <a:off x="3222625" y="4373563"/>
          <a:ext cx="3336925" cy="434975"/>
        </p:xfrm>
        <a:graphic>
          <a:graphicData uri="http://schemas.openxmlformats.org/presentationml/2006/ole">
            <p:oleObj spid="_x0000_s30727" name="公式" r:id="rId7" imgW="1571760" imgH="187560" progId="Equation.3">
              <p:embed/>
            </p:oleObj>
          </a:graphicData>
        </a:graphic>
      </p:graphicFrame>
      <p:sp>
        <p:nvSpPr>
          <p:cNvPr id="117768" name="Text Box 8"/>
          <p:cNvSpPr txBox="1">
            <a:spLocks noChangeArrowheads="1"/>
          </p:cNvSpPr>
          <p:nvPr/>
        </p:nvSpPr>
        <p:spPr bwMode="auto">
          <a:xfrm>
            <a:off x="762000" y="4287838"/>
            <a:ext cx="2022475" cy="457200"/>
          </a:xfrm>
          <a:prstGeom prst="rect">
            <a:avLst/>
          </a:prstGeom>
          <a:noFill/>
          <a:ln w="9525">
            <a:noFill/>
            <a:miter lim="800000"/>
            <a:headEnd/>
            <a:tailEnd/>
          </a:ln>
          <a:effectLst/>
        </p:spPr>
        <p:txBody>
          <a:bodyPr wrap="none">
            <a:spAutoFit/>
          </a:bodyPr>
          <a:lstStyle/>
          <a:p>
            <a:r>
              <a:rPr lang="zh-CN" altLang="en-US" b="1">
                <a:solidFill>
                  <a:schemeClr val="bg1"/>
                </a:solidFill>
                <a:latin typeface="宋体" charset="-122"/>
              </a:rPr>
              <a:t>其中计算得到</a:t>
            </a:r>
          </a:p>
        </p:txBody>
      </p:sp>
      <p:graphicFrame>
        <p:nvGraphicFramePr>
          <p:cNvPr id="117769" name="Object 9"/>
          <p:cNvGraphicFramePr>
            <a:graphicFrameLocks noChangeAspect="1"/>
          </p:cNvGraphicFramePr>
          <p:nvPr/>
        </p:nvGraphicFramePr>
        <p:xfrm>
          <a:off x="2135188" y="2979738"/>
          <a:ext cx="2076450" cy="730250"/>
        </p:xfrm>
        <a:graphic>
          <a:graphicData uri="http://schemas.openxmlformats.org/presentationml/2006/ole">
            <p:oleObj spid="_x0000_s30729" name="公式" r:id="rId8" imgW="969120" imgH="334440" progId="Equation.3">
              <p:embed/>
            </p:oleObj>
          </a:graphicData>
        </a:graphic>
      </p:graphicFrame>
      <p:graphicFrame>
        <p:nvGraphicFramePr>
          <p:cNvPr id="117770" name="Object 10"/>
          <p:cNvGraphicFramePr>
            <a:graphicFrameLocks noChangeAspect="1"/>
          </p:cNvGraphicFramePr>
          <p:nvPr/>
        </p:nvGraphicFramePr>
        <p:xfrm>
          <a:off x="3941763" y="2033588"/>
          <a:ext cx="1781175" cy="730250"/>
        </p:xfrm>
        <a:graphic>
          <a:graphicData uri="http://schemas.openxmlformats.org/presentationml/2006/ole">
            <p:oleObj spid="_x0000_s30730" name="公式" r:id="rId9" imgW="830520" imgH="334440" progId="Equation.3">
              <p:embed/>
            </p:oleObj>
          </a:graphicData>
        </a:graphic>
      </p:graphicFrame>
    </p:spTree>
  </p:cSld>
  <p:clrMapOvr>
    <a:overrideClrMapping bg1="dk2" tx1="lt1" bg2="dk1" tx2="lt2" accent1="accent1" accent2="accent2" accent3="accent3" accent4="accent4" accent5="accent5" accent6="accent6" hlink="hlink" folHlink="folHlink"/>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7763"/>
                                        </p:tgtEl>
                                        <p:attrNameLst>
                                          <p:attrName>style.visibility</p:attrName>
                                        </p:attrNameLst>
                                      </p:cBhvr>
                                      <p:to>
                                        <p:strVal val="visible"/>
                                      </p:to>
                                    </p:set>
                                    <p:animEffect transition="in" filter="wipe(left)">
                                      <p:cBhvr>
                                        <p:cTn id="7" dur="500"/>
                                        <p:tgtEl>
                                          <p:spTgt spid="1177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7762"/>
                                        </p:tgtEl>
                                        <p:attrNameLst>
                                          <p:attrName>style.visibility</p:attrName>
                                        </p:attrNameLst>
                                      </p:cBhvr>
                                      <p:to>
                                        <p:strVal val="visible"/>
                                      </p:to>
                                    </p:set>
                                    <p:animEffect transition="in" filter="wipe(left)">
                                      <p:cBhvr>
                                        <p:cTn id="12" dur="500"/>
                                        <p:tgtEl>
                                          <p:spTgt spid="1177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7766"/>
                                        </p:tgtEl>
                                        <p:attrNameLst>
                                          <p:attrName>style.visibility</p:attrName>
                                        </p:attrNameLst>
                                      </p:cBhvr>
                                      <p:to>
                                        <p:strVal val="visible"/>
                                      </p:to>
                                    </p:set>
                                    <p:animEffect transition="in" filter="wipe(left)">
                                      <p:cBhvr>
                                        <p:cTn id="17" dur="500"/>
                                        <p:tgtEl>
                                          <p:spTgt spid="1177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7770"/>
                                        </p:tgtEl>
                                        <p:attrNameLst>
                                          <p:attrName>style.visibility</p:attrName>
                                        </p:attrNameLst>
                                      </p:cBhvr>
                                      <p:to>
                                        <p:strVal val="visible"/>
                                      </p:to>
                                    </p:set>
                                    <p:animEffect transition="in" filter="wipe(left)">
                                      <p:cBhvr>
                                        <p:cTn id="22" dur="500"/>
                                        <p:tgtEl>
                                          <p:spTgt spid="1177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117769"/>
                                        </p:tgtEl>
                                        <p:attrNameLst>
                                          <p:attrName>style.visibility</p:attrName>
                                        </p:attrNameLst>
                                      </p:cBhvr>
                                      <p:to>
                                        <p:strVal val="visible"/>
                                      </p:to>
                                    </p:set>
                                    <p:anim calcmode="lin" valueType="num">
                                      <p:cBhvr additive="base">
                                        <p:cTn id="27" dur="500" fill="hold"/>
                                        <p:tgtEl>
                                          <p:spTgt spid="117769"/>
                                        </p:tgtEl>
                                        <p:attrNameLst>
                                          <p:attrName>ppt_x</p:attrName>
                                        </p:attrNameLst>
                                      </p:cBhvr>
                                      <p:tavLst>
                                        <p:tav tm="0">
                                          <p:val>
                                            <p:strVal val="#ppt_x"/>
                                          </p:val>
                                        </p:tav>
                                        <p:tav tm="100000">
                                          <p:val>
                                            <p:strVal val="#ppt_x"/>
                                          </p:val>
                                        </p:tav>
                                      </p:tavLst>
                                    </p:anim>
                                    <p:anim calcmode="lin" valueType="num">
                                      <p:cBhvr additive="base">
                                        <p:cTn id="28" dur="500" fill="hold"/>
                                        <p:tgtEl>
                                          <p:spTgt spid="117769"/>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17768"/>
                                        </p:tgtEl>
                                        <p:attrNameLst>
                                          <p:attrName>style.visibility</p:attrName>
                                        </p:attrNameLst>
                                      </p:cBhvr>
                                      <p:to>
                                        <p:strVal val="visible"/>
                                      </p:to>
                                    </p:se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117767"/>
                                        </p:tgtEl>
                                        <p:attrNameLst>
                                          <p:attrName>style.visibility</p:attrName>
                                        </p:attrNameLst>
                                      </p:cBhvr>
                                      <p:to>
                                        <p:strVal val="visible"/>
                                      </p:to>
                                    </p:set>
                                    <p:animEffect transition="in" filter="wipe(left)">
                                      <p:cBhvr>
                                        <p:cTn id="36" dur="500"/>
                                        <p:tgtEl>
                                          <p:spTgt spid="11776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117765"/>
                                        </p:tgtEl>
                                        <p:attrNameLst>
                                          <p:attrName>style.visibility</p:attrName>
                                        </p:attrNameLst>
                                      </p:cBhvr>
                                      <p:to>
                                        <p:strVal val="visible"/>
                                      </p:to>
                                    </p:set>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117764"/>
                                        </p:tgtEl>
                                        <p:attrNameLst>
                                          <p:attrName>style.visibility</p:attrName>
                                        </p:attrNameLst>
                                      </p:cBhvr>
                                      <p:to>
                                        <p:strVal val="visible"/>
                                      </p:to>
                                    </p:set>
                                    <p:animEffect transition="in" filter="wipe(left)">
                                      <p:cBhvr>
                                        <p:cTn id="44" dur="500"/>
                                        <p:tgtEl>
                                          <p:spTgt spid="117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p:bldP spid="117765" grpId="0" autoUpdateAnimBg="0"/>
      <p:bldP spid="117768"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92" name="Text Box 8"/>
          <p:cNvSpPr txBox="1">
            <a:spLocks noChangeArrowheads="1"/>
          </p:cNvSpPr>
          <p:nvPr/>
        </p:nvSpPr>
        <p:spPr bwMode="auto">
          <a:xfrm>
            <a:off x="1690688" y="954088"/>
            <a:ext cx="6076950" cy="457200"/>
          </a:xfrm>
          <a:prstGeom prst="rect">
            <a:avLst/>
          </a:prstGeom>
          <a:noFill/>
          <a:ln w="9525">
            <a:noFill/>
            <a:miter lim="800000"/>
            <a:headEnd/>
            <a:tailEnd/>
          </a:ln>
          <a:effectLst/>
        </p:spPr>
        <p:txBody>
          <a:bodyPr>
            <a:spAutoFit/>
          </a:bodyPr>
          <a:lstStyle/>
          <a:p>
            <a:pPr>
              <a:buClr>
                <a:srgbClr val="FF6600"/>
              </a:buClr>
              <a:buSzPct val="80000"/>
              <a:buFont typeface="Wingdings" pitchFamily="2" charset="2"/>
              <a:buNone/>
            </a:pPr>
            <a:r>
              <a:rPr lang="en-US" altLang="zh-CN" b="1">
                <a:solidFill>
                  <a:schemeClr val="bg1"/>
                </a:solidFill>
                <a:latin typeface="宋体" charset="-122"/>
              </a:rPr>
              <a:t> </a:t>
            </a:r>
            <a:r>
              <a:rPr lang="zh-CN" altLang="en-US" b="1">
                <a:solidFill>
                  <a:schemeClr val="bg1"/>
                </a:solidFill>
                <a:latin typeface="宋体" charset="-122"/>
              </a:rPr>
              <a:t>（</a:t>
            </a:r>
            <a:r>
              <a:rPr lang="en-US" altLang="zh-CN" b="1">
                <a:solidFill>
                  <a:schemeClr val="bg1"/>
                </a:solidFill>
                <a:latin typeface="宋体" charset="-122"/>
              </a:rPr>
              <a:t>1</a:t>
            </a:r>
            <a:r>
              <a:rPr lang="zh-CN" altLang="en-US" b="1">
                <a:solidFill>
                  <a:schemeClr val="bg1"/>
                </a:solidFill>
                <a:latin typeface="宋体" charset="-122"/>
              </a:rPr>
              <a:t>）圆满解释了氢原子光谱的规律性；</a:t>
            </a:r>
          </a:p>
        </p:txBody>
      </p:sp>
      <p:sp>
        <p:nvSpPr>
          <p:cNvPr id="118793" name="Text Box 9"/>
          <p:cNvSpPr txBox="1">
            <a:spLocks noChangeArrowheads="1"/>
          </p:cNvSpPr>
          <p:nvPr/>
        </p:nvSpPr>
        <p:spPr bwMode="auto">
          <a:xfrm>
            <a:off x="1601788" y="4733925"/>
            <a:ext cx="6300787" cy="530225"/>
          </a:xfrm>
          <a:prstGeom prst="rect">
            <a:avLst/>
          </a:prstGeom>
          <a:noFill/>
          <a:ln w="9525">
            <a:noFill/>
            <a:miter lim="800000"/>
            <a:headEnd/>
            <a:tailEnd/>
          </a:ln>
          <a:effectLst/>
        </p:spPr>
        <p:txBody>
          <a:bodyPr>
            <a:spAutoFit/>
          </a:bodyPr>
          <a:lstStyle/>
          <a:p>
            <a:pPr marL="168275" indent="-168275">
              <a:lnSpc>
                <a:spcPct val="120000"/>
              </a:lnSpc>
              <a:buClr>
                <a:schemeClr val="accent2"/>
              </a:buClr>
              <a:buSzPct val="80000"/>
              <a:buFont typeface="Wingdings" pitchFamily="2" charset="2"/>
              <a:buNone/>
            </a:pPr>
            <a:r>
              <a:rPr lang="zh-CN" altLang="en-US" b="1">
                <a:solidFill>
                  <a:schemeClr val="bg1"/>
                </a:solidFill>
                <a:latin typeface="宋体" charset="-122"/>
              </a:rPr>
              <a:t>对微观粒子的处理仍沿用了牛顿力学的观念。</a:t>
            </a:r>
          </a:p>
        </p:txBody>
      </p:sp>
      <p:sp>
        <p:nvSpPr>
          <p:cNvPr id="118796" name="Text Box 12"/>
          <p:cNvSpPr txBox="1">
            <a:spLocks noChangeArrowheads="1"/>
          </p:cNvSpPr>
          <p:nvPr/>
        </p:nvSpPr>
        <p:spPr bwMode="auto">
          <a:xfrm>
            <a:off x="190500" y="458788"/>
            <a:ext cx="5715000" cy="457200"/>
          </a:xfrm>
          <a:prstGeom prst="rect">
            <a:avLst/>
          </a:prstGeom>
          <a:noFill/>
          <a:ln w="9525">
            <a:noFill/>
            <a:miter lim="800000"/>
            <a:headEnd/>
            <a:tailEnd/>
          </a:ln>
          <a:effectLst/>
        </p:spPr>
        <p:txBody>
          <a:bodyPr>
            <a:spAutoFit/>
          </a:bodyPr>
          <a:lstStyle/>
          <a:p>
            <a:r>
              <a:rPr lang="zh-CN" altLang="en-US" b="1" dirty="0" smtClean="0">
                <a:solidFill>
                  <a:srgbClr val="3333CC"/>
                </a:solidFill>
                <a:latin typeface="宋体" charset="-122"/>
              </a:rPr>
              <a:t> </a:t>
            </a:r>
            <a:r>
              <a:rPr lang="zh-CN" altLang="en-US" b="1" dirty="0">
                <a:solidFill>
                  <a:srgbClr val="3333CC"/>
                </a:solidFill>
                <a:latin typeface="宋体" charset="-122"/>
              </a:rPr>
              <a:t>玻尔氢原子理论的贡献及局限性</a:t>
            </a:r>
          </a:p>
        </p:txBody>
      </p:sp>
      <p:sp>
        <p:nvSpPr>
          <p:cNvPr id="118797" name="Text Box 13"/>
          <p:cNvSpPr txBox="1">
            <a:spLocks noChangeArrowheads="1"/>
          </p:cNvSpPr>
          <p:nvPr/>
        </p:nvSpPr>
        <p:spPr bwMode="auto">
          <a:xfrm>
            <a:off x="655638" y="1584325"/>
            <a:ext cx="1755775" cy="457200"/>
          </a:xfrm>
          <a:prstGeom prst="rect">
            <a:avLst/>
          </a:prstGeom>
          <a:noFill/>
          <a:ln w="9525">
            <a:noFill/>
            <a:miter lim="800000"/>
            <a:headEnd/>
            <a:tailEnd/>
          </a:ln>
          <a:effectLst/>
        </p:spPr>
        <p:txBody>
          <a:bodyPr>
            <a:spAutoFit/>
          </a:bodyPr>
          <a:lstStyle/>
          <a:p>
            <a:pPr>
              <a:spcBef>
                <a:spcPct val="50000"/>
              </a:spcBef>
            </a:pPr>
            <a:r>
              <a:rPr lang="zh-CN" altLang="en-US" b="1">
                <a:solidFill>
                  <a:srgbClr val="FF0000"/>
                </a:solidFill>
              </a:rPr>
              <a:t>成功处</a:t>
            </a:r>
          </a:p>
        </p:txBody>
      </p:sp>
      <p:sp>
        <p:nvSpPr>
          <p:cNvPr id="118798" name="Text Box 14"/>
          <p:cNvSpPr txBox="1">
            <a:spLocks noChangeArrowheads="1"/>
          </p:cNvSpPr>
          <p:nvPr/>
        </p:nvSpPr>
        <p:spPr bwMode="auto">
          <a:xfrm>
            <a:off x="1825625" y="1449388"/>
            <a:ext cx="6435725"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1"/>
                </a:solidFill>
              </a:rPr>
              <a:t>（</a:t>
            </a:r>
            <a:r>
              <a:rPr lang="en-US" altLang="zh-CN" b="1">
                <a:solidFill>
                  <a:schemeClr val="bg1"/>
                </a:solidFill>
              </a:rPr>
              <a:t>2</a:t>
            </a:r>
            <a:r>
              <a:rPr lang="zh-CN" altLang="en-US" b="1">
                <a:solidFill>
                  <a:schemeClr val="bg1"/>
                </a:solidFill>
              </a:rPr>
              <a:t>）从理论上计算出了里德伯常量；</a:t>
            </a:r>
          </a:p>
        </p:txBody>
      </p:sp>
      <p:sp>
        <p:nvSpPr>
          <p:cNvPr id="118799" name="Text Box 15"/>
          <p:cNvSpPr txBox="1">
            <a:spLocks noChangeArrowheads="1"/>
          </p:cNvSpPr>
          <p:nvPr/>
        </p:nvSpPr>
        <p:spPr bwMode="auto">
          <a:xfrm>
            <a:off x="1825625" y="1892300"/>
            <a:ext cx="6615113"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1"/>
                </a:solidFill>
              </a:rPr>
              <a:t>（</a:t>
            </a:r>
            <a:r>
              <a:rPr lang="en-US" altLang="zh-CN" b="1">
                <a:solidFill>
                  <a:schemeClr val="bg1"/>
                </a:solidFill>
              </a:rPr>
              <a:t>3</a:t>
            </a:r>
            <a:r>
              <a:rPr lang="zh-CN" altLang="en-US" b="1">
                <a:solidFill>
                  <a:schemeClr val="bg1"/>
                </a:solidFill>
              </a:rPr>
              <a:t>）能对类氢离子光谱给与说明；</a:t>
            </a:r>
            <a:endParaRPr lang="zh-CN" altLang="en-US"/>
          </a:p>
        </p:txBody>
      </p:sp>
      <p:sp>
        <p:nvSpPr>
          <p:cNvPr id="118800" name="Text Box 16"/>
          <p:cNvSpPr txBox="1">
            <a:spLocks noChangeArrowheads="1"/>
          </p:cNvSpPr>
          <p:nvPr/>
        </p:nvSpPr>
        <p:spPr bwMode="auto">
          <a:xfrm>
            <a:off x="1825625" y="2341563"/>
            <a:ext cx="6886575"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1"/>
                </a:solidFill>
              </a:rPr>
              <a:t>（</a:t>
            </a:r>
            <a:r>
              <a:rPr lang="en-US" altLang="zh-CN" b="1">
                <a:solidFill>
                  <a:schemeClr val="bg1"/>
                </a:solidFill>
              </a:rPr>
              <a:t>4</a:t>
            </a:r>
            <a:r>
              <a:rPr lang="zh-CN" altLang="en-US" b="1">
                <a:solidFill>
                  <a:schemeClr val="bg1"/>
                </a:solidFill>
              </a:rPr>
              <a:t>）能级概念在</a:t>
            </a:r>
            <a:r>
              <a:rPr lang="en-US" altLang="zh-CN" b="1">
                <a:solidFill>
                  <a:schemeClr val="bg1"/>
                </a:solidFill>
              </a:rPr>
              <a:t>1914</a:t>
            </a:r>
            <a:r>
              <a:rPr lang="zh-CN" altLang="en-US" b="1">
                <a:solidFill>
                  <a:schemeClr val="bg1"/>
                </a:solidFill>
              </a:rPr>
              <a:t>年被弗兰克</a:t>
            </a:r>
            <a:r>
              <a:rPr lang="en-US" altLang="zh-CN" b="1">
                <a:solidFill>
                  <a:schemeClr val="bg1"/>
                </a:solidFill>
              </a:rPr>
              <a:t>-</a:t>
            </a:r>
            <a:r>
              <a:rPr lang="zh-CN" altLang="en-US" b="1">
                <a:solidFill>
                  <a:schemeClr val="bg1"/>
                </a:solidFill>
              </a:rPr>
              <a:t>赫兹实验证实。</a:t>
            </a:r>
            <a:endParaRPr lang="zh-CN" altLang="en-US"/>
          </a:p>
        </p:txBody>
      </p:sp>
      <p:sp>
        <p:nvSpPr>
          <p:cNvPr id="118801" name="AutoShape 17"/>
          <p:cNvSpPr>
            <a:spLocks/>
          </p:cNvSpPr>
          <p:nvPr/>
        </p:nvSpPr>
        <p:spPr bwMode="auto">
          <a:xfrm>
            <a:off x="1736725" y="1133475"/>
            <a:ext cx="223838" cy="1485900"/>
          </a:xfrm>
          <a:prstGeom prst="leftBrace">
            <a:avLst>
              <a:gd name="adj1" fmla="val 55319"/>
              <a:gd name="adj2" fmla="val 50000"/>
            </a:avLst>
          </a:prstGeom>
          <a:noFill/>
          <a:ln w="19050">
            <a:solidFill>
              <a:srgbClr val="0000FF"/>
            </a:solidFill>
            <a:round/>
            <a:headEnd/>
            <a:tailEnd/>
          </a:ln>
          <a:effectLst/>
        </p:spPr>
        <p:txBody>
          <a:bodyPr wrap="none" anchor="ctr"/>
          <a:lstStyle/>
          <a:p>
            <a:endParaRPr lang="zh-CN" altLang="en-US"/>
          </a:p>
        </p:txBody>
      </p:sp>
      <p:sp>
        <p:nvSpPr>
          <p:cNvPr id="118802" name="Text Box 18"/>
          <p:cNvSpPr txBox="1">
            <a:spLocks noChangeArrowheads="1"/>
          </p:cNvSpPr>
          <p:nvPr/>
        </p:nvSpPr>
        <p:spPr bwMode="auto">
          <a:xfrm>
            <a:off x="701675" y="3562350"/>
            <a:ext cx="1755775" cy="457200"/>
          </a:xfrm>
          <a:prstGeom prst="rect">
            <a:avLst/>
          </a:prstGeom>
          <a:noFill/>
          <a:ln w="9525">
            <a:noFill/>
            <a:miter lim="800000"/>
            <a:headEnd/>
            <a:tailEnd/>
          </a:ln>
          <a:effectLst/>
        </p:spPr>
        <p:txBody>
          <a:bodyPr>
            <a:spAutoFit/>
          </a:bodyPr>
          <a:lstStyle/>
          <a:p>
            <a:pPr>
              <a:spcBef>
                <a:spcPct val="50000"/>
              </a:spcBef>
            </a:pPr>
            <a:r>
              <a:rPr lang="zh-CN" altLang="en-US" b="1">
                <a:solidFill>
                  <a:srgbClr val="FF0000"/>
                </a:solidFill>
              </a:rPr>
              <a:t>局限性</a:t>
            </a:r>
          </a:p>
        </p:txBody>
      </p:sp>
      <p:sp>
        <p:nvSpPr>
          <p:cNvPr id="118803" name="Text Box 19"/>
          <p:cNvSpPr txBox="1">
            <a:spLocks noChangeArrowheads="1"/>
          </p:cNvSpPr>
          <p:nvPr/>
        </p:nvSpPr>
        <p:spPr bwMode="auto">
          <a:xfrm>
            <a:off x="1871663" y="2889250"/>
            <a:ext cx="6345237"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1"/>
                </a:solidFill>
              </a:rPr>
              <a:t>（</a:t>
            </a:r>
            <a:r>
              <a:rPr lang="en-US" altLang="zh-CN" b="1">
                <a:solidFill>
                  <a:schemeClr val="bg1"/>
                </a:solidFill>
              </a:rPr>
              <a:t>1</a:t>
            </a:r>
            <a:r>
              <a:rPr lang="zh-CN" altLang="en-US" b="1">
                <a:solidFill>
                  <a:schemeClr val="bg1"/>
                </a:solidFill>
              </a:rPr>
              <a:t>）不能解释多电子原子的光谱；</a:t>
            </a:r>
          </a:p>
        </p:txBody>
      </p:sp>
      <p:sp>
        <p:nvSpPr>
          <p:cNvPr id="118804" name="Text Box 20"/>
          <p:cNvSpPr txBox="1">
            <a:spLocks noChangeArrowheads="1"/>
          </p:cNvSpPr>
          <p:nvPr/>
        </p:nvSpPr>
        <p:spPr bwMode="auto">
          <a:xfrm>
            <a:off x="1871663" y="3376613"/>
            <a:ext cx="5940425"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1"/>
                </a:solidFill>
              </a:rPr>
              <a:t>（</a:t>
            </a:r>
            <a:r>
              <a:rPr lang="en-US" altLang="zh-CN" b="1">
                <a:solidFill>
                  <a:schemeClr val="bg1"/>
                </a:solidFill>
              </a:rPr>
              <a:t>2</a:t>
            </a:r>
            <a:r>
              <a:rPr lang="zh-CN" altLang="en-US" b="1">
                <a:solidFill>
                  <a:schemeClr val="bg1"/>
                </a:solidFill>
              </a:rPr>
              <a:t>）对谱线的强度、宽度无能为力；</a:t>
            </a:r>
          </a:p>
        </p:txBody>
      </p:sp>
      <p:sp>
        <p:nvSpPr>
          <p:cNvPr id="118806" name="Text Box 22"/>
          <p:cNvSpPr txBox="1">
            <a:spLocks noChangeArrowheads="1"/>
          </p:cNvSpPr>
          <p:nvPr/>
        </p:nvSpPr>
        <p:spPr bwMode="auto">
          <a:xfrm>
            <a:off x="1871663" y="3821113"/>
            <a:ext cx="6661150" cy="822325"/>
          </a:xfrm>
          <a:prstGeom prst="rect">
            <a:avLst/>
          </a:prstGeom>
          <a:noFill/>
          <a:ln w="9525">
            <a:noFill/>
            <a:miter lim="800000"/>
            <a:headEnd/>
            <a:tailEnd/>
          </a:ln>
          <a:effectLst/>
        </p:spPr>
        <p:txBody>
          <a:bodyPr>
            <a:spAutoFit/>
          </a:bodyPr>
          <a:lstStyle/>
          <a:p>
            <a:r>
              <a:rPr lang="zh-CN" altLang="en-US" b="1">
                <a:solidFill>
                  <a:schemeClr val="bg1"/>
                </a:solidFill>
              </a:rPr>
              <a:t>（</a:t>
            </a:r>
            <a:r>
              <a:rPr lang="en-US" altLang="zh-CN" b="1">
                <a:solidFill>
                  <a:schemeClr val="bg1"/>
                </a:solidFill>
              </a:rPr>
              <a:t>3</a:t>
            </a:r>
            <a:r>
              <a:rPr lang="zh-CN" altLang="en-US" b="1">
                <a:solidFill>
                  <a:schemeClr val="bg1"/>
                </a:solidFill>
              </a:rPr>
              <a:t>）不能说明原子是如何组成分子、构成液体</a:t>
            </a:r>
          </a:p>
          <a:p>
            <a:r>
              <a:rPr lang="zh-CN" altLang="en-US" b="1">
                <a:solidFill>
                  <a:schemeClr val="bg1"/>
                </a:solidFill>
              </a:rPr>
              <a:t>         和固体的。</a:t>
            </a:r>
          </a:p>
        </p:txBody>
      </p:sp>
      <p:sp>
        <p:nvSpPr>
          <p:cNvPr id="118807" name="AutoShape 23"/>
          <p:cNvSpPr>
            <a:spLocks/>
          </p:cNvSpPr>
          <p:nvPr/>
        </p:nvSpPr>
        <p:spPr bwMode="auto">
          <a:xfrm>
            <a:off x="1827213" y="3068638"/>
            <a:ext cx="223837" cy="1485900"/>
          </a:xfrm>
          <a:prstGeom prst="leftBrace">
            <a:avLst>
              <a:gd name="adj1" fmla="val 55319"/>
              <a:gd name="adj2" fmla="val 50000"/>
            </a:avLst>
          </a:prstGeom>
          <a:noFill/>
          <a:ln w="19050">
            <a:solidFill>
              <a:srgbClr val="0000FF"/>
            </a:solidFill>
            <a:round/>
            <a:headEnd/>
            <a:tailEnd/>
          </a:ln>
          <a:effectLst/>
        </p:spPr>
        <p:txBody>
          <a:bodyPr wrap="none" anchor="ctr"/>
          <a:lstStyle/>
          <a:p>
            <a:endParaRPr lang="zh-CN" altLang="en-US"/>
          </a:p>
        </p:txBody>
      </p:sp>
      <p:sp>
        <p:nvSpPr>
          <p:cNvPr id="118808" name="Text Box 24"/>
          <p:cNvSpPr txBox="1">
            <a:spLocks noChangeArrowheads="1"/>
          </p:cNvSpPr>
          <p:nvPr/>
        </p:nvSpPr>
        <p:spPr bwMode="auto">
          <a:xfrm>
            <a:off x="792163" y="4824413"/>
            <a:ext cx="1755775" cy="457200"/>
          </a:xfrm>
          <a:prstGeom prst="rect">
            <a:avLst/>
          </a:prstGeom>
          <a:noFill/>
          <a:ln w="9525">
            <a:noFill/>
            <a:miter lim="800000"/>
            <a:headEnd/>
            <a:tailEnd/>
          </a:ln>
          <a:effectLst/>
        </p:spPr>
        <p:txBody>
          <a:bodyPr>
            <a:spAutoFit/>
          </a:bodyPr>
          <a:lstStyle/>
          <a:p>
            <a:pPr>
              <a:spcBef>
                <a:spcPct val="50000"/>
              </a:spcBef>
            </a:pPr>
            <a:r>
              <a:rPr lang="zh-CN" altLang="en-US" b="1">
                <a:solidFill>
                  <a:srgbClr val="FF0000"/>
                </a:solidFill>
              </a:rPr>
              <a:t>根源：</a:t>
            </a:r>
          </a:p>
        </p:txBody>
      </p:sp>
      <p:sp>
        <p:nvSpPr>
          <p:cNvPr id="118809" name="Text Box 25"/>
          <p:cNvSpPr txBox="1">
            <a:spLocks noChangeArrowheads="1"/>
          </p:cNvSpPr>
          <p:nvPr/>
        </p:nvSpPr>
        <p:spPr bwMode="auto">
          <a:xfrm>
            <a:off x="476250" y="5499100"/>
            <a:ext cx="8820150"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3333CC"/>
                </a:solidFill>
                <a:ea typeface="楷体_GB2312" pitchFamily="49" charset="-122"/>
              </a:rPr>
              <a:t>“</a:t>
            </a:r>
            <a:r>
              <a:rPr lang="zh-CN" altLang="en-US" b="1">
                <a:solidFill>
                  <a:srgbClr val="3333CC"/>
                </a:solidFill>
                <a:latin typeface="楷体_GB2312" pitchFamily="49" charset="-122"/>
                <a:ea typeface="楷体_GB2312" pitchFamily="49" charset="-122"/>
              </a:rPr>
              <a:t>玻尔的理论每星期</a:t>
            </a:r>
            <a:r>
              <a:rPr lang="en-US" altLang="zh-CN" b="1">
                <a:solidFill>
                  <a:srgbClr val="3333CC"/>
                </a:solidFill>
                <a:latin typeface="楷体_GB2312" pitchFamily="49" charset="-122"/>
                <a:ea typeface="楷体_GB2312" pitchFamily="49" charset="-122"/>
              </a:rPr>
              <a:t>1</a:t>
            </a:r>
            <a:r>
              <a:rPr lang="zh-CN" altLang="en-US" b="1">
                <a:solidFill>
                  <a:srgbClr val="3333CC"/>
                </a:solidFill>
                <a:latin typeface="楷体_GB2312" pitchFamily="49" charset="-122"/>
                <a:ea typeface="楷体_GB2312" pitchFamily="49" charset="-122"/>
              </a:rPr>
              <a:t>、</a:t>
            </a:r>
            <a:r>
              <a:rPr lang="en-US" altLang="zh-CN" b="1">
                <a:solidFill>
                  <a:srgbClr val="3333CC"/>
                </a:solidFill>
                <a:latin typeface="楷体_GB2312" pitchFamily="49" charset="-122"/>
                <a:ea typeface="楷体_GB2312" pitchFamily="49" charset="-122"/>
              </a:rPr>
              <a:t>3</a:t>
            </a:r>
            <a:r>
              <a:rPr lang="zh-CN" altLang="en-US" b="1">
                <a:solidFill>
                  <a:srgbClr val="3333CC"/>
                </a:solidFill>
                <a:latin typeface="楷体_GB2312" pitchFamily="49" charset="-122"/>
                <a:ea typeface="楷体_GB2312" pitchFamily="49" charset="-122"/>
              </a:rPr>
              <a:t>、</a:t>
            </a:r>
            <a:r>
              <a:rPr lang="en-US" altLang="zh-CN" b="1">
                <a:solidFill>
                  <a:srgbClr val="3333CC"/>
                </a:solidFill>
                <a:latin typeface="楷体_GB2312" pitchFamily="49" charset="-122"/>
                <a:ea typeface="楷体_GB2312" pitchFamily="49" charset="-122"/>
              </a:rPr>
              <a:t>5</a:t>
            </a:r>
            <a:r>
              <a:rPr lang="zh-CN" altLang="en-US" b="1">
                <a:solidFill>
                  <a:srgbClr val="3333CC"/>
                </a:solidFill>
                <a:latin typeface="楷体_GB2312" pitchFamily="49" charset="-122"/>
                <a:ea typeface="楷体_GB2312" pitchFamily="49" charset="-122"/>
              </a:rPr>
              <a:t>是经典的，</a:t>
            </a:r>
            <a:r>
              <a:rPr lang="en-US" altLang="zh-CN" b="1">
                <a:solidFill>
                  <a:srgbClr val="3333CC"/>
                </a:solidFill>
                <a:latin typeface="楷体_GB2312" pitchFamily="49" charset="-122"/>
                <a:ea typeface="楷体_GB2312" pitchFamily="49" charset="-122"/>
              </a:rPr>
              <a:t>2</a:t>
            </a:r>
            <a:r>
              <a:rPr lang="zh-CN" altLang="en-US" b="1">
                <a:solidFill>
                  <a:srgbClr val="3333CC"/>
                </a:solidFill>
                <a:latin typeface="楷体_GB2312" pitchFamily="49" charset="-122"/>
                <a:ea typeface="楷体_GB2312" pitchFamily="49" charset="-122"/>
              </a:rPr>
              <a:t>、</a:t>
            </a:r>
            <a:r>
              <a:rPr lang="en-US" altLang="zh-CN" b="1">
                <a:solidFill>
                  <a:srgbClr val="3333CC"/>
                </a:solidFill>
                <a:latin typeface="楷体_GB2312" pitchFamily="49" charset="-122"/>
                <a:ea typeface="楷体_GB2312" pitchFamily="49" charset="-122"/>
              </a:rPr>
              <a:t>4</a:t>
            </a:r>
            <a:r>
              <a:rPr lang="zh-CN" altLang="en-US" b="1">
                <a:solidFill>
                  <a:srgbClr val="3333CC"/>
                </a:solidFill>
                <a:latin typeface="楷体_GB2312" pitchFamily="49" charset="-122"/>
                <a:ea typeface="楷体_GB2312" pitchFamily="49" charset="-122"/>
              </a:rPr>
              <a:t>、</a:t>
            </a:r>
            <a:r>
              <a:rPr lang="en-US" altLang="zh-CN" b="1">
                <a:solidFill>
                  <a:srgbClr val="3333CC"/>
                </a:solidFill>
                <a:latin typeface="楷体_GB2312" pitchFamily="49" charset="-122"/>
                <a:ea typeface="楷体_GB2312" pitchFamily="49" charset="-122"/>
              </a:rPr>
              <a:t>6</a:t>
            </a:r>
            <a:r>
              <a:rPr lang="zh-CN" altLang="en-US" b="1">
                <a:solidFill>
                  <a:srgbClr val="3333CC"/>
                </a:solidFill>
                <a:latin typeface="楷体_GB2312" pitchFamily="49" charset="-122"/>
                <a:ea typeface="楷体_GB2312" pitchFamily="49" charset="-122"/>
              </a:rPr>
              <a:t>是量子化的</a:t>
            </a:r>
            <a:r>
              <a:rPr lang="zh-CN" altLang="en-US" b="1">
                <a:solidFill>
                  <a:srgbClr val="3333CC"/>
                </a:solidFill>
                <a:ea typeface="楷体_GB2312" pitchFamily="49" charset="-122"/>
              </a:rPr>
              <a:t>”</a:t>
            </a:r>
            <a:endParaRPr lang="zh-CN" altLang="en-US" b="1">
              <a:solidFill>
                <a:srgbClr val="3333CC"/>
              </a:solidFill>
              <a:latin typeface="楷体_GB2312" pitchFamily="49" charset="-122"/>
              <a:ea typeface="楷体_GB2312" pitchFamily="49" charset="-122"/>
            </a:endParaRPr>
          </a:p>
        </p:txBody>
      </p:sp>
      <p:sp>
        <p:nvSpPr>
          <p:cNvPr id="17" name="AutoShape 15">
            <a:hlinkClick r:id="rId3" action="ppaction://hlinksldjump" highlightClick="1"/>
          </p:cNvPr>
          <p:cNvSpPr>
            <a:spLocks noChangeAspect="1" noChangeArrowheads="1"/>
          </p:cNvSpPr>
          <p:nvPr/>
        </p:nvSpPr>
        <p:spPr bwMode="auto">
          <a:xfrm>
            <a:off x="8720138" y="6280150"/>
            <a:ext cx="244475" cy="244475"/>
          </a:xfrm>
          <a:prstGeom prst="actionButtonBeginning">
            <a:avLst/>
          </a:prstGeom>
          <a:solidFill>
            <a:srgbClr val="99CCFF"/>
          </a:solidFill>
          <a:ln w="19050">
            <a:noFill/>
            <a:miter lim="800000"/>
            <a:headEnd/>
            <a:tailEnd/>
          </a:ln>
        </p:spPr>
        <p:txBody>
          <a:bodyPr wrap="none" anchor="ctr"/>
          <a:lstStyle/>
          <a:p>
            <a:endParaRPr lang="zh-CN" altLang="en-US"/>
          </a:p>
        </p:txBody>
      </p:sp>
    </p:spTree>
  </p:cSld>
  <p:clrMapOvr>
    <a:overrideClrMapping bg1="dk2" tx1="lt1" bg2="dk1" tx2="lt2" accent1="accent1" accent2="accent2" accent3="accent3" accent4="accent4" accent5="accent5" accent6="accent6" hlink="hlink" folHlink="folHlink"/>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8796"/>
                                        </p:tgtEl>
                                        <p:attrNameLst>
                                          <p:attrName>style.visibility</p:attrName>
                                        </p:attrNameLst>
                                      </p:cBhvr>
                                      <p:to>
                                        <p:strVal val="visible"/>
                                      </p:to>
                                    </p:set>
                                    <p:animEffect transition="in" filter="wipe(left)">
                                      <p:cBhvr>
                                        <p:cTn id="7" dur="500"/>
                                        <p:tgtEl>
                                          <p:spTgt spid="1187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8797"/>
                                        </p:tgtEl>
                                        <p:attrNameLst>
                                          <p:attrName>style.visibility</p:attrName>
                                        </p:attrNameLst>
                                      </p:cBhvr>
                                      <p:to>
                                        <p:strVal val="visible"/>
                                      </p:to>
                                    </p:set>
                                    <p:animEffect transition="in" filter="wipe(left)">
                                      <p:cBhvr>
                                        <p:cTn id="12" dur="500"/>
                                        <p:tgtEl>
                                          <p:spTgt spid="118797"/>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18801"/>
                                        </p:tgtEl>
                                        <p:attrNameLst>
                                          <p:attrName>style.visibility</p:attrName>
                                        </p:attrNameLst>
                                      </p:cBhvr>
                                      <p:to>
                                        <p:strVal val="visible"/>
                                      </p:to>
                                    </p:set>
                                    <p:animEffect transition="in" filter="wipe(left)">
                                      <p:cBhvr>
                                        <p:cTn id="16" dur="500"/>
                                        <p:tgtEl>
                                          <p:spTgt spid="11880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8792"/>
                                        </p:tgtEl>
                                        <p:attrNameLst>
                                          <p:attrName>style.visibility</p:attrName>
                                        </p:attrNameLst>
                                      </p:cBhvr>
                                      <p:to>
                                        <p:strVal val="visible"/>
                                      </p:to>
                                    </p:set>
                                    <p:animEffect transition="in" filter="wipe(left)">
                                      <p:cBhvr>
                                        <p:cTn id="21" dur="500"/>
                                        <p:tgtEl>
                                          <p:spTgt spid="11879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8798"/>
                                        </p:tgtEl>
                                        <p:attrNameLst>
                                          <p:attrName>style.visibility</p:attrName>
                                        </p:attrNameLst>
                                      </p:cBhvr>
                                      <p:to>
                                        <p:strVal val="visible"/>
                                      </p:to>
                                    </p:set>
                                    <p:animEffect transition="in" filter="wipe(left)">
                                      <p:cBhvr>
                                        <p:cTn id="26" dur="500"/>
                                        <p:tgtEl>
                                          <p:spTgt spid="11879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8799"/>
                                        </p:tgtEl>
                                        <p:attrNameLst>
                                          <p:attrName>style.visibility</p:attrName>
                                        </p:attrNameLst>
                                      </p:cBhvr>
                                      <p:to>
                                        <p:strVal val="visible"/>
                                      </p:to>
                                    </p:set>
                                    <p:animEffect transition="in" filter="wipe(left)">
                                      <p:cBhvr>
                                        <p:cTn id="31" dur="500"/>
                                        <p:tgtEl>
                                          <p:spTgt spid="11879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8800"/>
                                        </p:tgtEl>
                                        <p:attrNameLst>
                                          <p:attrName>style.visibility</p:attrName>
                                        </p:attrNameLst>
                                      </p:cBhvr>
                                      <p:to>
                                        <p:strVal val="visible"/>
                                      </p:to>
                                    </p:set>
                                    <p:animEffect transition="in" filter="wipe(left)">
                                      <p:cBhvr>
                                        <p:cTn id="36" dur="500"/>
                                        <p:tgtEl>
                                          <p:spTgt spid="11880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8802"/>
                                        </p:tgtEl>
                                        <p:attrNameLst>
                                          <p:attrName>style.visibility</p:attrName>
                                        </p:attrNameLst>
                                      </p:cBhvr>
                                      <p:to>
                                        <p:strVal val="visible"/>
                                      </p:to>
                                    </p:set>
                                    <p:animEffect transition="in" filter="wipe(left)">
                                      <p:cBhvr>
                                        <p:cTn id="41" dur="500"/>
                                        <p:tgtEl>
                                          <p:spTgt spid="118802"/>
                                        </p:tgtEl>
                                      </p:cBhvr>
                                    </p:animEffect>
                                  </p:childTnLst>
                                </p:cTn>
                              </p:par>
                            </p:childTnLst>
                          </p:cTn>
                        </p:par>
                        <p:par>
                          <p:cTn id="42" fill="hold" nodeType="afterGroup">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18807"/>
                                        </p:tgtEl>
                                        <p:attrNameLst>
                                          <p:attrName>style.visibility</p:attrName>
                                        </p:attrNameLst>
                                      </p:cBhvr>
                                      <p:to>
                                        <p:strVal val="visible"/>
                                      </p:to>
                                    </p:set>
                                    <p:animEffect transition="in" filter="wipe(left)">
                                      <p:cBhvr>
                                        <p:cTn id="45" dur="500"/>
                                        <p:tgtEl>
                                          <p:spTgt spid="11880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18803"/>
                                        </p:tgtEl>
                                        <p:attrNameLst>
                                          <p:attrName>style.visibility</p:attrName>
                                        </p:attrNameLst>
                                      </p:cBhvr>
                                      <p:to>
                                        <p:strVal val="visible"/>
                                      </p:to>
                                    </p:set>
                                    <p:animEffect transition="in" filter="wipe(left)">
                                      <p:cBhvr>
                                        <p:cTn id="50" dur="500"/>
                                        <p:tgtEl>
                                          <p:spTgt spid="11880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18804"/>
                                        </p:tgtEl>
                                        <p:attrNameLst>
                                          <p:attrName>style.visibility</p:attrName>
                                        </p:attrNameLst>
                                      </p:cBhvr>
                                      <p:to>
                                        <p:strVal val="visible"/>
                                      </p:to>
                                    </p:set>
                                    <p:animEffect transition="in" filter="wipe(left)">
                                      <p:cBhvr>
                                        <p:cTn id="55" dur="500"/>
                                        <p:tgtEl>
                                          <p:spTgt spid="11880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18806"/>
                                        </p:tgtEl>
                                        <p:attrNameLst>
                                          <p:attrName>style.visibility</p:attrName>
                                        </p:attrNameLst>
                                      </p:cBhvr>
                                      <p:to>
                                        <p:strVal val="visible"/>
                                      </p:to>
                                    </p:set>
                                    <p:animEffect transition="in" filter="wipe(left)">
                                      <p:cBhvr>
                                        <p:cTn id="60" dur="500"/>
                                        <p:tgtEl>
                                          <p:spTgt spid="11880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18808"/>
                                        </p:tgtEl>
                                        <p:attrNameLst>
                                          <p:attrName>style.visibility</p:attrName>
                                        </p:attrNameLst>
                                      </p:cBhvr>
                                      <p:to>
                                        <p:strVal val="visible"/>
                                      </p:to>
                                    </p:set>
                                    <p:animEffect transition="in" filter="wipe(left)">
                                      <p:cBhvr>
                                        <p:cTn id="65" dur="500"/>
                                        <p:tgtEl>
                                          <p:spTgt spid="118808"/>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18793"/>
                                        </p:tgtEl>
                                        <p:attrNameLst>
                                          <p:attrName>style.visibility</p:attrName>
                                        </p:attrNameLst>
                                      </p:cBhvr>
                                      <p:to>
                                        <p:strVal val="visible"/>
                                      </p:to>
                                    </p:set>
                                    <p:animEffect transition="in" filter="wipe(left)">
                                      <p:cBhvr>
                                        <p:cTn id="70" dur="500"/>
                                        <p:tgtEl>
                                          <p:spTgt spid="11879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18809"/>
                                        </p:tgtEl>
                                        <p:attrNameLst>
                                          <p:attrName>style.visibility</p:attrName>
                                        </p:attrNameLst>
                                      </p:cBhvr>
                                      <p:to>
                                        <p:strVal val="visible"/>
                                      </p:to>
                                    </p:set>
                                    <p:animEffect transition="in" filter="wipe(left)">
                                      <p:cBhvr>
                                        <p:cTn id="75" dur="500"/>
                                        <p:tgtEl>
                                          <p:spTgt spid="11880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wipe(left)">
                                      <p:cBhvr>
                                        <p:cTn id="8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2" grpId="0"/>
      <p:bldP spid="118793" grpId="0"/>
      <p:bldP spid="118796" grpId="0"/>
      <p:bldP spid="118797" grpId="0"/>
      <p:bldP spid="118798" grpId="0"/>
      <p:bldP spid="118799" grpId="0"/>
      <p:bldP spid="118800" grpId="0"/>
      <p:bldP spid="118801" grpId="0" animBg="1"/>
      <p:bldP spid="118802" grpId="0"/>
      <p:bldP spid="118803" grpId="0"/>
      <p:bldP spid="118804" grpId="0"/>
      <p:bldP spid="118806" grpId="0"/>
      <p:bldP spid="118807" grpId="0" animBg="1"/>
      <p:bldP spid="118808" grpId="0"/>
      <p:bldP spid="118809" grpId="0"/>
      <p:bldP spid="1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20" name="Text Box 4"/>
          <p:cNvSpPr txBox="1">
            <a:spLocks noChangeArrowheads="1"/>
          </p:cNvSpPr>
          <p:nvPr/>
        </p:nvSpPr>
        <p:spPr bwMode="auto">
          <a:xfrm>
            <a:off x="522288" y="992188"/>
            <a:ext cx="8099425" cy="5451475"/>
          </a:xfrm>
          <a:prstGeom prst="rect">
            <a:avLst/>
          </a:prstGeom>
          <a:noFill/>
          <a:ln w="9525">
            <a:noFill/>
            <a:miter lim="800000"/>
            <a:headEnd/>
            <a:tailEnd/>
          </a:ln>
          <a:effectLst/>
        </p:spPr>
        <p:txBody>
          <a:bodyPr>
            <a:spAutoFit/>
          </a:bodyPr>
          <a:lstStyle/>
          <a:p>
            <a:pPr>
              <a:lnSpc>
                <a:spcPct val="110000"/>
              </a:lnSpc>
            </a:pPr>
            <a:r>
              <a:rPr lang="en-US" altLang="zh-CN" sz="2000">
                <a:solidFill>
                  <a:schemeClr val="bg1"/>
                </a:solidFill>
                <a:latin typeface="楷体_GB2312" pitchFamily="49" charset="-122"/>
                <a:ea typeface="楷体_GB2312" pitchFamily="49" charset="-122"/>
              </a:rPr>
              <a:t>    </a:t>
            </a:r>
            <a:r>
              <a:rPr lang="zh-CN" altLang="en-US" sz="2000" b="1">
                <a:solidFill>
                  <a:schemeClr val="bg1"/>
                </a:solidFill>
                <a:latin typeface="楷体_GB2312" pitchFamily="49" charset="-122"/>
                <a:ea typeface="楷体_GB2312" pitchFamily="49" charset="-122"/>
              </a:rPr>
              <a:t>纨绔子弟</a:t>
            </a:r>
            <a:r>
              <a:rPr lang="zh-CN" altLang="en-US" sz="2000" b="1">
                <a:solidFill>
                  <a:schemeClr val="accent2"/>
                </a:solidFill>
                <a:latin typeface="楷体_GB2312" pitchFamily="49" charset="-122"/>
                <a:ea typeface="楷体_GB2312" pitchFamily="49" charset="-122"/>
              </a:rPr>
              <a:t>德布罗意</a:t>
            </a:r>
            <a:r>
              <a:rPr lang="zh-CN" altLang="en-US" sz="2000" b="1">
                <a:solidFill>
                  <a:schemeClr val="bg1"/>
                </a:solidFill>
                <a:latin typeface="楷体_GB2312" pitchFamily="49" charset="-122"/>
                <a:ea typeface="楷体_GB2312" pitchFamily="49" charset="-122"/>
              </a:rPr>
              <a:t>攻读中世纪历史的闲暇，忽然对物理产生兴 趣；于是动用家族实力，拜入大师</a:t>
            </a:r>
            <a:r>
              <a:rPr lang="zh-CN" altLang="en-US" sz="2000" b="1">
                <a:solidFill>
                  <a:schemeClr val="accent2"/>
                </a:solidFill>
                <a:latin typeface="楷体_GB2312" pitchFamily="49" charset="-122"/>
                <a:ea typeface="楷体_GB2312" pitchFamily="49" charset="-122"/>
              </a:rPr>
              <a:t>朗之万</a:t>
            </a:r>
            <a:r>
              <a:rPr lang="zh-CN" altLang="en-US" sz="2000" b="1">
                <a:solidFill>
                  <a:schemeClr val="bg1"/>
                </a:solidFill>
                <a:latin typeface="楷体_GB2312" pitchFamily="49" charset="-122"/>
                <a:ea typeface="楷体_GB2312" pitchFamily="49" charset="-122"/>
              </a:rPr>
              <a:t>门下进修物理博士。可以想象一个花花公子攻读物理博士五年间会学到什么</a:t>
            </a:r>
            <a:r>
              <a:rPr lang="en-US" altLang="zh-CN" sz="2000" b="1">
                <a:solidFill>
                  <a:schemeClr val="bg1"/>
                </a:solidFill>
                <a:ea typeface="楷体_GB2312" pitchFamily="49" charset="-122"/>
              </a:rPr>
              <a:t>……</a:t>
            </a:r>
            <a:r>
              <a:rPr lang="zh-CN" altLang="en-US" sz="2000" b="1">
                <a:solidFill>
                  <a:schemeClr val="bg1"/>
                </a:solidFill>
                <a:latin typeface="楷体_GB2312" pitchFamily="49" charset="-122"/>
                <a:ea typeface="楷体_GB2312" pitchFamily="49" charset="-122"/>
              </a:rPr>
              <a:t>毕业前夕，德布罗意东拼西凑，写出了</a:t>
            </a:r>
            <a:r>
              <a:rPr lang="zh-CN" altLang="en-US" sz="2000" b="1">
                <a:solidFill>
                  <a:schemeClr val="accent2"/>
                </a:solidFill>
                <a:latin typeface="楷体_GB2312" pitchFamily="49" charset="-122"/>
                <a:ea typeface="楷体_GB2312" pitchFamily="49" charset="-122"/>
              </a:rPr>
              <a:t>历史上最短一篇博士论文</a:t>
            </a:r>
            <a:r>
              <a:rPr lang="zh-CN" altLang="en-US" sz="2000" b="1">
                <a:solidFill>
                  <a:schemeClr val="bg1"/>
                </a:solidFill>
                <a:latin typeface="楷体_GB2312" pitchFamily="49" charset="-122"/>
                <a:ea typeface="楷体_GB2312" pitchFamily="49" charset="-122"/>
              </a:rPr>
              <a:t>：仅一页纸长度！评委判定</a:t>
            </a:r>
            <a:r>
              <a:rPr lang="zh-CN" altLang="en-US" sz="2000" b="1">
                <a:solidFill>
                  <a:schemeClr val="bg1"/>
                </a:solidFill>
                <a:ea typeface="楷体_GB2312" pitchFamily="49" charset="-122"/>
              </a:rPr>
              <a:t>“</a:t>
            </a:r>
            <a:r>
              <a:rPr lang="zh-CN" altLang="en-US" sz="2000" b="1">
                <a:solidFill>
                  <a:schemeClr val="bg1"/>
                </a:solidFill>
                <a:latin typeface="楷体_GB2312" pitchFamily="49" charset="-122"/>
                <a:ea typeface="楷体_GB2312" pitchFamily="49" charset="-122"/>
              </a:rPr>
              <a:t>涉嫌抄袭</a:t>
            </a:r>
            <a:r>
              <a:rPr lang="zh-CN" altLang="en-US" sz="2000" b="1">
                <a:solidFill>
                  <a:schemeClr val="bg1"/>
                </a:solidFill>
                <a:ea typeface="楷体_GB2312" pitchFamily="49" charset="-122"/>
              </a:rPr>
              <a:t>”</a:t>
            </a:r>
            <a:r>
              <a:rPr lang="zh-CN" altLang="en-US" sz="2000" b="1">
                <a:solidFill>
                  <a:schemeClr val="bg1"/>
                </a:solidFill>
                <a:latin typeface="楷体_GB2312" pitchFamily="49" charset="-122"/>
                <a:ea typeface="楷体_GB2312" pitchFamily="49" charset="-122"/>
              </a:rPr>
              <a:t>。</a:t>
            </a:r>
          </a:p>
          <a:p>
            <a:pPr>
              <a:lnSpc>
                <a:spcPct val="110000"/>
              </a:lnSpc>
            </a:pPr>
            <a:r>
              <a:rPr lang="zh-CN" altLang="en-US" sz="2000" b="1">
                <a:latin typeface="楷体_GB2312" pitchFamily="49" charset="-122"/>
                <a:ea typeface="楷体_GB2312" pitchFamily="49" charset="-122"/>
              </a:rPr>
              <a:t>　</a:t>
            </a:r>
            <a:r>
              <a:rPr lang="zh-CN" altLang="en-US" sz="2000" b="1">
                <a:solidFill>
                  <a:schemeClr val="bg1"/>
                </a:solidFill>
                <a:latin typeface="楷体_GB2312" pitchFamily="49" charset="-122"/>
                <a:ea typeface="楷体_GB2312" pitchFamily="49" charset="-122"/>
              </a:rPr>
              <a:t>　导师朗之万大惊，致信另一大神爱因斯坦，曰：</a:t>
            </a:r>
            <a:r>
              <a:rPr lang="zh-CN" altLang="en-US" sz="2000" b="1">
                <a:solidFill>
                  <a:schemeClr val="bg1"/>
                </a:solidFill>
                <a:latin typeface="宋体" charset="-122"/>
                <a:ea typeface="楷体_GB2312" pitchFamily="49" charset="-122"/>
              </a:rPr>
              <a:t>“</a:t>
            </a:r>
            <a:r>
              <a:rPr lang="en-US" altLang="zh-CN" sz="2000" b="1">
                <a:solidFill>
                  <a:schemeClr val="bg1"/>
                </a:solidFill>
                <a:latin typeface="宋体" charset="-122"/>
                <a:ea typeface="楷体_GB2312" pitchFamily="49" charset="-122"/>
              </a:rPr>
              <a:t>……</a:t>
            </a:r>
            <a:r>
              <a:rPr lang="zh-CN" altLang="en-US" sz="2000" b="1">
                <a:solidFill>
                  <a:schemeClr val="bg1"/>
                </a:solidFill>
                <a:latin typeface="楷体_GB2312" pitchFamily="49" charset="-122"/>
                <a:ea typeface="楷体_GB2312" pitchFamily="49" charset="-122"/>
              </a:rPr>
              <a:t>请对他的论文作出您的评价。另外顺便向您提及，该研究生的父亲是敝国伯爵，现任内阁部长，若您</a:t>
            </a:r>
            <a:r>
              <a:rPr lang="en-US" altLang="zh-CN" sz="2000" b="1">
                <a:solidFill>
                  <a:schemeClr val="bg1"/>
                </a:solidFill>
                <a:latin typeface="宋体" charset="-122"/>
                <a:ea typeface="楷体_GB2312" pitchFamily="49" charset="-122"/>
              </a:rPr>
              <a:t>……</a:t>
            </a:r>
            <a:r>
              <a:rPr lang="zh-CN" altLang="en-US" sz="2000" b="1">
                <a:solidFill>
                  <a:schemeClr val="bg1"/>
                </a:solidFill>
                <a:latin typeface="楷体_GB2312" pitchFamily="49" charset="-122"/>
                <a:ea typeface="楷体_GB2312" pitchFamily="49" charset="-122"/>
              </a:rPr>
              <a:t>，将来您来法国定会受到隆重的接待</a:t>
            </a:r>
            <a:r>
              <a:rPr lang="zh-CN" altLang="en-US" sz="2000" b="1">
                <a:solidFill>
                  <a:schemeClr val="bg1"/>
                </a:solidFill>
                <a:latin typeface="宋体" charset="-122"/>
                <a:ea typeface="楷体_GB2312" pitchFamily="49" charset="-122"/>
              </a:rPr>
              <a:t>”</a:t>
            </a:r>
            <a:r>
              <a:rPr lang="zh-CN" altLang="en-US" sz="2000" b="1">
                <a:solidFill>
                  <a:schemeClr val="bg1"/>
                </a:solidFill>
                <a:latin typeface="楷体_GB2312" pitchFamily="49" charset="-122"/>
                <a:ea typeface="楷体_GB2312" pitchFamily="49" charset="-122"/>
              </a:rPr>
              <a:t>。</a:t>
            </a:r>
          </a:p>
          <a:p>
            <a:pPr>
              <a:lnSpc>
                <a:spcPct val="110000"/>
              </a:lnSpc>
            </a:pPr>
            <a:r>
              <a:rPr lang="zh-CN" altLang="en-US" sz="2000" b="1">
                <a:solidFill>
                  <a:schemeClr val="bg1"/>
                </a:solidFill>
                <a:latin typeface="楷体_GB2312" pitchFamily="49" charset="-122"/>
                <a:ea typeface="楷体_GB2312" pitchFamily="49" charset="-122"/>
              </a:rPr>
              <a:t>　　总结：不给他过，以后你不用来法国了。</a:t>
            </a:r>
          </a:p>
          <a:p>
            <a:pPr>
              <a:lnSpc>
                <a:spcPct val="110000"/>
              </a:lnSpc>
            </a:pPr>
            <a:r>
              <a:rPr lang="zh-CN" altLang="en-US" sz="2000" b="1">
                <a:solidFill>
                  <a:schemeClr val="bg1"/>
                </a:solidFill>
                <a:latin typeface="楷体_GB2312" pitchFamily="49" charset="-122"/>
                <a:ea typeface="楷体_GB2312" pitchFamily="49" charset="-122"/>
              </a:rPr>
              <a:t>　　谁料爱因斯坦读完后，马上予以了高度评价，称德布罗意</a:t>
            </a:r>
            <a:r>
              <a:rPr lang="zh-CN" altLang="en-US" sz="2000" b="1">
                <a:solidFill>
                  <a:schemeClr val="accent2"/>
                </a:solidFill>
                <a:latin typeface="宋体" charset="-122"/>
                <a:ea typeface="楷体_GB2312" pitchFamily="49" charset="-122"/>
              </a:rPr>
              <a:t>“</a:t>
            </a:r>
            <a:r>
              <a:rPr lang="zh-CN" altLang="en-US" sz="2000" b="1">
                <a:solidFill>
                  <a:schemeClr val="accent2"/>
                </a:solidFill>
                <a:latin typeface="楷体_GB2312" pitchFamily="49" charset="-122"/>
                <a:ea typeface="楷体_GB2312" pitchFamily="49" charset="-122"/>
              </a:rPr>
              <a:t>揭开了大幕的一角</a:t>
            </a:r>
            <a:r>
              <a:rPr lang="zh-CN" altLang="en-US" sz="2000" b="1">
                <a:solidFill>
                  <a:schemeClr val="accent2"/>
                </a:solidFill>
                <a:latin typeface="宋体" charset="-122"/>
                <a:ea typeface="楷体_GB2312" pitchFamily="49" charset="-122"/>
              </a:rPr>
              <a:t>”</a:t>
            </a:r>
            <a:r>
              <a:rPr lang="zh-CN" altLang="en-US" sz="2000" b="1">
                <a:solidFill>
                  <a:schemeClr val="accent2"/>
                </a:solidFill>
                <a:latin typeface="楷体_GB2312" pitchFamily="49" charset="-122"/>
                <a:ea typeface="楷体_GB2312" pitchFamily="49" charset="-122"/>
              </a:rPr>
              <a:t>。</a:t>
            </a:r>
            <a:r>
              <a:rPr lang="zh-CN" altLang="en-US" sz="2000" b="1">
                <a:solidFill>
                  <a:schemeClr val="bg1"/>
                </a:solidFill>
                <a:latin typeface="楷体_GB2312" pitchFamily="49" charset="-122"/>
                <a:ea typeface="楷体_GB2312" pitchFamily="49" charset="-122"/>
              </a:rPr>
              <a:t>整个物理学界在听到爱因斯坦的评论后大吃一惊，这才开始全面关注德布罗意的工作。</a:t>
            </a:r>
          </a:p>
          <a:p>
            <a:pPr>
              <a:lnSpc>
                <a:spcPct val="110000"/>
              </a:lnSpc>
            </a:pPr>
            <a:r>
              <a:rPr lang="zh-CN" altLang="en-US" sz="2000" b="1">
                <a:solidFill>
                  <a:schemeClr val="bg1"/>
                </a:solidFill>
                <a:latin typeface="楷体_GB2312" pitchFamily="49" charset="-122"/>
                <a:ea typeface="楷体_GB2312" pitchFamily="49" charset="-122"/>
              </a:rPr>
              <a:t>　　德布罗意顺利毕业</a:t>
            </a:r>
            <a:r>
              <a:rPr lang="en-US" altLang="zh-CN" sz="2000" b="1">
                <a:solidFill>
                  <a:schemeClr val="bg1"/>
                </a:solidFill>
                <a:latin typeface="宋体" charset="-122"/>
                <a:ea typeface="楷体_GB2312" pitchFamily="49" charset="-122"/>
              </a:rPr>
              <a:t>……</a:t>
            </a:r>
            <a:endParaRPr lang="en-US" altLang="zh-CN" sz="2000" b="1">
              <a:solidFill>
                <a:schemeClr val="bg1"/>
              </a:solidFill>
              <a:latin typeface="楷体_GB2312" pitchFamily="49" charset="-122"/>
              <a:ea typeface="楷体_GB2312" pitchFamily="49" charset="-122"/>
            </a:endParaRPr>
          </a:p>
          <a:p>
            <a:pPr>
              <a:lnSpc>
                <a:spcPct val="110000"/>
              </a:lnSpc>
            </a:pPr>
            <a:r>
              <a:rPr lang="zh-CN" altLang="en-US" sz="2000" b="1">
                <a:solidFill>
                  <a:schemeClr val="bg1"/>
                </a:solidFill>
                <a:latin typeface="楷体_GB2312" pitchFamily="49" charset="-122"/>
                <a:ea typeface="楷体_GB2312" pitchFamily="49" charset="-122"/>
              </a:rPr>
              <a:t>　　稍后，另一物理巨神薛定谔，见此论文后闭关一年，悟出传说中的顶级绝学</a:t>
            </a:r>
            <a:r>
              <a:rPr lang="en-US" altLang="zh-CN" sz="2000" b="1">
                <a:solidFill>
                  <a:schemeClr val="bg2"/>
                </a:solidFill>
                <a:latin typeface="宋体" charset="-122"/>
                <a:ea typeface="楷体_GB2312" pitchFamily="49" charset="-122"/>
              </a:rPr>
              <a:t>——</a:t>
            </a:r>
            <a:r>
              <a:rPr lang="en-US" altLang="zh-CN" sz="2000" b="1">
                <a:solidFill>
                  <a:schemeClr val="accent2"/>
                </a:solidFill>
                <a:latin typeface="楷体_GB2312" pitchFamily="49" charset="-122"/>
                <a:ea typeface="楷体_GB2312" pitchFamily="49" charset="-122"/>
              </a:rPr>
              <a:t>《</a:t>
            </a:r>
            <a:r>
              <a:rPr lang="zh-CN" altLang="en-US" sz="2000" b="1">
                <a:solidFill>
                  <a:schemeClr val="accent2"/>
                </a:solidFill>
                <a:latin typeface="楷体_GB2312" pitchFamily="49" charset="-122"/>
                <a:ea typeface="楷体_GB2312" pitchFamily="49" charset="-122"/>
              </a:rPr>
              <a:t>波动力学</a:t>
            </a:r>
            <a:r>
              <a:rPr lang="en-US" altLang="zh-CN" sz="2000" b="1">
                <a:solidFill>
                  <a:schemeClr val="accent2"/>
                </a:solidFill>
                <a:latin typeface="楷体_GB2312" pitchFamily="49" charset="-122"/>
                <a:ea typeface="楷体_GB2312" pitchFamily="49" charset="-122"/>
              </a:rPr>
              <a:t>》</a:t>
            </a:r>
            <a:r>
              <a:rPr lang="zh-CN" altLang="en-US" sz="2000" b="1">
                <a:solidFill>
                  <a:schemeClr val="bg1"/>
                </a:solidFill>
                <a:latin typeface="楷体_GB2312" pitchFamily="49" charset="-122"/>
                <a:ea typeface="楷体_GB2312" pitchFamily="49" charset="-122"/>
              </a:rPr>
              <a:t>。</a:t>
            </a:r>
          </a:p>
          <a:p>
            <a:pPr>
              <a:lnSpc>
                <a:spcPct val="110000"/>
              </a:lnSpc>
            </a:pPr>
            <a:r>
              <a:rPr lang="zh-CN" altLang="en-US" sz="2000" b="1">
                <a:solidFill>
                  <a:schemeClr val="bg1"/>
                </a:solidFill>
                <a:latin typeface="楷体_GB2312" pitchFamily="49" charset="-122"/>
                <a:ea typeface="楷体_GB2312" pitchFamily="49" charset="-122"/>
              </a:rPr>
              <a:t>　　</a:t>
            </a:r>
            <a:r>
              <a:rPr lang="en-US" altLang="zh-CN" sz="2000" b="1">
                <a:solidFill>
                  <a:schemeClr val="bg1"/>
                </a:solidFill>
                <a:latin typeface="楷体_GB2312" pitchFamily="49" charset="-122"/>
                <a:ea typeface="楷体_GB2312" pitchFamily="49" charset="-122"/>
              </a:rPr>
              <a:t>1929</a:t>
            </a:r>
            <a:r>
              <a:rPr lang="zh-CN" altLang="en-US" sz="2000" b="1">
                <a:solidFill>
                  <a:schemeClr val="bg1"/>
                </a:solidFill>
                <a:latin typeface="楷体_GB2312" pitchFamily="49" charset="-122"/>
                <a:ea typeface="楷体_GB2312" pitchFamily="49" charset="-122"/>
              </a:rPr>
              <a:t>年，凭论文中讲述的物质波理论，德布罗意获诺贝尔奖。 </a:t>
            </a:r>
          </a:p>
        </p:txBody>
      </p:sp>
      <p:sp>
        <p:nvSpPr>
          <p:cNvPr id="32771" name="Rectangle 5"/>
          <p:cNvSpPr>
            <a:spLocks noChangeArrowheads="1"/>
          </p:cNvSpPr>
          <p:nvPr/>
        </p:nvSpPr>
        <p:spPr bwMode="auto">
          <a:xfrm>
            <a:off x="385763" y="323850"/>
            <a:ext cx="8001000" cy="625475"/>
          </a:xfrm>
          <a:prstGeom prst="rect">
            <a:avLst/>
          </a:prstGeom>
          <a:noFill/>
          <a:ln w="9525">
            <a:noFill/>
            <a:miter lim="800000"/>
            <a:headEnd/>
            <a:tailEnd/>
          </a:ln>
          <a:effectLst/>
        </p:spPr>
        <p:txBody>
          <a:bodyPr anchor="ctr"/>
          <a:lstStyle/>
          <a:p>
            <a:pPr algn="ctr">
              <a:lnSpc>
                <a:spcPct val="80000"/>
              </a:lnSpc>
            </a:pPr>
            <a:r>
              <a:rPr lang="en-US" altLang="zh-CN" sz="2800" b="1">
                <a:solidFill>
                  <a:srgbClr val="0000FF"/>
                </a:solidFill>
                <a:ea typeface="黑体" pitchFamily="2" charset="-122"/>
              </a:rPr>
              <a:t>§</a:t>
            </a:r>
            <a:r>
              <a:rPr lang="en-US" altLang="zh-CN" sz="2800" b="1">
                <a:solidFill>
                  <a:srgbClr val="0000FF"/>
                </a:solidFill>
              </a:rPr>
              <a:t>13.4</a:t>
            </a:r>
            <a:r>
              <a:rPr lang="en-US" altLang="zh-CN" sz="2800" b="1">
                <a:solidFill>
                  <a:srgbClr val="3333CC"/>
                </a:solidFill>
                <a:latin typeface="黑体" pitchFamily="2" charset="-122"/>
                <a:ea typeface="黑体" pitchFamily="2" charset="-122"/>
              </a:rPr>
              <a:t> </a:t>
            </a:r>
            <a:r>
              <a:rPr lang="zh-CN" altLang="en-US" sz="2800" b="1">
                <a:solidFill>
                  <a:srgbClr val="3333CC"/>
                </a:solidFill>
                <a:latin typeface="黑体" pitchFamily="2" charset="-122"/>
                <a:ea typeface="黑体" pitchFamily="2" charset="-122"/>
              </a:rPr>
              <a:t>微观粒子的波粒二象性</a:t>
            </a:r>
            <a:endParaRPr lang="zh-CN" altLang="en-US" sz="2800" b="1">
              <a:solidFill>
                <a:srgbClr val="3333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8420"/>
                                        </p:tgtEl>
                                        <p:attrNameLst>
                                          <p:attrName>style.visibility</p:attrName>
                                        </p:attrNameLst>
                                      </p:cBhvr>
                                      <p:to>
                                        <p:strVal val="visible"/>
                                      </p:to>
                                    </p:set>
                                    <p:animEffect transition="in" filter="box(in)">
                                      <p:cBhvr>
                                        <p:cTn id="7" dur="500"/>
                                        <p:tgtEl>
                                          <p:spTgt spid="188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ChangeArrowheads="1"/>
          </p:cNvSpPr>
          <p:nvPr/>
        </p:nvSpPr>
        <p:spPr bwMode="auto">
          <a:xfrm>
            <a:off x="981075" y="2933700"/>
            <a:ext cx="2078038" cy="935038"/>
          </a:xfrm>
          <a:prstGeom prst="rect">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57700" name="Rectangle 4"/>
          <p:cNvSpPr>
            <a:spLocks noChangeArrowheads="1"/>
          </p:cNvSpPr>
          <p:nvPr/>
        </p:nvSpPr>
        <p:spPr bwMode="auto">
          <a:xfrm>
            <a:off x="566738" y="1089025"/>
            <a:ext cx="4184650" cy="822325"/>
          </a:xfrm>
          <a:prstGeom prst="rect">
            <a:avLst/>
          </a:prstGeom>
          <a:noFill/>
          <a:ln w="9525">
            <a:noFill/>
            <a:miter lim="800000"/>
            <a:headEnd/>
            <a:tailEnd/>
          </a:ln>
          <a:effectLst/>
        </p:spPr>
        <p:txBody>
          <a:bodyPr>
            <a:spAutoFit/>
          </a:bodyPr>
          <a:lstStyle/>
          <a:p>
            <a:r>
              <a:rPr lang="en-US" altLang="zh-CN" b="1">
                <a:solidFill>
                  <a:schemeClr val="accent2"/>
                </a:solidFill>
                <a:latin typeface="宋体" charset="-122"/>
              </a:rPr>
              <a:t>1924</a:t>
            </a:r>
            <a:r>
              <a:rPr lang="zh-CN" altLang="en-US" b="1">
                <a:solidFill>
                  <a:schemeClr val="accent2"/>
                </a:solidFill>
                <a:latin typeface="宋体" charset="-122"/>
              </a:rPr>
              <a:t>年，法国物理学家德布罗意提出假设：</a:t>
            </a:r>
          </a:p>
        </p:txBody>
      </p:sp>
      <p:graphicFrame>
        <p:nvGraphicFramePr>
          <p:cNvPr id="157701" name="Object 5"/>
          <p:cNvGraphicFramePr>
            <a:graphicFrameLocks/>
          </p:cNvGraphicFramePr>
          <p:nvPr/>
        </p:nvGraphicFramePr>
        <p:xfrm>
          <a:off x="5246688" y="4179888"/>
          <a:ext cx="3343275" cy="823912"/>
        </p:xfrm>
        <a:graphic>
          <a:graphicData uri="http://schemas.openxmlformats.org/presentationml/2006/ole">
            <p:oleObj spid="_x0000_s33796" name="公式" r:id="rId3" imgW="1571760" imgH="375120" progId="Equation.3">
              <p:embed/>
            </p:oleObj>
          </a:graphicData>
        </a:graphic>
      </p:graphicFrame>
      <p:graphicFrame>
        <p:nvGraphicFramePr>
          <p:cNvPr id="157702" name="Object 6"/>
          <p:cNvGraphicFramePr>
            <a:graphicFrameLocks/>
          </p:cNvGraphicFramePr>
          <p:nvPr/>
        </p:nvGraphicFramePr>
        <p:xfrm>
          <a:off x="5111750" y="2933700"/>
          <a:ext cx="3567113" cy="798513"/>
        </p:xfrm>
        <a:graphic>
          <a:graphicData uri="http://schemas.openxmlformats.org/presentationml/2006/ole">
            <p:oleObj spid="_x0000_s33797" name="公式" r:id="rId4" imgW="1677600" imgH="367200" progId="Equation.3">
              <p:embed/>
            </p:oleObj>
          </a:graphicData>
        </a:graphic>
      </p:graphicFrame>
      <p:sp>
        <p:nvSpPr>
          <p:cNvPr id="157703" name="Rectangle 7"/>
          <p:cNvSpPr>
            <a:spLocks noChangeArrowheads="1"/>
          </p:cNvSpPr>
          <p:nvPr/>
        </p:nvSpPr>
        <p:spPr bwMode="auto">
          <a:xfrm>
            <a:off x="206375" y="458788"/>
            <a:ext cx="5410200" cy="457200"/>
          </a:xfrm>
          <a:prstGeom prst="rect">
            <a:avLst/>
          </a:prstGeom>
          <a:noFill/>
          <a:ln w="9525">
            <a:noFill/>
            <a:miter lim="800000"/>
            <a:headEnd/>
            <a:tailEnd/>
          </a:ln>
          <a:effectLst/>
        </p:spPr>
        <p:txBody>
          <a:bodyPr>
            <a:spAutoFit/>
          </a:bodyPr>
          <a:lstStyle/>
          <a:p>
            <a:r>
              <a:rPr lang="en-US" altLang="zh-CN" b="1" dirty="0" smtClean="0">
                <a:solidFill>
                  <a:srgbClr val="0000FF"/>
                </a:solidFill>
              </a:rPr>
              <a:t>13.4.1 </a:t>
            </a:r>
            <a:r>
              <a:rPr lang="zh-CN" altLang="en-US" b="1" dirty="0" smtClean="0">
                <a:solidFill>
                  <a:srgbClr val="0000FF"/>
                </a:solidFill>
              </a:rPr>
              <a:t>  </a:t>
            </a:r>
            <a:r>
              <a:rPr lang="zh-CN" altLang="en-US" b="1" dirty="0">
                <a:solidFill>
                  <a:srgbClr val="0000FF"/>
                </a:solidFill>
              </a:rPr>
              <a:t>微观粒子的波粒二相性</a:t>
            </a:r>
          </a:p>
        </p:txBody>
      </p:sp>
      <p:sp>
        <p:nvSpPr>
          <p:cNvPr id="33799" name="Rectangle 9"/>
          <p:cNvSpPr>
            <a:spLocks noChangeArrowheads="1"/>
          </p:cNvSpPr>
          <p:nvPr/>
        </p:nvSpPr>
        <p:spPr bwMode="auto">
          <a:xfrm>
            <a:off x="971550" y="3654425"/>
            <a:ext cx="1981200" cy="838200"/>
          </a:xfrm>
          <a:prstGeom prst="rect">
            <a:avLst/>
          </a:prstGeom>
          <a:noFill/>
          <a:ln w="9525">
            <a:noFill/>
            <a:miter lim="800000"/>
            <a:headEnd/>
            <a:tailEnd/>
          </a:ln>
          <a:effectLst/>
        </p:spPr>
        <p:txBody>
          <a:bodyPr wrap="none" anchor="ctr"/>
          <a:lstStyle/>
          <a:p>
            <a:endParaRPr lang="zh-CN" altLang="en-US"/>
          </a:p>
        </p:txBody>
      </p:sp>
      <p:graphicFrame>
        <p:nvGraphicFramePr>
          <p:cNvPr id="157706" name="Object 10"/>
          <p:cNvGraphicFramePr>
            <a:graphicFrameLocks/>
          </p:cNvGraphicFramePr>
          <p:nvPr/>
        </p:nvGraphicFramePr>
        <p:xfrm>
          <a:off x="1196975" y="4367213"/>
          <a:ext cx="1684338" cy="366712"/>
        </p:xfrm>
        <a:graphic>
          <a:graphicData uri="http://schemas.openxmlformats.org/presentationml/2006/ole">
            <p:oleObj spid="_x0000_s33800" name="公式" r:id="rId5" imgW="789840" imgH="154800" progId="Equation.3">
              <p:embed/>
            </p:oleObj>
          </a:graphicData>
        </a:graphic>
      </p:graphicFrame>
      <p:sp>
        <p:nvSpPr>
          <p:cNvPr id="157707" name="AutoShape 11"/>
          <p:cNvSpPr>
            <a:spLocks noChangeArrowheads="1"/>
          </p:cNvSpPr>
          <p:nvPr/>
        </p:nvSpPr>
        <p:spPr bwMode="auto">
          <a:xfrm>
            <a:off x="3200400" y="3833813"/>
            <a:ext cx="990600" cy="304800"/>
          </a:xfrm>
          <a:custGeom>
            <a:avLst/>
            <a:gdLst>
              <a:gd name="T0" fmla="*/ 34072513 w 21600"/>
              <a:gd name="T1" fmla="*/ 0 h 21600"/>
              <a:gd name="T2" fmla="*/ 0 w 21600"/>
              <a:gd name="T3" fmla="*/ 2150533 h 21600"/>
              <a:gd name="T4" fmla="*/ 34072513 w 21600"/>
              <a:gd name="T5" fmla="*/ 4301067 h 21600"/>
              <a:gd name="T6" fmla="*/ 45430017 w 21600"/>
              <a:gd name="T7" fmla="*/ 2150533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FF00FF">
              <a:alpha val="85881"/>
            </a:srgbClr>
          </a:solidFill>
          <a:ln w="9525">
            <a:solidFill>
              <a:schemeClr val="tx1"/>
            </a:solidFill>
            <a:miter lim="800000"/>
            <a:headEnd/>
            <a:tailEnd/>
          </a:ln>
          <a:effectLst/>
        </p:spPr>
        <p:txBody>
          <a:bodyPr wrap="none" anchor="ctr"/>
          <a:lstStyle/>
          <a:p>
            <a:endParaRPr lang="zh-CN" altLang="en-US"/>
          </a:p>
        </p:txBody>
      </p:sp>
      <p:graphicFrame>
        <p:nvGraphicFramePr>
          <p:cNvPr id="157711" name="Object 15"/>
          <p:cNvGraphicFramePr>
            <a:graphicFrameLocks/>
          </p:cNvGraphicFramePr>
          <p:nvPr/>
        </p:nvGraphicFramePr>
        <p:xfrm>
          <a:off x="1331913" y="2979738"/>
          <a:ext cx="1446212" cy="730250"/>
        </p:xfrm>
        <a:graphic>
          <a:graphicData uri="http://schemas.openxmlformats.org/presentationml/2006/ole">
            <p:oleObj spid="_x0000_s33802" name="公式" r:id="rId6" imgW="667800" imgH="334440" progId="Equation.3">
              <p:embed/>
            </p:oleObj>
          </a:graphicData>
        </a:graphic>
      </p:graphicFrame>
      <p:sp>
        <p:nvSpPr>
          <p:cNvPr id="157712" name="Rectangle 16"/>
          <p:cNvSpPr>
            <a:spLocks noChangeArrowheads="1"/>
          </p:cNvSpPr>
          <p:nvPr/>
        </p:nvSpPr>
        <p:spPr bwMode="auto">
          <a:xfrm>
            <a:off x="4108450" y="4321175"/>
            <a:ext cx="1474788"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频率</a:t>
            </a:r>
          </a:p>
        </p:txBody>
      </p:sp>
      <p:sp>
        <p:nvSpPr>
          <p:cNvPr id="157713" name="Rectangle 17"/>
          <p:cNvSpPr>
            <a:spLocks noChangeArrowheads="1"/>
          </p:cNvSpPr>
          <p:nvPr/>
        </p:nvSpPr>
        <p:spPr bwMode="auto">
          <a:xfrm>
            <a:off x="4108450" y="3068638"/>
            <a:ext cx="1273175"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波长</a:t>
            </a:r>
          </a:p>
        </p:txBody>
      </p:sp>
      <p:sp>
        <p:nvSpPr>
          <p:cNvPr id="157714" name="Rectangle 18"/>
          <p:cNvSpPr>
            <a:spLocks noChangeArrowheads="1"/>
          </p:cNvSpPr>
          <p:nvPr/>
        </p:nvSpPr>
        <p:spPr bwMode="auto">
          <a:xfrm>
            <a:off x="522288" y="2033588"/>
            <a:ext cx="5759450"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一切微观粒子和光一样具有波粒二象性。</a:t>
            </a:r>
          </a:p>
        </p:txBody>
      </p:sp>
      <p:sp>
        <p:nvSpPr>
          <p:cNvPr id="157715" name="Rectangle 19"/>
          <p:cNvSpPr>
            <a:spLocks noChangeArrowheads="1"/>
          </p:cNvSpPr>
          <p:nvPr/>
        </p:nvSpPr>
        <p:spPr bwMode="auto">
          <a:xfrm>
            <a:off x="296863" y="5364163"/>
            <a:ext cx="8505825" cy="933450"/>
          </a:xfrm>
          <a:prstGeom prst="rect">
            <a:avLst/>
          </a:prstGeom>
          <a:noFill/>
          <a:ln w="9525">
            <a:noFill/>
            <a:miter lim="800000"/>
            <a:headEnd/>
            <a:tailEnd/>
          </a:ln>
          <a:effectLst/>
        </p:spPr>
        <p:txBody>
          <a:bodyPr>
            <a:spAutoFit/>
          </a:bodyPr>
          <a:lstStyle/>
          <a:p>
            <a:pPr>
              <a:lnSpc>
                <a:spcPct val="115000"/>
              </a:lnSpc>
            </a:pPr>
            <a:r>
              <a:rPr lang="en-US" altLang="zh-CN" b="1">
                <a:solidFill>
                  <a:schemeClr val="bg1"/>
                </a:solidFill>
                <a:latin typeface="宋体" charset="-122"/>
              </a:rPr>
              <a:t>    </a:t>
            </a:r>
            <a:r>
              <a:rPr lang="zh-CN" altLang="en-US" b="1">
                <a:solidFill>
                  <a:schemeClr val="bg1"/>
                </a:solidFill>
                <a:latin typeface="宋体" charset="-122"/>
              </a:rPr>
              <a:t>上式称为</a:t>
            </a:r>
            <a:r>
              <a:rPr lang="zh-CN" altLang="en-US" b="1">
                <a:solidFill>
                  <a:schemeClr val="accent2"/>
                </a:solidFill>
                <a:latin typeface="宋体" charset="-122"/>
              </a:rPr>
              <a:t>德布罗意关系式</a:t>
            </a:r>
            <a:r>
              <a:rPr lang="zh-CN" altLang="en-US" b="1">
                <a:solidFill>
                  <a:schemeClr val="bg1"/>
                </a:solidFill>
                <a:latin typeface="宋体" charset="-122"/>
              </a:rPr>
              <a:t>，这种和实物粒子相联系的波称为</a:t>
            </a:r>
            <a:r>
              <a:rPr lang="zh-CN" altLang="en-US" b="1">
                <a:solidFill>
                  <a:schemeClr val="accent2"/>
                </a:solidFill>
                <a:latin typeface="宋体" charset="-122"/>
              </a:rPr>
              <a:t>德布罗意波</a:t>
            </a:r>
            <a:r>
              <a:rPr lang="zh-CN" altLang="en-US" b="1">
                <a:solidFill>
                  <a:schemeClr val="bg1"/>
                </a:solidFill>
                <a:latin typeface="宋体" charset="-122"/>
              </a:rPr>
              <a:t>或</a:t>
            </a:r>
            <a:r>
              <a:rPr lang="zh-CN" altLang="en-US" b="1">
                <a:solidFill>
                  <a:schemeClr val="accent2"/>
                </a:solidFill>
                <a:latin typeface="宋体" charset="-122"/>
              </a:rPr>
              <a:t>物质波</a:t>
            </a:r>
            <a:r>
              <a:rPr lang="zh-CN" altLang="en-US" b="1">
                <a:solidFill>
                  <a:schemeClr val="bg1"/>
                </a:solidFill>
                <a:latin typeface="宋体" charset="-122"/>
              </a:rPr>
              <a:t>。</a:t>
            </a:r>
          </a:p>
        </p:txBody>
      </p:sp>
      <p:pic>
        <p:nvPicPr>
          <p:cNvPr id="157717" name="Picture 21" descr="29debroglie"/>
          <p:cNvPicPr>
            <a:picLocks noChangeAspect="1" noChangeArrowheads="1"/>
          </p:cNvPicPr>
          <p:nvPr/>
        </p:nvPicPr>
        <p:blipFill>
          <a:blip r:embed="rId7"/>
          <a:srcRect/>
          <a:stretch>
            <a:fillRect/>
          </a:stretch>
        </p:blipFill>
        <p:spPr bwMode="auto">
          <a:xfrm>
            <a:off x="7092950" y="593725"/>
            <a:ext cx="1576388" cy="2249488"/>
          </a:xfrm>
          <a:prstGeom prst="rect">
            <a:avLst/>
          </a:prstGeom>
          <a:noFill/>
          <a:ln w="38100">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7703"/>
                                        </p:tgtEl>
                                        <p:attrNameLst>
                                          <p:attrName>style.visibility</p:attrName>
                                        </p:attrNameLst>
                                      </p:cBhvr>
                                      <p:to>
                                        <p:strVal val="visible"/>
                                      </p:to>
                                    </p:set>
                                    <p:animEffect transition="in" filter="wipe(left)">
                                      <p:cBhvr>
                                        <p:cTn id="7" dur="500"/>
                                        <p:tgtEl>
                                          <p:spTgt spid="1577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7700"/>
                                        </p:tgtEl>
                                        <p:attrNameLst>
                                          <p:attrName>style.visibility</p:attrName>
                                        </p:attrNameLst>
                                      </p:cBhvr>
                                      <p:to>
                                        <p:strVal val="visible"/>
                                      </p:to>
                                    </p:set>
                                    <p:animEffect transition="in" filter="wipe(left)">
                                      <p:cBhvr>
                                        <p:cTn id="12" dur="500"/>
                                        <p:tgtEl>
                                          <p:spTgt spid="1577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7714"/>
                                        </p:tgtEl>
                                        <p:attrNameLst>
                                          <p:attrName>style.visibility</p:attrName>
                                        </p:attrNameLst>
                                      </p:cBhvr>
                                      <p:to>
                                        <p:strVal val="visible"/>
                                      </p:to>
                                    </p:set>
                                    <p:animEffect transition="in" filter="wipe(left)">
                                      <p:cBhvr>
                                        <p:cTn id="17" dur="500"/>
                                        <p:tgtEl>
                                          <p:spTgt spid="157714"/>
                                        </p:tgtEl>
                                      </p:cBhvr>
                                    </p:animEffect>
                                  </p:childTnLst>
                                </p:cTn>
                              </p:par>
                            </p:childTnLst>
                          </p:cTn>
                        </p:par>
                        <p:par>
                          <p:cTn id="18" fill="hold" nodeType="afterGroup">
                            <p:stCondLst>
                              <p:cond delay="500"/>
                            </p:stCondLst>
                            <p:childTnLst>
                              <p:par>
                                <p:cTn id="19" presetID="4" presetClass="entr" presetSubtype="32" fill="hold" grpId="0" nodeType="afterEffect" nodePh="1">
                                  <p:stCondLst>
                                    <p:cond delay="0"/>
                                  </p:stCondLst>
                                  <p:endCondLst>
                                    <p:cond evt="begin" delay="0">
                                      <p:tn val="19"/>
                                    </p:cond>
                                  </p:endCondLst>
                                  <p:childTnLst>
                                    <p:set>
                                      <p:cBhvr>
                                        <p:cTn id="20" dur="1" fill="hold">
                                          <p:stCondLst>
                                            <p:cond delay="0"/>
                                          </p:stCondLst>
                                        </p:cTn>
                                        <p:tgtEl>
                                          <p:spTgt spid="157717"/>
                                        </p:tgtEl>
                                        <p:attrNameLst>
                                          <p:attrName>style.visibility</p:attrName>
                                        </p:attrNameLst>
                                      </p:cBhvr>
                                      <p:to>
                                        <p:strVal val="visible"/>
                                      </p:to>
                                    </p:set>
                                    <p:animEffect transition="in" filter="box(out)">
                                      <p:cBhvr>
                                        <p:cTn id="21" dur="500"/>
                                        <p:tgtEl>
                                          <p:spTgt spid="15771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57711"/>
                                        </p:tgtEl>
                                        <p:attrNameLst>
                                          <p:attrName>style.visibility</p:attrName>
                                        </p:attrNameLst>
                                      </p:cBhvr>
                                      <p:to>
                                        <p:strVal val="visible"/>
                                      </p:to>
                                    </p:set>
                                    <p:animEffect transition="in" filter="wipe(left)">
                                      <p:cBhvr>
                                        <p:cTn id="26" dur="500"/>
                                        <p:tgtEl>
                                          <p:spTgt spid="157711"/>
                                        </p:tgtEl>
                                      </p:cBhvr>
                                    </p:animEffect>
                                  </p:childTnLst>
                                </p:cTn>
                              </p:par>
                            </p:childTnLst>
                          </p:cTn>
                        </p:par>
                        <p:par>
                          <p:cTn id="27" fill="hold" nodeType="after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157706"/>
                                        </p:tgtEl>
                                        <p:attrNameLst>
                                          <p:attrName>style.visibility</p:attrName>
                                        </p:attrNameLst>
                                      </p:cBhvr>
                                      <p:to>
                                        <p:strVal val="visible"/>
                                      </p:to>
                                    </p:set>
                                    <p:animEffect transition="in" filter="wipe(left)">
                                      <p:cBhvr>
                                        <p:cTn id="30" dur="500"/>
                                        <p:tgtEl>
                                          <p:spTgt spid="15770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8" fill="hold" grpId="0" nodeType="clickEffect">
                                  <p:stCondLst>
                                    <p:cond delay="0"/>
                                  </p:stCondLst>
                                  <p:childTnLst>
                                    <p:set>
                                      <p:cBhvr>
                                        <p:cTn id="34" dur="1" fill="hold">
                                          <p:stCondLst>
                                            <p:cond delay="0"/>
                                          </p:stCondLst>
                                        </p:cTn>
                                        <p:tgtEl>
                                          <p:spTgt spid="157707"/>
                                        </p:tgtEl>
                                        <p:attrNameLst>
                                          <p:attrName>style.visibility</p:attrName>
                                        </p:attrNameLst>
                                      </p:cBhvr>
                                      <p:to>
                                        <p:strVal val="visible"/>
                                      </p:to>
                                    </p:set>
                                    <p:anim calcmode="lin" valueType="num">
                                      <p:cBhvr>
                                        <p:cTn id="35" dur="500" fill="hold"/>
                                        <p:tgtEl>
                                          <p:spTgt spid="157707"/>
                                        </p:tgtEl>
                                        <p:attrNameLst>
                                          <p:attrName>ppt_x</p:attrName>
                                        </p:attrNameLst>
                                      </p:cBhvr>
                                      <p:tavLst>
                                        <p:tav tm="0">
                                          <p:val>
                                            <p:strVal val="#ppt_x-#ppt_w/2"/>
                                          </p:val>
                                        </p:tav>
                                        <p:tav tm="100000">
                                          <p:val>
                                            <p:strVal val="#ppt_x"/>
                                          </p:val>
                                        </p:tav>
                                      </p:tavLst>
                                    </p:anim>
                                    <p:anim calcmode="lin" valueType="num">
                                      <p:cBhvr>
                                        <p:cTn id="36" dur="500" fill="hold"/>
                                        <p:tgtEl>
                                          <p:spTgt spid="157707"/>
                                        </p:tgtEl>
                                        <p:attrNameLst>
                                          <p:attrName>ppt_y</p:attrName>
                                        </p:attrNameLst>
                                      </p:cBhvr>
                                      <p:tavLst>
                                        <p:tav tm="0">
                                          <p:val>
                                            <p:strVal val="#ppt_y"/>
                                          </p:val>
                                        </p:tav>
                                        <p:tav tm="100000">
                                          <p:val>
                                            <p:strVal val="#ppt_y"/>
                                          </p:val>
                                        </p:tav>
                                      </p:tavLst>
                                    </p:anim>
                                    <p:anim calcmode="lin" valueType="num">
                                      <p:cBhvr>
                                        <p:cTn id="37" dur="500" fill="hold"/>
                                        <p:tgtEl>
                                          <p:spTgt spid="157707"/>
                                        </p:tgtEl>
                                        <p:attrNameLst>
                                          <p:attrName>ppt_w</p:attrName>
                                        </p:attrNameLst>
                                      </p:cBhvr>
                                      <p:tavLst>
                                        <p:tav tm="0">
                                          <p:val>
                                            <p:fltVal val="0"/>
                                          </p:val>
                                        </p:tav>
                                        <p:tav tm="100000">
                                          <p:val>
                                            <p:strVal val="#ppt_w"/>
                                          </p:val>
                                        </p:tav>
                                      </p:tavLst>
                                    </p:anim>
                                    <p:anim calcmode="lin" valueType="num">
                                      <p:cBhvr>
                                        <p:cTn id="38" dur="500" fill="hold"/>
                                        <p:tgtEl>
                                          <p:spTgt spid="157707"/>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57713"/>
                                        </p:tgtEl>
                                        <p:attrNameLst>
                                          <p:attrName>style.visibility</p:attrName>
                                        </p:attrNameLst>
                                      </p:cBhvr>
                                      <p:to>
                                        <p:strVal val="visible"/>
                                      </p:to>
                                    </p:set>
                                    <p:animEffect transition="in" filter="dissolve">
                                      <p:cBhvr>
                                        <p:cTn id="43" dur="500"/>
                                        <p:tgtEl>
                                          <p:spTgt spid="15771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2" presetClass="entr" presetSubtype="8" fill="hold" nodeType="clickEffect">
                                  <p:stCondLst>
                                    <p:cond delay="0"/>
                                  </p:stCondLst>
                                  <p:childTnLst>
                                    <p:set>
                                      <p:cBhvr>
                                        <p:cTn id="47" dur="1" fill="hold">
                                          <p:stCondLst>
                                            <p:cond delay="0"/>
                                          </p:stCondLst>
                                        </p:cTn>
                                        <p:tgtEl>
                                          <p:spTgt spid="157702"/>
                                        </p:tgtEl>
                                        <p:attrNameLst>
                                          <p:attrName>style.visibility</p:attrName>
                                        </p:attrNameLst>
                                      </p:cBhvr>
                                      <p:to>
                                        <p:strVal val="visible"/>
                                      </p:to>
                                    </p:set>
                                    <p:animEffect transition="in" filter="slide(fromLeft)">
                                      <p:cBhvr>
                                        <p:cTn id="48" dur="500"/>
                                        <p:tgtEl>
                                          <p:spTgt spid="15770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57712"/>
                                        </p:tgtEl>
                                        <p:attrNameLst>
                                          <p:attrName>style.visibility</p:attrName>
                                        </p:attrNameLst>
                                      </p:cBhvr>
                                      <p:to>
                                        <p:strVal val="visible"/>
                                      </p:to>
                                    </p:set>
                                    <p:animEffect transition="in" filter="dissolve">
                                      <p:cBhvr>
                                        <p:cTn id="53" dur="500"/>
                                        <p:tgtEl>
                                          <p:spTgt spid="15771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8" fill="hold" nodeType="clickEffect">
                                  <p:stCondLst>
                                    <p:cond delay="0"/>
                                  </p:stCondLst>
                                  <p:childTnLst>
                                    <p:set>
                                      <p:cBhvr>
                                        <p:cTn id="57" dur="1" fill="hold">
                                          <p:stCondLst>
                                            <p:cond delay="0"/>
                                          </p:stCondLst>
                                        </p:cTn>
                                        <p:tgtEl>
                                          <p:spTgt spid="157701"/>
                                        </p:tgtEl>
                                        <p:attrNameLst>
                                          <p:attrName>style.visibility</p:attrName>
                                        </p:attrNameLst>
                                      </p:cBhvr>
                                      <p:to>
                                        <p:strVal val="visible"/>
                                      </p:to>
                                    </p:set>
                                    <p:animEffect transition="in" filter="slide(fromLeft)">
                                      <p:cBhvr>
                                        <p:cTn id="58" dur="500"/>
                                        <p:tgtEl>
                                          <p:spTgt spid="15770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57715"/>
                                        </p:tgtEl>
                                        <p:attrNameLst>
                                          <p:attrName>style.visibility</p:attrName>
                                        </p:attrNameLst>
                                      </p:cBhvr>
                                      <p:to>
                                        <p:strVal val="visible"/>
                                      </p:to>
                                    </p:set>
                                    <p:animEffect transition="in" filter="wipe(left)">
                                      <p:cBhvr>
                                        <p:cTn id="63" dur="500"/>
                                        <p:tgtEl>
                                          <p:spTgt spid="157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0" grpId="0" autoUpdateAnimBg="0"/>
      <p:bldP spid="157703" grpId="0"/>
      <p:bldP spid="157707" grpId="0" animBg="1"/>
      <p:bldP spid="157712" grpId="0"/>
      <p:bldP spid="157713" grpId="0"/>
      <p:bldP spid="157714" grpId="0" autoUpdateAnimBg="0"/>
      <p:bldP spid="157715" grpId="0" autoUpdateAnimBg="0"/>
      <p:bldP spid="15771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ChangeArrowheads="1"/>
          </p:cNvSpPr>
          <p:nvPr/>
        </p:nvSpPr>
        <p:spPr bwMode="auto">
          <a:xfrm>
            <a:off x="684213" y="773113"/>
            <a:ext cx="8459787" cy="1006475"/>
          </a:xfrm>
          <a:prstGeom prst="rect">
            <a:avLst/>
          </a:prstGeom>
          <a:noFill/>
          <a:ln w="9525">
            <a:noFill/>
            <a:miter lim="800000"/>
            <a:headEnd/>
            <a:tailEnd/>
          </a:ln>
          <a:effectLst/>
        </p:spPr>
        <p:txBody>
          <a:bodyPr>
            <a:spAutoFit/>
          </a:bodyPr>
          <a:lstStyle/>
          <a:p>
            <a:pPr>
              <a:lnSpc>
                <a:spcPct val="125000"/>
              </a:lnSpc>
            </a:pPr>
            <a:r>
              <a:rPr lang="en-US" altLang="zh-CN" b="1">
                <a:solidFill>
                  <a:schemeClr val="bg1"/>
                </a:solidFill>
                <a:latin typeface="宋体" charset="-122"/>
              </a:rPr>
              <a:t>      </a:t>
            </a:r>
            <a:r>
              <a:rPr lang="en-US" altLang="zh-CN" b="1">
                <a:solidFill>
                  <a:srgbClr val="0000FF"/>
                </a:solidFill>
                <a:latin typeface="宋体" charset="-122"/>
              </a:rPr>
              <a:t>1927</a:t>
            </a:r>
            <a:r>
              <a:rPr lang="zh-CN" altLang="en-US" b="1">
                <a:solidFill>
                  <a:srgbClr val="0000FF"/>
                </a:solidFill>
                <a:latin typeface="宋体" charset="-122"/>
              </a:rPr>
              <a:t>年</a:t>
            </a:r>
            <a:r>
              <a:rPr lang="zh-CN" altLang="en-US" b="1">
                <a:solidFill>
                  <a:schemeClr val="bg1"/>
                </a:solidFill>
                <a:latin typeface="宋体" charset="-122"/>
              </a:rPr>
              <a:t>美国</a:t>
            </a:r>
            <a:r>
              <a:rPr lang="zh-CN" altLang="en-US" b="1">
                <a:solidFill>
                  <a:srgbClr val="0000FF"/>
                </a:solidFill>
                <a:latin typeface="宋体" charset="-122"/>
              </a:rPr>
              <a:t>戴维逊</a:t>
            </a:r>
            <a:r>
              <a:rPr lang="zh-CN" altLang="en-US" b="1">
                <a:solidFill>
                  <a:schemeClr val="bg1"/>
                </a:solidFill>
                <a:latin typeface="宋体" charset="-122"/>
              </a:rPr>
              <a:t>和</a:t>
            </a:r>
            <a:r>
              <a:rPr lang="zh-CN" altLang="en-US" b="1">
                <a:solidFill>
                  <a:srgbClr val="0000FF"/>
                </a:solidFill>
                <a:latin typeface="宋体" charset="-122"/>
              </a:rPr>
              <a:t>革末</a:t>
            </a:r>
            <a:r>
              <a:rPr lang="zh-CN" altLang="en-US" b="1">
                <a:solidFill>
                  <a:schemeClr val="bg1"/>
                </a:solidFill>
                <a:latin typeface="宋体" charset="-122"/>
              </a:rPr>
              <a:t>，以及英国的</a:t>
            </a:r>
            <a:r>
              <a:rPr kumimoji="0" lang="zh-CN" altLang="en-US" b="1">
                <a:solidFill>
                  <a:srgbClr val="0000FF"/>
                </a:solidFill>
                <a:latin typeface="宋体" charset="-122"/>
              </a:rPr>
              <a:t>汤姆逊</a:t>
            </a:r>
            <a:r>
              <a:rPr lang="zh-CN" altLang="en-US" b="1">
                <a:solidFill>
                  <a:schemeClr val="bg1"/>
                </a:solidFill>
                <a:latin typeface="宋体" charset="-122"/>
              </a:rPr>
              <a:t>通过电子衍射实验</a:t>
            </a:r>
            <a:r>
              <a:rPr kumimoji="0" lang="zh-CN" altLang="en-US" b="1">
                <a:solidFill>
                  <a:schemeClr val="bg2"/>
                </a:solidFill>
                <a:latin typeface="宋体" charset="-122"/>
              </a:rPr>
              <a:t>证实了电子确实具有波动性</a:t>
            </a:r>
            <a:r>
              <a:rPr lang="zh-CN" altLang="en-US" b="1">
                <a:solidFill>
                  <a:schemeClr val="bg2"/>
                </a:solidFill>
                <a:latin typeface="宋体" charset="-122"/>
              </a:rPr>
              <a:t>。</a:t>
            </a:r>
          </a:p>
        </p:txBody>
      </p:sp>
      <p:pic>
        <p:nvPicPr>
          <p:cNvPr id="120835" name="Picture 3" descr="图16"/>
          <p:cNvPicPr>
            <a:picLocks noChangeAspect="1" noChangeArrowheads="1"/>
          </p:cNvPicPr>
          <p:nvPr/>
        </p:nvPicPr>
        <p:blipFill>
          <a:blip r:embed="rId4"/>
          <a:srcRect b="2855"/>
          <a:stretch>
            <a:fillRect/>
          </a:stretch>
        </p:blipFill>
        <p:spPr bwMode="auto">
          <a:xfrm>
            <a:off x="836613" y="4014788"/>
            <a:ext cx="1979612" cy="1871662"/>
          </a:xfrm>
          <a:prstGeom prst="rect">
            <a:avLst/>
          </a:prstGeom>
          <a:noFill/>
          <a:ln w="9525">
            <a:noFill/>
            <a:miter lim="800000"/>
            <a:headEnd/>
            <a:tailEnd/>
          </a:ln>
        </p:spPr>
      </p:pic>
      <p:sp>
        <p:nvSpPr>
          <p:cNvPr id="120836" name="Text Box 4"/>
          <p:cNvSpPr txBox="1">
            <a:spLocks noChangeArrowheads="1"/>
          </p:cNvSpPr>
          <p:nvPr/>
        </p:nvSpPr>
        <p:spPr bwMode="auto">
          <a:xfrm>
            <a:off x="296863" y="4373563"/>
            <a:ext cx="536575" cy="1189037"/>
          </a:xfrm>
          <a:prstGeom prst="rect">
            <a:avLst/>
          </a:prstGeom>
          <a:noFill/>
          <a:ln w="9525">
            <a:noFill/>
            <a:miter lim="800000"/>
            <a:headEnd/>
            <a:tailEnd/>
          </a:ln>
          <a:effectLst/>
        </p:spPr>
        <p:txBody>
          <a:bodyPr>
            <a:spAutoFit/>
          </a:bodyPr>
          <a:lstStyle/>
          <a:p>
            <a:pPr algn="ctr"/>
            <a:r>
              <a:rPr lang="en-US" altLang="zh-CN" b="1">
                <a:solidFill>
                  <a:schemeClr val="bg1"/>
                </a:solidFill>
              </a:rPr>
              <a:t>X</a:t>
            </a:r>
            <a:r>
              <a:rPr lang="zh-CN" altLang="en-US" b="1">
                <a:solidFill>
                  <a:schemeClr val="bg1"/>
                </a:solidFill>
                <a:ea typeface="楷体_GB2312" pitchFamily="49" charset="-122"/>
              </a:rPr>
              <a:t>射线</a:t>
            </a:r>
          </a:p>
        </p:txBody>
      </p:sp>
      <p:grpSp>
        <p:nvGrpSpPr>
          <p:cNvPr id="120837" name="Group 5"/>
          <p:cNvGrpSpPr>
            <a:grpSpLocks/>
          </p:cNvGrpSpPr>
          <p:nvPr/>
        </p:nvGrpSpPr>
        <p:grpSpPr bwMode="auto">
          <a:xfrm>
            <a:off x="250825" y="1898650"/>
            <a:ext cx="2590800" cy="1905000"/>
            <a:chOff x="480" y="1152"/>
            <a:chExt cx="2314" cy="1786"/>
          </a:xfrm>
        </p:grpSpPr>
        <p:pic>
          <p:nvPicPr>
            <p:cNvPr id="34829" name="Picture 6" descr="图16"/>
            <p:cNvPicPr>
              <a:picLocks noChangeAspect="1" noChangeArrowheads="1"/>
            </p:cNvPicPr>
            <p:nvPr/>
          </p:nvPicPr>
          <p:blipFill>
            <a:blip r:embed="rId5"/>
            <a:srcRect/>
            <a:stretch>
              <a:fillRect/>
            </a:stretch>
          </p:blipFill>
          <p:spPr bwMode="auto">
            <a:xfrm>
              <a:off x="1008" y="1152"/>
              <a:ext cx="1786" cy="1786"/>
            </a:xfrm>
            <a:prstGeom prst="rect">
              <a:avLst/>
            </a:prstGeom>
            <a:noFill/>
            <a:ln w="9525">
              <a:noFill/>
              <a:miter lim="800000"/>
              <a:headEnd/>
              <a:tailEnd/>
            </a:ln>
          </p:spPr>
        </p:pic>
        <p:sp>
          <p:nvSpPr>
            <p:cNvPr id="34830" name="Text Box 7"/>
            <p:cNvSpPr txBox="1">
              <a:spLocks noChangeArrowheads="1"/>
            </p:cNvSpPr>
            <p:nvPr/>
          </p:nvSpPr>
          <p:spPr bwMode="auto">
            <a:xfrm>
              <a:off x="480" y="1680"/>
              <a:ext cx="336" cy="1114"/>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电子束</a:t>
              </a:r>
            </a:p>
          </p:txBody>
        </p:sp>
      </p:grpSp>
      <p:sp>
        <p:nvSpPr>
          <p:cNvPr id="120842" name="Rectangle 10"/>
          <p:cNvSpPr>
            <a:spLocks noChangeArrowheads="1"/>
          </p:cNvSpPr>
          <p:nvPr/>
        </p:nvSpPr>
        <p:spPr bwMode="auto">
          <a:xfrm>
            <a:off x="1062038" y="5903913"/>
            <a:ext cx="1663700" cy="457200"/>
          </a:xfrm>
          <a:prstGeom prst="rect">
            <a:avLst/>
          </a:prstGeom>
          <a:noFill/>
          <a:ln w="9525">
            <a:noFill/>
            <a:miter lim="800000"/>
            <a:headEnd/>
            <a:tailEnd/>
          </a:ln>
          <a:effectLst/>
        </p:spPr>
        <p:txBody>
          <a:bodyPr>
            <a:spAutoFit/>
          </a:bodyPr>
          <a:lstStyle/>
          <a:p>
            <a:r>
              <a:rPr lang="zh-CN" altLang="en-US" b="1">
                <a:solidFill>
                  <a:schemeClr val="tx2"/>
                </a:solidFill>
                <a:latin typeface="宋体" charset="-122"/>
              </a:rPr>
              <a:t>衍射图样</a:t>
            </a:r>
          </a:p>
        </p:txBody>
      </p:sp>
      <p:sp>
        <p:nvSpPr>
          <p:cNvPr id="120846" name="Text Box 14"/>
          <p:cNvSpPr txBox="1">
            <a:spLocks noChangeArrowheads="1"/>
          </p:cNvSpPr>
          <p:nvPr/>
        </p:nvSpPr>
        <p:spPr bwMode="auto">
          <a:xfrm>
            <a:off x="341313" y="368300"/>
            <a:ext cx="2941637" cy="457200"/>
          </a:xfrm>
          <a:prstGeom prst="rect">
            <a:avLst/>
          </a:prstGeom>
          <a:noFill/>
          <a:ln w="9525">
            <a:noFill/>
            <a:miter lim="800000"/>
            <a:headEnd/>
            <a:tailEnd/>
          </a:ln>
          <a:effectLst/>
        </p:spPr>
        <p:txBody>
          <a:bodyPr wrap="none">
            <a:spAutoFit/>
          </a:bodyPr>
          <a:lstStyle/>
          <a:p>
            <a:r>
              <a:rPr lang="zh-CN" altLang="en-US" b="1">
                <a:solidFill>
                  <a:schemeClr val="tx2"/>
                </a:solidFill>
              </a:rPr>
              <a:t>物质波的实验验证：</a:t>
            </a:r>
          </a:p>
        </p:txBody>
      </p:sp>
      <p:pic>
        <p:nvPicPr>
          <p:cNvPr id="120849" name="Picture 17" descr="Davisson-Germer"/>
          <p:cNvPicPr>
            <a:picLocks noChangeAspect="1" noChangeArrowheads="1"/>
          </p:cNvPicPr>
          <p:nvPr/>
        </p:nvPicPr>
        <p:blipFill>
          <a:blip r:embed="rId6"/>
          <a:srcRect/>
          <a:stretch>
            <a:fillRect/>
          </a:stretch>
        </p:blipFill>
        <p:spPr bwMode="auto">
          <a:xfrm>
            <a:off x="6057900" y="1449388"/>
            <a:ext cx="2173288" cy="2205037"/>
          </a:xfrm>
          <a:prstGeom prst="rect">
            <a:avLst/>
          </a:prstGeom>
          <a:noFill/>
          <a:ln w="9525">
            <a:noFill/>
            <a:miter lim="800000"/>
            <a:headEnd/>
            <a:tailEnd/>
          </a:ln>
        </p:spPr>
      </p:pic>
      <p:pic>
        <p:nvPicPr>
          <p:cNvPr id="120850" name="Picture 18" descr="thomson"/>
          <p:cNvPicPr>
            <a:picLocks noChangeAspect="1" noChangeArrowheads="1"/>
          </p:cNvPicPr>
          <p:nvPr/>
        </p:nvPicPr>
        <p:blipFill>
          <a:blip r:embed="rId7"/>
          <a:srcRect b="12036"/>
          <a:stretch>
            <a:fillRect/>
          </a:stretch>
        </p:blipFill>
        <p:spPr bwMode="auto">
          <a:xfrm>
            <a:off x="6057900" y="3700463"/>
            <a:ext cx="2182813" cy="2476500"/>
          </a:xfrm>
          <a:prstGeom prst="rect">
            <a:avLst/>
          </a:prstGeom>
          <a:noFill/>
          <a:ln w="9525">
            <a:noFill/>
            <a:miter lim="800000"/>
            <a:headEnd/>
            <a:tailEnd/>
          </a:ln>
        </p:spPr>
      </p:pic>
      <p:pic>
        <p:nvPicPr>
          <p:cNvPr id="120851" name="Picture 19" descr="电子干涉5"/>
          <p:cNvPicPr>
            <a:picLocks noChangeAspect="1" noChangeArrowheads="1"/>
          </p:cNvPicPr>
          <p:nvPr/>
        </p:nvPicPr>
        <p:blipFill>
          <a:blip r:embed="rId8"/>
          <a:srcRect r="1103" b="3572"/>
          <a:stretch>
            <a:fillRect/>
          </a:stretch>
        </p:blipFill>
        <p:spPr bwMode="auto">
          <a:xfrm>
            <a:off x="3446463" y="1898650"/>
            <a:ext cx="1890712" cy="1947863"/>
          </a:xfrm>
          <a:prstGeom prst="rect">
            <a:avLst/>
          </a:prstGeom>
          <a:noFill/>
          <a:ln w="9525">
            <a:noFill/>
            <a:miter lim="800000"/>
            <a:headEnd/>
            <a:tailEnd/>
          </a:ln>
        </p:spPr>
      </p:pic>
      <p:pic>
        <p:nvPicPr>
          <p:cNvPr id="120852" name="Picture 20"/>
          <p:cNvPicPr>
            <a:picLocks noChangeAspect="1" noChangeArrowheads="1"/>
          </p:cNvPicPr>
          <p:nvPr/>
        </p:nvPicPr>
        <p:blipFill>
          <a:blip r:embed="rId9"/>
          <a:srcRect l="12204" b="25174"/>
          <a:stretch>
            <a:fillRect/>
          </a:stretch>
        </p:blipFill>
        <p:spPr bwMode="auto">
          <a:xfrm>
            <a:off x="3446463" y="4014788"/>
            <a:ext cx="1890712" cy="1876425"/>
          </a:xfrm>
          <a:prstGeom prst="rect">
            <a:avLst/>
          </a:prstGeom>
          <a:noFill/>
          <a:ln w="9525">
            <a:noFill/>
            <a:miter lim="800000"/>
            <a:headEnd/>
            <a:tailEnd/>
          </a:ln>
        </p:spPr>
      </p:pic>
      <p:sp>
        <p:nvSpPr>
          <p:cNvPr id="120855" name="Rectangle 23"/>
          <p:cNvSpPr>
            <a:spLocks noChangeArrowheads="1"/>
          </p:cNvSpPr>
          <p:nvPr/>
        </p:nvSpPr>
        <p:spPr bwMode="auto">
          <a:xfrm>
            <a:off x="3627438" y="5903913"/>
            <a:ext cx="1663700" cy="457200"/>
          </a:xfrm>
          <a:prstGeom prst="rect">
            <a:avLst/>
          </a:prstGeom>
          <a:noFill/>
          <a:ln w="9525">
            <a:noFill/>
            <a:miter lim="800000"/>
            <a:headEnd/>
            <a:tailEnd/>
          </a:ln>
          <a:effectLst/>
        </p:spPr>
        <p:txBody>
          <a:bodyPr>
            <a:spAutoFit/>
          </a:bodyPr>
          <a:lstStyle/>
          <a:p>
            <a:r>
              <a:rPr lang="zh-CN" altLang="en-US" b="1">
                <a:solidFill>
                  <a:schemeClr val="tx2"/>
                </a:solidFill>
                <a:latin typeface="宋体" charset="-122"/>
              </a:rPr>
              <a:t>干涉图样</a:t>
            </a: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0846"/>
                                        </p:tgtEl>
                                        <p:attrNameLst>
                                          <p:attrName>style.visibility</p:attrName>
                                        </p:attrNameLst>
                                      </p:cBhvr>
                                      <p:to>
                                        <p:strVal val="visible"/>
                                      </p:to>
                                    </p:set>
                                    <p:animEffect transition="in" filter="wipe(down)">
                                      <p:cBhvr>
                                        <p:cTn id="7" dur="500"/>
                                        <p:tgtEl>
                                          <p:spTgt spid="1208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834"/>
                                        </p:tgtEl>
                                        <p:attrNameLst>
                                          <p:attrName>style.visibility</p:attrName>
                                        </p:attrNameLst>
                                      </p:cBhvr>
                                      <p:to>
                                        <p:strVal val="visible"/>
                                      </p:to>
                                    </p:set>
                                    <p:animEffect transition="in" filter="wipe(left)">
                                      <p:cBhvr>
                                        <p:cTn id="12" dur="500"/>
                                        <p:tgtEl>
                                          <p:spTgt spid="1208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20849"/>
                                        </p:tgtEl>
                                        <p:attrNameLst>
                                          <p:attrName>style.visibility</p:attrName>
                                        </p:attrNameLst>
                                      </p:cBhvr>
                                      <p:to>
                                        <p:strVal val="visible"/>
                                      </p:to>
                                    </p:set>
                                    <p:animEffect transition="in" filter="box(out)">
                                      <p:cBhvr>
                                        <p:cTn id="17" dur="500"/>
                                        <p:tgtEl>
                                          <p:spTgt spid="1208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120850"/>
                                        </p:tgtEl>
                                        <p:attrNameLst>
                                          <p:attrName>style.visibility</p:attrName>
                                        </p:attrNameLst>
                                      </p:cBhvr>
                                      <p:to>
                                        <p:strVal val="visible"/>
                                      </p:to>
                                    </p:set>
                                    <p:animEffect transition="in" filter="box(out)">
                                      <p:cBhvr>
                                        <p:cTn id="22" dur="500"/>
                                        <p:tgtEl>
                                          <p:spTgt spid="1208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0842"/>
                                        </p:tgtEl>
                                        <p:attrNameLst>
                                          <p:attrName>style.visibility</p:attrName>
                                        </p:attrNameLst>
                                      </p:cBhvr>
                                      <p:to>
                                        <p:strVal val="visible"/>
                                      </p:to>
                                    </p:set>
                                    <p:animEffect transition="in" filter="wipe(down)">
                                      <p:cBhvr>
                                        <p:cTn id="27" dur="500"/>
                                        <p:tgtEl>
                                          <p:spTgt spid="1208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120837"/>
                                        </p:tgtEl>
                                        <p:attrNameLst>
                                          <p:attrName>style.visibility</p:attrName>
                                        </p:attrNameLst>
                                      </p:cBhvr>
                                      <p:to>
                                        <p:strVal val="visible"/>
                                      </p:to>
                                    </p:set>
                                    <p:animEffect transition="in" filter="box(out)">
                                      <p:cBhvr>
                                        <p:cTn id="32" dur="500"/>
                                        <p:tgtEl>
                                          <p:spTgt spid="120837"/>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builtIn="1"/>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120835"/>
                                        </p:tgtEl>
                                        <p:attrNameLst>
                                          <p:attrName>style.visibility</p:attrName>
                                        </p:attrNameLst>
                                      </p:cBhvr>
                                      <p:to>
                                        <p:strVal val="visible"/>
                                      </p:to>
                                    </p:set>
                                    <p:animEffect transition="in" filter="box(out)">
                                      <p:cBhvr>
                                        <p:cTn id="37" dur="500"/>
                                        <p:tgtEl>
                                          <p:spTgt spid="120835"/>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builtIn="1"/>
                                        </p:tgtEl>
                                      </p:cMediaNode>
                                    </p:audio>
                                  </p:subTnLst>
                                </p:cTn>
                              </p:par>
                            </p:childTnLst>
                          </p:cTn>
                        </p:par>
                        <p:par>
                          <p:cTn id="38" fill="hold" nodeType="afterGroup">
                            <p:stCondLst>
                              <p:cond delay="500"/>
                            </p:stCondLst>
                            <p:childTnLst>
                              <p:par>
                                <p:cTn id="39" presetID="1" presetClass="entr" presetSubtype="0" fill="hold" grpId="0" nodeType="afterEffect">
                                  <p:stCondLst>
                                    <p:cond delay="0"/>
                                  </p:stCondLst>
                                  <p:childTnLst>
                                    <p:set>
                                      <p:cBhvr>
                                        <p:cTn id="40" dur="1" fill="hold">
                                          <p:stCondLst>
                                            <p:cond delay="499"/>
                                          </p:stCondLst>
                                        </p:cTn>
                                        <p:tgtEl>
                                          <p:spTgt spid="120836"/>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20855"/>
                                        </p:tgtEl>
                                        <p:attrNameLst>
                                          <p:attrName>style.visibility</p:attrName>
                                        </p:attrNameLst>
                                      </p:cBhvr>
                                      <p:to>
                                        <p:strVal val="visible"/>
                                      </p:to>
                                    </p:set>
                                    <p:animEffect transition="in" filter="wipe(down)">
                                      <p:cBhvr>
                                        <p:cTn id="45" dur="500"/>
                                        <p:tgtEl>
                                          <p:spTgt spid="12085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32" fill="hold" nodeType="clickEffect">
                                  <p:stCondLst>
                                    <p:cond delay="0"/>
                                  </p:stCondLst>
                                  <p:childTnLst>
                                    <p:set>
                                      <p:cBhvr>
                                        <p:cTn id="49" dur="1" fill="hold">
                                          <p:stCondLst>
                                            <p:cond delay="0"/>
                                          </p:stCondLst>
                                        </p:cTn>
                                        <p:tgtEl>
                                          <p:spTgt spid="120851"/>
                                        </p:tgtEl>
                                        <p:attrNameLst>
                                          <p:attrName>style.visibility</p:attrName>
                                        </p:attrNameLst>
                                      </p:cBhvr>
                                      <p:to>
                                        <p:strVal val="visible"/>
                                      </p:to>
                                    </p:set>
                                    <p:animEffect transition="in" filter="box(out)">
                                      <p:cBhvr>
                                        <p:cTn id="50" dur="500"/>
                                        <p:tgtEl>
                                          <p:spTgt spid="120851"/>
                                        </p:tgtEl>
                                      </p:cBhvr>
                                    </p:animEffect>
                                  </p:childTnLst>
                                  <p:subTnLst>
                                    <p:audio>
                                      <p:cMediaNode>
                                        <p:cTn display="0" masterRel="sameClick">
                                          <p:stCondLst>
                                            <p:cond evt="begin" delay="0">
                                              <p:tn val="48"/>
                                            </p:cond>
                                          </p:stCondLst>
                                          <p:endCondLst>
                                            <p:cond evt="onStopAudio" delay="0">
                                              <p:tgtEl>
                                                <p:sldTgt/>
                                              </p:tgtEl>
                                            </p:cond>
                                          </p:endCondLst>
                                        </p:cTn>
                                        <p:tgtEl>
                                          <p:sndTgt r:embed="rId3" name="camera.wav" builtIn="1"/>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32" fill="hold" nodeType="clickEffect">
                                  <p:stCondLst>
                                    <p:cond delay="0"/>
                                  </p:stCondLst>
                                  <p:childTnLst>
                                    <p:set>
                                      <p:cBhvr>
                                        <p:cTn id="54" dur="1" fill="hold">
                                          <p:stCondLst>
                                            <p:cond delay="0"/>
                                          </p:stCondLst>
                                        </p:cTn>
                                        <p:tgtEl>
                                          <p:spTgt spid="120852"/>
                                        </p:tgtEl>
                                        <p:attrNameLst>
                                          <p:attrName>style.visibility</p:attrName>
                                        </p:attrNameLst>
                                      </p:cBhvr>
                                      <p:to>
                                        <p:strVal val="visible"/>
                                      </p:to>
                                    </p:set>
                                    <p:animEffect transition="in" filter="box(out)">
                                      <p:cBhvr>
                                        <p:cTn id="55" dur="500"/>
                                        <p:tgtEl>
                                          <p:spTgt spid="120852"/>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builtIn="1"/>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p:bldP spid="120836" grpId="0" autoUpdateAnimBg="0"/>
      <p:bldP spid="120842" grpId="0"/>
      <p:bldP spid="120846" grpId="0"/>
      <p:bldP spid="12085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40" name="Rectangle 4"/>
          <p:cNvSpPr>
            <a:spLocks noChangeArrowheads="1"/>
          </p:cNvSpPr>
          <p:nvPr/>
        </p:nvSpPr>
        <p:spPr bwMode="auto">
          <a:xfrm>
            <a:off x="341313" y="495300"/>
            <a:ext cx="3095625" cy="457200"/>
          </a:xfrm>
          <a:prstGeom prst="rect">
            <a:avLst/>
          </a:prstGeom>
          <a:noFill/>
          <a:ln w="9525">
            <a:noFill/>
            <a:miter lim="800000"/>
            <a:headEnd/>
            <a:tailEnd/>
          </a:ln>
          <a:effectLst/>
        </p:spPr>
        <p:txBody>
          <a:bodyPr wrap="none" anchor="ctr">
            <a:spAutoFit/>
          </a:bodyPr>
          <a:lstStyle/>
          <a:p>
            <a:r>
              <a:rPr lang="zh-CN" altLang="en-US" b="1">
                <a:solidFill>
                  <a:schemeClr val="tx2"/>
                </a:solidFill>
                <a:latin typeface="宋体" charset="-122"/>
              </a:rPr>
              <a:t>物质波的统计解释： </a:t>
            </a:r>
          </a:p>
        </p:txBody>
      </p:sp>
      <p:sp>
        <p:nvSpPr>
          <p:cNvPr id="193541" name="Text Box 5"/>
          <p:cNvSpPr txBox="1">
            <a:spLocks noChangeArrowheads="1"/>
          </p:cNvSpPr>
          <p:nvPr/>
        </p:nvSpPr>
        <p:spPr bwMode="auto">
          <a:xfrm>
            <a:off x="476250" y="1403350"/>
            <a:ext cx="6119813" cy="1406525"/>
          </a:xfrm>
          <a:prstGeom prst="rect">
            <a:avLst/>
          </a:prstGeom>
          <a:noFill/>
          <a:ln w="9525">
            <a:noFill/>
            <a:miter lim="800000"/>
            <a:headEnd/>
            <a:tailEnd/>
          </a:ln>
          <a:effectLst/>
        </p:spPr>
        <p:txBody>
          <a:bodyPr>
            <a:spAutoFit/>
          </a:bodyPr>
          <a:lstStyle/>
          <a:p>
            <a:pPr>
              <a:lnSpc>
                <a:spcPct val="120000"/>
              </a:lnSpc>
            </a:pPr>
            <a:r>
              <a:rPr lang="en-US" altLang="zh-CN" b="1">
                <a:solidFill>
                  <a:schemeClr val="bg2"/>
                </a:solidFill>
              </a:rPr>
              <a:t>        </a:t>
            </a:r>
            <a:r>
              <a:rPr lang="zh-CN" altLang="en-US" b="1">
                <a:solidFill>
                  <a:schemeClr val="bg2"/>
                </a:solidFill>
              </a:rPr>
              <a:t>对于所有的微观粒子，在某处德布罗意波的强度是与粒子在该处邻近出现的概率成正比。 </a:t>
            </a:r>
          </a:p>
        </p:txBody>
      </p:sp>
      <p:sp>
        <p:nvSpPr>
          <p:cNvPr id="193542" name="Text Box 6"/>
          <p:cNvSpPr txBox="1">
            <a:spLocks noChangeArrowheads="1"/>
          </p:cNvSpPr>
          <p:nvPr/>
        </p:nvSpPr>
        <p:spPr bwMode="auto">
          <a:xfrm>
            <a:off x="566738" y="3294063"/>
            <a:ext cx="6570662" cy="1406525"/>
          </a:xfrm>
          <a:prstGeom prst="rect">
            <a:avLst/>
          </a:prstGeom>
          <a:noFill/>
          <a:ln w="9525">
            <a:noFill/>
            <a:miter lim="800000"/>
            <a:headEnd/>
            <a:tailEnd/>
          </a:ln>
          <a:effectLst/>
        </p:spPr>
        <p:txBody>
          <a:bodyPr>
            <a:spAutoFit/>
          </a:bodyPr>
          <a:lstStyle/>
          <a:p>
            <a:pPr>
              <a:lnSpc>
                <a:spcPct val="120000"/>
              </a:lnSpc>
            </a:pPr>
            <a:r>
              <a:rPr lang="en-US" altLang="zh-CN" b="1">
                <a:solidFill>
                  <a:schemeClr val="bg2"/>
                </a:solidFill>
              </a:rPr>
              <a:t>     </a:t>
            </a:r>
            <a:r>
              <a:rPr lang="zh-CN" altLang="en-US" b="1">
                <a:solidFill>
                  <a:schemeClr val="bg2"/>
                </a:solidFill>
              </a:rPr>
              <a:t>如</a:t>
            </a:r>
            <a:r>
              <a:rPr lang="zh-CN" altLang="en-US" b="1">
                <a:solidFill>
                  <a:schemeClr val="accent2"/>
                </a:solidFill>
              </a:rPr>
              <a:t>机械波</a:t>
            </a:r>
            <a:r>
              <a:rPr lang="zh-CN" altLang="en-US" b="1">
                <a:solidFill>
                  <a:schemeClr val="bg2"/>
                </a:solidFill>
              </a:rPr>
              <a:t>是机械振动在空间的传播，</a:t>
            </a:r>
            <a:r>
              <a:rPr kumimoji="0" lang="zh-CN" altLang="en-US" b="1">
                <a:solidFill>
                  <a:schemeClr val="accent2"/>
                </a:solidFill>
                <a:latin typeface="宋体" charset="-122"/>
              </a:rPr>
              <a:t>电磁波</a:t>
            </a:r>
            <a:r>
              <a:rPr kumimoji="0" lang="zh-CN" altLang="en-US" b="1">
                <a:solidFill>
                  <a:schemeClr val="bg2"/>
                </a:solidFill>
                <a:latin typeface="宋体" charset="-122"/>
              </a:rPr>
              <a:t>是变化的电磁场在空间的传播</a:t>
            </a:r>
            <a:r>
              <a:rPr kumimoji="0" lang="en-US" altLang="zh-CN" b="1">
                <a:solidFill>
                  <a:schemeClr val="bg2"/>
                </a:solidFill>
                <a:latin typeface="宋体" charset="-122"/>
              </a:rPr>
              <a:t>,</a:t>
            </a:r>
            <a:r>
              <a:rPr lang="zh-CN" altLang="en-US" b="1">
                <a:solidFill>
                  <a:schemeClr val="bg2"/>
                </a:solidFill>
                <a:latin typeface="宋体" charset="-122"/>
              </a:rPr>
              <a:t>而</a:t>
            </a:r>
            <a:r>
              <a:rPr lang="zh-CN" altLang="en-US" b="1">
                <a:solidFill>
                  <a:schemeClr val="accent2"/>
                </a:solidFill>
                <a:latin typeface="宋体" charset="-122"/>
              </a:rPr>
              <a:t>德布罗意波</a:t>
            </a:r>
            <a:r>
              <a:rPr lang="zh-CN" altLang="en-US" b="1">
                <a:solidFill>
                  <a:schemeClr val="bg2"/>
                </a:solidFill>
                <a:latin typeface="宋体" charset="-122"/>
              </a:rPr>
              <a:t>是对微</a:t>
            </a:r>
            <a:r>
              <a:rPr lang="zh-CN" altLang="en-US" b="1">
                <a:solidFill>
                  <a:schemeClr val="bg2"/>
                </a:solidFill>
              </a:rPr>
              <a:t>观粒子的统计描述，</a:t>
            </a:r>
            <a:r>
              <a:rPr kumimoji="0" lang="zh-CN" altLang="en-US" b="1">
                <a:solidFill>
                  <a:schemeClr val="bg2"/>
                </a:solidFill>
              </a:rPr>
              <a:t>是一种</a:t>
            </a:r>
            <a:r>
              <a:rPr kumimoji="0" lang="zh-CN" altLang="en-US" b="1">
                <a:solidFill>
                  <a:schemeClr val="accent2"/>
                </a:solidFill>
              </a:rPr>
              <a:t>概率波</a:t>
            </a:r>
            <a:r>
              <a:rPr kumimoji="0" lang="zh-CN" altLang="en-US" b="1">
                <a:solidFill>
                  <a:schemeClr val="bg2"/>
                </a:solidFill>
              </a:rPr>
              <a:t>。</a:t>
            </a:r>
          </a:p>
        </p:txBody>
      </p:sp>
      <p:sp>
        <p:nvSpPr>
          <p:cNvPr id="193543" name="Text Box 7"/>
          <p:cNvSpPr txBox="1">
            <a:spLocks noChangeArrowheads="1"/>
          </p:cNvSpPr>
          <p:nvPr/>
        </p:nvSpPr>
        <p:spPr bwMode="auto">
          <a:xfrm>
            <a:off x="385763" y="2754313"/>
            <a:ext cx="6165850"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tx2"/>
                </a:solidFill>
              </a:rPr>
              <a:t>注意：</a:t>
            </a:r>
            <a:r>
              <a:rPr lang="zh-CN" altLang="en-US" b="1">
                <a:solidFill>
                  <a:srgbClr val="0000FF"/>
                </a:solidFill>
              </a:rPr>
              <a:t>德布罗意波与经典波是不同的。</a:t>
            </a:r>
          </a:p>
        </p:txBody>
      </p:sp>
      <p:sp>
        <p:nvSpPr>
          <p:cNvPr id="193544" name="Text Box 8"/>
          <p:cNvSpPr txBox="1">
            <a:spLocks noChangeArrowheads="1"/>
          </p:cNvSpPr>
          <p:nvPr/>
        </p:nvSpPr>
        <p:spPr bwMode="auto">
          <a:xfrm>
            <a:off x="385763" y="4778375"/>
            <a:ext cx="8213725" cy="1774825"/>
          </a:xfrm>
          <a:prstGeom prst="rect">
            <a:avLst/>
          </a:prstGeom>
          <a:noFill/>
          <a:ln w="9525">
            <a:noFill/>
            <a:miter lim="800000"/>
            <a:headEnd/>
            <a:tailEnd/>
          </a:ln>
          <a:effectLst/>
        </p:spPr>
        <p:txBody>
          <a:bodyPr>
            <a:spAutoFit/>
          </a:bodyPr>
          <a:lstStyle/>
          <a:p>
            <a:pPr>
              <a:lnSpc>
                <a:spcPct val="115000"/>
              </a:lnSpc>
            </a:pPr>
            <a:r>
              <a:rPr lang="zh-CN" altLang="en-US">
                <a:solidFill>
                  <a:schemeClr val="bg2"/>
                </a:solidFill>
                <a:latin typeface="宋体" charset="-122"/>
              </a:rPr>
              <a:t>　  </a:t>
            </a:r>
            <a:r>
              <a:rPr lang="zh-CN" altLang="en-US" b="1">
                <a:solidFill>
                  <a:schemeClr val="bg2"/>
                </a:solidFill>
                <a:latin typeface="宋体" charset="-122"/>
              </a:rPr>
              <a:t>实物粒子波动性的一个重要应用就是</a:t>
            </a:r>
            <a:r>
              <a:rPr lang="zh-CN" altLang="en-US" b="1">
                <a:solidFill>
                  <a:srgbClr val="0000FF"/>
                </a:solidFill>
                <a:latin typeface="宋体" charset="-122"/>
              </a:rPr>
              <a:t>电子显微镜</a:t>
            </a:r>
            <a:r>
              <a:rPr lang="zh-CN" altLang="en-US" b="1">
                <a:solidFill>
                  <a:schemeClr val="bg2"/>
                </a:solidFill>
                <a:latin typeface="宋体" charset="-122"/>
              </a:rPr>
              <a:t>，其分辨本领比普通光学仪器要</a:t>
            </a:r>
            <a:r>
              <a:rPr lang="zh-CN" altLang="en-US" b="1">
                <a:solidFill>
                  <a:srgbClr val="0000FF"/>
                </a:solidFill>
                <a:latin typeface="宋体" charset="-122"/>
              </a:rPr>
              <a:t>高几千倍</a:t>
            </a:r>
            <a:r>
              <a:rPr lang="zh-CN" altLang="en-US" b="1">
                <a:solidFill>
                  <a:schemeClr val="bg2"/>
                </a:solidFill>
                <a:latin typeface="宋体" charset="-122"/>
              </a:rPr>
              <a:t>。如我国制造的电子显微镜，其放大率高达</a:t>
            </a:r>
            <a:r>
              <a:rPr lang="en-US" altLang="zh-CN" b="1">
                <a:solidFill>
                  <a:schemeClr val="bg2"/>
                </a:solidFill>
              </a:rPr>
              <a:t>80</a:t>
            </a:r>
            <a:r>
              <a:rPr lang="zh-CN" altLang="en-US" b="1">
                <a:solidFill>
                  <a:schemeClr val="bg2"/>
                </a:solidFill>
                <a:latin typeface="宋体" charset="-122"/>
              </a:rPr>
              <a:t>万倍</a:t>
            </a:r>
            <a:r>
              <a:rPr lang="en-US" altLang="zh-CN" b="1">
                <a:solidFill>
                  <a:schemeClr val="bg2"/>
                </a:solidFill>
                <a:latin typeface="宋体" charset="-122"/>
              </a:rPr>
              <a:t>,</a:t>
            </a:r>
            <a:r>
              <a:rPr lang="zh-CN" altLang="en-US" b="1">
                <a:solidFill>
                  <a:schemeClr val="bg2"/>
                </a:solidFill>
                <a:latin typeface="宋体" charset="-122"/>
              </a:rPr>
              <a:t>其分辨本领达</a:t>
            </a:r>
            <a:r>
              <a:rPr lang="zh-CN" altLang="en-US" b="1">
                <a:solidFill>
                  <a:schemeClr val="bg2"/>
                </a:solidFill>
              </a:rPr>
              <a:t> </a:t>
            </a:r>
            <a:r>
              <a:rPr lang="en-US" altLang="zh-CN" b="1">
                <a:solidFill>
                  <a:schemeClr val="bg2"/>
                </a:solidFill>
              </a:rPr>
              <a:t>1.44</a:t>
            </a:r>
            <a:r>
              <a:rPr lang="en-US" altLang="zh-CN" b="1">
                <a:solidFill>
                  <a:schemeClr val="bg2"/>
                </a:solidFill>
                <a:cs typeface="Courier New" pitchFamily="49" charset="0"/>
              </a:rPr>
              <a:t>Å</a:t>
            </a:r>
            <a:r>
              <a:rPr lang="en-US" altLang="zh-CN" b="1">
                <a:solidFill>
                  <a:schemeClr val="bg2"/>
                </a:solidFill>
                <a:latin typeface="宋体" charset="-122"/>
              </a:rPr>
              <a:t>,</a:t>
            </a:r>
            <a:r>
              <a:rPr lang="zh-CN" altLang="en-US" b="1">
                <a:solidFill>
                  <a:schemeClr val="bg2"/>
                </a:solidFill>
                <a:latin typeface="宋体" charset="-122"/>
              </a:rPr>
              <a:t>可分辨到单个原子的尺度，为研究分子结构提供了有力武器。</a:t>
            </a:r>
          </a:p>
        </p:txBody>
      </p:sp>
      <p:sp>
        <p:nvSpPr>
          <p:cNvPr id="193547" name="Text Box 11"/>
          <p:cNvSpPr txBox="1">
            <a:spLocks noChangeArrowheads="1"/>
          </p:cNvSpPr>
          <p:nvPr/>
        </p:nvSpPr>
        <p:spPr bwMode="auto">
          <a:xfrm>
            <a:off x="792163" y="954088"/>
            <a:ext cx="4995862" cy="396875"/>
          </a:xfrm>
          <a:prstGeom prst="rect">
            <a:avLst/>
          </a:prstGeom>
          <a:noFill/>
          <a:ln w="9525">
            <a:noFill/>
            <a:miter lim="800000"/>
            <a:headEnd/>
            <a:tailEnd/>
          </a:ln>
          <a:effectLst/>
        </p:spPr>
        <p:txBody>
          <a:bodyPr>
            <a:spAutoFit/>
          </a:bodyPr>
          <a:lstStyle/>
          <a:p>
            <a:pPr>
              <a:spcBef>
                <a:spcPct val="50000"/>
              </a:spcBef>
            </a:pPr>
            <a:r>
              <a:rPr kumimoji="0" lang="zh-CN" altLang="en-US" sz="2000" b="1">
                <a:solidFill>
                  <a:schemeClr val="bg2"/>
                </a:solidFill>
                <a:latin typeface="楷体_GB2312" pitchFamily="49" charset="-122"/>
                <a:ea typeface="楷体_GB2312" pitchFamily="49" charset="-122"/>
              </a:rPr>
              <a:t>（</a:t>
            </a:r>
            <a:r>
              <a:rPr kumimoji="0" lang="zh-CN" altLang="en-US" sz="2000" b="1">
                <a:solidFill>
                  <a:srgbClr val="0000FF"/>
                </a:solidFill>
                <a:latin typeface="楷体_GB2312" pitchFamily="49" charset="-122"/>
                <a:ea typeface="楷体_GB2312" pitchFamily="49" charset="-122"/>
              </a:rPr>
              <a:t>概率波：</a:t>
            </a:r>
            <a:r>
              <a:rPr kumimoji="0" lang="en-US" altLang="zh-CN" sz="2000" b="1">
                <a:solidFill>
                  <a:schemeClr val="bg2"/>
                </a:solidFill>
                <a:latin typeface="楷体_GB2312" pitchFamily="49" charset="-122"/>
                <a:ea typeface="楷体_GB2312" pitchFamily="49" charset="-122"/>
              </a:rPr>
              <a:t>1926</a:t>
            </a:r>
            <a:r>
              <a:rPr kumimoji="0" lang="zh-CN" altLang="en-US" sz="2000" b="1">
                <a:solidFill>
                  <a:schemeClr val="bg2"/>
                </a:solidFill>
                <a:latin typeface="楷体_GB2312" pitchFamily="49" charset="-122"/>
                <a:ea typeface="楷体_GB2312" pitchFamily="49" charset="-122"/>
              </a:rPr>
              <a:t>年</a:t>
            </a:r>
            <a:r>
              <a:rPr kumimoji="0" lang="en-US" altLang="zh-CN" sz="2000" b="1">
                <a:solidFill>
                  <a:schemeClr val="bg2"/>
                </a:solidFill>
                <a:latin typeface="楷体_GB2312" pitchFamily="49" charset="-122"/>
                <a:ea typeface="楷体_GB2312" pitchFamily="49" charset="-122"/>
              </a:rPr>
              <a:t>,</a:t>
            </a:r>
            <a:r>
              <a:rPr kumimoji="0" lang="zh-CN" altLang="en-US" sz="2000" b="1">
                <a:solidFill>
                  <a:srgbClr val="0000FF"/>
                </a:solidFill>
                <a:latin typeface="楷体_GB2312" pitchFamily="49" charset="-122"/>
                <a:ea typeface="楷体_GB2312" pitchFamily="49" charset="-122"/>
              </a:rPr>
              <a:t>玻恩</a:t>
            </a:r>
            <a:r>
              <a:rPr kumimoji="0" lang="zh-CN" altLang="en-US" sz="2000" b="1">
                <a:solidFill>
                  <a:schemeClr val="bg2"/>
                </a:solidFill>
                <a:latin typeface="楷体_GB2312" pitchFamily="49" charset="-122"/>
                <a:ea typeface="楷体_GB2312" pitchFamily="49" charset="-122"/>
              </a:rPr>
              <a:t>提出的观点）</a:t>
            </a:r>
          </a:p>
        </p:txBody>
      </p:sp>
      <p:grpSp>
        <p:nvGrpSpPr>
          <p:cNvPr id="193553" name="Group 17"/>
          <p:cNvGrpSpPr>
            <a:grpSpLocks/>
          </p:cNvGrpSpPr>
          <p:nvPr/>
        </p:nvGrpSpPr>
        <p:grpSpPr bwMode="auto">
          <a:xfrm>
            <a:off x="6597650" y="414338"/>
            <a:ext cx="2366963" cy="2601912"/>
            <a:chOff x="4156" y="884"/>
            <a:chExt cx="1491" cy="1639"/>
          </a:xfrm>
        </p:grpSpPr>
        <p:pic>
          <p:nvPicPr>
            <p:cNvPr id="35849" name="Picture 15" descr="玻恩">
              <a:hlinkClick r:id="rId3" tooltip="玻恩"/>
            </p:cNvPr>
            <p:cNvPicPr>
              <a:picLocks noChangeAspect="1" noChangeArrowheads="1"/>
            </p:cNvPicPr>
            <p:nvPr/>
          </p:nvPicPr>
          <p:blipFill>
            <a:blip r:embed="rId4"/>
            <a:srcRect/>
            <a:stretch>
              <a:fillRect/>
            </a:stretch>
          </p:blipFill>
          <p:spPr bwMode="auto">
            <a:xfrm>
              <a:off x="4354" y="884"/>
              <a:ext cx="1032" cy="1389"/>
            </a:xfrm>
            <a:prstGeom prst="rect">
              <a:avLst/>
            </a:prstGeom>
            <a:noFill/>
            <a:ln w="9525">
              <a:noFill/>
              <a:miter lim="800000"/>
              <a:headEnd/>
              <a:tailEnd/>
            </a:ln>
          </p:spPr>
        </p:pic>
        <p:sp>
          <p:nvSpPr>
            <p:cNvPr id="35850" name="Text Box 16"/>
            <p:cNvSpPr txBox="1">
              <a:spLocks noChangeArrowheads="1"/>
            </p:cNvSpPr>
            <p:nvPr/>
          </p:nvSpPr>
          <p:spPr bwMode="auto">
            <a:xfrm>
              <a:off x="4156" y="2273"/>
              <a:ext cx="1491" cy="250"/>
            </a:xfrm>
            <a:prstGeom prst="rect">
              <a:avLst/>
            </a:prstGeom>
            <a:noFill/>
            <a:ln w="9525">
              <a:noFill/>
              <a:miter lim="800000"/>
              <a:headEnd/>
              <a:tailEnd/>
            </a:ln>
            <a:effectLst/>
          </p:spPr>
          <p:txBody>
            <a:bodyPr>
              <a:spAutoFit/>
            </a:bodyPr>
            <a:lstStyle/>
            <a:p>
              <a:pPr>
                <a:spcBef>
                  <a:spcPct val="50000"/>
                </a:spcBef>
              </a:pPr>
              <a:r>
                <a:rPr lang="zh-CN" altLang="en-US" sz="2000" b="1">
                  <a:solidFill>
                    <a:srgbClr val="0000FF"/>
                  </a:solidFill>
                  <a:latin typeface="楷体_GB2312" pitchFamily="49" charset="-122"/>
                  <a:ea typeface="楷体_GB2312" pitchFamily="49" charset="-122"/>
                </a:rPr>
                <a:t>（玻恩</a:t>
              </a:r>
              <a:r>
                <a:rPr lang="en-US" altLang="zh-CN" sz="2000" b="1">
                  <a:solidFill>
                    <a:srgbClr val="0000FF"/>
                  </a:solidFill>
                  <a:ea typeface="楷体_GB2312" pitchFamily="49" charset="-122"/>
                </a:rPr>
                <a:t>1882</a:t>
              </a:r>
              <a:r>
                <a:rPr lang="zh-CN" altLang="en-US" sz="2000" b="1">
                  <a:solidFill>
                    <a:srgbClr val="0000FF"/>
                  </a:solidFill>
                  <a:ea typeface="楷体_GB2312" pitchFamily="49" charset="-122"/>
                </a:rPr>
                <a:t>～</a:t>
              </a:r>
              <a:r>
                <a:rPr lang="en-US" altLang="zh-CN" sz="2000" b="1">
                  <a:solidFill>
                    <a:srgbClr val="0000FF"/>
                  </a:solidFill>
                  <a:ea typeface="楷体_GB2312" pitchFamily="49" charset="-122"/>
                </a:rPr>
                <a:t>1970</a:t>
              </a:r>
              <a:r>
                <a:rPr lang="zh-CN" altLang="en-US" sz="2000" b="1">
                  <a:solidFill>
                    <a:srgbClr val="0000FF"/>
                  </a:solidFill>
                  <a:latin typeface="楷体_GB2312" pitchFamily="49" charset="-122"/>
                  <a:ea typeface="楷体_GB2312" pitchFamily="49" charset="-122"/>
                </a:rPr>
                <a:t>）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3540"/>
                                        </p:tgtEl>
                                        <p:attrNameLst>
                                          <p:attrName>style.visibility</p:attrName>
                                        </p:attrNameLst>
                                      </p:cBhvr>
                                      <p:to>
                                        <p:strVal val="visible"/>
                                      </p:to>
                                    </p:set>
                                    <p:animEffect transition="in" filter="wipe(left)">
                                      <p:cBhvr>
                                        <p:cTn id="7" dur="500"/>
                                        <p:tgtEl>
                                          <p:spTgt spid="1935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3541"/>
                                        </p:tgtEl>
                                        <p:attrNameLst>
                                          <p:attrName>style.visibility</p:attrName>
                                        </p:attrNameLst>
                                      </p:cBhvr>
                                      <p:to>
                                        <p:strVal val="visible"/>
                                      </p:to>
                                    </p:set>
                                    <p:animEffect transition="in" filter="wipe(left)">
                                      <p:cBhvr>
                                        <p:cTn id="12" dur="500"/>
                                        <p:tgtEl>
                                          <p:spTgt spid="1935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3543"/>
                                        </p:tgtEl>
                                        <p:attrNameLst>
                                          <p:attrName>style.visibility</p:attrName>
                                        </p:attrNameLst>
                                      </p:cBhvr>
                                      <p:to>
                                        <p:strVal val="visible"/>
                                      </p:to>
                                    </p:set>
                                    <p:animEffect transition="in" filter="wipe(left)">
                                      <p:cBhvr>
                                        <p:cTn id="17" dur="500"/>
                                        <p:tgtEl>
                                          <p:spTgt spid="1935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3542"/>
                                        </p:tgtEl>
                                        <p:attrNameLst>
                                          <p:attrName>style.visibility</p:attrName>
                                        </p:attrNameLst>
                                      </p:cBhvr>
                                      <p:to>
                                        <p:strVal val="visible"/>
                                      </p:to>
                                    </p:set>
                                    <p:animEffect transition="in" filter="wipe(left)">
                                      <p:cBhvr>
                                        <p:cTn id="22" dur="500"/>
                                        <p:tgtEl>
                                          <p:spTgt spid="1935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93547"/>
                                        </p:tgtEl>
                                        <p:attrNameLst>
                                          <p:attrName>style.visibility</p:attrName>
                                        </p:attrNameLst>
                                      </p:cBhvr>
                                      <p:to>
                                        <p:strVal val="visible"/>
                                      </p:to>
                                    </p:set>
                                    <p:animEffect transition="in" filter="wipe(down)">
                                      <p:cBhvr>
                                        <p:cTn id="27" dur="500"/>
                                        <p:tgtEl>
                                          <p:spTgt spid="1935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193553"/>
                                        </p:tgtEl>
                                        <p:attrNameLst>
                                          <p:attrName>style.visibility</p:attrName>
                                        </p:attrNameLst>
                                      </p:cBhvr>
                                      <p:to>
                                        <p:strVal val="visible"/>
                                      </p:to>
                                    </p:set>
                                    <p:animEffect transition="in" filter="box(out)">
                                      <p:cBhvr>
                                        <p:cTn id="32" dur="500"/>
                                        <p:tgtEl>
                                          <p:spTgt spid="19355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3544"/>
                                        </p:tgtEl>
                                        <p:attrNameLst>
                                          <p:attrName>style.visibility</p:attrName>
                                        </p:attrNameLst>
                                      </p:cBhvr>
                                      <p:to>
                                        <p:strVal val="visible"/>
                                      </p:to>
                                    </p:set>
                                    <p:animEffect transition="in" filter="wipe(left)">
                                      <p:cBhvr>
                                        <p:cTn id="37" dur="500"/>
                                        <p:tgtEl>
                                          <p:spTgt spid="1935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0" grpId="0"/>
      <p:bldP spid="193541" grpId="0"/>
      <p:bldP spid="193542" grpId="0"/>
      <p:bldP spid="193543" grpId="0"/>
      <p:bldP spid="193544" grpId="0"/>
      <p:bldP spid="19354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ChangeArrowheads="1"/>
          </p:cNvSpPr>
          <p:nvPr/>
        </p:nvSpPr>
        <p:spPr bwMode="auto">
          <a:xfrm>
            <a:off x="685800" y="414338"/>
            <a:ext cx="8229600" cy="933450"/>
          </a:xfrm>
          <a:prstGeom prst="rect">
            <a:avLst/>
          </a:prstGeom>
          <a:noFill/>
          <a:ln w="9525">
            <a:noFill/>
            <a:miter lim="800000"/>
            <a:headEnd/>
            <a:tailEnd/>
          </a:ln>
          <a:effectLst/>
        </p:spPr>
        <p:txBody>
          <a:bodyPr anchor="ctr">
            <a:spAutoFit/>
          </a:bodyPr>
          <a:lstStyle/>
          <a:p>
            <a:pPr>
              <a:lnSpc>
                <a:spcPct val="115000"/>
              </a:lnSpc>
            </a:pPr>
            <a:r>
              <a:rPr lang="zh-CN" altLang="en-US" b="1">
                <a:solidFill>
                  <a:schemeClr val="bg1"/>
                </a:solidFill>
                <a:latin typeface="宋体" charset="-122"/>
              </a:rPr>
              <a:t>计算经过电势差</a:t>
            </a:r>
            <a:r>
              <a:rPr lang="zh-CN" altLang="en-US" b="1">
                <a:solidFill>
                  <a:srgbClr val="FFFFFF"/>
                </a:solidFill>
                <a:latin typeface="宋体" charset="-122"/>
              </a:rPr>
              <a:t> </a:t>
            </a:r>
            <a:r>
              <a:rPr lang="en-US" altLang="zh-CN" b="1" i="1">
                <a:solidFill>
                  <a:schemeClr val="accent2"/>
                </a:solidFill>
              </a:rPr>
              <a:t>U</a:t>
            </a:r>
            <a:r>
              <a:rPr lang="en-US" altLang="zh-CN" b="1" baseline="-20000">
                <a:solidFill>
                  <a:schemeClr val="accent2"/>
                </a:solidFill>
              </a:rPr>
              <a:t>1</a:t>
            </a:r>
            <a:r>
              <a:rPr lang="en-US" altLang="zh-CN" b="1" i="1">
                <a:solidFill>
                  <a:schemeClr val="accent2"/>
                </a:solidFill>
              </a:rPr>
              <a:t> </a:t>
            </a:r>
            <a:r>
              <a:rPr lang="en-US" altLang="zh-CN" b="1">
                <a:solidFill>
                  <a:schemeClr val="accent2"/>
                </a:solidFill>
              </a:rPr>
              <a:t>=150 V</a:t>
            </a:r>
            <a:r>
              <a:rPr lang="en-US" altLang="zh-CN" b="1">
                <a:solidFill>
                  <a:schemeClr val="bg1"/>
                </a:solidFill>
              </a:rPr>
              <a:t> </a:t>
            </a:r>
            <a:r>
              <a:rPr lang="zh-CN" altLang="en-US" b="1">
                <a:solidFill>
                  <a:schemeClr val="bg1"/>
                </a:solidFill>
              </a:rPr>
              <a:t>和</a:t>
            </a:r>
            <a:r>
              <a:rPr lang="zh-CN" altLang="en-US" b="1">
                <a:solidFill>
                  <a:srgbClr val="FFFFFF"/>
                </a:solidFill>
              </a:rPr>
              <a:t> </a:t>
            </a:r>
            <a:r>
              <a:rPr lang="en-US" altLang="zh-CN" b="1" i="1">
                <a:solidFill>
                  <a:schemeClr val="accent2"/>
                </a:solidFill>
              </a:rPr>
              <a:t>U</a:t>
            </a:r>
            <a:r>
              <a:rPr lang="en-US" altLang="zh-CN" b="1" baseline="-20000">
                <a:solidFill>
                  <a:schemeClr val="accent2"/>
                </a:solidFill>
              </a:rPr>
              <a:t>2 </a:t>
            </a:r>
            <a:r>
              <a:rPr lang="en-US" altLang="zh-CN" b="1">
                <a:solidFill>
                  <a:schemeClr val="accent2"/>
                </a:solidFill>
              </a:rPr>
              <a:t>=10</a:t>
            </a:r>
            <a:r>
              <a:rPr lang="en-US" altLang="zh-CN" b="1" baseline="30000">
                <a:solidFill>
                  <a:schemeClr val="accent2"/>
                </a:solidFill>
              </a:rPr>
              <a:t>4  </a:t>
            </a:r>
            <a:r>
              <a:rPr lang="en-US" altLang="zh-CN" b="1">
                <a:solidFill>
                  <a:schemeClr val="accent2"/>
                </a:solidFill>
              </a:rPr>
              <a:t>V</a:t>
            </a:r>
            <a:r>
              <a:rPr lang="en-US" altLang="zh-CN" b="1">
                <a:solidFill>
                  <a:srgbClr val="FFFF00"/>
                </a:solidFill>
                <a:latin typeface="宋体" charset="-122"/>
              </a:rPr>
              <a:t> </a:t>
            </a:r>
            <a:r>
              <a:rPr lang="zh-CN" altLang="en-US" b="1">
                <a:solidFill>
                  <a:schemeClr val="bg1"/>
                </a:solidFill>
                <a:latin typeface="宋体" charset="-122"/>
              </a:rPr>
              <a:t>加速的电子的德布罗意波长</a:t>
            </a:r>
            <a:r>
              <a:rPr lang="zh-CN" altLang="en-US" b="1">
                <a:solidFill>
                  <a:schemeClr val="bg1"/>
                </a:solidFill>
                <a:latin typeface="楷体_GB2312" pitchFamily="49" charset="-122"/>
                <a:ea typeface="楷体_GB2312" pitchFamily="49" charset="-122"/>
              </a:rPr>
              <a:t>（不考虑相对论效应）</a:t>
            </a:r>
            <a:r>
              <a:rPr lang="zh-CN" altLang="en-US" b="1">
                <a:solidFill>
                  <a:schemeClr val="bg1"/>
                </a:solidFill>
                <a:latin typeface="宋体" charset="-122"/>
              </a:rPr>
              <a:t>。</a:t>
            </a:r>
          </a:p>
        </p:txBody>
      </p:sp>
      <p:sp>
        <p:nvSpPr>
          <p:cNvPr id="121859" name="Rectangle 3"/>
          <p:cNvSpPr>
            <a:spLocks noChangeArrowheads="1"/>
          </p:cNvSpPr>
          <p:nvPr/>
        </p:nvSpPr>
        <p:spPr bwMode="auto">
          <a:xfrm>
            <a:off x="173038" y="450850"/>
            <a:ext cx="573087" cy="457200"/>
          </a:xfrm>
          <a:prstGeom prst="rect">
            <a:avLst/>
          </a:prstGeom>
          <a:noFill/>
          <a:ln w="9525">
            <a:noFill/>
            <a:miter lim="800000"/>
            <a:headEnd/>
            <a:tailEnd/>
          </a:ln>
          <a:effectLst/>
        </p:spPr>
        <p:txBody>
          <a:bodyPr wrap="none" anchor="ctr">
            <a:spAutoFit/>
          </a:bodyPr>
          <a:lstStyle/>
          <a:p>
            <a:r>
              <a:rPr lang="zh-CN" altLang="en-US" b="1">
                <a:solidFill>
                  <a:schemeClr val="tx2"/>
                </a:solidFill>
                <a:latin typeface="Arial" charset="0"/>
              </a:rPr>
              <a:t>例</a:t>
            </a:r>
            <a:r>
              <a:rPr lang="zh-CN" altLang="en-US">
                <a:solidFill>
                  <a:schemeClr val="tx2"/>
                </a:solidFill>
                <a:latin typeface="Arial" charset="0"/>
              </a:rPr>
              <a:t> </a:t>
            </a:r>
          </a:p>
        </p:txBody>
      </p:sp>
      <p:sp>
        <p:nvSpPr>
          <p:cNvPr id="121860" name="Rectangle 4"/>
          <p:cNvSpPr>
            <a:spLocks noChangeArrowheads="1"/>
          </p:cNvSpPr>
          <p:nvPr/>
        </p:nvSpPr>
        <p:spPr bwMode="auto">
          <a:xfrm>
            <a:off x="161925" y="1576388"/>
            <a:ext cx="573088" cy="457200"/>
          </a:xfrm>
          <a:prstGeom prst="rect">
            <a:avLst/>
          </a:prstGeom>
          <a:noFill/>
          <a:ln w="9525">
            <a:noFill/>
            <a:miter lim="800000"/>
            <a:headEnd/>
            <a:tailEnd/>
          </a:ln>
          <a:effectLst/>
        </p:spPr>
        <p:txBody>
          <a:bodyPr wrap="none" anchor="ctr">
            <a:spAutoFit/>
          </a:bodyPr>
          <a:lstStyle/>
          <a:p>
            <a:r>
              <a:rPr lang="zh-CN" altLang="en-US" b="1">
                <a:solidFill>
                  <a:schemeClr val="tx2"/>
                </a:solidFill>
                <a:latin typeface="Arial" charset="0"/>
              </a:rPr>
              <a:t>解</a:t>
            </a:r>
            <a:r>
              <a:rPr lang="zh-CN" altLang="en-US">
                <a:solidFill>
                  <a:schemeClr val="tx2"/>
                </a:solidFill>
                <a:latin typeface="Arial" charset="0"/>
              </a:rPr>
              <a:t> </a:t>
            </a:r>
          </a:p>
        </p:txBody>
      </p:sp>
      <p:graphicFrame>
        <p:nvGraphicFramePr>
          <p:cNvPr id="121861" name="Object 5"/>
          <p:cNvGraphicFramePr>
            <a:graphicFrameLocks noChangeAspect="1"/>
          </p:cNvGraphicFramePr>
          <p:nvPr/>
        </p:nvGraphicFramePr>
        <p:xfrm>
          <a:off x="1700213" y="1477963"/>
          <a:ext cx="1431925" cy="690562"/>
        </p:xfrm>
        <a:graphic>
          <a:graphicData uri="http://schemas.openxmlformats.org/presentationml/2006/ole">
            <p:oleObj spid="_x0000_s36869" name="公式" r:id="rId4" imgW="700200" imgH="334440" progId="Equation.3">
              <p:embed/>
            </p:oleObj>
          </a:graphicData>
        </a:graphic>
      </p:graphicFrame>
      <p:graphicFrame>
        <p:nvGraphicFramePr>
          <p:cNvPr id="121862" name="Object 6"/>
          <p:cNvGraphicFramePr>
            <a:graphicFrameLocks/>
          </p:cNvGraphicFramePr>
          <p:nvPr/>
        </p:nvGraphicFramePr>
        <p:xfrm>
          <a:off x="6551613" y="1390650"/>
          <a:ext cx="1181100" cy="823913"/>
        </p:xfrm>
        <a:graphic>
          <a:graphicData uri="http://schemas.openxmlformats.org/presentationml/2006/ole">
            <p:oleObj spid="_x0000_s36870" name="公式" r:id="rId5" imgW="578160" imgH="399600" progId="Equation.3">
              <p:embed/>
            </p:oleObj>
          </a:graphicData>
        </a:graphic>
      </p:graphicFrame>
      <p:graphicFrame>
        <p:nvGraphicFramePr>
          <p:cNvPr id="121863" name="Object 7"/>
          <p:cNvGraphicFramePr>
            <a:graphicFrameLocks noChangeAspect="1"/>
          </p:cNvGraphicFramePr>
          <p:nvPr/>
        </p:nvGraphicFramePr>
        <p:xfrm>
          <a:off x="2232025" y="2889250"/>
          <a:ext cx="4214813" cy="846138"/>
        </p:xfrm>
        <a:graphic>
          <a:graphicData uri="http://schemas.openxmlformats.org/presentationml/2006/ole">
            <p:oleObj spid="_x0000_s36871" name="公式" r:id="rId6" imgW="1978920" imgH="383400" progId="Equation.3">
              <p:embed/>
            </p:oleObj>
          </a:graphicData>
        </a:graphic>
      </p:graphicFrame>
      <p:graphicFrame>
        <p:nvGraphicFramePr>
          <p:cNvPr id="121864" name="Object 8"/>
          <p:cNvGraphicFramePr>
            <a:graphicFrameLocks noChangeAspect="1"/>
          </p:cNvGraphicFramePr>
          <p:nvPr/>
        </p:nvGraphicFramePr>
        <p:xfrm>
          <a:off x="2546350" y="4014788"/>
          <a:ext cx="1406525" cy="385762"/>
        </p:xfrm>
        <a:graphic>
          <a:graphicData uri="http://schemas.openxmlformats.org/presentationml/2006/ole">
            <p:oleObj spid="_x0000_s36872" name="公式" r:id="rId7" imgW="667800" imgH="171360" progId="Equation.3">
              <p:embed/>
            </p:oleObj>
          </a:graphicData>
        </a:graphic>
      </p:graphicFrame>
      <p:graphicFrame>
        <p:nvGraphicFramePr>
          <p:cNvPr id="121865" name="Object 9"/>
          <p:cNvGraphicFramePr>
            <a:graphicFrameLocks noChangeAspect="1"/>
          </p:cNvGraphicFramePr>
          <p:nvPr/>
        </p:nvGraphicFramePr>
        <p:xfrm>
          <a:off x="4481513" y="4014788"/>
          <a:ext cx="1824037" cy="384175"/>
        </p:xfrm>
        <a:graphic>
          <a:graphicData uri="http://schemas.openxmlformats.org/presentationml/2006/ole">
            <p:oleObj spid="_x0000_s36873" name="公式" r:id="rId8" imgW="871200" imgH="171360" progId="Equation.3">
              <p:embed/>
            </p:oleObj>
          </a:graphicData>
        </a:graphic>
      </p:graphicFrame>
      <p:sp>
        <p:nvSpPr>
          <p:cNvPr id="121866" name="Text Box 10"/>
          <p:cNvSpPr txBox="1">
            <a:spLocks noChangeArrowheads="1"/>
          </p:cNvSpPr>
          <p:nvPr/>
        </p:nvSpPr>
        <p:spPr bwMode="auto">
          <a:xfrm>
            <a:off x="723900" y="1576388"/>
            <a:ext cx="968375"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根据</a:t>
            </a:r>
          </a:p>
        </p:txBody>
      </p:sp>
      <p:sp>
        <p:nvSpPr>
          <p:cNvPr id="121867" name="Text Box 11"/>
          <p:cNvSpPr txBox="1">
            <a:spLocks noChangeArrowheads="1"/>
          </p:cNvSpPr>
          <p:nvPr/>
        </p:nvSpPr>
        <p:spPr bwMode="auto">
          <a:xfrm>
            <a:off x="3276600" y="1576388"/>
            <a:ext cx="3248025" cy="457200"/>
          </a:xfrm>
          <a:prstGeom prst="rect">
            <a:avLst/>
          </a:prstGeom>
          <a:noFill/>
          <a:ln w="9525">
            <a:noFill/>
            <a:miter lim="800000"/>
            <a:headEnd/>
            <a:tailEnd/>
          </a:ln>
          <a:effectLst/>
        </p:spPr>
        <p:txBody>
          <a:bodyPr wrap="none">
            <a:spAutoFit/>
          </a:bodyPr>
          <a:lstStyle/>
          <a:p>
            <a:r>
              <a:rPr lang="zh-CN" altLang="en-US" b="1">
                <a:solidFill>
                  <a:schemeClr val="bg1"/>
                </a:solidFill>
                <a:latin typeface="宋体" charset="-122"/>
              </a:rPr>
              <a:t>，加速后电子的速度为</a:t>
            </a:r>
          </a:p>
        </p:txBody>
      </p:sp>
      <p:sp>
        <p:nvSpPr>
          <p:cNvPr id="121868" name="Text Box 12"/>
          <p:cNvSpPr txBox="1">
            <a:spLocks noChangeArrowheads="1"/>
          </p:cNvSpPr>
          <p:nvPr/>
        </p:nvSpPr>
        <p:spPr bwMode="auto">
          <a:xfrm>
            <a:off x="762000" y="2228850"/>
            <a:ext cx="7427913" cy="512763"/>
          </a:xfrm>
          <a:prstGeom prst="rect">
            <a:avLst/>
          </a:prstGeom>
          <a:noFill/>
          <a:ln w="9525">
            <a:noFill/>
            <a:miter lim="800000"/>
            <a:headEnd/>
            <a:tailEnd/>
          </a:ln>
          <a:effectLst/>
        </p:spPr>
        <p:txBody>
          <a:bodyPr wrap="none">
            <a:spAutoFit/>
          </a:bodyPr>
          <a:lstStyle/>
          <a:p>
            <a:pPr>
              <a:lnSpc>
                <a:spcPct val="115000"/>
              </a:lnSpc>
            </a:pPr>
            <a:r>
              <a:rPr lang="zh-CN" altLang="en-US" b="1">
                <a:solidFill>
                  <a:schemeClr val="bg1"/>
                </a:solidFill>
                <a:latin typeface="宋体" charset="-122"/>
              </a:rPr>
              <a:t>根据德布罗意关系  </a:t>
            </a:r>
            <a:r>
              <a:rPr lang="en-US" altLang="zh-CN" b="1" i="1">
                <a:solidFill>
                  <a:schemeClr val="accent2"/>
                </a:solidFill>
              </a:rPr>
              <a:t>p </a:t>
            </a:r>
            <a:r>
              <a:rPr lang="en-US" altLang="zh-CN" b="1">
                <a:solidFill>
                  <a:schemeClr val="accent2"/>
                </a:solidFill>
              </a:rPr>
              <a:t>= </a:t>
            </a:r>
            <a:r>
              <a:rPr lang="en-US" altLang="zh-CN" b="1" i="1">
                <a:solidFill>
                  <a:schemeClr val="accent2"/>
                </a:solidFill>
              </a:rPr>
              <a:t>h</a:t>
            </a:r>
            <a:r>
              <a:rPr lang="en-US" altLang="zh-CN" b="1">
                <a:solidFill>
                  <a:schemeClr val="accent2"/>
                </a:solidFill>
              </a:rPr>
              <a:t> /</a:t>
            </a:r>
            <a:r>
              <a:rPr lang="en-US" altLang="zh-CN" b="1" i="1">
                <a:solidFill>
                  <a:schemeClr val="accent2"/>
                </a:solidFill>
              </a:rPr>
              <a:t>λ</a:t>
            </a:r>
            <a:r>
              <a:rPr lang="zh-CN" altLang="en-US" b="1">
                <a:solidFill>
                  <a:schemeClr val="bg1"/>
                </a:solidFill>
                <a:latin typeface="宋体" charset="-122"/>
              </a:rPr>
              <a:t>，电子的德布罗意波长为</a:t>
            </a:r>
          </a:p>
        </p:txBody>
      </p:sp>
      <p:sp>
        <p:nvSpPr>
          <p:cNvPr id="121869" name="Text Box 13"/>
          <p:cNvSpPr txBox="1">
            <a:spLocks noChangeArrowheads="1"/>
          </p:cNvSpPr>
          <p:nvPr/>
        </p:nvSpPr>
        <p:spPr bwMode="auto">
          <a:xfrm>
            <a:off x="714375" y="3941763"/>
            <a:ext cx="1912938"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波长分别为</a:t>
            </a:r>
          </a:p>
        </p:txBody>
      </p:sp>
      <p:sp>
        <p:nvSpPr>
          <p:cNvPr id="121870" name="Text Box 14"/>
          <p:cNvSpPr txBox="1">
            <a:spLocks noChangeArrowheads="1"/>
          </p:cNvSpPr>
          <p:nvPr/>
        </p:nvSpPr>
        <p:spPr bwMode="auto">
          <a:xfrm>
            <a:off x="747713" y="4556125"/>
            <a:ext cx="1087437" cy="457200"/>
          </a:xfrm>
          <a:prstGeom prst="rect">
            <a:avLst/>
          </a:prstGeom>
          <a:noFill/>
          <a:ln w="9525">
            <a:noFill/>
            <a:miter lim="800000"/>
            <a:headEnd/>
            <a:tailEnd/>
          </a:ln>
          <a:effectLst/>
        </p:spPr>
        <p:txBody>
          <a:bodyPr>
            <a:spAutoFit/>
          </a:bodyPr>
          <a:lstStyle/>
          <a:p>
            <a:r>
              <a:rPr lang="zh-CN" altLang="en-US" b="1">
                <a:solidFill>
                  <a:schemeClr val="accent2"/>
                </a:solidFill>
              </a:rPr>
              <a:t>说明</a:t>
            </a:r>
          </a:p>
        </p:txBody>
      </p:sp>
      <p:sp>
        <p:nvSpPr>
          <p:cNvPr id="121871" name="Text Box 15"/>
          <p:cNvSpPr txBox="1">
            <a:spLocks noChangeArrowheads="1"/>
          </p:cNvSpPr>
          <p:nvPr/>
        </p:nvSpPr>
        <p:spPr bwMode="auto">
          <a:xfrm>
            <a:off x="522288" y="5953125"/>
            <a:ext cx="3195637"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观测仪器的分辨本领</a:t>
            </a:r>
          </a:p>
        </p:txBody>
      </p:sp>
      <p:graphicFrame>
        <p:nvGraphicFramePr>
          <p:cNvPr id="121872" name="Object 16"/>
          <p:cNvGraphicFramePr>
            <a:graphicFrameLocks noChangeAspect="1"/>
          </p:cNvGraphicFramePr>
          <p:nvPr/>
        </p:nvGraphicFramePr>
        <p:xfrm>
          <a:off x="3806825" y="5815013"/>
          <a:ext cx="1235075" cy="692150"/>
        </p:xfrm>
        <a:graphic>
          <a:graphicData uri="http://schemas.openxmlformats.org/presentationml/2006/ole">
            <p:oleObj spid="_x0000_s36880" name="公式" r:id="rId9" imgW="602640" imgH="334440" progId="Equation.3">
              <p:embed/>
            </p:oleObj>
          </a:graphicData>
        </a:graphic>
      </p:graphicFrame>
      <p:grpSp>
        <p:nvGrpSpPr>
          <p:cNvPr id="121873" name="Group 17"/>
          <p:cNvGrpSpPr>
            <a:grpSpLocks/>
          </p:cNvGrpSpPr>
          <p:nvPr/>
        </p:nvGrpSpPr>
        <p:grpSpPr bwMode="auto">
          <a:xfrm>
            <a:off x="860425" y="5191125"/>
            <a:ext cx="4116388" cy="466725"/>
            <a:chOff x="638" y="3830"/>
            <a:chExt cx="2474" cy="294"/>
          </a:xfrm>
        </p:grpSpPr>
        <p:sp>
          <p:nvSpPr>
            <p:cNvPr id="36887" name="Rectangle 18"/>
            <p:cNvSpPr>
              <a:spLocks noChangeArrowheads="1"/>
            </p:cNvSpPr>
            <p:nvPr/>
          </p:nvSpPr>
          <p:spPr bwMode="auto">
            <a:xfrm>
              <a:off x="638" y="3830"/>
              <a:ext cx="1037" cy="294"/>
            </a:xfrm>
            <a:prstGeom prst="rect">
              <a:avLst/>
            </a:prstGeom>
            <a:solidFill>
              <a:srgbClr val="CCFFFF"/>
            </a:solidFill>
            <a:ln w="9525">
              <a:solidFill>
                <a:srgbClr val="00FFFF"/>
              </a:solidFill>
              <a:miter lim="800000"/>
              <a:headEnd/>
              <a:tailEnd/>
            </a:ln>
            <a:effectLst/>
          </p:spPr>
          <p:txBody>
            <a:bodyPr wrap="none">
              <a:spAutoFit/>
            </a:bodyPr>
            <a:lstStyle/>
            <a:p>
              <a:r>
                <a:rPr lang="zh-CN" altLang="en-US" b="1">
                  <a:solidFill>
                    <a:schemeClr val="bg1"/>
                  </a:solidFill>
                  <a:latin typeface="宋体" charset="-122"/>
                </a:rPr>
                <a:t>电子波波长</a:t>
              </a:r>
            </a:p>
          </p:txBody>
        </p:sp>
        <p:sp>
          <p:nvSpPr>
            <p:cNvPr id="36888" name="Rectangle 19"/>
            <p:cNvSpPr>
              <a:spLocks noChangeArrowheads="1"/>
            </p:cNvSpPr>
            <p:nvPr/>
          </p:nvSpPr>
          <p:spPr bwMode="auto">
            <a:xfrm>
              <a:off x="2222" y="3830"/>
              <a:ext cx="890" cy="294"/>
            </a:xfrm>
            <a:prstGeom prst="rect">
              <a:avLst/>
            </a:prstGeom>
            <a:solidFill>
              <a:srgbClr val="CCFFFF"/>
            </a:solidFill>
            <a:ln w="9525">
              <a:solidFill>
                <a:srgbClr val="00FFFF"/>
              </a:solidFill>
              <a:miter lim="800000"/>
              <a:headEnd/>
              <a:tailEnd/>
            </a:ln>
            <a:effectLst/>
          </p:spPr>
          <p:txBody>
            <a:bodyPr>
              <a:spAutoFit/>
            </a:bodyPr>
            <a:lstStyle/>
            <a:p>
              <a:r>
                <a:rPr lang="zh-CN" altLang="en-US" b="1">
                  <a:solidFill>
                    <a:schemeClr val="bg1"/>
                  </a:solidFill>
                  <a:latin typeface="宋体" charset="-122"/>
                </a:rPr>
                <a:t>光波波长</a:t>
              </a:r>
            </a:p>
          </p:txBody>
        </p:sp>
      </p:grpSp>
      <p:sp>
        <p:nvSpPr>
          <p:cNvPr id="121876" name="Text Box 20"/>
          <p:cNvSpPr txBox="1">
            <a:spLocks noChangeArrowheads="1"/>
          </p:cNvSpPr>
          <p:nvPr/>
        </p:nvSpPr>
        <p:spPr bwMode="auto">
          <a:xfrm>
            <a:off x="2673350" y="5211763"/>
            <a:ext cx="530225" cy="457200"/>
          </a:xfrm>
          <a:prstGeom prst="rect">
            <a:avLst/>
          </a:prstGeom>
          <a:noFill/>
          <a:ln w="9525">
            <a:noFill/>
            <a:miter lim="800000"/>
            <a:headEnd/>
            <a:tailEnd/>
          </a:ln>
          <a:effectLst/>
        </p:spPr>
        <p:txBody>
          <a:bodyPr wrap="none">
            <a:spAutoFit/>
          </a:bodyPr>
          <a:lstStyle/>
          <a:p>
            <a:r>
              <a:rPr lang="en-US" altLang="zh-CN" b="1">
                <a:solidFill>
                  <a:schemeClr val="bg1"/>
                </a:solidFill>
              </a:rPr>
              <a:t>&lt;&lt;</a:t>
            </a:r>
          </a:p>
        </p:txBody>
      </p:sp>
      <p:sp>
        <p:nvSpPr>
          <p:cNvPr id="121877" name="Text Box 21"/>
          <p:cNvSpPr txBox="1">
            <a:spLocks noChangeArrowheads="1"/>
          </p:cNvSpPr>
          <p:nvPr/>
        </p:nvSpPr>
        <p:spPr bwMode="auto">
          <a:xfrm>
            <a:off x="5651500" y="5003800"/>
            <a:ext cx="2743200" cy="1406525"/>
          </a:xfrm>
          <a:prstGeom prst="rect">
            <a:avLst/>
          </a:prstGeom>
          <a:noFill/>
          <a:ln w="9525">
            <a:noFill/>
            <a:miter lim="800000"/>
            <a:headEnd/>
            <a:tailEnd/>
          </a:ln>
          <a:effectLst/>
        </p:spPr>
        <p:txBody>
          <a:bodyPr>
            <a:spAutoFit/>
          </a:bodyPr>
          <a:lstStyle/>
          <a:p>
            <a:pPr algn="ctr">
              <a:lnSpc>
                <a:spcPct val="120000"/>
              </a:lnSpc>
            </a:pPr>
            <a:r>
              <a:rPr lang="zh-CN" altLang="en-US" b="1">
                <a:solidFill>
                  <a:schemeClr val="bg1"/>
                </a:solidFill>
                <a:latin typeface="宋体" charset="-122"/>
              </a:rPr>
              <a:t>电子显微镜分辨率远大于</a:t>
            </a:r>
          </a:p>
          <a:p>
            <a:pPr algn="ctr">
              <a:lnSpc>
                <a:spcPct val="120000"/>
              </a:lnSpc>
            </a:pPr>
            <a:r>
              <a:rPr lang="zh-CN" altLang="en-US" b="1">
                <a:solidFill>
                  <a:schemeClr val="bg1"/>
                </a:solidFill>
                <a:latin typeface="宋体" charset="-122"/>
              </a:rPr>
              <a:t>光学显微镜分辨率</a:t>
            </a:r>
          </a:p>
        </p:txBody>
      </p:sp>
      <p:sp>
        <p:nvSpPr>
          <p:cNvPr id="121878" name="AutoShape 22"/>
          <p:cNvSpPr>
            <a:spLocks/>
          </p:cNvSpPr>
          <p:nvPr/>
        </p:nvSpPr>
        <p:spPr bwMode="auto">
          <a:xfrm>
            <a:off x="5181600" y="5343525"/>
            <a:ext cx="152400" cy="1066800"/>
          </a:xfrm>
          <a:prstGeom prst="rightBrace">
            <a:avLst>
              <a:gd name="adj1" fmla="val 58333"/>
              <a:gd name="adj2" fmla="val 50000"/>
            </a:avLst>
          </a:prstGeom>
          <a:noFill/>
          <a:ln w="19050">
            <a:solidFill>
              <a:schemeClr val="accent2"/>
            </a:solidFill>
            <a:round/>
            <a:headEnd/>
            <a:tailEnd/>
          </a:ln>
          <a:effectLst/>
        </p:spPr>
        <p:txBody>
          <a:bodyPr wrap="none" anchor="ctr"/>
          <a:lstStyle/>
          <a:p>
            <a:pPr algn="ctr"/>
            <a:endParaRPr lang="zh-CN" altLang="zh-CN">
              <a:solidFill>
                <a:schemeClr val="hlink"/>
              </a:solidFill>
            </a:endParaRPr>
          </a:p>
        </p:txBody>
      </p:sp>
      <p:sp>
        <p:nvSpPr>
          <p:cNvPr id="121879" name="Line 23"/>
          <p:cNvSpPr>
            <a:spLocks noChangeShapeType="1"/>
          </p:cNvSpPr>
          <p:nvPr/>
        </p:nvSpPr>
        <p:spPr bwMode="auto">
          <a:xfrm>
            <a:off x="5410200" y="5876925"/>
            <a:ext cx="685800" cy="0"/>
          </a:xfrm>
          <a:prstGeom prst="line">
            <a:avLst/>
          </a:prstGeom>
          <a:noFill/>
          <a:ln w="76200">
            <a:solidFill>
              <a:schemeClr val="accent1"/>
            </a:solidFill>
            <a:round/>
            <a:headEnd/>
            <a:tailEnd type="triangle" w="med" len="med"/>
          </a:ln>
          <a:effectLst/>
        </p:spPr>
        <p:txBody>
          <a:bodyPr/>
          <a:lstStyle/>
          <a:p>
            <a:endParaRPr lang="zh-CN" altLang="en-US"/>
          </a:p>
        </p:txBody>
      </p:sp>
      <p:sp>
        <p:nvSpPr>
          <p:cNvPr id="121880" name="AutoShape 24"/>
          <p:cNvSpPr>
            <a:spLocks noChangeArrowheads="1"/>
          </p:cNvSpPr>
          <p:nvPr/>
        </p:nvSpPr>
        <p:spPr bwMode="auto">
          <a:xfrm>
            <a:off x="395288" y="4508500"/>
            <a:ext cx="360362" cy="576263"/>
          </a:xfrm>
          <a:prstGeom prst="star4">
            <a:avLst>
              <a:gd name="adj" fmla="val 18519"/>
            </a:avLst>
          </a:prstGeom>
          <a:gradFill rotWithShape="0">
            <a:gsLst>
              <a:gs pos="0">
                <a:schemeClr val="accent2"/>
              </a:gs>
              <a:gs pos="100000">
                <a:schemeClr val="accent2">
                  <a:gamma/>
                  <a:shade val="46275"/>
                  <a:invGamma/>
                </a:schemeClr>
              </a:gs>
            </a:gsLst>
            <a:path path="shape">
              <a:fillToRect l="50000" t="50000" r="50000" b="50000"/>
            </a:path>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859"/>
                                        </p:tgtEl>
                                        <p:attrNameLst>
                                          <p:attrName>style.visibility</p:attrName>
                                        </p:attrNameLst>
                                      </p:cBhvr>
                                      <p:to>
                                        <p:strVal val="visible"/>
                                      </p:to>
                                    </p:set>
                                    <p:animEffect transition="in" filter="wipe(left)">
                                      <p:cBhvr>
                                        <p:cTn id="7" dur="500"/>
                                        <p:tgtEl>
                                          <p:spTgt spid="121859"/>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1858"/>
                                        </p:tgtEl>
                                        <p:attrNameLst>
                                          <p:attrName>style.visibility</p:attrName>
                                        </p:attrNameLst>
                                      </p:cBhvr>
                                      <p:to>
                                        <p:strVal val="visible"/>
                                      </p:to>
                                    </p:set>
                                    <p:animEffect transition="in" filter="wipe(left)">
                                      <p:cBhvr>
                                        <p:cTn id="11" dur="500"/>
                                        <p:tgtEl>
                                          <p:spTgt spid="12185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1860"/>
                                        </p:tgtEl>
                                        <p:attrNameLst>
                                          <p:attrName>style.visibility</p:attrName>
                                        </p:attrNameLst>
                                      </p:cBhvr>
                                      <p:to>
                                        <p:strVal val="visible"/>
                                      </p:to>
                                    </p:set>
                                    <p:animEffect transition="in" filter="wipe(left)">
                                      <p:cBhvr>
                                        <p:cTn id="16" dur="500"/>
                                        <p:tgtEl>
                                          <p:spTgt spid="12186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21866"/>
                                        </p:tgtEl>
                                        <p:attrNameLst>
                                          <p:attrName>style.visibility</p:attrName>
                                        </p:attrNameLst>
                                      </p:cBhvr>
                                      <p:to>
                                        <p:strVal val="visible"/>
                                      </p:to>
                                    </p:se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121861"/>
                                        </p:tgtEl>
                                        <p:attrNameLst>
                                          <p:attrName>style.visibility</p:attrName>
                                        </p:attrNameLst>
                                      </p:cBhvr>
                                      <p:to>
                                        <p:strVal val="visible"/>
                                      </p:to>
                                    </p:set>
                                    <p:animEffect transition="in" filter="wipe(left)">
                                      <p:cBhvr>
                                        <p:cTn id="24" dur="500"/>
                                        <p:tgtEl>
                                          <p:spTgt spid="121861"/>
                                        </p:tgtEl>
                                      </p:cBhvr>
                                    </p:animEffect>
                                  </p:childTnLst>
                                </p:cTn>
                              </p:par>
                            </p:childTnLst>
                          </p:cTn>
                        </p:par>
                        <p:par>
                          <p:cTn id="25" fill="hold" nodeType="afterGroup">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21867"/>
                                        </p:tgtEl>
                                        <p:attrNameLst>
                                          <p:attrName>style.visibility</p:attrName>
                                        </p:attrNameLst>
                                      </p:cBhvr>
                                      <p:to>
                                        <p:strVal val="visible"/>
                                      </p:to>
                                    </p:set>
                                    <p:animEffect transition="in" filter="wipe(left)">
                                      <p:cBhvr>
                                        <p:cTn id="28" dur="500"/>
                                        <p:tgtEl>
                                          <p:spTgt spid="121867"/>
                                        </p:tgtEl>
                                      </p:cBhvr>
                                    </p:animEffect>
                                  </p:childTnLst>
                                </p:cTn>
                              </p:par>
                            </p:childTnLst>
                          </p:cTn>
                        </p:par>
                        <p:par>
                          <p:cTn id="29" fill="hold" nodeType="afterGroup">
                            <p:stCondLst>
                              <p:cond delay="1500"/>
                            </p:stCondLst>
                            <p:childTnLst>
                              <p:par>
                                <p:cTn id="30" presetID="22" presetClass="entr" presetSubtype="8" fill="hold" nodeType="afterEffect">
                                  <p:stCondLst>
                                    <p:cond delay="1000"/>
                                  </p:stCondLst>
                                  <p:childTnLst>
                                    <p:set>
                                      <p:cBhvr>
                                        <p:cTn id="31" dur="1" fill="hold">
                                          <p:stCondLst>
                                            <p:cond delay="0"/>
                                          </p:stCondLst>
                                        </p:cTn>
                                        <p:tgtEl>
                                          <p:spTgt spid="121862"/>
                                        </p:tgtEl>
                                        <p:attrNameLst>
                                          <p:attrName>style.visibility</p:attrName>
                                        </p:attrNameLst>
                                      </p:cBhvr>
                                      <p:to>
                                        <p:strVal val="visible"/>
                                      </p:to>
                                    </p:set>
                                    <p:animEffect transition="in" filter="wipe(left)">
                                      <p:cBhvr>
                                        <p:cTn id="32" dur="500"/>
                                        <p:tgtEl>
                                          <p:spTgt spid="12186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1868"/>
                                        </p:tgtEl>
                                        <p:attrNameLst>
                                          <p:attrName>style.visibility</p:attrName>
                                        </p:attrNameLst>
                                      </p:cBhvr>
                                      <p:to>
                                        <p:strVal val="visible"/>
                                      </p:to>
                                    </p:set>
                                    <p:animEffect transition="in" filter="wipe(left)">
                                      <p:cBhvr>
                                        <p:cTn id="37" dur="500"/>
                                        <p:tgtEl>
                                          <p:spTgt spid="12186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21863"/>
                                        </p:tgtEl>
                                        <p:attrNameLst>
                                          <p:attrName>style.visibility</p:attrName>
                                        </p:attrNameLst>
                                      </p:cBhvr>
                                      <p:to>
                                        <p:strVal val="visible"/>
                                      </p:to>
                                    </p:set>
                                    <p:animEffect transition="in" filter="wipe(left)">
                                      <p:cBhvr>
                                        <p:cTn id="42" dur="500"/>
                                        <p:tgtEl>
                                          <p:spTgt spid="12186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21869"/>
                                        </p:tgtEl>
                                        <p:attrNameLst>
                                          <p:attrName>style.visibility</p:attrName>
                                        </p:attrNameLst>
                                      </p:cBhvr>
                                      <p:to>
                                        <p:strVal val="visible"/>
                                      </p:to>
                                    </p:set>
                                  </p:childTnLst>
                                </p:cTn>
                              </p:par>
                            </p:childTnLst>
                          </p:cTn>
                        </p:par>
                        <p:par>
                          <p:cTn id="47" fill="hold" nodeType="afterGroup">
                            <p:stCondLst>
                              <p:cond delay="500"/>
                            </p:stCondLst>
                            <p:childTnLst>
                              <p:par>
                                <p:cTn id="48" presetID="22" presetClass="entr" presetSubtype="8" fill="hold" nodeType="afterEffect">
                                  <p:stCondLst>
                                    <p:cond delay="0"/>
                                  </p:stCondLst>
                                  <p:childTnLst>
                                    <p:set>
                                      <p:cBhvr>
                                        <p:cTn id="49" dur="1" fill="hold">
                                          <p:stCondLst>
                                            <p:cond delay="0"/>
                                          </p:stCondLst>
                                        </p:cTn>
                                        <p:tgtEl>
                                          <p:spTgt spid="121864"/>
                                        </p:tgtEl>
                                        <p:attrNameLst>
                                          <p:attrName>style.visibility</p:attrName>
                                        </p:attrNameLst>
                                      </p:cBhvr>
                                      <p:to>
                                        <p:strVal val="visible"/>
                                      </p:to>
                                    </p:set>
                                    <p:animEffect transition="in" filter="wipe(left)">
                                      <p:cBhvr>
                                        <p:cTn id="50" dur="500"/>
                                        <p:tgtEl>
                                          <p:spTgt spid="121864"/>
                                        </p:tgtEl>
                                      </p:cBhvr>
                                    </p:animEffect>
                                  </p:childTnLst>
                                </p:cTn>
                              </p:par>
                            </p:childTnLst>
                          </p:cTn>
                        </p:par>
                        <p:par>
                          <p:cTn id="51" fill="hold" nodeType="afterGroup">
                            <p:stCondLst>
                              <p:cond delay="1000"/>
                            </p:stCondLst>
                            <p:childTnLst>
                              <p:par>
                                <p:cTn id="52" presetID="22" presetClass="entr" presetSubtype="8" fill="hold" nodeType="afterEffect">
                                  <p:stCondLst>
                                    <p:cond delay="0"/>
                                  </p:stCondLst>
                                  <p:childTnLst>
                                    <p:set>
                                      <p:cBhvr>
                                        <p:cTn id="53" dur="1" fill="hold">
                                          <p:stCondLst>
                                            <p:cond delay="0"/>
                                          </p:stCondLst>
                                        </p:cTn>
                                        <p:tgtEl>
                                          <p:spTgt spid="121865"/>
                                        </p:tgtEl>
                                        <p:attrNameLst>
                                          <p:attrName>style.visibility</p:attrName>
                                        </p:attrNameLst>
                                      </p:cBhvr>
                                      <p:to>
                                        <p:strVal val="visible"/>
                                      </p:to>
                                    </p:set>
                                    <p:animEffect transition="in" filter="wipe(left)">
                                      <p:cBhvr>
                                        <p:cTn id="54" dur="500"/>
                                        <p:tgtEl>
                                          <p:spTgt spid="12186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1880"/>
                                        </p:tgtEl>
                                        <p:attrNameLst>
                                          <p:attrName>style.visibility</p:attrName>
                                        </p:attrNameLst>
                                      </p:cBhvr>
                                      <p:to>
                                        <p:strVal val="visible"/>
                                      </p:to>
                                    </p:set>
                                  </p:childTnLst>
                                </p:cTn>
                              </p:par>
                            </p:childTnLst>
                          </p:cTn>
                        </p:par>
                        <p:par>
                          <p:cTn id="59" fill="hold" nodeType="afterGroup">
                            <p:stCondLst>
                              <p:cond delay="0"/>
                            </p:stCondLst>
                            <p:childTnLst>
                              <p:par>
                                <p:cTn id="60" presetID="9" presetClass="entr" presetSubtype="0" fill="hold" grpId="0" nodeType="afterEffect">
                                  <p:stCondLst>
                                    <p:cond delay="0"/>
                                  </p:stCondLst>
                                  <p:childTnLst>
                                    <p:set>
                                      <p:cBhvr>
                                        <p:cTn id="61" dur="1" fill="hold">
                                          <p:stCondLst>
                                            <p:cond delay="0"/>
                                          </p:stCondLst>
                                        </p:cTn>
                                        <p:tgtEl>
                                          <p:spTgt spid="121870"/>
                                        </p:tgtEl>
                                        <p:attrNameLst>
                                          <p:attrName>style.visibility</p:attrName>
                                        </p:attrNameLst>
                                      </p:cBhvr>
                                      <p:to>
                                        <p:strVal val="visible"/>
                                      </p:to>
                                    </p:set>
                                    <p:animEffect transition="in" filter="dissolve">
                                      <p:cBhvr>
                                        <p:cTn id="62" dur="500"/>
                                        <p:tgtEl>
                                          <p:spTgt spid="12187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nodeType="clickEffect">
                                  <p:stCondLst>
                                    <p:cond delay="0"/>
                                  </p:stCondLst>
                                  <p:childTnLst>
                                    <p:set>
                                      <p:cBhvr>
                                        <p:cTn id="66" dur="1" fill="hold">
                                          <p:stCondLst>
                                            <p:cond delay="0"/>
                                          </p:stCondLst>
                                        </p:cTn>
                                        <p:tgtEl>
                                          <p:spTgt spid="121873"/>
                                        </p:tgtEl>
                                        <p:attrNameLst>
                                          <p:attrName>style.visibility</p:attrName>
                                        </p:attrNameLst>
                                      </p:cBhvr>
                                      <p:to>
                                        <p:strVal val="visible"/>
                                      </p:to>
                                    </p:set>
                                    <p:animEffect transition="in" filter="dissolve">
                                      <p:cBhvr>
                                        <p:cTn id="67" dur="500"/>
                                        <p:tgtEl>
                                          <p:spTgt spid="121873"/>
                                        </p:tgtEl>
                                      </p:cBhvr>
                                    </p:animEffect>
                                  </p:childTnLst>
                                </p:cTn>
                              </p:par>
                            </p:childTnLst>
                          </p:cTn>
                        </p:par>
                        <p:par>
                          <p:cTn id="68" fill="hold" nodeType="afterGroup">
                            <p:stCondLst>
                              <p:cond delay="500"/>
                            </p:stCondLst>
                            <p:childTnLst>
                              <p:par>
                                <p:cTn id="69" presetID="23" presetClass="entr" presetSubtype="32" fill="hold" grpId="0" nodeType="afterEffect">
                                  <p:stCondLst>
                                    <p:cond delay="0"/>
                                  </p:stCondLst>
                                  <p:childTnLst>
                                    <p:set>
                                      <p:cBhvr>
                                        <p:cTn id="70" dur="1" fill="hold">
                                          <p:stCondLst>
                                            <p:cond delay="0"/>
                                          </p:stCondLst>
                                        </p:cTn>
                                        <p:tgtEl>
                                          <p:spTgt spid="121876"/>
                                        </p:tgtEl>
                                        <p:attrNameLst>
                                          <p:attrName>style.visibility</p:attrName>
                                        </p:attrNameLst>
                                      </p:cBhvr>
                                      <p:to>
                                        <p:strVal val="visible"/>
                                      </p:to>
                                    </p:set>
                                    <p:anim calcmode="lin" valueType="num">
                                      <p:cBhvr>
                                        <p:cTn id="71" dur="500" fill="hold"/>
                                        <p:tgtEl>
                                          <p:spTgt spid="121876"/>
                                        </p:tgtEl>
                                        <p:attrNameLst>
                                          <p:attrName>ppt_w</p:attrName>
                                        </p:attrNameLst>
                                      </p:cBhvr>
                                      <p:tavLst>
                                        <p:tav tm="0">
                                          <p:val>
                                            <p:strVal val="4*#ppt_w"/>
                                          </p:val>
                                        </p:tav>
                                        <p:tav tm="100000">
                                          <p:val>
                                            <p:strVal val="#ppt_w"/>
                                          </p:val>
                                        </p:tav>
                                      </p:tavLst>
                                    </p:anim>
                                    <p:anim calcmode="lin" valueType="num">
                                      <p:cBhvr>
                                        <p:cTn id="72" dur="500" fill="hold"/>
                                        <p:tgtEl>
                                          <p:spTgt spid="121876"/>
                                        </p:tgtEl>
                                        <p:attrNameLst>
                                          <p:attrName>ppt_h</p:attrName>
                                        </p:attrNameLst>
                                      </p:cBhvr>
                                      <p:tavLst>
                                        <p:tav tm="0">
                                          <p:val>
                                            <p:strVal val="4*#ppt_h"/>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121871"/>
                                        </p:tgtEl>
                                        <p:attrNameLst>
                                          <p:attrName>style.visibility</p:attrName>
                                        </p:attrNameLst>
                                      </p:cBhvr>
                                      <p:to>
                                        <p:strVal val="visible"/>
                                      </p:to>
                                    </p:set>
                                    <p:animEffect transition="in" filter="dissolve">
                                      <p:cBhvr>
                                        <p:cTn id="77" dur="500"/>
                                        <p:tgtEl>
                                          <p:spTgt spid="12187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 presetClass="entr" presetSubtype="0" fill="hold" nodeType="clickEffect">
                                  <p:stCondLst>
                                    <p:cond delay="0"/>
                                  </p:stCondLst>
                                  <p:childTnLst>
                                    <p:set>
                                      <p:cBhvr>
                                        <p:cTn id="81" dur="1" fill="hold">
                                          <p:stCondLst>
                                            <p:cond delay="499"/>
                                          </p:stCondLst>
                                        </p:cTn>
                                        <p:tgtEl>
                                          <p:spTgt spid="121872"/>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ntr" presetSubtype="0" fill="hold" grpId="0" nodeType="clickEffect">
                                  <p:stCondLst>
                                    <p:cond delay="0"/>
                                  </p:stCondLst>
                                  <p:childTnLst>
                                    <p:set>
                                      <p:cBhvr>
                                        <p:cTn id="85" dur="1" fill="hold">
                                          <p:stCondLst>
                                            <p:cond delay="499"/>
                                          </p:stCondLst>
                                        </p:cTn>
                                        <p:tgtEl>
                                          <p:spTgt spid="121878"/>
                                        </p:tgtEl>
                                        <p:attrNameLst>
                                          <p:attrName>style.visibility</p:attrName>
                                        </p:attrNameLst>
                                      </p:cBhvr>
                                      <p:to>
                                        <p:strVal val="visible"/>
                                      </p:to>
                                    </p:set>
                                  </p:childTnLst>
                                </p:cTn>
                              </p:par>
                            </p:childTnLst>
                          </p:cTn>
                        </p:par>
                        <p:par>
                          <p:cTn id="86" fill="hold" nodeType="afterGroup">
                            <p:stCondLst>
                              <p:cond delay="500"/>
                            </p:stCondLst>
                            <p:childTnLst>
                              <p:par>
                                <p:cTn id="87" presetID="12" presetClass="entr" presetSubtype="8" fill="hold" grpId="0" nodeType="afterEffect">
                                  <p:stCondLst>
                                    <p:cond delay="0"/>
                                  </p:stCondLst>
                                  <p:childTnLst>
                                    <p:set>
                                      <p:cBhvr>
                                        <p:cTn id="88" dur="1" fill="hold">
                                          <p:stCondLst>
                                            <p:cond delay="0"/>
                                          </p:stCondLst>
                                        </p:cTn>
                                        <p:tgtEl>
                                          <p:spTgt spid="121879"/>
                                        </p:tgtEl>
                                        <p:attrNameLst>
                                          <p:attrName>style.visibility</p:attrName>
                                        </p:attrNameLst>
                                      </p:cBhvr>
                                      <p:to>
                                        <p:strVal val="visible"/>
                                      </p:to>
                                    </p:set>
                                    <p:animEffect transition="in" filter="slide(fromLeft)">
                                      <p:cBhvr>
                                        <p:cTn id="89" dur="500"/>
                                        <p:tgtEl>
                                          <p:spTgt spid="121879"/>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21877"/>
                                        </p:tgtEl>
                                        <p:attrNameLst>
                                          <p:attrName>style.visibility</p:attrName>
                                        </p:attrNameLst>
                                      </p:cBhvr>
                                      <p:to>
                                        <p:strVal val="visible"/>
                                      </p:to>
                                    </p:set>
                                    <p:animEffect transition="in" filter="wipe(left)">
                                      <p:cBhvr>
                                        <p:cTn id="94" dur="500"/>
                                        <p:tgtEl>
                                          <p:spTgt spid="121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8" grpId="0"/>
      <p:bldP spid="121859" grpId="0"/>
      <p:bldP spid="121860" grpId="0" autoUpdateAnimBg="0"/>
      <p:bldP spid="121866" grpId="0" autoUpdateAnimBg="0"/>
      <p:bldP spid="121867" grpId="0" autoUpdateAnimBg="0"/>
      <p:bldP spid="121868" grpId="0" autoUpdateAnimBg="0"/>
      <p:bldP spid="121869" grpId="0" autoUpdateAnimBg="0"/>
      <p:bldP spid="121870" grpId="0" autoUpdateAnimBg="0"/>
      <p:bldP spid="121871" grpId="0" autoUpdateAnimBg="0"/>
      <p:bldP spid="121876" grpId="0" autoUpdateAnimBg="0"/>
      <p:bldP spid="121877" grpId="0" autoUpdateAnimBg="0"/>
      <p:bldP spid="121878" grpId="0" animBg="1" autoUpdateAnimBg="0"/>
      <p:bldP spid="121879" grpId="0" animBg="1"/>
      <p:bldP spid="12188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7" name="Rectangle 9"/>
          <p:cNvSpPr>
            <a:spLocks noChangeArrowheads="1"/>
          </p:cNvSpPr>
          <p:nvPr/>
        </p:nvSpPr>
        <p:spPr bwMode="auto">
          <a:xfrm>
            <a:off x="0" y="368300"/>
            <a:ext cx="4191000" cy="512763"/>
          </a:xfrm>
          <a:prstGeom prst="rect">
            <a:avLst/>
          </a:prstGeom>
          <a:noFill/>
          <a:ln w="9525">
            <a:noFill/>
            <a:miter lim="800000"/>
            <a:headEnd/>
            <a:tailEnd/>
          </a:ln>
          <a:effectLst/>
        </p:spPr>
        <p:txBody>
          <a:bodyPr>
            <a:spAutoFit/>
          </a:bodyPr>
          <a:lstStyle/>
          <a:p>
            <a:pPr>
              <a:lnSpc>
                <a:spcPct val="115000"/>
              </a:lnSpc>
            </a:pPr>
            <a:r>
              <a:rPr lang="en-US" altLang="zh-CN" b="1" dirty="0" smtClean="0">
                <a:solidFill>
                  <a:srgbClr val="0000FF"/>
                </a:solidFill>
              </a:rPr>
              <a:t>13.4.2</a:t>
            </a:r>
            <a:r>
              <a:rPr lang="zh-CN" altLang="en-US" b="1" dirty="0" smtClean="0">
                <a:solidFill>
                  <a:srgbClr val="0000FF"/>
                </a:solidFill>
              </a:rPr>
              <a:t>  </a:t>
            </a:r>
            <a:r>
              <a:rPr lang="zh-CN" altLang="en-US" b="1" dirty="0">
                <a:solidFill>
                  <a:srgbClr val="0000FF"/>
                </a:solidFill>
              </a:rPr>
              <a:t>不确定关系 </a:t>
            </a:r>
          </a:p>
        </p:txBody>
      </p:sp>
      <p:sp>
        <p:nvSpPr>
          <p:cNvPr id="191498" name="Rectangle 10"/>
          <p:cNvSpPr>
            <a:spLocks noChangeArrowheads="1"/>
          </p:cNvSpPr>
          <p:nvPr/>
        </p:nvSpPr>
        <p:spPr bwMode="auto">
          <a:xfrm>
            <a:off x="206375" y="947738"/>
            <a:ext cx="6751638" cy="933450"/>
          </a:xfrm>
          <a:prstGeom prst="rect">
            <a:avLst/>
          </a:prstGeom>
          <a:noFill/>
          <a:ln w="9525">
            <a:noFill/>
            <a:miter lim="800000"/>
            <a:headEnd/>
            <a:tailEnd/>
          </a:ln>
          <a:effectLst/>
        </p:spPr>
        <p:txBody>
          <a:bodyPr>
            <a:spAutoFit/>
          </a:bodyPr>
          <a:lstStyle/>
          <a:p>
            <a:pPr>
              <a:lnSpc>
                <a:spcPct val="115000"/>
              </a:lnSpc>
            </a:pPr>
            <a:r>
              <a:rPr lang="zh-CN" altLang="en-US" b="1">
                <a:solidFill>
                  <a:schemeClr val="tx2"/>
                </a:solidFill>
                <a:latin typeface="宋体" charset="-122"/>
              </a:rPr>
              <a:t>宏观粒子：</a:t>
            </a:r>
            <a:r>
              <a:rPr lang="zh-CN" altLang="en-US" b="1">
                <a:solidFill>
                  <a:schemeClr val="bg1"/>
                </a:solidFill>
                <a:latin typeface="宋体" charset="-122"/>
              </a:rPr>
              <a:t>在任一时刻，都有完全确定位置、动量、能量等。</a:t>
            </a:r>
          </a:p>
        </p:txBody>
      </p:sp>
      <p:sp>
        <p:nvSpPr>
          <p:cNvPr id="191499" name="Rectangle 11"/>
          <p:cNvSpPr>
            <a:spLocks noChangeArrowheads="1"/>
          </p:cNvSpPr>
          <p:nvPr/>
        </p:nvSpPr>
        <p:spPr bwMode="auto">
          <a:xfrm>
            <a:off x="206375" y="1763713"/>
            <a:ext cx="6751638" cy="933450"/>
          </a:xfrm>
          <a:prstGeom prst="rect">
            <a:avLst/>
          </a:prstGeom>
          <a:noFill/>
          <a:ln w="9525">
            <a:noFill/>
            <a:miter lim="800000"/>
            <a:headEnd/>
            <a:tailEnd/>
          </a:ln>
          <a:effectLst/>
        </p:spPr>
        <p:txBody>
          <a:bodyPr>
            <a:spAutoFit/>
          </a:bodyPr>
          <a:lstStyle/>
          <a:p>
            <a:pPr>
              <a:lnSpc>
                <a:spcPct val="115000"/>
              </a:lnSpc>
            </a:pPr>
            <a:r>
              <a:rPr lang="zh-CN" altLang="en-US" b="1">
                <a:solidFill>
                  <a:schemeClr val="tx2"/>
                </a:solidFill>
                <a:latin typeface="宋体" charset="-122"/>
              </a:rPr>
              <a:t>微观粒子：</a:t>
            </a:r>
            <a:r>
              <a:rPr lang="zh-CN" altLang="en-US" b="1">
                <a:solidFill>
                  <a:schemeClr val="bg1"/>
                </a:solidFill>
                <a:latin typeface="宋体" charset="-122"/>
              </a:rPr>
              <a:t>具有明显的波动性；某些成对的物理量不可能同时有确定的量值</a:t>
            </a:r>
          </a:p>
        </p:txBody>
      </p:sp>
      <p:sp>
        <p:nvSpPr>
          <p:cNvPr id="191500" name="Text Box 12"/>
          <p:cNvSpPr txBox="1">
            <a:spLocks noChangeArrowheads="1"/>
          </p:cNvSpPr>
          <p:nvPr/>
        </p:nvSpPr>
        <p:spPr bwMode="auto">
          <a:xfrm>
            <a:off x="2232025" y="2509838"/>
            <a:ext cx="4365625"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00FF"/>
                </a:solidFill>
                <a:ea typeface="楷体_GB2312" pitchFamily="49" charset="-122"/>
              </a:rPr>
              <a:t>—— </a:t>
            </a:r>
            <a:r>
              <a:rPr lang="zh-CN" altLang="en-US" b="1">
                <a:solidFill>
                  <a:srgbClr val="0000FF"/>
                </a:solidFill>
                <a:ea typeface="楷体_GB2312" pitchFamily="49" charset="-122"/>
              </a:rPr>
              <a:t>微观粒子的不确定关系。</a:t>
            </a:r>
            <a:r>
              <a:rPr lang="zh-CN" altLang="en-US"/>
              <a:t> </a:t>
            </a:r>
          </a:p>
        </p:txBody>
      </p:sp>
      <p:grpSp>
        <p:nvGrpSpPr>
          <p:cNvPr id="191501" name="Group 13"/>
          <p:cNvGrpSpPr>
            <a:grpSpLocks/>
          </p:cNvGrpSpPr>
          <p:nvPr/>
        </p:nvGrpSpPr>
        <p:grpSpPr bwMode="auto">
          <a:xfrm>
            <a:off x="6911975" y="414338"/>
            <a:ext cx="2070100" cy="3136900"/>
            <a:chOff x="4468" y="1264"/>
            <a:chExt cx="1264" cy="1936"/>
          </a:xfrm>
        </p:grpSpPr>
        <p:pic>
          <p:nvPicPr>
            <p:cNvPr id="37904" name="Picture 14" descr="32heisenberg"/>
            <p:cNvPicPr>
              <a:picLocks noChangeAspect="1" noChangeArrowheads="1"/>
            </p:cNvPicPr>
            <p:nvPr/>
          </p:nvPicPr>
          <p:blipFill>
            <a:blip r:embed="rId3"/>
            <a:srcRect/>
            <a:stretch>
              <a:fillRect/>
            </a:stretch>
          </p:blipFill>
          <p:spPr bwMode="auto">
            <a:xfrm>
              <a:off x="4609" y="1264"/>
              <a:ext cx="1022" cy="1446"/>
            </a:xfrm>
            <a:prstGeom prst="rect">
              <a:avLst/>
            </a:prstGeom>
            <a:noFill/>
            <a:ln w="57150">
              <a:noFill/>
              <a:miter lim="800000"/>
              <a:headEnd/>
              <a:tailEnd/>
            </a:ln>
          </p:spPr>
        </p:pic>
        <p:sp>
          <p:nvSpPr>
            <p:cNvPr id="37905" name="Text Box 15"/>
            <p:cNvSpPr txBox="1">
              <a:spLocks noChangeArrowheads="1"/>
            </p:cNvSpPr>
            <p:nvPr/>
          </p:nvSpPr>
          <p:spPr bwMode="auto">
            <a:xfrm>
              <a:off x="4468" y="2767"/>
              <a:ext cx="1264" cy="433"/>
            </a:xfrm>
            <a:prstGeom prst="rect">
              <a:avLst/>
            </a:prstGeom>
            <a:noFill/>
            <a:ln w="9525">
              <a:noFill/>
              <a:miter lim="800000"/>
              <a:headEnd/>
              <a:tailEnd/>
            </a:ln>
            <a:effectLst/>
          </p:spPr>
          <p:txBody>
            <a:bodyPr>
              <a:spAutoFit/>
            </a:bodyPr>
            <a:lstStyle/>
            <a:p>
              <a:pPr algn="ctr"/>
              <a:r>
                <a:rPr kumimoji="0" lang="en-US" altLang="zh-CN" sz="2000" b="1">
                  <a:solidFill>
                    <a:schemeClr val="bg1"/>
                  </a:solidFill>
                </a:rPr>
                <a:t>Heisenberg</a:t>
              </a:r>
            </a:p>
            <a:p>
              <a:pPr algn="r"/>
              <a:r>
                <a:rPr kumimoji="0" lang="zh-CN" altLang="en-US" sz="2000" b="1">
                  <a:solidFill>
                    <a:schemeClr val="bg1"/>
                  </a:solidFill>
                </a:rPr>
                <a:t>（</a:t>
              </a:r>
              <a:r>
                <a:rPr kumimoji="0" lang="en-US" altLang="zh-CN" sz="2000" b="1">
                  <a:solidFill>
                    <a:schemeClr val="bg1"/>
                  </a:solidFill>
                </a:rPr>
                <a:t>1901</a:t>
              </a:r>
              <a:r>
                <a:rPr kumimoji="0" lang="zh-CN" altLang="en-US" sz="2000" b="1">
                  <a:solidFill>
                    <a:schemeClr val="bg1"/>
                  </a:solidFill>
                </a:rPr>
                <a:t>～</a:t>
              </a:r>
              <a:r>
                <a:rPr kumimoji="0" lang="en-US" altLang="zh-CN" sz="2000" b="1">
                  <a:solidFill>
                    <a:schemeClr val="bg1"/>
                  </a:solidFill>
                </a:rPr>
                <a:t>1976</a:t>
              </a:r>
              <a:r>
                <a:rPr kumimoji="0" lang="zh-CN" altLang="en-US" sz="2000" b="1">
                  <a:solidFill>
                    <a:schemeClr val="bg1"/>
                  </a:solidFill>
                </a:rPr>
                <a:t>）</a:t>
              </a:r>
            </a:p>
          </p:txBody>
        </p:sp>
      </p:grpSp>
      <p:sp>
        <p:nvSpPr>
          <p:cNvPr id="191504" name="Rectangle 16"/>
          <p:cNvSpPr>
            <a:spLocks noChangeArrowheads="1"/>
          </p:cNvSpPr>
          <p:nvPr/>
        </p:nvSpPr>
        <p:spPr bwMode="auto">
          <a:xfrm>
            <a:off x="522288" y="3500438"/>
            <a:ext cx="8370887" cy="933450"/>
          </a:xfrm>
          <a:prstGeom prst="rect">
            <a:avLst/>
          </a:prstGeom>
          <a:noFill/>
          <a:ln w="9525">
            <a:noFill/>
            <a:miter lim="800000"/>
            <a:headEnd/>
            <a:tailEnd/>
          </a:ln>
          <a:effectLst/>
        </p:spPr>
        <p:txBody>
          <a:bodyPr>
            <a:spAutoFit/>
          </a:bodyPr>
          <a:lstStyle/>
          <a:p>
            <a:pPr>
              <a:lnSpc>
                <a:spcPct val="115000"/>
              </a:lnSpc>
            </a:pPr>
            <a:r>
              <a:rPr lang="en-US" altLang="zh-CN" b="1">
                <a:solidFill>
                  <a:schemeClr val="bg1"/>
                </a:solidFill>
                <a:latin typeface="宋体" charset="-122"/>
              </a:rPr>
              <a:t>   </a:t>
            </a:r>
            <a:r>
              <a:rPr lang="zh-CN" altLang="en-US" b="1">
                <a:solidFill>
                  <a:schemeClr val="bg1"/>
                </a:solidFill>
                <a:latin typeface="宋体" charset="-122"/>
              </a:rPr>
              <a:t>微观粒子的位置坐标</a:t>
            </a:r>
            <a:r>
              <a:rPr lang="zh-CN" altLang="en-US" b="1">
                <a:solidFill>
                  <a:srgbClr val="FFCC66"/>
                </a:solidFill>
                <a:latin typeface="宋体" charset="-122"/>
              </a:rPr>
              <a:t> </a:t>
            </a:r>
            <a:r>
              <a:rPr lang="en-US" altLang="zh-CN" b="1" i="1">
                <a:solidFill>
                  <a:schemeClr val="accent2"/>
                </a:solidFill>
              </a:rPr>
              <a:t>x</a:t>
            </a:r>
            <a:r>
              <a:rPr lang="zh-CN" altLang="en-US" b="1">
                <a:solidFill>
                  <a:schemeClr val="bg1"/>
                </a:solidFill>
                <a:latin typeface="宋体" charset="-122"/>
              </a:rPr>
              <a:t>、动量分量</a:t>
            </a:r>
            <a:r>
              <a:rPr lang="zh-CN" altLang="en-US" b="1">
                <a:solidFill>
                  <a:schemeClr val="accent2"/>
                </a:solidFill>
                <a:latin typeface="宋体" charset="-122"/>
              </a:rPr>
              <a:t> </a:t>
            </a:r>
            <a:r>
              <a:rPr lang="en-US" altLang="zh-CN" b="1" i="1">
                <a:solidFill>
                  <a:schemeClr val="accent2"/>
                </a:solidFill>
              </a:rPr>
              <a:t>p</a:t>
            </a:r>
            <a:r>
              <a:rPr lang="en-US" altLang="zh-CN" b="1" i="1" baseline="-25000">
                <a:solidFill>
                  <a:schemeClr val="accent2"/>
                </a:solidFill>
              </a:rPr>
              <a:t>x</a:t>
            </a:r>
            <a:r>
              <a:rPr lang="en-US" altLang="zh-CN" b="1">
                <a:solidFill>
                  <a:schemeClr val="accent2"/>
                </a:solidFill>
                <a:latin typeface="宋体" charset="-122"/>
              </a:rPr>
              <a:t> </a:t>
            </a:r>
            <a:r>
              <a:rPr lang="zh-CN" altLang="en-US" b="1">
                <a:solidFill>
                  <a:schemeClr val="bg1"/>
                </a:solidFill>
                <a:latin typeface="宋体" charset="-122"/>
              </a:rPr>
              <a:t>不能同时具有确定的值。</a:t>
            </a:r>
          </a:p>
        </p:txBody>
      </p:sp>
      <p:sp>
        <p:nvSpPr>
          <p:cNvPr id="191505" name="Rectangle 17"/>
          <p:cNvSpPr>
            <a:spLocks noChangeArrowheads="1"/>
          </p:cNvSpPr>
          <p:nvPr/>
        </p:nvSpPr>
        <p:spPr bwMode="auto">
          <a:xfrm>
            <a:off x="296863" y="2960688"/>
            <a:ext cx="4700587" cy="512762"/>
          </a:xfrm>
          <a:prstGeom prst="rect">
            <a:avLst/>
          </a:prstGeom>
          <a:noFill/>
          <a:ln w="9525">
            <a:noFill/>
            <a:miter lim="800000"/>
            <a:headEnd/>
            <a:tailEnd/>
          </a:ln>
          <a:effectLst/>
        </p:spPr>
        <p:txBody>
          <a:bodyPr>
            <a:spAutoFit/>
          </a:bodyPr>
          <a:lstStyle/>
          <a:p>
            <a:pPr>
              <a:lnSpc>
                <a:spcPct val="115000"/>
              </a:lnSpc>
            </a:pPr>
            <a:r>
              <a:rPr lang="en-US" altLang="zh-CN" b="1">
                <a:solidFill>
                  <a:schemeClr val="tx2"/>
                </a:solidFill>
                <a:latin typeface="宋体" charset="-122"/>
              </a:rPr>
              <a:t>1. </a:t>
            </a:r>
            <a:r>
              <a:rPr lang="zh-CN" altLang="en-US" b="1">
                <a:solidFill>
                  <a:schemeClr val="tx2"/>
                </a:solidFill>
                <a:latin typeface="宋体" charset="-122"/>
              </a:rPr>
              <a:t>动量</a:t>
            </a:r>
            <a:r>
              <a:rPr lang="en-US" altLang="zh-CN" b="1">
                <a:solidFill>
                  <a:schemeClr val="tx2"/>
                </a:solidFill>
                <a:latin typeface="宋体" charset="-122"/>
              </a:rPr>
              <a:t>—</a:t>
            </a:r>
            <a:r>
              <a:rPr lang="zh-CN" altLang="en-US" b="1">
                <a:solidFill>
                  <a:schemeClr val="tx2"/>
                </a:solidFill>
                <a:latin typeface="宋体" charset="-122"/>
              </a:rPr>
              <a:t>坐标不确定关系</a:t>
            </a:r>
          </a:p>
        </p:txBody>
      </p:sp>
      <p:graphicFrame>
        <p:nvGraphicFramePr>
          <p:cNvPr id="191506" name="Object 18"/>
          <p:cNvGraphicFramePr>
            <a:graphicFrameLocks/>
          </p:cNvGraphicFramePr>
          <p:nvPr/>
        </p:nvGraphicFramePr>
        <p:xfrm>
          <a:off x="611188" y="4535488"/>
          <a:ext cx="925512" cy="392112"/>
        </p:xfrm>
        <a:graphic>
          <a:graphicData uri="http://schemas.openxmlformats.org/presentationml/2006/ole">
            <p:oleObj spid="_x0000_s37897" name="公式" r:id="rId4" imgW="447840" imgH="179280" progId="Equation.3">
              <p:embed/>
            </p:oleObj>
          </a:graphicData>
        </a:graphic>
      </p:graphicFrame>
      <p:sp>
        <p:nvSpPr>
          <p:cNvPr id="191507" name="Rectangle 19"/>
          <p:cNvSpPr>
            <a:spLocks noChangeArrowheads="1"/>
          </p:cNvSpPr>
          <p:nvPr/>
        </p:nvSpPr>
        <p:spPr bwMode="auto">
          <a:xfrm>
            <a:off x="1557338" y="4491038"/>
            <a:ext cx="5707062" cy="512762"/>
          </a:xfrm>
          <a:prstGeom prst="rect">
            <a:avLst/>
          </a:prstGeom>
          <a:noFill/>
          <a:ln w="9525">
            <a:noFill/>
            <a:miter lim="800000"/>
            <a:headEnd/>
            <a:tailEnd/>
          </a:ln>
          <a:effectLst/>
        </p:spPr>
        <p:txBody>
          <a:bodyPr>
            <a:spAutoFit/>
          </a:bodyPr>
          <a:lstStyle/>
          <a:p>
            <a:pPr>
              <a:lnSpc>
                <a:spcPct val="115000"/>
              </a:lnSpc>
            </a:pPr>
            <a:r>
              <a:rPr lang="zh-CN" altLang="en-US" b="1">
                <a:solidFill>
                  <a:schemeClr val="bg1"/>
                </a:solidFill>
                <a:latin typeface="宋体" charset="-122"/>
              </a:rPr>
              <a:t>分别是 </a:t>
            </a:r>
            <a:r>
              <a:rPr lang="zh-CN" altLang="en-US" b="1">
                <a:solidFill>
                  <a:srgbClr val="FFCC66"/>
                </a:solidFill>
                <a:latin typeface="宋体" charset="-122"/>
              </a:rPr>
              <a:t> </a:t>
            </a:r>
            <a:r>
              <a:rPr lang="en-US" altLang="zh-CN" b="1" i="1">
                <a:solidFill>
                  <a:schemeClr val="accent2"/>
                </a:solidFill>
              </a:rPr>
              <a:t>x</a:t>
            </a:r>
            <a:r>
              <a:rPr lang="zh-CN" altLang="en-US" b="1">
                <a:solidFill>
                  <a:schemeClr val="accent2"/>
                </a:solidFill>
              </a:rPr>
              <a:t>、</a:t>
            </a:r>
            <a:r>
              <a:rPr lang="zh-CN" altLang="en-US" b="1" baseline="-20000">
                <a:solidFill>
                  <a:schemeClr val="accent2"/>
                </a:solidFill>
              </a:rPr>
              <a:t>  </a:t>
            </a:r>
            <a:r>
              <a:rPr lang="en-US" altLang="zh-CN" b="1" i="1">
                <a:solidFill>
                  <a:schemeClr val="accent2"/>
                </a:solidFill>
              </a:rPr>
              <a:t>p</a:t>
            </a:r>
            <a:r>
              <a:rPr lang="en-US" altLang="zh-CN" b="1" i="1" baseline="-20000">
                <a:solidFill>
                  <a:schemeClr val="accent2"/>
                </a:solidFill>
              </a:rPr>
              <a:t>x</a:t>
            </a:r>
            <a:r>
              <a:rPr lang="en-US" altLang="zh-CN" b="1" baseline="-20000">
                <a:solidFill>
                  <a:srgbClr val="99FFCC"/>
                </a:solidFill>
                <a:latin typeface="宋体" charset="-122"/>
              </a:rPr>
              <a:t>  </a:t>
            </a:r>
            <a:r>
              <a:rPr lang="zh-CN" altLang="en-US" b="1">
                <a:solidFill>
                  <a:schemeClr val="bg1"/>
                </a:solidFill>
                <a:latin typeface="宋体" charset="-122"/>
              </a:rPr>
              <a:t>的不确定量，其乘积</a:t>
            </a:r>
          </a:p>
        </p:txBody>
      </p:sp>
      <p:graphicFrame>
        <p:nvGraphicFramePr>
          <p:cNvPr id="191508" name="Object 20"/>
          <p:cNvGraphicFramePr>
            <a:graphicFrameLocks/>
          </p:cNvGraphicFramePr>
          <p:nvPr/>
        </p:nvGraphicFramePr>
        <p:xfrm>
          <a:off x="1422400" y="5165725"/>
          <a:ext cx="1371600" cy="733425"/>
        </p:xfrm>
        <a:graphic>
          <a:graphicData uri="http://schemas.openxmlformats.org/presentationml/2006/ole">
            <p:oleObj spid="_x0000_s37899" name="公式" r:id="rId5" imgW="635040" imgH="334440" progId="Equation.3">
              <p:embed/>
            </p:oleObj>
          </a:graphicData>
        </a:graphic>
      </p:graphicFrame>
      <p:sp>
        <p:nvSpPr>
          <p:cNvPr id="191509" name="Rectangle 21"/>
          <p:cNvSpPr>
            <a:spLocks noChangeArrowheads="1"/>
          </p:cNvSpPr>
          <p:nvPr/>
        </p:nvSpPr>
        <p:spPr bwMode="auto">
          <a:xfrm>
            <a:off x="4527550" y="5165725"/>
            <a:ext cx="2339975" cy="822325"/>
          </a:xfrm>
          <a:prstGeom prst="rect">
            <a:avLst/>
          </a:prstGeom>
          <a:noFill/>
          <a:ln w="9525">
            <a:noFill/>
            <a:miter lim="800000"/>
            <a:headEnd/>
            <a:tailEnd/>
          </a:ln>
          <a:effectLst/>
        </p:spPr>
        <p:txBody>
          <a:bodyPr>
            <a:spAutoFit/>
          </a:bodyPr>
          <a:lstStyle/>
          <a:p>
            <a:pPr>
              <a:lnSpc>
                <a:spcPct val="120000"/>
              </a:lnSpc>
            </a:pPr>
            <a:r>
              <a:rPr lang="zh-CN" altLang="en-US" sz="2000" b="1">
                <a:solidFill>
                  <a:schemeClr val="accent2"/>
                </a:solidFill>
                <a:ea typeface="楷体_GB2312" pitchFamily="49" charset="-122"/>
              </a:rPr>
              <a:t>海森堡坐标和动量的不确定关系式</a:t>
            </a:r>
          </a:p>
        </p:txBody>
      </p:sp>
      <p:graphicFrame>
        <p:nvGraphicFramePr>
          <p:cNvPr id="191510" name="Object 22"/>
          <p:cNvGraphicFramePr>
            <a:graphicFrameLocks noChangeAspect="1"/>
          </p:cNvGraphicFramePr>
          <p:nvPr/>
        </p:nvGraphicFramePr>
        <p:xfrm>
          <a:off x="3402013" y="5165725"/>
          <a:ext cx="866775" cy="730250"/>
        </p:xfrm>
        <a:graphic>
          <a:graphicData uri="http://schemas.openxmlformats.org/presentationml/2006/ole">
            <p:oleObj spid="_x0000_s37901" name="公式" r:id="rId6" imgW="398880" imgH="334440" progId="Equation.3">
              <p:embed/>
            </p:oleObj>
          </a:graphicData>
        </a:graphic>
      </p:graphicFrame>
      <p:sp>
        <p:nvSpPr>
          <p:cNvPr id="191511" name="Rectangle 23"/>
          <p:cNvSpPr>
            <a:spLocks noChangeArrowheads="1"/>
          </p:cNvSpPr>
          <p:nvPr/>
        </p:nvSpPr>
        <p:spPr bwMode="auto">
          <a:xfrm>
            <a:off x="611188" y="6021388"/>
            <a:ext cx="7696200" cy="512762"/>
          </a:xfrm>
          <a:prstGeom prst="rect">
            <a:avLst/>
          </a:prstGeom>
          <a:noFill/>
          <a:ln w="9525">
            <a:noFill/>
            <a:miter lim="800000"/>
            <a:headEnd/>
            <a:tailEnd/>
          </a:ln>
          <a:effectLst/>
        </p:spPr>
        <p:txBody>
          <a:bodyPr>
            <a:spAutoFit/>
          </a:bodyPr>
          <a:lstStyle/>
          <a:p>
            <a:pPr>
              <a:lnSpc>
                <a:spcPct val="115000"/>
              </a:lnSpc>
            </a:pPr>
            <a:r>
              <a:rPr lang="zh-CN" altLang="en-US" b="1">
                <a:solidFill>
                  <a:schemeClr val="bg1"/>
                </a:solidFill>
                <a:latin typeface="宋体" charset="-122"/>
              </a:rPr>
              <a:t>一个量确定的越准确，另一个量的不确定程度就越大。</a:t>
            </a:r>
          </a:p>
        </p:txBody>
      </p:sp>
      <p:sp>
        <p:nvSpPr>
          <p:cNvPr id="191512" name="AutoShape 24"/>
          <p:cNvSpPr>
            <a:spLocks noChangeAspect="1" noChangeArrowheads="1"/>
          </p:cNvSpPr>
          <p:nvPr/>
        </p:nvSpPr>
        <p:spPr bwMode="auto">
          <a:xfrm>
            <a:off x="250825" y="5859463"/>
            <a:ext cx="323850" cy="517525"/>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1497"/>
                                        </p:tgtEl>
                                        <p:attrNameLst>
                                          <p:attrName>style.visibility</p:attrName>
                                        </p:attrNameLst>
                                      </p:cBhvr>
                                      <p:to>
                                        <p:strVal val="visible"/>
                                      </p:to>
                                    </p:set>
                                    <p:animEffect transition="in" filter="wipe(left)">
                                      <p:cBhvr>
                                        <p:cTn id="7" dur="500"/>
                                        <p:tgtEl>
                                          <p:spTgt spid="1914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1498"/>
                                        </p:tgtEl>
                                        <p:attrNameLst>
                                          <p:attrName>style.visibility</p:attrName>
                                        </p:attrNameLst>
                                      </p:cBhvr>
                                      <p:to>
                                        <p:strVal val="visible"/>
                                      </p:to>
                                    </p:set>
                                    <p:animEffect transition="in" filter="dissolve">
                                      <p:cBhvr>
                                        <p:cTn id="12" dur="500"/>
                                        <p:tgtEl>
                                          <p:spTgt spid="1914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1499"/>
                                        </p:tgtEl>
                                        <p:attrNameLst>
                                          <p:attrName>style.visibility</p:attrName>
                                        </p:attrNameLst>
                                      </p:cBhvr>
                                      <p:to>
                                        <p:strVal val="visible"/>
                                      </p:to>
                                    </p:set>
                                    <p:animEffect transition="in" filter="dissolve">
                                      <p:cBhvr>
                                        <p:cTn id="17" dur="500"/>
                                        <p:tgtEl>
                                          <p:spTgt spid="191499"/>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91500"/>
                                        </p:tgtEl>
                                        <p:attrNameLst>
                                          <p:attrName>style.visibility</p:attrName>
                                        </p:attrNameLst>
                                      </p:cBhvr>
                                      <p:to>
                                        <p:strVal val="visible"/>
                                      </p:to>
                                    </p:set>
                                    <p:animEffect transition="in" filter="wipe(left)">
                                      <p:cBhvr>
                                        <p:cTn id="21" dur="500"/>
                                        <p:tgtEl>
                                          <p:spTgt spid="19150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32" fill="hold" nodeType="clickEffect">
                                  <p:stCondLst>
                                    <p:cond delay="0"/>
                                  </p:stCondLst>
                                  <p:childTnLst>
                                    <p:set>
                                      <p:cBhvr>
                                        <p:cTn id="25" dur="1" fill="hold">
                                          <p:stCondLst>
                                            <p:cond delay="0"/>
                                          </p:stCondLst>
                                        </p:cTn>
                                        <p:tgtEl>
                                          <p:spTgt spid="191501"/>
                                        </p:tgtEl>
                                        <p:attrNameLst>
                                          <p:attrName>style.visibility</p:attrName>
                                        </p:attrNameLst>
                                      </p:cBhvr>
                                      <p:to>
                                        <p:strVal val="visible"/>
                                      </p:to>
                                    </p:set>
                                    <p:animEffect transition="in" filter="box(out)">
                                      <p:cBhvr>
                                        <p:cTn id="26" dur="500"/>
                                        <p:tgtEl>
                                          <p:spTgt spid="19150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91505"/>
                                        </p:tgtEl>
                                        <p:attrNameLst>
                                          <p:attrName>style.visibility</p:attrName>
                                        </p:attrNameLst>
                                      </p:cBhvr>
                                      <p:to>
                                        <p:strVal val="visible"/>
                                      </p:to>
                                    </p:set>
                                    <p:animEffect transition="in" filter="wipe(left)">
                                      <p:cBhvr>
                                        <p:cTn id="31" dur="500"/>
                                        <p:tgtEl>
                                          <p:spTgt spid="19150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91504"/>
                                        </p:tgtEl>
                                        <p:attrNameLst>
                                          <p:attrName>style.visibility</p:attrName>
                                        </p:attrNameLst>
                                      </p:cBhvr>
                                      <p:to>
                                        <p:strVal val="visible"/>
                                      </p:to>
                                    </p:set>
                                    <p:animEffect transition="in" filter="wipe(left)">
                                      <p:cBhvr>
                                        <p:cTn id="36" dur="500"/>
                                        <p:tgtEl>
                                          <p:spTgt spid="19150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91506"/>
                                        </p:tgtEl>
                                        <p:attrNameLst>
                                          <p:attrName>style.visibility</p:attrName>
                                        </p:attrNameLst>
                                      </p:cBhvr>
                                      <p:to>
                                        <p:strVal val="visible"/>
                                      </p:to>
                                    </p:set>
                                    <p:animEffect transition="in" filter="wipe(left)">
                                      <p:cBhvr>
                                        <p:cTn id="41" dur="500"/>
                                        <p:tgtEl>
                                          <p:spTgt spid="191506"/>
                                        </p:tgtEl>
                                      </p:cBhvr>
                                    </p:animEffect>
                                  </p:childTnLst>
                                </p:cTn>
                              </p:par>
                            </p:childTnLst>
                          </p:cTn>
                        </p:par>
                        <p:par>
                          <p:cTn id="42" fill="hold" nodeType="afterGroup">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191507"/>
                                        </p:tgtEl>
                                        <p:attrNameLst>
                                          <p:attrName>style.visibility</p:attrName>
                                        </p:attrNameLst>
                                      </p:cBhvr>
                                      <p:to>
                                        <p:strVal val="visible"/>
                                      </p:to>
                                    </p:set>
                                    <p:animEffect transition="in" filter="dissolve">
                                      <p:cBhvr>
                                        <p:cTn id="45" dur="500"/>
                                        <p:tgtEl>
                                          <p:spTgt spid="19150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7" presetClass="entr" presetSubtype="10" fill="hold" nodeType="clickEffect">
                                  <p:stCondLst>
                                    <p:cond delay="0"/>
                                  </p:stCondLst>
                                  <p:childTnLst>
                                    <p:set>
                                      <p:cBhvr>
                                        <p:cTn id="49" dur="1" fill="hold">
                                          <p:stCondLst>
                                            <p:cond delay="0"/>
                                          </p:stCondLst>
                                        </p:cTn>
                                        <p:tgtEl>
                                          <p:spTgt spid="191508"/>
                                        </p:tgtEl>
                                        <p:attrNameLst>
                                          <p:attrName>style.visibility</p:attrName>
                                        </p:attrNameLst>
                                      </p:cBhvr>
                                      <p:to>
                                        <p:strVal val="visible"/>
                                      </p:to>
                                    </p:set>
                                    <p:anim calcmode="lin" valueType="num">
                                      <p:cBhvr>
                                        <p:cTn id="50" dur="500" fill="hold"/>
                                        <p:tgtEl>
                                          <p:spTgt spid="191508"/>
                                        </p:tgtEl>
                                        <p:attrNameLst>
                                          <p:attrName>ppt_w</p:attrName>
                                        </p:attrNameLst>
                                      </p:cBhvr>
                                      <p:tavLst>
                                        <p:tav tm="0">
                                          <p:val>
                                            <p:fltVal val="0"/>
                                          </p:val>
                                        </p:tav>
                                        <p:tav tm="100000">
                                          <p:val>
                                            <p:strVal val="#ppt_w"/>
                                          </p:val>
                                        </p:tav>
                                      </p:tavLst>
                                    </p:anim>
                                    <p:anim calcmode="lin" valueType="num">
                                      <p:cBhvr>
                                        <p:cTn id="51" dur="500" fill="hold"/>
                                        <p:tgtEl>
                                          <p:spTgt spid="191508"/>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0"/>
                                          </p:stCondLst>
                                        </p:cTn>
                                        <p:tgtEl>
                                          <p:spTgt spid="191510"/>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191509"/>
                                        </p:tgtEl>
                                        <p:attrNameLst>
                                          <p:attrName>style.visibility</p:attrName>
                                        </p:attrNameLst>
                                      </p:cBhvr>
                                      <p:to>
                                        <p:strVal val="visible"/>
                                      </p:to>
                                    </p:set>
                                    <p:animEffect transition="in" filter="dissolve">
                                      <p:cBhvr>
                                        <p:cTn id="60" dur="500"/>
                                        <p:tgtEl>
                                          <p:spTgt spid="19150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91512"/>
                                        </p:tgtEl>
                                        <p:attrNameLst>
                                          <p:attrName>style.visibility</p:attrName>
                                        </p:attrNameLst>
                                      </p:cBhvr>
                                      <p:to>
                                        <p:strVal val="visible"/>
                                      </p:to>
                                    </p:set>
                                    <p:animEffect transition="in" filter="wipe(left)">
                                      <p:cBhvr>
                                        <p:cTn id="65" dur="1000"/>
                                        <p:tgtEl>
                                          <p:spTgt spid="191512"/>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191511"/>
                                        </p:tgtEl>
                                        <p:attrNameLst>
                                          <p:attrName>style.visibility</p:attrName>
                                        </p:attrNameLst>
                                      </p:cBhvr>
                                      <p:to>
                                        <p:strVal val="visible"/>
                                      </p:to>
                                    </p:set>
                                    <p:animEffect transition="in" filter="dissolve">
                                      <p:cBhvr>
                                        <p:cTn id="70" dur="500"/>
                                        <p:tgtEl>
                                          <p:spTgt spid="191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7" grpId="0"/>
      <p:bldP spid="191498" grpId="0" autoUpdateAnimBg="0"/>
      <p:bldP spid="191499" grpId="0" autoUpdateAnimBg="0"/>
      <p:bldP spid="191500" grpId="0"/>
      <p:bldP spid="191504" grpId="0" autoUpdateAnimBg="0"/>
      <p:bldP spid="191505" grpId="0"/>
      <p:bldP spid="191507" grpId="0" autoUpdateAnimBg="0"/>
      <p:bldP spid="191509" grpId="0" autoUpdateAnimBg="0"/>
      <p:bldP spid="191511" grpId="0" autoUpdateAnimBg="0"/>
      <p:bldP spid="1915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3" name="Line 5"/>
          <p:cNvSpPr>
            <a:spLocks noChangeShapeType="1"/>
          </p:cNvSpPr>
          <p:nvPr/>
        </p:nvSpPr>
        <p:spPr bwMode="auto">
          <a:xfrm flipV="1">
            <a:off x="2743200" y="2474913"/>
            <a:ext cx="4572000" cy="20637"/>
          </a:xfrm>
          <a:prstGeom prst="line">
            <a:avLst/>
          </a:prstGeom>
          <a:noFill/>
          <a:ln w="19050">
            <a:solidFill>
              <a:schemeClr val="bg2"/>
            </a:solidFill>
            <a:prstDash val="lgDashDot"/>
            <a:round/>
            <a:headEnd/>
            <a:tailEnd/>
          </a:ln>
          <a:effectLst/>
        </p:spPr>
        <p:txBody>
          <a:bodyPr/>
          <a:lstStyle/>
          <a:p>
            <a:endParaRPr lang="zh-CN" altLang="en-US"/>
          </a:p>
        </p:txBody>
      </p:sp>
      <p:sp>
        <p:nvSpPr>
          <p:cNvPr id="124936" name="Line 8"/>
          <p:cNvSpPr>
            <a:spLocks noChangeShapeType="1"/>
          </p:cNvSpPr>
          <p:nvPr/>
        </p:nvSpPr>
        <p:spPr bwMode="auto">
          <a:xfrm>
            <a:off x="4953000" y="1989138"/>
            <a:ext cx="2209800" cy="0"/>
          </a:xfrm>
          <a:prstGeom prst="line">
            <a:avLst/>
          </a:prstGeom>
          <a:noFill/>
          <a:ln w="15875">
            <a:solidFill>
              <a:srgbClr val="0000FF"/>
            </a:solidFill>
            <a:prstDash val="sysDot"/>
            <a:round/>
            <a:headEnd/>
            <a:tailEnd/>
          </a:ln>
          <a:effectLst/>
        </p:spPr>
        <p:txBody>
          <a:bodyPr/>
          <a:lstStyle/>
          <a:p>
            <a:endParaRPr lang="zh-CN" altLang="en-US"/>
          </a:p>
        </p:txBody>
      </p:sp>
      <p:sp>
        <p:nvSpPr>
          <p:cNvPr id="124937" name="Oval 9"/>
          <p:cNvSpPr>
            <a:spLocks noChangeArrowheads="1"/>
          </p:cNvSpPr>
          <p:nvPr/>
        </p:nvSpPr>
        <p:spPr bwMode="auto">
          <a:xfrm>
            <a:off x="4787900" y="1862138"/>
            <a:ext cx="152400" cy="152400"/>
          </a:xfrm>
          <a:prstGeom prst="ellipse">
            <a:avLst/>
          </a:prstGeom>
          <a:solidFill>
            <a:schemeClr val="accent2"/>
          </a:solidFill>
          <a:ln w="9525">
            <a:solidFill>
              <a:schemeClr val="tx1"/>
            </a:solidFill>
            <a:round/>
            <a:headEnd/>
            <a:tailEnd/>
          </a:ln>
          <a:effectLst/>
        </p:spPr>
        <p:txBody>
          <a:bodyPr wrap="none" anchor="ctr"/>
          <a:lstStyle/>
          <a:p>
            <a:pPr algn="ctr"/>
            <a:endParaRPr lang="zh-CN" altLang="zh-CN" sz="2800">
              <a:solidFill>
                <a:srgbClr val="CC00CC"/>
              </a:solidFill>
            </a:endParaRPr>
          </a:p>
        </p:txBody>
      </p:sp>
      <p:graphicFrame>
        <p:nvGraphicFramePr>
          <p:cNvPr id="124938" name="Object 10"/>
          <p:cNvGraphicFramePr>
            <a:graphicFrameLocks noChangeAspect="1"/>
          </p:cNvGraphicFramePr>
          <p:nvPr/>
        </p:nvGraphicFramePr>
        <p:xfrm>
          <a:off x="7227888" y="1493838"/>
          <a:ext cx="806450" cy="346075"/>
        </p:xfrm>
        <a:graphic>
          <a:graphicData uri="http://schemas.openxmlformats.org/presentationml/2006/ole">
            <p:oleObj spid="_x0000_s38917" name="公式" r:id="rId4" imgW="382680" imgH="154800" progId="Equation.3">
              <p:embed/>
            </p:oleObj>
          </a:graphicData>
        </a:graphic>
      </p:graphicFrame>
      <p:sp>
        <p:nvSpPr>
          <p:cNvPr id="38918" name="Line 12"/>
          <p:cNvSpPr>
            <a:spLocks noChangeShapeType="1"/>
          </p:cNvSpPr>
          <p:nvPr/>
        </p:nvSpPr>
        <p:spPr bwMode="auto">
          <a:xfrm>
            <a:off x="1704975" y="4373563"/>
            <a:ext cx="5089525" cy="0"/>
          </a:xfrm>
          <a:prstGeom prst="line">
            <a:avLst/>
          </a:prstGeom>
          <a:noFill/>
          <a:ln w="38100">
            <a:noFill/>
            <a:round/>
            <a:headEnd/>
            <a:tailEnd/>
          </a:ln>
          <a:effectLst/>
        </p:spPr>
        <p:txBody>
          <a:bodyPr/>
          <a:lstStyle/>
          <a:p>
            <a:endParaRPr lang="zh-CN" altLang="en-US"/>
          </a:p>
        </p:txBody>
      </p:sp>
      <p:sp>
        <p:nvSpPr>
          <p:cNvPr id="124941" name="Line 13"/>
          <p:cNvSpPr>
            <a:spLocks noChangeShapeType="1"/>
          </p:cNvSpPr>
          <p:nvPr/>
        </p:nvSpPr>
        <p:spPr bwMode="auto">
          <a:xfrm>
            <a:off x="4876800" y="2471738"/>
            <a:ext cx="2351088" cy="12700"/>
          </a:xfrm>
          <a:prstGeom prst="line">
            <a:avLst/>
          </a:prstGeom>
          <a:noFill/>
          <a:ln w="28575">
            <a:solidFill>
              <a:schemeClr val="bg1"/>
            </a:solidFill>
            <a:round/>
            <a:headEnd/>
            <a:tailEnd type="triangle" w="med" len="lg"/>
          </a:ln>
          <a:effectLst/>
        </p:spPr>
        <p:txBody>
          <a:bodyPr/>
          <a:lstStyle/>
          <a:p>
            <a:endParaRPr lang="zh-CN" altLang="en-US"/>
          </a:p>
        </p:txBody>
      </p:sp>
      <p:sp>
        <p:nvSpPr>
          <p:cNvPr id="124942" name="Oval 14"/>
          <p:cNvSpPr>
            <a:spLocks noChangeArrowheads="1"/>
          </p:cNvSpPr>
          <p:nvPr/>
        </p:nvSpPr>
        <p:spPr bwMode="auto">
          <a:xfrm>
            <a:off x="4800600" y="2395538"/>
            <a:ext cx="152400" cy="152400"/>
          </a:xfrm>
          <a:prstGeom prst="ellipse">
            <a:avLst/>
          </a:prstGeom>
          <a:solidFill>
            <a:schemeClr val="accent2"/>
          </a:solidFill>
          <a:ln w="9525">
            <a:solidFill>
              <a:schemeClr val="tx1"/>
            </a:solidFill>
            <a:round/>
            <a:headEnd/>
            <a:tailEnd/>
          </a:ln>
          <a:effectLst/>
        </p:spPr>
        <p:txBody>
          <a:bodyPr wrap="none" anchor="ctr"/>
          <a:lstStyle/>
          <a:p>
            <a:pPr algn="ctr"/>
            <a:endParaRPr lang="zh-CN" altLang="zh-CN" sz="2800"/>
          </a:p>
        </p:txBody>
      </p:sp>
      <p:sp>
        <p:nvSpPr>
          <p:cNvPr id="38921" name="Line 15"/>
          <p:cNvSpPr>
            <a:spLocks noChangeShapeType="1"/>
          </p:cNvSpPr>
          <p:nvPr/>
        </p:nvSpPr>
        <p:spPr bwMode="auto">
          <a:xfrm>
            <a:off x="2070100" y="5372100"/>
            <a:ext cx="5638800" cy="0"/>
          </a:xfrm>
          <a:prstGeom prst="line">
            <a:avLst/>
          </a:prstGeom>
          <a:noFill/>
          <a:ln w="38100">
            <a:noFill/>
            <a:round/>
            <a:headEnd/>
            <a:tailEnd/>
          </a:ln>
          <a:effectLst/>
        </p:spPr>
        <p:txBody>
          <a:bodyPr/>
          <a:lstStyle/>
          <a:p>
            <a:endParaRPr lang="zh-CN" altLang="en-US"/>
          </a:p>
        </p:txBody>
      </p:sp>
      <p:graphicFrame>
        <p:nvGraphicFramePr>
          <p:cNvPr id="124944" name="Object 16"/>
          <p:cNvGraphicFramePr>
            <a:graphicFrameLocks noChangeAspect="1"/>
          </p:cNvGraphicFramePr>
          <p:nvPr/>
        </p:nvGraphicFramePr>
        <p:xfrm>
          <a:off x="4122738" y="4419600"/>
          <a:ext cx="2482850" cy="409575"/>
        </p:xfrm>
        <a:graphic>
          <a:graphicData uri="http://schemas.openxmlformats.org/presentationml/2006/ole">
            <p:oleObj spid="_x0000_s38922" name="公式" r:id="rId5" imgW="1164600" imgH="179280" progId="Equation.3">
              <p:embed/>
            </p:oleObj>
          </a:graphicData>
        </a:graphic>
      </p:graphicFrame>
      <p:graphicFrame>
        <p:nvGraphicFramePr>
          <p:cNvPr id="124945" name="Object 17"/>
          <p:cNvGraphicFramePr>
            <a:graphicFrameLocks/>
          </p:cNvGraphicFramePr>
          <p:nvPr/>
        </p:nvGraphicFramePr>
        <p:xfrm>
          <a:off x="476250" y="5157788"/>
          <a:ext cx="1352550" cy="409575"/>
        </p:xfrm>
        <a:graphic>
          <a:graphicData uri="http://schemas.openxmlformats.org/presentationml/2006/ole">
            <p:oleObj spid="_x0000_s38923" name="公式" r:id="rId6" imgW="627120" imgH="179280" progId="Equation.3">
              <p:embed/>
            </p:oleObj>
          </a:graphicData>
        </a:graphic>
      </p:graphicFrame>
      <p:sp>
        <p:nvSpPr>
          <p:cNvPr id="124946" name="Rectangle 18"/>
          <p:cNvSpPr>
            <a:spLocks noChangeArrowheads="1"/>
          </p:cNvSpPr>
          <p:nvPr/>
        </p:nvSpPr>
        <p:spPr bwMode="auto">
          <a:xfrm>
            <a:off x="7227888" y="1763713"/>
            <a:ext cx="438150" cy="457200"/>
          </a:xfrm>
          <a:prstGeom prst="rect">
            <a:avLst/>
          </a:prstGeom>
          <a:noFill/>
          <a:ln w="9525">
            <a:noFill/>
            <a:miter lim="800000"/>
            <a:headEnd/>
            <a:tailEnd/>
          </a:ln>
          <a:effectLst/>
        </p:spPr>
        <p:txBody>
          <a:bodyPr wrap="none">
            <a:spAutoFit/>
          </a:bodyPr>
          <a:lstStyle/>
          <a:p>
            <a:r>
              <a:rPr lang="en-US" altLang="zh-CN" b="1" i="1">
                <a:solidFill>
                  <a:schemeClr val="bg1"/>
                </a:solidFill>
              </a:rPr>
              <a:t>p</a:t>
            </a:r>
            <a:r>
              <a:rPr lang="en-US" altLang="zh-CN" b="1" i="1" baseline="-20000">
                <a:solidFill>
                  <a:schemeClr val="bg1"/>
                </a:solidFill>
              </a:rPr>
              <a:t>x</a:t>
            </a:r>
          </a:p>
        </p:txBody>
      </p:sp>
      <p:grpSp>
        <p:nvGrpSpPr>
          <p:cNvPr id="124992" name="Group 64"/>
          <p:cNvGrpSpPr>
            <a:grpSpLocks/>
          </p:cNvGrpSpPr>
          <p:nvPr/>
        </p:nvGrpSpPr>
        <p:grpSpPr bwMode="auto">
          <a:xfrm>
            <a:off x="7210425" y="460375"/>
            <a:ext cx="398463" cy="3760788"/>
            <a:chOff x="4542" y="290"/>
            <a:chExt cx="251" cy="2369"/>
          </a:xfrm>
        </p:grpSpPr>
        <p:sp>
          <p:nvSpPr>
            <p:cNvPr id="38967" name="Line 6"/>
            <p:cNvSpPr>
              <a:spLocks noChangeShapeType="1"/>
            </p:cNvSpPr>
            <p:nvPr/>
          </p:nvSpPr>
          <p:spPr bwMode="auto">
            <a:xfrm>
              <a:off x="4542" y="290"/>
              <a:ext cx="0" cy="2369"/>
            </a:xfrm>
            <a:prstGeom prst="line">
              <a:avLst/>
            </a:prstGeom>
            <a:noFill/>
            <a:ln w="25400">
              <a:solidFill>
                <a:srgbClr val="00CCFF"/>
              </a:solidFill>
              <a:round/>
              <a:headEnd/>
              <a:tailEnd/>
            </a:ln>
            <a:effectLst/>
          </p:spPr>
          <p:txBody>
            <a:bodyPr/>
            <a:lstStyle/>
            <a:p>
              <a:endParaRPr lang="zh-CN" altLang="en-US"/>
            </a:p>
          </p:txBody>
        </p:sp>
        <p:sp>
          <p:nvSpPr>
            <p:cNvPr id="38968" name="Text Box 19"/>
            <p:cNvSpPr txBox="1">
              <a:spLocks noChangeArrowheads="1"/>
            </p:cNvSpPr>
            <p:nvPr/>
          </p:nvSpPr>
          <p:spPr bwMode="auto">
            <a:xfrm>
              <a:off x="4581" y="1423"/>
              <a:ext cx="212" cy="288"/>
            </a:xfrm>
            <a:prstGeom prst="rect">
              <a:avLst/>
            </a:prstGeom>
            <a:noFill/>
            <a:ln w="9525">
              <a:noFill/>
              <a:miter lim="800000"/>
              <a:headEnd/>
              <a:tailEnd/>
            </a:ln>
            <a:effectLst/>
          </p:spPr>
          <p:txBody>
            <a:bodyPr wrap="none">
              <a:spAutoFit/>
            </a:bodyPr>
            <a:lstStyle/>
            <a:p>
              <a:r>
                <a:rPr lang="en-US" altLang="zh-CN" b="1">
                  <a:solidFill>
                    <a:srgbClr val="3333CC"/>
                  </a:solidFill>
                </a:rPr>
                <a:t>0</a:t>
              </a:r>
            </a:p>
          </p:txBody>
        </p:sp>
      </p:grpSp>
      <p:sp>
        <p:nvSpPr>
          <p:cNvPr id="124948" name="Text Box 20"/>
          <p:cNvSpPr txBox="1">
            <a:spLocks noChangeArrowheads="1"/>
          </p:cNvSpPr>
          <p:nvPr/>
        </p:nvSpPr>
        <p:spPr bwMode="auto">
          <a:xfrm>
            <a:off x="476250" y="3878263"/>
            <a:ext cx="7543800" cy="549275"/>
          </a:xfrm>
          <a:prstGeom prst="rect">
            <a:avLst/>
          </a:prstGeom>
          <a:noFill/>
          <a:ln w="9525">
            <a:noFill/>
            <a:miter lim="800000"/>
            <a:headEnd/>
            <a:tailEnd/>
          </a:ln>
          <a:effectLst/>
        </p:spPr>
        <p:txBody>
          <a:bodyPr>
            <a:spAutoFit/>
          </a:bodyPr>
          <a:lstStyle/>
          <a:p>
            <a:pPr>
              <a:lnSpc>
                <a:spcPct val="125000"/>
              </a:lnSpc>
            </a:pPr>
            <a:r>
              <a:rPr lang="zh-CN" altLang="en-US" b="1">
                <a:solidFill>
                  <a:schemeClr val="bg1"/>
                </a:solidFill>
                <a:latin typeface="宋体" charset="-122"/>
              </a:rPr>
              <a:t>电子经过狭缝，其坐标</a:t>
            </a:r>
            <a:r>
              <a:rPr lang="en-US" altLang="zh-CN" b="1" i="1">
                <a:solidFill>
                  <a:schemeClr val="accent2"/>
                </a:solidFill>
              </a:rPr>
              <a:t>x</a:t>
            </a:r>
            <a:r>
              <a:rPr lang="en-US" altLang="zh-CN" b="1">
                <a:solidFill>
                  <a:schemeClr val="accent2"/>
                </a:solidFill>
              </a:rPr>
              <a:t> </a:t>
            </a:r>
            <a:r>
              <a:rPr lang="zh-CN" altLang="en-US" b="1">
                <a:solidFill>
                  <a:schemeClr val="bg1"/>
                </a:solidFill>
                <a:latin typeface="宋体" charset="-122"/>
              </a:rPr>
              <a:t>的不确定量为</a:t>
            </a:r>
            <a:r>
              <a:rPr lang="zh-CN" altLang="en-US" b="1">
                <a:solidFill>
                  <a:schemeClr val="accent2"/>
                </a:solidFill>
              </a:rPr>
              <a:t>△</a:t>
            </a:r>
            <a:r>
              <a:rPr lang="en-US" altLang="zh-CN" b="1" i="1">
                <a:solidFill>
                  <a:schemeClr val="accent2"/>
                </a:solidFill>
              </a:rPr>
              <a:t>x</a:t>
            </a:r>
            <a:r>
              <a:rPr lang="en-US" altLang="zh-CN" b="1" i="1">
                <a:solidFill>
                  <a:schemeClr val="bg1"/>
                </a:solidFill>
                <a:latin typeface="宋体" charset="-122"/>
              </a:rPr>
              <a:t> </a:t>
            </a:r>
            <a:r>
              <a:rPr lang="zh-CN" altLang="en-US" b="1">
                <a:solidFill>
                  <a:schemeClr val="bg1"/>
                </a:solidFill>
                <a:latin typeface="宋体" charset="-122"/>
              </a:rPr>
              <a:t>；</a:t>
            </a:r>
          </a:p>
        </p:txBody>
      </p:sp>
      <p:grpSp>
        <p:nvGrpSpPr>
          <p:cNvPr id="124990" name="Group 62"/>
          <p:cNvGrpSpPr>
            <a:grpSpLocks/>
          </p:cNvGrpSpPr>
          <p:nvPr/>
        </p:nvGrpSpPr>
        <p:grpSpPr bwMode="auto">
          <a:xfrm>
            <a:off x="457200" y="1408113"/>
            <a:ext cx="1447800" cy="2209800"/>
            <a:chOff x="288" y="887"/>
            <a:chExt cx="912" cy="1392"/>
          </a:xfrm>
        </p:grpSpPr>
        <p:sp>
          <p:nvSpPr>
            <p:cNvPr id="38961" name="Line 21"/>
            <p:cNvSpPr>
              <a:spLocks noChangeShapeType="1"/>
            </p:cNvSpPr>
            <p:nvPr/>
          </p:nvSpPr>
          <p:spPr bwMode="auto">
            <a:xfrm>
              <a:off x="624" y="887"/>
              <a:ext cx="576" cy="0"/>
            </a:xfrm>
            <a:prstGeom prst="line">
              <a:avLst/>
            </a:prstGeom>
            <a:noFill/>
            <a:ln w="38100">
              <a:solidFill>
                <a:schemeClr val="tx2"/>
              </a:solidFill>
              <a:round/>
              <a:headEnd/>
              <a:tailEnd type="triangle" w="med" len="lg"/>
            </a:ln>
            <a:effectLst/>
          </p:spPr>
          <p:txBody>
            <a:bodyPr/>
            <a:lstStyle/>
            <a:p>
              <a:endParaRPr lang="zh-CN" altLang="en-US"/>
            </a:p>
          </p:txBody>
        </p:sp>
        <p:sp>
          <p:nvSpPr>
            <p:cNvPr id="38962" name="Line 22"/>
            <p:cNvSpPr>
              <a:spLocks noChangeShapeType="1"/>
            </p:cNvSpPr>
            <p:nvPr/>
          </p:nvSpPr>
          <p:spPr bwMode="auto">
            <a:xfrm>
              <a:off x="624" y="1223"/>
              <a:ext cx="576" cy="0"/>
            </a:xfrm>
            <a:prstGeom prst="line">
              <a:avLst/>
            </a:prstGeom>
            <a:noFill/>
            <a:ln w="38100">
              <a:solidFill>
                <a:schemeClr val="tx2"/>
              </a:solidFill>
              <a:round/>
              <a:headEnd/>
              <a:tailEnd type="triangle" w="med" len="lg"/>
            </a:ln>
            <a:effectLst/>
          </p:spPr>
          <p:txBody>
            <a:bodyPr/>
            <a:lstStyle/>
            <a:p>
              <a:endParaRPr lang="zh-CN" altLang="en-US"/>
            </a:p>
          </p:txBody>
        </p:sp>
        <p:sp>
          <p:nvSpPr>
            <p:cNvPr id="38963" name="Line 23"/>
            <p:cNvSpPr>
              <a:spLocks noChangeShapeType="1"/>
            </p:cNvSpPr>
            <p:nvPr/>
          </p:nvSpPr>
          <p:spPr bwMode="auto">
            <a:xfrm>
              <a:off x="624" y="1559"/>
              <a:ext cx="576" cy="0"/>
            </a:xfrm>
            <a:prstGeom prst="line">
              <a:avLst/>
            </a:prstGeom>
            <a:noFill/>
            <a:ln w="38100">
              <a:solidFill>
                <a:schemeClr val="tx2"/>
              </a:solidFill>
              <a:round/>
              <a:headEnd/>
              <a:tailEnd type="triangle" w="med" len="lg"/>
            </a:ln>
            <a:effectLst/>
          </p:spPr>
          <p:txBody>
            <a:bodyPr/>
            <a:lstStyle/>
            <a:p>
              <a:endParaRPr lang="zh-CN" altLang="en-US"/>
            </a:p>
          </p:txBody>
        </p:sp>
        <p:sp>
          <p:nvSpPr>
            <p:cNvPr id="38964" name="Line 24"/>
            <p:cNvSpPr>
              <a:spLocks noChangeShapeType="1"/>
            </p:cNvSpPr>
            <p:nvPr/>
          </p:nvSpPr>
          <p:spPr bwMode="auto">
            <a:xfrm>
              <a:off x="624" y="1895"/>
              <a:ext cx="576" cy="0"/>
            </a:xfrm>
            <a:prstGeom prst="line">
              <a:avLst/>
            </a:prstGeom>
            <a:noFill/>
            <a:ln w="38100">
              <a:solidFill>
                <a:schemeClr val="tx2"/>
              </a:solidFill>
              <a:round/>
              <a:headEnd/>
              <a:tailEnd type="triangle" w="med" len="lg"/>
            </a:ln>
            <a:effectLst/>
          </p:spPr>
          <p:txBody>
            <a:bodyPr/>
            <a:lstStyle/>
            <a:p>
              <a:endParaRPr lang="zh-CN" altLang="en-US"/>
            </a:p>
          </p:txBody>
        </p:sp>
        <p:sp>
          <p:nvSpPr>
            <p:cNvPr id="38965" name="Line 25"/>
            <p:cNvSpPr>
              <a:spLocks noChangeShapeType="1"/>
            </p:cNvSpPr>
            <p:nvPr/>
          </p:nvSpPr>
          <p:spPr bwMode="auto">
            <a:xfrm>
              <a:off x="624" y="2279"/>
              <a:ext cx="576" cy="0"/>
            </a:xfrm>
            <a:prstGeom prst="line">
              <a:avLst/>
            </a:prstGeom>
            <a:noFill/>
            <a:ln w="38100">
              <a:solidFill>
                <a:schemeClr val="tx2"/>
              </a:solidFill>
              <a:round/>
              <a:headEnd/>
              <a:tailEnd type="triangle" w="med" len="lg"/>
            </a:ln>
            <a:effectLst/>
          </p:spPr>
          <p:txBody>
            <a:bodyPr/>
            <a:lstStyle/>
            <a:p>
              <a:endParaRPr lang="zh-CN" altLang="en-US"/>
            </a:p>
          </p:txBody>
        </p:sp>
        <p:sp>
          <p:nvSpPr>
            <p:cNvPr id="38966" name="Text Box 26"/>
            <p:cNvSpPr txBox="1">
              <a:spLocks noChangeArrowheads="1"/>
            </p:cNvSpPr>
            <p:nvPr/>
          </p:nvSpPr>
          <p:spPr bwMode="auto">
            <a:xfrm>
              <a:off x="288" y="1221"/>
              <a:ext cx="428" cy="634"/>
            </a:xfrm>
            <a:prstGeom prst="rect">
              <a:avLst/>
            </a:prstGeom>
            <a:noFill/>
            <a:ln w="9525">
              <a:noFill/>
              <a:miter lim="800000"/>
              <a:headEnd/>
              <a:tailEnd/>
            </a:ln>
            <a:effectLst/>
          </p:spPr>
          <p:txBody>
            <a:bodyPr>
              <a:spAutoFit/>
            </a:bodyPr>
            <a:lstStyle/>
            <a:p>
              <a:r>
                <a:rPr lang="zh-CN" altLang="en-US" sz="2000" b="1">
                  <a:solidFill>
                    <a:schemeClr val="tx2"/>
                  </a:solidFill>
                </a:rPr>
                <a:t>电子束</a:t>
              </a:r>
            </a:p>
          </p:txBody>
        </p:sp>
      </p:grpSp>
      <p:grpSp>
        <p:nvGrpSpPr>
          <p:cNvPr id="124991" name="Group 63"/>
          <p:cNvGrpSpPr>
            <a:grpSpLocks/>
          </p:cNvGrpSpPr>
          <p:nvPr/>
        </p:nvGrpSpPr>
        <p:grpSpPr bwMode="auto">
          <a:xfrm>
            <a:off x="1979613" y="1268413"/>
            <a:ext cx="687387" cy="2651125"/>
            <a:chOff x="1247" y="799"/>
            <a:chExt cx="433" cy="1670"/>
          </a:xfrm>
        </p:grpSpPr>
        <p:sp>
          <p:nvSpPr>
            <p:cNvPr id="38953" name="Line 3"/>
            <p:cNvSpPr>
              <a:spLocks noChangeShapeType="1"/>
            </p:cNvSpPr>
            <p:nvPr/>
          </p:nvSpPr>
          <p:spPr bwMode="auto">
            <a:xfrm>
              <a:off x="1680" y="799"/>
              <a:ext cx="0" cy="1670"/>
            </a:xfrm>
            <a:prstGeom prst="line">
              <a:avLst/>
            </a:prstGeom>
            <a:noFill/>
            <a:ln w="76200">
              <a:solidFill>
                <a:srgbClr val="CCCC00"/>
              </a:solidFill>
              <a:round/>
              <a:headEnd/>
              <a:tailEnd/>
            </a:ln>
            <a:effectLst/>
          </p:spPr>
          <p:txBody>
            <a:bodyPr/>
            <a:lstStyle/>
            <a:p>
              <a:endParaRPr lang="zh-CN" altLang="en-US"/>
            </a:p>
          </p:txBody>
        </p:sp>
        <p:sp>
          <p:nvSpPr>
            <p:cNvPr id="38954" name="Line 4"/>
            <p:cNvSpPr>
              <a:spLocks noChangeShapeType="1"/>
            </p:cNvSpPr>
            <p:nvPr/>
          </p:nvSpPr>
          <p:spPr bwMode="auto">
            <a:xfrm>
              <a:off x="1680" y="1415"/>
              <a:ext cx="0" cy="288"/>
            </a:xfrm>
            <a:prstGeom prst="line">
              <a:avLst/>
            </a:prstGeom>
            <a:noFill/>
            <a:ln w="76200">
              <a:solidFill>
                <a:schemeClr val="tx1"/>
              </a:solidFill>
              <a:round/>
              <a:headEnd/>
              <a:tailEnd/>
            </a:ln>
            <a:effectLst/>
          </p:spPr>
          <p:txBody>
            <a:bodyPr/>
            <a:lstStyle/>
            <a:p>
              <a:endParaRPr lang="zh-CN" altLang="en-US"/>
            </a:p>
          </p:txBody>
        </p:sp>
        <p:grpSp>
          <p:nvGrpSpPr>
            <p:cNvPr id="38955" name="Group 27"/>
            <p:cNvGrpSpPr>
              <a:grpSpLocks/>
            </p:cNvGrpSpPr>
            <p:nvPr/>
          </p:nvGrpSpPr>
          <p:grpSpPr bwMode="auto">
            <a:xfrm>
              <a:off x="1247" y="1077"/>
              <a:ext cx="389" cy="1207"/>
              <a:chOff x="1291" y="1440"/>
              <a:chExt cx="389" cy="1207"/>
            </a:xfrm>
          </p:grpSpPr>
          <p:sp>
            <p:nvSpPr>
              <p:cNvPr id="38956" name="Line 28"/>
              <p:cNvSpPr>
                <a:spLocks noChangeShapeType="1"/>
              </p:cNvSpPr>
              <p:nvPr/>
            </p:nvSpPr>
            <p:spPr bwMode="auto">
              <a:xfrm>
                <a:off x="1440" y="1776"/>
                <a:ext cx="192" cy="0"/>
              </a:xfrm>
              <a:prstGeom prst="line">
                <a:avLst/>
              </a:prstGeom>
              <a:noFill/>
              <a:ln w="9525">
                <a:solidFill>
                  <a:srgbClr val="0000FF"/>
                </a:solidFill>
                <a:round/>
                <a:headEnd/>
                <a:tailEnd/>
              </a:ln>
              <a:effectLst/>
            </p:spPr>
            <p:txBody>
              <a:bodyPr/>
              <a:lstStyle/>
              <a:p>
                <a:endParaRPr lang="zh-CN" altLang="en-US"/>
              </a:p>
            </p:txBody>
          </p:sp>
          <p:sp>
            <p:nvSpPr>
              <p:cNvPr id="38957" name="Line 29"/>
              <p:cNvSpPr>
                <a:spLocks noChangeShapeType="1"/>
              </p:cNvSpPr>
              <p:nvPr/>
            </p:nvSpPr>
            <p:spPr bwMode="auto">
              <a:xfrm>
                <a:off x="1440" y="2064"/>
                <a:ext cx="192" cy="0"/>
              </a:xfrm>
              <a:prstGeom prst="line">
                <a:avLst/>
              </a:prstGeom>
              <a:noFill/>
              <a:ln w="9525">
                <a:solidFill>
                  <a:srgbClr val="0000FF"/>
                </a:solidFill>
                <a:round/>
                <a:headEnd/>
                <a:tailEnd/>
              </a:ln>
              <a:effectLst/>
            </p:spPr>
            <p:txBody>
              <a:bodyPr/>
              <a:lstStyle/>
              <a:p>
                <a:endParaRPr lang="zh-CN" altLang="en-US"/>
              </a:p>
            </p:txBody>
          </p:sp>
          <p:sp>
            <p:nvSpPr>
              <p:cNvPr id="38958" name="Line 30"/>
              <p:cNvSpPr>
                <a:spLocks noChangeShapeType="1"/>
              </p:cNvSpPr>
              <p:nvPr/>
            </p:nvSpPr>
            <p:spPr bwMode="auto">
              <a:xfrm>
                <a:off x="1488" y="2064"/>
                <a:ext cx="0" cy="336"/>
              </a:xfrm>
              <a:prstGeom prst="line">
                <a:avLst/>
              </a:prstGeom>
              <a:noFill/>
              <a:ln w="38100">
                <a:solidFill>
                  <a:srgbClr val="0000FF"/>
                </a:solidFill>
                <a:round/>
                <a:headEnd type="triangle" w="med" len="med"/>
                <a:tailEnd/>
              </a:ln>
              <a:effectLst/>
            </p:spPr>
            <p:txBody>
              <a:bodyPr/>
              <a:lstStyle/>
              <a:p>
                <a:endParaRPr lang="zh-CN" altLang="en-US"/>
              </a:p>
            </p:txBody>
          </p:sp>
          <p:sp>
            <p:nvSpPr>
              <p:cNvPr id="38959" name="Line 31"/>
              <p:cNvSpPr>
                <a:spLocks noChangeShapeType="1"/>
              </p:cNvSpPr>
              <p:nvPr/>
            </p:nvSpPr>
            <p:spPr bwMode="auto">
              <a:xfrm>
                <a:off x="1488" y="1440"/>
                <a:ext cx="0" cy="336"/>
              </a:xfrm>
              <a:prstGeom prst="line">
                <a:avLst/>
              </a:prstGeom>
              <a:noFill/>
              <a:ln w="38100">
                <a:solidFill>
                  <a:srgbClr val="0000FF"/>
                </a:solidFill>
                <a:round/>
                <a:headEnd/>
                <a:tailEnd type="triangle" w="med" len="med"/>
              </a:ln>
              <a:effectLst/>
            </p:spPr>
            <p:txBody>
              <a:bodyPr/>
              <a:lstStyle/>
              <a:p>
                <a:endParaRPr lang="zh-CN" altLang="en-US"/>
              </a:p>
            </p:txBody>
          </p:sp>
          <p:sp>
            <p:nvSpPr>
              <p:cNvPr id="38960" name="Rectangle 32"/>
              <p:cNvSpPr>
                <a:spLocks noChangeArrowheads="1"/>
              </p:cNvSpPr>
              <p:nvPr/>
            </p:nvSpPr>
            <p:spPr bwMode="auto">
              <a:xfrm>
                <a:off x="1291" y="2320"/>
                <a:ext cx="389" cy="327"/>
              </a:xfrm>
              <a:prstGeom prst="rect">
                <a:avLst/>
              </a:prstGeom>
              <a:noFill/>
              <a:ln w="9525">
                <a:noFill/>
                <a:miter lim="800000"/>
                <a:headEnd/>
                <a:tailEnd/>
              </a:ln>
              <a:effectLst/>
            </p:spPr>
            <p:txBody>
              <a:bodyPr wrap="none">
                <a:spAutoFit/>
              </a:bodyPr>
              <a:lstStyle/>
              <a:p>
                <a:r>
                  <a:rPr lang="en-US" altLang="zh-CN" sz="2000" b="1">
                    <a:solidFill>
                      <a:srgbClr val="0000FF"/>
                    </a:solidFill>
                  </a:rPr>
                  <a:t>△</a:t>
                </a:r>
                <a:r>
                  <a:rPr lang="en-US" altLang="zh-CN" sz="2800" b="1" i="1">
                    <a:solidFill>
                      <a:srgbClr val="0000FF"/>
                    </a:solidFill>
                  </a:rPr>
                  <a:t>x</a:t>
                </a:r>
              </a:p>
            </p:txBody>
          </p:sp>
        </p:grpSp>
      </p:grpSp>
      <p:grpSp>
        <p:nvGrpSpPr>
          <p:cNvPr id="124962" name="Group 34"/>
          <p:cNvGrpSpPr>
            <a:grpSpLocks/>
          </p:cNvGrpSpPr>
          <p:nvPr/>
        </p:nvGrpSpPr>
        <p:grpSpPr bwMode="auto">
          <a:xfrm>
            <a:off x="2533650" y="439738"/>
            <a:ext cx="361950" cy="835025"/>
            <a:chOff x="1596" y="624"/>
            <a:chExt cx="228" cy="526"/>
          </a:xfrm>
        </p:grpSpPr>
        <p:sp>
          <p:nvSpPr>
            <p:cNvPr id="38951" name="Text Box 35"/>
            <p:cNvSpPr txBox="1">
              <a:spLocks noChangeArrowheads="1"/>
            </p:cNvSpPr>
            <p:nvPr/>
          </p:nvSpPr>
          <p:spPr bwMode="auto">
            <a:xfrm>
              <a:off x="1596" y="624"/>
              <a:ext cx="228" cy="327"/>
            </a:xfrm>
            <a:prstGeom prst="rect">
              <a:avLst/>
            </a:prstGeom>
            <a:noFill/>
            <a:ln w="9525">
              <a:noFill/>
              <a:miter lim="800000"/>
              <a:headEnd/>
              <a:tailEnd/>
            </a:ln>
            <a:effectLst/>
          </p:spPr>
          <p:txBody>
            <a:bodyPr wrap="none">
              <a:spAutoFit/>
            </a:bodyPr>
            <a:lstStyle/>
            <a:p>
              <a:r>
                <a:rPr lang="en-US" altLang="zh-CN" sz="2800" b="1" i="1">
                  <a:solidFill>
                    <a:schemeClr val="bg1"/>
                  </a:solidFill>
                </a:rPr>
                <a:t>x</a:t>
              </a:r>
            </a:p>
          </p:txBody>
        </p:sp>
        <p:sp>
          <p:nvSpPr>
            <p:cNvPr id="38952" name="Line 36"/>
            <p:cNvSpPr>
              <a:spLocks noChangeShapeType="1"/>
            </p:cNvSpPr>
            <p:nvPr/>
          </p:nvSpPr>
          <p:spPr bwMode="auto">
            <a:xfrm>
              <a:off x="1680" y="912"/>
              <a:ext cx="0" cy="238"/>
            </a:xfrm>
            <a:prstGeom prst="line">
              <a:avLst/>
            </a:prstGeom>
            <a:noFill/>
            <a:ln w="19050">
              <a:solidFill>
                <a:schemeClr val="bg1"/>
              </a:solidFill>
              <a:round/>
              <a:headEnd type="triangle" w="med" len="med"/>
              <a:tailEnd/>
            </a:ln>
            <a:effectLst/>
          </p:spPr>
          <p:txBody>
            <a:bodyPr/>
            <a:lstStyle/>
            <a:p>
              <a:endParaRPr lang="zh-CN" altLang="en-US"/>
            </a:p>
          </p:txBody>
        </p:sp>
      </p:grpSp>
      <p:graphicFrame>
        <p:nvGraphicFramePr>
          <p:cNvPr id="124965" name="Object 37"/>
          <p:cNvGraphicFramePr>
            <a:graphicFrameLocks noChangeAspect="1"/>
          </p:cNvGraphicFramePr>
          <p:nvPr/>
        </p:nvGraphicFramePr>
        <p:xfrm>
          <a:off x="746125" y="819150"/>
          <a:ext cx="1225550" cy="422275"/>
        </p:xfrm>
        <a:graphic>
          <a:graphicData uri="http://schemas.openxmlformats.org/presentationml/2006/ole">
            <p:oleObj spid="_x0000_s38930" name="公式" r:id="rId7" imgW="480600" imgH="154800" progId="Equation.3">
              <p:embed/>
            </p:oleObj>
          </a:graphicData>
        </a:graphic>
      </p:graphicFrame>
      <p:grpSp>
        <p:nvGrpSpPr>
          <p:cNvPr id="124993" name="Group 65"/>
          <p:cNvGrpSpPr>
            <a:grpSpLocks/>
          </p:cNvGrpSpPr>
          <p:nvPr/>
        </p:nvGrpSpPr>
        <p:grpSpPr bwMode="auto">
          <a:xfrm>
            <a:off x="2997200" y="863600"/>
            <a:ext cx="1376363" cy="1616075"/>
            <a:chOff x="1888" y="544"/>
            <a:chExt cx="867" cy="1018"/>
          </a:xfrm>
        </p:grpSpPr>
        <p:sp>
          <p:nvSpPr>
            <p:cNvPr id="38948" name="Line 11"/>
            <p:cNvSpPr>
              <a:spLocks noChangeShapeType="1"/>
            </p:cNvSpPr>
            <p:nvPr/>
          </p:nvSpPr>
          <p:spPr bwMode="auto">
            <a:xfrm flipV="1">
              <a:off x="2228" y="969"/>
              <a:ext cx="57" cy="539"/>
            </a:xfrm>
            <a:prstGeom prst="line">
              <a:avLst/>
            </a:prstGeom>
            <a:noFill/>
            <a:ln w="19050">
              <a:solidFill>
                <a:srgbClr val="CC00CC"/>
              </a:solidFill>
              <a:round/>
              <a:headEnd/>
              <a:tailEnd/>
            </a:ln>
            <a:effectLst/>
          </p:spPr>
          <p:txBody>
            <a:bodyPr/>
            <a:lstStyle/>
            <a:p>
              <a:endParaRPr lang="zh-CN" altLang="en-US"/>
            </a:p>
          </p:txBody>
        </p:sp>
        <p:graphicFrame>
          <p:nvGraphicFramePr>
            <p:cNvPr id="38949" name="Object 38"/>
            <p:cNvGraphicFramePr>
              <a:graphicFrameLocks noChangeAspect="1"/>
            </p:cNvGraphicFramePr>
            <p:nvPr/>
          </p:nvGraphicFramePr>
          <p:xfrm>
            <a:off x="1888" y="544"/>
            <a:ext cx="867" cy="499"/>
          </p:xfrm>
          <a:graphic>
            <a:graphicData uri="http://schemas.openxmlformats.org/presentationml/2006/ole">
              <p:oleObj spid="_x0000_s38949" name="公式" r:id="rId8" imgW="569880" imgH="318240" progId="Equation.3">
                <p:embed/>
              </p:oleObj>
            </a:graphicData>
          </a:graphic>
        </p:graphicFrame>
        <p:sp>
          <p:nvSpPr>
            <p:cNvPr id="38950" name="Freeform 39"/>
            <p:cNvSpPr>
              <a:spLocks/>
            </p:cNvSpPr>
            <p:nvPr/>
          </p:nvSpPr>
          <p:spPr bwMode="auto">
            <a:xfrm rot="990262">
              <a:off x="2134" y="1451"/>
              <a:ext cx="48" cy="111"/>
            </a:xfrm>
            <a:custGeom>
              <a:avLst/>
              <a:gdLst>
                <a:gd name="T0" fmla="*/ 0 w 57"/>
                <a:gd name="T1" fmla="*/ 0 h 126"/>
                <a:gd name="T2" fmla="*/ 40 w 57"/>
                <a:gd name="T3" fmla="*/ 98 h 126"/>
                <a:gd name="T4" fmla="*/ 0 60000 65536"/>
                <a:gd name="T5" fmla="*/ 0 60000 65536"/>
              </a:gdLst>
              <a:ahLst/>
              <a:cxnLst>
                <a:cxn ang="T4">
                  <a:pos x="T0" y="T1"/>
                </a:cxn>
                <a:cxn ang="T5">
                  <a:pos x="T2" y="T3"/>
                </a:cxn>
              </a:cxnLst>
              <a:rect l="0" t="0" r="r" b="b"/>
              <a:pathLst>
                <a:path w="57" h="126">
                  <a:moveTo>
                    <a:pt x="0" y="0"/>
                  </a:moveTo>
                  <a:cubicBezTo>
                    <a:pt x="48" y="33"/>
                    <a:pt x="57" y="67"/>
                    <a:pt x="57" y="126"/>
                  </a:cubicBezTo>
                </a:path>
              </a:pathLst>
            </a:custGeom>
            <a:noFill/>
            <a:ln w="19050" cmpd="sng">
              <a:solidFill>
                <a:srgbClr val="CC00CC"/>
              </a:solidFill>
              <a:round/>
              <a:headEnd/>
              <a:tailEnd/>
            </a:ln>
            <a:effectLst/>
          </p:spPr>
          <p:txBody>
            <a:bodyPr/>
            <a:lstStyle/>
            <a:p>
              <a:endParaRPr lang="zh-CN" altLang="en-US"/>
            </a:p>
          </p:txBody>
        </p:sp>
      </p:grpSp>
      <p:sp>
        <p:nvSpPr>
          <p:cNvPr id="124968" name="Text Box 40"/>
          <p:cNvSpPr txBox="1">
            <a:spLocks noChangeArrowheads="1"/>
          </p:cNvSpPr>
          <p:nvPr/>
        </p:nvSpPr>
        <p:spPr bwMode="auto">
          <a:xfrm>
            <a:off x="3852863" y="5138738"/>
            <a:ext cx="5310187" cy="457200"/>
          </a:xfrm>
          <a:prstGeom prst="rect">
            <a:avLst/>
          </a:prstGeom>
          <a:noFill/>
          <a:ln w="9525">
            <a:noFill/>
            <a:miter lim="800000"/>
            <a:headEnd/>
            <a:tailEnd/>
          </a:ln>
          <a:effectLst/>
        </p:spPr>
        <p:txBody>
          <a:bodyPr>
            <a:spAutoFit/>
          </a:bodyPr>
          <a:lstStyle/>
          <a:p>
            <a:r>
              <a:rPr lang="zh-CN" altLang="en-US" b="1">
                <a:solidFill>
                  <a:srgbClr val="0000FF"/>
                </a:solidFill>
                <a:latin typeface="楷体_GB2312" pitchFamily="49" charset="-122"/>
                <a:ea typeface="楷体_GB2312" pitchFamily="49" charset="-122"/>
              </a:rPr>
              <a:t>位置确定越准确，动量确定越不准确。</a:t>
            </a:r>
          </a:p>
        </p:txBody>
      </p:sp>
      <p:graphicFrame>
        <p:nvGraphicFramePr>
          <p:cNvPr id="124973" name="Object 45"/>
          <p:cNvGraphicFramePr>
            <a:graphicFrameLocks noChangeAspect="1"/>
          </p:cNvGraphicFramePr>
          <p:nvPr/>
        </p:nvGraphicFramePr>
        <p:xfrm>
          <a:off x="2411413" y="4978400"/>
          <a:ext cx="1439862" cy="746125"/>
        </p:xfrm>
        <a:graphic>
          <a:graphicData uri="http://schemas.openxmlformats.org/presentationml/2006/ole">
            <p:oleObj spid="_x0000_s38933" name="公式" r:id="rId9" imgW="578160" imgH="318240" progId="Equation.3">
              <p:embed/>
            </p:oleObj>
          </a:graphicData>
        </a:graphic>
      </p:graphicFrame>
      <p:sp>
        <p:nvSpPr>
          <p:cNvPr id="124974" name="Line 46"/>
          <p:cNvSpPr>
            <a:spLocks noChangeShapeType="1"/>
          </p:cNvSpPr>
          <p:nvPr/>
        </p:nvSpPr>
        <p:spPr bwMode="auto">
          <a:xfrm flipV="1">
            <a:off x="4886325" y="1449388"/>
            <a:ext cx="2295525" cy="493712"/>
          </a:xfrm>
          <a:prstGeom prst="line">
            <a:avLst/>
          </a:prstGeom>
          <a:noFill/>
          <a:ln w="22225">
            <a:solidFill>
              <a:srgbClr val="000080"/>
            </a:solidFill>
            <a:round/>
            <a:headEnd/>
            <a:tailEnd type="triangle" w="lg" len="lg"/>
          </a:ln>
          <a:effectLst/>
        </p:spPr>
        <p:txBody>
          <a:bodyPr/>
          <a:lstStyle/>
          <a:p>
            <a:endParaRPr lang="zh-CN" altLang="en-US"/>
          </a:p>
        </p:txBody>
      </p:sp>
      <p:sp>
        <p:nvSpPr>
          <p:cNvPr id="124977" name="Line 49"/>
          <p:cNvSpPr>
            <a:spLocks noChangeShapeType="1"/>
          </p:cNvSpPr>
          <p:nvPr/>
        </p:nvSpPr>
        <p:spPr bwMode="auto">
          <a:xfrm flipV="1">
            <a:off x="2771775" y="1403350"/>
            <a:ext cx="4456113" cy="1081088"/>
          </a:xfrm>
          <a:prstGeom prst="line">
            <a:avLst/>
          </a:prstGeom>
          <a:noFill/>
          <a:ln w="22225">
            <a:solidFill>
              <a:schemeClr val="bg2"/>
            </a:solidFill>
            <a:prstDash val="dash"/>
            <a:round/>
            <a:headEnd/>
            <a:tailEnd/>
          </a:ln>
          <a:effectLst/>
        </p:spPr>
        <p:txBody>
          <a:bodyPr/>
          <a:lstStyle/>
          <a:p>
            <a:endParaRPr lang="zh-CN" altLang="en-US"/>
          </a:p>
        </p:txBody>
      </p:sp>
      <p:grpSp>
        <p:nvGrpSpPr>
          <p:cNvPr id="124979" name="Group 51"/>
          <p:cNvGrpSpPr>
            <a:grpSpLocks/>
          </p:cNvGrpSpPr>
          <p:nvPr/>
        </p:nvGrpSpPr>
        <p:grpSpPr bwMode="auto">
          <a:xfrm rot="-5400000">
            <a:off x="3982244" y="1223169"/>
            <a:ext cx="4275138" cy="2476500"/>
            <a:chOff x="3108" y="3610"/>
            <a:chExt cx="4908" cy="2742"/>
          </a:xfrm>
        </p:grpSpPr>
        <p:sp>
          <p:nvSpPr>
            <p:cNvPr id="38945" name="Freeform 52"/>
            <p:cNvSpPr>
              <a:spLocks/>
            </p:cNvSpPr>
            <p:nvPr/>
          </p:nvSpPr>
          <p:spPr bwMode="auto">
            <a:xfrm flipH="1">
              <a:off x="3108" y="3972"/>
              <a:ext cx="2244" cy="2380"/>
            </a:xfrm>
            <a:custGeom>
              <a:avLst/>
              <a:gdLst>
                <a:gd name="T0" fmla="*/ 0 w 2244"/>
                <a:gd name="T1" fmla="*/ 0 h 2380"/>
                <a:gd name="T2" fmla="*/ 732 w 2244"/>
                <a:gd name="T3" fmla="*/ 2064 h 2380"/>
                <a:gd name="T4" fmla="*/ 1332 w 2244"/>
                <a:gd name="T5" fmla="*/ 1896 h 2380"/>
                <a:gd name="T6" fmla="*/ 1872 w 2244"/>
                <a:gd name="T7" fmla="*/ 2160 h 2380"/>
                <a:gd name="T8" fmla="*/ 2244 w 2244"/>
                <a:gd name="T9" fmla="*/ 2088 h 23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44" h="2380">
                  <a:moveTo>
                    <a:pt x="0" y="0"/>
                  </a:moveTo>
                  <a:cubicBezTo>
                    <a:pt x="255" y="874"/>
                    <a:pt x="510" y="1748"/>
                    <a:pt x="732" y="2064"/>
                  </a:cubicBezTo>
                  <a:cubicBezTo>
                    <a:pt x="954" y="2380"/>
                    <a:pt x="1142" y="1880"/>
                    <a:pt x="1332" y="1896"/>
                  </a:cubicBezTo>
                  <a:cubicBezTo>
                    <a:pt x="1522" y="1912"/>
                    <a:pt x="1720" y="2128"/>
                    <a:pt x="1872" y="2160"/>
                  </a:cubicBezTo>
                  <a:cubicBezTo>
                    <a:pt x="2024" y="2192"/>
                    <a:pt x="2134" y="2140"/>
                    <a:pt x="2244" y="2088"/>
                  </a:cubicBezTo>
                </a:path>
              </a:pathLst>
            </a:custGeom>
            <a:noFill/>
            <a:ln w="38100" cmpd="sng">
              <a:solidFill>
                <a:srgbClr val="0000FF"/>
              </a:solidFill>
              <a:round/>
              <a:headEnd/>
              <a:tailEnd/>
            </a:ln>
          </p:spPr>
          <p:txBody>
            <a:bodyPr/>
            <a:lstStyle/>
            <a:p>
              <a:endParaRPr lang="zh-CN" altLang="en-US"/>
            </a:p>
          </p:txBody>
        </p:sp>
        <p:sp>
          <p:nvSpPr>
            <p:cNvPr id="38946" name="Freeform 53"/>
            <p:cNvSpPr>
              <a:spLocks/>
            </p:cNvSpPr>
            <p:nvPr/>
          </p:nvSpPr>
          <p:spPr bwMode="auto">
            <a:xfrm>
              <a:off x="5772" y="3972"/>
              <a:ext cx="2244" cy="2380"/>
            </a:xfrm>
            <a:custGeom>
              <a:avLst/>
              <a:gdLst>
                <a:gd name="T0" fmla="*/ 0 w 2244"/>
                <a:gd name="T1" fmla="*/ 0 h 2380"/>
                <a:gd name="T2" fmla="*/ 732 w 2244"/>
                <a:gd name="T3" fmla="*/ 2064 h 2380"/>
                <a:gd name="T4" fmla="*/ 1332 w 2244"/>
                <a:gd name="T5" fmla="*/ 1896 h 2380"/>
                <a:gd name="T6" fmla="*/ 1872 w 2244"/>
                <a:gd name="T7" fmla="*/ 2160 h 2380"/>
                <a:gd name="T8" fmla="*/ 2244 w 2244"/>
                <a:gd name="T9" fmla="*/ 2088 h 23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44" h="2380">
                  <a:moveTo>
                    <a:pt x="0" y="0"/>
                  </a:moveTo>
                  <a:cubicBezTo>
                    <a:pt x="255" y="874"/>
                    <a:pt x="510" y="1748"/>
                    <a:pt x="732" y="2064"/>
                  </a:cubicBezTo>
                  <a:cubicBezTo>
                    <a:pt x="954" y="2380"/>
                    <a:pt x="1142" y="1880"/>
                    <a:pt x="1332" y="1896"/>
                  </a:cubicBezTo>
                  <a:cubicBezTo>
                    <a:pt x="1522" y="1912"/>
                    <a:pt x="1720" y="2128"/>
                    <a:pt x="1872" y="2160"/>
                  </a:cubicBezTo>
                  <a:cubicBezTo>
                    <a:pt x="2024" y="2192"/>
                    <a:pt x="2134" y="2140"/>
                    <a:pt x="2244" y="2088"/>
                  </a:cubicBezTo>
                </a:path>
              </a:pathLst>
            </a:custGeom>
            <a:noFill/>
            <a:ln w="38100" cmpd="sng">
              <a:solidFill>
                <a:srgbClr val="0000FF"/>
              </a:solidFill>
              <a:round/>
              <a:headEnd/>
              <a:tailEnd/>
            </a:ln>
          </p:spPr>
          <p:txBody>
            <a:bodyPr/>
            <a:lstStyle/>
            <a:p>
              <a:endParaRPr lang="zh-CN" altLang="en-US"/>
            </a:p>
          </p:txBody>
        </p:sp>
        <p:sp>
          <p:nvSpPr>
            <p:cNvPr id="38947" name="Freeform 54"/>
            <p:cNvSpPr>
              <a:spLocks/>
            </p:cNvSpPr>
            <p:nvPr/>
          </p:nvSpPr>
          <p:spPr bwMode="auto">
            <a:xfrm>
              <a:off x="5352" y="3610"/>
              <a:ext cx="420" cy="374"/>
            </a:xfrm>
            <a:custGeom>
              <a:avLst/>
              <a:gdLst>
                <a:gd name="T0" fmla="*/ 420 w 420"/>
                <a:gd name="T1" fmla="*/ 374 h 374"/>
                <a:gd name="T2" fmla="*/ 204 w 420"/>
                <a:gd name="T3" fmla="*/ 2 h 374"/>
                <a:gd name="T4" fmla="*/ 0 w 420"/>
                <a:gd name="T5" fmla="*/ 362 h 374"/>
                <a:gd name="T6" fmla="*/ 0 60000 65536"/>
                <a:gd name="T7" fmla="*/ 0 60000 65536"/>
                <a:gd name="T8" fmla="*/ 0 60000 65536"/>
              </a:gdLst>
              <a:ahLst/>
              <a:cxnLst>
                <a:cxn ang="T6">
                  <a:pos x="T0" y="T1"/>
                </a:cxn>
                <a:cxn ang="T7">
                  <a:pos x="T2" y="T3"/>
                </a:cxn>
                <a:cxn ang="T8">
                  <a:pos x="T4" y="T5"/>
                </a:cxn>
              </a:cxnLst>
              <a:rect l="0" t="0" r="r" b="b"/>
              <a:pathLst>
                <a:path w="420" h="374">
                  <a:moveTo>
                    <a:pt x="420" y="374"/>
                  </a:moveTo>
                  <a:cubicBezTo>
                    <a:pt x="347" y="189"/>
                    <a:pt x="274" y="4"/>
                    <a:pt x="204" y="2"/>
                  </a:cubicBezTo>
                  <a:cubicBezTo>
                    <a:pt x="134" y="0"/>
                    <a:pt x="67" y="181"/>
                    <a:pt x="0" y="362"/>
                  </a:cubicBezTo>
                </a:path>
              </a:pathLst>
            </a:custGeom>
            <a:noFill/>
            <a:ln w="38100" cmpd="sng">
              <a:solidFill>
                <a:srgbClr val="0000FF"/>
              </a:solidFill>
              <a:round/>
              <a:headEnd/>
              <a:tailEnd/>
            </a:ln>
          </p:spPr>
          <p:txBody>
            <a:bodyPr/>
            <a:lstStyle/>
            <a:p>
              <a:endParaRPr lang="zh-CN" altLang="en-US"/>
            </a:p>
          </p:txBody>
        </p:sp>
      </p:grpSp>
      <p:sp>
        <p:nvSpPr>
          <p:cNvPr id="124971" name="Line 43"/>
          <p:cNvSpPr>
            <a:spLocks noChangeShapeType="1"/>
          </p:cNvSpPr>
          <p:nvPr/>
        </p:nvSpPr>
        <p:spPr bwMode="auto">
          <a:xfrm flipV="1">
            <a:off x="7186613" y="1428750"/>
            <a:ext cx="0" cy="576263"/>
          </a:xfrm>
          <a:prstGeom prst="line">
            <a:avLst/>
          </a:prstGeom>
          <a:noFill/>
          <a:ln w="44450">
            <a:solidFill>
              <a:schemeClr val="hlink"/>
            </a:solidFill>
            <a:round/>
            <a:headEnd/>
            <a:tailEnd type="triangle" w="med" len="med"/>
          </a:ln>
          <a:effectLst/>
        </p:spPr>
        <p:txBody>
          <a:bodyPr/>
          <a:lstStyle/>
          <a:p>
            <a:endParaRPr lang="zh-CN" altLang="en-US"/>
          </a:p>
        </p:txBody>
      </p:sp>
      <p:sp>
        <p:nvSpPr>
          <p:cNvPr id="124983" name="Text Box 55"/>
          <p:cNvSpPr txBox="1">
            <a:spLocks noChangeArrowheads="1"/>
          </p:cNvSpPr>
          <p:nvPr/>
        </p:nvSpPr>
        <p:spPr bwMode="auto">
          <a:xfrm>
            <a:off x="476250" y="4356100"/>
            <a:ext cx="3689350" cy="512763"/>
          </a:xfrm>
          <a:prstGeom prst="rect">
            <a:avLst/>
          </a:prstGeom>
          <a:noFill/>
          <a:ln w="9525">
            <a:noFill/>
            <a:miter lim="800000"/>
            <a:headEnd/>
            <a:tailEnd/>
          </a:ln>
          <a:effectLst/>
        </p:spPr>
        <p:txBody>
          <a:bodyPr>
            <a:spAutoFit/>
          </a:bodyPr>
          <a:lstStyle/>
          <a:p>
            <a:pPr>
              <a:lnSpc>
                <a:spcPct val="115000"/>
              </a:lnSpc>
            </a:pPr>
            <a:r>
              <a:rPr lang="zh-CN" altLang="en-US" b="1">
                <a:solidFill>
                  <a:schemeClr val="bg2"/>
                </a:solidFill>
                <a:latin typeface="宋体" charset="-122"/>
                <a:sym typeface="Symbol" pitchFamily="18" charset="2"/>
              </a:rPr>
              <a:t>动量分量 </a:t>
            </a:r>
            <a:r>
              <a:rPr lang="en-US" altLang="zh-CN" b="1" i="1">
                <a:solidFill>
                  <a:schemeClr val="bg2"/>
                </a:solidFill>
              </a:rPr>
              <a:t>p</a:t>
            </a:r>
            <a:r>
              <a:rPr lang="en-US" altLang="zh-CN" b="1" i="1" baseline="-20000">
                <a:solidFill>
                  <a:schemeClr val="bg2"/>
                </a:solidFill>
              </a:rPr>
              <a:t>x</a:t>
            </a:r>
            <a:r>
              <a:rPr lang="zh-CN" altLang="en-US" b="1">
                <a:solidFill>
                  <a:schemeClr val="bg2"/>
                </a:solidFill>
                <a:latin typeface="宋体" charset="-122"/>
              </a:rPr>
              <a:t>的</a:t>
            </a:r>
            <a:r>
              <a:rPr lang="zh-CN" altLang="en-US" b="1">
                <a:solidFill>
                  <a:schemeClr val="bg2"/>
                </a:solidFill>
                <a:latin typeface="宋体" charset="-122"/>
                <a:sym typeface="Symbol" pitchFamily="18" charset="2"/>
              </a:rPr>
              <a:t>不确定量为</a:t>
            </a:r>
          </a:p>
        </p:txBody>
      </p:sp>
      <p:sp>
        <p:nvSpPr>
          <p:cNvPr id="124984" name="AutoShape 56"/>
          <p:cNvSpPr>
            <a:spLocks noChangeArrowheads="1"/>
          </p:cNvSpPr>
          <p:nvPr/>
        </p:nvSpPr>
        <p:spPr bwMode="auto">
          <a:xfrm>
            <a:off x="1871663" y="5292725"/>
            <a:ext cx="449262" cy="134938"/>
          </a:xfrm>
          <a:prstGeom prst="rightArrow">
            <a:avLst>
              <a:gd name="adj1" fmla="val 50000"/>
              <a:gd name="adj2" fmla="val 83235"/>
            </a:avLst>
          </a:prstGeom>
          <a:solidFill>
            <a:srgbClr val="33CCCC"/>
          </a:solidFill>
          <a:ln w="9525">
            <a:solidFill>
              <a:schemeClr val="tx1"/>
            </a:solidFill>
            <a:miter lim="800000"/>
            <a:headEnd/>
            <a:tailEnd/>
          </a:ln>
          <a:effectLst/>
        </p:spPr>
        <p:txBody>
          <a:bodyPr wrap="none" anchor="ctr"/>
          <a:lstStyle/>
          <a:p>
            <a:endParaRPr lang="zh-CN" altLang="en-US"/>
          </a:p>
        </p:txBody>
      </p:sp>
      <p:sp>
        <p:nvSpPr>
          <p:cNvPr id="124985" name="Text Box 57"/>
          <p:cNvSpPr txBox="1">
            <a:spLocks noChangeArrowheads="1"/>
          </p:cNvSpPr>
          <p:nvPr/>
        </p:nvSpPr>
        <p:spPr bwMode="auto">
          <a:xfrm>
            <a:off x="179388" y="5962650"/>
            <a:ext cx="2016125" cy="549275"/>
          </a:xfrm>
          <a:prstGeom prst="rect">
            <a:avLst/>
          </a:prstGeom>
          <a:noFill/>
          <a:ln w="9525">
            <a:noFill/>
            <a:miter lim="800000"/>
            <a:headEnd/>
            <a:tailEnd/>
          </a:ln>
          <a:effectLst/>
        </p:spPr>
        <p:txBody>
          <a:bodyPr>
            <a:spAutoFit/>
          </a:bodyPr>
          <a:lstStyle/>
          <a:p>
            <a:pPr>
              <a:lnSpc>
                <a:spcPct val="125000"/>
              </a:lnSpc>
              <a:buClr>
                <a:srgbClr val="0099FF"/>
              </a:buClr>
              <a:buFont typeface="Wingdings" pitchFamily="2" charset="2"/>
              <a:buNone/>
            </a:pPr>
            <a:r>
              <a:rPr lang="en-US" altLang="zh-CN" b="1">
                <a:solidFill>
                  <a:schemeClr val="hlink"/>
                </a:solidFill>
                <a:ea typeface="楷体_GB2312" pitchFamily="49" charset="-122"/>
              </a:rPr>
              <a:t>  </a:t>
            </a:r>
            <a:r>
              <a:rPr lang="zh-CN" altLang="en-US" b="1">
                <a:solidFill>
                  <a:schemeClr val="hlink"/>
                </a:solidFill>
              </a:rPr>
              <a:t>结论：</a:t>
            </a:r>
            <a:endParaRPr lang="zh-CN" altLang="en-US" b="1">
              <a:solidFill>
                <a:schemeClr val="hlink"/>
              </a:solidFill>
              <a:sym typeface="Symbol" pitchFamily="18" charset="2"/>
            </a:endParaRPr>
          </a:p>
        </p:txBody>
      </p:sp>
      <p:sp>
        <p:nvSpPr>
          <p:cNvPr id="124986" name="Rectangle 58"/>
          <p:cNvSpPr>
            <a:spLocks noChangeArrowheads="1"/>
          </p:cNvSpPr>
          <p:nvPr/>
        </p:nvSpPr>
        <p:spPr bwMode="auto">
          <a:xfrm>
            <a:off x="971550" y="6038850"/>
            <a:ext cx="4816475" cy="457200"/>
          </a:xfrm>
          <a:prstGeom prst="rect">
            <a:avLst/>
          </a:prstGeom>
          <a:noFill/>
          <a:ln w="9525">
            <a:noFill/>
            <a:miter lim="800000"/>
            <a:headEnd/>
            <a:tailEnd/>
          </a:ln>
          <a:effectLst/>
        </p:spPr>
        <p:txBody>
          <a:bodyPr>
            <a:spAutoFit/>
          </a:bodyPr>
          <a:lstStyle/>
          <a:p>
            <a:r>
              <a:rPr lang="zh-CN" altLang="en-US" b="1">
                <a:solidFill>
                  <a:schemeClr val="bg1"/>
                </a:solidFill>
              </a:rPr>
              <a:t>（</a:t>
            </a:r>
            <a:r>
              <a:rPr lang="en-US" altLang="zh-CN" b="1">
                <a:solidFill>
                  <a:schemeClr val="bg1"/>
                </a:solidFill>
              </a:rPr>
              <a:t>1</a:t>
            </a:r>
            <a:r>
              <a:rPr lang="zh-CN" altLang="en-US" b="1">
                <a:solidFill>
                  <a:schemeClr val="bg1"/>
                </a:solidFill>
              </a:rPr>
              <a:t>）微观粒子没有确定的轨道；</a:t>
            </a:r>
          </a:p>
        </p:txBody>
      </p:sp>
      <p:sp>
        <p:nvSpPr>
          <p:cNvPr id="124987" name="Rectangle 59"/>
          <p:cNvSpPr>
            <a:spLocks noChangeArrowheads="1"/>
          </p:cNvSpPr>
          <p:nvPr/>
        </p:nvSpPr>
        <p:spPr bwMode="auto">
          <a:xfrm>
            <a:off x="5246688" y="5994400"/>
            <a:ext cx="4105275"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a:t>
            </a:r>
            <a:r>
              <a:rPr lang="en-US" altLang="zh-CN" b="1">
                <a:solidFill>
                  <a:schemeClr val="bg1"/>
                </a:solidFill>
                <a:latin typeface="宋体" charset="-122"/>
              </a:rPr>
              <a:t>2</a:t>
            </a:r>
            <a:r>
              <a:rPr lang="zh-CN" altLang="en-US" b="1">
                <a:solidFill>
                  <a:schemeClr val="bg1"/>
                </a:solidFill>
                <a:latin typeface="宋体" charset="-122"/>
              </a:rPr>
              <a:t>）微观粒子不可能静止。</a:t>
            </a:r>
          </a:p>
        </p:txBody>
      </p:sp>
      <p:sp>
        <p:nvSpPr>
          <p:cNvPr id="124988" name="AutoShape 60"/>
          <p:cNvSpPr>
            <a:spLocks noChangeAspect="1" noChangeArrowheads="1"/>
          </p:cNvSpPr>
          <p:nvPr/>
        </p:nvSpPr>
        <p:spPr bwMode="auto">
          <a:xfrm>
            <a:off x="115888" y="5994400"/>
            <a:ext cx="323850" cy="517525"/>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a:effectLst/>
        </p:spPr>
        <p:txBody>
          <a:bodyPr wrap="none" anchor="ctr"/>
          <a:lstStyle/>
          <a:p>
            <a:endParaRPr lang="zh-CN" altLang="en-US"/>
          </a:p>
        </p:txBody>
      </p:sp>
      <p:sp>
        <p:nvSpPr>
          <p:cNvPr id="124989" name="Text Box 61"/>
          <p:cNvSpPr txBox="1">
            <a:spLocks noChangeArrowheads="1"/>
          </p:cNvSpPr>
          <p:nvPr/>
        </p:nvSpPr>
        <p:spPr bwMode="auto">
          <a:xfrm>
            <a:off x="8172450" y="458788"/>
            <a:ext cx="449263" cy="4016375"/>
          </a:xfrm>
          <a:prstGeom prst="rect">
            <a:avLst/>
          </a:prstGeom>
          <a:noFill/>
          <a:ln w="9525">
            <a:noFill/>
            <a:miter lim="800000"/>
            <a:headEnd/>
            <a:tailEnd/>
          </a:ln>
          <a:effectLst/>
        </p:spPr>
        <p:txBody>
          <a:bodyPr>
            <a:spAutoFit/>
          </a:bodyPr>
          <a:lstStyle/>
          <a:p>
            <a:pPr>
              <a:lnSpc>
                <a:spcPct val="115000"/>
              </a:lnSpc>
            </a:pPr>
            <a:r>
              <a:rPr lang="zh-CN" altLang="en-US" sz="2800" b="1">
                <a:solidFill>
                  <a:schemeClr val="hlink"/>
                </a:solidFill>
                <a:ea typeface="楷体_GB2312" pitchFamily="49" charset="-122"/>
              </a:rPr>
              <a:t>电子单缝衍射实验</a:t>
            </a:r>
          </a:p>
        </p:txBody>
      </p:sp>
    </p:spTree>
  </p:cSld>
  <p:clrMapOvr>
    <a:overrideClrMapping bg1="dk2" tx1="lt1" bg2="dk1" tx2="lt2" accent1="accent1" accent2="accent2" accent3="accent3" accent4="accent4" accent5="accent5" accent6="accent6" hlink="hlink" folHlink="folHlink"/>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498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124991"/>
                                        </p:tgtEl>
                                        <p:attrNameLst>
                                          <p:attrName>style.visibility</p:attrName>
                                        </p:attrNameLst>
                                      </p:cBhvr>
                                      <p:to>
                                        <p:strVal val="visible"/>
                                      </p:to>
                                    </p:set>
                                    <p:animEffect transition="in" filter="wipe(left)">
                                      <p:cBhvr>
                                        <p:cTn id="11" dur="500"/>
                                        <p:tgtEl>
                                          <p:spTgt spid="12499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24992"/>
                                        </p:tgtEl>
                                        <p:attrNameLst>
                                          <p:attrName>style.visibility</p:attrName>
                                        </p:attrNameLst>
                                      </p:cBhvr>
                                      <p:to>
                                        <p:strVal val="visible"/>
                                      </p:to>
                                    </p:set>
                                    <p:animEffect transition="in" filter="wipe(left)">
                                      <p:cBhvr>
                                        <p:cTn id="16" dur="500"/>
                                        <p:tgtEl>
                                          <p:spTgt spid="12499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24990"/>
                                        </p:tgtEl>
                                        <p:attrNameLst>
                                          <p:attrName>style.visibility</p:attrName>
                                        </p:attrNameLst>
                                      </p:cBhvr>
                                      <p:to>
                                        <p:strVal val="visible"/>
                                      </p:to>
                                    </p:set>
                                    <p:animEffect transition="in" filter="wipe(left)">
                                      <p:cBhvr>
                                        <p:cTn id="21" dur="500"/>
                                        <p:tgtEl>
                                          <p:spTgt spid="12499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24933"/>
                                        </p:tgtEl>
                                        <p:attrNameLst>
                                          <p:attrName>style.visibility</p:attrName>
                                        </p:attrNameLst>
                                      </p:cBhvr>
                                      <p:to>
                                        <p:strVal val="visible"/>
                                      </p:to>
                                    </p:set>
                                    <p:animEffect transition="in" filter="wipe(left)">
                                      <p:cBhvr>
                                        <p:cTn id="26" dur="500"/>
                                        <p:tgtEl>
                                          <p:spTgt spid="12493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nodeType="clickEffect">
                                  <p:stCondLst>
                                    <p:cond delay="0"/>
                                  </p:stCondLst>
                                  <p:childTnLst>
                                    <p:set>
                                      <p:cBhvr>
                                        <p:cTn id="30" dur="1" fill="hold">
                                          <p:stCondLst>
                                            <p:cond delay="0"/>
                                          </p:stCondLst>
                                        </p:cTn>
                                        <p:tgtEl>
                                          <p:spTgt spid="124962"/>
                                        </p:tgtEl>
                                        <p:attrNameLst>
                                          <p:attrName>style.visibility</p:attrName>
                                        </p:attrNameLst>
                                      </p:cBhvr>
                                      <p:to>
                                        <p:strVal val="visible"/>
                                      </p:to>
                                    </p:set>
                                    <p:animEffect transition="in" filter="wipe(down)">
                                      <p:cBhvr>
                                        <p:cTn id="31" dur="500"/>
                                        <p:tgtEl>
                                          <p:spTgt spid="12496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124965"/>
                                        </p:tgtEl>
                                        <p:attrNameLst>
                                          <p:attrName>style.visibility</p:attrName>
                                        </p:attrNameLst>
                                      </p:cBhvr>
                                      <p:to>
                                        <p:strVal val="visible"/>
                                      </p:to>
                                    </p:set>
                                    <p:animEffect transition="in" filter="wipe(down)">
                                      <p:cBhvr>
                                        <p:cTn id="36" dur="500"/>
                                        <p:tgtEl>
                                          <p:spTgt spid="12496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24977"/>
                                        </p:tgtEl>
                                        <p:attrNameLst>
                                          <p:attrName>style.visibility</p:attrName>
                                        </p:attrNameLst>
                                      </p:cBhvr>
                                      <p:to>
                                        <p:strVal val="visible"/>
                                      </p:to>
                                    </p:set>
                                    <p:animEffect transition="in" filter="wipe(left)">
                                      <p:cBhvr>
                                        <p:cTn id="41" dur="500"/>
                                        <p:tgtEl>
                                          <p:spTgt spid="12497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nodeType="clickEffect">
                                  <p:stCondLst>
                                    <p:cond delay="0"/>
                                  </p:stCondLst>
                                  <p:childTnLst>
                                    <p:set>
                                      <p:cBhvr>
                                        <p:cTn id="45" dur="1" fill="hold">
                                          <p:stCondLst>
                                            <p:cond delay="0"/>
                                          </p:stCondLst>
                                        </p:cTn>
                                        <p:tgtEl>
                                          <p:spTgt spid="124993"/>
                                        </p:tgtEl>
                                        <p:attrNameLst>
                                          <p:attrName>style.visibility</p:attrName>
                                        </p:attrNameLst>
                                      </p:cBhvr>
                                      <p:to>
                                        <p:strVal val="visible"/>
                                      </p:to>
                                    </p:set>
                                    <p:animEffect transition="in" filter="wipe(down)">
                                      <p:cBhvr>
                                        <p:cTn id="46" dur="500"/>
                                        <p:tgtEl>
                                          <p:spTgt spid="12499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16" fill="hold" nodeType="clickEffect">
                                  <p:stCondLst>
                                    <p:cond delay="0"/>
                                  </p:stCondLst>
                                  <p:childTnLst>
                                    <p:set>
                                      <p:cBhvr>
                                        <p:cTn id="50" dur="1" fill="hold">
                                          <p:stCondLst>
                                            <p:cond delay="0"/>
                                          </p:stCondLst>
                                        </p:cTn>
                                        <p:tgtEl>
                                          <p:spTgt spid="124979"/>
                                        </p:tgtEl>
                                        <p:attrNameLst>
                                          <p:attrName>style.visibility</p:attrName>
                                        </p:attrNameLst>
                                      </p:cBhvr>
                                      <p:to>
                                        <p:strVal val="visible"/>
                                      </p:to>
                                    </p:set>
                                    <p:animEffect transition="in" filter="box(in)">
                                      <p:cBhvr>
                                        <p:cTn id="51" dur="500"/>
                                        <p:tgtEl>
                                          <p:spTgt spid="124979"/>
                                        </p:tgtEl>
                                      </p:cBhvr>
                                    </p:animEffect>
                                  </p:childTnLst>
                                </p:cTn>
                              </p:par>
                            </p:childTnLst>
                          </p:cTn>
                        </p:par>
                        <p:par>
                          <p:cTn id="52" fill="hold" nodeType="afterGroup">
                            <p:stCondLst>
                              <p:cond delay="500"/>
                            </p:stCondLst>
                            <p:childTnLst>
                              <p:par>
                                <p:cTn id="53" presetID="1" presetClass="entr" presetSubtype="0" fill="hold" grpId="0" nodeType="afterEffect">
                                  <p:stCondLst>
                                    <p:cond delay="0"/>
                                  </p:stCondLst>
                                  <p:childTnLst>
                                    <p:set>
                                      <p:cBhvr>
                                        <p:cTn id="54" dur="1" fill="hold">
                                          <p:stCondLst>
                                            <p:cond delay="499"/>
                                          </p:stCondLst>
                                        </p:cTn>
                                        <p:tgtEl>
                                          <p:spTgt spid="124937"/>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24974"/>
                                        </p:tgtEl>
                                        <p:attrNameLst>
                                          <p:attrName>style.visibility</p:attrName>
                                        </p:attrNameLst>
                                      </p:cBhvr>
                                      <p:to>
                                        <p:strVal val="visible"/>
                                      </p:to>
                                    </p:set>
                                    <p:animEffect transition="in" filter="wipe(left)">
                                      <p:cBhvr>
                                        <p:cTn id="59" dur="500"/>
                                        <p:tgtEl>
                                          <p:spTgt spid="12497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24936"/>
                                        </p:tgtEl>
                                        <p:attrNameLst>
                                          <p:attrName>style.visibility</p:attrName>
                                        </p:attrNameLst>
                                      </p:cBhvr>
                                      <p:to>
                                        <p:strVal val="visible"/>
                                      </p:to>
                                    </p:set>
                                    <p:animEffect transition="in" filter="wipe(left)">
                                      <p:cBhvr>
                                        <p:cTn id="64" dur="500"/>
                                        <p:tgtEl>
                                          <p:spTgt spid="124936"/>
                                        </p:tgtEl>
                                      </p:cBhvr>
                                    </p:animEffect>
                                  </p:childTnLst>
                                </p:cTn>
                              </p:par>
                            </p:childTnLst>
                          </p:cTn>
                        </p:par>
                        <p:par>
                          <p:cTn id="65" fill="hold" nodeType="afterGroup">
                            <p:stCondLst>
                              <p:cond delay="500"/>
                            </p:stCondLst>
                            <p:childTnLst>
                              <p:par>
                                <p:cTn id="66" presetID="22" presetClass="entr" presetSubtype="4" fill="hold" grpId="0" nodeType="afterEffect">
                                  <p:stCondLst>
                                    <p:cond delay="0"/>
                                  </p:stCondLst>
                                  <p:childTnLst>
                                    <p:set>
                                      <p:cBhvr>
                                        <p:cTn id="67" dur="1" fill="hold">
                                          <p:stCondLst>
                                            <p:cond delay="0"/>
                                          </p:stCondLst>
                                        </p:cTn>
                                        <p:tgtEl>
                                          <p:spTgt spid="124946"/>
                                        </p:tgtEl>
                                        <p:attrNameLst>
                                          <p:attrName>style.visibility</p:attrName>
                                        </p:attrNameLst>
                                      </p:cBhvr>
                                      <p:to>
                                        <p:strVal val="visible"/>
                                      </p:to>
                                    </p:set>
                                    <p:animEffect transition="in" filter="wipe(down)">
                                      <p:cBhvr>
                                        <p:cTn id="68" dur="500"/>
                                        <p:tgtEl>
                                          <p:spTgt spid="124946"/>
                                        </p:tgtEl>
                                      </p:cBhvr>
                                    </p:animEffect>
                                  </p:childTnLst>
                                </p:cTn>
                              </p:par>
                            </p:childTnLst>
                          </p:cTn>
                        </p:par>
                        <p:par>
                          <p:cTn id="69" fill="hold" nodeType="afterGroup">
                            <p:stCondLst>
                              <p:cond delay="1000"/>
                            </p:stCondLst>
                            <p:childTnLst>
                              <p:par>
                                <p:cTn id="70" presetID="22" presetClass="entr" presetSubtype="4" fill="hold" grpId="0" nodeType="afterEffect">
                                  <p:stCondLst>
                                    <p:cond delay="0"/>
                                  </p:stCondLst>
                                  <p:childTnLst>
                                    <p:set>
                                      <p:cBhvr>
                                        <p:cTn id="71" dur="1" fill="hold">
                                          <p:stCondLst>
                                            <p:cond delay="0"/>
                                          </p:stCondLst>
                                        </p:cTn>
                                        <p:tgtEl>
                                          <p:spTgt spid="124971"/>
                                        </p:tgtEl>
                                        <p:attrNameLst>
                                          <p:attrName>style.visibility</p:attrName>
                                        </p:attrNameLst>
                                      </p:cBhvr>
                                      <p:to>
                                        <p:strVal val="visible"/>
                                      </p:to>
                                    </p:set>
                                    <p:animEffect transition="in" filter="wipe(down)">
                                      <p:cBhvr>
                                        <p:cTn id="72" dur="500"/>
                                        <p:tgtEl>
                                          <p:spTgt spid="124971"/>
                                        </p:tgtEl>
                                      </p:cBhvr>
                                    </p:animEffect>
                                  </p:childTnLst>
                                </p:cTn>
                              </p:par>
                            </p:childTnLst>
                          </p:cTn>
                        </p:par>
                        <p:par>
                          <p:cTn id="73" fill="hold" nodeType="afterGroup">
                            <p:stCondLst>
                              <p:cond delay="1500"/>
                            </p:stCondLst>
                            <p:childTnLst>
                              <p:par>
                                <p:cTn id="74" presetID="22" presetClass="entr" presetSubtype="8" fill="hold" nodeType="afterEffect">
                                  <p:stCondLst>
                                    <p:cond delay="0"/>
                                  </p:stCondLst>
                                  <p:childTnLst>
                                    <p:set>
                                      <p:cBhvr>
                                        <p:cTn id="75" dur="1" fill="hold">
                                          <p:stCondLst>
                                            <p:cond delay="0"/>
                                          </p:stCondLst>
                                        </p:cTn>
                                        <p:tgtEl>
                                          <p:spTgt spid="124938"/>
                                        </p:tgtEl>
                                        <p:attrNameLst>
                                          <p:attrName>style.visibility</p:attrName>
                                        </p:attrNameLst>
                                      </p:cBhvr>
                                      <p:to>
                                        <p:strVal val="visible"/>
                                      </p:to>
                                    </p:set>
                                    <p:animEffect transition="in" filter="wipe(left)">
                                      <p:cBhvr>
                                        <p:cTn id="76" dur="500"/>
                                        <p:tgtEl>
                                          <p:spTgt spid="12493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499"/>
                                          </p:stCondLst>
                                        </p:cTn>
                                        <p:tgtEl>
                                          <p:spTgt spid="124942"/>
                                        </p:tgtEl>
                                        <p:attrNameLst>
                                          <p:attrName>style.visibility</p:attrName>
                                        </p:attrNameLst>
                                      </p:cBhvr>
                                      <p:to>
                                        <p:strVal val="visible"/>
                                      </p:to>
                                    </p:set>
                                  </p:childTnLst>
                                </p:cTn>
                              </p:par>
                            </p:childTnLst>
                          </p:cTn>
                        </p:par>
                        <p:par>
                          <p:cTn id="81" fill="hold" nodeType="afterGroup">
                            <p:stCondLst>
                              <p:cond delay="500"/>
                            </p:stCondLst>
                            <p:childTnLst>
                              <p:par>
                                <p:cTn id="82" presetID="22" presetClass="entr" presetSubtype="8" fill="hold" grpId="0" nodeType="afterEffect">
                                  <p:stCondLst>
                                    <p:cond delay="0"/>
                                  </p:stCondLst>
                                  <p:childTnLst>
                                    <p:set>
                                      <p:cBhvr>
                                        <p:cTn id="83" dur="1" fill="hold">
                                          <p:stCondLst>
                                            <p:cond delay="0"/>
                                          </p:stCondLst>
                                        </p:cTn>
                                        <p:tgtEl>
                                          <p:spTgt spid="124941"/>
                                        </p:tgtEl>
                                        <p:attrNameLst>
                                          <p:attrName>style.visibility</p:attrName>
                                        </p:attrNameLst>
                                      </p:cBhvr>
                                      <p:to>
                                        <p:strVal val="visible"/>
                                      </p:to>
                                    </p:set>
                                    <p:animEffect transition="in" filter="wipe(left)">
                                      <p:cBhvr>
                                        <p:cTn id="84" dur="500"/>
                                        <p:tgtEl>
                                          <p:spTgt spid="124941"/>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24948"/>
                                        </p:tgtEl>
                                        <p:attrNameLst>
                                          <p:attrName>style.visibility</p:attrName>
                                        </p:attrNameLst>
                                      </p:cBhvr>
                                      <p:to>
                                        <p:strVal val="visible"/>
                                      </p:to>
                                    </p:set>
                                    <p:animEffect transition="in" filter="wipe(left)">
                                      <p:cBhvr>
                                        <p:cTn id="89" dur="500"/>
                                        <p:tgtEl>
                                          <p:spTgt spid="124948"/>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9" presetClass="entr" presetSubtype="0" fill="hold" grpId="0" nodeType="clickEffect">
                                  <p:stCondLst>
                                    <p:cond delay="0"/>
                                  </p:stCondLst>
                                  <p:childTnLst>
                                    <p:set>
                                      <p:cBhvr>
                                        <p:cTn id="93" dur="1" fill="hold">
                                          <p:stCondLst>
                                            <p:cond delay="0"/>
                                          </p:stCondLst>
                                        </p:cTn>
                                        <p:tgtEl>
                                          <p:spTgt spid="124983"/>
                                        </p:tgtEl>
                                        <p:attrNameLst>
                                          <p:attrName>style.visibility</p:attrName>
                                        </p:attrNameLst>
                                      </p:cBhvr>
                                      <p:to>
                                        <p:strVal val="visible"/>
                                      </p:to>
                                    </p:set>
                                    <p:animEffect transition="in" filter="dissolve">
                                      <p:cBhvr>
                                        <p:cTn id="94" dur="500"/>
                                        <p:tgtEl>
                                          <p:spTgt spid="124983"/>
                                        </p:tgtEl>
                                      </p:cBhvr>
                                    </p:animEffect>
                                  </p:childTnLst>
                                </p:cTn>
                              </p:par>
                            </p:childTnLst>
                          </p:cTn>
                        </p:par>
                        <p:par>
                          <p:cTn id="95" fill="hold" nodeType="afterGroup">
                            <p:stCondLst>
                              <p:cond delay="500"/>
                            </p:stCondLst>
                            <p:childTnLst>
                              <p:par>
                                <p:cTn id="96" presetID="22" presetClass="entr" presetSubtype="8" fill="hold" nodeType="afterEffect">
                                  <p:stCondLst>
                                    <p:cond delay="0"/>
                                  </p:stCondLst>
                                  <p:childTnLst>
                                    <p:set>
                                      <p:cBhvr>
                                        <p:cTn id="97" dur="1" fill="hold">
                                          <p:stCondLst>
                                            <p:cond delay="0"/>
                                          </p:stCondLst>
                                        </p:cTn>
                                        <p:tgtEl>
                                          <p:spTgt spid="124944"/>
                                        </p:tgtEl>
                                        <p:attrNameLst>
                                          <p:attrName>style.visibility</p:attrName>
                                        </p:attrNameLst>
                                      </p:cBhvr>
                                      <p:to>
                                        <p:strVal val="visible"/>
                                      </p:to>
                                    </p:set>
                                    <p:animEffect transition="in" filter="wipe(left)">
                                      <p:cBhvr>
                                        <p:cTn id="98" dur="500"/>
                                        <p:tgtEl>
                                          <p:spTgt spid="124944"/>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124945"/>
                                        </p:tgtEl>
                                        <p:attrNameLst>
                                          <p:attrName>style.visibility</p:attrName>
                                        </p:attrNameLst>
                                      </p:cBhvr>
                                      <p:to>
                                        <p:strVal val="visible"/>
                                      </p:to>
                                    </p:set>
                                    <p:animEffect transition="in" filter="wipe(left)">
                                      <p:cBhvr>
                                        <p:cTn id="103" dur="500"/>
                                        <p:tgtEl>
                                          <p:spTgt spid="124945"/>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24984"/>
                                        </p:tgtEl>
                                        <p:attrNameLst>
                                          <p:attrName>style.visibility</p:attrName>
                                        </p:attrNameLst>
                                      </p:cBhvr>
                                      <p:to>
                                        <p:strVal val="visible"/>
                                      </p:to>
                                    </p:set>
                                    <p:animEffect transition="in" filter="wipe(left)">
                                      <p:cBhvr>
                                        <p:cTn id="108" dur="500"/>
                                        <p:tgtEl>
                                          <p:spTgt spid="124984"/>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124973"/>
                                        </p:tgtEl>
                                        <p:attrNameLst>
                                          <p:attrName>style.visibility</p:attrName>
                                        </p:attrNameLst>
                                      </p:cBhvr>
                                      <p:to>
                                        <p:strVal val="visible"/>
                                      </p:to>
                                    </p:set>
                                    <p:animEffect transition="in" filter="wipe(left)">
                                      <p:cBhvr>
                                        <p:cTn id="113" dur="500"/>
                                        <p:tgtEl>
                                          <p:spTgt spid="124973"/>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24968"/>
                                        </p:tgtEl>
                                        <p:attrNameLst>
                                          <p:attrName>style.visibility</p:attrName>
                                        </p:attrNameLst>
                                      </p:cBhvr>
                                      <p:to>
                                        <p:strVal val="visible"/>
                                      </p:to>
                                    </p:set>
                                    <p:animEffect transition="in" filter="wipe(left)">
                                      <p:cBhvr>
                                        <p:cTn id="118" dur="500"/>
                                        <p:tgtEl>
                                          <p:spTgt spid="124968"/>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24988"/>
                                        </p:tgtEl>
                                        <p:attrNameLst>
                                          <p:attrName>style.visibility</p:attrName>
                                        </p:attrNameLst>
                                      </p:cBhvr>
                                      <p:to>
                                        <p:strVal val="visible"/>
                                      </p:to>
                                    </p:set>
                                    <p:animEffect transition="in" filter="wipe(left)">
                                      <p:cBhvr>
                                        <p:cTn id="123" dur="1000"/>
                                        <p:tgtEl>
                                          <p:spTgt spid="124988"/>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9" presetClass="entr" presetSubtype="0" fill="hold" grpId="0" nodeType="clickEffect">
                                  <p:stCondLst>
                                    <p:cond delay="0"/>
                                  </p:stCondLst>
                                  <p:childTnLst>
                                    <p:set>
                                      <p:cBhvr>
                                        <p:cTn id="127" dur="1" fill="hold">
                                          <p:stCondLst>
                                            <p:cond delay="0"/>
                                          </p:stCondLst>
                                        </p:cTn>
                                        <p:tgtEl>
                                          <p:spTgt spid="124985"/>
                                        </p:tgtEl>
                                        <p:attrNameLst>
                                          <p:attrName>style.visibility</p:attrName>
                                        </p:attrNameLst>
                                      </p:cBhvr>
                                      <p:to>
                                        <p:strVal val="visible"/>
                                      </p:to>
                                    </p:set>
                                    <p:animEffect transition="in" filter="dissolve">
                                      <p:cBhvr>
                                        <p:cTn id="128" dur="500"/>
                                        <p:tgtEl>
                                          <p:spTgt spid="124985"/>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 presetClass="entr" presetSubtype="0" fill="hold" grpId="0" nodeType="clickEffect">
                                  <p:stCondLst>
                                    <p:cond delay="0"/>
                                  </p:stCondLst>
                                  <p:childTnLst>
                                    <p:set>
                                      <p:cBhvr>
                                        <p:cTn id="132" dur="1" fill="hold">
                                          <p:stCondLst>
                                            <p:cond delay="499"/>
                                          </p:stCondLst>
                                        </p:cTn>
                                        <p:tgtEl>
                                          <p:spTgt spid="124986"/>
                                        </p:tgtEl>
                                        <p:attrNameLst>
                                          <p:attrName>style.visibility</p:attrName>
                                        </p:attrNameLst>
                                      </p:cBhvr>
                                      <p:to>
                                        <p:strVal val="visible"/>
                                      </p:to>
                                    </p:se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ntr" presetSubtype="0" fill="hold" grpId="0" nodeType="clickEffect">
                                  <p:stCondLst>
                                    <p:cond delay="0"/>
                                  </p:stCondLst>
                                  <p:childTnLst>
                                    <p:set>
                                      <p:cBhvr>
                                        <p:cTn id="136" dur="1" fill="hold">
                                          <p:stCondLst>
                                            <p:cond delay="499"/>
                                          </p:stCondLst>
                                        </p:cTn>
                                        <p:tgtEl>
                                          <p:spTgt spid="1249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3" grpId="0" animBg="1"/>
      <p:bldP spid="124936" grpId="0" animBg="1"/>
      <p:bldP spid="124937" grpId="0" animBg="1" autoUpdateAnimBg="0"/>
      <p:bldP spid="124941" grpId="0" animBg="1"/>
      <p:bldP spid="124942" grpId="0" animBg="1" autoUpdateAnimBg="0"/>
      <p:bldP spid="124946" grpId="0"/>
      <p:bldP spid="124948" grpId="0"/>
      <p:bldP spid="124968" grpId="0"/>
      <p:bldP spid="124974" grpId="0" animBg="1"/>
      <p:bldP spid="124977" grpId="0" animBg="1"/>
      <p:bldP spid="124971" grpId="0" animBg="1"/>
      <p:bldP spid="124983" grpId="0" autoUpdateAnimBg="0"/>
      <p:bldP spid="124984" grpId="0" animBg="1"/>
      <p:bldP spid="124985" grpId="0" autoUpdateAnimBg="0"/>
      <p:bldP spid="124986" grpId="0" autoUpdateAnimBg="0"/>
      <p:bldP spid="124987" grpId="0" autoUpdateAnimBg="0"/>
      <p:bldP spid="124988" grpId="0" animBg="1"/>
      <p:bldP spid="124989"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ChangeArrowheads="1"/>
          </p:cNvSpPr>
          <p:nvPr/>
        </p:nvSpPr>
        <p:spPr bwMode="auto">
          <a:xfrm>
            <a:off x="457200" y="442913"/>
            <a:ext cx="8686800" cy="457200"/>
          </a:xfrm>
          <a:prstGeom prst="rect">
            <a:avLst/>
          </a:prstGeom>
          <a:noFill/>
          <a:ln w="9525">
            <a:noFill/>
            <a:miter lim="800000"/>
            <a:headEnd/>
            <a:tailEnd/>
          </a:ln>
          <a:effectLst/>
        </p:spPr>
        <p:txBody>
          <a:bodyPr>
            <a:spAutoFit/>
          </a:bodyPr>
          <a:lstStyle/>
          <a:p>
            <a:pPr indent="269875"/>
            <a:r>
              <a:rPr lang="zh-CN" altLang="en-US" b="1">
                <a:solidFill>
                  <a:schemeClr val="bg1"/>
                </a:solidFill>
              </a:rPr>
              <a:t>原子的线度约为 </a:t>
            </a:r>
            <a:r>
              <a:rPr lang="en-US" altLang="zh-CN" b="1">
                <a:solidFill>
                  <a:srgbClr val="0000FF"/>
                </a:solidFill>
              </a:rPr>
              <a:t>10</a:t>
            </a:r>
            <a:r>
              <a:rPr lang="en-US" altLang="zh-CN" b="1" baseline="30000">
                <a:solidFill>
                  <a:srgbClr val="0000FF"/>
                </a:solidFill>
                <a:latin typeface="宋体" charset="-122"/>
              </a:rPr>
              <a:t>-</a:t>
            </a:r>
            <a:r>
              <a:rPr lang="en-US" altLang="zh-CN" b="1" baseline="30000">
                <a:solidFill>
                  <a:srgbClr val="0000FF"/>
                </a:solidFill>
              </a:rPr>
              <a:t>10 </a:t>
            </a:r>
            <a:r>
              <a:rPr lang="en-US" altLang="zh-CN" b="1">
                <a:solidFill>
                  <a:srgbClr val="0000FF"/>
                </a:solidFill>
              </a:rPr>
              <a:t>m</a:t>
            </a:r>
            <a:r>
              <a:rPr lang="en-US" altLang="zh-CN" b="1" baseline="30000">
                <a:solidFill>
                  <a:schemeClr val="bg1"/>
                </a:solidFill>
              </a:rPr>
              <a:t> </a:t>
            </a:r>
            <a:r>
              <a:rPr lang="zh-CN" altLang="en-US" b="1">
                <a:solidFill>
                  <a:schemeClr val="bg1"/>
                </a:solidFill>
              </a:rPr>
              <a:t>，求原子中电子速度的不确定量。</a:t>
            </a:r>
          </a:p>
        </p:txBody>
      </p:sp>
      <p:graphicFrame>
        <p:nvGraphicFramePr>
          <p:cNvPr id="195587" name="Object 3"/>
          <p:cNvGraphicFramePr>
            <a:graphicFrameLocks noChangeAspect="1"/>
          </p:cNvGraphicFramePr>
          <p:nvPr/>
        </p:nvGraphicFramePr>
        <p:xfrm>
          <a:off x="1884363" y="2965450"/>
          <a:ext cx="5832475" cy="762000"/>
        </p:xfrm>
        <a:graphic>
          <a:graphicData uri="http://schemas.openxmlformats.org/presentationml/2006/ole">
            <p:oleObj spid="_x0000_s39939" name="公式" r:id="rId3" imgW="4975560" imgH="636120" progId="Equation.3">
              <p:embed/>
            </p:oleObj>
          </a:graphicData>
        </a:graphic>
      </p:graphicFrame>
      <p:graphicFrame>
        <p:nvGraphicFramePr>
          <p:cNvPr id="195588" name="Object 4"/>
          <p:cNvGraphicFramePr>
            <a:graphicFrameLocks noChangeAspect="1"/>
          </p:cNvGraphicFramePr>
          <p:nvPr/>
        </p:nvGraphicFramePr>
        <p:xfrm>
          <a:off x="2451100" y="4032250"/>
          <a:ext cx="1833563" cy="404813"/>
        </p:xfrm>
        <a:graphic>
          <a:graphicData uri="http://schemas.openxmlformats.org/presentationml/2006/ole">
            <p:oleObj spid="_x0000_s39940" name="公式" r:id="rId4" imgW="1522800" imgH="334440" progId="Equation.3">
              <p:embed/>
            </p:oleObj>
          </a:graphicData>
        </a:graphic>
      </p:graphicFrame>
      <p:sp>
        <p:nvSpPr>
          <p:cNvPr id="195589" name="Rectangle 5"/>
          <p:cNvSpPr>
            <a:spLocks noChangeArrowheads="1"/>
          </p:cNvSpPr>
          <p:nvPr/>
        </p:nvSpPr>
        <p:spPr bwMode="auto">
          <a:xfrm>
            <a:off x="747713" y="2374900"/>
            <a:ext cx="3248025" cy="457200"/>
          </a:xfrm>
          <a:prstGeom prst="rect">
            <a:avLst/>
          </a:prstGeom>
          <a:noFill/>
          <a:ln w="9525">
            <a:noFill/>
            <a:miter lim="800000"/>
            <a:headEnd/>
            <a:tailEnd/>
          </a:ln>
          <a:effectLst/>
        </p:spPr>
        <p:txBody>
          <a:bodyPr wrap="none">
            <a:spAutoFit/>
          </a:bodyPr>
          <a:lstStyle/>
          <a:p>
            <a:pPr eaLnBrk="0" hangingPunct="0"/>
            <a:r>
              <a:rPr lang="zh-CN" altLang="en-US" b="1">
                <a:solidFill>
                  <a:schemeClr val="bg1"/>
                </a:solidFill>
              </a:rPr>
              <a:t>电子速度的不确定量为</a:t>
            </a:r>
          </a:p>
        </p:txBody>
      </p:sp>
      <p:sp>
        <p:nvSpPr>
          <p:cNvPr id="195590" name="Rectangle 6"/>
          <p:cNvSpPr>
            <a:spLocks noChangeArrowheads="1"/>
          </p:cNvSpPr>
          <p:nvPr/>
        </p:nvSpPr>
        <p:spPr bwMode="auto">
          <a:xfrm>
            <a:off x="814388" y="4960938"/>
            <a:ext cx="8150225" cy="1516062"/>
          </a:xfrm>
          <a:prstGeom prst="rect">
            <a:avLst/>
          </a:prstGeom>
          <a:noFill/>
          <a:ln w="9525">
            <a:noFill/>
            <a:miter lim="800000"/>
            <a:headEnd/>
            <a:tailEnd/>
          </a:ln>
          <a:effectLst/>
        </p:spPr>
        <p:txBody>
          <a:bodyPr>
            <a:spAutoFit/>
          </a:bodyPr>
          <a:lstStyle/>
          <a:p>
            <a:pPr eaLnBrk="0" hangingPunct="0">
              <a:lnSpc>
                <a:spcPct val="130000"/>
              </a:lnSpc>
            </a:pPr>
            <a:r>
              <a:rPr lang="zh-CN" altLang="en-US" b="1">
                <a:solidFill>
                  <a:schemeClr val="bg1"/>
                </a:solidFill>
                <a:latin typeface="楷体_GB2312" pitchFamily="49" charset="-122"/>
                <a:ea typeface="楷体_GB2312" pitchFamily="49" charset="-122"/>
              </a:rPr>
              <a:t>氢原子中电子速率约为 </a:t>
            </a:r>
            <a:r>
              <a:rPr lang="en-US" altLang="zh-CN" b="1">
                <a:solidFill>
                  <a:srgbClr val="0000FF"/>
                </a:solidFill>
              </a:rPr>
              <a:t>10</a:t>
            </a:r>
            <a:r>
              <a:rPr lang="en-US" altLang="zh-CN" b="1" baseline="30000">
                <a:solidFill>
                  <a:srgbClr val="0000FF"/>
                </a:solidFill>
              </a:rPr>
              <a:t>6 </a:t>
            </a:r>
            <a:r>
              <a:rPr lang="en-US" altLang="zh-CN" b="1">
                <a:solidFill>
                  <a:srgbClr val="0000FF"/>
                </a:solidFill>
              </a:rPr>
              <a:t>m/s</a:t>
            </a:r>
            <a:r>
              <a:rPr lang="zh-CN" altLang="en-US" b="1">
                <a:solidFill>
                  <a:schemeClr val="bg1"/>
                </a:solidFill>
                <a:latin typeface="楷体_GB2312" pitchFamily="49" charset="-122"/>
                <a:ea typeface="楷体_GB2312" pitchFamily="49" charset="-122"/>
              </a:rPr>
              <a:t>。速率不确定量与速率本身</a:t>
            </a:r>
            <a:r>
              <a:rPr lang="zh-CN" altLang="en-US" b="1">
                <a:solidFill>
                  <a:schemeClr val="bg1"/>
                </a:solidFill>
                <a:ea typeface="楷体_GB2312" pitchFamily="49" charset="-122"/>
              </a:rPr>
              <a:t>的</a:t>
            </a:r>
            <a:r>
              <a:rPr lang="zh-CN" altLang="en-US" b="1">
                <a:solidFill>
                  <a:schemeClr val="bg1"/>
                </a:solidFill>
                <a:latin typeface="楷体_GB2312" pitchFamily="49" charset="-122"/>
                <a:ea typeface="楷体_GB2312" pitchFamily="49" charset="-122"/>
              </a:rPr>
              <a:t>数量级基本相同，因此原子中电子的位置和速度不能同时完全确定，也没有确定的轨道。</a:t>
            </a:r>
            <a:r>
              <a:rPr lang="zh-CN" altLang="en-US" b="1">
                <a:solidFill>
                  <a:schemeClr val="bg1"/>
                </a:solidFill>
              </a:rPr>
              <a:t> </a:t>
            </a:r>
          </a:p>
        </p:txBody>
      </p:sp>
      <p:sp>
        <p:nvSpPr>
          <p:cNvPr id="195591" name="Rectangle 7"/>
          <p:cNvSpPr>
            <a:spLocks noChangeArrowheads="1"/>
          </p:cNvSpPr>
          <p:nvPr/>
        </p:nvSpPr>
        <p:spPr bwMode="auto">
          <a:xfrm>
            <a:off x="730250" y="1108075"/>
            <a:ext cx="7499350" cy="457200"/>
          </a:xfrm>
          <a:prstGeom prst="rect">
            <a:avLst/>
          </a:prstGeom>
          <a:noFill/>
          <a:ln w="9525">
            <a:noFill/>
            <a:miter lim="800000"/>
            <a:headEnd/>
            <a:tailEnd/>
          </a:ln>
          <a:effectLst/>
        </p:spPr>
        <p:txBody>
          <a:bodyPr wrap="none">
            <a:spAutoFit/>
          </a:bodyPr>
          <a:lstStyle/>
          <a:p>
            <a:pPr eaLnBrk="0" hangingPunct="0"/>
            <a:r>
              <a:rPr lang="zh-CN" altLang="en-US" b="1">
                <a:solidFill>
                  <a:schemeClr val="bg1"/>
                </a:solidFill>
              </a:rPr>
              <a:t>原子中电子的位置不确定量 </a:t>
            </a:r>
            <a:r>
              <a:rPr lang="en-US" altLang="zh-CN" b="1">
                <a:solidFill>
                  <a:srgbClr val="0000FF"/>
                </a:solidFill>
              </a:rPr>
              <a:t>10</a:t>
            </a:r>
            <a:r>
              <a:rPr lang="en-US" altLang="zh-CN" b="1" baseline="30000">
                <a:solidFill>
                  <a:srgbClr val="0000FF"/>
                </a:solidFill>
                <a:latin typeface="宋体" charset="-122"/>
              </a:rPr>
              <a:t>-</a:t>
            </a:r>
            <a:r>
              <a:rPr lang="en-US" altLang="zh-CN" b="1" baseline="30000">
                <a:solidFill>
                  <a:srgbClr val="0000FF"/>
                </a:solidFill>
              </a:rPr>
              <a:t>10  </a:t>
            </a:r>
            <a:r>
              <a:rPr lang="en-US" altLang="zh-CN" b="1">
                <a:solidFill>
                  <a:srgbClr val="0000FF"/>
                </a:solidFill>
              </a:rPr>
              <a:t>m</a:t>
            </a:r>
            <a:r>
              <a:rPr lang="zh-CN" altLang="en-US" b="1">
                <a:solidFill>
                  <a:schemeClr val="bg1"/>
                </a:solidFill>
              </a:rPr>
              <a:t>，由不确定关系	</a:t>
            </a:r>
          </a:p>
        </p:txBody>
      </p:sp>
      <p:graphicFrame>
        <p:nvGraphicFramePr>
          <p:cNvPr id="195592" name="Object 8"/>
          <p:cNvGraphicFramePr>
            <a:graphicFrameLocks/>
          </p:cNvGraphicFramePr>
          <p:nvPr/>
        </p:nvGraphicFramePr>
        <p:xfrm>
          <a:off x="3489325" y="1663700"/>
          <a:ext cx="1646238" cy="722313"/>
        </p:xfrm>
        <a:graphic>
          <a:graphicData uri="http://schemas.openxmlformats.org/presentationml/2006/ole">
            <p:oleObj spid="_x0000_s39944" name="公式" r:id="rId5" imgW="1164600" imgH="603720" progId="Equation.3">
              <p:embed/>
            </p:oleObj>
          </a:graphicData>
        </a:graphic>
      </p:graphicFrame>
      <p:sp>
        <p:nvSpPr>
          <p:cNvPr id="195593" name="Rectangle 9"/>
          <p:cNvSpPr>
            <a:spLocks noChangeArrowheads="1"/>
          </p:cNvSpPr>
          <p:nvPr/>
        </p:nvSpPr>
        <p:spPr bwMode="auto">
          <a:xfrm>
            <a:off x="346075" y="442913"/>
            <a:ext cx="492125" cy="457200"/>
          </a:xfrm>
          <a:prstGeom prst="rect">
            <a:avLst/>
          </a:prstGeom>
          <a:noFill/>
          <a:ln w="9525">
            <a:noFill/>
            <a:miter lim="800000"/>
            <a:headEnd/>
            <a:tailEnd/>
          </a:ln>
          <a:effectLst/>
        </p:spPr>
        <p:txBody>
          <a:bodyPr wrap="none">
            <a:spAutoFit/>
          </a:bodyPr>
          <a:lstStyle/>
          <a:p>
            <a:r>
              <a:rPr lang="zh-CN" altLang="en-US" b="1">
                <a:solidFill>
                  <a:schemeClr val="hlink"/>
                </a:solidFill>
                <a:latin typeface="Arial" charset="0"/>
              </a:rPr>
              <a:t>例</a:t>
            </a:r>
          </a:p>
        </p:txBody>
      </p:sp>
      <p:sp>
        <p:nvSpPr>
          <p:cNvPr id="195594" name="Rectangle 10"/>
          <p:cNvSpPr>
            <a:spLocks noChangeArrowheads="1"/>
          </p:cNvSpPr>
          <p:nvPr/>
        </p:nvSpPr>
        <p:spPr bwMode="auto">
          <a:xfrm>
            <a:off x="358775" y="1108075"/>
            <a:ext cx="492125" cy="457200"/>
          </a:xfrm>
          <a:prstGeom prst="rect">
            <a:avLst/>
          </a:prstGeom>
          <a:noFill/>
          <a:ln w="9525">
            <a:noFill/>
            <a:miter lim="800000"/>
            <a:headEnd/>
            <a:tailEnd/>
          </a:ln>
          <a:effectLst/>
        </p:spPr>
        <p:txBody>
          <a:bodyPr wrap="none">
            <a:spAutoFit/>
          </a:bodyPr>
          <a:lstStyle/>
          <a:p>
            <a:r>
              <a:rPr lang="zh-CN" altLang="en-US" b="1">
                <a:solidFill>
                  <a:schemeClr val="hlink"/>
                </a:solidFill>
              </a:rPr>
              <a:t>解</a:t>
            </a:r>
          </a:p>
        </p:txBody>
      </p:sp>
      <p:sp>
        <p:nvSpPr>
          <p:cNvPr id="195595" name="Text Box 11"/>
          <p:cNvSpPr txBox="1">
            <a:spLocks noChangeArrowheads="1"/>
          </p:cNvSpPr>
          <p:nvPr/>
        </p:nvSpPr>
        <p:spPr bwMode="auto">
          <a:xfrm>
            <a:off x="611188" y="4643438"/>
            <a:ext cx="2263775" cy="457200"/>
          </a:xfrm>
          <a:prstGeom prst="rect">
            <a:avLst/>
          </a:prstGeom>
          <a:noFill/>
          <a:ln w="9525">
            <a:noFill/>
            <a:miter lim="800000"/>
            <a:headEnd/>
            <a:tailEnd/>
          </a:ln>
          <a:effectLst/>
        </p:spPr>
        <p:txBody>
          <a:bodyPr>
            <a:spAutoFit/>
          </a:bodyPr>
          <a:lstStyle/>
          <a:p>
            <a:pPr>
              <a:buClr>
                <a:srgbClr val="0099FF"/>
              </a:buClr>
              <a:buFont typeface="Wingdings" pitchFamily="2" charset="2"/>
              <a:buNone/>
            </a:pPr>
            <a:r>
              <a:rPr lang="en-US" altLang="zh-CN" b="1">
                <a:solidFill>
                  <a:schemeClr val="hlink"/>
                </a:solidFill>
              </a:rPr>
              <a:t>  </a:t>
            </a:r>
            <a:r>
              <a:rPr lang="zh-CN" altLang="en-US" b="1">
                <a:solidFill>
                  <a:schemeClr val="hlink"/>
                </a:solidFill>
              </a:rPr>
              <a:t>说明</a:t>
            </a:r>
          </a:p>
        </p:txBody>
      </p:sp>
      <p:sp>
        <p:nvSpPr>
          <p:cNvPr id="195596" name="AutoShape 12"/>
          <p:cNvSpPr>
            <a:spLocks noChangeAspect="1" noChangeArrowheads="1"/>
          </p:cNvSpPr>
          <p:nvPr/>
        </p:nvSpPr>
        <p:spPr bwMode="auto">
          <a:xfrm>
            <a:off x="476250" y="4643438"/>
            <a:ext cx="323850" cy="517525"/>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a:effec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5593"/>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5586"/>
                                        </p:tgtEl>
                                        <p:attrNameLst>
                                          <p:attrName>style.visibility</p:attrName>
                                        </p:attrNameLst>
                                      </p:cBhvr>
                                      <p:to>
                                        <p:strVal val="visible"/>
                                      </p:to>
                                    </p:set>
                                    <p:animEffect transition="in" filter="wipe(left)">
                                      <p:cBhvr>
                                        <p:cTn id="10" dur="500"/>
                                        <p:tgtEl>
                                          <p:spTgt spid="19558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559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95591"/>
                                        </p:tgtEl>
                                        <p:attrNameLst>
                                          <p:attrName>style.visibility</p:attrName>
                                        </p:attrNameLst>
                                      </p:cBhvr>
                                      <p:to>
                                        <p:strVal val="visible"/>
                                      </p:to>
                                    </p:set>
                                    <p:animEffect transition="in" filter="wipe(left)">
                                      <p:cBhvr>
                                        <p:cTn id="19" dur="500"/>
                                        <p:tgtEl>
                                          <p:spTgt spid="195591"/>
                                        </p:tgtEl>
                                      </p:cBhvr>
                                    </p:animEffect>
                                  </p:childTnLst>
                                </p:cTn>
                              </p:par>
                            </p:childTnLst>
                          </p:cTn>
                        </p:par>
                        <p:par>
                          <p:cTn id="20" fill="hold" nodeType="afterGroup">
                            <p:stCondLst>
                              <p:cond delay="500"/>
                            </p:stCondLst>
                            <p:childTnLst>
                              <p:par>
                                <p:cTn id="21" presetID="22" presetClass="entr" presetSubtype="8" fill="hold" nodeType="afterEffect">
                                  <p:stCondLst>
                                    <p:cond delay="0"/>
                                  </p:stCondLst>
                                  <p:childTnLst>
                                    <p:set>
                                      <p:cBhvr>
                                        <p:cTn id="22" dur="1" fill="hold">
                                          <p:stCondLst>
                                            <p:cond delay="0"/>
                                          </p:stCondLst>
                                        </p:cTn>
                                        <p:tgtEl>
                                          <p:spTgt spid="195592"/>
                                        </p:tgtEl>
                                        <p:attrNameLst>
                                          <p:attrName>style.visibility</p:attrName>
                                        </p:attrNameLst>
                                      </p:cBhvr>
                                      <p:to>
                                        <p:strVal val="visible"/>
                                      </p:to>
                                    </p:set>
                                    <p:animEffect transition="in" filter="wipe(left)">
                                      <p:cBhvr>
                                        <p:cTn id="23" dur="500"/>
                                        <p:tgtEl>
                                          <p:spTgt spid="19559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95589"/>
                                        </p:tgtEl>
                                        <p:attrNameLst>
                                          <p:attrName>style.visibility</p:attrName>
                                        </p:attrNameLst>
                                      </p:cBhvr>
                                      <p:to>
                                        <p:strVal val="visible"/>
                                      </p:to>
                                    </p:set>
                                    <p:animEffect transition="in" filter="wipe(left)">
                                      <p:cBhvr>
                                        <p:cTn id="28" dur="500"/>
                                        <p:tgtEl>
                                          <p:spTgt spid="19558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95587"/>
                                        </p:tgtEl>
                                        <p:attrNameLst>
                                          <p:attrName>style.visibility</p:attrName>
                                        </p:attrNameLst>
                                      </p:cBhvr>
                                      <p:to>
                                        <p:strVal val="visible"/>
                                      </p:to>
                                    </p:set>
                                    <p:animEffect transition="in" filter="wipe(left)">
                                      <p:cBhvr>
                                        <p:cTn id="33" dur="500"/>
                                        <p:tgtEl>
                                          <p:spTgt spid="19558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195588"/>
                                        </p:tgtEl>
                                        <p:attrNameLst>
                                          <p:attrName>style.visibility</p:attrName>
                                        </p:attrNameLst>
                                      </p:cBhvr>
                                      <p:to>
                                        <p:strVal val="visible"/>
                                      </p:to>
                                    </p:set>
                                    <p:animEffect transition="in" filter="wipe(left)">
                                      <p:cBhvr>
                                        <p:cTn id="38" dur="500"/>
                                        <p:tgtEl>
                                          <p:spTgt spid="19558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95596"/>
                                        </p:tgtEl>
                                        <p:attrNameLst>
                                          <p:attrName>style.visibility</p:attrName>
                                        </p:attrNameLst>
                                      </p:cBhvr>
                                      <p:to>
                                        <p:strVal val="visible"/>
                                      </p:to>
                                    </p:set>
                                    <p:animEffect transition="in" filter="wipe(left)">
                                      <p:cBhvr>
                                        <p:cTn id="43" dur="1000"/>
                                        <p:tgtEl>
                                          <p:spTgt spid="195596"/>
                                        </p:tgtEl>
                                      </p:cBhvr>
                                    </p:animEffect>
                                  </p:childTnLst>
                                </p:cTn>
                              </p:par>
                            </p:childTnLst>
                          </p:cTn>
                        </p:par>
                        <p:par>
                          <p:cTn id="44" fill="hold" nodeType="afterGroup">
                            <p:stCondLst>
                              <p:cond delay="1000"/>
                            </p:stCondLst>
                            <p:childTnLst>
                              <p:par>
                                <p:cTn id="45" presetID="9" presetClass="entr" presetSubtype="0" fill="hold" grpId="0" nodeType="afterEffect">
                                  <p:stCondLst>
                                    <p:cond delay="0"/>
                                  </p:stCondLst>
                                  <p:childTnLst>
                                    <p:set>
                                      <p:cBhvr>
                                        <p:cTn id="46" dur="1" fill="hold">
                                          <p:stCondLst>
                                            <p:cond delay="0"/>
                                          </p:stCondLst>
                                        </p:cTn>
                                        <p:tgtEl>
                                          <p:spTgt spid="195595"/>
                                        </p:tgtEl>
                                        <p:attrNameLst>
                                          <p:attrName>style.visibility</p:attrName>
                                        </p:attrNameLst>
                                      </p:cBhvr>
                                      <p:to>
                                        <p:strVal val="visible"/>
                                      </p:to>
                                    </p:set>
                                    <p:animEffect transition="in" filter="dissolve">
                                      <p:cBhvr>
                                        <p:cTn id="47" dur="500"/>
                                        <p:tgtEl>
                                          <p:spTgt spid="19559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95590"/>
                                        </p:tgtEl>
                                        <p:attrNameLst>
                                          <p:attrName>style.visibility</p:attrName>
                                        </p:attrNameLst>
                                      </p:cBhvr>
                                      <p:to>
                                        <p:strVal val="visible"/>
                                      </p:to>
                                    </p:set>
                                    <p:animEffect transition="in" filter="wipe(left)">
                                      <p:cBhvr>
                                        <p:cTn id="52" dur="500"/>
                                        <p:tgtEl>
                                          <p:spTgt spid="195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p:bldP spid="195589" grpId="0" autoUpdateAnimBg="0"/>
      <p:bldP spid="195590" grpId="0" autoUpdateAnimBg="0"/>
      <p:bldP spid="195591" grpId="0" autoUpdateAnimBg="0"/>
      <p:bldP spid="195593" grpId="0"/>
      <p:bldP spid="195594" grpId="0"/>
      <p:bldP spid="195595" grpId="0" autoUpdateAnimBg="0"/>
      <p:bldP spid="19559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ChangeArrowheads="1"/>
          </p:cNvSpPr>
          <p:nvPr/>
        </p:nvSpPr>
        <p:spPr bwMode="auto">
          <a:xfrm>
            <a:off x="5980113" y="968375"/>
            <a:ext cx="2209800" cy="646113"/>
          </a:xfrm>
          <a:prstGeom prst="rect">
            <a:avLst/>
          </a:prstGeom>
          <a:noFill/>
          <a:ln w="9525">
            <a:noFill/>
            <a:miter lim="800000"/>
            <a:headEnd/>
            <a:tailEnd/>
          </a:ln>
          <a:effectLst/>
        </p:spPr>
        <p:txBody>
          <a:bodyPr wrap="none" anchor="ctr"/>
          <a:lstStyle/>
          <a:p>
            <a:endParaRPr lang="zh-CN" altLang="en-US"/>
          </a:p>
        </p:txBody>
      </p:sp>
      <p:sp>
        <p:nvSpPr>
          <p:cNvPr id="126979" name="Text Box 3"/>
          <p:cNvSpPr txBox="1">
            <a:spLocks noChangeArrowheads="1"/>
          </p:cNvSpPr>
          <p:nvPr/>
        </p:nvSpPr>
        <p:spPr bwMode="auto">
          <a:xfrm>
            <a:off x="250825" y="461963"/>
            <a:ext cx="3709988" cy="512762"/>
          </a:xfrm>
          <a:prstGeom prst="rect">
            <a:avLst/>
          </a:prstGeom>
          <a:noFill/>
          <a:ln w="9525">
            <a:noFill/>
            <a:miter lim="800000"/>
            <a:headEnd/>
            <a:tailEnd/>
          </a:ln>
          <a:effectLst/>
        </p:spPr>
        <p:txBody>
          <a:bodyPr wrap="none">
            <a:spAutoFit/>
          </a:bodyPr>
          <a:lstStyle/>
          <a:p>
            <a:pPr>
              <a:lnSpc>
                <a:spcPct val="115000"/>
              </a:lnSpc>
            </a:pPr>
            <a:r>
              <a:rPr lang="en-US" altLang="zh-CN" b="1">
                <a:solidFill>
                  <a:schemeClr val="tx2"/>
                </a:solidFill>
                <a:latin typeface="宋体" charset="-122"/>
              </a:rPr>
              <a:t>2. </a:t>
            </a:r>
            <a:r>
              <a:rPr lang="zh-CN" altLang="en-US" b="1">
                <a:solidFill>
                  <a:schemeClr val="tx2"/>
                </a:solidFill>
                <a:latin typeface="宋体" charset="-122"/>
              </a:rPr>
              <a:t>能量</a:t>
            </a:r>
            <a:r>
              <a:rPr lang="en-US" altLang="zh-CN" b="1">
                <a:solidFill>
                  <a:schemeClr val="tx2"/>
                </a:solidFill>
                <a:latin typeface="宋体" charset="-122"/>
              </a:rPr>
              <a:t>—</a:t>
            </a:r>
            <a:r>
              <a:rPr lang="zh-CN" altLang="en-US" b="1">
                <a:solidFill>
                  <a:schemeClr val="tx2"/>
                </a:solidFill>
                <a:latin typeface="宋体" charset="-122"/>
              </a:rPr>
              <a:t>时间不确定关系</a:t>
            </a:r>
          </a:p>
        </p:txBody>
      </p:sp>
      <p:sp>
        <p:nvSpPr>
          <p:cNvPr id="126980" name="Text Box 4"/>
          <p:cNvSpPr txBox="1">
            <a:spLocks noChangeArrowheads="1"/>
          </p:cNvSpPr>
          <p:nvPr/>
        </p:nvSpPr>
        <p:spPr bwMode="auto">
          <a:xfrm>
            <a:off x="566738" y="2214563"/>
            <a:ext cx="4217987" cy="793750"/>
          </a:xfrm>
          <a:prstGeom prst="rect">
            <a:avLst/>
          </a:prstGeom>
          <a:noFill/>
          <a:ln w="9525">
            <a:noFill/>
            <a:miter lim="800000"/>
            <a:headEnd/>
            <a:tailEnd/>
          </a:ln>
          <a:effectLst/>
        </p:spPr>
        <p:txBody>
          <a:bodyPr>
            <a:spAutoFit/>
          </a:bodyPr>
          <a:lstStyle/>
          <a:p>
            <a:pPr>
              <a:lnSpc>
                <a:spcPct val="115000"/>
              </a:lnSpc>
            </a:pPr>
            <a:r>
              <a:rPr lang="zh-CN" altLang="en-US" sz="2000" b="1">
                <a:solidFill>
                  <a:schemeClr val="bg1"/>
                </a:solidFill>
                <a:latin typeface="宋体" charset="-122"/>
              </a:rPr>
              <a:t>反映了原子能级宽度</a:t>
            </a:r>
            <a:r>
              <a:rPr lang="zh-CN" altLang="en-US" sz="2000" b="1">
                <a:solidFill>
                  <a:schemeClr val="accent2"/>
                </a:solidFill>
              </a:rPr>
              <a:t>△</a:t>
            </a:r>
            <a:r>
              <a:rPr lang="en-US" altLang="zh-CN" sz="2000" b="1" i="1">
                <a:solidFill>
                  <a:schemeClr val="accent2"/>
                </a:solidFill>
              </a:rPr>
              <a:t>E</a:t>
            </a:r>
            <a:r>
              <a:rPr lang="en-US" altLang="zh-CN" sz="2000" b="1" i="1">
                <a:solidFill>
                  <a:srgbClr val="FFCC66"/>
                </a:solidFill>
                <a:latin typeface="宋体" charset="-122"/>
              </a:rPr>
              <a:t> </a:t>
            </a:r>
            <a:r>
              <a:rPr lang="en-US" altLang="zh-CN" sz="2000" b="1">
                <a:solidFill>
                  <a:srgbClr val="FFCC66"/>
                </a:solidFill>
                <a:latin typeface="宋体" charset="-122"/>
              </a:rPr>
              <a:t> </a:t>
            </a:r>
            <a:r>
              <a:rPr lang="zh-CN" altLang="en-US" sz="2000" b="1">
                <a:solidFill>
                  <a:schemeClr val="bg1"/>
                </a:solidFill>
                <a:latin typeface="宋体" charset="-122"/>
              </a:rPr>
              <a:t>和原子在该能级的平均寿命</a:t>
            </a:r>
            <a:r>
              <a:rPr lang="zh-CN" altLang="en-US" sz="2000" b="1">
                <a:solidFill>
                  <a:srgbClr val="FFCC66"/>
                </a:solidFill>
                <a:latin typeface="宋体" charset="-122"/>
              </a:rPr>
              <a:t> </a:t>
            </a:r>
            <a:r>
              <a:rPr lang="zh-CN" altLang="en-US" sz="2000" b="1">
                <a:solidFill>
                  <a:schemeClr val="accent2"/>
                </a:solidFill>
              </a:rPr>
              <a:t>△</a:t>
            </a:r>
            <a:r>
              <a:rPr lang="en-US" altLang="zh-CN" sz="2000" b="1" i="1">
                <a:solidFill>
                  <a:schemeClr val="accent2"/>
                </a:solidFill>
              </a:rPr>
              <a:t>t</a:t>
            </a:r>
            <a:r>
              <a:rPr lang="en-US" altLang="zh-CN" sz="2000" b="1">
                <a:solidFill>
                  <a:srgbClr val="FFCC66"/>
                </a:solidFill>
                <a:latin typeface="宋体" charset="-122"/>
              </a:rPr>
              <a:t> </a:t>
            </a:r>
            <a:r>
              <a:rPr lang="zh-CN" altLang="en-US" sz="2000" b="1">
                <a:solidFill>
                  <a:schemeClr val="bg1"/>
                </a:solidFill>
                <a:latin typeface="宋体" charset="-122"/>
              </a:rPr>
              <a:t>之间的关系。</a:t>
            </a:r>
          </a:p>
        </p:txBody>
      </p:sp>
      <p:sp>
        <p:nvSpPr>
          <p:cNvPr id="126981" name="Text Box 5"/>
          <p:cNvSpPr txBox="1">
            <a:spLocks noChangeArrowheads="1"/>
          </p:cNvSpPr>
          <p:nvPr/>
        </p:nvSpPr>
        <p:spPr bwMode="auto">
          <a:xfrm>
            <a:off x="611188" y="5005388"/>
            <a:ext cx="946150" cy="493712"/>
          </a:xfrm>
          <a:prstGeom prst="rect">
            <a:avLst/>
          </a:prstGeom>
          <a:noFill/>
          <a:ln w="9525">
            <a:noFill/>
            <a:miter lim="800000"/>
            <a:headEnd/>
            <a:tailEnd/>
          </a:ln>
          <a:effectLst/>
        </p:spPr>
        <p:txBody>
          <a:bodyPr>
            <a:spAutoFit/>
          </a:bodyPr>
          <a:lstStyle/>
          <a:p>
            <a:pPr>
              <a:lnSpc>
                <a:spcPct val="110000"/>
              </a:lnSpc>
            </a:pPr>
            <a:r>
              <a:rPr lang="zh-CN" altLang="en-US" b="1">
                <a:solidFill>
                  <a:schemeClr val="tx2"/>
                </a:solidFill>
                <a:latin typeface="宋体" charset="-122"/>
              </a:rPr>
              <a:t>基态</a:t>
            </a:r>
            <a:endParaRPr lang="zh-CN" altLang="en-US" b="1">
              <a:solidFill>
                <a:schemeClr val="tx2"/>
              </a:solidFill>
              <a:latin typeface="宋体" charset="-122"/>
              <a:sym typeface="Symbol" pitchFamily="18" charset="2"/>
            </a:endParaRPr>
          </a:p>
        </p:txBody>
      </p:sp>
      <p:graphicFrame>
        <p:nvGraphicFramePr>
          <p:cNvPr id="126982" name="Object 6"/>
          <p:cNvGraphicFramePr>
            <a:graphicFrameLocks noChangeAspect="1"/>
          </p:cNvGraphicFramePr>
          <p:nvPr/>
        </p:nvGraphicFramePr>
        <p:xfrm>
          <a:off x="3281363" y="3824288"/>
          <a:ext cx="2281237" cy="730250"/>
        </p:xfrm>
        <a:graphic>
          <a:graphicData uri="http://schemas.openxmlformats.org/presentationml/2006/ole">
            <p:oleObj spid="_x0000_s40966" name="公式" r:id="rId5" imgW="1091160" imgH="334440" progId="Equation.3">
              <p:embed/>
            </p:oleObj>
          </a:graphicData>
        </a:graphic>
      </p:graphicFrame>
      <p:sp>
        <p:nvSpPr>
          <p:cNvPr id="126983" name="Line 7"/>
          <p:cNvSpPr>
            <a:spLocks noChangeShapeType="1"/>
          </p:cNvSpPr>
          <p:nvPr/>
        </p:nvSpPr>
        <p:spPr bwMode="auto">
          <a:xfrm flipH="1">
            <a:off x="6732588" y="1701800"/>
            <a:ext cx="9525" cy="1368425"/>
          </a:xfrm>
          <a:prstGeom prst="line">
            <a:avLst/>
          </a:prstGeom>
          <a:noFill/>
          <a:ln w="38100">
            <a:solidFill>
              <a:srgbClr val="FF0000"/>
            </a:solidFill>
            <a:round/>
            <a:headEnd/>
            <a:tailEnd type="triangle" w="med" len="med"/>
          </a:ln>
          <a:effectLst/>
        </p:spPr>
        <p:txBody>
          <a:bodyPr/>
          <a:lstStyle/>
          <a:p>
            <a:endParaRPr lang="zh-CN" altLang="en-US"/>
          </a:p>
        </p:txBody>
      </p:sp>
      <p:grpSp>
        <p:nvGrpSpPr>
          <p:cNvPr id="126984" name="Group 8"/>
          <p:cNvGrpSpPr>
            <a:grpSpLocks/>
          </p:cNvGrpSpPr>
          <p:nvPr/>
        </p:nvGrpSpPr>
        <p:grpSpPr bwMode="auto">
          <a:xfrm>
            <a:off x="5965825" y="5013325"/>
            <a:ext cx="2362200" cy="228600"/>
            <a:chOff x="3610" y="3216"/>
            <a:chExt cx="1488" cy="144"/>
          </a:xfrm>
        </p:grpSpPr>
        <p:sp>
          <p:nvSpPr>
            <p:cNvPr id="40999" name="Line 9"/>
            <p:cNvSpPr>
              <a:spLocks noChangeShapeType="1"/>
            </p:cNvSpPr>
            <p:nvPr/>
          </p:nvSpPr>
          <p:spPr bwMode="auto">
            <a:xfrm>
              <a:off x="3610" y="3360"/>
              <a:ext cx="1488" cy="0"/>
            </a:xfrm>
            <a:prstGeom prst="line">
              <a:avLst/>
            </a:prstGeom>
            <a:noFill/>
            <a:ln w="9525">
              <a:solidFill>
                <a:schemeClr val="hlink"/>
              </a:solidFill>
              <a:round/>
              <a:headEnd/>
              <a:tailEnd/>
            </a:ln>
            <a:effectLst/>
          </p:spPr>
          <p:txBody>
            <a:bodyPr/>
            <a:lstStyle/>
            <a:p>
              <a:endParaRPr lang="zh-CN" altLang="en-US"/>
            </a:p>
          </p:txBody>
        </p:sp>
        <p:sp>
          <p:nvSpPr>
            <p:cNvPr id="41000" name="Line 10"/>
            <p:cNvSpPr>
              <a:spLocks noChangeShapeType="1"/>
            </p:cNvSpPr>
            <p:nvPr/>
          </p:nvSpPr>
          <p:spPr bwMode="auto">
            <a:xfrm flipV="1">
              <a:off x="3994" y="3216"/>
              <a:ext cx="0" cy="144"/>
            </a:xfrm>
            <a:prstGeom prst="line">
              <a:avLst/>
            </a:prstGeom>
            <a:noFill/>
            <a:ln w="9525">
              <a:solidFill>
                <a:schemeClr val="hlink"/>
              </a:solidFill>
              <a:round/>
              <a:headEnd/>
              <a:tailEnd/>
            </a:ln>
            <a:effectLst/>
          </p:spPr>
          <p:txBody>
            <a:bodyPr/>
            <a:lstStyle/>
            <a:p>
              <a:endParaRPr lang="zh-CN" altLang="en-US"/>
            </a:p>
          </p:txBody>
        </p:sp>
        <p:sp>
          <p:nvSpPr>
            <p:cNvPr id="41001" name="Line 11"/>
            <p:cNvSpPr>
              <a:spLocks noChangeShapeType="1"/>
            </p:cNvSpPr>
            <p:nvPr/>
          </p:nvSpPr>
          <p:spPr bwMode="auto">
            <a:xfrm flipV="1">
              <a:off x="4762" y="3216"/>
              <a:ext cx="0" cy="144"/>
            </a:xfrm>
            <a:prstGeom prst="line">
              <a:avLst/>
            </a:prstGeom>
            <a:noFill/>
            <a:ln w="9525">
              <a:solidFill>
                <a:schemeClr val="hlink"/>
              </a:solidFill>
              <a:round/>
              <a:headEnd/>
              <a:tailEnd/>
            </a:ln>
            <a:effectLst/>
          </p:spPr>
          <p:txBody>
            <a:bodyPr/>
            <a:lstStyle/>
            <a:p>
              <a:endParaRPr lang="zh-CN" altLang="en-US"/>
            </a:p>
          </p:txBody>
        </p:sp>
      </p:grpSp>
      <p:pic>
        <p:nvPicPr>
          <p:cNvPr id="126988" name="Picture 12" descr="普线宽度"/>
          <p:cNvPicPr>
            <a:picLocks noChangeAspect="1" noChangeArrowheads="1"/>
          </p:cNvPicPr>
          <p:nvPr/>
        </p:nvPicPr>
        <p:blipFill>
          <a:blip r:embed="rId6">
            <a:clrChange>
              <a:clrFrom>
                <a:srgbClr val="326699"/>
              </a:clrFrom>
              <a:clrTo>
                <a:srgbClr val="326699">
                  <a:alpha val="0"/>
                </a:srgbClr>
              </a:clrTo>
            </a:clrChange>
            <a:lum bright="-30000"/>
          </a:blip>
          <a:srcRect/>
          <a:stretch>
            <a:fillRect/>
          </a:stretch>
        </p:blipFill>
        <p:spPr bwMode="auto">
          <a:xfrm>
            <a:off x="5873750" y="3590925"/>
            <a:ext cx="2514600" cy="1739900"/>
          </a:xfrm>
          <a:prstGeom prst="rect">
            <a:avLst/>
          </a:prstGeom>
          <a:noFill/>
          <a:ln w="9525">
            <a:noFill/>
            <a:miter lim="800000"/>
            <a:headEnd/>
            <a:tailEnd/>
          </a:ln>
        </p:spPr>
      </p:pic>
      <p:grpSp>
        <p:nvGrpSpPr>
          <p:cNvPr id="126989" name="Group 13"/>
          <p:cNvGrpSpPr>
            <a:grpSpLocks/>
          </p:cNvGrpSpPr>
          <p:nvPr/>
        </p:nvGrpSpPr>
        <p:grpSpPr bwMode="auto">
          <a:xfrm>
            <a:off x="5737225" y="5302250"/>
            <a:ext cx="2974975" cy="1150938"/>
            <a:chOff x="3466" y="3398"/>
            <a:chExt cx="1565" cy="725"/>
          </a:xfrm>
        </p:grpSpPr>
        <p:sp>
          <p:nvSpPr>
            <p:cNvPr id="40995" name="Text Box 14"/>
            <p:cNvSpPr txBox="1">
              <a:spLocks noChangeArrowheads="1"/>
            </p:cNvSpPr>
            <p:nvPr/>
          </p:nvSpPr>
          <p:spPr bwMode="auto">
            <a:xfrm>
              <a:off x="3466" y="3873"/>
              <a:ext cx="1565" cy="250"/>
            </a:xfrm>
            <a:prstGeom prst="rect">
              <a:avLst/>
            </a:prstGeom>
            <a:noFill/>
            <a:ln w="9525">
              <a:noFill/>
              <a:miter lim="800000"/>
              <a:headEnd/>
              <a:tailEnd/>
            </a:ln>
            <a:effectLst/>
          </p:spPr>
          <p:txBody>
            <a:bodyPr>
              <a:spAutoFit/>
            </a:bodyPr>
            <a:lstStyle/>
            <a:p>
              <a:r>
                <a:rPr lang="zh-CN" altLang="en-US" sz="2000" b="1">
                  <a:solidFill>
                    <a:schemeClr val="bg1"/>
                  </a:solidFill>
                  <a:ea typeface="楷体_GB2312" pitchFamily="49" charset="-122"/>
                </a:rPr>
                <a:t>辐射光谱线固有宽度</a:t>
              </a:r>
            </a:p>
          </p:txBody>
        </p:sp>
        <p:grpSp>
          <p:nvGrpSpPr>
            <p:cNvPr id="40996" name="Group 15"/>
            <p:cNvGrpSpPr>
              <a:grpSpLocks/>
            </p:cNvGrpSpPr>
            <p:nvPr/>
          </p:nvGrpSpPr>
          <p:grpSpPr bwMode="auto">
            <a:xfrm>
              <a:off x="3600" y="3398"/>
              <a:ext cx="1344" cy="442"/>
              <a:chOff x="3706" y="3360"/>
              <a:chExt cx="1344" cy="442"/>
            </a:xfrm>
          </p:grpSpPr>
          <p:graphicFrame>
            <p:nvGraphicFramePr>
              <p:cNvPr id="40997" name="Object 16"/>
              <p:cNvGraphicFramePr>
                <a:graphicFrameLocks noChangeAspect="1"/>
              </p:cNvGraphicFramePr>
              <p:nvPr/>
            </p:nvGraphicFramePr>
            <p:xfrm>
              <a:off x="3706" y="3360"/>
              <a:ext cx="535" cy="442"/>
            </p:xfrm>
            <a:graphic>
              <a:graphicData uri="http://schemas.openxmlformats.org/presentationml/2006/ole">
                <p:oleObj spid="_x0000_s40997" name="Equation" r:id="rId7" imgW="407160" imgH="318240" progId="Equation.3">
                  <p:embed/>
                </p:oleObj>
              </a:graphicData>
            </a:graphic>
          </p:graphicFrame>
          <p:graphicFrame>
            <p:nvGraphicFramePr>
              <p:cNvPr id="40998" name="Object 17"/>
              <p:cNvGraphicFramePr>
                <a:graphicFrameLocks noChangeAspect="1"/>
              </p:cNvGraphicFramePr>
              <p:nvPr/>
            </p:nvGraphicFramePr>
            <p:xfrm>
              <a:off x="4515" y="3360"/>
              <a:ext cx="535" cy="442"/>
            </p:xfrm>
            <a:graphic>
              <a:graphicData uri="http://schemas.openxmlformats.org/presentationml/2006/ole">
                <p:oleObj spid="_x0000_s40998" name="Equation" r:id="rId8" imgW="407160" imgH="318240" progId="Equation.3">
                  <p:embed/>
                </p:oleObj>
              </a:graphicData>
            </a:graphic>
          </p:graphicFrame>
        </p:grpSp>
      </p:grpSp>
      <p:grpSp>
        <p:nvGrpSpPr>
          <p:cNvPr id="126994" name="Group 18"/>
          <p:cNvGrpSpPr>
            <a:grpSpLocks/>
          </p:cNvGrpSpPr>
          <p:nvPr/>
        </p:nvGrpSpPr>
        <p:grpSpPr bwMode="auto">
          <a:xfrm>
            <a:off x="5029200" y="471488"/>
            <a:ext cx="3160713" cy="1579562"/>
            <a:chOff x="3216" y="336"/>
            <a:chExt cx="1991" cy="995"/>
          </a:xfrm>
        </p:grpSpPr>
        <p:graphicFrame>
          <p:nvGraphicFramePr>
            <p:cNvPr id="40990" name="Object 19"/>
            <p:cNvGraphicFramePr>
              <a:graphicFrameLocks noChangeAspect="1"/>
            </p:cNvGraphicFramePr>
            <p:nvPr/>
          </p:nvGraphicFramePr>
          <p:xfrm>
            <a:off x="3216" y="336"/>
            <a:ext cx="576" cy="442"/>
          </p:xfrm>
          <a:graphic>
            <a:graphicData uri="http://schemas.openxmlformats.org/presentationml/2006/ole">
              <p:oleObj spid="_x0000_s40990" name="Equation" r:id="rId9" imgW="439920" imgH="318240" progId="Equation.3">
                <p:embed/>
              </p:oleObj>
            </a:graphicData>
          </a:graphic>
        </p:graphicFrame>
        <p:grpSp>
          <p:nvGrpSpPr>
            <p:cNvPr id="40991" name="Group 20"/>
            <p:cNvGrpSpPr>
              <a:grpSpLocks/>
            </p:cNvGrpSpPr>
            <p:nvPr/>
          </p:nvGrpSpPr>
          <p:grpSpPr bwMode="auto">
            <a:xfrm>
              <a:off x="3216" y="634"/>
              <a:ext cx="1991" cy="697"/>
              <a:chOff x="3216" y="634"/>
              <a:chExt cx="1991" cy="697"/>
            </a:xfrm>
          </p:grpSpPr>
          <p:sp>
            <p:nvSpPr>
              <p:cNvPr id="40992" name="Line 21"/>
              <p:cNvSpPr>
                <a:spLocks noChangeShapeType="1"/>
              </p:cNvSpPr>
              <p:nvPr/>
            </p:nvSpPr>
            <p:spPr bwMode="auto">
              <a:xfrm>
                <a:off x="3815" y="634"/>
                <a:ext cx="1392" cy="0"/>
              </a:xfrm>
              <a:prstGeom prst="line">
                <a:avLst/>
              </a:prstGeom>
              <a:noFill/>
              <a:ln w="38100">
                <a:solidFill>
                  <a:schemeClr val="bg1"/>
                </a:solidFill>
                <a:round/>
                <a:headEnd/>
                <a:tailEnd/>
              </a:ln>
              <a:effectLst/>
            </p:spPr>
            <p:txBody>
              <a:bodyPr/>
              <a:lstStyle/>
              <a:p>
                <a:endParaRPr lang="zh-CN" altLang="en-US"/>
              </a:p>
            </p:txBody>
          </p:sp>
          <p:graphicFrame>
            <p:nvGraphicFramePr>
              <p:cNvPr id="40993" name="Object 22"/>
              <p:cNvGraphicFramePr>
                <a:graphicFrameLocks noChangeAspect="1"/>
              </p:cNvGraphicFramePr>
              <p:nvPr/>
            </p:nvGraphicFramePr>
            <p:xfrm>
              <a:off x="3216" y="889"/>
              <a:ext cx="576" cy="442"/>
            </p:xfrm>
            <a:graphic>
              <a:graphicData uri="http://schemas.openxmlformats.org/presentationml/2006/ole">
                <p:oleObj spid="_x0000_s40993" name="Equation" r:id="rId10" imgW="439920" imgH="318240" progId="Equation.3">
                  <p:embed/>
                </p:oleObj>
              </a:graphicData>
            </a:graphic>
          </p:graphicFrame>
          <p:sp>
            <p:nvSpPr>
              <p:cNvPr id="40994" name="Line 23"/>
              <p:cNvSpPr>
                <a:spLocks noChangeShapeType="1"/>
              </p:cNvSpPr>
              <p:nvPr/>
            </p:nvSpPr>
            <p:spPr bwMode="auto">
              <a:xfrm>
                <a:off x="3815" y="1056"/>
                <a:ext cx="1392" cy="0"/>
              </a:xfrm>
              <a:prstGeom prst="line">
                <a:avLst/>
              </a:prstGeom>
              <a:noFill/>
              <a:ln w="38100">
                <a:solidFill>
                  <a:schemeClr val="bg1"/>
                </a:solidFill>
                <a:round/>
                <a:headEnd/>
                <a:tailEnd/>
              </a:ln>
              <a:effectLst/>
            </p:spPr>
            <p:txBody>
              <a:bodyPr/>
              <a:lstStyle/>
              <a:p>
                <a:endParaRPr lang="zh-CN" altLang="en-US"/>
              </a:p>
            </p:txBody>
          </p:sp>
        </p:grpSp>
      </p:grpSp>
      <p:sp>
        <p:nvSpPr>
          <p:cNvPr id="127000" name="Rectangle 24"/>
          <p:cNvSpPr>
            <a:spLocks noChangeArrowheads="1"/>
          </p:cNvSpPr>
          <p:nvPr/>
        </p:nvSpPr>
        <p:spPr bwMode="auto">
          <a:xfrm>
            <a:off x="342900" y="3608388"/>
            <a:ext cx="1484313" cy="493712"/>
          </a:xfrm>
          <a:prstGeom prst="rect">
            <a:avLst/>
          </a:prstGeom>
          <a:noFill/>
          <a:ln w="9525">
            <a:noFill/>
            <a:miter lim="800000"/>
            <a:headEnd/>
            <a:tailEnd/>
          </a:ln>
          <a:effectLst/>
        </p:spPr>
        <p:txBody>
          <a:bodyPr>
            <a:spAutoFit/>
          </a:bodyPr>
          <a:lstStyle/>
          <a:p>
            <a:pPr>
              <a:lnSpc>
                <a:spcPct val="110000"/>
              </a:lnSpc>
            </a:pPr>
            <a:r>
              <a:rPr lang="zh-CN" altLang="en-US" b="1">
                <a:solidFill>
                  <a:schemeClr val="tx2"/>
                </a:solidFill>
                <a:latin typeface="宋体" charset="-122"/>
              </a:rPr>
              <a:t>激发态</a:t>
            </a:r>
            <a:r>
              <a:rPr lang="zh-CN" altLang="en-US" b="1">
                <a:solidFill>
                  <a:srgbClr val="FFCC66"/>
                </a:solidFill>
                <a:latin typeface="宋体" charset="-122"/>
              </a:rPr>
              <a:t>   </a:t>
            </a:r>
            <a:endParaRPr lang="zh-CN" altLang="en-US" b="1">
              <a:solidFill>
                <a:schemeClr val="bg1"/>
              </a:solidFill>
              <a:latin typeface="宋体" charset="-122"/>
            </a:endParaRPr>
          </a:p>
        </p:txBody>
      </p:sp>
      <p:grpSp>
        <p:nvGrpSpPr>
          <p:cNvPr id="127018" name="Group 42"/>
          <p:cNvGrpSpPr>
            <a:grpSpLocks/>
          </p:cNvGrpSpPr>
          <p:nvPr/>
        </p:nvGrpSpPr>
        <p:grpSpPr bwMode="auto">
          <a:xfrm>
            <a:off x="6018213" y="1055688"/>
            <a:ext cx="2655887" cy="457200"/>
            <a:chOff x="3791" y="665"/>
            <a:chExt cx="1673" cy="288"/>
          </a:xfrm>
        </p:grpSpPr>
        <p:sp>
          <p:nvSpPr>
            <p:cNvPr id="40988" name="Text Box 26"/>
            <p:cNvSpPr txBox="1">
              <a:spLocks noChangeArrowheads="1"/>
            </p:cNvSpPr>
            <p:nvPr/>
          </p:nvSpPr>
          <p:spPr bwMode="auto">
            <a:xfrm>
              <a:off x="5231" y="665"/>
              <a:ext cx="233" cy="288"/>
            </a:xfrm>
            <a:prstGeom prst="rect">
              <a:avLst/>
            </a:prstGeom>
            <a:noFill/>
            <a:ln w="9525">
              <a:noFill/>
              <a:miter lim="800000"/>
              <a:headEnd/>
              <a:tailEnd/>
            </a:ln>
            <a:effectLst/>
          </p:spPr>
          <p:txBody>
            <a:bodyPr wrap="none">
              <a:spAutoFit/>
            </a:bodyPr>
            <a:lstStyle/>
            <a:p>
              <a:r>
                <a:rPr lang="en-US" altLang="zh-CN" i="1">
                  <a:solidFill>
                    <a:srgbClr val="3333CC"/>
                  </a:solidFill>
                </a:rPr>
                <a:t>E</a:t>
              </a:r>
            </a:p>
          </p:txBody>
        </p:sp>
        <p:sp>
          <p:nvSpPr>
            <p:cNvPr id="40989" name="Line 27"/>
            <p:cNvSpPr>
              <a:spLocks noChangeShapeType="1"/>
            </p:cNvSpPr>
            <p:nvPr/>
          </p:nvSpPr>
          <p:spPr bwMode="auto">
            <a:xfrm>
              <a:off x="3791" y="825"/>
              <a:ext cx="1392" cy="0"/>
            </a:xfrm>
            <a:prstGeom prst="line">
              <a:avLst/>
            </a:prstGeom>
            <a:noFill/>
            <a:ln w="38100">
              <a:solidFill>
                <a:schemeClr val="bg1"/>
              </a:solidFill>
              <a:round/>
              <a:headEnd/>
              <a:tailEnd/>
            </a:ln>
            <a:effectLst/>
          </p:spPr>
          <p:txBody>
            <a:bodyPr/>
            <a:lstStyle/>
            <a:p>
              <a:endParaRPr lang="zh-CN" altLang="en-US"/>
            </a:p>
          </p:txBody>
        </p:sp>
      </p:grpSp>
      <p:grpSp>
        <p:nvGrpSpPr>
          <p:cNvPr id="127017" name="Group 41"/>
          <p:cNvGrpSpPr>
            <a:grpSpLocks/>
          </p:cNvGrpSpPr>
          <p:nvPr/>
        </p:nvGrpSpPr>
        <p:grpSpPr bwMode="auto">
          <a:xfrm>
            <a:off x="6018213" y="2925763"/>
            <a:ext cx="3125787" cy="396875"/>
            <a:chOff x="3791" y="1843"/>
            <a:chExt cx="1969" cy="250"/>
          </a:xfrm>
        </p:grpSpPr>
        <p:sp>
          <p:nvSpPr>
            <p:cNvPr id="40986" name="Line 25"/>
            <p:cNvSpPr>
              <a:spLocks noChangeShapeType="1"/>
            </p:cNvSpPr>
            <p:nvPr/>
          </p:nvSpPr>
          <p:spPr bwMode="auto">
            <a:xfrm>
              <a:off x="3791" y="1977"/>
              <a:ext cx="1440" cy="0"/>
            </a:xfrm>
            <a:prstGeom prst="line">
              <a:avLst/>
            </a:prstGeom>
            <a:noFill/>
            <a:ln w="38100">
              <a:solidFill>
                <a:srgbClr val="000000">
                  <a:alpha val="67842"/>
                </a:srgbClr>
              </a:solidFill>
              <a:round/>
              <a:headEnd/>
              <a:tailEnd/>
            </a:ln>
            <a:effectLst/>
          </p:spPr>
          <p:txBody>
            <a:bodyPr/>
            <a:lstStyle/>
            <a:p>
              <a:endParaRPr lang="zh-CN" altLang="en-US"/>
            </a:p>
          </p:txBody>
        </p:sp>
        <p:sp>
          <p:nvSpPr>
            <p:cNvPr id="40987" name="Rectangle 28"/>
            <p:cNvSpPr>
              <a:spLocks noChangeArrowheads="1"/>
            </p:cNvSpPr>
            <p:nvPr/>
          </p:nvSpPr>
          <p:spPr bwMode="auto">
            <a:xfrm>
              <a:off x="5211" y="1843"/>
              <a:ext cx="549" cy="250"/>
            </a:xfrm>
            <a:prstGeom prst="rect">
              <a:avLst/>
            </a:prstGeom>
            <a:noFill/>
            <a:ln w="9525">
              <a:noFill/>
              <a:miter lim="800000"/>
              <a:headEnd/>
              <a:tailEnd/>
            </a:ln>
            <a:effectLst/>
          </p:spPr>
          <p:txBody>
            <a:bodyPr>
              <a:spAutoFit/>
            </a:bodyPr>
            <a:lstStyle/>
            <a:p>
              <a:r>
                <a:rPr lang="zh-CN" altLang="en-US" sz="2000" b="1">
                  <a:solidFill>
                    <a:schemeClr val="bg1"/>
                  </a:solidFill>
                  <a:ea typeface="楷体_GB2312" pitchFamily="49" charset="-122"/>
                </a:rPr>
                <a:t>基态</a:t>
              </a:r>
            </a:p>
          </p:txBody>
        </p:sp>
      </p:grpSp>
      <p:sp>
        <p:nvSpPr>
          <p:cNvPr id="127005" name="Oval 29"/>
          <p:cNvSpPr>
            <a:spLocks noChangeArrowheads="1"/>
          </p:cNvSpPr>
          <p:nvPr/>
        </p:nvSpPr>
        <p:spPr bwMode="auto">
          <a:xfrm>
            <a:off x="6742113" y="1004888"/>
            <a:ext cx="304800" cy="304800"/>
          </a:xfrm>
          <a:prstGeom prst="ellipse">
            <a:avLst/>
          </a:prstGeom>
          <a:gradFill rotWithShape="0">
            <a:gsLst>
              <a:gs pos="0">
                <a:srgbClr val="FFFF99"/>
              </a:gs>
              <a:gs pos="100000">
                <a:srgbClr val="767647"/>
              </a:gs>
            </a:gsLst>
            <a:path path="shape">
              <a:fillToRect l="50000" t="50000" r="50000" b="50000"/>
            </a:path>
          </a:gradFill>
          <a:ln w="9525">
            <a:solidFill>
              <a:schemeClr val="tx1"/>
            </a:solidFill>
            <a:round/>
            <a:headEnd/>
            <a:tailEnd/>
          </a:ln>
          <a:effectLst/>
        </p:spPr>
        <p:txBody>
          <a:bodyPr wrap="none" anchor="ctr"/>
          <a:lstStyle/>
          <a:p>
            <a:pPr algn="ctr"/>
            <a:endParaRPr lang="zh-CN" altLang="zh-CN" sz="2800">
              <a:solidFill>
                <a:srgbClr val="99FFCC"/>
              </a:solidFill>
            </a:endParaRPr>
          </a:p>
        </p:txBody>
      </p:sp>
      <p:sp>
        <p:nvSpPr>
          <p:cNvPr id="127006" name="Rectangle 30"/>
          <p:cNvSpPr>
            <a:spLocks noChangeArrowheads="1"/>
          </p:cNvSpPr>
          <p:nvPr/>
        </p:nvSpPr>
        <p:spPr bwMode="auto">
          <a:xfrm>
            <a:off x="7391400" y="466725"/>
            <a:ext cx="1143000" cy="396875"/>
          </a:xfrm>
          <a:prstGeom prst="rect">
            <a:avLst/>
          </a:prstGeom>
          <a:noFill/>
          <a:ln w="9525">
            <a:noFill/>
            <a:miter lim="800000"/>
            <a:headEnd/>
            <a:tailEnd/>
          </a:ln>
          <a:effectLst/>
        </p:spPr>
        <p:txBody>
          <a:bodyPr>
            <a:spAutoFit/>
          </a:bodyPr>
          <a:lstStyle/>
          <a:p>
            <a:r>
              <a:rPr lang="zh-CN" altLang="en-US" sz="2000" b="1">
                <a:solidFill>
                  <a:schemeClr val="bg1"/>
                </a:solidFill>
                <a:ea typeface="楷体_GB2312" pitchFamily="49" charset="-122"/>
              </a:rPr>
              <a:t>寿命</a:t>
            </a:r>
            <a:r>
              <a:rPr lang="zh-CN" altLang="en-US" sz="2000" b="1">
                <a:solidFill>
                  <a:srgbClr val="3333CC"/>
                </a:solidFill>
              </a:rPr>
              <a:t>△</a:t>
            </a:r>
            <a:r>
              <a:rPr lang="en-US" altLang="zh-CN" sz="2000" b="1" i="1">
                <a:solidFill>
                  <a:srgbClr val="3333CC"/>
                </a:solidFill>
              </a:rPr>
              <a:t>t</a:t>
            </a:r>
          </a:p>
        </p:txBody>
      </p:sp>
      <p:sp>
        <p:nvSpPr>
          <p:cNvPr id="127007" name="Rectangle 31"/>
          <p:cNvSpPr>
            <a:spLocks noChangeArrowheads="1"/>
          </p:cNvSpPr>
          <p:nvPr/>
        </p:nvSpPr>
        <p:spPr bwMode="auto">
          <a:xfrm>
            <a:off x="7731125" y="2124075"/>
            <a:ext cx="1089025" cy="396875"/>
          </a:xfrm>
          <a:prstGeom prst="rect">
            <a:avLst/>
          </a:prstGeom>
          <a:noFill/>
          <a:ln w="9525">
            <a:noFill/>
            <a:miter lim="800000"/>
            <a:headEnd/>
            <a:tailEnd/>
          </a:ln>
          <a:effectLst/>
        </p:spPr>
        <p:txBody>
          <a:bodyPr>
            <a:spAutoFit/>
          </a:bodyPr>
          <a:lstStyle/>
          <a:p>
            <a:r>
              <a:rPr lang="zh-CN" altLang="en-US" sz="2000" b="1">
                <a:solidFill>
                  <a:schemeClr val="bg1"/>
                </a:solidFill>
                <a:ea typeface="楷体_GB2312" pitchFamily="49" charset="-122"/>
              </a:rPr>
              <a:t>光辐射</a:t>
            </a:r>
          </a:p>
        </p:txBody>
      </p:sp>
      <p:sp>
        <p:nvSpPr>
          <p:cNvPr id="40978" name="Rectangle 32"/>
          <p:cNvSpPr>
            <a:spLocks noChangeArrowheads="1"/>
          </p:cNvSpPr>
          <p:nvPr/>
        </p:nvSpPr>
        <p:spPr bwMode="auto">
          <a:xfrm>
            <a:off x="1403350" y="1195388"/>
            <a:ext cx="2232025" cy="865187"/>
          </a:xfrm>
          <a:prstGeom prst="rect">
            <a:avLst/>
          </a:prstGeom>
          <a:solidFill>
            <a:schemeClr val="accent1">
              <a:alpha val="92155"/>
            </a:schemeClr>
          </a:solidFill>
          <a:ln w="9525">
            <a:solidFill>
              <a:schemeClr val="tx1"/>
            </a:solidFill>
            <a:miter lim="800000"/>
            <a:headEnd/>
            <a:tailEnd/>
          </a:ln>
          <a:effectLst/>
        </p:spPr>
        <p:txBody>
          <a:bodyPr wrap="none" anchor="ctr"/>
          <a:lstStyle/>
          <a:p>
            <a:endParaRPr lang="zh-CN" altLang="en-US"/>
          </a:p>
        </p:txBody>
      </p:sp>
      <p:graphicFrame>
        <p:nvGraphicFramePr>
          <p:cNvPr id="127009" name="Object 33"/>
          <p:cNvGraphicFramePr>
            <a:graphicFrameLocks/>
          </p:cNvGraphicFramePr>
          <p:nvPr/>
        </p:nvGraphicFramePr>
        <p:xfrm>
          <a:off x="1736725" y="1223963"/>
          <a:ext cx="1163638" cy="730250"/>
        </p:xfrm>
        <a:graphic>
          <a:graphicData uri="http://schemas.openxmlformats.org/presentationml/2006/ole">
            <p:oleObj spid="_x0000_s40979" name="公式" r:id="rId11" imgW="537480" imgH="334440" progId="Equation.3">
              <p:embed/>
            </p:oleObj>
          </a:graphicData>
        </a:graphic>
      </p:graphicFrame>
      <p:sp>
        <p:nvSpPr>
          <p:cNvPr id="127010" name="Rectangle 34"/>
          <p:cNvSpPr>
            <a:spLocks noChangeArrowheads="1"/>
          </p:cNvSpPr>
          <p:nvPr/>
        </p:nvSpPr>
        <p:spPr bwMode="auto">
          <a:xfrm>
            <a:off x="1508125" y="3952875"/>
            <a:ext cx="1409700" cy="457200"/>
          </a:xfrm>
          <a:prstGeom prst="rect">
            <a:avLst/>
          </a:prstGeom>
          <a:noFill/>
          <a:ln w="9525">
            <a:noFill/>
            <a:miter lim="800000"/>
            <a:headEnd/>
            <a:tailEnd/>
          </a:ln>
          <a:effectLst/>
        </p:spPr>
        <p:txBody>
          <a:bodyPr wrap="none">
            <a:spAutoFit/>
          </a:bodyPr>
          <a:lstStyle/>
          <a:p>
            <a:r>
              <a:rPr lang="zh-CN" altLang="en-US" b="1">
                <a:solidFill>
                  <a:schemeClr val="bg1"/>
                </a:solidFill>
                <a:ea typeface="楷体_GB2312" pitchFamily="49" charset="-122"/>
              </a:rPr>
              <a:t>能级宽度</a:t>
            </a:r>
          </a:p>
        </p:txBody>
      </p:sp>
      <p:sp>
        <p:nvSpPr>
          <p:cNvPr id="127011" name="Rectangle 35"/>
          <p:cNvSpPr>
            <a:spLocks noChangeArrowheads="1"/>
          </p:cNvSpPr>
          <p:nvPr/>
        </p:nvSpPr>
        <p:spPr bwMode="auto">
          <a:xfrm>
            <a:off x="1508125" y="3314700"/>
            <a:ext cx="3659188" cy="519113"/>
          </a:xfrm>
          <a:prstGeom prst="rect">
            <a:avLst/>
          </a:prstGeom>
          <a:noFill/>
          <a:ln w="9525">
            <a:noFill/>
            <a:miter lim="800000"/>
            <a:headEnd/>
            <a:tailEnd/>
          </a:ln>
          <a:effectLst/>
        </p:spPr>
        <p:txBody>
          <a:bodyPr wrap="none">
            <a:spAutoFit/>
          </a:bodyPr>
          <a:lstStyle/>
          <a:p>
            <a:r>
              <a:rPr lang="zh-CN" altLang="en-US" b="1">
                <a:solidFill>
                  <a:schemeClr val="bg1"/>
                </a:solidFill>
                <a:ea typeface="楷体_GB2312" pitchFamily="49" charset="-122"/>
              </a:rPr>
              <a:t>平均寿命</a:t>
            </a:r>
            <a:r>
              <a:rPr lang="zh-CN" altLang="en-US" sz="2800" b="1">
                <a:solidFill>
                  <a:srgbClr val="FFCC66"/>
                </a:solidFill>
              </a:rPr>
              <a:t>        </a:t>
            </a:r>
            <a:r>
              <a:rPr lang="zh-CN" altLang="en-US" b="1" i="1">
                <a:solidFill>
                  <a:schemeClr val="accent2"/>
                </a:solidFill>
              </a:rPr>
              <a:t>△</a:t>
            </a:r>
            <a:r>
              <a:rPr lang="zh-CN" altLang="en-US" b="1">
                <a:solidFill>
                  <a:schemeClr val="accent2"/>
                </a:solidFill>
              </a:rPr>
              <a:t> </a:t>
            </a:r>
            <a:r>
              <a:rPr lang="en-US" altLang="zh-CN" b="1" i="1">
                <a:solidFill>
                  <a:schemeClr val="accent2"/>
                </a:solidFill>
              </a:rPr>
              <a:t>t  ~ </a:t>
            </a:r>
            <a:r>
              <a:rPr lang="en-US" altLang="zh-CN" b="1">
                <a:solidFill>
                  <a:schemeClr val="accent2"/>
                </a:solidFill>
              </a:rPr>
              <a:t>10</a:t>
            </a:r>
            <a:r>
              <a:rPr lang="en-US" altLang="zh-CN" b="1" baseline="30000">
                <a:solidFill>
                  <a:schemeClr val="accent2"/>
                </a:solidFill>
              </a:rPr>
              <a:t>-8</a:t>
            </a:r>
            <a:r>
              <a:rPr lang="en-US" altLang="zh-CN" b="1">
                <a:solidFill>
                  <a:schemeClr val="accent2"/>
                </a:solidFill>
              </a:rPr>
              <a:t> s</a:t>
            </a:r>
          </a:p>
        </p:txBody>
      </p:sp>
      <p:sp>
        <p:nvSpPr>
          <p:cNvPr id="127012" name="Rectangle 36"/>
          <p:cNvSpPr>
            <a:spLocks noChangeArrowheads="1"/>
          </p:cNvSpPr>
          <p:nvPr/>
        </p:nvSpPr>
        <p:spPr bwMode="auto">
          <a:xfrm>
            <a:off x="1584325" y="4778375"/>
            <a:ext cx="3843338"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平均寿命</a:t>
            </a:r>
            <a:r>
              <a:rPr lang="zh-CN" altLang="en-US" b="1">
                <a:solidFill>
                  <a:schemeClr val="bg1"/>
                </a:solidFill>
              </a:rPr>
              <a:t>         </a:t>
            </a:r>
            <a:r>
              <a:rPr lang="zh-CN" altLang="en-US" b="1">
                <a:solidFill>
                  <a:srgbClr val="FFCC66"/>
                </a:solidFill>
              </a:rPr>
              <a:t>  </a:t>
            </a:r>
            <a:r>
              <a:rPr lang="zh-CN" altLang="en-US" b="1" i="1">
                <a:solidFill>
                  <a:schemeClr val="accent2"/>
                </a:solidFill>
              </a:rPr>
              <a:t>△ </a:t>
            </a:r>
            <a:r>
              <a:rPr lang="en-US" altLang="zh-CN" b="1" i="1">
                <a:solidFill>
                  <a:schemeClr val="accent2"/>
                </a:solidFill>
              </a:rPr>
              <a:t>t  </a:t>
            </a:r>
            <a:r>
              <a:rPr lang="en-US" altLang="zh-CN" b="1">
                <a:solidFill>
                  <a:schemeClr val="accent2"/>
                </a:solidFill>
                <a:sym typeface="Symbol" pitchFamily="18" charset="2"/>
              </a:rPr>
              <a:t>  ∞</a:t>
            </a:r>
          </a:p>
        </p:txBody>
      </p:sp>
      <p:sp>
        <p:nvSpPr>
          <p:cNvPr id="127013" name="Rectangle 37"/>
          <p:cNvSpPr>
            <a:spLocks noChangeArrowheads="1"/>
          </p:cNvSpPr>
          <p:nvPr/>
        </p:nvSpPr>
        <p:spPr bwMode="auto">
          <a:xfrm>
            <a:off x="1584325" y="5300663"/>
            <a:ext cx="3573463"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能级宽度</a:t>
            </a:r>
            <a:r>
              <a:rPr lang="zh-CN" altLang="en-US" b="1">
                <a:solidFill>
                  <a:srgbClr val="FFCC66"/>
                </a:solidFill>
              </a:rPr>
              <a:t>            </a:t>
            </a:r>
            <a:r>
              <a:rPr lang="zh-CN" altLang="en-US" b="1" i="1">
                <a:solidFill>
                  <a:srgbClr val="3333CC"/>
                </a:solidFill>
              </a:rPr>
              <a:t>△</a:t>
            </a:r>
            <a:r>
              <a:rPr lang="en-US" altLang="zh-CN" b="1" i="1">
                <a:solidFill>
                  <a:srgbClr val="3333CC"/>
                </a:solidFill>
              </a:rPr>
              <a:t>E </a:t>
            </a:r>
            <a:r>
              <a:rPr lang="en-US" altLang="zh-CN" b="1">
                <a:solidFill>
                  <a:srgbClr val="3333CC"/>
                </a:solidFill>
                <a:sym typeface="Symbol" pitchFamily="18" charset="2"/>
              </a:rPr>
              <a:t> 0</a:t>
            </a:r>
          </a:p>
        </p:txBody>
      </p:sp>
      <p:sp>
        <p:nvSpPr>
          <p:cNvPr id="127015" name="AutoShape 39"/>
          <p:cNvSpPr>
            <a:spLocks/>
          </p:cNvSpPr>
          <p:nvPr/>
        </p:nvSpPr>
        <p:spPr bwMode="auto">
          <a:xfrm>
            <a:off x="1376363" y="3563938"/>
            <a:ext cx="180975" cy="674687"/>
          </a:xfrm>
          <a:prstGeom prst="leftBrace">
            <a:avLst>
              <a:gd name="adj1" fmla="val 31067"/>
              <a:gd name="adj2" fmla="val 50000"/>
            </a:avLst>
          </a:prstGeom>
          <a:noFill/>
          <a:ln w="19050">
            <a:solidFill>
              <a:schemeClr val="tx2"/>
            </a:solidFill>
            <a:round/>
            <a:headEnd/>
            <a:tailEnd/>
          </a:ln>
          <a:effectLst/>
        </p:spPr>
        <p:txBody>
          <a:bodyPr wrap="none" anchor="ctr"/>
          <a:lstStyle/>
          <a:p>
            <a:endParaRPr lang="zh-CN" altLang="en-US"/>
          </a:p>
        </p:txBody>
      </p:sp>
      <p:sp>
        <p:nvSpPr>
          <p:cNvPr id="127016" name="AutoShape 40"/>
          <p:cNvSpPr>
            <a:spLocks/>
          </p:cNvSpPr>
          <p:nvPr/>
        </p:nvSpPr>
        <p:spPr bwMode="auto">
          <a:xfrm>
            <a:off x="1466850" y="4959350"/>
            <a:ext cx="180975" cy="674688"/>
          </a:xfrm>
          <a:prstGeom prst="leftBrace">
            <a:avLst>
              <a:gd name="adj1" fmla="val 31067"/>
              <a:gd name="adj2" fmla="val 50000"/>
            </a:avLst>
          </a:prstGeom>
          <a:noFill/>
          <a:ln w="19050">
            <a:solidFill>
              <a:schemeClr val="tx2"/>
            </a:solidFill>
            <a:round/>
            <a:headEnd/>
            <a:tailEnd/>
          </a:ln>
          <a:effectLst/>
        </p:spPr>
        <p:txBody>
          <a:bodyPr wrap="none" anchor="ctr"/>
          <a:lstStyle/>
          <a:p>
            <a:endParaRPr lang="zh-CN" altLang="en-US"/>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979"/>
                                        </p:tgtEl>
                                        <p:attrNameLst>
                                          <p:attrName>style.visibility</p:attrName>
                                        </p:attrNameLst>
                                      </p:cBhvr>
                                      <p:to>
                                        <p:strVal val="visible"/>
                                      </p:to>
                                    </p:set>
                                    <p:animEffect transition="in" filter="wipe(left)">
                                      <p:cBhvr>
                                        <p:cTn id="7" dur="500"/>
                                        <p:tgtEl>
                                          <p:spTgt spid="1269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7017"/>
                                        </p:tgtEl>
                                        <p:attrNameLst>
                                          <p:attrName>style.visibility</p:attrName>
                                        </p:attrNameLst>
                                      </p:cBhvr>
                                      <p:to>
                                        <p:strVal val="visible"/>
                                      </p:to>
                                    </p:set>
                                    <p:animEffect transition="in" filter="wipe(left)">
                                      <p:cBhvr>
                                        <p:cTn id="12" dur="500"/>
                                        <p:tgtEl>
                                          <p:spTgt spid="1270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7018"/>
                                        </p:tgtEl>
                                        <p:attrNameLst>
                                          <p:attrName>style.visibility</p:attrName>
                                        </p:attrNameLst>
                                      </p:cBhvr>
                                      <p:to>
                                        <p:strVal val="visible"/>
                                      </p:to>
                                    </p:set>
                                    <p:animEffect transition="in" filter="wipe(left)">
                                      <p:cBhvr>
                                        <p:cTn id="17" dur="500"/>
                                        <p:tgtEl>
                                          <p:spTgt spid="1270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1" fill="hold" grpId="0" nodeType="clickEffect">
                                  <p:stCondLst>
                                    <p:cond delay="0"/>
                                  </p:stCondLst>
                                  <p:childTnLst>
                                    <p:set>
                                      <p:cBhvr>
                                        <p:cTn id="21" dur="1" fill="hold">
                                          <p:stCondLst>
                                            <p:cond delay="0"/>
                                          </p:stCondLst>
                                        </p:cTn>
                                        <p:tgtEl>
                                          <p:spTgt spid="127005"/>
                                        </p:tgtEl>
                                        <p:attrNameLst>
                                          <p:attrName>style.visibility</p:attrName>
                                        </p:attrNameLst>
                                      </p:cBhvr>
                                      <p:to>
                                        <p:strVal val="visible"/>
                                      </p:to>
                                    </p:set>
                                    <p:anim calcmode="lin" valueType="num">
                                      <p:cBhvr additive="base">
                                        <p:cTn id="22" dur="500" fill="hold"/>
                                        <p:tgtEl>
                                          <p:spTgt spid="127005"/>
                                        </p:tgtEl>
                                        <p:attrNameLst>
                                          <p:attrName>ppt_x</p:attrName>
                                        </p:attrNameLst>
                                      </p:cBhvr>
                                      <p:tavLst>
                                        <p:tav tm="0">
                                          <p:val>
                                            <p:strVal val="#ppt_x"/>
                                          </p:val>
                                        </p:tav>
                                        <p:tav tm="100000">
                                          <p:val>
                                            <p:strVal val="#ppt_x"/>
                                          </p:val>
                                        </p:tav>
                                      </p:tavLst>
                                    </p:anim>
                                    <p:anim calcmode="lin" valueType="num">
                                      <p:cBhvr additive="base">
                                        <p:cTn id="23" dur="500" fill="hold"/>
                                        <p:tgtEl>
                                          <p:spTgt spid="127005"/>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4" name="whoosh.wav" builtIn="1"/>
                                        </p:tgtEl>
                                      </p:cMediaNode>
                                    </p:audio>
                                  </p:subTnLst>
                                </p:cTn>
                              </p:par>
                            </p:childTnLst>
                          </p:cTn>
                        </p:par>
                        <p:par>
                          <p:cTn id="24" fill="hold" nodeType="afterGroup">
                            <p:stCondLst>
                              <p:cond delay="500"/>
                            </p:stCondLst>
                            <p:childTnLst>
                              <p:par>
                                <p:cTn id="25" presetID="23" presetClass="entr" presetSubtype="32" fill="hold" grpId="0" nodeType="afterEffect">
                                  <p:stCondLst>
                                    <p:cond delay="1000"/>
                                  </p:stCondLst>
                                  <p:childTnLst>
                                    <p:set>
                                      <p:cBhvr>
                                        <p:cTn id="26" dur="1" fill="hold">
                                          <p:stCondLst>
                                            <p:cond delay="0"/>
                                          </p:stCondLst>
                                        </p:cTn>
                                        <p:tgtEl>
                                          <p:spTgt spid="127006"/>
                                        </p:tgtEl>
                                        <p:attrNameLst>
                                          <p:attrName>style.visibility</p:attrName>
                                        </p:attrNameLst>
                                      </p:cBhvr>
                                      <p:to>
                                        <p:strVal val="visible"/>
                                      </p:to>
                                    </p:set>
                                    <p:anim calcmode="lin" valueType="num">
                                      <p:cBhvr>
                                        <p:cTn id="27" dur="500" fill="hold"/>
                                        <p:tgtEl>
                                          <p:spTgt spid="127006"/>
                                        </p:tgtEl>
                                        <p:attrNameLst>
                                          <p:attrName>ppt_w</p:attrName>
                                        </p:attrNameLst>
                                      </p:cBhvr>
                                      <p:tavLst>
                                        <p:tav tm="0">
                                          <p:val>
                                            <p:strVal val="4*#ppt_w"/>
                                          </p:val>
                                        </p:tav>
                                        <p:tav tm="100000">
                                          <p:val>
                                            <p:strVal val="#ppt_w"/>
                                          </p:val>
                                        </p:tav>
                                      </p:tavLst>
                                    </p:anim>
                                    <p:anim calcmode="lin" valueType="num">
                                      <p:cBhvr>
                                        <p:cTn id="28" dur="500" fill="hold"/>
                                        <p:tgtEl>
                                          <p:spTgt spid="127006"/>
                                        </p:tgtEl>
                                        <p:attrNameLst>
                                          <p:attrName>ppt_h</p:attrName>
                                        </p:attrNameLst>
                                      </p:cBhvr>
                                      <p:tavLst>
                                        <p:tav tm="0">
                                          <p:val>
                                            <p:strVal val="4*#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2" fill="hold" nodeType="clickEffect">
                                  <p:stCondLst>
                                    <p:cond delay="0"/>
                                  </p:stCondLst>
                                  <p:childTnLst>
                                    <p:set>
                                      <p:cBhvr>
                                        <p:cTn id="32" dur="1" fill="hold">
                                          <p:stCondLst>
                                            <p:cond delay="0"/>
                                          </p:stCondLst>
                                        </p:cTn>
                                        <p:tgtEl>
                                          <p:spTgt spid="126994"/>
                                        </p:tgtEl>
                                        <p:attrNameLst>
                                          <p:attrName>style.visibility</p:attrName>
                                        </p:attrNameLst>
                                      </p:cBhvr>
                                      <p:to>
                                        <p:strVal val="visible"/>
                                      </p:to>
                                    </p:set>
                                    <p:animEffect transition="in" filter="wipe(right)">
                                      <p:cBhvr>
                                        <p:cTn id="33" dur="500"/>
                                        <p:tgtEl>
                                          <p:spTgt spid="126994"/>
                                        </p:tgtEl>
                                      </p:cBhvr>
                                    </p:animEffect>
                                  </p:childTnLst>
                                </p:cTn>
                              </p:par>
                            </p:childTnLst>
                          </p:cTn>
                        </p:par>
                        <p:par>
                          <p:cTn id="34" fill="hold" nodeType="afterGroup">
                            <p:stCondLst>
                              <p:cond delay="500"/>
                            </p:stCondLst>
                            <p:childTnLst>
                              <p:par>
                                <p:cTn id="35" presetID="16" presetClass="entr" presetSubtype="42" fill="hold" grpId="0" nodeType="afterEffect" nodePh="1">
                                  <p:stCondLst>
                                    <p:cond delay="0"/>
                                  </p:stCondLst>
                                  <p:endCondLst>
                                    <p:cond evt="begin" delay="0">
                                      <p:tn val="35"/>
                                    </p:cond>
                                  </p:endCondLst>
                                  <p:childTnLst>
                                    <p:set>
                                      <p:cBhvr>
                                        <p:cTn id="36" dur="1" fill="hold">
                                          <p:stCondLst>
                                            <p:cond delay="0"/>
                                          </p:stCondLst>
                                        </p:cTn>
                                        <p:tgtEl>
                                          <p:spTgt spid="126978"/>
                                        </p:tgtEl>
                                        <p:attrNameLst>
                                          <p:attrName>style.visibility</p:attrName>
                                        </p:attrNameLst>
                                      </p:cBhvr>
                                      <p:to>
                                        <p:strVal val="visible"/>
                                      </p:to>
                                    </p:set>
                                    <p:animEffect transition="in" filter="barn(outHorizontal)">
                                      <p:cBhvr>
                                        <p:cTn id="37" dur="500"/>
                                        <p:tgtEl>
                                          <p:spTgt spid="12697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1" fill="hold" grpId="0" nodeType="clickEffect">
                                  <p:stCondLst>
                                    <p:cond delay="0"/>
                                  </p:stCondLst>
                                  <p:childTnLst>
                                    <p:set>
                                      <p:cBhvr>
                                        <p:cTn id="41" dur="1" fill="hold">
                                          <p:stCondLst>
                                            <p:cond delay="0"/>
                                          </p:stCondLst>
                                        </p:cTn>
                                        <p:tgtEl>
                                          <p:spTgt spid="126983"/>
                                        </p:tgtEl>
                                        <p:attrNameLst>
                                          <p:attrName>style.visibility</p:attrName>
                                        </p:attrNameLst>
                                      </p:cBhvr>
                                      <p:to>
                                        <p:strVal val="visible"/>
                                      </p:to>
                                    </p:set>
                                    <p:animEffect transition="in" filter="slide(fromTop)">
                                      <p:cBhvr>
                                        <p:cTn id="42" dur="500"/>
                                        <p:tgtEl>
                                          <p:spTgt spid="126983"/>
                                        </p:tgtEl>
                                      </p:cBhvr>
                                    </p:animEffect>
                                  </p:childTnLst>
                                </p:cTn>
                              </p:par>
                            </p:childTnLst>
                          </p:cTn>
                        </p:par>
                        <p:par>
                          <p:cTn id="43" fill="hold" nodeType="afterGroup">
                            <p:stCondLst>
                              <p:cond delay="500"/>
                            </p:stCondLst>
                            <p:childTnLst>
                              <p:par>
                                <p:cTn id="44" presetID="1" presetClass="entr" presetSubtype="0" fill="hold" grpId="0" nodeType="afterEffect">
                                  <p:stCondLst>
                                    <p:cond delay="0"/>
                                  </p:stCondLst>
                                  <p:childTnLst>
                                    <p:set>
                                      <p:cBhvr>
                                        <p:cTn id="45" dur="1" fill="hold">
                                          <p:stCondLst>
                                            <p:cond delay="499"/>
                                          </p:stCondLst>
                                        </p:cTn>
                                        <p:tgtEl>
                                          <p:spTgt spid="127007"/>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127009"/>
                                        </p:tgtEl>
                                        <p:attrNameLst>
                                          <p:attrName>style.visibility</p:attrName>
                                        </p:attrNameLst>
                                      </p:cBhvr>
                                      <p:to>
                                        <p:strVal val="visible"/>
                                      </p:to>
                                    </p:set>
                                    <p:animEffect transition="in" filter="wipe(left)">
                                      <p:cBhvr>
                                        <p:cTn id="50" dur="500"/>
                                        <p:tgtEl>
                                          <p:spTgt spid="12700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26980"/>
                                        </p:tgtEl>
                                        <p:attrNameLst>
                                          <p:attrName>style.visibility</p:attrName>
                                        </p:attrNameLst>
                                      </p:cBhvr>
                                      <p:to>
                                        <p:strVal val="visible"/>
                                      </p:to>
                                    </p:set>
                                    <p:animEffect transition="in" filter="wipe(left)">
                                      <p:cBhvr>
                                        <p:cTn id="55" dur="500"/>
                                        <p:tgtEl>
                                          <p:spTgt spid="12698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27000"/>
                                        </p:tgtEl>
                                        <p:attrNameLst>
                                          <p:attrName>style.visibility</p:attrName>
                                        </p:attrNameLst>
                                      </p:cBhvr>
                                      <p:to>
                                        <p:strVal val="visible"/>
                                      </p:to>
                                    </p:set>
                                    <p:animEffect transition="in" filter="wipe(left)">
                                      <p:cBhvr>
                                        <p:cTn id="60" dur="500"/>
                                        <p:tgtEl>
                                          <p:spTgt spid="127000"/>
                                        </p:tgtEl>
                                      </p:cBhvr>
                                    </p:animEffect>
                                  </p:childTnLst>
                                </p:cTn>
                              </p:par>
                            </p:childTnLst>
                          </p:cTn>
                        </p:par>
                        <p:par>
                          <p:cTn id="61" fill="hold" nodeType="afterGroup">
                            <p:stCondLst>
                              <p:cond delay="500"/>
                            </p:stCondLst>
                            <p:childTnLst>
                              <p:par>
                                <p:cTn id="62" presetID="22" presetClass="entr" presetSubtype="4" fill="hold" grpId="0" nodeType="afterEffect">
                                  <p:stCondLst>
                                    <p:cond delay="0"/>
                                  </p:stCondLst>
                                  <p:childTnLst>
                                    <p:set>
                                      <p:cBhvr>
                                        <p:cTn id="63" dur="1" fill="hold">
                                          <p:stCondLst>
                                            <p:cond delay="0"/>
                                          </p:stCondLst>
                                        </p:cTn>
                                        <p:tgtEl>
                                          <p:spTgt spid="127015"/>
                                        </p:tgtEl>
                                        <p:attrNameLst>
                                          <p:attrName>style.visibility</p:attrName>
                                        </p:attrNameLst>
                                      </p:cBhvr>
                                      <p:to>
                                        <p:strVal val="visible"/>
                                      </p:to>
                                    </p:set>
                                    <p:animEffect transition="in" filter="wipe(down)">
                                      <p:cBhvr>
                                        <p:cTn id="64" dur="500"/>
                                        <p:tgtEl>
                                          <p:spTgt spid="12701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27011"/>
                                        </p:tgtEl>
                                        <p:attrNameLst>
                                          <p:attrName>style.visibility</p:attrName>
                                        </p:attrNameLst>
                                      </p:cBhvr>
                                      <p:to>
                                        <p:strVal val="visible"/>
                                      </p:to>
                                    </p:set>
                                    <p:animEffect transition="in" filter="wipe(left)">
                                      <p:cBhvr>
                                        <p:cTn id="69" dur="500"/>
                                        <p:tgtEl>
                                          <p:spTgt spid="127011"/>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127010"/>
                                        </p:tgtEl>
                                        <p:attrNameLst>
                                          <p:attrName>style.visibility</p:attrName>
                                        </p:attrNameLst>
                                      </p:cBhvr>
                                      <p:to>
                                        <p:strVal val="visible"/>
                                      </p:to>
                                    </p:set>
                                    <p:animEffect transition="in" filter="wipe(left)">
                                      <p:cBhvr>
                                        <p:cTn id="74" dur="500"/>
                                        <p:tgtEl>
                                          <p:spTgt spid="127010"/>
                                        </p:tgtEl>
                                      </p:cBhvr>
                                    </p:animEffect>
                                  </p:childTnLst>
                                </p:cTn>
                              </p:par>
                            </p:childTnLst>
                          </p:cTn>
                        </p:par>
                        <p:par>
                          <p:cTn id="75" fill="hold" nodeType="afterGroup">
                            <p:stCondLst>
                              <p:cond delay="500"/>
                            </p:stCondLst>
                            <p:childTnLst>
                              <p:par>
                                <p:cTn id="76" presetID="22" presetClass="entr" presetSubtype="8" fill="hold" nodeType="afterEffect">
                                  <p:stCondLst>
                                    <p:cond delay="0"/>
                                  </p:stCondLst>
                                  <p:childTnLst>
                                    <p:set>
                                      <p:cBhvr>
                                        <p:cTn id="77" dur="1" fill="hold">
                                          <p:stCondLst>
                                            <p:cond delay="0"/>
                                          </p:stCondLst>
                                        </p:cTn>
                                        <p:tgtEl>
                                          <p:spTgt spid="126982"/>
                                        </p:tgtEl>
                                        <p:attrNameLst>
                                          <p:attrName>style.visibility</p:attrName>
                                        </p:attrNameLst>
                                      </p:cBhvr>
                                      <p:to>
                                        <p:strVal val="visible"/>
                                      </p:to>
                                    </p:set>
                                    <p:animEffect transition="in" filter="wipe(left)">
                                      <p:cBhvr>
                                        <p:cTn id="78" dur="500"/>
                                        <p:tgtEl>
                                          <p:spTgt spid="12698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26981"/>
                                        </p:tgtEl>
                                        <p:attrNameLst>
                                          <p:attrName>style.visibility</p:attrName>
                                        </p:attrNameLst>
                                      </p:cBhvr>
                                      <p:to>
                                        <p:strVal val="visible"/>
                                      </p:to>
                                    </p:set>
                                    <p:animEffect transition="in" filter="wipe(left)">
                                      <p:cBhvr>
                                        <p:cTn id="83" dur="500"/>
                                        <p:tgtEl>
                                          <p:spTgt spid="126981"/>
                                        </p:tgtEl>
                                      </p:cBhvr>
                                    </p:animEffect>
                                  </p:childTnLst>
                                </p:cTn>
                              </p:par>
                            </p:childTnLst>
                          </p:cTn>
                        </p:par>
                        <p:par>
                          <p:cTn id="84" fill="hold" nodeType="afterGroup">
                            <p:stCondLst>
                              <p:cond delay="500"/>
                            </p:stCondLst>
                            <p:childTnLst>
                              <p:par>
                                <p:cTn id="85" presetID="22" presetClass="entr" presetSubtype="4" fill="hold" grpId="0" nodeType="afterEffect">
                                  <p:stCondLst>
                                    <p:cond delay="0"/>
                                  </p:stCondLst>
                                  <p:childTnLst>
                                    <p:set>
                                      <p:cBhvr>
                                        <p:cTn id="86" dur="1" fill="hold">
                                          <p:stCondLst>
                                            <p:cond delay="0"/>
                                          </p:stCondLst>
                                        </p:cTn>
                                        <p:tgtEl>
                                          <p:spTgt spid="127016"/>
                                        </p:tgtEl>
                                        <p:attrNameLst>
                                          <p:attrName>style.visibility</p:attrName>
                                        </p:attrNameLst>
                                      </p:cBhvr>
                                      <p:to>
                                        <p:strVal val="visible"/>
                                      </p:to>
                                    </p:set>
                                    <p:animEffect transition="in" filter="wipe(down)">
                                      <p:cBhvr>
                                        <p:cTn id="87" dur="500"/>
                                        <p:tgtEl>
                                          <p:spTgt spid="12701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27012"/>
                                        </p:tgtEl>
                                        <p:attrNameLst>
                                          <p:attrName>style.visibility</p:attrName>
                                        </p:attrNameLst>
                                      </p:cBhvr>
                                      <p:to>
                                        <p:strVal val="visible"/>
                                      </p:to>
                                    </p:set>
                                    <p:animEffect transition="in" filter="wipe(left)">
                                      <p:cBhvr>
                                        <p:cTn id="92" dur="500"/>
                                        <p:tgtEl>
                                          <p:spTgt spid="127012"/>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27013"/>
                                        </p:tgtEl>
                                        <p:attrNameLst>
                                          <p:attrName>style.visibility</p:attrName>
                                        </p:attrNameLst>
                                      </p:cBhvr>
                                      <p:to>
                                        <p:strVal val="visible"/>
                                      </p:to>
                                    </p:set>
                                    <p:animEffect transition="in" filter="wipe(left)">
                                      <p:cBhvr>
                                        <p:cTn id="97" dur="500"/>
                                        <p:tgtEl>
                                          <p:spTgt spid="127013"/>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 presetClass="entr" presetSubtype="0" fill="hold" nodeType="clickEffect">
                                  <p:stCondLst>
                                    <p:cond delay="0"/>
                                  </p:stCondLst>
                                  <p:childTnLst>
                                    <p:set>
                                      <p:cBhvr>
                                        <p:cTn id="101" dur="1" fill="hold">
                                          <p:stCondLst>
                                            <p:cond delay="499"/>
                                          </p:stCondLst>
                                        </p:cTn>
                                        <p:tgtEl>
                                          <p:spTgt spid="126984"/>
                                        </p:tgtEl>
                                        <p:attrNameLst>
                                          <p:attrName>style.visibility</p:attrName>
                                        </p:attrNameLst>
                                      </p:cBhvr>
                                      <p:to>
                                        <p:strVal val="visible"/>
                                      </p:to>
                                    </p:set>
                                  </p:childTnLst>
                                </p:cTn>
                              </p:par>
                            </p:childTnLst>
                          </p:cTn>
                        </p:par>
                        <p:par>
                          <p:cTn id="102" fill="hold" nodeType="afterGroup">
                            <p:stCondLst>
                              <p:cond delay="500"/>
                            </p:stCondLst>
                            <p:childTnLst>
                              <p:par>
                                <p:cTn id="103" presetID="1" presetClass="entr" presetSubtype="0" fill="hold" nodeType="afterEffect">
                                  <p:stCondLst>
                                    <p:cond delay="0"/>
                                  </p:stCondLst>
                                  <p:childTnLst>
                                    <p:set>
                                      <p:cBhvr>
                                        <p:cTn id="104" dur="1" fill="hold">
                                          <p:stCondLst>
                                            <p:cond delay="499"/>
                                          </p:stCondLst>
                                        </p:cTn>
                                        <p:tgtEl>
                                          <p:spTgt spid="126989"/>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4" fill="hold" nodeType="clickEffect">
                                  <p:stCondLst>
                                    <p:cond delay="0"/>
                                  </p:stCondLst>
                                  <p:childTnLst>
                                    <p:set>
                                      <p:cBhvr>
                                        <p:cTn id="108" dur="1" fill="hold">
                                          <p:stCondLst>
                                            <p:cond delay="0"/>
                                          </p:stCondLst>
                                        </p:cTn>
                                        <p:tgtEl>
                                          <p:spTgt spid="126988"/>
                                        </p:tgtEl>
                                        <p:attrNameLst>
                                          <p:attrName>style.visibility</p:attrName>
                                        </p:attrNameLst>
                                      </p:cBhvr>
                                      <p:to>
                                        <p:strVal val="visible"/>
                                      </p:to>
                                    </p:set>
                                    <p:animEffect transition="in" filter="wipe(down)">
                                      <p:cBhvr>
                                        <p:cTn id="109" dur="500"/>
                                        <p:tgtEl>
                                          <p:spTgt spid="126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animBg="1"/>
      <p:bldP spid="126979" grpId="0"/>
      <p:bldP spid="126980" grpId="0" autoUpdateAnimBg="0"/>
      <p:bldP spid="126981" grpId="0" autoUpdateAnimBg="0"/>
      <p:bldP spid="126983" grpId="0" animBg="1"/>
      <p:bldP spid="127000" grpId="0" autoUpdateAnimBg="0"/>
      <p:bldP spid="127005" grpId="0" animBg="1" autoUpdateAnimBg="0"/>
      <p:bldP spid="127006" grpId="0" autoUpdateAnimBg="0"/>
      <p:bldP spid="127007" grpId="0" autoUpdateAnimBg="0"/>
      <p:bldP spid="127010" grpId="0"/>
      <p:bldP spid="127011" grpId="0"/>
      <p:bldP spid="127012" grpId="0"/>
      <p:bldP spid="127013" grpId="0"/>
      <p:bldP spid="127015" grpId="0" animBg="1"/>
      <p:bldP spid="12701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Text Box 2"/>
          <p:cNvSpPr txBox="1">
            <a:spLocks noChangeArrowheads="1"/>
          </p:cNvSpPr>
          <p:nvPr/>
        </p:nvSpPr>
        <p:spPr bwMode="auto">
          <a:xfrm>
            <a:off x="522288" y="1628775"/>
            <a:ext cx="8305800" cy="4116388"/>
          </a:xfrm>
          <a:prstGeom prst="rect">
            <a:avLst/>
          </a:prstGeom>
          <a:noFill/>
          <a:ln w="9525">
            <a:noFill/>
            <a:miter lim="800000"/>
            <a:headEnd/>
            <a:tailEnd/>
          </a:ln>
          <a:effectLst/>
        </p:spPr>
        <p:txBody>
          <a:bodyPr>
            <a:spAutoFit/>
          </a:bodyPr>
          <a:lstStyle/>
          <a:p>
            <a:pPr>
              <a:spcBef>
                <a:spcPct val="50000"/>
              </a:spcBef>
            </a:pPr>
            <a:r>
              <a:rPr lang="en-US" altLang="zh-CN" sz="2800">
                <a:solidFill>
                  <a:schemeClr val="tx2"/>
                </a:solidFill>
                <a:latin typeface="Tahoma" pitchFamily="34" charset="0"/>
              </a:rPr>
              <a:t>        </a:t>
            </a:r>
            <a:r>
              <a:rPr lang="zh-CN" altLang="en-US" sz="2800" b="1">
                <a:solidFill>
                  <a:schemeClr val="tx2"/>
                </a:solidFill>
                <a:latin typeface="Tahoma" pitchFamily="34" charset="0"/>
              </a:rPr>
              <a:t>宏观物体</a:t>
            </a:r>
            <a:r>
              <a:rPr lang="zh-CN" altLang="en-US" sz="2800" b="1">
                <a:solidFill>
                  <a:schemeClr val="bg2"/>
                </a:solidFill>
                <a:latin typeface="Tahoma" pitchFamily="34" charset="0"/>
              </a:rPr>
              <a:t>                         </a:t>
            </a:r>
            <a:r>
              <a:rPr lang="zh-CN" altLang="en-US" sz="2800" b="1">
                <a:solidFill>
                  <a:schemeClr val="tx2"/>
                </a:solidFill>
                <a:latin typeface="Tahoma" pitchFamily="34" charset="0"/>
              </a:rPr>
              <a:t>微观粒子</a:t>
            </a:r>
          </a:p>
          <a:p>
            <a:pPr>
              <a:spcBef>
                <a:spcPct val="50000"/>
              </a:spcBef>
            </a:pPr>
            <a:r>
              <a:rPr lang="zh-CN" altLang="en-US" b="1">
                <a:solidFill>
                  <a:schemeClr val="bg2"/>
                </a:solidFill>
                <a:latin typeface="Tahoma" pitchFamily="34" charset="0"/>
              </a:rPr>
              <a:t>具有确定的坐标和动量           没有确定的坐标和动量</a:t>
            </a:r>
          </a:p>
          <a:p>
            <a:r>
              <a:rPr lang="zh-CN" altLang="en-US" b="1">
                <a:solidFill>
                  <a:schemeClr val="bg2"/>
                </a:solidFill>
                <a:latin typeface="Tahoma" pitchFamily="34" charset="0"/>
              </a:rPr>
              <a:t>可用牛顿力学描述。              需用量子力学描述。</a:t>
            </a:r>
            <a:r>
              <a:rPr lang="zh-CN" altLang="en-US" sz="2800" b="1">
                <a:solidFill>
                  <a:schemeClr val="bg2"/>
                </a:solidFill>
                <a:latin typeface="Tahoma" pitchFamily="34" charset="0"/>
              </a:rPr>
              <a:t> </a:t>
            </a:r>
          </a:p>
          <a:p>
            <a:pPr>
              <a:spcBef>
                <a:spcPct val="50000"/>
              </a:spcBef>
            </a:pPr>
            <a:r>
              <a:rPr lang="zh-CN" altLang="en-US" b="1">
                <a:solidFill>
                  <a:schemeClr val="bg2"/>
                </a:solidFill>
                <a:latin typeface="Tahoma" pitchFamily="34" charset="0"/>
              </a:rPr>
              <a:t>有连续可测的运动轨道，可    有概率分布特性，不可能分辨</a:t>
            </a:r>
            <a:r>
              <a:rPr lang="zh-CN" altLang="en-US" sz="2800" b="1">
                <a:solidFill>
                  <a:schemeClr val="bg2"/>
                </a:solidFill>
                <a:latin typeface="Tahoma" pitchFamily="34" charset="0"/>
              </a:rPr>
              <a:t> </a:t>
            </a:r>
          </a:p>
          <a:p>
            <a:r>
              <a:rPr lang="zh-CN" altLang="en-US" b="1">
                <a:solidFill>
                  <a:schemeClr val="bg2"/>
                </a:solidFill>
                <a:latin typeface="Tahoma" pitchFamily="34" charset="0"/>
              </a:rPr>
              <a:t>追踪各个物体的运动轨迹。</a:t>
            </a:r>
            <a:r>
              <a:rPr lang="zh-CN" altLang="en-US" sz="2800" b="1">
                <a:solidFill>
                  <a:schemeClr val="bg2"/>
                </a:solidFill>
                <a:latin typeface="Tahoma" pitchFamily="34" charset="0"/>
              </a:rPr>
              <a:t>    </a:t>
            </a:r>
            <a:r>
              <a:rPr lang="zh-CN" altLang="en-US" b="1">
                <a:solidFill>
                  <a:schemeClr val="bg2"/>
                </a:solidFill>
                <a:latin typeface="Tahoma" pitchFamily="34" charset="0"/>
              </a:rPr>
              <a:t>出各个粒子的轨迹。</a:t>
            </a:r>
          </a:p>
          <a:p>
            <a:pPr>
              <a:spcBef>
                <a:spcPct val="50000"/>
              </a:spcBef>
            </a:pPr>
            <a:r>
              <a:rPr lang="zh-CN" altLang="en-US" b="1">
                <a:solidFill>
                  <a:schemeClr val="bg2"/>
                </a:solidFill>
                <a:latin typeface="Tahoma" pitchFamily="34" charset="0"/>
              </a:rPr>
              <a:t>体系能量可以为任意的、连     能量量子化</a:t>
            </a:r>
            <a:r>
              <a:rPr lang="zh-CN" altLang="en-US" sz="2800" b="1">
                <a:solidFill>
                  <a:schemeClr val="bg2"/>
                </a:solidFill>
                <a:latin typeface="Tahoma" pitchFamily="34" charset="0"/>
              </a:rPr>
              <a:t> </a:t>
            </a:r>
            <a:r>
              <a:rPr lang="zh-CN" altLang="en-US" b="1">
                <a:solidFill>
                  <a:schemeClr val="bg2"/>
                </a:solidFill>
                <a:latin typeface="Tahoma" pitchFamily="34" charset="0"/>
              </a:rPr>
              <a:t>。</a:t>
            </a:r>
          </a:p>
          <a:p>
            <a:r>
              <a:rPr lang="zh-CN" altLang="en-US" b="1">
                <a:solidFill>
                  <a:schemeClr val="bg2"/>
                </a:solidFill>
                <a:latin typeface="Tahoma" pitchFamily="34" charset="0"/>
              </a:rPr>
              <a:t>续变化的数值。</a:t>
            </a:r>
          </a:p>
          <a:p>
            <a:pPr>
              <a:spcBef>
                <a:spcPct val="50000"/>
              </a:spcBef>
            </a:pPr>
            <a:r>
              <a:rPr lang="zh-CN" altLang="en-US" b="1">
                <a:solidFill>
                  <a:schemeClr val="bg2"/>
                </a:solidFill>
                <a:latin typeface="Tahoma" pitchFamily="34" charset="0"/>
              </a:rPr>
              <a:t>不确定度关系无实际意义        遵循不确定度关系</a:t>
            </a:r>
          </a:p>
        </p:txBody>
      </p:sp>
      <p:sp>
        <p:nvSpPr>
          <p:cNvPr id="222211" name="Line 3"/>
          <p:cNvSpPr>
            <a:spLocks noChangeShapeType="1"/>
          </p:cNvSpPr>
          <p:nvPr/>
        </p:nvSpPr>
        <p:spPr bwMode="auto">
          <a:xfrm>
            <a:off x="369888" y="1628775"/>
            <a:ext cx="8382000" cy="0"/>
          </a:xfrm>
          <a:prstGeom prst="line">
            <a:avLst/>
          </a:prstGeom>
          <a:noFill/>
          <a:ln w="28575">
            <a:solidFill>
              <a:srgbClr val="0000FF"/>
            </a:solidFill>
            <a:miter lim="800000"/>
            <a:headEnd/>
            <a:tailEnd/>
          </a:ln>
          <a:effectLst/>
        </p:spPr>
        <p:txBody>
          <a:bodyPr wrap="none"/>
          <a:lstStyle/>
          <a:p>
            <a:endParaRPr lang="zh-CN" altLang="en-US"/>
          </a:p>
        </p:txBody>
      </p:sp>
      <p:sp>
        <p:nvSpPr>
          <p:cNvPr id="222212" name="Line 4"/>
          <p:cNvSpPr>
            <a:spLocks noChangeShapeType="1"/>
          </p:cNvSpPr>
          <p:nvPr/>
        </p:nvSpPr>
        <p:spPr bwMode="auto">
          <a:xfrm>
            <a:off x="369888" y="2162175"/>
            <a:ext cx="8382000" cy="0"/>
          </a:xfrm>
          <a:prstGeom prst="line">
            <a:avLst/>
          </a:prstGeom>
          <a:noFill/>
          <a:ln w="28575">
            <a:solidFill>
              <a:srgbClr val="0000FF"/>
            </a:solidFill>
            <a:miter lim="800000"/>
            <a:headEnd/>
            <a:tailEnd/>
          </a:ln>
          <a:effectLst/>
        </p:spPr>
        <p:txBody>
          <a:bodyPr wrap="none"/>
          <a:lstStyle/>
          <a:p>
            <a:endParaRPr lang="zh-CN" altLang="en-US"/>
          </a:p>
        </p:txBody>
      </p:sp>
      <p:sp>
        <p:nvSpPr>
          <p:cNvPr id="222213" name="Line 5"/>
          <p:cNvSpPr>
            <a:spLocks noChangeShapeType="1"/>
          </p:cNvSpPr>
          <p:nvPr/>
        </p:nvSpPr>
        <p:spPr bwMode="auto">
          <a:xfrm>
            <a:off x="446088" y="3152775"/>
            <a:ext cx="8382000" cy="0"/>
          </a:xfrm>
          <a:prstGeom prst="line">
            <a:avLst/>
          </a:prstGeom>
          <a:noFill/>
          <a:ln w="28575">
            <a:solidFill>
              <a:srgbClr val="0000FF"/>
            </a:solidFill>
            <a:miter lim="800000"/>
            <a:headEnd/>
            <a:tailEnd/>
          </a:ln>
          <a:effectLst/>
        </p:spPr>
        <p:txBody>
          <a:bodyPr wrap="none"/>
          <a:lstStyle/>
          <a:p>
            <a:endParaRPr lang="zh-CN" altLang="en-US"/>
          </a:p>
        </p:txBody>
      </p:sp>
      <p:sp>
        <p:nvSpPr>
          <p:cNvPr id="222214" name="Line 6"/>
          <p:cNvSpPr>
            <a:spLocks noChangeShapeType="1"/>
          </p:cNvSpPr>
          <p:nvPr/>
        </p:nvSpPr>
        <p:spPr bwMode="auto">
          <a:xfrm>
            <a:off x="522288" y="4295775"/>
            <a:ext cx="8382000" cy="0"/>
          </a:xfrm>
          <a:prstGeom prst="line">
            <a:avLst/>
          </a:prstGeom>
          <a:noFill/>
          <a:ln w="28575">
            <a:solidFill>
              <a:srgbClr val="0000FF"/>
            </a:solidFill>
            <a:miter lim="800000"/>
            <a:headEnd/>
            <a:tailEnd/>
          </a:ln>
          <a:effectLst/>
        </p:spPr>
        <p:txBody>
          <a:bodyPr wrap="none"/>
          <a:lstStyle/>
          <a:p>
            <a:endParaRPr lang="zh-CN" altLang="en-US"/>
          </a:p>
        </p:txBody>
      </p:sp>
      <p:sp>
        <p:nvSpPr>
          <p:cNvPr id="222215" name="Line 7"/>
          <p:cNvSpPr>
            <a:spLocks noChangeShapeType="1"/>
          </p:cNvSpPr>
          <p:nvPr/>
        </p:nvSpPr>
        <p:spPr bwMode="auto">
          <a:xfrm>
            <a:off x="598488" y="5210175"/>
            <a:ext cx="8382000" cy="0"/>
          </a:xfrm>
          <a:prstGeom prst="line">
            <a:avLst/>
          </a:prstGeom>
          <a:noFill/>
          <a:ln w="28575">
            <a:solidFill>
              <a:srgbClr val="0000FF"/>
            </a:solidFill>
            <a:miter lim="800000"/>
            <a:headEnd/>
            <a:tailEnd/>
          </a:ln>
          <a:effectLst/>
        </p:spPr>
        <p:txBody>
          <a:bodyPr wrap="none"/>
          <a:lstStyle/>
          <a:p>
            <a:endParaRPr lang="zh-CN" altLang="en-US"/>
          </a:p>
        </p:txBody>
      </p:sp>
      <p:sp>
        <p:nvSpPr>
          <p:cNvPr id="222216" name="Line 8"/>
          <p:cNvSpPr>
            <a:spLocks noChangeShapeType="1"/>
          </p:cNvSpPr>
          <p:nvPr/>
        </p:nvSpPr>
        <p:spPr bwMode="auto">
          <a:xfrm>
            <a:off x="522288" y="5895975"/>
            <a:ext cx="8382000" cy="0"/>
          </a:xfrm>
          <a:prstGeom prst="line">
            <a:avLst/>
          </a:prstGeom>
          <a:noFill/>
          <a:ln w="28575">
            <a:solidFill>
              <a:srgbClr val="0000FF"/>
            </a:solidFill>
            <a:miter lim="800000"/>
            <a:headEnd/>
            <a:tailEnd/>
          </a:ln>
          <a:effectLst/>
        </p:spPr>
        <p:txBody>
          <a:bodyPr wrap="none"/>
          <a:lstStyle/>
          <a:p>
            <a:endParaRPr lang="zh-CN" altLang="en-US"/>
          </a:p>
        </p:txBody>
      </p:sp>
      <p:sp>
        <p:nvSpPr>
          <p:cNvPr id="222217" name="Line 9"/>
          <p:cNvSpPr>
            <a:spLocks noChangeShapeType="1"/>
          </p:cNvSpPr>
          <p:nvPr/>
        </p:nvSpPr>
        <p:spPr bwMode="auto">
          <a:xfrm>
            <a:off x="4408488" y="1628775"/>
            <a:ext cx="0" cy="4267200"/>
          </a:xfrm>
          <a:prstGeom prst="line">
            <a:avLst/>
          </a:prstGeom>
          <a:noFill/>
          <a:ln w="28575">
            <a:solidFill>
              <a:srgbClr val="0000FF"/>
            </a:solidFill>
            <a:miter lim="800000"/>
            <a:headEnd/>
            <a:tailEnd/>
          </a:ln>
          <a:effectLst/>
        </p:spPr>
        <p:txBody>
          <a:bodyPr wrap="none"/>
          <a:lstStyle/>
          <a:p>
            <a:endParaRPr lang="zh-CN" altLang="en-US"/>
          </a:p>
        </p:txBody>
      </p:sp>
      <p:sp>
        <p:nvSpPr>
          <p:cNvPr id="222218" name="Rectangle 10"/>
          <p:cNvSpPr>
            <a:spLocks noGrp="1" noChangeArrowheads="1"/>
          </p:cNvSpPr>
          <p:nvPr>
            <p:ph type="title" idx="4294967295"/>
          </p:nvPr>
        </p:nvSpPr>
        <p:spPr>
          <a:xfrm>
            <a:off x="971550" y="503238"/>
            <a:ext cx="7793038" cy="1143000"/>
          </a:xfrm>
        </p:spPr>
        <p:txBody>
          <a:bodyPr/>
          <a:lstStyle/>
          <a:p>
            <a:pPr eaLnBrk="1" hangingPunct="1"/>
            <a:r>
              <a:rPr lang="zh-CN" altLang="en-US" sz="3200" b="1" smtClean="0">
                <a:solidFill>
                  <a:srgbClr val="0000FF"/>
                </a:solidFill>
                <a:latin typeface="黑体" pitchFamily="2" charset="-122"/>
                <a:ea typeface="黑体" pitchFamily="2" charset="-122"/>
              </a:rPr>
              <a:t>微观粒子和宏观物体的特性对比</a:t>
            </a:r>
            <a:endParaRPr lang="zh-CN" altLang="en-US" sz="4000" b="1" smtClean="0">
              <a:solidFill>
                <a:srgbClr val="0000FF"/>
              </a:solidFill>
              <a:latin typeface="黑体" pitchFamily="2" charset="-122"/>
              <a:ea typeface="黑体" pitchFamily="2" charset="-122"/>
            </a:endParaRPr>
          </a:p>
        </p:txBody>
      </p:sp>
      <p:sp>
        <p:nvSpPr>
          <p:cNvPr id="11" name="AutoShape 15">
            <a:hlinkClick r:id="rId3" action="ppaction://hlinksldjump" highlightClick="1"/>
          </p:cNvPr>
          <p:cNvSpPr>
            <a:spLocks noChangeAspect="1" noChangeArrowheads="1"/>
          </p:cNvSpPr>
          <p:nvPr/>
        </p:nvSpPr>
        <p:spPr bwMode="auto">
          <a:xfrm>
            <a:off x="8720138" y="6280150"/>
            <a:ext cx="244475" cy="244475"/>
          </a:xfrm>
          <a:prstGeom prst="actionButtonBeginning">
            <a:avLst/>
          </a:prstGeom>
          <a:solidFill>
            <a:srgbClr val="99CCFF"/>
          </a:solidFill>
          <a:ln w="19050">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2218"/>
                                        </p:tgtEl>
                                        <p:attrNameLst>
                                          <p:attrName>style.visibility</p:attrName>
                                        </p:attrNameLst>
                                      </p:cBhvr>
                                      <p:to>
                                        <p:strVal val="visible"/>
                                      </p:to>
                                    </p:set>
                                    <p:animEffect transition="in" filter="wipe(left)">
                                      <p:cBhvr>
                                        <p:cTn id="7" dur="500"/>
                                        <p:tgtEl>
                                          <p:spTgt spid="2222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2211"/>
                                        </p:tgtEl>
                                        <p:attrNameLst>
                                          <p:attrName>style.visibility</p:attrName>
                                        </p:attrNameLst>
                                      </p:cBhvr>
                                      <p:to>
                                        <p:strVal val="visible"/>
                                      </p:to>
                                    </p:set>
                                    <p:animEffect transition="in" filter="wipe(left)">
                                      <p:cBhvr>
                                        <p:cTn id="12" dur="500"/>
                                        <p:tgtEl>
                                          <p:spTgt spid="222211"/>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22212"/>
                                        </p:tgtEl>
                                        <p:attrNameLst>
                                          <p:attrName>style.visibility</p:attrName>
                                        </p:attrNameLst>
                                      </p:cBhvr>
                                      <p:to>
                                        <p:strVal val="visible"/>
                                      </p:to>
                                    </p:set>
                                    <p:animEffect transition="in" filter="wipe(left)">
                                      <p:cBhvr>
                                        <p:cTn id="16" dur="500"/>
                                        <p:tgtEl>
                                          <p:spTgt spid="222212"/>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22213"/>
                                        </p:tgtEl>
                                        <p:attrNameLst>
                                          <p:attrName>style.visibility</p:attrName>
                                        </p:attrNameLst>
                                      </p:cBhvr>
                                      <p:to>
                                        <p:strVal val="visible"/>
                                      </p:to>
                                    </p:set>
                                    <p:animEffect transition="in" filter="wipe(left)">
                                      <p:cBhvr>
                                        <p:cTn id="20" dur="500"/>
                                        <p:tgtEl>
                                          <p:spTgt spid="222213"/>
                                        </p:tgtEl>
                                      </p:cBhvr>
                                    </p:animEffect>
                                  </p:childTnLst>
                                </p:cTn>
                              </p:par>
                            </p:childTnLst>
                          </p:cTn>
                        </p:par>
                        <p:par>
                          <p:cTn id="21" fill="hold" nodeType="afterGroup">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222214"/>
                                        </p:tgtEl>
                                        <p:attrNameLst>
                                          <p:attrName>style.visibility</p:attrName>
                                        </p:attrNameLst>
                                      </p:cBhvr>
                                      <p:to>
                                        <p:strVal val="visible"/>
                                      </p:to>
                                    </p:set>
                                    <p:animEffect transition="in" filter="wipe(left)">
                                      <p:cBhvr>
                                        <p:cTn id="24" dur="500"/>
                                        <p:tgtEl>
                                          <p:spTgt spid="222214"/>
                                        </p:tgtEl>
                                      </p:cBhvr>
                                    </p:animEffect>
                                  </p:childTnLst>
                                </p:cTn>
                              </p:par>
                            </p:childTnLst>
                          </p:cTn>
                        </p:par>
                        <p:par>
                          <p:cTn id="25" fill="hold" nodeType="afterGroup">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222215"/>
                                        </p:tgtEl>
                                        <p:attrNameLst>
                                          <p:attrName>style.visibility</p:attrName>
                                        </p:attrNameLst>
                                      </p:cBhvr>
                                      <p:to>
                                        <p:strVal val="visible"/>
                                      </p:to>
                                    </p:set>
                                    <p:animEffect transition="in" filter="wipe(left)">
                                      <p:cBhvr>
                                        <p:cTn id="28" dur="500"/>
                                        <p:tgtEl>
                                          <p:spTgt spid="222215"/>
                                        </p:tgtEl>
                                      </p:cBhvr>
                                    </p:animEffect>
                                  </p:childTnLst>
                                </p:cTn>
                              </p:par>
                            </p:childTnLst>
                          </p:cTn>
                        </p:par>
                        <p:par>
                          <p:cTn id="29" fill="hold" nodeType="afterGroup">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222216"/>
                                        </p:tgtEl>
                                        <p:attrNameLst>
                                          <p:attrName>style.visibility</p:attrName>
                                        </p:attrNameLst>
                                      </p:cBhvr>
                                      <p:to>
                                        <p:strVal val="visible"/>
                                      </p:to>
                                    </p:set>
                                    <p:animEffect transition="in" filter="wipe(left)">
                                      <p:cBhvr>
                                        <p:cTn id="32" dur="500"/>
                                        <p:tgtEl>
                                          <p:spTgt spid="222216"/>
                                        </p:tgtEl>
                                      </p:cBhvr>
                                    </p:animEffect>
                                  </p:childTnLst>
                                </p:cTn>
                              </p:par>
                            </p:childTnLst>
                          </p:cTn>
                        </p:par>
                        <p:par>
                          <p:cTn id="33" fill="hold" nodeType="afterGroup">
                            <p:stCondLst>
                              <p:cond delay="3000"/>
                            </p:stCondLst>
                            <p:childTnLst>
                              <p:par>
                                <p:cTn id="34" presetID="22" presetClass="entr" presetSubtype="8" fill="hold" grpId="0" nodeType="afterEffect">
                                  <p:stCondLst>
                                    <p:cond delay="0"/>
                                  </p:stCondLst>
                                  <p:childTnLst>
                                    <p:set>
                                      <p:cBhvr>
                                        <p:cTn id="35" dur="1" fill="hold">
                                          <p:stCondLst>
                                            <p:cond delay="0"/>
                                          </p:stCondLst>
                                        </p:cTn>
                                        <p:tgtEl>
                                          <p:spTgt spid="222217"/>
                                        </p:tgtEl>
                                        <p:attrNameLst>
                                          <p:attrName>style.visibility</p:attrName>
                                        </p:attrNameLst>
                                      </p:cBhvr>
                                      <p:to>
                                        <p:strVal val="visible"/>
                                      </p:to>
                                    </p:set>
                                    <p:animEffect transition="in" filter="wipe(left)">
                                      <p:cBhvr>
                                        <p:cTn id="36" dur="500"/>
                                        <p:tgtEl>
                                          <p:spTgt spid="22221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22210"/>
                                        </p:tgtEl>
                                        <p:attrNameLst>
                                          <p:attrName>style.visibility</p:attrName>
                                        </p:attrNameLst>
                                      </p:cBhvr>
                                      <p:to>
                                        <p:strVal val="visible"/>
                                      </p:to>
                                    </p:set>
                                    <p:animEffect transition="in" filter="wipe(left)">
                                      <p:cBhvr>
                                        <p:cTn id="41" dur="500"/>
                                        <p:tgtEl>
                                          <p:spTgt spid="22221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0" grpId="0"/>
      <p:bldP spid="222211" grpId="0" animBg="1"/>
      <p:bldP spid="222212" grpId="0" animBg="1"/>
      <p:bldP spid="222213" grpId="0" animBg="1"/>
      <p:bldP spid="222214" grpId="0" animBg="1"/>
      <p:bldP spid="222215" grpId="0" animBg="1"/>
      <p:bldP spid="222216" grpId="0" animBg="1"/>
      <p:bldP spid="222217" grpId="0" animBg="1"/>
      <p:bldP spid="222218" grpId="0"/>
      <p:bldP spid="1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AutoShape 2"/>
          <p:cNvSpPr>
            <a:spLocks noChangeArrowheads="1"/>
          </p:cNvSpPr>
          <p:nvPr/>
        </p:nvSpPr>
        <p:spPr bwMode="auto">
          <a:xfrm>
            <a:off x="830263" y="2360613"/>
            <a:ext cx="2057400" cy="1066800"/>
          </a:xfrm>
          <a:prstGeom prst="bevel">
            <a:avLst>
              <a:gd name="adj" fmla="val 0"/>
            </a:avLst>
          </a:prstGeom>
          <a:solidFill>
            <a:srgbClr val="CCFFCC"/>
          </a:solidFill>
          <a:ln w="9525">
            <a:solidFill>
              <a:srgbClr val="00FF00"/>
            </a:solidFill>
            <a:miter lim="800000"/>
            <a:headEnd/>
            <a:tailEnd/>
          </a:ln>
          <a:effectLst/>
        </p:spPr>
        <p:txBody>
          <a:bodyPr wrap="none" anchor="ctr"/>
          <a:lstStyle/>
          <a:p>
            <a:endParaRPr lang="zh-CN" altLang="en-US"/>
          </a:p>
        </p:txBody>
      </p:sp>
      <p:sp>
        <p:nvSpPr>
          <p:cNvPr id="128003" name="Rectangle 3"/>
          <p:cNvSpPr>
            <a:spLocks noChangeArrowheads="1"/>
          </p:cNvSpPr>
          <p:nvPr/>
        </p:nvSpPr>
        <p:spPr bwMode="auto">
          <a:xfrm>
            <a:off x="250825" y="1223963"/>
            <a:ext cx="5257800" cy="517065"/>
          </a:xfrm>
          <a:prstGeom prst="rect">
            <a:avLst/>
          </a:prstGeom>
          <a:noFill/>
          <a:ln w="9525">
            <a:noFill/>
            <a:miter lim="800000"/>
            <a:headEnd/>
            <a:tailEnd/>
          </a:ln>
          <a:effectLst/>
        </p:spPr>
        <p:txBody>
          <a:bodyPr>
            <a:spAutoFit/>
          </a:bodyPr>
          <a:lstStyle/>
          <a:p>
            <a:pPr>
              <a:lnSpc>
                <a:spcPct val="115000"/>
              </a:lnSpc>
            </a:pPr>
            <a:r>
              <a:rPr lang="en-US" altLang="zh-CN" b="1" dirty="0" smtClean="0">
                <a:solidFill>
                  <a:srgbClr val="0000FF"/>
                </a:solidFill>
              </a:rPr>
              <a:t>13.5.1 </a:t>
            </a:r>
            <a:r>
              <a:rPr lang="zh-CN" altLang="en-US" b="1" dirty="0" smtClean="0">
                <a:solidFill>
                  <a:srgbClr val="0000FF"/>
                </a:solidFill>
              </a:rPr>
              <a:t>波函数</a:t>
            </a:r>
            <a:r>
              <a:rPr lang="zh-CN" altLang="en-US" b="1" dirty="0">
                <a:solidFill>
                  <a:srgbClr val="0000FF"/>
                </a:solidFill>
              </a:rPr>
              <a:t>及其统计解释 </a:t>
            </a:r>
          </a:p>
        </p:txBody>
      </p:sp>
      <p:graphicFrame>
        <p:nvGraphicFramePr>
          <p:cNvPr id="128004" name="Object 4"/>
          <p:cNvGraphicFramePr>
            <a:graphicFrameLocks noChangeAspect="1"/>
          </p:cNvGraphicFramePr>
          <p:nvPr/>
        </p:nvGraphicFramePr>
        <p:xfrm>
          <a:off x="2185988" y="5094288"/>
          <a:ext cx="3511550" cy="909637"/>
        </p:xfrm>
        <a:graphic>
          <a:graphicData uri="http://schemas.openxmlformats.org/presentationml/2006/ole">
            <p:oleObj spid="_x0000_s44036" name="公式" r:id="rId4" imgW="1115640" imgH="277200" progId="Equation.3">
              <p:embed/>
            </p:oleObj>
          </a:graphicData>
        </a:graphic>
      </p:graphicFrame>
      <p:sp>
        <p:nvSpPr>
          <p:cNvPr id="128005" name="Rectangle 5"/>
          <p:cNvSpPr>
            <a:spLocks noChangeArrowheads="1"/>
          </p:cNvSpPr>
          <p:nvPr/>
        </p:nvSpPr>
        <p:spPr bwMode="auto">
          <a:xfrm>
            <a:off x="944563" y="2349500"/>
            <a:ext cx="1828800" cy="914400"/>
          </a:xfrm>
          <a:prstGeom prst="rect">
            <a:avLst/>
          </a:prstGeom>
          <a:noFill/>
          <a:ln w="9525">
            <a:noFill/>
            <a:miter lim="800000"/>
            <a:headEnd/>
            <a:tailEnd/>
          </a:ln>
          <a:effectLst/>
        </p:spPr>
        <p:txBody>
          <a:bodyPr wrap="none" anchor="ctr"/>
          <a:lstStyle/>
          <a:p>
            <a:pPr algn="ctr">
              <a:lnSpc>
                <a:spcPct val="125000"/>
              </a:lnSpc>
            </a:pPr>
            <a:r>
              <a:rPr lang="zh-CN" altLang="en-US" b="1">
                <a:solidFill>
                  <a:schemeClr val="bg1"/>
                </a:solidFill>
              </a:rPr>
              <a:t>微观粒子</a:t>
            </a:r>
          </a:p>
          <a:p>
            <a:pPr algn="ctr">
              <a:lnSpc>
                <a:spcPct val="125000"/>
              </a:lnSpc>
            </a:pPr>
            <a:r>
              <a:rPr lang="zh-CN" altLang="en-US" b="1">
                <a:solidFill>
                  <a:schemeClr val="bg1"/>
                </a:solidFill>
              </a:rPr>
              <a:t>具有波动性</a:t>
            </a:r>
          </a:p>
        </p:txBody>
      </p:sp>
      <p:grpSp>
        <p:nvGrpSpPr>
          <p:cNvPr id="128006" name="Group 6"/>
          <p:cNvGrpSpPr>
            <a:grpSpLocks/>
          </p:cNvGrpSpPr>
          <p:nvPr/>
        </p:nvGrpSpPr>
        <p:grpSpPr bwMode="auto">
          <a:xfrm>
            <a:off x="5630863" y="2349500"/>
            <a:ext cx="2971800" cy="1066800"/>
            <a:chOff x="3552" y="960"/>
            <a:chExt cx="1872" cy="672"/>
          </a:xfrm>
        </p:grpSpPr>
        <p:sp>
          <p:nvSpPr>
            <p:cNvPr id="44046" name="AutoShape 7"/>
            <p:cNvSpPr>
              <a:spLocks noChangeArrowheads="1"/>
            </p:cNvSpPr>
            <p:nvPr/>
          </p:nvSpPr>
          <p:spPr bwMode="auto">
            <a:xfrm>
              <a:off x="3552" y="960"/>
              <a:ext cx="1872" cy="672"/>
            </a:xfrm>
            <a:prstGeom prst="bevel">
              <a:avLst>
                <a:gd name="adj" fmla="val 0"/>
              </a:avLst>
            </a:prstGeom>
            <a:solidFill>
              <a:srgbClr val="CCFFCC"/>
            </a:solidFill>
            <a:ln w="9525">
              <a:solidFill>
                <a:srgbClr val="00FF00"/>
              </a:solidFill>
              <a:miter lim="800000"/>
              <a:headEnd/>
              <a:tailEnd/>
            </a:ln>
            <a:effectLst/>
          </p:spPr>
          <p:txBody>
            <a:bodyPr wrap="none" anchor="ctr"/>
            <a:lstStyle/>
            <a:p>
              <a:endParaRPr lang="zh-CN" altLang="en-US"/>
            </a:p>
          </p:txBody>
        </p:sp>
        <p:sp>
          <p:nvSpPr>
            <p:cNvPr id="44047" name="Rectangle 8"/>
            <p:cNvSpPr>
              <a:spLocks noChangeArrowheads="1"/>
            </p:cNvSpPr>
            <p:nvPr/>
          </p:nvSpPr>
          <p:spPr bwMode="auto">
            <a:xfrm>
              <a:off x="3595" y="960"/>
              <a:ext cx="1786" cy="576"/>
            </a:xfrm>
            <a:prstGeom prst="rect">
              <a:avLst/>
            </a:prstGeom>
            <a:noFill/>
            <a:ln w="9525">
              <a:noFill/>
              <a:miter lim="800000"/>
              <a:headEnd/>
              <a:tailEnd/>
            </a:ln>
            <a:effectLst/>
          </p:spPr>
          <p:txBody>
            <a:bodyPr wrap="none" anchor="ctr"/>
            <a:lstStyle/>
            <a:p>
              <a:pPr algn="ctr">
                <a:lnSpc>
                  <a:spcPct val="125000"/>
                </a:lnSpc>
              </a:pPr>
              <a:r>
                <a:rPr lang="zh-CN" altLang="en-US" b="1">
                  <a:solidFill>
                    <a:schemeClr val="bg1"/>
                  </a:solidFill>
                </a:rPr>
                <a:t>用物质波波函数描述</a:t>
              </a:r>
            </a:p>
            <a:p>
              <a:pPr algn="ctr">
                <a:lnSpc>
                  <a:spcPct val="125000"/>
                </a:lnSpc>
              </a:pPr>
              <a:r>
                <a:rPr lang="zh-CN" altLang="en-US" b="1">
                  <a:solidFill>
                    <a:schemeClr val="bg1"/>
                  </a:solidFill>
                </a:rPr>
                <a:t>微观粒子运动状态</a:t>
              </a:r>
            </a:p>
          </p:txBody>
        </p:sp>
      </p:grpSp>
      <p:grpSp>
        <p:nvGrpSpPr>
          <p:cNvPr id="128009" name="Group 9"/>
          <p:cNvGrpSpPr>
            <a:grpSpLocks/>
          </p:cNvGrpSpPr>
          <p:nvPr/>
        </p:nvGrpSpPr>
        <p:grpSpPr bwMode="auto">
          <a:xfrm>
            <a:off x="3040063" y="2424113"/>
            <a:ext cx="2784475" cy="698500"/>
            <a:chOff x="1680" y="712"/>
            <a:chExt cx="1680" cy="440"/>
          </a:xfrm>
        </p:grpSpPr>
        <p:sp>
          <p:nvSpPr>
            <p:cNvPr id="44044" name="Rectangle 10"/>
            <p:cNvSpPr>
              <a:spLocks noChangeArrowheads="1"/>
            </p:cNvSpPr>
            <p:nvPr/>
          </p:nvSpPr>
          <p:spPr bwMode="auto">
            <a:xfrm>
              <a:off x="1848" y="712"/>
              <a:ext cx="1141" cy="298"/>
            </a:xfrm>
            <a:prstGeom prst="rect">
              <a:avLst/>
            </a:prstGeom>
            <a:noFill/>
            <a:ln w="9525">
              <a:noFill/>
              <a:miter lim="800000"/>
              <a:headEnd/>
              <a:tailEnd/>
            </a:ln>
            <a:effectLst/>
          </p:spPr>
          <p:txBody>
            <a:bodyPr>
              <a:spAutoFit/>
            </a:bodyPr>
            <a:lstStyle/>
            <a:p>
              <a:pPr>
                <a:lnSpc>
                  <a:spcPct val="125000"/>
                </a:lnSpc>
              </a:pPr>
              <a:r>
                <a:rPr lang="en-US" altLang="zh-CN" sz="2000" b="1">
                  <a:solidFill>
                    <a:schemeClr val="tx2"/>
                  </a:solidFill>
                </a:rPr>
                <a:t>1925</a:t>
              </a:r>
              <a:r>
                <a:rPr lang="zh-CN" altLang="en-US" sz="2000" b="1">
                  <a:solidFill>
                    <a:schemeClr val="tx2"/>
                  </a:solidFill>
                </a:rPr>
                <a:t>年薛定谔</a:t>
              </a:r>
            </a:p>
          </p:txBody>
        </p:sp>
        <p:sp>
          <p:nvSpPr>
            <p:cNvPr id="44045" name="AutoShape 11"/>
            <p:cNvSpPr>
              <a:spLocks noChangeArrowheads="1"/>
            </p:cNvSpPr>
            <p:nvPr/>
          </p:nvSpPr>
          <p:spPr bwMode="auto">
            <a:xfrm>
              <a:off x="1680" y="960"/>
              <a:ext cx="1680" cy="192"/>
            </a:xfrm>
            <a:custGeom>
              <a:avLst/>
              <a:gdLst>
                <a:gd name="T0" fmla="*/ 98 w 21600"/>
                <a:gd name="T1" fmla="*/ 0 h 21600"/>
                <a:gd name="T2" fmla="*/ 0 w 21600"/>
                <a:gd name="T3" fmla="*/ 1 h 21600"/>
                <a:gd name="T4" fmla="*/ 98 w 21600"/>
                <a:gd name="T5" fmla="*/ 2 h 21600"/>
                <a:gd name="T6" fmla="*/ 131 w 21600"/>
                <a:gd name="T7" fmla="*/ 1 h 21600"/>
                <a:gd name="T8" fmla="*/ 17694720 60000 65536"/>
                <a:gd name="T9" fmla="*/ 11796480 60000 65536"/>
                <a:gd name="T10" fmla="*/ 5898240 60000 65536"/>
                <a:gd name="T11" fmla="*/ 0 60000 65536"/>
                <a:gd name="T12" fmla="*/ 3381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339966"/>
            </a:solidFill>
            <a:ln w="9525">
              <a:solidFill>
                <a:schemeClr val="bg1"/>
              </a:solidFill>
              <a:miter lim="800000"/>
              <a:headEnd/>
              <a:tailEnd/>
            </a:ln>
            <a:effectLst/>
          </p:spPr>
          <p:txBody>
            <a:bodyPr wrap="none" anchor="ctr"/>
            <a:lstStyle/>
            <a:p>
              <a:endParaRPr lang="zh-CN" altLang="en-US"/>
            </a:p>
          </p:txBody>
        </p:sp>
      </p:grpSp>
      <p:sp>
        <p:nvSpPr>
          <p:cNvPr id="128013" name="Text Box 13"/>
          <p:cNvSpPr txBox="1">
            <a:spLocks noChangeArrowheads="1"/>
          </p:cNvSpPr>
          <p:nvPr/>
        </p:nvSpPr>
        <p:spPr bwMode="auto">
          <a:xfrm>
            <a:off x="735013" y="3879850"/>
            <a:ext cx="7777162" cy="941388"/>
          </a:xfrm>
          <a:prstGeom prst="rect">
            <a:avLst/>
          </a:prstGeom>
          <a:noFill/>
          <a:ln w="9525">
            <a:noFill/>
            <a:miter lim="800000"/>
            <a:headEnd/>
            <a:tailEnd/>
          </a:ln>
          <a:effectLst/>
        </p:spPr>
        <p:txBody>
          <a:bodyPr>
            <a:spAutoFit/>
          </a:bodyPr>
          <a:lstStyle/>
          <a:p>
            <a:pPr>
              <a:lnSpc>
                <a:spcPct val="115000"/>
              </a:lnSpc>
            </a:pPr>
            <a:r>
              <a:rPr lang="zh-CN" altLang="en-US" b="1">
                <a:solidFill>
                  <a:schemeClr val="bg1"/>
                </a:solidFill>
                <a:ea typeface="楷体_GB2312" pitchFamily="49" charset="-122"/>
              </a:rPr>
              <a:t>自由粒子沿 </a:t>
            </a:r>
            <a:r>
              <a:rPr lang="en-US" altLang="zh-CN" b="1" i="1">
                <a:solidFill>
                  <a:schemeClr val="accent2"/>
                </a:solidFill>
                <a:ea typeface="楷体_GB2312" pitchFamily="49" charset="-122"/>
              </a:rPr>
              <a:t>x </a:t>
            </a:r>
            <a:r>
              <a:rPr lang="en-US" altLang="zh-CN" b="1" i="1">
                <a:solidFill>
                  <a:srgbClr val="00FFFF"/>
                </a:solidFill>
                <a:ea typeface="楷体_GB2312" pitchFamily="49" charset="-122"/>
              </a:rPr>
              <a:t> </a:t>
            </a:r>
            <a:r>
              <a:rPr lang="zh-CN" altLang="en-US" b="1">
                <a:solidFill>
                  <a:schemeClr val="bg1"/>
                </a:solidFill>
                <a:ea typeface="楷体_GB2312" pitchFamily="49" charset="-122"/>
              </a:rPr>
              <a:t>轴正方向运动，由于其能量、动量为常量，所以</a:t>
            </a:r>
            <a:r>
              <a:rPr lang="zh-CN" altLang="en-US" b="1">
                <a:solidFill>
                  <a:schemeClr val="accent2"/>
                </a:solidFill>
                <a:ea typeface="楷体_GB2312" pitchFamily="49" charset="-122"/>
              </a:rPr>
              <a:t> </a:t>
            </a:r>
            <a:r>
              <a:rPr lang="en-US" altLang="zh-CN" b="1" i="1">
                <a:solidFill>
                  <a:schemeClr val="accent2"/>
                </a:solidFill>
                <a:ea typeface="楷体_GB2312" pitchFamily="49" charset="-122"/>
              </a:rPr>
              <a:t>v</a:t>
            </a:r>
            <a:r>
              <a:rPr lang="en-US" altLang="zh-CN" b="1" i="1">
                <a:solidFill>
                  <a:srgbClr val="66FFFF"/>
                </a:solidFill>
                <a:ea typeface="楷体_GB2312" pitchFamily="49" charset="-122"/>
              </a:rPr>
              <a:t> </a:t>
            </a:r>
            <a:r>
              <a:rPr lang="zh-CN" altLang="en-US" b="1">
                <a:solidFill>
                  <a:schemeClr val="bg1"/>
                </a:solidFill>
                <a:ea typeface="楷体_GB2312" pitchFamily="49" charset="-122"/>
              </a:rPr>
              <a:t>、</a:t>
            </a:r>
            <a:r>
              <a:rPr lang="zh-CN" altLang="en-US" b="1">
                <a:solidFill>
                  <a:srgbClr val="66FFFF"/>
                </a:solidFill>
                <a:ea typeface="楷体_GB2312" pitchFamily="49" charset="-122"/>
              </a:rPr>
              <a:t> </a:t>
            </a:r>
            <a:r>
              <a:rPr lang="zh-CN" altLang="en-US" b="1" i="1">
                <a:solidFill>
                  <a:schemeClr val="accent2"/>
                </a:solidFill>
                <a:ea typeface="楷体_GB2312" pitchFamily="49" charset="-122"/>
                <a:sym typeface="Symbol" pitchFamily="18" charset="2"/>
              </a:rPr>
              <a:t></a:t>
            </a:r>
            <a:r>
              <a:rPr lang="zh-CN" altLang="en-US" b="1">
                <a:solidFill>
                  <a:schemeClr val="bg1"/>
                </a:solidFill>
                <a:ea typeface="楷体_GB2312" pitchFamily="49" charset="-122"/>
              </a:rPr>
              <a:t>  不随时间变化，其物质波是单色平面波。</a:t>
            </a:r>
          </a:p>
        </p:txBody>
      </p:sp>
      <p:sp>
        <p:nvSpPr>
          <p:cNvPr id="44041" name="Rectangle 14"/>
          <p:cNvSpPr>
            <a:spLocks noChangeArrowheads="1"/>
          </p:cNvSpPr>
          <p:nvPr/>
        </p:nvSpPr>
        <p:spPr bwMode="auto">
          <a:xfrm>
            <a:off x="657225" y="503238"/>
            <a:ext cx="7772400" cy="609600"/>
          </a:xfrm>
          <a:prstGeom prst="rect">
            <a:avLst/>
          </a:prstGeom>
          <a:noFill/>
          <a:ln w="9525">
            <a:noFill/>
            <a:miter lim="800000"/>
            <a:headEnd/>
            <a:tailEnd/>
          </a:ln>
          <a:effectLst/>
        </p:spPr>
        <p:txBody>
          <a:bodyPr anchor="ctr"/>
          <a:lstStyle/>
          <a:p>
            <a:pPr algn="ctr">
              <a:lnSpc>
                <a:spcPct val="115000"/>
              </a:lnSpc>
            </a:pPr>
            <a:r>
              <a:rPr lang="en-US" altLang="zh-CN" sz="2800" b="1">
                <a:solidFill>
                  <a:srgbClr val="0000FF"/>
                </a:solidFill>
              </a:rPr>
              <a:t>§</a:t>
            </a:r>
            <a:r>
              <a:rPr lang="en-US" altLang="zh-CN" sz="2800" b="1">
                <a:solidFill>
                  <a:srgbClr val="3333CC"/>
                </a:solidFill>
              </a:rPr>
              <a:t>13.5  </a:t>
            </a:r>
            <a:r>
              <a:rPr lang="zh-CN" altLang="en-US" sz="2800" b="1">
                <a:solidFill>
                  <a:srgbClr val="3333CC"/>
                </a:solidFill>
                <a:latin typeface="黑体" pitchFamily="2" charset="-122"/>
                <a:ea typeface="黑体" pitchFamily="2" charset="-122"/>
              </a:rPr>
              <a:t>波函数  一维定态薛定谔方程 </a:t>
            </a:r>
          </a:p>
        </p:txBody>
      </p:sp>
      <p:graphicFrame>
        <p:nvGraphicFramePr>
          <p:cNvPr id="128015" name="Object 15"/>
          <p:cNvGraphicFramePr>
            <a:graphicFrameLocks noChangeAspect="1"/>
          </p:cNvGraphicFramePr>
          <p:nvPr/>
        </p:nvGraphicFramePr>
        <p:xfrm>
          <a:off x="5697538" y="5184775"/>
          <a:ext cx="1993900" cy="828675"/>
        </p:xfrm>
        <a:graphic>
          <a:graphicData uri="http://schemas.openxmlformats.org/presentationml/2006/ole">
            <p:oleObj spid="_x0000_s44042" name="公式" r:id="rId5" imgW="692280" imgH="277200" progId="Equation.3">
              <p:embed/>
            </p:oleObj>
          </a:graphicData>
        </a:graphic>
      </p:graphicFrame>
      <p:sp>
        <p:nvSpPr>
          <p:cNvPr id="17" name="Text Box 13"/>
          <p:cNvSpPr txBox="1">
            <a:spLocks noChangeArrowheads="1"/>
          </p:cNvSpPr>
          <p:nvPr/>
        </p:nvSpPr>
        <p:spPr bwMode="auto">
          <a:xfrm>
            <a:off x="641350" y="5499100"/>
            <a:ext cx="7777163" cy="479425"/>
          </a:xfrm>
          <a:prstGeom prst="rect">
            <a:avLst/>
          </a:prstGeom>
          <a:noFill/>
          <a:ln w="9525">
            <a:noFill/>
            <a:miter lim="800000"/>
            <a:headEnd/>
            <a:tailEnd/>
          </a:ln>
          <a:effectLst/>
        </p:spPr>
        <p:txBody>
          <a:bodyPr>
            <a:spAutoFit/>
          </a:bodyPr>
          <a:lstStyle/>
          <a:p>
            <a:pPr>
              <a:lnSpc>
                <a:spcPct val="115000"/>
              </a:lnSpc>
            </a:pPr>
            <a:r>
              <a:rPr lang="zh-CN" altLang="en-US" b="1">
                <a:solidFill>
                  <a:srgbClr val="FF0000"/>
                </a:solidFill>
                <a:ea typeface="楷体_GB2312" pitchFamily="49" charset="-122"/>
              </a:rPr>
              <a:t>波函数：</a:t>
            </a:r>
            <a:endParaRPr lang="zh-CN" altLang="en-US" b="1">
              <a:solidFill>
                <a:schemeClr val="bg1"/>
              </a:solidFill>
              <a:ea typeface="楷体_GB2312" pitchFamily="49" charset="-122"/>
            </a:endParaRP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8003"/>
                                        </p:tgtEl>
                                        <p:attrNameLst>
                                          <p:attrName>style.visibility</p:attrName>
                                        </p:attrNameLst>
                                      </p:cBhvr>
                                      <p:to>
                                        <p:strVal val="visible"/>
                                      </p:to>
                                    </p:set>
                                    <p:animEffect transition="in" filter="wipe(left)">
                                      <p:cBhvr>
                                        <p:cTn id="7" dur="500"/>
                                        <p:tgtEl>
                                          <p:spTgt spid="1280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8005"/>
                                        </p:tgtEl>
                                        <p:attrNameLst>
                                          <p:attrName>style.visibility</p:attrName>
                                        </p:attrNameLst>
                                      </p:cBhvr>
                                      <p:to>
                                        <p:strVal val="visible"/>
                                      </p:to>
                                    </p:set>
                                    <p:anim calcmode="lin" valueType="num">
                                      <p:cBhvr additive="base">
                                        <p:cTn id="12" dur="500" fill="hold"/>
                                        <p:tgtEl>
                                          <p:spTgt spid="128005"/>
                                        </p:tgtEl>
                                        <p:attrNameLst>
                                          <p:attrName>ppt_x</p:attrName>
                                        </p:attrNameLst>
                                      </p:cBhvr>
                                      <p:tavLst>
                                        <p:tav tm="0">
                                          <p:val>
                                            <p:strVal val="#ppt_x"/>
                                          </p:val>
                                        </p:tav>
                                        <p:tav tm="100000">
                                          <p:val>
                                            <p:strVal val="#ppt_x"/>
                                          </p:val>
                                        </p:tav>
                                      </p:tavLst>
                                    </p:anim>
                                    <p:anim calcmode="lin" valueType="num">
                                      <p:cBhvr additive="base">
                                        <p:cTn id="13" dur="500" fill="hold"/>
                                        <p:tgtEl>
                                          <p:spTgt spid="12800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28002"/>
                                        </p:tgtEl>
                                        <p:attrNameLst>
                                          <p:attrName>style.visibility</p:attrName>
                                        </p:attrNameLst>
                                      </p:cBhvr>
                                      <p:to>
                                        <p:strVal val="visible"/>
                                      </p:to>
                                    </p:set>
                                    <p:anim calcmode="lin" valueType="num">
                                      <p:cBhvr additive="base">
                                        <p:cTn id="16" dur="500" fill="hold"/>
                                        <p:tgtEl>
                                          <p:spTgt spid="128002"/>
                                        </p:tgtEl>
                                        <p:attrNameLst>
                                          <p:attrName>ppt_x</p:attrName>
                                        </p:attrNameLst>
                                      </p:cBhvr>
                                      <p:tavLst>
                                        <p:tav tm="0">
                                          <p:val>
                                            <p:strVal val="#ppt_x"/>
                                          </p:val>
                                        </p:tav>
                                        <p:tav tm="100000">
                                          <p:val>
                                            <p:strVal val="#ppt_x"/>
                                          </p:val>
                                        </p:tav>
                                      </p:tavLst>
                                    </p:anim>
                                    <p:anim calcmode="lin" valueType="num">
                                      <p:cBhvr additive="base">
                                        <p:cTn id="17" dur="500" fill="hold"/>
                                        <p:tgtEl>
                                          <p:spTgt spid="128002"/>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8" fill="hold" nodeType="clickEffect">
                                  <p:stCondLst>
                                    <p:cond delay="0"/>
                                  </p:stCondLst>
                                  <p:childTnLst>
                                    <p:set>
                                      <p:cBhvr>
                                        <p:cTn id="21" dur="1" fill="hold">
                                          <p:stCondLst>
                                            <p:cond delay="0"/>
                                          </p:stCondLst>
                                        </p:cTn>
                                        <p:tgtEl>
                                          <p:spTgt spid="128009"/>
                                        </p:tgtEl>
                                        <p:attrNameLst>
                                          <p:attrName>style.visibility</p:attrName>
                                        </p:attrNameLst>
                                      </p:cBhvr>
                                      <p:to>
                                        <p:strVal val="visible"/>
                                      </p:to>
                                    </p:set>
                                    <p:anim calcmode="lin" valueType="num">
                                      <p:cBhvr>
                                        <p:cTn id="22" dur="500" fill="hold"/>
                                        <p:tgtEl>
                                          <p:spTgt spid="128009"/>
                                        </p:tgtEl>
                                        <p:attrNameLst>
                                          <p:attrName>ppt_x</p:attrName>
                                        </p:attrNameLst>
                                      </p:cBhvr>
                                      <p:tavLst>
                                        <p:tav tm="0">
                                          <p:val>
                                            <p:strVal val="#ppt_x-#ppt_w/2"/>
                                          </p:val>
                                        </p:tav>
                                        <p:tav tm="100000">
                                          <p:val>
                                            <p:strVal val="#ppt_x"/>
                                          </p:val>
                                        </p:tav>
                                      </p:tavLst>
                                    </p:anim>
                                    <p:anim calcmode="lin" valueType="num">
                                      <p:cBhvr>
                                        <p:cTn id="23" dur="500" fill="hold"/>
                                        <p:tgtEl>
                                          <p:spTgt spid="128009"/>
                                        </p:tgtEl>
                                        <p:attrNameLst>
                                          <p:attrName>ppt_y</p:attrName>
                                        </p:attrNameLst>
                                      </p:cBhvr>
                                      <p:tavLst>
                                        <p:tav tm="0">
                                          <p:val>
                                            <p:strVal val="#ppt_y"/>
                                          </p:val>
                                        </p:tav>
                                        <p:tav tm="100000">
                                          <p:val>
                                            <p:strVal val="#ppt_y"/>
                                          </p:val>
                                        </p:tav>
                                      </p:tavLst>
                                    </p:anim>
                                    <p:anim calcmode="lin" valueType="num">
                                      <p:cBhvr>
                                        <p:cTn id="24" dur="500" fill="hold"/>
                                        <p:tgtEl>
                                          <p:spTgt spid="128009"/>
                                        </p:tgtEl>
                                        <p:attrNameLst>
                                          <p:attrName>ppt_w</p:attrName>
                                        </p:attrNameLst>
                                      </p:cBhvr>
                                      <p:tavLst>
                                        <p:tav tm="0">
                                          <p:val>
                                            <p:fltVal val="0"/>
                                          </p:val>
                                        </p:tav>
                                        <p:tav tm="100000">
                                          <p:val>
                                            <p:strVal val="#ppt_w"/>
                                          </p:val>
                                        </p:tav>
                                      </p:tavLst>
                                    </p:anim>
                                    <p:anim calcmode="lin" valueType="num">
                                      <p:cBhvr>
                                        <p:cTn id="25" dur="500" fill="hold"/>
                                        <p:tgtEl>
                                          <p:spTgt spid="128009"/>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128006"/>
                                        </p:tgtEl>
                                        <p:attrNameLst>
                                          <p:attrName>style.visibility</p:attrName>
                                        </p:attrNameLst>
                                      </p:cBhvr>
                                      <p:to>
                                        <p:strVal val="visible"/>
                                      </p:to>
                                    </p:set>
                                    <p:animEffect transition="in" filter="dissolve">
                                      <p:cBhvr>
                                        <p:cTn id="30" dur="500"/>
                                        <p:tgtEl>
                                          <p:spTgt spid="12800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8013"/>
                                        </p:tgtEl>
                                        <p:attrNameLst>
                                          <p:attrName>style.visibility</p:attrName>
                                        </p:attrNameLst>
                                      </p:cBhvr>
                                      <p:to>
                                        <p:strVal val="visible"/>
                                      </p:to>
                                    </p:set>
                                    <p:animEffect transition="in" filter="wipe(left)">
                                      <p:cBhvr>
                                        <p:cTn id="35" dur="500"/>
                                        <p:tgtEl>
                                          <p:spTgt spid="12801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4" fill="hold" nodeType="clickEffect">
                                  <p:stCondLst>
                                    <p:cond delay="0"/>
                                  </p:stCondLst>
                                  <p:childTnLst>
                                    <p:set>
                                      <p:cBhvr>
                                        <p:cTn id="39" dur="1" fill="hold">
                                          <p:stCondLst>
                                            <p:cond delay="0"/>
                                          </p:stCondLst>
                                        </p:cTn>
                                        <p:tgtEl>
                                          <p:spTgt spid="128004"/>
                                        </p:tgtEl>
                                        <p:attrNameLst>
                                          <p:attrName>style.visibility</p:attrName>
                                        </p:attrNameLst>
                                      </p:cBhvr>
                                      <p:to>
                                        <p:strVal val="visible"/>
                                      </p:to>
                                    </p:set>
                                    <p:animEffect transition="in" filter="slide(fromBottom)">
                                      <p:cBhvr>
                                        <p:cTn id="40" dur="500"/>
                                        <p:tgtEl>
                                          <p:spTgt spid="12800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128015"/>
                                        </p:tgtEl>
                                        <p:attrNameLst>
                                          <p:attrName>style.visibility</p:attrName>
                                        </p:attrNameLst>
                                      </p:cBhvr>
                                      <p:to>
                                        <p:strVal val="visible"/>
                                      </p:to>
                                    </p:set>
                                    <p:anim calcmode="lin" valueType="num">
                                      <p:cBhvr additive="base">
                                        <p:cTn id="45" dur="500" fill="hold"/>
                                        <p:tgtEl>
                                          <p:spTgt spid="128015"/>
                                        </p:tgtEl>
                                        <p:attrNameLst>
                                          <p:attrName>ppt_x</p:attrName>
                                        </p:attrNameLst>
                                      </p:cBhvr>
                                      <p:tavLst>
                                        <p:tav tm="0">
                                          <p:val>
                                            <p:strVal val="#ppt_x"/>
                                          </p:val>
                                        </p:tav>
                                        <p:tav tm="100000">
                                          <p:val>
                                            <p:strVal val="#ppt_x"/>
                                          </p:val>
                                        </p:tav>
                                      </p:tavLst>
                                    </p:anim>
                                    <p:anim calcmode="lin" valueType="num">
                                      <p:cBhvr additive="base">
                                        <p:cTn id="46" dur="500" fill="hold"/>
                                        <p:tgtEl>
                                          <p:spTgt spid="128015"/>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animBg="1"/>
      <p:bldP spid="128003" grpId="0"/>
      <p:bldP spid="128005" grpId="0"/>
      <p:bldP spid="128013" grpId="0" autoUpdateAnimBg="0"/>
      <p:bldP spid="17"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ChangeArrowheads="1"/>
          </p:cNvSpPr>
          <p:nvPr/>
        </p:nvSpPr>
        <p:spPr bwMode="auto">
          <a:xfrm>
            <a:off x="296863" y="549275"/>
            <a:ext cx="3449637" cy="457200"/>
          </a:xfrm>
          <a:prstGeom prst="rect">
            <a:avLst/>
          </a:prstGeom>
          <a:noFill/>
          <a:ln w="9525">
            <a:noFill/>
            <a:miter lim="800000"/>
            <a:headEnd/>
            <a:tailEnd/>
          </a:ln>
          <a:effectLst/>
        </p:spPr>
        <p:txBody>
          <a:bodyPr>
            <a:spAutoFit/>
          </a:bodyPr>
          <a:lstStyle/>
          <a:p>
            <a:r>
              <a:rPr lang="zh-CN" altLang="en-US" b="1">
                <a:solidFill>
                  <a:schemeClr val="hlink"/>
                </a:solidFill>
              </a:rPr>
              <a:t>波函数的统计解释：</a:t>
            </a:r>
          </a:p>
        </p:txBody>
      </p:sp>
      <p:sp>
        <p:nvSpPr>
          <p:cNvPr id="129029" name="Rectangle 5"/>
          <p:cNvSpPr>
            <a:spLocks noChangeArrowheads="1"/>
          </p:cNvSpPr>
          <p:nvPr/>
        </p:nvSpPr>
        <p:spPr bwMode="auto">
          <a:xfrm>
            <a:off x="881063" y="1403350"/>
            <a:ext cx="7515225" cy="1263650"/>
          </a:xfrm>
          <a:prstGeom prst="rect">
            <a:avLst/>
          </a:prstGeom>
          <a:noFill/>
          <a:ln w="19050">
            <a:solidFill>
              <a:schemeClr val="accent2"/>
            </a:solidFill>
            <a:miter lim="800000"/>
            <a:headEnd/>
            <a:tailEnd/>
          </a:ln>
          <a:effectLst/>
        </p:spPr>
        <p:txBody>
          <a:bodyPr>
            <a:spAutoFit/>
          </a:bodyPr>
          <a:lstStyle/>
          <a:p>
            <a:pPr>
              <a:lnSpc>
                <a:spcPct val="105000"/>
              </a:lnSpc>
            </a:pPr>
            <a:r>
              <a:rPr lang="en-US" altLang="zh-CN" b="1">
                <a:solidFill>
                  <a:srgbClr val="0000FF"/>
                </a:solidFill>
              </a:rPr>
              <a:t>        </a:t>
            </a:r>
            <a:r>
              <a:rPr lang="zh-CN" altLang="en-US" b="1">
                <a:solidFill>
                  <a:schemeClr val="bg2"/>
                </a:solidFill>
                <a:ea typeface="楷体_GB2312" pitchFamily="49" charset="-122"/>
              </a:rPr>
              <a:t>在任意给定情况下运动的粒子，都有一波动与之等效，</a:t>
            </a:r>
            <a:r>
              <a:rPr lang="zh-CN" altLang="en-US" b="1">
                <a:solidFill>
                  <a:srgbClr val="0000FF"/>
                </a:solidFill>
                <a:ea typeface="楷体_GB2312" pitchFamily="49" charset="-122"/>
              </a:rPr>
              <a:t>该波动在空间某处波函数的二次方与粒子在该处出现的概率成正比。</a:t>
            </a:r>
            <a:r>
              <a:rPr lang="zh-CN" altLang="en-US">
                <a:solidFill>
                  <a:schemeClr val="bg2"/>
                </a:solidFill>
              </a:rPr>
              <a:t> </a:t>
            </a:r>
          </a:p>
        </p:txBody>
      </p:sp>
      <p:graphicFrame>
        <p:nvGraphicFramePr>
          <p:cNvPr id="129031" name="Object 7"/>
          <p:cNvGraphicFramePr>
            <a:graphicFrameLocks noChangeAspect="1"/>
          </p:cNvGraphicFramePr>
          <p:nvPr/>
        </p:nvGraphicFramePr>
        <p:xfrm>
          <a:off x="1736725" y="3379788"/>
          <a:ext cx="4533900" cy="409575"/>
        </p:xfrm>
        <a:graphic>
          <a:graphicData uri="http://schemas.openxmlformats.org/presentationml/2006/ole">
            <p:oleObj spid="_x0000_s45060" name="公式" r:id="rId4" imgW="2158200" imgH="179280" progId="Equation.3">
              <p:embed/>
            </p:oleObj>
          </a:graphicData>
        </a:graphic>
      </p:graphicFrame>
      <p:grpSp>
        <p:nvGrpSpPr>
          <p:cNvPr id="129055" name="Group 31"/>
          <p:cNvGrpSpPr>
            <a:grpSpLocks/>
          </p:cNvGrpSpPr>
          <p:nvPr/>
        </p:nvGrpSpPr>
        <p:grpSpPr bwMode="auto">
          <a:xfrm>
            <a:off x="385763" y="2619375"/>
            <a:ext cx="7472362" cy="579438"/>
            <a:chOff x="243" y="1650"/>
            <a:chExt cx="4707" cy="365"/>
          </a:xfrm>
        </p:grpSpPr>
        <p:sp>
          <p:nvSpPr>
            <p:cNvPr id="45082" name="Rectangle 9"/>
            <p:cNvSpPr>
              <a:spLocks noChangeArrowheads="1"/>
            </p:cNvSpPr>
            <p:nvPr/>
          </p:nvSpPr>
          <p:spPr bwMode="auto">
            <a:xfrm>
              <a:off x="243" y="1650"/>
              <a:ext cx="4707" cy="365"/>
            </a:xfrm>
            <a:prstGeom prst="rect">
              <a:avLst/>
            </a:prstGeom>
            <a:noFill/>
            <a:ln w="9525">
              <a:noFill/>
              <a:miter lim="800000"/>
              <a:headEnd/>
              <a:tailEnd/>
            </a:ln>
            <a:effectLst/>
          </p:spPr>
          <p:txBody>
            <a:bodyPr>
              <a:spAutoFit/>
            </a:bodyPr>
            <a:lstStyle/>
            <a:p>
              <a:r>
                <a:rPr lang="en-US" altLang="zh-CN" b="1">
                  <a:solidFill>
                    <a:schemeClr val="bg1"/>
                  </a:solidFill>
                </a:rPr>
                <a:t>1.  </a:t>
              </a:r>
              <a:r>
                <a:rPr lang="zh-CN" altLang="en-US" b="1">
                  <a:solidFill>
                    <a:schemeClr val="bg1"/>
                  </a:solidFill>
                  <a:ea typeface="楷体_GB2312" pitchFamily="49" charset="-122"/>
                </a:rPr>
                <a:t>时刻</a:t>
              </a:r>
              <a:r>
                <a:rPr lang="zh-CN" altLang="en-US" b="1">
                  <a:solidFill>
                    <a:schemeClr val="accent2"/>
                  </a:solidFill>
                  <a:ea typeface="楷体_GB2312" pitchFamily="49" charset="-122"/>
                </a:rPr>
                <a:t> </a:t>
              </a:r>
              <a:r>
                <a:rPr lang="en-US" altLang="zh-CN" b="1" i="1">
                  <a:solidFill>
                    <a:schemeClr val="accent2"/>
                  </a:solidFill>
                </a:rPr>
                <a:t>t</a:t>
              </a:r>
              <a:r>
                <a:rPr lang="en-US" altLang="zh-CN" b="1" i="1">
                  <a:solidFill>
                    <a:srgbClr val="66FFFF"/>
                  </a:solidFill>
                </a:rPr>
                <a:t> </a:t>
              </a:r>
              <a:r>
                <a:rPr lang="en-US" altLang="zh-CN" b="1">
                  <a:solidFill>
                    <a:schemeClr val="bg1"/>
                  </a:solidFill>
                  <a:ea typeface="楷体_GB2312" pitchFamily="49" charset="-122"/>
                </a:rPr>
                <a:t>,    </a:t>
              </a:r>
              <a:r>
                <a:rPr lang="zh-CN" altLang="en-US" b="1">
                  <a:solidFill>
                    <a:schemeClr val="bg1"/>
                  </a:solidFill>
                  <a:latin typeface="楷体_GB2312" pitchFamily="49" charset="-122"/>
                  <a:ea typeface="楷体_GB2312" pitchFamily="49" charset="-122"/>
                </a:rPr>
                <a:t>粒子</a:t>
              </a:r>
              <a:r>
                <a:rPr lang="zh-CN" altLang="en-US" b="1">
                  <a:solidFill>
                    <a:schemeClr val="bg1"/>
                  </a:solidFill>
                  <a:ea typeface="楷体_GB2312" pitchFamily="49" charset="-122"/>
                </a:rPr>
                <a:t>在空间</a:t>
              </a:r>
              <a:r>
                <a:rPr lang="zh-CN" altLang="en-US" b="1">
                  <a:solidFill>
                    <a:srgbClr val="FFCC66"/>
                  </a:solidFill>
                </a:rPr>
                <a:t>  </a:t>
              </a:r>
              <a:r>
                <a:rPr lang="en-US" altLang="zh-CN" sz="3200" b="1" i="1">
                  <a:solidFill>
                    <a:schemeClr val="accent2"/>
                  </a:solidFill>
                </a:rPr>
                <a:t>r</a:t>
              </a:r>
              <a:r>
                <a:rPr lang="en-US" altLang="zh-CN" sz="3200" b="1" i="1">
                  <a:solidFill>
                    <a:srgbClr val="66FFFF"/>
                  </a:solidFill>
                </a:rPr>
                <a:t> </a:t>
              </a:r>
              <a:r>
                <a:rPr lang="en-US" altLang="zh-CN" sz="3200" b="1" i="1">
                  <a:solidFill>
                    <a:srgbClr val="FFCC66"/>
                  </a:solidFill>
                </a:rPr>
                <a:t> </a:t>
              </a:r>
              <a:r>
                <a:rPr lang="zh-CN" altLang="en-US" b="1">
                  <a:solidFill>
                    <a:schemeClr val="bg1"/>
                  </a:solidFill>
                  <a:ea typeface="楷体_GB2312" pitchFamily="49" charset="-122"/>
                </a:rPr>
                <a:t>处</a:t>
              </a:r>
              <a:r>
                <a:rPr lang="zh-CN" altLang="en-US" b="1">
                  <a:solidFill>
                    <a:srgbClr val="FFCC66"/>
                  </a:solidFill>
                </a:rPr>
                <a:t> </a:t>
              </a:r>
              <a:r>
                <a:rPr lang="en-US" altLang="zh-CN" b="1">
                  <a:solidFill>
                    <a:schemeClr val="accent2"/>
                  </a:solidFill>
                </a:rPr>
                <a:t>d</a:t>
              </a:r>
              <a:r>
                <a:rPr lang="en-US" altLang="zh-CN" b="1" i="1">
                  <a:solidFill>
                    <a:schemeClr val="accent2"/>
                  </a:solidFill>
                </a:rPr>
                <a:t>V </a:t>
              </a:r>
              <a:r>
                <a:rPr lang="zh-CN" altLang="en-US" b="1">
                  <a:solidFill>
                    <a:schemeClr val="bg1"/>
                  </a:solidFill>
                  <a:ea typeface="楷体_GB2312" pitchFamily="49" charset="-122"/>
                </a:rPr>
                <a:t>体积内出现的概率</a:t>
              </a:r>
            </a:p>
          </p:txBody>
        </p:sp>
        <p:sp>
          <p:nvSpPr>
            <p:cNvPr id="45083" name="Line 10"/>
            <p:cNvSpPr>
              <a:spLocks noChangeShapeType="1"/>
            </p:cNvSpPr>
            <p:nvPr/>
          </p:nvSpPr>
          <p:spPr bwMode="auto">
            <a:xfrm>
              <a:off x="2370" y="1763"/>
              <a:ext cx="151" cy="0"/>
            </a:xfrm>
            <a:prstGeom prst="line">
              <a:avLst/>
            </a:prstGeom>
            <a:noFill/>
            <a:ln w="9525">
              <a:solidFill>
                <a:srgbClr val="FF6600"/>
              </a:solidFill>
              <a:round/>
              <a:headEnd/>
              <a:tailEnd type="triangle" w="sm" len="med"/>
            </a:ln>
            <a:effectLst/>
          </p:spPr>
          <p:txBody>
            <a:bodyPr/>
            <a:lstStyle/>
            <a:p>
              <a:endParaRPr lang="zh-CN" altLang="en-US"/>
            </a:p>
          </p:txBody>
        </p:sp>
      </p:grpSp>
      <p:graphicFrame>
        <p:nvGraphicFramePr>
          <p:cNvPr id="129035" name="Object 11"/>
          <p:cNvGraphicFramePr>
            <a:graphicFrameLocks noChangeAspect="1"/>
          </p:cNvGraphicFramePr>
          <p:nvPr/>
        </p:nvGraphicFramePr>
        <p:xfrm>
          <a:off x="2232025" y="4616450"/>
          <a:ext cx="2767013" cy="522288"/>
        </p:xfrm>
        <a:graphic>
          <a:graphicData uri="http://schemas.openxmlformats.org/presentationml/2006/ole">
            <p:oleObj spid="_x0000_s45062" name="公式" r:id="rId5" imgW="1294920" imgH="236520" progId="Equation.3">
              <p:embed/>
            </p:oleObj>
          </a:graphicData>
        </a:graphic>
      </p:graphicFrame>
      <p:sp>
        <p:nvSpPr>
          <p:cNvPr id="129036" name="Rectangle 12"/>
          <p:cNvSpPr>
            <a:spLocks noChangeArrowheads="1"/>
          </p:cNvSpPr>
          <p:nvPr/>
        </p:nvSpPr>
        <p:spPr bwMode="auto">
          <a:xfrm>
            <a:off x="395288" y="4006850"/>
            <a:ext cx="8210550" cy="457200"/>
          </a:xfrm>
          <a:prstGeom prst="rect">
            <a:avLst/>
          </a:prstGeom>
          <a:noFill/>
          <a:ln w="9525">
            <a:noFill/>
            <a:miter lim="800000"/>
            <a:headEnd/>
            <a:tailEnd/>
          </a:ln>
          <a:effectLst/>
        </p:spPr>
        <p:txBody>
          <a:bodyPr>
            <a:spAutoFit/>
          </a:bodyPr>
          <a:lstStyle/>
          <a:p>
            <a:r>
              <a:rPr lang="en-US" altLang="zh-CN" b="1">
                <a:solidFill>
                  <a:schemeClr val="bg1"/>
                </a:solidFill>
              </a:rPr>
              <a:t>2. </a:t>
            </a:r>
            <a:r>
              <a:rPr lang="zh-CN" altLang="en-US" b="1">
                <a:solidFill>
                  <a:schemeClr val="bg1"/>
                </a:solidFill>
                <a:ea typeface="楷体_GB2312" pitchFamily="49" charset="-122"/>
              </a:rPr>
              <a:t>归一化条件</a:t>
            </a:r>
            <a:r>
              <a:rPr lang="zh-CN" altLang="en-US" b="1">
                <a:solidFill>
                  <a:schemeClr val="bg1"/>
                </a:solidFill>
              </a:rPr>
              <a:t> </a:t>
            </a:r>
            <a:r>
              <a:rPr lang="en-US" altLang="zh-CN" b="1">
                <a:solidFill>
                  <a:srgbClr val="006600"/>
                </a:solidFill>
                <a:latin typeface="楷体_GB2312" pitchFamily="49" charset="-122"/>
                <a:ea typeface="楷体_GB2312" pitchFamily="49" charset="-122"/>
              </a:rPr>
              <a:t>(</a:t>
            </a:r>
            <a:r>
              <a:rPr lang="zh-CN" altLang="en-US" b="1">
                <a:solidFill>
                  <a:srgbClr val="006600"/>
                </a:solidFill>
                <a:latin typeface="楷体_GB2312" pitchFamily="49" charset="-122"/>
                <a:ea typeface="楷体_GB2312" pitchFamily="49" charset="-122"/>
              </a:rPr>
              <a:t>粒子在整个空间出现的概率为</a:t>
            </a:r>
            <a:r>
              <a:rPr lang="en-US" altLang="zh-CN" b="1">
                <a:solidFill>
                  <a:srgbClr val="006600"/>
                </a:solidFill>
                <a:latin typeface="楷体_GB2312" pitchFamily="49" charset="-122"/>
                <a:ea typeface="楷体_GB2312" pitchFamily="49" charset="-122"/>
              </a:rPr>
              <a:t>1)</a:t>
            </a:r>
            <a:r>
              <a:rPr lang="en-US" altLang="zh-CN" b="1">
                <a:solidFill>
                  <a:srgbClr val="006600"/>
                </a:solidFill>
              </a:rPr>
              <a:t>  </a:t>
            </a:r>
          </a:p>
        </p:txBody>
      </p:sp>
      <p:sp>
        <p:nvSpPr>
          <p:cNvPr id="129037" name="Rectangle 13"/>
          <p:cNvSpPr>
            <a:spLocks noChangeArrowheads="1"/>
          </p:cNvSpPr>
          <p:nvPr/>
        </p:nvSpPr>
        <p:spPr bwMode="auto">
          <a:xfrm>
            <a:off x="395288" y="5341938"/>
            <a:ext cx="5707062" cy="457200"/>
          </a:xfrm>
          <a:prstGeom prst="rect">
            <a:avLst/>
          </a:prstGeom>
          <a:noFill/>
          <a:ln w="9525">
            <a:noFill/>
            <a:miter lim="800000"/>
            <a:headEnd/>
            <a:tailEnd/>
          </a:ln>
          <a:effectLst/>
        </p:spPr>
        <p:txBody>
          <a:bodyPr>
            <a:spAutoFit/>
          </a:bodyPr>
          <a:lstStyle/>
          <a:p>
            <a:r>
              <a:rPr lang="en-US" altLang="zh-CN" b="1">
                <a:solidFill>
                  <a:schemeClr val="bg1"/>
                </a:solidFill>
              </a:rPr>
              <a:t>3. </a:t>
            </a:r>
            <a:r>
              <a:rPr lang="zh-CN" altLang="en-US" b="1">
                <a:solidFill>
                  <a:schemeClr val="bg1"/>
                </a:solidFill>
                <a:ea typeface="楷体_GB2312" pitchFamily="49" charset="-122"/>
              </a:rPr>
              <a:t>波函数必须单值、有限、连续</a:t>
            </a:r>
          </a:p>
        </p:txBody>
      </p:sp>
      <p:sp>
        <p:nvSpPr>
          <p:cNvPr id="129038" name="Rectangle 14"/>
          <p:cNvSpPr>
            <a:spLocks noChangeArrowheads="1"/>
          </p:cNvSpPr>
          <p:nvPr/>
        </p:nvSpPr>
        <p:spPr bwMode="auto">
          <a:xfrm>
            <a:off x="684213" y="5903913"/>
            <a:ext cx="8188325" cy="457200"/>
          </a:xfrm>
          <a:prstGeom prst="rect">
            <a:avLst/>
          </a:prstGeom>
          <a:noFill/>
          <a:ln w="9525">
            <a:noFill/>
            <a:miter lim="800000"/>
            <a:headEnd/>
            <a:tailEnd/>
          </a:ln>
          <a:effectLst/>
        </p:spPr>
        <p:txBody>
          <a:bodyPr wrap="none">
            <a:spAutoFit/>
          </a:bodyPr>
          <a:lstStyle/>
          <a:p>
            <a:r>
              <a:rPr lang="zh-CN" altLang="en-US" b="1">
                <a:solidFill>
                  <a:schemeClr val="bg1"/>
                </a:solidFill>
                <a:latin typeface="楷体_GB2312" pitchFamily="49" charset="-122"/>
                <a:ea typeface="楷体_GB2312" pitchFamily="49" charset="-122"/>
              </a:rPr>
              <a:t>概率密度在任一处都是唯一、有限的</a:t>
            </a:r>
            <a:r>
              <a:rPr lang="en-US" altLang="zh-CN" b="1">
                <a:solidFill>
                  <a:schemeClr val="bg1"/>
                </a:solidFill>
                <a:latin typeface="楷体_GB2312" pitchFamily="49" charset="-122"/>
                <a:ea typeface="楷体_GB2312" pitchFamily="49" charset="-122"/>
              </a:rPr>
              <a:t>, </a:t>
            </a:r>
            <a:r>
              <a:rPr lang="zh-CN" altLang="en-US" b="1">
                <a:solidFill>
                  <a:schemeClr val="bg1"/>
                </a:solidFill>
                <a:latin typeface="楷体_GB2312" pitchFamily="49" charset="-122"/>
                <a:ea typeface="楷体_GB2312" pitchFamily="49" charset="-122"/>
              </a:rPr>
              <a:t>并在整个空间内连续</a:t>
            </a:r>
            <a:endParaRPr lang="zh-CN" altLang="en-US" b="1">
              <a:solidFill>
                <a:schemeClr val="bg1"/>
              </a:solidFill>
              <a:ea typeface="楷体_GB2312" pitchFamily="49" charset="-122"/>
            </a:endParaRPr>
          </a:p>
        </p:txBody>
      </p:sp>
      <p:grpSp>
        <p:nvGrpSpPr>
          <p:cNvPr id="129039" name="Group 15"/>
          <p:cNvGrpSpPr>
            <a:grpSpLocks/>
          </p:cNvGrpSpPr>
          <p:nvPr/>
        </p:nvGrpSpPr>
        <p:grpSpPr bwMode="auto">
          <a:xfrm>
            <a:off x="3903663" y="217488"/>
            <a:ext cx="4043362" cy="1366837"/>
            <a:chOff x="2193" y="127"/>
            <a:chExt cx="2547" cy="861"/>
          </a:xfrm>
        </p:grpSpPr>
        <p:sp>
          <p:nvSpPr>
            <p:cNvPr id="45067" name="Line 16"/>
            <p:cNvSpPr>
              <a:spLocks noChangeShapeType="1"/>
            </p:cNvSpPr>
            <p:nvPr/>
          </p:nvSpPr>
          <p:spPr bwMode="auto">
            <a:xfrm>
              <a:off x="2200" y="598"/>
              <a:ext cx="2494" cy="0"/>
            </a:xfrm>
            <a:prstGeom prst="line">
              <a:avLst/>
            </a:prstGeom>
            <a:noFill/>
            <a:ln w="19050">
              <a:solidFill>
                <a:schemeClr val="bg1"/>
              </a:solidFill>
              <a:prstDash val="lgDashDot"/>
              <a:round/>
              <a:headEnd/>
              <a:tailEnd/>
            </a:ln>
            <a:effectLst/>
          </p:spPr>
          <p:txBody>
            <a:bodyPr/>
            <a:lstStyle/>
            <a:p>
              <a:endParaRPr lang="zh-CN" altLang="en-US"/>
            </a:p>
          </p:txBody>
        </p:sp>
        <p:sp>
          <p:nvSpPr>
            <p:cNvPr id="45068" name="Rectangle 17"/>
            <p:cNvSpPr>
              <a:spLocks noChangeArrowheads="1"/>
            </p:cNvSpPr>
            <p:nvPr/>
          </p:nvSpPr>
          <p:spPr bwMode="auto">
            <a:xfrm>
              <a:off x="3017" y="354"/>
              <a:ext cx="46" cy="499"/>
            </a:xfrm>
            <a:prstGeom prst="rect">
              <a:avLst/>
            </a:prstGeom>
            <a:solidFill>
              <a:schemeClr val="accent1"/>
            </a:solidFill>
            <a:ln w="228600">
              <a:solidFill>
                <a:srgbClr val="FF9900"/>
              </a:solidFill>
              <a:miter lim="800000"/>
              <a:headEnd/>
              <a:tailEnd/>
            </a:ln>
            <a:effectLst/>
          </p:spPr>
          <p:txBody>
            <a:bodyPr wrap="none" anchor="ctr"/>
            <a:lstStyle/>
            <a:p>
              <a:endParaRPr lang="zh-CN" altLang="en-US"/>
            </a:p>
          </p:txBody>
        </p:sp>
        <p:sp>
          <p:nvSpPr>
            <p:cNvPr id="45069" name="Rectangle 18"/>
            <p:cNvSpPr>
              <a:spLocks noChangeArrowheads="1"/>
            </p:cNvSpPr>
            <p:nvPr/>
          </p:nvSpPr>
          <p:spPr bwMode="auto">
            <a:xfrm>
              <a:off x="2941" y="544"/>
              <a:ext cx="199" cy="100"/>
            </a:xfrm>
            <a:prstGeom prst="rect">
              <a:avLst/>
            </a:prstGeom>
            <a:solidFill>
              <a:schemeClr val="accent1"/>
            </a:solidFill>
            <a:ln w="9525">
              <a:noFill/>
              <a:miter lim="800000"/>
              <a:headEnd/>
              <a:tailEnd/>
            </a:ln>
            <a:effectLst/>
          </p:spPr>
          <p:txBody>
            <a:bodyPr wrap="none" anchor="ctr"/>
            <a:lstStyle/>
            <a:p>
              <a:endParaRPr lang="zh-CN" altLang="en-US"/>
            </a:p>
          </p:txBody>
        </p:sp>
        <p:grpSp>
          <p:nvGrpSpPr>
            <p:cNvPr id="45070" name="Group 19"/>
            <p:cNvGrpSpPr>
              <a:grpSpLocks noChangeAspect="1"/>
            </p:cNvGrpSpPr>
            <p:nvPr/>
          </p:nvGrpSpPr>
          <p:grpSpPr bwMode="auto">
            <a:xfrm>
              <a:off x="2193" y="565"/>
              <a:ext cx="52" cy="52"/>
              <a:chOff x="830" y="509"/>
              <a:chExt cx="136" cy="136"/>
            </a:xfrm>
          </p:grpSpPr>
          <p:sp>
            <p:nvSpPr>
              <p:cNvPr id="45080" name="Oval 20"/>
              <p:cNvSpPr>
                <a:spLocks noChangeAspect="1" noChangeArrowheads="1"/>
              </p:cNvSpPr>
              <p:nvPr/>
            </p:nvSpPr>
            <p:spPr bwMode="auto">
              <a:xfrm>
                <a:off x="830" y="509"/>
                <a:ext cx="136" cy="136"/>
              </a:xfrm>
              <a:prstGeom prst="ellipse">
                <a:avLst/>
              </a:prstGeom>
              <a:solidFill>
                <a:schemeClr val="accent2"/>
              </a:solidFill>
              <a:ln w="9525">
                <a:solidFill>
                  <a:schemeClr val="tx1"/>
                </a:solidFill>
                <a:round/>
                <a:headEnd/>
                <a:tailEnd/>
              </a:ln>
              <a:effectLst/>
            </p:spPr>
            <p:txBody>
              <a:bodyPr wrap="none" anchor="ctr"/>
              <a:lstStyle/>
              <a:p>
                <a:endParaRPr lang="zh-CN" altLang="en-US"/>
              </a:p>
            </p:txBody>
          </p:sp>
          <p:sp>
            <p:nvSpPr>
              <p:cNvPr id="45081" name="Line 21"/>
              <p:cNvSpPr>
                <a:spLocks noChangeAspect="1" noChangeShapeType="1"/>
              </p:cNvSpPr>
              <p:nvPr/>
            </p:nvSpPr>
            <p:spPr bwMode="auto">
              <a:xfrm>
                <a:off x="865" y="572"/>
                <a:ext cx="56" cy="0"/>
              </a:xfrm>
              <a:prstGeom prst="line">
                <a:avLst/>
              </a:prstGeom>
              <a:noFill/>
              <a:ln w="28575">
                <a:solidFill>
                  <a:schemeClr val="bg1"/>
                </a:solidFill>
                <a:round/>
                <a:headEnd/>
                <a:tailEnd/>
              </a:ln>
              <a:effectLst/>
            </p:spPr>
            <p:txBody>
              <a:bodyPr/>
              <a:lstStyle/>
              <a:p>
                <a:endParaRPr lang="zh-CN" altLang="en-US"/>
              </a:p>
            </p:txBody>
          </p:sp>
        </p:grpSp>
        <p:grpSp>
          <p:nvGrpSpPr>
            <p:cNvPr id="45071" name="Group 22"/>
            <p:cNvGrpSpPr>
              <a:grpSpLocks noChangeAspect="1"/>
            </p:cNvGrpSpPr>
            <p:nvPr/>
          </p:nvGrpSpPr>
          <p:grpSpPr bwMode="auto">
            <a:xfrm>
              <a:off x="2472" y="565"/>
              <a:ext cx="52" cy="52"/>
              <a:chOff x="830" y="509"/>
              <a:chExt cx="136" cy="136"/>
            </a:xfrm>
          </p:grpSpPr>
          <p:sp>
            <p:nvSpPr>
              <p:cNvPr id="45078" name="Oval 23"/>
              <p:cNvSpPr>
                <a:spLocks noChangeAspect="1" noChangeArrowheads="1"/>
              </p:cNvSpPr>
              <p:nvPr/>
            </p:nvSpPr>
            <p:spPr bwMode="auto">
              <a:xfrm>
                <a:off x="830" y="509"/>
                <a:ext cx="136" cy="136"/>
              </a:xfrm>
              <a:prstGeom prst="ellipse">
                <a:avLst/>
              </a:prstGeom>
              <a:solidFill>
                <a:schemeClr val="accent2"/>
              </a:solidFill>
              <a:ln w="9525">
                <a:solidFill>
                  <a:schemeClr val="tx1"/>
                </a:solidFill>
                <a:round/>
                <a:headEnd/>
                <a:tailEnd/>
              </a:ln>
              <a:effectLst/>
            </p:spPr>
            <p:txBody>
              <a:bodyPr wrap="none" anchor="ctr"/>
              <a:lstStyle/>
              <a:p>
                <a:endParaRPr lang="zh-CN" altLang="en-US"/>
              </a:p>
            </p:txBody>
          </p:sp>
          <p:sp>
            <p:nvSpPr>
              <p:cNvPr id="45079" name="Line 24"/>
              <p:cNvSpPr>
                <a:spLocks noChangeAspect="1" noChangeShapeType="1"/>
              </p:cNvSpPr>
              <p:nvPr/>
            </p:nvSpPr>
            <p:spPr bwMode="auto">
              <a:xfrm>
                <a:off x="865" y="572"/>
                <a:ext cx="56" cy="0"/>
              </a:xfrm>
              <a:prstGeom prst="line">
                <a:avLst/>
              </a:prstGeom>
              <a:noFill/>
              <a:ln w="28575">
                <a:solidFill>
                  <a:schemeClr val="bg1"/>
                </a:solidFill>
                <a:round/>
                <a:headEnd/>
                <a:tailEnd/>
              </a:ln>
              <a:effectLst/>
            </p:spPr>
            <p:txBody>
              <a:bodyPr/>
              <a:lstStyle/>
              <a:p>
                <a:endParaRPr lang="zh-CN" altLang="en-US"/>
              </a:p>
            </p:txBody>
          </p:sp>
        </p:grpSp>
        <p:grpSp>
          <p:nvGrpSpPr>
            <p:cNvPr id="45072" name="Group 25"/>
            <p:cNvGrpSpPr>
              <a:grpSpLocks noChangeAspect="1"/>
            </p:cNvGrpSpPr>
            <p:nvPr/>
          </p:nvGrpSpPr>
          <p:grpSpPr bwMode="auto">
            <a:xfrm>
              <a:off x="2745" y="574"/>
              <a:ext cx="52" cy="52"/>
              <a:chOff x="830" y="509"/>
              <a:chExt cx="136" cy="136"/>
            </a:xfrm>
          </p:grpSpPr>
          <p:sp>
            <p:nvSpPr>
              <p:cNvPr id="45076" name="Oval 26"/>
              <p:cNvSpPr>
                <a:spLocks noChangeAspect="1" noChangeArrowheads="1"/>
              </p:cNvSpPr>
              <p:nvPr/>
            </p:nvSpPr>
            <p:spPr bwMode="auto">
              <a:xfrm>
                <a:off x="830" y="509"/>
                <a:ext cx="136" cy="136"/>
              </a:xfrm>
              <a:prstGeom prst="ellipse">
                <a:avLst/>
              </a:prstGeom>
              <a:solidFill>
                <a:schemeClr val="accent2"/>
              </a:solidFill>
              <a:ln w="9525">
                <a:solidFill>
                  <a:schemeClr val="tx1"/>
                </a:solidFill>
                <a:round/>
                <a:headEnd/>
                <a:tailEnd/>
              </a:ln>
              <a:effectLst/>
            </p:spPr>
            <p:txBody>
              <a:bodyPr wrap="none" anchor="ctr"/>
              <a:lstStyle/>
              <a:p>
                <a:endParaRPr lang="zh-CN" altLang="en-US"/>
              </a:p>
            </p:txBody>
          </p:sp>
          <p:sp>
            <p:nvSpPr>
              <p:cNvPr id="45077" name="Line 27"/>
              <p:cNvSpPr>
                <a:spLocks noChangeAspect="1" noChangeShapeType="1"/>
              </p:cNvSpPr>
              <p:nvPr/>
            </p:nvSpPr>
            <p:spPr bwMode="auto">
              <a:xfrm>
                <a:off x="865" y="572"/>
                <a:ext cx="56" cy="0"/>
              </a:xfrm>
              <a:prstGeom prst="line">
                <a:avLst/>
              </a:prstGeom>
              <a:noFill/>
              <a:ln w="28575">
                <a:solidFill>
                  <a:schemeClr val="bg1"/>
                </a:solidFill>
                <a:round/>
                <a:headEnd/>
                <a:tailEnd/>
              </a:ln>
              <a:effectLst/>
            </p:spPr>
            <p:txBody>
              <a:bodyPr/>
              <a:lstStyle/>
              <a:p>
                <a:endParaRPr lang="zh-CN" altLang="en-US"/>
              </a:p>
            </p:txBody>
          </p:sp>
        </p:grpSp>
        <p:sp>
          <p:nvSpPr>
            <p:cNvPr id="45073" name="Line 28"/>
            <p:cNvSpPr>
              <a:spLocks noChangeShapeType="1"/>
            </p:cNvSpPr>
            <p:nvPr/>
          </p:nvSpPr>
          <p:spPr bwMode="auto">
            <a:xfrm>
              <a:off x="4740" y="216"/>
              <a:ext cx="0" cy="772"/>
            </a:xfrm>
            <a:prstGeom prst="line">
              <a:avLst/>
            </a:prstGeom>
            <a:noFill/>
            <a:ln w="57150">
              <a:solidFill>
                <a:srgbClr val="0000FF"/>
              </a:solidFill>
              <a:round/>
              <a:headEnd/>
              <a:tailEnd/>
            </a:ln>
            <a:effectLst/>
          </p:spPr>
          <p:txBody>
            <a:bodyPr/>
            <a:lstStyle/>
            <a:p>
              <a:endParaRPr lang="zh-CN" altLang="en-US"/>
            </a:p>
          </p:txBody>
        </p:sp>
        <p:sp>
          <p:nvSpPr>
            <p:cNvPr id="45074" name="Line 29"/>
            <p:cNvSpPr>
              <a:spLocks noChangeShapeType="1"/>
            </p:cNvSpPr>
            <p:nvPr/>
          </p:nvSpPr>
          <p:spPr bwMode="auto">
            <a:xfrm flipV="1">
              <a:off x="3143" y="200"/>
              <a:ext cx="0" cy="725"/>
            </a:xfrm>
            <a:prstGeom prst="line">
              <a:avLst/>
            </a:prstGeom>
            <a:noFill/>
            <a:ln w="19050">
              <a:solidFill>
                <a:schemeClr val="tx2"/>
              </a:solidFill>
              <a:round/>
              <a:headEnd/>
              <a:tailEnd type="triangle" w="med" len="med"/>
            </a:ln>
            <a:effectLst/>
          </p:spPr>
          <p:txBody>
            <a:bodyPr/>
            <a:lstStyle/>
            <a:p>
              <a:endParaRPr lang="zh-CN" altLang="en-US"/>
            </a:p>
          </p:txBody>
        </p:sp>
        <p:sp>
          <p:nvSpPr>
            <p:cNvPr id="45075" name="Text Box 30"/>
            <p:cNvSpPr txBox="1">
              <a:spLocks noChangeArrowheads="1"/>
            </p:cNvSpPr>
            <p:nvPr/>
          </p:nvSpPr>
          <p:spPr bwMode="auto">
            <a:xfrm>
              <a:off x="3197" y="127"/>
              <a:ext cx="188" cy="231"/>
            </a:xfrm>
            <a:prstGeom prst="rect">
              <a:avLst/>
            </a:prstGeom>
            <a:noFill/>
            <a:ln w="9525">
              <a:noFill/>
              <a:miter lim="800000"/>
              <a:headEnd/>
              <a:tailEnd/>
            </a:ln>
            <a:effectLst/>
          </p:spPr>
          <p:txBody>
            <a:bodyPr wrap="none">
              <a:spAutoFit/>
            </a:bodyPr>
            <a:lstStyle/>
            <a:p>
              <a:r>
                <a:rPr kumimoji="0" lang="en-US" altLang="zh-CN" sz="1800" b="1" i="1">
                  <a:solidFill>
                    <a:schemeClr val="hlink"/>
                  </a:solidFill>
                </a:rPr>
                <a:t>x</a:t>
              </a:r>
            </a:p>
          </p:txBody>
        </p:sp>
      </p:gr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026"/>
                                        </p:tgtEl>
                                        <p:attrNameLst>
                                          <p:attrName>style.visibility</p:attrName>
                                        </p:attrNameLst>
                                      </p:cBhvr>
                                      <p:to>
                                        <p:strVal val="visible"/>
                                      </p:to>
                                    </p:set>
                                    <p:animEffect transition="in" filter="wipe(left)">
                                      <p:cBhvr>
                                        <p:cTn id="7" dur="500"/>
                                        <p:tgtEl>
                                          <p:spTgt spid="1290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9029"/>
                                        </p:tgtEl>
                                        <p:attrNameLst>
                                          <p:attrName>style.visibility</p:attrName>
                                        </p:attrNameLst>
                                      </p:cBhvr>
                                      <p:to>
                                        <p:strVal val="visible"/>
                                      </p:to>
                                    </p:set>
                                    <p:animEffect transition="in" filter="wipe(left)">
                                      <p:cBhvr>
                                        <p:cTn id="12" dur="500"/>
                                        <p:tgtEl>
                                          <p:spTgt spid="1290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9039"/>
                                        </p:tgtEl>
                                        <p:attrNameLst>
                                          <p:attrName>style.visibility</p:attrName>
                                        </p:attrNameLst>
                                      </p:cBhvr>
                                      <p:to>
                                        <p:strVal val="visible"/>
                                      </p:to>
                                    </p:set>
                                    <p:animEffect transition="in" filter="wipe(left)">
                                      <p:cBhvr>
                                        <p:cTn id="17" dur="500"/>
                                        <p:tgtEl>
                                          <p:spTgt spid="1290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29055"/>
                                        </p:tgtEl>
                                        <p:attrNameLst>
                                          <p:attrName>style.visibility</p:attrName>
                                        </p:attrNameLst>
                                      </p:cBhvr>
                                      <p:to>
                                        <p:strVal val="visible"/>
                                      </p:to>
                                    </p:set>
                                    <p:animEffect transition="in" filter="wipe(left)">
                                      <p:cBhvr>
                                        <p:cTn id="22" dur="500"/>
                                        <p:tgtEl>
                                          <p:spTgt spid="1290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29031"/>
                                        </p:tgtEl>
                                        <p:attrNameLst>
                                          <p:attrName>style.visibility</p:attrName>
                                        </p:attrNameLst>
                                      </p:cBhvr>
                                      <p:to>
                                        <p:strVal val="visible"/>
                                      </p:to>
                                    </p:set>
                                    <p:animEffect transition="in" filter="wipe(left)">
                                      <p:cBhvr>
                                        <p:cTn id="27" dur="500"/>
                                        <p:tgtEl>
                                          <p:spTgt spid="1290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9036"/>
                                        </p:tgtEl>
                                        <p:attrNameLst>
                                          <p:attrName>style.visibility</p:attrName>
                                        </p:attrNameLst>
                                      </p:cBhvr>
                                      <p:to>
                                        <p:strVal val="visible"/>
                                      </p:to>
                                    </p:set>
                                    <p:animEffect transition="in" filter="wipe(left)">
                                      <p:cBhvr>
                                        <p:cTn id="32" dur="500"/>
                                        <p:tgtEl>
                                          <p:spTgt spid="1290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29035"/>
                                        </p:tgtEl>
                                        <p:attrNameLst>
                                          <p:attrName>style.visibility</p:attrName>
                                        </p:attrNameLst>
                                      </p:cBhvr>
                                      <p:to>
                                        <p:strVal val="visible"/>
                                      </p:to>
                                    </p:set>
                                    <p:animEffect transition="in" filter="wipe(left)">
                                      <p:cBhvr>
                                        <p:cTn id="37" dur="500"/>
                                        <p:tgtEl>
                                          <p:spTgt spid="1290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9037"/>
                                        </p:tgtEl>
                                        <p:attrNameLst>
                                          <p:attrName>style.visibility</p:attrName>
                                        </p:attrNameLst>
                                      </p:cBhvr>
                                      <p:to>
                                        <p:strVal val="visible"/>
                                      </p:to>
                                    </p:set>
                                    <p:animEffect transition="in" filter="wipe(left)">
                                      <p:cBhvr>
                                        <p:cTn id="42" dur="500"/>
                                        <p:tgtEl>
                                          <p:spTgt spid="12903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9038"/>
                                        </p:tgtEl>
                                        <p:attrNameLst>
                                          <p:attrName>style.visibility</p:attrName>
                                        </p:attrNameLst>
                                      </p:cBhvr>
                                      <p:to>
                                        <p:strVal val="visible"/>
                                      </p:to>
                                    </p:set>
                                    <p:animEffect transition="in" filter="wipe(left)">
                                      <p:cBhvr>
                                        <p:cTn id="47" dur="500"/>
                                        <p:tgtEl>
                                          <p:spTgt spid="129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p:bldP spid="129029" grpId="0" animBg="1"/>
      <p:bldP spid="129036" grpId="0"/>
      <p:bldP spid="129037" grpId="0"/>
      <p:bldP spid="12903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1108075" y="1970088"/>
            <a:ext cx="6697663" cy="3197225"/>
          </a:xfrm>
          <a:prstGeom prst="rect">
            <a:avLst/>
          </a:prstGeom>
          <a:solidFill>
            <a:srgbClr val="4D4D4D"/>
          </a:solidFill>
          <a:ln w="9525">
            <a:solidFill>
              <a:schemeClr val="tx1"/>
            </a:solidFill>
            <a:miter lim="800000"/>
            <a:headEnd/>
            <a:tailEnd/>
          </a:ln>
          <a:effectLst/>
        </p:spPr>
        <p:txBody>
          <a:bodyPr wrap="none" anchor="ctr"/>
          <a:lstStyle/>
          <a:p>
            <a:endParaRPr lang="zh-CN" altLang="en-US"/>
          </a:p>
        </p:txBody>
      </p:sp>
      <p:pic>
        <p:nvPicPr>
          <p:cNvPr id="130051" name="Picture 3" descr="未标题-1 副本"/>
          <p:cNvPicPr>
            <a:picLocks noChangeAspect="1" noChangeArrowheads="1"/>
          </p:cNvPicPr>
          <p:nvPr/>
        </p:nvPicPr>
        <p:blipFill>
          <a:blip r:embed="rId3"/>
          <a:srcRect r="845" b="3271"/>
          <a:stretch>
            <a:fillRect/>
          </a:stretch>
        </p:blipFill>
        <p:spPr bwMode="auto">
          <a:xfrm>
            <a:off x="1108075" y="2019300"/>
            <a:ext cx="6697663" cy="3097213"/>
          </a:xfrm>
          <a:prstGeom prst="rect">
            <a:avLst/>
          </a:prstGeom>
          <a:noFill/>
          <a:ln w="9525">
            <a:noFill/>
            <a:miter lim="800000"/>
            <a:headEnd/>
            <a:tailEnd/>
          </a:ln>
        </p:spPr>
      </p:pic>
      <p:pic>
        <p:nvPicPr>
          <p:cNvPr id="130052" name="Picture 4" descr="电子干涉5"/>
          <p:cNvPicPr>
            <a:picLocks noChangeAspect="1" noChangeArrowheads="1"/>
          </p:cNvPicPr>
          <p:nvPr/>
        </p:nvPicPr>
        <p:blipFill>
          <a:blip r:embed="rId4"/>
          <a:srcRect t="2142"/>
          <a:stretch>
            <a:fillRect/>
          </a:stretch>
        </p:blipFill>
        <p:spPr bwMode="auto">
          <a:xfrm>
            <a:off x="1077913" y="1966913"/>
            <a:ext cx="6757987" cy="3262312"/>
          </a:xfrm>
          <a:prstGeom prst="rect">
            <a:avLst/>
          </a:prstGeom>
          <a:noFill/>
          <a:ln w="9525">
            <a:noFill/>
            <a:miter lim="800000"/>
            <a:headEnd/>
            <a:tailEnd/>
          </a:ln>
        </p:spPr>
      </p:pic>
      <p:pic>
        <p:nvPicPr>
          <p:cNvPr id="130053" name="Picture 5" descr="电子干涉3"/>
          <p:cNvPicPr>
            <a:picLocks noChangeAspect="1" noChangeArrowheads="1"/>
          </p:cNvPicPr>
          <p:nvPr/>
        </p:nvPicPr>
        <p:blipFill>
          <a:blip r:embed="rId5"/>
          <a:srcRect b="2350"/>
          <a:stretch>
            <a:fillRect/>
          </a:stretch>
        </p:blipFill>
        <p:spPr bwMode="auto">
          <a:xfrm>
            <a:off x="1079500" y="1985963"/>
            <a:ext cx="6754813" cy="3167062"/>
          </a:xfrm>
          <a:prstGeom prst="rect">
            <a:avLst/>
          </a:prstGeom>
          <a:noFill/>
          <a:ln w="9525">
            <a:noFill/>
            <a:miter lim="800000"/>
            <a:headEnd/>
            <a:tailEnd/>
          </a:ln>
        </p:spPr>
      </p:pic>
      <p:pic>
        <p:nvPicPr>
          <p:cNvPr id="130054" name="Picture 6" descr="电子干涉4"/>
          <p:cNvPicPr>
            <a:picLocks noChangeAspect="1" noChangeArrowheads="1"/>
          </p:cNvPicPr>
          <p:nvPr/>
        </p:nvPicPr>
        <p:blipFill>
          <a:blip r:embed="rId6"/>
          <a:srcRect b="4459"/>
          <a:stretch>
            <a:fillRect/>
          </a:stretch>
        </p:blipFill>
        <p:spPr bwMode="auto">
          <a:xfrm>
            <a:off x="1077913" y="2020888"/>
            <a:ext cx="6757987" cy="3095625"/>
          </a:xfrm>
          <a:prstGeom prst="rect">
            <a:avLst/>
          </a:prstGeom>
          <a:noFill/>
          <a:ln w="9525">
            <a:noFill/>
            <a:miter lim="800000"/>
            <a:headEnd/>
            <a:tailEnd/>
          </a:ln>
        </p:spPr>
      </p:pic>
      <p:pic>
        <p:nvPicPr>
          <p:cNvPr id="130055" name="Picture 7" descr="电子干涉5"/>
          <p:cNvPicPr>
            <a:picLocks noChangeAspect="1" noChangeArrowheads="1"/>
          </p:cNvPicPr>
          <p:nvPr/>
        </p:nvPicPr>
        <p:blipFill>
          <a:blip r:embed="rId7"/>
          <a:srcRect/>
          <a:stretch>
            <a:fillRect/>
          </a:stretch>
        </p:blipFill>
        <p:spPr bwMode="auto">
          <a:xfrm>
            <a:off x="1144588" y="1946275"/>
            <a:ext cx="6667500" cy="3282950"/>
          </a:xfrm>
          <a:prstGeom prst="rect">
            <a:avLst/>
          </a:prstGeom>
          <a:noFill/>
          <a:ln w="9525">
            <a:noFill/>
            <a:miter lim="800000"/>
            <a:headEnd/>
            <a:tailEnd/>
          </a:ln>
        </p:spPr>
      </p:pic>
      <p:sp>
        <p:nvSpPr>
          <p:cNvPr id="130056" name="Text Box 8"/>
          <p:cNvSpPr txBox="1">
            <a:spLocks noChangeArrowheads="1"/>
          </p:cNvSpPr>
          <p:nvPr/>
        </p:nvSpPr>
        <p:spPr bwMode="auto">
          <a:xfrm>
            <a:off x="3332163" y="5765800"/>
            <a:ext cx="2286000" cy="457200"/>
          </a:xfrm>
          <a:prstGeom prst="rect">
            <a:avLst/>
          </a:prstGeom>
          <a:solidFill>
            <a:srgbClr val="006699"/>
          </a:solidFill>
          <a:ln w="9525">
            <a:noFill/>
            <a:miter lim="800000"/>
            <a:headEnd/>
            <a:tailEnd/>
          </a:ln>
          <a:effectLst/>
        </p:spPr>
        <p:txBody>
          <a:bodyPr>
            <a:spAutoFit/>
          </a:bodyPr>
          <a:lstStyle/>
          <a:p>
            <a:r>
              <a:rPr lang="zh-CN" altLang="en-US" b="1">
                <a:solidFill>
                  <a:srgbClr val="00FFFF"/>
                </a:solidFill>
              </a:rPr>
              <a:t>电子数 </a:t>
            </a:r>
            <a:r>
              <a:rPr lang="en-US" altLang="zh-CN" b="1">
                <a:solidFill>
                  <a:srgbClr val="00FFFF"/>
                </a:solidFill>
              </a:rPr>
              <a:t>N=7</a:t>
            </a:r>
          </a:p>
        </p:txBody>
      </p:sp>
      <p:sp>
        <p:nvSpPr>
          <p:cNvPr id="130057" name="Text Box 9"/>
          <p:cNvSpPr txBox="1">
            <a:spLocks noChangeArrowheads="1"/>
          </p:cNvSpPr>
          <p:nvPr/>
        </p:nvSpPr>
        <p:spPr bwMode="auto">
          <a:xfrm>
            <a:off x="3332163" y="5765800"/>
            <a:ext cx="2590800" cy="457200"/>
          </a:xfrm>
          <a:prstGeom prst="rect">
            <a:avLst/>
          </a:prstGeom>
          <a:solidFill>
            <a:srgbClr val="006699"/>
          </a:solidFill>
          <a:ln w="9525">
            <a:noFill/>
            <a:miter lim="800000"/>
            <a:headEnd/>
            <a:tailEnd/>
          </a:ln>
          <a:effectLst/>
        </p:spPr>
        <p:txBody>
          <a:bodyPr>
            <a:spAutoFit/>
          </a:bodyPr>
          <a:lstStyle/>
          <a:p>
            <a:r>
              <a:rPr lang="zh-CN" altLang="en-US" b="1">
                <a:solidFill>
                  <a:srgbClr val="00FFFF"/>
                </a:solidFill>
              </a:rPr>
              <a:t>电子数 </a:t>
            </a:r>
            <a:r>
              <a:rPr lang="en-US" altLang="zh-CN" b="1">
                <a:solidFill>
                  <a:srgbClr val="00FFFF"/>
                </a:solidFill>
              </a:rPr>
              <a:t>N=100</a:t>
            </a:r>
          </a:p>
        </p:txBody>
      </p:sp>
      <p:sp>
        <p:nvSpPr>
          <p:cNvPr id="130058" name="Text Box 10"/>
          <p:cNvSpPr txBox="1">
            <a:spLocks noChangeArrowheads="1"/>
          </p:cNvSpPr>
          <p:nvPr/>
        </p:nvSpPr>
        <p:spPr bwMode="auto">
          <a:xfrm>
            <a:off x="3332163" y="5765800"/>
            <a:ext cx="2590800" cy="457200"/>
          </a:xfrm>
          <a:prstGeom prst="rect">
            <a:avLst/>
          </a:prstGeom>
          <a:solidFill>
            <a:srgbClr val="006699"/>
          </a:solidFill>
          <a:ln w="9525">
            <a:noFill/>
            <a:miter lim="800000"/>
            <a:headEnd/>
            <a:tailEnd/>
          </a:ln>
          <a:effectLst/>
        </p:spPr>
        <p:txBody>
          <a:bodyPr>
            <a:spAutoFit/>
          </a:bodyPr>
          <a:lstStyle/>
          <a:p>
            <a:r>
              <a:rPr lang="zh-CN" altLang="en-US" b="1">
                <a:solidFill>
                  <a:srgbClr val="00FFFF"/>
                </a:solidFill>
              </a:rPr>
              <a:t>电子数 </a:t>
            </a:r>
            <a:r>
              <a:rPr lang="en-US" altLang="zh-CN" b="1">
                <a:solidFill>
                  <a:srgbClr val="00FFFF"/>
                </a:solidFill>
              </a:rPr>
              <a:t>N=3000</a:t>
            </a:r>
          </a:p>
        </p:txBody>
      </p:sp>
      <p:sp>
        <p:nvSpPr>
          <p:cNvPr id="130059" name="Text Box 11"/>
          <p:cNvSpPr txBox="1">
            <a:spLocks noChangeArrowheads="1"/>
          </p:cNvSpPr>
          <p:nvPr/>
        </p:nvSpPr>
        <p:spPr bwMode="auto">
          <a:xfrm>
            <a:off x="3332163" y="5765800"/>
            <a:ext cx="2895600" cy="457200"/>
          </a:xfrm>
          <a:prstGeom prst="rect">
            <a:avLst/>
          </a:prstGeom>
          <a:solidFill>
            <a:srgbClr val="006699"/>
          </a:solidFill>
          <a:ln w="9525">
            <a:noFill/>
            <a:miter lim="800000"/>
            <a:headEnd/>
            <a:tailEnd/>
          </a:ln>
          <a:effectLst/>
        </p:spPr>
        <p:txBody>
          <a:bodyPr>
            <a:spAutoFit/>
          </a:bodyPr>
          <a:lstStyle/>
          <a:p>
            <a:r>
              <a:rPr lang="zh-CN" altLang="en-US" b="1">
                <a:solidFill>
                  <a:srgbClr val="00FFFF"/>
                </a:solidFill>
              </a:rPr>
              <a:t>电子数 </a:t>
            </a:r>
            <a:r>
              <a:rPr lang="en-US" altLang="zh-CN" b="1">
                <a:solidFill>
                  <a:srgbClr val="00FFFF"/>
                </a:solidFill>
              </a:rPr>
              <a:t>N=20000</a:t>
            </a:r>
          </a:p>
        </p:txBody>
      </p:sp>
      <p:sp>
        <p:nvSpPr>
          <p:cNvPr id="130060" name="Text Box 12"/>
          <p:cNvSpPr txBox="1">
            <a:spLocks noChangeArrowheads="1"/>
          </p:cNvSpPr>
          <p:nvPr/>
        </p:nvSpPr>
        <p:spPr bwMode="auto">
          <a:xfrm>
            <a:off x="3311525" y="5768975"/>
            <a:ext cx="2895600" cy="457200"/>
          </a:xfrm>
          <a:prstGeom prst="rect">
            <a:avLst/>
          </a:prstGeom>
          <a:solidFill>
            <a:srgbClr val="006699"/>
          </a:solidFill>
          <a:ln w="9525">
            <a:noFill/>
            <a:miter lim="800000"/>
            <a:headEnd/>
            <a:tailEnd/>
          </a:ln>
          <a:effectLst/>
        </p:spPr>
        <p:txBody>
          <a:bodyPr>
            <a:spAutoFit/>
          </a:bodyPr>
          <a:lstStyle/>
          <a:p>
            <a:r>
              <a:rPr lang="zh-CN" altLang="en-US" b="1">
                <a:solidFill>
                  <a:srgbClr val="00FFFF"/>
                </a:solidFill>
              </a:rPr>
              <a:t>电子数 </a:t>
            </a:r>
            <a:r>
              <a:rPr lang="en-US" altLang="zh-CN" b="1">
                <a:solidFill>
                  <a:srgbClr val="00FFFF"/>
                </a:solidFill>
              </a:rPr>
              <a:t>N=70000</a:t>
            </a:r>
          </a:p>
        </p:txBody>
      </p:sp>
      <p:sp>
        <p:nvSpPr>
          <p:cNvPr id="130061" name="Text Box 13"/>
          <p:cNvSpPr txBox="1">
            <a:spLocks noChangeArrowheads="1"/>
          </p:cNvSpPr>
          <p:nvPr/>
        </p:nvSpPr>
        <p:spPr bwMode="auto">
          <a:xfrm>
            <a:off x="684213" y="571500"/>
            <a:ext cx="5562600" cy="457200"/>
          </a:xfrm>
          <a:prstGeom prst="rect">
            <a:avLst/>
          </a:prstGeom>
          <a:noFill/>
          <a:ln w="9525">
            <a:noFill/>
            <a:miter lim="800000"/>
            <a:headEnd/>
            <a:tailEnd/>
          </a:ln>
          <a:effectLst/>
        </p:spPr>
        <p:txBody>
          <a:bodyPr>
            <a:spAutoFit/>
          </a:bodyPr>
          <a:lstStyle/>
          <a:p>
            <a:r>
              <a:rPr lang="zh-CN" altLang="en-US" b="1">
                <a:solidFill>
                  <a:schemeClr val="accent2"/>
                </a:solidFill>
                <a:latin typeface="宋体" charset="-122"/>
              </a:rPr>
              <a:t>单个粒子</a:t>
            </a:r>
            <a:r>
              <a:rPr lang="zh-CN" altLang="en-US" b="1">
                <a:solidFill>
                  <a:schemeClr val="bg1"/>
                </a:solidFill>
                <a:latin typeface="宋体" charset="-122"/>
              </a:rPr>
              <a:t>在哪一处出现是</a:t>
            </a:r>
            <a:r>
              <a:rPr lang="zh-CN" altLang="en-US" b="1">
                <a:solidFill>
                  <a:schemeClr val="accent2"/>
                </a:solidFill>
                <a:latin typeface="宋体" charset="-122"/>
              </a:rPr>
              <a:t>偶然事件</a:t>
            </a:r>
            <a:r>
              <a:rPr lang="zh-CN" altLang="en-US" b="1">
                <a:solidFill>
                  <a:schemeClr val="bg1"/>
                </a:solidFill>
                <a:latin typeface="宋体" charset="-122"/>
              </a:rPr>
              <a:t>；</a:t>
            </a:r>
          </a:p>
        </p:txBody>
      </p:sp>
      <p:sp>
        <p:nvSpPr>
          <p:cNvPr id="46094" name="Text Box 14"/>
          <p:cNvSpPr txBox="1">
            <a:spLocks noChangeArrowheads="1"/>
          </p:cNvSpPr>
          <p:nvPr/>
        </p:nvSpPr>
        <p:spPr bwMode="auto">
          <a:xfrm>
            <a:off x="344488" y="539750"/>
            <a:ext cx="539750" cy="519113"/>
          </a:xfrm>
          <a:prstGeom prst="rect">
            <a:avLst/>
          </a:prstGeom>
          <a:noFill/>
          <a:ln w="9525">
            <a:noFill/>
            <a:miter lim="800000"/>
            <a:headEnd/>
            <a:tailEnd/>
          </a:ln>
          <a:effectLst/>
        </p:spPr>
        <p:txBody>
          <a:bodyPr wrap="none">
            <a:spAutoFit/>
          </a:bodyPr>
          <a:lstStyle/>
          <a:p>
            <a:r>
              <a:rPr lang="en-US" altLang="zh-CN" sz="2800">
                <a:solidFill>
                  <a:schemeClr val="bg1"/>
                </a:solidFill>
              </a:rPr>
              <a:t>4.</a:t>
            </a:r>
            <a:r>
              <a:rPr lang="en-US" altLang="zh-CN" sz="2800">
                <a:solidFill>
                  <a:srgbClr val="FFCC66"/>
                </a:solidFill>
              </a:rPr>
              <a:t> </a:t>
            </a:r>
          </a:p>
        </p:txBody>
      </p:sp>
      <p:sp>
        <p:nvSpPr>
          <p:cNvPr id="130063" name="Rectangle 15"/>
          <p:cNvSpPr>
            <a:spLocks noChangeArrowheads="1"/>
          </p:cNvSpPr>
          <p:nvPr/>
        </p:nvSpPr>
        <p:spPr bwMode="auto">
          <a:xfrm>
            <a:off x="684213" y="1122363"/>
            <a:ext cx="5086350" cy="457200"/>
          </a:xfrm>
          <a:prstGeom prst="rect">
            <a:avLst/>
          </a:prstGeom>
          <a:noFill/>
          <a:ln w="9525">
            <a:noFill/>
            <a:miter lim="800000"/>
            <a:headEnd/>
            <a:tailEnd/>
          </a:ln>
          <a:effectLst/>
        </p:spPr>
        <p:txBody>
          <a:bodyPr wrap="none">
            <a:spAutoFit/>
          </a:bodyPr>
          <a:lstStyle/>
          <a:p>
            <a:r>
              <a:rPr lang="zh-CN" altLang="en-US" b="1">
                <a:solidFill>
                  <a:schemeClr val="accent2"/>
                </a:solidFill>
                <a:latin typeface="宋体" charset="-122"/>
              </a:rPr>
              <a:t>大量粒子</a:t>
            </a:r>
            <a:r>
              <a:rPr lang="zh-CN" altLang="en-US" b="1">
                <a:solidFill>
                  <a:schemeClr val="bg1"/>
                </a:solidFill>
                <a:latin typeface="宋体" charset="-122"/>
              </a:rPr>
              <a:t>的分布有确定的</a:t>
            </a:r>
            <a:r>
              <a:rPr lang="zh-CN" altLang="en-US" b="1">
                <a:solidFill>
                  <a:schemeClr val="accent2"/>
                </a:solidFill>
                <a:latin typeface="宋体" charset="-122"/>
              </a:rPr>
              <a:t>统计规律</a:t>
            </a:r>
            <a:r>
              <a:rPr lang="zh-CN" altLang="en-US" b="1">
                <a:solidFill>
                  <a:schemeClr val="bg1"/>
                </a:solidFill>
                <a:latin typeface="宋体" charset="-122"/>
              </a:rPr>
              <a:t>。</a:t>
            </a:r>
          </a:p>
        </p:txBody>
      </p:sp>
      <p:sp>
        <p:nvSpPr>
          <p:cNvPr id="130064" name="Rectangle 16"/>
          <p:cNvSpPr>
            <a:spLocks noChangeArrowheads="1"/>
          </p:cNvSpPr>
          <p:nvPr/>
        </p:nvSpPr>
        <p:spPr bwMode="auto">
          <a:xfrm>
            <a:off x="2051050" y="2133600"/>
            <a:ext cx="685800" cy="2895600"/>
          </a:xfrm>
          <a:prstGeom prst="rect">
            <a:avLst/>
          </a:prstGeom>
          <a:noFill/>
          <a:ln w="38100">
            <a:solidFill>
              <a:schemeClr val="tx1"/>
            </a:solidFill>
            <a:miter lim="800000"/>
            <a:headEnd/>
            <a:tailEnd/>
          </a:ln>
          <a:effectLst/>
        </p:spPr>
        <p:txBody>
          <a:bodyPr wrap="none" anchor="ctr"/>
          <a:lstStyle/>
          <a:p>
            <a:endParaRPr lang="zh-CN" altLang="en-US"/>
          </a:p>
        </p:txBody>
      </p:sp>
      <p:sp>
        <p:nvSpPr>
          <p:cNvPr id="130065" name="Rectangle 17"/>
          <p:cNvSpPr>
            <a:spLocks noChangeArrowheads="1"/>
          </p:cNvSpPr>
          <p:nvPr/>
        </p:nvSpPr>
        <p:spPr bwMode="auto">
          <a:xfrm>
            <a:off x="6011863" y="2133600"/>
            <a:ext cx="685800" cy="2895600"/>
          </a:xfrm>
          <a:prstGeom prst="rect">
            <a:avLst/>
          </a:prstGeom>
          <a:noFill/>
          <a:ln w="38100">
            <a:solidFill>
              <a:schemeClr val="tx1"/>
            </a:solidFill>
            <a:miter lim="800000"/>
            <a:headEnd/>
            <a:tailEnd/>
          </a:ln>
          <a:effectLst/>
        </p:spPr>
        <p:txBody>
          <a:bodyPr wrap="none" anchor="ctr"/>
          <a:lstStyle/>
          <a:p>
            <a:endParaRPr lang="zh-CN" altLang="en-US"/>
          </a:p>
        </p:txBody>
      </p:sp>
      <p:sp>
        <p:nvSpPr>
          <p:cNvPr id="130066" name="AutoShape 18"/>
          <p:cNvSpPr>
            <a:spLocks noChangeArrowheads="1"/>
          </p:cNvSpPr>
          <p:nvPr/>
        </p:nvSpPr>
        <p:spPr bwMode="auto">
          <a:xfrm>
            <a:off x="900113" y="5445125"/>
            <a:ext cx="1800225" cy="431800"/>
          </a:xfrm>
          <a:prstGeom prst="wedgeRectCallout">
            <a:avLst>
              <a:gd name="adj1" fmla="val 30069"/>
              <a:gd name="adj2" fmla="val -169486"/>
            </a:avLst>
          </a:prstGeom>
          <a:solidFill>
            <a:srgbClr val="CCFFFF"/>
          </a:solidFill>
          <a:ln w="9525">
            <a:solidFill>
              <a:srgbClr val="00FFFF"/>
            </a:solidFill>
            <a:miter lim="800000"/>
            <a:headEnd/>
            <a:tailEnd/>
          </a:ln>
          <a:effectLst/>
        </p:spPr>
        <p:txBody>
          <a:bodyPr/>
          <a:lstStyle/>
          <a:p>
            <a:pPr algn="ctr"/>
            <a:r>
              <a:rPr lang="zh-CN" altLang="en-US" b="1">
                <a:solidFill>
                  <a:schemeClr val="bg1"/>
                </a:solidFill>
                <a:ea typeface="楷体_GB2312" pitchFamily="49" charset="-122"/>
              </a:rPr>
              <a:t>出现概率小</a:t>
            </a:r>
          </a:p>
        </p:txBody>
      </p:sp>
      <p:sp>
        <p:nvSpPr>
          <p:cNvPr id="130067" name="AutoShape 19"/>
          <p:cNvSpPr>
            <a:spLocks noChangeArrowheads="1"/>
          </p:cNvSpPr>
          <p:nvPr/>
        </p:nvSpPr>
        <p:spPr bwMode="auto">
          <a:xfrm>
            <a:off x="6553200" y="5445125"/>
            <a:ext cx="1906588" cy="431800"/>
          </a:xfrm>
          <a:prstGeom prst="wedgeRectCallout">
            <a:avLst>
              <a:gd name="adj1" fmla="val -54412"/>
              <a:gd name="adj2" fmla="val -181250"/>
            </a:avLst>
          </a:prstGeom>
          <a:solidFill>
            <a:srgbClr val="CCFFFF"/>
          </a:solidFill>
          <a:ln w="9525">
            <a:solidFill>
              <a:srgbClr val="00FFFF"/>
            </a:solidFill>
            <a:miter lim="800000"/>
            <a:headEnd/>
            <a:tailEnd/>
          </a:ln>
          <a:effectLst/>
        </p:spPr>
        <p:txBody>
          <a:bodyPr/>
          <a:lstStyle/>
          <a:p>
            <a:pPr algn="ctr"/>
            <a:r>
              <a:rPr lang="zh-CN" altLang="en-US" b="1">
                <a:solidFill>
                  <a:schemeClr val="bg1"/>
                </a:solidFill>
                <a:ea typeface="楷体_GB2312" pitchFamily="49" charset="-122"/>
              </a:rPr>
              <a:t>出现概率大</a:t>
            </a:r>
          </a:p>
        </p:txBody>
      </p:sp>
      <p:sp>
        <p:nvSpPr>
          <p:cNvPr id="46100" name="Rectangle 20"/>
          <p:cNvSpPr>
            <a:spLocks noChangeArrowheads="1"/>
          </p:cNvSpPr>
          <p:nvPr/>
        </p:nvSpPr>
        <p:spPr bwMode="auto">
          <a:xfrm>
            <a:off x="8047038" y="2211388"/>
            <a:ext cx="574675" cy="2657475"/>
          </a:xfrm>
          <a:prstGeom prst="rect">
            <a:avLst/>
          </a:prstGeom>
          <a:noFill/>
          <a:ln w="9525">
            <a:noFill/>
            <a:miter lim="800000"/>
            <a:headEnd/>
            <a:tailEnd/>
          </a:ln>
          <a:effectLst/>
        </p:spPr>
        <p:txBody>
          <a:bodyPr>
            <a:spAutoFit/>
          </a:bodyPr>
          <a:lstStyle/>
          <a:p>
            <a:pPr>
              <a:lnSpc>
                <a:spcPct val="105000"/>
              </a:lnSpc>
            </a:pPr>
            <a:r>
              <a:rPr lang="zh-CN" altLang="en-US" sz="2000" b="1">
                <a:solidFill>
                  <a:srgbClr val="0000FF"/>
                </a:solidFill>
              </a:rPr>
              <a:t>电子双缝干涉图样</a:t>
            </a: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0061"/>
                                        </p:tgtEl>
                                        <p:attrNameLst>
                                          <p:attrName>style.visibility</p:attrName>
                                        </p:attrNameLst>
                                      </p:cBhvr>
                                      <p:to>
                                        <p:strVal val="visible"/>
                                      </p:to>
                                    </p:set>
                                    <p:animEffect transition="in" filter="dissolve">
                                      <p:cBhvr>
                                        <p:cTn id="7" dur="500"/>
                                        <p:tgtEl>
                                          <p:spTgt spid="130061"/>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0063"/>
                                        </p:tgtEl>
                                        <p:attrNameLst>
                                          <p:attrName>style.visibility</p:attrName>
                                        </p:attrNameLst>
                                      </p:cBhvr>
                                      <p:to>
                                        <p:strVal val="visible"/>
                                      </p:to>
                                    </p:set>
                                    <p:animEffect transition="in" filter="dissolve">
                                      <p:cBhvr>
                                        <p:cTn id="11" dur="500"/>
                                        <p:tgtEl>
                                          <p:spTgt spid="13006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130051"/>
                                        </p:tgtEl>
                                        <p:attrNameLst>
                                          <p:attrName>style.visibility</p:attrName>
                                        </p:attrNameLst>
                                      </p:cBhvr>
                                      <p:to>
                                        <p:strVal val="visible"/>
                                      </p:to>
                                    </p:set>
                                    <p:animEffect transition="in" filter="dissolve">
                                      <p:cBhvr>
                                        <p:cTn id="16" dur="500"/>
                                        <p:tgtEl>
                                          <p:spTgt spid="130051"/>
                                        </p:tgtEl>
                                      </p:cBhvr>
                                    </p:animEffect>
                                  </p:childTnLst>
                                </p:cTn>
                              </p:par>
                            </p:childTnLst>
                          </p:cTn>
                        </p:par>
                        <p:par>
                          <p:cTn id="17" fill="hold" nodeType="afterGroup">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130056"/>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130052"/>
                                        </p:tgtEl>
                                        <p:attrNameLst>
                                          <p:attrName>style.visibility</p:attrName>
                                        </p:attrNameLst>
                                      </p:cBhvr>
                                      <p:to>
                                        <p:strVal val="visible"/>
                                      </p:to>
                                    </p:set>
                                    <p:animEffect transition="in" filter="dissolve">
                                      <p:cBhvr>
                                        <p:cTn id="24" dur="500"/>
                                        <p:tgtEl>
                                          <p:spTgt spid="130052"/>
                                        </p:tgtEl>
                                      </p:cBhvr>
                                    </p:animEffect>
                                  </p:childTnLst>
                                </p:cTn>
                              </p:par>
                            </p:childTnLst>
                          </p:cTn>
                        </p:par>
                        <p:par>
                          <p:cTn id="25" fill="hold" nodeType="afterGroup">
                            <p:stCondLst>
                              <p:cond delay="500"/>
                            </p:stCondLst>
                            <p:childTnLst>
                              <p:par>
                                <p:cTn id="26" presetID="1" presetClass="entr" presetSubtype="0" fill="hold" grpId="0" nodeType="afterEffect">
                                  <p:stCondLst>
                                    <p:cond delay="0"/>
                                  </p:stCondLst>
                                  <p:childTnLst>
                                    <p:set>
                                      <p:cBhvr>
                                        <p:cTn id="27" dur="1" fill="hold">
                                          <p:stCondLst>
                                            <p:cond delay="499"/>
                                          </p:stCondLst>
                                        </p:cTn>
                                        <p:tgtEl>
                                          <p:spTgt spid="130057"/>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30053"/>
                                        </p:tgtEl>
                                        <p:attrNameLst>
                                          <p:attrName>style.visibility</p:attrName>
                                        </p:attrNameLst>
                                      </p:cBhvr>
                                      <p:to>
                                        <p:strVal val="visible"/>
                                      </p:to>
                                    </p:set>
                                    <p:animEffect transition="in" filter="dissolve">
                                      <p:cBhvr>
                                        <p:cTn id="32" dur="500"/>
                                        <p:tgtEl>
                                          <p:spTgt spid="130053"/>
                                        </p:tgtEl>
                                      </p:cBhvr>
                                    </p:animEffect>
                                  </p:childTnLst>
                                </p:cTn>
                              </p:par>
                            </p:childTnLst>
                          </p:cTn>
                        </p:par>
                        <p:par>
                          <p:cTn id="33" fill="hold" nodeType="afterGroup">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130058"/>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130054"/>
                                        </p:tgtEl>
                                        <p:attrNameLst>
                                          <p:attrName>style.visibility</p:attrName>
                                        </p:attrNameLst>
                                      </p:cBhvr>
                                      <p:to>
                                        <p:strVal val="visible"/>
                                      </p:to>
                                    </p:set>
                                    <p:animEffect transition="in" filter="dissolve">
                                      <p:cBhvr>
                                        <p:cTn id="40" dur="500"/>
                                        <p:tgtEl>
                                          <p:spTgt spid="130054"/>
                                        </p:tgtEl>
                                      </p:cBhvr>
                                    </p:animEffect>
                                  </p:childTnLst>
                                </p:cTn>
                              </p:par>
                            </p:childTnLst>
                          </p:cTn>
                        </p:par>
                        <p:par>
                          <p:cTn id="41" fill="hold" nodeType="afterGroup">
                            <p:stCondLst>
                              <p:cond delay="500"/>
                            </p:stCondLst>
                            <p:childTnLst>
                              <p:par>
                                <p:cTn id="42" presetID="1" presetClass="entr" presetSubtype="0" fill="hold" grpId="0" nodeType="afterEffect">
                                  <p:stCondLst>
                                    <p:cond delay="0"/>
                                  </p:stCondLst>
                                  <p:childTnLst>
                                    <p:set>
                                      <p:cBhvr>
                                        <p:cTn id="43" dur="1" fill="hold">
                                          <p:stCondLst>
                                            <p:cond delay="499"/>
                                          </p:stCondLst>
                                        </p:cTn>
                                        <p:tgtEl>
                                          <p:spTgt spid="130059"/>
                                        </p:tgtEl>
                                        <p:attrNameLst>
                                          <p:attrName>style.visibility</p:attrName>
                                        </p:attrNameLst>
                                      </p:cBhvr>
                                      <p:to>
                                        <p:strVal val="visible"/>
                                      </p:to>
                                    </p:set>
                                  </p:childTnLst>
                                  <p:subTnLst>
                                    <p:set>
                                      <p:cBhvr override="childStyle">
                                        <p:cTn dur="1" fill="hold" display="0" masterRel="nextClick" afterEffect="1"/>
                                        <p:tgtEl>
                                          <p:spTgt spid="130059"/>
                                        </p:tgtEl>
                                        <p:attrNameLst>
                                          <p:attrName>style.visibility</p:attrName>
                                        </p:attrNameLst>
                                      </p:cBhvr>
                                      <p:to>
                                        <p:strVal val="hidden"/>
                                      </p:to>
                                    </p:set>
                                  </p:sub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130055"/>
                                        </p:tgtEl>
                                        <p:attrNameLst>
                                          <p:attrName>style.visibility</p:attrName>
                                        </p:attrNameLst>
                                      </p:cBhvr>
                                      <p:to>
                                        <p:strVal val="visible"/>
                                      </p:to>
                                    </p:set>
                                    <p:animEffect transition="in" filter="dissolve">
                                      <p:cBhvr>
                                        <p:cTn id="48" dur="500"/>
                                        <p:tgtEl>
                                          <p:spTgt spid="130055"/>
                                        </p:tgtEl>
                                      </p:cBhvr>
                                    </p:animEffect>
                                  </p:childTnLst>
                                </p:cTn>
                              </p:par>
                            </p:childTnLst>
                          </p:cTn>
                        </p:par>
                        <p:par>
                          <p:cTn id="49" fill="hold" nodeType="afterGroup">
                            <p:stCondLst>
                              <p:cond delay="500"/>
                            </p:stCondLst>
                            <p:childTnLst>
                              <p:par>
                                <p:cTn id="50" presetID="1" presetClass="entr" presetSubtype="0" fill="hold" grpId="0" nodeType="afterEffect">
                                  <p:stCondLst>
                                    <p:cond delay="0"/>
                                  </p:stCondLst>
                                  <p:childTnLst>
                                    <p:set>
                                      <p:cBhvr>
                                        <p:cTn id="51" dur="1" fill="hold">
                                          <p:stCondLst>
                                            <p:cond delay="499"/>
                                          </p:stCondLst>
                                        </p:cTn>
                                        <p:tgtEl>
                                          <p:spTgt spid="130060"/>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130064"/>
                                        </p:tgtEl>
                                        <p:attrNameLst>
                                          <p:attrName>style.visibility</p:attrName>
                                        </p:attrNameLst>
                                      </p:cBhvr>
                                      <p:to>
                                        <p:strVal val="visible"/>
                                      </p:to>
                                    </p:set>
                                    <p:animEffect transition="in" filter="blinds(horizontal)">
                                      <p:cBhvr>
                                        <p:cTn id="56" dur="500"/>
                                        <p:tgtEl>
                                          <p:spTgt spid="130064"/>
                                        </p:tgtEl>
                                      </p:cBhvr>
                                    </p:animEffect>
                                  </p:childTnLst>
                                </p:cTn>
                              </p:par>
                            </p:childTnLst>
                          </p:cTn>
                        </p:par>
                        <p:par>
                          <p:cTn id="57" fill="hold" nodeType="afterGroup">
                            <p:stCondLst>
                              <p:cond delay="500"/>
                            </p:stCondLst>
                            <p:childTnLst>
                              <p:par>
                                <p:cTn id="58" presetID="9" presetClass="entr" presetSubtype="0" fill="hold" grpId="0" nodeType="afterEffect">
                                  <p:stCondLst>
                                    <p:cond delay="0"/>
                                  </p:stCondLst>
                                  <p:childTnLst>
                                    <p:set>
                                      <p:cBhvr>
                                        <p:cTn id="59" dur="1" fill="hold">
                                          <p:stCondLst>
                                            <p:cond delay="0"/>
                                          </p:stCondLst>
                                        </p:cTn>
                                        <p:tgtEl>
                                          <p:spTgt spid="130066"/>
                                        </p:tgtEl>
                                        <p:attrNameLst>
                                          <p:attrName>style.visibility</p:attrName>
                                        </p:attrNameLst>
                                      </p:cBhvr>
                                      <p:to>
                                        <p:strVal val="visible"/>
                                      </p:to>
                                    </p:set>
                                    <p:animEffect transition="in" filter="dissolve">
                                      <p:cBhvr>
                                        <p:cTn id="60" dur="500"/>
                                        <p:tgtEl>
                                          <p:spTgt spid="13006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30065"/>
                                        </p:tgtEl>
                                        <p:attrNameLst>
                                          <p:attrName>style.visibility</p:attrName>
                                        </p:attrNameLst>
                                      </p:cBhvr>
                                      <p:to>
                                        <p:strVal val="visible"/>
                                      </p:to>
                                    </p:set>
                                    <p:animEffect transition="in" filter="blinds(horizontal)">
                                      <p:cBhvr>
                                        <p:cTn id="65" dur="500"/>
                                        <p:tgtEl>
                                          <p:spTgt spid="130065"/>
                                        </p:tgtEl>
                                      </p:cBhvr>
                                    </p:animEffect>
                                  </p:childTnLst>
                                </p:cTn>
                              </p:par>
                            </p:childTnLst>
                          </p:cTn>
                        </p:par>
                        <p:par>
                          <p:cTn id="66" fill="hold" nodeType="afterGroup">
                            <p:stCondLst>
                              <p:cond delay="500"/>
                            </p:stCondLst>
                            <p:childTnLst>
                              <p:par>
                                <p:cTn id="67" presetID="9" presetClass="entr" presetSubtype="0" fill="hold" grpId="0" nodeType="afterEffect">
                                  <p:stCondLst>
                                    <p:cond delay="0"/>
                                  </p:stCondLst>
                                  <p:childTnLst>
                                    <p:set>
                                      <p:cBhvr>
                                        <p:cTn id="68" dur="1" fill="hold">
                                          <p:stCondLst>
                                            <p:cond delay="0"/>
                                          </p:stCondLst>
                                        </p:cTn>
                                        <p:tgtEl>
                                          <p:spTgt spid="130067"/>
                                        </p:tgtEl>
                                        <p:attrNameLst>
                                          <p:attrName>style.visibility</p:attrName>
                                        </p:attrNameLst>
                                      </p:cBhvr>
                                      <p:to>
                                        <p:strVal val="visible"/>
                                      </p:to>
                                    </p:set>
                                    <p:animEffect transition="in" filter="dissolve">
                                      <p:cBhvr>
                                        <p:cTn id="69" dur="500"/>
                                        <p:tgtEl>
                                          <p:spTgt spid="130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6" grpId="0" animBg="1" autoUpdateAnimBg="0"/>
      <p:bldP spid="130057" grpId="0" animBg="1" autoUpdateAnimBg="0"/>
      <p:bldP spid="130058" grpId="0" animBg="1" autoUpdateAnimBg="0"/>
      <p:bldP spid="130059" grpId="0" animBg="1" autoUpdateAnimBg="0"/>
      <p:bldP spid="130060" grpId="0" animBg="1" autoUpdateAnimBg="0"/>
      <p:bldP spid="130061" grpId="0" autoUpdateAnimBg="0"/>
      <p:bldP spid="130063" grpId="0" autoUpdateAnimBg="0"/>
      <p:bldP spid="130064" grpId="0" animBg="1"/>
      <p:bldP spid="130065" grpId="0" animBg="1"/>
      <p:bldP spid="130066" grpId="0" animBg="1" autoUpdateAnimBg="0"/>
      <p:bldP spid="130067"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AutoShape 2"/>
          <p:cNvSpPr>
            <a:spLocks noChangeArrowheads="1"/>
          </p:cNvSpPr>
          <p:nvPr/>
        </p:nvSpPr>
        <p:spPr bwMode="auto">
          <a:xfrm>
            <a:off x="1250950" y="2930525"/>
            <a:ext cx="6651625" cy="1219200"/>
          </a:xfrm>
          <a:prstGeom prst="bevel">
            <a:avLst>
              <a:gd name="adj" fmla="val 0"/>
            </a:avLst>
          </a:prstGeom>
          <a:solidFill>
            <a:srgbClr val="CCFFFF"/>
          </a:solidFill>
          <a:ln w="9525">
            <a:solidFill>
              <a:srgbClr val="00FFFF"/>
            </a:solidFill>
            <a:miter lim="800000"/>
            <a:headEnd/>
            <a:tailEnd/>
          </a:ln>
          <a:effectLst/>
        </p:spPr>
        <p:txBody>
          <a:bodyPr wrap="none" anchor="ctr"/>
          <a:lstStyle/>
          <a:p>
            <a:pPr algn="ctr"/>
            <a:endParaRPr lang="zh-CN" altLang="zh-CN" sz="2800">
              <a:solidFill>
                <a:schemeClr val="bg1"/>
              </a:solidFill>
            </a:endParaRPr>
          </a:p>
        </p:txBody>
      </p:sp>
      <p:sp>
        <p:nvSpPr>
          <p:cNvPr id="131075" name="Rectangle 3"/>
          <p:cNvSpPr>
            <a:spLocks noChangeArrowheads="1"/>
          </p:cNvSpPr>
          <p:nvPr/>
        </p:nvSpPr>
        <p:spPr bwMode="auto">
          <a:xfrm>
            <a:off x="182563" y="585788"/>
            <a:ext cx="5334000" cy="461962"/>
          </a:xfrm>
          <a:prstGeom prst="rect">
            <a:avLst/>
          </a:prstGeom>
          <a:noFill/>
          <a:ln w="9525">
            <a:noFill/>
            <a:miter lim="800000"/>
            <a:headEnd/>
            <a:tailEnd/>
          </a:ln>
          <a:effectLst/>
        </p:spPr>
        <p:txBody>
          <a:bodyPr>
            <a:spAutoFit/>
          </a:bodyPr>
          <a:lstStyle/>
          <a:p>
            <a:r>
              <a:rPr lang="en-US" altLang="zh-CN" b="1" dirty="0" smtClean="0">
                <a:solidFill>
                  <a:srgbClr val="0000FF"/>
                </a:solidFill>
              </a:rPr>
              <a:t>13.5.2 </a:t>
            </a:r>
            <a:r>
              <a:rPr lang="zh-CN" altLang="en-US" b="1" dirty="0" smtClean="0">
                <a:solidFill>
                  <a:srgbClr val="0000FF"/>
                </a:solidFill>
              </a:rPr>
              <a:t>定态薛定谔方程 </a:t>
            </a:r>
            <a:r>
              <a:rPr lang="en-US" altLang="zh-CN" b="1" dirty="0">
                <a:solidFill>
                  <a:schemeClr val="bg1"/>
                </a:solidFill>
              </a:rPr>
              <a:t>(1926</a:t>
            </a:r>
            <a:r>
              <a:rPr lang="zh-CN" altLang="en-US" b="1" dirty="0">
                <a:solidFill>
                  <a:schemeClr val="bg1"/>
                </a:solidFill>
              </a:rPr>
              <a:t>年</a:t>
            </a:r>
            <a:r>
              <a:rPr lang="en-US" altLang="zh-CN" b="1" dirty="0">
                <a:solidFill>
                  <a:schemeClr val="bg1"/>
                </a:solidFill>
              </a:rPr>
              <a:t>)</a:t>
            </a:r>
          </a:p>
        </p:txBody>
      </p:sp>
      <p:sp>
        <p:nvSpPr>
          <p:cNvPr id="131076" name="Rectangle 4"/>
          <p:cNvSpPr>
            <a:spLocks noChangeArrowheads="1"/>
          </p:cNvSpPr>
          <p:nvPr/>
        </p:nvSpPr>
        <p:spPr bwMode="auto">
          <a:xfrm>
            <a:off x="755650" y="1196975"/>
            <a:ext cx="6111875" cy="457200"/>
          </a:xfrm>
          <a:prstGeom prst="rect">
            <a:avLst/>
          </a:prstGeom>
          <a:noFill/>
          <a:ln w="9525">
            <a:noFill/>
            <a:miter lim="800000"/>
            <a:headEnd/>
            <a:tailEnd/>
          </a:ln>
          <a:effectLst/>
        </p:spPr>
        <p:txBody>
          <a:bodyPr>
            <a:spAutoFit/>
          </a:bodyPr>
          <a:lstStyle/>
          <a:p>
            <a:r>
              <a:rPr lang="en-US" altLang="zh-CN" b="1">
                <a:solidFill>
                  <a:schemeClr val="bg1"/>
                </a:solidFill>
                <a:latin typeface="楷体_GB2312" pitchFamily="49" charset="-122"/>
                <a:ea typeface="楷体_GB2312" pitchFamily="49" charset="-122"/>
              </a:rPr>
              <a:t>(</a:t>
            </a:r>
            <a:r>
              <a:rPr lang="zh-CN" altLang="en-US" b="1">
                <a:solidFill>
                  <a:schemeClr val="bg1"/>
                </a:solidFill>
                <a:latin typeface="楷体_GB2312" pitchFamily="49" charset="-122"/>
                <a:ea typeface="楷体_GB2312" pitchFamily="49" charset="-122"/>
              </a:rPr>
              <a:t>描述微观粒子在外力场中运动的微分方程</a:t>
            </a:r>
            <a:r>
              <a:rPr lang="en-US" altLang="zh-CN" b="1">
                <a:solidFill>
                  <a:schemeClr val="bg1"/>
                </a:solidFill>
                <a:latin typeface="楷体_GB2312" pitchFamily="49" charset="-122"/>
                <a:ea typeface="楷体_GB2312" pitchFamily="49" charset="-122"/>
              </a:rPr>
              <a:t>)</a:t>
            </a:r>
          </a:p>
        </p:txBody>
      </p:sp>
      <p:sp>
        <p:nvSpPr>
          <p:cNvPr id="131077" name="Rectangle 5"/>
          <p:cNvSpPr>
            <a:spLocks noChangeArrowheads="1"/>
          </p:cNvSpPr>
          <p:nvPr/>
        </p:nvSpPr>
        <p:spPr bwMode="auto">
          <a:xfrm>
            <a:off x="685800" y="1719263"/>
            <a:ext cx="5730875" cy="1082675"/>
          </a:xfrm>
          <a:prstGeom prst="rect">
            <a:avLst/>
          </a:prstGeom>
          <a:noFill/>
          <a:ln w="9525">
            <a:noFill/>
            <a:miter lim="800000"/>
            <a:headEnd/>
            <a:tailEnd/>
          </a:ln>
          <a:effectLst/>
        </p:spPr>
        <p:txBody>
          <a:bodyPr>
            <a:spAutoFit/>
          </a:bodyPr>
          <a:lstStyle/>
          <a:p>
            <a:pPr algn="just">
              <a:lnSpc>
                <a:spcPct val="125000"/>
              </a:lnSpc>
            </a:pPr>
            <a:r>
              <a:rPr lang="zh-CN" altLang="en-US" b="1">
                <a:solidFill>
                  <a:schemeClr val="bg1"/>
                </a:solidFill>
                <a:latin typeface="宋体" charset="-122"/>
              </a:rPr>
              <a:t>质量</a:t>
            </a:r>
            <a:r>
              <a:rPr lang="en-US" altLang="zh-CN" b="1" i="1">
                <a:solidFill>
                  <a:schemeClr val="accent2"/>
                </a:solidFill>
              </a:rPr>
              <a:t>m</a:t>
            </a:r>
            <a:r>
              <a:rPr lang="zh-CN" altLang="en-US" b="1">
                <a:solidFill>
                  <a:schemeClr val="bg1"/>
                </a:solidFill>
                <a:latin typeface="宋体" charset="-122"/>
              </a:rPr>
              <a:t>的粒子在外力场中运动，势能函数</a:t>
            </a:r>
            <a:r>
              <a:rPr lang="en-US" altLang="zh-CN" sz="2800" b="1" i="1">
                <a:solidFill>
                  <a:schemeClr val="accent2"/>
                </a:solidFill>
              </a:rPr>
              <a:t>V</a:t>
            </a:r>
            <a:r>
              <a:rPr lang="en-US" altLang="zh-CN" sz="2800" b="1">
                <a:solidFill>
                  <a:schemeClr val="accent2"/>
                </a:solidFill>
                <a:latin typeface="宋体" charset="-122"/>
              </a:rPr>
              <a:t>(</a:t>
            </a:r>
            <a:r>
              <a:rPr lang="en-US" altLang="zh-CN" sz="2800" b="1" i="1">
                <a:solidFill>
                  <a:schemeClr val="accent2"/>
                </a:solidFill>
              </a:rPr>
              <a:t>r</a:t>
            </a:r>
            <a:r>
              <a:rPr lang="en-US" altLang="zh-CN" sz="2800" b="1">
                <a:solidFill>
                  <a:schemeClr val="accent2"/>
                </a:solidFill>
                <a:latin typeface="宋体" charset="-122"/>
              </a:rPr>
              <a:t>,</a:t>
            </a:r>
            <a:r>
              <a:rPr lang="en-US" altLang="zh-CN" sz="2800" b="1" i="1">
                <a:solidFill>
                  <a:schemeClr val="accent2"/>
                </a:solidFill>
                <a:latin typeface="宋体" charset="-122"/>
              </a:rPr>
              <a:t>t </a:t>
            </a:r>
            <a:r>
              <a:rPr lang="en-US" altLang="zh-CN" sz="2800" b="1">
                <a:solidFill>
                  <a:schemeClr val="accent2"/>
                </a:solidFill>
                <a:latin typeface="宋体" charset="-122"/>
              </a:rPr>
              <a:t>)</a:t>
            </a:r>
            <a:r>
              <a:rPr lang="en-US" altLang="zh-CN" b="1">
                <a:solidFill>
                  <a:schemeClr val="bg1"/>
                </a:solidFill>
                <a:latin typeface="宋体" charset="-122"/>
              </a:rPr>
              <a:t> </a:t>
            </a:r>
            <a:r>
              <a:rPr lang="zh-CN" altLang="en-US" b="1">
                <a:solidFill>
                  <a:schemeClr val="bg1"/>
                </a:solidFill>
                <a:latin typeface="宋体" charset="-122"/>
              </a:rPr>
              <a:t>，薛定谔方程为</a:t>
            </a:r>
            <a:r>
              <a:rPr lang="en-US" altLang="zh-CN" b="1">
                <a:solidFill>
                  <a:schemeClr val="bg1"/>
                </a:solidFill>
                <a:latin typeface="宋体" charset="-122"/>
              </a:rPr>
              <a:t>:</a:t>
            </a:r>
          </a:p>
        </p:txBody>
      </p:sp>
      <p:graphicFrame>
        <p:nvGraphicFramePr>
          <p:cNvPr id="131078" name="Object 6"/>
          <p:cNvGraphicFramePr>
            <a:graphicFrameLocks noChangeAspect="1"/>
          </p:cNvGraphicFramePr>
          <p:nvPr/>
        </p:nvGraphicFramePr>
        <p:xfrm>
          <a:off x="1390650" y="3103563"/>
          <a:ext cx="6286500" cy="911225"/>
        </p:xfrm>
        <a:graphic>
          <a:graphicData uri="http://schemas.openxmlformats.org/presentationml/2006/ole">
            <p:oleObj spid="_x0000_s47110" name="公式" r:id="rId4" imgW="2980440" imgH="415800" progId="Equation.3">
              <p:embed/>
            </p:oleObj>
          </a:graphicData>
        </a:graphic>
      </p:graphicFrame>
      <p:sp>
        <p:nvSpPr>
          <p:cNvPr id="131079" name="Rectangle 7"/>
          <p:cNvSpPr>
            <a:spLocks noChangeArrowheads="1"/>
          </p:cNvSpPr>
          <p:nvPr/>
        </p:nvSpPr>
        <p:spPr bwMode="auto">
          <a:xfrm>
            <a:off x="762000" y="4178300"/>
            <a:ext cx="8305800" cy="1006475"/>
          </a:xfrm>
          <a:prstGeom prst="rect">
            <a:avLst/>
          </a:prstGeom>
          <a:noFill/>
          <a:ln w="9525">
            <a:noFill/>
            <a:miter lim="800000"/>
            <a:headEnd/>
            <a:tailEnd/>
          </a:ln>
          <a:effectLst/>
        </p:spPr>
        <p:txBody>
          <a:bodyPr>
            <a:spAutoFit/>
          </a:bodyPr>
          <a:lstStyle/>
          <a:p>
            <a:pPr>
              <a:lnSpc>
                <a:spcPct val="125000"/>
              </a:lnSpc>
            </a:pPr>
            <a:r>
              <a:rPr lang="zh-CN" altLang="en-US" b="1">
                <a:solidFill>
                  <a:schemeClr val="bg1"/>
                </a:solidFill>
                <a:latin typeface="宋体" charset="-122"/>
              </a:rPr>
              <a:t>粒子在稳定力场中运动，势能函数</a:t>
            </a:r>
            <a:r>
              <a:rPr lang="en-US" altLang="zh-CN" b="1" i="1">
                <a:solidFill>
                  <a:schemeClr val="accent2"/>
                </a:solidFill>
              </a:rPr>
              <a:t>V</a:t>
            </a:r>
            <a:r>
              <a:rPr lang="en-US" altLang="zh-CN" b="1">
                <a:solidFill>
                  <a:schemeClr val="accent2"/>
                </a:solidFill>
              </a:rPr>
              <a:t> ( </a:t>
            </a:r>
            <a:r>
              <a:rPr lang="en-US" altLang="zh-CN" b="1" i="1">
                <a:solidFill>
                  <a:schemeClr val="accent2"/>
                </a:solidFill>
              </a:rPr>
              <a:t>r</a:t>
            </a:r>
            <a:r>
              <a:rPr lang="en-US" altLang="zh-CN" b="1">
                <a:solidFill>
                  <a:schemeClr val="accent2"/>
                </a:solidFill>
              </a:rPr>
              <a:t> )</a:t>
            </a:r>
            <a:r>
              <a:rPr lang="en-US" altLang="zh-CN" b="1">
                <a:solidFill>
                  <a:schemeClr val="bg1"/>
                </a:solidFill>
                <a:latin typeface="宋体" charset="-122"/>
              </a:rPr>
              <a:t> </a:t>
            </a:r>
            <a:r>
              <a:rPr lang="zh-CN" altLang="en-US" b="1">
                <a:solidFill>
                  <a:schemeClr val="bg1"/>
                </a:solidFill>
                <a:latin typeface="宋体" charset="-122"/>
              </a:rPr>
              <a:t>、能量</a:t>
            </a:r>
            <a:r>
              <a:rPr lang="en-US" altLang="zh-CN" b="1" i="1">
                <a:solidFill>
                  <a:schemeClr val="accent2"/>
                </a:solidFill>
              </a:rPr>
              <a:t>E </a:t>
            </a:r>
            <a:r>
              <a:rPr lang="zh-CN" altLang="en-US" b="1">
                <a:solidFill>
                  <a:schemeClr val="bg1"/>
                </a:solidFill>
                <a:latin typeface="宋体" charset="-122"/>
              </a:rPr>
              <a:t>不随时间变化，粒子处于定态，</a:t>
            </a:r>
            <a:r>
              <a:rPr lang="zh-CN" altLang="en-US" b="1">
                <a:solidFill>
                  <a:srgbClr val="FF6600"/>
                </a:solidFill>
                <a:latin typeface="宋体" charset="-122"/>
              </a:rPr>
              <a:t>定态波函数</a:t>
            </a:r>
            <a:r>
              <a:rPr lang="zh-CN" altLang="en-US" b="1">
                <a:solidFill>
                  <a:schemeClr val="bg1"/>
                </a:solidFill>
                <a:latin typeface="宋体" charset="-122"/>
              </a:rPr>
              <a:t>写为</a:t>
            </a:r>
          </a:p>
        </p:txBody>
      </p:sp>
      <p:graphicFrame>
        <p:nvGraphicFramePr>
          <p:cNvPr id="131080" name="Object 8"/>
          <p:cNvGraphicFramePr>
            <a:graphicFrameLocks noChangeAspect="1"/>
          </p:cNvGraphicFramePr>
          <p:nvPr/>
        </p:nvGraphicFramePr>
        <p:xfrm>
          <a:off x="3267075" y="5229225"/>
          <a:ext cx="2636838" cy="744538"/>
        </p:xfrm>
        <a:graphic>
          <a:graphicData uri="http://schemas.openxmlformats.org/presentationml/2006/ole">
            <p:oleObj spid="_x0000_s47112" name="公式" r:id="rId5" imgW="985320" imgH="269280" progId="Equation.3">
              <p:embed/>
            </p:oleObj>
          </a:graphicData>
        </a:graphic>
      </p:graphicFrame>
      <p:sp>
        <p:nvSpPr>
          <p:cNvPr id="131081" name="Text Box 9"/>
          <p:cNvSpPr txBox="1">
            <a:spLocks noChangeArrowheads="1"/>
          </p:cNvSpPr>
          <p:nvPr/>
        </p:nvSpPr>
        <p:spPr bwMode="auto">
          <a:xfrm>
            <a:off x="828675" y="5949950"/>
            <a:ext cx="2438400"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由上两式得</a:t>
            </a:r>
          </a:p>
        </p:txBody>
      </p:sp>
      <p:sp>
        <p:nvSpPr>
          <p:cNvPr id="131082" name="Line 10"/>
          <p:cNvSpPr>
            <a:spLocks noChangeShapeType="1"/>
          </p:cNvSpPr>
          <p:nvPr/>
        </p:nvSpPr>
        <p:spPr bwMode="auto">
          <a:xfrm>
            <a:off x="1223963" y="2393950"/>
            <a:ext cx="152400" cy="0"/>
          </a:xfrm>
          <a:prstGeom prst="line">
            <a:avLst/>
          </a:prstGeom>
          <a:noFill/>
          <a:ln w="9525">
            <a:solidFill>
              <a:schemeClr val="accent2"/>
            </a:solidFill>
            <a:round/>
            <a:headEnd/>
            <a:tailEnd type="triangle" w="sm" len="med"/>
          </a:ln>
          <a:effectLst/>
        </p:spPr>
        <p:txBody>
          <a:bodyPr/>
          <a:lstStyle/>
          <a:p>
            <a:endParaRPr lang="zh-CN" altLang="en-US"/>
          </a:p>
        </p:txBody>
      </p:sp>
      <p:sp>
        <p:nvSpPr>
          <p:cNvPr id="131083" name="Line 11"/>
          <p:cNvSpPr>
            <a:spLocks noChangeShapeType="1"/>
          </p:cNvSpPr>
          <p:nvPr/>
        </p:nvSpPr>
        <p:spPr bwMode="auto">
          <a:xfrm>
            <a:off x="5921375" y="4373563"/>
            <a:ext cx="152400" cy="0"/>
          </a:xfrm>
          <a:prstGeom prst="line">
            <a:avLst/>
          </a:prstGeom>
          <a:noFill/>
          <a:ln w="9525">
            <a:solidFill>
              <a:schemeClr val="accent2"/>
            </a:solidFill>
            <a:round/>
            <a:headEnd/>
            <a:tailEnd type="triangle" w="sm" len="med"/>
          </a:ln>
          <a:effectLst/>
        </p:spPr>
        <p:txBody>
          <a:bodyPr/>
          <a:lstStyle/>
          <a:p>
            <a:endParaRPr lang="zh-CN" altLang="en-US"/>
          </a:p>
        </p:txBody>
      </p:sp>
      <p:pic>
        <p:nvPicPr>
          <p:cNvPr id="131084" name="Picture 12" descr="33schrodinger"/>
          <p:cNvPicPr>
            <a:picLocks noChangeAspect="1" noChangeArrowheads="1"/>
          </p:cNvPicPr>
          <p:nvPr/>
        </p:nvPicPr>
        <p:blipFill>
          <a:blip r:embed="rId6"/>
          <a:srcRect/>
          <a:stretch>
            <a:fillRect/>
          </a:stretch>
        </p:blipFill>
        <p:spPr bwMode="auto">
          <a:xfrm>
            <a:off x="7032625" y="368300"/>
            <a:ext cx="1668463" cy="2251075"/>
          </a:xfrm>
          <a:prstGeom prst="rect">
            <a:avLst/>
          </a:prstGeom>
          <a:noFill/>
          <a:ln w="38100">
            <a:noFill/>
            <a:miter lim="800000"/>
            <a:headEnd/>
            <a:tailEnd/>
          </a:ln>
        </p:spPr>
      </p:pic>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1075"/>
                                        </p:tgtEl>
                                        <p:attrNameLst>
                                          <p:attrName>style.visibility</p:attrName>
                                        </p:attrNameLst>
                                      </p:cBhvr>
                                      <p:to>
                                        <p:strVal val="visible"/>
                                      </p:to>
                                    </p:set>
                                    <p:animEffect transition="in" filter="wipe(left)">
                                      <p:cBhvr>
                                        <p:cTn id="7" dur="500"/>
                                        <p:tgtEl>
                                          <p:spTgt spid="1310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1076"/>
                                        </p:tgtEl>
                                        <p:attrNameLst>
                                          <p:attrName>style.visibility</p:attrName>
                                        </p:attrNameLst>
                                      </p:cBhvr>
                                      <p:to>
                                        <p:strVal val="visible"/>
                                      </p:to>
                                    </p:set>
                                    <p:animEffect transition="in" filter="wipe(left)">
                                      <p:cBhvr>
                                        <p:cTn id="12" dur="500"/>
                                        <p:tgtEl>
                                          <p:spTgt spid="131076"/>
                                        </p:tgtEl>
                                      </p:cBhvr>
                                    </p:animEffect>
                                  </p:childTnLst>
                                </p:cTn>
                              </p:par>
                            </p:childTnLst>
                          </p:cTn>
                        </p:par>
                        <p:par>
                          <p:cTn id="13" fill="hold" nodeType="afterGroup">
                            <p:stCondLst>
                              <p:cond delay="500"/>
                            </p:stCondLst>
                            <p:childTnLst>
                              <p:par>
                                <p:cTn id="14" presetID="1" presetClass="entr" presetSubtype="0" fill="hold" grpId="0" nodeType="afterEffect" nodePh="1">
                                  <p:stCondLst>
                                    <p:cond delay="0"/>
                                  </p:stCondLst>
                                  <p:endCondLst>
                                    <p:cond evt="begin" delay="0">
                                      <p:tn val="14"/>
                                    </p:cond>
                                  </p:endCondLst>
                                  <p:childTnLst>
                                    <p:set>
                                      <p:cBhvr>
                                        <p:cTn id="15" dur="1" fill="hold">
                                          <p:stCondLst>
                                            <p:cond delay="499"/>
                                          </p:stCondLst>
                                        </p:cTn>
                                        <p:tgtEl>
                                          <p:spTgt spid="13108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1077"/>
                                        </p:tgtEl>
                                        <p:attrNameLst>
                                          <p:attrName>style.visibility</p:attrName>
                                        </p:attrNameLst>
                                      </p:cBhvr>
                                      <p:to>
                                        <p:strVal val="visible"/>
                                      </p:to>
                                    </p:set>
                                    <p:animEffect transition="in" filter="wipe(left)">
                                      <p:cBhvr>
                                        <p:cTn id="20" dur="500"/>
                                        <p:tgtEl>
                                          <p:spTgt spid="131077"/>
                                        </p:tgtEl>
                                      </p:cBhvr>
                                    </p:animEffect>
                                  </p:childTnLst>
                                </p:cTn>
                              </p:par>
                            </p:childTnLst>
                          </p:cTn>
                        </p:par>
                        <p:par>
                          <p:cTn id="21" fill="hold" nodeType="afterGroup">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131082"/>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499"/>
                                          </p:stCondLst>
                                        </p:cTn>
                                        <p:tgtEl>
                                          <p:spTgt spid="131078"/>
                                        </p:tgtEl>
                                        <p:attrNameLst>
                                          <p:attrName>style.visibility</p:attrName>
                                        </p:attrNameLst>
                                      </p:cBhvr>
                                      <p:to>
                                        <p:strVal val="visible"/>
                                      </p:to>
                                    </p:set>
                                  </p:childTnLst>
                                </p:cTn>
                              </p:par>
                            </p:childTnLst>
                          </p:cTn>
                        </p:par>
                        <p:par>
                          <p:cTn id="28" fill="hold" nodeType="afterGroup">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131074"/>
                                        </p:tgtEl>
                                        <p:attrNameLst>
                                          <p:attrName>style.visibility</p:attrName>
                                        </p:attrNameLst>
                                      </p:cBhvr>
                                      <p:to>
                                        <p:strVal val="visible"/>
                                      </p:to>
                                    </p:set>
                                    <p:animEffect transition="in" filter="dissolve">
                                      <p:cBhvr>
                                        <p:cTn id="31" dur="500"/>
                                        <p:tgtEl>
                                          <p:spTgt spid="13107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1079"/>
                                        </p:tgtEl>
                                        <p:attrNameLst>
                                          <p:attrName>style.visibility</p:attrName>
                                        </p:attrNameLst>
                                      </p:cBhvr>
                                      <p:to>
                                        <p:strVal val="visible"/>
                                      </p:to>
                                    </p:set>
                                    <p:animEffect transition="in" filter="wipe(left)">
                                      <p:cBhvr>
                                        <p:cTn id="36" dur="500"/>
                                        <p:tgtEl>
                                          <p:spTgt spid="131079"/>
                                        </p:tgtEl>
                                      </p:cBhvr>
                                    </p:animEffect>
                                  </p:childTnLst>
                                </p:cTn>
                              </p:par>
                            </p:childTnLst>
                          </p:cTn>
                        </p:par>
                        <p:par>
                          <p:cTn id="37" fill="hold" nodeType="afterGroup">
                            <p:stCondLst>
                              <p:cond delay="500"/>
                            </p:stCondLst>
                            <p:childTnLst>
                              <p:par>
                                <p:cTn id="38" presetID="1" presetClass="entr" presetSubtype="0" fill="hold" grpId="0" nodeType="afterEffect">
                                  <p:stCondLst>
                                    <p:cond delay="0"/>
                                  </p:stCondLst>
                                  <p:childTnLst>
                                    <p:set>
                                      <p:cBhvr>
                                        <p:cTn id="39" dur="1" fill="hold">
                                          <p:stCondLst>
                                            <p:cond delay="499"/>
                                          </p:stCondLst>
                                        </p:cTn>
                                        <p:tgtEl>
                                          <p:spTgt spid="131083"/>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131080"/>
                                        </p:tgtEl>
                                        <p:attrNameLst>
                                          <p:attrName>style.visibility</p:attrName>
                                        </p:attrNameLst>
                                      </p:cBhvr>
                                      <p:to>
                                        <p:strVal val="visible"/>
                                      </p:to>
                                    </p:set>
                                    <p:animEffect transition="in" filter="wipe(left)">
                                      <p:cBhvr>
                                        <p:cTn id="44" dur="500"/>
                                        <p:tgtEl>
                                          <p:spTgt spid="13108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31081"/>
                                        </p:tgtEl>
                                        <p:attrNameLst>
                                          <p:attrName>style.visibility</p:attrName>
                                        </p:attrNameLst>
                                      </p:cBhvr>
                                      <p:to>
                                        <p:strVal val="visible"/>
                                      </p:to>
                                    </p:set>
                                    <p:animEffect transition="in" filter="wipe(left)">
                                      <p:cBhvr>
                                        <p:cTn id="49" dur="500"/>
                                        <p:tgtEl>
                                          <p:spTgt spid="131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animBg="1" autoUpdateAnimBg="0"/>
      <p:bldP spid="131075" grpId="0"/>
      <p:bldP spid="131076" grpId="0"/>
      <p:bldP spid="131077" grpId="0" autoUpdateAnimBg="0"/>
      <p:bldP spid="131079" grpId="0" autoUpdateAnimBg="0"/>
      <p:bldP spid="131081" grpId="0" autoUpdateAnimBg="0"/>
      <p:bldP spid="131082" grpId="0" animBg="1"/>
      <p:bldP spid="131083" grpId="0" animBg="1"/>
      <p:bldP spid="13108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2098" name="Object 2"/>
          <p:cNvGraphicFramePr>
            <a:graphicFrameLocks noChangeAspect="1"/>
          </p:cNvGraphicFramePr>
          <p:nvPr/>
        </p:nvGraphicFramePr>
        <p:xfrm>
          <a:off x="1557338" y="1262063"/>
          <a:ext cx="5235575" cy="866775"/>
        </p:xfrm>
        <a:graphic>
          <a:graphicData uri="http://schemas.openxmlformats.org/presentationml/2006/ole">
            <p:oleObj spid="_x0000_s48130" name="公式" r:id="rId4" imgW="2500200" imgH="399600" progId="Equation.3">
              <p:embed/>
            </p:oleObj>
          </a:graphicData>
        </a:graphic>
      </p:graphicFrame>
      <p:sp>
        <p:nvSpPr>
          <p:cNvPr id="132099" name="Rectangle 3"/>
          <p:cNvSpPr>
            <a:spLocks noChangeArrowheads="1"/>
          </p:cNvSpPr>
          <p:nvPr/>
        </p:nvSpPr>
        <p:spPr bwMode="auto">
          <a:xfrm>
            <a:off x="685800" y="568325"/>
            <a:ext cx="2971800" cy="457200"/>
          </a:xfrm>
          <a:prstGeom prst="rect">
            <a:avLst/>
          </a:prstGeom>
          <a:noFill/>
          <a:ln w="9525">
            <a:noFill/>
            <a:miter lim="800000"/>
            <a:headEnd/>
            <a:tailEnd/>
          </a:ln>
          <a:effectLst/>
        </p:spPr>
        <p:txBody>
          <a:bodyPr>
            <a:spAutoFit/>
          </a:bodyPr>
          <a:lstStyle/>
          <a:p>
            <a:r>
              <a:rPr lang="zh-CN" altLang="en-US" b="1">
                <a:solidFill>
                  <a:schemeClr val="bg1"/>
                </a:solidFill>
              </a:rPr>
              <a:t>定态薛定谔方程</a:t>
            </a:r>
          </a:p>
        </p:txBody>
      </p:sp>
      <p:sp>
        <p:nvSpPr>
          <p:cNvPr id="132100" name="AutoShape 4"/>
          <p:cNvSpPr>
            <a:spLocks noChangeArrowheads="1"/>
          </p:cNvSpPr>
          <p:nvPr/>
        </p:nvSpPr>
        <p:spPr bwMode="auto">
          <a:xfrm>
            <a:off x="4392613" y="503238"/>
            <a:ext cx="1752600" cy="533400"/>
          </a:xfrm>
          <a:prstGeom prst="wedgeRoundRectCallout">
            <a:avLst>
              <a:gd name="adj1" fmla="val -6611"/>
              <a:gd name="adj2" fmla="val 143153"/>
              <a:gd name="adj3" fmla="val 16667"/>
            </a:avLst>
          </a:prstGeom>
          <a:solidFill>
            <a:srgbClr val="CCFFCC"/>
          </a:solidFill>
          <a:ln w="9525">
            <a:solidFill>
              <a:srgbClr val="00FF00"/>
            </a:solidFill>
            <a:miter lim="800000"/>
            <a:headEnd/>
            <a:tailEnd/>
          </a:ln>
          <a:effectLst/>
        </p:spPr>
        <p:txBody>
          <a:bodyPr/>
          <a:lstStyle/>
          <a:p>
            <a:pPr algn="ctr"/>
            <a:r>
              <a:rPr lang="zh-CN" altLang="en-US" b="1">
                <a:solidFill>
                  <a:schemeClr val="bg1"/>
                </a:solidFill>
                <a:ea typeface="楷体_GB2312" pitchFamily="49" charset="-122"/>
              </a:rPr>
              <a:t>粒子能量</a:t>
            </a:r>
          </a:p>
        </p:txBody>
      </p:sp>
      <p:sp>
        <p:nvSpPr>
          <p:cNvPr id="132101" name="Text Box 5"/>
          <p:cNvSpPr txBox="1">
            <a:spLocks noChangeArrowheads="1"/>
          </p:cNvSpPr>
          <p:nvPr/>
        </p:nvSpPr>
        <p:spPr bwMode="auto">
          <a:xfrm>
            <a:off x="685800" y="2835275"/>
            <a:ext cx="6564313" cy="1003300"/>
          </a:xfrm>
          <a:prstGeom prst="rect">
            <a:avLst/>
          </a:prstGeom>
          <a:noFill/>
          <a:ln w="9525">
            <a:noFill/>
            <a:miter lim="800000"/>
            <a:headEnd/>
            <a:tailEnd/>
          </a:ln>
          <a:effectLst/>
        </p:spPr>
        <p:txBody>
          <a:bodyPr>
            <a:spAutoFit/>
          </a:bodyPr>
          <a:lstStyle/>
          <a:p>
            <a:pPr marL="457200" indent="-457200">
              <a:lnSpc>
                <a:spcPct val="115000"/>
              </a:lnSpc>
            </a:pPr>
            <a:r>
              <a:rPr lang="en-US" altLang="zh-CN" b="1">
                <a:solidFill>
                  <a:schemeClr val="bg1"/>
                </a:solidFill>
                <a:latin typeface="楷体_GB2312" pitchFamily="49" charset="-122"/>
                <a:ea typeface="楷体_GB2312" pitchFamily="49" charset="-122"/>
              </a:rPr>
              <a:t>(1)</a:t>
            </a:r>
            <a:r>
              <a:rPr lang="zh-CN" altLang="en-US" b="1">
                <a:solidFill>
                  <a:schemeClr val="bg1"/>
                </a:solidFill>
                <a:latin typeface="楷体_GB2312" pitchFamily="49" charset="-122"/>
                <a:ea typeface="楷体_GB2312" pitchFamily="49" charset="-122"/>
              </a:rPr>
              <a:t>求解</a:t>
            </a:r>
            <a:r>
              <a:rPr lang="zh-CN" altLang="en-US" b="1">
                <a:solidFill>
                  <a:srgbClr val="FFCC66"/>
                </a:solidFill>
              </a:rPr>
              <a:t>              </a:t>
            </a:r>
            <a:r>
              <a:rPr lang="zh-CN" altLang="en-US" b="1">
                <a:solidFill>
                  <a:srgbClr val="FF6600"/>
                </a:solidFill>
              </a:rPr>
              <a:t>  </a:t>
            </a:r>
            <a:r>
              <a:rPr lang="en-US" altLang="zh-CN" b="1" i="1">
                <a:solidFill>
                  <a:srgbClr val="FF6600"/>
                </a:solidFill>
              </a:rPr>
              <a:t>E  </a:t>
            </a:r>
            <a:r>
              <a:rPr lang="en-US" altLang="zh-CN" b="1" i="1">
                <a:solidFill>
                  <a:srgbClr val="66FFFF"/>
                </a:solidFill>
              </a:rPr>
              <a:t>  </a:t>
            </a:r>
            <a:r>
              <a:rPr lang="en-US" altLang="zh-CN" b="1" i="1">
                <a:solidFill>
                  <a:srgbClr val="99FFCC"/>
                </a:solidFill>
              </a:rPr>
              <a:t>  </a:t>
            </a:r>
            <a:r>
              <a:rPr lang="zh-CN" altLang="en-US" b="1">
                <a:solidFill>
                  <a:schemeClr val="bg1"/>
                </a:solidFill>
                <a:ea typeface="楷体_GB2312" pitchFamily="49" charset="-122"/>
              </a:rPr>
              <a:t>（粒子能量）</a:t>
            </a:r>
            <a:r>
              <a:rPr lang="zh-CN" altLang="en-US" b="1">
                <a:solidFill>
                  <a:schemeClr val="bg1"/>
                </a:solidFill>
              </a:rPr>
              <a:t> </a:t>
            </a:r>
          </a:p>
          <a:p>
            <a:pPr marL="457200" indent="-457200">
              <a:lnSpc>
                <a:spcPct val="115000"/>
              </a:lnSpc>
            </a:pPr>
            <a:r>
              <a:rPr lang="zh-CN" altLang="en-US" sz="2800" b="1" i="1">
                <a:solidFill>
                  <a:srgbClr val="99FFCC"/>
                </a:solidFill>
              </a:rPr>
              <a:t>                      </a:t>
            </a:r>
            <a:r>
              <a:rPr lang="zh-CN" altLang="en-US" b="1" i="1">
                <a:solidFill>
                  <a:srgbClr val="FF6600"/>
                </a:solidFill>
                <a:sym typeface="Symbol" pitchFamily="18" charset="2"/>
              </a:rPr>
              <a:t></a:t>
            </a:r>
            <a:r>
              <a:rPr lang="zh-CN" altLang="en-US" b="1" i="1">
                <a:solidFill>
                  <a:srgbClr val="FF6600"/>
                </a:solidFill>
              </a:rPr>
              <a:t> </a:t>
            </a:r>
            <a:r>
              <a:rPr lang="en-US" altLang="zh-CN" b="1">
                <a:solidFill>
                  <a:srgbClr val="FF6600"/>
                </a:solidFill>
              </a:rPr>
              <a:t>( </a:t>
            </a:r>
            <a:r>
              <a:rPr lang="en-US" altLang="zh-CN" b="1" i="1">
                <a:solidFill>
                  <a:srgbClr val="FF6600"/>
                </a:solidFill>
              </a:rPr>
              <a:t>r </a:t>
            </a:r>
            <a:r>
              <a:rPr lang="en-US" altLang="zh-CN" b="1">
                <a:solidFill>
                  <a:srgbClr val="FF6600"/>
                </a:solidFill>
              </a:rPr>
              <a:t>)</a:t>
            </a:r>
            <a:r>
              <a:rPr lang="en-US" altLang="zh-CN" sz="2800" b="1">
                <a:solidFill>
                  <a:srgbClr val="99FFCC"/>
                </a:solidFill>
              </a:rPr>
              <a:t> </a:t>
            </a:r>
            <a:r>
              <a:rPr lang="zh-CN" altLang="en-US" sz="2800" b="1">
                <a:solidFill>
                  <a:schemeClr val="bg1"/>
                </a:solidFill>
                <a:ea typeface="楷体_GB2312" pitchFamily="49" charset="-122"/>
              </a:rPr>
              <a:t>（</a:t>
            </a:r>
            <a:r>
              <a:rPr lang="zh-CN" altLang="en-US" b="1">
                <a:solidFill>
                  <a:schemeClr val="bg1"/>
                </a:solidFill>
                <a:ea typeface="楷体_GB2312" pitchFamily="49" charset="-122"/>
              </a:rPr>
              <a:t>定态波函数）</a:t>
            </a:r>
          </a:p>
        </p:txBody>
      </p:sp>
      <p:sp>
        <p:nvSpPr>
          <p:cNvPr id="132102" name="Text Box 6"/>
          <p:cNvSpPr txBox="1">
            <a:spLocks noChangeArrowheads="1"/>
          </p:cNvSpPr>
          <p:nvPr/>
        </p:nvSpPr>
        <p:spPr bwMode="auto">
          <a:xfrm>
            <a:off x="684213" y="3978275"/>
            <a:ext cx="5334000" cy="512763"/>
          </a:xfrm>
          <a:prstGeom prst="rect">
            <a:avLst/>
          </a:prstGeom>
          <a:noFill/>
          <a:ln w="9525">
            <a:noFill/>
            <a:miter lim="800000"/>
            <a:headEnd/>
            <a:tailEnd/>
          </a:ln>
          <a:effectLst/>
        </p:spPr>
        <p:txBody>
          <a:bodyPr>
            <a:spAutoFit/>
          </a:bodyPr>
          <a:lstStyle/>
          <a:p>
            <a:pPr>
              <a:lnSpc>
                <a:spcPct val="115000"/>
              </a:lnSpc>
            </a:pPr>
            <a:r>
              <a:rPr lang="en-US" altLang="zh-CN" b="1">
                <a:solidFill>
                  <a:schemeClr val="bg1"/>
                </a:solidFill>
                <a:latin typeface="楷体_GB2312" pitchFamily="49" charset="-122"/>
                <a:ea typeface="楷体_GB2312" pitchFamily="49" charset="-122"/>
              </a:rPr>
              <a:t>(2)</a:t>
            </a:r>
            <a:r>
              <a:rPr lang="zh-CN" altLang="en-US" b="1">
                <a:solidFill>
                  <a:schemeClr val="bg1"/>
                </a:solidFill>
                <a:latin typeface="楷体_GB2312" pitchFamily="49" charset="-122"/>
                <a:ea typeface="楷体_GB2312" pitchFamily="49" charset="-122"/>
              </a:rPr>
              <a:t>势能函数 </a:t>
            </a:r>
            <a:r>
              <a:rPr lang="en-US" altLang="zh-CN" b="1" i="1">
                <a:solidFill>
                  <a:srgbClr val="FF6600"/>
                </a:solidFill>
                <a:ea typeface="楷体_GB2312" pitchFamily="49" charset="-122"/>
              </a:rPr>
              <a:t>V </a:t>
            </a:r>
            <a:r>
              <a:rPr lang="en-US" altLang="zh-CN" b="1" i="1">
                <a:solidFill>
                  <a:schemeClr val="bg1"/>
                </a:solidFill>
                <a:ea typeface="楷体_GB2312" pitchFamily="49" charset="-122"/>
              </a:rPr>
              <a:t> </a:t>
            </a:r>
            <a:r>
              <a:rPr lang="zh-CN" altLang="en-US" b="1">
                <a:solidFill>
                  <a:schemeClr val="bg1"/>
                </a:solidFill>
                <a:latin typeface="楷体_GB2312" pitchFamily="49" charset="-122"/>
                <a:ea typeface="楷体_GB2312" pitchFamily="49" charset="-122"/>
              </a:rPr>
              <a:t>不随时间变化。</a:t>
            </a:r>
          </a:p>
        </p:txBody>
      </p:sp>
      <p:sp>
        <p:nvSpPr>
          <p:cNvPr id="132103" name="Rectangle 7"/>
          <p:cNvSpPr>
            <a:spLocks noChangeArrowheads="1"/>
          </p:cNvSpPr>
          <p:nvPr/>
        </p:nvSpPr>
        <p:spPr bwMode="auto">
          <a:xfrm>
            <a:off x="457200" y="4681538"/>
            <a:ext cx="7239000" cy="457200"/>
          </a:xfrm>
          <a:prstGeom prst="rect">
            <a:avLst/>
          </a:prstGeom>
          <a:noFill/>
          <a:ln w="9525">
            <a:noFill/>
            <a:miter lim="800000"/>
            <a:headEnd/>
            <a:tailEnd/>
          </a:ln>
          <a:effectLst/>
        </p:spPr>
        <p:txBody>
          <a:bodyPr>
            <a:spAutoFit/>
          </a:bodyPr>
          <a:lstStyle/>
          <a:p>
            <a:pPr indent="269875"/>
            <a:r>
              <a:rPr lang="zh-CN" altLang="en-US" b="1">
                <a:solidFill>
                  <a:schemeClr val="accent2"/>
                </a:solidFill>
              </a:rPr>
              <a:t>一维定态薛定谔方程</a:t>
            </a:r>
            <a:r>
              <a:rPr lang="zh-CN" altLang="en-US" b="1">
                <a:solidFill>
                  <a:schemeClr val="bg1"/>
                </a:solidFill>
                <a:latin typeface="楷体_GB2312" pitchFamily="49" charset="-122"/>
                <a:ea typeface="楷体_GB2312" pitchFamily="49" charset="-122"/>
              </a:rPr>
              <a:t>（粒子在一维空间运动</a:t>
            </a:r>
            <a:r>
              <a:rPr lang="en-US" altLang="zh-CN" b="1">
                <a:solidFill>
                  <a:schemeClr val="bg1"/>
                </a:solidFill>
                <a:latin typeface="楷体_GB2312" pitchFamily="49" charset="-122"/>
                <a:ea typeface="楷体_GB2312" pitchFamily="49" charset="-122"/>
              </a:rPr>
              <a:t>)</a:t>
            </a:r>
          </a:p>
        </p:txBody>
      </p:sp>
      <p:sp>
        <p:nvSpPr>
          <p:cNvPr id="132104" name="AutoShape 8"/>
          <p:cNvSpPr>
            <a:spLocks noChangeArrowheads="1"/>
          </p:cNvSpPr>
          <p:nvPr/>
        </p:nvSpPr>
        <p:spPr bwMode="auto">
          <a:xfrm>
            <a:off x="2286000" y="5410200"/>
            <a:ext cx="3995738" cy="944563"/>
          </a:xfrm>
          <a:prstGeom prst="bevel">
            <a:avLst>
              <a:gd name="adj" fmla="val 0"/>
            </a:avLst>
          </a:prstGeom>
          <a:solidFill>
            <a:srgbClr val="CCFFFF"/>
          </a:solidFill>
          <a:ln w="9525">
            <a:solidFill>
              <a:srgbClr val="00FFFF"/>
            </a:solidFill>
            <a:miter lim="800000"/>
            <a:headEnd/>
            <a:tailEnd/>
          </a:ln>
          <a:effectLst/>
        </p:spPr>
        <p:txBody>
          <a:bodyPr wrap="none" anchor="ctr"/>
          <a:lstStyle/>
          <a:p>
            <a:endParaRPr lang="zh-CN" altLang="en-US"/>
          </a:p>
        </p:txBody>
      </p:sp>
      <p:graphicFrame>
        <p:nvGraphicFramePr>
          <p:cNvPr id="132105" name="Object 9"/>
          <p:cNvGraphicFramePr>
            <a:graphicFrameLocks noChangeAspect="1"/>
          </p:cNvGraphicFramePr>
          <p:nvPr/>
        </p:nvGraphicFramePr>
        <p:xfrm>
          <a:off x="2546350" y="5499100"/>
          <a:ext cx="3581400" cy="755650"/>
        </p:xfrm>
        <a:graphic>
          <a:graphicData uri="http://schemas.openxmlformats.org/presentationml/2006/ole">
            <p:oleObj spid="_x0000_s48137" name="公式" r:id="rId5" imgW="1677600" imgH="342720" progId="Equation.3">
              <p:embed/>
            </p:oleObj>
          </a:graphicData>
        </a:graphic>
      </p:graphicFrame>
      <p:sp>
        <p:nvSpPr>
          <p:cNvPr id="132106" name="AutoShape 10"/>
          <p:cNvSpPr>
            <a:spLocks/>
          </p:cNvSpPr>
          <p:nvPr/>
        </p:nvSpPr>
        <p:spPr bwMode="auto">
          <a:xfrm>
            <a:off x="7092950" y="695325"/>
            <a:ext cx="1844675" cy="987425"/>
          </a:xfrm>
          <a:prstGeom prst="borderCallout2">
            <a:avLst>
              <a:gd name="adj1" fmla="val 11574"/>
              <a:gd name="adj2" fmla="val -4130"/>
              <a:gd name="adj3" fmla="val 11574"/>
              <a:gd name="adj4" fmla="val -27106"/>
              <a:gd name="adj5" fmla="val 81028"/>
              <a:gd name="adj6" fmla="val -82273"/>
            </a:avLst>
          </a:prstGeom>
          <a:solidFill>
            <a:srgbClr val="CCFFCC"/>
          </a:solidFill>
          <a:ln w="28575">
            <a:solidFill>
              <a:srgbClr val="00FF00">
                <a:alpha val="63921"/>
              </a:srgbClr>
            </a:solidFill>
            <a:miter lim="800000"/>
            <a:headEnd/>
            <a:tailEnd/>
          </a:ln>
          <a:effectLst/>
        </p:spPr>
        <p:txBody>
          <a:bodyPr/>
          <a:lstStyle/>
          <a:p>
            <a:pPr algn="ctr"/>
            <a:r>
              <a:rPr lang="zh-CN" altLang="en-US" b="1">
                <a:solidFill>
                  <a:schemeClr val="bg1"/>
                </a:solidFill>
                <a:ea typeface="楷体_GB2312" pitchFamily="49" charset="-122"/>
              </a:rPr>
              <a:t>描述外力场的势能函数</a:t>
            </a:r>
          </a:p>
        </p:txBody>
      </p:sp>
      <p:sp>
        <p:nvSpPr>
          <p:cNvPr id="132107" name="Line 11"/>
          <p:cNvSpPr>
            <a:spLocks noChangeShapeType="1"/>
          </p:cNvSpPr>
          <p:nvPr/>
        </p:nvSpPr>
        <p:spPr bwMode="auto">
          <a:xfrm>
            <a:off x="3222625" y="3473450"/>
            <a:ext cx="152400" cy="0"/>
          </a:xfrm>
          <a:prstGeom prst="line">
            <a:avLst/>
          </a:prstGeom>
          <a:noFill/>
          <a:ln w="9525">
            <a:solidFill>
              <a:srgbClr val="FF6600"/>
            </a:solidFill>
            <a:round/>
            <a:headEnd/>
            <a:tailEnd type="triangle" w="sm" len="med"/>
          </a:ln>
          <a:effectLst/>
        </p:spPr>
        <p:txBody>
          <a:bodyPr/>
          <a:lstStyle/>
          <a:p>
            <a:endParaRPr lang="zh-CN" altLang="en-US"/>
          </a:p>
        </p:txBody>
      </p:sp>
      <p:sp>
        <p:nvSpPr>
          <p:cNvPr id="132108" name="Rectangle 12"/>
          <p:cNvSpPr>
            <a:spLocks noChangeArrowheads="1"/>
          </p:cNvSpPr>
          <p:nvPr/>
        </p:nvSpPr>
        <p:spPr bwMode="auto">
          <a:xfrm>
            <a:off x="522288" y="2265363"/>
            <a:ext cx="1725612" cy="457200"/>
          </a:xfrm>
          <a:prstGeom prst="rect">
            <a:avLst/>
          </a:prstGeom>
          <a:noFill/>
          <a:ln w="9525">
            <a:noFill/>
            <a:miter lim="800000"/>
            <a:headEnd/>
            <a:tailEnd/>
          </a:ln>
          <a:effectLst/>
        </p:spPr>
        <p:txBody>
          <a:bodyPr>
            <a:spAutoFit/>
          </a:bodyPr>
          <a:lstStyle/>
          <a:p>
            <a:r>
              <a:rPr lang="zh-CN" altLang="en-US" b="1">
                <a:solidFill>
                  <a:srgbClr val="FF6600"/>
                </a:solidFill>
              </a:rPr>
              <a:t>说明</a:t>
            </a:r>
          </a:p>
        </p:txBody>
      </p:sp>
      <p:sp>
        <p:nvSpPr>
          <p:cNvPr id="132109" name="AutoShape 13"/>
          <p:cNvSpPr>
            <a:spLocks noChangeArrowheads="1"/>
          </p:cNvSpPr>
          <p:nvPr/>
        </p:nvSpPr>
        <p:spPr bwMode="auto">
          <a:xfrm>
            <a:off x="161925" y="2205038"/>
            <a:ext cx="360363" cy="576262"/>
          </a:xfrm>
          <a:prstGeom prst="star4">
            <a:avLst>
              <a:gd name="adj" fmla="val 18519"/>
            </a:avLst>
          </a:prstGeom>
          <a:gradFill rotWithShape="0">
            <a:gsLst>
              <a:gs pos="0">
                <a:srgbClr val="FF6600"/>
              </a:gs>
              <a:gs pos="100000">
                <a:srgbClr val="762F00"/>
              </a:gs>
            </a:gsLst>
            <a:path path="shape">
              <a:fillToRect l="50000" t="50000" r="50000" b="50000"/>
            </a:path>
          </a:gradFill>
          <a:ln w="9525">
            <a:noFill/>
            <a:miter lim="800000"/>
            <a:headEnd/>
            <a:tailEnd/>
          </a:ln>
          <a:effectLst/>
        </p:spPr>
        <p:txBody>
          <a:bodyPr wrap="none" anchor="ctr"/>
          <a:lstStyle/>
          <a:p>
            <a:endParaRPr lang="zh-CN" altLang="en-US"/>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2099"/>
                                        </p:tgtEl>
                                        <p:attrNameLst>
                                          <p:attrName>style.visibility</p:attrName>
                                        </p:attrNameLst>
                                      </p:cBhvr>
                                      <p:to>
                                        <p:strVal val="visible"/>
                                      </p:to>
                                    </p:set>
                                    <p:animEffect transition="in" filter="wipe(left)">
                                      <p:cBhvr>
                                        <p:cTn id="7" dur="500"/>
                                        <p:tgtEl>
                                          <p:spTgt spid="1320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2098"/>
                                        </p:tgtEl>
                                        <p:attrNameLst>
                                          <p:attrName>style.visibility</p:attrName>
                                        </p:attrNameLst>
                                      </p:cBhvr>
                                      <p:to>
                                        <p:strVal val="visible"/>
                                      </p:to>
                                    </p:set>
                                    <p:animEffect transition="in" filter="wipe(left)">
                                      <p:cBhvr>
                                        <p:cTn id="12" dur="500"/>
                                        <p:tgtEl>
                                          <p:spTgt spid="1320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2100"/>
                                        </p:tgtEl>
                                        <p:attrNameLst>
                                          <p:attrName>style.visibility</p:attrName>
                                        </p:attrNameLst>
                                      </p:cBhvr>
                                      <p:to>
                                        <p:strVal val="visible"/>
                                      </p:to>
                                    </p:set>
                                    <p:animEffect transition="in" filter="wipe(down)">
                                      <p:cBhvr>
                                        <p:cTn id="17" dur="500"/>
                                        <p:tgtEl>
                                          <p:spTgt spid="1321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2106"/>
                                        </p:tgtEl>
                                        <p:attrNameLst>
                                          <p:attrName>style.visibility</p:attrName>
                                        </p:attrNameLst>
                                      </p:cBhvr>
                                      <p:to>
                                        <p:strVal val="visible"/>
                                      </p:to>
                                    </p:set>
                                    <p:animEffect transition="in" filter="wipe(left)">
                                      <p:cBhvr>
                                        <p:cTn id="22" dur="500"/>
                                        <p:tgtEl>
                                          <p:spTgt spid="1321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2109"/>
                                        </p:tgtEl>
                                        <p:attrNameLst>
                                          <p:attrName>style.visibility</p:attrName>
                                        </p:attrNameLst>
                                      </p:cBhvr>
                                      <p:to>
                                        <p:strVal val="visible"/>
                                      </p:to>
                                    </p:set>
                                    <p:animEffect transition="in" filter="dissolve">
                                      <p:cBhvr>
                                        <p:cTn id="27" dur="500"/>
                                        <p:tgtEl>
                                          <p:spTgt spid="132109"/>
                                        </p:tgtEl>
                                      </p:cBhvr>
                                    </p:animEffect>
                                  </p:childTnLst>
                                </p:cTn>
                              </p:par>
                            </p:childTnLst>
                          </p:cTn>
                        </p:par>
                        <p:par>
                          <p:cTn id="28" fill="hold" nodeType="afterGroup">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132108"/>
                                        </p:tgtEl>
                                        <p:attrNameLst>
                                          <p:attrName>style.visibility</p:attrName>
                                        </p:attrNameLst>
                                      </p:cBhvr>
                                      <p:to>
                                        <p:strVal val="visible"/>
                                      </p:to>
                                    </p:set>
                                    <p:animEffect transition="in" filter="dissolve">
                                      <p:cBhvr>
                                        <p:cTn id="31" dur="500"/>
                                        <p:tgtEl>
                                          <p:spTgt spid="13210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2101"/>
                                        </p:tgtEl>
                                        <p:attrNameLst>
                                          <p:attrName>style.visibility</p:attrName>
                                        </p:attrNameLst>
                                      </p:cBhvr>
                                      <p:to>
                                        <p:strVal val="visible"/>
                                      </p:to>
                                    </p:set>
                                    <p:animEffect transition="in" filter="wipe(left)">
                                      <p:cBhvr>
                                        <p:cTn id="36" dur="500"/>
                                        <p:tgtEl>
                                          <p:spTgt spid="132101"/>
                                        </p:tgtEl>
                                      </p:cBhvr>
                                    </p:animEffect>
                                  </p:childTnLst>
                                </p:cTn>
                              </p:par>
                            </p:childTnLst>
                          </p:cTn>
                        </p:par>
                        <p:par>
                          <p:cTn id="37" fill="hold" nodeType="afterGroup">
                            <p:stCondLst>
                              <p:cond delay="500"/>
                            </p:stCondLst>
                            <p:childTnLst>
                              <p:par>
                                <p:cTn id="38" presetID="1" presetClass="entr" presetSubtype="0" fill="hold" grpId="0" nodeType="afterEffect">
                                  <p:stCondLst>
                                    <p:cond delay="0"/>
                                  </p:stCondLst>
                                  <p:childTnLst>
                                    <p:set>
                                      <p:cBhvr>
                                        <p:cTn id="39" dur="1" fill="hold">
                                          <p:stCondLst>
                                            <p:cond delay="499"/>
                                          </p:stCondLst>
                                        </p:cTn>
                                        <p:tgtEl>
                                          <p:spTgt spid="132107"/>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32102"/>
                                        </p:tgtEl>
                                        <p:attrNameLst>
                                          <p:attrName>style.visibility</p:attrName>
                                        </p:attrNameLst>
                                      </p:cBhvr>
                                      <p:to>
                                        <p:strVal val="visible"/>
                                      </p:to>
                                    </p:set>
                                    <p:animEffect transition="in" filter="wipe(left)">
                                      <p:cBhvr>
                                        <p:cTn id="44" dur="500"/>
                                        <p:tgtEl>
                                          <p:spTgt spid="13210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32103"/>
                                        </p:tgtEl>
                                        <p:attrNameLst>
                                          <p:attrName>style.visibility</p:attrName>
                                        </p:attrNameLst>
                                      </p:cBhvr>
                                      <p:to>
                                        <p:strVal val="visible"/>
                                      </p:to>
                                    </p:set>
                                    <p:animEffect transition="in" filter="wipe(left)">
                                      <p:cBhvr>
                                        <p:cTn id="49" dur="500"/>
                                        <p:tgtEl>
                                          <p:spTgt spid="13210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132104"/>
                                        </p:tgtEl>
                                        <p:attrNameLst>
                                          <p:attrName>style.visibility</p:attrName>
                                        </p:attrNameLst>
                                      </p:cBhvr>
                                      <p:to>
                                        <p:strVal val="visible"/>
                                      </p:to>
                                    </p:set>
                                  </p:childTnLst>
                                </p:cTn>
                              </p:par>
                            </p:childTnLst>
                          </p:cTn>
                        </p:par>
                        <p:par>
                          <p:cTn id="54" fill="hold" nodeType="afterGroup">
                            <p:stCondLst>
                              <p:cond delay="500"/>
                            </p:stCondLst>
                            <p:childTnLst>
                              <p:par>
                                <p:cTn id="55" presetID="9" presetClass="entr" presetSubtype="0" fill="hold" nodeType="afterEffect">
                                  <p:stCondLst>
                                    <p:cond delay="0"/>
                                  </p:stCondLst>
                                  <p:childTnLst>
                                    <p:set>
                                      <p:cBhvr>
                                        <p:cTn id="56" dur="1" fill="hold">
                                          <p:stCondLst>
                                            <p:cond delay="0"/>
                                          </p:stCondLst>
                                        </p:cTn>
                                        <p:tgtEl>
                                          <p:spTgt spid="132105"/>
                                        </p:tgtEl>
                                        <p:attrNameLst>
                                          <p:attrName>style.visibility</p:attrName>
                                        </p:attrNameLst>
                                      </p:cBhvr>
                                      <p:to>
                                        <p:strVal val="visible"/>
                                      </p:to>
                                    </p:set>
                                    <p:animEffect transition="in" filter="dissolve">
                                      <p:cBhvr>
                                        <p:cTn id="57" dur="500"/>
                                        <p:tgtEl>
                                          <p:spTgt spid="132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9" grpId="0"/>
      <p:bldP spid="132100" grpId="0" animBg="1" autoUpdateAnimBg="0"/>
      <p:bldP spid="132101" grpId="0" autoUpdateAnimBg="0"/>
      <p:bldP spid="132102" grpId="0" autoUpdateAnimBg="0"/>
      <p:bldP spid="132103" grpId="0" autoUpdateAnimBg="0"/>
      <p:bldP spid="132104" grpId="0" animBg="1"/>
      <p:bldP spid="132106" grpId="0" animBg="1" autoUpdateAnimBg="0"/>
      <p:bldP spid="132107" grpId="0" animBg="1"/>
      <p:bldP spid="132108" grpId="0"/>
      <p:bldP spid="13210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Text Box 2"/>
          <p:cNvSpPr txBox="1">
            <a:spLocks noChangeArrowheads="1"/>
          </p:cNvSpPr>
          <p:nvPr/>
        </p:nvSpPr>
        <p:spPr bwMode="auto">
          <a:xfrm>
            <a:off x="296863" y="819150"/>
            <a:ext cx="4343400" cy="457200"/>
          </a:xfrm>
          <a:prstGeom prst="rect">
            <a:avLst/>
          </a:prstGeom>
          <a:noFill/>
          <a:ln w="9525">
            <a:noFill/>
            <a:miter lim="800000"/>
            <a:headEnd/>
            <a:tailEnd/>
          </a:ln>
          <a:effectLst/>
        </p:spPr>
        <p:txBody>
          <a:bodyPr>
            <a:spAutoFit/>
          </a:bodyPr>
          <a:lstStyle/>
          <a:p>
            <a:r>
              <a:rPr lang="zh-CN" altLang="en-US" b="1">
                <a:solidFill>
                  <a:srgbClr val="0000FF"/>
                </a:solidFill>
                <a:latin typeface="宋体" charset="-122"/>
              </a:rPr>
              <a:t>薛定谔方程的意义：</a:t>
            </a:r>
            <a:endParaRPr lang="zh-CN" altLang="en-US">
              <a:solidFill>
                <a:srgbClr val="0000FF"/>
              </a:solidFill>
              <a:latin typeface="宋体" charset="-122"/>
            </a:endParaRPr>
          </a:p>
        </p:txBody>
      </p:sp>
      <p:sp>
        <p:nvSpPr>
          <p:cNvPr id="198662" name="Text Box 6"/>
          <p:cNvSpPr txBox="1">
            <a:spLocks noChangeArrowheads="1"/>
          </p:cNvSpPr>
          <p:nvPr/>
        </p:nvSpPr>
        <p:spPr bwMode="auto">
          <a:xfrm>
            <a:off x="373063" y="1414463"/>
            <a:ext cx="7754937" cy="968375"/>
          </a:xfrm>
          <a:prstGeom prst="rect">
            <a:avLst/>
          </a:prstGeom>
          <a:noFill/>
          <a:ln w="9525">
            <a:noFill/>
            <a:miter lim="800000"/>
            <a:headEnd/>
            <a:tailEnd/>
          </a:ln>
          <a:effectLst/>
        </p:spPr>
        <p:txBody>
          <a:bodyPr>
            <a:spAutoFit/>
          </a:bodyPr>
          <a:lstStyle/>
          <a:p>
            <a:pPr>
              <a:lnSpc>
                <a:spcPct val="120000"/>
              </a:lnSpc>
            </a:pPr>
            <a:r>
              <a:rPr lang="zh-CN" altLang="en-US" b="1">
                <a:solidFill>
                  <a:schemeClr val="bg2"/>
                </a:solidFill>
                <a:latin typeface="宋体" charset="-122"/>
              </a:rPr>
              <a:t>　</a:t>
            </a:r>
            <a:r>
              <a:rPr lang="en-US" altLang="zh-CN" b="1">
                <a:solidFill>
                  <a:schemeClr val="bg2"/>
                </a:solidFill>
                <a:latin typeface="宋体" charset="-122"/>
              </a:rPr>
              <a:t>1</a:t>
            </a:r>
            <a:r>
              <a:rPr lang="zh-CN" altLang="en-US" b="1">
                <a:solidFill>
                  <a:schemeClr val="bg2"/>
                </a:solidFill>
                <a:latin typeface="宋体" charset="-122"/>
              </a:rPr>
              <a:t>、薛定谔方程在量子力学中的</a:t>
            </a:r>
            <a:r>
              <a:rPr lang="zh-CN" altLang="en-US" b="1">
                <a:solidFill>
                  <a:schemeClr val="tx2"/>
                </a:solidFill>
                <a:latin typeface="宋体" charset="-122"/>
              </a:rPr>
              <a:t>地位</a:t>
            </a:r>
            <a:r>
              <a:rPr lang="zh-CN" altLang="en-US" b="1">
                <a:solidFill>
                  <a:schemeClr val="bg2"/>
                </a:solidFill>
                <a:latin typeface="宋体" charset="-122"/>
              </a:rPr>
              <a:t>与牛顿方程在经典</a:t>
            </a:r>
          </a:p>
          <a:p>
            <a:pPr>
              <a:lnSpc>
                <a:spcPct val="120000"/>
              </a:lnSpc>
            </a:pPr>
            <a:r>
              <a:rPr lang="zh-CN" altLang="en-US" b="1">
                <a:solidFill>
                  <a:schemeClr val="bg2"/>
                </a:solidFill>
                <a:latin typeface="宋体" charset="-122"/>
              </a:rPr>
              <a:t>     物理中的地位相当。</a:t>
            </a:r>
          </a:p>
        </p:txBody>
      </p:sp>
      <p:sp>
        <p:nvSpPr>
          <p:cNvPr id="198663" name="Text Box 7"/>
          <p:cNvSpPr txBox="1">
            <a:spLocks noChangeArrowheads="1"/>
          </p:cNvSpPr>
          <p:nvPr/>
        </p:nvSpPr>
        <p:spPr bwMode="auto">
          <a:xfrm>
            <a:off x="657225" y="2393950"/>
            <a:ext cx="7515225" cy="968375"/>
          </a:xfrm>
          <a:prstGeom prst="rect">
            <a:avLst/>
          </a:prstGeom>
          <a:noFill/>
          <a:ln w="9525">
            <a:noFill/>
            <a:miter lim="800000"/>
            <a:headEnd/>
            <a:tailEnd/>
          </a:ln>
          <a:effectLst/>
        </p:spPr>
        <p:txBody>
          <a:bodyPr>
            <a:spAutoFit/>
          </a:bodyPr>
          <a:lstStyle/>
          <a:p>
            <a:pPr>
              <a:lnSpc>
                <a:spcPct val="120000"/>
              </a:lnSpc>
            </a:pPr>
            <a:r>
              <a:rPr lang="en-US" altLang="zh-CN" b="1">
                <a:solidFill>
                  <a:schemeClr val="bg2"/>
                </a:solidFill>
                <a:latin typeface="宋体" charset="-122"/>
                <a:sym typeface="Symbol" pitchFamily="18" charset="2"/>
              </a:rPr>
              <a:t>2</a:t>
            </a:r>
            <a:r>
              <a:rPr lang="zh-CN" altLang="en-US" b="1">
                <a:solidFill>
                  <a:schemeClr val="bg2"/>
                </a:solidFill>
                <a:latin typeface="宋体" charset="-122"/>
                <a:sym typeface="Symbol" pitchFamily="18" charset="2"/>
              </a:rPr>
              <a:t>、</a:t>
            </a:r>
            <a:r>
              <a:rPr lang="zh-CN" altLang="en-US" b="1">
                <a:solidFill>
                  <a:schemeClr val="bg2"/>
                </a:solidFill>
                <a:latin typeface="宋体" charset="-122"/>
              </a:rPr>
              <a:t>薛定谔方程本身并</a:t>
            </a:r>
            <a:r>
              <a:rPr lang="zh-CN" altLang="en-US" b="1">
                <a:solidFill>
                  <a:schemeClr val="tx2"/>
                </a:solidFill>
                <a:latin typeface="宋体" charset="-122"/>
              </a:rPr>
              <a:t>不是实验规律的总结</a:t>
            </a:r>
            <a:r>
              <a:rPr lang="zh-CN" altLang="en-US" b="1">
                <a:solidFill>
                  <a:schemeClr val="bg2"/>
                </a:solidFill>
                <a:latin typeface="宋体" charset="-122"/>
              </a:rPr>
              <a:t>，也没有什</a:t>
            </a:r>
          </a:p>
          <a:p>
            <a:pPr>
              <a:lnSpc>
                <a:spcPct val="120000"/>
              </a:lnSpc>
            </a:pPr>
            <a:r>
              <a:rPr lang="zh-CN" altLang="en-US" b="1">
                <a:solidFill>
                  <a:schemeClr val="bg2"/>
                </a:solidFill>
                <a:latin typeface="宋体" charset="-122"/>
              </a:rPr>
              <a:t>   么更基本的原理可以证明它的正确性。</a:t>
            </a:r>
          </a:p>
        </p:txBody>
      </p:sp>
      <p:sp>
        <p:nvSpPr>
          <p:cNvPr id="198664" name="Text Box 8"/>
          <p:cNvSpPr txBox="1">
            <a:spLocks noChangeArrowheads="1"/>
          </p:cNvSpPr>
          <p:nvPr/>
        </p:nvSpPr>
        <p:spPr bwMode="auto">
          <a:xfrm>
            <a:off x="341313" y="3294063"/>
            <a:ext cx="8008937" cy="968375"/>
          </a:xfrm>
          <a:prstGeom prst="rect">
            <a:avLst/>
          </a:prstGeom>
          <a:noFill/>
          <a:ln w="9525">
            <a:noFill/>
            <a:miter lim="800000"/>
            <a:headEnd/>
            <a:tailEnd/>
          </a:ln>
          <a:effectLst/>
        </p:spPr>
        <p:txBody>
          <a:bodyPr>
            <a:spAutoFit/>
          </a:bodyPr>
          <a:lstStyle/>
          <a:p>
            <a:pPr algn="just">
              <a:lnSpc>
                <a:spcPct val="120000"/>
              </a:lnSpc>
            </a:pPr>
            <a:r>
              <a:rPr lang="zh-CN" altLang="en-US" b="1">
                <a:solidFill>
                  <a:schemeClr val="bg2"/>
                </a:solidFill>
                <a:latin typeface="宋体" charset="-122"/>
              </a:rPr>
              <a:t>　</a:t>
            </a:r>
            <a:r>
              <a:rPr lang="en-US" altLang="zh-CN" b="1">
                <a:solidFill>
                  <a:schemeClr val="bg2"/>
                </a:solidFill>
                <a:latin typeface="宋体" charset="-122"/>
              </a:rPr>
              <a:t>3</a:t>
            </a:r>
            <a:r>
              <a:rPr lang="zh-CN" altLang="en-US" b="1">
                <a:solidFill>
                  <a:schemeClr val="bg2"/>
                </a:solidFill>
                <a:latin typeface="宋体" charset="-122"/>
              </a:rPr>
              <a:t>、从薛定谔方程得到的结论正确与否，需要用实验事 </a:t>
            </a:r>
          </a:p>
          <a:p>
            <a:pPr algn="just">
              <a:lnSpc>
                <a:spcPct val="120000"/>
              </a:lnSpc>
            </a:pPr>
            <a:r>
              <a:rPr lang="zh-CN" altLang="en-US" b="1">
                <a:solidFill>
                  <a:schemeClr val="bg2"/>
                </a:solidFill>
                <a:latin typeface="宋体" charset="-122"/>
              </a:rPr>
              <a:t>    实去验证。薛定谔方程是</a:t>
            </a:r>
            <a:r>
              <a:rPr lang="zh-CN" altLang="en-US" b="1">
                <a:solidFill>
                  <a:schemeClr val="tx2"/>
                </a:solidFill>
                <a:latin typeface="宋体" charset="-122"/>
              </a:rPr>
              <a:t>量子力学的一条基本假设</a:t>
            </a:r>
            <a:r>
              <a:rPr lang="zh-CN" altLang="en-US" b="1">
                <a:solidFill>
                  <a:schemeClr val="bg2"/>
                </a:solidFill>
                <a:latin typeface="宋体"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98658"/>
                                        </p:tgtEl>
                                        <p:attrNameLst>
                                          <p:attrName>style.visibility</p:attrName>
                                        </p:attrNameLst>
                                      </p:cBhvr>
                                      <p:to>
                                        <p:strVal val="visible"/>
                                      </p:to>
                                    </p:set>
                                    <p:animEffect transition="in" filter="box(in)">
                                      <p:cBhvr>
                                        <p:cTn id="7" dur="500"/>
                                        <p:tgtEl>
                                          <p:spTgt spid="198658"/>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builtIn="1"/>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98662"/>
                                        </p:tgtEl>
                                        <p:attrNameLst>
                                          <p:attrName>style.visibility</p:attrName>
                                        </p:attrNameLst>
                                      </p:cBhvr>
                                      <p:to>
                                        <p:strVal val="visible"/>
                                      </p:to>
                                    </p:set>
                                    <p:animEffect transition="in" filter="box(in)">
                                      <p:cBhvr>
                                        <p:cTn id="12" dur="500"/>
                                        <p:tgtEl>
                                          <p:spTgt spid="198662"/>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builtIn="1"/>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98663"/>
                                        </p:tgtEl>
                                        <p:attrNameLst>
                                          <p:attrName>style.visibility</p:attrName>
                                        </p:attrNameLst>
                                      </p:cBhvr>
                                      <p:to>
                                        <p:strVal val="visible"/>
                                      </p:to>
                                    </p:set>
                                    <p:animEffect transition="in" filter="box(in)">
                                      <p:cBhvr>
                                        <p:cTn id="17" dur="500"/>
                                        <p:tgtEl>
                                          <p:spTgt spid="19866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builtIn="1"/>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98664"/>
                                        </p:tgtEl>
                                        <p:attrNameLst>
                                          <p:attrName>style.visibility</p:attrName>
                                        </p:attrNameLst>
                                      </p:cBhvr>
                                      <p:to>
                                        <p:strVal val="visible"/>
                                      </p:to>
                                    </p:set>
                                    <p:animEffect transition="in" filter="box(in)">
                                      <p:cBhvr>
                                        <p:cTn id="22" dur="500"/>
                                        <p:tgtEl>
                                          <p:spTgt spid="198664"/>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builtIn="1"/>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8" grpId="0" autoUpdateAnimBg="0"/>
      <p:bldP spid="198662" grpId="0" autoUpdateAnimBg="0"/>
      <p:bldP spid="198663" grpId="0" autoUpdateAnimBg="0"/>
      <p:bldP spid="198664"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Rectangle 3"/>
          <p:cNvSpPr>
            <a:spLocks noChangeArrowheads="1"/>
          </p:cNvSpPr>
          <p:nvPr/>
        </p:nvSpPr>
        <p:spPr bwMode="auto">
          <a:xfrm>
            <a:off x="179388" y="762000"/>
            <a:ext cx="5472112" cy="457200"/>
          </a:xfrm>
          <a:prstGeom prst="rect">
            <a:avLst/>
          </a:prstGeom>
          <a:noFill/>
          <a:ln w="9525">
            <a:noFill/>
            <a:miter lim="800000"/>
            <a:headEnd/>
            <a:tailEnd/>
          </a:ln>
          <a:effectLst/>
        </p:spPr>
        <p:txBody>
          <a:bodyPr>
            <a:spAutoFit/>
          </a:bodyPr>
          <a:lstStyle/>
          <a:p>
            <a:r>
              <a:rPr lang="en-US" altLang="zh-CN" b="1" dirty="0" smtClean="0">
                <a:solidFill>
                  <a:srgbClr val="0000FF"/>
                </a:solidFill>
              </a:rPr>
              <a:t>13.5.3 </a:t>
            </a:r>
            <a:r>
              <a:rPr lang="zh-CN" altLang="en-US" b="1" dirty="0" smtClean="0">
                <a:solidFill>
                  <a:srgbClr val="0000FF"/>
                </a:solidFill>
              </a:rPr>
              <a:t>一</a:t>
            </a:r>
            <a:r>
              <a:rPr lang="zh-CN" altLang="en-US" b="1" dirty="0">
                <a:solidFill>
                  <a:srgbClr val="0000FF"/>
                </a:solidFill>
              </a:rPr>
              <a:t>维无限深方势阱</a:t>
            </a:r>
          </a:p>
        </p:txBody>
      </p:sp>
      <p:sp>
        <p:nvSpPr>
          <p:cNvPr id="133124" name="Rectangle 4"/>
          <p:cNvSpPr>
            <a:spLocks noChangeArrowheads="1"/>
          </p:cNvSpPr>
          <p:nvPr/>
        </p:nvSpPr>
        <p:spPr bwMode="auto">
          <a:xfrm>
            <a:off x="755650" y="4627563"/>
            <a:ext cx="6021388" cy="457200"/>
          </a:xfrm>
          <a:prstGeom prst="rect">
            <a:avLst/>
          </a:prstGeom>
          <a:noFill/>
          <a:ln w="9525">
            <a:noFill/>
            <a:miter lim="800000"/>
            <a:headEnd/>
            <a:tailEnd/>
          </a:ln>
          <a:effectLst/>
        </p:spPr>
        <p:txBody>
          <a:bodyPr>
            <a:spAutoFit/>
          </a:bodyPr>
          <a:lstStyle/>
          <a:p>
            <a:pPr algn="just"/>
            <a:r>
              <a:rPr lang="en-US" altLang="zh-CN" b="1">
                <a:solidFill>
                  <a:srgbClr val="006600"/>
                </a:solidFill>
              </a:rPr>
              <a:t>0 &lt; </a:t>
            </a:r>
            <a:r>
              <a:rPr lang="en-US" altLang="zh-CN" b="1" i="1">
                <a:solidFill>
                  <a:srgbClr val="006600"/>
                </a:solidFill>
              </a:rPr>
              <a:t>x </a:t>
            </a:r>
            <a:r>
              <a:rPr lang="en-US" altLang="zh-CN" b="1">
                <a:solidFill>
                  <a:srgbClr val="006600"/>
                </a:solidFill>
              </a:rPr>
              <a:t>&lt; </a:t>
            </a:r>
            <a:r>
              <a:rPr lang="en-US" altLang="zh-CN" b="1" i="1">
                <a:solidFill>
                  <a:srgbClr val="006600"/>
                </a:solidFill>
              </a:rPr>
              <a:t>a</a:t>
            </a:r>
            <a:r>
              <a:rPr lang="en-US" altLang="zh-CN" b="1">
                <a:solidFill>
                  <a:srgbClr val="00FF99"/>
                </a:solidFill>
              </a:rPr>
              <a:t> </a:t>
            </a:r>
            <a:r>
              <a:rPr lang="zh-CN" altLang="en-US" b="1">
                <a:solidFill>
                  <a:schemeClr val="bg1"/>
                </a:solidFill>
              </a:rPr>
              <a:t>区域，一维定态薛定谔方程为：</a:t>
            </a:r>
          </a:p>
        </p:txBody>
      </p:sp>
      <p:grpSp>
        <p:nvGrpSpPr>
          <p:cNvPr id="133152" name="Group 32"/>
          <p:cNvGrpSpPr>
            <a:grpSpLocks/>
          </p:cNvGrpSpPr>
          <p:nvPr/>
        </p:nvGrpSpPr>
        <p:grpSpPr bwMode="auto">
          <a:xfrm>
            <a:off x="5372100" y="1038225"/>
            <a:ext cx="3467100" cy="2776538"/>
            <a:chOff x="3384" y="654"/>
            <a:chExt cx="2184" cy="1749"/>
          </a:xfrm>
        </p:grpSpPr>
        <p:sp>
          <p:nvSpPr>
            <p:cNvPr id="50201" name="Rectangle 2"/>
            <p:cNvSpPr>
              <a:spLocks noChangeArrowheads="1"/>
            </p:cNvSpPr>
            <p:nvPr/>
          </p:nvSpPr>
          <p:spPr bwMode="auto">
            <a:xfrm>
              <a:off x="3792" y="654"/>
              <a:ext cx="960" cy="1488"/>
            </a:xfrm>
            <a:prstGeom prst="rect">
              <a:avLst/>
            </a:prstGeom>
            <a:solidFill>
              <a:srgbClr val="C0C0C0"/>
            </a:solidFill>
            <a:ln w="9525">
              <a:solidFill>
                <a:schemeClr val="tx1"/>
              </a:solidFill>
              <a:miter lim="800000"/>
              <a:headEnd/>
              <a:tailEnd/>
            </a:ln>
            <a:effectLst/>
          </p:spPr>
          <p:txBody>
            <a:bodyPr wrap="none" anchor="ctr"/>
            <a:lstStyle/>
            <a:p>
              <a:endParaRPr lang="zh-CN" altLang="en-US"/>
            </a:p>
          </p:txBody>
        </p:sp>
        <p:sp>
          <p:nvSpPr>
            <p:cNvPr id="50202" name="Line 5"/>
            <p:cNvSpPr>
              <a:spLocks noChangeShapeType="1"/>
            </p:cNvSpPr>
            <p:nvPr/>
          </p:nvSpPr>
          <p:spPr bwMode="auto">
            <a:xfrm>
              <a:off x="3384" y="2142"/>
              <a:ext cx="1944" cy="0"/>
            </a:xfrm>
            <a:prstGeom prst="line">
              <a:avLst/>
            </a:prstGeom>
            <a:noFill/>
            <a:ln w="19050">
              <a:solidFill>
                <a:srgbClr val="0000FF"/>
              </a:solidFill>
              <a:round/>
              <a:headEnd/>
              <a:tailEnd type="triangle" w="med" len="med"/>
            </a:ln>
            <a:effectLst/>
          </p:spPr>
          <p:txBody>
            <a:bodyPr/>
            <a:lstStyle/>
            <a:p>
              <a:endParaRPr lang="zh-CN" altLang="en-US"/>
            </a:p>
          </p:txBody>
        </p:sp>
        <p:sp>
          <p:nvSpPr>
            <p:cNvPr id="50203" name="Line 6"/>
            <p:cNvSpPr>
              <a:spLocks noChangeShapeType="1"/>
            </p:cNvSpPr>
            <p:nvPr/>
          </p:nvSpPr>
          <p:spPr bwMode="auto">
            <a:xfrm>
              <a:off x="3792" y="1230"/>
              <a:ext cx="0" cy="912"/>
            </a:xfrm>
            <a:prstGeom prst="line">
              <a:avLst/>
            </a:prstGeom>
            <a:noFill/>
            <a:ln w="38100">
              <a:solidFill>
                <a:schemeClr val="hlink"/>
              </a:solidFill>
              <a:round/>
              <a:headEnd/>
              <a:tailEnd/>
            </a:ln>
            <a:effectLst/>
          </p:spPr>
          <p:txBody>
            <a:bodyPr/>
            <a:lstStyle/>
            <a:p>
              <a:endParaRPr lang="zh-CN" altLang="en-US"/>
            </a:p>
          </p:txBody>
        </p:sp>
        <p:sp>
          <p:nvSpPr>
            <p:cNvPr id="50204" name="Line 7"/>
            <p:cNvSpPr>
              <a:spLocks noChangeShapeType="1"/>
            </p:cNvSpPr>
            <p:nvPr/>
          </p:nvSpPr>
          <p:spPr bwMode="auto">
            <a:xfrm>
              <a:off x="3792" y="654"/>
              <a:ext cx="0" cy="576"/>
            </a:xfrm>
            <a:prstGeom prst="line">
              <a:avLst/>
            </a:prstGeom>
            <a:noFill/>
            <a:ln w="38100">
              <a:solidFill>
                <a:schemeClr val="hlink"/>
              </a:solidFill>
              <a:prstDash val="sysDot"/>
              <a:round/>
              <a:headEnd/>
              <a:tailEnd/>
            </a:ln>
            <a:effectLst/>
          </p:spPr>
          <p:txBody>
            <a:bodyPr/>
            <a:lstStyle/>
            <a:p>
              <a:endParaRPr lang="zh-CN" altLang="en-US"/>
            </a:p>
          </p:txBody>
        </p:sp>
        <p:sp>
          <p:nvSpPr>
            <p:cNvPr id="50205" name="Line 8"/>
            <p:cNvSpPr>
              <a:spLocks noChangeShapeType="1"/>
            </p:cNvSpPr>
            <p:nvPr/>
          </p:nvSpPr>
          <p:spPr bwMode="auto">
            <a:xfrm>
              <a:off x="4740" y="1230"/>
              <a:ext cx="0" cy="912"/>
            </a:xfrm>
            <a:prstGeom prst="line">
              <a:avLst/>
            </a:prstGeom>
            <a:noFill/>
            <a:ln w="38100">
              <a:solidFill>
                <a:schemeClr val="hlink"/>
              </a:solidFill>
              <a:round/>
              <a:headEnd/>
              <a:tailEnd/>
            </a:ln>
            <a:effectLst/>
          </p:spPr>
          <p:txBody>
            <a:bodyPr/>
            <a:lstStyle/>
            <a:p>
              <a:endParaRPr lang="zh-CN" altLang="en-US"/>
            </a:p>
          </p:txBody>
        </p:sp>
        <p:sp>
          <p:nvSpPr>
            <p:cNvPr id="50206" name="Line 9"/>
            <p:cNvSpPr>
              <a:spLocks noChangeShapeType="1"/>
            </p:cNvSpPr>
            <p:nvPr/>
          </p:nvSpPr>
          <p:spPr bwMode="auto">
            <a:xfrm>
              <a:off x="4740" y="654"/>
              <a:ext cx="0" cy="576"/>
            </a:xfrm>
            <a:prstGeom prst="line">
              <a:avLst/>
            </a:prstGeom>
            <a:noFill/>
            <a:ln w="38100">
              <a:solidFill>
                <a:schemeClr val="hlink"/>
              </a:solidFill>
              <a:prstDash val="sysDot"/>
              <a:round/>
              <a:headEnd/>
              <a:tailEnd/>
            </a:ln>
            <a:effectLst/>
          </p:spPr>
          <p:txBody>
            <a:bodyPr/>
            <a:lstStyle/>
            <a:p>
              <a:endParaRPr lang="zh-CN" altLang="en-US"/>
            </a:p>
          </p:txBody>
        </p:sp>
        <p:sp>
          <p:nvSpPr>
            <p:cNvPr id="50207" name="Text Box 10"/>
            <p:cNvSpPr txBox="1">
              <a:spLocks noChangeArrowheads="1"/>
            </p:cNvSpPr>
            <p:nvPr/>
          </p:nvSpPr>
          <p:spPr bwMode="auto">
            <a:xfrm>
              <a:off x="5324" y="1950"/>
              <a:ext cx="244" cy="365"/>
            </a:xfrm>
            <a:prstGeom prst="rect">
              <a:avLst/>
            </a:prstGeom>
            <a:noFill/>
            <a:ln w="9525">
              <a:noFill/>
              <a:miter lim="800000"/>
              <a:headEnd/>
              <a:tailEnd/>
            </a:ln>
            <a:effectLst/>
          </p:spPr>
          <p:txBody>
            <a:bodyPr wrap="none">
              <a:spAutoFit/>
            </a:bodyPr>
            <a:lstStyle/>
            <a:p>
              <a:r>
                <a:rPr lang="en-US" altLang="zh-CN" sz="3200" b="1" i="1">
                  <a:solidFill>
                    <a:srgbClr val="0000FF"/>
                  </a:solidFill>
                </a:rPr>
                <a:t>x</a:t>
              </a:r>
            </a:p>
          </p:txBody>
        </p:sp>
        <p:sp>
          <p:nvSpPr>
            <p:cNvPr id="50208" name="Text Box 11"/>
            <p:cNvSpPr txBox="1">
              <a:spLocks noChangeArrowheads="1"/>
            </p:cNvSpPr>
            <p:nvPr/>
          </p:nvSpPr>
          <p:spPr bwMode="auto">
            <a:xfrm>
              <a:off x="3706" y="2115"/>
              <a:ext cx="1124" cy="288"/>
            </a:xfrm>
            <a:prstGeom prst="rect">
              <a:avLst/>
            </a:prstGeom>
            <a:noFill/>
            <a:ln w="9525">
              <a:noFill/>
              <a:miter lim="800000"/>
              <a:headEnd/>
              <a:tailEnd/>
            </a:ln>
            <a:effectLst/>
          </p:spPr>
          <p:txBody>
            <a:bodyPr wrap="none">
              <a:spAutoFit/>
            </a:bodyPr>
            <a:lstStyle/>
            <a:p>
              <a:r>
                <a:rPr lang="en-US" altLang="zh-CN" b="1">
                  <a:solidFill>
                    <a:srgbClr val="0000FF"/>
                  </a:solidFill>
                </a:rPr>
                <a:t>0                 </a:t>
              </a:r>
              <a:r>
                <a:rPr lang="en-US" altLang="zh-CN" b="1" i="1">
                  <a:solidFill>
                    <a:srgbClr val="0000FF"/>
                  </a:solidFill>
                </a:rPr>
                <a:t>a</a:t>
              </a:r>
            </a:p>
          </p:txBody>
        </p:sp>
      </p:grpSp>
      <p:grpSp>
        <p:nvGrpSpPr>
          <p:cNvPr id="133151" name="Group 31"/>
          <p:cNvGrpSpPr>
            <a:grpSpLocks/>
          </p:cNvGrpSpPr>
          <p:nvPr/>
        </p:nvGrpSpPr>
        <p:grpSpPr bwMode="auto">
          <a:xfrm>
            <a:off x="7848600" y="555625"/>
            <a:ext cx="971550" cy="968375"/>
            <a:chOff x="4944" y="350"/>
            <a:chExt cx="612" cy="610"/>
          </a:xfrm>
        </p:grpSpPr>
        <p:sp>
          <p:nvSpPr>
            <p:cNvPr id="50199" name="Line 12"/>
            <p:cNvSpPr>
              <a:spLocks noChangeShapeType="1"/>
            </p:cNvSpPr>
            <p:nvPr/>
          </p:nvSpPr>
          <p:spPr bwMode="auto">
            <a:xfrm flipV="1">
              <a:off x="4944" y="480"/>
              <a:ext cx="0" cy="480"/>
            </a:xfrm>
            <a:prstGeom prst="line">
              <a:avLst/>
            </a:prstGeom>
            <a:noFill/>
            <a:ln w="28575">
              <a:solidFill>
                <a:schemeClr val="tx2"/>
              </a:solidFill>
              <a:round/>
              <a:headEnd/>
              <a:tailEnd type="triangle" w="med" len="med"/>
            </a:ln>
            <a:effectLst/>
          </p:spPr>
          <p:txBody>
            <a:bodyPr/>
            <a:lstStyle/>
            <a:p>
              <a:endParaRPr lang="zh-CN" altLang="en-US"/>
            </a:p>
          </p:txBody>
        </p:sp>
        <p:sp>
          <p:nvSpPr>
            <p:cNvPr id="50200" name="Rectangle 13"/>
            <p:cNvSpPr>
              <a:spLocks noChangeArrowheads="1"/>
            </p:cNvSpPr>
            <p:nvPr/>
          </p:nvSpPr>
          <p:spPr bwMode="auto">
            <a:xfrm>
              <a:off x="4944" y="350"/>
              <a:ext cx="612" cy="288"/>
            </a:xfrm>
            <a:prstGeom prst="rect">
              <a:avLst/>
            </a:prstGeom>
            <a:noFill/>
            <a:ln w="9525">
              <a:noFill/>
              <a:miter lim="800000"/>
              <a:headEnd/>
              <a:tailEnd/>
            </a:ln>
            <a:effectLst/>
          </p:spPr>
          <p:txBody>
            <a:bodyPr wrap="none">
              <a:spAutoFit/>
            </a:bodyPr>
            <a:lstStyle/>
            <a:p>
              <a:r>
                <a:rPr lang="en-US" altLang="zh-CN" b="1" i="1">
                  <a:solidFill>
                    <a:schemeClr val="tx2"/>
                  </a:solidFill>
                </a:rPr>
                <a:t>V</a:t>
              </a:r>
              <a:r>
                <a:rPr lang="en-US" altLang="zh-CN" b="1">
                  <a:solidFill>
                    <a:schemeClr val="tx2"/>
                  </a:solidFill>
                </a:rPr>
                <a:t> ( </a:t>
              </a:r>
              <a:r>
                <a:rPr lang="en-US" altLang="zh-CN" b="1" i="1">
                  <a:solidFill>
                    <a:schemeClr val="tx2"/>
                  </a:solidFill>
                </a:rPr>
                <a:t>x </a:t>
              </a:r>
              <a:r>
                <a:rPr lang="en-US" altLang="zh-CN" b="1">
                  <a:solidFill>
                    <a:schemeClr val="tx2"/>
                  </a:solidFill>
                </a:rPr>
                <a:t>)</a:t>
              </a:r>
            </a:p>
          </p:txBody>
        </p:sp>
      </p:grpSp>
      <p:sp>
        <p:nvSpPr>
          <p:cNvPr id="133134" name="Text Box 14"/>
          <p:cNvSpPr txBox="1">
            <a:spLocks noChangeArrowheads="1"/>
          </p:cNvSpPr>
          <p:nvPr/>
        </p:nvSpPr>
        <p:spPr bwMode="auto">
          <a:xfrm>
            <a:off x="5867400" y="457200"/>
            <a:ext cx="438150" cy="519113"/>
          </a:xfrm>
          <a:prstGeom prst="rect">
            <a:avLst/>
          </a:prstGeom>
          <a:noFill/>
          <a:ln w="9525">
            <a:noFill/>
            <a:miter lim="800000"/>
            <a:headEnd/>
            <a:tailEnd/>
          </a:ln>
          <a:effectLst/>
        </p:spPr>
        <p:txBody>
          <a:bodyPr wrap="none">
            <a:spAutoFit/>
          </a:bodyPr>
          <a:lstStyle/>
          <a:p>
            <a:r>
              <a:rPr lang="en-US" altLang="zh-CN" sz="2800" b="1">
                <a:solidFill>
                  <a:srgbClr val="0000FF"/>
                </a:solidFill>
                <a:sym typeface="Symbol" pitchFamily="18" charset="2"/>
              </a:rPr>
              <a:t></a:t>
            </a:r>
            <a:endParaRPr lang="en-US" altLang="zh-CN" sz="2800" b="1">
              <a:solidFill>
                <a:srgbClr val="0000FF"/>
              </a:solidFill>
            </a:endParaRPr>
          </a:p>
        </p:txBody>
      </p:sp>
      <p:sp>
        <p:nvSpPr>
          <p:cNvPr id="133135" name="Text Box 15"/>
          <p:cNvSpPr txBox="1">
            <a:spLocks noChangeArrowheads="1"/>
          </p:cNvSpPr>
          <p:nvPr/>
        </p:nvSpPr>
        <p:spPr bwMode="auto">
          <a:xfrm>
            <a:off x="7296150" y="457200"/>
            <a:ext cx="438150" cy="519113"/>
          </a:xfrm>
          <a:prstGeom prst="rect">
            <a:avLst/>
          </a:prstGeom>
          <a:noFill/>
          <a:ln w="9525">
            <a:noFill/>
            <a:miter lim="800000"/>
            <a:headEnd/>
            <a:tailEnd/>
          </a:ln>
          <a:effectLst/>
        </p:spPr>
        <p:txBody>
          <a:bodyPr wrap="none">
            <a:spAutoFit/>
          </a:bodyPr>
          <a:lstStyle/>
          <a:p>
            <a:r>
              <a:rPr lang="en-US" altLang="zh-CN" sz="2800" b="1">
                <a:solidFill>
                  <a:srgbClr val="0000FF"/>
                </a:solidFill>
                <a:sym typeface="Symbol" pitchFamily="18" charset="2"/>
              </a:rPr>
              <a:t></a:t>
            </a:r>
            <a:endParaRPr lang="en-US" altLang="zh-CN" sz="2800" b="1">
              <a:solidFill>
                <a:srgbClr val="0000FF"/>
              </a:solidFill>
            </a:endParaRPr>
          </a:p>
        </p:txBody>
      </p:sp>
      <p:sp>
        <p:nvSpPr>
          <p:cNvPr id="133136" name="Oval 16"/>
          <p:cNvSpPr>
            <a:spLocks noChangeArrowheads="1"/>
          </p:cNvSpPr>
          <p:nvPr/>
        </p:nvSpPr>
        <p:spPr bwMode="auto">
          <a:xfrm>
            <a:off x="6134100" y="2005013"/>
            <a:ext cx="228600" cy="228600"/>
          </a:xfrm>
          <a:prstGeom prst="ellipse">
            <a:avLst/>
          </a:prstGeom>
          <a:gradFill rotWithShape="1">
            <a:gsLst>
              <a:gs pos="0">
                <a:schemeClr val="accent2">
                  <a:alpha val="86000"/>
                </a:schemeClr>
              </a:gs>
              <a:gs pos="100000">
                <a:schemeClr val="accent2">
                  <a:gamma/>
                  <a:shade val="60000"/>
                  <a:invGamma/>
                </a:schemeClr>
              </a:gs>
            </a:gsLst>
            <a:path path="shape">
              <a:fillToRect l="50000" t="50000" r="50000" b="50000"/>
            </a:path>
          </a:gra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800">
              <a:solidFill>
                <a:srgbClr val="FFFF99"/>
              </a:solidFill>
              <a:ea typeface="宋体" pitchFamily="2" charset="-122"/>
            </a:endParaRPr>
          </a:p>
        </p:txBody>
      </p:sp>
      <p:sp>
        <p:nvSpPr>
          <p:cNvPr id="133137" name="Rectangle 17"/>
          <p:cNvSpPr>
            <a:spLocks noChangeArrowheads="1"/>
          </p:cNvSpPr>
          <p:nvPr/>
        </p:nvSpPr>
        <p:spPr bwMode="auto">
          <a:xfrm>
            <a:off x="792163" y="1379538"/>
            <a:ext cx="4949825" cy="822325"/>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设粒子处于某力场中，并沿</a:t>
            </a:r>
            <a:r>
              <a:rPr lang="en-US" altLang="zh-CN" b="1" i="1">
                <a:solidFill>
                  <a:schemeClr val="bg1"/>
                </a:solidFill>
              </a:rPr>
              <a:t>x</a:t>
            </a:r>
            <a:r>
              <a:rPr lang="zh-CN" altLang="en-US" b="1">
                <a:solidFill>
                  <a:schemeClr val="bg1"/>
                </a:solidFill>
                <a:latin typeface="宋体" charset="-122"/>
              </a:rPr>
              <a:t>轴做一维运动，粒子的势能函数：</a:t>
            </a:r>
          </a:p>
        </p:txBody>
      </p:sp>
      <p:sp>
        <p:nvSpPr>
          <p:cNvPr id="133138" name="AutoShape 18"/>
          <p:cNvSpPr>
            <a:spLocks noChangeArrowheads="1"/>
          </p:cNvSpPr>
          <p:nvPr/>
        </p:nvSpPr>
        <p:spPr bwMode="auto">
          <a:xfrm>
            <a:off x="1219200" y="5314950"/>
            <a:ext cx="3173413" cy="904875"/>
          </a:xfrm>
          <a:prstGeom prst="bevel">
            <a:avLst>
              <a:gd name="adj" fmla="val 0"/>
            </a:avLst>
          </a:prstGeom>
          <a:solidFill>
            <a:srgbClr val="CCFFFF"/>
          </a:solidFill>
          <a:ln w="9525">
            <a:solidFill>
              <a:srgbClr val="00FFFF"/>
            </a:solidFill>
            <a:miter lim="800000"/>
            <a:headEnd/>
            <a:tailEnd/>
          </a:ln>
          <a:effectLst/>
        </p:spPr>
        <p:txBody>
          <a:bodyPr wrap="none" anchor="ctr"/>
          <a:lstStyle/>
          <a:p>
            <a:endParaRPr lang="zh-CN" altLang="en-US"/>
          </a:p>
        </p:txBody>
      </p:sp>
      <p:graphicFrame>
        <p:nvGraphicFramePr>
          <p:cNvPr id="133139" name="Object 19"/>
          <p:cNvGraphicFramePr>
            <a:graphicFrameLocks noChangeAspect="1"/>
          </p:cNvGraphicFramePr>
          <p:nvPr/>
        </p:nvGraphicFramePr>
        <p:xfrm>
          <a:off x="1392238" y="5372100"/>
          <a:ext cx="2865437" cy="757238"/>
        </p:xfrm>
        <a:graphic>
          <a:graphicData uri="http://schemas.openxmlformats.org/presentationml/2006/ole">
            <p:oleObj spid="_x0000_s50187" name="公式" r:id="rId5" imgW="1343520" imgH="342720" progId="Equation.3">
              <p:embed/>
            </p:oleObj>
          </a:graphicData>
        </a:graphic>
      </p:graphicFrame>
      <p:graphicFrame>
        <p:nvGraphicFramePr>
          <p:cNvPr id="133140" name="Object 20"/>
          <p:cNvGraphicFramePr>
            <a:graphicFrameLocks/>
          </p:cNvGraphicFramePr>
          <p:nvPr/>
        </p:nvGraphicFramePr>
        <p:xfrm>
          <a:off x="6372225" y="5499100"/>
          <a:ext cx="1255713" cy="730250"/>
        </p:xfrm>
        <a:graphic>
          <a:graphicData uri="http://schemas.openxmlformats.org/presentationml/2006/ole">
            <p:oleObj spid="_x0000_s50188" name="公式" r:id="rId6" imgW="578160" imgH="334440" progId="Equation.3">
              <p:embed/>
            </p:oleObj>
          </a:graphicData>
        </a:graphic>
      </p:graphicFrame>
      <p:sp>
        <p:nvSpPr>
          <p:cNvPr id="133141" name="Text Box 21"/>
          <p:cNvSpPr txBox="1">
            <a:spLocks noChangeArrowheads="1"/>
          </p:cNvSpPr>
          <p:nvPr/>
        </p:nvSpPr>
        <p:spPr bwMode="auto">
          <a:xfrm>
            <a:off x="5768975" y="5637213"/>
            <a:ext cx="492125" cy="457200"/>
          </a:xfrm>
          <a:prstGeom prst="rect">
            <a:avLst/>
          </a:prstGeom>
          <a:noFill/>
          <a:ln w="9525">
            <a:noFill/>
            <a:miter lim="800000"/>
            <a:headEnd/>
            <a:tailEnd/>
          </a:ln>
          <a:effectLst/>
        </p:spPr>
        <p:txBody>
          <a:bodyPr wrap="none">
            <a:spAutoFit/>
          </a:bodyPr>
          <a:lstStyle/>
          <a:p>
            <a:r>
              <a:rPr lang="zh-CN" altLang="en-US" b="1">
                <a:solidFill>
                  <a:schemeClr val="bg1"/>
                </a:solidFill>
              </a:rPr>
              <a:t>令</a:t>
            </a:r>
          </a:p>
        </p:txBody>
      </p:sp>
      <p:grpSp>
        <p:nvGrpSpPr>
          <p:cNvPr id="133142" name="Group 22"/>
          <p:cNvGrpSpPr>
            <a:grpSpLocks/>
          </p:cNvGrpSpPr>
          <p:nvPr/>
        </p:nvGrpSpPr>
        <p:grpSpPr bwMode="auto">
          <a:xfrm>
            <a:off x="746125" y="2393950"/>
            <a:ext cx="4316413" cy="1143000"/>
            <a:chOff x="240" y="1520"/>
            <a:chExt cx="2719" cy="720"/>
          </a:xfrm>
        </p:grpSpPr>
        <p:sp>
          <p:nvSpPr>
            <p:cNvPr id="50196" name="Text Box 23"/>
            <p:cNvSpPr txBox="1">
              <a:spLocks noChangeArrowheads="1"/>
            </p:cNvSpPr>
            <p:nvPr/>
          </p:nvSpPr>
          <p:spPr bwMode="auto">
            <a:xfrm>
              <a:off x="336" y="1520"/>
              <a:ext cx="2381" cy="288"/>
            </a:xfrm>
            <a:prstGeom prst="rect">
              <a:avLst/>
            </a:prstGeom>
            <a:noFill/>
            <a:ln w="9525">
              <a:noFill/>
              <a:miter lim="800000"/>
              <a:headEnd/>
              <a:tailEnd/>
            </a:ln>
            <a:effectLst/>
          </p:spPr>
          <p:txBody>
            <a:bodyPr wrap="none">
              <a:spAutoFit/>
            </a:bodyPr>
            <a:lstStyle/>
            <a:p>
              <a:r>
                <a:rPr lang="en-US" altLang="zh-CN" b="1" i="1">
                  <a:solidFill>
                    <a:srgbClr val="3333CC"/>
                  </a:solidFill>
                </a:rPr>
                <a:t>V </a:t>
              </a:r>
              <a:r>
                <a:rPr lang="en-US" altLang="zh-CN" b="1">
                  <a:solidFill>
                    <a:srgbClr val="3333CC"/>
                  </a:solidFill>
                </a:rPr>
                <a:t>(</a:t>
              </a:r>
              <a:r>
                <a:rPr lang="en-US" altLang="zh-CN" b="1" i="1">
                  <a:solidFill>
                    <a:srgbClr val="3333CC"/>
                  </a:solidFill>
                </a:rPr>
                <a:t>x</a:t>
              </a:r>
              <a:r>
                <a:rPr lang="en-US" altLang="zh-CN" b="1">
                  <a:solidFill>
                    <a:srgbClr val="3333CC"/>
                  </a:solidFill>
                </a:rPr>
                <a:t>) = 0</a:t>
              </a:r>
              <a:r>
                <a:rPr lang="en-US" altLang="zh-CN" b="1">
                  <a:solidFill>
                    <a:srgbClr val="FFCC66"/>
                  </a:solidFill>
                </a:rPr>
                <a:t>         </a:t>
              </a:r>
              <a:r>
                <a:rPr lang="zh-CN" altLang="en-US" b="1">
                  <a:solidFill>
                    <a:srgbClr val="339933"/>
                  </a:solidFill>
                </a:rPr>
                <a:t>（</a:t>
              </a:r>
              <a:r>
                <a:rPr lang="zh-CN" altLang="en-US" b="1">
                  <a:solidFill>
                    <a:srgbClr val="FFCC66"/>
                  </a:solidFill>
                </a:rPr>
                <a:t> </a:t>
              </a:r>
              <a:r>
                <a:rPr lang="en-US" altLang="zh-CN" b="1">
                  <a:solidFill>
                    <a:srgbClr val="006600"/>
                  </a:solidFill>
                </a:rPr>
                <a:t>0 &lt; </a:t>
              </a:r>
              <a:r>
                <a:rPr lang="en-US" altLang="zh-CN" b="1" i="1">
                  <a:solidFill>
                    <a:srgbClr val="006600"/>
                  </a:solidFill>
                </a:rPr>
                <a:t>x </a:t>
              </a:r>
              <a:r>
                <a:rPr lang="en-US" altLang="zh-CN" b="1">
                  <a:solidFill>
                    <a:srgbClr val="006600"/>
                  </a:solidFill>
                </a:rPr>
                <a:t>&lt; </a:t>
              </a:r>
              <a:r>
                <a:rPr lang="en-US" altLang="zh-CN" b="1" i="1">
                  <a:solidFill>
                    <a:srgbClr val="006600"/>
                  </a:solidFill>
                </a:rPr>
                <a:t>a</a:t>
              </a:r>
              <a:r>
                <a:rPr lang="zh-CN" altLang="en-US" b="1">
                  <a:solidFill>
                    <a:srgbClr val="006600"/>
                  </a:solidFill>
                </a:rPr>
                <a:t>）</a:t>
              </a:r>
            </a:p>
          </p:txBody>
        </p:sp>
        <p:sp>
          <p:nvSpPr>
            <p:cNvPr id="50197" name="Text Box 24"/>
            <p:cNvSpPr txBox="1">
              <a:spLocks noChangeArrowheads="1"/>
            </p:cNvSpPr>
            <p:nvPr/>
          </p:nvSpPr>
          <p:spPr bwMode="auto">
            <a:xfrm>
              <a:off x="336" y="1952"/>
              <a:ext cx="2623" cy="288"/>
            </a:xfrm>
            <a:prstGeom prst="rect">
              <a:avLst/>
            </a:prstGeom>
            <a:noFill/>
            <a:ln w="9525">
              <a:noFill/>
              <a:miter lim="800000"/>
              <a:headEnd/>
              <a:tailEnd/>
            </a:ln>
            <a:effectLst/>
          </p:spPr>
          <p:txBody>
            <a:bodyPr wrap="none">
              <a:spAutoFit/>
            </a:bodyPr>
            <a:lstStyle/>
            <a:p>
              <a:r>
                <a:rPr lang="en-US" altLang="zh-CN" b="1" i="1">
                  <a:solidFill>
                    <a:srgbClr val="3333CC"/>
                  </a:solidFill>
                </a:rPr>
                <a:t>V </a:t>
              </a:r>
              <a:r>
                <a:rPr lang="en-US" altLang="zh-CN" b="1">
                  <a:solidFill>
                    <a:srgbClr val="3333CC"/>
                  </a:solidFill>
                </a:rPr>
                <a:t>(</a:t>
              </a:r>
              <a:r>
                <a:rPr lang="en-US" altLang="zh-CN" b="1" i="1">
                  <a:solidFill>
                    <a:srgbClr val="3333CC"/>
                  </a:solidFill>
                </a:rPr>
                <a:t>x</a:t>
              </a:r>
              <a:r>
                <a:rPr lang="en-US" altLang="zh-CN" b="1">
                  <a:solidFill>
                    <a:srgbClr val="3333CC"/>
                  </a:solidFill>
                </a:rPr>
                <a:t>) = ∞</a:t>
              </a:r>
              <a:r>
                <a:rPr lang="en-US" altLang="zh-CN" b="1">
                  <a:solidFill>
                    <a:srgbClr val="FFCC66"/>
                  </a:solidFill>
                </a:rPr>
                <a:t>     </a:t>
              </a:r>
              <a:r>
                <a:rPr lang="zh-CN" altLang="en-US" b="1">
                  <a:solidFill>
                    <a:srgbClr val="339933"/>
                  </a:solidFill>
                </a:rPr>
                <a:t>（</a:t>
              </a:r>
              <a:r>
                <a:rPr lang="en-US" altLang="zh-CN" b="1">
                  <a:solidFill>
                    <a:srgbClr val="006600"/>
                  </a:solidFill>
                </a:rPr>
                <a:t>0 &lt; </a:t>
              </a:r>
              <a:r>
                <a:rPr lang="en-US" altLang="zh-CN" b="1" i="1">
                  <a:solidFill>
                    <a:srgbClr val="006600"/>
                  </a:solidFill>
                </a:rPr>
                <a:t>x</a:t>
              </a:r>
              <a:r>
                <a:rPr lang="en-US" altLang="zh-CN" b="1" i="1">
                  <a:solidFill>
                    <a:srgbClr val="66FFFF"/>
                  </a:solidFill>
                </a:rPr>
                <a:t> </a:t>
              </a:r>
              <a:r>
                <a:rPr lang="zh-CN" altLang="en-US" b="1">
                  <a:solidFill>
                    <a:schemeClr val="bg1"/>
                  </a:solidFill>
                  <a:ea typeface="楷体_GB2312" pitchFamily="49" charset="-122"/>
                </a:rPr>
                <a:t>或</a:t>
              </a:r>
              <a:r>
                <a:rPr lang="zh-CN" altLang="en-US" b="1">
                  <a:solidFill>
                    <a:srgbClr val="66FFFF"/>
                  </a:solidFill>
                </a:rPr>
                <a:t> </a:t>
              </a:r>
              <a:r>
                <a:rPr lang="en-US" altLang="zh-CN" b="1" i="1">
                  <a:solidFill>
                    <a:srgbClr val="006600"/>
                  </a:solidFill>
                </a:rPr>
                <a:t>x </a:t>
              </a:r>
              <a:r>
                <a:rPr lang="en-US" altLang="zh-CN" b="1">
                  <a:solidFill>
                    <a:srgbClr val="006600"/>
                  </a:solidFill>
                </a:rPr>
                <a:t>&gt; </a:t>
              </a:r>
              <a:r>
                <a:rPr lang="en-US" altLang="zh-CN" b="1" i="1">
                  <a:solidFill>
                    <a:srgbClr val="006600"/>
                  </a:solidFill>
                </a:rPr>
                <a:t>a</a:t>
              </a:r>
              <a:r>
                <a:rPr lang="zh-CN" altLang="en-US" b="1">
                  <a:solidFill>
                    <a:srgbClr val="006600"/>
                  </a:solidFill>
                </a:rPr>
                <a:t>）</a:t>
              </a:r>
            </a:p>
          </p:txBody>
        </p:sp>
        <p:sp>
          <p:nvSpPr>
            <p:cNvPr id="50198" name="AutoShape 25"/>
            <p:cNvSpPr>
              <a:spLocks/>
            </p:cNvSpPr>
            <p:nvPr/>
          </p:nvSpPr>
          <p:spPr bwMode="auto">
            <a:xfrm>
              <a:off x="240" y="1584"/>
              <a:ext cx="48" cy="624"/>
            </a:xfrm>
            <a:prstGeom prst="leftBrace">
              <a:avLst>
                <a:gd name="adj1" fmla="val 108333"/>
                <a:gd name="adj2" fmla="val 50000"/>
              </a:avLst>
            </a:prstGeom>
            <a:noFill/>
            <a:ln w="38100">
              <a:solidFill>
                <a:schemeClr val="accent1"/>
              </a:solidFill>
              <a:round/>
              <a:headEnd/>
              <a:tailEnd/>
            </a:ln>
            <a:effectLst/>
          </p:spPr>
          <p:txBody>
            <a:bodyPr wrap="none" anchor="ctr"/>
            <a:lstStyle/>
            <a:p>
              <a:endParaRPr lang="zh-CN" altLang="en-US"/>
            </a:p>
          </p:txBody>
        </p:sp>
      </p:grpSp>
      <p:graphicFrame>
        <p:nvGraphicFramePr>
          <p:cNvPr id="133146" name="Object 26"/>
          <p:cNvGraphicFramePr>
            <a:graphicFrameLocks noChangeAspect="1"/>
          </p:cNvGraphicFramePr>
          <p:nvPr/>
        </p:nvGraphicFramePr>
        <p:xfrm>
          <a:off x="7720013" y="1989138"/>
          <a:ext cx="1082675" cy="363537"/>
        </p:xfrm>
        <a:graphic>
          <a:graphicData uri="http://schemas.openxmlformats.org/presentationml/2006/ole">
            <p:oleObj spid="_x0000_s50191" name="公式" r:id="rId7" imgW="504720" imgH="154800" progId="Equation.3">
              <p:embed/>
            </p:oleObj>
          </a:graphicData>
        </a:graphic>
      </p:graphicFrame>
      <p:graphicFrame>
        <p:nvGraphicFramePr>
          <p:cNvPr id="133147" name="Object 27"/>
          <p:cNvGraphicFramePr>
            <a:graphicFrameLocks noChangeAspect="1"/>
          </p:cNvGraphicFramePr>
          <p:nvPr/>
        </p:nvGraphicFramePr>
        <p:xfrm>
          <a:off x="4664075" y="1943100"/>
          <a:ext cx="1122363" cy="366713"/>
        </p:xfrm>
        <a:graphic>
          <a:graphicData uri="http://schemas.openxmlformats.org/presentationml/2006/ole">
            <p:oleObj spid="_x0000_s50192" name="公式" r:id="rId8" imgW="504720" imgH="154800" progId="Equation.3">
              <p:embed/>
            </p:oleObj>
          </a:graphicData>
        </a:graphic>
      </p:graphicFrame>
      <p:sp>
        <p:nvSpPr>
          <p:cNvPr id="133148" name="Rectangle 28"/>
          <p:cNvSpPr>
            <a:spLocks noChangeArrowheads="1"/>
          </p:cNvSpPr>
          <p:nvPr/>
        </p:nvSpPr>
        <p:spPr bwMode="auto">
          <a:xfrm>
            <a:off x="755650" y="3979863"/>
            <a:ext cx="2820988" cy="457200"/>
          </a:xfrm>
          <a:prstGeom prst="rect">
            <a:avLst/>
          </a:prstGeom>
          <a:noFill/>
          <a:ln w="9525">
            <a:noFill/>
            <a:miter lim="800000"/>
            <a:headEnd/>
            <a:tailEnd/>
          </a:ln>
          <a:effectLst/>
        </p:spPr>
        <p:txBody>
          <a:bodyPr wrap="none">
            <a:spAutoFit/>
          </a:bodyPr>
          <a:lstStyle/>
          <a:p>
            <a:r>
              <a:rPr lang="en-US" altLang="zh-CN" b="1" i="1">
                <a:solidFill>
                  <a:srgbClr val="006600"/>
                </a:solidFill>
              </a:rPr>
              <a:t>x</a:t>
            </a:r>
            <a:r>
              <a:rPr lang="en-US" altLang="zh-CN" b="1" i="1">
                <a:solidFill>
                  <a:srgbClr val="66FFFF"/>
                </a:solidFill>
              </a:rPr>
              <a:t> </a:t>
            </a:r>
            <a:r>
              <a:rPr lang="en-US" altLang="zh-CN" b="1">
                <a:solidFill>
                  <a:srgbClr val="006600"/>
                </a:solidFill>
              </a:rPr>
              <a:t>&lt;</a:t>
            </a:r>
            <a:r>
              <a:rPr lang="en-US" altLang="zh-CN" b="1" i="1">
                <a:solidFill>
                  <a:srgbClr val="66FFFF"/>
                </a:solidFill>
              </a:rPr>
              <a:t> </a:t>
            </a:r>
            <a:r>
              <a:rPr lang="en-US" altLang="zh-CN" b="1">
                <a:solidFill>
                  <a:srgbClr val="006600"/>
                </a:solidFill>
              </a:rPr>
              <a:t>0 </a:t>
            </a:r>
            <a:r>
              <a:rPr lang="zh-CN" altLang="en-US" b="1">
                <a:solidFill>
                  <a:schemeClr val="bg1"/>
                </a:solidFill>
              </a:rPr>
              <a:t>或 </a:t>
            </a:r>
            <a:r>
              <a:rPr lang="zh-CN" altLang="en-US" b="1" i="1">
                <a:solidFill>
                  <a:srgbClr val="66FFFF"/>
                </a:solidFill>
              </a:rPr>
              <a:t> </a:t>
            </a:r>
            <a:r>
              <a:rPr lang="en-US" altLang="zh-CN" b="1" i="1">
                <a:solidFill>
                  <a:srgbClr val="006600"/>
                </a:solidFill>
              </a:rPr>
              <a:t>x </a:t>
            </a:r>
            <a:r>
              <a:rPr lang="en-US" altLang="zh-CN" b="1">
                <a:solidFill>
                  <a:srgbClr val="006600"/>
                </a:solidFill>
              </a:rPr>
              <a:t>&gt;</a:t>
            </a:r>
            <a:r>
              <a:rPr lang="en-US" altLang="zh-CN" b="1" i="1">
                <a:solidFill>
                  <a:srgbClr val="006600"/>
                </a:solidFill>
              </a:rPr>
              <a:t> a</a:t>
            </a:r>
            <a:r>
              <a:rPr lang="en-US" altLang="zh-CN" b="1">
                <a:solidFill>
                  <a:srgbClr val="00FF99"/>
                </a:solidFill>
              </a:rPr>
              <a:t>   </a:t>
            </a:r>
            <a:r>
              <a:rPr lang="zh-CN" altLang="en-US" b="1">
                <a:solidFill>
                  <a:schemeClr val="bg1"/>
                </a:solidFill>
              </a:rPr>
              <a:t>区域</a:t>
            </a:r>
          </a:p>
        </p:txBody>
      </p:sp>
      <p:graphicFrame>
        <p:nvGraphicFramePr>
          <p:cNvPr id="133149" name="Object 29"/>
          <p:cNvGraphicFramePr>
            <a:graphicFrameLocks noChangeAspect="1"/>
          </p:cNvGraphicFramePr>
          <p:nvPr/>
        </p:nvGraphicFramePr>
        <p:xfrm>
          <a:off x="4167188" y="4059238"/>
          <a:ext cx="1116012" cy="366712"/>
        </p:xfrm>
        <a:graphic>
          <a:graphicData uri="http://schemas.openxmlformats.org/presentationml/2006/ole">
            <p:oleObj spid="_x0000_s50194" name="公式" r:id="rId9" imgW="504720" imgH="154800" progId="Equation.3">
              <p:embed/>
            </p:oleObj>
          </a:graphicData>
        </a:graphic>
      </p:graphicFrame>
      <p:sp>
        <p:nvSpPr>
          <p:cNvPr id="133150" name="AutoShape 30"/>
          <p:cNvSpPr>
            <a:spLocks/>
          </p:cNvSpPr>
          <p:nvPr/>
        </p:nvSpPr>
        <p:spPr bwMode="auto">
          <a:xfrm>
            <a:off x="701675" y="2573338"/>
            <a:ext cx="179388" cy="765175"/>
          </a:xfrm>
          <a:prstGeom prst="leftBrace">
            <a:avLst>
              <a:gd name="adj1" fmla="val 35546"/>
              <a:gd name="adj2" fmla="val 50000"/>
            </a:avLst>
          </a:prstGeom>
          <a:noFill/>
          <a:ln w="19050">
            <a:solidFill>
              <a:srgbClr val="0000FF"/>
            </a:solidFill>
            <a:round/>
            <a:headEnd/>
            <a:tailEnd/>
          </a:ln>
          <a:effectLst/>
        </p:spPr>
        <p:txBody>
          <a:bodyPr wrap="none" anchor="ctr"/>
          <a:lstStyle/>
          <a:p>
            <a:endParaRPr lang="zh-CN" altLang="en-US"/>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23"/>
                                        </p:tgtEl>
                                        <p:attrNameLst>
                                          <p:attrName>style.visibility</p:attrName>
                                        </p:attrNameLst>
                                      </p:cBhvr>
                                      <p:to>
                                        <p:strVal val="visible"/>
                                      </p:to>
                                    </p:set>
                                    <p:animEffect transition="in" filter="wipe(left)">
                                      <p:cBhvr>
                                        <p:cTn id="7" dur="500"/>
                                        <p:tgtEl>
                                          <p:spTgt spid="1331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33152"/>
                                        </p:tgtEl>
                                        <p:attrNameLst>
                                          <p:attrName>style.visibility</p:attrName>
                                        </p:attrNameLst>
                                      </p:cBhvr>
                                      <p:to>
                                        <p:strVal val="visible"/>
                                      </p:to>
                                    </p:set>
                                    <p:animEffect transition="in" filter="wipe(down)">
                                      <p:cBhvr>
                                        <p:cTn id="12" dur="500"/>
                                        <p:tgtEl>
                                          <p:spTgt spid="133152"/>
                                        </p:tgtEl>
                                      </p:cBhvr>
                                    </p:animEffect>
                                  </p:childTnLst>
                                </p:cTn>
                              </p:par>
                            </p:childTnLst>
                          </p:cTn>
                        </p:par>
                        <p:par>
                          <p:cTn id="13" fill="hold" nodeType="afterGroup">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133134"/>
                                        </p:tgtEl>
                                        <p:attrNameLst>
                                          <p:attrName>style.visibility</p:attrName>
                                        </p:attrNameLst>
                                      </p:cBhvr>
                                      <p:to>
                                        <p:strVal val="visible"/>
                                      </p:to>
                                    </p:set>
                                    <p:animEffect transition="in" filter="wipe(down)">
                                      <p:cBhvr>
                                        <p:cTn id="16" dur="500"/>
                                        <p:tgtEl>
                                          <p:spTgt spid="133134"/>
                                        </p:tgtEl>
                                      </p:cBhvr>
                                    </p:animEffect>
                                  </p:childTnLst>
                                </p:cTn>
                              </p:par>
                            </p:childTnLst>
                          </p:cTn>
                        </p:par>
                        <p:par>
                          <p:cTn id="17" fill="hold" nodeType="afterGroup">
                            <p:stCondLst>
                              <p:cond delay="1000"/>
                            </p:stCondLst>
                            <p:childTnLst>
                              <p:par>
                                <p:cTn id="18" presetID="22" presetClass="entr" presetSubtype="4" fill="hold" grpId="0" nodeType="afterEffect">
                                  <p:stCondLst>
                                    <p:cond delay="0"/>
                                  </p:stCondLst>
                                  <p:childTnLst>
                                    <p:set>
                                      <p:cBhvr>
                                        <p:cTn id="19" dur="1" fill="hold">
                                          <p:stCondLst>
                                            <p:cond delay="0"/>
                                          </p:stCondLst>
                                        </p:cTn>
                                        <p:tgtEl>
                                          <p:spTgt spid="133135"/>
                                        </p:tgtEl>
                                        <p:attrNameLst>
                                          <p:attrName>style.visibility</p:attrName>
                                        </p:attrNameLst>
                                      </p:cBhvr>
                                      <p:to>
                                        <p:strVal val="visible"/>
                                      </p:to>
                                    </p:set>
                                    <p:animEffect transition="in" filter="wipe(down)">
                                      <p:cBhvr>
                                        <p:cTn id="20" dur="500"/>
                                        <p:tgtEl>
                                          <p:spTgt spid="13313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33137"/>
                                        </p:tgtEl>
                                        <p:attrNameLst>
                                          <p:attrName>style.visibility</p:attrName>
                                        </p:attrNameLst>
                                      </p:cBhvr>
                                      <p:to>
                                        <p:strVal val="visible"/>
                                      </p:to>
                                    </p:set>
                                    <p:animEffect transition="in" filter="wipe(left)">
                                      <p:cBhvr>
                                        <p:cTn id="25" dur="500"/>
                                        <p:tgtEl>
                                          <p:spTgt spid="13313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2" presetClass="entr" presetSubtype="2" fill="hold" grpId="0" nodeType="clickEffect">
                                  <p:stCondLst>
                                    <p:cond delay="0"/>
                                  </p:stCondLst>
                                  <p:childTnLst>
                                    <p:set>
                                      <p:cBhvr>
                                        <p:cTn id="29" dur="1" fill="hold">
                                          <p:stCondLst>
                                            <p:cond delay="0"/>
                                          </p:stCondLst>
                                        </p:cTn>
                                        <p:tgtEl>
                                          <p:spTgt spid="133136"/>
                                        </p:tgtEl>
                                        <p:attrNameLst>
                                          <p:attrName>style.visibility</p:attrName>
                                        </p:attrNameLst>
                                      </p:cBhvr>
                                      <p:to>
                                        <p:strVal val="visible"/>
                                      </p:to>
                                    </p:set>
                                    <p:animEffect transition="in" filter="slide(fromRight)">
                                      <p:cBhvr>
                                        <p:cTn id="30" dur="1000"/>
                                        <p:tgtEl>
                                          <p:spTgt spid="13313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nodeType="clickEffect">
                                  <p:stCondLst>
                                    <p:cond delay="0"/>
                                  </p:stCondLst>
                                  <p:childTnLst>
                                    <p:set>
                                      <p:cBhvr>
                                        <p:cTn id="34" dur="1" fill="hold">
                                          <p:stCondLst>
                                            <p:cond delay="0"/>
                                          </p:stCondLst>
                                        </p:cTn>
                                        <p:tgtEl>
                                          <p:spTgt spid="133151"/>
                                        </p:tgtEl>
                                        <p:attrNameLst>
                                          <p:attrName>style.visibility</p:attrName>
                                        </p:attrNameLst>
                                      </p:cBhvr>
                                      <p:to>
                                        <p:strVal val="visible"/>
                                      </p:to>
                                    </p:set>
                                    <p:animEffect transition="in" filter="wipe(down)">
                                      <p:cBhvr>
                                        <p:cTn id="35" dur="500"/>
                                        <p:tgtEl>
                                          <p:spTgt spid="13315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3150"/>
                                        </p:tgtEl>
                                        <p:attrNameLst>
                                          <p:attrName>style.visibility</p:attrName>
                                        </p:attrNameLst>
                                      </p:cBhvr>
                                      <p:to>
                                        <p:strVal val="visible"/>
                                      </p:to>
                                    </p:set>
                                    <p:animEffect transition="in" filter="wipe(left)">
                                      <p:cBhvr>
                                        <p:cTn id="40" dur="500"/>
                                        <p:tgtEl>
                                          <p:spTgt spid="133150"/>
                                        </p:tgtEl>
                                      </p:cBhvr>
                                    </p:animEffect>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133142"/>
                                        </p:tgtEl>
                                        <p:attrNameLst>
                                          <p:attrName>style.visibility</p:attrName>
                                        </p:attrNameLst>
                                      </p:cBhvr>
                                      <p:to>
                                        <p:strVal val="visible"/>
                                      </p:to>
                                    </p:set>
                                    <p:animEffect transition="in" filter="wipe(left)">
                                      <p:cBhvr>
                                        <p:cTn id="44" dur="500"/>
                                        <p:tgtEl>
                                          <p:spTgt spid="13314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33148"/>
                                        </p:tgtEl>
                                        <p:attrNameLst>
                                          <p:attrName>style.visibility</p:attrName>
                                        </p:attrNameLst>
                                      </p:cBhvr>
                                      <p:to>
                                        <p:strVal val="visible"/>
                                      </p:to>
                                    </p:set>
                                    <p:animEffect transition="in" filter="wipe(left)">
                                      <p:cBhvr>
                                        <p:cTn id="49" dur="500"/>
                                        <p:tgtEl>
                                          <p:spTgt spid="133148"/>
                                        </p:tgtEl>
                                      </p:cBhvr>
                                    </p:animEffect>
                                  </p:childTnLst>
                                </p:cTn>
                              </p:par>
                            </p:childTnLst>
                          </p:cTn>
                        </p:par>
                        <p:par>
                          <p:cTn id="50" fill="hold" nodeType="afterGroup">
                            <p:stCondLst>
                              <p:cond delay="500"/>
                            </p:stCondLst>
                            <p:childTnLst>
                              <p:par>
                                <p:cTn id="51" presetID="22" presetClass="entr" presetSubtype="8" fill="hold" nodeType="afterEffect">
                                  <p:stCondLst>
                                    <p:cond delay="0"/>
                                  </p:stCondLst>
                                  <p:childTnLst>
                                    <p:set>
                                      <p:cBhvr>
                                        <p:cTn id="52" dur="1" fill="hold">
                                          <p:stCondLst>
                                            <p:cond delay="0"/>
                                          </p:stCondLst>
                                        </p:cTn>
                                        <p:tgtEl>
                                          <p:spTgt spid="133149"/>
                                        </p:tgtEl>
                                        <p:attrNameLst>
                                          <p:attrName>style.visibility</p:attrName>
                                        </p:attrNameLst>
                                      </p:cBhvr>
                                      <p:to>
                                        <p:strVal val="visible"/>
                                      </p:to>
                                    </p:set>
                                    <p:animEffect transition="in" filter="wipe(left)">
                                      <p:cBhvr>
                                        <p:cTn id="53" dur="500"/>
                                        <p:tgtEl>
                                          <p:spTgt spid="13314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2" fill="hold" nodeType="clickEffect">
                                  <p:stCondLst>
                                    <p:cond delay="0"/>
                                  </p:stCondLst>
                                  <p:childTnLst>
                                    <p:set>
                                      <p:cBhvr>
                                        <p:cTn id="57" dur="1" fill="hold">
                                          <p:stCondLst>
                                            <p:cond delay="0"/>
                                          </p:stCondLst>
                                        </p:cTn>
                                        <p:tgtEl>
                                          <p:spTgt spid="133147"/>
                                        </p:tgtEl>
                                        <p:attrNameLst>
                                          <p:attrName>style.visibility</p:attrName>
                                        </p:attrNameLst>
                                      </p:cBhvr>
                                      <p:to>
                                        <p:strVal val="visible"/>
                                      </p:to>
                                    </p:set>
                                    <p:animEffect transition="in" filter="slide(fromRight)">
                                      <p:cBhvr>
                                        <p:cTn id="58" dur="500"/>
                                        <p:tgtEl>
                                          <p:spTgt spid="13314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2" presetClass="entr" presetSubtype="2" fill="hold" nodeType="clickEffect">
                                  <p:stCondLst>
                                    <p:cond delay="0"/>
                                  </p:stCondLst>
                                  <p:childTnLst>
                                    <p:set>
                                      <p:cBhvr>
                                        <p:cTn id="62" dur="1" fill="hold">
                                          <p:stCondLst>
                                            <p:cond delay="0"/>
                                          </p:stCondLst>
                                        </p:cTn>
                                        <p:tgtEl>
                                          <p:spTgt spid="133146"/>
                                        </p:tgtEl>
                                        <p:attrNameLst>
                                          <p:attrName>style.visibility</p:attrName>
                                        </p:attrNameLst>
                                      </p:cBhvr>
                                      <p:to>
                                        <p:strVal val="visible"/>
                                      </p:to>
                                    </p:set>
                                    <p:animEffect transition="in" filter="slide(fromRight)">
                                      <p:cBhvr>
                                        <p:cTn id="63" dur="500"/>
                                        <p:tgtEl>
                                          <p:spTgt spid="13314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33124"/>
                                        </p:tgtEl>
                                        <p:attrNameLst>
                                          <p:attrName>style.visibility</p:attrName>
                                        </p:attrNameLst>
                                      </p:cBhvr>
                                      <p:to>
                                        <p:strVal val="visible"/>
                                      </p:to>
                                    </p:set>
                                    <p:animEffect transition="in" filter="wipe(left)">
                                      <p:cBhvr>
                                        <p:cTn id="68" dur="500"/>
                                        <p:tgtEl>
                                          <p:spTgt spid="133124"/>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133138"/>
                                        </p:tgtEl>
                                        <p:attrNameLst>
                                          <p:attrName>style.visibility</p:attrName>
                                        </p:attrNameLst>
                                      </p:cBhvr>
                                      <p:to>
                                        <p:strVal val="visible"/>
                                      </p:to>
                                    </p:set>
                                  </p:childTnLst>
                                </p:cTn>
                              </p:par>
                            </p:childTnLst>
                          </p:cTn>
                        </p:par>
                        <p:par>
                          <p:cTn id="73" fill="hold" nodeType="afterGroup">
                            <p:stCondLst>
                              <p:cond delay="500"/>
                            </p:stCondLst>
                            <p:childTnLst>
                              <p:par>
                                <p:cTn id="74" presetID="22" presetClass="entr" presetSubtype="8" fill="hold" nodeType="afterEffect">
                                  <p:stCondLst>
                                    <p:cond delay="0"/>
                                  </p:stCondLst>
                                  <p:childTnLst>
                                    <p:set>
                                      <p:cBhvr>
                                        <p:cTn id="75" dur="1" fill="hold">
                                          <p:stCondLst>
                                            <p:cond delay="0"/>
                                          </p:stCondLst>
                                        </p:cTn>
                                        <p:tgtEl>
                                          <p:spTgt spid="133139"/>
                                        </p:tgtEl>
                                        <p:attrNameLst>
                                          <p:attrName>style.visibility</p:attrName>
                                        </p:attrNameLst>
                                      </p:cBhvr>
                                      <p:to>
                                        <p:strVal val="visible"/>
                                      </p:to>
                                    </p:set>
                                    <p:animEffect transition="in" filter="wipe(left)">
                                      <p:cBhvr>
                                        <p:cTn id="76" dur="500"/>
                                        <p:tgtEl>
                                          <p:spTgt spid="133139"/>
                                        </p:tgtEl>
                                      </p:cBhvr>
                                    </p:animEffect>
                                  </p:childTnLst>
                                </p:cTn>
                              </p:par>
                              <p:par>
                                <p:cTn id="77" presetID="1" presetClass="entr" presetSubtype="0" fill="hold" grpId="0" nodeType="withEffect">
                                  <p:stCondLst>
                                    <p:cond delay="0"/>
                                  </p:stCondLst>
                                  <p:childTnLst>
                                    <p:set>
                                      <p:cBhvr>
                                        <p:cTn id="78" dur="1" fill="hold">
                                          <p:stCondLst>
                                            <p:cond delay="499"/>
                                          </p:stCondLst>
                                        </p:cTn>
                                        <p:tgtEl>
                                          <p:spTgt spid="133141"/>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9" presetClass="entr" presetSubtype="0" fill="hold" nodeType="clickEffect">
                                  <p:stCondLst>
                                    <p:cond delay="0"/>
                                  </p:stCondLst>
                                  <p:childTnLst>
                                    <p:set>
                                      <p:cBhvr>
                                        <p:cTn id="82" dur="1" fill="hold">
                                          <p:stCondLst>
                                            <p:cond delay="0"/>
                                          </p:stCondLst>
                                        </p:cTn>
                                        <p:tgtEl>
                                          <p:spTgt spid="133140"/>
                                        </p:tgtEl>
                                        <p:attrNameLst>
                                          <p:attrName>style.visibility</p:attrName>
                                        </p:attrNameLst>
                                      </p:cBhvr>
                                      <p:to>
                                        <p:strVal val="visible"/>
                                      </p:to>
                                    </p:set>
                                    <p:animEffect transition="in" filter="dissolve">
                                      <p:cBhvr>
                                        <p:cTn id="83" dur="500"/>
                                        <p:tgtEl>
                                          <p:spTgt spid="133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p:bldP spid="133124" grpId="0" autoUpdateAnimBg="0"/>
      <p:bldP spid="133134" grpId="0"/>
      <p:bldP spid="133135" grpId="0"/>
      <p:bldP spid="133136" grpId="0" animBg="1"/>
      <p:bldP spid="133137" grpId="0"/>
      <p:bldP spid="133138" grpId="0" animBg="1"/>
      <p:bldP spid="133141" grpId="0" autoUpdateAnimBg="0"/>
      <p:bldP spid="133148" grpId="0"/>
      <p:bldP spid="13315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4176" name="Group 32"/>
          <p:cNvGrpSpPr>
            <a:grpSpLocks/>
          </p:cNvGrpSpPr>
          <p:nvPr/>
        </p:nvGrpSpPr>
        <p:grpSpPr bwMode="auto">
          <a:xfrm>
            <a:off x="4751388" y="457200"/>
            <a:ext cx="4202112" cy="3357563"/>
            <a:chOff x="2993" y="288"/>
            <a:chExt cx="2647" cy="2115"/>
          </a:xfrm>
        </p:grpSpPr>
        <p:sp>
          <p:nvSpPr>
            <p:cNvPr id="51219" name="Rectangle 11"/>
            <p:cNvSpPr>
              <a:spLocks noChangeArrowheads="1"/>
            </p:cNvSpPr>
            <p:nvPr/>
          </p:nvSpPr>
          <p:spPr bwMode="auto">
            <a:xfrm>
              <a:off x="3792" y="654"/>
              <a:ext cx="960" cy="1488"/>
            </a:xfrm>
            <a:prstGeom prst="rect">
              <a:avLst/>
            </a:prstGeom>
            <a:solidFill>
              <a:srgbClr val="C0C0C0"/>
            </a:solidFill>
            <a:ln w="9525">
              <a:solidFill>
                <a:schemeClr val="tx1"/>
              </a:solidFill>
              <a:miter lim="800000"/>
              <a:headEnd/>
              <a:tailEnd/>
            </a:ln>
            <a:effectLst/>
          </p:spPr>
          <p:txBody>
            <a:bodyPr wrap="none" anchor="ctr"/>
            <a:lstStyle/>
            <a:p>
              <a:endParaRPr lang="zh-CN" altLang="en-US"/>
            </a:p>
          </p:txBody>
        </p:sp>
        <p:graphicFrame>
          <p:nvGraphicFramePr>
            <p:cNvPr id="51220" name="Object 12"/>
            <p:cNvGraphicFramePr>
              <a:graphicFrameLocks noChangeAspect="1"/>
            </p:cNvGraphicFramePr>
            <p:nvPr/>
          </p:nvGraphicFramePr>
          <p:xfrm>
            <a:off x="4863" y="1254"/>
            <a:ext cx="682" cy="229"/>
          </p:xfrm>
          <a:graphic>
            <a:graphicData uri="http://schemas.openxmlformats.org/presentationml/2006/ole">
              <p:oleObj spid="_x0000_s51220" name="公式" r:id="rId4" imgW="504720" imgH="154800" progId="Equation.3">
                <p:embed/>
              </p:oleObj>
            </a:graphicData>
          </a:graphic>
        </p:graphicFrame>
        <p:sp>
          <p:nvSpPr>
            <p:cNvPr id="51221" name="Line 13"/>
            <p:cNvSpPr>
              <a:spLocks noChangeShapeType="1"/>
            </p:cNvSpPr>
            <p:nvPr/>
          </p:nvSpPr>
          <p:spPr bwMode="auto">
            <a:xfrm>
              <a:off x="3384" y="2142"/>
              <a:ext cx="1944" cy="0"/>
            </a:xfrm>
            <a:prstGeom prst="line">
              <a:avLst/>
            </a:prstGeom>
            <a:noFill/>
            <a:ln w="19050">
              <a:solidFill>
                <a:srgbClr val="0000FF"/>
              </a:solidFill>
              <a:round/>
              <a:headEnd/>
              <a:tailEnd type="triangle" w="med" len="med"/>
            </a:ln>
            <a:effectLst/>
          </p:spPr>
          <p:txBody>
            <a:bodyPr/>
            <a:lstStyle/>
            <a:p>
              <a:endParaRPr lang="zh-CN" altLang="en-US"/>
            </a:p>
          </p:txBody>
        </p:sp>
        <p:sp>
          <p:nvSpPr>
            <p:cNvPr id="51222" name="Line 14"/>
            <p:cNvSpPr>
              <a:spLocks noChangeShapeType="1"/>
            </p:cNvSpPr>
            <p:nvPr/>
          </p:nvSpPr>
          <p:spPr bwMode="auto">
            <a:xfrm>
              <a:off x="3792" y="654"/>
              <a:ext cx="0" cy="576"/>
            </a:xfrm>
            <a:prstGeom prst="line">
              <a:avLst/>
            </a:prstGeom>
            <a:noFill/>
            <a:ln w="38100">
              <a:solidFill>
                <a:schemeClr val="hlink"/>
              </a:solidFill>
              <a:prstDash val="sysDot"/>
              <a:round/>
              <a:headEnd/>
              <a:tailEnd/>
            </a:ln>
            <a:effectLst/>
          </p:spPr>
          <p:txBody>
            <a:bodyPr/>
            <a:lstStyle/>
            <a:p>
              <a:endParaRPr lang="zh-CN" altLang="en-US"/>
            </a:p>
          </p:txBody>
        </p:sp>
        <p:sp>
          <p:nvSpPr>
            <p:cNvPr id="51223" name="Line 15"/>
            <p:cNvSpPr>
              <a:spLocks noChangeShapeType="1"/>
            </p:cNvSpPr>
            <p:nvPr/>
          </p:nvSpPr>
          <p:spPr bwMode="auto">
            <a:xfrm>
              <a:off x="4740" y="654"/>
              <a:ext cx="0" cy="576"/>
            </a:xfrm>
            <a:prstGeom prst="line">
              <a:avLst/>
            </a:prstGeom>
            <a:noFill/>
            <a:ln w="38100">
              <a:solidFill>
                <a:schemeClr val="hlink"/>
              </a:solidFill>
              <a:prstDash val="sysDot"/>
              <a:round/>
              <a:headEnd/>
              <a:tailEnd/>
            </a:ln>
            <a:effectLst/>
          </p:spPr>
          <p:txBody>
            <a:bodyPr/>
            <a:lstStyle/>
            <a:p>
              <a:endParaRPr lang="zh-CN" altLang="en-US"/>
            </a:p>
          </p:txBody>
        </p:sp>
        <p:sp>
          <p:nvSpPr>
            <p:cNvPr id="51224" name="Text Box 16"/>
            <p:cNvSpPr txBox="1">
              <a:spLocks noChangeArrowheads="1"/>
            </p:cNvSpPr>
            <p:nvPr/>
          </p:nvSpPr>
          <p:spPr bwMode="auto">
            <a:xfrm>
              <a:off x="5324" y="1950"/>
              <a:ext cx="244" cy="365"/>
            </a:xfrm>
            <a:prstGeom prst="rect">
              <a:avLst/>
            </a:prstGeom>
            <a:noFill/>
            <a:ln w="9525">
              <a:noFill/>
              <a:miter lim="800000"/>
              <a:headEnd/>
              <a:tailEnd/>
            </a:ln>
            <a:effectLst/>
          </p:spPr>
          <p:txBody>
            <a:bodyPr wrap="none">
              <a:spAutoFit/>
            </a:bodyPr>
            <a:lstStyle/>
            <a:p>
              <a:r>
                <a:rPr lang="en-US" altLang="zh-CN" sz="3200" b="1" i="1">
                  <a:solidFill>
                    <a:srgbClr val="0000FF"/>
                  </a:solidFill>
                </a:rPr>
                <a:t>x</a:t>
              </a:r>
            </a:p>
          </p:txBody>
        </p:sp>
        <p:sp>
          <p:nvSpPr>
            <p:cNvPr id="51225" name="Text Box 17"/>
            <p:cNvSpPr txBox="1">
              <a:spLocks noChangeArrowheads="1"/>
            </p:cNvSpPr>
            <p:nvPr/>
          </p:nvSpPr>
          <p:spPr bwMode="auto">
            <a:xfrm>
              <a:off x="3696" y="2115"/>
              <a:ext cx="1172" cy="288"/>
            </a:xfrm>
            <a:prstGeom prst="rect">
              <a:avLst/>
            </a:prstGeom>
            <a:noFill/>
            <a:ln w="9525">
              <a:noFill/>
              <a:miter lim="800000"/>
              <a:headEnd/>
              <a:tailEnd/>
            </a:ln>
            <a:effectLst/>
          </p:spPr>
          <p:txBody>
            <a:bodyPr wrap="none">
              <a:spAutoFit/>
            </a:bodyPr>
            <a:lstStyle/>
            <a:p>
              <a:r>
                <a:rPr lang="en-US" altLang="zh-CN">
                  <a:solidFill>
                    <a:srgbClr val="0000FF"/>
                  </a:solidFill>
                </a:rPr>
                <a:t>0                  </a:t>
              </a:r>
              <a:r>
                <a:rPr lang="en-US" altLang="zh-CN" b="1" i="1">
                  <a:solidFill>
                    <a:srgbClr val="0000FF"/>
                  </a:solidFill>
                </a:rPr>
                <a:t>a</a:t>
              </a:r>
            </a:p>
          </p:txBody>
        </p:sp>
        <p:sp>
          <p:nvSpPr>
            <p:cNvPr id="51226" name="Line 18"/>
            <p:cNvSpPr>
              <a:spLocks noChangeShapeType="1"/>
            </p:cNvSpPr>
            <p:nvPr/>
          </p:nvSpPr>
          <p:spPr bwMode="auto">
            <a:xfrm flipV="1">
              <a:off x="4944" y="480"/>
              <a:ext cx="0" cy="480"/>
            </a:xfrm>
            <a:prstGeom prst="line">
              <a:avLst/>
            </a:prstGeom>
            <a:noFill/>
            <a:ln w="28575">
              <a:solidFill>
                <a:schemeClr val="tx2"/>
              </a:solidFill>
              <a:round/>
              <a:headEnd/>
              <a:tailEnd type="triangle" w="med" len="med"/>
            </a:ln>
            <a:effectLst/>
          </p:spPr>
          <p:txBody>
            <a:bodyPr/>
            <a:lstStyle/>
            <a:p>
              <a:endParaRPr lang="zh-CN" altLang="en-US"/>
            </a:p>
          </p:txBody>
        </p:sp>
        <p:sp>
          <p:nvSpPr>
            <p:cNvPr id="51227" name="Rectangle 19"/>
            <p:cNvSpPr>
              <a:spLocks noChangeArrowheads="1"/>
            </p:cNvSpPr>
            <p:nvPr/>
          </p:nvSpPr>
          <p:spPr bwMode="auto">
            <a:xfrm>
              <a:off x="4992" y="288"/>
              <a:ext cx="648" cy="365"/>
            </a:xfrm>
            <a:prstGeom prst="rect">
              <a:avLst/>
            </a:prstGeom>
            <a:noFill/>
            <a:ln w="9525">
              <a:noFill/>
              <a:miter lim="800000"/>
              <a:headEnd/>
              <a:tailEnd/>
            </a:ln>
            <a:effectLst/>
          </p:spPr>
          <p:txBody>
            <a:bodyPr wrap="none">
              <a:spAutoFit/>
            </a:bodyPr>
            <a:lstStyle/>
            <a:p>
              <a:r>
                <a:rPr lang="en-US" altLang="zh-CN" b="1" i="1">
                  <a:solidFill>
                    <a:schemeClr val="tx2"/>
                  </a:solidFill>
                </a:rPr>
                <a:t>V</a:t>
              </a:r>
              <a:r>
                <a:rPr lang="en-US" altLang="zh-CN" b="1">
                  <a:solidFill>
                    <a:schemeClr val="tx2"/>
                  </a:solidFill>
                </a:rPr>
                <a:t> (</a:t>
              </a:r>
              <a:r>
                <a:rPr lang="en-US" altLang="zh-CN" sz="3200" b="1">
                  <a:solidFill>
                    <a:schemeClr val="tx2"/>
                  </a:solidFill>
                </a:rPr>
                <a:t> </a:t>
              </a:r>
              <a:r>
                <a:rPr lang="en-US" altLang="zh-CN" sz="3200" b="1" i="1">
                  <a:solidFill>
                    <a:schemeClr val="tx2"/>
                  </a:solidFill>
                </a:rPr>
                <a:t>r</a:t>
              </a:r>
              <a:r>
                <a:rPr lang="en-US" altLang="zh-CN" sz="3200" b="1">
                  <a:solidFill>
                    <a:schemeClr val="tx2"/>
                  </a:solidFill>
                </a:rPr>
                <a:t> </a:t>
              </a:r>
              <a:r>
                <a:rPr lang="en-US" altLang="zh-CN" b="1">
                  <a:solidFill>
                    <a:schemeClr val="tx2"/>
                  </a:solidFill>
                </a:rPr>
                <a:t>)</a:t>
              </a:r>
            </a:p>
          </p:txBody>
        </p:sp>
        <p:sp>
          <p:nvSpPr>
            <p:cNvPr id="51228" name="Text Box 20"/>
            <p:cNvSpPr txBox="1">
              <a:spLocks noChangeArrowheads="1"/>
            </p:cNvSpPr>
            <p:nvPr/>
          </p:nvSpPr>
          <p:spPr bwMode="auto">
            <a:xfrm>
              <a:off x="3696" y="288"/>
              <a:ext cx="276" cy="327"/>
            </a:xfrm>
            <a:prstGeom prst="rect">
              <a:avLst/>
            </a:prstGeom>
            <a:noFill/>
            <a:ln w="9525">
              <a:noFill/>
              <a:miter lim="800000"/>
              <a:headEnd/>
              <a:tailEnd/>
            </a:ln>
            <a:effectLst/>
          </p:spPr>
          <p:txBody>
            <a:bodyPr wrap="none">
              <a:spAutoFit/>
            </a:bodyPr>
            <a:lstStyle/>
            <a:p>
              <a:r>
                <a:rPr lang="en-US" altLang="zh-CN" sz="2800" b="1">
                  <a:solidFill>
                    <a:srgbClr val="0000FF"/>
                  </a:solidFill>
                  <a:sym typeface="Symbol" pitchFamily="18" charset="2"/>
                </a:rPr>
                <a:t></a:t>
              </a:r>
              <a:endParaRPr lang="en-US" altLang="zh-CN" sz="2800" b="1">
                <a:solidFill>
                  <a:srgbClr val="0000FF"/>
                </a:solidFill>
              </a:endParaRPr>
            </a:p>
          </p:txBody>
        </p:sp>
        <p:sp>
          <p:nvSpPr>
            <p:cNvPr id="51229" name="Text Box 21"/>
            <p:cNvSpPr txBox="1">
              <a:spLocks noChangeArrowheads="1"/>
            </p:cNvSpPr>
            <p:nvPr/>
          </p:nvSpPr>
          <p:spPr bwMode="auto">
            <a:xfrm>
              <a:off x="4596" y="288"/>
              <a:ext cx="276" cy="327"/>
            </a:xfrm>
            <a:prstGeom prst="rect">
              <a:avLst/>
            </a:prstGeom>
            <a:noFill/>
            <a:ln w="9525">
              <a:noFill/>
              <a:miter lim="800000"/>
              <a:headEnd/>
              <a:tailEnd/>
            </a:ln>
            <a:effectLst/>
          </p:spPr>
          <p:txBody>
            <a:bodyPr wrap="none">
              <a:spAutoFit/>
            </a:bodyPr>
            <a:lstStyle/>
            <a:p>
              <a:r>
                <a:rPr lang="en-US" altLang="zh-CN" sz="2800" b="1">
                  <a:solidFill>
                    <a:srgbClr val="0000FF"/>
                  </a:solidFill>
                  <a:sym typeface="Symbol" pitchFamily="18" charset="2"/>
                </a:rPr>
                <a:t></a:t>
              </a:r>
              <a:endParaRPr lang="en-US" altLang="zh-CN" sz="2800" b="1">
                <a:solidFill>
                  <a:srgbClr val="0000FF"/>
                </a:solidFill>
              </a:endParaRPr>
            </a:p>
          </p:txBody>
        </p:sp>
        <p:graphicFrame>
          <p:nvGraphicFramePr>
            <p:cNvPr id="51230" name="Object 22"/>
            <p:cNvGraphicFramePr>
              <a:graphicFrameLocks noChangeAspect="1"/>
            </p:cNvGraphicFramePr>
            <p:nvPr/>
          </p:nvGraphicFramePr>
          <p:xfrm>
            <a:off x="2993" y="1260"/>
            <a:ext cx="703" cy="231"/>
          </p:xfrm>
          <a:graphic>
            <a:graphicData uri="http://schemas.openxmlformats.org/presentationml/2006/ole">
              <p:oleObj spid="_x0000_s51230" name="公式" r:id="rId5" imgW="504720" imgH="154800" progId="Equation.3">
                <p:embed/>
              </p:oleObj>
            </a:graphicData>
          </a:graphic>
        </p:graphicFrame>
        <p:sp>
          <p:nvSpPr>
            <p:cNvPr id="51231" name="Line 26"/>
            <p:cNvSpPr>
              <a:spLocks noChangeShapeType="1"/>
            </p:cNvSpPr>
            <p:nvPr/>
          </p:nvSpPr>
          <p:spPr bwMode="auto">
            <a:xfrm>
              <a:off x="3792" y="1230"/>
              <a:ext cx="0" cy="912"/>
            </a:xfrm>
            <a:prstGeom prst="line">
              <a:avLst/>
            </a:prstGeom>
            <a:noFill/>
            <a:ln w="38100">
              <a:solidFill>
                <a:schemeClr val="hlink"/>
              </a:solidFill>
              <a:round/>
              <a:headEnd/>
              <a:tailEnd/>
            </a:ln>
            <a:effectLst/>
          </p:spPr>
          <p:txBody>
            <a:bodyPr/>
            <a:lstStyle/>
            <a:p>
              <a:endParaRPr lang="zh-CN" altLang="en-US"/>
            </a:p>
          </p:txBody>
        </p:sp>
        <p:sp>
          <p:nvSpPr>
            <p:cNvPr id="51232" name="Line 27"/>
            <p:cNvSpPr>
              <a:spLocks noChangeShapeType="1"/>
            </p:cNvSpPr>
            <p:nvPr/>
          </p:nvSpPr>
          <p:spPr bwMode="auto">
            <a:xfrm>
              <a:off x="4740" y="1230"/>
              <a:ext cx="0" cy="912"/>
            </a:xfrm>
            <a:prstGeom prst="line">
              <a:avLst/>
            </a:prstGeom>
            <a:noFill/>
            <a:ln w="38100">
              <a:solidFill>
                <a:schemeClr val="hlink"/>
              </a:solidFill>
              <a:round/>
              <a:headEnd/>
              <a:tailEnd/>
            </a:ln>
            <a:effectLst/>
          </p:spPr>
          <p:txBody>
            <a:bodyPr/>
            <a:lstStyle/>
            <a:p>
              <a:endParaRPr lang="zh-CN" altLang="en-US"/>
            </a:p>
          </p:txBody>
        </p:sp>
      </p:grpSp>
      <p:graphicFrame>
        <p:nvGraphicFramePr>
          <p:cNvPr id="134146" name="Object 2"/>
          <p:cNvGraphicFramePr>
            <a:graphicFrameLocks noChangeAspect="1"/>
          </p:cNvGraphicFramePr>
          <p:nvPr/>
        </p:nvGraphicFramePr>
        <p:xfrm>
          <a:off x="1106488" y="549275"/>
          <a:ext cx="2454275" cy="755650"/>
        </p:xfrm>
        <a:graphic>
          <a:graphicData uri="http://schemas.openxmlformats.org/presentationml/2006/ole">
            <p:oleObj spid="_x0000_s51203" name="公式" r:id="rId6" imgW="1156320" imgH="342720" progId="Equation.3">
              <p:embed/>
            </p:oleObj>
          </a:graphicData>
        </a:graphic>
      </p:graphicFrame>
      <p:sp>
        <p:nvSpPr>
          <p:cNvPr id="134147" name="Rectangle 3"/>
          <p:cNvSpPr>
            <a:spLocks noChangeArrowheads="1"/>
          </p:cNvSpPr>
          <p:nvPr/>
        </p:nvSpPr>
        <p:spPr bwMode="auto">
          <a:xfrm>
            <a:off x="395288" y="3068638"/>
            <a:ext cx="3970337" cy="457200"/>
          </a:xfrm>
          <a:prstGeom prst="rect">
            <a:avLst/>
          </a:prstGeom>
          <a:noFill/>
          <a:ln w="9525">
            <a:noFill/>
            <a:miter lim="800000"/>
            <a:headEnd/>
            <a:tailEnd/>
          </a:ln>
          <a:effectLst/>
        </p:spPr>
        <p:txBody>
          <a:bodyPr>
            <a:spAutoFit/>
          </a:bodyPr>
          <a:lstStyle/>
          <a:p>
            <a:r>
              <a:rPr lang="zh-CN" altLang="en-US" b="1">
                <a:solidFill>
                  <a:schemeClr val="bg1"/>
                </a:solidFill>
              </a:rPr>
              <a:t>波函数在</a:t>
            </a:r>
            <a:r>
              <a:rPr lang="zh-CN" altLang="en-US" b="1">
                <a:solidFill>
                  <a:schemeClr val="bg1"/>
                </a:solidFill>
                <a:ea typeface="楷体_GB2312" pitchFamily="49" charset="-122"/>
              </a:rPr>
              <a:t> </a:t>
            </a:r>
            <a:r>
              <a:rPr lang="en-US" altLang="zh-CN" b="1" i="1">
                <a:solidFill>
                  <a:schemeClr val="accent2"/>
                </a:solidFill>
                <a:ea typeface="楷体_GB2312" pitchFamily="49" charset="-122"/>
              </a:rPr>
              <a:t>x</a:t>
            </a:r>
            <a:r>
              <a:rPr lang="en-US" altLang="zh-CN" b="1">
                <a:solidFill>
                  <a:schemeClr val="accent2"/>
                </a:solidFill>
                <a:ea typeface="楷体_GB2312" pitchFamily="49" charset="-122"/>
              </a:rPr>
              <a:t> = 0</a:t>
            </a:r>
            <a:r>
              <a:rPr lang="en-US" altLang="zh-CN" b="1" i="1">
                <a:solidFill>
                  <a:schemeClr val="bg1"/>
                </a:solidFill>
                <a:ea typeface="楷体_GB2312" pitchFamily="49" charset="-122"/>
              </a:rPr>
              <a:t>  </a:t>
            </a:r>
            <a:r>
              <a:rPr lang="zh-CN" altLang="en-US" b="1">
                <a:solidFill>
                  <a:schemeClr val="bg1"/>
                </a:solidFill>
              </a:rPr>
              <a:t>处连续，有</a:t>
            </a:r>
            <a:endParaRPr lang="zh-CN" altLang="en-US" b="1">
              <a:solidFill>
                <a:srgbClr val="FFCC66"/>
              </a:solidFill>
            </a:endParaRPr>
          </a:p>
        </p:txBody>
      </p:sp>
      <p:graphicFrame>
        <p:nvGraphicFramePr>
          <p:cNvPr id="134148" name="Object 4"/>
          <p:cNvGraphicFramePr>
            <a:graphicFrameLocks noChangeAspect="1"/>
          </p:cNvGraphicFramePr>
          <p:nvPr/>
        </p:nvGraphicFramePr>
        <p:xfrm>
          <a:off x="1106488" y="3760788"/>
          <a:ext cx="3008312" cy="388937"/>
        </p:xfrm>
        <a:graphic>
          <a:graphicData uri="http://schemas.openxmlformats.org/presentationml/2006/ole">
            <p:oleObj spid="_x0000_s51205" name="公式" r:id="rId7" imgW="1742760" imgH="171360" progId="Equation.3">
              <p:embed/>
            </p:oleObj>
          </a:graphicData>
        </a:graphic>
      </p:graphicFrame>
      <p:sp>
        <p:nvSpPr>
          <p:cNvPr id="134149" name="Rectangle 5"/>
          <p:cNvSpPr>
            <a:spLocks noChangeArrowheads="1"/>
          </p:cNvSpPr>
          <p:nvPr/>
        </p:nvSpPr>
        <p:spPr bwMode="auto">
          <a:xfrm>
            <a:off x="395288" y="5900738"/>
            <a:ext cx="2881312" cy="457200"/>
          </a:xfrm>
          <a:prstGeom prst="rect">
            <a:avLst/>
          </a:prstGeom>
          <a:noFill/>
          <a:ln w="9525">
            <a:noFill/>
            <a:miter lim="800000"/>
            <a:headEnd/>
            <a:tailEnd/>
          </a:ln>
          <a:effectLst/>
        </p:spPr>
        <p:txBody>
          <a:bodyPr wrap="none">
            <a:spAutoFit/>
          </a:bodyPr>
          <a:lstStyle/>
          <a:p>
            <a:r>
              <a:rPr lang="zh-CN" altLang="en-US" b="1">
                <a:solidFill>
                  <a:schemeClr val="bg1"/>
                </a:solidFill>
              </a:rPr>
              <a:t>在</a:t>
            </a:r>
            <a:r>
              <a:rPr lang="zh-CN" altLang="en-US" b="1">
                <a:solidFill>
                  <a:schemeClr val="bg1"/>
                </a:solidFill>
                <a:ea typeface="楷体_GB2312" pitchFamily="49" charset="-122"/>
              </a:rPr>
              <a:t> </a:t>
            </a:r>
            <a:r>
              <a:rPr lang="en-US" altLang="zh-CN" b="1" i="1">
                <a:solidFill>
                  <a:schemeClr val="accent2"/>
                </a:solidFill>
                <a:ea typeface="楷体_GB2312" pitchFamily="49" charset="-122"/>
              </a:rPr>
              <a:t>x </a:t>
            </a:r>
            <a:r>
              <a:rPr lang="en-US" altLang="zh-CN" b="1">
                <a:solidFill>
                  <a:schemeClr val="accent2"/>
                </a:solidFill>
                <a:ea typeface="楷体_GB2312" pitchFamily="49" charset="-122"/>
              </a:rPr>
              <a:t>= </a:t>
            </a:r>
            <a:r>
              <a:rPr lang="en-US" altLang="zh-CN" b="1" i="1">
                <a:solidFill>
                  <a:schemeClr val="accent2"/>
                </a:solidFill>
                <a:ea typeface="楷体_GB2312" pitchFamily="49" charset="-122"/>
              </a:rPr>
              <a:t>a</a:t>
            </a:r>
            <a:r>
              <a:rPr lang="en-US" altLang="zh-CN" b="1">
                <a:solidFill>
                  <a:schemeClr val="bg1"/>
                </a:solidFill>
                <a:ea typeface="楷体_GB2312" pitchFamily="49" charset="-122"/>
              </a:rPr>
              <a:t>  </a:t>
            </a:r>
            <a:r>
              <a:rPr lang="zh-CN" altLang="en-US" b="1">
                <a:solidFill>
                  <a:schemeClr val="bg1"/>
                </a:solidFill>
              </a:rPr>
              <a:t>处连续，有</a:t>
            </a:r>
          </a:p>
        </p:txBody>
      </p:sp>
      <p:graphicFrame>
        <p:nvGraphicFramePr>
          <p:cNvPr id="134150" name="Object 6"/>
          <p:cNvGraphicFramePr>
            <a:graphicFrameLocks noChangeAspect="1"/>
          </p:cNvGraphicFramePr>
          <p:nvPr/>
        </p:nvGraphicFramePr>
        <p:xfrm>
          <a:off x="1557338" y="5184775"/>
          <a:ext cx="1831975" cy="388938"/>
        </p:xfrm>
        <a:graphic>
          <a:graphicData uri="http://schemas.openxmlformats.org/presentationml/2006/ole">
            <p:oleObj spid="_x0000_s51207" name="公式" r:id="rId8" imgW="855000" imgH="171360" progId="Equation.3">
              <p:embed/>
            </p:oleObj>
          </a:graphicData>
        </a:graphic>
      </p:graphicFrame>
      <p:graphicFrame>
        <p:nvGraphicFramePr>
          <p:cNvPr id="134151" name="Object 7"/>
          <p:cNvGraphicFramePr>
            <a:graphicFrameLocks noChangeAspect="1"/>
          </p:cNvGraphicFramePr>
          <p:nvPr/>
        </p:nvGraphicFramePr>
        <p:xfrm>
          <a:off x="5815013" y="4119563"/>
          <a:ext cx="2178050" cy="388937"/>
        </p:xfrm>
        <a:graphic>
          <a:graphicData uri="http://schemas.openxmlformats.org/presentationml/2006/ole">
            <p:oleObj spid="_x0000_s51208" name="公式" r:id="rId9" imgW="1034280" imgH="171360" progId="Equation.3">
              <p:embed/>
            </p:oleObj>
          </a:graphicData>
        </a:graphic>
      </p:graphicFrame>
      <p:graphicFrame>
        <p:nvGraphicFramePr>
          <p:cNvPr id="134152" name="Object 8"/>
          <p:cNvGraphicFramePr>
            <a:graphicFrameLocks noChangeAspect="1"/>
          </p:cNvGraphicFramePr>
          <p:nvPr/>
        </p:nvGraphicFramePr>
        <p:xfrm>
          <a:off x="6454775" y="5768975"/>
          <a:ext cx="1266825" cy="735013"/>
        </p:xfrm>
        <a:graphic>
          <a:graphicData uri="http://schemas.openxmlformats.org/presentationml/2006/ole">
            <p:oleObj spid="_x0000_s51209" name="公式" r:id="rId10" imgW="578160" imgH="334440" progId="Equation.3">
              <p:embed/>
            </p:oleObj>
          </a:graphicData>
        </a:graphic>
      </p:graphicFrame>
      <p:graphicFrame>
        <p:nvGraphicFramePr>
          <p:cNvPr id="134153" name="Object 9"/>
          <p:cNvGraphicFramePr>
            <a:graphicFrameLocks noChangeAspect="1"/>
          </p:cNvGraphicFramePr>
          <p:nvPr/>
        </p:nvGraphicFramePr>
        <p:xfrm>
          <a:off x="6372225" y="4778375"/>
          <a:ext cx="1025525" cy="731838"/>
        </p:xfrm>
        <a:graphic>
          <a:graphicData uri="http://schemas.openxmlformats.org/presentationml/2006/ole">
            <p:oleObj spid="_x0000_s51210" name="公式" r:id="rId11" imgW="472320" imgH="334440" progId="Equation.3">
              <p:embed/>
            </p:oleObj>
          </a:graphicData>
        </a:graphic>
      </p:graphicFrame>
      <p:sp>
        <p:nvSpPr>
          <p:cNvPr id="134154" name="Text Box 10"/>
          <p:cNvSpPr txBox="1">
            <a:spLocks noChangeArrowheads="1"/>
          </p:cNvSpPr>
          <p:nvPr/>
        </p:nvSpPr>
        <p:spPr bwMode="auto">
          <a:xfrm>
            <a:off x="5364163" y="4941888"/>
            <a:ext cx="796925" cy="457200"/>
          </a:xfrm>
          <a:prstGeom prst="rect">
            <a:avLst/>
          </a:prstGeom>
          <a:noFill/>
          <a:ln w="9525">
            <a:noFill/>
            <a:miter lim="800000"/>
            <a:headEnd/>
            <a:tailEnd/>
          </a:ln>
          <a:effectLst/>
        </p:spPr>
        <p:txBody>
          <a:bodyPr wrap="none">
            <a:spAutoFit/>
          </a:bodyPr>
          <a:lstStyle/>
          <a:p>
            <a:r>
              <a:rPr lang="zh-CN" altLang="en-US" b="1">
                <a:solidFill>
                  <a:schemeClr val="bg1"/>
                </a:solidFill>
              </a:rPr>
              <a:t>所以</a:t>
            </a:r>
          </a:p>
        </p:txBody>
      </p:sp>
      <p:graphicFrame>
        <p:nvGraphicFramePr>
          <p:cNvPr id="134167" name="Object 23"/>
          <p:cNvGraphicFramePr>
            <a:graphicFrameLocks noChangeAspect="1"/>
          </p:cNvGraphicFramePr>
          <p:nvPr/>
        </p:nvGraphicFramePr>
        <p:xfrm>
          <a:off x="6416675" y="1693863"/>
          <a:ext cx="687388" cy="366712"/>
        </p:xfrm>
        <a:graphic>
          <a:graphicData uri="http://schemas.openxmlformats.org/presentationml/2006/ole">
            <p:oleObj spid="_x0000_s51212" name="公式" r:id="rId12" imgW="309600" imgH="154800" progId="Equation.3">
              <p:embed/>
            </p:oleObj>
          </a:graphicData>
        </a:graphic>
      </p:graphicFrame>
      <p:graphicFrame>
        <p:nvGraphicFramePr>
          <p:cNvPr id="134168" name="Object 24"/>
          <p:cNvGraphicFramePr>
            <a:graphicFrameLocks noChangeAspect="1"/>
          </p:cNvGraphicFramePr>
          <p:nvPr/>
        </p:nvGraphicFramePr>
        <p:xfrm>
          <a:off x="1062038" y="2214563"/>
          <a:ext cx="3105150" cy="412750"/>
        </p:xfrm>
        <a:graphic>
          <a:graphicData uri="http://schemas.openxmlformats.org/presentationml/2006/ole">
            <p:oleObj spid="_x0000_s51213" name="公式" r:id="rId13" imgW="1416960" imgH="171360" progId="Equation.3">
              <p:embed/>
            </p:oleObj>
          </a:graphicData>
        </a:graphic>
      </p:graphicFrame>
      <p:sp>
        <p:nvSpPr>
          <p:cNvPr id="134169" name="Text Box 25"/>
          <p:cNvSpPr txBox="1">
            <a:spLocks noChangeArrowheads="1"/>
          </p:cNvSpPr>
          <p:nvPr/>
        </p:nvSpPr>
        <p:spPr bwMode="auto">
          <a:xfrm>
            <a:off x="449263" y="1557338"/>
            <a:ext cx="1196975" cy="457200"/>
          </a:xfrm>
          <a:prstGeom prst="rect">
            <a:avLst/>
          </a:prstGeom>
          <a:noFill/>
          <a:ln w="9525">
            <a:noFill/>
            <a:miter lim="800000"/>
            <a:headEnd/>
            <a:tailEnd/>
          </a:ln>
          <a:effectLst/>
        </p:spPr>
        <p:txBody>
          <a:bodyPr>
            <a:spAutoFit/>
          </a:bodyPr>
          <a:lstStyle/>
          <a:p>
            <a:r>
              <a:rPr lang="zh-CN" altLang="en-US" b="1">
                <a:solidFill>
                  <a:schemeClr val="bg1"/>
                </a:solidFill>
              </a:rPr>
              <a:t>解为：</a:t>
            </a:r>
          </a:p>
        </p:txBody>
      </p:sp>
      <p:sp>
        <p:nvSpPr>
          <p:cNvPr id="134172" name="Text Box 28"/>
          <p:cNvSpPr txBox="1">
            <a:spLocks noChangeArrowheads="1"/>
          </p:cNvSpPr>
          <p:nvPr/>
        </p:nvSpPr>
        <p:spPr bwMode="auto">
          <a:xfrm>
            <a:off x="5356225" y="5873750"/>
            <a:ext cx="796925" cy="457200"/>
          </a:xfrm>
          <a:prstGeom prst="rect">
            <a:avLst/>
          </a:prstGeom>
          <a:noFill/>
          <a:ln w="9525">
            <a:noFill/>
            <a:miter lim="800000"/>
            <a:headEnd/>
            <a:tailEnd/>
          </a:ln>
          <a:effectLst/>
        </p:spPr>
        <p:txBody>
          <a:bodyPr wrap="none">
            <a:spAutoFit/>
          </a:bodyPr>
          <a:lstStyle/>
          <a:p>
            <a:r>
              <a:rPr lang="zh-CN" altLang="en-US" b="1">
                <a:solidFill>
                  <a:schemeClr val="bg1"/>
                </a:solidFill>
              </a:rPr>
              <a:t>其中</a:t>
            </a:r>
          </a:p>
        </p:txBody>
      </p:sp>
      <p:sp>
        <p:nvSpPr>
          <p:cNvPr id="134173" name="Text Box 29"/>
          <p:cNvSpPr txBox="1">
            <a:spLocks noChangeArrowheads="1"/>
          </p:cNvSpPr>
          <p:nvPr/>
        </p:nvSpPr>
        <p:spPr bwMode="auto">
          <a:xfrm>
            <a:off x="395288" y="5132388"/>
            <a:ext cx="796925" cy="457200"/>
          </a:xfrm>
          <a:prstGeom prst="rect">
            <a:avLst/>
          </a:prstGeom>
          <a:noFill/>
          <a:ln w="9525">
            <a:noFill/>
            <a:miter lim="800000"/>
            <a:headEnd/>
            <a:tailEnd/>
          </a:ln>
          <a:effectLst/>
        </p:spPr>
        <p:txBody>
          <a:bodyPr wrap="none">
            <a:spAutoFit/>
          </a:bodyPr>
          <a:lstStyle/>
          <a:p>
            <a:r>
              <a:rPr lang="zh-CN" altLang="en-US" b="1">
                <a:solidFill>
                  <a:schemeClr val="bg1"/>
                </a:solidFill>
              </a:rPr>
              <a:t>因此</a:t>
            </a:r>
          </a:p>
        </p:txBody>
      </p:sp>
      <p:sp>
        <p:nvSpPr>
          <p:cNvPr id="134174" name="Line 30"/>
          <p:cNvSpPr>
            <a:spLocks noChangeShapeType="1"/>
          </p:cNvSpPr>
          <p:nvPr/>
        </p:nvSpPr>
        <p:spPr bwMode="auto">
          <a:xfrm>
            <a:off x="4859338" y="4005263"/>
            <a:ext cx="0" cy="2519362"/>
          </a:xfrm>
          <a:prstGeom prst="line">
            <a:avLst/>
          </a:prstGeom>
          <a:noFill/>
          <a:ln w="19050">
            <a:solidFill>
              <a:srgbClr val="006600"/>
            </a:solidFill>
            <a:prstDash val="dashDot"/>
            <a:round/>
            <a:headEnd/>
            <a:tailEnd/>
          </a:ln>
          <a:effectLst/>
        </p:spPr>
        <p:txBody>
          <a:bodyPr/>
          <a:lstStyle/>
          <a:p>
            <a:endParaRPr lang="zh-CN" altLang="en-US"/>
          </a:p>
        </p:txBody>
      </p:sp>
      <p:graphicFrame>
        <p:nvGraphicFramePr>
          <p:cNvPr id="134175" name="Object 31"/>
          <p:cNvGraphicFramePr>
            <a:graphicFrameLocks noChangeAspect="1"/>
          </p:cNvGraphicFramePr>
          <p:nvPr/>
        </p:nvGraphicFramePr>
        <p:xfrm>
          <a:off x="1916113" y="4459288"/>
          <a:ext cx="1082675" cy="319087"/>
        </p:xfrm>
        <a:graphic>
          <a:graphicData uri="http://schemas.openxmlformats.org/presentationml/2006/ole">
            <p:oleObj spid="_x0000_s51218" name="公式" r:id="rId14" imgW="513000" imgH="138600" progId="Equation.3">
              <p:embed/>
            </p:oleObj>
          </a:graphicData>
        </a:graphic>
      </p:graphicFrame>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34176"/>
                                        </p:tgtEl>
                                        <p:attrNameLst>
                                          <p:attrName>style.visibility</p:attrName>
                                        </p:attrNameLst>
                                      </p:cBhvr>
                                      <p:to>
                                        <p:strVal val="visible"/>
                                      </p:to>
                                    </p:set>
                                    <p:animEffect transition="in" filter="wipe(down)">
                                      <p:cBhvr>
                                        <p:cTn id="7" dur="500"/>
                                        <p:tgtEl>
                                          <p:spTgt spid="1341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4146"/>
                                        </p:tgtEl>
                                        <p:attrNameLst>
                                          <p:attrName>style.visibility</p:attrName>
                                        </p:attrNameLst>
                                      </p:cBhvr>
                                      <p:to>
                                        <p:strVal val="visible"/>
                                      </p:to>
                                    </p:set>
                                    <p:animEffect transition="in" filter="wipe(left)">
                                      <p:cBhvr>
                                        <p:cTn id="12" dur="500"/>
                                        <p:tgtEl>
                                          <p:spTgt spid="1341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34169"/>
                                        </p:tgtEl>
                                        <p:attrNameLst>
                                          <p:attrName>style.visibility</p:attrName>
                                        </p:attrNameLst>
                                      </p:cBhvr>
                                      <p:to>
                                        <p:strVal val="visible"/>
                                      </p:to>
                                    </p:se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134168"/>
                                        </p:tgtEl>
                                        <p:attrNameLst>
                                          <p:attrName>style.visibility</p:attrName>
                                        </p:attrNameLst>
                                      </p:cBhvr>
                                      <p:to>
                                        <p:strVal val="visible"/>
                                      </p:to>
                                    </p:set>
                                    <p:animEffect transition="in" filter="wipe(left)">
                                      <p:cBhvr>
                                        <p:cTn id="20" dur="500"/>
                                        <p:tgtEl>
                                          <p:spTgt spid="13416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34167"/>
                                        </p:tgtEl>
                                        <p:attrNameLst>
                                          <p:attrName>style.visibility</p:attrName>
                                        </p:attrNameLst>
                                      </p:cBhvr>
                                      <p:to>
                                        <p:strVal val="visible"/>
                                      </p:to>
                                    </p:set>
                                    <p:anim calcmode="lin" valueType="num">
                                      <p:cBhvr additive="base">
                                        <p:cTn id="25" dur="500" fill="hold"/>
                                        <p:tgtEl>
                                          <p:spTgt spid="134167"/>
                                        </p:tgtEl>
                                        <p:attrNameLst>
                                          <p:attrName>ppt_x</p:attrName>
                                        </p:attrNameLst>
                                      </p:cBhvr>
                                      <p:tavLst>
                                        <p:tav tm="0">
                                          <p:val>
                                            <p:strVal val="0-#ppt_w/2"/>
                                          </p:val>
                                        </p:tav>
                                        <p:tav tm="100000">
                                          <p:val>
                                            <p:strVal val="#ppt_x"/>
                                          </p:val>
                                        </p:tav>
                                      </p:tavLst>
                                    </p:anim>
                                    <p:anim calcmode="lin" valueType="num">
                                      <p:cBhvr additive="base">
                                        <p:cTn id="26" dur="500" fill="hold"/>
                                        <p:tgtEl>
                                          <p:spTgt spid="13416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34147"/>
                                        </p:tgtEl>
                                        <p:attrNameLst>
                                          <p:attrName>style.visibility</p:attrName>
                                        </p:attrNameLst>
                                      </p:cBhvr>
                                      <p:to>
                                        <p:strVal val="visible"/>
                                      </p:to>
                                    </p:set>
                                  </p:childTnLst>
                                </p:cTn>
                              </p:par>
                            </p:childTnLst>
                          </p:cTn>
                        </p:par>
                        <p:par>
                          <p:cTn id="31" fill="hold" nodeType="afterGroup">
                            <p:stCondLst>
                              <p:cond delay="500"/>
                            </p:stCondLst>
                            <p:childTnLst>
                              <p:par>
                                <p:cTn id="32" presetID="22" presetClass="entr" presetSubtype="8" fill="hold" nodeType="afterEffect">
                                  <p:stCondLst>
                                    <p:cond delay="0"/>
                                  </p:stCondLst>
                                  <p:childTnLst>
                                    <p:set>
                                      <p:cBhvr>
                                        <p:cTn id="33" dur="1" fill="hold">
                                          <p:stCondLst>
                                            <p:cond delay="0"/>
                                          </p:stCondLst>
                                        </p:cTn>
                                        <p:tgtEl>
                                          <p:spTgt spid="134148"/>
                                        </p:tgtEl>
                                        <p:attrNameLst>
                                          <p:attrName>style.visibility</p:attrName>
                                        </p:attrNameLst>
                                      </p:cBhvr>
                                      <p:to>
                                        <p:strVal val="visible"/>
                                      </p:to>
                                    </p:set>
                                    <p:animEffect transition="in" filter="wipe(left)">
                                      <p:cBhvr>
                                        <p:cTn id="34" dur="500"/>
                                        <p:tgtEl>
                                          <p:spTgt spid="13414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0" presetClass="entr" presetSubtype="0" decel="100000" fill="hold" nodeType="clickEffect">
                                  <p:stCondLst>
                                    <p:cond delay="0"/>
                                  </p:stCondLst>
                                  <p:childTnLst>
                                    <p:set>
                                      <p:cBhvr>
                                        <p:cTn id="38" dur="1" fill="hold">
                                          <p:stCondLst>
                                            <p:cond delay="0"/>
                                          </p:stCondLst>
                                        </p:cTn>
                                        <p:tgtEl>
                                          <p:spTgt spid="134175"/>
                                        </p:tgtEl>
                                        <p:attrNameLst>
                                          <p:attrName>style.visibility</p:attrName>
                                        </p:attrNameLst>
                                      </p:cBhvr>
                                      <p:to>
                                        <p:strVal val="visible"/>
                                      </p:to>
                                    </p:set>
                                    <p:anim calcmode="lin" valueType="num">
                                      <p:cBhvr>
                                        <p:cTn id="39" dur="1000" fill="hold"/>
                                        <p:tgtEl>
                                          <p:spTgt spid="134175"/>
                                        </p:tgtEl>
                                        <p:attrNameLst>
                                          <p:attrName>ppt_w</p:attrName>
                                        </p:attrNameLst>
                                      </p:cBhvr>
                                      <p:tavLst>
                                        <p:tav tm="0">
                                          <p:val>
                                            <p:strVal val="#ppt_w+.3"/>
                                          </p:val>
                                        </p:tav>
                                        <p:tav tm="100000">
                                          <p:val>
                                            <p:strVal val="#ppt_w"/>
                                          </p:val>
                                        </p:tav>
                                      </p:tavLst>
                                    </p:anim>
                                    <p:anim calcmode="lin" valueType="num">
                                      <p:cBhvr>
                                        <p:cTn id="40" dur="1000" fill="hold"/>
                                        <p:tgtEl>
                                          <p:spTgt spid="134175"/>
                                        </p:tgtEl>
                                        <p:attrNameLst>
                                          <p:attrName>ppt_h</p:attrName>
                                        </p:attrNameLst>
                                      </p:cBhvr>
                                      <p:tavLst>
                                        <p:tav tm="0">
                                          <p:val>
                                            <p:strVal val="#ppt_h"/>
                                          </p:val>
                                        </p:tav>
                                        <p:tav tm="100000">
                                          <p:val>
                                            <p:strVal val="#ppt_h"/>
                                          </p:val>
                                        </p:tav>
                                      </p:tavLst>
                                    </p:anim>
                                    <p:animEffect transition="in" filter="fade">
                                      <p:cBhvr>
                                        <p:cTn id="41" dur="1000"/>
                                        <p:tgtEl>
                                          <p:spTgt spid="13417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134173"/>
                                        </p:tgtEl>
                                        <p:attrNameLst>
                                          <p:attrName>style.visibility</p:attrName>
                                        </p:attrNameLst>
                                      </p:cBhvr>
                                      <p:to>
                                        <p:strVal val="visible"/>
                                      </p:to>
                                    </p:set>
                                  </p:childTnLst>
                                </p:cTn>
                              </p:par>
                            </p:childTnLst>
                          </p:cTn>
                        </p:par>
                        <p:par>
                          <p:cTn id="46" fill="hold" nodeType="afterGroup">
                            <p:stCondLst>
                              <p:cond delay="500"/>
                            </p:stCondLst>
                            <p:childTnLst>
                              <p:par>
                                <p:cTn id="47" presetID="9" presetClass="entr" presetSubtype="0" fill="hold" nodeType="afterEffect">
                                  <p:stCondLst>
                                    <p:cond delay="0"/>
                                  </p:stCondLst>
                                  <p:childTnLst>
                                    <p:set>
                                      <p:cBhvr>
                                        <p:cTn id="48" dur="1" fill="hold">
                                          <p:stCondLst>
                                            <p:cond delay="0"/>
                                          </p:stCondLst>
                                        </p:cTn>
                                        <p:tgtEl>
                                          <p:spTgt spid="134150"/>
                                        </p:tgtEl>
                                        <p:attrNameLst>
                                          <p:attrName>style.visibility</p:attrName>
                                        </p:attrNameLst>
                                      </p:cBhvr>
                                      <p:to>
                                        <p:strVal val="visible"/>
                                      </p:to>
                                    </p:set>
                                    <p:animEffect transition="in" filter="dissolve">
                                      <p:cBhvr>
                                        <p:cTn id="49" dur="500"/>
                                        <p:tgtEl>
                                          <p:spTgt spid="13415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34149"/>
                                        </p:tgtEl>
                                        <p:attrNameLst>
                                          <p:attrName>style.visibility</p:attrName>
                                        </p:attrNameLst>
                                      </p:cBhvr>
                                      <p:to>
                                        <p:strVal val="visible"/>
                                      </p:to>
                                    </p:set>
                                    <p:animEffect transition="in" filter="wipe(left)">
                                      <p:cBhvr>
                                        <p:cTn id="54" dur="500"/>
                                        <p:tgtEl>
                                          <p:spTgt spid="134149"/>
                                        </p:tgtEl>
                                      </p:cBhvr>
                                    </p:animEffect>
                                  </p:childTnLst>
                                </p:cTn>
                              </p:par>
                            </p:childTnLst>
                          </p:cTn>
                        </p:par>
                        <p:par>
                          <p:cTn id="55" fill="hold" nodeType="afterGroup">
                            <p:stCondLst>
                              <p:cond delay="500"/>
                            </p:stCondLst>
                            <p:childTnLst>
                              <p:par>
                                <p:cTn id="56" presetID="22" presetClass="entr" presetSubtype="8" fill="hold" nodeType="afterEffect">
                                  <p:stCondLst>
                                    <p:cond delay="500"/>
                                  </p:stCondLst>
                                  <p:childTnLst>
                                    <p:set>
                                      <p:cBhvr>
                                        <p:cTn id="57" dur="1" fill="hold">
                                          <p:stCondLst>
                                            <p:cond delay="0"/>
                                          </p:stCondLst>
                                        </p:cTn>
                                        <p:tgtEl>
                                          <p:spTgt spid="134151"/>
                                        </p:tgtEl>
                                        <p:attrNameLst>
                                          <p:attrName>style.visibility</p:attrName>
                                        </p:attrNameLst>
                                      </p:cBhvr>
                                      <p:to>
                                        <p:strVal val="visible"/>
                                      </p:to>
                                    </p:set>
                                    <p:animEffect transition="in" filter="wipe(left)">
                                      <p:cBhvr>
                                        <p:cTn id="58" dur="500"/>
                                        <p:tgtEl>
                                          <p:spTgt spid="134151"/>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134174"/>
                                        </p:tgtEl>
                                        <p:attrNameLst>
                                          <p:attrName>style.visibility</p:attrName>
                                        </p:attrNameLst>
                                      </p:cBhvr>
                                      <p:to>
                                        <p:strVal val="visible"/>
                                      </p:to>
                                    </p:set>
                                    <p:animEffect transition="in" filter="dissolve">
                                      <p:cBhvr>
                                        <p:cTn id="61" dur="500"/>
                                        <p:tgtEl>
                                          <p:spTgt spid="13417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134154"/>
                                        </p:tgtEl>
                                        <p:attrNameLst>
                                          <p:attrName>style.visibility</p:attrName>
                                        </p:attrNameLst>
                                      </p:cBhvr>
                                      <p:to>
                                        <p:strVal val="visible"/>
                                      </p:to>
                                    </p:set>
                                  </p:childTnLst>
                                </p:cTn>
                              </p:par>
                            </p:childTnLst>
                          </p:cTn>
                        </p:par>
                        <p:par>
                          <p:cTn id="66" fill="hold" nodeType="afterGroup">
                            <p:stCondLst>
                              <p:cond delay="500"/>
                            </p:stCondLst>
                            <p:childTnLst>
                              <p:par>
                                <p:cTn id="67" presetID="1" presetClass="entr" presetSubtype="0" fill="hold" nodeType="afterEffect">
                                  <p:stCondLst>
                                    <p:cond delay="0"/>
                                  </p:stCondLst>
                                  <p:childTnLst>
                                    <p:set>
                                      <p:cBhvr>
                                        <p:cTn id="68" dur="1" fill="hold">
                                          <p:stCondLst>
                                            <p:cond delay="499"/>
                                          </p:stCondLst>
                                        </p:cTn>
                                        <p:tgtEl>
                                          <p:spTgt spid="134153"/>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134172"/>
                                        </p:tgtEl>
                                        <p:attrNameLst>
                                          <p:attrName>style.visibility</p:attrName>
                                        </p:attrNameLst>
                                      </p:cBhvr>
                                      <p:to>
                                        <p:strVal val="visible"/>
                                      </p:to>
                                    </p:set>
                                  </p:childTnLst>
                                </p:cTn>
                              </p:par>
                            </p:childTnLst>
                          </p:cTn>
                        </p:par>
                        <p:par>
                          <p:cTn id="73" fill="hold" nodeType="afterGroup">
                            <p:stCondLst>
                              <p:cond delay="500"/>
                            </p:stCondLst>
                            <p:childTnLst>
                              <p:par>
                                <p:cTn id="74" presetID="9" presetClass="entr" presetSubtype="0" fill="hold" nodeType="afterEffect">
                                  <p:stCondLst>
                                    <p:cond delay="0"/>
                                  </p:stCondLst>
                                  <p:childTnLst>
                                    <p:set>
                                      <p:cBhvr>
                                        <p:cTn id="75" dur="1" fill="hold">
                                          <p:stCondLst>
                                            <p:cond delay="0"/>
                                          </p:stCondLst>
                                        </p:cTn>
                                        <p:tgtEl>
                                          <p:spTgt spid="134152"/>
                                        </p:tgtEl>
                                        <p:attrNameLst>
                                          <p:attrName>style.visibility</p:attrName>
                                        </p:attrNameLst>
                                      </p:cBhvr>
                                      <p:to>
                                        <p:strVal val="visible"/>
                                      </p:to>
                                    </p:set>
                                    <p:animEffect transition="in" filter="dissolve">
                                      <p:cBhvr>
                                        <p:cTn id="76" dur="500"/>
                                        <p:tgtEl>
                                          <p:spTgt spid="134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autoUpdateAnimBg="0"/>
      <p:bldP spid="134149" grpId="0" autoUpdateAnimBg="0"/>
      <p:bldP spid="134154" grpId="0" autoUpdateAnimBg="0"/>
      <p:bldP spid="134169" grpId="0"/>
      <p:bldP spid="134172" grpId="0" autoUpdateAnimBg="0"/>
      <p:bldP spid="134173" grpId="0" autoUpdateAnimBg="0"/>
      <p:bldP spid="13417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170" name="Group 2"/>
          <p:cNvGrpSpPr>
            <a:grpSpLocks/>
          </p:cNvGrpSpPr>
          <p:nvPr/>
        </p:nvGrpSpPr>
        <p:grpSpPr bwMode="auto">
          <a:xfrm>
            <a:off x="6462713" y="676275"/>
            <a:ext cx="1800225" cy="3184525"/>
            <a:chOff x="4048" y="436"/>
            <a:chExt cx="1134" cy="2006"/>
          </a:xfrm>
        </p:grpSpPr>
        <p:sp>
          <p:nvSpPr>
            <p:cNvPr id="52267" name="Freeform 3"/>
            <p:cNvSpPr>
              <a:spLocks/>
            </p:cNvSpPr>
            <p:nvPr/>
          </p:nvSpPr>
          <p:spPr bwMode="auto">
            <a:xfrm>
              <a:off x="4052" y="2214"/>
              <a:ext cx="1124" cy="228"/>
            </a:xfrm>
            <a:custGeom>
              <a:avLst/>
              <a:gdLst>
                <a:gd name="T0" fmla="*/ 0 w 2355"/>
                <a:gd name="T1" fmla="*/ 138 h 333"/>
                <a:gd name="T2" fmla="*/ 263 w 2355"/>
                <a:gd name="T3" fmla="*/ 0 h 333"/>
                <a:gd name="T4" fmla="*/ 536 w 2355"/>
                <a:gd name="T5" fmla="*/ 138 h 333"/>
                <a:gd name="T6" fmla="*/ 0 60000 65536"/>
                <a:gd name="T7" fmla="*/ 0 60000 65536"/>
                <a:gd name="T8" fmla="*/ 0 60000 65536"/>
              </a:gdLst>
              <a:ahLst/>
              <a:cxnLst>
                <a:cxn ang="T6">
                  <a:pos x="T0" y="T1"/>
                </a:cxn>
                <a:cxn ang="T7">
                  <a:pos x="T2" y="T3"/>
                </a:cxn>
                <a:cxn ang="T8">
                  <a:pos x="T4" y="T5"/>
                </a:cxn>
              </a:cxnLst>
              <a:rect l="0" t="0" r="r" b="b"/>
              <a:pathLst>
                <a:path w="2355" h="333">
                  <a:moveTo>
                    <a:pt x="0" y="295"/>
                  </a:moveTo>
                  <a:cubicBezTo>
                    <a:pt x="678" y="256"/>
                    <a:pt x="525" y="13"/>
                    <a:pt x="1152" y="0"/>
                  </a:cubicBezTo>
                  <a:cubicBezTo>
                    <a:pt x="1728" y="0"/>
                    <a:pt x="1830" y="333"/>
                    <a:pt x="2355" y="295"/>
                  </a:cubicBezTo>
                </a:path>
              </a:pathLst>
            </a:custGeom>
            <a:solidFill>
              <a:srgbClr val="C0C0C0"/>
            </a:solidFill>
            <a:ln w="19050" cmpd="sng">
              <a:solidFill>
                <a:srgbClr val="FF0000"/>
              </a:solidFill>
              <a:round/>
              <a:headEnd/>
              <a:tailEnd/>
            </a:ln>
            <a:effectLst/>
          </p:spPr>
          <p:txBody>
            <a:bodyPr/>
            <a:lstStyle/>
            <a:p>
              <a:endParaRPr lang="zh-CN" altLang="en-US"/>
            </a:p>
          </p:txBody>
        </p:sp>
        <p:sp>
          <p:nvSpPr>
            <p:cNvPr id="52268" name="Freeform 4"/>
            <p:cNvSpPr>
              <a:spLocks/>
            </p:cNvSpPr>
            <p:nvPr/>
          </p:nvSpPr>
          <p:spPr bwMode="auto">
            <a:xfrm>
              <a:off x="4058" y="1582"/>
              <a:ext cx="1124" cy="220"/>
            </a:xfrm>
            <a:custGeom>
              <a:avLst/>
              <a:gdLst>
                <a:gd name="T0" fmla="*/ 0 w 2355"/>
                <a:gd name="T1" fmla="*/ 138 h 322"/>
                <a:gd name="T2" fmla="*/ 129 w 2355"/>
                <a:gd name="T3" fmla="*/ 0 h 322"/>
                <a:gd name="T4" fmla="*/ 260 w 2355"/>
                <a:gd name="T5" fmla="*/ 144 h 322"/>
                <a:gd name="T6" fmla="*/ 409 w 2355"/>
                <a:gd name="T7" fmla="*/ 0 h 322"/>
                <a:gd name="T8" fmla="*/ 536 w 2355"/>
                <a:gd name="T9" fmla="*/ 138 h 3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55" h="322">
                  <a:moveTo>
                    <a:pt x="0" y="296"/>
                  </a:moveTo>
                  <a:cubicBezTo>
                    <a:pt x="294" y="283"/>
                    <a:pt x="230" y="15"/>
                    <a:pt x="568" y="0"/>
                  </a:cubicBezTo>
                  <a:cubicBezTo>
                    <a:pt x="819" y="2"/>
                    <a:pt x="883" y="296"/>
                    <a:pt x="1139" y="309"/>
                  </a:cubicBezTo>
                  <a:cubicBezTo>
                    <a:pt x="1485" y="309"/>
                    <a:pt x="1421" y="15"/>
                    <a:pt x="1793" y="0"/>
                  </a:cubicBezTo>
                  <a:cubicBezTo>
                    <a:pt x="2048" y="2"/>
                    <a:pt x="2060" y="322"/>
                    <a:pt x="2355" y="296"/>
                  </a:cubicBezTo>
                </a:path>
              </a:pathLst>
            </a:custGeom>
            <a:solidFill>
              <a:srgbClr val="C0C0C0"/>
            </a:solidFill>
            <a:ln w="19050" cmpd="sng">
              <a:solidFill>
                <a:srgbClr val="FF0000"/>
              </a:solidFill>
              <a:round/>
              <a:headEnd/>
              <a:tailEnd/>
            </a:ln>
            <a:effectLst/>
          </p:spPr>
          <p:txBody>
            <a:bodyPr/>
            <a:lstStyle/>
            <a:p>
              <a:endParaRPr lang="zh-CN" altLang="en-US"/>
            </a:p>
          </p:txBody>
        </p:sp>
        <p:sp>
          <p:nvSpPr>
            <p:cNvPr id="52269" name="Freeform 5"/>
            <p:cNvSpPr>
              <a:spLocks/>
            </p:cNvSpPr>
            <p:nvPr/>
          </p:nvSpPr>
          <p:spPr bwMode="auto">
            <a:xfrm>
              <a:off x="4048" y="436"/>
              <a:ext cx="1125" cy="236"/>
            </a:xfrm>
            <a:custGeom>
              <a:avLst/>
              <a:gdLst>
                <a:gd name="T0" fmla="*/ 0 w 2359"/>
                <a:gd name="T1" fmla="*/ 156 h 345"/>
                <a:gd name="T2" fmla="*/ 86 w 2359"/>
                <a:gd name="T3" fmla="*/ 12 h 345"/>
                <a:gd name="T4" fmla="*/ 175 w 2359"/>
                <a:gd name="T5" fmla="*/ 156 h 345"/>
                <a:gd name="T6" fmla="*/ 268 w 2359"/>
                <a:gd name="T7" fmla="*/ 8 h 345"/>
                <a:gd name="T8" fmla="*/ 360 w 2359"/>
                <a:gd name="T9" fmla="*/ 155 h 345"/>
                <a:gd name="T10" fmla="*/ 450 w 2359"/>
                <a:gd name="T11" fmla="*/ 12 h 345"/>
                <a:gd name="T12" fmla="*/ 537 w 2359"/>
                <a:gd name="T13" fmla="*/ 156 h 34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59" h="345">
                  <a:moveTo>
                    <a:pt x="0" y="333"/>
                  </a:moveTo>
                  <a:cubicBezTo>
                    <a:pt x="239" y="268"/>
                    <a:pt x="188" y="12"/>
                    <a:pt x="380" y="25"/>
                  </a:cubicBezTo>
                  <a:cubicBezTo>
                    <a:pt x="602" y="34"/>
                    <a:pt x="598" y="332"/>
                    <a:pt x="771" y="333"/>
                  </a:cubicBezTo>
                  <a:cubicBezTo>
                    <a:pt x="969" y="320"/>
                    <a:pt x="995" y="0"/>
                    <a:pt x="1180" y="16"/>
                  </a:cubicBezTo>
                  <a:cubicBezTo>
                    <a:pt x="1353" y="0"/>
                    <a:pt x="1391" y="332"/>
                    <a:pt x="1583" y="332"/>
                  </a:cubicBezTo>
                  <a:cubicBezTo>
                    <a:pt x="1737" y="332"/>
                    <a:pt x="1814" y="0"/>
                    <a:pt x="1980" y="25"/>
                  </a:cubicBezTo>
                  <a:cubicBezTo>
                    <a:pt x="2159" y="12"/>
                    <a:pt x="2211" y="345"/>
                    <a:pt x="2359" y="333"/>
                  </a:cubicBezTo>
                </a:path>
              </a:pathLst>
            </a:custGeom>
            <a:solidFill>
              <a:srgbClr val="C0C0C0"/>
            </a:solidFill>
            <a:ln w="19050" cmpd="sng">
              <a:solidFill>
                <a:srgbClr val="FF0000"/>
              </a:solidFill>
              <a:round/>
              <a:headEnd/>
              <a:tailEnd/>
            </a:ln>
            <a:effectLst/>
          </p:spPr>
          <p:txBody>
            <a:bodyPr/>
            <a:lstStyle/>
            <a:p>
              <a:endParaRPr lang="zh-CN" altLang="en-US"/>
            </a:p>
          </p:txBody>
        </p:sp>
      </p:grpSp>
      <p:sp>
        <p:nvSpPr>
          <p:cNvPr id="135174" name="Rectangle 6"/>
          <p:cNvSpPr>
            <a:spLocks noChangeArrowheads="1"/>
          </p:cNvSpPr>
          <p:nvPr/>
        </p:nvSpPr>
        <p:spPr bwMode="auto">
          <a:xfrm>
            <a:off x="468313" y="3141663"/>
            <a:ext cx="4103687" cy="457200"/>
          </a:xfrm>
          <a:prstGeom prst="rect">
            <a:avLst/>
          </a:prstGeom>
          <a:noFill/>
          <a:ln w="9525">
            <a:noFill/>
            <a:miter lim="800000"/>
            <a:headEnd/>
            <a:tailEnd/>
          </a:ln>
          <a:effectLst/>
        </p:spPr>
        <p:txBody>
          <a:bodyPr>
            <a:spAutoFit/>
          </a:bodyPr>
          <a:lstStyle/>
          <a:p>
            <a:pPr algn="just"/>
            <a:r>
              <a:rPr lang="zh-CN" altLang="en-US" b="1">
                <a:solidFill>
                  <a:schemeClr val="bg1"/>
                </a:solidFill>
                <a:latin typeface="宋体" charset="-122"/>
              </a:rPr>
              <a:t>量子数为</a:t>
            </a:r>
            <a:r>
              <a:rPr lang="en-US" altLang="zh-CN" b="1" i="1">
                <a:solidFill>
                  <a:schemeClr val="accent2"/>
                </a:solidFill>
              </a:rPr>
              <a:t>n</a:t>
            </a:r>
            <a:r>
              <a:rPr lang="zh-CN" altLang="en-US" b="1">
                <a:solidFill>
                  <a:schemeClr val="bg1"/>
                </a:solidFill>
                <a:latin typeface="宋体" charset="-122"/>
              </a:rPr>
              <a:t>的定态波函数为</a:t>
            </a:r>
          </a:p>
        </p:txBody>
      </p:sp>
      <p:graphicFrame>
        <p:nvGraphicFramePr>
          <p:cNvPr id="135175" name="Object 7"/>
          <p:cNvGraphicFramePr>
            <a:graphicFrameLocks noChangeAspect="1"/>
          </p:cNvGraphicFramePr>
          <p:nvPr/>
        </p:nvGraphicFramePr>
        <p:xfrm>
          <a:off x="1331913" y="3654425"/>
          <a:ext cx="2328862" cy="730250"/>
        </p:xfrm>
        <a:graphic>
          <a:graphicData uri="http://schemas.openxmlformats.org/presentationml/2006/ole">
            <p:oleObj spid="_x0000_s52228" name="公式" r:id="rId4" imgW="1091160" imgH="334440" progId="Equation.3">
              <p:embed/>
            </p:oleObj>
          </a:graphicData>
        </a:graphic>
      </p:graphicFrame>
      <p:sp>
        <p:nvSpPr>
          <p:cNvPr id="135176" name="Rectangle 8"/>
          <p:cNvSpPr>
            <a:spLocks noChangeArrowheads="1"/>
          </p:cNvSpPr>
          <p:nvPr/>
        </p:nvSpPr>
        <p:spPr bwMode="auto">
          <a:xfrm>
            <a:off x="468313" y="4464050"/>
            <a:ext cx="2057400" cy="457200"/>
          </a:xfrm>
          <a:prstGeom prst="rect">
            <a:avLst/>
          </a:prstGeom>
          <a:noFill/>
          <a:ln w="9525">
            <a:noFill/>
            <a:miter lim="800000"/>
            <a:headEnd/>
            <a:tailEnd/>
          </a:ln>
          <a:effectLst/>
        </p:spPr>
        <p:txBody>
          <a:bodyPr>
            <a:spAutoFit/>
          </a:bodyPr>
          <a:lstStyle/>
          <a:p>
            <a:pPr algn="just"/>
            <a:r>
              <a:rPr lang="zh-CN" altLang="en-US" b="1">
                <a:solidFill>
                  <a:schemeClr val="bg1"/>
                </a:solidFill>
                <a:latin typeface="宋体" charset="-122"/>
              </a:rPr>
              <a:t>由归一化条件</a:t>
            </a:r>
          </a:p>
        </p:txBody>
      </p:sp>
      <p:graphicFrame>
        <p:nvGraphicFramePr>
          <p:cNvPr id="135177" name="Object 9"/>
          <p:cNvGraphicFramePr>
            <a:graphicFrameLocks noChangeAspect="1"/>
          </p:cNvGraphicFramePr>
          <p:nvPr/>
        </p:nvGraphicFramePr>
        <p:xfrm>
          <a:off x="1601788" y="5094288"/>
          <a:ext cx="2116137" cy="593725"/>
        </p:xfrm>
        <a:graphic>
          <a:graphicData uri="http://schemas.openxmlformats.org/presentationml/2006/ole">
            <p:oleObj spid="_x0000_s52230" name="公式" r:id="rId5" imgW="993600" imgH="269280" progId="Equation.3">
              <p:embed/>
            </p:oleObj>
          </a:graphicData>
        </a:graphic>
      </p:graphicFrame>
      <p:graphicFrame>
        <p:nvGraphicFramePr>
          <p:cNvPr id="135178" name="Object 10"/>
          <p:cNvGraphicFramePr>
            <a:graphicFrameLocks noChangeAspect="1"/>
          </p:cNvGraphicFramePr>
          <p:nvPr/>
        </p:nvGraphicFramePr>
        <p:xfrm>
          <a:off x="1557338" y="5859463"/>
          <a:ext cx="1608137" cy="565150"/>
        </p:xfrm>
        <a:graphic>
          <a:graphicData uri="http://schemas.openxmlformats.org/presentationml/2006/ole">
            <p:oleObj spid="_x0000_s52231" name="公式" r:id="rId6" imgW="602640" imgH="203760" progId="Equation.3">
              <p:embed/>
            </p:oleObj>
          </a:graphicData>
        </a:graphic>
      </p:graphicFrame>
      <p:sp>
        <p:nvSpPr>
          <p:cNvPr id="135179" name="AutoShape 11"/>
          <p:cNvSpPr>
            <a:spLocks noChangeArrowheads="1"/>
          </p:cNvSpPr>
          <p:nvPr/>
        </p:nvSpPr>
        <p:spPr bwMode="auto">
          <a:xfrm>
            <a:off x="5391150" y="5478463"/>
            <a:ext cx="2825750" cy="914400"/>
          </a:xfrm>
          <a:prstGeom prst="bevel">
            <a:avLst>
              <a:gd name="adj" fmla="val 0"/>
            </a:avLst>
          </a:prstGeom>
          <a:solidFill>
            <a:srgbClr val="CCFFCC"/>
          </a:solidFill>
          <a:ln w="9525">
            <a:solidFill>
              <a:srgbClr val="00FF00"/>
            </a:solidFill>
            <a:miter lim="800000"/>
            <a:headEnd/>
            <a:tailEnd/>
          </a:ln>
          <a:effectLst/>
        </p:spPr>
        <p:txBody>
          <a:bodyPr wrap="none" anchor="ctr"/>
          <a:lstStyle/>
          <a:p>
            <a:endParaRPr lang="zh-CN" altLang="en-US"/>
          </a:p>
        </p:txBody>
      </p:sp>
      <p:graphicFrame>
        <p:nvGraphicFramePr>
          <p:cNvPr id="135180" name="Object 12"/>
          <p:cNvGraphicFramePr>
            <a:graphicFrameLocks noChangeAspect="1"/>
          </p:cNvGraphicFramePr>
          <p:nvPr/>
        </p:nvGraphicFramePr>
        <p:xfrm>
          <a:off x="5516563" y="5499100"/>
          <a:ext cx="2416175" cy="835025"/>
        </p:xfrm>
        <a:graphic>
          <a:graphicData uri="http://schemas.openxmlformats.org/presentationml/2006/ole">
            <p:oleObj spid="_x0000_s52233" name="公式" r:id="rId7" imgW="1083240" imgH="367200" progId="Equation.3">
              <p:embed/>
            </p:oleObj>
          </a:graphicData>
        </a:graphic>
      </p:graphicFrame>
      <p:sp>
        <p:nvSpPr>
          <p:cNvPr id="135181" name="Rectangle 13"/>
          <p:cNvSpPr>
            <a:spLocks noChangeArrowheads="1"/>
          </p:cNvSpPr>
          <p:nvPr/>
        </p:nvSpPr>
        <p:spPr bwMode="auto">
          <a:xfrm>
            <a:off x="5119688" y="4868863"/>
            <a:ext cx="1103312" cy="457200"/>
          </a:xfrm>
          <a:prstGeom prst="rect">
            <a:avLst/>
          </a:prstGeom>
          <a:noFill/>
          <a:ln w="9525">
            <a:noFill/>
            <a:miter lim="800000"/>
            <a:headEnd/>
            <a:tailEnd/>
          </a:ln>
          <a:effectLst/>
        </p:spPr>
        <p:txBody>
          <a:bodyPr wrap="none">
            <a:spAutoFit/>
          </a:bodyPr>
          <a:lstStyle/>
          <a:p>
            <a:r>
              <a:rPr lang="zh-CN" altLang="en-US" b="1">
                <a:solidFill>
                  <a:schemeClr val="tx2"/>
                </a:solidFill>
                <a:latin typeface="宋体" charset="-122"/>
              </a:rPr>
              <a:t>波函数</a:t>
            </a:r>
          </a:p>
        </p:txBody>
      </p:sp>
      <p:sp>
        <p:nvSpPr>
          <p:cNvPr id="135182" name="Rectangle 14"/>
          <p:cNvSpPr>
            <a:spLocks noChangeArrowheads="1"/>
          </p:cNvSpPr>
          <p:nvPr/>
        </p:nvSpPr>
        <p:spPr bwMode="auto">
          <a:xfrm>
            <a:off x="538163" y="5942013"/>
            <a:ext cx="796925" cy="457200"/>
          </a:xfrm>
          <a:prstGeom prst="rect">
            <a:avLst/>
          </a:prstGeom>
          <a:noFill/>
          <a:ln w="9525">
            <a:noFill/>
            <a:miter lim="800000"/>
            <a:headEnd/>
            <a:tailEnd/>
          </a:ln>
          <a:effectLst/>
        </p:spPr>
        <p:txBody>
          <a:bodyPr wrap="none">
            <a:spAutoFit/>
          </a:bodyPr>
          <a:lstStyle/>
          <a:p>
            <a:r>
              <a:rPr lang="zh-CN" altLang="en-US" b="1">
                <a:solidFill>
                  <a:schemeClr val="bg1"/>
                </a:solidFill>
                <a:latin typeface="宋体" charset="-122"/>
              </a:rPr>
              <a:t>可得</a:t>
            </a:r>
          </a:p>
        </p:txBody>
      </p:sp>
      <p:grpSp>
        <p:nvGrpSpPr>
          <p:cNvPr id="135183" name="Group 15"/>
          <p:cNvGrpSpPr>
            <a:grpSpLocks/>
          </p:cNvGrpSpPr>
          <p:nvPr/>
        </p:nvGrpSpPr>
        <p:grpSpPr bwMode="auto">
          <a:xfrm>
            <a:off x="5148263" y="833438"/>
            <a:ext cx="1144587" cy="3189287"/>
            <a:chOff x="3161" y="525"/>
            <a:chExt cx="803" cy="2009"/>
          </a:xfrm>
        </p:grpSpPr>
        <p:graphicFrame>
          <p:nvGraphicFramePr>
            <p:cNvPr id="52264" name="Object 16"/>
            <p:cNvGraphicFramePr>
              <a:graphicFrameLocks/>
            </p:cNvGraphicFramePr>
            <p:nvPr/>
          </p:nvGraphicFramePr>
          <p:xfrm>
            <a:off x="3763" y="2296"/>
            <a:ext cx="194" cy="238"/>
          </p:xfrm>
          <a:graphic>
            <a:graphicData uri="http://schemas.openxmlformats.org/presentationml/2006/ole">
              <p:oleObj spid="_x0000_s52264" name="公式" r:id="rId8" imgW="276840" imgH="342720" progId="Equation.3">
                <p:embed/>
              </p:oleObj>
            </a:graphicData>
          </a:graphic>
        </p:graphicFrame>
        <p:graphicFrame>
          <p:nvGraphicFramePr>
            <p:cNvPr id="52265" name="Object 17"/>
            <p:cNvGraphicFramePr>
              <a:graphicFrameLocks/>
            </p:cNvGraphicFramePr>
            <p:nvPr/>
          </p:nvGraphicFramePr>
          <p:xfrm>
            <a:off x="3172" y="525"/>
            <a:ext cx="782" cy="274"/>
          </p:xfrm>
          <a:graphic>
            <a:graphicData uri="http://schemas.openxmlformats.org/presentationml/2006/ole">
              <p:oleObj spid="_x0000_s52265" name="公式" r:id="rId9" imgW="1156320" imgH="399600" progId="Equation.3">
                <p:embed/>
              </p:oleObj>
            </a:graphicData>
          </a:graphic>
        </p:graphicFrame>
        <p:graphicFrame>
          <p:nvGraphicFramePr>
            <p:cNvPr id="52266" name="Object 18"/>
            <p:cNvGraphicFramePr>
              <a:graphicFrameLocks/>
            </p:cNvGraphicFramePr>
            <p:nvPr/>
          </p:nvGraphicFramePr>
          <p:xfrm>
            <a:off x="3161" y="1661"/>
            <a:ext cx="803" cy="265"/>
          </p:xfrm>
          <a:graphic>
            <a:graphicData uri="http://schemas.openxmlformats.org/presentationml/2006/ole">
              <p:oleObj spid="_x0000_s52266" name="公式" r:id="rId10" imgW="1189080" imgH="383400" progId="Equation.3">
                <p:embed/>
              </p:oleObj>
            </a:graphicData>
          </a:graphic>
        </p:graphicFrame>
      </p:grpSp>
      <p:sp>
        <p:nvSpPr>
          <p:cNvPr id="135187" name="Text Box 19"/>
          <p:cNvSpPr txBox="1">
            <a:spLocks noChangeArrowheads="1"/>
          </p:cNvSpPr>
          <p:nvPr/>
        </p:nvSpPr>
        <p:spPr bwMode="auto">
          <a:xfrm>
            <a:off x="6789738" y="4471988"/>
            <a:ext cx="946150" cy="396875"/>
          </a:xfrm>
          <a:prstGeom prst="rect">
            <a:avLst/>
          </a:prstGeom>
          <a:noFill/>
          <a:ln w="9525">
            <a:noFill/>
            <a:miter lim="800000"/>
            <a:headEnd/>
            <a:tailEnd/>
          </a:ln>
          <a:effectLst/>
        </p:spPr>
        <p:txBody>
          <a:bodyPr wrap="none">
            <a:spAutoFit/>
          </a:bodyPr>
          <a:lstStyle/>
          <a:p>
            <a:r>
              <a:rPr lang="zh-CN" altLang="en-US" sz="2000" b="1">
                <a:solidFill>
                  <a:schemeClr val="bg1"/>
                </a:solidFill>
              </a:rPr>
              <a:t>波函数</a:t>
            </a:r>
          </a:p>
        </p:txBody>
      </p:sp>
      <p:sp>
        <p:nvSpPr>
          <p:cNvPr id="52238" name="Line 20"/>
          <p:cNvSpPr>
            <a:spLocks noChangeShapeType="1"/>
          </p:cNvSpPr>
          <p:nvPr/>
        </p:nvSpPr>
        <p:spPr bwMode="auto">
          <a:xfrm>
            <a:off x="8964613" y="365125"/>
            <a:ext cx="0" cy="4267200"/>
          </a:xfrm>
          <a:prstGeom prst="line">
            <a:avLst/>
          </a:prstGeom>
          <a:noFill/>
          <a:ln w="57150">
            <a:noFill/>
            <a:round/>
            <a:headEnd/>
            <a:tailEnd/>
          </a:ln>
          <a:effectLst/>
        </p:spPr>
        <p:txBody>
          <a:bodyPr/>
          <a:lstStyle/>
          <a:p>
            <a:endParaRPr lang="zh-CN" altLang="en-US"/>
          </a:p>
        </p:txBody>
      </p:sp>
      <p:sp>
        <p:nvSpPr>
          <p:cNvPr id="135189" name="AutoShape 21"/>
          <p:cNvSpPr>
            <a:spLocks noChangeArrowheads="1"/>
          </p:cNvSpPr>
          <p:nvPr/>
        </p:nvSpPr>
        <p:spPr bwMode="auto">
          <a:xfrm>
            <a:off x="900113" y="1077913"/>
            <a:ext cx="2816225" cy="873125"/>
          </a:xfrm>
          <a:prstGeom prst="bevel">
            <a:avLst>
              <a:gd name="adj" fmla="val 0"/>
            </a:avLst>
          </a:prstGeom>
          <a:solidFill>
            <a:srgbClr val="CCFFCC"/>
          </a:solidFill>
          <a:ln w="9525">
            <a:solidFill>
              <a:srgbClr val="00FF00"/>
            </a:solidFill>
            <a:miter lim="800000"/>
            <a:headEnd/>
            <a:tailEnd/>
          </a:ln>
          <a:effectLst/>
        </p:spPr>
        <p:txBody>
          <a:bodyPr wrap="none" anchor="ctr"/>
          <a:lstStyle/>
          <a:p>
            <a:endParaRPr lang="zh-CN" altLang="en-US"/>
          </a:p>
        </p:txBody>
      </p:sp>
      <p:graphicFrame>
        <p:nvGraphicFramePr>
          <p:cNvPr id="135190" name="Object 22"/>
          <p:cNvGraphicFramePr>
            <a:graphicFrameLocks noChangeAspect="1"/>
          </p:cNvGraphicFramePr>
          <p:nvPr/>
        </p:nvGraphicFramePr>
        <p:xfrm>
          <a:off x="985838" y="1133475"/>
          <a:ext cx="2595562" cy="755650"/>
        </p:xfrm>
        <a:graphic>
          <a:graphicData uri="http://schemas.openxmlformats.org/presentationml/2006/ole">
            <p:oleObj spid="_x0000_s52240" name="公式" r:id="rId11" imgW="1180800" imgH="342720" progId="Equation.3">
              <p:embed/>
            </p:oleObj>
          </a:graphicData>
        </a:graphic>
      </p:graphicFrame>
      <p:sp>
        <p:nvSpPr>
          <p:cNvPr id="135191" name="Text Box 23"/>
          <p:cNvSpPr txBox="1">
            <a:spLocks noChangeArrowheads="1"/>
          </p:cNvSpPr>
          <p:nvPr/>
        </p:nvSpPr>
        <p:spPr bwMode="auto">
          <a:xfrm>
            <a:off x="542925" y="476250"/>
            <a:ext cx="1508125" cy="457200"/>
          </a:xfrm>
          <a:prstGeom prst="rect">
            <a:avLst/>
          </a:prstGeom>
          <a:noFill/>
          <a:ln w="9525">
            <a:noFill/>
            <a:miter lim="800000"/>
            <a:headEnd/>
            <a:tailEnd/>
          </a:ln>
          <a:effectLst/>
        </p:spPr>
        <p:txBody>
          <a:bodyPr>
            <a:spAutoFit/>
          </a:bodyPr>
          <a:lstStyle/>
          <a:p>
            <a:r>
              <a:rPr lang="zh-CN" altLang="en-US" b="1">
                <a:solidFill>
                  <a:schemeClr val="tx2"/>
                </a:solidFill>
                <a:latin typeface="宋体" charset="-122"/>
              </a:rPr>
              <a:t>粒子能量</a:t>
            </a:r>
          </a:p>
        </p:txBody>
      </p:sp>
      <p:sp>
        <p:nvSpPr>
          <p:cNvPr id="135192" name="Text Box 24"/>
          <p:cNvSpPr txBox="1">
            <a:spLocks noChangeArrowheads="1"/>
          </p:cNvSpPr>
          <p:nvPr/>
        </p:nvSpPr>
        <p:spPr bwMode="auto">
          <a:xfrm>
            <a:off x="971550" y="2251075"/>
            <a:ext cx="2878138" cy="457200"/>
          </a:xfrm>
          <a:prstGeom prst="rect">
            <a:avLst/>
          </a:prstGeom>
          <a:noFill/>
          <a:ln w="9525">
            <a:noFill/>
            <a:miter lim="800000"/>
            <a:headEnd/>
            <a:tailEnd/>
          </a:ln>
          <a:effectLst/>
        </p:spPr>
        <p:txBody>
          <a:bodyPr>
            <a:spAutoFit/>
          </a:bodyPr>
          <a:lstStyle/>
          <a:p>
            <a:r>
              <a:rPr lang="zh-CN" altLang="en-US" b="1">
                <a:solidFill>
                  <a:schemeClr val="bg1"/>
                </a:solidFill>
                <a:latin typeface="宋体" charset="-122"/>
              </a:rPr>
              <a:t>能量是量子化的</a:t>
            </a:r>
          </a:p>
        </p:txBody>
      </p:sp>
      <p:sp>
        <p:nvSpPr>
          <p:cNvPr id="135193" name="AutoShape 25"/>
          <p:cNvSpPr>
            <a:spLocks noChangeArrowheads="1"/>
          </p:cNvSpPr>
          <p:nvPr/>
        </p:nvSpPr>
        <p:spPr bwMode="auto">
          <a:xfrm>
            <a:off x="539750" y="2205038"/>
            <a:ext cx="360363" cy="576262"/>
          </a:xfrm>
          <a:prstGeom prst="star4">
            <a:avLst>
              <a:gd name="adj" fmla="val 18519"/>
            </a:avLst>
          </a:prstGeom>
          <a:gradFill rotWithShape="0">
            <a:gsLst>
              <a:gs pos="0">
                <a:schemeClr val="accent2"/>
              </a:gs>
              <a:gs pos="100000">
                <a:schemeClr val="accent2">
                  <a:gamma/>
                  <a:shade val="46275"/>
                  <a:invGamma/>
                </a:schemeClr>
              </a:gs>
            </a:gsLst>
            <a:path path="shape">
              <a:fillToRect l="50000" t="50000" r="50000" b="50000"/>
            </a:path>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135194" name="Line 26"/>
          <p:cNvSpPr>
            <a:spLocks noChangeShapeType="1"/>
          </p:cNvSpPr>
          <p:nvPr/>
        </p:nvSpPr>
        <p:spPr bwMode="auto">
          <a:xfrm>
            <a:off x="4716463" y="4724400"/>
            <a:ext cx="0" cy="1800225"/>
          </a:xfrm>
          <a:prstGeom prst="line">
            <a:avLst/>
          </a:prstGeom>
          <a:noFill/>
          <a:ln w="19050">
            <a:solidFill>
              <a:srgbClr val="006600"/>
            </a:solidFill>
            <a:prstDash val="lgDashDot"/>
            <a:round/>
            <a:headEnd/>
            <a:tailEnd/>
          </a:ln>
          <a:effectLst/>
        </p:spPr>
        <p:txBody>
          <a:bodyPr/>
          <a:lstStyle/>
          <a:p>
            <a:endParaRPr lang="zh-CN" altLang="en-US"/>
          </a:p>
        </p:txBody>
      </p:sp>
      <p:sp useBgFill="1">
        <p:nvSpPr>
          <p:cNvPr id="135195" name="Rectangle 27"/>
          <p:cNvSpPr>
            <a:spLocks noChangeArrowheads="1"/>
          </p:cNvSpPr>
          <p:nvPr/>
        </p:nvSpPr>
        <p:spPr bwMode="auto">
          <a:xfrm>
            <a:off x="6462713" y="692150"/>
            <a:ext cx="1800225" cy="3529013"/>
          </a:xfrm>
          <a:prstGeom prst="rect">
            <a:avLst/>
          </a:prstGeom>
          <a:ln w="9525">
            <a:noFill/>
            <a:miter lim="800000"/>
            <a:headEnd/>
            <a:tailEnd/>
          </a:ln>
          <a:effectLst/>
        </p:spPr>
        <p:txBody>
          <a:bodyPr wrap="none" anchor="ctr"/>
          <a:lstStyle/>
          <a:p>
            <a:endParaRPr lang="zh-CN" altLang="en-US"/>
          </a:p>
        </p:txBody>
      </p:sp>
      <p:sp>
        <p:nvSpPr>
          <p:cNvPr id="135196" name="Freeform 28"/>
          <p:cNvSpPr>
            <a:spLocks/>
          </p:cNvSpPr>
          <p:nvPr/>
        </p:nvSpPr>
        <p:spPr bwMode="auto">
          <a:xfrm>
            <a:off x="6430963" y="3587750"/>
            <a:ext cx="1771650" cy="273050"/>
          </a:xfrm>
          <a:custGeom>
            <a:avLst/>
            <a:gdLst>
              <a:gd name="T0" fmla="*/ 0 w 2339"/>
              <a:gd name="T1" fmla="*/ 295858343 h 252"/>
              <a:gd name="T2" fmla="*/ 674687343 w 2339"/>
              <a:gd name="T3" fmla="*/ 0 h 252"/>
              <a:gd name="T4" fmla="*/ 1341916940 w 2339"/>
              <a:gd name="T5" fmla="*/ 284118277 h 252"/>
              <a:gd name="T6" fmla="*/ 0 60000 65536"/>
              <a:gd name="T7" fmla="*/ 0 60000 65536"/>
              <a:gd name="T8" fmla="*/ 0 60000 65536"/>
            </a:gdLst>
            <a:ahLst/>
            <a:cxnLst>
              <a:cxn ang="T6">
                <a:pos x="T0" y="T1"/>
              </a:cxn>
              <a:cxn ang="T7">
                <a:pos x="T2" y="T3"/>
              </a:cxn>
              <a:cxn ang="T8">
                <a:pos x="T4" y="T5"/>
              </a:cxn>
            </a:cxnLst>
            <a:rect l="0" t="0" r="r" b="b"/>
            <a:pathLst>
              <a:path w="2339" h="252">
                <a:moveTo>
                  <a:pt x="0" y="252"/>
                </a:moveTo>
                <a:cubicBezTo>
                  <a:pt x="388" y="118"/>
                  <a:pt x="600" y="12"/>
                  <a:pt x="1176" y="0"/>
                </a:cubicBezTo>
                <a:cubicBezTo>
                  <a:pt x="1692" y="0"/>
                  <a:pt x="2028" y="108"/>
                  <a:pt x="2339" y="242"/>
                </a:cubicBezTo>
              </a:path>
            </a:pathLst>
          </a:custGeom>
          <a:solidFill>
            <a:srgbClr val="C0C0C0"/>
          </a:solidFill>
          <a:ln w="19050" cmpd="sng">
            <a:solidFill>
              <a:srgbClr val="FF0000"/>
            </a:solidFill>
            <a:round/>
            <a:headEnd/>
            <a:tailEnd/>
          </a:ln>
          <a:effectLst/>
        </p:spPr>
        <p:txBody>
          <a:bodyPr/>
          <a:lstStyle/>
          <a:p>
            <a:endParaRPr lang="zh-CN" altLang="en-US"/>
          </a:p>
        </p:txBody>
      </p:sp>
      <p:sp>
        <p:nvSpPr>
          <p:cNvPr id="135197" name="Freeform 29"/>
          <p:cNvSpPr>
            <a:spLocks/>
          </p:cNvSpPr>
          <p:nvPr/>
        </p:nvSpPr>
        <p:spPr bwMode="auto">
          <a:xfrm>
            <a:off x="6440488" y="2595563"/>
            <a:ext cx="1771650" cy="546100"/>
          </a:xfrm>
          <a:custGeom>
            <a:avLst/>
            <a:gdLst>
              <a:gd name="T0" fmla="*/ 0 w 2340"/>
              <a:gd name="T1" fmla="*/ 281770263 h 504"/>
              <a:gd name="T2" fmla="*/ 343934049 w 2340"/>
              <a:gd name="T3" fmla="*/ 0 h 504"/>
              <a:gd name="T4" fmla="*/ 687868097 w 2340"/>
              <a:gd name="T5" fmla="*/ 324035586 h 504"/>
              <a:gd name="T6" fmla="*/ 1018045359 w 2340"/>
              <a:gd name="T7" fmla="*/ 577628607 h 504"/>
              <a:gd name="T8" fmla="*/ 1341343471 w 2340"/>
              <a:gd name="T9" fmla="*/ 285291742 h 5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40" h="504">
                <a:moveTo>
                  <a:pt x="0" y="240"/>
                </a:moveTo>
                <a:cubicBezTo>
                  <a:pt x="207" y="69"/>
                  <a:pt x="324" y="0"/>
                  <a:pt x="600" y="0"/>
                </a:cubicBezTo>
                <a:cubicBezTo>
                  <a:pt x="851" y="2"/>
                  <a:pt x="1056" y="156"/>
                  <a:pt x="1200" y="276"/>
                </a:cubicBezTo>
                <a:cubicBezTo>
                  <a:pt x="1320" y="396"/>
                  <a:pt x="1524" y="504"/>
                  <a:pt x="1776" y="492"/>
                </a:cubicBezTo>
                <a:cubicBezTo>
                  <a:pt x="2031" y="494"/>
                  <a:pt x="2196" y="408"/>
                  <a:pt x="2340" y="243"/>
                </a:cubicBezTo>
              </a:path>
            </a:pathLst>
          </a:custGeom>
          <a:solidFill>
            <a:srgbClr val="C0C0C0"/>
          </a:solidFill>
          <a:ln w="19050" cmpd="sng">
            <a:solidFill>
              <a:srgbClr val="FF0000"/>
            </a:solidFill>
            <a:round/>
            <a:headEnd/>
            <a:tailEnd/>
          </a:ln>
          <a:effectLst/>
        </p:spPr>
        <p:txBody>
          <a:bodyPr/>
          <a:lstStyle/>
          <a:p>
            <a:endParaRPr lang="zh-CN" altLang="en-US"/>
          </a:p>
        </p:txBody>
      </p:sp>
      <p:sp>
        <p:nvSpPr>
          <p:cNvPr id="135198" name="Freeform 30"/>
          <p:cNvSpPr>
            <a:spLocks/>
          </p:cNvSpPr>
          <p:nvPr/>
        </p:nvSpPr>
        <p:spPr bwMode="auto">
          <a:xfrm>
            <a:off x="6440488" y="765175"/>
            <a:ext cx="1789112" cy="533400"/>
          </a:xfrm>
          <a:custGeom>
            <a:avLst/>
            <a:gdLst>
              <a:gd name="T0" fmla="*/ 0 w 1127"/>
              <a:gd name="T1" fmla="*/ 413305625 h 336"/>
              <a:gd name="T2" fmla="*/ 476308604 w 1127"/>
              <a:gd name="T3" fmla="*/ 0 h 336"/>
              <a:gd name="T4" fmla="*/ 937497863 w 1127"/>
              <a:gd name="T5" fmla="*/ 433466875 h 336"/>
              <a:gd name="T6" fmla="*/ 1413806467 w 1127"/>
              <a:gd name="T7" fmla="*/ 846772500 h 336"/>
              <a:gd name="T8" fmla="*/ 1859874793 w 1127"/>
              <a:gd name="T9" fmla="*/ 430947513 h 336"/>
              <a:gd name="T10" fmla="*/ 2147483647 w 1127"/>
              <a:gd name="T11" fmla="*/ 0 h 336"/>
              <a:gd name="T12" fmla="*/ 2147483647 w 1127"/>
              <a:gd name="T13" fmla="*/ 448587813 h 3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7" h="336">
                <a:moveTo>
                  <a:pt x="0" y="164"/>
                </a:moveTo>
                <a:cubicBezTo>
                  <a:pt x="97" y="8"/>
                  <a:pt x="109" y="0"/>
                  <a:pt x="189" y="0"/>
                </a:cubicBezTo>
                <a:cubicBezTo>
                  <a:pt x="275" y="0"/>
                  <a:pt x="326" y="90"/>
                  <a:pt x="372" y="172"/>
                </a:cubicBezTo>
                <a:cubicBezTo>
                  <a:pt x="452" y="303"/>
                  <a:pt x="473" y="325"/>
                  <a:pt x="561" y="336"/>
                </a:cubicBezTo>
                <a:cubicBezTo>
                  <a:pt x="644" y="325"/>
                  <a:pt x="698" y="287"/>
                  <a:pt x="738" y="171"/>
                </a:cubicBezTo>
                <a:cubicBezTo>
                  <a:pt x="813" y="57"/>
                  <a:pt x="847" y="0"/>
                  <a:pt x="939" y="0"/>
                </a:cubicBezTo>
                <a:cubicBezTo>
                  <a:pt x="1025" y="8"/>
                  <a:pt x="1075" y="39"/>
                  <a:pt x="1127" y="178"/>
                </a:cubicBezTo>
              </a:path>
            </a:pathLst>
          </a:custGeom>
          <a:solidFill>
            <a:srgbClr val="C0C0C0"/>
          </a:solidFill>
          <a:ln w="19050" cmpd="sng">
            <a:solidFill>
              <a:schemeClr val="tx2"/>
            </a:solidFill>
            <a:round/>
            <a:headEnd/>
            <a:tailEnd/>
          </a:ln>
          <a:effectLst/>
        </p:spPr>
        <p:txBody>
          <a:bodyPr/>
          <a:lstStyle/>
          <a:p>
            <a:endParaRPr lang="zh-CN" altLang="en-US"/>
          </a:p>
        </p:txBody>
      </p:sp>
      <p:sp>
        <p:nvSpPr>
          <p:cNvPr id="135199" name="Freeform 31"/>
          <p:cNvSpPr>
            <a:spLocks/>
          </p:cNvSpPr>
          <p:nvPr/>
        </p:nvSpPr>
        <p:spPr bwMode="auto">
          <a:xfrm rot="10800000" flipH="1">
            <a:off x="6443663" y="3860800"/>
            <a:ext cx="1771650" cy="273050"/>
          </a:xfrm>
          <a:custGeom>
            <a:avLst/>
            <a:gdLst>
              <a:gd name="T0" fmla="*/ 0 w 2339"/>
              <a:gd name="T1" fmla="*/ 295858343 h 252"/>
              <a:gd name="T2" fmla="*/ 674687343 w 2339"/>
              <a:gd name="T3" fmla="*/ 0 h 252"/>
              <a:gd name="T4" fmla="*/ 1341916940 w 2339"/>
              <a:gd name="T5" fmla="*/ 284118277 h 252"/>
              <a:gd name="T6" fmla="*/ 0 60000 65536"/>
              <a:gd name="T7" fmla="*/ 0 60000 65536"/>
              <a:gd name="T8" fmla="*/ 0 60000 65536"/>
            </a:gdLst>
            <a:ahLst/>
            <a:cxnLst>
              <a:cxn ang="T6">
                <a:pos x="T0" y="T1"/>
              </a:cxn>
              <a:cxn ang="T7">
                <a:pos x="T2" y="T3"/>
              </a:cxn>
              <a:cxn ang="T8">
                <a:pos x="T4" y="T5"/>
              </a:cxn>
            </a:cxnLst>
            <a:rect l="0" t="0" r="r" b="b"/>
            <a:pathLst>
              <a:path w="2339" h="252">
                <a:moveTo>
                  <a:pt x="0" y="252"/>
                </a:moveTo>
                <a:cubicBezTo>
                  <a:pt x="388" y="118"/>
                  <a:pt x="600" y="12"/>
                  <a:pt x="1176" y="0"/>
                </a:cubicBezTo>
                <a:cubicBezTo>
                  <a:pt x="1692" y="0"/>
                  <a:pt x="2028" y="108"/>
                  <a:pt x="2339" y="242"/>
                </a:cubicBezTo>
              </a:path>
            </a:pathLst>
          </a:custGeom>
          <a:noFill/>
          <a:ln w="19050" cap="flat" cmpd="sng">
            <a:solidFill>
              <a:srgbClr val="FF0000"/>
            </a:solidFill>
            <a:prstDash val="sysDot"/>
            <a:round/>
            <a:headEnd/>
            <a:tailEnd/>
          </a:ln>
          <a:effectLst/>
        </p:spPr>
        <p:txBody>
          <a:bodyPr/>
          <a:lstStyle/>
          <a:p>
            <a:endParaRPr lang="zh-CN" altLang="en-US"/>
          </a:p>
        </p:txBody>
      </p:sp>
      <p:sp>
        <p:nvSpPr>
          <p:cNvPr id="135200" name="Freeform 32"/>
          <p:cNvSpPr>
            <a:spLocks/>
          </p:cNvSpPr>
          <p:nvPr/>
        </p:nvSpPr>
        <p:spPr bwMode="auto">
          <a:xfrm rot="10800000" flipH="1">
            <a:off x="6443663" y="2565400"/>
            <a:ext cx="1771650" cy="546100"/>
          </a:xfrm>
          <a:custGeom>
            <a:avLst/>
            <a:gdLst>
              <a:gd name="T0" fmla="*/ 0 w 2340"/>
              <a:gd name="T1" fmla="*/ 281770263 h 504"/>
              <a:gd name="T2" fmla="*/ 343934049 w 2340"/>
              <a:gd name="T3" fmla="*/ 0 h 504"/>
              <a:gd name="T4" fmla="*/ 687868097 w 2340"/>
              <a:gd name="T5" fmla="*/ 324035586 h 504"/>
              <a:gd name="T6" fmla="*/ 1018045359 w 2340"/>
              <a:gd name="T7" fmla="*/ 577628607 h 504"/>
              <a:gd name="T8" fmla="*/ 1341343471 w 2340"/>
              <a:gd name="T9" fmla="*/ 285291742 h 5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40" h="504">
                <a:moveTo>
                  <a:pt x="0" y="240"/>
                </a:moveTo>
                <a:cubicBezTo>
                  <a:pt x="207" y="69"/>
                  <a:pt x="324" y="0"/>
                  <a:pt x="600" y="0"/>
                </a:cubicBezTo>
                <a:cubicBezTo>
                  <a:pt x="851" y="2"/>
                  <a:pt x="1056" y="156"/>
                  <a:pt x="1200" y="276"/>
                </a:cubicBezTo>
                <a:cubicBezTo>
                  <a:pt x="1320" y="396"/>
                  <a:pt x="1524" y="504"/>
                  <a:pt x="1776" y="492"/>
                </a:cubicBezTo>
                <a:cubicBezTo>
                  <a:pt x="2031" y="494"/>
                  <a:pt x="2196" y="408"/>
                  <a:pt x="2340" y="243"/>
                </a:cubicBezTo>
              </a:path>
            </a:pathLst>
          </a:custGeom>
          <a:noFill/>
          <a:ln w="19050" cap="flat" cmpd="sng">
            <a:solidFill>
              <a:srgbClr val="FF0000"/>
            </a:solidFill>
            <a:prstDash val="sysDot"/>
            <a:round/>
            <a:headEnd/>
            <a:tailEnd/>
          </a:ln>
          <a:effectLst/>
        </p:spPr>
        <p:txBody>
          <a:bodyPr/>
          <a:lstStyle/>
          <a:p>
            <a:endParaRPr lang="zh-CN" altLang="en-US"/>
          </a:p>
        </p:txBody>
      </p:sp>
      <p:sp>
        <p:nvSpPr>
          <p:cNvPr id="135201" name="Freeform 33"/>
          <p:cNvSpPr>
            <a:spLocks/>
          </p:cNvSpPr>
          <p:nvPr/>
        </p:nvSpPr>
        <p:spPr bwMode="auto">
          <a:xfrm>
            <a:off x="6419850" y="765175"/>
            <a:ext cx="1824038" cy="533400"/>
          </a:xfrm>
          <a:custGeom>
            <a:avLst/>
            <a:gdLst>
              <a:gd name="T0" fmla="*/ 0 w 1149"/>
              <a:gd name="T1" fmla="*/ 433466875 h 336"/>
              <a:gd name="T2" fmla="*/ 476310456 w 1149"/>
              <a:gd name="T3" fmla="*/ 846772500 h 336"/>
              <a:gd name="T4" fmla="*/ 937498382 w 1149"/>
              <a:gd name="T5" fmla="*/ 413305625 h 336"/>
              <a:gd name="T6" fmla="*/ 1413808838 w 1149"/>
              <a:gd name="T7" fmla="*/ 0 h 336"/>
              <a:gd name="T8" fmla="*/ 1859875822 w 1149"/>
              <a:gd name="T9" fmla="*/ 415826575 h 336"/>
              <a:gd name="T10" fmla="*/ 2147483647 w 1149"/>
              <a:gd name="T11" fmla="*/ 846772500 h 336"/>
              <a:gd name="T12" fmla="*/ 2147483647 w 1149"/>
              <a:gd name="T13" fmla="*/ 448587813 h 3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49" h="336">
                <a:moveTo>
                  <a:pt x="0" y="172"/>
                </a:moveTo>
                <a:cubicBezTo>
                  <a:pt x="97" y="328"/>
                  <a:pt x="109" y="336"/>
                  <a:pt x="189" y="336"/>
                </a:cubicBezTo>
                <a:cubicBezTo>
                  <a:pt x="275" y="336"/>
                  <a:pt x="326" y="246"/>
                  <a:pt x="372" y="164"/>
                </a:cubicBezTo>
                <a:cubicBezTo>
                  <a:pt x="452" y="33"/>
                  <a:pt x="473" y="11"/>
                  <a:pt x="561" y="0"/>
                </a:cubicBezTo>
                <a:cubicBezTo>
                  <a:pt x="644" y="11"/>
                  <a:pt x="698" y="49"/>
                  <a:pt x="738" y="165"/>
                </a:cubicBezTo>
                <a:cubicBezTo>
                  <a:pt x="813" y="279"/>
                  <a:pt x="847" y="336"/>
                  <a:pt x="939" y="336"/>
                </a:cubicBezTo>
                <a:cubicBezTo>
                  <a:pt x="1025" y="328"/>
                  <a:pt x="1097" y="317"/>
                  <a:pt x="1149" y="178"/>
                </a:cubicBezTo>
              </a:path>
            </a:pathLst>
          </a:custGeom>
          <a:noFill/>
          <a:ln w="19050" cap="flat" cmpd="sng">
            <a:solidFill>
              <a:srgbClr val="FF0000"/>
            </a:solidFill>
            <a:prstDash val="sysDot"/>
            <a:round/>
            <a:headEnd/>
            <a:tailEnd/>
          </a:ln>
          <a:effectLst/>
        </p:spPr>
        <p:txBody>
          <a:bodyPr/>
          <a:lstStyle/>
          <a:p>
            <a:endParaRPr lang="zh-CN" altLang="en-US"/>
          </a:p>
        </p:txBody>
      </p:sp>
      <p:grpSp>
        <p:nvGrpSpPr>
          <p:cNvPr id="135202" name="Group 34"/>
          <p:cNvGrpSpPr>
            <a:grpSpLocks/>
          </p:cNvGrpSpPr>
          <p:nvPr/>
        </p:nvGrpSpPr>
        <p:grpSpPr bwMode="auto">
          <a:xfrm>
            <a:off x="6011863" y="404813"/>
            <a:ext cx="2970212" cy="4273550"/>
            <a:chOff x="3696" y="255"/>
            <a:chExt cx="1871" cy="2692"/>
          </a:xfrm>
        </p:grpSpPr>
        <p:sp>
          <p:nvSpPr>
            <p:cNvPr id="52258" name="Text Box 35"/>
            <p:cNvSpPr txBox="1">
              <a:spLocks noChangeArrowheads="1"/>
            </p:cNvSpPr>
            <p:nvPr/>
          </p:nvSpPr>
          <p:spPr bwMode="auto">
            <a:xfrm>
              <a:off x="5355" y="2523"/>
              <a:ext cx="212" cy="288"/>
            </a:xfrm>
            <a:prstGeom prst="rect">
              <a:avLst/>
            </a:prstGeom>
            <a:noFill/>
            <a:ln w="9525">
              <a:noFill/>
              <a:miter lim="800000"/>
              <a:headEnd/>
              <a:tailEnd/>
            </a:ln>
            <a:effectLst/>
          </p:spPr>
          <p:txBody>
            <a:bodyPr wrap="none">
              <a:spAutoFit/>
            </a:bodyPr>
            <a:lstStyle/>
            <a:p>
              <a:r>
                <a:rPr lang="en-US" altLang="zh-CN" b="1" i="1">
                  <a:solidFill>
                    <a:srgbClr val="0000FF"/>
                  </a:solidFill>
                </a:rPr>
                <a:t>x</a:t>
              </a:r>
            </a:p>
          </p:txBody>
        </p:sp>
        <p:grpSp>
          <p:nvGrpSpPr>
            <p:cNvPr id="52259" name="Group 36"/>
            <p:cNvGrpSpPr>
              <a:grpSpLocks/>
            </p:cNvGrpSpPr>
            <p:nvPr/>
          </p:nvGrpSpPr>
          <p:grpSpPr bwMode="auto">
            <a:xfrm>
              <a:off x="3696" y="255"/>
              <a:ext cx="1679" cy="2692"/>
              <a:chOff x="3696" y="255"/>
              <a:chExt cx="1679" cy="2692"/>
            </a:xfrm>
          </p:grpSpPr>
          <p:sp>
            <p:nvSpPr>
              <p:cNvPr id="52260" name="Line 37"/>
              <p:cNvSpPr>
                <a:spLocks noChangeShapeType="1"/>
              </p:cNvSpPr>
              <p:nvPr/>
            </p:nvSpPr>
            <p:spPr bwMode="auto">
              <a:xfrm flipV="1">
                <a:off x="3969" y="255"/>
                <a:ext cx="0" cy="2449"/>
              </a:xfrm>
              <a:prstGeom prst="line">
                <a:avLst/>
              </a:prstGeom>
              <a:noFill/>
              <a:ln w="28575">
                <a:solidFill>
                  <a:srgbClr val="0000FF">
                    <a:alpha val="94116"/>
                  </a:srgbClr>
                </a:solidFill>
                <a:round/>
                <a:headEnd/>
                <a:tailEnd/>
              </a:ln>
              <a:effectLst/>
            </p:spPr>
            <p:txBody>
              <a:bodyPr/>
              <a:lstStyle/>
              <a:p>
                <a:endParaRPr lang="zh-CN" altLang="en-US"/>
              </a:p>
            </p:txBody>
          </p:sp>
          <p:sp>
            <p:nvSpPr>
              <p:cNvPr id="52261" name="Line 38"/>
              <p:cNvSpPr>
                <a:spLocks noChangeShapeType="1"/>
              </p:cNvSpPr>
              <p:nvPr/>
            </p:nvSpPr>
            <p:spPr bwMode="auto">
              <a:xfrm flipV="1">
                <a:off x="5103" y="255"/>
                <a:ext cx="0" cy="2449"/>
              </a:xfrm>
              <a:prstGeom prst="line">
                <a:avLst/>
              </a:prstGeom>
              <a:noFill/>
              <a:ln w="28575">
                <a:solidFill>
                  <a:srgbClr val="0000FF">
                    <a:alpha val="92940"/>
                  </a:srgbClr>
                </a:solidFill>
                <a:round/>
                <a:headEnd/>
                <a:tailEnd/>
              </a:ln>
              <a:effectLst/>
            </p:spPr>
            <p:txBody>
              <a:bodyPr/>
              <a:lstStyle/>
              <a:p>
                <a:endParaRPr lang="zh-CN" altLang="en-US"/>
              </a:p>
            </p:txBody>
          </p:sp>
          <p:sp>
            <p:nvSpPr>
              <p:cNvPr id="52262" name="Line 39"/>
              <p:cNvSpPr>
                <a:spLocks noChangeShapeType="1"/>
              </p:cNvSpPr>
              <p:nvPr/>
            </p:nvSpPr>
            <p:spPr bwMode="auto">
              <a:xfrm>
                <a:off x="3696" y="2704"/>
                <a:ext cx="1679" cy="0"/>
              </a:xfrm>
              <a:prstGeom prst="line">
                <a:avLst/>
              </a:prstGeom>
              <a:noFill/>
              <a:ln w="19050">
                <a:solidFill>
                  <a:srgbClr val="0000FF"/>
                </a:solidFill>
                <a:round/>
                <a:headEnd/>
                <a:tailEnd type="triangle" w="med" len="lg"/>
              </a:ln>
              <a:effectLst/>
            </p:spPr>
            <p:txBody>
              <a:bodyPr/>
              <a:lstStyle/>
              <a:p>
                <a:endParaRPr lang="zh-CN" altLang="en-US"/>
              </a:p>
            </p:txBody>
          </p:sp>
          <p:sp>
            <p:nvSpPr>
              <p:cNvPr id="52263" name="Text Box 40"/>
              <p:cNvSpPr txBox="1">
                <a:spLocks noChangeArrowheads="1"/>
              </p:cNvSpPr>
              <p:nvPr/>
            </p:nvSpPr>
            <p:spPr bwMode="auto">
              <a:xfrm>
                <a:off x="3845" y="2659"/>
                <a:ext cx="1348" cy="288"/>
              </a:xfrm>
              <a:prstGeom prst="rect">
                <a:avLst/>
              </a:prstGeom>
              <a:noFill/>
              <a:ln w="9525">
                <a:noFill/>
                <a:miter lim="800000"/>
                <a:headEnd/>
                <a:tailEnd/>
              </a:ln>
              <a:effectLst/>
            </p:spPr>
            <p:txBody>
              <a:bodyPr wrap="none">
                <a:spAutoFit/>
              </a:bodyPr>
              <a:lstStyle/>
              <a:p>
                <a:r>
                  <a:rPr lang="en-US" altLang="zh-CN" sz="2000" b="1" i="1">
                    <a:solidFill>
                      <a:schemeClr val="bg1"/>
                    </a:solidFill>
                  </a:rPr>
                  <a:t>0</a:t>
                </a:r>
                <a:r>
                  <a:rPr lang="en-US" altLang="zh-CN" b="1" i="1">
                    <a:solidFill>
                      <a:schemeClr val="bg1"/>
                    </a:solidFill>
                  </a:rPr>
                  <a:t> </a:t>
                </a:r>
                <a:r>
                  <a:rPr lang="en-US" altLang="zh-CN" i="1">
                    <a:solidFill>
                      <a:schemeClr val="bg1"/>
                    </a:solidFill>
                  </a:rPr>
                  <a:t>                    </a:t>
                </a:r>
                <a:r>
                  <a:rPr lang="en-US" altLang="zh-CN" b="1" i="1">
                    <a:solidFill>
                      <a:schemeClr val="bg1"/>
                    </a:solidFill>
                  </a:rPr>
                  <a:t> a</a:t>
                </a:r>
              </a:p>
            </p:txBody>
          </p:sp>
        </p:grpSp>
      </p:grpSp>
      <p:grpSp>
        <p:nvGrpSpPr>
          <p:cNvPr id="135209" name="Group 41"/>
          <p:cNvGrpSpPr>
            <a:grpSpLocks/>
          </p:cNvGrpSpPr>
          <p:nvPr/>
        </p:nvGrpSpPr>
        <p:grpSpPr bwMode="auto">
          <a:xfrm>
            <a:off x="6426200" y="1052513"/>
            <a:ext cx="1800225" cy="2808287"/>
            <a:chOff x="3969" y="663"/>
            <a:chExt cx="1134" cy="1769"/>
          </a:xfrm>
        </p:grpSpPr>
        <p:sp>
          <p:nvSpPr>
            <p:cNvPr id="52255" name="Line 42"/>
            <p:cNvSpPr>
              <a:spLocks noChangeShapeType="1"/>
            </p:cNvSpPr>
            <p:nvPr/>
          </p:nvSpPr>
          <p:spPr bwMode="auto">
            <a:xfrm>
              <a:off x="3969" y="2432"/>
              <a:ext cx="1134" cy="0"/>
            </a:xfrm>
            <a:prstGeom prst="line">
              <a:avLst/>
            </a:prstGeom>
            <a:noFill/>
            <a:ln w="38100">
              <a:solidFill>
                <a:srgbClr val="00FF00"/>
              </a:solidFill>
              <a:round/>
              <a:headEnd/>
              <a:tailEnd/>
            </a:ln>
            <a:effectLst/>
          </p:spPr>
          <p:txBody>
            <a:bodyPr/>
            <a:lstStyle/>
            <a:p>
              <a:endParaRPr lang="zh-CN" altLang="en-US"/>
            </a:p>
          </p:txBody>
        </p:sp>
        <p:sp>
          <p:nvSpPr>
            <p:cNvPr id="52256" name="Line 43"/>
            <p:cNvSpPr>
              <a:spLocks noChangeShapeType="1"/>
            </p:cNvSpPr>
            <p:nvPr/>
          </p:nvSpPr>
          <p:spPr bwMode="auto">
            <a:xfrm>
              <a:off x="3969" y="1797"/>
              <a:ext cx="1134" cy="0"/>
            </a:xfrm>
            <a:prstGeom prst="line">
              <a:avLst/>
            </a:prstGeom>
            <a:noFill/>
            <a:ln w="38100">
              <a:solidFill>
                <a:srgbClr val="00FF00"/>
              </a:solidFill>
              <a:round/>
              <a:headEnd/>
              <a:tailEnd/>
            </a:ln>
            <a:effectLst/>
          </p:spPr>
          <p:txBody>
            <a:bodyPr/>
            <a:lstStyle/>
            <a:p>
              <a:endParaRPr lang="zh-CN" altLang="en-US"/>
            </a:p>
          </p:txBody>
        </p:sp>
        <p:sp>
          <p:nvSpPr>
            <p:cNvPr id="52257" name="Line 44"/>
            <p:cNvSpPr>
              <a:spLocks noChangeShapeType="1"/>
            </p:cNvSpPr>
            <p:nvPr/>
          </p:nvSpPr>
          <p:spPr bwMode="auto">
            <a:xfrm>
              <a:off x="3969" y="663"/>
              <a:ext cx="1134" cy="0"/>
            </a:xfrm>
            <a:prstGeom prst="line">
              <a:avLst/>
            </a:prstGeom>
            <a:noFill/>
            <a:ln w="38100">
              <a:solidFill>
                <a:srgbClr val="00FF00"/>
              </a:solidFill>
              <a:round/>
              <a:headEnd/>
              <a:tailEnd/>
            </a:ln>
            <a:effectLst/>
          </p:spPr>
          <p:txBody>
            <a:bodyPr/>
            <a:lstStyle/>
            <a:p>
              <a:endParaRPr lang="zh-CN" altLang="en-US"/>
            </a:p>
          </p:txBody>
        </p:sp>
      </p:grpSp>
      <p:sp useBgFill="1">
        <p:nvSpPr>
          <p:cNvPr id="135213" name="Text Box 45"/>
          <p:cNvSpPr txBox="1">
            <a:spLocks noChangeArrowheads="1"/>
          </p:cNvSpPr>
          <p:nvPr/>
        </p:nvSpPr>
        <p:spPr bwMode="auto">
          <a:xfrm>
            <a:off x="6659563" y="4437063"/>
            <a:ext cx="1206500" cy="396875"/>
          </a:xfrm>
          <a:prstGeom prst="rect">
            <a:avLst/>
          </a:prstGeom>
          <a:ln w="9525">
            <a:noFill/>
            <a:miter lim="800000"/>
            <a:headEnd/>
            <a:tailEnd/>
          </a:ln>
          <a:effectLst/>
        </p:spPr>
        <p:txBody>
          <a:bodyPr wrap="none">
            <a:spAutoFit/>
          </a:bodyPr>
          <a:lstStyle/>
          <a:p>
            <a:r>
              <a:rPr lang="zh-CN" altLang="en-US" sz="2000" b="1">
                <a:solidFill>
                  <a:schemeClr val="bg1"/>
                </a:solidFill>
                <a:ea typeface="楷体_GB2312" pitchFamily="49" charset="-122"/>
              </a:rPr>
              <a:t>概率分布</a:t>
            </a: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191"/>
                                        </p:tgtEl>
                                        <p:attrNameLst>
                                          <p:attrName>style.visibility</p:attrName>
                                        </p:attrNameLst>
                                      </p:cBhvr>
                                      <p:to>
                                        <p:strVal val="visible"/>
                                      </p:to>
                                    </p:set>
                                    <p:animEffect transition="in" filter="wipe(left)">
                                      <p:cBhvr>
                                        <p:cTn id="7" dur="500"/>
                                        <p:tgtEl>
                                          <p:spTgt spid="1351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5189"/>
                                        </p:tgtEl>
                                        <p:attrNameLst>
                                          <p:attrName>style.visibility</p:attrName>
                                        </p:attrNameLst>
                                      </p:cBhvr>
                                      <p:to>
                                        <p:strVal val="visible"/>
                                      </p:to>
                                    </p:set>
                                    <p:animEffect transition="in" filter="wipe(down)">
                                      <p:cBhvr>
                                        <p:cTn id="12" dur="500"/>
                                        <p:tgtEl>
                                          <p:spTgt spid="135189"/>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135190"/>
                                        </p:tgtEl>
                                        <p:attrNameLst>
                                          <p:attrName>style.visibility</p:attrName>
                                        </p:attrNameLst>
                                      </p:cBhvr>
                                      <p:to>
                                        <p:strVal val="visible"/>
                                      </p:to>
                                    </p:set>
                                    <p:animEffect transition="in" filter="wipe(left)">
                                      <p:cBhvr>
                                        <p:cTn id="16" dur="500"/>
                                        <p:tgtEl>
                                          <p:spTgt spid="13519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135202"/>
                                        </p:tgtEl>
                                        <p:attrNameLst>
                                          <p:attrName>style.visibility</p:attrName>
                                        </p:attrNameLst>
                                      </p:cBhvr>
                                      <p:to>
                                        <p:strVal val="visible"/>
                                      </p:to>
                                    </p:set>
                                    <p:animEffect transition="in" filter="wipe(down)">
                                      <p:cBhvr>
                                        <p:cTn id="21" dur="500"/>
                                        <p:tgtEl>
                                          <p:spTgt spid="13520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135209"/>
                                        </p:tgtEl>
                                        <p:attrNameLst>
                                          <p:attrName>style.visibility</p:attrName>
                                        </p:attrNameLst>
                                      </p:cBhvr>
                                      <p:to>
                                        <p:strVal val="visible"/>
                                      </p:to>
                                    </p:set>
                                    <p:animEffect transition="in" filter="wipe(down)">
                                      <p:cBhvr>
                                        <p:cTn id="26" dur="1000"/>
                                        <p:tgtEl>
                                          <p:spTgt spid="135209"/>
                                        </p:tgtEl>
                                      </p:cBhvr>
                                    </p:animEffect>
                                  </p:childTnLst>
                                </p:cTn>
                              </p:par>
                              <p:par>
                                <p:cTn id="27" presetID="22" presetClass="entr" presetSubtype="4" fill="hold" nodeType="withEffect">
                                  <p:stCondLst>
                                    <p:cond delay="0"/>
                                  </p:stCondLst>
                                  <p:childTnLst>
                                    <p:set>
                                      <p:cBhvr>
                                        <p:cTn id="28" dur="1" fill="hold">
                                          <p:stCondLst>
                                            <p:cond delay="0"/>
                                          </p:stCondLst>
                                        </p:cTn>
                                        <p:tgtEl>
                                          <p:spTgt spid="135183"/>
                                        </p:tgtEl>
                                        <p:attrNameLst>
                                          <p:attrName>style.visibility</p:attrName>
                                        </p:attrNameLst>
                                      </p:cBhvr>
                                      <p:to>
                                        <p:strVal val="visible"/>
                                      </p:to>
                                    </p:set>
                                    <p:animEffect transition="in" filter="wipe(down)">
                                      <p:cBhvr>
                                        <p:cTn id="29" dur="1000"/>
                                        <p:tgtEl>
                                          <p:spTgt spid="13518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35193"/>
                                        </p:tgtEl>
                                        <p:attrNameLst>
                                          <p:attrName>style.visibility</p:attrName>
                                        </p:attrNameLst>
                                      </p:cBhvr>
                                      <p:to>
                                        <p:strVal val="visible"/>
                                      </p:to>
                                    </p:set>
                                    <p:animEffect transition="in" filter="dissolve">
                                      <p:cBhvr>
                                        <p:cTn id="34" dur="500"/>
                                        <p:tgtEl>
                                          <p:spTgt spid="135193"/>
                                        </p:tgtEl>
                                      </p:cBhvr>
                                    </p:animEffect>
                                  </p:childTnLst>
                                </p:cTn>
                              </p:par>
                            </p:childTnLst>
                          </p:cTn>
                        </p:par>
                        <p:par>
                          <p:cTn id="35" fill="hold" nodeType="afterGroup">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135192"/>
                                        </p:tgtEl>
                                        <p:attrNameLst>
                                          <p:attrName>style.visibility</p:attrName>
                                        </p:attrNameLst>
                                      </p:cBhvr>
                                      <p:to>
                                        <p:strVal val="visible"/>
                                      </p:to>
                                    </p:set>
                                    <p:animEffect transition="in" filter="wipe(left)">
                                      <p:cBhvr>
                                        <p:cTn id="38" dur="500"/>
                                        <p:tgtEl>
                                          <p:spTgt spid="13519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35174"/>
                                        </p:tgtEl>
                                        <p:attrNameLst>
                                          <p:attrName>style.visibility</p:attrName>
                                        </p:attrNameLst>
                                      </p:cBhvr>
                                      <p:to>
                                        <p:strVal val="visible"/>
                                      </p:to>
                                    </p:set>
                                    <p:animEffect transition="in" filter="wipe(left)">
                                      <p:cBhvr>
                                        <p:cTn id="43" dur="500"/>
                                        <p:tgtEl>
                                          <p:spTgt spid="135174"/>
                                        </p:tgtEl>
                                      </p:cBhvr>
                                    </p:animEffec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135175"/>
                                        </p:tgtEl>
                                        <p:attrNameLst>
                                          <p:attrName>style.visibility</p:attrName>
                                        </p:attrNameLst>
                                      </p:cBhvr>
                                      <p:to>
                                        <p:strVal val="visible"/>
                                      </p:to>
                                    </p:set>
                                    <p:animEffect transition="in" filter="wipe(left)">
                                      <p:cBhvr>
                                        <p:cTn id="47" dur="500"/>
                                        <p:tgtEl>
                                          <p:spTgt spid="13517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135176"/>
                                        </p:tgtEl>
                                        <p:attrNameLst>
                                          <p:attrName>style.visibility</p:attrName>
                                        </p:attrNameLst>
                                      </p:cBhvr>
                                      <p:to>
                                        <p:strVal val="visible"/>
                                      </p:to>
                                    </p:set>
                                  </p:childTnLst>
                                </p:cTn>
                              </p:par>
                            </p:childTnLst>
                          </p:cTn>
                        </p:par>
                        <p:par>
                          <p:cTn id="52" fill="hold" nodeType="afterGroup">
                            <p:stCondLst>
                              <p:cond delay="500"/>
                            </p:stCondLst>
                            <p:childTnLst>
                              <p:par>
                                <p:cTn id="53" presetID="22" presetClass="entr" presetSubtype="8" fill="hold" nodeType="afterEffect">
                                  <p:stCondLst>
                                    <p:cond delay="0"/>
                                  </p:stCondLst>
                                  <p:childTnLst>
                                    <p:set>
                                      <p:cBhvr>
                                        <p:cTn id="54" dur="1" fill="hold">
                                          <p:stCondLst>
                                            <p:cond delay="0"/>
                                          </p:stCondLst>
                                        </p:cTn>
                                        <p:tgtEl>
                                          <p:spTgt spid="135177"/>
                                        </p:tgtEl>
                                        <p:attrNameLst>
                                          <p:attrName>style.visibility</p:attrName>
                                        </p:attrNameLst>
                                      </p:cBhvr>
                                      <p:to>
                                        <p:strVal val="visible"/>
                                      </p:to>
                                    </p:set>
                                    <p:animEffect transition="in" filter="wipe(left)">
                                      <p:cBhvr>
                                        <p:cTn id="55" dur="500"/>
                                        <p:tgtEl>
                                          <p:spTgt spid="135177"/>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135182"/>
                                        </p:tgtEl>
                                        <p:attrNameLst>
                                          <p:attrName>style.visibility</p:attrName>
                                        </p:attrNameLst>
                                      </p:cBhvr>
                                      <p:to>
                                        <p:strVal val="visible"/>
                                      </p:to>
                                    </p:set>
                                  </p:childTnLst>
                                </p:cTn>
                              </p:par>
                            </p:childTnLst>
                          </p:cTn>
                        </p:par>
                        <p:par>
                          <p:cTn id="60" fill="hold" nodeType="afterGroup">
                            <p:stCondLst>
                              <p:cond delay="500"/>
                            </p:stCondLst>
                            <p:childTnLst>
                              <p:par>
                                <p:cTn id="61" presetID="22" presetClass="entr" presetSubtype="8" fill="hold" nodeType="afterEffect">
                                  <p:stCondLst>
                                    <p:cond delay="0"/>
                                  </p:stCondLst>
                                  <p:childTnLst>
                                    <p:set>
                                      <p:cBhvr>
                                        <p:cTn id="62" dur="1" fill="hold">
                                          <p:stCondLst>
                                            <p:cond delay="0"/>
                                          </p:stCondLst>
                                        </p:cTn>
                                        <p:tgtEl>
                                          <p:spTgt spid="135178"/>
                                        </p:tgtEl>
                                        <p:attrNameLst>
                                          <p:attrName>style.visibility</p:attrName>
                                        </p:attrNameLst>
                                      </p:cBhvr>
                                      <p:to>
                                        <p:strVal val="visible"/>
                                      </p:to>
                                    </p:set>
                                    <p:animEffect transition="in" filter="wipe(left)">
                                      <p:cBhvr>
                                        <p:cTn id="63" dur="500"/>
                                        <p:tgtEl>
                                          <p:spTgt spid="13517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35181"/>
                                        </p:tgtEl>
                                        <p:attrNameLst>
                                          <p:attrName>style.visibility</p:attrName>
                                        </p:attrNameLst>
                                      </p:cBhvr>
                                      <p:to>
                                        <p:strVal val="visible"/>
                                      </p:to>
                                    </p:set>
                                    <p:animEffect transition="in" filter="wipe(left)">
                                      <p:cBhvr>
                                        <p:cTn id="68" dur="500"/>
                                        <p:tgtEl>
                                          <p:spTgt spid="135181"/>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135194"/>
                                        </p:tgtEl>
                                        <p:attrNameLst>
                                          <p:attrName>style.visibility</p:attrName>
                                        </p:attrNameLst>
                                      </p:cBhvr>
                                      <p:to>
                                        <p:strVal val="visible"/>
                                      </p:to>
                                    </p:set>
                                    <p:animEffect transition="in" filter="dissolve">
                                      <p:cBhvr>
                                        <p:cTn id="71" dur="500"/>
                                        <p:tgtEl>
                                          <p:spTgt spid="135194"/>
                                        </p:tgtEl>
                                      </p:cBhvr>
                                    </p:animEffect>
                                  </p:childTnLst>
                                </p:cTn>
                              </p:par>
                            </p:childTnLst>
                          </p:cTn>
                        </p:par>
                        <p:par>
                          <p:cTn id="72" fill="hold" nodeType="afterGroup">
                            <p:stCondLst>
                              <p:cond delay="500"/>
                            </p:stCondLst>
                            <p:childTnLst>
                              <p:par>
                                <p:cTn id="73" presetID="9" presetClass="entr" presetSubtype="0" fill="hold" nodeType="afterEffect">
                                  <p:stCondLst>
                                    <p:cond delay="0"/>
                                  </p:stCondLst>
                                  <p:childTnLst>
                                    <p:set>
                                      <p:cBhvr>
                                        <p:cTn id="74" dur="1" fill="hold">
                                          <p:stCondLst>
                                            <p:cond delay="0"/>
                                          </p:stCondLst>
                                        </p:cTn>
                                        <p:tgtEl>
                                          <p:spTgt spid="135180"/>
                                        </p:tgtEl>
                                        <p:attrNameLst>
                                          <p:attrName>style.visibility</p:attrName>
                                        </p:attrNameLst>
                                      </p:cBhvr>
                                      <p:to>
                                        <p:strVal val="visible"/>
                                      </p:to>
                                    </p:set>
                                    <p:animEffect transition="in" filter="dissolve">
                                      <p:cBhvr>
                                        <p:cTn id="75" dur="500"/>
                                        <p:tgtEl>
                                          <p:spTgt spid="135180"/>
                                        </p:tgtEl>
                                      </p:cBhvr>
                                    </p:animEffect>
                                  </p:childTnLst>
                                </p:cTn>
                              </p:par>
                            </p:childTnLst>
                          </p:cTn>
                        </p:par>
                        <p:par>
                          <p:cTn id="76" fill="hold" nodeType="afterGroup">
                            <p:stCondLst>
                              <p:cond delay="1000"/>
                            </p:stCondLst>
                            <p:childTnLst>
                              <p:par>
                                <p:cTn id="77" presetID="1" presetClass="entr" presetSubtype="0" fill="hold" grpId="0" nodeType="afterEffect">
                                  <p:stCondLst>
                                    <p:cond delay="0"/>
                                  </p:stCondLst>
                                  <p:childTnLst>
                                    <p:set>
                                      <p:cBhvr>
                                        <p:cTn id="78" dur="1" fill="hold">
                                          <p:stCondLst>
                                            <p:cond delay="499"/>
                                          </p:stCondLst>
                                        </p:cTn>
                                        <p:tgtEl>
                                          <p:spTgt spid="135179"/>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35196"/>
                                        </p:tgtEl>
                                        <p:attrNameLst>
                                          <p:attrName>style.visibility</p:attrName>
                                        </p:attrNameLst>
                                      </p:cBhvr>
                                      <p:to>
                                        <p:strVal val="visible"/>
                                      </p:to>
                                    </p:set>
                                    <p:animEffect transition="in" filter="wipe(left)">
                                      <p:cBhvr>
                                        <p:cTn id="83" dur="1000"/>
                                        <p:tgtEl>
                                          <p:spTgt spid="135196"/>
                                        </p:tgtEl>
                                      </p:cBhvr>
                                    </p:animEffect>
                                  </p:childTnLst>
                                </p:cTn>
                              </p:par>
                            </p:childTnLst>
                          </p:cTn>
                        </p:par>
                        <p:par>
                          <p:cTn id="84" fill="hold" nodeType="afterGroup">
                            <p:stCondLst>
                              <p:cond delay="1000"/>
                            </p:stCondLst>
                            <p:childTnLst>
                              <p:par>
                                <p:cTn id="85" presetID="22" presetClass="entr" presetSubtype="8" fill="hold" grpId="0" nodeType="afterEffect">
                                  <p:stCondLst>
                                    <p:cond delay="0"/>
                                  </p:stCondLst>
                                  <p:childTnLst>
                                    <p:set>
                                      <p:cBhvr>
                                        <p:cTn id="86" dur="1" fill="hold">
                                          <p:stCondLst>
                                            <p:cond delay="0"/>
                                          </p:stCondLst>
                                        </p:cTn>
                                        <p:tgtEl>
                                          <p:spTgt spid="135197"/>
                                        </p:tgtEl>
                                        <p:attrNameLst>
                                          <p:attrName>style.visibility</p:attrName>
                                        </p:attrNameLst>
                                      </p:cBhvr>
                                      <p:to>
                                        <p:strVal val="visible"/>
                                      </p:to>
                                    </p:set>
                                    <p:animEffect transition="in" filter="wipe(left)">
                                      <p:cBhvr>
                                        <p:cTn id="87" dur="1000"/>
                                        <p:tgtEl>
                                          <p:spTgt spid="135197"/>
                                        </p:tgtEl>
                                      </p:cBhvr>
                                    </p:animEffect>
                                  </p:childTnLst>
                                </p:cTn>
                              </p:par>
                            </p:childTnLst>
                          </p:cTn>
                        </p:par>
                        <p:par>
                          <p:cTn id="88" fill="hold" nodeType="afterGroup">
                            <p:stCondLst>
                              <p:cond delay="2000"/>
                            </p:stCondLst>
                            <p:childTnLst>
                              <p:par>
                                <p:cTn id="89" presetID="22" presetClass="entr" presetSubtype="8" fill="hold" grpId="0" nodeType="afterEffect">
                                  <p:stCondLst>
                                    <p:cond delay="0"/>
                                  </p:stCondLst>
                                  <p:childTnLst>
                                    <p:set>
                                      <p:cBhvr>
                                        <p:cTn id="90" dur="1" fill="hold">
                                          <p:stCondLst>
                                            <p:cond delay="0"/>
                                          </p:stCondLst>
                                        </p:cTn>
                                        <p:tgtEl>
                                          <p:spTgt spid="135198"/>
                                        </p:tgtEl>
                                        <p:attrNameLst>
                                          <p:attrName>style.visibility</p:attrName>
                                        </p:attrNameLst>
                                      </p:cBhvr>
                                      <p:to>
                                        <p:strVal val="visible"/>
                                      </p:to>
                                    </p:set>
                                    <p:animEffect transition="in" filter="wipe(left)">
                                      <p:cBhvr>
                                        <p:cTn id="91" dur="1000"/>
                                        <p:tgtEl>
                                          <p:spTgt spid="135198"/>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35199"/>
                                        </p:tgtEl>
                                        <p:attrNameLst>
                                          <p:attrName>style.visibility</p:attrName>
                                        </p:attrNameLst>
                                      </p:cBhvr>
                                      <p:to>
                                        <p:strVal val="visible"/>
                                      </p:to>
                                    </p:set>
                                    <p:animEffect transition="in" filter="wipe(left)">
                                      <p:cBhvr>
                                        <p:cTn id="96" dur="1000"/>
                                        <p:tgtEl>
                                          <p:spTgt spid="135199"/>
                                        </p:tgtEl>
                                      </p:cBhvr>
                                    </p:animEffect>
                                  </p:childTnLst>
                                </p:cTn>
                              </p:par>
                            </p:childTnLst>
                          </p:cTn>
                        </p:par>
                        <p:par>
                          <p:cTn id="97" fill="hold" nodeType="afterGroup">
                            <p:stCondLst>
                              <p:cond delay="1000"/>
                            </p:stCondLst>
                            <p:childTnLst>
                              <p:par>
                                <p:cTn id="98" presetID="22" presetClass="entr" presetSubtype="8" fill="hold" grpId="0" nodeType="afterEffect">
                                  <p:stCondLst>
                                    <p:cond delay="0"/>
                                  </p:stCondLst>
                                  <p:childTnLst>
                                    <p:set>
                                      <p:cBhvr>
                                        <p:cTn id="99" dur="1" fill="hold">
                                          <p:stCondLst>
                                            <p:cond delay="0"/>
                                          </p:stCondLst>
                                        </p:cTn>
                                        <p:tgtEl>
                                          <p:spTgt spid="135200"/>
                                        </p:tgtEl>
                                        <p:attrNameLst>
                                          <p:attrName>style.visibility</p:attrName>
                                        </p:attrNameLst>
                                      </p:cBhvr>
                                      <p:to>
                                        <p:strVal val="visible"/>
                                      </p:to>
                                    </p:set>
                                    <p:animEffect transition="in" filter="wipe(left)">
                                      <p:cBhvr>
                                        <p:cTn id="100" dur="1000"/>
                                        <p:tgtEl>
                                          <p:spTgt spid="135200"/>
                                        </p:tgtEl>
                                      </p:cBhvr>
                                    </p:animEffect>
                                  </p:childTnLst>
                                </p:cTn>
                              </p:par>
                            </p:childTnLst>
                          </p:cTn>
                        </p:par>
                        <p:par>
                          <p:cTn id="101" fill="hold" nodeType="afterGroup">
                            <p:stCondLst>
                              <p:cond delay="2000"/>
                            </p:stCondLst>
                            <p:childTnLst>
                              <p:par>
                                <p:cTn id="102" presetID="22" presetClass="entr" presetSubtype="8" fill="hold" grpId="0" nodeType="afterEffect">
                                  <p:stCondLst>
                                    <p:cond delay="0"/>
                                  </p:stCondLst>
                                  <p:childTnLst>
                                    <p:set>
                                      <p:cBhvr>
                                        <p:cTn id="103" dur="1" fill="hold">
                                          <p:stCondLst>
                                            <p:cond delay="0"/>
                                          </p:stCondLst>
                                        </p:cTn>
                                        <p:tgtEl>
                                          <p:spTgt spid="135201"/>
                                        </p:tgtEl>
                                        <p:attrNameLst>
                                          <p:attrName>style.visibility</p:attrName>
                                        </p:attrNameLst>
                                      </p:cBhvr>
                                      <p:to>
                                        <p:strVal val="visible"/>
                                      </p:to>
                                    </p:set>
                                    <p:animEffect transition="in" filter="wipe(left)">
                                      <p:cBhvr>
                                        <p:cTn id="104" dur="1000"/>
                                        <p:tgtEl>
                                          <p:spTgt spid="135201"/>
                                        </p:tgtEl>
                                      </p:cBhvr>
                                    </p:animEffect>
                                  </p:childTnLst>
                                </p:cTn>
                              </p:par>
                            </p:childTnLst>
                          </p:cTn>
                        </p:par>
                        <p:par>
                          <p:cTn id="105" fill="hold" nodeType="afterGroup">
                            <p:stCondLst>
                              <p:cond delay="3000"/>
                            </p:stCondLst>
                            <p:childTnLst>
                              <p:par>
                                <p:cTn id="106" presetID="1" presetClass="entr" presetSubtype="0" fill="hold" grpId="0" nodeType="afterEffect">
                                  <p:stCondLst>
                                    <p:cond delay="0"/>
                                  </p:stCondLst>
                                  <p:childTnLst>
                                    <p:set>
                                      <p:cBhvr>
                                        <p:cTn id="107" dur="1" fill="hold">
                                          <p:stCondLst>
                                            <p:cond delay="499"/>
                                          </p:stCondLst>
                                        </p:cTn>
                                        <p:tgtEl>
                                          <p:spTgt spid="135187"/>
                                        </p:tgtEl>
                                        <p:attrNameLst>
                                          <p:attrName>style.visibility</p:attrName>
                                        </p:attrNameLst>
                                      </p:cBhvr>
                                      <p:to>
                                        <p:strVal val="visible"/>
                                      </p:to>
                                    </p:set>
                                  </p:childTnLst>
                                  <p:subTnLst>
                                    <p:set>
                                      <p:cBhvr override="childStyle">
                                        <p:cTn dur="1" fill="hold" display="0" masterRel="nextClick" afterEffect="1"/>
                                        <p:tgtEl>
                                          <p:spTgt spid="135187"/>
                                        </p:tgtEl>
                                        <p:attrNameLst>
                                          <p:attrName>style.visibility</p:attrName>
                                        </p:attrNameLst>
                                      </p:cBhvr>
                                      <p:to>
                                        <p:strVal val="hidden"/>
                                      </p:to>
                                    </p:set>
                                  </p:sub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xit" presetSubtype="4" fill="hold" grpId="1" nodeType="clickEffect">
                                  <p:stCondLst>
                                    <p:cond delay="0"/>
                                  </p:stCondLst>
                                  <p:childTnLst>
                                    <p:animEffect transition="out" filter="wipe(down)">
                                      <p:cBhvr>
                                        <p:cTn id="111" dur="500"/>
                                        <p:tgtEl>
                                          <p:spTgt spid="135196"/>
                                        </p:tgtEl>
                                      </p:cBhvr>
                                    </p:animEffect>
                                    <p:set>
                                      <p:cBhvr>
                                        <p:cTn id="112" dur="1" fill="hold">
                                          <p:stCondLst>
                                            <p:cond delay="499"/>
                                          </p:stCondLst>
                                        </p:cTn>
                                        <p:tgtEl>
                                          <p:spTgt spid="135196"/>
                                        </p:tgtEl>
                                        <p:attrNameLst>
                                          <p:attrName>style.visibility</p:attrName>
                                        </p:attrNameLst>
                                      </p:cBhvr>
                                      <p:to>
                                        <p:strVal val="hidden"/>
                                      </p:to>
                                    </p:set>
                                  </p:childTnLst>
                                </p:cTn>
                              </p:par>
                              <p:par>
                                <p:cTn id="113" presetID="22" presetClass="exit" presetSubtype="4" fill="hold" grpId="1" nodeType="withEffect">
                                  <p:stCondLst>
                                    <p:cond delay="0"/>
                                  </p:stCondLst>
                                  <p:childTnLst>
                                    <p:animEffect transition="out" filter="wipe(down)">
                                      <p:cBhvr>
                                        <p:cTn id="114" dur="500"/>
                                        <p:tgtEl>
                                          <p:spTgt spid="135199"/>
                                        </p:tgtEl>
                                      </p:cBhvr>
                                    </p:animEffect>
                                    <p:set>
                                      <p:cBhvr>
                                        <p:cTn id="115" dur="1" fill="hold">
                                          <p:stCondLst>
                                            <p:cond delay="499"/>
                                          </p:stCondLst>
                                        </p:cTn>
                                        <p:tgtEl>
                                          <p:spTgt spid="135199"/>
                                        </p:tgtEl>
                                        <p:attrNameLst>
                                          <p:attrName>style.visibility</p:attrName>
                                        </p:attrNameLst>
                                      </p:cBhvr>
                                      <p:to>
                                        <p:strVal val="hidden"/>
                                      </p:to>
                                    </p:set>
                                  </p:childTnLst>
                                </p:cTn>
                              </p:par>
                              <p:par>
                                <p:cTn id="116" presetID="22" presetClass="exit" presetSubtype="4" fill="hold" grpId="1" nodeType="withEffect">
                                  <p:stCondLst>
                                    <p:cond delay="0"/>
                                  </p:stCondLst>
                                  <p:childTnLst>
                                    <p:animEffect transition="out" filter="wipe(down)">
                                      <p:cBhvr>
                                        <p:cTn id="117" dur="500"/>
                                        <p:tgtEl>
                                          <p:spTgt spid="135200"/>
                                        </p:tgtEl>
                                      </p:cBhvr>
                                    </p:animEffect>
                                    <p:set>
                                      <p:cBhvr>
                                        <p:cTn id="118" dur="1" fill="hold">
                                          <p:stCondLst>
                                            <p:cond delay="499"/>
                                          </p:stCondLst>
                                        </p:cTn>
                                        <p:tgtEl>
                                          <p:spTgt spid="135200"/>
                                        </p:tgtEl>
                                        <p:attrNameLst>
                                          <p:attrName>style.visibility</p:attrName>
                                        </p:attrNameLst>
                                      </p:cBhvr>
                                      <p:to>
                                        <p:strVal val="hidden"/>
                                      </p:to>
                                    </p:set>
                                  </p:childTnLst>
                                </p:cTn>
                              </p:par>
                              <p:par>
                                <p:cTn id="119" presetID="22" presetClass="exit" presetSubtype="4" fill="hold" grpId="1" nodeType="withEffect">
                                  <p:stCondLst>
                                    <p:cond delay="0"/>
                                  </p:stCondLst>
                                  <p:childTnLst>
                                    <p:animEffect transition="out" filter="wipe(down)">
                                      <p:cBhvr>
                                        <p:cTn id="120" dur="500"/>
                                        <p:tgtEl>
                                          <p:spTgt spid="135197"/>
                                        </p:tgtEl>
                                      </p:cBhvr>
                                    </p:animEffect>
                                    <p:set>
                                      <p:cBhvr>
                                        <p:cTn id="121" dur="1" fill="hold">
                                          <p:stCondLst>
                                            <p:cond delay="499"/>
                                          </p:stCondLst>
                                        </p:cTn>
                                        <p:tgtEl>
                                          <p:spTgt spid="135197"/>
                                        </p:tgtEl>
                                        <p:attrNameLst>
                                          <p:attrName>style.visibility</p:attrName>
                                        </p:attrNameLst>
                                      </p:cBhvr>
                                      <p:to>
                                        <p:strVal val="hidden"/>
                                      </p:to>
                                    </p:set>
                                  </p:childTnLst>
                                </p:cTn>
                              </p:par>
                              <p:par>
                                <p:cTn id="122" presetID="22" presetClass="exit" presetSubtype="4" fill="hold" grpId="1" nodeType="withEffect">
                                  <p:stCondLst>
                                    <p:cond delay="0"/>
                                  </p:stCondLst>
                                  <p:childTnLst>
                                    <p:animEffect transition="out" filter="wipe(down)">
                                      <p:cBhvr>
                                        <p:cTn id="123" dur="500"/>
                                        <p:tgtEl>
                                          <p:spTgt spid="135201"/>
                                        </p:tgtEl>
                                      </p:cBhvr>
                                    </p:animEffect>
                                    <p:set>
                                      <p:cBhvr>
                                        <p:cTn id="124" dur="1" fill="hold">
                                          <p:stCondLst>
                                            <p:cond delay="499"/>
                                          </p:stCondLst>
                                        </p:cTn>
                                        <p:tgtEl>
                                          <p:spTgt spid="135201"/>
                                        </p:tgtEl>
                                        <p:attrNameLst>
                                          <p:attrName>style.visibility</p:attrName>
                                        </p:attrNameLst>
                                      </p:cBhvr>
                                      <p:to>
                                        <p:strVal val="hidden"/>
                                      </p:to>
                                    </p:set>
                                  </p:childTnLst>
                                </p:cTn>
                              </p:par>
                              <p:par>
                                <p:cTn id="125" presetID="22" presetClass="exit" presetSubtype="4" fill="hold" grpId="1" nodeType="withEffect">
                                  <p:stCondLst>
                                    <p:cond delay="0"/>
                                  </p:stCondLst>
                                  <p:childTnLst>
                                    <p:animEffect transition="out" filter="wipe(down)">
                                      <p:cBhvr>
                                        <p:cTn id="126" dur="500"/>
                                        <p:tgtEl>
                                          <p:spTgt spid="135198"/>
                                        </p:tgtEl>
                                      </p:cBhvr>
                                    </p:animEffect>
                                    <p:set>
                                      <p:cBhvr>
                                        <p:cTn id="127" dur="1" fill="hold">
                                          <p:stCondLst>
                                            <p:cond delay="499"/>
                                          </p:stCondLst>
                                        </p:cTn>
                                        <p:tgtEl>
                                          <p:spTgt spid="135198"/>
                                        </p:tgtEl>
                                        <p:attrNameLst>
                                          <p:attrName>style.visibility</p:attrName>
                                        </p:attrNameLst>
                                      </p:cBhvr>
                                      <p:to>
                                        <p:strVal val="hidden"/>
                                      </p:to>
                                    </p:set>
                                  </p:childTnLst>
                                </p:cTn>
                              </p:par>
                              <p:par>
                                <p:cTn id="128" presetID="22" presetClass="entr" presetSubtype="4" fill="hold" nodeType="withEffect">
                                  <p:stCondLst>
                                    <p:cond delay="0"/>
                                  </p:stCondLst>
                                  <p:childTnLst>
                                    <p:set>
                                      <p:cBhvr>
                                        <p:cTn id="129" dur="1" fill="hold">
                                          <p:stCondLst>
                                            <p:cond delay="0"/>
                                          </p:stCondLst>
                                        </p:cTn>
                                        <p:tgtEl>
                                          <p:spTgt spid="135170"/>
                                        </p:tgtEl>
                                        <p:attrNameLst>
                                          <p:attrName>style.visibility</p:attrName>
                                        </p:attrNameLst>
                                      </p:cBhvr>
                                      <p:to>
                                        <p:strVal val="visible"/>
                                      </p:to>
                                    </p:set>
                                    <p:animEffect transition="in" filter="wipe(down)">
                                      <p:cBhvr>
                                        <p:cTn id="130" dur="500"/>
                                        <p:tgtEl>
                                          <p:spTgt spid="135170"/>
                                        </p:tgtEl>
                                      </p:cBhvr>
                                    </p:animEffect>
                                  </p:childTnLst>
                                </p:cTn>
                              </p:par>
                            </p:childTnLst>
                          </p:cTn>
                        </p:par>
                        <p:par>
                          <p:cTn id="131" fill="hold" nodeType="afterGroup">
                            <p:stCondLst>
                              <p:cond delay="500"/>
                            </p:stCondLst>
                            <p:childTnLst>
                              <p:par>
                                <p:cTn id="132" presetID="1" presetClass="entr" presetSubtype="0" fill="hold" grpId="0" nodeType="afterEffect">
                                  <p:stCondLst>
                                    <p:cond delay="0"/>
                                  </p:stCondLst>
                                  <p:childTnLst>
                                    <p:set>
                                      <p:cBhvr>
                                        <p:cTn id="133" dur="1" fill="hold">
                                          <p:stCondLst>
                                            <p:cond delay="499"/>
                                          </p:stCondLst>
                                        </p:cTn>
                                        <p:tgtEl>
                                          <p:spTgt spid="135213"/>
                                        </p:tgtEl>
                                        <p:attrNameLst>
                                          <p:attrName>style.visibility</p:attrName>
                                        </p:attrNameLst>
                                      </p:cBhvr>
                                      <p:to>
                                        <p:strVal val="visible"/>
                                      </p:to>
                                    </p:set>
                                  </p:childTnLst>
                                </p:cTn>
                              </p:par>
                              <p:par>
                                <p:cTn id="134" presetID="1" presetClass="exit" presetSubtype="0" fill="hold" grpId="0" nodeType="withEffect">
                                  <p:stCondLst>
                                    <p:cond delay="0"/>
                                  </p:stCondLst>
                                  <p:childTnLst>
                                    <p:set>
                                      <p:cBhvr>
                                        <p:cTn id="135" dur="1" fill="hold">
                                          <p:stCondLst>
                                            <p:cond delay="0"/>
                                          </p:stCondLst>
                                        </p:cTn>
                                        <p:tgtEl>
                                          <p:spTgt spid="1351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4" grpId="0" autoUpdateAnimBg="0"/>
      <p:bldP spid="135176" grpId="0" autoUpdateAnimBg="0"/>
      <p:bldP spid="135179" grpId="0" animBg="1"/>
      <p:bldP spid="135181" grpId="0" autoUpdateAnimBg="0"/>
      <p:bldP spid="135182" grpId="0" autoUpdateAnimBg="0"/>
      <p:bldP spid="135187" grpId="0" autoUpdateAnimBg="0"/>
      <p:bldP spid="135189" grpId="0" animBg="1"/>
      <p:bldP spid="135191" grpId="0"/>
      <p:bldP spid="135192" grpId="0" autoUpdateAnimBg="0"/>
      <p:bldP spid="135193" grpId="0" animBg="1"/>
      <p:bldP spid="135194" grpId="0" animBg="1"/>
      <p:bldP spid="135195" grpId="0" animBg="1"/>
      <p:bldP spid="135196" grpId="0" animBg="1"/>
      <p:bldP spid="135196" grpId="1" animBg="1"/>
      <p:bldP spid="135197" grpId="0" animBg="1"/>
      <p:bldP spid="135197" grpId="1" animBg="1"/>
      <p:bldP spid="135198" grpId="0" animBg="1"/>
      <p:bldP spid="135198" grpId="1" animBg="1"/>
      <p:bldP spid="135199" grpId="0" animBg="1"/>
      <p:bldP spid="135199" grpId="1" animBg="1"/>
      <p:bldP spid="135200" grpId="0" animBg="1"/>
      <p:bldP spid="135200" grpId="1" animBg="1"/>
      <p:bldP spid="135201" grpId="0" animBg="1"/>
      <p:bldP spid="135201" grpId="1" animBg="1"/>
      <p:bldP spid="135213" grpId="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ext Box 2"/>
          <p:cNvSpPr txBox="1">
            <a:spLocks noChangeArrowheads="1"/>
          </p:cNvSpPr>
          <p:nvPr/>
        </p:nvSpPr>
        <p:spPr bwMode="auto">
          <a:xfrm>
            <a:off x="476250" y="1989138"/>
            <a:ext cx="7539038" cy="457200"/>
          </a:xfrm>
          <a:prstGeom prst="rect">
            <a:avLst/>
          </a:prstGeom>
          <a:noFill/>
          <a:ln w="9525">
            <a:noFill/>
            <a:miter lim="800000"/>
            <a:headEnd/>
            <a:tailEnd/>
          </a:ln>
          <a:effectLst/>
        </p:spPr>
        <p:txBody>
          <a:bodyPr wrap="none">
            <a:spAutoFit/>
          </a:bodyPr>
          <a:lstStyle/>
          <a:p>
            <a:r>
              <a:rPr lang="en-US" altLang="zh-CN" b="1">
                <a:solidFill>
                  <a:srgbClr val="0000FF"/>
                </a:solidFill>
                <a:latin typeface="宋体" charset="-122"/>
              </a:rPr>
              <a:t>1.</a:t>
            </a:r>
            <a:r>
              <a:rPr lang="zh-CN" altLang="en-US" b="1">
                <a:solidFill>
                  <a:srgbClr val="0000FF"/>
                </a:solidFill>
                <a:latin typeface="宋体" charset="-122"/>
              </a:rPr>
              <a:t>处在势阱中的微观粒子，其德布罗意波只能是驻波。</a:t>
            </a:r>
          </a:p>
        </p:txBody>
      </p:sp>
      <p:sp>
        <p:nvSpPr>
          <p:cNvPr id="201731" name="Text Box 3"/>
          <p:cNvSpPr txBox="1">
            <a:spLocks noChangeArrowheads="1"/>
          </p:cNvSpPr>
          <p:nvPr/>
        </p:nvSpPr>
        <p:spPr bwMode="auto">
          <a:xfrm>
            <a:off x="341313" y="2528888"/>
            <a:ext cx="8416925" cy="1406525"/>
          </a:xfrm>
          <a:prstGeom prst="rect">
            <a:avLst/>
          </a:prstGeom>
          <a:noFill/>
          <a:ln w="9525">
            <a:noFill/>
            <a:miter lim="800000"/>
            <a:headEnd/>
            <a:tailEnd/>
          </a:ln>
          <a:effectLst/>
        </p:spPr>
        <p:txBody>
          <a:bodyPr>
            <a:spAutoFit/>
          </a:bodyPr>
          <a:lstStyle/>
          <a:p>
            <a:pPr>
              <a:lnSpc>
                <a:spcPct val="120000"/>
              </a:lnSpc>
            </a:pPr>
            <a:r>
              <a:rPr lang="en-US" altLang="zh-CN">
                <a:solidFill>
                  <a:schemeClr val="bg2"/>
                </a:solidFill>
                <a:latin typeface="宋体" charset="-122"/>
              </a:rPr>
              <a:t>   </a:t>
            </a:r>
            <a:r>
              <a:rPr lang="zh-CN" altLang="en-US">
                <a:solidFill>
                  <a:schemeClr val="bg2"/>
                </a:solidFill>
                <a:latin typeface="宋体" charset="-122"/>
              </a:rPr>
              <a:t>　</a:t>
            </a:r>
            <a:r>
              <a:rPr lang="zh-CN" altLang="en-US" b="1">
                <a:solidFill>
                  <a:schemeClr val="bg2"/>
                </a:solidFill>
                <a:latin typeface="宋体" charset="-122"/>
              </a:rPr>
              <a:t>因为在阱壁处（即</a:t>
            </a:r>
            <a:r>
              <a:rPr lang="en-US" altLang="zh-CN" b="1" i="1">
                <a:solidFill>
                  <a:schemeClr val="bg2"/>
                </a:solidFill>
              </a:rPr>
              <a:t>x </a:t>
            </a:r>
            <a:r>
              <a:rPr lang="en-US" altLang="zh-CN" b="1">
                <a:solidFill>
                  <a:schemeClr val="bg2"/>
                </a:solidFill>
                <a:latin typeface="宋体" charset="-122"/>
              </a:rPr>
              <a:t>=0,</a:t>
            </a:r>
            <a:r>
              <a:rPr lang="en-US" altLang="zh-CN" b="1" i="1">
                <a:solidFill>
                  <a:schemeClr val="bg2"/>
                </a:solidFill>
              </a:rPr>
              <a:t>x</a:t>
            </a:r>
            <a:r>
              <a:rPr lang="en-US" altLang="zh-CN" b="1">
                <a:solidFill>
                  <a:schemeClr val="bg2"/>
                </a:solidFill>
                <a:latin typeface="宋体" charset="-122"/>
              </a:rPr>
              <a:t>=</a:t>
            </a:r>
            <a:r>
              <a:rPr lang="en-US" altLang="zh-CN" b="1" i="1">
                <a:solidFill>
                  <a:schemeClr val="bg2"/>
                </a:solidFill>
              </a:rPr>
              <a:t>a</a:t>
            </a:r>
            <a:r>
              <a:rPr lang="zh-CN" altLang="en-US" b="1">
                <a:solidFill>
                  <a:schemeClr val="bg2"/>
                </a:solidFill>
                <a:latin typeface="宋体" charset="-122"/>
              </a:rPr>
              <a:t>处）</a:t>
            </a:r>
            <a:r>
              <a:rPr lang="en-US" altLang="zh-CN" b="1" i="1">
                <a:solidFill>
                  <a:schemeClr val="bg2"/>
                </a:solidFill>
              </a:rPr>
              <a:t>Ψ</a:t>
            </a:r>
            <a:r>
              <a:rPr lang="en-US" altLang="zh-CN" b="1">
                <a:solidFill>
                  <a:schemeClr val="bg2"/>
                </a:solidFill>
                <a:latin typeface="宋体" charset="-122"/>
              </a:rPr>
              <a:t>(</a:t>
            </a:r>
            <a:r>
              <a:rPr lang="en-US" altLang="zh-CN" b="1" i="1">
                <a:solidFill>
                  <a:schemeClr val="bg2"/>
                </a:solidFill>
              </a:rPr>
              <a:t>x</a:t>
            </a:r>
            <a:r>
              <a:rPr lang="en-US" altLang="zh-CN" b="1">
                <a:solidFill>
                  <a:schemeClr val="bg2"/>
                </a:solidFill>
                <a:latin typeface="宋体" charset="-122"/>
              </a:rPr>
              <a:t>)=0 </a:t>
            </a:r>
            <a:r>
              <a:rPr lang="zh-CN" altLang="en-US" b="1">
                <a:solidFill>
                  <a:schemeClr val="bg2"/>
                </a:solidFill>
                <a:latin typeface="宋体" charset="-122"/>
              </a:rPr>
              <a:t>，只能是波节，因此物质波在阱内运动要能够稳定下来，其在阱壁两端来回反射</a:t>
            </a:r>
            <a:r>
              <a:rPr lang="en-US" altLang="zh-CN" b="1">
                <a:solidFill>
                  <a:schemeClr val="bg2"/>
                </a:solidFill>
                <a:latin typeface="宋体" charset="-122"/>
              </a:rPr>
              <a:t>,</a:t>
            </a:r>
            <a:r>
              <a:rPr lang="zh-CN" altLang="en-US" b="1">
                <a:solidFill>
                  <a:schemeClr val="bg2"/>
                </a:solidFill>
                <a:latin typeface="宋体" charset="-122"/>
              </a:rPr>
              <a:t>必定形成德布罗意驻波。</a:t>
            </a:r>
          </a:p>
        </p:txBody>
      </p:sp>
      <p:sp>
        <p:nvSpPr>
          <p:cNvPr id="201732" name="Rectangle 4"/>
          <p:cNvSpPr>
            <a:spLocks noChangeArrowheads="1"/>
          </p:cNvSpPr>
          <p:nvPr/>
        </p:nvSpPr>
        <p:spPr bwMode="auto">
          <a:xfrm>
            <a:off x="881063" y="458788"/>
            <a:ext cx="4073525" cy="457200"/>
          </a:xfrm>
          <a:prstGeom prst="rect">
            <a:avLst/>
          </a:prstGeom>
          <a:noFill/>
          <a:ln w="9525">
            <a:noFill/>
            <a:miter lim="800000"/>
            <a:headEnd/>
            <a:tailEnd/>
          </a:ln>
          <a:effectLst/>
        </p:spPr>
        <p:txBody>
          <a:bodyPr>
            <a:spAutoFit/>
          </a:bodyPr>
          <a:lstStyle/>
          <a:p>
            <a:r>
              <a:rPr lang="zh-CN" altLang="en-US" b="1">
                <a:solidFill>
                  <a:schemeClr val="hlink"/>
                </a:solidFill>
                <a:latin typeface="宋体" charset="-122"/>
              </a:rPr>
              <a:t>方程解的物理意义</a:t>
            </a:r>
            <a:endParaRPr lang="zh-CN" altLang="en-US">
              <a:solidFill>
                <a:schemeClr val="hlink"/>
              </a:solidFill>
              <a:latin typeface="宋体" charset="-122"/>
            </a:endParaRPr>
          </a:p>
        </p:txBody>
      </p:sp>
      <p:graphicFrame>
        <p:nvGraphicFramePr>
          <p:cNvPr id="201733" name="Object 5"/>
          <p:cNvGraphicFramePr>
            <a:graphicFrameLocks noChangeAspect="1"/>
          </p:cNvGraphicFramePr>
          <p:nvPr/>
        </p:nvGraphicFramePr>
        <p:xfrm>
          <a:off x="2232025" y="998538"/>
          <a:ext cx="4679950" cy="977900"/>
        </p:xfrm>
        <a:graphic>
          <a:graphicData uri="http://schemas.openxmlformats.org/presentationml/2006/ole">
            <p:oleObj spid="_x0000_s53253" name="Equation" r:id="rId3" imgW="1970640" imgH="367200" progId="Equation.3">
              <p:embed/>
            </p:oleObj>
          </a:graphicData>
        </a:graphic>
      </p:graphicFrame>
      <p:grpSp>
        <p:nvGrpSpPr>
          <p:cNvPr id="201734" name="Group 6"/>
          <p:cNvGrpSpPr>
            <a:grpSpLocks/>
          </p:cNvGrpSpPr>
          <p:nvPr/>
        </p:nvGrpSpPr>
        <p:grpSpPr bwMode="auto">
          <a:xfrm>
            <a:off x="431800" y="5049838"/>
            <a:ext cx="7470775" cy="927100"/>
            <a:chOff x="288" y="3456"/>
            <a:chExt cx="3840" cy="584"/>
          </a:xfrm>
        </p:grpSpPr>
        <p:graphicFrame>
          <p:nvGraphicFramePr>
            <p:cNvPr id="53260" name="Object 7"/>
            <p:cNvGraphicFramePr>
              <a:graphicFrameLocks noChangeAspect="1"/>
            </p:cNvGraphicFramePr>
            <p:nvPr/>
          </p:nvGraphicFramePr>
          <p:xfrm>
            <a:off x="1776" y="3456"/>
            <a:ext cx="2352" cy="584"/>
          </p:xfrm>
          <a:graphic>
            <a:graphicData uri="http://schemas.openxmlformats.org/presentationml/2006/ole">
              <p:oleObj spid="_x0000_s53260" name="Equation" r:id="rId4" imgW="1714500" imgH="393700" progId="Equation.3">
                <p:embed/>
              </p:oleObj>
            </a:graphicData>
          </a:graphic>
        </p:graphicFrame>
        <p:sp>
          <p:nvSpPr>
            <p:cNvPr id="53261" name="Rectangle 8"/>
            <p:cNvSpPr>
              <a:spLocks noChangeArrowheads="1"/>
            </p:cNvSpPr>
            <p:nvPr/>
          </p:nvSpPr>
          <p:spPr bwMode="auto">
            <a:xfrm>
              <a:off x="288" y="3587"/>
              <a:ext cx="1237" cy="288"/>
            </a:xfrm>
            <a:prstGeom prst="rect">
              <a:avLst/>
            </a:prstGeom>
            <a:noFill/>
            <a:ln w="9525">
              <a:noFill/>
              <a:miter lim="800000"/>
              <a:headEnd/>
              <a:tailEnd/>
            </a:ln>
            <a:effectLst/>
          </p:spPr>
          <p:txBody>
            <a:bodyPr>
              <a:spAutoFit/>
            </a:bodyPr>
            <a:lstStyle/>
            <a:p>
              <a:pPr eaLnBrk="0" hangingPunct="0"/>
              <a:r>
                <a:rPr lang="en-US" altLang="zh-CN" b="1">
                  <a:solidFill>
                    <a:srgbClr val="0000FF"/>
                  </a:solidFill>
                  <a:latin typeface="宋体" charset="-122"/>
                </a:rPr>
                <a:t>2.</a:t>
              </a:r>
              <a:r>
                <a:rPr lang="en-US" altLang="zh-CN" b="1">
                  <a:solidFill>
                    <a:schemeClr val="bg2"/>
                  </a:solidFill>
                  <a:latin typeface="宋体" charset="-122"/>
                </a:rPr>
                <a:t> </a:t>
              </a:r>
              <a:r>
                <a:rPr lang="zh-CN" altLang="en-US" b="1">
                  <a:solidFill>
                    <a:srgbClr val="0000FF"/>
                  </a:solidFill>
                  <a:latin typeface="宋体" charset="-122"/>
                </a:rPr>
                <a:t>概率密度</a:t>
              </a:r>
            </a:p>
          </p:txBody>
        </p:sp>
      </p:grpSp>
      <p:grpSp>
        <p:nvGrpSpPr>
          <p:cNvPr id="201737" name="Group 9"/>
          <p:cNvGrpSpPr>
            <a:grpSpLocks/>
          </p:cNvGrpSpPr>
          <p:nvPr/>
        </p:nvGrpSpPr>
        <p:grpSpPr bwMode="auto">
          <a:xfrm>
            <a:off x="701675" y="3878263"/>
            <a:ext cx="6335713" cy="1041400"/>
            <a:chOff x="796" y="2064"/>
            <a:chExt cx="3956" cy="593"/>
          </a:xfrm>
        </p:grpSpPr>
        <p:sp>
          <p:nvSpPr>
            <p:cNvPr id="53257" name="Text Box 10"/>
            <p:cNvSpPr txBox="1">
              <a:spLocks noChangeArrowheads="1"/>
            </p:cNvSpPr>
            <p:nvPr/>
          </p:nvSpPr>
          <p:spPr bwMode="auto">
            <a:xfrm>
              <a:off x="796" y="2192"/>
              <a:ext cx="1646" cy="261"/>
            </a:xfrm>
            <a:prstGeom prst="rect">
              <a:avLst/>
            </a:prstGeom>
            <a:noFill/>
            <a:ln w="9525">
              <a:noFill/>
              <a:miter lim="800000"/>
              <a:headEnd/>
              <a:tailEnd/>
            </a:ln>
            <a:effectLst/>
          </p:spPr>
          <p:txBody>
            <a:bodyPr wrap="none">
              <a:spAutoFit/>
            </a:bodyPr>
            <a:lstStyle/>
            <a:p>
              <a:r>
                <a:rPr lang="en-US" altLang="zh-CN" b="1">
                  <a:solidFill>
                    <a:schemeClr val="bg2"/>
                  </a:solidFill>
                  <a:latin typeface="宋体" charset="-122"/>
                </a:rPr>
                <a:t>  </a:t>
              </a:r>
              <a:r>
                <a:rPr lang="zh-CN" altLang="en-US" b="1">
                  <a:solidFill>
                    <a:schemeClr val="bg2"/>
                  </a:solidFill>
                  <a:latin typeface="宋体" charset="-122"/>
                </a:rPr>
                <a:t>其波长必须满足</a:t>
              </a:r>
            </a:p>
          </p:txBody>
        </p:sp>
        <p:graphicFrame>
          <p:nvGraphicFramePr>
            <p:cNvPr id="53258" name="Object 11"/>
            <p:cNvGraphicFramePr>
              <a:graphicFrameLocks noChangeAspect="1"/>
            </p:cNvGraphicFramePr>
            <p:nvPr/>
          </p:nvGraphicFramePr>
          <p:xfrm>
            <a:off x="2832" y="2064"/>
            <a:ext cx="816" cy="584"/>
          </p:xfrm>
          <a:graphic>
            <a:graphicData uri="http://schemas.openxmlformats.org/presentationml/2006/ole">
              <p:oleObj spid="_x0000_s53258" name="Equation" r:id="rId5" imgW="545863" imgH="393529" progId="Equation.3">
                <p:embed/>
              </p:oleObj>
            </a:graphicData>
          </a:graphic>
        </p:graphicFrame>
        <p:graphicFrame>
          <p:nvGraphicFramePr>
            <p:cNvPr id="53259" name="Object 12"/>
            <p:cNvGraphicFramePr>
              <a:graphicFrameLocks noChangeAspect="1"/>
            </p:cNvGraphicFramePr>
            <p:nvPr/>
          </p:nvGraphicFramePr>
          <p:xfrm>
            <a:off x="4032" y="2112"/>
            <a:ext cx="720" cy="545"/>
          </p:xfrm>
          <a:graphic>
            <a:graphicData uri="http://schemas.openxmlformats.org/presentationml/2006/ole">
              <p:oleObj spid="_x0000_s53259" name="Equation" r:id="rId6" imgW="520474" imgH="393529" progId="Equation.3">
                <p:embed/>
              </p:oleObj>
            </a:graphicData>
          </a:graphic>
        </p:graphicFrame>
      </p:grpSp>
      <p:sp>
        <p:nvSpPr>
          <p:cNvPr id="201742" name="AutoShape 14"/>
          <p:cNvSpPr>
            <a:spLocks noChangeArrowheads="1"/>
          </p:cNvSpPr>
          <p:nvPr/>
        </p:nvSpPr>
        <p:spPr bwMode="auto">
          <a:xfrm>
            <a:off x="476250" y="414338"/>
            <a:ext cx="360363" cy="576262"/>
          </a:xfrm>
          <a:prstGeom prst="star4">
            <a:avLst>
              <a:gd name="adj" fmla="val 18519"/>
            </a:avLst>
          </a:prstGeom>
          <a:gradFill rotWithShape="0">
            <a:gsLst>
              <a:gs pos="0">
                <a:schemeClr val="accent2"/>
              </a:gs>
              <a:gs pos="100000">
                <a:schemeClr val="accent2">
                  <a:gamma/>
                  <a:shade val="46275"/>
                  <a:invGamma/>
                </a:schemeClr>
              </a:gs>
            </a:gsLst>
            <a:path path="shape">
              <a:fillToRect l="50000" t="50000" r="50000" b="50000"/>
            </a:path>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1742"/>
                                        </p:tgtEl>
                                        <p:attrNameLst>
                                          <p:attrName>style.visibility</p:attrName>
                                        </p:attrNameLst>
                                      </p:cBhvr>
                                      <p:to>
                                        <p:strVal val="visible"/>
                                      </p:to>
                                    </p:set>
                                    <p:animEffect transition="in" filter="dissolve">
                                      <p:cBhvr>
                                        <p:cTn id="7" dur="500"/>
                                        <p:tgtEl>
                                          <p:spTgt spid="2017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1732"/>
                                        </p:tgtEl>
                                        <p:attrNameLst>
                                          <p:attrName>style.visibility</p:attrName>
                                        </p:attrNameLst>
                                      </p:cBhvr>
                                      <p:to>
                                        <p:strVal val="visible"/>
                                      </p:to>
                                    </p:set>
                                    <p:animEffect transition="in" filter="wipe(left)">
                                      <p:cBhvr>
                                        <p:cTn id="12" dur="500"/>
                                        <p:tgtEl>
                                          <p:spTgt spid="2017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1733"/>
                                        </p:tgtEl>
                                        <p:attrNameLst>
                                          <p:attrName>style.visibility</p:attrName>
                                        </p:attrNameLst>
                                      </p:cBhvr>
                                      <p:to>
                                        <p:strVal val="visible"/>
                                      </p:to>
                                    </p:set>
                                    <p:animEffect transition="in" filter="wipe(left)">
                                      <p:cBhvr>
                                        <p:cTn id="17" dur="500"/>
                                        <p:tgtEl>
                                          <p:spTgt spid="20173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1730"/>
                                        </p:tgtEl>
                                        <p:attrNameLst>
                                          <p:attrName>style.visibility</p:attrName>
                                        </p:attrNameLst>
                                      </p:cBhvr>
                                      <p:to>
                                        <p:strVal val="visible"/>
                                      </p:to>
                                    </p:set>
                                    <p:animEffect transition="in" filter="wipe(left)">
                                      <p:cBhvr>
                                        <p:cTn id="22" dur="500"/>
                                        <p:tgtEl>
                                          <p:spTgt spid="20173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1731"/>
                                        </p:tgtEl>
                                        <p:attrNameLst>
                                          <p:attrName>style.visibility</p:attrName>
                                        </p:attrNameLst>
                                      </p:cBhvr>
                                      <p:to>
                                        <p:strVal val="visible"/>
                                      </p:to>
                                    </p:set>
                                    <p:animEffect transition="in" filter="wipe(left)">
                                      <p:cBhvr>
                                        <p:cTn id="27" dur="500"/>
                                        <p:tgtEl>
                                          <p:spTgt spid="2017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01737"/>
                                        </p:tgtEl>
                                        <p:attrNameLst>
                                          <p:attrName>style.visibility</p:attrName>
                                        </p:attrNameLst>
                                      </p:cBhvr>
                                      <p:to>
                                        <p:strVal val="visible"/>
                                      </p:to>
                                    </p:set>
                                    <p:animEffect transition="in" filter="wipe(left)">
                                      <p:cBhvr>
                                        <p:cTn id="32" dur="500"/>
                                        <p:tgtEl>
                                          <p:spTgt spid="20173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01734"/>
                                        </p:tgtEl>
                                        <p:attrNameLst>
                                          <p:attrName>style.visibility</p:attrName>
                                        </p:attrNameLst>
                                      </p:cBhvr>
                                      <p:to>
                                        <p:strVal val="visible"/>
                                      </p:to>
                                    </p:set>
                                    <p:animEffect transition="in" filter="wipe(left)">
                                      <p:cBhvr>
                                        <p:cTn id="37" dur="500"/>
                                        <p:tgtEl>
                                          <p:spTgt spid="201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autoUpdateAnimBg="0"/>
      <p:bldP spid="201731" grpId="0" autoUpdateAnimBg="0"/>
      <p:bldP spid="201732" grpId="0" autoUpdateAnimBg="0"/>
      <p:bldP spid="20174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Group 2"/>
          <p:cNvGrpSpPr>
            <a:grpSpLocks/>
          </p:cNvGrpSpPr>
          <p:nvPr/>
        </p:nvGrpSpPr>
        <p:grpSpPr bwMode="auto">
          <a:xfrm>
            <a:off x="381000" y="228600"/>
            <a:ext cx="8229600" cy="6172200"/>
            <a:chOff x="288" y="144"/>
            <a:chExt cx="5328" cy="4032"/>
          </a:xfrm>
        </p:grpSpPr>
        <p:sp>
          <p:nvSpPr>
            <p:cNvPr id="54275" name="Rectangle 3"/>
            <p:cNvSpPr>
              <a:spLocks noChangeArrowheads="1"/>
            </p:cNvSpPr>
            <p:nvPr/>
          </p:nvSpPr>
          <p:spPr bwMode="auto">
            <a:xfrm>
              <a:off x="288" y="144"/>
              <a:ext cx="5328" cy="4032"/>
            </a:xfrm>
            <a:prstGeom prst="rect">
              <a:avLst/>
            </a:prstGeom>
            <a:noFill/>
            <a:ln w="9525">
              <a:noFill/>
              <a:miter lim="800000"/>
              <a:headEnd/>
              <a:tailEnd/>
            </a:ln>
            <a:effectLst>
              <a:outerShdw dist="107763" dir="8100000" algn="ctr" rotWithShape="0">
                <a:schemeClr val="bg2"/>
              </a:outerShdw>
            </a:effectLst>
          </p:spPr>
          <p:txBody>
            <a:bodyPr wrap="none" anchor="ctr">
              <a:spAutoFit/>
            </a:bodyPr>
            <a:lstStyle/>
            <a:p>
              <a:endParaRPr lang="zh-CN" altLang="en-US"/>
            </a:p>
          </p:txBody>
        </p:sp>
        <p:grpSp>
          <p:nvGrpSpPr>
            <p:cNvPr id="54276" name="Group 4"/>
            <p:cNvGrpSpPr>
              <a:grpSpLocks/>
            </p:cNvGrpSpPr>
            <p:nvPr/>
          </p:nvGrpSpPr>
          <p:grpSpPr bwMode="auto">
            <a:xfrm>
              <a:off x="624" y="336"/>
              <a:ext cx="4800" cy="3811"/>
              <a:chOff x="576" y="528"/>
              <a:chExt cx="4800" cy="3715"/>
            </a:xfrm>
          </p:grpSpPr>
          <p:grpSp>
            <p:nvGrpSpPr>
              <p:cNvPr id="54277" name="Group 5"/>
              <p:cNvGrpSpPr>
                <a:grpSpLocks/>
              </p:cNvGrpSpPr>
              <p:nvPr/>
            </p:nvGrpSpPr>
            <p:grpSpPr bwMode="auto">
              <a:xfrm>
                <a:off x="576" y="528"/>
                <a:ext cx="2240" cy="3715"/>
                <a:chOff x="1932" y="2448"/>
                <a:chExt cx="3720" cy="9288"/>
              </a:xfrm>
            </p:grpSpPr>
            <p:grpSp>
              <p:nvGrpSpPr>
                <p:cNvPr id="54324" name="Group 6"/>
                <p:cNvGrpSpPr>
                  <a:grpSpLocks/>
                </p:cNvGrpSpPr>
                <p:nvPr/>
              </p:nvGrpSpPr>
              <p:grpSpPr bwMode="auto">
                <a:xfrm>
                  <a:off x="1932" y="2448"/>
                  <a:ext cx="3521" cy="9288"/>
                  <a:chOff x="1932" y="2448"/>
                  <a:chExt cx="3521" cy="9288"/>
                </a:xfrm>
              </p:grpSpPr>
              <p:grpSp>
                <p:nvGrpSpPr>
                  <p:cNvPr id="54327" name="Group 7"/>
                  <p:cNvGrpSpPr>
                    <a:grpSpLocks/>
                  </p:cNvGrpSpPr>
                  <p:nvPr/>
                </p:nvGrpSpPr>
                <p:grpSpPr bwMode="auto">
                  <a:xfrm>
                    <a:off x="2496" y="9996"/>
                    <a:ext cx="2955" cy="505"/>
                    <a:chOff x="2196" y="6528"/>
                    <a:chExt cx="2955" cy="505"/>
                  </a:xfrm>
                </p:grpSpPr>
                <p:sp>
                  <p:nvSpPr>
                    <p:cNvPr id="54364" name="Freeform 8"/>
                    <p:cNvSpPr>
                      <a:spLocks/>
                    </p:cNvSpPr>
                    <p:nvPr/>
                  </p:nvSpPr>
                  <p:spPr bwMode="auto">
                    <a:xfrm>
                      <a:off x="2212" y="6528"/>
                      <a:ext cx="2939" cy="505"/>
                    </a:xfrm>
                    <a:custGeom>
                      <a:avLst/>
                      <a:gdLst>
                        <a:gd name="T0" fmla="*/ 5 w 20000"/>
                        <a:gd name="T1" fmla="*/ 12 h 20000"/>
                        <a:gd name="T2" fmla="*/ 14 w 20000"/>
                        <a:gd name="T3" fmla="*/ 11 h 20000"/>
                        <a:gd name="T4" fmla="*/ 24 w 20000"/>
                        <a:gd name="T5" fmla="*/ 10 h 20000"/>
                        <a:gd name="T6" fmla="*/ 33 w 20000"/>
                        <a:gd name="T7" fmla="*/ 9 h 20000"/>
                        <a:gd name="T8" fmla="*/ 43 w 20000"/>
                        <a:gd name="T9" fmla="*/ 9 h 20000"/>
                        <a:gd name="T10" fmla="*/ 53 w 20000"/>
                        <a:gd name="T11" fmla="*/ 8 h 20000"/>
                        <a:gd name="T12" fmla="*/ 62 w 20000"/>
                        <a:gd name="T13" fmla="*/ 7 h 20000"/>
                        <a:gd name="T14" fmla="*/ 72 w 20000"/>
                        <a:gd name="T15" fmla="*/ 7 h 20000"/>
                        <a:gd name="T16" fmla="*/ 82 w 20000"/>
                        <a:gd name="T17" fmla="*/ 6 h 20000"/>
                        <a:gd name="T18" fmla="*/ 91 w 20000"/>
                        <a:gd name="T19" fmla="*/ 5 h 20000"/>
                        <a:gd name="T20" fmla="*/ 101 w 20000"/>
                        <a:gd name="T21" fmla="*/ 5 h 20000"/>
                        <a:gd name="T22" fmla="*/ 111 w 20000"/>
                        <a:gd name="T23" fmla="*/ 4 h 20000"/>
                        <a:gd name="T24" fmla="*/ 120 w 20000"/>
                        <a:gd name="T25" fmla="*/ 3 h 20000"/>
                        <a:gd name="T26" fmla="*/ 129 w 20000"/>
                        <a:gd name="T27" fmla="*/ 3 h 20000"/>
                        <a:gd name="T28" fmla="*/ 139 w 20000"/>
                        <a:gd name="T29" fmla="*/ 2 h 20000"/>
                        <a:gd name="T30" fmla="*/ 148 w 20000"/>
                        <a:gd name="T31" fmla="*/ 2 h 20000"/>
                        <a:gd name="T32" fmla="*/ 158 w 20000"/>
                        <a:gd name="T33" fmla="*/ 2 h 20000"/>
                        <a:gd name="T34" fmla="*/ 167 w 20000"/>
                        <a:gd name="T35" fmla="*/ 1 h 20000"/>
                        <a:gd name="T36" fmla="*/ 176 w 20000"/>
                        <a:gd name="T37" fmla="*/ 1 h 20000"/>
                        <a:gd name="T38" fmla="*/ 185 w 20000"/>
                        <a:gd name="T39" fmla="*/ 1 h 20000"/>
                        <a:gd name="T40" fmla="*/ 195 w 20000"/>
                        <a:gd name="T41" fmla="*/ 0 h 20000"/>
                        <a:gd name="T42" fmla="*/ 204 w 20000"/>
                        <a:gd name="T43" fmla="*/ 0 h 20000"/>
                        <a:gd name="T44" fmla="*/ 213 w 20000"/>
                        <a:gd name="T45" fmla="*/ 0 h 20000"/>
                        <a:gd name="T46" fmla="*/ 222 w 20000"/>
                        <a:gd name="T47" fmla="*/ 0 h 20000"/>
                        <a:gd name="T48" fmla="*/ 231 w 20000"/>
                        <a:gd name="T49" fmla="*/ 0 h 20000"/>
                        <a:gd name="T50" fmla="*/ 240 w 20000"/>
                        <a:gd name="T51" fmla="*/ 0 h 20000"/>
                        <a:gd name="T52" fmla="*/ 250 w 20000"/>
                        <a:gd name="T53" fmla="*/ 0 h 20000"/>
                        <a:gd name="T54" fmla="*/ 259 w 20000"/>
                        <a:gd name="T55" fmla="*/ 1 h 20000"/>
                        <a:gd name="T56" fmla="*/ 269 w 20000"/>
                        <a:gd name="T57" fmla="*/ 1 h 20000"/>
                        <a:gd name="T58" fmla="*/ 279 w 20000"/>
                        <a:gd name="T59" fmla="*/ 1 h 20000"/>
                        <a:gd name="T60" fmla="*/ 289 w 20000"/>
                        <a:gd name="T61" fmla="*/ 2 h 20000"/>
                        <a:gd name="T62" fmla="*/ 299 w 20000"/>
                        <a:gd name="T63" fmla="*/ 3 h 20000"/>
                        <a:gd name="T64" fmla="*/ 309 w 20000"/>
                        <a:gd name="T65" fmla="*/ 3 h 20000"/>
                        <a:gd name="T66" fmla="*/ 319 w 20000"/>
                        <a:gd name="T67" fmla="*/ 4 h 20000"/>
                        <a:gd name="T68" fmla="*/ 329 w 20000"/>
                        <a:gd name="T69" fmla="*/ 4 h 20000"/>
                        <a:gd name="T70" fmla="*/ 339 w 20000"/>
                        <a:gd name="T71" fmla="*/ 5 h 20000"/>
                        <a:gd name="T72" fmla="*/ 348 w 20000"/>
                        <a:gd name="T73" fmla="*/ 6 h 20000"/>
                        <a:gd name="T74" fmla="*/ 357 w 20000"/>
                        <a:gd name="T75" fmla="*/ 7 h 20000"/>
                        <a:gd name="T76" fmla="*/ 366 w 20000"/>
                        <a:gd name="T77" fmla="*/ 7 h 20000"/>
                        <a:gd name="T78" fmla="*/ 375 w 20000"/>
                        <a:gd name="T79" fmla="*/ 8 h 20000"/>
                        <a:gd name="T80" fmla="*/ 383 w 20000"/>
                        <a:gd name="T81" fmla="*/ 9 h 20000"/>
                        <a:gd name="T82" fmla="*/ 391 w 20000"/>
                        <a:gd name="T83" fmla="*/ 10 h 20000"/>
                        <a:gd name="T84" fmla="*/ 399 w 20000"/>
                        <a:gd name="T85" fmla="*/ 10 h 20000"/>
                        <a:gd name="T86" fmla="*/ 406 w 20000"/>
                        <a:gd name="T87" fmla="*/ 11 h 20000"/>
                        <a:gd name="T88" fmla="*/ 413 w 20000"/>
                        <a:gd name="T89" fmla="*/ 11 h 20000"/>
                        <a:gd name="T90" fmla="*/ 419 w 20000"/>
                        <a:gd name="T91" fmla="*/ 12 h 20000"/>
                        <a:gd name="T92" fmla="*/ 424 w 20000"/>
                        <a:gd name="T93" fmla="*/ 12 h 20000"/>
                        <a:gd name="T94" fmla="*/ 430 w 20000"/>
                        <a:gd name="T95" fmla="*/ 13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0000FF"/>
                      </a:solidFill>
                      <a:prstDash val="solid"/>
                      <a:round/>
                      <a:headEnd type="none" w="med" len="med"/>
                      <a:tailEnd type="none" w="med" len="med"/>
                    </a:ln>
                    <a:effectLst/>
                  </p:spPr>
                  <p:txBody>
                    <a:bodyPr/>
                    <a:lstStyle/>
                    <a:p>
                      <a:endParaRPr lang="zh-CN" altLang="en-US"/>
                    </a:p>
                  </p:txBody>
                </p:sp>
                <p:sp>
                  <p:nvSpPr>
                    <p:cNvPr id="54365" name="Line 9"/>
                    <p:cNvSpPr>
                      <a:spLocks noChangeShapeType="1"/>
                    </p:cNvSpPr>
                    <p:nvPr/>
                  </p:nvSpPr>
                  <p:spPr bwMode="auto">
                    <a:xfrm>
                      <a:off x="2196" y="7032"/>
                      <a:ext cx="2952" cy="0"/>
                    </a:xfrm>
                    <a:prstGeom prst="line">
                      <a:avLst/>
                    </a:prstGeom>
                    <a:noFill/>
                    <a:ln w="15875">
                      <a:solidFill>
                        <a:srgbClr val="000000"/>
                      </a:solidFill>
                      <a:prstDash val="lgDashDot"/>
                      <a:round/>
                      <a:headEnd/>
                      <a:tailEnd/>
                    </a:ln>
                  </p:spPr>
                  <p:txBody>
                    <a:bodyPr/>
                    <a:lstStyle/>
                    <a:p>
                      <a:endParaRPr lang="zh-CN" altLang="en-US"/>
                    </a:p>
                  </p:txBody>
                </p:sp>
              </p:grpSp>
              <p:grpSp>
                <p:nvGrpSpPr>
                  <p:cNvPr id="54328" name="Group 10"/>
                  <p:cNvGrpSpPr>
                    <a:grpSpLocks/>
                  </p:cNvGrpSpPr>
                  <p:nvPr/>
                </p:nvGrpSpPr>
                <p:grpSpPr bwMode="auto">
                  <a:xfrm>
                    <a:off x="1932" y="2448"/>
                    <a:ext cx="3521" cy="9288"/>
                    <a:chOff x="1824" y="2016"/>
                    <a:chExt cx="3521" cy="9288"/>
                  </a:xfrm>
                </p:grpSpPr>
                <p:sp>
                  <p:nvSpPr>
                    <p:cNvPr id="54329" name="Line 11"/>
                    <p:cNvSpPr>
                      <a:spLocks noChangeShapeType="1"/>
                    </p:cNvSpPr>
                    <p:nvPr/>
                  </p:nvSpPr>
                  <p:spPr bwMode="auto">
                    <a:xfrm flipV="1">
                      <a:off x="2376" y="2016"/>
                      <a:ext cx="0" cy="8388"/>
                    </a:xfrm>
                    <a:prstGeom prst="line">
                      <a:avLst/>
                    </a:prstGeom>
                    <a:noFill/>
                    <a:ln w="19050">
                      <a:solidFill>
                        <a:srgbClr val="000000"/>
                      </a:solidFill>
                      <a:round/>
                      <a:headEnd/>
                      <a:tailEnd type="triangle" w="med" len="med"/>
                    </a:ln>
                  </p:spPr>
                  <p:txBody>
                    <a:bodyPr/>
                    <a:lstStyle/>
                    <a:p>
                      <a:endParaRPr lang="zh-CN" altLang="en-US"/>
                    </a:p>
                  </p:txBody>
                </p:sp>
                <p:sp>
                  <p:nvSpPr>
                    <p:cNvPr id="54330" name="Line 12"/>
                    <p:cNvSpPr>
                      <a:spLocks noChangeShapeType="1"/>
                    </p:cNvSpPr>
                    <p:nvPr/>
                  </p:nvSpPr>
                  <p:spPr bwMode="auto">
                    <a:xfrm flipV="1">
                      <a:off x="5340" y="2076"/>
                      <a:ext cx="0" cy="8316"/>
                    </a:xfrm>
                    <a:prstGeom prst="line">
                      <a:avLst/>
                    </a:prstGeom>
                    <a:noFill/>
                    <a:ln w="19050">
                      <a:solidFill>
                        <a:srgbClr val="000000"/>
                      </a:solidFill>
                      <a:round/>
                      <a:headEnd/>
                      <a:tailEnd/>
                    </a:ln>
                  </p:spPr>
                  <p:txBody>
                    <a:bodyPr/>
                    <a:lstStyle/>
                    <a:p>
                      <a:endParaRPr lang="zh-CN" altLang="en-US"/>
                    </a:p>
                  </p:txBody>
                </p:sp>
                <p:grpSp>
                  <p:nvGrpSpPr>
                    <p:cNvPr id="54331" name="Group 13"/>
                    <p:cNvGrpSpPr>
                      <a:grpSpLocks/>
                    </p:cNvGrpSpPr>
                    <p:nvPr/>
                  </p:nvGrpSpPr>
                  <p:grpSpPr bwMode="auto">
                    <a:xfrm>
                      <a:off x="2388" y="6228"/>
                      <a:ext cx="2956" cy="859"/>
                      <a:chOff x="2196" y="2904"/>
                      <a:chExt cx="2956" cy="859"/>
                    </a:xfrm>
                  </p:grpSpPr>
                  <p:grpSp>
                    <p:nvGrpSpPr>
                      <p:cNvPr id="54358" name="Group 14"/>
                      <p:cNvGrpSpPr>
                        <a:grpSpLocks/>
                      </p:cNvGrpSpPr>
                      <p:nvPr/>
                    </p:nvGrpSpPr>
                    <p:grpSpPr bwMode="auto">
                      <a:xfrm>
                        <a:off x="2212" y="2904"/>
                        <a:ext cx="2940" cy="859"/>
                        <a:chOff x="3112" y="2136"/>
                        <a:chExt cx="3612" cy="979"/>
                      </a:xfrm>
                    </p:grpSpPr>
                    <p:grpSp>
                      <p:nvGrpSpPr>
                        <p:cNvPr id="54360" name="Group 15"/>
                        <p:cNvGrpSpPr>
                          <a:grpSpLocks/>
                        </p:cNvGrpSpPr>
                        <p:nvPr/>
                      </p:nvGrpSpPr>
                      <p:grpSpPr bwMode="auto">
                        <a:xfrm>
                          <a:off x="3112" y="2136"/>
                          <a:ext cx="2449" cy="979"/>
                          <a:chOff x="0" y="0"/>
                          <a:chExt cx="20000" cy="20001"/>
                        </a:xfrm>
                      </p:grpSpPr>
                      <p:sp>
                        <p:nvSpPr>
                          <p:cNvPr id="54362" name="Freeform 16"/>
                          <p:cNvSpPr>
                            <a:spLocks/>
                          </p:cNvSpPr>
                          <p:nvPr/>
                        </p:nvSpPr>
                        <p:spPr bwMode="auto">
                          <a:xfrm>
                            <a:off x="0" y="0"/>
                            <a:ext cx="9741" cy="10353"/>
                          </a:xfrm>
                          <a:custGeom>
                            <a:avLst/>
                            <a:gdLst>
                              <a:gd name="T0" fmla="*/ 53 w 20000"/>
                              <a:gd name="T1" fmla="*/ 4961 h 20000"/>
                              <a:gd name="T2" fmla="*/ 157 w 20000"/>
                              <a:gd name="T3" fmla="*/ 4635 h 20000"/>
                              <a:gd name="T4" fmla="*/ 262 w 20000"/>
                              <a:gd name="T5" fmla="*/ 4309 h 20000"/>
                              <a:gd name="T6" fmla="*/ 367 w 20000"/>
                              <a:gd name="T7" fmla="*/ 3994 h 20000"/>
                              <a:gd name="T8" fmla="*/ 472 w 20000"/>
                              <a:gd name="T9" fmla="*/ 3679 h 20000"/>
                              <a:gd name="T10" fmla="*/ 582 w 20000"/>
                              <a:gd name="T11" fmla="*/ 3376 h 20000"/>
                              <a:gd name="T12" fmla="*/ 687 w 20000"/>
                              <a:gd name="T13" fmla="*/ 3073 h 20000"/>
                              <a:gd name="T14" fmla="*/ 791 w 20000"/>
                              <a:gd name="T15" fmla="*/ 2775 h 20000"/>
                              <a:gd name="T16" fmla="*/ 897 w 20000"/>
                              <a:gd name="T17" fmla="*/ 2488 h 20000"/>
                              <a:gd name="T18" fmla="*/ 1001 w 20000"/>
                              <a:gd name="T19" fmla="*/ 2208 h 20000"/>
                              <a:gd name="T20" fmla="*/ 1106 w 20000"/>
                              <a:gd name="T21" fmla="*/ 1944 h 20000"/>
                              <a:gd name="T22" fmla="*/ 1214 w 20000"/>
                              <a:gd name="T23" fmla="*/ 1696 h 20000"/>
                              <a:gd name="T24" fmla="*/ 1318 w 20000"/>
                              <a:gd name="T25" fmla="*/ 1455 h 20000"/>
                              <a:gd name="T26" fmla="*/ 1418 w 20000"/>
                              <a:gd name="T27" fmla="*/ 1225 h 20000"/>
                              <a:gd name="T28" fmla="*/ 1523 w 20000"/>
                              <a:gd name="T29" fmla="*/ 1011 h 20000"/>
                              <a:gd name="T30" fmla="*/ 1628 w 20000"/>
                              <a:gd name="T31" fmla="*/ 820 h 20000"/>
                              <a:gd name="T32" fmla="*/ 1730 w 20000"/>
                              <a:gd name="T33" fmla="*/ 646 h 20000"/>
                              <a:gd name="T34" fmla="*/ 1835 w 20000"/>
                              <a:gd name="T35" fmla="*/ 489 h 20000"/>
                              <a:gd name="T36" fmla="*/ 1937 w 20000"/>
                              <a:gd name="T37" fmla="*/ 348 h 20000"/>
                              <a:gd name="T38" fmla="*/ 2037 w 20000"/>
                              <a:gd name="T39" fmla="*/ 230 h 20000"/>
                              <a:gd name="T40" fmla="*/ 2140 w 20000"/>
                              <a:gd name="T41" fmla="*/ 135 h 20000"/>
                              <a:gd name="T42" fmla="*/ 2240 w 20000"/>
                              <a:gd name="T43" fmla="*/ 67 h 20000"/>
                              <a:gd name="T44" fmla="*/ 2340 w 20000"/>
                              <a:gd name="T45" fmla="*/ 22 h 20000"/>
                              <a:gd name="T46" fmla="*/ 2442 w 20000"/>
                              <a:gd name="T47" fmla="*/ 0 h 20000"/>
                              <a:gd name="T48" fmla="*/ 2539 w 20000"/>
                              <a:gd name="T49" fmla="*/ 6 h 20000"/>
                              <a:gd name="T50" fmla="*/ 2639 w 20000"/>
                              <a:gd name="T51" fmla="*/ 56 h 20000"/>
                              <a:gd name="T52" fmla="*/ 2744 w 20000"/>
                              <a:gd name="T53" fmla="*/ 140 h 20000"/>
                              <a:gd name="T54" fmla="*/ 2849 w 20000"/>
                              <a:gd name="T55" fmla="*/ 264 h 20000"/>
                              <a:gd name="T56" fmla="*/ 2956 w 20000"/>
                              <a:gd name="T57" fmla="*/ 421 h 20000"/>
                              <a:gd name="T58" fmla="*/ 3066 w 20000"/>
                              <a:gd name="T59" fmla="*/ 612 h 20000"/>
                              <a:gd name="T60" fmla="*/ 3176 w 20000"/>
                              <a:gd name="T61" fmla="*/ 831 h 20000"/>
                              <a:gd name="T62" fmla="*/ 3284 w 20000"/>
                              <a:gd name="T63" fmla="*/ 1067 h 20000"/>
                              <a:gd name="T64" fmla="*/ 3393 w 20000"/>
                              <a:gd name="T65" fmla="*/ 1326 h 20000"/>
                              <a:gd name="T66" fmla="*/ 3503 w 20000"/>
                              <a:gd name="T67" fmla="*/ 1607 h 20000"/>
                              <a:gd name="T68" fmla="*/ 3611 w 20000"/>
                              <a:gd name="T69" fmla="*/ 1893 h 20000"/>
                              <a:gd name="T70" fmla="*/ 3721 w 20000"/>
                              <a:gd name="T71" fmla="*/ 2196 h 20000"/>
                              <a:gd name="T72" fmla="*/ 3823 w 20000"/>
                              <a:gd name="T73" fmla="*/ 2505 h 20000"/>
                              <a:gd name="T74" fmla="*/ 3923 w 20000"/>
                              <a:gd name="T75" fmla="*/ 2809 h 20000"/>
                              <a:gd name="T76" fmla="*/ 4023 w 20000"/>
                              <a:gd name="T77" fmla="*/ 3118 h 20000"/>
                              <a:gd name="T78" fmla="*/ 4118 w 20000"/>
                              <a:gd name="T79" fmla="*/ 3421 h 20000"/>
                              <a:gd name="T80" fmla="*/ 4210 w 20000"/>
                              <a:gd name="T81" fmla="*/ 3713 h 20000"/>
                              <a:gd name="T82" fmla="*/ 4300 w 20000"/>
                              <a:gd name="T83" fmla="*/ 4006 h 20000"/>
                              <a:gd name="T84" fmla="*/ 4382 w 20000"/>
                              <a:gd name="T85" fmla="*/ 4275 h 20000"/>
                              <a:gd name="T86" fmla="*/ 4460 w 20000"/>
                              <a:gd name="T87" fmla="*/ 4522 h 20000"/>
                              <a:gd name="T88" fmla="*/ 4534 w 20000"/>
                              <a:gd name="T89" fmla="*/ 4758 h 20000"/>
                              <a:gd name="T90" fmla="*/ 4602 w 20000"/>
                              <a:gd name="T91" fmla="*/ 4972 h 20000"/>
                              <a:gd name="T92" fmla="*/ 4662 w 20000"/>
                              <a:gd name="T93" fmla="*/ 5145 h 20000"/>
                              <a:gd name="T94" fmla="*/ 4720 w 20000"/>
                              <a:gd name="T95" fmla="*/ 5303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0000FF"/>
                            </a:solidFill>
                            <a:prstDash val="solid"/>
                            <a:round/>
                            <a:headEnd type="none" w="med" len="med"/>
                            <a:tailEnd type="none" w="med" len="med"/>
                          </a:ln>
                          <a:effectLst/>
                        </p:spPr>
                        <p:txBody>
                          <a:bodyPr/>
                          <a:lstStyle/>
                          <a:p>
                            <a:endParaRPr lang="zh-CN" altLang="en-US"/>
                          </a:p>
                        </p:txBody>
                      </p:sp>
                      <p:sp>
                        <p:nvSpPr>
                          <p:cNvPr id="54363" name="Freeform 17"/>
                          <p:cNvSpPr>
                            <a:spLocks/>
                          </p:cNvSpPr>
                          <p:nvPr/>
                        </p:nvSpPr>
                        <p:spPr bwMode="auto">
                          <a:xfrm>
                            <a:off x="9638" y="9984"/>
                            <a:ext cx="10362" cy="10017"/>
                          </a:xfrm>
                          <a:custGeom>
                            <a:avLst/>
                            <a:gdLst>
                              <a:gd name="T0" fmla="*/ 53 w 20000"/>
                              <a:gd name="T1" fmla="*/ 158 h 20000"/>
                              <a:gd name="T2" fmla="*/ 160 w 20000"/>
                              <a:gd name="T3" fmla="*/ 473 h 20000"/>
                              <a:gd name="T4" fmla="*/ 266 w 20000"/>
                              <a:gd name="T5" fmla="*/ 788 h 20000"/>
                              <a:gd name="T6" fmla="*/ 372 w 20000"/>
                              <a:gd name="T7" fmla="*/ 1092 h 20000"/>
                              <a:gd name="T8" fmla="*/ 478 w 20000"/>
                              <a:gd name="T9" fmla="*/ 1397 h 20000"/>
                              <a:gd name="T10" fmla="*/ 584 w 20000"/>
                              <a:gd name="T11" fmla="*/ 1690 h 20000"/>
                              <a:gd name="T12" fmla="*/ 691 w 20000"/>
                              <a:gd name="T13" fmla="*/ 1978 h 20000"/>
                              <a:gd name="T14" fmla="*/ 797 w 20000"/>
                              <a:gd name="T15" fmla="*/ 2267 h 20000"/>
                              <a:gd name="T16" fmla="*/ 903 w 20000"/>
                              <a:gd name="T17" fmla="*/ 2544 h 20000"/>
                              <a:gd name="T18" fmla="*/ 1010 w 20000"/>
                              <a:gd name="T19" fmla="*/ 2810 h 20000"/>
                              <a:gd name="T20" fmla="*/ 1115 w 20000"/>
                              <a:gd name="T21" fmla="*/ 3066 h 20000"/>
                              <a:gd name="T22" fmla="*/ 1227 w 20000"/>
                              <a:gd name="T23" fmla="*/ 3310 h 20000"/>
                              <a:gd name="T24" fmla="*/ 1336 w 20000"/>
                              <a:gd name="T25" fmla="*/ 3544 h 20000"/>
                              <a:gd name="T26" fmla="*/ 1442 w 20000"/>
                              <a:gd name="T27" fmla="*/ 3767 h 20000"/>
                              <a:gd name="T28" fmla="*/ 1551 w 20000"/>
                              <a:gd name="T29" fmla="*/ 3973 h 20000"/>
                              <a:gd name="T30" fmla="*/ 1660 w 20000"/>
                              <a:gd name="T31" fmla="*/ 4164 h 20000"/>
                              <a:gd name="T32" fmla="*/ 1767 w 20000"/>
                              <a:gd name="T33" fmla="*/ 4337 h 20000"/>
                              <a:gd name="T34" fmla="*/ 1878 w 20000"/>
                              <a:gd name="T35" fmla="*/ 4495 h 20000"/>
                              <a:gd name="T36" fmla="*/ 1987 w 20000"/>
                              <a:gd name="T37" fmla="*/ 4631 h 20000"/>
                              <a:gd name="T38" fmla="*/ 2099 w 20000"/>
                              <a:gd name="T39" fmla="*/ 4751 h 20000"/>
                              <a:gd name="T40" fmla="*/ 2210 w 20000"/>
                              <a:gd name="T41" fmla="*/ 4848 h 20000"/>
                              <a:gd name="T42" fmla="*/ 2322 w 20000"/>
                              <a:gd name="T43" fmla="*/ 4925 h 20000"/>
                              <a:gd name="T44" fmla="*/ 2434 w 20000"/>
                              <a:gd name="T45" fmla="*/ 4979 h 20000"/>
                              <a:gd name="T46" fmla="*/ 2545 w 20000"/>
                              <a:gd name="T47" fmla="*/ 5006 h 20000"/>
                              <a:gd name="T48" fmla="*/ 2659 w 20000"/>
                              <a:gd name="T49" fmla="*/ 5012 h 20000"/>
                              <a:gd name="T50" fmla="*/ 2773 w 20000"/>
                              <a:gd name="T51" fmla="*/ 4973 h 20000"/>
                              <a:gd name="T52" fmla="*/ 2896 w 20000"/>
                              <a:gd name="T53" fmla="*/ 4903 h 20000"/>
                              <a:gd name="T54" fmla="*/ 3017 w 20000"/>
                              <a:gd name="T55" fmla="*/ 4794 h 20000"/>
                              <a:gd name="T56" fmla="*/ 3145 w 20000"/>
                              <a:gd name="T57" fmla="*/ 4653 h 20000"/>
                              <a:gd name="T58" fmla="*/ 3278 w 20000"/>
                              <a:gd name="T59" fmla="*/ 4490 h 20000"/>
                              <a:gd name="T60" fmla="*/ 3411 w 20000"/>
                              <a:gd name="T61" fmla="*/ 4300 h 20000"/>
                              <a:gd name="T62" fmla="*/ 3543 w 20000"/>
                              <a:gd name="T63" fmla="*/ 4082 h 20000"/>
                              <a:gd name="T64" fmla="*/ 3679 w 20000"/>
                              <a:gd name="T65" fmla="*/ 3849 h 20000"/>
                              <a:gd name="T66" fmla="*/ 3812 w 20000"/>
                              <a:gd name="T67" fmla="*/ 3599 h 20000"/>
                              <a:gd name="T68" fmla="*/ 3945 w 20000"/>
                              <a:gd name="T69" fmla="*/ 3337 h 20000"/>
                              <a:gd name="T70" fmla="*/ 4080 w 20000"/>
                              <a:gd name="T71" fmla="*/ 3066 h 20000"/>
                              <a:gd name="T72" fmla="*/ 4210 w 20000"/>
                              <a:gd name="T73" fmla="*/ 2788 h 20000"/>
                              <a:gd name="T74" fmla="*/ 4335 w 20000"/>
                              <a:gd name="T75" fmla="*/ 2517 h 20000"/>
                              <a:gd name="T76" fmla="*/ 4460 w 20000"/>
                              <a:gd name="T77" fmla="*/ 2234 h 20000"/>
                              <a:gd name="T78" fmla="*/ 4582 w 20000"/>
                              <a:gd name="T79" fmla="*/ 1962 h 20000"/>
                              <a:gd name="T80" fmla="*/ 4697 w 20000"/>
                              <a:gd name="T81" fmla="*/ 1696 h 20000"/>
                              <a:gd name="T82" fmla="*/ 4811 w 20000"/>
                              <a:gd name="T83" fmla="*/ 1435 h 20000"/>
                              <a:gd name="T84" fmla="*/ 4914 w 20000"/>
                              <a:gd name="T85" fmla="*/ 1191 h 20000"/>
                              <a:gd name="T86" fmla="*/ 5013 w 20000"/>
                              <a:gd name="T87" fmla="*/ 968 h 20000"/>
                              <a:gd name="T88" fmla="*/ 5105 w 20000"/>
                              <a:gd name="T89" fmla="*/ 750 h 20000"/>
                              <a:gd name="T90" fmla="*/ 5190 w 20000"/>
                              <a:gd name="T91" fmla="*/ 565 h 20000"/>
                              <a:gd name="T92" fmla="*/ 5265 w 20000"/>
                              <a:gd name="T93" fmla="*/ 408 h 20000"/>
                              <a:gd name="T94" fmla="*/ 5336 w 20000"/>
                              <a:gd name="T95" fmla="*/ 266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0"/>
                                </a:moveTo>
                                <a:lnTo>
                                  <a:pt x="198" y="628"/>
                                </a:lnTo>
                                <a:lnTo>
                                  <a:pt x="396" y="1257"/>
                                </a:lnTo>
                                <a:lnTo>
                                  <a:pt x="594" y="1885"/>
                                </a:lnTo>
                                <a:lnTo>
                                  <a:pt x="792" y="2514"/>
                                </a:lnTo>
                                <a:lnTo>
                                  <a:pt x="990" y="3142"/>
                                </a:lnTo>
                                <a:lnTo>
                                  <a:pt x="1188" y="3749"/>
                                </a:lnTo>
                                <a:lnTo>
                                  <a:pt x="1385" y="4355"/>
                                </a:lnTo>
                                <a:lnTo>
                                  <a:pt x="1583" y="4962"/>
                                </a:lnTo>
                                <a:lnTo>
                                  <a:pt x="1781" y="5569"/>
                                </a:lnTo>
                                <a:lnTo>
                                  <a:pt x="1979" y="6154"/>
                                </a:lnTo>
                                <a:lnTo>
                                  <a:pt x="2177" y="6739"/>
                                </a:lnTo>
                                <a:lnTo>
                                  <a:pt x="2375" y="7302"/>
                                </a:lnTo>
                                <a:lnTo>
                                  <a:pt x="2573" y="7887"/>
                                </a:lnTo>
                                <a:lnTo>
                                  <a:pt x="2771" y="8472"/>
                                </a:lnTo>
                                <a:lnTo>
                                  <a:pt x="2969" y="9036"/>
                                </a:lnTo>
                                <a:lnTo>
                                  <a:pt x="3167" y="9599"/>
                                </a:lnTo>
                                <a:lnTo>
                                  <a:pt x="3365" y="10141"/>
                                </a:lnTo>
                                <a:lnTo>
                                  <a:pt x="3563" y="10661"/>
                                </a:lnTo>
                                <a:lnTo>
                                  <a:pt x="3761" y="11203"/>
                                </a:lnTo>
                                <a:lnTo>
                                  <a:pt x="3958" y="11723"/>
                                </a:lnTo>
                                <a:lnTo>
                                  <a:pt x="4156" y="12221"/>
                                </a:lnTo>
                                <a:lnTo>
                                  <a:pt x="4364" y="12719"/>
                                </a:lnTo>
                                <a:lnTo>
                                  <a:pt x="4572" y="13196"/>
                                </a:lnTo>
                                <a:lnTo>
                                  <a:pt x="4780" y="13651"/>
                                </a:lnTo>
                                <a:lnTo>
                                  <a:pt x="4978" y="14128"/>
                                </a:lnTo>
                                <a:lnTo>
                                  <a:pt x="5176" y="14583"/>
                                </a:lnTo>
                                <a:lnTo>
                                  <a:pt x="5374" y="15016"/>
                                </a:lnTo>
                                <a:lnTo>
                                  <a:pt x="5571" y="15428"/>
                                </a:lnTo>
                                <a:lnTo>
                                  <a:pt x="5779" y="15840"/>
                                </a:lnTo>
                                <a:lnTo>
                                  <a:pt x="5987" y="16208"/>
                                </a:lnTo>
                                <a:lnTo>
                                  <a:pt x="6185" y="16598"/>
                                </a:lnTo>
                                <a:lnTo>
                                  <a:pt x="6383" y="16966"/>
                                </a:lnTo>
                                <a:lnTo>
                                  <a:pt x="6581" y="17291"/>
                                </a:lnTo>
                                <a:lnTo>
                                  <a:pt x="6789" y="17616"/>
                                </a:lnTo>
                                <a:lnTo>
                                  <a:pt x="6997" y="17920"/>
                                </a:lnTo>
                                <a:lnTo>
                                  <a:pt x="7204" y="18180"/>
                                </a:lnTo>
                                <a:lnTo>
                                  <a:pt x="7402" y="18462"/>
                                </a:lnTo>
                                <a:lnTo>
                                  <a:pt x="7610" y="18722"/>
                                </a:lnTo>
                                <a:lnTo>
                                  <a:pt x="7818" y="18938"/>
                                </a:lnTo>
                                <a:lnTo>
                                  <a:pt x="8026" y="19155"/>
                                </a:lnTo>
                                <a:lnTo>
                                  <a:pt x="8234" y="19328"/>
                                </a:lnTo>
                                <a:lnTo>
                                  <a:pt x="8441" y="19480"/>
                                </a:lnTo>
                                <a:lnTo>
                                  <a:pt x="8649" y="19632"/>
                                </a:lnTo>
                                <a:lnTo>
                                  <a:pt x="8857" y="19762"/>
                                </a:lnTo>
                                <a:lnTo>
                                  <a:pt x="9065" y="19848"/>
                                </a:lnTo>
                                <a:lnTo>
                                  <a:pt x="9273" y="19913"/>
                                </a:lnTo>
                                <a:lnTo>
                                  <a:pt x="9480" y="19957"/>
                                </a:lnTo>
                                <a:lnTo>
                                  <a:pt x="9698" y="19957"/>
                                </a:lnTo>
                                <a:lnTo>
                                  <a:pt x="9906" y="19978"/>
                                </a:lnTo>
                                <a:lnTo>
                                  <a:pt x="10114" y="19935"/>
                                </a:lnTo>
                                <a:lnTo>
                                  <a:pt x="10332" y="19827"/>
                                </a:lnTo>
                                <a:lnTo>
                                  <a:pt x="10559" y="19718"/>
                                </a:lnTo>
                                <a:lnTo>
                                  <a:pt x="10787" y="19545"/>
                                </a:lnTo>
                                <a:lnTo>
                                  <a:pt x="11014" y="19328"/>
                                </a:lnTo>
                                <a:lnTo>
                                  <a:pt x="11242" y="19112"/>
                                </a:lnTo>
                                <a:lnTo>
                                  <a:pt x="11479" y="18852"/>
                                </a:lnTo>
                                <a:lnTo>
                                  <a:pt x="11717" y="18548"/>
                                </a:lnTo>
                                <a:lnTo>
                                  <a:pt x="11964" y="18245"/>
                                </a:lnTo>
                                <a:lnTo>
                                  <a:pt x="12212" y="17898"/>
                                </a:lnTo>
                                <a:lnTo>
                                  <a:pt x="12459" y="17508"/>
                                </a:lnTo>
                                <a:lnTo>
                                  <a:pt x="12707" y="17140"/>
                                </a:lnTo>
                                <a:lnTo>
                                  <a:pt x="12954" y="16728"/>
                                </a:lnTo>
                                <a:lnTo>
                                  <a:pt x="13201" y="16273"/>
                                </a:lnTo>
                                <a:lnTo>
                                  <a:pt x="13449" y="15818"/>
                                </a:lnTo>
                                <a:lnTo>
                                  <a:pt x="13706" y="15341"/>
                                </a:lnTo>
                                <a:lnTo>
                                  <a:pt x="13953" y="14843"/>
                                </a:lnTo>
                                <a:lnTo>
                                  <a:pt x="14201" y="14345"/>
                                </a:lnTo>
                                <a:lnTo>
                                  <a:pt x="14448" y="13824"/>
                                </a:lnTo>
                                <a:lnTo>
                                  <a:pt x="14696" y="13304"/>
                                </a:lnTo>
                                <a:lnTo>
                                  <a:pt x="14953" y="12763"/>
                                </a:lnTo>
                                <a:lnTo>
                                  <a:pt x="15200" y="12221"/>
                                </a:lnTo>
                                <a:lnTo>
                                  <a:pt x="15448" y="11658"/>
                                </a:lnTo>
                                <a:lnTo>
                                  <a:pt x="15685" y="11116"/>
                                </a:lnTo>
                                <a:lnTo>
                                  <a:pt x="15923" y="10574"/>
                                </a:lnTo>
                                <a:lnTo>
                                  <a:pt x="16150" y="10033"/>
                                </a:lnTo>
                                <a:lnTo>
                                  <a:pt x="16388" y="9469"/>
                                </a:lnTo>
                                <a:lnTo>
                                  <a:pt x="16616" y="8906"/>
                                </a:lnTo>
                                <a:lnTo>
                                  <a:pt x="16843" y="8364"/>
                                </a:lnTo>
                                <a:lnTo>
                                  <a:pt x="17071" y="7822"/>
                                </a:lnTo>
                                <a:lnTo>
                                  <a:pt x="17288" y="7281"/>
                                </a:lnTo>
                                <a:lnTo>
                                  <a:pt x="17496" y="6761"/>
                                </a:lnTo>
                                <a:lnTo>
                                  <a:pt x="17714" y="6241"/>
                                </a:lnTo>
                                <a:lnTo>
                                  <a:pt x="17922" y="5720"/>
                                </a:lnTo>
                                <a:lnTo>
                                  <a:pt x="18120" y="5222"/>
                                </a:lnTo>
                                <a:lnTo>
                                  <a:pt x="18308" y="4745"/>
                                </a:lnTo>
                                <a:lnTo>
                                  <a:pt x="18496" y="4290"/>
                                </a:lnTo>
                                <a:lnTo>
                                  <a:pt x="18674" y="3857"/>
                                </a:lnTo>
                                <a:lnTo>
                                  <a:pt x="18852" y="3402"/>
                                </a:lnTo>
                                <a:lnTo>
                                  <a:pt x="19020" y="2990"/>
                                </a:lnTo>
                                <a:lnTo>
                                  <a:pt x="19179" y="2622"/>
                                </a:lnTo>
                                <a:lnTo>
                                  <a:pt x="19337" y="2254"/>
                                </a:lnTo>
                                <a:lnTo>
                                  <a:pt x="19485" y="1907"/>
                                </a:lnTo>
                                <a:lnTo>
                                  <a:pt x="19614" y="1625"/>
                                </a:lnTo>
                                <a:lnTo>
                                  <a:pt x="19753" y="1322"/>
                                </a:lnTo>
                                <a:lnTo>
                                  <a:pt x="19881" y="1062"/>
                                </a:lnTo>
                                <a:lnTo>
                                  <a:pt x="19990" y="845"/>
                                </a:lnTo>
                              </a:path>
                            </a:pathLst>
                          </a:custGeom>
                          <a:noFill/>
                          <a:ln w="19050" cap="flat" cmpd="sng">
                            <a:solidFill>
                              <a:srgbClr val="0000FF"/>
                            </a:solidFill>
                            <a:prstDash val="solid"/>
                            <a:round/>
                            <a:headEnd type="none" w="med" len="med"/>
                            <a:tailEnd type="none" w="med" len="med"/>
                          </a:ln>
                          <a:effectLst/>
                        </p:spPr>
                        <p:txBody>
                          <a:bodyPr/>
                          <a:lstStyle/>
                          <a:p>
                            <a:endParaRPr lang="zh-CN" altLang="en-US"/>
                          </a:p>
                        </p:txBody>
                      </p:sp>
                    </p:grpSp>
                    <p:sp>
                      <p:nvSpPr>
                        <p:cNvPr id="54361" name="Freeform 18"/>
                        <p:cNvSpPr>
                          <a:spLocks/>
                        </p:cNvSpPr>
                        <p:nvPr/>
                      </p:nvSpPr>
                      <p:spPr bwMode="auto">
                        <a:xfrm>
                          <a:off x="5560" y="2172"/>
                          <a:ext cx="1164" cy="492"/>
                        </a:xfrm>
                        <a:custGeom>
                          <a:avLst/>
                          <a:gdLst>
                            <a:gd name="T0" fmla="*/ 1 w 20000"/>
                            <a:gd name="T1" fmla="*/ 11 h 20000"/>
                            <a:gd name="T2" fmla="*/ 2 w 20000"/>
                            <a:gd name="T3" fmla="*/ 10 h 20000"/>
                            <a:gd name="T4" fmla="*/ 4 w 20000"/>
                            <a:gd name="T5" fmla="*/ 10 h 20000"/>
                            <a:gd name="T6" fmla="*/ 5 w 20000"/>
                            <a:gd name="T7" fmla="*/ 9 h 20000"/>
                            <a:gd name="T8" fmla="*/ 7 w 20000"/>
                            <a:gd name="T9" fmla="*/ 8 h 20000"/>
                            <a:gd name="T10" fmla="*/ 8 w 20000"/>
                            <a:gd name="T11" fmla="*/ 8 h 20000"/>
                            <a:gd name="T12" fmla="*/ 10 w 20000"/>
                            <a:gd name="T13" fmla="*/ 7 h 20000"/>
                            <a:gd name="T14" fmla="*/ 11 w 20000"/>
                            <a:gd name="T15" fmla="*/ 6 h 20000"/>
                            <a:gd name="T16" fmla="*/ 13 w 20000"/>
                            <a:gd name="T17" fmla="*/ 6 h 20000"/>
                            <a:gd name="T18" fmla="*/ 14 w 20000"/>
                            <a:gd name="T19" fmla="*/ 5 h 20000"/>
                            <a:gd name="T20" fmla="*/ 16 w 20000"/>
                            <a:gd name="T21" fmla="*/ 4 h 20000"/>
                            <a:gd name="T22" fmla="*/ 17 w 20000"/>
                            <a:gd name="T23" fmla="*/ 4 h 20000"/>
                            <a:gd name="T24" fmla="*/ 19 w 20000"/>
                            <a:gd name="T25" fmla="*/ 3 h 20000"/>
                            <a:gd name="T26" fmla="*/ 20 w 20000"/>
                            <a:gd name="T27" fmla="*/ 3 h 20000"/>
                            <a:gd name="T28" fmla="*/ 22 w 20000"/>
                            <a:gd name="T29" fmla="*/ 2 h 20000"/>
                            <a:gd name="T30" fmla="*/ 23 w 20000"/>
                            <a:gd name="T31" fmla="*/ 2 h 20000"/>
                            <a:gd name="T32" fmla="*/ 25 w 20000"/>
                            <a:gd name="T33" fmla="*/ 1 h 20000"/>
                            <a:gd name="T34" fmla="*/ 26 w 20000"/>
                            <a:gd name="T35" fmla="*/ 1 h 20000"/>
                            <a:gd name="T36" fmla="*/ 28 w 20000"/>
                            <a:gd name="T37" fmla="*/ 1 h 20000"/>
                            <a:gd name="T38" fmla="*/ 29 w 20000"/>
                            <a:gd name="T39" fmla="*/ 1 h 20000"/>
                            <a:gd name="T40" fmla="*/ 31 w 20000"/>
                            <a:gd name="T41" fmla="*/ 0 h 20000"/>
                            <a:gd name="T42" fmla="*/ 32 w 20000"/>
                            <a:gd name="T43" fmla="*/ 0 h 20000"/>
                            <a:gd name="T44" fmla="*/ 33 w 20000"/>
                            <a:gd name="T45" fmla="*/ 0 h 20000"/>
                            <a:gd name="T46" fmla="*/ 35 w 20000"/>
                            <a:gd name="T47" fmla="*/ 0 h 20000"/>
                            <a:gd name="T48" fmla="*/ 36 w 20000"/>
                            <a:gd name="T49" fmla="*/ 0 h 20000"/>
                            <a:gd name="T50" fmla="*/ 38 w 20000"/>
                            <a:gd name="T51" fmla="*/ 0 h 20000"/>
                            <a:gd name="T52" fmla="*/ 39 w 20000"/>
                            <a:gd name="T53" fmla="*/ 0 h 20000"/>
                            <a:gd name="T54" fmla="*/ 41 w 20000"/>
                            <a:gd name="T55" fmla="*/ 1 h 20000"/>
                            <a:gd name="T56" fmla="*/ 42 w 20000"/>
                            <a:gd name="T57" fmla="*/ 1 h 20000"/>
                            <a:gd name="T58" fmla="*/ 44 w 20000"/>
                            <a:gd name="T59" fmla="*/ 1 h 20000"/>
                            <a:gd name="T60" fmla="*/ 45 w 20000"/>
                            <a:gd name="T61" fmla="*/ 2 h 20000"/>
                            <a:gd name="T62" fmla="*/ 47 w 20000"/>
                            <a:gd name="T63" fmla="*/ 2 h 20000"/>
                            <a:gd name="T64" fmla="*/ 48 w 20000"/>
                            <a:gd name="T65" fmla="*/ 3 h 20000"/>
                            <a:gd name="T66" fmla="*/ 50 w 20000"/>
                            <a:gd name="T67" fmla="*/ 4 h 20000"/>
                            <a:gd name="T68" fmla="*/ 52 w 20000"/>
                            <a:gd name="T69" fmla="*/ 4 h 20000"/>
                            <a:gd name="T70" fmla="*/ 53 w 20000"/>
                            <a:gd name="T71" fmla="*/ 5 h 20000"/>
                            <a:gd name="T72" fmla="*/ 55 w 20000"/>
                            <a:gd name="T73" fmla="*/ 6 h 20000"/>
                            <a:gd name="T74" fmla="*/ 56 w 20000"/>
                            <a:gd name="T75" fmla="*/ 6 h 20000"/>
                            <a:gd name="T76" fmla="*/ 57 w 20000"/>
                            <a:gd name="T77" fmla="*/ 7 h 20000"/>
                            <a:gd name="T78" fmla="*/ 59 w 20000"/>
                            <a:gd name="T79" fmla="*/ 8 h 20000"/>
                            <a:gd name="T80" fmla="*/ 60 w 20000"/>
                            <a:gd name="T81" fmla="*/ 8 h 20000"/>
                            <a:gd name="T82" fmla="*/ 61 w 20000"/>
                            <a:gd name="T83" fmla="*/ 9 h 20000"/>
                            <a:gd name="T84" fmla="*/ 63 w 20000"/>
                            <a:gd name="T85" fmla="*/ 10 h 20000"/>
                            <a:gd name="T86" fmla="*/ 64 w 20000"/>
                            <a:gd name="T87" fmla="*/ 10 h 20000"/>
                            <a:gd name="T88" fmla="*/ 65 w 20000"/>
                            <a:gd name="T89" fmla="*/ 11 h 20000"/>
                            <a:gd name="T90" fmla="*/ 66 w 20000"/>
                            <a:gd name="T91" fmla="*/ 11 h 20000"/>
                            <a:gd name="T92" fmla="*/ 67 w 20000"/>
                            <a:gd name="T93" fmla="*/ 12 h 20000"/>
                            <a:gd name="T94" fmla="*/ 67 w 20000"/>
                            <a:gd name="T95" fmla="*/ 12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0000FF"/>
                          </a:solidFill>
                          <a:prstDash val="solid"/>
                          <a:round/>
                          <a:headEnd type="none" w="med" len="med"/>
                          <a:tailEnd type="none" w="med" len="med"/>
                        </a:ln>
                        <a:effectLst/>
                      </p:spPr>
                      <p:txBody>
                        <a:bodyPr/>
                        <a:lstStyle/>
                        <a:p>
                          <a:endParaRPr lang="zh-CN" altLang="en-US"/>
                        </a:p>
                      </p:txBody>
                    </p:sp>
                  </p:grpSp>
                  <p:sp>
                    <p:nvSpPr>
                      <p:cNvPr id="54359" name="Line 19"/>
                      <p:cNvSpPr>
                        <a:spLocks noChangeShapeType="1"/>
                      </p:cNvSpPr>
                      <p:nvPr/>
                    </p:nvSpPr>
                    <p:spPr bwMode="auto">
                      <a:xfrm>
                        <a:off x="2196" y="3348"/>
                        <a:ext cx="2940" cy="0"/>
                      </a:xfrm>
                      <a:prstGeom prst="line">
                        <a:avLst/>
                      </a:prstGeom>
                      <a:noFill/>
                      <a:ln w="15875">
                        <a:solidFill>
                          <a:srgbClr val="000000"/>
                        </a:solidFill>
                        <a:prstDash val="lgDashDot"/>
                        <a:round/>
                        <a:headEnd/>
                        <a:tailEnd/>
                      </a:ln>
                    </p:spPr>
                    <p:txBody>
                      <a:bodyPr/>
                      <a:lstStyle/>
                      <a:p>
                        <a:endParaRPr lang="zh-CN" altLang="en-US"/>
                      </a:p>
                    </p:txBody>
                  </p:sp>
                </p:grpSp>
                <p:grpSp>
                  <p:nvGrpSpPr>
                    <p:cNvPr id="54332" name="Group 20"/>
                    <p:cNvGrpSpPr>
                      <a:grpSpLocks/>
                    </p:cNvGrpSpPr>
                    <p:nvPr/>
                  </p:nvGrpSpPr>
                  <p:grpSpPr bwMode="auto">
                    <a:xfrm>
                      <a:off x="2376" y="3540"/>
                      <a:ext cx="2945" cy="871"/>
                      <a:chOff x="5484" y="3732"/>
                      <a:chExt cx="2945" cy="871"/>
                    </a:xfrm>
                  </p:grpSpPr>
                  <p:sp>
                    <p:nvSpPr>
                      <p:cNvPr id="54350" name="Line 21"/>
                      <p:cNvSpPr>
                        <a:spLocks noChangeShapeType="1"/>
                      </p:cNvSpPr>
                      <p:nvPr/>
                    </p:nvSpPr>
                    <p:spPr bwMode="auto">
                      <a:xfrm>
                        <a:off x="5484" y="4176"/>
                        <a:ext cx="2940" cy="0"/>
                      </a:xfrm>
                      <a:prstGeom prst="line">
                        <a:avLst/>
                      </a:prstGeom>
                      <a:noFill/>
                      <a:ln w="15875">
                        <a:solidFill>
                          <a:srgbClr val="000000"/>
                        </a:solidFill>
                        <a:prstDash val="lgDashDot"/>
                        <a:round/>
                        <a:headEnd/>
                        <a:tailEnd/>
                      </a:ln>
                    </p:spPr>
                    <p:txBody>
                      <a:bodyPr/>
                      <a:lstStyle/>
                      <a:p>
                        <a:endParaRPr lang="zh-CN" altLang="en-US"/>
                      </a:p>
                    </p:txBody>
                  </p:sp>
                  <p:grpSp>
                    <p:nvGrpSpPr>
                      <p:cNvPr id="54351" name="Group 22"/>
                      <p:cNvGrpSpPr>
                        <a:grpSpLocks/>
                      </p:cNvGrpSpPr>
                      <p:nvPr/>
                    </p:nvGrpSpPr>
                    <p:grpSpPr bwMode="auto">
                      <a:xfrm>
                        <a:off x="5500" y="3732"/>
                        <a:ext cx="2929" cy="871"/>
                        <a:chOff x="5500" y="3744"/>
                        <a:chExt cx="3985" cy="871"/>
                      </a:xfrm>
                    </p:grpSpPr>
                    <p:grpSp>
                      <p:nvGrpSpPr>
                        <p:cNvPr id="54352" name="Group 23"/>
                        <p:cNvGrpSpPr>
                          <a:grpSpLocks/>
                        </p:cNvGrpSpPr>
                        <p:nvPr/>
                      </p:nvGrpSpPr>
                      <p:grpSpPr bwMode="auto">
                        <a:xfrm>
                          <a:off x="5500" y="3744"/>
                          <a:ext cx="1993" cy="859"/>
                          <a:chOff x="0" y="0"/>
                          <a:chExt cx="20000" cy="20001"/>
                        </a:xfrm>
                      </p:grpSpPr>
                      <p:sp>
                        <p:nvSpPr>
                          <p:cNvPr id="54356" name="Freeform 24"/>
                          <p:cNvSpPr>
                            <a:spLocks/>
                          </p:cNvSpPr>
                          <p:nvPr/>
                        </p:nvSpPr>
                        <p:spPr bwMode="auto">
                          <a:xfrm>
                            <a:off x="0" y="0"/>
                            <a:ext cx="9741" cy="10353"/>
                          </a:xfrm>
                          <a:custGeom>
                            <a:avLst/>
                            <a:gdLst>
                              <a:gd name="T0" fmla="*/ 53 w 20000"/>
                              <a:gd name="T1" fmla="*/ 4961 h 20000"/>
                              <a:gd name="T2" fmla="*/ 157 w 20000"/>
                              <a:gd name="T3" fmla="*/ 4635 h 20000"/>
                              <a:gd name="T4" fmla="*/ 262 w 20000"/>
                              <a:gd name="T5" fmla="*/ 4309 h 20000"/>
                              <a:gd name="T6" fmla="*/ 367 w 20000"/>
                              <a:gd name="T7" fmla="*/ 3994 h 20000"/>
                              <a:gd name="T8" fmla="*/ 472 w 20000"/>
                              <a:gd name="T9" fmla="*/ 3679 h 20000"/>
                              <a:gd name="T10" fmla="*/ 582 w 20000"/>
                              <a:gd name="T11" fmla="*/ 3376 h 20000"/>
                              <a:gd name="T12" fmla="*/ 687 w 20000"/>
                              <a:gd name="T13" fmla="*/ 3073 h 20000"/>
                              <a:gd name="T14" fmla="*/ 791 w 20000"/>
                              <a:gd name="T15" fmla="*/ 2775 h 20000"/>
                              <a:gd name="T16" fmla="*/ 897 w 20000"/>
                              <a:gd name="T17" fmla="*/ 2488 h 20000"/>
                              <a:gd name="T18" fmla="*/ 1001 w 20000"/>
                              <a:gd name="T19" fmla="*/ 2208 h 20000"/>
                              <a:gd name="T20" fmla="*/ 1106 w 20000"/>
                              <a:gd name="T21" fmla="*/ 1944 h 20000"/>
                              <a:gd name="T22" fmla="*/ 1214 w 20000"/>
                              <a:gd name="T23" fmla="*/ 1696 h 20000"/>
                              <a:gd name="T24" fmla="*/ 1318 w 20000"/>
                              <a:gd name="T25" fmla="*/ 1455 h 20000"/>
                              <a:gd name="T26" fmla="*/ 1418 w 20000"/>
                              <a:gd name="T27" fmla="*/ 1225 h 20000"/>
                              <a:gd name="T28" fmla="*/ 1523 w 20000"/>
                              <a:gd name="T29" fmla="*/ 1011 h 20000"/>
                              <a:gd name="T30" fmla="*/ 1628 w 20000"/>
                              <a:gd name="T31" fmla="*/ 820 h 20000"/>
                              <a:gd name="T32" fmla="*/ 1730 w 20000"/>
                              <a:gd name="T33" fmla="*/ 646 h 20000"/>
                              <a:gd name="T34" fmla="*/ 1835 w 20000"/>
                              <a:gd name="T35" fmla="*/ 489 h 20000"/>
                              <a:gd name="T36" fmla="*/ 1937 w 20000"/>
                              <a:gd name="T37" fmla="*/ 348 h 20000"/>
                              <a:gd name="T38" fmla="*/ 2037 w 20000"/>
                              <a:gd name="T39" fmla="*/ 230 h 20000"/>
                              <a:gd name="T40" fmla="*/ 2140 w 20000"/>
                              <a:gd name="T41" fmla="*/ 135 h 20000"/>
                              <a:gd name="T42" fmla="*/ 2240 w 20000"/>
                              <a:gd name="T43" fmla="*/ 67 h 20000"/>
                              <a:gd name="T44" fmla="*/ 2340 w 20000"/>
                              <a:gd name="T45" fmla="*/ 22 h 20000"/>
                              <a:gd name="T46" fmla="*/ 2442 w 20000"/>
                              <a:gd name="T47" fmla="*/ 0 h 20000"/>
                              <a:gd name="T48" fmla="*/ 2539 w 20000"/>
                              <a:gd name="T49" fmla="*/ 6 h 20000"/>
                              <a:gd name="T50" fmla="*/ 2639 w 20000"/>
                              <a:gd name="T51" fmla="*/ 56 h 20000"/>
                              <a:gd name="T52" fmla="*/ 2744 w 20000"/>
                              <a:gd name="T53" fmla="*/ 140 h 20000"/>
                              <a:gd name="T54" fmla="*/ 2849 w 20000"/>
                              <a:gd name="T55" fmla="*/ 264 h 20000"/>
                              <a:gd name="T56" fmla="*/ 2956 w 20000"/>
                              <a:gd name="T57" fmla="*/ 421 h 20000"/>
                              <a:gd name="T58" fmla="*/ 3066 w 20000"/>
                              <a:gd name="T59" fmla="*/ 612 h 20000"/>
                              <a:gd name="T60" fmla="*/ 3176 w 20000"/>
                              <a:gd name="T61" fmla="*/ 831 h 20000"/>
                              <a:gd name="T62" fmla="*/ 3284 w 20000"/>
                              <a:gd name="T63" fmla="*/ 1067 h 20000"/>
                              <a:gd name="T64" fmla="*/ 3393 w 20000"/>
                              <a:gd name="T65" fmla="*/ 1326 h 20000"/>
                              <a:gd name="T66" fmla="*/ 3503 w 20000"/>
                              <a:gd name="T67" fmla="*/ 1607 h 20000"/>
                              <a:gd name="T68" fmla="*/ 3611 w 20000"/>
                              <a:gd name="T69" fmla="*/ 1893 h 20000"/>
                              <a:gd name="T70" fmla="*/ 3721 w 20000"/>
                              <a:gd name="T71" fmla="*/ 2196 h 20000"/>
                              <a:gd name="T72" fmla="*/ 3823 w 20000"/>
                              <a:gd name="T73" fmla="*/ 2505 h 20000"/>
                              <a:gd name="T74" fmla="*/ 3923 w 20000"/>
                              <a:gd name="T75" fmla="*/ 2809 h 20000"/>
                              <a:gd name="T76" fmla="*/ 4023 w 20000"/>
                              <a:gd name="T77" fmla="*/ 3118 h 20000"/>
                              <a:gd name="T78" fmla="*/ 4118 w 20000"/>
                              <a:gd name="T79" fmla="*/ 3421 h 20000"/>
                              <a:gd name="T80" fmla="*/ 4210 w 20000"/>
                              <a:gd name="T81" fmla="*/ 3713 h 20000"/>
                              <a:gd name="T82" fmla="*/ 4300 w 20000"/>
                              <a:gd name="T83" fmla="*/ 4006 h 20000"/>
                              <a:gd name="T84" fmla="*/ 4382 w 20000"/>
                              <a:gd name="T85" fmla="*/ 4275 h 20000"/>
                              <a:gd name="T86" fmla="*/ 4460 w 20000"/>
                              <a:gd name="T87" fmla="*/ 4522 h 20000"/>
                              <a:gd name="T88" fmla="*/ 4534 w 20000"/>
                              <a:gd name="T89" fmla="*/ 4758 h 20000"/>
                              <a:gd name="T90" fmla="*/ 4602 w 20000"/>
                              <a:gd name="T91" fmla="*/ 4972 h 20000"/>
                              <a:gd name="T92" fmla="*/ 4662 w 20000"/>
                              <a:gd name="T93" fmla="*/ 5145 h 20000"/>
                              <a:gd name="T94" fmla="*/ 4720 w 20000"/>
                              <a:gd name="T95" fmla="*/ 5303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0000FF"/>
                            </a:solidFill>
                            <a:prstDash val="solid"/>
                            <a:round/>
                            <a:headEnd type="none" w="med" len="med"/>
                            <a:tailEnd type="none" w="med" len="med"/>
                          </a:ln>
                          <a:effectLst/>
                        </p:spPr>
                        <p:txBody>
                          <a:bodyPr/>
                          <a:lstStyle/>
                          <a:p>
                            <a:endParaRPr lang="zh-CN" altLang="en-US"/>
                          </a:p>
                        </p:txBody>
                      </p:sp>
                      <p:sp>
                        <p:nvSpPr>
                          <p:cNvPr id="54357" name="Freeform 25"/>
                          <p:cNvSpPr>
                            <a:spLocks/>
                          </p:cNvSpPr>
                          <p:nvPr/>
                        </p:nvSpPr>
                        <p:spPr bwMode="auto">
                          <a:xfrm>
                            <a:off x="9638" y="9984"/>
                            <a:ext cx="10362" cy="10017"/>
                          </a:xfrm>
                          <a:custGeom>
                            <a:avLst/>
                            <a:gdLst>
                              <a:gd name="T0" fmla="*/ 53 w 20000"/>
                              <a:gd name="T1" fmla="*/ 158 h 20000"/>
                              <a:gd name="T2" fmla="*/ 160 w 20000"/>
                              <a:gd name="T3" fmla="*/ 473 h 20000"/>
                              <a:gd name="T4" fmla="*/ 266 w 20000"/>
                              <a:gd name="T5" fmla="*/ 788 h 20000"/>
                              <a:gd name="T6" fmla="*/ 372 w 20000"/>
                              <a:gd name="T7" fmla="*/ 1092 h 20000"/>
                              <a:gd name="T8" fmla="*/ 478 w 20000"/>
                              <a:gd name="T9" fmla="*/ 1397 h 20000"/>
                              <a:gd name="T10" fmla="*/ 584 w 20000"/>
                              <a:gd name="T11" fmla="*/ 1690 h 20000"/>
                              <a:gd name="T12" fmla="*/ 691 w 20000"/>
                              <a:gd name="T13" fmla="*/ 1978 h 20000"/>
                              <a:gd name="T14" fmla="*/ 797 w 20000"/>
                              <a:gd name="T15" fmla="*/ 2267 h 20000"/>
                              <a:gd name="T16" fmla="*/ 903 w 20000"/>
                              <a:gd name="T17" fmla="*/ 2544 h 20000"/>
                              <a:gd name="T18" fmla="*/ 1010 w 20000"/>
                              <a:gd name="T19" fmla="*/ 2810 h 20000"/>
                              <a:gd name="T20" fmla="*/ 1115 w 20000"/>
                              <a:gd name="T21" fmla="*/ 3066 h 20000"/>
                              <a:gd name="T22" fmla="*/ 1227 w 20000"/>
                              <a:gd name="T23" fmla="*/ 3310 h 20000"/>
                              <a:gd name="T24" fmla="*/ 1336 w 20000"/>
                              <a:gd name="T25" fmla="*/ 3544 h 20000"/>
                              <a:gd name="T26" fmla="*/ 1442 w 20000"/>
                              <a:gd name="T27" fmla="*/ 3767 h 20000"/>
                              <a:gd name="T28" fmla="*/ 1551 w 20000"/>
                              <a:gd name="T29" fmla="*/ 3973 h 20000"/>
                              <a:gd name="T30" fmla="*/ 1660 w 20000"/>
                              <a:gd name="T31" fmla="*/ 4164 h 20000"/>
                              <a:gd name="T32" fmla="*/ 1767 w 20000"/>
                              <a:gd name="T33" fmla="*/ 4337 h 20000"/>
                              <a:gd name="T34" fmla="*/ 1878 w 20000"/>
                              <a:gd name="T35" fmla="*/ 4495 h 20000"/>
                              <a:gd name="T36" fmla="*/ 1987 w 20000"/>
                              <a:gd name="T37" fmla="*/ 4631 h 20000"/>
                              <a:gd name="T38" fmla="*/ 2099 w 20000"/>
                              <a:gd name="T39" fmla="*/ 4751 h 20000"/>
                              <a:gd name="T40" fmla="*/ 2210 w 20000"/>
                              <a:gd name="T41" fmla="*/ 4848 h 20000"/>
                              <a:gd name="T42" fmla="*/ 2322 w 20000"/>
                              <a:gd name="T43" fmla="*/ 4925 h 20000"/>
                              <a:gd name="T44" fmla="*/ 2434 w 20000"/>
                              <a:gd name="T45" fmla="*/ 4979 h 20000"/>
                              <a:gd name="T46" fmla="*/ 2545 w 20000"/>
                              <a:gd name="T47" fmla="*/ 5006 h 20000"/>
                              <a:gd name="T48" fmla="*/ 2659 w 20000"/>
                              <a:gd name="T49" fmla="*/ 5012 h 20000"/>
                              <a:gd name="T50" fmla="*/ 2773 w 20000"/>
                              <a:gd name="T51" fmla="*/ 4973 h 20000"/>
                              <a:gd name="T52" fmla="*/ 2896 w 20000"/>
                              <a:gd name="T53" fmla="*/ 4903 h 20000"/>
                              <a:gd name="T54" fmla="*/ 3017 w 20000"/>
                              <a:gd name="T55" fmla="*/ 4794 h 20000"/>
                              <a:gd name="T56" fmla="*/ 3145 w 20000"/>
                              <a:gd name="T57" fmla="*/ 4653 h 20000"/>
                              <a:gd name="T58" fmla="*/ 3278 w 20000"/>
                              <a:gd name="T59" fmla="*/ 4490 h 20000"/>
                              <a:gd name="T60" fmla="*/ 3411 w 20000"/>
                              <a:gd name="T61" fmla="*/ 4300 h 20000"/>
                              <a:gd name="T62" fmla="*/ 3543 w 20000"/>
                              <a:gd name="T63" fmla="*/ 4082 h 20000"/>
                              <a:gd name="T64" fmla="*/ 3679 w 20000"/>
                              <a:gd name="T65" fmla="*/ 3849 h 20000"/>
                              <a:gd name="T66" fmla="*/ 3812 w 20000"/>
                              <a:gd name="T67" fmla="*/ 3599 h 20000"/>
                              <a:gd name="T68" fmla="*/ 3945 w 20000"/>
                              <a:gd name="T69" fmla="*/ 3337 h 20000"/>
                              <a:gd name="T70" fmla="*/ 4080 w 20000"/>
                              <a:gd name="T71" fmla="*/ 3066 h 20000"/>
                              <a:gd name="T72" fmla="*/ 4210 w 20000"/>
                              <a:gd name="T73" fmla="*/ 2788 h 20000"/>
                              <a:gd name="T74" fmla="*/ 4335 w 20000"/>
                              <a:gd name="T75" fmla="*/ 2517 h 20000"/>
                              <a:gd name="T76" fmla="*/ 4460 w 20000"/>
                              <a:gd name="T77" fmla="*/ 2234 h 20000"/>
                              <a:gd name="T78" fmla="*/ 4582 w 20000"/>
                              <a:gd name="T79" fmla="*/ 1962 h 20000"/>
                              <a:gd name="T80" fmla="*/ 4697 w 20000"/>
                              <a:gd name="T81" fmla="*/ 1696 h 20000"/>
                              <a:gd name="T82" fmla="*/ 4811 w 20000"/>
                              <a:gd name="T83" fmla="*/ 1435 h 20000"/>
                              <a:gd name="T84" fmla="*/ 4914 w 20000"/>
                              <a:gd name="T85" fmla="*/ 1191 h 20000"/>
                              <a:gd name="T86" fmla="*/ 5013 w 20000"/>
                              <a:gd name="T87" fmla="*/ 968 h 20000"/>
                              <a:gd name="T88" fmla="*/ 5105 w 20000"/>
                              <a:gd name="T89" fmla="*/ 750 h 20000"/>
                              <a:gd name="T90" fmla="*/ 5190 w 20000"/>
                              <a:gd name="T91" fmla="*/ 565 h 20000"/>
                              <a:gd name="T92" fmla="*/ 5265 w 20000"/>
                              <a:gd name="T93" fmla="*/ 408 h 20000"/>
                              <a:gd name="T94" fmla="*/ 5336 w 20000"/>
                              <a:gd name="T95" fmla="*/ 266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0"/>
                                </a:moveTo>
                                <a:lnTo>
                                  <a:pt x="198" y="628"/>
                                </a:lnTo>
                                <a:lnTo>
                                  <a:pt x="396" y="1257"/>
                                </a:lnTo>
                                <a:lnTo>
                                  <a:pt x="594" y="1885"/>
                                </a:lnTo>
                                <a:lnTo>
                                  <a:pt x="792" y="2514"/>
                                </a:lnTo>
                                <a:lnTo>
                                  <a:pt x="990" y="3142"/>
                                </a:lnTo>
                                <a:lnTo>
                                  <a:pt x="1188" y="3749"/>
                                </a:lnTo>
                                <a:lnTo>
                                  <a:pt x="1385" y="4355"/>
                                </a:lnTo>
                                <a:lnTo>
                                  <a:pt x="1583" y="4962"/>
                                </a:lnTo>
                                <a:lnTo>
                                  <a:pt x="1781" y="5569"/>
                                </a:lnTo>
                                <a:lnTo>
                                  <a:pt x="1979" y="6154"/>
                                </a:lnTo>
                                <a:lnTo>
                                  <a:pt x="2177" y="6739"/>
                                </a:lnTo>
                                <a:lnTo>
                                  <a:pt x="2375" y="7302"/>
                                </a:lnTo>
                                <a:lnTo>
                                  <a:pt x="2573" y="7887"/>
                                </a:lnTo>
                                <a:lnTo>
                                  <a:pt x="2771" y="8472"/>
                                </a:lnTo>
                                <a:lnTo>
                                  <a:pt x="2969" y="9036"/>
                                </a:lnTo>
                                <a:lnTo>
                                  <a:pt x="3167" y="9599"/>
                                </a:lnTo>
                                <a:lnTo>
                                  <a:pt x="3365" y="10141"/>
                                </a:lnTo>
                                <a:lnTo>
                                  <a:pt x="3563" y="10661"/>
                                </a:lnTo>
                                <a:lnTo>
                                  <a:pt x="3761" y="11203"/>
                                </a:lnTo>
                                <a:lnTo>
                                  <a:pt x="3958" y="11723"/>
                                </a:lnTo>
                                <a:lnTo>
                                  <a:pt x="4156" y="12221"/>
                                </a:lnTo>
                                <a:lnTo>
                                  <a:pt x="4364" y="12719"/>
                                </a:lnTo>
                                <a:lnTo>
                                  <a:pt x="4572" y="13196"/>
                                </a:lnTo>
                                <a:lnTo>
                                  <a:pt x="4780" y="13651"/>
                                </a:lnTo>
                                <a:lnTo>
                                  <a:pt x="4978" y="14128"/>
                                </a:lnTo>
                                <a:lnTo>
                                  <a:pt x="5176" y="14583"/>
                                </a:lnTo>
                                <a:lnTo>
                                  <a:pt x="5374" y="15016"/>
                                </a:lnTo>
                                <a:lnTo>
                                  <a:pt x="5571" y="15428"/>
                                </a:lnTo>
                                <a:lnTo>
                                  <a:pt x="5779" y="15840"/>
                                </a:lnTo>
                                <a:lnTo>
                                  <a:pt x="5987" y="16208"/>
                                </a:lnTo>
                                <a:lnTo>
                                  <a:pt x="6185" y="16598"/>
                                </a:lnTo>
                                <a:lnTo>
                                  <a:pt x="6383" y="16966"/>
                                </a:lnTo>
                                <a:lnTo>
                                  <a:pt x="6581" y="17291"/>
                                </a:lnTo>
                                <a:lnTo>
                                  <a:pt x="6789" y="17616"/>
                                </a:lnTo>
                                <a:lnTo>
                                  <a:pt x="6997" y="17920"/>
                                </a:lnTo>
                                <a:lnTo>
                                  <a:pt x="7204" y="18180"/>
                                </a:lnTo>
                                <a:lnTo>
                                  <a:pt x="7402" y="18462"/>
                                </a:lnTo>
                                <a:lnTo>
                                  <a:pt x="7610" y="18722"/>
                                </a:lnTo>
                                <a:lnTo>
                                  <a:pt x="7818" y="18938"/>
                                </a:lnTo>
                                <a:lnTo>
                                  <a:pt x="8026" y="19155"/>
                                </a:lnTo>
                                <a:lnTo>
                                  <a:pt x="8234" y="19328"/>
                                </a:lnTo>
                                <a:lnTo>
                                  <a:pt x="8441" y="19480"/>
                                </a:lnTo>
                                <a:lnTo>
                                  <a:pt x="8649" y="19632"/>
                                </a:lnTo>
                                <a:lnTo>
                                  <a:pt x="8857" y="19762"/>
                                </a:lnTo>
                                <a:lnTo>
                                  <a:pt x="9065" y="19848"/>
                                </a:lnTo>
                                <a:lnTo>
                                  <a:pt x="9273" y="19913"/>
                                </a:lnTo>
                                <a:lnTo>
                                  <a:pt x="9480" y="19957"/>
                                </a:lnTo>
                                <a:lnTo>
                                  <a:pt x="9698" y="19957"/>
                                </a:lnTo>
                                <a:lnTo>
                                  <a:pt x="9906" y="19978"/>
                                </a:lnTo>
                                <a:lnTo>
                                  <a:pt x="10114" y="19935"/>
                                </a:lnTo>
                                <a:lnTo>
                                  <a:pt x="10332" y="19827"/>
                                </a:lnTo>
                                <a:lnTo>
                                  <a:pt x="10559" y="19718"/>
                                </a:lnTo>
                                <a:lnTo>
                                  <a:pt x="10787" y="19545"/>
                                </a:lnTo>
                                <a:lnTo>
                                  <a:pt x="11014" y="19328"/>
                                </a:lnTo>
                                <a:lnTo>
                                  <a:pt x="11242" y="19112"/>
                                </a:lnTo>
                                <a:lnTo>
                                  <a:pt x="11479" y="18852"/>
                                </a:lnTo>
                                <a:lnTo>
                                  <a:pt x="11717" y="18548"/>
                                </a:lnTo>
                                <a:lnTo>
                                  <a:pt x="11964" y="18245"/>
                                </a:lnTo>
                                <a:lnTo>
                                  <a:pt x="12212" y="17898"/>
                                </a:lnTo>
                                <a:lnTo>
                                  <a:pt x="12459" y="17508"/>
                                </a:lnTo>
                                <a:lnTo>
                                  <a:pt x="12707" y="17140"/>
                                </a:lnTo>
                                <a:lnTo>
                                  <a:pt x="12954" y="16728"/>
                                </a:lnTo>
                                <a:lnTo>
                                  <a:pt x="13201" y="16273"/>
                                </a:lnTo>
                                <a:lnTo>
                                  <a:pt x="13449" y="15818"/>
                                </a:lnTo>
                                <a:lnTo>
                                  <a:pt x="13706" y="15341"/>
                                </a:lnTo>
                                <a:lnTo>
                                  <a:pt x="13953" y="14843"/>
                                </a:lnTo>
                                <a:lnTo>
                                  <a:pt x="14201" y="14345"/>
                                </a:lnTo>
                                <a:lnTo>
                                  <a:pt x="14448" y="13824"/>
                                </a:lnTo>
                                <a:lnTo>
                                  <a:pt x="14696" y="13304"/>
                                </a:lnTo>
                                <a:lnTo>
                                  <a:pt x="14953" y="12763"/>
                                </a:lnTo>
                                <a:lnTo>
                                  <a:pt x="15200" y="12221"/>
                                </a:lnTo>
                                <a:lnTo>
                                  <a:pt x="15448" y="11658"/>
                                </a:lnTo>
                                <a:lnTo>
                                  <a:pt x="15685" y="11116"/>
                                </a:lnTo>
                                <a:lnTo>
                                  <a:pt x="15923" y="10574"/>
                                </a:lnTo>
                                <a:lnTo>
                                  <a:pt x="16150" y="10033"/>
                                </a:lnTo>
                                <a:lnTo>
                                  <a:pt x="16388" y="9469"/>
                                </a:lnTo>
                                <a:lnTo>
                                  <a:pt x="16616" y="8906"/>
                                </a:lnTo>
                                <a:lnTo>
                                  <a:pt x="16843" y="8364"/>
                                </a:lnTo>
                                <a:lnTo>
                                  <a:pt x="17071" y="7822"/>
                                </a:lnTo>
                                <a:lnTo>
                                  <a:pt x="17288" y="7281"/>
                                </a:lnTo>
                                <a:lnTo>
                                  <a:pt x="17496" y="6761"/>
                                </a:lnTo>
                                <a:lnTo>
                                  <a:pt x="17714" y="6241"/>
                                </a:lnTo>
                                <a:lnTo>
                                  <a:pt x="17922" y="5720"/>
                                </a:lnTo>
                                <a:lnTo>
                                  <a:pt x="18120" y="5222"/>
                                </a:lnTo>
                                <a:lnTo>
                                  <a:pt x="18308" y="4745"/>
                                </a:lnTo>
                                <a:lnTo>
                                  <a:pt x="18496" y="4290"/>
                                </a:lnTo>
                                <a:lnTo>
                                  <a:pt x="18674" y="3857"/>
                                </a:lnTo>
                                <a:lnTo>
                                  <a:pt x="18852" y="3402"/>
                                </a:lnTo>
                                <a:lnTo>
                                  <a:pt x="19020" y="2990"/>
                                </a:lnTo>
                                <a:lnTo>
                                  <a:pt x="19179" y="2622"/>
                                </a:lnTo>
                                <a:lnTo>
                                  <a:pt x="19337" y="2254"/>
                                </a:lnTo>
                                <a:lnTo>
                                  <a:pt x="19485" y="1907"/>
                                </a:lnTo>
                                <a:lnTo>
                                  <a:pt x="19614" y="1625"/>
                                </a:lnTo>
                                <a:lnTo>
                                  <a:pt x="19753" y="1322"/>
                                </a:lnTo>
                                <a:lnTo>
                                  <a:pt x="19881" y="1062"/>
                                </a:lnTo>
                                <a:lnTo>
                                  <a:pt x="19990" y="845"/>
                                </a:lnTo>
                              </a:path>
                            </a:pathLst>
                          </a:custGeom>
                          <a:noFill/>
                          <a:ln w="19050" cap="flat" cmpd="sng">
                            <a:solidFill>
                              <a:srgbClr val="0000FF"/>
                            </a:solidFill>
                            <a:prstDash val="solid"/>
                            <a:round/>
                            <a:headEnd type="none" w="med" len="med"/>
                            <a:tailEnd type="none" w="med" len="med"/>
                          </a:ln>
                          <a:effectLst/>
                        </p:spPr>
                        <p:txBody>
                          <a:bodyPr/>
                          <a:lstStyle/>
                          <a:p>
                            <a:endParaRPr lang="zh-CN" altLang="en-US"/>
                          </a:p>
                        </p:txBody>
                      </p:sp>
                    </p:grpSp>
                    <p:grpSp>
                      <p:nvGrpSpPr>
                        <p:cNvPr id="54353" name="Group 26"/>
                        <p:cNvGrpSpPr>
                          <a:grpSpLocks/>
                        </p:cNvGrpSpPr>
                        <p:nvPr/>
                      </p:nvGrpSpPr>
                      <p:grpSpPr bwMode="auto">
                        <a:xfrm>
                          <a:off x="7492" y="3756"/>
                          <a:ext cx="1993" cy="859"/>
                          <a:chOff x="0" y="0"/>
                          <a:chExt cx="20000" cy="20001"/>
                        </a:xfrm>
                      </p:grpSpPr>
                      <p:sp>
                        <p:nvSpPr>
                          <p:cNvPr id="54354" name="Freeform 27"/>
                          <p:cNvSpPr>
                            <a:spLocks/>
                          </p:cNvSpPr>
                          <p:nvPr/>
                        </p:nvSpPr>
                        <p:spPr bwMode="auto">
                          <a:xfrm>
                            <a:off x="0" y="0"/>
                            <a:ext cx="9741" cy="10353"/>
                          </a:xfrm>
                          <a:custGeom>
                            <a:avLst/>
                            <a:gdLst>
                              <a:gd name="T0" fmla="*/ 53 w 20000"/>
                              <a:gd name="T1" fmla="*/ 4961 h 20000"/>
                              <a:gd name="T2" fmla="*/ 157 w 20000"/>
                              <a:gd name="T3" fmla="*/ 4635 h 20000"/>
                              <a:gd name="T4" fmla="*/ 262 w 20000"/>
                              <a:gd name="T5" fmla="*/ 4309 h 20000"/>
                              <a:gd name="T6" fmla="*/ 367 w 20000"/>
                              <a:gd name="T7" fmla="*/ 3994 h 20000"/>
                              <a:gd name="T8" fmla="*/ 472 w 20000"/>
                              <a:gd name="T9" fmla="*/ 3679 h 20000"/>
                              <a:gd name="T10" fmla="*/ 582 w 20000"/>
                              <a:gd name="T11" fmla="*/ 3376 h 20000"/>
                              <a:gd name="T12" fmla="*/ 687 w 20000"/>
                              <a:gd name="T13" fmla="*/ 3073 h 20000"/>
                              <a:gd name="T14" fmla="*/ 791 w 20000"/>
                              <a:gd name="T15" fmla="*/ 2775 h 20000"/>
                              <a:gd name="T16" fmla="*/ 897 w 20000"/>
                              <a:gd name="T17" fmla="*/ 2488 h 20000"/>
                              <a:gd name="T18" fmla="*/ 1001 w 20000"/>
                              <a:gd name="T19" fmla="*/ 2208 h 20000"/>
                              <a:gd name="T20" fmla="*/ 1106 w 20000"/>
                              <a:gd name="T21" fmla="*/ 1944 h 20000"/>
                              <a:gd name="T22" fmla="*/ 1214 w 20000"/>
                              <a:gd name="T23" fmla="*/ 1696 h 20000"/>
                              <a:gd name="T24" fmla="*/ 1318 w 20000"/>
                              <a:gd name="T25" fmla="*/ 1455 h 20000"/>
                              <a:gd name="T26" fmla="*/ 1418 w 20000"/>
                              <a:gd name="T27" fmla="*/ 1225 h 20000"/>
                              <a:gd name="T28" fmla="*/ 1523 w 20000"/>
                              <a:gd name="T29" fmla="*/ 1011 h 20000"/>
                              <a:gd name="T30" fmla="*/ 1628 w 20000"/>
                              <a:gd name="T31" fmla="*/ 820 h 20000"/>
                              <a:gd name="T32" fmla="*/ 1730 w 20000"/>
                              <a:gd name="T33" fmla="*/ 646 h 20000"/>
                              <a:gd name="T34" fmla="*/ 1835 w 20000"/>
                              <a:gd name="T35" fmla="*/ 489 h 20000"/>
                              <a:gd name="T36" fmla="*/ 1937 w 20000"/>
                              <a:gd name="T37" fmla="*/ 348 h 20000"/>
                              <a:gd name="T38" fmla="*/ 2037 w 20000"/>
                              <a:gd name="T39" fmla="*/ 230 h 20000"/>
                              <a:gd name="T40" fmla="*/ 2140 w 20000"/>
                              <a:gd name="T41" fmla="*/ 135 h 20000"/>
                              <a:gd name="T42" fmla="*/ 2240 w 20000"/>
                              <a:gd name="T43" fmla="*/ 67 h 20000"/>
                              <a:gd name="T44" fmla="*/ 2340 w 20000"/>
                              <a:gd name="T45" fmla="*/ 22 h 20000"/>
                              <a:gd name="T46" fmla="*/ 2442 w 20000"/>
                              <a:gd name="T47" fmla="*/ 0 h 20000"/>
                              <a:gd name="T48" fmla="*/ 2539 w 20000"/>
                              <a:gd name="T49" fmla="*/ 6 h 20000"/>
                              <a:gd name="T50" fmla="*/ 2639 w 20000"/>
                              <a:gd name="T51" fmla="*/ 56 h 20000"/>
                              <a:gd name="T52" fmla="*/ 2744 w 20000"/>
                              <a:gd name="T53" fmla="*/ 140 h 20000"/>
                              <a:gd name="T54" fmla="*/ 2849 w 20000"/>
                              <a:gd name="T55" fmla="*/ 264 h 20000"/>
                              <a:gd name="T56" fmla="*/ 2956 w 20000"/>
                              <a:gd name="T57" fmla="*/ 421 h 20000"/>
                              <a:gd name="T58" fmla="*/ 3066 w 20000"/>
                              <a:gd name="T59" fmla="*/ 612 h 20000"/>
                              <a:gd name="T60" fmla="*/ 3176 w 20000"/>
                              <a:gd name="T61" fmla="*/ 831 h 20000"/>
                              <a:gd name="T62" fmla="*/ 3284 w 20000"/>
                              <a:gd name="T63" fmla="*/ 1067 h 20000"/>
                              <a:gd name="T64" fmla="*/ 3393 w 20000"/>
                              <a:gd name="T65" fmla="*/ 1326 h 20000"/>
                              <a:gd name="T66" fmla="*/ 3503 w 20000"/>
                              <a:gd name="T67" fmla="*/ 1607 h 20000"/>
                              <a:gd name="T68" fmla="*/ 3611 w 20000"/>
                              <a:gd name="T69" fmla="*/ 1893 h 20000"/>
                              <a:gd name="T70" fmla="*/ 3721 w 20000"/>
                              <a:gd name="T71" fmla="*/ 2196 h 20000"/>
                              <a:gd name="T72" fmla="*/ 3823 w 20000"/>
                              <a:gd name="T73" fmla="*/ 2505 h 20000"/>
                              <a:gd name="T74" fmla="*/ 3923 w 20000"/>
                              <a:gd name="T75" fmla="*/ 2809 h 20000"/>
                              <a:gd name="T76" fmla="*/ 4023 w 20000"/>
                              <a:gd name="T77" fmla="*/ 3118 h 20000"/>
                              <a:gd name="T78" fmla="*/ 4118 w 20000"/>
                              <a:gd name="T79" fmla="*/ 3421 h 20000"/>
                              <a:gd name="T80" fmla="*/ 4210 w 20000"/>
                              <a:gd name="T81" fmla="*/ 3713 h 20000"/>
                              <a:gd name="T82" fmla="*/ 4300 w 20000"/>
                              <a:gd name="T83" fmla="*/ 4006 h 20000"/>
                              <a:gd name="T84" fmla="*/ 4382 w 20000"/>
                              <a:gd name="T85" fmla="*/ 4275 h 20000"/>
                              <a:gd name="T86" fmla="*/ 4460 w 20000"/>
                              <a:gd name="T87" fmla="*/ 4522 h 20000"/>
                              <a:gd name="T88" fmla="*/ 4534 w 20000"/>
                              <a:gd name="T89" fmla="*/ 4758 h 20000"/>
                              <a:gd name="T90" fmla="*/ 4602 w 20000"/>
                              <a:gd name="T91" fmla="*/ 4972 h 20000"/>
                              <a:gd name="T92" fmla="*/ 4662 w 20000"/>
                              <a:gd name="T93" fmla="*/ 5145 h 20000"/>
                              <a:gd name="T94" fmla="*/ 4720 w 20000"/>
                              <a:gd name="T95" fmla="*/ 5303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0000FF"/>
                            </a:solidFill>
                            <a:prstDash val="solid"/>
                            <a:round/>
                            <a:headEnd type="none" w="med" len="med"/>
                            <a:tailEnd type="none" w="med" len="med"/>
                          </a:ln>
                          <a:effectLst/>
                        </p:spPr>
                        <p:txBody>
                          <a:bodyPr/>
                          <a:lstStyle/>
                          <a:p>
                            <a:endParaRPr lang="zh-CN" altLang="en-US"/>
                          </a:p>
                        </p:txBody>
                      </p:sp>
                      <p:sp>
                        <p:nvSpPr>
                          <p:cNvPr id="54355" name="Freeform 28"/>
                          <p:cNvSpPr>
                            <a:spLocks/>
                          </p:cNvSpPr>
                          <p:nvPr/>
                        </p:nvSpPr>
                        <p:spPr bwMode="auto">
                          <a:xfrm>
                            <a:off x="9638" y="9984"/>
                            <a:ext cx="10362" cy="10017"/>
                          </a:xfrm>
                          <a:custGeom>
                            <a:avLst/>
                            <a:gdLst>
                              <a:gd name="T0" fmla="*/ 53 w 20000"/>
                              <a:gd name="T1" fmla="*/ 158 h 20000"/>
                              <a:gd name="T2" fmla="*/ 160 w 20000"/>
                              <a:gd name="T3" fmla="*/ 473 h 20000"/>
                              <a:gd name="T4" fmla="*/ 266 w 20000"/>
                              <a:gd name="T5" fmla="*/ 788 h 20000"/>
                              <a:gd name="T6" fmla="*/ 372 w 20000"/>
                              <a:gd name="T7" fmla="*/ 1092 h 20000"/>
                              <a:gd name="T8" fmla="*/ 478 w 20000"/>
                              <a:gd name="T9" fmla="*/ 1397 h 20000"/>
                              <a:gd name="T10" fmla="*/ 584 w 20000"/>
                              <a:gd name="T11" fmla="*/ 1690 h 20000"/>
                              <a:gd name="T12" fmla="*/ 691 w 20000"/>
                              <a:gd name="T13" fmla="*/ 1978 h 20000"/>
                              <a:gd name="T14" fmla="*/ 797 w 20000"/>
                              <a:gd name="T15" fmla="*/ 2267 h 20000"/>
                              <a:gd name="T16" fmla="*/ 903 w 20000"/>
                              <a:gd name="T17" fmla="*/ 2544 h 20000"/>
                              <a:gd name="T18" fmla="*/ 1010 w 20000"/>
                              <a:gd name="T19" fmla="*/ 2810 h 20000"/>
                              <a:gd name="T20" fmla="*/ 1115 w 20000"/>
                              <a:gd name="T21" fmla="*/ 3066 h 20000"/>
                              <a:gd name="T22" fmla="*/ 1227 w 20000"/>
                              <a:gd name="T23" fmla="*/ 3310 h 20000"/>
                              <a:gd name="T24" fmla="*/ 1336 w 20000"/>
                              <a:gd name="T25" fmla="*/ 3544 h 20000"/>
                              <a:gd name="T26" fmla="*/ 1442 w 20000"/>
                              <a:gd name="T27" fmla="*/ 3767 h 20000"/>
                              <a:gd name="T28" fmla="*/ 1551 w 20000"/>
                              <a:gd name="T29" fmla="*/ 3973 h 20000"/>
                              <a:gd name="T30" fmla="*/ 1660 w 20000"/>
                              <a:gd name="T31" fmla="*/ 4164 h 20000"/>
                              <a:gd name="T32" fmla="*/ 1767 w 20000"/>
                              <a:gd name="T33" fmla="*/ 4337 h 20000"/>
                              <a:gd name="T34" fmla="*/ 1878 w 20000"/>
                              <a:gd name="T35" fmla="*/ 4495 h 20000"/>
                              <a:gd name="T36" fmla="*/ 1987 w 20000"/>
                              <a:gd name="T37" fmla="*/ 4631 h 20000"/>
                              <a:gd name="T38" fmla="*/ 2099 w 20000"/>
                              <a:gd name="T39" fmla="*/ 4751 h 20000"/>
                              <a:gd name="T40" fmla="*/ 2210 w 20000"/>
                              <a:gd name="T41" fmla="*/ 4848 h 20000"/>
                              <a:gd name="T42" fmla="*/ 2322 w 20000"/>
                              <a:gd name="T43" fmla="*/ 4925 h 20000"/>
                              <a:gd name="T44" fmla="*/ 2434 w 20000"/>
                              <a:gd name="T45" fmla="*/ 4979 h 20000"/>
                              <a:gd name="T46" fmla="*/ 2545 w 20000"/>
                              <a:gd name="T47" fmla="*/ 5006 h 20000"/>
                              <a:gd name="T48" fmla="*/ 2659 w 20000"/>
                              <a:gd name="T49" fmla="*/ 5012 h 20000"/>
                              <a:gd name="T50" fmla="*/ 2773 w 20000"/>
                              <a:gd name="T51" fmla="*/ 4973 h 20000"/>
                              <a:gd name="T52" fmla="*/ 2896 w 20000"/>
                              <a:gd name="T53" fmla="*/ 4903 h 20000"/>
                              <a:gd name="T54" fmla="*/ 3017 w 20000"/>
                              <a:gd name="T55" fmla="*/ 4794 h 20000"/>
                              <a:gd name="T56" fmla="*/ 3145 w 20000"/>
                              <a:gd name="T57" fmla="*/ 4653 h 20000"/>
                              <a:gd name="T58" fmla="*/ 3278 w 20000"/>
                              <a:gd name="T59" fmla="*/ 4490 h 20000"/>
                              <a:gd name="T60" fmla="*/ 3411 w 20000"/>
                              <a:gd name="T61" fmla="*/ 4300 h 20000"/>
                              <a:gd name="T62" fmla="*/ 3543 w 20000"/>
                              <a:gd name="T63" fmla="*/ 4082 h 20000"/>
                              <a:gd name="T64" fmla="*/ 3679 w 20000"/>
                              <a:gd name="T65" fmla="*/ 3849 h 20000"/>
                              <a:gd name="T66" fmla="*/ 3812 w 20000"/>
                              <a:gd name="T67" fmla="*/ 3599 h 20000"/>
                              <a:gd name="T68" fmla="*/ 3945 w 20000"/>
                              <a:gd name="T69" fmla="*/ 3337 h 20000"/>
                              <a:gd name="T70" fmla="*/ 4080 w 20000"/>
                              <a:gd name="T71" fmla="*/ 3066 h 20000"/>
                              <a:gd name="T72" fmla="*/ 4210 w 20000"/>
                              <a:gd name="T73" fmla="*/ 2788 h 20000"/>
                              <a:gd name="T74" fmla="*/ 4335 w 20000"/>
                              <a:gd name="T75" fmla="*/ 2517 h 20000"/>
                              <a:gd name="T76" fmla="*/ 4460 w 20000"/>
                              <a:gd name="T77" fmla="*/ 2234 h 20000"/>
                              <a:gd name="T78" fmla="*/ 4582 w 20000"/>
                              <a:gd name="T79" fmla="*/ 1962 h 20000"/>
                              <a:gd name="T80" fmla="*/ 4697 w 20000"/>
                              <a:gd name="T81" fmla="*/ 1696 h 20000"/>
                              <a:gd name="T82" fmla="*/ 4811 w 20000"/>
                              <a:gd name="T83" fmla="*/ 1435 h 20000"/>
                              <a:gd name="T84" fmla="*/ 4914 w 20000"/>
                              <a:gd name="T85" fmla="*/ 1191 h 20000"/>
                              <a:gd name="T86" fmla="*/ 5013 w 20000"/>
                              <a:gd name="T87" fmla="*/ 968 h 20000"/>
                              <a:gd name="T88" fmla="*/ 5105 w 20000"/>
                              <a:gd name="T89" fmla="*/ 750 h 20000"/>
                              <a:gd name="T90" fmla="*/ 5190 w 20000"/>
                              <a:gd name="T91" fmla="*/ 565 h 20000"/>
                              <a:gd name="T92" fmla="*/ 5265 w 20000"/>
                              <a:gd name="T93" fmla="*/ 408 h 20000"/>
                              <a:gd name="T94" fmla="*/ 5336 w 20000"/>
                              <a:gd name="T95" fmla="*/ 266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0"/>
                                </a:moveTo>
                                <a:lnTo>
                                  <a:pt x="198" y="628"/>
                                </a:lnTo>
                                <a:lnTo>
                                  <a:pt x="396" y="1257"/>
                                </a:lnTo>
                                <a:lnTo>
                                  <a:pt x="594" y="1885"/>
                                </a:lnTo>
                                <a:lnTo>
                                  <a:pt x="792" y="2514"/>
                                </a:lnTo>
                                <a:lnTo>
                                  <a:pt x="990" y="3142"/>
                                </a:lnTo>
                                <a:lnTo>
                                  <a:pt x="1188" y="3749"/>
                                </a:lnTo>
                                <a:lnTo>
                                  <a:pt x="1385" y="4355"/>
                                </a:lnTo>
                                <a:lnTo>
                                  <a:pt x="1583" y="4962"/>
                                </a:lnTo>
                                <a:lnTo>
                                  <a:pt x="1781" y="5569"/>
                                </a:lnTo>
                                <a:lnTo>
                                  <a:pt x="1979" y="6154"/>
                                </a:lnTo>
                                <a:lnTo>
                                  <a:pt x="2177" y="6739"/>
                                </a:lnTo>
                                <a:lnTo>
                                  <a:pt x="2375" y="7302"/>
                                </a:lnTo>
                                <a:lnTo>
                                  <a:pt x="2573" y="7887"/>
                                </a:lnTo>
                                <a:lnTo>
                                  <a:pt x="2771" y="8472"/>
                                </a:lnTo>
                                <a:lnTo>
                                  <a:pt x="2969" y="9036"/>
                                </a:lnTo>
                                <a:lnTo>
                                  <a:pt x="3167" y="9599"/>
                                </a:lnTo>
                                <a:lnTo>
                                  <a:pt x="3365" y="10141"/>
                                </a:lnTo>
                                <a:lnTo>
                                  <a:pt x="3563" y="10661"/>
                                </a:lnTo>
                                <a:lnTo>
                                  <a:pt x="3761" y="11203"/>
                                </a:lnTo>
                                <a:lnTo>
                                  <a:pt x="3958" y="11723"/>
                                </a:lnTo>
                                <a:lnTo>
                                  <a:pt x="4156" y="12221"/>
                                </a:lnTo>
                                <a:lnTo>
                                  <a:pt x="4364" y="12719"/>
                                </a:lnTo>
                                <a:lnTo>
                                  <a:pt x="4572" y="13196"/>
                                </a:lnTo>
                                <a:lnTo>
                                  <a:pt x="4780" y="13651"/>
                                </a:lnTo>
                                <a:lnTo>
                                  <a:pt x="4978" y="14128"/>
                                </a:lnTo>
                                <a:lnTo>
                                  <a:pt x="5176" y="14583"/>
                                </a:lnTo>
                                <a:lnTo>
                                  <a:pt x="5374" y="15016"/>
                                </a:lnTo>
                                <a:lnTo>
                                  <a:pt x="5571" y="15428"/>
                                </a:lnTo>
                                <a:lnTo>
                                  <a:pt x="5779" y="15840"/>
                                </a:lnTo>
                                <a:lnTo>
                                  <a:pt x="5987" y="16208"/>
                                </a:lnTo>
                                <a:lnTo>
                                  <a:pt x="6185" y="16598"/>
                                </a:lnTo>
                                <a:lnTo>
                                  <a:pt x="6383" y="16966"/>
                                </a:lnTo>
                                <a:lnTo>
                                  <a:pt x="6581" y="17291"/>
                                </a:lnTo>
                                <a:lnTo>
                                  <a:pt x="6789" y="17616"/>
                                </a:lnTo>
                                <a:lnTo>
                                  <a:pt x="6997" y="17920"/>
                                </a:lnTo>
                                <a:lnTo>
                                  <a:pt x="7204" y="18180"/>
                                </a:lnTo>
                                <a:lnTo>
                                  <a:pt x="7402" y="18462"/>
                                </a:lnTo>
                                <a:lnTo>
                                  <a:pt x="7610" y="18722"/>
                                </a:lnTo>
                                <a:lnTo>
                                  <a:pt x="7818" y="18938"/>
                                </a:lnTo>
                                <a:lnTo>
                                  <a:pt x="8026" y="19155"/>
                                </a:lnTo>
                                <a:lnTo>
                                  <a:pt x="8234" y="19328"/>
                                </a:lnTo>
                                <a:lnTo>
                                  <a:pt x="8441" y="19480"/>
                                </a:lnTo>
                                <a:lnTo>
                                  <a:pt x="8649" y="19632"/>
                                </a:lnTo>
                                <a:lnTo>
                                  <a:pt x="8857" y="19762"/>
                                </a:lnTo>
                                <a:lnTo>
                                  <a:pt x="9065" y="19848"/>
                                </a:lnTo>
                                <a:lnTo>
                                  <a:pt x="9273" y="19913"/>
                                </a:lnTo>
                                <a:lnTo>
                                  <a:pt x="9480" y="19957"/>
                                </a:lnTo>
                                <a:lnTo>
                                  <a:pt x="9698" y="19957"/>
                                </a:lnTo>
                                <a:lnTo>
                                  <a:pt x="9906" y="19978"/>
                                </a:lnTo>
                                <a:lnTo>
                                  <a:pt x="10114" y="19935"/>
                                </a:lnTo>
                                <a:lnTo>
                                  <a:pt x="10332" y="19827"/>
                                </a:lnTo>
                                <a:lnTo>
                                  <a:pt x="10559" y="19718"/>
                                </a:lnTo>
                                <a:lnTo>
                                  <a:pt x="10787" y="19545"/>
                                </a:lnTo>
                                <a:lnTo>
                                  <a:pt x="11014" y="19328"/>
                                </a:lnTo>
                                <a:lnTo>
                                  <a:pt x="11242" y="19112"/>
                                </a:lnTo>
                                <a:lnTo>
                                  <a:pt x="11479" y="18852"/>
                                </a:lnTo>
                                <a:lnTo>
                                  <a:pt x="11717" y="18548"/>
                                </a:lnTo>
                                <a:lnTo>
                                  <a:pt x="11964" y="18245"/>
                                </a:lnTo>
                                <a:lnTo>
                                  <a:pt x="12212" y="17898"/>
                                </a:lnTo>
                                <a:lnTo>
                                  <a:pt x="12459" y="17508"/>
                                </a:lnTo>
                                <a:lnTo>
                                  <a:pt x="12707" y="17140"/>
                                </a:lnTo>
                                <a:lnTo>
                                  <a:pt x="12954" y="16728"/>
                                </a:lnTo>
                                <a:lnTo>
                                  <a:pt x="13201" y="16273"/>
                                </a:lnTo>
                                <a:lnTo>
                                  <a:pt x="13449" y="15818"/>
                                </a:lnTo>
                                <a:lnTo>
                                  <a:pt x="13706" y="15341"/>
                                </a:lnTo>
                                <a:lnTo>
                                  <a:pt x="13953" y="14843"/>
                                </a:lnTo>
                                <a:lnTo>
                                  <a:pt x="14201" y="14345"/>
                                </a:lnTo>
                                <a:lnTo>
                                  <a:pt x="14448" y="13824"/>
                                </a:lnTo>
                                <a:lnTo>
                                  <a:pt x="14696" y="13304"/>
                                </a:lnTo>
                                <a:lnTo>
                                  <a:pt x="14953" y="12763"/>
                                </a:lnTo>
                                <a:lnTo>
                                  <a:pt x="15200" y="12221"/>
                                </a:lnTo>
                                <a:lnTo>
                                  <a:pt x="15448" y="11658"/>
                                </a:lnTo>
                                <a:lnTo>
                                  <a:pt x="15685" y="11116"/>
                                </a:lnTo>
                                <a:lnTo>
                                  <a:pt x="15923" y="10574"/>
                                </a:lnTo>
                                <a:lnTo>
                                  <a:pt x="16150" y="10033"/>
                                </a:lnTo>
                                <a:lnTo>
                                  <a:pt x="16388" y="9469"/>
                                </a:lnTo>
                                <a:lnTo>
                                  <a:pt x="16616" y="8906"/>
                                </a:lnTo>
                                <a:lnTo>
                                  <a:pt x="16843" y="8364"/>
                                </a:lnTo>
                                <a:lnTo>
                                  <a:pt x="17071" y="7822"/>
                                </a:lnTo>
                                <a:lnTo>
                                  <a:pt x="17288" y="7281"/>
                                </a:lnTo>
                                <a:lnTo>
                                  <a:pt x="17496" y="6761"/>
                                </a:lnTo>
                                <a:lnTo>
                                  <a:pt x="17714" y="6241"/>
                                </a:lnTo>
                                <a:lnTo>
                                  <a:pt x="17922" y="5720"/>
                                </a:lnTo>
                                <a:lnTo>
                                  <a:pt x="18120" y="5222"/>
                                </a:lnTo>
                                <a:lnTo>
                                  <a:pt x="18308" y="4745"/>
                                </a:lnTo>
                                <a:lnTo>
                                  <a:pt x="18496" y="4290"/>
                                </a:lnTo>
                                <a:lnTo>
                                  <a:pt x="18674" y="3857"/>
                                </a:lnTo>
                                <a:lnTo>
                                  <a:pt x="18852" y="3402"/>
                                </a:lnTo>
                                <a:lnTo>
                                  <a:pt x="19020" y="2990"/>
                                </a:lnTo>
                                <a:lnTo>
                                  <a:pt x="19179" y="2622"/>
                                </a:lnTo>
                                <a:lnTo>
                                  <a:pt x="19337" y="2254"/>
                                </a:lnTo>
                                <a:lnTo>
                                  <a:pt x="19485" y="1907"/>
                                </a:lnTo>
                                <a:lnTo>
                                  <a:pt x="19614" y="1625"/>
                                </a:lnTo>
                                <a:lnTo>
                                  <a:pt x="19753" y="1322"/>
                                </a:lnTo>
                                <a:lnTo>
                                  <a:pt x="19881" y="1062"/>
                                </a:lnTo>
                                <a:lnTo>
                                  <a:pt x="19990" y="845"/>
                                </a:lnTo>
                              </a:path>
                            </a:pathLst>
                          </a:custGeom>
                          <a:noFill/>
                          <a:ln w="19050" cap="flat" cmpd="sng">
                            <a:solidFill>
                              <a:srgbClr val="0000FF"/>
                            </a:solidFill>
                            <a:prstDash val="solid"/>
                            <a:round/>
                            <a:headEnd type="none" w="med" len="med"/>
                            <a:tailEnd type="none" w="med" len="med"/>
                          </a:ln>
                          <a:effectLst/>
                        </p:spPr>
                        <p:txBody>
                          <a:bodyPr/>
                          <a:lstStyle/>
                          <a:p>
                            <a:endParaRPr lang="zh-CN" altLang="en-US"/>
                          </a:p>
                        </p:txBody>
                      </p:sp>
                    </p:grpSp>
                  </p:grpSp>
                </p:grpSp>
                <p:grpSp>
                  <p:nvGrpSpPr>
                    <p:cNvPr id="54333" name="Group 29"/>
                    <p:cNvGrpSpPr>
                      <a:grpSpLocks/>
                    </p:cNvGrpSpPr>
                    <p:nvPr/>
                  </p:nvGrpSpPr>
                  <p:grpSpPr bwMode="auto">
                    <a:xfrm>
                      <a:off x="2388" y="8184"/>
                      <a:ext cx="2957" cy="859"/>
                      <a:chOff x="2196" y="4020"/>
                      <a:chExt cx="2957" cy="859"/>
                    </a:xfrm>
                  </p:grpSpPr>
                  <p:grpSp>
                    <p:nvGrpSpPr>
                      <p:cNvPr id="54346" name="Group 30"/>
                      <p:cNvGrpSpPr>
                        <a:grpSpLocks/>
                      </p:cNvGrpSpPr>
                      <p:nvPr/>
                    </p:nvGrpSpPr>
                    <p:grpSpPr bwMode="auto">
                      <a:xfrm>
                        <a:off x="2212" y="4020"/>
                        <a:ext cx="2941" cy="859"/>
                        <a:chOff x="0" y="0"/>
                        <a:chExt cx="20000" cy="20001"/>
                      </a:xfrm>
                    </p:grpSpPr>
                    <p:sp>
                      <p:nvSpPr>
                        <p:cNvPr id="54348" name="Freeform 31"/>
                        <p:cNvSpPr>
                          <a:spLocks/>
                        </p:cNvSpPr>
                        <p:nvPr/>
                      </p:nvSpPr>
                      <p:spPr bwMode="auto">
                        <a:xfrm>
                          <a:off x="0" y="0"/>
                          <a:ext cx="9741" cy="10353"/>
                        </a:xfrm>
                        <a:custGeom>
                          <a:avLst/>
                          <a:gdLst>
                            <a:gd name="T0" fmla="*/ 53 w 20000"/>
                            <a:gd name="T1" fmla="*/ 4961 h 20000"/>
                            <a:gd name="T2" fmla="*/ 157 w 20000"/>
                            <a:gd name="T3" fmla="*/ 4635 h 20000"/>
                            <a:gd name="T4" fmla="*/ 262 w 20000"/>
                            <a:gd name="T5" fmla="*/ 4309 h 20000"/>
                            <a:gd name="T6" fmla="*/ 367 w 20000"/>
                            <a:gd name="T7" fmla="*/ 3994 h 20000"/>
                            <a:gd name="T8" fmla="*/ 472 w 20000"/>
                            <a:gd name="T9" fmla="*/ 3679 h 20000"/>
                            <a:gd name="T10" fmla="*/ 582 w 20000"/>
                            <a:gd name="T11" fmla="*/ 3376 h 20000"/>
                            <a:gd name="T12" fmla="*/ 687 w 20000"/>
                            <a:gd name="T13" fmla="*/ 3073 h 20000"/>
                            <a:gd name="T14" fmla="*/ 791 w 20000"/>
                            <a:gd name="T15" fmla="*/ 2775 h 20000"/>
                            <a:gd name="T16" fmla="*/ 897 w 20000"/>
                            <a:gd name="T17" fmla="*/ 2488 h 20000"/>
                            <a:gd name="T18" fmla="*/ 1001 w 20000"/>
                            <a:gd name="T19" fmla="*/ 2208 h 20000"/>
                            <a:gd name="T20" fmla="*/ 1106 w 20000"/>
                            <a:gd name="T21" fmla="*/ 1944 h 20000"/>
                            <a:gd name="T22" fmla="*/ 1214 w 20000"/>
                            <a:gd name="T23" fmla="*/ 1696 h 20000"/>
                            <a:gd name="T24" fmla="*/ 1318 w 20000"/>
                            <a:gd name="T25" fmla="*/ 1455 h 20000"/>
                            <a:gd name="T26" fmla="*/ 1418 w 20000"/>
                            <a:gd name="T27" fmla="*/ 1225 h 20000"/>
                            <a:gd name="T28" fmla="*/ 1523 w 20000"/>
                            <a:gd name="T29" fmla="*/ 1011 h 20000"/>
                            <a:gd name="T30" fmla="*/ 1628 w 20000"/>
                            <a:gd name="T31" fmla="*/ 820 h 20000"/>
                            <a:gd name="T32" fmla="*/ 1730 w 20000"/>
                            <a:gd name="T33" fmla="*/ 646 h 20000"/>
                            <a:gd name="T34" fmla="*/ 1835 w 20000"/>
                            <a:gd name="T35" fmla="*/ 489 h 20000"/>
                            <a:gd name="T36" fmla="*/ 1937 w 20000"/>
                            <a:gd name="T37" fmla="*/ 348 h 20000"/>
                            <a:gd name="T38" fmla="*/ 2037 w 20000"/>
                            <a:gd name="T39" fmla="*/ 230 h 20000"/>
                            <a:gd name="T40" fmla="*/ 2140 w 20000"/>
                            <a:gd name="T41" fmla="*/ 135 h 20000"/>
                            <a:gd name="T42" fmla="*/ 2240 w 20000"/>
                            <a:gd name="T43" fmla="*/ 67 h 20000"/>
                            <a:gd name="T44" fmla="*/ 2340 w 20000"/>
                            <a:gd name="T45" fmla="*/ 22 h 20000"/>
                            <a:gd name="T46" fmla="*/ 2442 w 20000"/>
                            <a:gd name="T47" fmla="*/ 0 h 20000"/>
                            <a:gd name="T48" fmla="*/ 2539 w 20000"/>
                            <a:gd name="T49" fmla="*/ 6 h 20000"/>
                            <a:gd name="T50" fmla="*/ 2639 w 20000"/>
                            <a:gd name="T51" fmla="*/ 56 h 20000"/>
                            <a:gd name="T52" fmla="*/ 2744 w 20000"/>
                            <a:gd name="T53" fmla="*/ 140 h 20000"/>
                            <a:gd name="T54" fmla="*/ 2849 w 20000"/>
                            <a:gd name="T55" fmla="*/ 264 h 20000"/>
                            <a:gd name="T56" fmla="*/ 2956 w 20000"/>
                            <a:gd name="T57" fmla="*/ 421 h 20000"/>
                            <a:gd name="T58" fmla="*/ 3066 w 20000"/>
                            <a:gd name="T59" fmla="*/ 612 h 20000"/>
                            <a:gd name="T60" fmla="*/ 3176 w 20000"/>
                            <a:gd name="T61" fmla="*/ 831 h 20000"/>
                            <a:gd name="T62" fmla="*/ 3284 w 20000"/>
                            <a:gd name="T63" fmla="*/ 1067 h 20000"/>
                            <a:gd name="T64" fmla="*/ 3393 w 20000"/>
                            <a:gd name="T65" fmla="*/ 1326 h 20000"/>
                            <a:gd name="T66" fmla="*/ 3503 w 20000"/>
                            <a:gd name="T67" fmla="*/ 1607 h 20000"/>
                            <a:gd name="T68" fmla="*/ 3611 w 20000"/>
                            <a:gd name="T69" fmla="*/ 1893 h 20000"/>
                            <a:gd name="T70" fmla="*/ 3721 w 20000"/>
                            <a:gd name="T71" fmla="*/ 2196 h 20000"/>
                            <a:gd name="T72" fmla="*/ 3823 w 20000"/>
                            <a:gd name="T73" fmla="*/ 2505 h 20000"/>
                            <a:gd name="T74" fmla="*/ 3923 w 20000"/>
                            <a:gd name="T75" fmla="*/ 2809 h 20000"/>
                            <a:gd name="T76" fmla="*/ 4023 w 20000"/>
                            <a:gd name="T77" fmla="*/ 3118 h 20000"/>
                            <a:gd name="T78" fmla="*/ 4118 w 20000"/>
                            <a:gd name="T79" fmla="*/ 3421 h 20000"/>
                            <a:gd name="T80" fmla="*/ 4210 w 20000"/>
                            <a:gd name="T81" fmla="*/ 3713 h 20000"/>
                            <a:gd name="T82" fmla="*/ 4300 w 20000"/>
                            <a:gd name="T83" fmla="*/ 4006 h 20000"/>
                            <a:gd name="T84" fmla="*/ 4382 w 20000"/>
                            <a:gd name="T85" fmla="*/ 4275 h 20000"/>
                            <a:gd name="T86" fmla="*/ 4460 w 20000"/>
                            <a:gd name="T87" fmla="*/ 4522 h 20000"/>
                            <a:gd name="T88" fmla="*/ 4534 w 20000"/>
                            <a:gd name="T89" fmla="*/ 4758 h 20000"/>
                            <a:gd name="T90" fmla="*/ 4602 w 20000"/>
                            <a:gd name="T91" fmla="*/ 4972 h 20000"/>
                            <a:gd name="T92" fmla="*/ 4662 w 20000"/>
                            <a:gd name="T93" fmla="*/ 5145 h 20000"/>
                            <a:gd name="T94" fmla="*/ 4720 w 20000"/>
                            <a:gd name="T95" fmla="*/ 5303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0000FF"/>
                          </a:solidFill>
                          <a:prstDash val="solid"/>
                          <a:round/>
                          <a:headEnd type="none" w="med" len="med"/>
                          <a:tailEnd type="none" w="med" len="med"/>
                        </a:ln>
                        <a:effectLst/>
                      </p:spPr>
                      <p:txBody>
                        <a:bodyPr/>
                        <a:lstStyle/>
                        <a:p>
                          <a:endParaRPr lang="zh-CN" altLang="en-US"/>
                        </a:p>
                      </p:txBody>
                    </p:sp>
                    <p:sp>
                      <p:nvSpPr>
                        <p:cNvPr id="54349" name="Freeform 32"/>
                        <p:cNvSpPr>
                          <a:spLocks/>
                        </p:cNvSpPr>
                        <p:nvPr/>
                      </p:nvSpPr>
                      <p:spPr bwMode="auto">
                        <a:xfrm>
                          <a:off x="9638" y="9984"/>
                          <a:ext cx="10362" cy="10017"/>
                        </a:xfrm>
                        <a:custGeom>
                          <a:avLst/>
                          <a:gdLst>
                            <a:gd name="T0" fmla="*/ 53 w 20000"/>
                            <a:gd name="T1" fmla="*/ 158 h 20000"/>
                            <a:gd name="T2" fmla="*/ 160 w 20000"/>
                            <a:gd name="T3" fmla="*/ 473 h 20000"/>
                            <a:gd name="T4" fmla="*/ 266 w 20000"/>
                            <a:gd name="T5" fmla="*/ 788 h 20000"/>
                            <a:gd name="T6" fmla="*/ 372 w 20000"/>
                            <a:gd name="T7" fmla="*/ 1092 h 20000"/>
                            <a:gd name="T8" fmla="*/ 478 w 20000"/>
                            <a:gd name="T9" fmla="*/ 1397 h 20000"/>
                            <a:gd name="T10" fmla="*/ 584 w 20000"/>
                            <a:gd name="T11" fmla="*/ 1690 h 20000"/>
                            <a:gd name="T12" fmla="*/ 691 w 20000"/>
                            <a:gd name="T13" fmla="*/ 1978 h 20000"/>
                            <a:gd name="T14" fmla="*/ 797 w 20000"/>
                            <a:gd name="T15" fmla="*/ 2267 h 20000"/>
                            <a:gd name="T16" fmla="*/ 903 w 20000"/>
                            <a:gd name="T17" fmla="*/ 2544 h 20000"/>
                            <a:gd name="T18" fmla="*/ 1010 w 20000"/>
                            <a:gd name="T19" fmla="*/ 2810 h 20000"/>
                            <a:gd name="T20" fmla="*/ 1115 w 20000"/>
                            <a:gd name="T21" fmla="*/ 3066 h 20000"/>
                            <a:gd name="T22" fmla="*/ 1227 w 20000"/>
                            <a:gd name="T23" fmla="*/ 3310 h 20000"/>
                            <a:gd name="T24" fmla="*/ 1336 w 20000"/>
                            <a:gd name="T25" fmla="*/ 3544 h 20000"/>
                            <a:gd name="T26" fmla="*/ 1442 w 20000"/>
                            <a:gd name="T27" fmla="*/ 3767 h 20000"/>
                            <a:gd name="T28" fmla="*/ 1551 w 20000"/>
                            <a:gd name="T29" fmla="*/ 3973 h 20000"/>
                            <a:gd name="T30" fmla="*/ 1660 w 20000"/>
                            <a:gd name="T31" fmla="*/ 4164 h 20000"/>
                            <a:gd name="T32" fmla="*/ 1767 w 20000"/>
                            <a:gd name="T33" fmla="*/ 4337 h 20000"/>
                            <a:gd name="T34" fmla="*/ 1878 w 20000"/>
                            <a:gd name="T35" fmla="*/ 4495 h 20000"/>
                            <a:gd name="T36" fmla="*/ 1987 w 20000"/>
                            <a:gd name="T37" fmla="*/ 4631 h 20000"/>
                            <a:gd name="T38" fmla="*/ 2099 w 20000"/>
                            <a:gd name="T39" fmla="*/ 4751 h 20000"/>
                            <a:gd name="T40" fmla="*/ 2210 w 20000"/>
                            <a:gd name="T41" fmla="*/ 4848 h 20000"/>
                            <a:gd name="T42" fmla="*/ 2322 w 20000"/>
                            <a:gd name="T43" fmla="*/ 4925 h 20000"/>
                            <a:gd name="T44" fmla="*/ 2434 w 20000"/>
                            <a:gd name="T45" fmla="*/ 4979 h 20000"/>
                            <a:gd name="T46" fmla="*/ 2545 w 20000"/>
                            <a:gd name="T47" fmla="*/ 5006 h 20000"/>
                            <a:gd name="T48" fmla="*/ 2659 w 20000"/>
                            <a:gd name="T49" fmla="*/ 5012 h 20000"/>
                            <a:gd name="T50" fmla="*/ 2773 w 20000"/>
                            <a:gd name="T51" fmla="*/ 4973 h 20000"/>
                            <a:gd name="T52" fmla="*/ 2896 w 20000"/>
                            <a:gd name="T53" fmla="*/ 4903 h 20000"/>
                            <a:gd name="T54" fmla="*/ 3017 w 20000"/>
                            <a:gd name="T55" fmla="*/ 4794 h 20000"/>
                            <a:gd name="T56" fmla="*/ 3145 w 20000"/>
                            <a:gd name="T57" fmla="*/ 4653 h 20000"/>
                            <a:gd name="T58" fmla="*/ 3278 w 20000"/>
                            <a:gd name="T59" fmla="*/ 4490 h 20000"/>
                            <a:gd name="T60" fmla="*/ 3411 w 20000"/>
                            <a:gd name="T61" fmla="*/ 4300 h 20000"/>
                            <a:gd name="T62" fmla="*/ 3543 w 20000"/>
                            <a:gd name="T63" fmla="*/ 4082 h 20000"/>
                            <a:gd name="T64" fmla="*/ 3679 w 20000"/>
                            <a:gd name="T65" fmla="*/ 3849 h 20000"/>
                            <a:gd name="T66" fmla="*/ 3812 w 20000"/>
                            <a:gd name="T67" fmla="*/ 3599 h 20000"/>
                            <a:gd name="T68" fmla="*/ 3945 w 20000"/>
                            <a:gd name="T69" fmla="*/ 3337 h 20000"/>
                            <a:gd name="T70" fmla="*/ 4080 w 20000"/>
                            <a:gd name="T71" fmla="*/ 3066 h 20000"/>
                            <a:gd name="T72" fmla="*/ 4210 w 20000"/>
                            <a:gd name="T73" fmla="*/ 2788 h 20000"/>
                            <a:gd name="T74" fmla="*/ 4335 w 20000"/>
                            <a:gd name="T75" fmla="*/ 2517 h 20000"/>
                            <a:gd name="T76" fmla="*/ 4460 w 20000"/>
                            <a:gd name="T77" fmla="*/ 2234 h 20000"/>
                            <a:gd name="T78" fmla="*/ 4582 w 20000"/>
                            <a:gd name="T79" fmla="*/ 1962 h 20000"/>
                            <a:gd name="T80" fmla="*/ 4697 w 20000"/>
                            <a:gd name="T81" fmla="*/ 1696 h 20000"/>
                            <a:gd name="T82" fmla="*/ 4811 w 20000"/>
                            <a:gd name="T83" fmla="*/ 1435 h 20000"/>
                            <a:gd name="T84" fmla="*/ 4914 w 20000"/>
                            <a:gd name="T85" fmla="*/ 1191 h 20000"/>
                            <a:gd name="T86" fmla="*/ 5013 w 20000"/>
                            <a:gd name="T87" fmla="*/ 968 h 20000"/>
                            <a:gd name="T88" fmla="*/ 5105 w 20000"/>
                            <a:gd name="T89" fmla="*/ 750 h 20000"/>
                            <a:gd name="T90" fmla="*/ 5190 w 20000"/>
                            <a:gd name="T91" fmla="*/ 565 h 20000"/>
                            <a:gd name="T92" fmla="*/ 5265 w 20000"/>
                            <a:gd name="T93" fmla="*/ 408 h 20000"/>
                            <a:gd name="T94" fmla="*/ 5336 w 20000"/>
                            <a:gd name="T95" fmla="*/ 266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0"/>
                              </a:moveTo>
                              <a:lnTo>
                                <a:pt x="198" y="628"/>
                              </a:lnTo>
                              <a:lnTo>
                                <a:pt x="396" y="1257"/>
                              </a:lnTo>
                              <a:lnTo>
                                <a:pt x="594" y="1885"/>
                              </a:lnTo>
                              <a:lnTo>
                                <a:pt x="792" y="2514"/>
                              </a:lnTo>
                              <a:lnTo>
                                <a:pt x="990" y="3142"/>
                              </a:lnTo>
                              <a:lnTo>
                                <a:pt x="1188" y="3749"/>
                              </a:lnTo>
                              <a:lnTo>
                                <a:pt x="1385" y="4355"/>
                              </a:lnTo>
                              <a:lnTo>
                                <a:pt x="1583" y="4962"/>
                              </a:lnTo>
                              <a:lnTo>
                                <a:pt x="1781" y="5569"/>
                              </a:lnTo>
                              <a:lnTo>
                                <a:pt x="1979" y="6154"/>
                              </a:lnTo>
                              <a:lnTo>
                                <a:pt x="2177" y="6739"/>
                              </a:lnTo>
                              <a:lnTo>
                                <a:pt x="2375" y="7302"/>
                              </a:lnTo>
                              <a:lnTo>
                                <a:pt x="2573" y="7887"/>
                              </a:lnTo>
                              <a:lnTo>
                                <a:pt x="2771" y="8472"/>
                              </a:lnTo>
                              <a:lnTo>
                                <a:pt x="2969" y="9036"/>
                              </a:lnTo>
                              <a:lnTo>
                                <a:pt x="3167" y="9599"/>
                              </a:lnTo>
                              <a:lnTo>
                                <a:pt x="3365" y="10141"/>
                              </a:lnTo>
                              <a:lnTo>
                                <a:pt x="3563" y="10661"/>
                              </a:lnTo>
                              <a:lnTo>
                                <a:pt x="3761" y="11203"/>
                              </a:lnTo>
                              <a:lnTo>
                                <a:pt x="3958" y="11723"/>
                              </a:lnTo>
                              <a:lnTo>
                                <a:pt x="4156" y="12221"/>
                              </a:lnTo>
                              <a:lnTo>
                                <a:pt x="4364" y="12719"/>
                              </a:lnTo>
                              <a:lnTo>
                                <a:pt x="4572" y="13196"/>
                              </a:lnTo>
                              <a:lnTo>
                                <a:pt x="4780" y="13651"/>
                              </a:lnTo>
                              <a:lnTo>
                                <a:pt x="4978" y="14128"/>
                              </a:lnTo>
                              <a:lnTo>
                                <a:pt x="5176" y="14583"/>
                              </a:lnTo>
                              <a:lnTo>
                                <a:pt x="5374" y="15016"/>
                              </a:lnTo>
                              <a:lnTo>
                                <a:pt x="5571" y="15428"/>
                              </a:lnTo>
                              <a:lnTo>
                                <a:pt x="5779" y="15840"/>
                              </a:lnTo>
                              <a:lnTo>
                                <a:pt x="5987" y="16208"/>
                              </a:lnTo>
                              <a:lnTo>
                                <a:pt x="6185" y="16598"/>
                              </a:lnTo>
                              <a:lnTo>
                                <a:pt x="6383" y="16966"/>
                              </a:lnTo>
                              <a:lnTo>
                                <a:pt x="6581" y="17291"/>
                              </a:lnTo>
                              <a:lnTo>
                                <a:pt x="6789" y="17616"/>
                              </a:lnTo>
                              <a:lnTo>
                                <a:pt x="6997" y="17920"/>
                              </a:lnTo>
                              <a:lnTo>
                                <a:pt x="7204" y="18180"/>
                              </a:lnTo>
                              <a:lnTo>
                                <a:pt x="7402" y="18462"/>
                              </a:lnTo>
                              <a:lnTo>
                                <a:pt x="7610" y="18722"/>
                              </a:lnTo>
                              <a:lnTo>
                                <a:pt x="7818" y="18938"/>
                              </a:lnTo>
                              <a:lnTo>
                                <a:pt x="8026" y="19155"/>
                              </a:lnTo>
                              <a:lnTo>
                                <a:pt x="8234" y="19328"/>
                              </a:lnTo>
                              <a:lnTo>
                                <a:pt x="8441" y="19480"/>
                              </a:lnTo>
                              <a:lnTo>
                                <a:pt x="8649" y="19632"/>
                              </a:lnTo>
                              <a:lnTo>
                                <a:pt x="8857" y="19762"/>
                              </a:lnTo>
                              <a:lnTo>
                                <a:pt x="9065" y="19848"/>
                              </a:lnTo>
                              <a:lnTo>
                                <a:pt x="9273" y="19913"/>
                              </a:lnTo>
                              <a:lnTo>
                                <a:pt x="9480" y="19957"/>
                              </a:lnTo>
                              <a:lnTo>
                                <a:pt x="9698" y="19957"/>
                              </a:lnTo>
                              <a:lnTo>
                                <a:pt x="9906" y="19978"/>
                              </a:lnTo>
                              <a:lnTo>
                                <a:pt x="10114" y="19935"/>
                              </a:lnTo>
                              <a:lnTo>
                                <a:pt x="10332" y="19827"/>
                              </a:lnTo>
                              <a:lnTo>
                                <a:pt x="10559" y="19718"/>
                              </a:lnTo>
                              <a:lnTo>
                                <a:pt x="10787" y="19545"/>
                              </a:lnTo>
                              <a:lnTo>
                                <a:pt x="11014" y="19328"/>
                              </a:lnTo>
                              <a:lnTo>
                                <a:pt x="11242" y="19112"/>
                              </a:lnTo>
                              <a:lnTo>
                                <a:pt x="11479" y="18852"/>
                              </a:lnTo>
                              <a:lnTo>
                                <a:pt x="11717" y="18548"/>
                              </a:lnTo>
                              <a:lnTo>
                                <a:pt x="11964" y="18245"/>
                              </a:lnTo>
                              <a:lnTo>
                                <a:pt x="12212" y="17898"/>
                              </a:lnTo>
                              <a:lnTo>
                                <a:pt x="12459" y="17508"/>
                              </a:lnTo>
                              <a:lnTo>
                                <a:pt x="12707" y="17140"/>
                              </a:lnTo>
                              <a:lnTo>
                                <a:pt x="12954" y="16728"/>
                              </a:lnTo>
                              <a:lnTo>
                                <a:pt x="13201" y="16273"/>
                              </a:lnTo>
                              <a:lnTo>
                                <a:pt x="13449" y="15818"/>
                              </a:lnTo>
                              <a:lnTo>
                                <a:pt x="13706" y="15341"/>
                              </a:lnTo>
                              <a:lnTo>
                                <a:pt x="13953" y="14843"/>
                              </a:lnTo>
                              <a:lnTo>
                                <a:pt x="14201" y="14345"/>
                              </a:lnTo>
                              <a:lnTo>
                                <a:pt x="14448" y="13824"/>
                              </a:lnTo>
                              <a:lnTo>
                                <a:pt x="14696" y="13304"/>
                              </a:lnTo>
                              <a:lnTo>
                                <a:pt x="14953" y="12763"/>
                              </a:lnTo>
                              <a:lnTo>
                                <a:pt x="15200" y="12221"/>
                              </a:lnTo>
                              <a:lnTo>
                                <a:pt x="15448" y="11658"/>
                              </a:lnTo>
                              <a:lnTo>
                                <a:pt x="15685" y="11116"/>
                              </a:lnTo>
                              <a:lnTo>
                                <a:pt x="15923" y="10574"/>
                              </a:lnTo>
                              <a:lnTo>
                                <a:pt x="16150" y="10033"/>
                              </a:lnTo>
                              <a:lnTo>
                                <a:pt x="16388" y="9469"/>
                              </a:lnTo>
                              <a:lnTo>
                                <a:pt x="16616" y="8906"/>
                              </a:lnTo>
                              <a:lnTo>
                                <a:pt x="16843" y="8364"/>
                              </a:lnTo>
                              <a:lnTo>
                                <a:pt x="17071" y="7822"/>
                              </a:lnTo>
                              <a:lnTo>
                                <a:pt x="17288" y="7281"/>
                              </a:lnTo>
                              <a:lnTo>
                                <a:pt x="17496" y="6761"/>
                              </a:lnTo>
                              <a:lnTo>
                                <a:pt x="17714" y="6241"/>
                              </a:lnTo>
                              <a:lnTo>
                                <a:pt x="17922" y="5720"/>
                              </a:lnTo>
                              <a:lnTo>
                                <a:pt x="18120" y="5222"/>
                              </a:lnTo>
                              <a:lnTo>
                                <a:pt x="18308" y="4745"/>
                              </a:lnTo>
                              <a:lnTo>
                                <a:pt x="18496" y="4290"/>
                              </a:lnTo>
                              <a:lnTo>
                                <a:pt x="18674" y="3857"/>
                              </a:lnTo>
                              <a:lnTo>
                                <a:pt x="18852" y="3402"/>
                              </a:lnTo>
                              <a:lnTo>
                                <a:pt x="19020" y="2990"/>
                              </a:lnTo>
                              <a:lnTo>
                                <a:pt x="19179" y="2622"/>
                              </a:lnTo>
                              <a:lnTo>
                                <a:pt x="19337" y="2254"/>
                              </a:lnTo>
                              <a:lnTo>
                                <a:pt x="19485" y="1907"/>
                              </a:lnTo>
                              <a:lnTo>
                                <a:pt x="19614" y="1625"/>
                              </a:lnTo>
                              <a:lnTo>
                                <a:pt x="19753" y="1322"/>
                              </a:lnTo>
                              <a:lnTo>
                                <a:pt x="19881" y="1062"/>
                              </a:lnTo>
                              <a:lnTo>
                                <a:pt x="19990" y="845"/>
                              </a:lnTo>
                            </a:path>
                          </a:pathLst>
                        </a:custGeom>
                        <a:noFill/>
                        <a:ln w="19050" cap="flat" cmpd="sng">
                          <a:solidFill>
                            <a:srgbClr val="0000FF"/>
                          </a:solidFill>
                          <a:prstDash val="solid"/>
                          <a:round/>
                          <a:headEnd type="none" w="med" len="med"/>
                          <a:tailEnd type="none" w="med" len="med"/>
                        </a:ln>
                        <a:effectLst/>
                      </p:spPr>
                      <p:txBody>
                        <a:bodyPr/>
                        <a:lstStyle/>
                        <a:p>
                          <a:endParaRPr lang="zh-CN" altLang="en-US"/>
                        </a:p>
                      </p:txBody>
                    </p:sp>
                  </p:grpSp>
                  <p:sp>
                    <p:nvSpPr>
                      <p:cNvPr id="54347" name="Line 33"/>
                      <p:cNvSpPr>
                        <a:spLocks noChangeShapeType="1"/>
                      </p:cNvSpPr>
                      <p:nvPr/>
                    </p:nvSpPr>
                    <p:spPr bwMode="auto">
                      <a:xfrm>
                        <a:off x="2196" y="4452"/>
                        <a:ext cx="2952" cy="0"/>
                      </a:xfrm>
                      <a:prstGeom prst="line">
                        <a:avLst/>
                      </a:prstGeom>
                      <a:noFill/>
                      <a:ln w="15875">
                        <a:solidFill>
                          <a:srgbClr val="000000"/>
                        </a:solidFill>
                        <a:prstDash val="lgDashDot"/>
                        <a:round/>
                        <a:headEnd/>
                        <a:tailEnd/>
                      </a:ln>
                    </p:spPr>
                    <p:txBody>
                      <a:bodyPr/>
                      <a:lstStyle/>
                      <a:p>
                        <a:endParaRPr lang="zh-CN" altLang="en-US"/>
                      </a:p>
                    </p:txBody>
                  </p:sp>
                </p:grpSp>
                <p:sp>
                  <p:nvSpPr>
                    <p:cNvPr id="54334" name="Line 34"/>
                    <p:cNvSpPr>
                      <a:spLocks noChangeShapeType="1"/>
                    </p:cNvSpPr>
                    <p:nvPr/>
                  </p:nvSpPr>
                  <p:spPr bwMode="auto">
                    <a:xfrm>
                      <a:off x="2388" y="10404"/>
                      <a:ext cx="2940" cy="0"/>
                    </a:xfrm>
                    <a:prstGeom prst="line">
                      <a:avLst/>
                    </a:prstGeom>
                    <a:noFill/>
                    <a:ln w="19050">
                      <a:solidFill>
                        <a:srgbClr val="000000"/>
                      </a:solidFill>
                      <a:round/>
                      <a:headEnd/>
                      <a:tailEnd/>
                    </a:ln>
                  </p:spPr>
                  <p:txBody>
                    <a:bodyPr/>
                    <a:lstStyle/>
                    <a:p>
                      <a:endParaRPr lang="zh-CN" altLang="en-US"/>
                    </a:p>
                  </p:txBody>
                </p:sp>
                <p:sp>
                  <p:nvSpPr>
                    <p:cNvPr id="54335" name="Text Box 35"/>
                    <p:cNvSpPr txBox="1">
                      <a:spLocks noChangeArrowheads="1"/>
                    </p:cNvSpPr>
                    <p:nvPr/>
                  </p:nvSpPr>
                  <p:spPr bwMode="auto">
                    <a:xfrm>
                      <a:off x="3132" y="10512"/>
                      <a:ext cx="1548" cy="792"/>
                    </a:xfrm>
                    <a:prstGeom prst="rect">
                      <a:avLst/>
                    </a:prstGeom>
                    <a:noFill/>
                    <a:ln w="9525">
                      <a:noFill/>
                      <a:miter lim="800000"/>
                      <a:headEnd/>
                      <a:tailEnd/>
                    </a:ln>
                  </p:spPr>
                  <p:txBody>
                    <a:bodyPr/>
                    <a:lstStyle/>
                    <a:p>
                      <a:pPr algn="just"/>
                      <a:r>
                        <a:rPr lang="zh-CN" altLang="en-US" b="1">
                          <a:solidFill>
                            <a:srgbClr val="0000FF"/>
                          </a:solidFill>
                          <a:ea typeface="楷体_GB2312" pitchFamily="49" charset="-122"/>
                        </a:rPr>
                        <a:t>波函数</a:t>
                      </a:r>
                    </a:p>
                  </p:txBody>
                </p:sp>
                <p:grpSp>
                  <p:nvGrpSpPr>
                    <p:cNvPr id="54336" name="Group 36"/>
                    <p:cNvGrpSpPr>
                      <a:grpSpLocks/>
                    </p:cNvGrpSpPr>
                    <p:nvPr/>
                  </p:nvGrpSpPr>
                  <p:grpSpPr bwMode="auto">
                    <a:xfrm>
                      <a:off x="1824" y="2844"/>
                      <a:ext cx="2604" cy="7476"/>
                      <a:chOff x="1824" y="2844"/>
                      <a:chExt cx="2604" cy="7476"/>
                    </a:xfrm>
                  </p:grpSpPr>
                  <p:sp>
                    <p:nvSpPr>
                      <p:cNvPr id="54338" name="Text Box 37"/>
                      <p:cNvSpPr txBox="1">
                        <a:spLocks noChangeArrowheads="1"/>
                      </p:cNvSpPr>
                      <p:nvPr/>
                    </p:nvSpPr>
                    <p:spPr bwMode="auto">
                      <a:xfrm>
                        <a:off x="1824" y="9756"/>
                        <a:ext cx="648" cy="564"/>
                      </a:xfrm>
                      <a:prstGeom prst="rect">
                        <a:avLst/>
                      </a:prstGeom>
                      <a:noFill/>
                      <a:ln w="9525">
                        <a:noFill/>
                        <a:miter lim="800000"/>
                        <a:headEnd/>
                        <a:tailEnd/>
                      </a:ln>
                    </p:spPr>
                    <p:txBody>
                      <a:bodyPr/>
                      <a:lstStyle/>
                      <a:p>
                        <a:pPr algn="just"/>
                        <a:r>
                          <a:rPr lang="en-US" altLang="zh-CN" sz="2000" b="1">
                            <a:solidFill>
                              <a:schemeClr val="bg2"/>
                            </a:solidFill>
                          </a:rPr>
                          <a:t>E</a:t>
                        </a:r>
                        <a:r>
                          <a:rPr lang="en-US" altLang="zh-CN" sz="2000" b="1" baseline="-25000">
                            <a:solidFill>
                              <a:schemeClr val="bg2"/>
                            </a:solidFill>
                          </a:rPr>
                          <a:t>1</a:t>
                        </a:r>
                        <a:endParaRPr lang="en-US" altLang="zh-CN" sz="2000" b="1">
                          <a:solidFill>
                            <a:schemeClr val="bg2"/>
                          </a:solidFill>
                        </a:endParaRPr>
                      </a:p>
                    </p:txBody>
                  </p:sp>
                  <p:sp>
                    <p:nvSpPr>
                      <p:cNvPr id="54339" name="Text Box 38"/>
                      <p:cNvSpPr txBox="1">
                        <a:spLocks noChangeArrowheads="1"/>
                      </p:cNvSpPr>
                      <p:nvPr/>
                    </p:nvSpPr>
                    <p:spPr bwMode="auto">
                      <a:xfrm>
                        <a:off x="1824" y="8316"/>
                        <a:ext cx="648" cy="564"/>
                      </a:xfrm>
                      <a:prstGeom prst="rect">
                        <a:avLst/>
                      </a:prstGeom>
                      <a:noFill/>
                      <a:ln w="9525">
                        <a:noFill/>
                        <a:miter lim="800000"/>
                        <a:headEnd/>
                        <a:tailEnd/>
                      </a:ln>
                    </p:spPr>
                    <p:txBody>
                      <a:bodyPr/>
                      <a:lstStyle/>
                      <a:p>
                        <a:pPr algn="just"/>
                        <a:r>
                          <a:rPr lang="en-US" altLang="zh-CN" sz="2000" b="1">
                            <a:solidFill>
                              <a:schemeClr val="bg2"/>
                            </a:solidFill>
                          </a:rPr>
                          <a:t>E</a:t>
                        </a:r>
                        <a:r>
                          <a:rPr lang="en-US" altLang="zh-CN" sz="2000" b="1" baseline="-25000">
                            <a:solidFill>
                              <a:schemeClr val="bg2"/>
                            </a:solidFill>
                          </a:rPr>
                          <a:t>2</a:t>
                        </a:r>
                        <a:endParaRPr lang="en-US" altLang="zh-CN" sz="2000" b="1">
                          <a:solidFill>
                            <a:schemeClr val="bg2"/>
                          </a:solidFill>
                        </a:endParaRPr>
                      </a:p>
                    </p:txBody>
                  </p:sp>
                  <p:sp>
                    <p:nvSpPr>
                      <p:cNvPr id="54340" name="Text Box 39"/>
                      <p:cNvSpPr txBox="1">
                        <a:spLocks noChangeArrowheads="1"/>
                      </p:cNvSpPr>
                      <p:nvPr/>
                    </p:nvSpPr>
                    <p:spPr bwMode="auto">
                      <a:xfrm>
                        <a:off x="1824" y="6348"/>
                        <a:ext cx="648" cy="564"/>
                      </a:xfrm>
                      <a:prstGeom prst="rect">
                        <a:avLst/>
                      </a:prstGeom>
                      <a:noFill/>
                      <a:ln w="9525">
                        <a:noFill/>
                        <a:miter lim="800000"/>
                        <a:headEnd/>
                        <a:tailEnd/>
                      </a:ln>
                    </p:spPr>
                    <p:txBody>
                      <a:bodyPr/>
                      <a:lstStyle/>
                      <a:p>
                        <a:pPr algn="just"/>
                        <a:r>
                          <a:rPr lang="en-US" altLang="zh-CN" sz="2000" b="1">
                            <a:solidFill>
                              <a:schemeClr val="bg2"/>
                            </a:solidFill>
                          </a:rPr>
                          <a:t>E</a:t>
                        </a:r>
                        <a:r>
                          <a:rPr lang="en-US" altLang="zh-CN" sz="2000" b="1" baseline="-25000">
                            <a:solidFill>
                              <a:schemeClr val="bg2"/>
                            </a:solidFill>
                          </a:rPr>
                          <a:t>3</a:t>
                        </a:r>
                        <a:endParaRPr lang="en-US" altLang="zh-CN" sz="2000" b="1">
                          <a:solidFill>
                            <a:schemeClr val="bg2"/>
                          </a:solidFill>
                        </a:endParaRPr>
                      </a:p>
                    </p:txBody>
                  </p:sp>
                  <p:sp>
                    <p:nvSpPr>
                      <p:cNvPr id="54341" name="Text Box 40"/>
                      <p:cNvSpPr txBox="1">
                        <a:spLocks noChangeArrowheads="1"/>
                      </p:cNvSpPr>
                      <p:nvPr/>
                    </p:nvSpPr>
                    <p:spPr bwMode="auto">
                      <a:xfrm>
                        <a:off x="1824" y="3660"/>
                        <a:ext cx="648" cy="564"/>
                      </a:xfrm>
                      <a:prstGeom prst="rect">
                        <a:avLst/>
                      </a:prstGeom>
                      <a:noFill/>
                      <a:ln w="9525">
                        <a:noFill/>
                        <a:miter lim="800000"/>
                        <a:headEnd/>
                        <a:tailEnd/>
                      </a:ln>
                    </p:spPr>
                    <p:txBody>
                      <a:bodyPr/>
                      <a:lstStyle/>
                      <a:p>
                        <a:pPr algn="just"/>
                        <a:r>
                          <a:rPr lang="en-US" altLang="zh-CN" sz="2000" b="1">
                            <a:solidFill>
                              <a:schemeClr val="bg2"/>
                            </a:solidFill>
                          </a:rPr>
                          <a:t>E</a:t>
                        </a:r>
                        <a:r>
                          <a:rPr lang="en-US" altLang="zh-CN" sz="2000" b="1" baseline="-25000">
                            <a:solidFill>
                              <a:schemeClr val="bg2"/>
                            </a:solidFill>
                          </a:rPr>
                          <a:t>4</a:t>
                        </a:r>
                        <a:endParaRPr lang="en-US" altLang="zh-CN" sz="2000" b="1">
                          <a:solidFill>
                            <a:schemeClr val="bg2"/>
                          </a:solidFill>
                        </a:endParaRPr>
                      </a:p>
                    </p:txBody>
                  </p:sp>
                  <p:sp>
                    <p:nvSpPr>
                      <p:cNvPr id="54342" name="Text Box 41"/>
                      <p:cNvSpPr txBox="1">
                        <a:spLocks noChangeArrowheads="1"/>
                      </p:cNvSpPr>
                      <p:nvPr/>
                    </p:nvSpPr>
                    <p:spPr bwMode="auto">
                      <a:xfrm>
                        <a:off x="3228" y="9048"/>
                        <a:ext cx="1080" cy="660"/>
                      </a:xfrm>
                      <a:prstGeom prst="rect">
                        <a:avLst/>
                      </a:prstGeom>
                      <a:noFill/>
                      <a:ln w="9525">
                        <a:noFill/>
                        <a:miter lim="800000"/>
                        <a:headEnd/>
                        <a:tailEnd/>
                      </a:ln>
                    </p:spPr>
                    <p:txBody>
                      <a:bodyPr/>
                      <a:lstStyle/>
                      <a:p>
                        <a:pPr algn="just"/>
                        <a:r>
                          <a:rPr lang="el-GR" altLang="zh-CN" sz="1600" b="1">
                            <a:solidFill>
                              <a:schemeClr val="bg2"/>
                            </a:solidFill>
                            <a:cs typeface="Times New Roman" pitchFamily="18" charset="0"/>
                          </a:rPr>
                          <a:t>ψ</a:t>
                        </a:r>
                        <a:r>
                          <a:rPr lang="en-US" altLang="zh-CN" sz="1600" b="1" baseline="-25000">
                            <a:solidFill>
                              <a:schemeClr val="bg2"/>
                            </a:solidFill>
                          </a:rPr>
                          <a:t>1</a:t>
                        </a:r>
                        <a:r>
                          <a:rPr lang="en-US" altLang="zh-CN" sz="1600" b="1">
                            <a:solidFill>
                              <a:schemeClr val="bg2"/>
                            </a:solidFill>
                          </a:rPr>
                          <a:t>(x)</a:t>
                        </a:r>
                      </a:p>
                    </p:txBody>
                  </p:sp>
                  <p:sp>
                    <p:nvSpPr>
                      <p:cNvPr id="54343" name="Text Box 42"/>
                      <p:cNvSpPr txBox="1">
                        <a:spLocks noChangeArrowheads="1"/>
                      </p:cNvSpPr>
                      <p:nvPr/>
                    </p:nvSpPr>
                    <p:spPr bwMode="auto">
                      <a:xfrm>
                        <a:off x="3288" y="7692"/>
                        <a:ext cx="1080" cy="660"/>
                      </a:xfrm>
                      <a:prstGeom prst="rect">
                        <a:avLst/>
                      </a:prstGeom>
                      <a:noFill/>
                      <a:ln w="9525">
                        <a:noFill/>
                        <a:miter lim="800000"/>
                        <a:headEnd/>
                        <a:tailEnd/>
                      </a:ln>
                    </p:spPr>
                    <p:txBody>
                      <a:bodyPr/>
                      <a:lstStyle/>
                      <a:p>
                        <a:pPr algn="just"/>
                        <a:r>
                          <a:rPr lang="el-GR" altLang="zh-CN" sz="1600" b="1">
                            <a:solidFill>
                              <a:schemeClr val="bg2"/>
                            </a:solidFill>
                            <a:cs typeface="Times New Roman" pitchFamily="18" charset="0"/>
                          </a:rPr>
                          <a:t>ψ</a:t>
                        </a:r>
                        <a:r>
                          <a:rPr lang="en-US" altLang="zh-CN" sz="1600" b="1" baseline="-25000">
                            <a:solidFill>
                              <a:schemeClr val="bg2"/>
                            </a:solidFill>
                          </a:rPr>
                          <a:t>2</a:t>
                        </a:r>
                        <a:r>
                          <a:rPr lang="en-US" altLang="zh-CN" sz="1600" b="1">
                            <a:solidFill>
                              <a:schemeClr val="bg2"/>
                            </a:solidFill>
                          </a:rPr>
                          <a:t>(x)</a:t>
                        </a:r>
                      </a:p>
                    </p:txBody>
                  </p:sp>
                  <p:sp>
                    <p:nvSpPr>
                      <p:cNvPr id="54344" name="Text Box 43"/>
                      <p:cNvSpPr txBox="1">
                        <a:spLocks noChangeArrowheads="1"/>
                      </p:cNvSpPr>
                      <p:nvPr/>
                    </p:nvSpPr>
                    <p:spPr bwMode="auto">
                      <a:xfrm>
                        <a:off x="3348" y="5664"/>
                        <a:ext cx="1080" cy="660"/>
                      </a:xfrm>
                      <a:prstGeom prst="rect">
                        <a:avLst/>
                      </a:prstGeom>
                      <a:noFill/>
                      <a:ln w="9525">
                        <a:noFill/>
                        <a:miter lim="800000"/>
                        <a:headEnd/>
                        <a:tailEnd/>
                      </a:ln>
                    </p:spPr>
                    <p:txBody>
                      <a:bodyPr/>
                      <a:lstStyle/>
                      <a:p>
                        <a:pPr algn="just"/>
                        <a:r>
                          <a:rPr lang="el-GR" altLang="zh-CN" sz="1600" b="1">
                            <a:solidFill>
                              <a:schemeClr val="bg2"/>
                            </a:solidFill>
                            <a:cs typeface="Times New Roman" pitchFamily="18" charset="0"/>
                          </a:rPr>
                          <a:t>ψ</a:t>
                        </a:r>
                        <a:r>
                          <a:rPr lang="en-US" altLang="zh-CN" sz="1600" b="1" baseline="-25000">
                            <a:solidFill>
                              <a:schemeClr val="bg2"/>
                            </a:solidFill>
                          </a:rPr>
                          <a:t>3</a:t>
                        </a:r>
                        <a:r>
                          <a:rPr lang="en-US" altLang="zh-CN" sz="1600" b="1">
                            <a:solidFill>
                              <a:schemeClr val="bg2"/>
                            </a:solidFill>
                          </a:rPr>
                          <a:t>(x)</a:t>
                        </a:r>
                      </a:p>
                    </p:txBody>
                  </p:sp>
                  <p:sp>
                    <p:nvSpPr>
                      <p:cNvPr id="54345" name="Text Box 44"/>
                      <p:cNvSpPr txBox="1">
                        <a:spLocks noChangeArrowheads="1"/>
                      </p:cNvSpPr>
                      <p:nvPr/>
                    </p:nvSpPr>
                    <p:spPr bwMode="auto">
                      <a:xfrm>
                        <a:off x="3168" y="2844"/>
                        <a:ext cx="1080" cy="660"/>
                      </a:xfrm>
                      <a:prstGeom prst="rect">
                        <a:avLst/>
                      </a:prstGeom>
                      <a:noFill/>
                      <a:ln w="9525">
                        <a:noFill/>
                        <a:miter lim="800000"/>
                        <a:headEnd/>
                        <a:tailEnd/>
                      </a:ln>
                    </p:spPr>
                    <p:txBody>
                      <a:bodyPr/>
                      <a:lstStyle/>
                      <a:p>
                        <a:pPr algn="just"/>
                        <a:r>
                          <a:rPr lang="el-GR" altLang="zh-CN" sz="1600" b="1">
                            <a:solidFill>
                              <a:schemeClr val="bg2"/>
                            </a:solidFill>
                            <a:cs typeface="Times New Roman" pitchFamily="18" charset="0"/>
                          </a:rPr>
                          <a:t>ψ</a:t>
                        </a:r>
                        <a:r>
                          <a:rPr lang="en-US" altLang="zh-CN" sz="1600" b="1" baseline="-25000">
                            <a:solidFill>
                              <a:schemeClr val="bg2"/>
                            </a:solidFill>
                          </a:rPr>
                          <a:t>4</a:t>
                        </a:r>
                        <a:r>
                          <a:rPr lang="en-US" altLang="zh-CN" sz="1600" b="1">
                            <a:solidFill>
                              <a:schemeClr val="bg2"/>
                            </a:solidFill>
                          </a:rPr>
                          <a:t>(x)</a:t>
                        </a:r>
                      </a:p>
                    </p:txBody>
                  </p:sp>
                </p:grpSp>
                <p:sp>
                  <p:nvSpPr>
                    <p:cNvPr id="54337" name="Text Box 45"/>
                    <p:cNvSpPr txBox="1">
                      <a:spLocks noChangeArrowheads="1"/>
                    </p:cNvSpPr>
                    <p:nvPr/>
                  </p:nvSpPr>
                  <p:spPr bwMode="auto">
                    <a:xfrm>
                      <a:off x="1896" y="10164"/>
                      <a:ext cx="648" cy="612"/>
                    </a:xfrm>
                    <a:prstGeom prst="rect">
                      <a:avLst/>
                    </a:prstGeom>
                    <a:noFill/>
                    <a:ln w="9525">
                      <a:noFill/>
                      <a:miter lim="800000"/>
                      <a:headEnd/>
                      <a:tailEnd/>
                    </a:ln>
                  </p:spPr>
                  <p:txBody>
                    <a:bodyPr/>
                    <a:lstStyle/>
                    <a:p>
                      <a:pPr algn="just"/>
                      <a:endParaRPr lang="zh-CN" altLang="zh-CN" sz="1000" b="1">
                        <a:solidFill>
                          <a:schemeClr val="bg2"/>
                        </a:solidFill>
                      </a:endParaRPr>
                    </a:p>
                  </p:txBody>
                </p:sp>
              </p:grpSp>
            </p:grpSp>
            <p:sp>
              <p:nvSpPr>
                <p:cNvPr id="54325" name="Text Box 46"/>
                <p:cNvSpPr txBox="1">
                  <a:spLocks noChangeArrowheads="1"/>
                </p:cNvSpPr>
                <p:nvPr/>
              </p:nvSpPr>
              <p:spPr bwMode="auto">
                <a:xfrm>
                  <a:off x="5160" y="10776"/>
                  <a:ext cx="492" cy="576"/>
                </a:xfrm>
                <a:prstGeom prst="rect">
                  <a:avLst/>
                </a:prstGeom>
                <a:noFill/>
                <a:ln w="9525">
                  <a:noFill/>
                  <a:miter lim="800000"/>
                  <a:headEnd/>
                  <a:tailEnd/>
                </a:ln>
              </p:spPr>
              <p:txBody>
                <a:bodyPr/>
                <a:lstStyle/>
                <a:p>
                  <a:pPr algn="just"/>
                  <a:r>
                    <a:rPr lang="en-US" altLang="zh-CN" sz="1800" b="1">
                      <a:solidFill>
                        <a:schemeClr val="bg2"/>
                      </a:solidFill>
                    </a:rPr>
                    <a:t>a</a:t>
                  </a:r>
                </a:p>
              </p:txBody>
            </p:sp>
            <p:sp>
              <p:nvSpPr>
                <p:cNvPr id="54326" name="Text Box 47"/>
                <p:cNvSpPr txBox="1">
                  <a:spLocks noChangeArrowheads="1"/>
                </p:cNvSpPr>
                <p:nvPr/>
              </p:nvSpPr>
              <p:spPr bwMode="auto">
                <a:xfrm>
                  <a:off x="2280" y="10872"/>
                  <a:ext cx="552" cy="576"/>
                </a:xfrm>
                <a:prstGeom prst="rect">
                  <a:avLst/>
                </a:prstGeom>
                <a:noFill/>
                <a:ln w="9525">
                  <a:noFill/>
                  <a:miter lim="800000"/>
                  <a:headEnd/>
                  <a:tailEnd/>
                </a:ln>
              </p:spPr>
              <p:txBody>
                <a:bodyPr/>
                <a:lstStyle/>
                <a:p>
                  <a:pPr algn="just"/>
                  <a:r>
                    <a:rPr lang="en-US" altLang="zh-CN" sz="1600" b="1">
                      <a:solidFill>
                        <a:schemeClr val="bg2"/>
                      </a:solidFill>
                    </a:rPr>
                    <a:t>0</a:t>
                  </a:r>
                </a:p>
              </p:txBody>
            </p:sp>
          </p:grpSp>
          <p:grpSp>
            <p:nvGrpSpPr>
              <p:cNvPr id="54278" name="Group 48"/>
              <p:cNvGrpSpPr>
                <a:grpSpLocks/>
              </p:cNvGrpSpPr>
              <p:nvPr/>
            </p:nvGrpSpPr>
            <p:grpSpPr bwMode="auto">
              <a:xfrm>
                <a:off x="2974" y="624"/>
                <a:ext cx="2402" cy="3619"/>
                <a:chOff x="2974" y="624"/>
                <a:chExt cx="2402" cy="3619"/>
              </a:xfrm>
            </p:grpSpPr>
            <p:sp>
              <p:nvSpPr>
                <p:cNvPr id="54279" name="Text Box 49"/>
                <p:cNvSpPr txBox="1">
                  <a:spLocks noChangeArrowheads="1"/>
                </p:cNvSpPr>
                <p:nvPr/>
              </p:nvSpPr>
              <p:spPr bwMode="auto">
                <a:xfrm>
                  <a:off x="3660" y="3926"/>
                  <a:ext cx="1137" cy="317"/>
                </a:xfrm>
                <a:prstGeom prst="rect">
                  <a:avLst/>
                </a:prstGeom>
                <a:noFill/>
                <a:ln w="9525">
                  <a:noFill/>
                  <a:miter lim="800000"/>
                  <a:headEnd/>
                  <a:tailEnd/>
                </a:ln>
              </p:spPr>
              <p:txBody>
                <a:bodyPr/>
                <a:lstStyle/>
                <a:p>
                  <a:pPr algn="just"/>
                  <a:r>
                    <a:rPr lang="zh-CN" altLang="en-US" b="1">
                      <a:solidFill>
                        <a:schemeClr val="hlink"/>
                      </a:solidFill>
                      <a:ea typeface="楷体_GB2312" pitchFamily="49" charset="-122"/>
                    </a:rPr>
                    <a:t>概率密度</a:t>
                  </a:r>
                </a:p>
              </p:txBody>
            </p:sp>
            <p:grpSp>
              <p:nvGrpSpPr>
                <p:cNvPr id="54280" name="Group 50"/>
                <p:cNvGrpSpPr>
                  <a:grpSpLocks/>
                </p:cNvGrpSpPr>
                <p:nvPr/>
              </p:nvGrpSpPr>
              <p:grpSpPr bwMode="auto">
                <a:xfrm>
                  <a:off x="2981" y="3326"/>
                  <a:ext cx="2395" cy="787"/>
                  <a:chOff x="2981" y="3326"/>
                  <a:chExt cx="2395" cy="787"/>
                </a:xfrm>
              </p:grpSpPr>
              <p:sp>
                <p:nvSpPr>
                  <p:cNvPr id="54316" name="Text Box 51"/>
                  <p:cNvSpPr txBox="1">
                    <a:spLocks noChangeArrowheads="1"/>
                  </p:cNvSpPr>
                  <p:nvPr/>
                </p:nvSpPr>
                <p:spPr bwMode="auto">
                  <a:xfrm>
                    <a:off x="3810" y="3340"/>
                    <a:ext cx="772" cy="265"/>
                  </a:xfrm>
                  <a:prstGeom prst="rect">
                    <a:avLst/>
                  </a:prstGeom>
                  <a:noFill/>
                  <a:ln w="9525">
                    <a:noFill/>
                    <a:miter lim="800000"/>
                    <a:headEnd/>
                    <a:tailEnd/>
                  </a:ln>
                </p:spPr>
                <p:txBody>
                  <a:bodyPr/>
                  <a:lstStyle/>
                  <a:p>
                    <a:pPr algn="just"/>
                    <a:r>
                      <a:rPr lang="en-US" altLang="zh-CN" b="1">
                        <a:solidFill>
                          <a:schemeClr val="bg2"/>
                        </a:solidFill>
                      </a:rPr>
                      <a:t>|</a:t>
                    </a:r>
                    <a:r>
                      <a:rPr lang="el-GR" altLang="zh-CN" b="1">
                        <a:solidFill>
                          <a:schemeClr val="bg2"/>
                        </a:solidFill>
                        <a:cs typeface="Times New Roman" pitchFamily="18" charset="0"/>
                      </a:rPr>
                      <a:t>ψ</a:t>
                    </a:r>
                    <a:r>
                      <a:rPr lang="en-US" altLang="zh-CN" b="1" baseline="-25000">
                        <a:solidFill>
                          <a:schemeClr val="bg2"/>
                        </a:solidFill>
                      </a:rPr>
                      <a:t>1</a:t>
                    </a:r>
                    <a:r>
                      <a:rPr lang="en-US" altLang="zh-CN" b="1">
                        <a:solidFill>
                          <a:schemeClr val="bg2"/>
                        </a:solidFill>
                      </a:rPr>
                      <a:t>(x)|</a:t>
                    </a:r>
                    <a:r>
                      <a:rPr lang="en-US" altLang="zh-CN" b="1" baseline="30000">
                        <a:solidFill>
                          <a:schemeClr val="bg2"/>
                        </a:solidFill>
                      </a:rPr>
                      <a:t>2</a:t>
                    </a:r>
                    <a:endParaRPr lang="en-US" altLang="zh-CN" b="1">
                      <a:solidFill>
                        <a:schemeClr val="bg2"/>
                      </a:solidFill>
                    </a:endParaRPr>
                  </a:p>
                </p:txBody>
              </p:sp>
              <p:grpSp>
                <p:nvGrpSpPr>
                  <p:cNvPr id="54317" name="Group 52"/>
                  <p:cNvGrpSpPr>
                    <a:grpSpLocks/>
                  </p:cNvGrpSpPr>
                  <p:nvPr/>
                </p:nvGrpSpPr>
                <p:grpSpPr bwMode="auto">
                  <a:xfrm>
                    <a:off x="2981" y="3326"/>
                    <a:ext cx="2395" cy="787"/>
                    <a:chOff x="2981" y="3326"/>
                    <a:chExt cx="2395" cy="787"/>
                  </a:xfrm>
                </p:grpSpPr>
                <p:sp>
                  <p:nvSpPr>
                    <p:cNvPr id="54318" name="Freeform 53"/>
                    <p:cNvSpPr>
                      <a:spLocks/>
                    </p:cNvSpPr>
                    <p:nvPr/>
                  </p:nvSpPr>
                  <p:spPr bwMode="auto">
                    <a:xfrm>
                      <a:off x="3264" y="3560"/>
                      <a:ext cx="1766" cy="328"/>
                    </a:xfrm>
                    <a:custGeom>
                      <a:avLst/>
                      <a:gdLst>
                        <a:gd name="T0" fmla="*/ 0 w 2964"/>
                        <a:gd name="T1" fmla="*/ 128 h 820"/>
                        <a:gd name="T2" fmla="*/ 162 w 2964"/>
                        <a:gd name="T3" fmla="*/ 105 h 820"/>
                        <a:gd name="T4" fmla="*/ 511 w 2964"/>
                        <a:gd name="T5" fmla="*/ 1 h 820"/>
                        <a:gd name="T6" fmla="*/ 873 w 2964"/>
                        <a:gd name="T7" fmla="*/ 110 h 820"/>
                        <a:gd name="T8" fmla="*/ 1052 w 2964"/>
                        <a:gd name="T9" fmla="*/ 126 h 8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4" h="820">
                          <a:moveTo>
                            <a:pt x="0" y="798"/>
                          </a:moveTo>
                          <a:cubicBezTo>
                            <a:pt x="108" y="792"/>
                            <a:pt x="216" y="786"/>
                            <a:pt x="456" y="654"/>
                          </a:cubicBezTo>
                          <a:cubicBezTo>
                            <a:pt x="696" y="522"/>
                            <a:pt x="1106" y="0"/>
                            <a:pt x="1440" y="6"/>
                          </a:cubicBezTo>
                          <a:cubicBezTo>
                            <a:pt x="1774" y="12"/>
                            <a:pt x="2206" y="560"/>
                            <a:pt x="2460" y="690"/>
                          </a:cubicBezTo>
                          <a:cubicBezTo>
                            <a:pt x="2714" y="820"/>
                            <a:pt x="2839" y="803"/>
                            <a:pt x="2964" y="786"/>
                          </a:cubicBezTo>
                        </a:path>
                      </a:pathLst>
                    </a:custGeom>
                    <a:noFill/>
                    <a:ln w="19050" cmpd="sng">
                      <a:solidFill>
                        <a:srgbClr val="FF0000"/>
                      </a:solidFill>
                      <a:round/>
                      <a:headEnd/>
                      <a:tailEnd/>
                    </a:ln>
                  </p:spPr>
                  <p:txBody>
                    <a:bodyPr/>
                    <a:lstStyle/>
                    <a:p>
                      <a:endParaRPr lang="zh-CN" altLang="en-US"/>
                    </a:p>
                  </p:txBody>
                </p:sp>
                <p:grpSp>
                  <p:nvGrpSpPr>
                    <p:cNvPr id="54319" name="Group 54"/>
                    <p:cNvGrpSpPr>
                      <a:grpSpLocks/>
                    </p:cNvGrpSpPr>
                    <p:nvPr/>
                  </p:nvGrpSpPr>
                  <p:grpSpPr bwMode="auto">
                    <a:xfrm>
                      <a:off x="2981" y="3326"/>
                      <a:ext cx="2345" cy="687"/>
                      <a:chOff x="5940" y="9324"/>
                      <a:chExt cx="3936" cy="1716"/>
                    </a:xfrm>
                  </p:grpSpPr>
                  <p:sp>
                    <p:nvSpPr>
                      <p:cNvPr id="54321" name="Text Box 55"/>
                      <p:cNvSpPr txBox="1">
                        <a:spLocks noChangeArrowheads="1"/>
                      </p:cNvSpPr>
                      <p:nvPr/>
                    </p:nvSpPr>
                    <p:spPr bwMode="auto">
                      <a:xfrm>
                        <a:off x="5940" y="10428"/>
                        <a:ext cx="648" cy="612"/>
                      </a:xfrm>
                      <a:prstGeom prst="rect">
                        <a:avLst/>
                      </a:prstGeom>
                      <a:noFill/>
                      <a:ln w="9525">
                        <a:noFill/>
                        <a:miter lim="800000"/>
                        <a:headEnd/>
                        <a:tailEnd/>
                      </a:ln>
                    </p:spPr>
                    <p:txBody>
                      <a:bodyPr/>
                      <a:lstStyle/>
                      <a:p>
                        <a:pPr algn="just"/>
                        <a:r>
                          <a:rPr lang="en-US" altLang="zh-CN" sz="1600" b="1">
                            <a:solidFill>
                              <a:schemeClr val="bg2"/>
                            </a:solidFill>
                          </a:rPr>
                          <a:t>0</a:t>
                        </a:r>
                      </a:p>
                    </p:txBody>
                  </p:sp>
                  <p:sp>
                    <p:nvSpPr>
                      <p:cNvPr id="54322" name="Line 56"/>
                      <p:cNvSpPr>
                        <a:spLocks noChangeShapeType="1"/>
                      </p:cNvSpPr>
                      <p:nvPr/>
                    </p:nvSpPr>
                    <p:spPr bwMode="auto">
                      <a:xfrm>
                        <a:off x="6456" y="10704"/>
                        <a:ext cx="3420" cy="0"/>
                      </a:xfrm>
                      <a:prstGeom prst="line">
                        <a:avLst/>
                      </a:prstGeom>
                      <a:noFill/>
                      <a:ln w="9525">
                        <a:solidFill>
                          <a:srgbClr val="000000"/>
                        </a:solidFill>
                        <a:round/>
                        <a:headEnd/>
                        <a:tailEnd type="triangle" w="med" len="med"/>
                      </a:ln>
                    </p:spPr>
                    <p:txBody>
                      <a:bodyPr/>
                      <a:lstStyle/>
                      <a:p>
                        <a:endParaRPr lang="zh-CN" altLang="en-US"/>
                      </a:p>
                    </p:txBody>
                  </p:sp>
                  <p:sp>
                    <p:nvSpPr>
                      <p:cNvPr id="54323" name="Line 57"/>
                      <p:cNvSpPr>
                        <a:spLocks noChangeShapeType="1"/>
                      </p:cNvSpPr>
                      <p:nvPr/>
                    </p:nvSpPr>
                    <p:spPr bwMode="auto">
                      <a:xfrm flipV="1">
                        <a:off x="6420" y="9324"/>
                        <a:ext cx="0" cy="1380"/>
                      </a:xfrm>
                      <a:prstGeom prst="line">
                        <a:avLst/>
                      </a:prstGeom>
                      <a:noFill/>
                      <a:ln w="19050">
                        <a:solidFill>
                          <a:srgbClr val="000000"/>
                        </a:solidFill>
                        <a:round/>
                        <a:headEnd/>
                        <a:tailEnd type="triangle" w="med" len="med"/>
                      </a:ln>
                    </p:spPr>
                    <p:txBody>
                      <a:bodyPr/>
                      <a:lstStyle/>
                      <a:p>
                        <a:endParaRPr lang="zh-CN" altLang="en-US"/>
                      </a:p>
                    </p:txBody>
                  </p:sp>
                </p:grpSp>
                <p:sp>
                  <p:nvSpPr>
                    <p:cNvPr id="54320" name="Text Box 58"/>
                    <p:cNvSpPr txBox="1">
                      <a:spLocks noChangeArrowheads="1"/>
                    </p:cNvSpPr>
                    <p:nvPr/>
                  </p:nvSpPr>
                  <p:spPr bwMode="auto">
                    <a:xfrm>
                      <a:off x="5090" y="3873"/>
                      <a:ext cx="286" cy="240"/>
                    </a:xfrm>
                    <a:prstGeom prst="rect">
                      <a:avLst/>
                    </a:prstGeom>
                    <a:noFill/>
                    <a:ln w="9525">
                      <a:noFill/>
                      <a:miter lim="800000"/>
                      <a:headEnd/>
                      <a:tailEnd/>
                    </a:ln>
                  </p:spPr>
                  <p:txBody>
                    <a:bodyPr/>
                    <a:lstStyle/>
                    <a:p>
                      <a:pPr algn="just"/>
                      <a:r>
                        <a:rPr lang="en-US" altLang="zh-CN" sz="1600" b="1">
                          <a:solidFill>
                            <a:schemeClr val="bg2"/>
                          </a:solidFill>
                        </a:rPr>
                        <a:t>x</a:t>
                      </a:r>
                    </a:p>
                  </p:txBody>
                </p:sp>
              </p:grpSp>
            </p:grpSp>
            <p:grpSp>
              <p:nvGrpSpPr>
                <p:cNvPr id="54281" name="Group 59"/>
                <p:cNvGrpSpPr>
                  <a:grpSpLocks/>
                </p:cNvGrpSpPr>
                <p:nvPr/>
              </p:nvGrpSpPr>
              <p:grpSpPr bwMode="auto">
                <a:xfrm>
                  <a:off x="2981" y="2592"/>
                  <a:ext cx="2345" cy="686"/>
                  <a:chOff x="2981" y="2678"/>
                  <a:chExt cx="2345" cy="686"/>
                </a:xfrm>
              </p:grpSpPr>
              <p:sp>
                <p:nvSpPr>
                  <p:cNvPr id="54307" name="Text Box 60"/>
                  <p:cNvSpPr txBox="1">
                    <a:spLocks noChangeArrowheads="1"/>
                  </p:cNvSpPr>
                  <p:nvPr/>
                </p:nvSpPr>
                <p:spPr bwMode="auto">
                  <a:xfrm>
                    <a:off x="3782" y="2683"/>
                    <a:ext cx="736" cy="264"/>
                  </a:xfrm>
                  <a:prstGeom prst="rect">
                    <a:avLst/>
                  </a:prstGeom>
                  <a:noFill/>
                  <a:ln w="9525">
                    <a:noFill/>
                    <a:miter lim="800000"/>
                    <a:headEnd/>
                    <a:tailEnd/>
                  </a:ln>
                </p:spPr>
                <p:txBody>
                  <a:bodyPr/>
                  <a:lstStyle/>
                  <a:p>
                    <a:pPr algn="just"/>
                    <a:r>
                      <a:rPr lang="en-US" altLang="zh-CN" sz="1800" b="1">
                        <a:solidFill>
                          <a:schemeClr val="bg2"/>
                        </a:solidFill>
                      </a:rPr>
                      <a:t>|</a:t>
                    </a:r>
                    <a:r>
                      <a:rPr lang="el-GR" altLang="zh-CN" sz="1800" b="1">
                        <a:solidFill>
                          <a:schemeClr val="bg2"/>
                        </a:solidFill>
                        <a:cs typeface="Times New Roman" pitchFamily="18" charset="0"/>
                      </a:rPr>
                      <a:t>ψ</a:t>
                    </a:r>
                    <a:r>
                      <a:rPr lang="en-US" altLang="zh-CN" sz="1800" b="1" baseline="-25000">
                        <a:solidFill>
                          <a:schemeClr val="bg2"/>
                        </a:solidFill>
                      </a:rPr>
                      <a:t>2</a:t>
                    </a:r>
                    <a:r>
                      <a:rPr lang="en-US" altLang="zh-CN" sz="1800" b="1">
                        <a:solidFill>
                          <a:schemeClr val="bg2"/>
                        </a:solidFill>
                      </a:rPr>
                      <a:t>(x)|</a:t>
                    </a:r>
                    <a:r>
                      <a:rPr lang="en-US" altLang="zh-CN" sz="1800" b="1" baseline="30000">
                        <a:solidFill>
                          <a:schemeClr val="bg2"/>
                        </a:solidFill>
                      </a:rPr>
                      <a:t>2</a:t>
                    </a:r>
                    <a:endParaRPr lang="en-US" altLang="zh-CN" sz="1800" b="1">
                      <a:solidFill>
                        <a:schemeClr val="bg2"/>
                      </a:solidFill>
                    </a:endParaRPr>
                  </a:p>
                </p:txBody>
              </p:sp>
              <p:grpSp>
                <p:nvGrpSpPr>
                  <p:cNvPr id="54308" name="Group 61"/>
                  <p:cNvGrpSpPr>
                    <a:grpSpLocks/>
                  </p:cNvGrpSpPr>
                  <p:nvPr/>
                </p:nvGrpSpPr>
                <p:grpSpPr bwMode="auto">
                  <a:xfrm>
                    <a:off x="2981" y="2678"/>
                    <a:ext cx="2345" cy="686"/>
                    <a:chOff x="2981" y="2678"/>
                    <a:chExt cx="2345" cy="686"/>
                  </a:xfrm>
                </p:grpSpPr>
                <p:grpSp>
                  <p:nvGrpSpPr>
                    <p:cNvPr id="54309" name="Group 62"/>
                    <p:cNvGrpSpPr>
                      <a:grpSpLocks/>
                    </p:cNvGrpSpPr>
                    <p:nvPr/>
                  </p:nvGrpSpPr>
                  <p:grpSpPr bwMode="auto">
                    <a:xfrm>
                      <a:off x="2981" y="2678"/>
                      <a:ext cx="2345" cy="686"/>
                      <a:chOff x="5940" y="9324"/>
                      <a:chExt cx="3936" cy="1716"/>
                    </a:xfrm>
                  </p:grpSpPr>
                  <p:sp>
                    <p:nvSpPr>
                      <p:cNvPr id="54313" name="Text Box 63"/>
                      <p:cNvSpPr txBox="1">
                        <a:spLocks noChangeArrowheads="1"/>
                      </p:cNvSpPr>
                      <p:nvPr/>
                    </p:nvSpPr>
                    <p:spPr bwMode="auto">
                      <a:xfrm>
                        <a:off x="5940" y="10428"/>
                        <a:ext cx="648" cy="612"/>
                      </a:xfrm>
                      <a:prstGeom prst="rect">
                        <a:avLst/>
                      </a:prstGeom>
                      <a:noFill/>
                      <a:ln w="9525">
                        <a:noFill/>
                        <a:miter lim="800000"/>
                        <a:headEnd/>
                        <a:tailEnd/>
                      </a:ln>
                    </p:spPr>
                    <p:txBody>
                      <a:bodyPr/>
                      <a:lstStyle/>
                      <a:p>
                        <a:pPr algn="just"/>
                        <a:r>
                          <a:rPr lang="en-US" altLang="zh-CN" sz="1600" b="1">
                            <a:solidFill>
                              <a:schemeClr val="bg2"/>
                            </a:solidFill>
                          </a:rPr>
                          <a:t>0</a:t>
                        </a:r>
                      </a:p>
                    </p:txBody>
                  </p:sp>
                  <p:sp>
                    <p:nvSpPr>
                      <p:cNvPr id="54314" name="Line 64"/>
                      <p:cNvSpPr>
                        <a:spLocks noChangeShapeType="1"/>
                      </p:cNvSpPr>
                      <p:nvPr/>
                    </p:nvSpPr>
                    <p:spPr bwMode="auto">
                      <a:xfrm>
                        <a:off x="6456" y="10704"/>
                        <a:ext cx="3420" cy="0"/>
                      </a:xfrm>
                      <a:prstGeom prst="line">
                        <a:avLst/>
                      </a:prstGeom>
                      <a:noFill/>
                      <a:ln w="19050">
                        <a:solidFill>
                          <a:srgbClr val="000000"/>
                        </a:solidFill>
                        <a:round/>
                        <a:headEnd/>
                        <a:tailEnd type="triangle" w="med" len="med"/>
                      </a:ln>
                    </p:spPr>
                    <p:txBody>
                      <a:bodyPr/>
                      <a:lstStyle/>
                      <a:p>
                        <a:endParaRPr lang="zh-CN" altLang="en-US"/>
                      </a:p>
                    </p:txBody>
                  </p:sp>
                  <p:sp>
                    <p:nvSpPr>
                      <p:cNvPr id="54315" name="Line 65"/>
                      <p:cNvSpPr>
                        <a:spLocks noChangeShapeType="1"/>
                      </p:cNvSpPr>
                      <p:nvPr/>
                    </p:nvSpPr>
                    <p:spPr bwMode="auto">
                      <a:xfrm flipV="1">
                        <a:off x="6420" y="9324"/>
                        <a:ext cx="0" cy="1380"/>
                      </a:xfrm>
                      <a:prstGeom prst="line">
                        <a:avLst/>
                      </a:prstGeom>
                      <a:noFill/>
                      <a:ln w="19050">
                        <a:solidFill>
                          <a:srgbClr val="000000"/>
                        </a:solidFill>
                        <a:round/>
                        <a:headEnd/>
                        <a:tailEnd type="triangle" w="med" len="med"/>
                      </a:ln>
                    </p:spPr>
                    <p:txBody>
                      <a:bodyPr/>
                      <a:lstStyle/>
                      <a:p>
                        <a:endParaRPr lang="zh-CN" altLang="en-US"/>
                      </a:p>
                    </p:txBody>
                  </p:sp>
                </p:grpSp>
                <p:grpSp>
                  <p:nvGrpSpPr>
                    <p:cNvPr id="54310" name="Group 66"/>
                    <p:cNvGrpSpPr>
                      <a:grpSpLocks/>
                    </p:cNvGrpSpPr>
                    <p:nvPr/>
                  </p:nvGrpSpPr>
                  <p:grpSpPr bwMode="auto">
                    <a:xfrm>
                      <a:off x="3264" y="2897"/>
                      <a:ext cx="1632" cy="319"/>
                      <a:chOff x="3264" y="2897"/>
                      <a:chExt cx="1632" cy="319"/>
                    </a:xfrm>
                  </p:grpSpPr>
                  <p:sp>
                    <p:nvSpPr>
                      <p:cNvPr id="54311" name="Freeform 67"/>
                      <p:cNvSpPr>
                        <a:spLocks/>
                      </p:cNvSpPr>
                      <p:nvPr/>
                    </p:nvSpPr>
                    <p:spPr bwMode="auto">
                      <a:xfrm>
                        <a:off x="3264" y="2897"/>
                        <a:ext cx="816" cy="319"/>
                      </a:xfrm>
                      <a:custGeom>
                        <a:avLst/>
                        <a:gdLst>
                          <a:gd name="T0" fmla="*/ 0 w 20000"/>
                          <a:gd name="T1" fmla="*/ 5 h 20000"/>
                          <a:gd name="T2" fmla="*/ 1 w 20000"/>
                          <a:gd name="T3" fmla="*/ 4 h 20000"/>
                          <a:gd name="T4" fmla="*/ 2 w 20000"/>
                          <a:gd name="T5" fmla="*/ 4 h 20000"/>
                          <a:gd name="T6" fmla="*/ 3 w 20000"/>
                          <a:gd name="T7" fmla="*/ 4 h 20000"/>
                          <a:gd name="T8" fmla="*/ 3 w 20000"/>
                          <a:gd name="T9" fmla="*/ 3 h 20000"/>
                          <a:gd name="T10" fmla="*/ 4 w 20000"/>
                          <a:gd name="T11" fmla="*/ 3 h 20000"/>
                          <a:gd name="T12" fmla="*/ 5 w 20000"/>
                          <a:gd name="T13" fmla="*/ 3 h 20000"/>
                          <a:gd name="T14" fmla="*/ 6 w 20000"/>
                          <a:gd name="T15" fmla="*/ 3 h 20000"/>
                          <a:gd name="T16" fmla="*/ 6 w 20000"/>
                          <a:gd name="T17" fmla="*/ 2 h 20000"/>
                          <a:gd name="T18" fmla="*/ 7 w 20000"/>
                          <a:gd name="T19" fmla="*/ 2 h 20000"/>
                          <a:gd name="T20" fmla="*/ 8 w 20000"/>
                          <a:gd name="T21" fmla="*/ 2 h 20000"/>
                          <a:gd name="T22" fmla="*/ 9 w 20000"/>
                          <a:gd name="T23" fmla="*/ 2 h 20000"/>
                          <a:gd name="T24" fmla="*/ 9 w 20000"/>
                          <a:gd name="T25" fmla="*/ 1 h 20000"/>
                          <a:gd name="T26" fmla="*/ 10 w 20000"/>
                          <a:gd name="T27" fmla="*/ 1 h 20000"/>
                          <a:gd name="T28" fmla="*/ 11 w 20000"/>
                          <a:gd name="T29" fmla="*/ 1 h 20000"/>
                          <a:gd name="T30" fmla="*/ 11 w 20000"/>
                          <a:gd name="T31" fmla="*/ 1 h 20000"/>
                          <a:gd name="T32" fmla="*/ 12 w 20000"/>
                          <a:gd name="T33" fmla="*/ 1 h 20000"/>
                          <a:gd name="T34" fmla="*/ 13 w 20000"/>
                          <a:gd name="T35" fmla="*/ 0 h 20000"/>
                          <a:gd name="T36" fmla="*/ 14 w 20000"/>
                          <a:gd name="T37" fmla="*/ 0 h 20000"/>
                          <a:gd name="T38" fmla="*/ 14 w 20000"/>
                          <a:gd name="T39" fmla="*/ 0 h 20000"/>
                          <a:gd name="T40" fmla="*/ 15 w 20000"/>
                          <a:gd name="T41" fmla="*/ 0 h 20000"/>
                          <a:gd name="T42" fmla="*/ 16 w 20000"/>
                          <a:gd name="T43" fmla="*/ 0 h 20000"/>
                          <a:gd name="T44" fmla="*/ 16 w 20000"/>
                          <a:gd name="T45" fmla="*/ 0 h 20000"/>
                          <a:gd name="T46" fmla="*/ 17 w 20000"/>
                          <a:gd name="T47" fmla="*/ 0 h 20000"/>
                          <a:gd name="T48" fmla="*/ 18 w 20000"/>
                          <a:gd name="T49" fmla="*/ 0 h 20000"/>
                          <a:gd name="T50" fmla="*/ 19 w 20000"/>
                          <a:gd name="T51" fmla="*/ 0 h 20000"/>
                          <a:gd name="T52" fmla="*/ 19 w 20000"/>
                          <a:gd name="T53" fmla="*/ 0 h 20000"/>
                          <a:gd name="T54" fmla="*/ 20 w 20000"/>
                          <a:gd name="T55" fmla="*/ 0 h 20000"/>
                          <a:gd name="T56" fmla="*/ 21 w 20000"/>
                          <a:gd name="T57" fmla="*/ 0 h 20000"/>
                          <a:gd name="T58" fmla="*/ 22 w 20000"/>
                          <a:gd name="T59" fmla="*/ 1 h 20000"/>
                          <a:gd name="T60" fmla="*/ 22 w 20000"/>
                          <a:gd name="T61" fmla="*/ 1 h 20000"/>
                          <a:gd name="T62" fmla="*/ 23 w 20000"/>
                          <a:gd name="T63" fmla="*/ 1 h 20000"/>
                          <a:gd name="T64" fmla="*/ 24 w 20000"/>
                          <a:gd name="T65" fmla="*/ 1 h 20000"/>
                          <a:gd name="T66" fmla="*/ 25 w 20000"/>
                          <a:gd name="T67" fmla="*/ 2 h 20000"/>
                          <a:gd name="T68" fmla="*/ 25 w 20000"/>
                          <a:gd name="T69" fmla="*/ 2 h 20000"/>
                          <a:gd name="T70" fmla="*/ 26 w 20000"/>
                          <a:gd name="T71" fmla="*/ 2 h 20000"/>
                          <a:gd name="T72" fmla="*/ 27 w 20000"/>
                          <a:gd name="T73" fmla="*/ 2 h 20000"/>
                          <a:gd name="T74" fmla="*/ 28 w 20000"/>
                          <a:gd name="T75" fmla="*/ 3 h 20000"/>
                          <a:gd name="T76" fmla="*/ 28 w 20000"/>
                          <a:gd name="T77" fmla="*/ 3 h 20000"/>
                          <a:gd name="T78" fmla="*/ 29 w 20000"/>
                          <a:gd name="T79" fmla="*/ 3 h 20000"/>
                          <a:gd name="T80" fmla="*/ 30 w 20000"/>
                          <a:gd name="T81" fmla="*/ 4 h 20000"/>
                          <a:gd name="T82" fmla="*/ 30 w 20000"/>
                          <a:gd name="T83" fmla="*/ 4 h 20000"/>
                          <a:gd name="T84" fmla="*/ 31 w 20000"/>
                          <a:gd name="T85" fmla="*/ 4 h 20000"/>
                          <a:gd name="T86" fmla="*/ 31 w 20000"/>
                          <a:gd name="T87" fmla="*/ 4 h 20000"/>
                          <a:gd name="T88" fmla="*/ 32 w 20000"/>
                          <a:gd name="T89" fmla="*/ 5 h 20000"/>
                          <a:gd name="T90" fmla="*/ 32 w 20000"/>
                          <a:gd name="T91" fmla="*/ 5 h 20000"/>
                          <a:gd name="T92" fmla="*/ 33 w 20000"/>
                          <a:gd name="T93" fmla="*/ 5 h 20000"/>
                          <a:gd name="T94" fmla="*/ 33 w 20000"/>
                          <a:gd name="T95" fmla="*/ 5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FF0000"/>
                        </a:solidFill>
                        <a:prstDash val="solid"/>
                        <a:round/>
                        <a:headEnd type="none" w="med" len="med"/>
                        <a:tailEnd type="none" w="med" len="med"/>
                      </a:ln>
                      <a:effectLst/>
                    </p:spPr>
                    <p:txBody>
                      <a:bodyPr/>
                      <a:lstStyle/>
                      <a:p>
                        <a:endParaRPr lang="zh-CN" altLang="en-US"/>
                      </a:p>
                    </p:txBody>
                  </p:sp>
                  <p:sp>
                    <p:nvSpPr>
                      <p:cNvPr id="54312" name="Freeform 68"/>
                      <p:cNvSpPr>
                        <a:spLocks/>
                      </p:cNvSpPr>
                      <p:nvPr/>
                    </p:nvSpPr>
                    <p:spPr bwMode="auto">
                      <a:xfrm>
                        <a:off x="4080" y="2897"/>
                        <a:ext cx="816" cy="319"/>
                      </a:xfrm>
                      <a:custGeom>
                        <a:avLst/>
                        <a:gdLst>
                          <a:gd name="T0" fmla="*/ 0 w 20000"/>
                          <a:gd name="T1" fmla="*/ 5 h 20000"/>
                          <a:gd name="T2" fmla="*/ 1 w 20000"/>
                          <a:gd name="T3" fmla="*/ 4 h 20000"/>
                          <a:gd name="T4" fmla="*/ 2 w 20000"/>
                          <a:gd name="T5" fmla="*/ 4 h 20000"/>
                          <a:gd name="T6" fmla="*/ 3 w 20000"/>
                          <a:gd name="T7" fmla="*/ 4 h 20000"/>
                          <a:gd name="T8" fmla="*/ 3 w 20000"/>
                          <a:gd name="T9" fmla="*/ 3 h 20000"/>
                          <a:gd name="T10" fmla="*/ 4 w 20000"/>
                          <a:gd name="T11" fmla="*/ 3 h 20000"/>
                          <a:gd name="T12" fmla="*/ 5 w 20000"/>
                          <a:gd name="T13" fmla="*/ 3 h 20000"/>
                          <a:gd name="T14" fmla="*/ 6 w 20000"/>
                          <a:gd name="T15" fmla="*/ 3 h 20000"/>
                          <a:gd name="T16" fmla="*/ 6 w 20000"/>
                          <a:gd name="T17" fmla="*/ 2 h 20000"/>
                          <a:gd name="T18" fmla="*/ 7 w 20000"/>
                          <a:gd name="T19" fmla="*/ 2 h 20000"/>
                          <a:gd name="T20" fmla="*/ 8 w 20000"/>
                          <a:gd name="T21" fmla="*/ 2 h 20000"/>
                          <a:gd name="T22" fmla="*/ 9 w 20000"/>
                          <a:gd name="T23" fmla="*/ 2 h 20000"/>
                          <a:gd name="T24" fmla="*/ 9 w 20000"/>
                          <a:gd name="T25" fmla="*/ 1 h 20000"/>
                          <a:gd name="T26" fmla="*/ 10 w 20000"/>
                          <a:gd name="T27" fmla="*/ 1 h 20000"/>
                          <a:gd name="T28" fmla="*/ 11 w 20000"/>
                          <a:gd name="T29" fmla="*/ 1 h 20000"/>
                          <a:gd name="T30" fmla="*/ 11 w 20000"/>
                          <a:gd name="T31" fmla="*/ 1 h 20000"/>
                          <a:gd name="T32" fmla="*/ 12 w 20000"/>
                          <a:gd name="T33" fmla="*/ 1 h 20000"/>
                          <a:gd name="T34" fmla="*/ 13 w 20000"/>
                          <a:gd name="T35" fmla="*/ 0 h 20000"/>
                          <a:gd name="T36" fmla="*/ 14 w 20000"/>
                          <a:gd name="T37" fmla="*/ 0 h 20000"/>
                          <a:gd name="T38" fmla="*/ 14 w 20000"/>
                          <a:gd name="T39" fmla="*/ 0 h 20000"/>
                          <a:gd name="T40" fmla="*/ 15 w 20000"/>
                          <a:gd name="T41" fmla="*/ 0 h 20000"/>
                          <a:gd name="T42" fmla="*/ 16 w 20000"/>
                          <a:gd name="T43" fmla="*/ 0 h 20000"/>
                          <a:gd name="T44" fmla="*/ 16 w 20000"/>
                          <a:gd name="T45" fmla="*/ 0 h 20000"/>
                          <a:gd name="T46" fmla="*/ 17 w 20000"/>
                          <a:gd name="T47" fmla="*/ 0 h 20000"/>
                          <a:gd name="T48" fmla="*/ 18 w 20000"/>
                          <a:gd name="T49" fmla="*/ 0 h 20000"/>
                          <a:gd name="T50" fmla="*/ 19 w 20000"/>
                          <a:gd name="T51" fmla="*/ 0 h 20000"/>
                          <a:gd name="T52" fmla="*/ 19 w 20000"/>
                          <a:gd name="T53" fmla="*/ 0 h 20000"/>
                          <a:gd name="T54" fmla="*/ 20 w 20000"/>
                          <a:gd name="T55" fmla="*/ 0 h 20000"/>
                          <a:gd name="T56" fmla="*/ 21 w 20000"/>
                          <a:gd name="T57" fmla="*/ 0 h 20000"/>
                          <a:gd name="T58" fmla="*/ 22 w 20000"/>
                          <a:gd name="T59" fmla="*/ 1 h 20000"/>
                          <a:gd name="T60" fmla="*/ 22 w 20000"/>
                          <a:gd name="T61" fmla="*/ 1 h 20000"/>
                          <a:gd name="T62" fmla="*/ 23 w 20000"/>
                          <a:gd name="T63" fmla="*/ 1 h 20000"/>
                          <a:gd name="T64" fmla="*/ 24 w 20000"/>
                          <a:gd name="T65" fmla="*/ 1 h 20000"/>
                          <a:gd name="T66" fmla="*/ 25 w 20000"/>
                          <a:gd name="T67" fmla="*/ 2 h 20000"/>
                          <a:gd name="T68" fmla="*/ 25 w 20000"/>
                          <a:gd name="T69" fmla="*/ 2 h 20000"/>
                          <a:gd name="T70" fmla="*/ 26 w 20000"/>
                          <a:gd name="T71" fmla="*/ 2 h 20000"/>
                          <a:gd name="T72" fmla="*/ 27 w 20000"/>
                          <a:gd name="T73" fmla="*/ 2 h 20000"/>
                          <a:gd name="T74" fmla="*/ 28 w 20000"/>
                          <a:gd name="T75" fmla="*/ 3 h 20000"/>
                          <a:gd name="T76" fmla="*/ 28 w 20000"/>
                          <a:gd name="T77" fmla="*/ 3 h 20000"/>
                          <a:gd name="T78" fmla="*/ 29 w 20000"/>
                          <a:gd name="T79" fmla="*/ 3 h 20000"/>
                          <a:gd name="T80" fmla="*/ 30 w 20000"/>
                          <a:gd name="T81" fmla="*/ 4 h 20000"/>
                          <a:gd name="T82" fmla="*/ 30 w 20000"/>
                          <a:gd name="T83" fmla="*/ 4 h 20000"/>
                          <a:gd name="T84" fmla="*/ 31 w 20000"/>
                          <a:gd name="T85" fmla="*/ 4 h 20000"/>
                          <a:gd name="T86" fmla="*/ 31 w 20000"/>
                          <a:gd name="T87" fmla="*/ 4 h 20000"/>
                          <a:gd name="T88" fmla="*/ 32 w 20000"/>
                          <a:gd name="T89" fmla="*/ 5 h 20000"/>
                          <a:gd name="T90" fmla="*/ 32 w 20000"/>
                          <a:gd name="T91" fmla="*/ 5 h 20000"/>
                          <a:gd name="T92" fmla="*/ 33 w 20000"/>
                          <a:gd name="T93" fmla="*/ 5 h 20000"/>
                          <a:gd name="T94" fmla="*/ 33 w 20000"/>
                          <a:gd name="T95" fmla="*/ 5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FF0000"/>
                        </a:solidFill>
                        <a:prstDash val="solid"/>
                        <a:round/>
                        <a:headEnd type="none" w="med" len="med"/>
                        <a:tailEnd type="none" w="med" len="med"/>
                      </a:ln>
                      <a:effectLst/>
                    </p:spPr>
                    <p:txBody>
                      <a:bodyPr/>
                      <a:lstStyle/>
                      <a:p>
                        <a:endParaRPr lang="zh-CN" altLang="en-US"/>
                      </a:p>
                    </p:txBody>
                  </p:sp>
                </p:grpSp>
              </p:grpSp>
            </p:grpSp>
            <p:grpSp>
              <p:nvGrpSpPr>
                <p:cNvPr id="54282" name="Group 69"/>
                <p:cNvGrpSpPr>
                  <a:grpSpLocks/>
                </p:cNvGrpSpPr>
                <p:nvPr/>
              </p:nvGrpSpPr>
              <p:grpSpPr bwMode="auto">
                <a:xfrm>
                  <a:off x="2974" y="1776"/>
                  <a:ext cx="2345" cy="720"/>
                  <a:chOff x="2974" y="1929"/>
                  <a:chExt cx="2345" cy="720"/>
                </a:xfrm>
              </p:grpSpPr>
              <p:sp>
                <p:nvSpPr>
                  <p:cNvPr id="54297" name="Text Box 70"/>
                  <p:cNvSpPr txBox="1">
                    <a:spLocks noChangeArrowheads="1"/>
                  </p:cNvSpPr>
                  <p:nvPr/>
                </p:nvSpPr>
                <p:spPr bwMode="auto">
                  <a:xfrm>
                    <a:off x="3846" y="1929"/>
                    <a:ext cx="737" cy="264"/>
                  </a:xfrm>
                  <a:prstGeom prst="rect">
                    <a:avLst/>
                  </a:prstGeom>
                  <a:noFill/>
                  <a:ln w="9525">
                    <a:noFill/>
                    <a:miter lim="800000"/>
                    <a:headEnd/>
                    <a:tailEnd/>
                  </a:ln>
                </p:spPr>
                <p:txBody>
                  <a:bodyPr/>
                  <a:lstStyle/>
                  <a:p>
                    <a:pPr algn="just"/>
                    <a:r>
                      <a:rPr lang="en-US" altLang="zh-CN" sz="1800" b="1">
                        <a:solidFill>
                          <a:schemeClr val="bg2"/>
                        </a:solidFill>
                      </a:rPr>
                      <a:t>|</a:t>
                    </a:r>
                    <a:r>
                      <a:rPr lang="el-GR" altLang="zh-CN" sz="1800" b="1">
                        <a:solidFill>
                          <a:schemeClr val="bg2"/>
                        </a:solidFill>
                        <a:cs typeface="Times New Roman" pitchFamily="18" charset="0"/>
                      </a:rPr>
                      <a:t>ψ</a:t>
                    </a:r>
                    <a:r>
                      <a:rPr lang="en-US" altLang="zh-CN" sz="1800" b="1" baseline="-25000">
                        <a:solidFill>
                          <a:schemeClr val="bg2"/>
                        </a:solidFill>
                      </a:rPr>
                      <a:t>3</a:t>
                    </a:r>
                    <a:r>
                      <a:rPr lang="en-US" altLang="zh-CN" sz="1800" b="1">
                        <a:solidFill>
                          <a:schemeClr val="bg2"/>
                        </a:solidFill>
                      </a:rPr>
                      <a:t>(x)|</a:t>
                    </a:r>
                    <a:r>
                      <a:rPr lang="en-US" altLang="zh-CN" sz="1800" b="1" baseline="30000">
                        <a:solidFill>
                          <a:schemeClr val="bg2"/>
                        </a:solidFill>
                      </a:rPr>
                      <a:t>2</a:t>
                    </a:r>
                    <a:endParaRPr lang="en-US" altLang="zh-CN" sz="1800" b="1">
                      <a:solidFill>
                        <a:schemeClr val="bg2"/>
                      </a:solidFill>
                    </a:endParaRPr>
                  </a:p>
                  <a:p>
                    <a:pPr algn="just"/>
                    <a:endParaRPr lang="en-US" altLang="zh-CN" sz="1200" b="1">
                      <a:solidFill>
                        <a:schemeClr val="bg2"/>
                      </a:solidFill>
                    </a:endParaRPr>
                  </a:p>
                </p:txBody>
              </p:sp>
              <p:grpSp>
                <p:nvGrpSpPr>
                  <p:cNvPr id="54298" name="Group 71"/>
                  <p:cNvGrpSpPr>
                    <a:grpSpLocks/>
                  </p:cNvGrpSpPr>
                  <p:nvPr/>
                </p:nvGrpSpPr>
                <p:grpSpPr bwMode="auto">
                  <a:xfrm>
                    <a:off x="2974" y="1963"/>
                    <a:ext cx="2345" cy="686"/>
                    <a:chOff x="2974" y="1963"/>
                    <a:chExt cx="2345" cy="686"/>
                  </a:xfrm>
                </p:grpSpPr>
                <p:grpSp>
                  <p:nvGrpSpPr>
                    <p:cNvPr id="54299" name="Group 72"/>
                    <p:cNvGrpSpPr>
                      <a:grpSpLocks/>
                    </p:cNvGrpSpPr>
                    <p:nvPr/>
                  </p:nvGrpSpPr>
                  <p:grpSpPr bwMode="auto">
                    <a:xfrm>
                      <a:off x="2974" y="1963"/>
                      <a:ext cx="2345" cy="686"/>
                      <a:chOff x="5940" y="9324"/>
                      <a:chExt cx="3936" cy="1716"/>
                    </a:xfrm>
                  </p:grpSpPr>
                  <p:sp>
                    <p:nvSpPr>
                      <p:cNvPr id="54304" name="Text Box 73"/>
                      <p:cNvSpPr txBox="1">
                        <a:spLocks noChangeArrowheads="1"/>
                      </p:cNvSpPr>
                      <p:nvPr/>
                    </p:nvSpPr>
                    <p:spPr bwMode="auto">
                      <a:xfrm>
                        <a:off x="5940" y="10428"/>
                        <a:ext cx="648" cy="612"/>
                      </a:xfrm>
                      <a:prstGeom prst="rect">
                        <a:avLst/>
                      </a:prstGeom>
                      <a:noFill/>
                      <a:ln w="9525">
                        <a:noFill/>
                        <a:miter lim="800000"/>
                        <a:headEnd/>
                        <a:tailEnd/>
                      </a:ln>
                    </p:spPr>
                    <p:txBody>
                      <a:bodyPr/>
                      <a:lstStyle/>
                      <a:p>
                        <a:pPr algn="just"/>
                        <a:r>
                          <a:rPr lang="en-US" altLang="zh-CN" sz="1600" b="1">
                            <a:solidFill>
                              <a:schemeClr val="bg2"/>
                            </a:solidFill>
                          </a:rPr>
                          <a:t>0</a:t>
                        </a:r>
                      </a:p>
                    </p:txBody>
                  </p:sp>
                  <p:sp>
                    <p:nvSpPr>
                      <p:cNvPr id="54305" name="Line 74"/>
                      <p:cNvSpPr>
                        <a:spLocks noChangeShapeType="1"/>
                      </p:cNvSpPr>
                      <p:nvPr/>
                    </p:nvSpPr>
                    <p:spPr bwMode="auto">
                      <a:xfrm>
                        <a:off x="6456" y="10704"/>
                        <a:ext cx="3420" cy="0"/>
                      </a:xfrm>
                      <a:prstGeom prst="line">
                        <a:avLst/>
                      </a:prstGeom>
                      <a:noFill/>
                      <a:ln w="19050">
                        <a:solidFill>
                          <a:srgbClr val="000000"/>
                        </a:solidFill>
                        <a:round/>
                        <a:headEnd/>
                        <a:tailEnd type="triangle" w="med" len="med"/>
                      </a:ln>
                    </p:spPr>
                    <p:txBody>
                      <a:bodyPr/>
                      <a:lstStyle/>
                      <a:p>
                        <a:endParaRPr lang="zh-CN" altLang="en-US"/>
                      </a:p>
                    </p:txBody>
                  </p:sp>
                  <p:sp>
                    <p:nvSpPr>
                      <p:cNvPr id="54306" name="Line 75"/>
                      <p:cNvSpPr>
                        <a:spLocks noChangeShapeType="1"/>
                      </p:cNvSpPr>
                      <p:nvPr/>
                    </p:nvSpPr>
                    <p:spPr bwMode="auto">
                      <a:xfrm flipV="1">
                        <a:off x="6420" y="9324"/>
                        <a:ext cx="0" cy="1380"/>
                      </a:xfrm>
                      <a:prstGeom prst="line">
                        <a:avLst/>
                      </a:prstGeom>
                      <a:noFill/>
                      <a:ln w="19050">
                        <a:solidFill>
                          <a:srgbClr val="000000"/>
                        </a:solidFill>
                        <a:round/>
                        <a:headEnd/>
                        <a:tailEnd type="triangle" w="med" len="med"/>
                      </a:ln>
                    </p:spPr>
                    <p:txBody>
                      <a:bodyPr/>
                      <a:lstStyle/>
                      <a:p>
                        <a:endParaRPr lang="zh-CN" altLang="en-US"/>
                      </a:p>
                    </p:txBody>
                  </p:sp>
                </p:grpSp>
                <p:grpSp>
                  <p:nvGrpSpPr>
                    <p:cNvPr id="54300" name="Group 76"/>
                    <p:cNvGrpSpPr>
                      <a:grpSpLocks/>
                    </p:cNvGrpSpPr>
                    <p:nvPr/>
                  </p:nvGrpSpPr>
                  <p:grpSpPr bwMode="auto">
                    <a:xfrm>
                      <a:off x="3264" y="2256"/>
                      <a:ext cx="1680" cy="288"/>
                      <a:chOff x="3264" y="2256"/>
                      <a:chExt cx="2016" cy="288"/>
                    </a:xfrm>
                  </p:grpSpPr>
                  <p:sp>
                    <p:nvSpPr>
                      <p:cNvPr id="54301" name="Freeform 77"/>
                      <p:cNvSpPr>
                        <a:spLocks/>
                      </p:cNvSpPr>
                      <p:nvPr/>
                    </p:nvSpPr>
                    <p:spPr bwMode="auto">
                      <a:xfrm>
                        <a:off x="3264" y="2256"/>
                        <a:ext cx="672" cy="288"/>
                      </a:xfrm>
                      <a:custGeom>
                        <a:avLst/>
                        <a:gdLst>
                          <a:gd name="T0" fmla="*/ 0 w 20000"/>
                          <a:gd name="T1" fmla="*/ 4 h 20000"/>
                          <a:gd name="T2" fmla="*/ 1 w 20000"/>
                          <a:gd name="T3" fmla="*/ 4 h 20000"/>
                          <a:gd name="T4" fmla="*/ 1 w 20000"/>
                          <a:gd name="T5" fmla="*/ 3 h 20000"/>
                          <a:gd name="T6" fmla="*/ 2 w 20000"/>
                          <a:gd name="T7" fmla="*/ 3 h 20000"/>
                          <a:gd name="T8" fmla="*/ 2 w 20000"/>
                          <a:gd name="T9" fmla="*/ 3 h 20000"/>
                          <a:gd name="T10" fmla="*/ 3 w 20000"/>
                          <a:gd name="T11" fmla="*/ 3 h 20000"/>
                          <a:gd name="T12" fmla="*/ 3 w 20000"/>
                          <a:gd name="T13" fmla="*/ 2 h 20000"/>
                          <a:gd name="T14" fmla="*/ 4 w 20000"/>
                          <a:gd name="T15" fmla="*/ 2 h 20000"/>
                          <a:gd name="T16" fmla="*/ 4 w 20000"/>
                          <a:gd name="T17" fmla="*/ 2 h 20000"/>
                          <a:gd name="T18" fmla="*/ 5 w 20000"/>
                          <a:gd name="T19" fmla="*/ 2 h 20000"/>
                          <a:gd name="T20" fmla="*/ 5 w 20000"/>
                          <a:gd name="T21" fmla="*/ 1 h 20000"/>
                          <a:gd name="T22" fmla="*/ 6 w 20000"/>
                          <a:gd name="T23" fmla="*/ 1 h 20000"/>
                          <a:gd name="T24" fmla="*/ 6 w 20000"/>
                          <a:gd name="T25" fmla="*/ 1 h 20000"/>
                          <a:gd name="T26" fmla="*/ 7 w 20000"/>
                          <a:gd name="T27" fmla="*/ 1 h 20000"/>
                          <a:gd name="T28" fmla="*/ 7 w 20000"/>
                          <a:gd name="T29" fmla="*/ 1 h 20000"/>
                          <a:gd name="T30" fmla="*/ 8 w 20000"/>
                          <a:gd name="T31" fmla="*/ 1 h 20000"/>
                          <a:gd name="T32" fmla="*/ 8 w 20000"/>
                          <a:gd name="T33" fmla="*/ 1 h 20000"/>
                          <a:gd name="T34" fmla="*/ 9 w 20000"/>
                          <a:gd name="T35" fmla="*/ 0 h 20000"/>
                          <a:gd name="T36" fmla="*/ 9 w 20000"/>
                          <a:gd name="T37" fmla="*/ 0 h 20000"/>
                          <a:gd name="T38" fmla="*/ 10 w 20000"/>
                          <a:gd name="T39" fmla="*/ 0 h 20000"/>
                          <a:gd name="T40" fmla="*/ 10 w 20000"/>
                          <a:gd name="T41" fmla="*/ 0 h 20000"/>
                          <a:gd name="T42" fmla="*/ 11 w 20000"/>
                          <a:gd name="T43" fmla="*/ 0 h 20000"/>
                          <a:gd name="T44" fmla="*/ 11 w 20000"/>
                          <a:gd name="T45" fmla="*/ 0 h 20000"/>
                          <a:gd name="T46" fmla="*/ 12 w 20000"/>
                          <a:gd name="T47" fmla="*/ 0 h 20000"/>
                          <a:gd name="T48" fmla="*/ 12 w 20000"/>
                          <a:gd name="T49" fmla="*/ 0 h 20000"/>
                          <a:gd name="T50" fmla="*/ 13 w 20000"/>
                          <a:gd name="T51" fmla="*/ 0 h 20000"/>
                          <a:gd name="T52" fmla="*/ 13 w 20000"/>
                          <a:gd name="T53" fmla="*/ 0 h 20000"/>
                          <a:gd name="T54" fmla="*/ 14 w 20000"/>
                          <a:gd name="T55" fmla="*/ 0 h 20000"/>
                          <a:gd name="T56" fmla="*/ 14 w 20000"/>
                          <a:gd name="T57" fmla="*/ 0 h 20000"/>
                          <a:gd name="T58" fmla="*/ 15 w 20000"/>
                          <a:gd name="T59" fmla="*/ 0 h 20000"/>
                          <a:gd name="T60" fmla="*/ 15 w 20000"/>
                          <a:gd name="T61" fmla="*/ 1 h 20000"/>
                          <a:gd name="T62" fmla="*/ 16 w 20000"/>
                          <a:gd name="T63" fmla="*/ 1 h 20000"/>
                          <a:gd name="T64" fmla="*/ 16 w 20000"/>
                          <a:gd name="T65" fmla="*/ 1 h 20000"/>
                          <a:gd name="T66" fmla="*/ 17 w 20000"/>
                          <a:gd name="T67" fmla="*/ 1 h 20000"/>
                          <a:gd name="T68" fmla="*/ 17 w 20000"/>
                          <a:gd name="T69" fmla="*/ 1 h 20000"/>
                          <a:gd name="T70" fmla="*/ 18 w 20000"/>
                          <a:gd name="T71" fmla="*/ 2 h 20000"/>
                          <a:gd name="T72" fmla="*/ 18 w 20000"/>
                          <a:gd name="T73" fmla="*/ 2 h 20000"/>
                          <a:gd name="T74" fmla="*/ 19 w 20000"/>
                          <a:gd name="T75" fmla="*/ 2 h 20000"/>
                          <a:gd name="T76" fmla="*/ 19 w 20000"/>
                          <a:gd name="T77" fmla="*/ 2 h 20000"/>
                          <a:gd name="T78" fmla="*/ 20 w 20000"/>
                          <a:gd name="T79" fmla="*/ 3 h 20000"/>
                          <a:gd name="T80" fmla="*/ 20 w 20000"/>
                          <a:gd name="T81" fmla="*/ 3 h 20000"/>
                          <a:gd name="T82" fmla="*/ 20 w 20000"/>
                          <a:gd name="T83" fmla="*/ 3 h 20000"/>
                          <a:gd name="T84" fmla="*/ 21 w 20000"/>
                          <a:gd name="T85" fmla="*/ 3 h 20000"/>
                          <a:gd name="T86" fmla="*/ 21 w 20000"/>
                          <a:gd name="T87" fmla="*/ 3 h 20000"/>
                          <a:gd name="T88" fmla="*/ 22 w 20000"/>
                          <a:gd name="T89" fmla="*/ 4 h 20000"/>
                          <a:gd name="T90" fmla="*/ 22 w 20000"/>
                          <a:gd name="T91" fmla="*/ 4 h 20000"/>
                          <a:gd name="T92" fmla="*/ 22 w 20000"/>
                          <a:gd name="T93" fmla="*/ 4 h 20000"/>
                          <a:gd name="T94" fmla="*/ 22 w 20000"/>
                          <a:gd name="T95" fmla="*/ 4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FF0000"/>
                        </a:solidFill>
                        <a:prstDash val="solid"/>
                        <a:round/>
                        <a:headEnd type="none" w="med" len="med"/>
                        <a:tailEnd type="none" w="med" len="med"/>
                      </a:ln>
                      <a:effectLst/>
                    </p:spPr>
                    <p:txBody>
                      <a:bodyPr/>
                      <a:lstStyle/>
                      <a:p>
                        <a:endParaRPr lang="zh-CN" altLang="en-US"/>
                      </a:p>
                    </p:txBody>
                  </p:sp>
                  <p:sp>
                    <p:nvSpPr>
                      <p:cNvPr id="54302" name="Freeform 78"/>
                      <p:cNvSpPr>
                        <a:spLocks/>
                      </p:cNvSpPr>
                      <p:nvPr/>
                    </p:nvSpPr>
                    <p:spPr bwMode="auto">
                      <a:xfrm>
                        <a:off x="3936" y="2256"/>
                        <a:ext cx="672" cy="288"/>
                      </a:xfrm>
                      <a:custGeom>
                        <a:avLst/>
                        <a:gdLst>
                          <a:gd name="T0" fmla="*/ 0 w 20000"/>
                          <a:gd name="T1" fmla="*/ 4 h 20000"/>
                          <a:gd name="T2" fmla="*/ 1 w 20000"/>
                          <a:gd name="T3" fmla="*/ 4 h 20000"/>
                          <a:gd name="T4" fmla="*/ 1 w 20000"/>
                          <a:gd name="T5" fmla="*/ 3 h 20000"/>
                          <a:gd name="T6" fmla="*/ 2 w 20000"/>
                          <a:gd name="T7" fmla="*/ 3 h 20000"/>
                          <a:gd name="T8" fmla="*/ 2 w 20000"/>
                          <a:gd name="T9" fmla="*/ 3 h 20000"/>
                          <a:gd name="T10" fmla="*/ 3 w 20000"/>
                          <a:gd name="T11" fmla="*/ 3 h 20000"/>
                          <a:gd name="T12" fmla="*/ 3 w 20000"/>
                          <a:gd name="T13" fmla="*/ 2 h 20000"/>
                          <a:gd name="T14" fmla="*/ 4 w 20000"/>
                          <a:gd name="T15" fmla="*/ 2 h 20000"/>
                          <a:gd name="T16" fmla="*/ 4 w 20000"/>
                          <a:gd name="T17" fmla="*/ 2 h 20000"/>
                          <a:gd name="T18" fmla="*/ 5 w 20000"/>
                          <a:gd name="T19" fmla="*/ 2 h 20000"/>
                          <a:gd name="T20" fmla="*/ 5 w 20000"/>
                          <a:gd name="T21" fmla="*/ 1 h 20000"/>
                          <a:gd name="T22" fmla="*/ 6 w 20000"/>
                          <a:gd name="T23" fmla="*/ 1 h 20000"/>
                          <a:gd name="T24" fmla="*/ 6 w 20000"/>
                          <a:gd name="T25" fmla="*/ 1 h 20000"/>
                          <a:gd name="T26" fmla="*/ 7 w 20000"/>
                          <a:gd name="T27" fmla="*/ 1 h 20000"/>
                          <a:gd name="T28" fmla="*/ 7 w 20000"/>
                          <a:gd name="T29" fmla="*/ 1 h 20000"/>
                          <a:gd name="T30" fmla="*/ 8 w 20000"/>
                          <a:gd name="T31" fmla="*/ 1 h 20000"/>
                          <a:gd name="T32" fmla="*/ 8 w 20000"/>
                          <a:gd name="T33" fmla="*/ 1 h 20000"/>
                          <a:gd name="T34" fmla="*/ 9 w 20000"/>
                          <a:gd name="T35" fmla="*/ 0 h 20000"/>
                          <a:gd name="T36" fmla="*/ 9 w 20000"/>
                          <a:gd name="T37" fmla="*/ 0 h 20000"/>
                          <a:gd name="T38" fmla="*/ 10 w 20000"/>
                          <a:gd name="T39" fmla="*/ 0 h 20000"/>
                          <a:gd name="T40" fmla="*/ 10 w 20000"/>
                          <a:gd name="T41" fmla="*/ 0 h 20000"/>
                          <a:gd name="T42" fmla="*/ 11 w 20000"/>
                          <a:gd name="T43" fmla="*/ 0 h 20000"/>
                          <a:gd name="T44" fmla="*/ 11 w 20000"/>
                          <a:gd name="T45" fmla="*/ 0 h 20000"/>
                          <a:gd name="T46" fmla="*/ 12 w 20000"/>
                          <a:gd name="T47" fmla="*/ 0 h 20000"/>
                          <a:gd name="T48" fmla="*/ 12 w 20000"/>
                          <a:gd name="T49" fmla="*/ 0 h 20000"/>
                          <a:gd name="T50" fmla="*/ 13 w 20000"/>
                          <a:gd name="T51" fmla="*/ 0 h 20000"/>
                          <a:gd name="T52" fmla="*/ 13 w 20000"/>
                          <a:gd name="T53" fmla="*/ 0 h 20000"/>
                          <a:gd name="T54" fmla="*/ 14 w 20000"/>
                          <a:gd name="T55" fmla="*/ 0 h 20000"/>
                          <a:gd name="T56" fmla="*/ 14 w 20000"/>
                          <a:gd name="T57" fmla="*/ 0 h 20000"/>
                          <a:gd name="T58" fmla="*/ 15 w 20000"/>
                          <a:gd name="T59" fmla="*/ 0 h 20000"/>
                          <a:gd name="T60" fmla="*/ 15 w 20000"/>
                          <a:gd name="T61" fmla="*/ 1 h 20000"/>
                          <a:gd name="T62" fmla="*/ 16 w 20000"/>
                          <a:gd name="T63" fmla="*/ 1 h 20000"/>
                          <a:gd name="T64" fmla="*/ 16 w 20000"/>
                          <a:gd name="T65" fmla="*/ 1 h 20000"/>
                          <a:gd name="T66" fmla="*/ 17 w 20000"/>
                          <a:gd name="T67" fmla="*/ 1 h 20000"/>
                          <a:gd name="T68" fmla="*/ 17 w 20000"/>
                          <a:gd name="T69" fmla="*/ 1 h 20000"/>
                          <a:gd name="T70" fmla="*/ 18 w 20000"/>
                          <a:gd name="T71" fmla="*/ 2 h 20000"/>
                          <a:gd name="T72" fmla="*/ 18 w 20000"/>
                          <a:gd name="T73" fmla="*/ 2 h 20000"/>
                          <a:gd name="T74" fmla="*/ 19 w 20000"/>
                          <a:gd name="T75" fmla="*/ 2 h 20000"/>
                          <a:gd name="T76" fmla="*/ 19 w 20000"/>
                          <a:gd name="T77" fmla="*/ 2 h 20000"/>
                          <a:gd name="T78" fmla="*/ 20 w 20000"/>
                          <a:gd name="T79" fmla="*/ 3 h 20000"/>
                          <a:gd name="T80" fmla="*/ 20 w 20000"/>
                          <a:gd name="T81" fmla="*/ 3 h 20000"/>
                          <a:gd name="T82" fmla="*/ 20 w 20000"/>
                          <a:gd name="T83" fmla="*/ 3 h 20000"/>
                          <a:gd name="T84" fmla="*/ 21 w 20000"/>
                          <a:gd name="T85" fmla="*/ 3 h 20000"/>
                          <a:gd name="T86" fmla="*/ 21 w 20000"/>
                          <a:gd name="T87" fmla="*/ 3 h 20000"/>
                          <a:gd name="T88" fmla="*/ 22 w 20000"/>
                          <a:gd name="T89" fmla="*/ 4 h 20000"/>
                          <a:gd name="T90" fmla="*/ 22 w 20000"/>
                          <a:gd name="T91" fmla="*/ 4 h 20000"/>
                          <a:gd name="T92" fmla="*/ 22 w 20000"/>
                          <a:gd name="T93" fmla="*/ 4 h 20000"/>
                          <a:gd name="T94" fmla="*/ 22 w 20000"/>
                          <a:gd name="T95" fmla="*/ 4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FF0000"/>
                        </a:solidFill>
                        <a:prstDash val="solid"/>
                        <a:round/>
                        <a:headEnd type="none" w="med" len="med"/>
                        <a:tailEnd type="none" w="med" len="med"/>
                      </a:ln>
                      <a:effectLst/>
                    </p:spPr>
                    <p:txBody>
                      <a:bodyPr/>
                      <a:lstStyle/>
                      <a:p>
                        <a:endParaRPr lang="zh-CN" altLang="en-US"/>
                      </a:p>
                    </p:txBody>
                  </p:sp>
                  <p:sp>
                    <p:nvSpPr>
                      <p:cNvPr id="54303" name="Freeform 79"/>
                      <p:cNvSpPr>
                        <a:spLocks/>
                      </p:cNvSpPr>
                      <p:nvPr/>
                    </p:nvSpPr>
                    <p:spPr bwMode="auto">
                      <a:xfrm>
                        <a:off x="4608" y="2256"/>
                        <a:ext cx="672" cy="288"/>
                      </a:xfrm>
                      <a:custGeom>
                        <a:avLst/>
                        <a:gdLst>
                          <a:gd name="T0" fmla="*/ 0 w 20000"/>
                          <a:gd name="T1" fmla="*/ 4 h 20000"/>
                          <a:gd name="T2" fmla="*/ 1 w 20000"/>
                          <a:gd name="T3" fmla="*/ 4 h 20000"/>
                          <a:gd name="T4" fmla="*/ 1 w 20000"/>
                          <a:gd name="T5" fmla="*/ 3 h 20000"/>
                          <a:gd name="T6" fmla="*/ 2 w 20000"/>
                          <a:gd name="T7" fmla="*/ 3 h 20000"/>
                          <a:gd name="T8" fmla="*/ 2 w 20000"/>
                          <a:gd name="T9" fmla="*/ 3 h 20000"/>
                          <a:gd name="T10" fmla="*/ 3 w 20000"/>
                          <a:gd name="T11" fmla="*/ 3 h 20000"/>
                          <a:gd name="T12" fmla="*/ 3 w 20000"/>
                          <a:gd name="T13" fmla="*/ 2 h 20000"/>
                          <a:gd name="T14" fmla="*/ 4 w 20000"/>
                          <a:gd name="T15" fmla="*/ 2 h 20000"/>
                          <a:gd name="T16" fmla="*/ 4 w 20000"/>
                          <a:gd name="T17" fmla="*/ 2 h 20000"/>
                          <a:gd name="T18" fmla="*/ 5 w 20000"/>
                          <a:gd name="T19" fmla="*/ 2 h 20000"/>
                          <a:gd name="T20" fmla="*/ 5 w 20000"/>
                          <a:gd name="T21" fmla="*/ 1 h 20000"/>
                          <a:gd name="T22" fmla="*/ 6 w 20000"/>
                          <a:gd name="T23" fmla="*/ 1 h 20000"/>
                          <a:gd name="T24" fmla="*/ 6 w 20000"/>
                          <a:gd name="T25" fmla="*/ 1 h 20000"/>
                          <a:gd name="T26" fmla="*/ 7 w 20000"/>
                          <a:gd name="T27" fmla="*/ 1 h 20000"/>
                          <a:gd name="T28" fmla="*/ 7 w 20000"/>
                          <a:gd name="T29" fmla="*/ 1 h 20000"/>
                          <a:gd name="T30" fmla="*/ 8 w 20000"/>
                          <a:gd name="T31" fmla="*/ 1 h 20000"/>
                          <a:gd name="T32" fmla="*/ 8 w 20000"/>
                          <a:gd name="T33" fmla="*/ 1 h 20000"/>
                          <a:gd name="T34" fmla="*/ 9 w 20000"/>
                          <a:gd name="T35" fmla="*/ 0 h 20000"/>
                          <a:gd name="T36" fmla="*/ 9 w 20000"/>
                          <a:gd name="T37" fmla="*/ 0 h 20000"/>
                          <a:gd name="T38" fmla="*/ 10 w 20000"/>
                          <a:gd name="T39" fmla="*/ 0 h 20000"/>
                          <a:gd name="T40" fmla="*/ 10 w 20000"/>
                          <a:gd name="T41" fmla="*/ 0 h 20000"/>
                          <a:gd name="T42" fmla="*/ 11 w 20000"/>
                          <a:gd name="T43" fmla="*/ 0 h 20000"/>
                          <a:gd name="T44" fmla="*/ 11 w 20000"/>
                          <a:gd name="T45" fmla="*/ 0 h 20000"/>
                          <a:gd name="T46" fmla="*/ 12 w 20000"/>
                          <a:gd name="T47" fmla="*/ 0 h 20000"/>
                          <a:gd name="T48" fmla="*/ 12 w 20000"/>
                          <a:gd name="T49" fmla="*/ 0 h 20000"/>
                          <a:gd name="T50" fmla="*/ 13 w 20000"/>
                          <a:gd name="T51" fmla="*/ 0 h 20000"/>
                          <a:gd name="T52" fmla="*/ 13 w 20000"/>
                          <a:gd name="T53" fmla="*/ 0 h 20000"/>
                          <a:gd name="T54" fmla="*/ 14 w 20000"/>
                          <a:gd name="T55" fmla="*/ 0 h 20000"/>
                          <a:gd name="T56" fmla="*/ 14 w 20000"/>
                          <a:gd name="T57" fmla="*/ 0 h 20000"/>
                          <a:gd name="T58" fmla="*/ 15 w 20000"/>
                          <a:gd name="T59" fmla="*/ 0 h 20000"/>
                          <a:gd name="T60" fmla="*/ 15 w 20000"/>
                          <a:gd name="T61" fmla="*/ 1 h 20000"/>
                          <a:gd name="T62" fmla="*/ 16 w 20000"/>
                          <a:gd name="T63" fmla="*/ 1 h 20000"/>
                          <a:gd name="T64" fmla="*/ 16 w 20000"/>
                          <a:gd name="T65" fmla="*/ 1 h 20000"/>
                          <a:gd name="T66" fmla="*/ 17 w 20000"/>
                          <a:gd name="T67" fmla="*/ 1 h 20000"/>
                          <a:gd name="T68" fmla="*/ 17 w 20000"/>
                          <a:gd name="T69" fmla="*/ 1 h 20000"/>
                          <a:gd name="T70" fmla="*/ 18 w 20000"/>
                          <a:gd name="T71" fmla="*/ 2 h 20000"/>
                          <a:gd name="T72" fmla="*/ 18 w 20000"/>
                          <a:gd name="T73" fmla="*/ 2 h 20000"/>
                          <a:gd name="T74" fmla="*/ 19 w 20000"/>
                          <a:gd name="T75" fmla="*/ 2 h 20000"/>
                          <a:gd name="T76" fmla="*/ 19 w 20000"/>
                          <a:gd name="T77" fmla="*/ 2 h 20000"/>
                          <a:gd name="T78" fmla="*/ 20 w 20000"/>
                          <a:gd name="T79" fmla="*/ 3 h 20000"/>
                          <a:gd name="T80" fmla="*/ 20 w 20000"/>
                          <a:gd name="T81" fmla="*/ 3 h 20000"/>
                          <a:gd name="T82" fmla="*/ 20 w 20000"/>
                          <a:gd name="T83" fmla="*/ 3 h 20000"/>
                          <a:gd name="T84" fmla="*/ 21 w 20000"/>
                          <a:gd name="T85" fmla="*/ 3 h 20000"/>
                          <a:gd name="T86" fmla="*/ 21 w 20000"/>
                          <a:gd name="T87" fmla="*/ 3 h 20000"/>
                          <a:gd name="T88" fmla="*/ 22 w 20000"/>
                          <a:gd name="T89" fmla="*/ 4 h 20000"/>
                          <a:gd name="T90" fmla="*/ 22 w 20000"/>
                          <a:gd name="T91" fmla="*/ 4 h 20000"/>
                          <a:gd name="T92" fmla="*/ 22 w 20000"/>
                          <a:gd name="T93" fmla="*/ 4 h 20000"/>
                          <a:gd name="T94" fmla="*/ 22 w 20000"/>
                          <a:gd name="T95" fmla="*/ 4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FF0000"/>
                        </a:solidFill>
                        <a:prstDash val="solid"/>
                        <a:round/>
                        <a:headEnd type="none" w="med" len="med"/>
                        <a:tailEnd type="none" w="med" len="med"/>
                      </a:ln>
                      <a:effectLst/>
                    </p:spPr>
                    <p:txBody>
                      <a:bodyPr/>
                      <a:lstStyle/>
                      <a:p>
                        <a:endParaRPr lang="zh-CN" altLang="en-US"/>
                      </a:p>
                    </p:txBody>
                  </p:sp>
                </p:grpSp>
              </p:grpSp>
            </p:grpSp>
            <p:grpSp>
              <p:nvGrpSpPr>
                <p:cNvPr id="54283" name="Group 80"/>
                <p:cNvGrpSpPr>
                  <a:grpSpLocks/>
                </p:cNvGrpSpPr>
                <p:nvPr/>
              </p:nvGrpSpPr>
              <p:grpSpPr bwMode="auto">
                <a:xfrm>
                  <a:off x="2974" y="624"/>
                  <a:ext cx="2331" cy="811"/>
                  <a:chOff x="2974" y="811"/>
                  <a:chExt cx="2331" cy="811"/>
                </a:xfrm>
              </p:grpSpPr>
              <p:sp>
                <p:nvSpPr>
                  <p:cNvPr id="54284" name="Text Box 81"/>
                  <p:cNvSpPr txBox="1">
                    <a:spLocks noChangeArrowheads="1"/>
                  </p:cNvSpPr>
                  <p:nvPr/>
                </p:nvSpPr>
                <p:spPr bwMode="auto">
                  <a:xfrm>
                    <a:off x="3832" y="811"/>
                    <a:ext cx="737" cy="264"/>
                  </a:xfrm>
                  <a:prstGeom prst="rect">
                    <a:avLst/>
                  </a:prstGeom>
                  <a:noFill/>
                  <a:ln w="9525">
                    <a:noFill/>
                    <a:miter lim="800000"/>
                    <a:headEnd/>
                    <a:tailEnd/>
                  </a:ln>
                </p:spPr>
                <p:txBody>
                  <a:bodyPr/>
                  <a:lstStyle/>
                  <a:p>
                    <a:pPr algn="just"/>
                    <a:r>
                      <a:rPr lang="en-US" altLang="zh-CN" sz="2000" b="1">
                        <a:solidFill>
                          <a:schemeClr val="bg2"/>
                        </a:solidFill>
                      </a:rPr>
                      <a:t>|</a:t>
                    </a:r>
                    <a:r>
                      <a:rPr lang="el-GR" altLang="zh-CN" sz="2000" b="1">
                        <a:solidFill>
                          <a:schemeClr val="bg2"/>
                        </a:solidFill>
                        <a:cs typeface="Times New Roman" pitchFamily="18" charset="0"/>
                        <a:sym typeface="Symbol" pitchFamily="18" charset="2"/>
                      </a:rPr>
                      <a:t>ψ</a:t>
                    </a:r>
                    <a:r>
                      <a:rPr lang="en-US" altLang="zh-CN" sz="2000" b="1" baseline="-25000">
                        <a:solidFill>
                          <a:schemeClr val="bg2"/>
                        </a:solidFill>
                      </a:rPr>
                      <a:t>4</a:t>
                    </a:r>
                    <a:r>
                      <a:rPr lang="en-US" altLang="zh-CN" sz="2000" b="1">
                        <a:solidFill>
                          <a:schemeClr val="bg2"/>
                        </a:solidFill>
                      </a:rPr>
                      <a:t>(x)|</a:t>
                    </a:r>
                    <a:r>
                      <a:rPr lang="en-US" altLang="zh-CN" sz="2000" b="1" baseline="30000">
                        <a:solidFill>
                          <a:schemeClr val="bg2"/>
                        </a:solidFill>
                      </a:rPr>
                      <a:t>2</a:t>
                    </a:r>
                    <a:endParaRPr lang="en-US" altLang="zh-CN" sz="2000" b="1">
                      <a:solidFill>
                        <a:schemeClr val="bg2"/>
                      </a:solidFill>
                    </a:endParaRPr>
                  </a:p>
                  <a:p>
                    <a:pPr algn="just"/>
                    <a:endParaRPr lang="en-US" altLang="zh-CN" sz="1400" b="1">
                      <a:solidFill>
                        <a:schemeClr val="bg2"/>
                      </a:solidFill>
                    </a:endParaRPr>
                  </a:p>
                </p:txBody>
              </p:sp>
              <p:sp>
                <p:nvSpPr>
                  <p:cNvPr id="54285" name="Text Box 82"/>
                  <p:cNvSpPr txBox="1">
                    <a:spLocks noChangeArrowheads="1"/>
                  </p:cNvSpPr>
                  <p:nvPr/>
                </p:nvSpPr>
                <p:spPr bwMode="auto">
                  <a:xfrm>
                    <a:off x="2974" y="1377"/>
                    <a:ext cx="386" cy="245"/>
                  </a:xfrm>
                  <a:prstGeom prst="rect">
                    <a:avLst/>
                  </a:prstGeom>
                  <a:noFill/>
                  <a:ln w="9525">
                    <a:noFill/>
                    <a:miter lim="800000"/>
                    <a:headEnd/>
                    <a:tailEnd/>
                  </a:ln>
                </p:spPr>
                <p:txBody>
                  <a:bodyPr/>
                  <a:lstStyle/>
                  <a:p>
                    <a:pPr algn="just"/>
                    <a:r>
                      <a:rPr lang="en-US" altLang="zh-CN" sz="1600" b="1">
                        <a:solidFill>
                          <a:schemeClr val="bg2"/>
                        </a:solidFill>
                      </a:rPr>
                      <a:t>0</a:t>
                    </a:r>
                  </a:p>
                </p:txBody>
              </p:sp>
              <p:grpSp>
                <p:nvGrpSpPr>
                  <p:cNvPr id="54286" name="Group 83"/>
                  <p:cNvGrpSpPr>
                    <a:grpSpLocks/>
                  </p:cNvGrpSpPr>
                  <p:nvPr/>
                </p:nvGrpSpPr>
                <p:grpSpPr bwMode="auto">
                  <a:xfrm>
                    <a:off x="3260" y="936"/>
                    <a:ext cx="2045" cy="552"/>
                    <a:chOff x="3260" y="936"/>
                    <a:chExt cx="2045" cy="552"/>
                  </a:xfrm>
                </p:grpSpPr>
                <p:sp>
                  <p:nvSpPr>
                    <p:cNvPr id="54287" name="Line 84"/>
                    <p:cNvSpPr>
                      <a:spLocks noChangeShapeType="1"/>
                    </p:cNvSpPr>
                    <p:nvPr/>
                  </p:nvSpPr>
                  <p:spPr bwMode="auto">
                    <a:xfrm flipV="1">
                      <a:off x="3260" y="936"/>
                      <a:ext cx="0" cy="552"/>
                    </a:xfrm>
                    <a:prstGeom prst="line">
                      <a:avLst/>
                    </a:prstGeom>
                    <a:noFill/>
                    <a:ln w="19050">
                      <a:solidFill>
                        <a:srgbClr val="000000"/>
                      </a:solidFill>
                      <a:round/>
                      <a:headEnd/>
                      <a:tailEnd type="triangle" w="med" len="med"/>
                    </a:ln>
                  </p:spPr>
                  <p:txBody>
                    <a:bodyPr/>
                    <a:lstStyle/>
                    <a:p>
                      <a:endParaRPr lang="zh-CN" altLang="en-US"/>
                    </a:p>
                  </p:txBody>
                </p:sp>
                <p:grpSp>
                  <p:nvGrpSpPr>
                    <p:cNvPr id="54288" name="Group 85"/>
                    <p:cNvGrpSpPr>
                      <a:grpSpLocks/>
                    </p:cNvGrpSpPr>
                    <p:nvPr/>
                  </p:nvGrpSpPr>
                  <p:grpSpPr bwMode="auto">
                    <a:xfrm>
                      <a:off x="3264" y="1169"/>
                      <a:ext cx="2041" cy="319"/>
                      <a:chOff x="3264" y="1169"/>
                      <a:chExt cx="2041" cy="319"/>
                    </a:xfrm>
                  </p:grpSpPr>
                  <p:sp>
                    <p:nvSpPr>
                      <p:cNvPr id="54289" name="Line 86"/>
                      <p:cNvSpPr>
                        <a:spLocks noChangeShapeType="1"/>
                      </p:cNvSpPr>
                      <p:nvPr/>
                    </p:nvSpPr>
                    <p:spPr bwMode="auto">
                      <a:xfrm>
                        <a:off x="3267" y="1488"/>
                        <a:ext cx="2038" cy="0"/>
                      </a:xfrm>
                      <a:prstGeom prst="line">
                        <a:avLst/>
                      </a:prstGeom>
                      <a:noFill/>
                      <a:ln w="19050">
                        <a:solidFill>
                          <a:srgbClr val="000000"/>
                        </a:solidFill>
                        <a:round/>
                        <a:headEnd/>
                        <a:tailEnd type="triangle" w="med" len="med"/>
                      </a:ln>
                    </p:spPr>
                    <p:txBody>
                      <a:bodyPr/>
                      <a:lstStyle/>
                      <a:p>
                        <a:endParaRPr lang="zh-CN" altLang="en-US"/>
                      </a:p>
                    </p:txBody>
                  </p:sp>
                  <p:grpSp>
                    <p:nvGrpSpPr>
                      <p:cNvPr id="54290" name="Group 87"/>
                      <p:cNvGrpSpPr>
                        <a:grpSpLocks/>
                      </p:cNvGrpSpPr>
                      <p:nvPr/>
                    </p:nvGrpSpPr>
                    <p:grpSpPr bwMode="auto">
                      <a:xfrm>
                        <a:off x="3264" y="1169"/>
                        <a:ext cx="1680" cy="319"/>
                        <a:chOff x="2208" y="1344"/>
                        <a:chExt cx="3264" cy="319"/>
                      </a:xfrm>
                    </p:grpSpPr>
                    <p:grpSp>
                      <p:nvGrpSpPr>
                        <p:cNvPr id="54291" name="Group 88"/>
                        <p:cNvGrpSpPr>
                          <a:grpSpLocks/>
                        </p:cNvGrpSpPr>
                        <p:nvPr/>
                      </p:nvGrpSpPr>
                      <p:grpSpPr bwMode="auto">
                        <a:xfrm>
                          <a:off x="2208" y="1344"/>
                          <a:ext cx="1632" cy="319"/>
                          <a:chOff x="3264" y="2897"/>
                          <a:chExt cx="1632" cy="319"/>
                        </a:xfrm>
                      </p:grpSpPr>
                      <p:sp>
                        <p:nvSpPr>
                          <p:cNvPr id="54295" name="Freeform 89"/>
                          <p:cNvSpPr>
                            <a:spLocks/>
                          </p:cNvSpPr>
                          <p:nvPr/>
                        </p:nvSpPr>
                        <p:spPr bwMode="auto">
                          <a:xfrm>
                            <a:off x="3264" y="2897"/>
                            <a:ext cx="816" cy="319"/>
                          </a:xfrm>
                          <a:custGeom>
                            <a:avLst/>
                            <a:gdLst>
                              <a:gd name="T0" fmla="*/ 0 w 20000"/>
                              <a:gd name="T1" fmla="*/ 5 h 20000"/>
                              <a:gd name="T2" fmla="*/ 1 w 20000"/>
                              <a:gd name="T3" fmla="*/ 4 h 20000"/>
                              <a:gd name="T4" fmla="*/ 2 w 20000"/>
                              <a:gd name="T5" fmla="*/ 4 h 20000"/>
                              <a:gd name="T6" fmla="*/ 3 w 20000"/>
                              <a:gd name="T7" fmla="*/ 4 h 20000"/>
                              <a:gd name="T8" fmla="*/ 3 w 20000"/>
                              <a:gd name="T9" fmla="*/ 3 h 20000"/>
                              <a:gd name="T10" fmla="*/ 4 w 20000"/>
                              <a:gd name="T11" fmla="*/ 3 h 20000"/>
                              <a:gd name="T12" fmla="*/ 5 w 20000"/>
                              <a:gd name="T13" fmla="*/ 3 h 20000"/>
                              <a:gd name="T14" fmla="*/ 6 w 20000"/>
                              <a:gd name="T15" fmla="*/ 3 h 20000"/>
                              <a:gd name="T16" fmla="*/ 6 w 20000"/>
                              <a:gd name="T17" fmla="*/ 2 h 20000"/>
                              <a:gd name="T18" fmla="*/ 7 w 20000"/>
                              <a:gd name="T19" fmla="*/ 2 h 20000"/>
                              <a:gd name="T20" fmla="*/ 8 w 20000"/>
                              <a:gd name="T21" fmla="*/ 2 h 20000"/>
                              <a:gd name="T22" fmla="*/ 9 w 20000"/>
                              <a:gd name="T23" fmla="*/ 2 h 20000"/>
                              <a:gd name="T24" fmla="*/ 9 w 20000"/>
                              <a:gd name="T25" fmla="*/ 1 h 20000"/>
                              <a:gd name="T26" fmla="*/ 10 w 20000"/>
                              <a:gd name="T27" fmla="*/ 1 h 20000"/>
                              <a:gd name="T28" fmla="*/ 11 w 20000"/>
                              <a:gd name="T29" fmla="*/ 1 h 20000"/>
                              <a:gd name="T30" fmla="*/ 11 w 20000"/>
                              <a:gd name="T31" fmla="*/ 1 h 20000"/>
                              <a:gd name="T32" fmla="*/ 12 w 20000"/>
                              <a:gd name="T33" fmla="*/ 1 h 20000"/>
                              <a:gd name="T34" fmla="*/ 13 w 20000"/>
                              <a:gd name="T35" fmla="*/ 0 h 20000"/>
                              <a:gd name="T36" fmla="*/ 14 w 20000"/>
                              <a:gd name="T37" fmla="*/ 0 h 20000"/>
                              <a:gd name="T38" fmla="*/ 14 w 20000"/>
                              <a:gd name="T39" fmla="*/ 0 h 20000"/>
                              <a:gd name="T40" fmla="*/ 15 w 20000"/>
                              <a:gd name="T41" fmla="*/ 0 h 20000"/>
                              <a:gd name="T42" fmla="*/ 16 w 20000"/>
                              <a:gd name="T43" fmla="*/ 0 h 20000"/>
                              <a:gd name="T44" fmla="*/ 16 w 20000"/>
                              <a:gd name="T45" fmla="*/ 0 h 20000"/>
                              <a:gd name="T46" fmla="*/ 17 w 20000"/>
                              <a:gd name="T47" fmla="*/ 0 h 20000"/>
                              <a:gd name="T48" fmla="*/ 18 w 20000"/>
                              <a:gd name="T49" fmla="*/ 0 h 20000"/>
                              <a:gd name="T50" fmla="*/ 19 w 20000"/>
                              <a:gd name="T51" fmla="*/ 0 h 20000"/>
                              <a:gd name="T52" fmla="*/ 19 w 20000"/>
                              <a:gd name="T53" fmla="*/ 0 h 20000"/>
                              <a:gd name="T54" fmla="*/ 20 w 20000"/>
                              <a:gd name="T55" fmla="*/ 0 h 20000"/>
                              <a:gd name="T56" fmla="*/ 21 w 20000"/>
                              <a:gd name="T57" fmla="*/ 0 h 20000"/>
                              <a:gd name="T58" fmla="*/ 22 w 20000"/>
                              <a:gd name="T59" fmla="*/ 1 h 20000"/>
                              <a:gd name="T60" fmla="*/ 22 w 20000"/>
                              <a:gd name="T61" fmla="*/ 1 h 20000"/>
                              <a:gd name="T62" fmla="*/ 23 w 20000"/>
                              <a:gd name="T63" fmla="*/ 1 h 20000"/>
                              <a:gd name="T64" fmla="*/ 24 w 20000"/>
                              <a:gd name="T65" fmla="*/ 1 h 20000"/>
                              <a:gd name="T66" fmla="*/ 25 w 20000"/>
                              <a:gd name="T67" fmla="*/ 2 h 20000"/>
                              <a:gd name="T68" fmla="*/ 25 w 20000"/>
                              <a:gd name="T69" fmla="*/ 2 h 20000"/>
                              <a:gd name="T70" fmla="*/ 26 w 20000"/>
                              <a:gd name="T71" fmla="*/ 2 h 20000"/>
                              <a:gd name="T72" fmla="*/ 27 w 20000"/>
                              <a:gd name="T73" fmla="*/ 2 h 20000"/>
                              <a:gd name="T74" fmla="*/ 28 w 20000"/>
                              <a:gd name="T75" fmla="*/ 3 h 20000"/>
                              <a:gd name="T76" fmla="*/ 28 w 20000"/>
                              <a:gd name="T77" fmla="*/ 3 h 20000"/>
                              <a:gd name="T78" fmla="*/ 29 w 20000"/>
                              <a:gd name="T79" fmla="*/ 3 h 20000"/>
                              <a:gd name="T80" fmla="*/ 30 w 20000"/>
                              <a:gd name="T81" fmla="*/ 4 h 20000"/>
                              <a:gd name="T82" fmla="*/ 30 w 20000"/>
                              <a:gd name="T83" fmla="*/ 4 h 20000"/>
                              <a:gd name="T84" fmla="*/ 31 w 20000"/>
                              <a:gd name="T85" fmla="*/ 4 h 20000"/>
                              <a:gd name="T86" fmla="*/ 31 w 20000"/>
                              <a:gd name="T87" fmla="*/ 4 h 20000"/>
                              <a:gd name="T88" fmla="*/ 32 w 20000"/>
                              <a:gd name="T89" fmla="*/ 5 h 20000"/>
                              <a:gd name="T90" fmla="*/ 32 w 20000"/>
                              <a:gd name="T91" fmla="*/ 5 h 20000"/>
                              <a:gd name="T92" fmla="*/ 33 w 20000"/>
                              <a:gd name="T93" fmla="*/ 5 h 20000"/>
                              <a:gd name="T94" fmla="*/ 33 w 20000"/>
                              <a:gd name="T95" fmla="*/ 5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FF0000"/>
                            </a:solidFill>
                            <a:prstDash val="solid"/>
                            <a:round/>
                            <a:headEnd type="none" w="med" len="med"/>
                            <a:tailEnd type="none" w="med" len="med"/>
                          </a:ln>
                          <a:effectLst/>
                        </p:spPr>
                        <p:txBody>
                          <a:bodyPr/>
                          <a:lstStyle/>
                          <a:p>
                            <a:endParaRPr lang="zh-CN" altLang="en-US"/>
                          </a:p>
                        </p:txBody>
                      </p:sp>
                      <p:sp>
                        <p:nvSpPr>
                          <p:cNvPr id="54296" name="Freeform 90"/>
                          <p:cNvSpPr>
                            <a:spLocks/>
                          </p:cNvSpPr>
                          <p:nvPr/>
                        </p:nvSpPr>
                        <p:spPr bwMode="auto">
                          <a:xfrm>
                            <a:off x="4080" y="2897"/>
                            <a:ext cx="816" cy="319"/>
                          </a:xfrm>
                          <a:custGeom>
                            <a:avLst/>
                            <a:gdLst>
                              <a:gd name="T0" fmla="*/ 0 w 20000"/>
                              <a:gd name="T1" fmla="*/ 5 h 20000"/>
                              <a:gd name="T2" fmla="*/ 1 w 20000"/>
                              <a:gd name="T3" fmla="*/ 4 h 20000"/>
                              <a:gd name="T4" fmla="*/ 2 w 20000"/>
                              <a:gd name="T5" fmla="*/ 4 h 20000"/>
                              <a:gd name="T6" fmla="*/ 3 w 20000"/>
                              <a:gd name="T7" fmla="*/ 4 h 20000"/>
                              <a:gd name="T8" fmla="*/ 3 w 20000"/>
                              <a:gd name="T9" fmla="*/ 3 h 20000"/>
                              <a:gd name="T10" fmla="*/ 4 w 20000"/>
                              <a:gd name="T11" fmla="*/ 3 h 20000"/>
                              <a:gd name="T12" fmla="*/ 5 w 20000"/>
                              <a:gd name="T13" fmla="*/ 3 h 20000"/>
                              <a:gd name="T14" fmla="*/ 6 w 20000"/>
                              <a:gd name="T15" fmla="*/ 3 h 20000"/>
                              <a:gd name="T16" fmla="*/ 6 w 20000"/>
                              <a:gd name="T17" fmla="*/ 2 h 20000"/>
                              <a:gd name="T18" fmla="*/ 7 w 20000"/>
                              <a:gd name="T19" fmla="*/ 2 h 20000"/>
                              <a:gd name="T20" fmla="*/ 8 w 20000"/>
                              <a:gd name="T21" fmla="*/ 2 h 20000"/>
                              <a:gd name="T22" fmla="*/ 9 w 20000"/>
                              <a:gd name="T23" fmla="*/ 2 h 20000"/>
                              <a:gd name="T24" fmla="*/ 9 w 20000"/>
                              <a:gd name="T25" fmla="*/ 1 h 20000"/>
                              <a:gd name="T26" fmla="*/ 10 w 20000"/>
                              <a:gd name="T27" fmla="*/ 1 h 20000"/>
                              <a:gd name="T28" fmla="*/ 11 w 20000"/>
                              <a:gd name="T29" fmla="*/ 1 h 20000"/>
                              <a:gd name="T30" fmla="*/ 11 w 20000"/>
                              <a:gd name="T31" fmla="*/ 1 h 20000"/>
                              <a:gd name="T32" fmla="*/ 12 w 20000"/>
                              <a:gd name="T33" fmla="*/ 1 h 20000"/>
                              <a:gd name="T34" fmla="*/ 13 w 20000"/>
                              <a:gd name="T35" fmla="*/ 0 h 20000"/>
                              <a:gd name="T36" fmla="*/ 14 w 20000"/>
                              <a:gd name="T37" fmla="*/ 0 h 20000"/>
                              <a:gd name="T38" fmla="*/ 14 w 20000"/>
                              <a:gd name="T39" fmla="*/ 0 h 20000"/>
                              <a:gd name="T40" fmla="*/ 15 w 20000"/>
                              <a:gd name="T41" fmla="*/ 0 h 20000"/>
                              <a:gd name="T42" fmla="*/ 16 w 20000"/>
                              <a:gd name="T43" fmla="*/ 0 h 20000"/>
                              <a:gd name="T44" fmla="*/ 16 w 20000"/>
                              <a:gd name="T45" fmla="*/ 0 h 20000"/>
                              <a:gd name="T46" fmla="*/ 17 w 20000"/>
                              <a:gd name="T47" fmla="*/ 0 h 20000"/>
                              <a:gd name="T48" fmla="*/ 18 w 20000"/>
                              <a:gd name="T49" fmla="*/ 0 h 20000"/>
                              <a:gd name="T50" fmla="*/ 19 w 20000"/>
                              <a:gd name="T51" fmla="*/ 0 h 20000"/>
                              <a:gd name="T52" fmla="*/ 19 w 20000"/>
                              <a:gd name="T53" fmla="*/ 0 h 20000"/>
                              <a:gd name="T54" fmla="*/ 20 w 20000"/>
                              <a:gd name="T55" fmla="*/ 0 h 20000"/>
                              <a:gd name="T56" fmla="*/ 21 w 20000"/>
                              <a:gd name="T57" fmla="*/ 0 h 20000"/>
                              <a:gd name="T58" fmla="*/ 22 w 20000"/>
                              <a:gd name="T59" fmla="*/ 1 h 20000"/>
                              <a:gd name="T60" fmla="*/ 22 w 20000"/>
                              <a:gd name="T61" fmla="*/ 1 h 20000"/>
                              <a:gd name="T62" fmla="*/ 23 w 20000"/>
                              <a:gd name="T63" fmla="*/ 1 h 20000"/>
                              <a:gd name="T64" fmla="*/ 24 w 20000"/>
                              <a:gd name="T65" fmla="*/ 1 h 20000"/>
                              <a:gd name="T66" fmla="*/ 25 w 20000"/>
                              <a:gd name="T67" fmla="*/ 2 h 20000"/>
                              <a:gd name="T68" fmla="*/ 25 w 20000"/>
                              <a:gd name="T69" fmla="*/ 2 h 20000"/>
                              <a:gd name="T70" fmla="*/ 26 w 20000"/>
                              <a:gd name="T71" fmla="*/ 2 h 20000"/>
                              <a:gd name="T72" fmla="*/ 27 w 20000"/>
                              <a:gd name="T73" fmla="*/ 2 h 20000"/>
                              <a:gd name="T74" fmla="*/ 28 w 20000"/>
                              <a:gd name="T75" fmla="*/ 3 h 20000"/>
                              <a:gd name="T76" fmla="*/ 28 w 20000"/>
                              <a:gd name="T77" fmla="*/ 3 h 20000"/>
                              <a:gd name="T78" fmla="*/ 29 w 20000"/>
                              <a:gd name="T79" fmla="*/ 3 h 20000"/>
                              <a:gd name="T80" fmla="*/ 30 w 20000"/>
                              <a:gd name="T81" fmla="*/ 4 h 20000"/>
                              <a:gd name="T82" fmla="*/ 30 w 20000"/>
                              <a:gd name="T83" fmla="*/ 4 h 20000"/>
                              <a:gd name="T84" fmla="*/ 31 w 20000"/>
                              <a:gd name="T85" fmla="*/ 4 h 20000"/>
                              <a:gd name="T86" fmla="*/ 31 w 20000"/>
                              <a:gd name="T87" fmla="*/ 4 h 20000"/>
                              <a:gd name="T88" fmla="*/ 32 w 20000"/>
                              <a:gd name="T89" fmla="*/ 5 h 20000"/>
                              <a:gd name="T90" fmla="*/ 32 w 20000"/>
                              <a:gd name="T91" fmla="*/ 5 h 20000"/>
                              <a:gd name="T92" fmla="*/ 33 w 20000"/>
                              <a:gd name="T93" fmla="*/ 5 h 20000"/>
                              <a:gd name="T94" fmla="*/ 33 w 20000"/>
                              <a:gd name="T95" fmla="*/ 5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FF0000"/>
                            </a:solidFill>
                            <a:prstDash val="solid"/>
                            <a:round/>
                            <a:headEnd type="none" w="med" len="med"/>
                            <a:tailEnd type="none" w="med" len="med"/>
                          </a:ln>
                          <a:effectLst/>
                        </p:spPr>
                        <p:txBody>
                          <a:bodyPr/>
                          <a:lstStyle/>
                          <a:p>
                            <a:endParaRPr lang="zh-CN" altLang="en-US"/>
                          </a:p>
                        </p:txBody>
                      </p:sp>
                    </p:grpSp>
                    <p:grpSp>
                      <p:nvGrpSpPr>
                        <p:cNvPr id="54292" name="Group 91"/>
                        <p:cNvGrpSpPr>
                          <a:grpSpLocks/>
                        </p:cNvGrpSpPr>
                        <p:nvPr/>
                      </p:nvGrpSpPr>
                      <p:grpSpPr bwMode="auto">
                        <a:xfrm>
                          <a:off x="3840" y="1344"/>
                          <a:ext cx="1632" cy="319"/>
                          <a:chOff x="3264" y="2897"/>
                          <a:chExt cx="1632" cy="319"/>
                        </a:xfrm>
                      </p:grpSpPr>
                      <p:sp>
                        <p:nvSpPr>
                          <p:cNvPr id="54293" name="Freeform 92"/>
                          <p:cNvSpPr>
                            <a:spLocks/>
                          </p:cNvSpPr>
                          <p:nvPr/>
                        </p:nvSpPr>
                        <p:spPr bwMode="auto">
                          <a:xfrm>
                            <a:off x="3264" y="2897"/>
                            <a:ext cx="816" cy="319"/>
                          </a:xfrm>
                          <a:custGeom>
                            <a:avLst/>
                            <a:gdLst>
                              <a:gd name="T0" fmla="*/ 0 w 20000"/>
                              <a:gd name="T1" fmla="*/ 5 h 20000"/>
                              <a:gd name="T2" fmla="*/ 1 w 20000"/>
                              <a:gd name="T3" fmla="*/ 4 h 20000"/>
                              <a:gd name="T4" fmla="*/ 2 w 20000"/>
                              <a:gd name="T5" fmla="*/ 4 h 20000"/>
                              <a:gd name="T6" fmla="*/ 3 w 20000"/>
                              <a:gd name="T7" fmla="*/ 4 h 20000"/>
                              <a:gd name="T8" fmla="*/ 3 w 20000"/>
                              <a:gd name="T9" fmla="*/ 3 h 20000"/>
                              <a:gd name="T10" fmla="*/ 4 w 20000"/>
                              <a:gd name="T11" fmla="*/ 3 h 20000"/>
                              <a:gd name="T12" fmla="*/ 5 w 20000"/>
                              <a:gd name="T13" fmla="*/ 3 h 20000"/>
                              <a:gd name="T14" fmla="*/ 6 w 20000"/>
                              <a:gd name="T15" fmla="*/ 3 h 20000"/>
                              <a:gd name="T16" fmla="*/ 6 w 20000"/>
                              <a:gd name="T17" fmla="*/ 2 h 20000"/>
                              <a:gd name="T18" fmla="*/ 7 w 20000"/>
                              <a:gd name="T19" fmla="*/ 2 h 20000"/>
                              <a:gd name="T20" fmla="*/ 8 w 20000"/>
                              <a:gd name="T21" fmla="*/ 2 h 20000"/>
                              <a:gd name="T22" fmla="*/ 9 w 20000"/>
                              <a:gd name="T23" fmla="*/ 2 h 20000"/>
                              <a:gd name="T24" fmla="*/ 9 w 20000"/>
                              <a:gd name="T25" fmla="*/ 1 h 20000"/>
                              <a:gd name="T26" fmla="*/ 10 w 20000"/>
                              <a:gd name="T27" fmla="*/ 1 h 20000"/>
                              <a:gd name="T28" fmla="*/ 11 w 20000"/>
                              <a:gd name="T29" fmla="*/ 1 h 20000"/>
                              <a:gd name="T30" fmla="*/ 11 w 20000"/>
                              <a:gd name="T31" fmla="*/ 1 h 20000"/>
                              <a:gd name="T32" fmla="*/ 12 w 20000"/>
                              <a:gd name="T33" fmla="*/ 1 h 20000"/>
                              <a:gd name="T34" fmla="*/ 13 w 20000"/>
                              <a:gd name="T35" fmla="*/ 0 h 20000"/>
                              <a:gd name="T36" fmla="*/ 14 w 20000"/>
                              <a:gd name="T37" fmla="*/ 0 h 20000"/>
                              <a:gd name="T38" fmla="*/ 14 w 20000"/>
                              <a:gd name="T39" fmla="*/ 0 h 20000"/>
                              <a:gd name="T40" fmla="*/ 15 w 20000"/>
                              <a:gd name="T41" fmla="*/ 0 h 20000"/>
                              <a:gd name="T42" fmla="*/ 16 w 20000"/>
                              <a:gd name="T43" fmla="*/ 0 h 20000"/>
                              <a:gd name="T44" fmla="*/ 16 w 20000"/>
                              <a:gd name="T45" fmla="*/ 0 h 20000"/>
                              <a:gd name="T46" fmla="*/ 17 w 20000"/>
                              <a:gd name="T47" fmla="*/ 0 h 20000"/>
                              <a:gd name="T48" fmla="*/ 18 w 20000"/>
                              <a:gd name="T49" fmla="*/ 0 h 20000"/>
                              <a:gd name="T50" fmla="*/ 19 w 20000"/>
                              <a:gd name="T51" fmla="*/ 0 h 20000"/>
                              <a:gd name="T52" fmla="*/ 19 w 20000"/>
                              <a:gd name="T53" fmla="*/ 0 h 20000"/>
                              <a:gd name="T54" fmla="*/ 20 w 20000"/>
                              <a:gd name="T55" fmla="*/ 0 h 20000"/>
                              <a:gd name="T56" fmla="*/ 21 w 20000"/>
                              <a:gd name="T57" fmla="*/ 0 h 20000"/>
                              <a:gd name="T58" fmla="*/ 22 w 20000"/>
                              <a:gd name="T59" fmla="*/ 1 h 20000"/>
                              <a:gd name="T60" fmla="*/ 22 w 20000"/>
                              <a:gd name="T61" fmla="*/ 1 h 20000"/>
                              <a:gd name="T62" fmla="*/ 23 w 20000"/>
                              <a:gd name="T63" fmla="*/ 1 h 20000"/>
                              <a:gd name="T64" fmla="*/ 24 w 20000"/>
                              <a:gd name="T65" fmla="*/ 1 h 20000"/>
                              <a:gd name="T66" fmla="*/ 25 w 20000"/>
                              <a:gd name="T67" fmla="*/ 2 h 20000"/>
                              <a:gd name="T68" fmla="*/ 25 w 20000"/>
                              <a:gd name="T69" fmla="*/ 2 h 20000"/>
                              <a:gd name="T70" fmla="*/ 26 w 20000"/>
                              <a:gd name="T71" fmla="*/ 2 h 20000"/>
                              <a:gd name="T72" fmla="*/ 27 w 20000"/>
                              <a:gd name="T73" fmla="*/ 2 h 20000"/>
                              <a:gd name="T74" fmla="*/ 28 w 20000"/>
                              <a:gd name="T75" fmla="*/ 3 h 20000"/>
                              <a:gd name="T76" fmla="*/ 28 w 20000"/>
                              <a:gd name="T77" fmla="*/ 3 h 20000"/>
                              <a:gd name="T78" fmla="*/ 29 w 20000"/>
                              <a:gd name="T79" fmla="*/ 3 h 20000"/>
                              <a:gd name="T80" fmla="*/ 30 w 20000"/>
                              <a:gd name="T81" fmla="*/ 4 h 20000"/>
                              <a:gd name="T82" fmla="*/ 30 w 20000"/>
                              <a:gd name="T83" fmla="*/ 4 h 20000"/>
                              <a:gd name="T84" fmla="*/ 31 w 20000"/>
                              <a:gd name="T85" fmla="*/ 4 h 20000"/>
                              <a:gd name="T86" fmla="*/ 31 w 20000"/>
                              <a:gd name="T87" fmla="*/ 4 h 20000"/>
                              <a:gd name="T88" fmla="*/ 32 w 20000"/>
                              <a:gd name="T89" fmla="*/ 5 h 20000"/>
                              <a:gd name="T90" fmla="*/ 32 w 20000"/>
                              <a:gd name="T91" fmla="*/ 5 h 20000"/>
                              <a:gd name="T92" fmla="*/ 33 w 20000"/>
                              <a:gd name="T93" fmla="*/ 5 h 20000"/>
                              <a:gd name="T94" fmla="*/ 33 w 20000"/>
                              <a:gd name="T95" fmla="*/ 5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FF0000"/>
                            </a:solidFill>
                            <a:prstDash val="solid"/>
                            <a:round/>
                            <a:headEnd type="none" w="med" len="med"/>
                            <a:tailEnd type="none" w="med" len="med"/>
                          </a:ln>
                          <a:effectLst/>
                        </p:spPr>
                        <p:txBody>
                          <a:bodyPr/>
                          <a:lstStyle/>
                          <a:p>
                            <a:endParaRPr lang="zh-CN" altLang="en-US"/>
                          </a:p>
                        </p:txBody>
                      </p:sp>
                      <p:sp>
                        <p:nvSpPr>
                          <p:cNvPr id="54294" name="Freeform 93"/>
                          <p:cNvSpPr>
                            <a:spLocks/>
                          </p:cNvSpPr>
                          <p:nvPr/>
                        </p:nvSpPr>
                        <p:spPr bwMode="auto">
                          <a:xfrm>
                            <a:off x="4080" y="2897"/>
                            <a:ext cx="816" cy="319"/>
                          </a:xfrm>
                          <a:custGeom>
                            <a:avLst/>
                            <a:gdLst>
                              <a:gd name="T0" fmla="*/ 0 w 20000"/>
                              <a:gd name="T1" fmla="*/ 5 h 20000"/>
                              <a:gd name="T2" fmla="*/ 1 w 20000"/>
                              <a:gd name="T3" fmla="*/ 4 h 20000"/>
                              <a:gd name="T4" fmla="*/ 2 w 20000"/>
                              <a:gd name="T5" fmla="*/ 4 h 20000"/>
                              <a:gd name="T6" fmla="*/ 3 w 20000"/>
                              <a:gd name="T7" fmla="*/ 4 h 20000"/>
                              <a:gd name="T8" fmla="*/ 3 w 20000"/>
                              <a:gd name="T9" fmla="*/ 3 h 20000"/>
                              <a:gd name="T10" fmla="*/ 4 w 20000"/>
                              <a:gd name="T11" fmla="*/ 3 h 20000"/>
                              <a:gd name="T12" fmla="*/ 5 w 20000"/>
                              <a:gd name="T13" fmla="*/ 3 h 20000"/>
                              <a:gd name="T14" fmla="*/ 6 w 20000"/>
                              <a:gd name="T15" fmla="*/ 3 h 20000"/>
                              <a:gd name="T16" fmla="*/ 6 w 20000"/>
                              <a:gd name="T17" fmla="*/ 2 h 20000"/>
                              <a:gd name="T18" fmla="*/ 7 w 20000"/>
                              <a:gd name="T19" fmla="*/ 2 h 20000"/>
                              <a:gd name="T20" fmla="*/ 8 w 20000"/>
                              <a:gd name="T21" fmla="*/ 2 h 20000"/>
                              <a:gd name="T22" fmla="*/ 9 w 20000"/>
                              <a:gd name="T23" fmla="*/ 2 h 20000"/>
                              <a:gd name="T24" fmla="*/ 9 w 20000"/>
                              <a:gd name="T25" fmla="*/ 1 h 20000"/>
                              <a:gd name="T26" fmla="*/ 10 w 20000"/>
                              <a:gd name="T27" fmla="*/ 1 h 20000"/>
                              <a:gd name="T28" fmla="*/ 11 w 20000"/>
                              <a:gd name="T29" fmla="*/ 1 h 20000"/>
                              <a:gd name="T30" fmla="*/ 11 w 20000"/>
                              <a:gd name="T31" fmla="*/ 1 h 20000"/>
                              <a:gd name="T32" fmla="*/ 12 w 20000"/>
                              <a:gd name="T33" fmla="*/ 1 h 20000"/>
                              <a:gd name="T34" fmla="*/ 13 w 20000"/>
                              <a:gd name="T35" fmla="*/ 0 h 20000"/>
                              <a:gd name="T36" fmla="*/ 14 w 20000"/>
                              <a:gd name="T37" fmla="*/ 0 h 20000"/>
                              <a:gd name="T38" fmla="*/ 14 w 20000"/>
                              <a:gd name="T39" fmla="*/ 0 h 20000"/>
                              <a:gd name="T40" fmla="*/ 15 w 20000"/>
                              <a:gd name="T41" fmla="*/ 0 h 20000"/>
                              <a:gd name="T42" fmla="*/ 16 w 20000"/>
                              <a:gd name="T43" fmla="*/ 0 h 20000"/>
                              <a:gd name="T44" fmla="*/ 16 w 20000"/>
                              <a:gd name="T45" fmla="*/ 0 h 20000"/>
                              <a:gd name="T46" fmla="*/ 17 w 20000"/>
                              <a:gd name="T47" fmla="*/ 0 h 20000"/>
                              <a:gd name="T48" fmla="*/ 18 w 20000"/>
                              <a:gd name="T49" fmla="*/ 0 h 20000"/>
                              <a:gd name="T50" fmla="*/ 19 w 20000"/>
                              <a:gd name="T51" fmla="*/ 0 h 20000"/>
                              <a:gd name="T52" fmla="*/ 19 w 20000"/>
                              <a:gd name="T53" fmla="*/ 0 h 20000"/>
                              <a:gd name="T54" fmla="*/ 20 w 20000"/>
                              <a:gd name="T55" fmla="*/ 0 h 20000"/>
                              <a:gd name="T56" fmla="*/ 21 w 20000"/>
                              <a:gd name="T57" fmla="*/ 0 h 20000"/>
                              <a:gd name="T58" fmla="*/ 22 w 20000"/>
                              <a:gd name="T59" fmla="*/ 1 h 20000"/>
                              <a:gd name="T60" fmla="*/ 22 w 20000"/>
                              <a:gd name="T61" fmla="*/ 1 h 20000"/>
                              <a:gd name="T62" fmla="*/ 23 w 20000"/>
                              <a:gd name="T63" fmla="*/ 1 h 20000"/>
                              <a:gd name="T64" fmla="*/ 24 w 20000"/>
                              <a:gd name="T65" fmla="*/ 1 h 20000"/>
                              <a:gd name="T66" fmla="*/ 25 w 20000"/>
                              <a:gd name="T67" fmla="*/ 2 h 20000"/>
                              <a:gd name="T68" fmla="*/ 25 w 20000"/>
                              <a:gd name="T69" fmla="*/ 2 h 20000"/>
                              <a:gd name="T70" fmla="*/ 26 w 20000"/>
                              <a:gd name="T71" fmla="*/ 2 h 20000"/>
                              <a:gd name="T72" fmla="*/ 27 w 20000"/>
                              <a:gd name="T73" fmla="*/ 2 h 20000"/>
                              <a:gd name="T74" fmla="*/ 28 w 20000"/>
                              <a:gd name="T75" fmla="*/ 3 h 20000"/>
                              <a:gd name="T76" fmla="*/ 28 w 20000"/>
                              <a:gd name="T77" fmla="*/ 3 h 20000"/>
                              <a:gd name="T78" fmla="*/ 29 w 20000"/>
                              <a:gd name="T79" fmla="*/ 3 h 20000"/>
                              <a:gd name="T80" fmla="*/ 30 w 20000"/>
                              <a:gd name="T81" fmla="*/ 4 h 20000"/>
                              <a:gd name="T82" fmla="*/ 30 w 20000"/>
                              <a:gd name="T83" fmla="*/ 4 h 20000"/>
                              <a:gd name="T84" fmla="*/ 31 w 20000"/>
                              <a:gd name="T85" fmla="*/ 4 h 20000"/>
                              <a:gd name="T86" fmla="*/ 31 w 20000"/>
                              <a:gd name="T87" fmla="*/ 4 h 20000"/>
                              <a:gd name="T88" fmla="*/ 32 w 20000"/>
                              <a:gd name="T89" fmla="*/ 5 h 20000"/>
                              <a:gd name="T90" fmla="*/ 32 w 20000"/>
                              <a:gd name="T91" fmla="*/ 5 h 20000"/>
                              <a:gd name="T92" fmla="*/ 33 w 20000"/>
                              <a:gd name="T93" fmla="*/ 5 h 20000"/>
                              <a:gd name="T94" fmla="*/ 33 w 20000"/>
                              <a:gd name="T95" fmla="*/ 5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0000" h="20000">
                                <a:moveTo>
                                  <a:pt x="0" y="19119"/>
                                </a:moveTo>
                                <a:lnTo>
                                  <a:pt x="221" y="18512"/>
                                </a:lnTo>
                                <a:lnTo>
                                  <a:pt x="442" y="17904"/>
                                </a:lnTo>
                                <a:lnTo>
                                  <a:pt x="663" y="17296"/>
                                </a:lnTo>
                                <a:lnTo>
                                  <a:pt x="884" y="16688"/>
                                </a:lnTo>
                                <a:lnTo>
                                  <a:pt x="1105" y="16080"/>
                                </a:lnTo>
                                <a:lnTo>
                                  <a:pt x="1326" y="15493"/>
                                </a:lnTo>
                                <a:lnTo>
                                  <a:pt x="1547" y="14906"/>
                                </a:lnTo>
                                <a:lnTo>
                                  <a:pt x="1768" y="14319"/>
                                </a:lnTo>
                                <a:lnTo>
                                  <a:pt x="1989" y="13732"/>
                                </a:lnTo>
                                <a:lnTo>
                                  <a:pt x="2221" y="13166"/>
                                </a:lnTo>
                                <a:lnTo>
                                  <a:pt x="2453" y="12600"/>
                                </a:lnTo>
                                <a:lnTo>
                                  <a:pt x="2674" y="12034"/>
                                </a:lnTo>
                                <a:lnTo>
                                  <a:pt x="2895" y="11468"/>
                                </a:lnTo>
                                <a:lnTo>
                                  <a:pt x="3116" y="10901"/>
                                </a:lnTo>
                                <a:lnTo>
                                  <a:pt x="3337" y="10356"/>
                                </a:lnTo>
                                <a:lnTo>
                                  <a:pt x="3558" y="9811"/>
                                </a:lnTo>
                                <a:lnTo>
                                  <a:pt x="3779" y="9287"/>
                                </a:lnTo>
                                <a:lnTo>
                                  <a:pt x="4000" y="8763"/>
                                </a:lnTo>
                                <a:lnTo>
                                  <a:pt x="4221" y="8239"/>
                                </a:lnTo>
                                <a:lnTo>
                                  <a:pt x="4442" y="7736"/>
                                </a:lnTo>
                                <a:lnTo>
                                  <a:pt x="4663" y="7254"/>
                                </a:lnTo>
                                <a:lnTo>
                                  <a:pt x="4895" y="6792"/>
                                </a:lnTo>
                                <a:lnTo>
                                  <a:pt x="5116" y="6331"/>
                                </a:lnTo>
                                <a:lnTo>
                                  <a:pt x="5337" y="5891"/>
                                </a:lnTo>
                                <a:lnTo>
                                  <a:pt x="5558" y="5430"/>
                                </a:lnTo>
                                <a:lnTo>
                                  <a:pt x="5768" y="4990"/>
                                </a:lnTo>
                                <a:lnTo>
                                  <a:pt x="5979" y="4570"/>
                                </a:lnTo>
                                <a:lnTo>
                                  <a:pt x="6200" y="4172"/>
                                </a:lnTo>
                                <a:lnTo>
                                  <a:pt x="6421" y="3774"/>
                                </a:lnTo>
                                <a:lnTo>
                                  <a:pt x="6642" y="3417"/>
                                </a:lnTo>
                                <a:lnTo>
                                  <a:pt x="6863" y="3061"/>
                                </a:lnTo>
                                <a:lnTo>
                                  <a:pt x="7084" y="2725"/>
                                </a:lnTo>
                                <a:lnTo>
                                  <a:pt x="7295" y="2411"/>
                                </a:lnTo>
                                <a:lnTo>
                                  <a:pt x="7516" y="2096"/>
                                </a:lnTo>
                                <a:lnTo>
                                  <a:pt x="7737" y="1824"/>
                                </a:lnTo>
                                <a:lnTo>
                                  <a:pt x="7958" y="1572"/>
                                </a:lnTo>
                                <a:lnTo>
                                  <a:pt x="8168" y="1300"/>
                                </a:lnTo>
                                <a:lnTo>
                                  <a:pt x="8379" y="1069"/>
                                </a:lnTo>
                                <a:lnTo>
                                  <a:pt x="8589" y="860"/>
                                </a:lnTo>
                                <a:lnTo>
                                  <a:pt x="8811" y="671"/>
                                </a:lnTo>
                                <a:lnTo>
                                  <a:pt x="9021" y="503"/>
                                </a:lnTo>
                                <a:lnTo>
                                  <a:pt x="9232" y="377"/>
                                </a:lnTo>
                                <a:lnTo>
                                  <a:pt x="9442" y="252"/>
                                </a:lnTo>
                                <a:lnTo>
                                  <a:pt x="9653" y="147"/>
                                </a:lnTo>
                                <a:lnTo>
                                  <a:pt x="9863" y="84"/>
                                </a:lnTo>
                                <a:lnTo>
                                  <a:pt x="10084" y="21"/>
                                </a:lnTo>
                                <a:lnTo>
                                  <a:pt x="10295" y="0"/>
                                </a:lnTo>
                                <a:lnTo>
                                  <a:pt x="10505" y="21"/>
                                </a:lnTo>
                                <a:lnTo>
                                  <a:pt x="10705" y="21"/>
                                </a:lnTo>
                                <a:lnTo>
                                  <a:pt x="10916" y="84"/>
                                </a:lnTo>
                                <a:lnTo>
                                  <a:pt x="11126" y="210"/>
                                </a:lnTo>
                                <a:lnTo>
                                  <a:pt x="11347" y="335"/>
                                </a:lnTo>
                                <a:lnTo>
                                  <a:pt x="11568" y="524"/>
                                </a:lnTo>
                                <a:lnTo>
                                  <a:pt x="11789" y="755"/>
                                </a:lnTo>
                                <a:lnTo>
                                  <a:pt x="12011" y="985"/>
                                </a:lnTo>
                                <a:lnTo>
                                  <a:pt x="12232" y="1258"/>
                                </a:lnTo>
                                <a:lnTo>
                                  <a:pt x="12463" y="1572"/>
                                </a:lnTo>
                                <a:lnTo>
                                  <a:pt x="12695" y="1908"/>
                                </a:lnTo>
                                <a:lnTo>
                                  <a:pt x="12926" y="2285"/>
                                </a:lnTo>
                                <a:lnTo>
                                  <a:pt x="13158" y="2704"/>
                                </a:lnTo>
                                <a:lnTo>
                                  <a:pt x="13389" y="3103"/>
                                </a:lnTo>
                                <a:lnTo>
                                  <a:pt x="13621" y="3522"/>
                                </a:lnTo>
                                <a:lnTo>
                                  <a:pt x="13842" y="3983"/>
                                </a:lnTo>
                                <a:lnTo>
                                  <a:pt x="14074" y="4444"/>
                                </a:lnTo>
                                <a:lnTo>
                                  <a:pt x="14305" y="4948"/>
                                </a:lnTo>
                                <a:lnTo>
                                  <a:pt x="14537" y="5472"/>
                                </a:lnTo>
                                <a:lnTo>
                                  <a:pt x="14768" y="5996"/>
                                </a:lnTo>
                                <a:lnTo>
                                  <a:pt x="15000" y="6520"/>
                                </a:lnTo>
                                <a:lnTo>
                                  <a:pt x="15221" y="7065"/>
                                </a:lnTo>
                                <a:lnTo>
                                  <a:pt x="15453" y="7631"/>
                                </a:lnTo>
                                <a:lnTo>
                                  <a:pt x="15684" y="8197"/>
                                </a:lnTo>
                                <a:lnTo>
                                  <a:pt x="15905" y="8784"/>
                                </a:lnTo>
                                <a:lnTo>
                                  <a:pt x="16116" y="9350"/>
                                </a:lnTo>
                                <a:lnTo>
                                  <a:pt x="16326" y="9916"/>
                                </a:lnTo>
                                <a:lnTo>
                                  <a:pt x="16537" y="10482"/>
                                </a:lnTo>
                                <a:lnTo>
                                  <a:pt x="16747" y="11048"/>
                                </a:lnTo>
                                <a:lnTo>
                                  <a:pt x="16958" y="11635"/>
                                </a:lnTo>
                                <a:lnTo>
                                  <a:pt x="17158" y="12201"/>
                                </a:lnTo>
                                <a:lnTo>
                                  <a:pt x="17358" y="12767"/>
                                </a:lnTo>
                                <a:lnTo>
                                  <a:pt x="17558" y="13312"/>
                                </a:lnTo>
                                <a:lnTo>
                                  <a:pt x="17747" y="13857"/>
                                </a:lnTo>
                                <a:lnTo>
                                  <a:pt x="17937" y="14403"/>
                                </a:lnTo>
                                <a:lnTo>
                                  <a:pt x="18126" y="14948"/>
                                </a:lnTo>
                                <a:lnTo>
                                  <a:pt x="18305" y="15451"/>
                                </a:lnTo>
                                <a:lnTo>
                                  <a:pt x="18474" y="15954"/>
                                </a:lnTo>
                                <a:lnTo>
                                  <a:pt x="18642" y="16436"/>
                                </a:lnTo>
                                <a:lnTo>
                                  <a:pt x="18800" y="16876"/>
                                </a:lnTo>
                                <a:lnTo>
                                  <a:pt x="18958" y="17338"/>
                                </a:lnTo>
                                <a:lnTo>
                                  <a:pt x="19116" y="17757"/>
                                </a:lnTo>
                                <a:lnTo>
                                  <a:pt x="19263" y="18155"/>
                                </a:lnTo>
                                <a:lnTo>
                                  <a:pt x="19400" y="18553"/>
                                </a:lnTo>
                                <a:lnTo>
                                  <a:pt x="19537" y="18910"/>
                                </a:lnTo>
                                <a:lnTo>
                                  <a:pt x="19653" y="19203"/>
                                </a:lnTo>
                                <a:lnTo>
                                  <a:pt x="19779" y="19518"/>
                                </a:lnTo>
                                <a:lnTo>
                                  <a:pt x="19895" y="19790"/>
                                </a:lnTo>
                                <a:lnTo>
                                  <a:pt x="20000" y="20000"/>
                                </a:lnTo>
                              </a:path>
                            </a:pathLst>
                          </a:custGeom>
                          <a:noFill/>
                          <a:ln w="19050" cap="flat" cmpd="sng">
                            <a:solidFill>
                              <a:srgbClr val="FF0000"/>
                            </a:solidFill>
                            <a:prstDash val="solid"/>
                            <a:round/>
                            <a:headEnd type="none" w="med" len="med"/>
                            <a:tailEnd type="none" w="med" len="med"/>
                          </a:ln>
                          <a:effectLst/>
                        </p:spPr>
                        <p:txBody>
                          <a:bodyPr/>
                          <a:lstStyle/>
                          <a:p>
                            <a:endParaRPr lang="zh-CN" altLang="en-US"/>
                          </a:p>
                        </p:txBody>
                      </p:sp>
                    </p:grpSp>
                  </p:grpSp>
                </p:grpSp>
              </p:grpSp>
            </p:grpSp>
          </p:grpSp>
        </p:grpSp>
      </p:gr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2"/>
          <p:cNvSpPr txBox="1">
            <a:spLocks noChangeArrowheads="1"/>
          </p:cNvSpPr>
          <p:nvPr/>
        </p:nvSpPr>
        <p:spPr bwMode="auto">
          <a:xfrm>
            <a:off x="476250" y="684213"/>
            <a:ext cx="8078788" cy="1406525"/>
          </a:xfrm>
          <a:prstGeom prst="rect">
            <a:avLst/>
          </a:prstGeom>
          <a:noFill/>
          <a:ln w="9525">
            <a:noFill/>
            <a:miter lim="800000"/>
            <a:headEnd/>
            <a:tailEnd/>
          </a:ln>
          <a:effectLst/>
        </p:spPr>
        <p:txBody>
          <a:bodyPr>
            <a:spAutoFit/>
          </a:bodyPr>
          <a:lstStyle/>
          <a:p>
            <a:pPr>
              <a:lnSpc>
                <a:spcPct val="120000"/>
              </a:lnSpc>
            </a:pPr>
            <a:r>
              <a:rPr lang="en-US" altLang="zh-CN">
                <a:solidFill>
                  <a:schemeClr val="bg2"/>
                </a:solidFill>
                <a:latin typeface="宋体" charset="-122"/>
              </a:rPr>
              <a:t>    </a:t>
            </a:r>
            <a:r>
              <a:rPr lang="zh-CN" altLang="en-US" b="1">
                <a:solidFill>
                  <a:schemeClr val="bg2"/>
                </a:solidFill>
                <a:latin typeface="宋体" charset="-122"/>
              </a:rPr>
              <a:t>由于波函数模的平方等于粒子出现的概率密度，由图可看出，粒子处于不同能级时，在势阱中的概率分布是不相同的。</a:t>
            </a:r>
          </a:p>
        </p:txBody>
      </p:sp>
      <p:sp>
        <p:nvSpPr>
          <p:cNvPr id="203779" name="Text Box 3"/>
          <p:cNvSpPr txBox="1">
            <a:spLocks noChangeArrowheads="1"/>
          </p:cNvSpPr>
          <p:nvPr/>
        </p:nvSpPr>
        <p:spPr bwMode="auto">
          <a:xfrm>
            <a:off x="385763" y="2079625"/>
            <a:ext cx="8382000" cy="1406525"/>
          </a:xfrm>
          <a:prstGeom prst="rect">
            <a:avLst/>
          </a:prstGeom>
          <a:noFill/>
          <a:ln w="9525">
            <a:noFill/>
            <a:miter lim="800000"/>
            <a:headEnd/>
            <a:tailEnd/>
          </a:ln>
          <a:effectLst/>
        </p:spPr>
        <p:txBody>
          <a:bodyPr>
            <a:spAutoFit/>
          </a:bodyPr>
          <a:lstStyle/>
          <a:p>
            <a:pPr>
              <a:lnSpc>
                <a:spcPct val="120000"/>
              </a:lnSpc>
            </a:pPr>
            <a:r>
              <a:rPr lang="en-US" altLang="zh-CN">
                <a:solidFill>
                  <a:schemeClr val="bg2"/>
                </a:solidFill>
                <a:latin typeface="宋体" charset="-122"/>
              </a:rPr>
              <a:t>    </a:t>
            </a:r>
            <a:r>
              <a:rPr lang="zh-CN" altLang="en-US" b="1">
                <a:solidFill>
                  <a:schemeClr val="bg2"/>
                </a:solidFill>
                <a:latin typeface="宋体" charset="-122"/>
              </a:rPr>
              <a:t>按照经典物理的观点，粒子在阱内不停地运动</a:t>
            </a:r>
            <a:r>
              <a:rPr lang="en-US" altLang="zh-CN" b="1">
                <a:solidFill>
                  <a:schemeClr val="bg2"/>
                </a:solidFill>
                <a:latin typeface="宋体" charset="-122"/>
              </a:rPr>
              <a:t>, </a:t>
            </a:r>
            <a:r>
              <a:rPr lang="zh-CN" altLang="en-US" b="1">
                <a:solidFill>
                  <a:schemeClr val="bg2"/>
                </a:solidFill>
                <a:latin typeface="宋体" charset="-122"/>
              </a:rPr>
              <a:t>因而在阱内各处找到粒子的概率应该相等；</a:t>
            </a:r>
            <a:r>
              <a:rPr lang="zh-CN" altLang="en-US" b="1">
                <a:solidFill>
                  <a:schemeClr val="bg2"/>
                </a:solidFill>
              </a:rPr>
              <a:t>而量子理论指出，当粒子处于束缚态时</a:t>
            </a:r>
            <a:r>
              <a:rPr lang="en-US" altLang="zh-CN" b="1">
                <a:solidFill>
                  <a:schemeClr val="bg2"/>
                </a:solidFill>
              </a:rPr>
              <a:t>,</a:t>
            </a:r>
            <a:r>
              <a:rPr lang="zh-CN" altLang="en-US" b="1">
                <a:solidFill>
                  <a:schemeClr val="bg2"/>
                </a:solidFill>
              </a:rPr>
              <a:t>其在各个位置出现的概率不同。</a:t>
            </a:r>
          </a:p>
        </p:txBody>
      </p:sp>
      <p:sp>
        <p:nvSpPr>
          <p:cNvPr id="203780" name="Text Box 4"/>
          <p:cNvSpPr txBox="1">
            <a:spLocks noChangeArrowheads="1"/>
          </p:cNvSpPr>
          <p:nvPr/>
        </p:nvSpPr>
        <p:spPr bwMode="auto">
          <a:xfrm>
            <a:off x="341313" y="3519488"/>
            <a:ext cx="8281987" cy="1844675"/>
          </a:xfrm>
          <a:prstGeom prst="rect">
            <a:avLst/>
          </a:prstGeom>
          <a:noFill/>
          <a:ln w="9525">
            <a:noFill/>
            <a:miter lim="800000"/>
            <a:headEnd/>
            <a:tailEnd/>
          </a:ln>
          <a:effectLst/>
        </p:spPr>
        <p:txBody>
          <a:bodyPr>
            <a:spAutoFit/>
          </a:bodyPr>
          <a:lstStyle/>
          <a:p>
            <a:pPr>
              <a:lnSpc>
                <a:spcPct val="120000"/>
              </a:lnSpc>
            </a:pPr>
            <a:r>
              <a:rPr lang="en-US" altLang="zh-CN">
                <a:solidFill>
                  <a:schemeClr val="bg2"/>
                </a:solidFill>
                <a:latin typeface="宋体" charset="-122"/>
              </a:rPr>
              <a:t>    </a:t>
            </a:r>
            <a:r>
              <a:rPr lang="zh-CN" altLang="en-US" b="1">
                <a:solidFill>
                  <a:schemeClr val="bg2"/>
                </a:solidFill>
                <a:latin typeface="宋体" charset="-122"/>
              </a:rPr>
              <a:t>由图中还可看出</a:t>
            </a:r>
            <a:r>
              <a:rPr lang="en-US" altLang="zh-CN" b="1">
                <a:solidFill>
                  <a:schemeClr val="bg2"/>
                </a:solidFill>
                <a:latin typeface="宋体" charset="-122"/>
              </a:rPr>
              <a:t>,</a:t>
            </a:r>
            <a:r>
              <a:rPr lang="zh-CN" altLang="en-US" b="1">
                <a:solidFill>
                  <a:schemeClr val="bg2"/>
                </a:solidFill>
                <a:latin typeface="宋体" charset="-122"/>
              </a:rPr>
              <a:t>当 </a:t>
            </a:r>
            <a:r>
              <a:rPr lang="en-US" altLang="zh-CN" b="1" i="1">
                <a:solidFill>
                  <a:schemeClr val="bg2"/>
                </a:solidFill>
              </a:rPr>
              <a:t>n</a:t>
            </a:r>
            <a:r>
              <a:rPr lang="en-US" altLang="zh-CN" b="1">
                <a:solidFill>
                  <a:schemeClr val="bg2"/>
                </a:solidFill>
              </a:rPr>
              <a:t>&gt;</a:t>
            </a:r>
            <a:r>
              <a:rPr lang="en-US" altLang="zh-CN" b="1">
                <a:solidFill>
                  <a:schemeClr val="bg2"/>
                </a:solidFill>
                <a:latin typeface="宋体" charset="-122"/>
              </a:rPr>
              <a:t>1 </a:t>
            </a:r>
            <a:r>
              <a:rPr lang="zh-CN" altLang="en-US" b="1">
                <a:solidFill>
                  <a:schemeClr val="bg2"/>
                </a:solidFill>
                <a:latin typeface="宋体" charset="-122"/>
              </a:rPr>
              <a:t>，即处在激发态时，粒子在各处出现的概率是有起伏的，且随着能级的升高</a:t>
            </a:r>
            <a:r>
              <a:rPr lang="en-US" altLang="zh-CN" b="1">
                <a:solidFill>
                  <a:schemeClr val="bg2"/>
                </a:solidFill>
                <a:latin typeface="宋体" charset="-122"/>
              </a:rPr>
              <a:t>,</a:t>
            </a:r>
            <a:r>
              <a:rPr lang="zh-CN" altLang="en-US" b="1">
                <a:solidFill>
                  <a:schemeClr val="bg2"/>
                </a:solidFill>
                <a:latin typeface="宋体" charset="-122"/>
              </a:rPr>
              <a:t>粒子在阱内各处出现的概率就越均衡</a:t>
            </a:r>
            <a:r>
              <a:rPr lang="en-US" altLang="zh-CN" b="1">
                <a:solidFill>
                  <a:schemeClr val="bg2"/>
                </a:solidFill>
                <a:latin typeface="宋体" charset="-122"/>
              </a:rPr>
              <a:t>——</a:t>
            </a:r>
            <a:r>
              <a:rPr lang="zh-CN" altLang="en-US" b="1">
                <a:solidFill>
                  <a:schemeClr val="bg2"/>
                </a:solidFill>
                <a:latin typeface="宋体" charset="-122"/>
              </a:rPr>
              <a:t>即峰值越来越多，且彼此越来越靠近，这就和经典接近了。</a:t>
            </a:r>
          </a:p>
        </p:txBody>
      </p:sp>
      <p:sp>
        <p:nvSpPr>
          <p:cNvPr id="203781" name="Text Box 5"/>
          <p:cNvSpPr txBox="1">
            <a:spLocks noChangeArrowheads="1"/>
          </p:cNvSpPr>
          <p:nvPr/>
        </p:nvSpPr>
        <p:spPr bwMode="auto">
          <a:xfrm>
            <a:off x="1016000" y="5454650"/>
            <a:ext cx="7245350" cy="530225"/>
          </a:xfrm>
          <a:prstGeom prst="rect">
            <a:avLst/>
          </a:prstGeom>
          <a:noFill/>
          <a:ln w="9525">
            <a:noFill/>
            <a:miter lim="800000"/>
            <a:headEnd/>
            <a:tailEnd/>
          </a:ln>
          <a:effectLst/>
        </p:spPr>
        <p:txBody>
          <a:bodyPr>
            <a:spAutoFit/>
          </a:bodyPr>
          <a:lstStyle/>
          <a:p>
            <a:pPr>
              <a:lnSpc>
                <a:spcPct val="120000"/>
              </a:lnSpc>
            </a:pPr>
            <a:r>
              <a:rPr lang="zh-CN" altLang="en-US" b="1">
                <a:solidFill>
                  <a:srgbClr val="0000FF"/>
                </a:solidFill>
                <a:latin typeface="宋体" charset="-122"/>
                <a:sym typeface="Symbol" pitchFamily="18" charset="2"/>
              </a:rPr>
              <a:t>当 </a:t>
            </a:r>
            <a:r>
              <a:rPr lang="en-US" altLang="zh-CN" b="1" i="1">
                <a:solidFill>
                  <a:srgbClr val="0000FF"/>
                </a:solidFill>
                <a:sym typeface="Symbol" pitchFamily="18" charset="2"/>
              </a:rPr>
              <a:t>n</a:t>
            </a:r>
            <a:r>
              <a:rPr lang="en-US" altLang="zh-CN" b="1">
                <a:solidFill>
                  <a:srgbClr val="0000FF"/>
                </a:solidFill>
                <a:latin typeface="宋体" charset="-122"/>
                <a:sym typeface="Symbol" pitchFamily="18" charset="2"/>
              </a:rPr>
              <a:t>→∞</a:t>
            </a:r>
            <a:r>
              <a:rPr lang="zh-CN" altLang="en-US" b="1">
                <a:solidFill>
                  <a:srgbClr val="0000FF"/>
                </a:solidFill>
                <a:latin typeface="宋体" charset="-122"/>
                <a:sym typeface="Symbol" pitchFamily="18" charset="2"/>
              </a:rPr>
              <a:t>时，量子 </a:t>
            </a:r>
            <a:r>
              <a:rPr lang="zh-CN" altLang="en-US" b="1">
                <a:solidFill>
                  <a:schemeClr val="tx2"/>
                </a:solidFill>
                <a:latin typeface="黑体" pitchFamily="2" charset="-122"/>
                <a:ea typeface="黑体" pitchFamily="2" charset="-122"/>
                <a:sym typeface="Symbol" pitchFamily="18" charset="2"/>
              </a:rPr>
              <a:t>→</a:t>
            </a:r>
            <a:r>
              <a:rPr lang="zh-CN" altLang="en-US" b="1">
                <a:solidFill>
                  <a:srgbClr val="0000FF"/>
                </a:solidFill>
                <a:latin typeface="宋体" charset="-122"/>
                <a:sym typeface="Symbol" pitchFamily="18" charset="2"/>
              </a:rPr>
              <a:t> 经典 </a:t>
            </a:r>
            <a:r>
              <a:rPr lang="en-US" altLang="zh-CN" b="1">
                <a:solidFill>
                  <a:srgbClr val="0000FF"/>
                </a:solidFill>
                <a:latin typeface="宋体" charset="-122"/>
                <a:sym typeface="Symbol" pitchFamily="18" charset="2"/>
              </a:rPr>
              <a:t>(</a:t>
            </a:r>
            <a:r>
              <a:rPr lang="zh-CN" altLang="en-US" b="1">
                <a:solidFill>
                  <a:srgbClr val="0000FF"/>
                </a:solidFill>
                <a:latin typeface="宋体" charset="-122"/>
                <a:sym typeface="Symbol" pitchFamily="18" charset="2"/>
              </a:rPr>
              <a:t>玻尔对应原理</a:t>
            </a:r>
            <a:r>
              <a:rPr lang="en-US" altLang="zh-CN" b="1">
                <a:solidFill>
                  <a:srgbClr val="0000FF"/>
                </a:solidFill>
                <a:latin typeface="宋体" charset="-122"/>
                <a:sym typeface="Symbol" pitchFamily="18" charset="2"/>
              </a:rPr>
              <a:t>)</a:t>
            </a:r>
            <a:r>
              <a:rPr lang="zh-CN" altLang="en-US" b="1">
                <a:solidFill>
                  <a:srgbClr val="0000FF"/>
                </a:solidFill>
                <a:latin typeface="宋体" charset="-122"/>
                <a:sym typeface="Symbol" pitchFamily="18" charset="2"/>
              </a:rPr>
              <a:t>。</a:t>
            </a:r>
            <a:endParaRPr lang="zh-CN" altLang="en-US">
              <a:solidFill>
                <a:srgbClr val="0000FF"/>
              </a:solidFill>
              <a:latin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3778"/>
                                        </p:tgtEl>
                                        <p:attrNameLst>
                                          <p:attrName>style.visibility</p:attrName>
                                        </p:attrNameLst>
                                      </p:cBhvr>
                                      <p:to>
                                        <p:strVal val="visible"/>
                                      </p:to>
                                    </p:set>
                                    <p:animEffect transition="in" filter="wipe(left)">
                                      <p:cBhvr>
                                        <p:cTn id="7" dur="500"/>
                                        <p:tgtEl>
                                          <p:spTgt spid="2037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3779"/>
                                        </p:tgtEl>
                                        <p:attrNameLst>
                                          <p:attrName>style.visibility</p:attrName>
                                        </p:attrNameLst>
                                      </p:cBhvr>
                                      <p:to>
                                        <p:strVal val="visible"/>
                                      </p:to>
                                    </p:set>
                                    <p:animEffect transition="in" filter="wipe(left)">
                                      <p:cBhvr>
                                        <p:cTn id="12" dur="500"/>
                                        <p:tgtEl>
                                          <p:spTgt spid="2037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3780"/>
                                        </p:tgtEl>
                                        <p:attrNameLst>
                                          <p:attrName>style.visibility</p:attrName>
                                        </p:attrNameLst>
                                      </p:cBhvr>
                                      <p:to>
                                        <p:strVal val="visible"/>
                                      </p:to>
                                    </p:set>
                                    <p:animEffect transition="in" filter="wipe(left)">
                                      <p:cBhvr>
                                        <p:cTn id="17" dur="500"/>
                                        <p:tgtEl>
                                          <p:spTgt spid="2037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3781"/>
                                        </p:tgtEl>
                                        <p:attrNameLst>
                                          <p:attrName>style.visibility</p:attrName>
                                        </p:attrNameLst>
                                      </p:cBhvr>
                                      <p:to>
                                        <p:strVal val="visible"/>
                                      </p:to>
                                    </p:set>
                                    <p:animEffect transition="in" filter="wipe(left)">
                                      <p:cBhvr>
                                        <p:cTn id="22" dur="500"/>
                                        <p:tgtEl>
                                          <p:spTgt spid="203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8" grpId="0" autoUpdateAnimBg="0"/>
      <p:bldP spid="203779" grpId="0" autoUpdateAnimBg="0"/>
      <p:bldP spid="203780" grpId="0" autoUpdateAnimBg="0"/>
      <p:bldP spid="203781"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8" name="Text Box 6"/>
          <p:cNvSpPr txBox="1">
            <a:spLocks noChangeArrowheads="1"/>
          </p:cNvSpPr>
          <p:nvPr/>
        </p:nvSpPr>
        <p:spPr bwMode="auto">
          <a:xfrm>
            <a:off x="196850" y="458788"/>
            <a:ext cx="5319713" cy="457200"/>
          </a:xfrm>
          <a:prstGeom prst="rect">
            <a:avLst/>
          </a:prstGeom>
          <a:noFill/>
          <a:ln w="9525">
            <a:noFill/>
            <a:miter lim="800000"/>
            <a:headEnd/>
            <a:tailEnd/>
          </a:ln>
          <a:effectLst/>
        </p:spPr>
        <p:txBody>
          <a:bodyPr>
            <a:spAutoFit/>
          </a:bodyPr>
          <a:lstStyle/>
          <a:p>
            <a:pPr>
              <a:spcBef>
                <a:spcPct val="50000"/>
              </a:spcBef>
            </a:pPr>
            <a:r>
              <a:rPr lang="en-US" altLang="zh-CN" b="1" dirty="0" smtClean="0">
                <a:solidFill>
                  <a:srgbClr val="0000FF"/>
                </a:solidFill>
              </a:rPr>
              <a:t>13.5.4 </a:t>
            </a:r>
            <a:r>
              <a:rPr lang="zh-CN" altLang="en-US" b="1" dirty="0" smtClean="0">
                <a:solidFill>
                  <a:srgbClr val="0000FF"/>
                </a:solidFill>
              </a:rPr>
              <a:t>一</a:t>
            </a:r>
            <a:r>
              <a:rPr lang="zh-CN" altLang="en-US" b="1" dirty="0">
                <a:solidFill>
                  <a:srgbClr val="0000FF"/>
                </a:solidFill>
              </a:rPr>
              <a:t>维方</a:t>
            </a:r>
            <a:r>
              <a:rPr lang="zh-CN" altLang="en-US" b="1" dirty="0">
                <a:solidFill>
                  <a:srgbClr val="0000FF"/>
                </a:solidFill>
                <a:latin typeface="宋体" charset="-122"/>
              </a:rPr>
              <a:t>势垒  隧道效应</a:t>
            </a:r>
          </a:p>
        </p:txBody>
      </p:sp>
      <p:sp>
        <p:nvSpPr>
          <p:cNvPr id="136199" name="Rectangle 7"/>
          <p:cNvSpPr>
            <a:spLocks noChangeArrowheads="1"/>
          </p:cNvSpPr>
          <p:nvPr/>
        </p:nvSpPr>
        <p:spPr bwMode="auto">
          <a:xfrm>
            <a:off x="685800" y="909638"/>
            <a:ext cx="5056188" cy="457200"/>
          </a:xfrm>
          <a:prstGeom prst="rect">
            <a:avLst/>
          </a:prstGeom>
          <a:noFill/>
          <a:ln w="9525">
            <a:noFill/>
            <a:miter lim="800000"/>
            <a:headEnd/>
            <a:tailEnd/>
          </a:ln>
          <a:effectLst/>
        </p:spPr>
        <p:txBody>
          <a:bodyPr>
            <a:spAutoFit/>
          </a:bodyPr>
          <a:lstStyle/>
          <a:p>
            <a:r>
              <a:rPr lang="zh-CN" altLang="en-US" b="1">
                <a:solidFill>
                  <a:schemeClr val="bg2"/>
                </a:solidFill>
                <a:latin typeface="宋体" charset="-122"/>
              </a:rPr>
              <a:t>如图所示的势能分布为</a:t>
            </a:r>
          </a:p>
        </p:txBody>
      </p:sp>
      <p:sp>
        <p:nvSpPr>
          <p:cNvPr id="136203" name="Rectangle 11"/>
          <p:cNvSpPr>
            <a:spLocks noChangeArrowheads="1"/>
          </p:cNvSpPr>
          <p:nvPr/>
        </p:nvSpPr>
        <p:spPr bwMode="auto">
          <a:xfrm>
            <a:off x="6613525" y="1019175"/>
            <a:ext cx="762000" cy="1981200"/>
          </a:xfrm>
          <a:prstGeom prst="rect">
            <a:avLst/>
          </a:prstGeom>
          <a:solidFill>
            <a:srgbClr val="000099">
              <a:alpha val="16862"/>
            </a:srgbClr>
          </a:solidFill>
          <a:ln w="15875">
            <a:solidFill>
              <a:schemeClr val="hlink"/>
            </a:solidFill>
            <a:miter lim="800000"/>
            <a:headEnd/>
            <a:tailEnd/>
          </a:ln>
          <a:effectLst/>
        </p:spPr>
        <p:txBody>
          <a:bodyPr wrap="none" anchor="ctr"/>
          <a:lstStyle/>
          <a:p>
            <a:endParaRPr lang="zh-CN" altLang="en-US"/>
          </a:p>
        </p:txBody>
      </p:sp>
      <p:sp>
        <p:nvSpPr>
          <p:cNvPr id="136204" name="Line 12"/>
          <p:cNvSpPr>
            <a:spLocks noChangeShapeType="1"/>
          </p:cNvSpPr>
          <p:nvPr/>
        </p:nvSpPr>
        <p:spPr bwMode="auto">
          <a:xfrm flipV="1">
            <a:off x="5334000" y="3000375"/>
            <a:ext cx="3489325" cy="0"/>
          </a:xfrm>
          <a:prstGeom prst="line">
            <a:avLst/>
          </a:prstGeom>
          <a:noFill/>
          <a:ln w="19050">
            <a:solidFill>
              <a:schemeClr val="bg2"/>
            </a:solidFill>
            <a:round/>
            <a:headEnd/>
            <a:tailEnd type="triangle" w="med" len="med"/>
          </a:ln>
          <a:effectLst/>
        </p:spPr>
        <p:txBody>
          <a:bodyPr/>
          <a:lstStyle/>
          <a:p>
            <a:endParaRPr lang="zh-CN" altLang="en-US"/>
          </a:p>
        </p:txBody>
      </p:sp>
      <p:sp>
        <p:nvSpPr>
          <p:cNvPr id="136205" name="Line 13"/>
          <p:cNvSpPr>
            <a:spLocks noChangeShapeType="1"/>
          </p:cNvSpPr>
          <p:nvPr/>
        </p:nvSpPr>
        <p:spPr bwMode="auto">
          <a:xfrm flipV="1">
            <a:off x="6613525" y="319088"/>
            <a:ext cx="0" cy="2681287"/>
          </a:xfrm>
          <a:prstGeom prst="line">
            <a:avLst/>
          </a:prstGeom>
          <a:noFill/>
          <a:ln w="19050">
            <a:solidFill>
              <a:schemeClr val="bg2"/>
            </a:solidFill>
            <a:round/>
            <a:headEnd/>
            <a:tailEnd type="triangle" w="med" len="med"/>
          </a:ln>
          <a:effectLst/>
        </p:spPr>
        <p:txBody>
          <a:bodyPr/>
          <a:lstStyle/>
          <a:p>
            <a:endParaRPr lang="zh-CN" altLang="en-US"/>
          </a:p>
        </p:txBody>
      </p:sp>
      <p:sp>
        <p:nvSpPr>
          <p:cNvPr id="136206" name="Text Box 14"/>
          <p:cNvSpPr txBox="1">
            <a:spLocks noChangeArrowheads="1"/>
          </p:cNvSpPr>
          <p:nvPr/>
        </p:nvSpPr>
        <p:spPr bwMode="auto">
          <a:xfrm>
            <a:off x="6443663" y="2909888"/>
            <a:ext cx="2493962" cy="457200"/>
          </a:xfrm>
          <a:prstGeom prst="rect">
            <a:avLst/>
          </a:prstGeom>
          <a:noFill/>
          <a:ln w="9525">
            <a:noFill/>
            <a:miter lim="800000"/>
            <a:headEnd/>
            <a:tailEnd/>
          </a:ln>
          <a:effectLst/>
        </p:spPr>
        <p:txBody>
          <a:bodyPr>
            <a:spAutoFit/>
          </a:bodyPr>
          <a:lstStyle/>
          <a:p>
            <a:r>
              <a:rPr lang="en-US" altLang="zh-CN" sz="2000" b="1">
                <a:solidFill>
                  <a:schemeClr val="bg1"/>
                </a:solidFill>
              </a:rPr>
              <a:t>0</a:t>
            </a:r>
            <a:r>
              <a:rPr lang="en-US" altLang="zh-CN" b="1" i="1">
                <a:solidFill>
                  <a:schemeClr val="bg1"/>
                </a:solidFill>
              </a:rPr>
              <a:t>         a              x</a:t>
            </a:r>
          </a:p>
        </p:txBody>
      </p:sp>
      <p:sp>
        <p:nvSpPr>
          <p:cNvPr id="136207" name="Text Box 15"/>
          <p:cNvSpPr txBox="1">
            <a:spLocks noChangeArrowheads="1"/>
          </p:cNvSpPr>
          <p:nvPr/>
        </p:nvSpPr>
        <p:spPr bwMode="auto">
          <a:xfrm>
            <a:off x="6613525" y="561975"/>
            <a:ext cx="506413" cy="457200"/>
          </a:xfrm>
          <a:prstGeom prst="rect">
            <a:avLst/>
          </a:prstGeom>
          <a:noFill/>
          <a:ln w="9525">
            <a:noFill/>
            <a:miter lim="800000"/>
            <a:headEnd/>
            <a:tailEnd/>
          </a:ln>
          <a:effectLst/>
        </p:spPr>
        <p:txBody>
          <a:bodyPr wrap="none">
            <a:spAutoFit/>
          </a:bodyPr>
          <a:lstStyle/>
          <a:p>
            <a:r>
              <a:rPr lang="en-US" altLang="zh-CN" b="1" i="1">
                <a:solidFill>
                  <a:schemeClr val="bg1"/>
                </a:solidFill>
              </a:rPr>
              <a:t>U</a:t>
            </a:r>
            <a:r>
              <a:rPr lang="en-US" altLang="zh-CN" b="1" baseline="-20000">
                <a:solidFill>
                  <a:schemeClr val="bg1"/>
                </a:solidFill>
              </a:rPr>
              <a:t>0</a:t>
            </a:r>
            <a:endParaRPr lang="en-US" altLang="zh-CN" b="1">
              <a:solidFill>
                <a:schemeClr val="bg1"/>
              </a:solidFill>
            </a:endParaRPr>
          </a:p>
        </p:txBody>
      </p:sp>
      <p:sp>
        <p:nvSpPr>
          <p:cNvPr id="136208" name="Text Box 16"/>
          <p:cNvSpPr txBox="1">
            <a:spLocks noChangeArrowheads="1"/>
          </p:cNvSpPr>
          <p:nvPr/>
        </p:nvSpPr>
        <p:spPr bwMode="auto">
          <a:xfrm>
            <a:off x="5546725" y="1095375"/>
            <a:ext cx="3521075" cy="457200"/>
          </a:xfrm>
          <a:prstGeom prst="rect">
            <a:avLst/>
          </a:prstGeom>
          <a:noFill/>
          <a:ln w="9525">
            <a:noFill/>
            <a:miter lim="800000"/>
            <a:headEnd/>
            <a:tailEnd/>
          </a:ln>
          <a:effectLst/>
        </p:spPr>
        <p:txBody>
          <a:bodyPr>
            <a:spAutoFit/>
          </a:bodyPr>
          <a:lstStyle/>
          <a:p>
            <a:r>
              <a:rPr lang="en-US" altLang="zh-CN">
                <a:solidFill>
                  <a:schemeClr val="bg1"/>
                </a:solidFill>
                <a:latin typeface="楷体_GB2312" pitchFamily="49" charset="-122"/>
                <a:ea typeface="楷体_GB2312" pitchFamily="49" charset="-122"/>
              </a:rPr>
              <a:t>Ⅰ      Ⅱ        </a:t>
            </a:r>
            <a:r>
              <a:rPr lang="en-US" altLang="zh-CN">
                <a:solidFill>
                  <a:schemeClr val="bg1"/>
                </a:solidFill>
                <a:ea typeface="楷体_GB2312" pitchFamily="49" charset="-122"/>
              </a:rPr>
              <a:t>Ⅲ</a:t>
            </a:r>
          </a:p>
        </p:txBody>
      </p:sp>
      <p:sp>
        <p:nvSpPr>
          <p:cNvPr id="136209" name="Line 17"/>
          <p:cNvSpPr>
            <a:spLocks noChangeShapeType="1"/>
          </p:cNvSpPr>
          <p:nvPr/>
        </p:nvSpPr>
        <p:spPr bwMode="auto">
          <a:xfrm>
            <a:off x="5470525" y="2224088"/>
            <a:ext cx="3352800" cy="0"/>
          </a:xfrm>
          <a:prstGeom prst="line">
            <a:avLst/>
          </a:prstGeom>
          <a:noFill/>
          <a:ln w="15875">
            <a:solidFill>
              <a:schemeClr val="hlink"/>
            </a:solidFill>
            <a:round/>
            <a:headEnd/>
            <a:tailEnd/>
          </a:ln>
          <a:effectLst/>
        </p:spPr>
        <p:txBody>
          <a:bodyPr/>
          <a:lstStyle/>
          <a:p>
            <a:endParaRPr lang="zh-CN" altLang="en-US"/>
          </a:p>
        </p:txBody>
      </p:sp>
      <p:sp>
        <p:nvSpPr>
          <p:cNvPr id="136210" name="Text Box 18"/>
          <p:cNvSpPr txBox="1">
            <a:spLocks noChangeArrowheads="1"/>
          </p:cNvSpPr>
          <p:nvPr/>
        </p:nvSpPr>
        <p:spPr bwMode="auto">
          <a:xfrm>
            <a:off x="841375" y="2738438"/>
            <a:ext cx="4495800" cy="457200"/>
          </a:xfrm>
          <a:prstGeom prst="rect">
            <a:avLst/>
          </a:prstGeom>
          <a:noFill/>
          <a:ln w="9525">
            <a:noFill/>
            <a:miter lim="800000"/>
            <a:headEnd/>
            <a:tailEnd/>
          </a:ln>
          <a:effectLst/>
        </p:spPr>
        <p:txBody>
          <a:bodyPr>
            <a:spAutoFit/>
          </a:bodyPr>
          <a:lstStyle/>
          <a:p>
            <a:r>
              <a:rPr lang="en-US" altLang="zh-CN">
                <a:solidFill>
                  <a:schemeClr val="bg1"/>
                </a:solidFill>
                <a:latin typeface="宋体" charset="-122"/>
              </a:rPr>
              <a:t>Ⅲ</a:t>
            </a:r>
            <a:r>
              <a:rPr lang="zh-CN" altLang="en-US">
                <a:solidFill>
                  <a:schemeClr val="bg1"/>
                </a:solidFill>
                <a:latin typeface="宋体" charset="-122"/>
              </a:rPr>
              <a:t>区   </a:t>
            </a:r>
            <a:r>
              <a:rPr lang="en-US" altLang="zh-CN" b="1" i="1">
                <a:solidFill>
                  <a:srgbClr val="0000FF"/>
                </a:solidFill>
              </a:rPr>
              <a:t>V </a:t>
            </a:r>
            <a:r>
              <a:rPr lang="en-US" altLang="zh-CN" sz="2000" b="1">
                <a:solidFill>
                  <a:srgbClr val="0000FF"/>
                </a:solidFill>
              </a:rPr>
              <a:t>( </a:t>
            </a:r>
            <a:r>
              <a:rPr lang="en-US" altLang="zh-CN" b="1" i="1">
                <a:solidFill>
                  <a:srgbClr val="0000FF"/>
                </a:solidFill>
              </a:rPr>
              <a:t>x </a:t>
            </a:r>
            <a:r>
              <a:rPr lang="en-US" altLang="zh-CN" sz="2000" b="1">
                <a:solidFill>
                  <a:srgbClr val="0000FF"/>
                </a:solidFill>
              </a:rPr>
              <a:t>)  </a:t>
            </a:r>
            <a:r>
              <a:rPr lang="en-US" altLang="zh-CN" b="1">
                <a:solidFill>
                  <a:srgbClr val="0000FF"/>
                </a:solidFill>
              </a:rPr>
              <a:t>= 0      </a:t>
            </a:r>
            <a:r>
              <a:rPr lang="zh-CN" altLang="en-US" b="1">
                <a:solidFill>
                  <a:srgbClr val="0000FF"/>
                </a:solidFill>
              </a:rPr>
              <a:t>　</a:t>
            </a:r>
            <a:r>
              <a:rPr lang="en-US" altLang="zh-CN" b="1" i="1">
                <a:solidFill>
                  <a:srgbClr val="0000FF"/>
                </a:solidFill>
              </a:rPr>
              <a:t>x </a:t>
            </a:r>
            <a:r>
              <a:rPr lang="en-US" altLang="zh-CN" sz="2000" b="1">
                <a:solidFill>
                  <a:srgbClr val="0000FF"/>
                </a:solidFill>
              </a:rPr>
              <a:t>≥</a:t>
            </a:r>
            <a:r>
              <a:rPr lang="en-US" altLang="zh-CN" sz="2000" b="1" i="1">
                <a:solidFill>
                  <a:srgbClr val="0000FF"/>
                </a:solidFill>
              </a:rPr>
              <a:t> </a:t>
            </a:r>
            <a:r>
              <a:rPr lang="en-US" altLang="zh-CN" b="1" i="1">
                <a:solidFill>
                  <a:srgbClr val="0000FF"/>
                </a:solidFill>
              </a:rPr>
              <a:t>a</a:t>
            </a:r>
            <a:endParaRPr lang="en-US" altLang="zh-CN" i="1">
              <a:solidFill>
                <a:srgbClr val="0000FF"/>
              </a:solidFill>
            </a:endParaRPr>
          </a:p>
        </p:txBody>
      </p:sp>
      <p:sp>
        <p:nvSpPr>
          <p:cNvPr id="136211" name="Rectangle 19"/>
          <p:cNvSpPr>
            <a:spLocks noChangeArrowheads="1"/>
          </p:cNvSpPr>
          <p:nvPr/>
        </p:nvSpPr>
        <p:spPr bwMode="auto">
          <a:xfrm>
            <a:off x="841375" y="1443038"/>
            <a:ext cx="4267200" cy="457200"/>
          </a:xfrm>
          <a:prstGeom prst="rect">
            <a:avLst/>
          </a:prstGeom>
          <a:noFill/>
          <a:ln w="9525">
            <a:noFill/>
            <a:miter lim="800000"/>
            <a:headEnd/>
            <a:tailEnd/>
          </a:ln>
          <a:effectLst/>
        </p:spPr>
        <p:txBody>
          <a:bodyPr>
            <a:spAutoFit/>
          </a:bodyPr>
          <a:lstStyle/>
          <a:p>
            <a:r>
              <a:rPr lang="en-US" altLang="zh-CN" b="1">
                <a:solidFill>
                  <a:schemeClr val="bg1"/>
                </a:solidFill>
                <a:latin typeface="宋体" charset="-122"/>
              </a:rPr>
              <a:t>Ⅰ</a:t>
            </a:r>
            <a:r>
              <a:rPr lang="zh-CN" altLang="en-US" b="1">
                <a:solidFill>
                  <a:schemeClr val="bg1"/>
                </a:solidFill>
                <a:latin typeface="宋体" charset="-122"/>
              </a:rPr>
              <a:t>区   </a:t>
            </a:r>
            <a:r>
              <a:rPr lang="en-US" altLang="zh-CN" b="1" i="1">
                <a:solidFill>
                  <a:srgbClr val="0000FF"/>
                </a:solidFill>
              </a:rPr>
              <a:t>V </a:t>
            </a:r>
            <a:r>
              <a:rPr lang="en-US" altLang="zh-CN" sz="2000" b="1">
                <a:solidFill>
                  <a:srgbClr val="0000FF"/>
                </a:solidFill>
              </a:rPr>
              <a:t>( </a:t>
            </a:r>
            <a:r>
              <a:rPr lang="en-US" altLang="zh-CN" b="1" i="1">
                <a:solidFill>
                  <a:srgbClr val="0000FF"/>
                </a:solidFill>
              </a:rPr>
              <a:t>x </a:t>
            </a:r>
            <a:r>
              <a:rPr lang="en-US" altLang="zh-CN" sz="2000" b="1">
                <a:solidFill>
                  <a:srgbClr val="0000FF"/>
                </a:solidFill>
              </a:rPr>
              <a:t>)  </a:t>
            </a:r>
            <a:r>
              <a:rPr lang="en-US" altLang="zh-CN" b="1">
                <a:solidFill>
                  <a:srgbClr val="0000FF"/>
                </a:solidFill>
              </a:rPr>
              <a:t>= 0         </a:t>
            </a:r>
            <a:r>
              <a:rPr lang="en-US" altLang="zh-CN" b="1" i="1">
                <a:solidFill>
                  <a:srgbClr val="0000FF"/>
                </a:solidFill>
              </a:rPr>
              <a:t>x </a:t>
            </a:r>
            <a:r>
              <a:rPr lang="en-US" altLang="zh-CN" sz="2000" b="1">
                <a:solidFill>
                  <a:srgbClr val="0000FF"/>
                </a:solidFill>
              </a:rPr>
              <a:t>≤</a:t>
            </a:r>
            <a:r>
              <a:rPr lang="en-US" altLang="zh-CN" sz="2000" b="1" i="1">
                <a:solidFill>
                  <a:srgbClr val="0000FF"/>
                </a:solidFill>
              </a:rPr>
              <a:t> </a:t>
            </a:r>
            <a:r>
              <a:rPr lang="en-US" altLang="zh-CN" b="1">
                <a:solidFill>
                  <a:srgbClr val="0000FF"/>
                </a:solidFill>
              </a:rPr>
              <a:t>0</a:t>
            </a:r>
          </a:p>
        </p:txBody>
      </p:sp>
      <p:sp>
        <p:nvSpPr>
          <p:cNvPr id="136212" name="Rectangle 20"/>
          <p:cNvSpPr>
            <a:spLocks noChangeArrowheads="1"/>
          </p:cNvSpPr>
          <p:nvPr/>
        </p:nvSpPr>
        <p:spPr bwMode="auto">
          <a:xfrm>
            <a:off x="841375" y="2052638"/>
            <a:ext cx="4249738" cy="457200"/>
          </a:xfrm>
          <a:prstGeom prst="rect">
            <a:avLst/>
          </a:prstGeom>
          <a:noFill/>
          <a:ln w="9525">
            <a:noFill/>
            <a:miter lim="800000"/>
            <a:headEnd/>
            <a:tailEnd/>
          </a:ln>
          <a:effectLst/>
        </p:spPr>
        <p:txBody>
          <a:bodyPr wrap="none">
            <a:spAutoFit/>
          </a:bodyPr>
          <a:lstStyle/>
          <a:p>
            <a:r>
              <a:rPr lang="en-US" altLang="zh-CN">
                <a:solidFill>
                  <a:schemeClr val="bg1"/>
                </a:solidFill>
                <a:latin typeface="宋体" charset="-122"/>
              </a:rPr>
              <a:t>Ⅱ</a:t>
            </a:r>
            <a:r>
              <a:rPr lang="zh-CN" altLang="en-US">
                <a:solidFill>
                  <a:schemeClr val="bg1"/>
                </a:solidFill>
                <a:latin typeface="宋体" charset="-122"/>
              </a:rPr>
              <a:t>区   </a:t>
            </a:r>
            <a:r>
              <a:rPr lang="en-US" altLang="zh-CN" b="1" i="1">
                <a:solidFill>
                  <a:srgbClr val="0000FF"/>
                </a:solidFill>
              </a:rPr>
              <a:t>V </a:t>
            </a:r>
            <a:r>
              <a:rPr lang="en-US" altLang="zh-CN" sz="2000" b="1">
                <a:solidFill>
                  <a:srgbClr val="0000FF"/>
                </a:solidFill>
              </a:rPr>
              <a:t>( </a:t>
            </a:r>
            <a:r>
              <a:rPr lang="en-US" altLang="zh-CN" b="1" i="1">
                <a:solidFill>
                  <a:srgbClr val="0000FF"/>
                </a:solidFill>
              </a:rPr>
              <a:t>x </a:t>
            </a:r>
            <a:r>
              <a:rPr lang="en-US" altLang="zh-CN" sz="2000" b="1">
                <a:solidFill>
                  <a:srgbClr val="0000FF"/>
                </a:solidFill>
              </a:rPr>
              <a:t>)  </a:t>
            </a:r>
            <a:r>
              <a:rPr lang="en-US" altLang="zh-CN" b="1">
                <a:solidFill>
                  <a:srgbClr val="0000FF"/>
                </a:solidFill>
              </a:rPr>
              <a:t>= </a:t>
            </a:r>
            <a:r>
              <a:rPr lang="en-US" altLang="zh-CN" b="1" i="1">
                <a:solidFill>
                  <a:srgbClr val="0000FF"/>
                </a:solidFill>
              </a:rPr>
              <a:t>V</a:t>
            </a:r>
            <a:r>
              <a:rPr lang="en-US" altLang="zh-CN" b="1" baseline="-20000">
                <a:solidFill>
                  <a:srgbClr val="0000FF"/>
                </a:solidFill>
              </a:rPr>
              <a:t>0</a:t>
            </a:r>
            <a:r>
              <a:rPr lang="en-US" altLang="zh-CN" b="1">
                <a:solidFill>
                  <a:srgbClr val="0000FF"/>
                </a:solidFill>
              </a:rPr>
              <a:t>     0</a:t>
            </a:r>
            <a:r>
              <a:rPr lang="en-US" altLang="zh-CN" sz="2000" b="1">
                <a:solidFill>
                  <a:srgbClr val="0000FF"/>
                </a:solidFill>
              </a:rPr>
              <a:t>≤</a:t>
            </a:r>
            <a:r>
              <a:rPr lang="en-US" altLang="zh-CN" b="1">
                <a:solidFill>
                  <a:srgbClr val="0000FF"/>
                </a:solidFill>
              </a:rPr>
              <a:t> </a:t>
            </a:r>
            <a:r>
              <a:rPr lang="en-US" altLang="zh-CN" b="1" i="1">
                <a:solidFill>
                  <a:srgbClr val="0000FF"/>
                </a:solidFill>
              </a:rPr>
              <a:t>x </a:t>
            </a:r>
            <a:r>
              <a:rPr lang="en-US" altLang="zh-CN" sz="2000" b="1">
                <a:solidFill>
                  <a:srgbClr val="0000FF"/>
                </a:solidFill>
              </a:rPr>
              <a:t>≤</a:t>
            </a:r>
            <a:r>
              <a:rPr lang="en-US" altLang="zh-CN" b="1" i="1">
                <a:solidFill>
                  <a:srgbClr val="0000FF"/>
                </a:solidFill>
              </a:rPr>
              <a:t> a</a:t>
            </a:r>
          </a:p>
        </p:txBody>
      </p:sp>
      <p:sp>
        <p:nvSpPr>
          <p:cNvPr id="136214" name="Rectangle 22"/>
          <p:cNvSpPr>
            <a:spLocks noChangeArrowheads="1"/>
          </p:cNvSpPr>
          <p:nvPr/>
        </p:nvSpPr>
        <p:spPr bwMode="auto">
          <a:xfrm>
            <a:off x="5394325" y="1808163"/>
            <a:ext cx="336550" cy="457200"/>
          </a:xfrm>
          <a:prstGeom prst="rect">
            <a:avLst/>
          </a:prstGeom>
          <a:noFill/>
          <a:ln w="9525">
            <a:noFill/>
            <a:miter lim="800000"/>
            <a:headEnd/>
            <a:tailEnd/>
          </a:ln>
          <a:effectLst/>
        </p:spPr>
        <p:txBody>
          <a:bodyPr wrap="none">
            <a:spAutoFit/>
          </a:bodyPr>
          <a:lstStyle/>
          <a:p>
            <a:r>
              <a:rPr lang="en-US" altLang="zh-CN" b="1" i="1">
                <a:solidFill>
                  <a:schemeClr val="tx2"/>
                </a:solidFill>
                <a:latin typeface="宋体" charset="-122"/>
              </a:rPr>
              <a:t>E</a:t>
            </a:r>
          </a:p>
        </p:txBody>
      </p:sp>
      <p:sp>
        <p:nvSpPr>
          <p:cNvPr id="136218" name="Rectangle 26"/>
          <p:cNvSpPr>
            <a:spLocks noChangeArrowheads="1"/>
          </p:cNvSpPr>
          <p:nvPr/>
        </p:nvSpPr>
        <p:spPr bwMode="auto">
          <a:xfrm>
            <a:off x="746125" y="3338513"/>
            <a:ext cx="4473575" cy="457200"/>
          </a:xfrm>
          <a:prstGeom prst="rect">
            <a:avLst/>
          </a:prstGeom>
          <a:noFill/>
          <a:ln w="9525">
            <a:noFill/>
            <a:miter lim="800000"/>
            <a:headEnd/>
            <a:tailEnd/>
          </a:ln>
          <a:effectLst/>
        </p:spPr>
        <p:txBody>
          <a:bodyPr wrap="none">
            <a:spAutoFit/>
          </a:bodyPr>
          <a:lstStyle/>
          <a:p>
            <a:r>
              <a:rPr lang="zh-CN" altLang="en-US" b="1">
                <a:solidFill>
                  <a:schemeClr val="bg2"/>
                </a:solidFill>
              </a:rPr>
              <a:t>上述势能分布称为</a:t>
            </a:r>
            <a:r>
              <a:rPr lang="zh-CN" altLang="en-US" b="1">
                <a:solidFill>
                  <a:schemeClr val="hlink"/>
                </a:solidFill>
              </a:rPr>
              <a:t>一维方势垒。</a:t>
            </a:r>
          </a:p>
        </p:txBody>
      </p:sp>
      <p:sp>
        <p:nvSpPr>
          <p:cNvPr id="136219" name="Text Box 27"/>
          <p:cNvSpPr txBox="1">
            <a:spLocks noChangeArrowheads="1"/>
          </p:cNvSpPr>
          <p:nvPr/>
        </p:nvSpPr>
        <p:spPr bwMode="auto">
          <a:xfrm>
            <a:off x="792163" y="4689475"/>
            <a:ext cx="7694612" cy="1406525"/>
          </a:xfrm>
          <a:prstGeom prst="rect">
            <a:avLst/>
          </a:prstGeom>
          <a:noFill/>
          <a:ln w="9525">
            <a:noFill/>
            <a:miter lim="800000"/>
            <a:headEnd/>
            <a:tailEnd/>
          </a:ln>
          <a:effectLst/>
        </p:spPr>
        <p:txBody>
          <a:bodyPr>
            <a:spAutoFit/>
          </a:bodyPr>
          <a:lstStyle/>
          <a:p>
            <a:pPr>
              <a:lnSpc>
                <a:spcPct val="120000"/>
              </a:lnSpc>
            </a:pPr>
            <a:r>
              <a:rPr lang="en-US" altLang="zh-CN" b="1"/>
              <a:t>        </a:t>
            </a:r>
            <a:r>
              <a:rPr lang="zh-CN" altLang="en-US" b="1">
                <a:solidFill>
                  <a:schemeClr val="bg2"/>
                </a:solidFill>
              </a:rPr>
              <a:t>势垒的高度不是无限高也不是无限宽，如果一粒子从 </a:t>
            </a:r>
            <a:r>
              <a:rPr lang="en-US" altLang="zh-CN" b="1">
                <a:solidFill>
                  <a:schemeClr val="bg2"/>
                </a:solidFill>
              </a:rPr>
              <a:t>Ⅰ</a:t>
            </a:r>
            <a:r>
              <a:rPr lang="zh-CN" altLang="en-US" b="1">
                <a:solidFill>
                  <a:schemeClr val="bg2"/>
                </a:solidFill>
              </a:rPr>
              <a:t>区以确定能量</a:t>
            </a:r>
            <a:r>
              <a:rPr lang="zh-CN" altLang="en-US" b="1" i="1">
                <a:solidFill>
                  <a:schemeClr val="bg2"/>
                </a:solidFill>
              </a:rPr>
              <a:t>Ｅ</a:t>
            </a:r>
            <a:r>
              <a:rPr lang="en-US" altLang="zh-CN" b="1">
                <a:solidFill>
                  <a:schemeClr val="bg2"/>
                </a:solidFill>
              </a:rPr>
              <a:t>&lt;</a:t>
            </a:r>
            <a:r>
              <a:rPr lang="en-US" altLang="zh-CN" b="1" i="1">
                <a:solidFill>
                  <a:schemeClr val="bg2"/>
                </a:solidFill>
              </a:rPr>
              <a:t>U</a:t>
            </a:r>
            <a:r>
              <a:rPr lang="zh-CN" altLang="en-US" b="1">
                <a:solidFill>
                  <a:schemeClr val="bg2"/>
                </a:solidFill>
              </a:rPr>
              <a:t>（ </a:t>
            </a:r>
            <a:r>
              <a:rPr lang="en-US" altLang="zh-CN" b="1" i="1">
                <a:solidFill>
                  <a:schemeClr val="bg2"/>
                </a:solidFill>
              </a:rPr>
              <a:t>E</a:t>
            </a:r>
            <a:r>
              <a:rPr lang="en-US" altLang="zh-CN" b="1">
                <a:solidFill>
                  <a:schemeClr val="bg2"/>
                </a:solidFill>
              </a:rPr>
              <a:t>&gt;0 </a:t>
            </a:r>
            <a:r>
              <a:rPr lang="zh-CN" altLang="en-US" b="1">
                <a:solidFill>
                  <a:schemeClr val="bg2"/>
                </a:solidFill>
              </a:rPr>
              <a:t>）入射，</a:t>
            </a:r>
            <a:r>
              <a:rPr lang="zh-CN" altLang="en-US" b="1">
                <a:solidFill>
                  <a:srgbClr val="0000FF"/>
                </a:solidFill>
              </a:rPr>
              <a:t>该粒子能否在 </a:t>
            </a:r>
            <a:r>
              <a:rPr lang="en-US" altLang="zh-CN" b="1">
                <a:solidFill>
                  <a:srgbClr val="0000FF"/>
                </a:solidFill>
              </a:rPr>
              <a:t>Ⅲ </a:t>
            </a:r>
            <a:r>
              <a:rPr lang="zh-CN" altLang="en-US" b="1">
                <a:solidFill>
                  <a:srgbClr val="0000FF"/>
                </a:solidFill>
              </a:rPr>
              <a:t>区出现？</a:t>
            </a:r>
            <a:endParaRPr lang="zh-CN" altLang="en-US">
              <a:solidFill>
                <a:srgbClr val="0000FF"/>
              </a:solidFill>
            </a:endParaRPr>
          </a:p>
        </p:txBody>
      </p:sp>
      <p:sp>
        <p:nvSpPr>
          <p:cNvPr id="136220" name="AutoShape 28"/>
          <p:cNvSpPr>
            <a:spLocks noChangeArrowheads="1"/>
          </p:cNvSpPr>
          <p:nvPr/>
        </p:nvSpPr>
        <p:spPr bwMode="auto">
          <a:xfrm>
            <a:off x="881063" y="4103688"/>
            <a:ext cx="360362" cy="576262"/>
          </a:xfrm>
          <a:prstGeom prst="star4">
            <a:avLst>
              <a:gd name="adj" fmla="val 18519"/>
            </a:avLst>
          </a:prstGeom>
          <a:gradFill rotWithShape="0">
            <a:gsLst>
              <a:gs pos="0">
                <a:schemeClr val="accent2"/>
              </a:gs>
              <a:gs pos="100000">
                <a:schemeClr val="accent2">
                  <a:gamma/>
                  <a:shade val="46275"/>
                  <a:invGamma/>
                </a:schemeClr>
              </a:gs>
            </a:gsLst>
            <a:path path="shape">
              <a:fillToRect l="50000" t="50000" r="50000" b="50000"/>
            </a:path>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136221" name="Text Box 29"/>
          <p:cNvSpPr txBox="1">
            <a:spLocks noChangeArrowheads="1"/>
          </p:cNvSpPr>
          <p:nvPr/>
        </p:nvSpPr>
        <p:spPr bwMode="auto">
          <a:xfrm>
            <a:off x="1285875" y="4149725"/>
            <a:ext cx="1936750"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hlink"/>
                </a:solidFill>
              </a:rPr>
              <a:t>讨论：</a:t>
            </a: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198"/>
                                        </p:tgtEl>
                                        <p:attrNameLst>
                                          <p:attrName>style.visibility</p:attrName>
                                        </p:attrNameLst>
                                      </p:cBhvr>
                                      <p:to>
                                        <p:strVal val="visible"/>
                                      </p:to>
                                    </p:set>
                                    <p:animEffect transition="in" filter="wipe(left)">
                                      <p:cBhvr>
                                        <p:cTn id="7" dur="500"/>
                                        <p:tgtEl>
                                          <p:spTgt spid="1361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199"/>
                                        </p:tgtEl>
                                        <p:attrNameLst>
                                          <p:attrName>style.visibility</p:attrName>
                                        </p:attrNameLst>
                                      </p:cBhvr>
                                      <p:to>
                                        <p:strVal val="visible"/>
                                      </p:to>
                                    </p:set>
                                    <p:animEffect transition="in" filter="wipe(left)">
                                      <p:cBhvr>
                                        <p:cTn id="12" dur="500"/>
                                        <p:tgtEl>
                                          <p:spTgt spid="1361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6203"/>
                                        </p:tgtEl>
                                        <p:attrNameLst>
                                          <p:attrName>style.visibility</p:attrName>
                                        </p:attrNameLst>
                                      </p:cBhvr>
                                      <p:to>
                                        <p:strVal val="visible"/>
                                      </p:to>
                                    </p:set>
                                    <p:animEffect transition="in" filter="wipe(left)">
                                      <p:cBhvr>
                                        <p:cTn id="17" dur="500"/>
                                        <p:tgtEl>
                                          <p:spTgt spid="1362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6204"/>
                                        </p:tgtEl>
                                        <p:attrNameLst>
                                          <p:attrName>style.visibility</p:attrName>
                                        </p:attrNameLst>
                                      </p:cBhvr>
                                      <p:to>
                                        <p:strVal val="visible"/>
                                      </p:to>
                                    </p:set>
                                    <p:animEffect transition="in" filter="wipe(left)">
                                      <p:cBhvr>
                                        <p:cTn id="22" dur="500"/>
                                        <p:tgtEl>
                                          <p:spTgt spid="1362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6205"/>
                                        </p:tgtEl>
                                        <p:attrNameLst>
                                          <p:attrName>style.visibility</p:attrName>
                                        </p:attrNameLst>
                                      </p:cBhvr>
                                      <p:to>
                                        <p:strVal val="visible"/>
                                      </p:to>
                                    </p:set>
                                    <p:animEffect transition="in" filter="wipe(left)">
                                      <p:cBhvr>
                                        <p:cTn id="27" dur="500"/>
                                        <p:tgtEl>
                                          <p:spTgt spid="13620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6206"/>
                                        </p:tgtEl>
                                        <p:attrNameLst>
                                          <p:attrName>style.visibility</p:attrName>
                                        </p:attrNameLst>
                                      </p:cBhvr>
                                      <p:to>
                                        <p:strVal val="visible"/>
                                      </p:to>
                                    </p:set>
                                    <p:animEffect transition="in" filter="wipe(left)">
                                      <p:cBhvr>
                                        <p:cTn id="32" dur="500"/>
                                        <p:tgtEl>
                                          <p:spTgt spid="13620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6207"/>
                                        </p:tgtEl>
                                        <p:attrNameLst>
                                          <p:attrName>style.visibility</p:attrName>
                                        </p:attrNameLst>
                                      </p:cBhvr>
                                      <p:to>
                                        <p:strVal val="visible"/>
                                      </p:to>
                                    </p:set>
                                    <p:animEffect transition="in" filter="wipe(left)">
                                      <p:cBhvr>
                                        <p:cTn id="37" dur="500"/>
                                        <p:tgtEl>
                                          <p:spTgt spid="13620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6208"/>
                                        </p:tgtEl>
                                        <p:attrNameLst>
                                          <p:attrName>style.visibility</p:attrName>
                                        </p:attrNameLst>
                                      </p:cBhvr>
                                      <p:to>
                                        <p:strVal val="visible"/>
                                      </p:to>
                                    </p:set>
                                    <p:animEffect transition="in" filter="wipe(left)">
                                      <p:cBhvr>
                                        <p:cTn id="42" dur="500"/>
                                        <p:tgtEl>
                                          <p:spTgt spid="13620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6211"/>
                                        </p:tgtEl>
                                        <p:attrNameLst>
                                          <p:attrName>style.visibility</p:attrName>
                                        </p:attrNameLst>
                                      </p:cBhvr>
                                      <p:to>
                                        <p:strVal val="visible"/>
                                      </p:to>
                                    </p:set>
                                    <p:animEffect transition="in" filter="wipe(left)">
                                      <p:cBhvr>
                                        <p:cTn id="47" dur="500"/>
                                        <p:tgtEl>
                                          <p:spTgt spid="13621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6212"/>
                                        </p:tgtEl>
                                        <p:attrNameLst>
                                          <p:attrName>style.visibility</p:attrName>
                                        </p:attrNameLst>
                                      </p:cBhvr>
                                      <p:to>
                                        <p:strVal val="visible"/>
                                      </p:to>
                                    </p:set>
                                    <p:animEffect transition="in" filter="wipe(left)">
                                      <p:cBhvr>
                                        <p:cTn id="52" dur="500"/>
                                        <p:tgtEl>
                                          <p:spTgt spid="13621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6210"/>
                                        </p:tgtEl>
                                        <p:attrNameLst>
                                          <p:attrName>style.visibility</p:attrName>
                                        </p:attrNameLst>
                                      </p:cBhvr>
                                      <p:to>
                                        <p:strVal val="visible"/>
                                      </p:to>
                                    </p:set>
                                    <p:animEffect transition="in" filter="wipe(left)">
                                      <p:cBhvr>
                                        <p:cTn id="57" dur="500"/>
                                        <p:tgtEl>
                                          <p:spTgt spid="13621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6218"/>
                                        </p:tgtEl>
                                        <p:attrNameLst>
                                          <p:attrName>style.visibility</p:attrName>
                                        </p:attrNameLst>
                                      </p:cBhvr>
                                      <p:to>
                                        <p:strVal val="visible"/>
                                      </p:to>
                                    </p:set>
                                    <p:animEffect transition="in" filter="wipe(left)">
                                      <p:cBhvr>
                                        <p:cTn id="62" dur="500"/>
                                        <p:tgtEl>
                                          <p:spTgt spid="13621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36220"/>
                                        </p:tgtEl>
                                        <p:attrNameLst>
                                          <p:attrName>style.visibility</p:attrName>
                                        </p:attrNameLst>
                                      </p:cBhvr>
                                      <p:to>
                                        <p:strVal val="visible"/>
                                      </p:to>
                                    </p:set>
                                    <p:animEffect transition="in" filter="dissolve">
                                      <p:cBhvr>
                                        <p:cTn id="67" dur="500"/>
                                        <p:tgtEl>
                                          <p:spTgt spid="13622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36221"/>
                                        </p:tgtEl>
                                        <p:attrNameLst>
                                          <p:attrName>style.visibility</p:attrName>
                                        </p:attrNameLst>
                                      </p:cBhvr>
                                      <p:to>
                                        <p:strVal val="visible"/>
                                      </p:to>
                                    </p:set>
                                    <p:animEffect transition="in" filter="wipe(left)">
                                      <p:cBhvr>
                                        <p:cTn id="72" dur="500"/>
                                        <p:tgtEl>
                                          <p:spTgt spid="13622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36219"/>
                                        </p:tgtEl>
                                        <p:attrNameLst>
                                          <p:attrName>style.visibility</p:attrName>
                                        </p:attrNameLst>
                                      </p:cBhvr>
                                      <p:to>
                                        <p:strVal val="visible"/>
                                      </p:to>
                                    </p:set>
                                    <p:animEffect transition="in" filter="wipe(left)">
                                      <p:cBhvr>
                                        <p:cTn id="77" dur="500"/>
                                        <p:tgtEl>
                                          <p:spTgt spid="13621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36209"/>
                                        </p:tgtEl>
                                        <p:attrNameLst>
                                          <p:attrName>style.visibility</p:attrName>
                                        </p:attrNameLst>
                                      </p:cBhvr>
                                      <p:to>
                                        <p:strVal val="visible"/>
                                      </p:to>
                                    </p:set>
                                    <p:animEffect transition="in" filter="wipe(left)">
                                      <p:cBhvr>
                                        <p:cTn id="82" dur="500"/>
                                        <p:tgtEl>
                                          <p:spTgt spid="13620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36214"/>
                                        </p:tgtEl>
                                        <p:attrNameLst>
                                          <p:attrName>style.visibility</p:attrName>
                                        </p:attrNameLst>
                                      </p:cBhvr>
                                      <p:to>
                                        <p:strVal val="visible"/>
                                      </p:to>
                                    </p:set>
                                    <p:animEffect transition="in" filter="wipe(left)">
                                      <p:cBhvr>
                                        <p:cTn id="87" dur="500"/>
                                        <p:tgtEl>
                                          <p:spTgt spid="136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8" grpId="0"/>
      <p:bldP spid="136199" grpId="0"/>
      <p:bldP spid="136203" grpId="0" animBg="1"/>
      <p:bldP spid="136204" grpId="0" animBg="1"/>
      <p:bldP spid="136205" grpId="0" animBg="1"/>
      <p:bldP spid="136206" grpId="0"/>
      <p:bldP spid="136207" grpId="0"/>
      <p:bldP spid="136208" grpId="0"/>
      <p:bldP spid="136209" grpId="0" animBg="1"/>
      <p:bldP spid="136210" grpId="0"/>
      <p:bldP spid="136211" grpId="0"/>
      <p:bldP spid="136212" grpId="0"/>
      <p:bldP spid="136214" grpId="0"/>
      <p:bldP spid="136218" grpId="0"/>
      <p:bldP spid="136219" grpId="0"/>
      <p:bldP spid="136220" grpId="0" animBg="1"/>
      <p:bldP spid="13622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8" name="Text Box 4"/>
          <p:cNvSpPr txBox="1">
            <a:spLocks noChangeArrowheads="1"/>
          </p:cNvSpPr>
          <p:nvPr/>
        </p:nvSpPr>
        <p:spPr bwMode="auto">
          <a:xfrm>
            <a:off x="566738" y="458788"/>
            <a:ext cx="2700337"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hlink"/>
                </a:solidFill>
              </a:rPr>
              <a:t>经典物理的回答：</a:t>
            </a:r>
          </a:p>
        </p:txBody>
      </p:sp>
      <p:sp>
        <p:nvSpPr>
          <p:cNvPr id="205829" name="Text Box 5"/>
          <p:cNvSpPr txBox="1">
            <a:spLocks noChangeArrowheads="1"/>
          </p:cNvSpPr>
          <p:nvPr/>
        </p:nvSpPr>
        <p:spPr bwMode="auto">
          <a:xfrm>
            <a:off x="747713" y="863600"/>
            <a:ext cx="7650162" cy="933450"/>
          </a:xfrm>
          <a:prstGeom prst="rect">
            <a:avLst/>
          </a:prstGeom>
          <a:noFill/>
          <a:ln w="9525">
            <a:noFill/>
            <a:miter lim="800000"/>
            <a:headEnd/>
            <a:tailEnd/>
          </a:ln>
          <a:effectLst/>
        </p:spPr>
        <p:txBody>
          <a:bodyPr>
            <a:spAutoFit/>
          </a:bodyPr>
          <a:lstStyle/>
          <a:p>
            <a:pPr>
              <a:lnSpc>
                <a:spcPct val="115000"/>
              </a:lnSpc>
            </a:pPr>
            <a:r>
              <a:rPr lang="en-US" altLang="zh-CN"/>
              <a:t>       </a:t>
            </a:r>
            <a:r>
              <a:rPr lang="zh-CN" altLang="en-US" b="1">
                <a:solidFill>
                  <a:schemeClr val="bg2"/>
                </a:solidFill>
                <a:latin typeface="宋体" charset="-122"/>
              </a:rPr>
              <a:t>粒子无法越过此高度进入</a:t>
            </a:r>
            <a:r>
              <a:rPr lang="en-US" altLang="zh-CN" b="1" i="1">
                <a:solidFill>
                  <a:schemeClr val="bg2"/>
                </a:solidFill>
              </a:rPr>
              <a:t>x</a:t>
            </a:r>
            <a:r>
              <a:rPr lang="en-US" altLang="zh-CN" b="1">
                <a:solidFill>
                  <a:schemeClr val="bg2"/>
                </a:solidFill>
              </a:rPr>
              <a:t>&gt;0</a:t>
            </a:r>
            <a:r>
              <a:rPr lang="zh-CN" altLang="en-US" b="1">
                <a:solidFill>
                  <a:schemeClr val="bg2"/>
                </a:solidFill>
                <a:latin typeface="宋体" charset="-122"/>
              </a:rPr>
              <a:t>的区域，更不能穿过宽度为</a:t>
            </a:r>
            <a:r>
              <a:rPr lang="en-US" altLang="zh-CN" b="1" i="1">
                <a:solidFill>
                  <a:schemeClr val="bg2"/>
                </a:solidFill>
              </a:rPr>
              <a:t>a</a:t>
            </a:r>
            <a:r>
              <a:rPr lang="zh-CN" altLang="en-US" b="1">
                <a:solidFill>
                  <a:schemeClr val="bg2"/>
                </a:solidFill>
                <a:latin typeface="宋体" charset="-122"/>
              </a:rPr>
              <a:t>的势垒进入</a:t>
            </a:r>
            <a:r>
              <a:rPr lang="en-US" altLang="zh-CN" b="1" i="1">
                <a:solidFill>
                  <a:schemeClr val="bg2"/>
                </a:solidFill>
              </a:rPr>
              <a:t>x</a:t>
            </a:r>
            <a:r>
              <a:rPr lang="en-US" altLang="zh-CN" b="1">
                <a:solidFill>
                  <a:schemeClr val="bg2"/>
                </a:solidFill>
              </a:rPr>
              <a:t>&gt;</a:t>
            </a:r>
            <a:r>
              <a:rPr lang="en-US" altLang="zh-CN" b="1" i="1">
                <a:solidFill>
                  <a:schemeClr val="bg2"/>
                </a:solidFill>
              </a:rPr>
              <a:t>a</a:t>
            </a:r>
            <a:r>
              <a:rPr lang="zh-CN" altLang="en-US" b="1">
                <a:solidFill>
                  <a:schemeClr val="bg2"/>
                </a:solidFill>
                <a:latin typeface="宋体" charset="-122"/>
              </a:rPr>
              <a:t>的区域，只能逗留在</a:t>
            </a:r>
            <a:r>
              <a:rPr lang="en-US" altLang="zh-CN" b="1" i="1">
                <a:solidFill>
                  <a:schemeClr val="bg2"/>
                </a:solidFill>
              </a:rPr>
              <a:t>x</a:t>
            </a:r>
            <a:r>
              <a:rPr lang="en-US" altLang="zh-CN" b="1">
                <a:solidFill>
                  <a:schemeClr val="bg2"/>
                </a:solidFill>
              </a:rPr>
              <a:t>&lt;0</a:t>
            </a:r>
            <a:r>
              <a:rPr lang="zh-CN" altLang="en-US" b="1">
                <a:solidFill>
                  <a:schemeClr val="bg2"/>
                </a:solidFill>
                <a:latin typeface="宋体" charset="-122"/>
              </a:rPr>
              <a:t>的区域里。</a:t>
            </a:r>
          </a:p>
        </p:txBody>
      </p:sp>
      <p:sp>
        <p:nvSpPr>
          <p:cNvPr id="205830" name="Text Box 6"/>
          <p:cNvSpPr txBox="1">
            <a:spLocks noChangeArrowheads="1"/>
          </p:cNvSpPr>
          <p:nvPr/>
        </p:nvSpPr>
        <p:spPr bwMode="auto">
          <a:xfrm>
            <a:off x="522288" y="1943100"/>
            <a:ext cx="2700337"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hlink"/>
                </a:solidFill>
              </a:rPr>
              <a:t>量子力学的回答：</a:t>
            </a:r>
          </a:p>
        </p:txBody>
      </p:sp>
      <p:sp>
        <p:nvSpPr>
          <p:cNvPr id="205849" name="Rectangle 25"/>
          <p:cNvSpPr>
            <a:spLocks noChangeArrowheads="1"/>
          </p:cNvSpPr>
          <p:nvPr/>
        </p:nvSpPr>
        <p:spPr bwMode="auto">
          <a:xfrm>
            <a:off x="611188" y="2438400"/>
            <a:ext cx="4725987" cy="1354138"/>
          </a:xfrm>
          <a:prstGeom prst="rect">
            <a:avLst/>
          </a:prstGeom>
          <a:noFill/>
          <a:ln w="9525">
            <a:noFill/>
            <a:miter lim="800000"/>
            <a:headEnd/>
            <a:tailEnd/>
          </a:ln>
          <a:effectLst/>
        </p:spPr>
        <p:txBody>
          <a:bodyPr>
            <a:spAutoFit/>
          </a:bodyPr>
          <a:lstStyle/>
          <a:p>
            <a:pPr marL="457200" indent="-457200">
              <a:lnSpc>
                <a:spcPct val="115000"/>
              </a:lnSpc>
            </a:pPr>
            <a:r>
              <a:rPr lang="en-US" altLang="zh-CN" b="1">
                <a:solidFill>
                  <a:schemeClr val="bg1"/>
                </a:solidFill>
                <a:ea typeface="楷体_GB2312" pitchFamily="49" charset="-122"/>
              </a:rPr>
              <a:t>(1) </a:t>
            </a:r>
            <a:r>
              <a:rPr lang="en-US" altLang="zh-CN" b="1" i="1">
                <a:solidFill>
                  <a:schemeClr val="accent2"/>
                </a:solidFill>
              </a:rPr>
              <a:t>E</a:t>
            </a:r>
            <a:r>
              <a:rPr lang="en-US" altLang="zh-CN" b="1">
                <a:solidFill>
                  <a:schemeClr val="accent2"/>
                </a:solidFill>
              </a:rPr>
              <a:t> &gt; </a:t>
            </a:r>
            <a:r>
              <a:rPr lang="en-US" altLang="zh-CN" b="1" i="1">
                <a:solidFill>
                  <a:schemeClr val="accent2"/>
                </a:solidFill>
              </a:rPr>
              <a:t>U</a:t>
            </a:r>
            <a:r>
              <a:rPr lang="en-US" altLang="zh-CN" b="1" baseline="-20000">
                <a:solidFill>
                  <a:schemeClr val="accent2"/>
                </a:solidFill>
              </a:rPr>
              <a:t>0</a:t>
            </a:r>
            <a:r>
              <a:rPr lang="zh-CN" altLang="en-US" b="1">
                <a:solidFill>
                  <a:schemeClr val="bg2"/>
                </a:solidFill>
              </a:rPr>
              <a:t>时，</a:t>
            </a:r>
            <a:r>
              <a:rPr lang="zh-CN" altLang="en-US" b="1">
                <a:solidFill>
                  <a:schemeClr val="bg1"/>
                </a:solidFill>
              </a:rPr>
              <a:t>入射粒子并非全部透射进入</a:t>
            </a:r>
            <a:r>
              <a:rPr lang="zh-CN" altLang="en-US" b="1">
                <a:solidFill>
                  <a:schemeClr val="bg1"/>
                </a:solidFill>
                <a:ea typeface="楷体_GB2312" pitchFamily="49" charset="-122"/>
              </a:rPr>
              <a:t> </a:t>
            </a:r>
            <a:r>
              <a:rPr lang="en-US" altLang="zh-CN" b="1">
                <a:solidFill>
                  <a:schemeClr val="accent2"/>
                </a:solidFill>
                <a:ea typeface="楷体_GB2312" pitchFamily="49" charset="-122"/>
              </a:rPr>
              <a:t>III</a:t>
            </a:r>
            <a:r>
              <a:rPr lang="en-US" altLang="zh-CN" b="1" i="1">
                <a:solidFill>
                  <a:schemeClr val="bg1"/>
                </a:solidFill>
                <a:ea typeface="楷体_GB2312" pitchFamily="49" charset="-122"/>
              </a:rPr>
              <a:t> </a:t>
            </a:r>
            <a:r>
              <a:rPr lang="zh-CN" altLang="en-US" b="1">
                <a:solidFill>
                  <a:schemeClr val="bg1"/>
                </a:solidFill>
                <a:latin typeface="宋体" charset="-122"/>
              </a:rPr>
              <a:t>区</a:t>
            </a:r>
            <a:r>
              <a:rPr lang="en-US" altLang="zh-CN" b="1">
                <a:solidFill>
                  <a:schemeClr val="bg1"/>
                </a:solidFill>
                <a:latin typeface="宋体" charset="-122"/>
              </a:rPr>
              <a:t>,</a:t>
            </a:r>
            <a:r>
              <a:rPr lang="zh-CN" altLang="en-US" b="1">
                <a:solidFill>
                  <a:schemeClr val="bg1"/>
                </a:solidFill>
                <a:latin typeface="宋体" charset="-122"/>
              </a:rPr>
              <a:t>仍有一定概率被反射回</a:t>
            </a:r>
            <a:r>
              <a:rPr lang="zh-CN" altLang="en-US" b="1">
                <a:solidFill>
                  <a:schemeClr val="accent2"/>
                </a:solidFill>
                <a:ea typeface="楷体_GB2312" pitchFamily="49" charset="-122"/>
              </a:rPr>
              <a:t> </a:t>
            </a:r>
            <a:r>
              <a:rPr lang="en-US" altLang="zh-CN" b="1">
                <a:solidFill>
                  <a:schemeClr val="accent2"/>
                </a:solidFill>
                <a:ea typeface="楷体_GB2312" pitchFamily="49" charset="-122"/>
              </a:rPr>
              <a:t>I</a:t>
            </a:r>
            <a:r>
              <a:rPr lang="en-US" altLang="zh-CN" b="1" i="1">
                <a:solidFill>
                  <a:schemeClr val="accent2"/>
                </a:solidFill>
                <a:ea typeface="楷体_GB2312" pitchFamily="49" charset="-122"/>
              </a:rPr>
              <a:t> </a:t>
            </a:r>
            <a:r>
              <a:rPr lang="zh-CN" altLang="en-US" b="1">
                <a:solidFill>
                  <a:schemeClr val="bg1"/>
                </a:solidFill>
              </a:rPr>
              <a:t>区。</a:t>
            </a:r>
            <a:r>
              <a:rPr lang="zh-CN" altLang="en-US" b="1">
                <a:solidFill>
                  <a:schemeClr val="bg1"/>
                </a:solidFill>
                <a:ea typeface="楷体_GB2312" pitchFamily="49" charset="-122"/>
              </a:rPr>
              <a:t>  </a:t>
            </a:r>
          </a:p>
        </p:txBody>
      </p:sp>
      <p:sp>
        <p:nvSpPr>
          <p:cNvPr id="205850" name="Rectangle 26"/>
          <p:cNvSpPr>
            <a:spLocks noChangeArrowheads="1"/>
          </p:cNvSpPr>
          <p:nvPr/>
        </p:nvSpPr>
        <p:spPr bwMode="auto">
          <a:xfrm>
            <a:off x="611188" y="3878263"/>
            <a:ext cx="4591050" cy="1774825"/>
          </a:xfrm>
          <a:prstGeom prst="rect">
            <a:avLst/>
          </a:prstGeom>
          <a:noFill/>
          <a:ln w="9525">
            <a:noFill/>
            <a:miter lim="800000"/>
            <a:headEnd/>
            <a:tailEnd/>
          </a:ln>
          <a:effectLst/>
        </p:spPr>
        <p:txBody>
          <a:bodyPr>
            <a:spAutoFit/>
          </a:bodyPr>
          <a:lstStyle/>
          <a:p>
            <a:pPr marL="457200" indent="-457200" algn="just">
              <a:lnSpc>
                <a:spcPct val="115000"/>
              </a:lnSpc>
            </a:pPr>
            <a:r>
              <a:rPr lang="en-US" altLang="zh-CN" b="1">
                <a:solidFill>
                  <a:schemeClr val="bg1"/>
                </a:solidFill>
                <a:ea typeface="楷体_GB2312" pitchFamily="49" charset="-122"/>
              </a:rPr>
              <a:t>(2) </a:t>
            </a:r>
            <a:r>
              <a:rPr lang="en-US" altLang="zh-CN" b="1" i="1">
                <a:solidFill>
                  <a:schemeClr val="accent2"/>
                </a:solidFill>
              </a:rPr>
              <a:t>E </a:t>
            </a:r>
            <a:r>
              <a:rPr lang="en-US" altLang="zh-CN" b="1">
                <a:solidFill>
                  <a:schemeClr val="accent2"/>
                </a:solidFill>
              </a:rPr>
              <a:t>&lt; </a:t>
            </a:r>
            <a:r>
              <a:rPr lang="en-US" altLang="zh-CN" b="1" i="1">
                <a:solidFill>
                  <a:schemeClr val="accent2"/>
                </a:solidFill>
              </a:rPr>
              <a:t>U</a:t>
            </a:r>
            <a:r>
              <a:rPr lang="en-US" altLang="zh-CN" b="1" baseline="-20000">
                <a:solidFill>
                  <a:schemeClr val="accent2"/>
                </a:solidFill>
              </a:rPr>
              <a:t>0</a:t>
            </a:r>
            <a:r>
              <a:rPr lang="en-US" altLang="zh-CN" b="1" i="1" baseline="-20000">
                <a:solidFill>
                  <a:schemeClr val="accent2"/>
                </a:solidFill>
              </a:rPr>
              <a:t> </a:t>
            </a:r>
            <a:r>
              <a:rPr lang="zh-CN" altLang="en-US" b="1">
                <a:solidFill>
                  <a:schemeClr val="accent2"/>
                </a:solidFill>
                <a:latin typeface="宋体" charset="-122"/>
              </a:rPr>
              <a:t>时，</a:t>
            </a:r>
            <a:r>
              <a:rPr lang="zh-CN" altLang="en-US" b="1">
                <a:solidFill>
                  <a:srgbClr val="66FFFF"/>
                </a:solidFill>
                <a:latin typeface="宋体" charset="-122"/>
              </a:rPr>
              <a:t> </a:t>
            </a:r>
            <a:r>
              <a:rPr lang="zh-CN" altLang="en-US" b="1">
                <a:solidFill>
                  <a:schemeClr val="bg1"/>
                </a:solidFill>
                <a:latin typeface="宋体" charset="-122"/>
              </a:rPr>
              <a:t>虽然粒子总能量小于势垒高度，入射粒子仍可能穿过势垒进入</a:t>
            </a:r>
            <a:r>
              <a:rPr lang="en-US" altLang="zh-CN" b="1">
                <a:solidFill>
                  <a:schemeClr val="accent2"/>
                </a:solidFill>
                <a:latin typeface="宋体" charset="-122"/>
              </a:rPr>
              <a:t>III </a:t>
            </a:r>
            <a:r>
              <a:rPr lang="zh-CN" altLang="en-US" b="1">
                <a:solidFill>
                  <a:schemeClr val="bg1"/>
                </a:solidFill>
                <a:latin typeface="宋体" charset="-122"/>
              </a:rPr>
              <a:t>区 </a:t>
            </a:r>
            <a:r>
              <a:rPr lang="en-US" altLang="zh-CN" b="1">
                <a:solidFill>
                  <a:srgbClr val="0000FF"/>
                </a:solidFill>
                <a:latin typeface="宋体" charset="-122"/>
                <a:cs typeface="Times New Roman" pitchFamily="18" charset="0"/>
              </a:rPr>
              <a:t>—</a:t>
            </a:r>
            <a:r>
              <a:rPr lang="en-US" altLang="zh-CN" b="1">
                <a:solidFill>
                  <a:srgbClr val="0000FF"/>
                </a:solidFill>
                <a:latin typeface="宋体" charset="-122"/>
              </a:rPr>
              <a:t> </a:t>
            </a:r>
            <a:r>
              <a:rPr lang="zh-CN" altLang="en-US" b="1">
                <a:solidFill>
                  <a:srgbClr val="0000FF"/>
                </a:solidFill>
                <a:latin typeface="宋体" charset="-122"/>
              </a:rPr>
              <a:t>隧道效应。</a:t>
            </a:r>
          </a:p>
        </p:txBody>
      </p:sp>
      <p:grpSp>
        <p:nvGrpSpPr>
          <p:cNvPr id="205855" name="Group 31"/>
          <p:cNvGrpSpPr>
            <a:grpSpLocks/>
          </p:cNvGrpSpPr>
          <p:nvPr/>
        </p:nvGrpSpPr>
        <p:grpSpPr bwMode="auto">
          <a:xfrm>
            <a:off x="5092700" y="1836738"/>
            <a:ext cx="3733800" cy="3392487"/>
            <a:chOff x="3208" y="1157"/>
            <a:chExt cx="2352" cy="2137"/>
          </a:xfrm>
        </p:grpSpPr>
        <p:pic>
          <p:nvPicPr>
            <p:cNvPr id="57353" name="Picture 7" descr="隧道效应1"/>
            <p:cNvPicPr>
              <a:picLocks noChangeAspect="1" noChangeArrowheads="1"/>
            </p:cNvPicPr>
            <p:nvPr/>
          </p:nvPicPr>
          <p:blipFill>
            <a:blip r:embed="rId3" cstate="print"/>
            <a:srcRect/>
            <a:stretch>
              <a:fillRect/>
            </a:stretch>
          </p:blipFill>
          <p:spPr bwMode="auto">
            <a:xfrm>
              <a:off x="3438" y="1886"/>
              <a:ext cx="2016" cy="1025"/>
            </a:xfrm>
            <a:prstGeom prst="rect">
              <a:avLst/>
            </a:prstGeom>
            <a:noFill/>
            <a:ln w="9525">
              <a:noFill/>
              <a:miter lim="800000"/>
              <a:headEnd/>
              <a:tailEnd/>
            </a:ln>
          </p:spPr>
        </p:pic>
        <p:sp>
          <p:nvSpPr>
            <p:cNvPr id="57354" name="Rectangle 8"/>
            <p:cNvSpPr>
              <a:spLocks noChangeArrowheads="1"/>
            </p:cNvSpPr>
            <p:nvPr/>
          </p:nvSpPr>
          <p:spPr bwMode="auto">
            <a:xfrm>
              <a:off x="4014" y="1598"/>
              <a:ext cx="480" cy="1248"/>
            </a:xfrm>
            <a:prstGeom prst="rect">
              <a:avLst/>
            </a:prstGeom>
            <a:solidFill>
              <a:srgbClr val="000099">
                <a:alpha val="16862"/>
              </a:srgbClr>
            </a:solidFill>
            <a:ln w="9525">
              <a:solidFill>
                <a:schemeClr val="hlink"/>
              </a:solidFill>
              <a:miter lim="800000"/>
              <a:headEnd/>
              <a:tailEnd/>
            </a:ln>
            <a:effectLst/>
          </p:spPr>
          <p:txBody>
            <a:bodyPr wrap="none" anchor="ctr"/>
            <a:lstStyle/>
            <a:p>
              <a:endParaRPr lang="zh-CN" altLang="en-US"/>
            </a:p>
          </p:txBody>
        </p:sp>
        <p:sp>
          <p:nvSpPr>
            <p:cNvPr id="57355" name="Line 9"/>
            <p:cNvSpPr>
              <a:spLocks noChangeShapeType="1"/>
            </p:cNvSpPr>
            <p:nvPr/>
          </p:nvSpPr>
          <p:spPr bwMode="auto">
            <a:xfrm flipV="1">
              <a:off x="3208" y="2846"/>
              <a:ext cx="2198" cy="0"/>
            </a:xfrm>
            <a:prstGeom prst="line">
              <a:avLst/>
            </a:prstGeom>
            <a:noFill/>
            <a:ln w="19050">
              <a:solidFill>
                <a:srgbClr val="00FFFF"/>
              </a:solidFill>
              <a:round/>
              <a:headEnd/>
              <a:tailEnd type="triangle" w="med" len="med"/>
            </a:ln>
            <a:effectLst/>
          </p:spPr>
          <p:txBody>
            <a:bodyPr/>
            <a:lstStyle/>
            <a:p>
              <a:endParaRPr lang="zh-CN" altLang="en-US"/>
            </a:p>
          </p:txBody>
        </p:sp>
        <p:sp>
          <p:nvSpPr>
            <p:cNvPr id="57356" name="Line 10"/>
            <p:cNvSpPr>
              <a:spLocks noChangeShapeType="1"/>
            </p:cNvSpPr>
            <p:nvPr/>
          </p:nvSpPr>
          <p:spPr bwMode="auto">
            <a:xfrm flipV="1">
              <a:off x="4014" y="1157"/>
              <a:ext cx="0" cy="1689"/>
            </a:xfrm>
            <a:prstGeom prst="line">
              <a:avLst/>
            </a:prstGeom>
            <a:noFill/>
            <a:ln w="19050">
              <a:solidFill>
                <a:srgbClr val="00FFFF"/>
              </a:solidFill>
              <a:round/>
              <a:headEnd/>
              <a:tailEnd type="triangle" w="med" len="med"/>
            </a:ln>
            <a:effectLst/>
          </p:spPr>
          <p:txBody>
            <a:bodyPr/>
            <a:lstStyle/>
            <a:p>
              <a:endParaRPr lang="zh-CN" altLang="en-US"/>
            </a:p>
          </p:txBody>
        </p:sp>
        <p:sp>
          <p:nvSpPr>
            <p:cNvPr id="57357" name="Text Box 11"/>
            <p:cNvSpPr txBox="1">
              <a:spLocks noChangeArrowheads="1"/>
            </p:cNvSpPr>
            <p:nvPr/>
          </p:nvSpPr>
          <p:spPr bwMode="auto">
            <a:xfrm>
              <a:off x="3907" y="2783"/>
              <a:ext cx="1008" cy="288"/>
            </a:xfrm>
            <a:prstGeom prst="rect">
              <a:avLst/>
            </a:prstGeom>
            <a:noFill/>
            <a:ln w="9525">
              <a:noFill/>
              <a:miter lim="800000"/>
              <a:headEnd/>
              <a:tailEnd/>
            </a:ln>
            <a:effectLst/>
          </p:spPr>
          <p:txBody>
            <a:bodyPr>
              <a:spAutoFit/>
            </a:bodyPr>
            <a:lstStyle/>
            <a:p>
              <a:r>
                <a:rPr lang="en-US" altLang="zh-CN" sz="2000">
                  <a:solidFill>
                    <a:schemeClr val="bg1"/>
                  </a:solidFill>
                </a:rPr>
                <a:t>0</a:t>
              </a:r>
              <a:r>
                <a:rPr lang="en-US" altLang="zh-CN" i="1">
                  <a:solidFill>
                    <a:schemeClr val="bg1"/>
                  </a:solidFill>
                </a:rPr>
                <a:t>         a</a:t>
              </a:r>
            </a:p>
          </p:txBody>
        </p:sp>
        <p:sp>
          <p:nvSpPr>
            <p:cNvPr id="57358" name="Text Box 12"/>
            <p:cNvSpPr txBox="1">
              <a:spLocks noChangeArrowheads="1"/>
            </p:cNvSpPr>
            <p:nvPr/>
          </p:nvSpPr>
          <p:spPr bwMode="auto">
            <a:xfrm>
              <a:off x="4014" y="1310"/>
              <a:ext cx="319" cy="288"/>
            </a:xfrm>
            <a:prstGeom prst="rect">
              <a:avLst/>
            </a:prstGeom>
            <a:noFill/>
            <a:ln w="9525">
              <a:noFill/>
              <a:miter lim="800000"/>
              <a:headEnd/>
              <a:tailEnd/>
            </a:ln>
            <a:effectLst/>
          </p:spPr>
          <p:txBody>
            <a:bodyPr wrap="none">
              <a:spAutoFit/>
            </a:bodyPr>
            <a:lstStyle/>
            <a:p>
              <a:r>
                <a:rPr lang="en-US" altLang="zh-CN" b="1" i="1">
                  <a:solidFill>
                    <a:schemeClr val="bg1"/>
                  </a:solidFill>
                </a:rPr>
                <a:t>U</a:t>
              </a:r>
              <a:r>
                <a:rPr lang="en-US" altLang="zh-CN" b="1" baseline="-20000">
                  <a:solidFill>
                    <a:schemeClr val="bg1"/>
                  </a:solidFill>
                </a:rPr>
                <a:t>0</a:t>
              </a:r>
              <a:endParaRPr lang="en-US" altLang="zh-CN" b="1">
                <a:solidFill>
                  <a:schemeClr val="bg1"/>
                </a:solidFill>
              </a:endParaRPr>
            </a:p>
          </p:txBody>
        </p:sp>
        <p:sp>
          <p:nvSpPr>
            <p:cNvPr id="57359" name="Text Box 13"/>
            <p:cNvSpPr txBox="1">
              <a:spLocks noChangeArrowheads="1"/>
            </p:cNvSpPr>
            <p:nvPr/>
          </p:nvSpPr>
          <p:spPr bwMode="auto">
            <a:xfrm>
              <a:off x="3342" y="1646"/>
              <a:ext cx="2218" cy="288"/>
            </a:xfrm>
            <a:prstGeom prst="rect">
              <a:avLst/>
            </a:prstGeom>
            <a:noFill/>
            <a:ln w="9525">
              <a:noFill/>
              <a:miter lim="800000"/>
              <a:headEnd/>
              <a:tailEnd/>
            </a:ln>
            <a:effectLst/>
          </p:spPr>
          <p:txBody>
            <a:bodyPr>
              <a:spAutoFit/>
            </a:bodyPr>
            <a:lstStyle/>
            <a:p>
              <a:r>
                <a:rPr lang="en-US" altLang="zh-CN">
                  <a:solidFill>
                    <a:schemeClr val="bg1"/>
                  </a:solidFill>
                  <a:latin typeface="楷体_GB2312" pitchFamily="49" charset="-122"/>
                  <a:ea typeface="楷体_GB2312" pitchFamily="49" charset="-122"/>
                </a:rPr>
                <a:t>Ⅰ      Ⅱ        </a:t>
              </a:r>
              <a:r>
                <a:rPr lang="en-US" altLang="zh-CN">
                  <a:solidFill>
                    <a:schemeClr val="bg1"/>
                  </a:solidFill>
                  <a:ea typeface="楷体_GB2312" pitchFamily="49" charset="-122"/>
                </a:rPr>
                <a:t>Ⅲ</a:t>
              </a:r>
            </a:p>
          </p:txBody>
        </p:sp>
        <p:sp>
          <p:nvSpPr>
            <p:cNvPr id="57360" name="Line 14"/>
            <p:cNvSpPr>
              <a:spLocks noChangeShapeType="1"/>
            </p:cNvSpPr>
            <p:nvPr/>
          </p:nvSpPr>
          <p:spPr bwMode="auto">
            <a:xfrm>
              <a:off x="3294" y="2357"/>
              <a:ext cx="2112" cy="0"/>
            </a:xfrm>
            <a:prstGeom prst="line">
              <a:avLst/>
            </a:prstGeom>
            <a:noFill/>
            <a:ln w="6350">
              <a:solidFill>
                <a:schemeClr val="hlink"/>
              </a:solidFill>
              <a:round/>
              <a:headEnd/>
              <a:tailEnd/>
            </a:ln>
            <a:effectLst/>
          </p:spPr>
          <p:txBody>
            <a:bodyPr/>
            <a:lstStyle/>
            <a:p>
              <a:endParaRPr lang="zh-CN" altLang="en-US"/>
            </a:p>
          </p:txBody>
        </p:sp>
        <p:sp>
          <p:nvSpPr>
            <p:cNvPr id="57361" name="Rectangle 15"/>
            <p:cNvSpPr>
              <a:spLocks noChangeArrowheads="1"/>
            </p:cNvSpPr>
            <p:nvPr/>
          </p:nvSpPr>
          <p:spPr bwMode="auto">
            <a:xfrm>
              <a:off x="3238" y="2119"/>
              <a:ext cx="244" cy="288"/>
            </a:xfrm>
            <a:prstGeom prst="rect">
              <a:avLst/>
            </a:prstGeom>
            <a:noFill/>
            <a:ln w="9525">
              <a:noFill/>
              <a:miter lim="800000"/>
              <a:headEnd/>
              <a:tailEnd/>
            </a:ln>
            <a:effectLst/>
          </p:spPr>
          <p:txBody>
            <a:bodyPr wrap="none">
              <a:spAutoFit/>
            </a:bodyPr>
            <a:lstStyle/>
            <a:p>
              <a:r>
                <a:rPr lang="en-US" altLang="zh-CN" b="1" i="1">
                  <a:solidFill>
                    <a:schemeClr val="tx2"/>
                  </a:solidFill>
                </a:rPr>
                <a:t>E</a:t>
              </a:r>
            </a:p>
          </p:txBody>
        </p:sp>
        <p:sp>
          <p:nvSpPr>
            <p:cNvPr id="57362" name="Line 16"/>
            <p:cNvSpPr>
              <a:spLocks noChangeShapeType="1"/>
            </p:cNvSpPr>
            <p:nvPr/>
          </p:nvSpPr>
          <p:spPr bwMode="auto">
            <a:xfrm>
              <a:off x="3448" y="2165"/>
              <a:ext cx="528" cy="0"/>
            </a:xfrm>
            <a:prstGeom prst="line">
              <a:avLst/>
            </a:prstGeom>
            <a:noFill/>
            <a:ln w="76200">
              <a:solidFill>
                <a:schemeClr val="accent1"/>
              </a:solidFill>
              <a:round/>
              <a:headEnd/>
              <a:tailEnd type="triangle" w="med" len="med"/>
            </a:ln>
            <a:effectLst/>
          </p:spPr>
          <p:txBody>
            <a:bodyPr/>
            <a:lstStyle/>
            <a:p>
              <a:endParaRPr lang="zh-CN" altLang="en-US"/>
            </a:p>
          </p:txBody>
        </p:sp>
        <p:grpSp>
          <p:nvGrpSpPr>
            <p:cNvPr id="57363" name="Group 17"/>
            <p:cNvGrpSpPr>
              <a:grpSpLocks/>
            </p:cNvGrpSpPr>
            <p:nvPr/>
          </p:nvGrpSpPr>
          <p:grpSpPr bwMode="auto">
            <a:xfrm>
              <a:off x="3400" y="2165"/>
              <a:ext cx="1728" cy="288"/>
              <a:chOff x="3552" y="1152"/>
              <a:chExt cx="1728" cy="288"/>
            </a:xfrm>
          </p:grpSpPr>
          <p:sp>
            <p:nvSpPr>
              <p:cNvPr id="57370" name="Line 18"/>
              <p:cNvSpPr>
                <a:spLocks noChangeShapeType="1"/>
              </p:cNvSpPr>
              <p:nvPr/>
            </p:nvSpPr>
            <p:spPr bwMode="auto">
              <a:xfrm>
                <a:off x="4752" y="1152"/>
                <a:ext cx="528" cy="0"/>
              </a:xfrm>
              <a:prstGeom prst="line">
                <a:avLst/>
              </a:prstGeom>
              <a:noFill/>
              <a:ln w="38100">
                <a:solidFill>
                  <a:schemeClr val="accent1"/>
                </a:solidFill>
                <a:round/>
                <a:headEnd/>
                <a:tailEnd type="triangle" w="med" len="lg"/>
              </a:ln>
              <a:effectLst/>
            </p:spPr>
            <p:txBody>
              <a:bodyPr/>
              <a:lstStyle/>
              <a:p>
                <a:endParaRPr lang="zh-CN" altLang="en-US"/>
              </a:p>
            </p:txBody>
          </p:sp>
          <p:sp>
            <p:nvSpPr>
              <p:cNvPr id="57371" name="Line 19"/>
              <p:cNvSpPr>
                <a:spLocks noChangeShapeType="1"/>
              </p:cNvSpPr>
              <p:nvPr/>
            </p:nvSpPr>
            <p:spPr bwMode="auto">
              <a:xfrm>
                <a:off x="3552" y="1440"/>
                <a:ext cx="528" cy="0"/>
              </a:xfrm>
              <a:prstGeom prst="line">
                <a:avLst/>
              </a:prstGeom>
              <a:noFill/>
              <a:ln w="38100">
                <a:solidFill>
                  <a:schemeClr val="accent1"/>
                </a:solidFill>
                <a:round/>
                <a:headEnd type="triangle" w="med" len="lg"/>
                <a:tailEnd/>
              </a:ln>
              <a:effectLst/>
            </p:spPr>
            <p:txBody>
              <a:bodyPr/>
              <a:lstStyle/>
              <a:p>
                <a:endParaRPr lang="zh-CN" altLang="en-US"/>
              </a:p>
            </p:txBody>
          </p:sp>
        </p:grpSp>
        <p:graphicFrame>
          <p:nvGraphicFramePr>
            <p:cNvPr id="57364" name="Object 21"/>
            <p:cNvGraphicFramePr>
              <a:graphicFrameLocks noChangeAspect="1"/>
            </p:cNvGraphicFramePr>
            <p:nvPr/>
          </p:nvGraphicFramePr>
          <p:xfrm>
            <a:off x="3645" y="3010"/>
            <a:ext cx="248" cy="284"/>
          </p:xfrm>
          <a:graphic>
            <a:graphicData uri="http://schemas.openxmlformats.org/presentationml/2006/ole">
              <p:oleObj spid="_x0000_s57364" name="公式" r:id="rId4" imgW="146520" imgH="171360" progId="Equation.3">
                <p:embed/>
              </p:oleObj>
            </a:graphicData>
          </a:graphic>
        </p:graphicFrame>
        <p:graphicFrame>
          <p:nvGraphicFramePr>
            <p:cNvPr id="57365" name="Object 22"/>
            <p:cNvGraphicFramePr>
              <a:graphicFrameLocks noChangeAspect="1"/>
            </p:cNvGraphicFramePr>
            <p:nvPr/>
          </p:nvGraphicFramePr>
          <p:xfrm>
            <a:off x="4156" y="2982"/>
            <a:ext cx="264" cy="284"/>
          </p:xfrm>
          <a:graphic>
            <a:graphicData uri="http://schemas.openxmlformats.org/presentationml/2006/ole">
              <p:oleObj spid="_x0000_s57365" name="公式" r:id="rId5" imgW="154800" imgH="171360" progId="Equation.3">
                <p:embed/>
              </p:oleObj>
            </a:graphicData>
          </a:graphic>
        </p:graphicFrame>
        <p:graphicFrame>
          <p:nvGraphicFramePr>
            <p:cNvPr id="57366" name="Object 23"/>
            <p:cNvGraphicFramePr>
              <a:graphicFrameLocks noChangeAspect="1"/>
            </p:cNvGraphicFramePr>
            <p:nvPr/>
          </p:nvGraphicFramePr>
          <p:xfrm>
            <a:off x="4836" y="2982"/>
            <a:ext cx="256" cy="312"/>
          </p:xfrm>
          <a:graphic>
            <a:graphicData uri="http://schemas.openxmlformats.org/presentationml/2006/ole">
              <p:oleObj spid="_x0000_s57366" name="公式" r:id="rId6" imgW="146520" imgH="179280" progId="Equation.3">
                <p:embed/>
              </p:oleObj>
            </a:graphicData>
          </a:graphic>
        </p:graphicFrame>
        <p:sp>
          <p:nvSpPr>
            <p:cNvPr id="57367" name="Line 27"/>
            <p:cNvSpPr>
              <a:spLocks noChangeShapeType="1"/>
            </p:cNvSpPr>
            <p:nvPr/>
          </p:nvSpPr>
          <p:spPr bwMode="auto">
            <a:xfrm flipV="1">
              <a:off x="3730" y="2557"/>
              <a:ext cx="114" cy="482"/>
            </a:xfrm>
            <a:prstGeom prst="line">
              <a:avLst/>
            </a:prstGeom>
            <a:noFill/>
            <a:ln w="12700">
              <a:solidFill>
                <a:schemeClr val="tx2"/>
              </a:solidFill>
              <a:round/>
              <a:headEnd/>
              <a:tailEnd type="triangle" w="lg" len="med"/>
            </a:ln>
            <a:effectLst/>
          </p:spPr>
          <p:txBody>
            <a:bodyPr/>
            <a:lstStyle/>
            <a:p>
              <a:endParaRPr lang="zh-CN" altLang="en-US"/>
            </a:p>
          </p:txBody>
        </p:sp>
        <p:sp>
          <p:nvSpPr>
            <p:cNvPr id="57368" name="Line 28"/>
            <p:cNvSpPr>
              <a:spLocks noChangeShapeType="1"/>
            </p:cNvSpPr>
            <p:nvPr/>
          </p:nvSpPr>
          <p:spPr bwMode="auto">
            <a:xfrm flipH="1" flipV="1">
              <a:off x="4212" y="2188"/>
              <a:ext cx="29" cy="823"/>
            </a:xfrm>
            <a:prstGeom prst="line">
              <a:avLst/>
            </a:prstGeom>
            <a:noFill/>
            <a:ln w="12700">
              <a:solidFill>
                <a:schemeClr val="tx2"/>
              </a:solidFill>
              <a:round/>
              <a:headEnd/>
              <a:tailEnd type="triangle" w="lg" len="med"/>
            </a:ln>
            <a:effectLst/>
          </p:spPr>
          <p:txBody>
            <a:bodyPr/>
            <a:lstStyle/>
            <a:p>
              <a:endParaRPr lang="zh-CN" altLang="en-US"/>
            </a:p>
          </p:txBody>
        </p:sp>
        <p:sp>
          <p:nvSpPr>
            <p:cNvPr id="57369" name="Line 29"/>
            <p:cNvSpPr>
              <a:spLocks noChangeShapeType="1"/>
            </p:cNvSpPr>
            <p:nvPr/>
          </p:nvSpPr>
          <p:spPr bwMode="auto">
            <a:xfrm flipH="1" flipV="1">
              <a:off x="4864" y="2529"/>
              <a:ext cx="57" cy="453"/>
            </a:xfrm>
            <a:prstGeom prst="line">
              <a:avLst/>
            </a:prstGeom>
            <a:noFill/>
            <a:ln w="12700">
              <a:solidFill>
                <a:schemeClr val="tx2"/>
              </a:solidFill>
              <a:round/>
              <a:headEnd/>
              <a:tailEnd type="triangle" w="lg" len="med"/>
            </a:ln>
            <a:effectLst/>
          </p:spPr>
          <p:txBody>
            <a:bodyPr/>
            <a:lstStyle/>
            <a:p>
              <a:endParaRPr lang="zh-CN" altLang="en-US"/>
            </a:p>
          </p:txBody>
        </p:sp>
      </p:grpSp>
      <p:sp>
        <p:nvSpPr>
          <p:cNvPr id="205854" name="Rectangle 30"/>
          <p:cNvSpPr>
            <a:spLocks noChangeArrowheads="1"/>
          </p:cNvSpPr>
          <p:nvPr/>
        </p:nvSpPr>
        <p:spPr bwMode="auto">
          <a:xfrm>
            <a:off x="590550" y="5634038"/>
            <a:ext cx="7851775" cy="933450"/>
          </a:xfrm>
          <a:prstGeom prst="rect">
            <a:avLst/>
          </a:prstGeom>
          <a:noFill/>
          <a:ln w="9525">
            <a:noFill/>
            <a:miter lim="800000"/>
            <a:headEnd/>
            <a:tailEnd/>
          </a:ln>
          <a:effectLst/>
        </p:spPr>
        <p:txBody>
          <a:bodyPr>
            <a:spAutoFit/>
          </a:bodyPr>
          <a:lstStyle/>
          <a:p>
            <a:pPr>
              <a:lnSpc>
                <a:spcPct val="115000"/>
              </a:lnSpc>
            </a:pPr>
            <a:r>
              <a:rPr lang="en-US" altLang="zh-CN" b="1">
                <a:solidFill>
                  <a:schemeClr val="bg1"/>
                </a:solidFill>
              </a:rPr>
              <a:t>(3) </a:t>
            </a:r>
            <a:r>
              <a:rPr lang="zh-CN" altLang="en-US" b="1">
                <a:solidFill>
                  <a:schemeClr val="bg1"/>
                </a:solidFill>
                <a:latin typeface="宋体" charset="-122"/>
              </a:rPr>
              <a:t>透射系数</a:t>
            </a:r>
            <a:r>
              <a:rPr lang="en-US" altLang="zh-CN" b="1" i="1">
                <a:solidFill>
                  <a:schemeClr val="accent2"/>
                </a:solidFill>
              </a:rPr>
              <a:t>T</a:t>
            </a:r>
            <a:r>
              <a:rPr lang="en-US" altLang="zh-CN" b="1" i="1">
                <a:solidFill>
                  <a:srgbClr val="66FFFF"/>
                </a:solidFill>
              </a:rPr>
              <a:t> </a:t>
            </a:r>
            <a:r>
              <a:rPr lang="zh-CN" altLang="en-US" b="1">
                <a:solidFill>
                  <a:schemeClr val="bg1"/>
                </a:solidFill>
                <a:latin typeface="宋体" charset="-122"/>
              </a:rPr>
              <a:t>随势垒宽度</a:t>
            </a:r>
            <a:r>
              <a:rPr lang="en-US" altLang="zh-CN" b="1" i="1">
                <a:solidFill>
                  <a:schemeClr val="accent2"/>
                </a:solidFill>
              </a:rPr>
              <a:t>a</a:t>
            </a:r>
            <a:r>
              <a:rPr lang="zh-CN" altLang="en-US" b="1">
                <a:solidFill>
                  <a:schemeClr val="bg1"/>
                </a:solidFill>
                <a:latin typeface="宋体" charset="-122"/>
              </a:rPr>
              <a:t>、粒子质量</a:t>
            </a:r>
            <a:r>
              <a:rPr lang="en-US" altLang="zh-CN" b="1" i="1">
                <a:solidFill>
                  <a:schemeClr val="accent2"/>
                </a:solidFill>
              </a:rPr>
              <a:t>m</a:t>
            </a:r>
            <a:r>
              <a:rPr lang="zh-CN" altLang="en-US" b="1">
                <a:solidFill>
                  <a:schemeClr val="bg1"/>
                </a:solidFill>
                <a:latin typeface="宋体" charset="-122"/>
              </a:rPr>
              <a:t>和能量差变化，  </a:t>
            </a:r>
          </a:p>
          <a:p>
            <a:pPr>
              <a:lnSpc>
                <a:spcPct val="115000"/>
              </a:lnSpc>
            </a:pPr>
            <a:r>
              <a:rPr lang="zh-CN" altLang="en-US" b="1">
                <a:solidFill>
                  <a:schemeClr val="bg1"/>
                </a:solidFill>
                <a:latin typeface="宋体" charset="-122"/>
              </a:rPr>
              <a:t>   随着势垒的加宽、加高透射系数减小。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828"/>
                                        </p:tgtEl>
                                        <p:attrNameLst>
                                          <p:attrName>style.visibility</p:attrName>
                                        </p:attrNameLst>
                                      </p:cBhvr>
                                      <p:to>
                                        <p:strVal val="visible"/>
                                      </p:to>
                                    </p:set>
                                    <p:animEffect transition="in" filter="wipe(left)">
                                      <p:cBhvr>
                                        <p:cTn id="7" dur="500"/>
                                        <p:tgtEl>
                                          <p:spTgt spid="2058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5829"/>
                                        </p:tgtEl>
                                        <p:attrNameLst>
                                          <p:attrName>style.visibility</p:attrName>
                                        </p:attrNameLst>
                                      </p:cBhvr>
                                      <p:to>
                                        <p:strVal val="visible"/>
                                      </p:to>
                                    </p:set>
                                    <p:animEffect transition="in" filter="wipe(left)">
                                      <p:cBhvr>
                                        <p:cTn id="12" dur="500"/>
                                        <p:tgtEl>
                                          <p:spTgt spid="2058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5830"/>
                                        </p:tgtEl>
                                        <p:attrNameLst>
                                          <p:attrName>style.visibility</p:attrName>
                                        </p:attrNameLst>
                                      </p:cBhvr>
                                      <p:to>
                                        <p:strVal val="visible"/>
                                      </p:to>
                                    </p:set>
                                    <p:animEffect transition="in" filter="wipe(left)">
                                      <p:cBhvr>
                                        <p:cTn id="17" dur="500"/>
                                        <p:tgtEl>
                                          <p:spTgt spid="2058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05855"/>
                                        </p:tgtEl>
                                        <p:attrNameLst>
                                          <p:attrName>style.visibility</p:attrName>
                                        </p:attrNameLst>
                                      </p:cBhvr>
                                      <p:to>
                                        <p:strVal val="visible"/>
                                      </p:to>
                                    </p:set>
                                    <p:animEffect transition="in" filter="wipe(down)">
                                      <p:cBhvr>
                                        <p:cTn id="22" dur="500"/>
                                        <p:tgtEl>
                                          <p:spTgt spid="2058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5849"/>
                                        </p:tgtEl>
                                        <p:attrNameLst>
                                          <p:attrName>style.visibility</p:attrName>
                                        </p:attrNameLst>
                                      </p:cBhvr>
                                      <p:to>
                                        <p:strVal val="visible"/>
                                      </p:to>
                                    </p:set>
                                    <p:animEffect transition="in" filter="wipe(left)">
                                      <p:cBhvr>
                                        <p:cTn id="27" dur="500"/>
                                        <p:tgtEl>
                                          <p:spTgt spid="20584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5850"/>
                                        </p:tgtEl>
                                        <p:attrNameLst>
                                          <p:attrName>style.visibility</p:attrName>
                                        </p:attrNameLst>
                                      </p:cBhvr>
                                      <p:to>
                                        <p:strVal val="visible"/>
                                      </p:to>
                                    </p:set>
                                    <p:animEffect transition="in" filter="wipe(left)">
                                      <p:cBhvr>
                                        <p:cTn id="32" dur="500"/>
                                        <p:tgtEl>
                                          <p:spTgt spid="20585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5854"/>
                                        </p:tgtEl>
                                        <p:attrNameLst>
                                          <p:attrName>style.visibility</p:attrName>
                                        </p:attrNameLst>
                                      </p:cBhvr>
                                      <p:to>
                                        <p:strVal val="visible"/>
                                      </p:to>
                                    </p:set>
                                    <p:animEffect transition="in" filter="wipe(left)">
                                      <p:cBhvr>
                                        <p:cTn id="37" dur="500"/>
                                        <p:tgtEl>
                                          <p:spTgt spid="205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8" grpId="0"/>
      <p:bldP spid="205829" grpId="0"/>
      <p:bldP spid="205830" grpId="0"/>
      <p:bldP spid="205849" grpId="0" autoUpdateAnimBg="0"/>
      <p:bldP spid="205850" grpId="0" autoUpdateAnimBg="0"/>
      <p:bldP spid="205854"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16" descr="s16"/>
          <p:cNvPicPr>
            <a:picLocks noChangeAspect="1" noChangeArrowheads="1"/>
          </p:cNvPicPr>
          <p:nvPr/>
        </p:nvPicPr>
        <p:blipFill>
          <a:blip r:embed="rId3" cstate="print"/>
          <a:srcRect/>
          <a:stretch>
            <a:fillRect/>
          </a:stretch>
        </p:blipFill>
        <p:spPr bwMode="auto">
          <a:xfrm>
            <a:off x="971550" y="549275"/>
            <a:ext cx="4176713" cy="3859213"/>
          </a:xfrm>
          <a:prstGeom prst="rect">
            <a:avLst/>
          </a:prstGeom>
          <a:noFill/>
          <a:ln w="9525">
            <a:noFill/>
            <a:miter lim="800000"/>
            <a:headEnd/>
            <a:tailEnd/>
          </a:ln>
        </p:spPr>
      </p:pic>
      <p:graphicFrame>
        <p:nvGraphicFramePr>
          <p:cNvPr id="200721" name="Object 17"/>
          <p:cNvGraphicFramePr>
            <a:graphicFrameLocks noChangeAspect="1"/>
          </p:cNvGraphicFramePr>
          <p:nvPr/>
        </p:nvGraphicFramePr>
        <p:xfrm>
          <a:off x="4284663" y="2205038"/>
          <a:ext cx="4537075" cy="3825875"/>
        </p:xfrm>
        <a:graphic>
          <a:graphicData uri="http://schemas.openxmlformats.org/presentationml/2006/ole">
            <p:oleObj spid="_x0000_s58371" name="文档" r:id="rId4" imgW="2362200" imgH="1837944" progId="Word.Document.8">
              <p:embed/>
            </p:oleObj>
          </a:graphicData>
        </a:graphic>
      </p:graphicFrame>
      <p:sp>
        <p:nvSpPr>
          <p:cNvPr id="58372" name="Rectangle 18"/>
          <p:cNvSpPr>
            <a:spLocks noChangeArrowheads="1"/>
          </p:cNvSpPr>
          <p:nvPr/>
        </p:nvSpPr>
        <p:spPr bwMode="auto">
          <a:xfrm>
            <a:off x="1331913" y="4724400"/>
            <a:ext cx="2952750" cy="549275"/>
          </a:xfrm>
          <a:prstGeom prst="rect">
            <a:avLst/>
          </a:prstGeom>
          <a:noFill/>
          <a:ln w="9525">
            <a:noFill/>
            <a:miter lim="800000"/>
            <a:headEnd/>
            <a:tailEnd/>
          </a:ln>
          <a:effectLst/>
        </p:spPr>
        <p:txBody>
          <a:bodyPr>
            <a:spAutoFit/>
          </a:bodyPr>
          <a:lstStyle/>
          <a:p>
            <a:pPr marL="442913" indent="-442913">
              <a:lnSpc>
                <a:spcPct val="125000"/>
              </a:lnSpc>
            </a:pPr>
            <a:r>
              <a:rPr lang="zh-CN" altLang="en-US" b="1">
                <a:solidFill>
                  <a:srgbClr val="0000FF"/>
                </a:solidFill>
                <a:ea typeface="楷体_GB2312" pitchFamily="49" charset="-122"/>
              </a:rPr>
              <a:t>（扫描隧道显微镜）</a:t>
            </a:r>
            <a:endParaRPr lang="zh-CN" altLang="en-US" b="1">
              <a:solidFill>
                <a:srgbClr val="0000FF"/>
              </a:solidFill>
              <a:latin typeface="楷体_GB2312" pitchFamily="49" charset="-122"/>
              <a:ea typeface="楷体_GB2312" pitchFamily="49" charset="-122"/>
            </a:endParaRPr>
          </a:p>
        </p:txBody>
      </p:sp>
      <p:sp>
        <p:nvSpPr>
          <p:cNvPr id="5" name="AutoShape 15">
            <a:hlinkClick r:id="rId5" action="ppaction://hlinksldjump" highlightClick="1"/>
          </p:cNvPr>
          <p:cNvSpPr>
            <a:spLocks noChangeAspect="1" noChangeArrowheads="1"/>
          </p:cNvSpPr>
          <p:nvPr/>
        </p:nvSpPr>
        <p:spPr bwMode="auto">
          <a:xfrm>
            <a:off x="8720138" y="6280150"/>
            <a:ext cx="244475" cy="244475"/>
          </a:xfrm>
          <a:prstGeom prst="actionButtonBeginning">
            <a:avLst/>
          </a:prstGeom>
          <a:solidFill>
            <a:srgbClr val="99CCFF"/>
          </a:solidFill>
          <a:ln w="19050">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00721"/>
                                        </p:tgtEl>
                                        <p:attrNameLst>
                                          <p:attrName>style.visibility</p:attrName>
                                        </p:attrNameLst>
                                      </p:cBhvr>
                                      <p:to>
                                        <p:strVal val="visible"/>
                                      </p:to>
                                    </p:set>
                                    <p:animEffect transition="in" filter="wipe(down)">
                                      <p:cBhvr>
                                        <p:cTn id="7" dur="500"/>
                                        <p:tgtEl>
                                          <p:spTgt spid="2007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p:cNvSpPr>
            <a:spLocks noChangeArrowheads="1"/>
          </p:cNvSpPr>
          <p:nvPr/>
        </p:nvSpPr>
        <p:spPr bwMode="auto">
          <a:xfrm>
            <a:off x="657225" y="279400"/>
            <a:ext cx="7772400" cy="609600"/>
          </a:xfrm>
          <a:prstGeom prst="rect">
            <a:avLst/>
          </a:prstGeom>
          <a:noFill/>
          <a:ln w="9525">
            <a:noFill/>
            <a:miter lim="800000"/>
            <a:headEnd/>
            <a:tailEnd/>
          </a:ln>
          <a:effectLst/>
        </p:spPr>
        <p:txBody>
          <a:bodyPr anchor="ctr"/>
          <a:lstStyle/>
          <a:p>
            <a:pPr algn="ctr">
              <a:lnSpc>
                <a:spcPct val="115000"/>
              </a:lnSpc>
            </a:pPr>
            <a:r>
              <a:rPr lang="en-US" altLang="zh-CN" sz="2800" b="1">
                <a:solidFill>
                  <a:srgbClr val="0000FF"/>
                </a:solidFill>
                <a:latin typeface="黑体" pitchFamily="2" charset="-122"/>
                <a:ea typeface="黑体" pitchFamily="2" charset="-122"/>
              </a:rPr>
              <a:t>§</a:t>
            </a:r>
            <a:r>
              <a:rPr lang="en-US" altLang="zh-CN" sz="2800" b="1">
                <a:solidFill>
                  <a:srgbClr val="3333CC"/>
                </a:solidFill>
                <a:latin typeface="黑体" pitchFamily="2" charset="-122"/>
                <a:ea typeface="黑体" pitchFamily="2" charset="-122"/>
              </a:rPr>
              <a:t>13.6  </a:t>
            </a:r>
            <a:r>
              <a:rPr lang="zh-CN" altLang="en-US" sz="2800" b="1">
                <a:solidFill>
                  <a:srgbClr val="3333CC"/>
                </a:solidFill>
                <a:latin typeface="黑体" pitchFamily="2" charset="-122"/>
                <a:ea typeface="黑体" pitchFamily="2" charset="-122"/>
              </a:rPr>
              <a:t>量子力学对氢原子的应用 </a:t>
            </a:r>
          </a:p>
        </p:txBody>
      </p:sp>
      <p:sp>
        <p:nvSpPr>
          <p:cNvPr id="206853" name="Text Box 5"/>
          <p:cNvSpPr txBox="1">
            <a:spLocks noChangeArrowheads="1"/>
          </p:cNvSpPr>
          <p:nvPr/>
        </p:nvSpPr>
        <p:spPr bwMode="auto">
          <a:xfrm>
            <a:off x="250825" y="1058863"/>
            <a:ext cx="3817071" cy="461665"/>
          </a:xfrm>
          <a:prstGeom prst="rect">
            <a:avLst/>
          </a:prstGeom>
          <a:noFill/>
          <a:ln w="9525">
            <a:noFill/>
            <a:miter lim="800000"/>
            <a:headEnd/>
            <a:tailEnd/>
          </a:ln>
          <a:effectLst/>
        </p:spPr>
        <p:txBody>
          <a:bodyPr wrap="none">
            <a:spAutoFit/>
          </a:bodyPr>
          <a:lstStyle/>
          <a:p>
            <a:r>
              <a:rPr lang="en-US" altLang="zh-CN" b="1" dirty="0" smtClean="0">
                <a:solidFill>
                  <a:srgbClr val="3333CC"/>
                </a:solidFill>
                <a:cs typeface="Times New Roman" pitchFamily="18" charset="0"/>
              </a:rPr>
              <a:t>13.6.1</a:t>
            </a:r>
            <a:r>
              <a:rPr lang="en-US" altLang="zh-CN" b="1" dirty="0" smtClean="0">
                <a:solidFill>
                  <a:srgbClr val="3333CC"/>
                </a:solidFill>
                <a:latin typeface="华文新魏" pitchFamily="2" charset="-122"/>
              </a:rPr>
              <a:t> </a:t>
            </a:r>
            <a:r>
              <a:rPr lang="zh-CN" altLang="en-US" b="1" dirty="0" smtClean="0">
                <a:solidFill>
                  <a:srgbClr val="3333CC"/>
                </a:solidFill>
                <a:latin typeface="华文新魏" pitchFamily="2" charset="-122"/>
              </a:rPr>
              <a:t>氢原子</a:t>
            </a:r>
            <a:r>
              <a:rPr lang="zh-CN" altLang="en-US" b="1" dirty="0">
                <a:solidFill>
                  <a:srgbClr val="3333CC"/>
                </a:solidFill>
                <a:latin typeface="华文新魏" pitchFamily="2" charset="-122"/>
              </a:rPr>
              <a:t>的薛定谔方程</a:t>
            </a:r>
          </a:p>
        </p:txBody>
      </p:sp>
      <p:sp>
        <p:nvSpPr>
          <p:cNvPr id="206855" name="Rectangle 7"/>
          <p:cNvSpPr>
            <a:spLocks noChangeArrowheads="1"/>
          </p:cNvSpPr>
          <p:nvPr/>
        </p:nvSpPr>
        <p:spPr bwMode="auto">
          <a:xfrm>
            <a:off x="836613" y="1719263"/>
            <a:ext cx="3554412" cy="457200"/>
          </a:xfrm>
          <a:prstGeom prst="rect">
            <a:avLst/>
          </a:prstGeom>
          <a:noFill/>
          <a:ln w="9525">
            <a:noFill/>
            <a:miter lim="800000"/>
            <a:headEnd/>
            <a:tailEnd/>
          </a:ln>
          <a:effectLst/>
        </p:spPr>
        <p:txBody>
          <a:bodyPr wrap="none">
            <a:spAutoFit/>
          </a:bodyPr>
          <a:lstStyle/>
          <a:p>
            <a:r>
              <a:rPr lang="zh-CN" altLang="en-US" b="1">
                <a:solidFill>
                  <a:schemeClr val="bg2"/>
                </a:solidFill>
              </a:rPr>
              <a:t>氢原子中电子的势能函数</a:t>
            </a:r>
          </a:p>
        </p:txBody>
      </p:sp>
      <p:graphicFrame>
        <p:nvGraphicFramePr>
          <p:cNvPr id="206856" name="Object 8"/>
          <p:cNvGraphicFramePr>
            <a:graphicFrameLocks/>
          </p:cNvGraphicFramePr>
          <p:nvPr/>
        </p:nvGraphicFramePr>
        <p:xfrm>
          <a:off x="4751388" y="1495425"/>
          <a:ext cx="1576387" cy="855663"/>
        </p:xfrm>
        <a:graphic>
          <a:graphicData uri="http://schemas.openxmlformats.org/presentationml/2006/ole">
            <p:oleObj spid="_x0000_s59397" name="公式" r:id="rId3" imgW="1254240" imgH="701280" progId="Equation.3">
              <p:embed/>
            </p:oleObj>
          </a:graphicData>
        </a:graphic>
      </p:graphicFrame>
      <p:graphicFrame>
        <p:nvGraphicFramePr>
          <p:cNvPr id="206857" name="Object 9"/>
          <p:cNvGraphicFramePr>
            <a:graphicFrameLocks/>
          </p:cNvGraphicFramePr>
          <p:nvPr/>
        </p:nvGraphicFramePr>
        <p:xfrm>
          <a:off x="3671888" y="2395538"/>
          <a:ext cx="4697412" cy="825500"/>
        </p:xfrm>
        <a:graphic>
          <a:graphicData uri="http://schemas.openxmlformats.org/presentationml/2006/ole">
            <p:oleObj spid="_x0000_s59398" name="公式" r:id="rId4" imgW="3998520" imgH="693360" progId="Equation.3">
              <p:embed/>
            </p:oleObj>
          </a:graphicData>
        </a:graphic>
      </p:graphicFrame>
      <p:sp>
        <p:nvSpPr>
          <p:cNvPr id="206858" name="Text Box 10"/>
          <p:cNvSpPr txBox="1">
            <a:spLocks noChangeArrowheads="1"/>
          </p:cNvSpPr>
          <p:nvPr/>
        </p:nvSpPr>
        <p:spPr bwMode="auto">
          <a:xfrm>
            <a:off x="881063" y="2613025"/>
            <a:ext cx="4114800"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2"/>
                </a:solidFill>
              </a:rPr>
              <a:t>定态薛定谔方程</a:t>
            </a:r>
          </a:p>
        </p:txBody>
      </p:sp>
      <p:sp>
        <p:nvSpPr>
          <p:cNvPr id="206859" name="Text Box 11"/>
          <p:cNvSpPr txBox="1">
            <a:spLocks noChangeArrowheads="1"/>
          </p:cNvSpPr>
          <p:nvPr/>
        </p:nvSpPr>
        <p:spPr bwMode="auto">
          <a:xfrm>
            <a:off x="927100" y="3698875"/>
            <a:ext cx="7561263" cy="457200"/>
          </a:xfrm>
          <a:prstGeom prst="rect">
            <a:avLst/>
          </a:prstGeom>
          <a:noFill/>
          <a:ln w="9525">
            <a:noFill/>
            <a:miter lim="800000"/>
            <a:headEnd/>
            <a:tailEnd/>
          </a:ln>
          <a:effectLst/>
        </p:spPr>
        <p:txBody>
          <a:bodyPr>
            <a:spAutoFit/>
          </a:bodyPr>
          <a:lstStyle/>
          <a:p>
            <a:pPr>
              <a:buClr>
                <a:srgbClr val="FF9900"/>
              </a:buClr>
              <a:buSzPct val="85000"/>
              <a:buFont typeface="Wingdings" pitchFamily="2" charset="2"/>
              <a:buNone/>
            </a:pPr>
            <a:r>
              <a:rPr lang="zh-CN" altLang="en-US" b="1">
                <a:solidFill>
                  <a:schemeClr val="bg2"/>
                </a:solidFill>
              </a:rPr>
              <a:t>求解上述方程可以得到三个量子化条件和量子数。</a:t>
            </a:r>
            <a:endParaRPr lang="zh-CN" altLang="en-US" b="1">
              <a:solidFill>
                <a:schemeClr val="bg2"/>
              </a:solidFill>
              <a:latin typeface="宋体" charset="-122"/>
            </a:endParaRPr>
          </a:p>
        </p:txBody>
      </p:sp>
      <p:sp>
        <p:nvSpPr>
          <p:cNvPr id="206860" name="Text Box 12"/>
          <p:cNvSpPr txBox="1">
            <a:spLocks noChangeArrowheads="1"/>
          </p:cNvSpPr>
          <p:nvPr/>
        </p:nvSpPr>
        <p:spPr bwMode="auto">
          <a:xfrm>
            <a:off x="341313" y="3203575"/>
            <a:ext cx="5175250" cy="457200"/>
          </a:xfrm>
          <a:prstGeom prst="rect">
            <a:avLst/>
          </a:prstGeom>
          <a:noFill/>
          <a:ln w="9525">
            <a:noFill/>
            <a:miter lim="800000"/>
            <a:headEnd/>
            <a:tailEnd/>
          </a:ln>
          <a:effectLst/>
        </p:spPr>
        <p:txBody>
          <a:bodyPr>
            <a:spAutoFit/>
          </a:bodyPr>
          <a:lstStyle/>
          <a:p>
            <a:pPr>
              <a:spcBef>
                <a:spcPct val="50000"/>
              </a:spcBef>
            </a:pPr>
            <a:r>
              <a:rPr lang="en-US" altLang="zh-CN" b="1" dirty="0" smtClean="0">
                <a:solidFill>
                  <a:srgbClr val="3333CC"/>
                </a:solidFill>
                <a:cs typeface="Times New Roman" pitchFamily="18" charset="0"/>
              </a:rPr>
              <a:t>13.6.2</a:t>
            </a:r>
            <a:r>
              <a:rPr lang="en-US" altLang="zh-CN" b="1" dirty="0" smtClean="0">
                <a:solidFill>
                  <a:srgbClr val="3333CC"/>
                </a:solidFill>
                <a:latin typeface="宋体" charset="-122"/>
              </a:rPr>
              <a:t> </a:t>
            </a:r>
            <a:r>
              <a:rPr lang="zh-CN" altLang="en-US" b="1" dirty="0" smtClean="0">
                <a:solidFill>
                  <a:srgbClr val="3333CC"/>
                </a:solidFill>
                <a:latin typeface="宋体" charset="-122"/>
              </a:rPr>
              <a:t>量子化</a:t>
            </a:r>
            <a:r>
              <a:rPr lang="zh-CN" altLang="en-US" b="1" dirty="0">
                <a:solidFill>
                  <a:srgbClr val="3333CC"/>
                </a:solidFill>
                <a:latin typeface="宋体" charset="-122"/>
              </a:rPr>
              <a:t>条件和量子数 </a:t>
            </a:r>
          </a:p>
        </p:txBody>
      </p:sp>
      <p:sp>
        <p:nvSpPr>
          <p:cNvPr id="206861" name="Text Box 13"/>
          <p:cNvSpPr txBox="1">
            <a:spLocks noChangeArrowheads="1"/>
          </p:cNvSpPr>
          <p:nvPr/>
        </p:nvSpPr>
        <p:spPr bwMode="auto">
          <a:xfrm>
            <a:off x="881063" y="4238625"/>
            <a:ext cx="3124200" cy="457200"/>
          </a:xfrm>
          <a:prstGeom prst="rect">
            <a:avLst/>
          </a:prstGeom>
          <a:noFill/>
          <a:ln w="9525">
            <a:noFill/>
            <a:miter lim="800000"/>
            <a:headEnd/>
            <a:tailEnd/>
          </a:ln>
          <a:effectLst/>
        </p:spPr>
        <p:txBody>
          <a:bodyPr>
            <a:spAutoFit/>
          </a:bodyPr>
          <a:lstStyle/>
          <a:p>
            <a:r>
              <a:rPr lang="en-US" altLang="zh-CN" b="1">
                <a:solidFill>
                  <a:srgbClr val="FF0000"/>
                </a:solidFill>
                <a:latin typeface="宋体" charset="-122"/>
              </a:rPr>
              <a:t>1. </a:t>
            </a:r>
            <a:r>
              <a:rPr lang="zh-CN" altLang="en-US" b="1">
                <a:solidFill>
                  <a:srgbClr val="FF0000"/>
                </a:solidFill>
                <a:latin typeface="宋体" charset="-122"/>
              </a:rPr>
              <a:t>能量量子化</a:t>
            </a:r>
            <a:r>
              <a:rPr lang="zh-CN" altLang="en-US" b="1">
                <a:solidFill>
                  <a:srgbClr val="FF0000"/>
                </a:solidFill>
                <a:ea typeface="楷体_GB2312" pitchFamily="49" charset="-122"/>
              </a:rPr>
              <a:t> </a:t>
            </a:r>
          </a:p>
        </p:txBody>
      </p:sp>
      <p:graphicFrame>
        <p:nvGraphicFramePr>
          <p:cNvPr id="206864" name="Object 16"/>
          <p:cNvGraphicFramePr>
            <a:graphicFrameLocks/>
          </p:cNvGraphicFramePr>
          <p:nvPr/>
        </p:nvGraphicFramePr>
        <p:xfrm>
          <a:off x="2771775" y="4689475"/>
          <a:ext cx="2800350" cy="838200"/>
        </p:xfrm>
        <a:graphic>
          <a:graphicData uri="http://schemas.openxmlformats.org/presentationml/2006/ole">
            <p:oleObj spid="_x0000_s59403" name="公式" r:id="rId5" imgW="2369880" imgH="701280" progId="Equation.3">
              <p:embed/>
            </p:oleObj>
          </a:graphicData>
        </a:graphic>
      </p:graphicFrame>
      <p:graphicFrame>
        <p:nvGraphicFramePr>
          <p:cNvPr id="206865" name="Object 17"/>
          <p:cNvGraphicFramePr>
            <a:graphicFrameLocks/>
          </p:cNvGraphicFramePr>
          <p:nvPr/>
        </p:nvGraphicFramePr>
        <p:xfrm>
          <a:off x="6146800" y="4868863"/>
          <a:ext cx="1704975" cy="368300"/>
        </p:xfrm>
        <a:graphic>
          <a:graphicData uri="http://schemas.openxmlformats.org/presentationml/2006/ole">
            <p:oleObj spid="_x0000_s59404" name="公式" r:id="rId6" imgW="1441440" imgH="301680" progId="Equation.3">
              <p:embed/>
            </p:oleObj>
          </a:graphicData>
        </a:graphic>
      </p:graphicFrame>
      <p:sp>
        <p:nvSpPr>
          <p:cNvPr id="206866" name="Rectangle 18"/>
          <p:cNvSpPr>
            <a:spLocks noChangeArrowheads="1"/>
          </p:cNvSpPr>
          <p:nvPr/>
        </p:nvSpPr>
        <p:spPr bwMode="auto">
          <a:xfrm>
            <a:off x="2366963" y="5678488"/>
            <a:ext cx="4495800" cy="519112"/>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主量子数</a:t>
            </a:r>
            <a:r>
              <a:rPr lang="zh-CN" altLang="en-US" sz="2800" b="1">
                <a:solidFill>
                  <a:srgbClr val="99FFCC"/>
                </a:solidFill>
              </a:rPr>
              <a:t>   </a:t>
            </a:r>
            <a:r>
              <a:rPr lang="en-US" altLang="zh-CN" sz="2800" i="1">
                <a:solidFill>
                  <a:schemeClr val="accent2"/>
                </a:solidFill>
              </a:rPr>
              <a:t>n</a:t>
            </a:r>
            <a:r>
              <a:rPr lang="en-US" altLang="zh-CN" sz="2800" b="1" i="1">
                <a:solidFill>
                  <a:schemeClr val="accent2"/>
                </a:solidFill>
              </a:rPr>
              <a:t> = </a:t>
            </a:r>
            <a:r>
              <a:rPr lang="en-US" altLang="zh-CN" b="1">
                <a:solidFill>
                  <a:schemeClr val="accent2"/>
                </a:solidFill>
              </a:rPr>
              <a:t>1 </a:t>
            </a:r>
            <a:r>
              <a:rPr lang="zh-CN" altLang="en-US" b="1">
                <a:solidFill>
                  <a:schemeClr val="accent2"/>
                </a:solidFill>
              </a:rPr>
              <a:t>，</a:t>
            </a:r>
            <a:r>
              <a:rPr lang="en-US" altLang="zh-CN" b="1">
                <a:solidFill>
                  <a:schemeClr val="accent2"/>
                </a:solidFill>
              </a:rPr>
              <a:t>2 </a:t>
            </a:r>
            <a:r>
              <a:rPr lang="zh-CN" altLang="en-US" b="1">
                <a:solidFill>
                  <a:schemeClr val="accent2"/>
                </a:solidFill>
              </a:rPr>
              <a:t>，</a:t>
            </a:r>
            <a:r>
              <a:rPr lang="en-US" altLang="zh-CN" b="1">
                <a:solidFill>
                  <a:schemeClr val="accent2"/>
                </a:solidFill>
              </a:rPr>
              <a:t>3 </a:t>
            </a:r>
            <a:r>
              <a:rPr lang="zh-CN" altLang="en-US" b="1">
                <a:solidFill>
                  <a:schemeClr val="accent2"/>
                </a:solidFill>
              </a:rPr>
              <a:t>，</a:t>
            </a:r>
            <a:r>
              <a:rPr lang="en-US" altLang="zh-CN" b="1">
                <a:solidFill>
                  <a:schemeClr val="accent2"/>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6853"/>
                                        </p:tgtEl>
                                        <p:attrNameLst>
                                          <p:attrName>style.visibility</p:attrName>
                                        </p:attrNameLst>
                                      </p:cBhvr>
                                      <p:to>
                                        <p:strVal val="visible"/>
                                      </p:to>
                                    </p:set>
                                    <p:anim calcmode="lin" valueType="num">
                                      <p:cBhvr additive="base">
                                        <p:cTn id="7" dur="500" fill="hold"/>
                                        <p:tgtEl>
                                          <p:spTgt spid="206853"/>
                                        </p:tgtEl>
                                        <p:attrNameLst>
                                          <p:attrName>ppt_x</p:attrName>
                                        </p:attrNameLst>
                                      </p:cBhvr>
                                      <p:tavLst>
                                        <p:tav tm="0">
                                          <p:val>
                                            <p:strVal val="0-#ppt_w/2"/>
                                          </p:val>
                                        </p:tav>
                                        <p:tav tm="100000">
                                          <p:val>
                                            <p:strVal val="#ppt_x"/>
                                          </p:val>
                                        </p:tav>
                                      </p:tavLst>
                                    </p:anim>
                                    <p:anim calcmode="lin" valueType="num">
                                      <p:cBhvr additive="base">
                                        <p:cTn id="8" dur="500" fill="hold"/>
                                        <p:tgtEl>
                                          <p:spTgt spid="20685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6855"/>
                                        </p:tgtEl>
                                        <p:attrNameLst>
                                          <p:attrName>style.visibility</p:attrName>
                                        </p:attrNameLst>
                                      </p:cBhvr>
                                      <p:to>
                                        <p:strVal val="visible"/>
                                      </p:to>
                                    </p:set>
                                    <p:anim calcmode="lin" valueType="num">
                                      <p:cBhvr additive="base">
                                        <p:cTn id="13" dur="500" fill="hold"/>
                                        <p:tgtEl>
                                          <p:spTgt spid="206855"/>
                                        </p:tgtEl>
                                        <p:attrNameLst>
                                          <p:attrName>ppt_x</p:attrName>
                                        </p:attrNameLst>
                                      </p:cBhvr>
                                      <p:tavLst>
                                        <p:tav tm="0">
                                          <p:val>
                                            <p:strVal val="0-#ppt_w/2"/>
                                          </p:val>
                                        </p:tav>
                                        <p:tav tm="100000">
                                          <p:val>
                                            <p:strVal val="#ppt_x"/>
                                          </p:val>
                                        </p:tav>
                                      </p:tavLst>
                                    </p:anim>
                                    <p:anim calcmode="lin" valueType="num">
                                      <p:cBhvr additive="base">
                                        <p:cTn id="14" dur="500" fill="hold"/>
                                        <p:tgtEl>
                                          <p:spTgt spid="20685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2" presetClass="entr" presetSubtype="2" fill="hold" nodeType="clickEffect">
                                  <p:stCondLst>
                                    <p:cond delay="0"/>
                                  </p:stCondLst>
                                  <p:childTnLst>
                                    <p:set>
                                      <p:cBhvr>
                                        <p:cTn id="18" dur="1" fill="hold">
                                          <p:stCondLst>
                                            <p:cond delay="0"/>
                                          </p:stCondLst>
                                        </p:cTn>
                                        <p:tgtEl>
                                          <p:spTgt spid="206856"/>
                                        </p:tgtEl>
                                        <p:attrNameLst>
                                          <p:attrName>style.visibility</p:attrName>
                                        </p:attrNameLst>
                                      </p:cBhvr>
                                      <p:to>
                                        <p:strVal val="visible"/>
                                      </p:to>
                                    </p:set>
                                    <p:animEffect transition="in" filter="slide(fromRight)">
                                      <p:cBhvr>
                                        <p:cTn id="19" dur="500"/>
                                        <p:tgtEl>
                                          <p:spTgt spid="20685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06858"/>
                                        </p:tgtEl>
                                        <p:attrNameLst>
                                          <p:attrName>style.visibility</p:attrName>
                                        </p:attrNameLst>
                                      </p:cBhvr>
                                      <p:to>
                                        <p:strVal val="visible"/>
                                      </p:to>
                                    </p:set>
                                    <p:animEffect transition="in" filter="wipe(left)">
                                      <p:cBhvr>
                                        <p:cTn id="24" dur="500"/>
                                        <p:tgtEl>
                                          <p:spTgt spid="20685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06857"/>
                                        </p:tgtEl>
                                        <p:attrNameLst>
                                          <p:attrName>style.visibility</p:attrName>
                                        </p:attrNameLst>
                                      </p:cBhvr>
                                      <p:to>
                                        <p:strVal val="visible"/>
                                      </p:to>
                                    </p:set>
                                    <p:animEffect transition="in" filter="wipe(left)">
                                      <p:cBhvr>
                                        <p:cTn id="29" dur="500"/>
                                        <p:tgtEl>
                                          <p:spTgt spid="20685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06860"/>
                                        </p:tgtEl>
                                        <p:attrNameLst>
                                          <p:attrName>style.visibility</p:attrName>
                                        </p:attrNameLst>
                                      </p:cBhvr>
                                      <p:to>
                                        <p:strVal val="visible"/>
                                      </p:to>
                                    </p:set>
                                    <p:animEffect transition="in" filter="wipe(left)">
                                      <p:cBhvr>
                                        <p:cTn id="34" dur="500"/>
                                        <p:tgtEl>
                                          <p:spTgt spid="20686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06859"/>
                                        </p:tgtEl>
                                        <p:attrNameLst>
                                          <p:attrName>style.visibility</p:attrName>
                                        </p:attrNameLst>
                                      </p:cBhvr>
                                      <p:to>
                                        <p:strVal val="visible"/>
                                      </p:to>
                                    </p:set>
                                    <p:animEffect transition="in" filter="wipe(left)">
                                      <p:cBhvr>
                                        <p:cTn id="39" dur="500"/>
                                        <p:tgtEl>
                                          <p:spTgt spid="20685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06861"/>
                                        </p:tgtEl>
                                        <p:attrNameLst>
                                          <p:attrName>style.visibility</p:attrName>
                                        </p:attrNameLst>
                                      </p:cBhvr>
                                      <p:to>
                                        <p:strVal val="visible"/>
                                      </p:to>
                                    </p:set>
                                    <p:animEffect transition="in" filter="wipe(left)">
                                      <p:cBhvr>
                                        <p:cTn id="44" dur="500"/>
                                        <p:tgtEl>
                                          <p:spTgt spid="206861"/>
                                        </p:tgtEl>
                                      </p:cBhvr>
                                    </p:animEffect>
                                  </p:childTnLst>
                                </p:cTn>
                              </p:par>
                            </p:childTnLst>
                          </p:cTn>
                        </p:par>
                        <p:par>
                          <p:cTn id="45" fill="hold" nodeType="afterGroup">
                            <p:stCondLst>
                              <p:cond delay="500"/>
                            </p:stCondLst>
                            <p:childTnLst>
                              <p:par>
                                <p:cTn id="46" presetID="9" presetClass="entr" presetSubtype="0" fill="hold" nodeType="afterEffect">
                                  <p:stCondLst>
                                    <p:cond delay="0"/>
                                  </p:stCondLst>
                                  <p:childTnLst>
                                    <p:set>
                                      <p:cBhvr>
                                        <p:cTn id="47" dur="1" fill="hold">
                                          <p:stCondLst>
                                            <p:cond delay="0"/>
                                          </p:stCondLst>
                                        </p:cTn>
                                        <p:tgtEl>
                                          <p:spTgt spid="206864"/>
                                        </p:tgtEl>
                                        <p:attrNameLst>
                                          <p:attrName>style.visibility</p:attrName>
                                        </p:attrNameLst>
                                      </p:cBhvr>
                                      <p:to>
                                        <p:strVal val="visible"/>
                                      </p:to>
                                    </p:set>
                                    <p:animEffect transition="in" filter="dissolve">
                                      <p:cBhvr>
                                        <p:cTn id="48" dur="500"/>
                                        <p:tgtEl>
                                          <p:spTgt spid="206864"/>
                                        </p:tgtEl>
                                      </p:cBhvr>
                                    </p:animEffect>
                                  </p:childTnLst>
                                </p:cTn>
                              </p:par>
                            </p:childTnLst>
                          </p:cTn>
                        </p:par>
                        <p:par>
                          <p:cTn id="49" fill="hold" nodeType="afterGroup">
                            <p:stCondLst>
                              <p:cond delay="1000"/>
                            </p:stCondLst>
                            <p:childTnLst>
                              <p:par>
                                <p:cTn id="50" presetID="9" presetClass="entr" presetSubtype="0" fill="hold" nodeType="afterEffect">
                                  <p:stCondLst>
                                    <p:cond delay="0"/>
                                  </p:stCondLst>
                                  <p:childTnLst>
                                    <p:set>
                                      <p:cBhvr>
                                        <p:cTn id="51" dur="1" fill="hold">
                                          <p:stCondLst>
                                            <p:cond delay="0"/>
                                          </p:stCondLst>
                                        </p:cTn>
                                        <p:tgtEl>
                                          <p:spTgt spid="206865"/>
                                        </p:tgtEl>
                                        <p:attrNameLst>
                                          <p:attrName>style.visibility</p:attrName>
                                        </p:attrNameLst>
                                      </p:cBhvr>
                                      <p:to>
                                        <p:strVal val="visible"/>
                                      </p:to>
                                    </p:set>
                                    <p:animEffect transition="in" filter="dissolve">
                                      <p:cBhvr>
                                        <p:cTn id="52" dur="500"/>
                                        <p:tgtEl>
                                          <p:spTgt spid="20686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06866"/>
                                        </p:tgtEl>
                                        <p:attrNameLst>
                                          <p:attrName>style.visibility</p:attrName>
                                        </p:attrNameLst>
                                      </p:cBhvr>
                                      <p:to>
                                        <p:strVal val="visible"/>
                                      </p:to>
                                    </p:set>
                                    <p:animEffect transition="in" filter="dissolve">
                                      <p:cBhvr>
                                        <p:cTn id="57" dur="500"/>
                                        <p:tgtEl>
                                          <p:spTgt spid="206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3" grpId="0" autoUpdateAnimBg="0"/>
      <p:bldP spid="206855" grpId="0" autoUpdateAnimBg="0"/>
      <p:bldP spid="206858" grpId="0" autoUpdateAnimBg="0"/>
      <p:bldP spid="206859" grpId="0"/>
      <p:bldP spid="206860" grpId="0"/>
      <p:bldP spid="206861" grpId="0"/>
      <p:bldP spid="206866"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2"/>
          <p:cNvSpPr txBox="1">
            <a:spLocks noChangeArrowheads="1"/>
          </p:cNvSpPr>
          <p:nvPr/>
        </p:nvSpPr>
        <p:spPr bwMode="auto">
          <a:xfrm>
            <a:off x="395288" y="600075"/>
            <a:ext cx="2781300" cy="457200"/>
          </a:xfrm>
          <a:prstGeom prst="rect">
            <a:avLst/>
          </a:prstGeom>
          <a:noFill/>
          <a:ln w="9525">
            <a:noFill/>
            <a:miter lim="800000"/>
            <a:headEnd/>
            <a:tailEnd/>
          </a:ln>
          <a:effectLst/>
        </p:spPr>
        <p:txBody>
          <a:bodyPr>
            <a:spAutoFit/>
          </a:bodyPr>
          <a:lstStyle/>
          <a:p>
            <a:r>
              <a:rPr lang="en-US" altLang="zh-CN" b="1">
                <a:solidFill>
                  <a:srgbClr val="FF0000"/>
                </a:solidFill>
                <a:latin typeface="宋体" charset="-122"/>
              </a:rPr>
              <a:t>2. </a:t>
            </a:r>
            <a:r>
              <a:rPr lang="zh-CN" altLang="en-US" b="1">
                <a:solidFill>
                  <a:srgbClr val="FF0000"/>
                </a:solidFill>
                <a:latin typeface="宋体" charset="-122"/>
              </a:rPr>
              <a:t>角动量量子化 </a:t>
            </a:r>
          </a:p>
        </p:txBody>
      </p:sp>
      <p:sp>
        <p:nvSpPr>
          <p:cNvPr id="143363" name="Rectangle 3"/>
          <p:cNvSpPr>
            <a:spLocks noChangeArrowheads="1"/>
          </p:cNvSpPr>
          <p:nvPr/>
        </p:nvSpPr>
        <p:spPr bwMode="auto">
          <a:xfrm>
            <a:off x="1547813" y="2576513"/>
            <a:ext cx="6096000"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角量子数</a:t>
            </a:r>
            <a:r>
              <a:rPr lang="zh-CN" altLang="en-US" b="1">
                <a:solidFill>
                  <a:srgbClr val="99FFCC"/>
                </a:solidFill>
              </a:rPr>
              <a:t>      </a:t>
            </a:r>
            <a:r>
              <a:rPr lang="en-US" altLang="zh-CN" b="1" i="1">
                <a:solidFill>
                  <a:schemeClr val="accent2"/>
                </a:solidFill>
              </a:rPr>
              <a:t>l </a:t>
            </a:r>
            <a:r>
              <a:rPr lang="en-US" altLang="zh-CN" b="1">
                <a:solidFill>
                  <a:schemeClr val="accent2"/>
                </a:solidFill>
              </a:rPr>
              <a:t>= 0 </a:t>
            </a:r>
            <a:r>
              <a:rPr lang="zh-CN" altLang="en-US" b="1">
                <a:solidFill>
                  <a:schemeClr val="accent2"/>
                </a:solidFill>
              </a:rPr>
              <a:t>，</a:t>
            </a:r>
            <a:r>
              <a:rPr lang="en-US" altLang="zh-CN" b="1">
                <a:solidFill>
                  <a:schemeClr val="accent2"/>
                </a:solidFill>
              </a:rPr>
              <a:t>1 </a:t>
            </a:r>
            <a:r>
              <a:rPr lang="zh-CN" altLang="en-US" b="1">
                <a:solidFill>
                  <a:schemeClr val="accent2"/>
                </a:solidFill>
              </a:rPr>
              <a:t>，</a:t>
            </a:r>
            <a:r>
              <a:rPr lang="en-US" altLang="zh-CN" b="1">
                <a:solidFill>
                  <a:schemeClr val="accent2"/>
                </a:solidFill>
              </a:rPr>
              <a:t>2 </a:t>
            </a:r>
            <a:r>
              <a:rPr lang="zh-CN" altLang="en-US" b="1">
                <a:solidFill>
                  <a:schemeClr val="accent2"/>
                </a:solidFill>
              </a:rPr>
              <a:t>， </a:t>
            </a:r>
            <a:r>
              <a:rPr lang="en-US" altLang="zh-CN" b="1">
                <a:solidFill>
                  <a:schemeClr val="accent2"/>
                </a:solidFill>
              </a:rPr>
              <a:t>…… , </a:t>
            </a:r>
            <a:r>
              <a:rPr lang="en-US" altLang="zh-CN" b="1" i="1">
                <a:solidFill>
                  <a:schemeClr val="accent2"/>
                </a:solidFill>
              </a:rPr>
              <a:t>n</a:t>
            </a:r>
            <a:r>
              <a:rPr lang="en-US" altLang="zh-CN" b="1">
                <a:solidFill>
                  <a:schemeClr val="accent2"/>
                </a:solidFill>
              </a:rPr>
              <a:t>-1</a:t>
            </a:r>
          </a:p>
        </p:txBody>
      </p:sp>
      <p:graphicFrame>
        <p:nvGraphicFramePr>
          <p:cNvPr id="143364" name="Object 4"/>
          <p:cNvGraphicFramePr>
            <a:graphicFrameLocks noChangeAspect="1"/>
          </p:cNvGraphicFramePr>
          <p:nvPr/>
        </p:nvGraphicFramePr>
        <p:xfrm>
          <a:off x="2727325" y="1854200"/>
          <a:ext cx="1641475" cy="457200"/>
        </p:xfrm>
        <a:graphic>
          <a:graphicData uri="http://schemas.openxmlformats.org/presentationml/2006/ole">
            <p:oleObj spid="_x0000_s60420" name="公式" r:id="rId4" imgW="765360" imgH="203760" progId="Equation.3">
              <p:embed/>
            </p:oleObj>
          </a:graphicData>
        </a:graphic>
      </p:graphicFrame>
      <p:sp>
        <p:nvSpPr>
          <p:cNvPr id="143365" name="Text Box 5"/>
          <p:cNvSpPr txBox="1">
            <a:spLocks noChangeArrowheads="1"/>
          </p:cNvSpPr>
          <p:nvPr/>
        </p:nvSpPr>
        <p:spPr bwMode="auto">
          <a:xfrm>
            <a:off x="488950" y="3454400"/>
            <a:ext cx="3543300" cy="457200"/>
          </a:xfrm>
          <a:prstGeom prst="rect">
            <a:avLst/>
          </a:prstGeom>
          <a:noFill/>
          <a:ln w="9525">
            <a:noFill/>
            <a:miter lim="800000"/>
            <a:headEnd/>
            <a:tailEnd/>
          </a:ln>
          <a:effectLst/>
        </p:spPr>
        <p:txBody>
          <a:bodyPr>
            <a:spAutoFit/>
          </a:bodyPr>
          <a:lstStyle/>
          <a:p>
            <a:r>
              <a:rPr lang="en-US" altLang="zh-CN" b="1">
                <a:solidFill>
                  <a:srgbClr val="FF0000"/>
                </a:solidFill>
                <a:latin typeface="宋体" charset="-122"/>
              </a:rPr>
              <a:t>3. </a:t>
            </a:r>
            <a:r>
              <a:rPr lang="zh-CN" altLang="en-US" b="1">
                <a:solidFill>
                  <a:srgbClr val="FF0000"/>
                </a:solidFill>
                <a:latin typeface="宋体" charset="-122"/>
              </a:rPr>
              <a:t>角动量空间量子化 </a:t>
            </a:r>
          </a:p>
        </p:txBody>
      </p:sp>
      <p:grpSp>
        <p:nvGrpSpPr>
          <p:cNvPr id="143366" name="Group 6"/>
          <p:cNvGrpSpPr>
            <a:grpSpLocks/>
          </p:cNvGrpSpPr>
          <p:nvPr/>
        </p:nvGrpSpPr>
        <p:grpSpPr bwMode="auto">
          <a:xfrm>
            <a:off x="685800" y="1154113"/>
            <a:ext cx="4484688" cy="457200"/>
            <a:chOff x="432" y="777"/>
            <a:chExt cx="2825" cy="288"/>
          </a:xfrm>
        </p:grpSpPr>
        <p:sp>
          <p:nvSpPr>
            <p:cNvPr id="60428" name="Text Box 7"/>
            <p:cNvSpPr txBox="1">
              <a:spLocks noChangeArrowheads="1"/>
            </p:cNvSpPr>
            <p:nvPr/>
          </p:nvSpPr>
          <p:spPr bwMode="auto">
            <a:xfrm>
              <a:off x="432" y="777"/>
              <a:ext cx="2825" cy="288"/>
            </a:xfrm>
            <a:prstGeom prst="rect">
              <a:avLst/>
            </a:prstGeom>
            <a:noFill/>
            <a:ln w="9525">
              <a:noFill/>
              <a:miter lim="800000"/>
              <a:headEnd/>
              <a:tailEnd/>
            </a:ln>
            <a:effectLst/>
          </p:spPr>
          <p:txBody>
            <a:bodyPr wrap="none">
              <a:spAutoFit/>
            </a:bodyPr>
            <a:lstStyle/>
            <a:p>
              <a:r>
                <a:rPr lang="zh-CN" altLang="en-US" b="1">
                  <a:solidFill>
                    <a:schemeClr val="bg1"/>
                  </a:solidFill>
                  <a:latin typeface="楷体_GB2312" pitchFamily="49" charset="-122"/>
                  <a:ea typeface="楷体_GB2312" pitchFamily="49" charset="-122"/>
                </a:rPr>
                <a:t>电子绕核转动的角动量</a:t>
              </a:r>
              <a:r>
                <a:rPr lang="zh-CN" altLang="en-US" b="1">
                  <a:solidFill>
                    <a:schemeClr val="bg1"/>
                  </a:solidFill>
                  <a:ea typeface="楷体_GB2312" pitchFamily="49" charset="-122"/>
                </a:rPr>
                <a:t> </a:t>
              </a:r>
              <a:r>
                <a:rPr lang="en-US" altLang="zh-CN" b="1" i="1">
                  <a:solidFill>
                    <a:schemeClr val="accent2"/>
                  </a:solidFill>
                  <a:ea typeface="楷体_GB2312" pitchFamily="49" charset="-122"/>
                </a:rPr>
                <a:t>L</a:t>
              </a:r>
              <a:r>
                <a:rPr lang="en-US" altLang="zh-CN" b="1" i="1">
                  <a:solidFill>
                    <a:srgbClr val="66FFFF"/>
                  </a:solidFill>
                  <a:ea typeface="楷体_GB2312" pitchFamily="49" charset="-122"/>
                </a:rPr>
                <a:t> </a:t>
              </a:r>
              <a:r>
                <a:rPr lang="zh-CN" altLang="en-US" b="1">
                  <a:solidFill>
                    <a:schemeClr val="bg1"/>
                  </a:solidFill>
                  <a:latin typeface="楷体_GB2312" pitchFamily="49" charset="-122"/>
                  <a:ea typeface="楷体_GB2312" pitchFamily="49" charset="-122"/>
                </a:rPr>
                <a:t>的大小</a:t>
              </a:r>
            </a:p>
          </p:txBody>
        </p:sp>
        <p:sp>
          <p:nvSpPr>
            <p:cNvPr id="60429" name="Line 8"/>
            <p:cNvSpPr>
              <a:spLocks noChangeShapeType="1"/>
            </p:cNvSpPr>
            <p:nvPr/>
          </p:nvSpPr>
          <p:spPr bwMode="auto">
            <a:xfrm>
              <a:off x="2496" y="812"/>
              <a:ext cx="144" cy="0"/>
            </a:xfrm>
            <a:prstGeom prst="line">
              <a:avLst/>
            </a:prstGeom>
            <a:noFill/>
            <a:ln w="12700">
              <a:solidFill>
                <a:srgbClr val="FF6600"/>
              </a:solidFill>
              <a:round/>
              <a:headEnd/>
              <a:tailEnd type="triangle" w="sm" len="med"/>
            </a:ln>
            <a:effectLst/>
          </p:spPr>
          <p:txBody>
            <a:bodyPr/>
            <a:lstStyle/>
            <a:p>
              <a:endParaRPr lang="zh-CN" altLang="en-US"/>
            </a:p>
          </p:txBody>
        </p:sp>
      </p:grpSp>
      <p:grpSp>
        <p:nvGrpSpPr>
          <p:cNvPr id="143369" name="Group 9"/>
          <p:cNvGrpSpPr>
            <a:grpSpLocks/>
          </p:cNvGrpSpPr>
          <p:nvPr/>
        </p:nvGrpSpPr>
        <p:grpSpPr bwMode="auto">
          <a:xfrm>
            <a:off x="817563" y="4183063"/>
            <a:ext cx="4746625" cy="457200"/>
            <a:chOff x="457" y="2208"/>
            <a:chExt cx="2990" cy="288"/>
          </a:xfrm>
        </p:grpSpPr>
        <p:sp>
          <p:nvSpPr>
            <p:cNvPr id="60426" name="Rectangle 10"/>
            <p:cNvSpPr>
              <a:spLocks noChangeArrowheads="1"/>
            </p:cNvSpPr>
            <p:nvPr/>
          </p:nvSpPr>
          <p:spPr bwMode="auto">
            <a:xfrm>
              <a:off x="457" y="2208"/>
              <a:ext cx="2990" cy="288"/>
            </a:xfrm>
            <a:prstGeom prst="rect">
              <a:avLst/>
            </a:prstGeom>
            <a:noFill/>
            <a:ln w="9525">
              <a:noFill/>
              <a:miter lim="800000"/>
              <a:headEnd/>
              <a:tailEnd/>
            </a:ln>
            <a:effectLst/>
          </p:spPr>
          <p:txBody>
            <a:bodyPr wrap="none">
              <a:spAutoFit/>
            </a:bodyPr>
            <a:lstStyle/>
            <a:p>
              <a:r>
                <a:rPr lang="zh-CN" altLang="en-US" b="1">
                  <a:solidFill>
                    <a:schemeClr val="bg1"/>
                  </a:solidFill>
                  <a:ea typeface="楷体_GB2312" pitchFamily="49" charset="-122"/>
                </a:rPr>
                <a:t>角动量</a:t>
              </a:r>
              <a:r>
                <a:rPr lang="zh-CN" altLang="en-US" b="1">
                  <a:solidFill>
                    <a:srgbClr val="FFCC66"/>
                  </a:solidFill>
                  <a:ea typeface="楷体_GB2312" pitchFamily="49" charset="-122"/>
                </a:rPr>
                <a:t> </a:t>
              </a:r>
              <a:r>
                <a:rPr lang="en-US" altLang="zh-CN" b="1" i="1">
                  <a:solidFill>
                    <a:schemeClr val="accent2"/>
                  </a:solidFill>
                  <a:ea typeface="楷体_GB2312" pitchFamily="49" charset="-122"/>
                </a:rPr>
                <a:t>L </a:t>
              </a:r>
              <a:r>
                <a:rPr lang="zh-CN" altLang="en-US" b="1">
                  <a:solidFill>
                    <a:schemeClr val="bg1"/>
                  </a:solidFill>
                  <a:ea typeface="楷体_GB2312" pitchFamily="49" charset="-122"/>
                </a:rPr>
                <a:t>的在外磁场方向</a:t>
              </a:r>
              <a:r>
                <a:rPr lang="en-US" altLang="zh-CN" b="1" i="1">
                  <a:solidFill>
                    <a:schemeClr val="bg1"/>
                  </a:solidFill>
                  <a:ea typeface="楷体_GB2312" pitchFamily="49" charset="-122"/>
                </a:rPr>
                <a:t>Z </a:t>
              </a:r>
              <a:r>
                <a:rPr lang="zh-CN" altLang="en-US" b="1">
                  <a:solidFill>
                    <a:schemeClr val="bg1"/>
                  </a:solidFill>
                  <a:ea typeface="楷体_GB2312" pitchFamily="49" charset="-122"/>
                </a:rPr>
                <a:t>的投影</a:t>
              </a:r>
            </a:p>
          </p:txBody>
        </p:sp>
        <p:sp>
          <p:nvSpPr>
            <p:cNvPr id="60427" name="Line 11"/>
            <p:cNvSpPr>
              <a:spLocks noChangeShapeType="1"/>
            </p:cNvSpPr>
            <p:nvPr/>
          </p:nvSpPr>
          <p:spPr bwMode="auto">
            <a:xfrm>
              <a:off x="1169" y="2256"/>
              <a:ext cx="144" cy="0"/>
            </a:xfrm>
            <a:prstGeom prst="line">
              <a:avLst/>
            </a:prstGeom>
            <a:noFill/>
            <a:ln w="12700">
              <a:solidFill>
                <a:srgbClr val="FF6600"/>
              </a:solidFill>
              <a:round/>
              <a:headEnd/>
              <a:tailEnd type="triangle" w="sm" len="med"/>
            </a:ln>
            <a:effectLst/>
          </p:spPr>
          <p:txBody>
            <a:bodyPr/>
            <a:lstStyle/>
            <a:p>
              <a:endParaRPr lang="zh-CN" altLang="en-US"/>
            </a:p>
          </p:txBody>
        </p:sp>
      </p:grpSp>
      <p:graphicFrame>
        <p:nvGraphicFramePr>
          <p:cNvPr id="143372" name="Object 12"/>
          <p:cNvGraphicFramePr>
            <a:graphicFrameLocks noChangeAspect="1"/>
          </p:cNvGraphicFramePr>
          <p:nvPr/>
        </p:nvGraphicFramePr>
        <p:xfrm>
          <a:off x="3041650" y="4778375"/>
          <a:ext cx="1068388" cy="409575"/>
        </p:xfrm>
        <a:graphic>
          <a:graphicData uri="http://schemas.openxmlformats.org/presentationml/2006/ole">
            <p:oleObj spid="_x0000_s60424" name="公式" r:id="rId5" imgW="496800" imgH="179280" progId="Equation.3">
              <p:embed/>
            </p:oleObj>
          </a:graphicData>
        </a:graphic>
      </p:graphicFrame>
      <p:sp>
        <p:nvSpPr>
          <p:cNvPr id="143373" name="Text Box 13"/>
          <p:cNvSpPr txBox="1">
            <a:spLocks noChangeArrowheads="1"/>
          </p:cNvSpPr>
          <p:nvPr/>
        </p:nvSpPr>
        <p:spPr bwMode="auto">
          <a:xfrm>
            <a:off x="1547813" y="5537200"/>
            <a:ext cx="6172200"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磁量子数</a:t>
            </a:r>
            <a:r>
              <a:rPr lang="zh-CN" altLang="en-US" b="1">
                <a:solidFill>
                  <a:srgbClr val="99FFCC"/>
                </a:solidFill>
              </a:rPr>
              <a:t>      </a:t>
            </a:r>
            <a:r>
              <a:rPr lang="en-US" altLang="zh-CN" b="1" i="1">
                <a:solidFill>
                  <a:schemeClr val="accent2"/>
                </a:solidFill>
              </a:rPr>
              <a:t>m</a:t>
            </a:r>
            <a:r>
              <a:rPr lang="en-US" altLang="zh-CN" b="1" i="1" baseline="-25000">
                <a:solidFill>
                  <a:schemeClr val="accent2"/>
                </a:solidFill>
              </a:rPr>
              <a:t>l</a:t>
            </a:r>
            <a:r>
              <a:rPr lang="en-US" altLang="zh-CN" b="1">
                <a:solidFill>
                  <a:schemeClr val="accent2"/>
                </a:solidFill>
              </a:rPr>
              <a:t> = 0 , </a:t>
            </a:r>
            <a:r>
              <a:rPr lang="en-US" altLang="zh-CN" sz="2000" b="1">
                <a:solidFill>
                  <a:schemeClr val="accent2"/>
                </a:solidFill>
              </a:rPr>
              <a:t>±</a:t>
            </a:r>
            <a:r>
              <a:rPr lang="en-US" altLang="zh-CN" b="1">
                <a:solidFill>
                  <a:schemeClr val="accent2"/>
                </a:solidFill>
              </a:rPr>
              <a:t>1 , </a:t>
            </a:r>
            <a:r>
              <a:rPr lang="en-US" altLang="zh-CN" sz="2000" b="1">
                <a:solidFill>
                  <a:schemeClr val="accent2"/>
                </a:solidFill>
              </a:rPr>
              <a:t>±</a:t>
            </a:r>
            <a:r>
              <a:rPr lang="en-US" altLang="zh-CN" b="1">
                <a:solidFill>
                  <a:schemeClr val="accent2"/>
                </a:solidFill>
              </a:rPr>
              <a:t>2 , …… , </a:t>
            </a:r>
            <a:r>
              <a:rPr lang="en-US" altLang="zh-CN" sz="2000" b="1">
                <a:solidFill>
                  <a:schemeClr val="accent2"/>
                </a:solidFill>
              </a:rPr>
              <a:t>±</a:t>
            </a:r>
            <a:r>
              <a:rPr lang="en-US" altLang="zh-CN" b="1" i="1">
                <a:solidFill>
                  <a:schemeClr val="accent2"/>
                </a:solidFill>
              </a:rPr>
              <a:t>l</a:t>
            </a:r>
            <a:r>
              <a:rPr lang="en-US" altLang="zh-CN" b="1">
                <a:solidFill>
                  <a:schemeClr val="accent2"/>
                </a:solidFill>
              </a:rPr>
              <a:t> </a:t>
            </a: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62"/>
                                        </p:tgtEl>
                                        <p:attrNameLst>
                                          <p:attrName>style.visibility</p:attrName>
                                        </p:attrNameLst>
                                      </p:cBhvr>
                                      <p:to>
                                        <p:strVal val="visible"/>
                                      </p:to>
                                    </p:set>
                                    <p:animEffect transition="in" filter="wipe(left)">
                                      <p:cBhvr>
                                        <p:cTn id="7" dur="500"/>
                                        <p:tgtEl>
                                          <p:spTgt spid="143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143366"/>
                                        </p:tgtEl>
                                        <p:attrNameLst>
                                          <p:attrName>style.visibility</p:attrName>
                                        </p:attrNameLst>
                                      </p:cBhvr>
                                      <p:to>
                                        <p:strVal val="visible"/>
                                      </p:to>
                                    </p:set>
                                  </p:childTnLst>
                                </p:cTn>
                              </p:par>
                            </p:childTnLst>
                          </p:cTn>
                        </p:par>
                        <p:par>
                          <p:cTn id="12" fill="hold" nodeType="afterGroup">
                            <p:stCondLst>
                              <p:cond delay="500"/>
                            </p:stCondLst>
                            <p:childTnLst>
                              <p:par>
                                <p:cTn id="13" presetID="9" presetClass="entr" presetSubtype="0" fill="hold" nodeType="afterEffect">
                                  <p:stCondLst>
                                    <p:cond delay="0"/>
                                  </p:stCondLst>
                                  <p:childTnLst>
                                    <p:set>
                                      <p:cBhvr>
                                        <p:cTn id="14" dur="1" fill="hold">
                                          <p:stCondLst>
                                            <p:cond delay="0"/>
                                          </p:stCondLst>
                                        </p:cTn>
                                        <p:tgtEl>
                                          <p:spTgt spid="143364"/>
                                        </p:tgtEl>
                                        <p:attrNameLst>
                                          <p:attrName>style.visibility</p:attrName>
                                        </p:attrNameLst>
                                      </p:cBhvr>
                                      <p:to>
                                        <p:strVal val="visible"/>
                                      </p:to>
                                    </p:set>
                                    <p:animEffect transition="in" filter="dissolve">
                                      <p:cBhvr>
                                        <p:cTn id="15" dur="500"/>
                                        <p:tgtEl>
                                          <p:spTgt spid="14336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43363"/>
                                        </p:tgtEl>
                                        <p:attrNameLst>
                                          <p:attrName>style.visibility</p:attrName>
                                        </p:attrNameLst>
                                      </p:cBhvr>
                                      <p:to>
                                        <p:strVal val="visible"/>
                                      </p:to>
                                    </p:set>
                                    <p:animEffect transition="in" filter="dissolve">
                                      <p:cBhvr>
                                        <p:cTn id="20" dur="500"/>
                                        <p:tgtEl>
                                          <p:spTgt spid="14336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43365"/>
                                        </p:tgtEl>
                                        <p:attrNameLst>
                                          <p:attrName>style.visibility</p:attrName>
                                        </p:attrNameLst>
                                      </p:cBhvr>
                                      <p:to>
                                        <p:strVal val="visible"/>
                                      </p:to>
                                    </p:set>
                                    <p:animEffect transition="in" filter="dissolve">
                                      <p:cBhvr>
                                        <p:cTn id="25" dur="500"/>
                                        <p:tgtEl>
                                          <p:spTgt spid="14336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43369"/>
                                        </p:tgtEl>
                                        <p:attrNameLst>
                                          <p:attrName>style.visibility</p:attrName>
                                        </p:attrNameLst>
                                      </p:cBhvr>
                                      <p:to>
                                        <p:strVal val="visible"/>
                                      </p:to>
                                    </p:set>
                                    <p:animEffect transition="in" filter="wipe(left)">
                                      <p:cBhvr>
                                        <p:cTn id="30" dur="500"/>
                                        <p:tgtEl>
                                          <p:spTgt spid="143369"/>
                                        </p:tgtEl>
                                      </p:cBhvr>
                                    </p:animEffect>
                                  </p:childTnLst>
                                </p:cTn>
                              </p:par>
                            </p:childTnLst>
                          </p:cTn>
                        </p:par>
                        <p:par>
                          <p:cTn id="31" fill="hold" nodeType="afterGroup">
                            <p:stCondLst>
                              <p:cond delay="500"/>
                            </p:stCondLst>
                            <p:childTnLst>
                              <p:par>
                                <p:cTn id="32" presetID="9" presetClass="entr" presetSubtype="0" fill="hold" nodeType="afterEffect">
                                  <p:stCondLst>
                                    <p:cond delay="0"/>
                                  </p:stCondLst>
                                  <p:childTnLst>
                                    <p:set>
                                      <p:cBhvr>
                                        <p:cTn id="33" dur="1" fill="hold">
                                          <p:stCondLst>
                                            <p:cond delay="0"/>
                                          </p:stCondLst>
                                        </p:cTn>
                                        <p:tgtEl>
                                          <p:spTgt spid="143372"/>
                                        </p:tgtEl>
                                        <p:attrNameLst>
                                          <p:attrName>style.visibility</p:attrName>
                                        </p:attrNameLst>
                                      </p:cBhvr>
                                      <p:to>
                                        <p:strVal val="visible"/>
                                      </p:to>
                                    </p:set>
                                    <p:animEffect transition="in" filter="dissolve">
                                      <p:cBhvr>
                                        <p:cTn id="34" dur="500"/>
                                        <p:tgtEl>
                                          <p:spTgt spid="14337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43373"/>
                                        </p:tgtEl>
                                        <p:attrNameLst>
                                          <p:attrName>style.visibility</p:attrName>
                                        </p:attrNameLst>
                                      </p:cBhvr>
                                      <p:to>
                                        <p:strVal val="visible"/>
                                      </p:to>
                                    </p:set>
                                    <p:animEffect transition="in" filter="dissolve">
                                      <p:cBhvr>
                                        <p:cTn id="39" dur="500"/>
                                        <p:tgtEl>
                                          <p:spTgt spid="143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p:bldP spid="143363" grpId="0" autoUpdateAnimBg="0"/>
      <p:bldP spid="143365" grpId="0" autoUpdateAnimBg="0"/>
      <p:bldP spid="143373"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2" descr="角动量空间量子化2+++++++++++2"/>
          <p:cNvPicPr>
            <a:picLocks noChangeAspect="1" noChangeArrowheads="1"/>
          </p:cNvPicPr>
          <p:nvPr/>
        </p:nvPicPr>
        <p:blipFill>
          <a:blip r:embed="rId5">
            <a:clrChange>
              <a:clrFrom>
                <a:srgbClr val="326699"/>
              </a:clrFrom>
              <a:clrTo>
                <a:srgbClr val="326699">
                  <a:alpha val="0"/>
                </a:srgbClr>
              </a:clrTo>
            </a:clrChange>
          </a:blip>
          <a:srcRect/>
          <a:stretch>
            <a:fillRect/>
          </a:stretch>
        </p:blipFill>
        <p:spPr bwMode="auto">
          <a:xfrm>
            <a:off x="1676400" y="2955925"/>
            <a:ext cx="1905000" cy="3352800"/>
          </a:xfrm>
          <a:prstGeom prst="rect">
            <a:avLst/>
          </a:prstGeom>
          <a:noFill/>
          <a:ln w="9525">
            <a:noFill/>
            <a:miter lim="800000"/>
            <a:headEnd/>
            <a:tailEnd/>
          </a:ln>
        </p:spPr>
      </p:pic>
      <p:pic>
        <p:nvPicPr>
          <p:cNvPr id="144387" name="Picture 3" descr="角动量空间量子化21"/>
          <p:cNvPicPr>
            <a:picLocks noChangeAspect="1" noChangeArrowheads="1"/>
          </p:cNvPicPr>
          <p:nvPr/>
        </p:nvPicPr>
        <p:blipFill>
          <a:blip r:embed="rId6">
            <a:clrChange>
              <a:clrFrom>
                <a:srgbClr val="326699"/>
              </a:clrFrom>
              <a:clrTo>
                <a:srgbClr val="326699">
                  <a:alpha val="0"/>
                </a:srgbClr>
              </a:clrTo>
            </a:clrChange>
          </a:blip>
          <a:srcRect/>
          <a:stretch>
            <a:fillRect/>
          </a:stretch>
        </p:blipFill>
        <p:spPr bwMode="auto">
          <a:xfrm>
            <a:off x="1676400" y="2955925"/>
            <a:ext cx="1905000" cy="3352800"/>
          </a:xfrm>
          <a:prstGeom prst="rect">
            <a:avLst/>
          </a:prstGeom>
          <a:noFill/>
          <a:ln w="9525">
            <a:noFill/>
            <a:miter lim="800000"/>
            <a:headEnd/>
            <a:tailEnd/>
          </a:ln>
        </p:spPr>
      </p:pic>
      <p:pic>
        <p:nvPicPr>
          <p:cNvPr id="144388" name="Picture 4" descr="角动量空间量子化20"/>
          <p:cNvPicPr>
            <a:picLocks noChangeAspect="1" noChangeArrowheads="1"/>
          </p:cNvPicPr>
          <p:nvPr/>
        </p:nvPicPr>
        <p:blipFill>
          <a:blip r:embed="rId7">
            <a:clrChange>
              <a:clrFrom>
                <a:srgbClr val="326699"/>
              </a:clrFrom>
              <a:clrTo>
                <a:srgbClr val="326699">
                  <a:alpha val="0"/>
                </a:srgbClr>
              </a:clrTo>
            </a:clrChange>
          </a:blip>
          <a:srcRect/>
          <a:stretch>
            <a:fillRect/>
          </a:stretch>
        </p:blipFill>
        <p:spPr bwMode="auto">
          <a:xfrm>
            <a:off x="1676400" y="2955925"/>
            <a:ext cx="1905000" cy="3352800"/>
          </a:xfrm>
          <a:prstGeom prst="rect">
            <a:avLst/>
          </a:prstGeom>
          <a:noFill/>
          <a:ln w="9525">
            <a:noFill/>
            <a:miter lim="800000"/>
            <a:headEnd/>
            <a:tailEnd/>
          </a:ln>
        </p:spPr>
      </p:pic>
      <p:pic>
        <p:nvPicPr>
          <p:cNvPr id="144389" name="Picture 5" descr="角动量空间量子化2-1"/>
          <p:cNvPicPr>
            <a:picLocks noChangeAspect="1" noChangeArrowheads="1"/>
          </p:cNvPicPr>
          <p:nvPr/>
        </p:nvPicPr>
        <p:blipFill>
          <a:blip r:embed="rId8">
            <a:clrChange>
              <a:clrFrom>
                <a:srgbClr val="326699"/>
              </a:clrFrom>
              <a:clrTo>
                <a:srgbClr val="326699">
                  <a:alpha val="0"/>
                </a:srgbClr>
              </a:clrTo>
            </a:clrChange>
          </a:blip>
          <a:srcRect/>
          <a:stretch>
            <a:fillRect/>
          </a:stretch>
        </p:blipFill>
        <p:spPr bwMode="auto">
          <a:xfrm>
            <a:off x="1676400" y="2955925"/>
            <a:ext cx="1905000" cy="3352800"/>
          </a:xfrm>
          <a:prstGeom prst="rect">
            <a:avLst/>
          </a:prstGeom>
          <a:noFill/>
          <a:ln w="9525">
            <a:noFill/>
            <a:miter lim="800000"/>
            <a:headEnd/>
            <a:tailEnd/>
          </a:ln>
        </p:spPr>
      </p:pic>
      <p:pic>
        <p:nvPicPr>
          <p:cNvPr id="144390" name="Picture 6" descr="角动量空间量子化2-2"/>
          <p:cNvPicPr>
            <a:picLocks noChangeAspect="1" noChangeArrowheads="1"/>
          </p:cNvPicPr>
          <p:nvPr/>
        </p:nvPicPr>
        <p:blipFill>
          <a:blip r:embed="rId9">
            <a:clrChange>
              <a:clrFrom>
                <a:srgbClr val="326699"/>
              </a:clrFrom>
              <a:clrTo>
                <a:srgbClr val="326699">
                  <a:alpha val="0"/>
                </a:srgbClr>
              </a:clrTo>
            </a:clrChange>
          </a:blip>
          <a:srcRect/>
          <a:stretch>
            <a:fillRect/>
          </a:stretch>
        </p:blipFill>
        <p:spPr bwMode="auto">
          <a:xfrm>
            <a:off x="1676400" y="2955925"/>
            <a:ext cx="1905000" cy="3352800"/>
          </a:xfrm>
          <a:prstGeom prst="rect">
            <a:avLst/>
          </a:prstGeom>
          <a:noFill/>
          <a:ln w="9525">
            <a:noFill/>
            <a:miter lim="800000"/>
            <a:headEnd/>
            <a:tailEnd/>
          </a:ln>
        </p:spPr>
      </p:pic>
      <p:pic>
        <p:nvPicPr>
          <p:cNvPr id="144391" name="Picture 7" descr="角动量空间量子化2"/>
          <p:cNvPicPr>
            <a:picLocks noChangeAspect="1" noChangeArrowheads="1"/>
          </p:cNvPicPr>
          <p:nvPr/>
        </p:nvPicPr>
        <p:blipFill>
          <a:blip r:embed="rId10">
            <a:clrChange>
              <a:clrFrom>
                <a:srgbClr val="326699"/>
              </a:clrFrom>
              <a:clrTo>
                <a:srgbClr val="326699">
                  <a:alpha val="0"/>
                </a:srgbClr>
              </a:clrTo>
            </a:clrChange>
            <a:lum bright="-30000"/>
          </a:blip>
          <a:srcRect/>
          <a:stretch>
            <a:fillRect/>
          </a:stretch>
        </p:blipFill>
        <p:spPr bwMode="auto">
          <a:xfrm>
            <a:off x="1676400" y="2955925"/>
            <a:ext cx="1905000" cy="3352800"/>
          </a:xfrm>
          <a:prstGeom prst="rect">
            <a:avLst/>
          </a:prstGeom>
          <a:noFill/>
          <a:ln w="9525">
            <a:noFill/>
            <a:miter lim="800000"/>
            <a:headEnd/>
            <a:tailEnd/>
          </a:ln>
        </p:spPr>
      </p:pic>
      <p:graphicFrame>
        <p:nvGraphicFramePr>
          <p:cNvPr id="144392" name="Object 8"/>
          <p:cNvGraphicFramePr>
            <a:graphicFrameLocks noChangeAspect="1"/>
          </p:cNvGraphicFramePr>
          <p:nvPr/>
        </p:nvGraphicFramePr>
        <p:xfrm>
          <a:off x="1692275" y="3294063"/>
          <a:ext cx="360363" cy="293687"/>
        </p:xfrm>
        <a:graphic>
          <a:graphicData uri="http://schemas.openxmlformats.org/presentationml/2006/ole">
            <p:oleObj spid="_x0000_s61448" name="公式" r:id="rId11" imgW="154800" imgH="122400" progId="Equation.3">
              <p:embed/>
            </p:oleObj>
          </a:graphicData>
        </a:graphic>
      </p:graphicFrame>
      <p:graphicFrame>
        <p:nvGraphicFramePr>
          <p:cNvPr id="144393" name="Object 9"/>
          <p:cNvGraphicFramePr>
            <a:graphicFrameLocks noChangeAspect="1"/>
          </p:cNvGraphicFramePr>
          <p:nvPr/>
        </p:nvGraphicFramePr>
        <p:xfrm>
          <a:off x="1601788" y="5140325"/>
          <a:ext cx="431800" cy="295275"/>
        </p:xfrm>
        <a:graphic>
          <a:graphicData uri="http://schemas.openxmlformats.org/presentationml/2006/ole">
            <p:oleObj spid="_x0000_s61449" name="公式" r:id="rId12" imgW="187200" imgH="122400" progId="Equation.3">
              <p:embed/>
            </p:oleObj>
          </a:graphicData>
        </a:graphic>
      </p:graphicFrame>
      <p:graphicFrame>
        <p:nvGraphicFramePr>
          <p:cNvPr id="144394" name="Object 10"/>
          <p:cNvGraphicFramePr>
            <a:graphicFrameLocks noChangeAspect="1"/>
          </p:cNvGraphicFramePr>
          <p:nvPr/>
        </p:nvGraphicFramePr>
        <p:xfrm>
          <a:off x="1466850" y="5634038"/>
          <a:ext cx="571500" cy="293687"/>
        </p:xfrm>
        <a:graphic>
          <a:graphicData uri="http://schemas.openxmlformats.org/presentationml/2006/ole">
            <p:oleObj spid="_x0000_s61450" name="公式" r:id="rId13" imgW="252360" imgH="122400" progId="Equation.3">
              <p:embed/>
            </p:oleObj>
          </a:graphicData>
        </a:graphic>
      </p:graphicFrame>
      <p:graphicFrame>
        <p:nvGraphicFramePr>
          <p:cNvPr id="144395" name="Object 11"/>
          <p:cNvGraphicFramePr>
            <a:graphicFrameLocks noChangeAspect="1"/>
          </p:cNvGraphicFramePr>
          <p:nvPr/>
        </p:nvGraphicFramePr>
        <p:xfrm>
          <a:off x="1776413" y="4419600"/>
          <a:ext cx="230187" cy="320675"/>
        </p:xfrm>
        <a:graphic>
          <a:graphicData uri="http://schemas.openxmlformats.org/presentationml/2006/ole">
            <p:oleObj spid="_x0000_s61451" name="公式" r:id="rId14" imgW="89640" imgH="138600" progId="Equation.3">
              <p:embed/>
            </p:oleObj>
          </a:graphicData>
        </a:graphic>
      </p:graphicFrame>
      <p:graphicFrame>
        <p:nvGraphicFramePr>
          <p:cNvPr id="144396" name="Object 12"/>
          <p:cNvGraphicFramePr>
            <a:graphicFrameLocks noChangeAspect="1"/>
          </p:cNvGraphicFramePr>
          <p:nvPr/>
        </p:nvGraphicFramePr>
        <p:xfrm>
          <a:off x="1781175" y="3789363"/>
          <a:ext cx="230188" cy="296862"/>
        </p:xfrm>
        <a:graphic>
          <a:graphicData uri="http://schemas.openxmlformats.org/presentationml/2006/ole">
            <p:oleObj spid="_x0000_s61452" name="公式" r:id="rId15" imgW="89640" imgH="122400" progId="Equation.3">
              <p:embed/>
            </p:oleObj>
          </a:graphicData>
        </a:graphic>
      </p:graphicFrame>
      <p:graphicFrame>
        <p:nvGraphicFramePr>
          <p:cNvPr id="144397" name="Object 13"/>
          <p:cNvGraphicFramePr>
            <a:graphicFrameLocks noChangeAspect="1"/>
          </p:cNvGraphicFramePr>
          <p:nvPr/>
        </p:nvGraphicFramePr>
        <p:xfrm>
          <a:off x="3597275" y="4005263"/>
          <a:ext cx="1019175" cy="414337"/>
        </p:xfrm>
        <a:graphic>
          <a:graphicData uri="http://schemas.openxmlformats.org/presentationml/2006/ole">
            <p:oleObj spid="_x0000_s61453" name="公式" r:id="rId16" imgW="464040" imgH="179280" progId="Equation.3">
              <p:embed/>
            </p:oleObj>
          </a:graphicData>
        </a:graphic>
      </p:graphicFrame>
      <p:graphicFrame>
        <p:nvGraphicFramePr>
          <p:cNvPr id="144398" name="Object 14"/>
          <p:cNvGraphicFramePr>
            <a:graphicFrameLocks noChangeAspect="1"/>
          </p:cNvGraphicFramePr>
          <p:nvPr/>
        </p:nvGraphicFramePr>
        <p:xfrm>
          <a:off x="3716338" y="4689475"/>
          <a:ext cx="596900" cy="319088"/>
        </p:xfrm>
        <a:graphic>
          <a:graphicData uri="http://schemas.openxmlformats.org/presentationml/2006/ole">
            <p:oleObj spid="_x0000_s61454" name="公式" r:id="rId17" imgW="268560" imgH="138600" progId="Equation.3">
              <p:embed/>
            </p:oleObj>
          </a:graphicData>
        </a:graphic>
      </p:graphicFrame>
      <p:graphicFrame>
        <p:nvGraphicFramePr>
          <p:cNvPr id="144399" name="Object 15"/>
          <p:cNvGraphicFramePr>
            <a:graphicFrameLocks noChangeAspect="1"/>
          </p:cNvGraphicFramePr>
          <p:nvPr/>
        </p:nvGraphicFramePr>
        <p:xfrm>
          <a:off x="6102350" y="5543550"/>
          <a:ext cx="1755775" cy="388938"/>
        </p:xfrm>
        <a:graphic>
          <a:graphicData uri="http://schemas.openxmlformats.org/presentationml/2006/ole">
            <p:oleObj spid="_x0000_s61455" name="公式" r:id="rId18" imgW="822600" imgH="171360" progId="Equation.3">
              <p:embed/>
            </p:oleObj>
          </a:graphicData>
        </a:graphic>
      </p:graphicFrame>
      <p:sp>
        <p:nvSpPr>
          <p:cNvPr id="144400" name="Rectangle 16"/>
          <p:cNvSpPr>
            <a:spLocks noChangeArrowheads="1"/>
          </p:cNvSpPr>
          <p:nvPr/>
        </p:nvSpPr>
        <p:spPr bwMode="auto">
          <a:xfrm>
            <a:off x="1403350" y="1711325"/>
            <a:ext cx="5121275" cy="457200"/>
          </a:xfrm>
          <a:prstGeom prst="rect">
            <a:avLst/>
          </a:prstGeom>
          <a:noFill/>
          <a:ln w="9525">
            <a:noFill/>
            <a:miter lim="800000"/>
            <a:headEnd/>
            <a:tailEnd/>
          </a:ln>
          <a:effectLst/>
        </p:spPr>
        <p:txBody>
          <a:bodyPr wrap="none">
            <a:spAutoFit/>
          </a:bodyPr>
          <a:lstStyle/>
          <a:p>
            <a:r>
              <a:rPr lang="zh-CN" altLang="en-US" b="1">
                <a:solidFill>
                  <a:schemeClr val="bg1"/>
                </a:solidFill>
                <a:ea typeface="楷体_GB2312" pitchFamily="49" charset="-122"/>
              </a:rPr>
              <a:t>磁量子数</a:t>
            </a:r>
            <a:r>
              <a:rPr lang="zh-CN" altLang="en-US" b="1">
                <a:solidFill>
                  <a:schemeClr val="bg1"/>
                </a:solidFill>
              </a:rPr>
              <a:t>                      </a:t>
            </a:r>
            <a:r>
              <a:rPr lang="en-US" altLang="zh-CN" b="1" i="1">
                <a:solidFill>
                  <a:schemeClr val="accent2"/>
                </a:solidFill>
              </a:rPr>
              <a:t>m</a:t>
            </a:r>
            <a:r>
              <a:rPr lang="en-US" altLang="zh-CN" b="1" i="1" baseline="-25000">
                <a:solidFill>
                  <a:schemeClr val="accent2"/>
                </a:solidFill>
              </a:rPr>
              <a:t>l</a:t>
            </a:r>
            <a:r>
              <a:rPr lang="en-US" altLang="zh-CN" b="1">
                <a:solidFill>
                  <a:schemeClr val="accent2"/>
                </a:solidFill>
              </a:rPr>
              <a:t> = 0 , </a:t>
            </a:r>
            <a:r>
              <a:rPr lang="en-US" altLang="zh-CN" sz="2000" b="1">
                <a:solidFill>
                  <a:schemeClr val="accent2"/>
                </a:solidFill>
              </a:rPr>
              <a:t>±</a:t>
            </a:r>
            <a:r>
              <a:rPr lang="en-US" altLang="zh-CN" b="1">
                <a:solidFill>
                  <a:schemeClr val="accent2"/>
                </a:solidFill>
              </a:rPr>
              <a:t>1 , </a:t>
            </a:r>
            <a:r>
              <a:rPr lang="en-US" altLang="zh-CN" sz="2000" b="1">
                <a:solidFill>
                  <a:schemeClr val="accent2"/>
                </a:solidFill>
              </a:rPr>
              <a:t>±</a:t>
            </a:r>
            <a:r>
              <a:rPr lang="en-US" altLang="zh-CN" b="1">
                <a:solidFill>
                  <a:schemeClr val="accent2"/>
                </a:solidFill>
              </a:rPr>
              <a:t>2</a:t>
            </a:r>
          </a:p>
        </p:txBody>
      </p:sp>
      <p:grpSp>
        <p:nvGrpSpPr>
          <p:cNvPr id="144401" name="Group 17"/>
          <p:cNvGrpSpPr>
            <a:grpSpLocks/>
          </p:cNvGrpSpPr>
          <p:nvPr/>
        </p:nvGrpSpPr>
        <p:grpSpPr bwMode="auto">
          <a:xfrm>
            <a:off x="920750" y="2386013"/>
            <a:ext cx="2765425" cy="457200"/>
            <a:chOff x="715" y="1152"/>
            <a:chExt cx="1742" cy="288"/>
          </a:xfrm>
        </p:grpSpPr>
        <p:sp>
          <p:nvSpPr>
            <p:cNvPr id="61474" name="Rectangle 18"/>
            <p:cNvSpPr>
              <a:spLocks noChangeArrowheads="1"/>
            </p:cNvSpPr>
            <p:nvPr/>
          </p:nvSpPr>
          <p:spPr bwMode="auto">
            <a:xfrm>
              <a:off x="715" y="1152"/>
              <a:ext cx="1742" cy="288"/>
            </a:xfrm>
            <a:prstGeom prst="rect">
              <a:avLst/>
            </a:prstGeom>
            <a:noFill/>
            <a:ln w="9525">
              <a:noFill/>
              <a:miter lim="800000"/>
              <a:headEnd/>
              <a:tailEnd/>
            </a:ln>
            <a:effectLst/>
          </p:spPr>
          <p:txBody>
            <a:bodyPr wrap="none">
              <a:spAutoFit/>
            </a:bodyPr>
            <a:lstStyle/>
            <a:p>
              <a:r>
                <a:rPr lang="en-US" altLang="zh-CN" b="1" i="1">
                  <a:solidFill>
                    <a:schemeClr val="accent2"/>
                  </a:solidFill>
                </a:rPr>
                <a:t>L</a:t>
              </a:r>
              <a:r>
                <a:rPr lang="en-US" altLang="zh-CN" b="1" i="1">
                  <a:solidFill>
                    <a:srgbClr val="99FFCC"/>
                  </a:solidFill>
                </a:rPr>
                <a:t> </a:t>
              </a:r>
              <a:r>
                <a:rPr lang="zh-CN" altLang="en-US" b="1">
                  <a:solidFill>
                    <a:schemeClr val="bg1"/>
                  </a:solidFill>
                  <a:latin typeface="楷体_GB2312" pitchFamily="49" charset="-122"/>
                  <a:ea typeface="楷体_GB2312" pitchFamily="49" charset="-122"/>
                </a:rPr>
                <a:t>在 </a:t>
              </a:r>
              <a:r>
                <a:rPr lang="en-US" altLang="zh-CN" b="1" i="1">
                  <a:solidFill>
                    <a:schemeClr val="bg1"/>
                  </a:solidFill>
                  <a:ea typeface="楷体_GB2312" pitchFamily="49" charset="-122"/>
                </a:rPr>
                <a:t>Z</a:t>
              </a:r>
              <a:r>
                <a:rPr lang="en-US" altLang="zh-CN" b="1" i="1">
                  <a:solidFill>
                    <a:schemeClr val="bg1"/>
                  </a:solidFill>
                  <a:latin typeface="楷体_GB2312" pitchFamily="49" charset="-122"/>
                  <a:ea typeface="楷体_GB2312" pitchFamily="49" charset="-122"/>
                </a:rPr>
                <a:t> </a:t>
              </a:r>
              <a:r>
                <a:rPr lang="zh-CN" altLang="en-US" b="1">
                  <a:solidFill>
                    <a:schemeClr val="bg1"/>
                  </a:solidFill>
                  <a:latin typeface="楷体_GB2312" pitchFamily="49" charset="-122"/>
                  <a:ea typeface="楷体_GB2312" pitchFamily="49" charset="-122"/>
                </a:rPr>
                <a:t>方向的投影</a:t>
              </a:r>
            </a:p>
          </p:txBody>
        </p:sp>
        <p:sp>
          <p:nvSpPr>
            <p:cNvPr id="61475" name="Line 19"/>
            <p:cNvSpPr>
              <a:spLocks noChangeShapeType="1"/>
            </p:cNvSpPr>
            <p:nvPr/>
          </p:nvSpPr>
          <p:spPr bwMode="auto">
            <a:xfrm>
              <a:off x="763" y="1152"/>
              <a:ext cx="144" cy="0"/>
            </a:xfrm>
            <a:prstGeom prst="line">
              <a:avLst/>
            </a:prstGeom>
            <a:noFill/>
            <a:ln w="12700">
              <a:solidFill>
                <a:srgbClr val="FF6600"/>
              </a:solidFill>
              <a:round/>
              <a:headEnd/>
              <a:tailEnd type="triangle" w="med" len="med"/>
            </a:ln>
            <a:effectLst/>
          </p:spPr>
          <p:txBody>
            <a:bodyPr/>
            <a:lstStyle/>
            <a:p>
              <a:endParaRPr lang="zh-CN" altLang="en-US"/>
            </a:p>
          </p:txBody>
        </p:sp>
      </p:grpSp>
      <p:graphicFrame>
        <p:nvGraphicFramePr>
          <p:cNvPr id="144404" name="Object 20"/>
          <p:cNvGraphicFramePr>
            <a:graphicFrameLocks noChangeAspect="1"/>
          </p:cNvGraphicFramePr>
          <p:nvPr/>
        </p:nvGraphicFramePr>
        <p:xfrm>
          <a:off x="4346575" y="2354263"/>
          <a:ext cx="2781300" cy="414337"/>
        </p:xfrm>
        <a:graphic>
          <a:graphicData uri="http://schemas.openxmlformats.org/presentationml/2006/ole">
            <p:oleObj spid="_x0000_s61458" name="公式" r:id="rId19" imgW="1311120" imgH="179280" progId="Equation.3">
              <p:embed/>
            </p:oleObj>
          </a:graphicData>
        </a:graphic>
      </p:graphicFrame>
      <p:sp>
        <p:nvSpPr>
          <p:cNvPr id="144405" name="Line 21"/>
          <p:cNvSpPr>
            <a:spLocks noChangeShapeType="1"/>
          </p:cNvSpPr>
          <p:nvPr/>
        </p:nvSpPr>
        <p:spPr bwMode="auto">
          <a:xfrm flipV="1">
            <a:off x="2068513" y="3032125"/>
            <a:ext cx="0" cy="3048000"/>
          </a:xfrm>
          <a:prstGeom prst="line">
            <a:avLst/>
          </a:prstGeom>
          <a:noFill/>
          <a:ln w="9525">
            <a:solidFill>
              <a:schemeClr val="hlink"/>
            </a:solidFill>
            <a:round/>
            <a:headEnd/>
            <a:tailEnd type="triangle" w="med" len="med"/>
          </a:ln>
          <a:effectLst/>
        </p:spPr>
        <p:txBody>
          <a:bodyPr/>
          <a:lstStyle/>
          <a:p>
            <a:endParaRPr lang="zh-CN" altLang="en-US"/>
          </a:p>
        </p:txBody>
      </p:sp>
      <p:sp>
        <p:nvSpPr>
          <p:cNvPr id="144406" name="Text Box 22"/>
          <p:cNvSpPr txBox="1">
            <a:spLocks noChangeArrowheads="1"/>
          </p:cNvSpPr>
          <p:nvPr/>
        </p:nvSpPr>
        <p:spPr bwMode="auto">
          <a:xfrm>
            <a:off x="2108200" y="2708275"/>
            <a:ext cx="303213" cy="457200"/>
          </a:xfrm>
          <a:prstGeom prst="rect">
            <a:avLst/>
          </a:prstGeom>
          <a:noFill/>
          <a:ln w="9525">
            <a:noFill/>
            <a:miter lim="800000"/>
            <a:headEnd/>
            <a:tailEnd/>
          </a:ln>
          <a:effectLst/>
        </p:spPr>
        <p:txBody>
          <a:bodyPr wrap="none">
            <a:spAutoFit/>
          </a:bodyPr>
          <a:lstStyle/>
          <a:p>
            <a:r>
              <a:rPr lang="en-US" altLang="zh-CN" b="1" i="1">
                <a:solidFill>
                  <a:schemeClr val="hlink"/>
                </a:solidFill>
              </a:rPr>
              <a:t>z</a:t>
            </a:r>
          </a:p>
        </p:txBody>
      </p:sp>
      <p:graphicFrame>
        <p:nvGraphicFramePr>
          <p:cNvPr id="144407" name="Object 23"/>
          <p:cNvGraphicFramePr>
            <a:graphicFrameLocks noChangeAspect="1"/>
          </p:cNvGraphicFramePr>
          <p:nvPr/>
        </p:nvGraphicFramePr>
        <p:xfrm>
          <a:off x="4086225" y="1122363"/>
          <a:ext cx="2465388" cy="457200"/>
        </p:xfrm>
        <a:graphic>
          <a:graphicData uri="http://schemas.openxmlformats.org/presentationml/2006/ole">
            <p:oleObj spid="_x0000_s61461" name="公式" r:id="rId20" imgW="1156320" imgH="203760" progId="Equation.3">
              <p:embed/>
            </p:oleObj>
          </a:graphicData>
        </a:graphic>
      </p:graphicFrame>
      <p:sp>
        <p:nvSpPr>
          <p:cNvPr id="144408" name="Rectangle 24"/>
          <p:cNvSpPr>
            <a:spLocks noChangeArrowheads="1"/>
          </p:cNvSpPr>
          <p:nvPr/>
        </p:nvSpPr>
        <p:spPr bwMode="auto">
          <a:xfrm>
            <a:off x="1403350" y="1112838"/>
            <a:ext cx="1360488" cy="457200"/>
          </a:xfrm>
          <a:prstGeom prst="rect">
            <a:avLst/>
          </a:prstGeom>
          <a:noFill/>
          <a:ln w="9525">
            <a:noFill/>
            <a:miter lim="800000"/>
            <a:headEnd/>
            <a:tailEnd/>
          </a:ln>
          <a:effectLst/>
        </p:spPr>
        <p:txBody>
          <a:bodyPr wrap="none">
            <a:spAutoFit/>
          </a:bodyPr>
          <a:lstStyle/>
          <a:p>
            <a:r>
              <a:rPr lang="en-US" altLang="zh-CN" b="1" i="1">
                <a:solidFill>
                  <a:schemeClr val="accent2"/>
                </a:solidFill>
              </a:rPr>
              <a:t>L </a:t>
            </a:r>
            <a:r>
              <a:rPr lang="zh-CN" altLang="en-US" b="1">
                <a:solidFill>
                  <a:schemeClr val="bg1"/>
                </a:solidFill>
                <a:ea typeface="楷体_GB2312" pitchFamily="49" charset="-122"/>
              </a:rPr>
              <a:t>的大小</a:t>
            </a:r>
          </a:p>
        </p:txBody>
      </p:sp>
      <p:sp>
        <p:nvSpPr>
          <p:cNvPr id="144409" name="Line 25"/>
          <p:cNvSpPr>
            <a:spLocks noChangeShapeType="1"/>
          </p:cNvSpPr>
          <p:nvPr/>
        </p:nvSpPr>
        <p:spPr bwMode="auto">
          <a:xfrm flipV="1">
            <a:off x="1535113" y="1042988"/>
            <a:ext cx="200025" cy="6350"/>
          </a:xfrm>
          <a:prstGeom prst="line">
            <a:avLst/>
          </a:prstGeom>
          <a:noFill/>
          <a:ln w="12700">
            <a:solidFill>
              <a:srgbClr val="FF6600"/>
            </a:solidFill>
            <a:round/>
            <a:headEnd/>
            <a:tailEnd type="triangle" w="sm" len="med"/>
          </a:ln>
          <a:effectLst/>
        </p:spPr>
        <p:txBody>
          <a:bodyPr/>
          <a:lstStyle/>
          <a:p>
            <a:endParaRPr lang="zh-CN" altLang="en-US"/>
          </a:p>
        </p:txBody>
      </p:sp>
      <p:grpSp>
        <p:nvGrpSpPr>
          <p:cNvPr id="144410" name="Group 26"/>
          <p:cNvGrpSpPr>
            <a:grpSpLocks/>
          </p:cNvGrpSpPr>
          <p:nvPr/>
        </p:nvGrpSpPr>
        <p:grpSpPr bwMode="auto">
          <a:xfrm>
            <a:off x="315913" y="414338"/>
            <a:ext cx="6156325" cy="457200"/>
            <a:chOff x="614" y="3290"/>
            <a:chExt cx="3878" cy="288"/>
          </a:xfrm>
        </p:grpSpPr>
        <p:sp>
          <p:nvSpPr>
            <p:cNvPr id="61472" name="Text Box 27"/>
            <p:cNvSpPr txBox="1">
              <a:spLocks noChangeArrowheads="1"/>
            </p:cNvSpPr>
            <p:nvPr/>
          </p:nvSpPr>
          <p:spPr bwMode="auto">
            <a:xfrm>
              <a:off x="614" y="3290"/>
              <a:ext cx="3878" cy="288"/>
            </a:xfrm>
            <a:prstGeom prst="rect">
              <a:avLst/>
            </a:prstGeom>
            <a:noFill/>
            <a:ln w="9525">
              <a:noFill/>
              <a:miter lim="800000"/>
              <a:headEnd/>
              <a:tailEnd/>
            </a:ln>
            <a:effectLst/>
          </p:spPr>
          <p:txBody>
            <a:bodyPr wrap="none">
              <a:spAutoFit/>
            </a:bodyPr>
            <a:lstStyle/>
            <a:p>
              <a:r>
                <a:rPr lang="zh-CN" altLang="en-US" b="1">
                  <a:solidFill>
                    <a:schemeClr val="tx2"/>
                  </a:solidFill>
                </a:rPr>
                <a:t>例如</a:t>
              </a:r>
              <a:r>
                <a:rPr lang="zh-CN" altLang="en-US" b="1">
                  <a:solidFill>
                    <a:srgbClr val="FFCC66"/>
                  </a:solidFill>
                </a:rPr>
                <a:t>    </a:t>
              </a:r>
              <a:r>
                <a:rPr lang="en-US" altLang="zh-CN" b="1" i="1">
                  <a:solidFill>
                    <a:schemeClr val="accent2"/>
                  </a:solidFill>
                </a:rPr>
                <a:t>l </a:t>
              </a:r>
              <a:r>
                <a:rPr lang="en-US" altLang="zh-CN" b="1">
                  <a:solidFill>
                    <a:schemeClr val="accent2"/>
                  </a:solidFill>
                </a:rPr>
                <a:t>= 2</a:t>
              </a:r>
              <a:r>
                <a:rPr lang="en-US" altLang="zh-CN" b="1">
                  <a:solidFill>
                    <a:srgbClr val="FFCC66"/>
                  </a:solidFill>
                </a:rPr>
                <a:t>  </a:t>
              </a:r>
              <a:r>
                <a:rPr lang="zh-CN" altLang="en-US" b="1">
                  <a:solidFill>
                    <a:schemeClr val="bg1"/>
                  </a:solidFill>
                </a:rPr>
                <a:t>电子角动量的大小及空间取向 ？</a:t>
              </a:r>
            </a:p>
          </p:txBody>
        </p:sp>
        <p:sp>
          <p:nvSpPr>
            <p:cNvPr id="61473" name="Line 28"/>
            <p:cNvSpPr>
              <a:spLocks noChangeShapeType="1"/>
            </p:cNvSpPr>
            <p:nvPr/>
          </p:nvSpPr>
          <p:spPr bwMode="auto">
            <a:xfrm>
              <a:off x="2496" y="3312"/>
              <a:ext cx="144" cy="0"/>
            </a:xfrm>
            <a:prstGeom prst="line">
              <a:avLst/>
            </a:prstGeom>
            <a:noFill/>
            <a:ln w="9525">
              <a:noFill/>
              <a:round/>
              <a:headEnd/>
              <a:tailEnd type="triangle" w="med" len="med"/>
            </a:ln>
            <a:effectLst/>
          </p:spPr>
          <p:txBody>
            <a:bodyPr/>
            <a:lstStyle/>
            <a:p>
              <a:endParaRPr lang="zh-CN" altLang="en-US"/>
            </a:p>
          </p:txBody>
        </p:sp>
      </p:grpSp>
      <p:grpSp>
        <p:nvGrpSpPr>
          <p:cNvPr id="144413" name="Group 29"/>
          <p:cNvGrpSpPr>
            <a:grpSpLocks/>
          </p:cNvGrpSpPr>
          <p:nvPr/>
        </p:nvGrpSpPr>
        <p:grpSpPr bwMode="auto">
          <a:xfrm>
            <a:off x="6057900" y="2843213"/>
            <a:ext cx="1544638" cy="2784475"/>
            <a:chOff x="3814" y="1781"/>
            <a:chExt cx="973" cy="1754"/>
          </a:xfrm>
        </p:grpSpPr>
        <p:pic>
          <p:nvPicPr>
            <p:cNvPr id="61466" name="Picture 30" descr="角动量空间量子化1"/>
            <p:cNvPicPr>
              <a:picLocks noChangeAspect="1" noChangeArrowheads="1"/>
            </p:cNvPicPr>
            <p:nvPr/>
          </p:nvPicPr>
          <p:blipFill>
            <a:blip r:embed="rId21">
              <a:clrChange>
                <a:clrFrom>
                  <a:srgbClr val="326699"/>
                </a:clrFrom>
                <a:clrTo>
                  <a:srgbClr val="326699">
                    <a:alpha val="0"/>
                  </a:srgbClr>
                </a:clrTo>
              </a:clrChange>
              <a:lum bright="-30000"/>
            </a:blip>
            <a:srcRect/>
            <a:stretch>
              <a:fillRect/>
            </a:stretch>
          </p:blipFill>
          <p:spPr bwMode="auto">
            <a:xfrm>
              <a:off x="3878" y="1855"/>
              <a:ext cx="909" cy="1680"/>
            </a:xfrm>
            <a:prstGeom prst="rect">
              <a:avLst/>
            </a:prstGeom>
            <a:noFill/>
            <a:ln w="9525">
              <a:noFill/>
              <a:miter lim="800000"/>
              <a:headEnd/>
              <a:tailEnd/>
            </a:ln>
          </p:spPr>
        </p:pic>
        <p:graphicFrame>
          <p:nvGraphicFramePr>
            <p:cNvPr id="61467" name="Object 31"/>
            <p:cNvGraphicFramePr>
              <a:graphicFrameLocks noChangeAspect="1"/>
            </p:cNvGraphicFramePr>
            <p:nvPr/>
          </p:nvGraphicFramePr>
          <p:xfrm>
            <a:off x="3950" y="2233"/>
            <a:ext cx="109" cy="154"/>
          </p:xfrm>
          <a:graphic>
            <a:graphicData uri="http://schemas.openxmlformats.org/presentationml/2006/ole">
              <p:oleObj spid="_x0000_s61467" name="公式" r:id="rId22" imgW="171000" imgH="244800" progId="Equation.3">
                <p:embed/>
              </p:oleObj>
            </a:graphicData>
          </a:graphic>
        </p:graphicFrame>
        <p:sp>
          <p:nvSpPr>
            <p:cNvPr id="61468" name="Text Box 32"/>
            <p:cNvSpPr txBox="1">
              <a:spLocks noChangeArrowheads="1"/>
            </p:cNvSpPr>
            <p:nvPr/>
          </p:nvSpPr>
          <p:spPr bwMode="auto">
            <a:xfrm>
              <a:off x="3878" y="1781"/>
              <a:ext cx="191" cy="288"/>
            </a:xfrm>
            <a:prstGeom prst="rect">
              <a:avLst/>
            </a:prstGeom>
            <a:noFill/>
            <a:ln w="9525">
              <a:noFill/>
              <a:miter lim="800000"/>
              <a:headEnd/>
              <a:tailEnd/>
            </a:ln>
            <a:effectLst/>
          </p:spPr>
          <p:txBody>
            <a:bodyPr wrap="none">
              <a:spAutoFit/>
            </a:bodyPr>
            <a:lstStyle/>
            <a:p>
              <a:r>
                <a:rPr lang="en-US" altLang="zh-CN" b="1" i="1">
                  <a:solidFill>
                    <a:schemeClr val="hlink"/>
                  </a:solidFill>
                </a:rPr>
                <a:t>z</a:t>
              </a:r>
            </a:p>
          </p:txBody>
        </p:sp>
        <p:graphicFrame>
          <p:nvGraphicFramePr>
            <p:cNvPr id="61469" name="Object 33"/>
            <p:cNvGraphicFramePr>
              <a:graphicFrameLocks noChangeAspect="1"/>
            </p:cNvGraphicFramePr>
            <p:nvPr/>
          </p:nvGraphicFramePr>
          <p:xfrm>
            <a:off x="3814" y="3048"/>
            <a:ext cx="245" cy="155"/>
          </p:xfrm>
          <a:graphic>
            <a:graphicData uri="http://schemas.openxmlformats.org/presentationml/2006/ole">
              <p:oleObj spid="_x0000_s61469" name="公式" r:id="rId23" imgW="398880" imgH="244800" progId="Equation.3">
                <p:embed/>
              </p:oleObj>
            </a:graphicData>
          </a:graphic>
        </p:graphicFrame>
        <p:graphicFrame>
          <p:nvGraphicFramePr>
            <p:cNvPr id="61470" name="Object 34"/>
            <p:cNvGraphicFramePr>
              <a:graphicFrameLocks noChangeAspect="1"/>
            </p:cNvGraphicFramePr>
            <p:nvPr/>
          </p:nvGraphicFramePr>
          <p:xfrm>
            <a:off x="3923" y="2631"/>
            <a:ext cx="106" cy="164"/>
          </p:xfrm>
          <a:graphic>
            <a:graphicData uri="http://schemas.openxmlformats.org/presentationml/2006/ole">
              <p:oleObj spid="_x0000_s61470" name="公式" r:id="rId24" imgW="154800" imgH="252720" progId="Equation.3">
                <p:embed/>
              </p:oleObj>
            </a:graphicData>
          </a:graphic>
        </p:graphicFrame>
        <p:sp>
          <p:nvSpPr>
            <p:cNvPr id="61471" name="Line 35"/>
            <p:cNvSpPr>
              <a:spLocks noChangeShapeType="1"/>
            </p:cNvSpPr>
            <p:nvPr/>
          </p:nvSpPr>
          <p:spPr bwMode="auto">
            <a:xfrm flipV="1">
              <a:off x="4105" y="1933"/>
              <a:ext cx="0" cy="137"/>
            </a:xfrm>
            <a:prstGeom prst="line">
              <a:avLst/>
            </a:prstGeom>
            <a:noFill/>
            <a:ln w="9525">
              <a:solidFill>
                <a:srgbClr val="CCCCFF"/>
              </a:solidFill>
              <a:round/>
              <a:headEnd/>
              <a:tailEnd type="triangle" w="med" len="med"/>
            </a:ln>
            <a:effectLst/>
          </p:spPr>
          <p:txBody>
            <a:bodyPr/>
            <a:lstStyle/>
            <a:p>
              <a:endParaRPr lang="zh-CN" altLang="en-US"/>
            </a:p>
          </p:txBody>
        </p:sp>
      </p:grpSp>
    </p:spTree>
  </p:cSld>
  <p:clrMapOvr>
    <a:overrideClrMapping bg1="dk2" tx1="lt1" bg2="dk1" tx2="lt2" accent1="accent1" accent2="accent2" accent3="accent3" accent4="accent4" accent5="accent5" accent6="accent6" hlink="hlink" folHlink="folHlink"/>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44410"/>
                                        </p:tgtEl>
                                        <p:attrNameLst>
                                          <p:attrName>style.visibility</p:attrName>
                                        </p:attrNameLst>
                                      </p:cBhvr>
                                      <p:to>
                                        <p:strVal val="visible"/>
                                      </p:to>
                                    </p:set>
                                    <p:animEffect transition="in" filter="wipe(left)">
                                      <p:cBhvr>
                                        <p:cTn id="7" dur="500"/>
                                        <p:tgtEl>
                                          <p:spTgt spid="144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4408"/>
                                        </p:tgtEl>
                                        <p:attrNameLst>
                                          <p:attrName>style.visibility</p:attrName>
                                        </p:attrNameLst>
                                      </p:cBhvr>
                                      <p:to>
                                        <p:strVal val="visible"/>
                                      </p:to>
                                    </p:set>
                                    <p:animEffect transition="in" filter="wipe(left)">
                                      <p:cBhvr>
                                        <p:cTn id="12" dur="500"/>
                                        <p:tgtEl>
                                          <p:spTgt spid="144408"/>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44409"/>
                                        </p:tgtEl>
                                        <p:attrNameLst>
                                          <p:attrName>style.visibility</p:attrName>
                                        </p:attrNameLst>
                                      </p:cBhvr>
                                      <p:to>
                                        <p:strVal val="visible"/>
                                      </p:to>
                                    </p:set>
                                    <p:animEffect transition="in" filter="wipe(left)">
                                      <p:cBhvr>
                                        <p:cTn id="15" dur="500"/>
                                        <p:tgtEl>
                                          <p:spTgt spid="14440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144407"/>
                                        </p:tgtEl>
                                        <p:attrNameLst>
                                          <p:attrName>style.visibility</p:attrName>
                                        </p:attrNameLst>
                                      </p:cBhvr>
                                      <p:to>
                                        <p:strVal val="visible"/>
                                      </p:to>
                                    </p:set>
                                    <p:animEffect transition="in" filter="box(in)">
                                      <p:cBhvr>
                                        <p:cTn id="20" dur="500"/>
                                        <p:tgtEl>
                                          <p:spTgt spid="14440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44400"/>
                                        </p:tgtEl>
                                        <p:attrNameLst>
                                          <p:attrName>style.visibility</p:attrName>
                                        </p:attrNameLst>
                                      </p:cBhvr>
                                      <p:to>
                                        <p:strVal val="visible"/>
                                      </p:to>
                                    </p:set>
                                    <p:animEffect transition="in" filter="wipe(down)">
                                      <p:cBhvr>
                                        <p:cTn id="25" dur="500"/>
                                        <p:tgtEl>
                                          <p:spTgt spid="14440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44401"/>
                                        </p:tgtEl>
                                        <p:attrNameLst>
                                          <p:attrName>style.visibility</p:attrName>
                                        </p:attrNameLst>
                                      </p:cBhvr>
                                      <p:to>
                                        <p:strVal val="visible"/>
                                      </p:to>
                                    </p:set>
                                    <p:animEffect transition="in" filter="wipe(left)">
                                      <p:cBhvr>
                                        <p:cTn id="30" dur="500"/>
                                        <p:tgtEl>
                                          <p:spTgt spid="144401"/>
                                        </p:tgtEl>
                                      </p:cBhvr>
                                    </p:animEffect>
                                  </p:childTnLst>
                                </p:cTn>
                              </p:par>
                            </p:childTnLst>
                          </p:cTn>
                        </p:par>
                        <p:par>
                          <p:cTn id="31" fill="hold" nodeType="afterGroup">
                            <p:stCondLst>
                              <p:cond delay="500"/>
                            </p:stCondLst>
                            <p:childTnLst>
                              <p:par>
                                <p:cTn id="32" presetID="9" presetClass="entr" presetSubtype="0" fill="hold" nodeType="afterEffect">
                                  <p:stCondLst>
                                    <p:cond delay="0"/>
                                  </p:stCondLst>
                                  <p:childTnLst>
                                    <p:set>
                                      <p:cBhvr>
                                        <p:cTn id="33" dur="1" fill="hold">
                                          <p:stCondLst>
                                            <p:cond delay="0"/>
                                          </p:stCondLst>
                                        </p:cTn>
                                        <p:tgtEl>
                                          <p:spTgt spid="144404"/>
                                        </p:tgtEl>
                                        <p:attrNameLst>
                                          <p:attrName>style.visibility</p:attrName>
                                        </p:attrNameLst>
                                      </p:cBhvr>
                                      <p:to>
                                        <p:strVal val="visible"/>
                                      </p:to>
                                    </p:set>
                                    <p:animEffect transition="in" filter="dissolve">
                                      <p:cBhvr>
                                        <p:cTn id="34" dur="500"/>
                                        <p:tgtEl>
                                          <p:spTgt spid="14440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44405"/>
                                        </p:tgtEl>
                                        <p:attrNameLst>
                                          <p:attrName>style.visibility</p:attrName>
                                        </p:attrNameLst>
                                      </p:cBhvr>
                                      <p:to>
                                        <p:strVal val="visible"/>
                                      </p:to>
                                    </p:set>
                                    <p:animEffect transition="in" filter="wipe(down)">
                                      <p:cBhvr>
                                        <p:cTn id="39" dur="500"/>
                                        <p:tgtEl>
                                          <p:spTgt spid="144405"/>
                                        </p:tgtEl>
                                      </p:cBhvr>
                                    </p:animEffect>
                                  </p:childTnLst>
                                </p:cTn>
                              </p:par>
                            </p:childTnLst>
                          </p:cTn>
                        </p:par>
                        <p:par>
                          <p:cTn id="40" fill="hold" nodeType="afterGroup">
                            <p:stCondLst>
                              <p:cond delay="500"/>
                            </p:stCondLst>
                            <p:childTnLst>
                              <p:par>
                                <p:cTn id="41" presetID="1" presetClass="entr" presetSubtype="0" fill="hold" grpId="0" nodeType="afterEffect">
                                  <p:stCondLst>
                                    <p:cond delay="0"/>
                                  </p:stCondLst>
                                  <p:childTnLst>
                                    <p:set>
                                      <p:cBhvr>
                                        <p:cTn id="42" dur="1" fill="hold">
                                          <p:stCondLst>
                                            <p:cond delay="499"/>
                                          </p:stCondLst>
                                        </p:cTn>
                                        <p:tgtEl>
                                          <p:spTgt spid="14440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3" fill="hold" nodeType="clickEffect">
                                  <p:stCondLst>
                                    <p:cond delay="0"/>
                                  </p:stCondLst>
                                  <p:childTnLst>
                                    <p:set>
                                      <p:cBhvr>
                                        <p:cTn id="46" dur="1" fill="hold">
                                          <p:stCondLst>
                                            <p:cond delay="0"/>
                                          </p:stCondLst>
                                        </p:cTn>
                                        <p:tgtEl>
                                          <p:spTgt spid="144386"/>
                                        </p:tgtEl>
                                        <p:attrNameLst>
                                          <p:attrName>style.visibility</p:attrName>
                                        </p:attrNameLst>
                                      </p:cBhvr>
                                      <p:to>
                                        <p:strVal val="visible"/>
                                      </p:to>
                                    </p:set>
                                    <p:animEffect transition="in" filter="strips(upRight)">
                                      <p:cBhvr>
                                        <p:cTn id="47" dur="500"/>
                                        <p:tgtEl>
                                          <p:spTgt spid="144386"/>
                                        </p:tgtEl>
                                      </p:cBhvr>
                                    </p:animEffect>
                                  </p:childTnLst>
                                </p:cTn>
                              </p:par>
                            </p:childTnLst>
                          </p:cTn>
                        </p:par>
                        <p:par>
                          <p:cTn id="48" fill="hold" nodeType="afterGroup">
                            <p:stCondLst>
                              <p:cond delay="500"/>
                            </p:stCondLst>
                            <p:childTnLst>
                              <p:par>
                                <p:cTn id="49" presetID="1" presetClass="entr" presetSubtype="0" fill="hold" nodeType="afterEffect">
                                  <p:stCondLst>
                                    <p:cond delay="0"/>
                                  </p:stCondLst>
                                  <p:childTnLst>
                                    <p:set>
                                      <p:cBhvr>
                                        <p:cTn id="50" dur="1" fill="hold">
                                          <p:stCondLst>
                                            <p:cond delay="499"/>
                                          </p:stCondLst>
                                        </p:cTn>
                                        <p:tgtEl>
                                          <p:spTgt spid="144392"/>
                                        </p:tgtEl>
                                        <p:attrNameLst>
                                          <p:attrName>style.visibility</p:attrName>
                                        </p:attrNameLst>
                                      </p:cBhvr>
                                      <p:to>
                                        <p:strVal val="visible"/>
                                      </p:to>
                                    </p:set>
                                  </p:childTnLst>
                                </p:cTn>
                              </p:par>
                            </p:childTnLst>
                          </p:cTn>
                        </p:par>
                        <p:par>
                          <p:cTn id="51" fill="hold" nodeType="afterGroup">
                            <p:stCondLst>
                              <p:cond delay="1000"/>
                            </p:stCondLst>
                            <p:childTnLst>
                              <p:par>
                                <p:cTn id="52" presetID="9" presetClass="entr" presetSubtype="0" fill="hold" nodeType="afterEffect">
                                  <p:stCondLst>
                                    <p:cond delay="0"/>
                                  </p:stCondLst>
                                  <p:childTnLst>
                                    <p:set>
                                      <p:cBhvr>
                                        <p:cTn id="53" dur="1" fill="hold">
                                          <p:stCondLst>
                                            <p:cond delay="0"/>
                                          </p:stCondLst>
                                        </p:cTn>
                                        <p:tgtEl>
                                          <p:spTgt spid="144397"/>
                                        </p:tgtEl>
                                        <p:attrNameLst>
                                          <p:attrName>style.visibility</p:attrName>
                                        </p:attrNameLst>
                                      </p:cBhvr>
                                      <p:to>
                                        <p:strVal val="visible"/>
                                      </p:to>
                                    </p:set>
                                    <p:animEffect transition="in" filter="dissolve">
                                      <p:cBhvr>
                                        <p:cTn id="54" dur="500"/>
                                        <p:tgtEl>
                                          <p:spTgt spid="14439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8" presetClass="entr" presetSubtype="3" fill="hold" nodeType="clickEffect">
                                  <p:stCondLst>
                                    <p:cond delay="0"/>
                                  </p:stCondLst>
                                  <p:childTnLst>
                                    <p:set>
                                      <p:cBhvr>
                                        <p:cTn id="58" dur="1" fill="hold">
                                          <p:stCondLst>
                                            <p:cond delay="0"/>
                                          </p:stCondLst>
                                        </p:cTn>
                                        <p:tgtEl>
                                          <p:spTgt spid="144387"/>
                                        </p:tgtEl>
                                        <p:attrNameLst>
                                          <p:attrName>style.visibility</p:attrName>
                                        </p:attrNameLst>
                                      </p:cBhvr>
                                      <p:to>
                                        <p:strVal val="visible"/>
                                      </p:to>
                                    </p:set>
                                    <p:animEffect transition="in" filter="strips(upRight)">
                                      <p:cBhvr>
                                        <p:cTn id="59" dur="500"/>
                                        <p:tgtEl>
                                          <p:spTgt spid="144387"/>
                                        </p:tgtEl>
                                      </p:cBhvr>
                                    </p:animEffect>
                                  </p:childTnLst>
                                </p:cTn>
                              </p:par>
                            </p:childTnLst>
                          </p:cTn>
                        </p:par>
                        <p:par>
                          <p:cTn id="60" fill="hold" nodeType="afterGroup">
                            <p:stCondLst>
                              <p:cond delay="500"/>
                            </p:stCondLst>
                            <p:childTnLst>
                              <p:par>
                                <p:cTn id="61" presetID="1" presetClass="entr" presetSubtype="0" fill="hold" nodeType="afterEffect">
                                  <p:stCondLst>
                                    <p:cond delay="0"/>
                                  </p:stCondLst>
                                  <p:childTnLst>
                                    <p:set>
                                      <p:cBhvr>
                                        <p:cTn id="62" dur="1" fill="hold">
                                          <p:stCondLst>
                                            <p:cond delay="499"/>
                                          </p:stCondLst>
                                        </p:cTn>
                                        <p:tgtEl>
                                          <p:spTgt spid="144396"/>
                                        </p:tgtEl>
                                        <p:attrNameLst>
                                          <p:attrName>style.visibility</p:attrName>
                                        </p:attrNameLst>
                                      </p:cBhvr>
                                      <p:to>
                                        <p:strVal val="visible"/>
                                      </p:to>
                                    </p:set>
                                  </p:childTnLst>
                                </p:cTn>
                              </p:par>
                            </p:childTnLst>
                          </p:cTn>
                        </p:par>
                        <p:par>
                          <p:cTn id="63" fill="hold" nodeType="afterGroup">
                            <p:stCondLst>
                              <p:cond delay="1000"/>
                            </p:stCondLst>
                            <p:childTnLst>
                              <p:par>
                                <p:cTn id="64" presetID="22" presetClass="entr" presetSubtype="8" fill="hold" nodeType="afterEffect">
                                  <p:stCondLst>
                                    <p:cond delay="1000"/>
                                  </p:stCondLst>
                                  <p:childTnLst>
                                    <p:set>
                                      <p:cBhvr>
                                        <p:cTn id="65" dur="1" fill="hold">
                                          <p:stCondLst>
                                            <p:cond delay="0"/>
                                          </p:stCondLst>
                                        </p:cTn>
                                        <p:tgtEl>
                                          <p:spTgt spid="144388"/>
                                        </p:tgtEl>
                                        <p:attrNameLst>
                                          <p:attrName>style.visibility</p:attrName>
                                        </p:attrNameLst>
                                      </p:cBhvr>
                                      <p:to>
                                        <p:strVal val="visible"/>
                                      </p:to>
                                    </p:set>
                                    <p:animEffect transition="in" filter="wipe(left)">
                                      <p:cBhvr>
                                        <p:cTn id="66" dur="500"/>
                                        <p:tgtEl>
                                          <p:spTgt spid="144388"/>
                                        </p:tgtEl>
                                      </p:cBhvr>
                                    </p:animEffect>
                                  </p:childTnLst>
                                </p:cTn>
                              </p:par>
                            </p:childTnLst>
                          </p:cTn>
                        </p:par>
                        <p:par>
                          <p:cTn id="67" fill="hold" nodeType="afterGroup">
                            <p:stCondLst>
                              <p:cond delay="2500"/>
                            </p:stCondLst>
                            <p:childTnLst>
                              <p:par>
                                <p:cTn id="68" presetID="1" presetClass="entr" presetSubtype="0" fill="hold" nodeType="afterEffect">
                                  <p:stCondLst>
                                    <p:cond delay="0"/>
                                  </p:stCondLst>
                                  <p:childTnLst>
                                    <p:set>
                                      <p:cBhvr>
                                        <p:cTn id="69" dur="1" fill="hold">
                                          <p:stCondLst>
                                            <p:cond delay="499"/>
                                          </p:stCondLst>
                                        </p:cTn>
                                        <p:tgtEl>
                                          <p:spTgt spid="144395"/>
                                        </p:tgtEl>
                                        <p:attrNameLst>
                                          <p:attrName>style.visibility</p:attrName>
                                        </p:attrNameLst>
                                      </p:cBhvr>
                                      <p:to>
                                        <p:strVal val="visible"/>
                                      </p:to>
                                    </p:set>
                                  </p:childTnLst>
                                </p:cTn>
                              </p:par>
                            </p:childTnLst>
                          </p:cTn>
                        </p:par>
                        <p:par>
                          <p:cTn id="70" fill="hold" nodeType="afterGroup">
                            <p:stCondLst>
                              <p:cond delay="3000"/>
                            </p:stCondLst>
                            <p:childTnLst>
                              <p:par>
                                <p:cTn id="71" presetID="22" presetClass="entr" presetSubtype="8" fill="hold" nodeType="afterEffect">
                                  <p:stCondLst>
                                    <p:cond delay="1000"/>
                                  </p:stCondLst>
                                  <p:childTnLst>
                                    <p:set>
                                      <p:cBhvr>
                                        <p:cTn id="72" dur="1" fill="hold">
                                          <p:stCondLst>
                                            <p:cond delay="0"/>
                                          </p:stCondLst>
                                        </p:cTn>
                                        <p:tgtEl>
                                          <p:spTgt spid="144389"/>
                                        </p:tgtEl>
                                        <p:attrNameLst>
                                          <p:attrName>style.visibility</p:attrName>
                                        </p:attrNameLst>
                                      </p:cBhvr>
                                      <p:to>
                                        <p:strVal val="visible"/>
                                      </p:to>
                                    </p:set>
                                    <p:animEffect transition="in" filter="wipe(left)">
                                      <p:cBhvr>
                                        <p:cTn id="73" dur="500"/>
                                        <p:tgtEl>
                                          <p:spTgt spid="144389"/>
                                        </p:tgtEl>
                                      </p:cBhvr>
                                    </p:animEffect>
                                  </p:childTnLst>
                                </p:cTn>
                              </p:par>
                            </p:childTnLst>
                          </p:cTn>
                        </p:par>
                        <p:par>
                          <p:cTn id="74" fill="hold" nodeType="afterGroup">
                            <p:stCondLst>
                              <p:cond delay="4500"/>
                            </p:stCondLst>
                            <p:childTnLst>
                              <p:par>
                                <p:cTn id="75" presetID="1" presetClass="entr" presetSubtype="0" fill="hold" nodeType="afterEffect">
                                  <p:stCondLst>
                                    <p:cond delay="0"/>
                                  </p:stCondLst>
                                  <p:childTnLst>
                                    <p:set>
                                      <p:cBhvr>
                                        <p:cTn id="76" dur="1" fill="hold">
                                          <p:stCondLst>
                                            <p:cond delay="499"/>
                                          </p:stCondLst>
                                        </p:cTn>
                                        <p:tgtEl>
                                          <p:spTgt spid="144393"/>
                                        </p:tgtEl>
                                        <p:attrNameLst>
                                          <p:attrName>style.visibility</p:attrName>
                                        </p:attrNameLst>
                                      </p:cBhvr>
                                      <p:to>
                                        <p:strVal val="visible"/>
                                      </p:to>
                                    </p:set>
                                  </p:childTnLst>
                                </p:cTn>
                              </p:par>
                            </p:childTnLst>
                          </p:cTn>
                        </p:par>
                        <p:par>
                          <p:cTn id="77" fill="hold" nodeType="afterGroup">
                            <p:stCondLst>
                              <p:cond delay="5000"/>
                            </p:stCondLst>
                            <p:childTnLst>
                              <p:par>
                                <p:cTn id="78" presetID="18" presetClass="entr" presetSubtype="6" fill="hold" nodeType="afterEffect">
                                  <p:stCondLst>
                                    <p:cond delay="1000"/>
                                  </p:stCondLst>
                                  <p:childTnLst>
                                    <p:set>
                                      <p:cBhvr>
                                        <p:cTn id="79" dur="1" fill="hold">
                                          <p:stCondLst>
                                            <p:cond delay="0"/>
                                          </p:stCondLst>
                                        </p:cTn>
                                        <p:tgtEl>
                                          <p:spTgt spid="144390"/>
                                        </p:tgtEl>
                                        <p:attrNameLst>
                                          <p:attrName>style.visibility</p:attrName>
                                        </p:attrNameLst>
                                      </p:cBhvr>
                                      <p:to>
                                        <p:strVal val="visible"/>
                                      </p:to>
                                    </p:set>
                                    <p:animEffect transition="in" filter="strips(downRight)">
                                      <p:cBhvr>
                                        <p:cTn id="80" dur="500"/>
                                        <p:tgtEl>
                                          <p:spTgt spid="144390"/>
                                        </p:tgtEl>
                                      </p:cBhvr>
                                    </p:animEffect>
                                  </p:childTnLst>
                                </p:cTn>
                              </p:par>
                            </p:childTnLst>
                          </p:cTn>
                        </p:par>
                        <p:par>
                          <p:cTn id="81" fill="hold" nodeType="afterGroup">
                            <p:stCondLst>
                              <p:cond delay="6500"/>
                            </p:stCondLst>
                            <p:childTnLst>
                              <p:par>
                                <p:cTn id="82" presetID="1" presetClass="entr" presetSubtype="0" fill="hold" nodeType="afterEffect">
                                  <p:stCondLst>
                                    <p:cond delay="0"/>
                                  </p:stCondLst>
                                  <p:childTnLst>
                                    <p:set>
                                      <p:cBhvr>
                                        <p:cTn id="83" dur="1" fill="hold">
                                          <p:stCondLst>
                                            <p:cond delay="499"/>
                                          </p:stCondLst>
                                        </p:cTn>
                                        <p:tgtEl>
                                          <p:spTgt spid="144394"/>
                                        </p:tgtEl>
                                        <p:attrNameLst>
                                          <p:attrName>style.visibility</p:attrName>
                                        </p:attrNameLst>
                                      </p:cBhvr>
                                      <p:to>
                                        <p:strVal val="visible"/>
                                      </p:to>
                                    </p:set>
                                  </p:childTnLst>
                                </p:cTn>
                              </p:par>
                            </p:childTnLst>
                          </p:cTn>
                        </p:par>
                        <p:par>
                          <p:cTn id="84" fill="hold" nodeType="afterGroup">
                            <p:stCondLst>
                              <p:cond delay="7000"/>
                            </p:stCondLst>
                            <p:childTnLst>
                              <p:par>
                                <p:cTn id="85" presetID="9" presetClass="entr" presetSubtype="0" fill="hold" nodeType="afterEffect">
                                  <p:stCondLst>
                                    <p:cond delay="1000"/>
                                  </p:stCondLst>
                                  <p:childTnLst>
                                    <p:set>
                                      <p:cBhvr>
                                        <p:cTn id="86" dur="1" fill="hold">
                                          <p:stCondLst>
                                            <p:cond delay="0"/>
                                          </p:stCondLst>
                                        </p:cTn>
                                        <p:tgtEl>
                                          <p:spTgt spid="144391"/>
                                        </p:tgtEl>
                                        <p:attrNameLst>
                                          <p:attrName>style.visibility</p:attrName>
                                        </p:attrNameLst>
                                      </p:cBhvr>
                                      <p:to>
                                        <p:strVal val="visible"/>
                                      </p:to>
                                    </p:set>
                                    <p:animEffect transition="in" filter="dissolve">
                                      <p:cBhvr>
                                        <p:cTn id="87" dur="500"/>
                                        <p:tgtEl>
                                          <p:spTgt spid="144391"/>
                                        </p:tgtEl>
                                      </p:cBhvr>
                                    </p:animEffect>
                                  </p:childTnLst>
                                </p:cTn>
                              </p:par>
                            </p:childTnLst>
                          </p:cTn>
                        </p:par>
                        <p:par>
                          <p:cTn id="88" fill="hold" nodeType="afterGroup">
                            <p:stCondLst>
                              <p:cond delay="8500"/>
                            </p:stCondLst>
                            <p:childTnLst>
                              <p:par>
                                <p:cTn id="89" presetID="1" presetClass="entr" presetSubtype="0" fill="hold" nodeType="afterEffect">
                                  <p:stCondLst>
                                    <p:cond delay="1000"/>
                                  </p:stCondLst>
                                  <p:childTnLst>
                                    <p:set>
                                      <p:cBhvr>
                                        <p:cTn id="90" dur="1" fill="hold">
                                          <p:stCondLst>
                                            <p:cond delay="499"/>
                                          </p:stCondLst>
                                        </p:cTn>
                                        <p:tgtEl>
                                          <p:spTgt spid="144398"/>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4" presetClass="entr" presetSubtype="32" fill="hold" nodeType="clickEffect">
                                  <p:stCondLst>
                                    <p:cond delay="0"/>
                                  </p:stCondLst>
                                  <p:childTnLst>
                                    <p:set>
                                      <p:cBhvr>
                                        <p:cTn id="94" dur="1" fill="hold">
                                          <p:stCondLst>
                                            <p:cond delay="0"/>
                                          </p:stCondLst>
                                        </p:cTn>
                                        <p:tgtEl>
                                          <p:spTgt spid="144413"/>
                                        </p:tgtEl>
                                        <p:attrNameLst>
                                          <p:attrName>style.visibility</p:attrName>
                                        </p:attrNameLst>
                                      </p:cBhvr>
                                      <p:to>
                                        <p:strVal val="visible"/>
                                      </p:to>
                                    </p:set>
                                    <p:animEffect transition="in" filter="box(out)">
                                      <p:cBhvr>
                                        <p:cTn id="95" dur="500"/>
                                        <p:tgtEl>
                                          <p:spTgt spid="144413"/>
                                        </p:tgtEl>
                                      </p:cBhvr>
                                    </p:animEffect>
                                  </p:childTnLst>
                                  <p:subTnLst>
                                    <p:audio>
                                      <p:cMediaNode>
                                        <p:cTn display="0" masterRel="sameClick">
                                          <p:stCondLst>
                                            <p:cond evt="begin" delay="0">
                                              <p:tn val="93"/>
                                            </p:cond>
                                          </p:stCondLst>
                                          <p:endCondLst>
                                            <p:cond evt="onStopAudio" delay="0">
                                              <p:tgtEl>
                                                <p:sldTgt/>
                                              </p:tgtEl>
                                            </p:cond>
                                          </p:endCondLst>
                                        </p:cTn>
                                        <p:tgtEl>
                                          <p:sndTgt r:embed="rId4" name="camera.wav" builtIn="1"/>
                                        </p:tgtEl>
                                      </p:cMediaNode>
                                    </p:audio>
                                  </p:subTnLst>
                                </p:cTn>
                              </p:par>
                            </p:childTnLst>
                          </p:cTn>
                        </p:par>
                        <p:par>
                          <p:cTn id="96" fill="hold" nodeType="afterGroup">
                            <p:stCondLst>
                              <p:cond delay="500"/>
                            </p:stCondLst>
                            <p:childTnLst>
                              <p:par>
                                <p:cTn id="97" presetID="1" presetClass="entr" presetSubtype="0" fill="hold" nodeType="afterEffect">
                                  <p:stCondLst>
                                    <p:cond delay="0"/>
                                  </p:stCondLst>
                                  <p:childTnLst>
                                    <p:set>
                                      <p:cBhvr>
                                        <p:cTn id="98" dur="1" fill="hold">
                                          <p:stCondLst>
                                            <p:cond delay="499"/>
                                          </p:stCondLst>
                                        </p:cTn>
                                        <p:tgtEl>
                                          <p:spTgt spid="1443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400" grpId="0"/>
      <p:bldP spid="144405" grpId="0" animBg="1"/>
      <p:bldP spid="144406" grpId="0" autoUpdateAnimBg="0"/>
      <p:bldP spid="144408" grpId="0"/>
      <p:bldP spid="144409"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410" name="Text Box 2"/>
          <p:cNvSpPr txBox="1">
            <a:spLocks noChangeArrowheads="1"/>
          </p:cNvSpPr>
          <p:nvPr/>
        </p:nvSpPr>
        <p:spPr bwMode="auto">
          <a:xfrm>
            <a:off x="323850" y="977900"/>
            <a:ext cx="2987675" cy="457200"/>
          </a:xfrm>
          <a:prstGeom prst="rect">
            <a:avLst/>
          </a:prstGeom>
          <a:noFill/>
          <a:ln w="9525">
            <a:noFill/>
            <a:miter lim="800000"/>
            <a:headEnd/>
            <a:tailEnd/>
          </a:ln>
          <a:effectLst/>
        </p:spPr>
        <p:txBody>
          <a:bodyPr>
            <a:spAutoFit/>
          </a:bodyPr>
          <a:lstStyle/>
          <a:p>
            <a:r>
              <a:rPr lang="en-US" altLang="zh-CN" b="1">
                <a:solidFill>
                  <a:schemeClr val="bg1"/>
                </a:solidFill>
              </a:rPr>
              <a:t>(1) </a:t>
            </a:r>
            <a:r>
              <a:rPr lang="zh-CN" altLang="en-US" b="1">
                <a:solidFill>
                  <a:schemeClr val="bg1"/>
                </a:solidFill>
                <a:ea typeface="楷体_GB2312" pitchFamily="49" charset="-122"/>
              </a:rPr>
              <a:t>实验现象</a:t>
            </a:r>
          </a:p>
        </p:txBody>
      </p:sp>
      <p:grpSp>
        <p:nvGrpSpPr>
          <p:cNvPr id="145411" name="Group 3"/>
          <p:cNvGrpSpPr>
            <a:grpSpLocks/>
          </p:cNvGrpSpPr>
          <p:nvPr/>
        </p:nvGrpSpPr>
        <p:grpSpPr bwMode="auto">
          <a:xfrm rot="-5400000">
            <a:off x="6873875" y="1244600"/>
            <a:ext cx="1371600" cy="685800"/>
            <a:chOff x="2064" y="3552"/>
            <a:chExt cx="864" cy="432"/>
          </a:xfrm>
        </p:grpSpPr>
        <p:sp>
          <p:nvSpPr>
            <p:cNvPr id="62513" name="Rectangle 4"/>
            <p:cNvSpPr>
              <a:spLocks noChangeArrowheads="1"/>
            </p:cNvSpPr>
            <p:nvPr/>
          </p:nvSpPr>
          <p:spPr bwMode="auto">
            <a:xfrm>
              <a:off x="2064" y="3552"/>
              <a:ext cx="864" cy="432"/>
            </a:xfrm>
            <a:prstGeom prst="rect">
              <a:avLst/>
            </a:prstGeom>
            <a:solidFill>
              <a:schemeClr val="tx1"/>
            </a:solidFill>
            <a:ln w="9525">
              <a:solidFill>
                <a:schemeClr val="tx1"/>
              </a:solidFill>
              <a:miter lim="800000"/>
              <a:headEnd/>
              <a:tailEnd/>
            </a:ln>
            <a:effectLst/>
          </p:spPr>
          <p:txBody>
            <a:bodyPr wrap="none" anchor="ctr"/>
            <a:lstStyle/>
            <a:p>
              <a:endParaRPr lang="zh-CN" altLang="en-US"/>
            </a:p>
          </p:txBody>
        </p:sp>
        <p:sp>
          <p:nvSpPr>
            <p:cNvPr id="62514" name="Line 5"/>
            <p:cNvSpPr>
              <a:spLocks noChangeShapeType="1"/>
            </p:cNvSpPr>
            <p:nvPr/>
          </p:nvSpPr>
          <p:spPr bwMode="auto">
            <a:xfrm>
              <a:off x="2496" y="3552"/>
              <a:ext cx="0" cy="432"/>
            </a:xfrm>
            <a:prstGeom prst="line">
              <a:avLst/>
            </a:prstGeom>
            <a:noFill/>
            <a:ln w="38100">
              <a:solidFill>
                <a:schemeClr val="bg1"/>
              </a:solidFill>
              <a:round/>
              <a:headEnd/>
              <a:tailEnd/>
            </a:ln>
            <a:effectLst/>
          </p:spPr>
          <p:txBody>
            <a:bodyPr/>
            <a:lstStyle/>
            <a:p>
              <a:endParaRPr lang="zh-CN" altLang="en-US"/>
            </a:p>
          </p:txBody>
        </p:sp>
      </p:grpSp>
      <p:grpSp>
        <p:nvGrpSpPr>
          <p:cNvPr id="145414" name="Group 6"/>
          <p:cNvGrpSpPr>
            <a:grpSpLocks/>
          </p:cNvGrpSpPr>
          <p:nvPr/>
        </p:nvGrpSpPr>
        <p:grpSpPr bwMode="auto">
          <a:xfrm>
            <a:off x="7216775" y="904875"/>
            <a:ext cx="685800" cy="1371600"/>
            <a:chOff x="3552" y="432"/>
            <a:chExt cx="432" cy="864"/>
          </a:xfrm>
        </p:grpSpPr>
        <p:sp>
          <p:nvSpPr>
            <p:cNvPr id="62511" name="Rectangle 7"/>
            <p:cNvSpPr>
              <a:spLocks noChangeArrowheads="1"/>
            </p:cNvSpPr>
            <p:nvPr/>
          </p:nvSpPr>
          <p:spPr bwMode="auto">
            <a:xfrm rot="-5400000">
              <a:off x="3336" y="648"/>
              <a:ext cx="864" cy="432"/>
            </a:xfrm>
            <a:prstGeom prst="rect">
              <a:avLst/>
            </a:prstGeom>
            <a:solidFill>
              <a:srgbClr val="C0C0C0">
                <a:alpha val="47842"/>
              </a:srgbClr>
            </a:solidFill>
            <a:ln w="9525">
              <a:solidFill>
                <a:schemeClr val="tx1"/>
              </a:solidFill>
              <a:miter lim="800000"/>
              <a:headEnd/>
              <a:tailEnd/>
            </a:ln>
            <a:effectLst/>
          </p:spPr>
          <p:txBody>
            <a:bodyPr wrap="none" anchor="ctr"/>
            <a:lstStyle/>
            <a:p>
              <a:endParaRPr lang="zh-CN" altLang="en-US"/>
            </a:p>
          </p:txBody>
        </p:sp>
        <p:sp>
          <p:nvSpPr>
            <p:cNvPr id="62512" name="Line 8"/>
            <p:cNvSpPr>
              <a:spLocks noChangeShapeType="1"/>
            </p:cNvSpPr>
            <p:nvPr/>
          </p:nvSpPr>
          <p:spPr bwMode="auto">
            <a:xfrm rot="-5400000">
              <a:off x="3768" y="648"/>
              <a:ext cx="0" cy="432"/>
            </a:xfrm>
            <a:prstGeom prst="line">
              <a:avLst/>
            </a:prstGeom>
            <a:noFill/>
            <a:ln w="19050">
              <a:solidFill>
                <a:schemeClr val="bg1"/>
              </a:solidFill>
              <a:round/>
              <a:headEnd/>
              <a:tailEnd/>
            </a:ln>
            <a:effectLst/>
          </p:spPr>
          <p:txBody>
            <a:bodyPr/>
            <a:lstStyle/>
            <a:p>
              <a:endParaRPr lang="zh-CN" altLang="en-US"/>
            </a:p>
          </p:txBody>
        </p:sp>
      </p:grpSp>
      <p:sp>
        <p:nvSpPr>
          <p:cNvPr id="145417" name="Text Box 9"/>
          <p:cNvSpPr txBox="1">
            <a:spLocks noChangeArrowheads="1"/>
          </p:cNvSpPr>
          <p:nvPr/>
        </p:nvSpPr>
        <p:spPr bwMode="auto">
          <a:xfrm>
            <a:off x="8172450" y="1333500"/>
            <a:ext cx="420688" cy="457200"/>
          </a:xfrm>
          <a:prstGeom prst="rect">
            <a:avLst/>
          </a:prstGeom>
          <a:noFill/>
          <a:ln w="9525">
            <a:noFill/>
            <a:miter lim="800000"/>
            <a:headEnd/>
            <a:tailEnd/>
          </a:ln>
          <a:effectLst/>
        </p:spPr>
        <p:txBody>
          <a:bodyPr wrap="none">
            <a:spAutoFit/>
          </a:bodyPr>
          <a:lstStyle/>
          <a:p>
            <a:r>
              <a:rPr lang="en-US" altLang="zh-CN" b="1" i="1">
                <a:solidFill>
                  <a:schemeClr val="bg1"/>
                </a:solidFill>
              </a:rPr>
              <a:t>v</a:t>
            </a:r>
            <a:r>
              <a:rPr lang="en-US" altLang="zh-CN" b="1" baseline="-20000">
                <a:solidFill>
                  <a:schemeClr val="bg1"/>
                </a:solidFill>
              </a:rPr>
              <a:t>0</a:t>
            </a:r>
            <a:endParaRPr lang="en-US" altLang="zh-CN" b="1">
              <a:solidFill>
                <a:schemeClr val="bg1"/>
              </a:solidFill>
            </a:endParaRPr>
          </a:p>
        </p:txBody>
      </p:sp>
      <p:sp>
        <p:nvSpPr>
          <p:cNvPr id="145418" name="Text Box 10"/>
          <p:cNvSpPr txBox="1">
            <a:spLocks noChangeArrowheads="1"/>
          </p:cNvSpPr>
          <p:nvPr/>
        </p:nvSpPr>
        <p:spPr bwMode="auto">
          <a:xfrm>
            <a:off x="7889875" y="825500"/>
            <a:ext cx="1219200" cy="457200"/>
          </a:xfrm>
          <a:prstGeom prst="rect">
            <a:avLst/>
          </a:prstGeom>
          <a:noFill/>
          <a:ln w="9525">
            <a:noFill/>
            <a:miter lim="800000"/>
            <a:headEnd/>
            <a:tailEnd/>
          </a:ln>
          <a:effectLst/>
        </p:spPr>
        <p:txBody>
          <a:bodyPr>
            <a:spAutoFit/>
          </a:bodyPr>
          <a:lstStyle/>
          <a:p>
            <a:r>
              <a:rPr lang="en-US" altLang="zh-CN" b="1" i="1">
                <a:solidFill>
                  <a:schemeClr val="bg1"/>
                </a:solidFill>
              </a:rPr>
              <a:t>v</a:t>
            </a:r>
            <a:r>
              <a:rPr lang="en-US" altLang="zh-CN" b="1" baseline="-20000">
                <a:solidFill>
                  <a:schemeClr val="bg1"/>
                </a:solidFill>
              </a:rPr>
              <a:t>0 </a:t>
            </a:r>
            <a:r>
              <a:rPr lang="en-US" altLang="zh-CN" sz="2000" b="1">
                <a:solidFill>
                  <a:schemeClr val="bg1"/>
                </a:solidFill>
              </a:rPr>
              <a:t>+</a:t>
            </a:r>
            <a:r>
              <a:rPr lang="en-US" altLang="zh-CN" sz="1800" b="1">
                <a:solidFill>
                  <a:schemeClr val="bg1"/>
                </a:solidFill>
              </a:rPr>
              <a:t>△</a:t>
            </a:r>
            <a:r>
              <a:rPr lang="en-US" altLang="zh-CN" b="1" i="1">
                <a:solidFill>
                  <a:schemeClr val="bg1"/>
                </a:solidFill>
              </a:rPr>
              <a:t>v</a:t>
            </a:r>
          </a:p>
        </p:txBody>
      </p:sp>
      <p:sp>
        <p:nvSpPr>
          <p:cNvPr id="145419" name="Text Box 11"/>
          <p:cNvSpPr txBox="1">
            <a:spLocks noChangeArrowheads="1"/>
          </p:cNvSpPr>
          <p:nvPr/>
        </p:nvSpPr>
        <p:spPr bwMode="auto">
          <a:xfrm>
            <a:off x="7885113" y="1790700"/>
            <a:ext cx="938212" cy="457200"/>
          </a:xfrm>
          <a:prstGeom prst="rect">
            <a:avLst/>
          </a:prstGeom>
          <a:noFill/>
          <a:ln w="9525">
            <a:noFill/>
            <a:miter lim="800000"/>
            <a:headEnd/>
            <a:tailEnd/>
          </a:ln>
          <a:effectLst/>
        </p:spPr>
        <p:txBody>
          <a:bodyPr wrap="none">
            <a:spAutoFit/>
          </a:bodyPr>
          <a:lstStyle/>
          <a:p>
            <a:r>
              <a:rPr lang="en-US" altLang="zh-CN" b="1" i="1">
                <a:solidFill>
                  <a:schemeClr val="bg1"/>
                </a:solidFill>
              </a:rPr>
              <a:t>v</a:t>
            </a:r>
            <a:r>
              <a:rPr lang="en-US" altLang="zh-CN" b="1" baseline="-20000">
                <a:solidFill>
                  <a:schemeClr val="bg1"/>
                </a:solidFill>
              </a:rPr>
              <a:t>0 </a:t>
            </a:r>
            <a:r>
              <a:rPr lang="en-US" altLang="zh-CN" b="1">
                <a:solidFill>
                  <a:schemeClr val="bg1"/>
                </a:solidFill>
              </a:rPr>
              <a:t>-</a:t>
            </a:r>
            <a:r>
              <a:rPr lang="en-US" altLang="zh-CN" sz="1800" b="1">
                <a:solidFill>
                  <a:schemeClr val="bg1"/>
                </a:solidFill>
              </a:rPr>
              <a:t>△</a:t>
            </a:r>
            <a:r>
              <a:rPr lang="en-US" altLang="zh-CN" b="1" i="1">
                <a:solidFill>
                  <a:schemeClr val="bg1"/>
                </a:solidFill>
              </a:rPr>
              <a:t>v</a:t>
            </a:r>
          </a:p>
        </p:txBody>
      </p:sp>
      <p:sp>
        <p:nvSpPr>
          <p:cNvPr id="145420" name="Text Box 12"/>
          <p:cNvSpPr txBox="1">
            <a:spLocks noChangeArrowheads="1"/>
          </p:cNvSpPr>
          <p:nvPr/>
        </p:nvSpPr>
        <p:spPr bwMode="auto">
          <a:xfrm>
            <a:off x="684213" y="1435100"/>
            <a:ext cx="3600450" cy="1006475"/>
          </a:xfrm>
          <a:prstGeom prst="rect">
            <a:avLst/>
          </a:prstGeom>
          <a:noFill/>
          <a:ln w="9525">
            <a:noFill/>
            <a:miter lim="800000"/>
            <a:headEnd/>
            <a:tailEnd/>
          </a:ln>
          <a:effectLst/>
        </p:spPr>
        <p:txBody>
          <a:bodyPr>
            <a:spAutoFit/>
          </a:bodyPr>
          <a:lstStyle/>
          <a:p>
            <a:pPr>
              <a:lnSpc>
                <a:spcPct val="125000"/>
              </a:lnSpc>
            </a:pPr>
            <a:r>
              <a:rPr lang="zh-CN" altLang="en-US" b="1">
                <a:solidFill>
                  <a:schemeClr val="bg1"/>
                </a:solidFill>
                <a:ea typeface="楷体_GB2312" pitchFamily="49" charset="-122"/>
              </a:rPr>
              <a:t>光源处于磁场中时，一条谱线会分裂成若干条谱线</a:t>
            </a:r>
          </a:p>
        </p:txBody>
      </p:sp>
      <p:sp>
        <p:nvSpPr>
          <p:cNvPr id="145421" name="Text Box 13"/>
          <p:cNvSpPr txBox="1">
            <a:spLocks noChangeArrowheads="1"/>
          </p:cNvSpPr>
          <p:nvPr/>
        </p:nvSpPr>
        <p:spPr bwMode="auto">
          <a:xfrm>
            <a:off x="4500563" y="1255713"/>
            <a:ext cx="512762" cy="581025"/>
          </a:xfrm>
          <a:prstGeom prst="rect">
            <a:avLst/>
          </a:prstGeom>
          <a:noFill/>
          <a:ln w="9525">
            <a:noFill/>
            <a:miter lim="800000"/>
            <a:headEnd/>
            <a:tailEnd/>
          </a:ln>
          <a:effectLst/>
        </p:spPr>
        <p:txBody>
          <a:bodyPr>
            <a:spAutoFit/>
          </a:bodyPr>
          <a:lstStyle/>
          <a:p>
            <a:r>
              <a:rPr lang="zh-CN" altLang="en-US" sz="1600" b="1">
                <a:solidFill>
                  <a:schemeClr val="hlink"/>
                </a:solidFill>
              </a:rPr>
              <a:t>光源</a:t>
            </a:r>
          </a:p>
        </p:txBody>
      </p:sp>
      <p:pic>
        <p:nvPicPr>
          <p:cNvPr id="145422" name="Picture 14" descr="原子磁矩1"/>
          <p:cNvPicPr>
            <a:picLocks noChangeAspect="1" noChangeArrowheads="1"/>
          </p:cNvPicPr>
          <p:nvPr/>
        </p:nvPicPr>
        <p:blipFill>
          <a:blip r:embed="rId5">
            <a:clrChange>
              <a:clrFrom>
                <a:srgbClr val="006599"/>
              </a:clrFrom>
              <a:clrTo>
                <a:srgbClr val="006599">
                  <a:alpha val="0"/>
                </a:srgbClr>
              </a:clrTo>
            </a:clrChange>
          </a:blip>
          <a:srcRect/>
          <a:stretch>
            <a:fillRect/>
          </a:stretch>
        </p:blipFill>
        <p:spPr bwMode="auto">
          <a:xfrm>
            <a:off x="6319838" y="3379788"/>
            <a:ext cx="1708150" cy="1811337"/>
          </a:xfrm>
          <a:prstGeom prst="rect">
            <a:avLst/>
          </a:prstGeom>
          <a:noFill/>
          <a:ln w="9525">
            <a:noFill/>
            <a:miter lim="800000"/>
            <a:headEnd/>
            <a:tailEnd/>
          </a:ln>
        </p:spPr>
      </p:pic>
      <p:grpSp>
        <p:nvGrpSpPr>
          <p:cNvPr id="145423" name="Group 15"/>
          <p:cNvGrpSpPr>
            <a:grpSpLocks/>
          </p:cNvGrpSpPr>
          <p:nvPr/>
        </p:nvGrpSpPr>
        <p:grpSpPr bwMode="auto">
          <a:xfrm>
            <a:off x="7040563" y="3595688"/>
            <a:ext cx="411162" cy="457200"/>
            <a:chOff x="4464" y="777"/>
            <a:chExt cx="300" cy="329"/>
          </a:xfrm>
        </p:grpSpPr>
        <p:sp>
          <p:nvSpPr>
            <p:cNvPr id="62509" name="Oval 16"/>
            <p:cNvSpPr>
              <a:spLocks noChangeArrowheads="1"/>
            </p:cNvSpPr>
            <p:nvPr/>
          </p:nvSpPr>
          <p:spPr bwMode="auto">
            <a:xfrm>
              <a:off x="4464" y="992"/>
              <a:ext cx="113" cy="112"/>
            </a:xfrm>
            <a:prstGeom prst="ellipse">
              <a:avLst/>
            </a:prstGeom>
            <a:gradFill rotWithShape="1">
              <a:gsLst>
                <a:gs pos="0">
                  <a:srgbClr val="33CCFF"/>
                </a:gs>
                <a:gs pos="100000">
                  <a:srgbClr val="185E76"/>
                </a:gs>
              </a:gsLst>
              <a:path path="shape">
                <a:fillToRect l="50000" t="50000" r="50000" b="50000"/>
              </a:path>
            </a:gradFill>
            <a:ln w="3175">
              <a:solidFill>
                <a:schemeClr val="tx1"/>
              </a:solidFill>
              <a:round/>
              <a:headEnd/>
              <a:tailEnd/>
            </a:ln>
            <a:effectLst/>
          </p:spPr>
          <p:txBody>
            <a:bodyPr wrap="none" anchor="ctr"/>
            <a:lstStyle/>
            <a:p>
              <a:endParaRPr lang="zh-CN" altLang="en-US"/>
            </a:p>
          </p:txBody>
        </p:sp>
        <p:sp>
          <p:nvSpPr>
            <p:cNvPr id="62510" name="Text Box 17"/>
            <p:cNvSpPr txBox="1">
              <a:spLocks noChangeArrowheads="1"/>
            </p:cNvSpPr>
            <p:nvPr/>
          </p:nvSpPr>
          <p:spPr bwMode="auto">
            <a:xfrm>
              <a:off x="4531" y="777"/>
              <a:ext cx="233" cy="329"/>
            </a:xfrm>
            <a:prstGeom prst="rect">
              <a:avLst/>
            </a:prstGeom>
            <a:noFill/>
            <a:ln w="9525">
              <a:noFill/>
              <a:miter lim="800000"/>
              <a:headEnd/>
              <a:tailEnd/>
            </a:ln>
            <a:effectLst/>
          </p:spPr>
          <p:txBody>
            <a:bodyPr wrap="none">
              <a:spAutoFit/>
            </a:bodyPr>
            <a:lstStyle/>
            <a:p>
              <a:r>
                <a:rPr lang="en-US" altLang="zh-CN" b="1" i="1">
                  <a:solidFill>
                    <a:schemeClr val="bg1"/>
                  </a:solidFill>
                </a:rPr>
                <a:t>e</a:t>
              </a:r>
            </a:p>
          </p:txBody>
        </p:sp>
      </p:grpSp>
      <p:graphicFrame>
        <p:nvGraphicFramePr>
          <p:cNvPr id="145426" name="Object 18"/>
          <p:cNvGraphicFramePr>
            <a:graphicFrameLocks/>
          </p:cNvGraphicFramePr>
          <p:nvPr/>
        </p:nvGraphicFramePr>
        <p:xfrm>
          <a:off x="7539038" y="3232150"/>
          <a:ext cx="227012" cy="331788"/>
        </p:xfrm>
        <a:graphic>
          <a:graphicData uri="http://schemas.openxmlformats.org/presentationml/2006/ole">
            <p:oleObj spid="_x0000_s62476" name="Equation" r:id="rId6" imgW="203760" imgH="301680" progId="Equation.3">
              <p:embed/>
            </p:oleObj>
          </a:graphicData>
        </a:graphic>
      </p:graphicFrame>
      <p:graphicFrame>
        <p:nvGraphicFramePr>
          <p:cNvPr id="145427" name="Object 19"/>
          <p:cNvGraphicFramePr>
            <a:graphicFrameLocks/>
          </p:cNvGraphicFramePr>
          <p:nvPr/>
        </p:nvGraphicFramePr>
        <p:xfrm>
          <a:off x="2322513" y="4284663"/>
          <a:ext cx="1490662" cy="803275"/>
        </p:xfrm>
        <a:graphic>
          <a:graphicData uri="http://schemas.openxmlformats.org/presentationml/2006/ole">
            <p:oleObj spid="_x0000_s62477" name="公式" r:id="rId7" imgW="692280" imgH="367200" progId="Equation.3">
              <p:embed/>
            </p:oleObj>
          </a:graphicData>
        </a:graphic>
      </p:graphicFrame>
      <p:graphicFrame>
        <p:nvGraphicFramePr>
          <p:cNvPr id="145428" name="Object 20"/>
          <p:cNvGraphicFramePr>
            <a:graphicFrameLocks/>
          </p:cNvGraphicFramePr>
          <p:nvPr/>
        </p:nvGraphicFramePr>
        <p:xfrm>
          <a:off x="1446213" y="5724525"/>
          <a:ext cx="4386262" cy="798513"/>
        </p:xfrm>
        <a:graphic>
          <a:graphicData uri="http://schemas.openxmlformats.org/presentationml/2006/ole">
            <p:oleObj spid="_x0000_s62478" name="公式" r:id="rId8" imgW="2060280" imgH="367200" progId="Equation.3">
              <p:embed/>
            </p:oleObj>
          </a:graphicData>
        </a:graphic>
      </p:graphicFrame>
      <p:sp>
        <p:nvSpPr>
          <p:cNvPr id="145429" name="Text Box 21"/>
          <p:cNvSpPr txBox="1">
            <a:spLocks noChangeArrowheads="1"/>
          </p:cNvSpPr>
          <p:nvPr/>
        </p:nvSpPr>
        <p:spPr bwMode="auto">
          <a:xfrm>
            <a:off x="752475" y="5138738"/>
            <a:ext cx="4314825" cy="457200"/>
          </a:xfrm>
          <a:prstGeom prst="rect">
            <a:avLst/>
          </a:prstGeom>
          <a:noFill/>
          <a:ln w="9525">
            <a:noFill/>
            <a:miter lim="800000"/>
            <a:headEnd/>
            <a:tailEnd/>
          </a:ln>
          <a:effectLst/>
        </p:spPr>
        <p:txBody>
          <a:bodyPr>
            <a:spAutoFit/>
          </a:bodyPr>
          <a:lstStyle/>
          <a:p>
            <a:r>
              <a:rPr lang="en-US" altLang="zh-CN" b="1" i="1">
                <a:solidFill>
                  <a:schemeClr val="bg1"/>
                </a:solidFill>
              </a:rPr>
              <a:t>z </a:t>
            </a:r>
            <a:r>
              <a:rPr lang="zh-CN" altLang="en-US" b="1">
                <a:solidFill>
                  <a:schemeClr val="bg1"/>
                </a:solidFill>
                <a:ea typeface="楷体_GB2312" pitchFamily="49" charset="-122"/>
              </a:rPr>
              <a:t>轴（外磁场方向）投影</a:t>
            </a:r>
          </a:p>
        </p:txBody>
      </p:sp>
      <p:sp>
        <p:nvSpPr>
          <p:cNvPr id="145430" name="Rectangle 22"/>
          <p:cNvSpPr>
            <a:spLocks noChangeArrowheads="1"/>
          </p:cNvSpPr>
          <p:nvPr/>
        </p:nvSpPr>
        <p:spPr bwMode="auto">
          <a:xfrm>
            <a:off x="6011863" y="5859463"/>
            <a:ext cx="2743200" cy="512762"/>
          </a:xfrm>
          <a:prstGeom prst="rect">
            <a:avLst/>
          </a:prstGeom>
          <a:noFill/>
          <a:ln w="9525">
            <a:noFill/>
            <a:miter lim="800000"/>
            <a:headEnd/>
            <a:tailEnd/>
          </a:ln>
          <a:effectLst/>
        </p:spPr>
        <p:txBody>
          <a:bodyPr>
            <a:spAutoFit/>
          </a:bodyPr>
          <a:lstStyle/>
          <a:p>
            <a:pPr>
              <a:lnSpc>
                <a:spcPct val="115000"/>
              </a:lnSpc>
            </a:pPr>
            <a:r>
              <a:rPr lang="en-US" altLang="zh-CN" b="1" i="1">
                <a:solidFill>
                  <a:schemeClr val="accent2"/>
                </a:solidFill>
              </a:rPr>
              <a:t>μ</a:t>
            </a:r>
            <a:r>
              <a:rPr lang="en-US" altLang="zh-CN" b="1" i="1" baseline="-20000">
                <a:solidFill>
                  <a:schemeClr val="accent2"/>
                </a:solidFill>
              </a:rPr>
              <a:t>B</a:t>
            </a:r>
            <a:r>
              <a:rPr lang="en-US" altLang="zh-CN" b="1" i="1" baseline="-20000">
                <a:solidFill>
                  <a:schemeClr val="bg1"/>
                </a:solidFill>
              </a:rPr>
              <a:t> </a:t>
            </a:r>
            <a:r>
              <a:rPr lang="en-US" altLang="zh-CN" b="1">
                <a:solidFill>
                  <a:schemeClr val="bg1"/>
                </a:solidFill>
              </a:rPr>
              <a:t>— </a:t>
            </a:r>
            <a:r>
              <a:rPr lang="zh-CN" altLang="en-US" b="1">
                <a:solidFill>
                  <a:schemeClr val="bg1"/>
                </a:solidFill>
                <a:ea typeface="楷体_GB2312" pitchFamily="49" charset="-122"/>
              </a:rPr>
              <a:t>玻尔磁子</a:t>
            </a:r>
          </a:p>
        </p:txBody>
      </p:sp>
      <p:sp>
        <p:nvSpPr>
          <p:cNvPr id="145431" name="Text Box 23"/>
          <p:cNvSpPr txBox="1">
            <a:spLocks noChangeArrowheads="1"/>
          </p:cNvSpPr>
          <p:nvPr/>
        </p:nvSpPr>
        <p:spPr bwMode="auto">
          <a:xfrm>
            <a:off x="5864225" y="692150"/>
            <a:ext cx="946150" cy="396875"/>
          </a:xfrm>
          <a:prstGeom prst="rect">
            <a:avLst/>
          </a:prstGeom>
          <a:noFill/>
          <a:ln w="9525">
            <a:noFill/>
            <a:miter lim="800000"/>
            <a:headEnd/>
            <a:tailEnd/>
          </a:ln>
          <a:effectLst/>
        </p:spPr>
        <p:txBody>
          <a:bodyPr wrap="none">
            <a:spAutoFit/>
          </a:bodyPr>
          <a:lstStyle/>
          <a:p>
            <a:r>
              <a:rPr lang="zh-CN" altLang="en-US" sz="2000">
                <a:solidFill>
                  <a:schemeClr val="bg1"/>
                </a:solidFill>
              </a:rPr>
              <a:t>摄谱仪</a:t>
            </a:r>
          </a:p>
        </p:txBody>
      </p:sp>
      <p:grpSp>
        <p:nvGrpSpPr>
          <p:cNvPr id="145432" name="Group 24"/>
          <p:cNvGrpSpPr>
            <a:grpSpLocks/>
          </p:cNvGrpSpPr>
          <p:nvPr/>
        </p:nvGrpSpPr>
        <p:grpSpPr bwMode="auto">
          <a:xfrm>
            <a:off x="4821238" y="1341438"/>
            <a:ext cx="457200" cy="347662"/>
            <a:chOff x="2208" y="1872"/>
            <a:chExt cx="1104" cy="840"/>
          </a:xfrm>
        </p:grpSpPr>
        <p:sp>
          <p:nvSpPr>
            <p:cNvPr id="62507" name="AutoShape 25"/>
            <p:cNvSpPr>
              <a:spLocks noChangeArrowheads="1"/>
            </p:cNvSpPr>
            <p:nvPr/>
          </p:nvSpPr>
          <p:spPr bwMode="auto">
            <a:xfrm>
              <a:off x="2340" y="1872"/>
              <a:ext cx="840" cy="840"/>
            </a:xfrm>
            <a:prstGeom prst="sun">
              <a:avLst>
                <a:gd name="adj" fmla="val 19602"/>
              </a:avLst>
            </a:prstGeom>
            <a:gradFill rotWithShape="0">
              <a:gsLst>
                <a:gs pos="0">
                  <a:srgbClr val="FFCC99"/>
                </a:gs>
                <a:gs pos="100000">
                  <a:srgbClr val="FF9966"/>
                </a:gs>
              </a:gsLst>
              <a:path path="rect">
                <a:fillToRect l="50000" t="50000" r="50000" b="50000"/>
              </a:path>
            </a:gradFill>
            <a:ln w="9525">
              <a:solidFill>
                <a:srgbClr val="FF9966"/>
              </a:solidFill>
              <a:miter lim="800000"/>
              <a:headEnd/>
              <a:tailEnd/>
            </a:ln>
            <a:effectLst/>
          </p:spPr>
          <p:txBody>
            <a:bodyPr wrap="none" anchor="ctr"/>
            <a:lstStyle/>
            <a:p>
              <a:endParaRPr lang="zh-CN" altLang="en-US"/>
            </a:p>
          </p:txBody>
        </p:sp>
        <p:pic>
          <p:nvPicPr>
            <p:cNvPr id="62508" name="Picture 26" descr="原子"/>
            <p:cNvPicPr>
              <a:picLocks noChangeAspect="1" noChangeArrowheads="1"/>
            </p:cNvPicPr>
            <p:nvPr/>
          </p:nvPicPr>
          <p:blipFill>
            <a:blip r:embed="rId9">
              <a:clrChange>
                <a:clrFrom>
                  <a:srgbClr val="00669A"/>
                </a:clrFrom>
                <a:clrTo>
                  <a:srgbClr val="00669A">
                    <a:alpha val="0"/>
                  </a:srgbClr>
                </a:clrTo>
              </a:clrChange>
            </a:blip>
            <a:srcRect/>
            <a:stretch>
              <a:fillRect/>
            </a:stretch>
          </p:blipFill>
          <p:spPr bwMode="auto">
            <a:xfrm>
              <a:off x="2208" y="1900"/>
              <a:ext cx="1104" cy="785"/>
            </a:xfrm>
            <a:prstGeom prst="rect">
              <a:avLst/>
            </a:prstGeom>
            <a:noFill/>
            <a:ln w="9525">
              <a:noFill/>
              <a:miter lim="800000"/>
              <a:headEnd/>
              <a:tailEnd/>
            </a:ln>
          </p:spPr>
        </p:pic>
      </p:grpSp>
      <p:grpSp>
        <p:nvGrpSpPr>
          <p:cNvPr id="145435" name="Group 27"/>
          <p:cNvGrpSpPr>
            <a:grpSpLocks/>
          </p:cNvGrpSpPr>
          <p:nvPr/>
        </p:nvGrpSpPr>
        <p:grpSpPr bwMode="auto">
          <a:xfrm>
            <a:off x="7216775" y="1128713"/>
            <a:ext cx="685800" cy="914400"/>
            <a:chOff x="2496" y="575"/>
            <a:chExt cx="432" cy="576"/>
          </a:xfrm>
        </p:grpSpPr>
        <p:sp>
          <p:nvSpPr>
            <p:cNvPr id="62505" name="Line 28"/>
            <p:cNvSpPr>
              <a:spLocks noChangeShapeType="1"/>
            </p:cNvSpPr>
            <p:nvPr/>
          </p:nvSpPr>
          <p:spPr bwMode="auto">
            <a:xfrm rot="-5400000">
              <a:off x="2712" y="359"/>
              <a:ext cx="0" cy="432"/>
            </a:xfrm>
            <a:prstGeom prst="line">
              <a:avLst/>
            </a:prstGeom>
            <a:noFill/>
            <a:ln w="19050">
              <a:solidFill>
                <a:schemeClr val="bg1"/>
              </a:solidFill>
              <a:round/>
              <a:headEnd/>
              <a:tailEnd/>
            </a:ln>
            <a:effectLst/>
          </p:spPr>
          <p:txBody>
            <a:bodyPr/>
            <a:lstStyle/>
            <a:p>
              <a:endParaRPr lang="zh-CN" altLang="en-US"/>
            </a:p>
          </p:txBody>
        </p:sp>
        <p:sp>
          <p:nvSpPr>
            <p:cNvPr id="62506" name="Line 29"/>
            <p:cNvSpPr>
              <a:spLocks noChangeShapeType="1"/>
            </p:cNvSpPr>
            <p:nvPr/>
          </p:nvSpPr>
          <p:spPr bwMode="auto">
            <a:xfrm rot="-5400000">
              <a:off x="2712" y="935"/>
              <a:ext cx="0" cy="432"/>
            </a:xfrm>
            <a:prstGeom prst="line">
              <a:avLst/>
            </a:prstGeom>
            <a:noFill/>
            <a:ln w="19050">
              <a:solidFill>
                <a:schemeClr val="bg1"/>
              </a:solidFill>
              <a:round/>
              <a:headEnd/>
              <a:tailEnd/>
            </a:ln>
            <a:effectLst/>
          </p:spPr>
          <p:txBody>
            <a:bodyPr/>
            <a:lstStyle/>
            <a:p>
              <a:endParaRPr lang="zh-CN" altLang="en-US"/>
            </a:p>
          </p:txBody>
        </p:sp>
      </p:grpSp>
      <p:graphicFrame>
        <p:nvGraphicFramePr>
          <p:cNvPr id="145438" name="Object 30"/>
          <p:cNvGraphicFramePr>
            <a:graphicFrameLocks noChangeAspect="1"/>
          </p:cNvGraphicFramePr>
          <p:nvPr/>
        </p:nvGraphicFramePr>
        <p:xfrm>
          <a:off x="6240463" y="5159375"/>
          <a:ext cx="347662" cy="357188"/>
        </p:xfrm>
        <a:graphic>
          <a:graphicData uri="http://schemas.openxmlformats.org/presentationml/2006/ole">
            <p:oleObj spid="_x0000_s62484" name="公式" r:id="rId10" imgW="219960" imgH="309960" progId="Equation.3">
              <p:embed/>
            </p:oleObj>
          </a:graphicData>
        </a:graphic>
      </p:graphicFrame>
      <p:sp>
        <p:nvSpPr>
          <p:cNvPr id="145439" name="Text Box 31"/>
          <p:cNvSpPr txBox="1">
            <a:spLocks noChangeArrowheads="1"/>
          </p:cNvSpPr>
          <p:nvPr/>
        </p:nvSpPr>
        <p:spPr bwMode="auto">
          <a:xfrm>
            <a:off x="6169025" y="4529138"/>
            <a:ext cx="358775" cy="701675"/>
          </a:xfrm>
          <a:prstGeom prst="rect">
            <a:avLst/>
          </a:prstGeom>
          <a:noFill/>
          <a:ln w="9525">
            <a:noFill/>
            <a:miter lim="800000"/>
            <a:headEnd/>
            <a:tailEnd/>
          </a:ln>
          <a:effectLst/>
        </p:spPr>
        <p:txBody>
          <a:bodyPr>
            <a:spAutoFit/>
          </a:bodyPr>
          <a:lstStyle/>
          <a:p>
            <a:r>
              <a:rPr lang="zh-CN" altLang="en-US" sz="2000" b="1">
                <a:solidFill>
                  <a:schemeClr val="bg1"/>
                </a:solidFill>
                <a:ea typeface="楷体_GB2312" pitchFamily="49" charset="-122"/>
              </a:rPr>
              <a:t>磁矩</a:t>
            </a:r>
          </a:p>
        </p:txBody>
      </p:sp>
      <p:sp>
        <p:nvSpPr>
          <p:cNvPr id="145440" name="Text Box 32"/>
          <p:cNvSpPr txBox="1">
            <a:spLocks noChangeArrowheads="1"/>
          </p:cNvSpPr>
          <p:nvPr/>
        </p:nvSpPr>
        <p:spPr bwMode="auto">
          <a:xfrm>
            <a:off x="755650" y="3743325"/>
            <a:ext cx="3906838" cy="549275"/>
          </a:xfrm>
          <a:prstGeom prst="rect">
            <a:avLst/>
          </a:prstGeom>
          <a:noFill/>
          <a:ln w="9525">
            <a:noFill/>
            <a:miter lim="800000"/>
            <a:headEnd/>
            <a:tailEnd/>
          </a:ln>
          <a:effectLst/>
        </p:spPr>
        <p:txBody>
          <a:bodyPr>
            <a:spAutoFit/>
          </a:bodyPr>
          <a:lstStyle/>
          <a:p>
            <a:pPr>
              <a:lnSpc>
                <a:spcPct val="125000"/>
              </a:lnSpc>
            </a:pPr>
            <a:r>
              <a:rPr lang="zh-CN" altLang="en-US" b="1">
                <a:solidFill>
                  <a:schemeClr val="bg1"/>
                </a:solidFill>
                <a:ea typeface="楷体_GB2312" pitchFamily="49" charset="-122"/>
              </a:rPr>
              <a:t>磁矩和角动量的关系</a:t>
            </a:r>
          </a:p>
        </p:txBody>
      </p:sp>
      <p:sp>
        <p:nvSpPr>
          <p:cNvPr id="145441" name="Text Box 33"/>
          <p:cNvSpPr txBox="1">
            <a:spLocks noChangeArrowheads="1"/>
          </p:cNvSpPr>
          <p:nvPr/>
        </p:nvSpPr>
        <p:spPr bwMode="auto">
          <a:xfrm>
            <a:off x="323850" y="2684463"/>
            <a:ext cx="2538413" cy="457200"/>
          </a:xfrm>
          <a:prstGeom prst="rect">
            <a:avLst/>
          </a:prstGeom>
          <a:noFill/>
          <a:ln w="9525">
            <a:noFill/>
            <a:miter lim="800000"/>
            <a:headEnd/>
            <a:tailEnd/>
          </a:ln>
          <a:effectLst/>
        </p:spPr>
        <p:txBody>
          <a:bodyPr>
            <a:spAutoFit/>
          </a:bodyPr>
          <a:lstStyle/>
          <a:p>
            <a:r>
              <a:rPr lang="en-US" altLang="zh-CN" b="1">
                <a:solidFill>
                  <a:schemeClr val="bg1"/>
                </a:solidFill>
              </a:rPr>
              <a:t>(2) </a:t>
            </a:r>
            <a:r>
              <a:rPr lang="zh-CN" altLang="en-US" b="1">
                <a:solidFill>
                  <a:schemeClr val="bg1"/>
                </a:solidFill>
                <a:ea typeface="楷体_GB2312" pitchFamily="49" charset="-122"/>
              </a:rPr>
              <a:t>解释</a:t>
            </a:r>
          </a:p>
        </p:txBody>
      </p:sp>
      <p:grpSp>
        <p:nvGrpSpPr>
          <p:cNvPr id="145442" name="Group 34"/>
          <p:cNvGrpSpPr>
            <a:grpSpLocks/>
          </p:cNvGrpSpPr>
          <p:nvPr/>
        </p:nvGrpSpPr>
        <p:grpSpPr bwMode="auto">
          <a:xfrm>
            <a:off x="4637088" y="549275"/>
            <a:ext cx="863600" cy="646113"/>
            <a:chOff x="2608" y="210"/>
            <a:chExt cx="544" cy="407"/>
          </a:xfrm>
        </p:grpSpPr>
        <p:sp>
          <p:nvSpPr>
            <p:cNvPr id="145443" name="Freeform 35"/>
            <p:cNvSpPr>
              <a:spLocks/>
            </p:cNvSpPr>
            <p:nvPr/>
          </p:nvSpPr>
          <p:spPr bwMode="auto">
            <a:xfrm>
              <a:off x="2608" y="210"/>
              <a:ext cx="544" cy="407"/>
            </a:xfrm>
            <a:custGeom>
              <a:avLst/>
              <a:gdLst>
                <a:gd name="T0" fmla="*/ 968 w 1470"/>
                <a:gd name="T1" fmla="*/ 1420 h 1446"/>
                <a:gd name="T2" fmla="*/ 469 w 1470"/>
                <a:gd name="T3" fmla="*/ 1420 h 1446"/>
                <a:gd name="T4" fmla="*/ 15 w 1470"/>
                <a:gd name="T5" fmla="*/ 785 h 1446"/>
                <a:gd name="T6" fmla="*/ 15 w 1470"/>
                <a:gd name="T7" fmla="*/ 13 h 1446"/>
                <a:gd name="T8" fmla="*/ 1467 w 1470"/>
                <a:gd name="T9" fmla="*/ 13 h 1446"/>
                <a:gd name="T10" fmla="*/ 1467 w 1470"/>
                <a:gd name="T11" fmla="*/ 785 h 1446"/>
                <a:gd name="T12" fmla="*/ 968 w 1470"/>
                <a:gd name="T13" fmla="*/ 1420 h 1446"/>
              </a:gdLst>
              <a:ahLst/>
              <a:cxnLst>
                <a:cxn ang="0">
                  <a:pos x="T0" y="T1"/>
                </a:cxn>
                <a:cxn ang="0">
                  <a:pos x="T2" y="T3"/>
                </a:cxn>
                <a:cxn ang="0">
                  <a:pos x="T4" y="T5"/>
                </a:cxn>
                <a:cxn ang="0">
                  <a:pos x="T6" y="T7"/>
                </a:cxn>
                <a:cxn ang="0">
                  <a:pos x="T8" y="T9"/>
                </a:cxn>
                <a:cxn ang="0">
                  <a:pos x="T10" y="T11"/>
                </a:cxn>
                <a:cxn ang="0">
                  <a:pos x="T12" y="T13"/>
                </a:cxn>
              </a:cxnLst>
              <a:rect l="0" t="0" r="r" b="b"/>
              <a:pathLst>
                <a:path w="1470" h="1446">
                  <a:moveTo>
                    <a:pt x="968" y="1420"/>
                  </a:moveTo>
                  <a:cubicBezTo>
                    <a:pt x="976" y="1434"/>
                    <a:pt x="456" y="1421"/>
                    <a:pt x="469" y="1420"/>
                  </a:cubicBezTo>
                  <a:cubicBezTo>
                    <a:pt x="467" y="1421"/>
                    <a:pt x="0" y="787"/>
                    <a:pt x="15" y="785"/>
                  </a:cubicBezTo>
                  <a:cubicBezTo>
                    <a:pt x="24" y="799"/>
                    <a:pt x="12" y="11"/>
                    <a:pt x="15" y="13"/>
                  </a:cubicBezTo>
                  <a:cubicBezTo>
                    <a:pt x="24" y="0"/>
                    <a:pt x="1470" y="11"/>
                    <a:pt x="1467" y="13"/>
                  </a:cubicBezTo>
                  <a:cubicBezTo>
                    <a:pt x="1458" y="23"/>
                    <a:pt x="1470" y="799"/>
                    <a:pt x="1467" y="785"/>
                  </a:cubicBezTo>
                  <a:cubicBezTo>
                    <a:pt x="1470" y="787"/>
                    <a:pt x="964" y="1446"/>
                    <a:pt x="968" y="1420"/>
                  </a:cubicBezTo>
                  <a:close/>
                </a:path>
              </a:pathLst>
            </a:cu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endParaRPr lang="zh-CN" altLang="en-US">
                <a:ea typeface="宋体" pitchFamily="2" charset="-122"/>
              </a:endParaRPr>
            </a:p>
          </p:txBody>
        </p:sp>
        <p:sp>
          <p:nvSpPr>
            <p:cNvPr id="62504" name="Rectangle 36"/>
            <p:cNvSpPr>
              <a:spLocks noChangeArrowheads="1"/>
            </p:cNvSpPr>
            <p:nvPr/>
          </p:nvSpPr>
          <p:spPr bwMode="auto">
            <a:xfrm>
              <a:off x="2752" y="301"/>
              <a:ext cx="255" cy="288"/>
            </a:xfrm>
            <a:prstGeom prst="rect">
              <a:avLst/>
            </a:prstGeom>
            <a:noFill/>
            <a:ln w="9525">
              <a:noFill/>
              <a:miter lim="800000"/>
              <a:headEnd/>
              <a:tailEnd/>
            </a:ln>
            <a:effectLst/>
          </p:spPr>
          <p:txBody>
            <a:bodyPr wrap="none">
              <a:spAutoFit/>
            </a:bodyPr>
            <a:lstStyle/>
            <a:p>
              <a:r>
                <a:rPr lang="en-US" altLang="zh-CN" b="1">
                  <a:solidFill>
                    <a:schemeClr val="tx2"/>
                  </a:solidFill>
                </a:rPr>
                <a:t>N</a:t>
              </a:r>
            </a:p>
          </p:txBody>
        </p:sp>
      </p:grpSp>
      <p:grpSp>
        <p:nvGrpSpPr>
          <p:cNvPr id="145445" name="Group 37"/>
          <p:cNvGrpSpPr>
            <a:grpSpLocks/>
          </p:cNvGrpSpPr>
          <p:nvPr/>
        </p:nvGrpSpPr>
        <p:grpSpPr bwMode="auto">
          <a:xfrm>
            <a:off x="4637088" y="1771650"/>
            <a:ext cx="863600" cy="649288"/>
            <a:chOff x="2608" y="980"/>
            <a:chExt cx="544" cy="409"/>
          </a:xfrm>
        </p:grpSpPr>
        <p:sp>
          <p:nvSpPr>
            <p:cNvPr id="145446" name="Freeform 38"/>
            <p:cNvSpPr>
              <a:spLocks/>
            </p:cNvSpPr>
            <p:nvPr/>
          </p:nvSpPr>
          <p:spPr bwMode="auto">
            <a:xfrm rot="-10800000">
              <a:off x="2608" y="980"/>
              <a:ext cx="544" cy="407"/>
            </a:xfrm>
            <a:custGeom>
              <a:avLst/>
              <a:gdLst>
                <a:gd name="T0" fmla="*/ 968 w 1470"/>
                <a:gd name="T1" fmla="*/ 1420 h 1446"/>
                <a:gd name="T2" fmla="*/ 469 w 1470"/>
                <a:gd name="T3" fmla="*/ 1420 h 1446"/>
                <a:gd name="T4" fmla="*/ 15 w 1470"/>
                <a:gd name="T5" fmla="*/ 785 h 1446"/>
                <a:gd name="T6" fmla="*/ 15 w 1470"/>
                <a:gd name="T7" fmla="*/ 13 h 1446"/>
                <a:gd name="T8" fmla="*/ 1467 w 1470"/>
                <a:gd name="T9" fmla="*/ 13 h 1446"/>
                <a:gd name="T10" fmla="*/ 1467 w 1470"/>
                <a:gd name="T11" fmla="*/ 785 h 1446"/>
                <a:gd name="T12" fmla="*/ 968 w 1470"/>
                <a:gd name="T13" fmla="*/ 1420 h 1446"/>
              </a:gdLst>
              <a:ahLst/>
              <a:cxnLst>
                <a:cxn ang="0">
                  <a:pos x="T0" y="T1"/>
                </a:cxn>
                <a:cxn ang="0">
                  <a:pos x="T2" y="T3"/>
                </a:cxn>
                <a:cxn ang="0">
                  <a:pos x="T4" y="T5"/>
                </a:cxn>
                <a:cxn ang="0">
                  <a:pos x="T6" y="T7"/>
                </a:cxn>
                <a:cxn ang="0">
                  <a:pos x="T8" y="T9"/>
                </a:cxn>
                <a:cxn ang="0">
                  <a:pos x="T10" y="T11"/>
                </a:cxn>
                <a:cxn ang="0">
                  <a:pos x="T12" y="T13"/>
                </a:cxn>
              </a:cxnLst>
              <a:rect l="0" t="0" r="r" b="b"/>
              <a:pathLst>
                <a:path w="1470" h="1446">
                  <a:moveTo>
                    <a:pt x="968" y="1420"/>
                  </a:moveTo>
                  <a:cubicBezTo>
                    <a:pt x="976" y="1434"/>
                    <a:pt x="456" y="1421"/>
                    <a:pt x="469" y="1420"/>
                  </a:cubicBezTo>
                  <a:cubicBezTo>
                    <a:pt x="467" y="1421"/>
                    <a:pt x="0" y="787"/>
                    <a:pt x="15" y="785"/>
                  </a:cubicBezTo>
                  <a:cubicBezTo>
                    <a:pt x="24" y="799"/>
                    <a:pt x="12" y="11"/>
                    <a:pt x="15" y="13"/>
                  </a:cubicBezTo>
                  <a:cubicBezTo>
                    <a:pt x="24" y="0"/>
                    <a:pt x="1470" y="11"/>
                    <a:pt x="1467" y="13"/>
                  </a:cubicBezTo>
                  <a:cubicBezTo>
                    <a:pt x="1458" y="23"/>
                    <a:pt x="1470" y="799"/>
                    <a:pt x="1467" y="785"/>
                  </a:cubicBezTo>
                  <a:cubicBezTo>
                    <a:pt x="1470" y="787"/>
                    <a:pt x="964" y="1446"/>
                    <a:pt x="968" y="1420"/>
                  </a:cubicBezTo>
                  <a:close/>
                </a:path>
              </a:pathLst>
            </a:cu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a:defRPr/>
              </a:pPr>
              <a:endParaRPr lang="zh-CN" altLang="en-US">
                <a:ea typeface="宋体" pitchFamily="2" charset="-122"/>
              </a:endParaRPr>
            </a:p>
          </p:txBody>
        </p:sp>
        <p:sp>
          <p:nvSpPr>
            <p:cNvPr id="62501" name="Line 39"/>
            <p:cNvSpPr>
              <a:spLocks noChangeShapeType="1"/>
            </p:cNvSpPr>
            <p:nvPr/>
          </p:nvSpPr>
          <p:spPr bwMode="auto">
            <a:xfrm>
              <a:off x="2880" y="981"/>
              <a:ext cx="0" cy="408"/>
            </a:xfrm>
            <a:prstGeom prst="line">
              <a:avLst/>
            </a:prstGeom>
            <a:noFill/>
            <a:ln w="76200">
              <a:solidFill>
                <a:srgbClr val="006699"/>
              </a:solidFill>
              <a:round/>
              <a:headEnd/>
              <a:tailEnd/>
            </a:ln>
            <a:effectLst/>
          </p:spPr>
          <p:txBody>
            <a:bodyPr/>
            <a:lstStyle/>
            <a:p>
              <a:endParaRPr lang="zh-CN" altLang="en-US"/>
            </a:p>
          </p:txBody>
        </p:sp>
        <p:sp>
          <p:nvSpPr>
            <p:cNvPr id="62502" name="Text Box 40"/>
            <p:cNvSpPr txBox="1">
              <a:spLocks noChangeArrowheads="1"/>
            </p:cNvSpPr>
            <p:nvPr/>
          </p:nvSpPr>
          <p:spPr bwMode="auto">
            <a:xfrm>
              <a:off x="2653" y="1026"/>
              <a:ext cx="223" cy="288"/>
            </a:xfrm>
            <a:prstGeom prst="rect">
              <a:avLst/>
            </a:prstGeom>
            <a:noFill/>
            <a:ln w="9525">
              <a:noFill/>
              <a:miter lim="800000"/>
              <a:headEnd/>
              <a:tailEnd/>
            </a:ln>
            <a:effectLst/>
          </p:spPr>
          <p:txBody>
            <a:bodyPr wrap="none">
              <a:spAutoFit/>
            </a:bodyPr>
            <a:lstStyle/>
            <a:p>
              <a:r>
                <a:rPr lang="en-US" altLang="zh-CN" b="1">
                  <a:solidFill>
                    <a:schemeClr val="tx2"/>
                  </a:solidFill>
                </a:rPr>
                <a:t>S</a:t>
              </a:r>
            </a:p>
          </p:txBody>
        </p:sp>
      </p:grpSp>
      <p:grpSp>
        <p:nvGrpSpPr>
          <p:cNvPr id="145449" name="Group 41"/>
          <p:cNvGrpSpPr>
            <a:grpSpLocks/>
          </p:cNvGrpSpPr>
          <p:nvPr/>
        </p:nvGrpSpPr>
        <p:grpSpPr bwMode="auto">
          <a:xfrm>
            <a:off x="5861050" y="1196975"/>
            <a:ext cx="1008063" cy="792163"/>
            <a:chOff x="3606" y="618"/>
            <a:chExt cx="635" cy="499"/>
          </a:xfrm>
        </p:grpSpPr>
        <p:sp>
          <p:nvSpPr>
            <p:cNvPr id="62496" name="Line 42"/>
            <p:cNvSpPr>
              <a:spLocks noChangeShapeType="1"/>
            </p:cNvSpPr>
            <p:nvPr/>
          </p:nvSpPr>
          <p:spPr bwMode="auto">
            <a:xfrm>
              <a:off x="3606" y="1117"/>
              <a:ext cx="635" cy="0"/>
            </a:xfrm>
            <a:prstGeom prst="line">
              <a:avLst/>
            </a:prstGeom>
            <a:noFill/>
            <a:ln w="19050">
              <a:solidFill>
                <a:schemeClr val="hlink"/>
              </a:solidFill>
              <a:round/>
              <a:headEnd/>
              <a:tailEnd/>
            </a:ln>
            <a:effectLst/>
          </p:spPr>
          <p:txBody>
            <a:bodyPr/>
            <a:lstStyle/>
            <a:p>
              <a:endParaRPr lang="zh-CN" altLang="en-US"/>
            </a:p>
          </p:txBody>
        </p:sp>
        <p:sp>
          <p:nvSpPr>
            <p:cNvPr id="62497" name="Line 43"/>
            <p:cNvSpPr>
              <a:spLocks noChangeShapeType="1"/>
            </p:cNvSpPr>
            <p:nvPr/>
          </p:nvSpPr>
          <p:spPr bwMode="auto">
            <a:xfrm>
              <a:off x="3606" y="618"/>
              <a:ext cx="635" cy="0"/>
            </a:xfrm>
            <a:prstGeom prst="line">
              <a:avLst/>
            </a:prstGeom>
            <a:noFill/>
            <a:ln w="19050">
              <a:solidFill>
                <a:schemeClr val="hlink"/>
              </a:solidFill>
              <a:round/>
              <a:headEnd/>
              <a:tailEnd/>
            </a:ln>
            <a:effectLst/>
          </p:spPr>
          <p:txBody>
            <a:bodyPr/>
            <a:lstStyle/>
            <a:p>
              <a:endParaRPr lang="zh-CN" altLang="en-US"/>
            </a:p>
          </p:txBody>
        </p:sp>
        <p:sp>
          <p:nvSpPr>
            <p:cNvPr id="62498" name="Line 44"/>
            <p:cNvSpPr>
              <a:spLocks noChangeShapeType="1"/>
            </p:cNvSpPr>
            <p:nvPr/>
          </p:nvSpPr>
          <p:spPr bwMode="auto">
            <a:xfrm>
              <a:off x="3606" y="935"/>
              <a:ext cx="0" cy="182"/>
            </a:xfrm>
            <a:prstGeom prst="line">
              <a:avLst/>
            </a:prstGeom>
            <a:noFill/>
            <a:ln w="19050">
              <a:solidFill>
                <a:schemeClr val="hlink"/>
              </a:solidFill>
              <a:round/>
              <a:headEnd/>
              <a:tailEnd/>
            </a:ln>
            <a:effectLst/>
          </p:spPr>
          <p:txBody>
            <a:bodyPr/>
            <a:lstStyle/>
            <a:p>
              <a:endParaRPr lang="zh-CN" altLang="en-US"/>
            </a:p>
          </p:txBody>
        </p:sp>
        <p:sp>
          <p:nvSpPr>
            <p:cNvPr id="62499" name="Line 45"/>
            <p:cNvSpPr>
              <a:spLocks noChangeShapeType="1"/>
            </p:cNvSpPr>
            <p:nvPr/>
          </p:nvSpPr>
          <p:spPr bwMode="auto">
            <a:xfrm>
              <a:off x="3606" y="618"/>
              <a:ext cx="0" cy="182"/>
            </a:xfrm>
            <a:prstGeom prst="line">
              <a:avLst/>
            </a:prstGeom>
            <a:noFill/>
            <a:ln w="19050">
              <a:solidFill>
                <a:schemeClr val="hlink"/>
              </a:solidFill>
              <a:round/>
              <a:headEnd/>
              <a:tailEnd/>
            </a:ln>
            <a:effectLst/>
          </p:spPr>
          <p:txBody>
            <a:bodyPr/>
            <a:lstStyle/>
            <a:p>
              <a:endParaRPr lang="zh-CN" altLang="en-US"/>
            </a:p>
          </p:txBody>
        </p:sp>
      </p:grpSp>
      <p:sp>
        <p:nvSpPr>
          <p:cNvPr id="145454" name="Rectangle 46"/>
          <p:cNvSpPr>
            <a:spLocks noChangeArrowheads="1"/>
          </p:cNvSpPr>
          <p:nvPr/>
        </p:nvSpPr>
        <p:spPr bwMode="auto">
          <a:xfrm>
            <a:off x="323850" y="450850"/>
            <a:ext cx="2312988" cy="512763"/>
          </a:xfrm>
          <a:prstGeom prst="rect">
            <a:avLst/>
          </a:prstGeom>
          <a:noFill/>
          <a:ln w="9525">
            <a:noFill/>
            <a:miter lim="800000"/>
            <a:headEnd/>
            <a:tailEnd/>
          </a:ln>
          <a:effectLst/>
        </p:spPr>
        <p:txBody>
          <a:bodyPr>
            <a:spAutoFit/>
          </a:bodyPr>
          <a:lstStyle/>
          <a:p>
            <a:pPr>
              <a:lnSpc>
                <a:spcPct val="115000"/>
              </a:lnSpc>
            </a:pPr>
            <a:r>
              <a:rPr lang="en-US" altLang="zh-CN" b="1">
                <a:solidFill>
                  <a:srgbClr val="0000FF"/>
                </a:solidFill>
                <a:latin typeface="宋体" charset="-122"/>
              </a:rPr>
              <a:t>4. </a:t>
            </a:r>
            <a:r>
              <a:rPr lang="zh-CN" altLang="en-US" b="1">
                <a:solidFill>
                  <a:srgbClr val="0000FF"/>
                </a:solidFill>
                <a:latin typeface="宋体" charset="-122"/>
              </a:rPr>
              <a:t>塞曼效应</a:t>
            </a:r>
          </a:p>
        </p:txBody>
      </p:sp>
      <p:sp>
        <p:nvSpPr>
          <p:cNvPr id="62492" name="Text Box 47"/>
          <p:cNvSpPr txBox="1">
            <a:spLocks noChangeArrowheads="1"/>
          </p:cNvSpPr>
          <p:nvPr/>
        </p:nvSpPr>
        <p:spPr bwMode="auto">
          <a:xfrm>
            <a:off x="303213" y="5800725"/>
            <a:ext cx="184150" cy="519113"/>
          </a:xfrm>
          <a:prstGeom prst="rect">
            <a:avLst/>
          </a:prstGeom>
          <a:noFill/>
          <a:ln w="9525">
            <a:noFill/>
            <a:miter lim="800000"/>
            <a:headEnd/>
            <a:tailEnd/>
          </a:ln>
          <a:effectLst/>
        </p:spPr>
        <p:txBody>
          <a:bodyPr wrap="none">
            <a:spAutoFit/>
          </a:bodyPr>
          <a:lstStyle/>
          <a:p>
            <a:endParaRPr lang="zh-CN" altLang="zh-CN" sz="2800"/>
          </a:p>
        </p:txBody>
      </p:sp>
      <p:sp>
        <p:nvSpPr>
          <p:cNvPr id="145456" name="Rectangle 48"/>
          <p:cNvSpPr>
            <a:spLocks noChangeArrowheads="1"/>
          </p:cNvSpPr>
          <p:nvPr/>
        </p:nvSpPr>
        <p:spPr bwMode="auto">
          <a:xfrm>
            <a:off x="539750" y="3263900"/>
            <a:ext cx="4932363" cy="457200"/>
          </a:xfrm>
          <a:prstGeom prst="rect">
            <a:avLst/>
          </a:prstGeom>
          <a:noFill/>
          <a:ln w="9525">
            <a:noFill/>
            <a:miter lim="800000"/>
            <a:headEnd/>
            <a:tailEnd/>
          </a:ln>
          <a:effectLst/>
        </p:spPr>
        <p:txBody>
          <a:bodyPr>
            <a:spAutoFit/>
          </a:bodyPr>
          <a:lstStyle/>
          <a:p>
            <a:pPr>
              <a:buClr>
                <a:srgbClr val="CC00CC"/>
              </a:buClr>
              <a:buFont typeface="Wingdings" pitchFamily="2" charset="2"/>
              <a:buChar char="Ø"/>
            </a:pPr>
            <a:r>
              <a:rPr lang="en-US" altLang="zh-CN" b="1">
                <a:solidFill>
                  <a:schemeClr val="bg1"/>
                </a:solidFill>
              </a:rPr>
              <a:t> </a:t>
            </a:r>
            <a:r>
              <a:rPr lang="zh-CN" altLang="en-US" b="1">
                <a:solidFill>
                  <a:schemeClr val="bg1"/>
                </a:solidFill>
                <a:ea typeface="楷体_GB2312" pitchFamily="49" charset="-122"/>
              </a:rPr>
              <a:t>磁场作用下的原子附加能量</a:t>
            </a:r>
          </a:p>
        </p:txBody>
      </p:sp>
      <p:sp>
        <p:nvSpPr>
          <p:cNvPr id="145457" name="Line 49"/>
          <p:cNvSpPr>
            <a:spLocks noChangeShapeType="1"/>
          </p:cNvSpPr>
          <p:nvPr/>
        </p:nvSpPr>
        <p:spPr bwMode="auto">
          <a:xfrm flipV="1">
            <a:off x="7235825" y="3032125"/>
            <a:ext cx="0" cy="468313"/>
          </a:xfrm>
          <a:prstGeom prst="line">
            <a:avLst/>
          </a:prstGeom>
          <a:noFill/>
          <a:ln w="9525">
            <a:solidFill>
              <a:schemeClr val="hlink"/>
            </a:solidFill>
            <a:round/>
            <a:headEnd/>
            <a:tailEnd type="triangle" w="med" len="med"/>
          </a:ln>
          <a:effectLst/>
        </p:spPr>
        <p:txBody>
          <a:bodyPr/>
          <a:lstStyle/>
          <a:p>
            <a:endParaRPr lang="zh-CN" altLang="en-US"/>
          </a:p>
        </p:txBody>
      </p:sp>
      <p:sp>
        <p:nvSpPr>
          <p:cNvPr id="145458" name="Text Box 50"/>
          <p:cNvSpPr txBox="1">
            <a:spLocks noChangeArrowheads="1"/>
          </p:cNvSpPr>
          <p:nvPr/>
        </p:nvSpPr>
        <p:spPr bwMode="auto">
          <a:xfrm>
            <a:off x="6804025" y="2900363"/>
            <a:ext cx="303213" cy="457200"/>
          </a:xfrm>
          <a:prstGeom prst="rect">
            <a:avLst/>
          </a:prstGeom>
          <a:noFill/>
          <a:ln w="9525">
            <a:noFill/>
            <a:miter lim="800000"/>
            <a:headEnd/>
            <a:tailEnd/>
          </a:ln>
          <a:effectLst/>
        </p:spPr>
        <p:txBody>
          <a:bodyPr wrap="none">
            <a:spAutoFit/>
          </a:bodyPr>
          <a:lstStyle/>
          <a:p>
            <a:r>
              <a:rPr lang="en-US" altLang="zh-CN" b="1" i="1">
                <a:solidFill>
                  <a:schemeClr val="hlink"/>
                </a:solidFill>
              </a:rPr>
              <a:t>z</a:t>
            </a: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5454"/>
                                        </p:tgtEl>
                                        <p:attrNameLst>
                                          <p:attrName>style.visibility</p:attrName>
                                        </p:attrNameLst>
                                      </p:cBhvr>
                                      <p:to>
                                        <p:strVal val="visible"/>
                                      </p:to>
                                    </p:set>
                                    <p:animEffect transition="in" filter="wipe(left)">
                                      <p:cBhvr>
                                        <p:cTn id="7" dur="500"/>
                                        <p:tgtEl>
                                          <p:spTgt spid="1454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45432"/>
                                        </p:tgtEl>
                                        <p:attrNameLst>
                                          <p:attrName>style.visibility</p:attrName>
                                        </p:attrNameLst>
                                      </p:cBhvr>
                                      <p:to>
                                        <p:strVal val="visible"/>
                                      </p:to>
                                    </p:set>
                                    <p:animEffect transition="in" filter="wipe(down)">
                                      <p:cBhvr>
                                        <p:cTn id="12" dur="500"/>
                                        <p:tgtEl>
                                          <p:spTgt spid="145432"/>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45421"/>
                                        </p:tgtEl>
                                        <p:attrNameLst>
                                          <p:attrName>style.visibility</p:attrName>
                                        </p:attrNameLst>
                                      </p:cBhvr>
                                      <p:to>
                                        <p:strVal val="visible"/>
                                      </p:to>
                                    </p:set>
                                    <p:animEffect transition="in" filter="wipe(down)">
                                      <p:cBhvr>
                                        <p:cTn id="15" dur="500"/>
                                        <p:tgtEl>
                                          <p:spTgt spid="145421"/>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45431"/>
                                        </p:tgtEl>
                                        <p:attrNameLst>
                                          <p:attrName>style.visibility</p:attrName>
                                        </p:attrNameLst>
                                      </p:cBhvr>
                                      <p:to>
                                        <p:strVal val="visible"/>
                                      </p:to>
                                    </p:set>
                                    <p:animEffect transition="in" filter="wipe(down)">
                                      <p:cBhvr>
                                        <p:cTn id="18" dur="500"/>
                                        <p:tgtEl>
                                          <p:spTgt spid="145431"/>
                                        </p:tgtEl>
                                      </p:cBhvr>
                                    </p:animEffect>
                                  </p:childTnLst>
                                </p:cTn>
                              </p:par>
                              <p:par>
                                <p:cTn id="19" presetID="22" presetClass="entr" presetSubtype="4" fill="hold" nodeType="withEffect">
                                  <p:stCondLst>
                                    <p:cond delay="0"/>
                                  </p:stCondLst>
                                  <p:childTnLst>
                                    <p:set>
                                      <p:cBhvr>
                                        <p:cTn id="20" dur="1" fill="hold">
                                          <p:stCondLst>
                                            <p:cond delay="0"/>
                                          </p:stCondLst>
                                        </p:cTn>
                                        <p:tgtEl>
                                          <p:spTgt spid="145449"/>
                                        </p:tgtEl>
                                        <p:attrNameLst>
                                          <p:attrName>style.visibility</p:attrName>
                                        </p:attrNameLst>
                                      </p:cBhvr>
                                      <p:to>
                                        <p:strVal val="visible"/>
                                      </p:to>
                                    </p:set>
                                    <p:animEffect transition="in" filter="wipe(down)">
                                      <p:cBhvr>
                                        <p:cTn id="21" dur="500"/>
                                        <p:tgtEl>
                                          <p:spTgt spid="14544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5410"/>
                                        </p:tgtEl>
                                        <p:attrNameLst>
                                          <p:attrName>style.visibility</p:attrName>
                                        </p:attrNameLst>
                                      </p:cBhvr>
                                      <p:to>
                                        <p:strVal val="visible"/>
                                      </p:to>
                                    </p:set>
                                    <p:animEffect transition="in" filter="wipe(left)">
                                      <p:cBhvr>
                                        <p:cTn id="26" dur="500"/>
                                        <p:tgtEl>
                                          <p:spTgt spid="14541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32" fill="hold" nodeType="clickEffect">
                                  <p:stCondLst>
                                    <p:cond delay="0"/>
                                  </p:stCondLst>
                                  <p:childTnLst>
                                    <p:set>
                                      <p:cBhvr>
                                        <p:cTn id="30" dur="1" fill="hold">
                                          <p:stCondLst>
                                            <p:cond delay="0"/>
                                          </p:stCondLst>
                                        </p:cTn>
                                        <p:tgtEl>
                                          <p:spTgt spid="145411"/>
                                        </p:tgtEl>
                                        <p:attrNameLst>
                                          <p:attrName>style.visibility</p:attrName>
                                        </p:attrNameLst>
                                      </p:cBhvr>
                                      <p:to>
                                        <p:strVal val="visible"/>
                                      </p:to>
                                    </p:set>
                                    <p:animEffect transition="in" filter="box(out)">
                                      <p:cBhvr>
                                        <p:cTn id="31" dur="500"/>
                                        <p:tgtEl>
                                          <p:spTgt spid="145411"/>
                                        </p:tgtEl>
                                      </p:cBhvr>
                                    </p:animEffect>
                                  </p:childTnLst>
                                  <p:subTnLst>
                                    <p:audio>
                                      <p:cMediaNode>
                                        <p:cTn display="0" masterRel="sameClick">
                                          <p:stCondLst>
                                            <p:cond evt="begin" delay="0">
                                              <p:tn val="29"/>
                                            </p:cond>
                                          </p:stCondLst>
                                          <p:endCondLst>
                                            <p:cond evt="onStopAudio" delay="0">
                                              <p:tgtEl>
                                                <p:sldTgt/>
                                              </p:tgtEl>
                                            </p:cond>
                                          </p:endCondLst>
                                        </p:cTn>
                                        <p:tgtEl>
                                          <p:sndTgt r:embed="rId4" name="camera.wav" builtIn="1"/>
                                        </p:tgtEl>
                                      </p:cMediaNode>
                                    </p:audio>
                                  </p:subTnLst>
                                </p:cTn>
                              </p:par>
                            </p:childTnLst>
                          </p:cTn>
                        </p:par>
                        <p:par>
                          <p:cTn id="32" fill="hold" nodeType="afterGroup">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145417"/>
                                        </p:tgtEl>
                                        <p:attrNameLst>
                                          <p:attrName>style.visibility</p:attrName>
                                        </p:attrNameLst>
                                      </p:cBhvr>
                                      <p:to>
                                        <p:strVal val="visible"/>
                                      </p:to>
                                    </p:set>
                                    <p:animEffect transition="in" filter="dissolve">
                                      <p:cBhvr>
                                        <p:cTn id="35" dur="500"/>
                                        <p:tgtEl>
                                          <p:spTgt spid="14541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1" fill="hold" nodeType="clickEffect">
                                  <p:stCondLst>
                                    <p:cond delay="0"/>
                                  </p:stCondLst>
                                  <p:childTnLst>
                                    <p:set>
                                      <p:cBhvr>
                                        <p:cTn id="39" dur="1" fill="hold">
                                          <p:stCondLst>
                                            <p:cond delay="0"/>
                                          </p:stCondLst>
                                        </p:cTn>
                                        <p:tgtEl>
                                          <p:spTgt spid="145442"/>
                                        </p:tgtEl>
                                        <p:attrNameLst>
                                          <p:attrName>style.visibility</p:attrName>
                                        </p:attrNameLst>
                                      </p:cBhvr>
                                      <p:to>
                                        <p:strVal val="visible"/>
                                      </p:to>
                                    </p:set>
                                    <p:animEffect transition="in" filter="slide(fromTop)">
                                      <p:cBhvr>
                                        <p:cTn id="40" dur="500"/>
                                        <p:tgtEl>
                                          <p:spTgt spid="145442"/>
                                        </p:tgtEl>
                                      </p:cBhvr>
                                    </p:animEffect>
                                  </p:childTnLst>
                                </p:cTn>
                              </p:par>
                              <p:par>
                                <p:cTn id="41" presetID="12" presetClass="entr" presetSubtype="4" fill="hold" nodeType="withEffect">
                                  <p:stCondLst>
                                    <p:cond delay="0"/>
                                  </p:stCondLst>
                                  <p:childTnLst>
                                    <p:set>
                                      <p:cBhvr>
                                        <p:cTn id="42" dur="1" fill="hold">
                                          <p:stCondLst>
                                            <p:cond delay="0"/>
                                          </p:stCondLst>
                                        </p:cTn>
                                        <p:tgtEl>
                                          <p:spTgt spid="145445"/>
                                        </p:tgtEl>
                                        <p:attrNameLst>
                                          <p:attrName>style.visibility</p:attrName>
                                        </p:attrNameLst>
                                      </p:cBhvr>
                                      <p:to>
                                        <p:strVal val="visible"/>
                                      </p:to>
                                    </p:set>
                                    <p:animEffect transition="in" filter="slide(fromBottom)">
                                      <p:cBhvr>
                                        <p:cTn id="43" dur="500"/>
                                        <p:tgtEl>
                                          <p:spTgt spid="14544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499"/>
                                          </p:stCondLst>
                                        </p:cTn>
                                        <p:tgtEl>
                                          <p:spTgt spid="145414"/>
                                        </p:tgtEl>
                                        <p:attrNameLst>
                                          <p:attrName>style.visibility</p:attrName>
                                        </p:attrNameLst>
                                      </p:cBhvr>
                                      <p:to>
                                        <p:strVal val="visible"/>
                                      </p:to>
                                    </p:set>
                                  </p:childTnLst>
                                </p:cTn>
                              </p:par>
                            </p:childTnLst>
                          </p:cTn>
                        </p:par>
                        <p:par>
                          <p:cTn id="48" fill="hold" nodeType="afterGroup">
                            <p:stCondLst>
                              <p:cond delay="500"/>
                            </p:stCondLst>
                            <p:childTnLst>
                              <p:par>
                                <p:cTn id="49" presetID="39" presetClass="entr" presetSubtype="0" accel="100000" fill="hold" nodeType="afterEffect">
                                  <p:stCondLst>
                                    <p:cond delay="0"/>
                                  </p:stCondLst>
                                  <p:childTnLst>
                                    <p:set>
                                      <p:cBhvr>
                                        <p:cTn id="50" dur="1" fill="hold">
                                          <p:stCondLst>
                                            <p:cond delay="0"/>
                                          </p:stCondLst>
                                        </p:cTn>
                                        <p:tgtEl>
                                          <p:spTgt spid="145435"/>
                                        </p:tgtEl>
                                        <p:attrNameLst>
                                          <p:attrName>style.visibility</p:attrName>
                                        </p:attrNameLst>
                                      </p:cBhvr>
                                      <p:to>
                                        <p:strVal val="visible"/>
                                      </p:to>
                                    </p:set>
                                    <p:anim calcmode="lin" valueType="num">
                                      <p:cBhvr>
                                        <p:cTn id="51" dur="500" fill="hold"/>
                                        <p:tgtEl>
                                          <p:spTgt spid="145435"/>
                                        </p:tgtEl>
                                        <p:attrNameLst>
                                          <p:attrName>ppt_h</p:attrName>
                                        </p:attrNameLst>
                                      </p:cBhvr>
                                      <p:tavLst>
                                        <p:tav tm="0">
                                          <p:val>
                                            <p:strVal val="#ppt_h/20"/>
                                          </p:val>
                                        </p:tav>
                                        <p:tav tm="50000">
                                          <p:val>
                                            <p:strVal val="#ppt_h/20"/>
                                          </p:val>
                                        </p:tav>
                                        <p:tav tm="100000">
                                          <p:val>
                                            <p:strVal val="#ppt_h"/>
                                          </p:val>
                                        </p:tav>
                                      </p:tavLst>
                                    </p:anim>
                                    <p:anim calcmode="lin" valueType="num">
                                      <p:cBhvr>
                                        <p:cTn id="52" dur="500" fill="hold"/>
                                        <p:tgtEl>
                                          <p:spTgt spid="145435"/>
                                        </p:tgtEl>
                                        <p:attrNameLst>
                                          <p:attrName>ppt_w</p:attrName>
                                        </p:attrNameLst>
                                      </p:cBhvr>
                                      <p:tavLst>
                                        <p:tav tm="0">
                                          <p:val>
                                            <p:strVal val="#ppt_w+.3"/>
                                          </p:val>
                                        </p:tav>
                                        <p:tav tm="50000">
                                          <p:val>
                                            <p:strVal val="#ppt_w+.3"/>
                                          </p:val>
                                        </p:tav>
                                        <p:tav tm="100000">
                                          <p:val>
                                            <p:strVal val="#ppt_w"/>
                                          </p:val>
                                        </p:tav>
                                      </p:tavLst>
                                    </p:anim>
                                    <p:anim calcmode="lin" valueType="num">
                                      <p:cBhvr>
                                        <p:cTn id="53" dur="500" fill="hold"/>
                                        <p:tgtEl>
                                          <p:spTgt spid="145435"/>
                                        </p:tgtEl>
                                        <p:attrNameLst>
                                          <p:attrName>ppt_x</p:attrName>
                                        </p:attrNameLst>
                                      </p:cBhvr>
                                      <p:tavLst>
                                        <p:tav tm="0">
                                          <p:val>
                                            <p:strVal val="#ppt_x-.3"/>
                                          </p:val>
                                        </p:tav>
                                        <p:tav tm="50000">
                                          <p:val>
                                            <p:strVal val="#ppt_x"/>
                                          </p:val>
                                        </p:tav>
                                        <p:tav tm="100000">
                                          <p:val>
                                            <p:strVal val="#ppt_x"/>
                                          </p:val>
                                        </p:tav>
                                      </p:tavLst>
                                    </p:anim>
                                    <p:anim calcmode="lin" valueType="num">
                                      <p:cBhvr>
                                        <p:cTn id="54" dur="500" fill="hold"/>
                                        <p:tgtEl>
                                          <p:spTgt spid="145435"/>
                                        </p:tgtEl>
                                        <p:attrNameLst>
                                          <p:attrName>ppt_y</p:attrName>
                                        </p:attrNameLst>
                                      </p:cBhvr>
                                      <p:tavLst>
                                        <p:tav tm="0">
                                          <p:val>
                                            <p:strVal val="#ppt_y"/>
                                          </p:val>
                                        </p:tav>
                                        <p:tav tm="100000">
                                          <p:val>
                                            <p:strVal val="#ppt_y"/>
                                          </p:val>
                                        </p:tav>
                                      </p:tavLst>
                                    </p:anim>
                                  </p:childTnLst>
                                </p:cTn>
                              </p:par>
                            </p:childTnLst>
                          </p:cTn>
                        </p:par>
                        <p:par>
                          <p:cTn id="55" fill="hold" nodeType="afterGroup">
                            <p:stCondLst>
                              <p:cond delay="1000"/>
                            </p:stCondLst>
                            <p:childTnLst>
                              <p:par>
                                <p:cTn id="56" presetID="22" presetClass="entr" presetSubtype="1" fill="hold" grpId="0" nodeType="afterEffect">
                                  <p:stCondLst>
                                    <p:cond delay="0"/>
                                  </p:stCondLst>
                                  <p:childTnLst>
                                    <p:set>
                                      <p:cBhvr>
                                        <p:cTn id="57" dur="1" fill="hold">
                                          <p:stCondLst>
                                            <p:cond delay="0"/>
                                          </p:stCondLst>
                                        </p:cTn>
                                        <p:tgtEl>
                                          <p:spTgt spid="145418"/>
                                        </p:tgtEl>
                                        <p:attrNameLst>
                                          <p:attrName>style.visibility</p:attrName>
                                        </p:attrNameLst>
                                      </p:cBhvr>
                                      <p:to>
                                        <p:strVal val="visible"/>
                                      </p:to>
                                    </p:set>
                                    <p:animEffect transition="in" filter="wipe(up)">
                                      <p:cBhvr>
                                        <p:cTn id="58" dur="500"/>
                                        <p:tgtEl>
                                          <p:spTgt spid="145418"/>
                                        </p:tgtEl>
                                      </p:cBhvr>
                                    </p:animEffect>
                                  </p:childTnLst>
                                </p:cTn>
                              </p:par>
                            </p:childTnLst>
                          </p:cTn>
                        </p:par>
                        <p:par>
                          <p:cTn id="59" fill="hold" nodeType="afterGroup">
                            <p:stCondLst>
                              <p:cond delay="1500"/>
                            </p:stCondLst>
                            <p:childTnLst>
                              <p:par>
                                <p:cTn id="60" presetID="22" presetClass="entr" presetSubtype="1" fill="hold" grpId="0" nodeType="afterEffect">
                                  <p:stCondLst>
                                    <p:cond delay="0"/>
                                  </p:stCondLst>
                                  <p:childTnLst>
                                    <p:set>
                                      <p:cBhvr>
                                        <p:cTn id="61" dur="1" fill="hold">
                                          <p:stCondLst>
                                            <p:cond delay="0"/>
                                          </p:stCondLst>
                                        </p:cTn>
                                        <p:tgtEl>
                                          <p:spTgt spid="145419"/>
                                        </p:tgtEl>
                                        <p:attrNameLst>
                                          <p:attrName>style.visibility</p:attrName>
                                        </p:attrNameLst>
                                      </p:cBhvr>
                                      <p:to>
                                        <p:strVal val="visible"/>
                                      </p:to>
                                    </p:set>
                                    <p:animEffect transition="in" filter="wipe(up)">
                                      <p:cBhvr>
                                        <p:cTn id="62" dur="500"/>
                                        <p:tgtEl>
                                          <p:spTgt spid="14541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45420"/>
                                        </p:tgtEl>
                                        <p:attrNameLst>
                                          <p:attrName>style.visibility</p:attrName>
                                        </p:attrNameLst>
                                      </p:cBhvr>
                                      <p:to>
                                        <p:strVal val="visible"/>
                                      </p:to>
                                    </p:set>
                                    <p:animEffect transition="in" filter="dissolve">
                                      <p:cBhvr>
                                        <p:cTn id="67" dur="500"/>
                                        <p:tgtEl>
                                          <p:spTgt spid="14542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45441"/>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45456"/>
                                        </p:tgtEl>
                                        <p:attrNameLst>
                                          <p:attrName>style.visibility</p:attrName>
                                        </p:attrNameLst>
                                      </p:cBhvr>
                                      <p:to>
                                        <p:strVal val="visible"/>
                                      </p:to>
                                    </p:set>
                                    <p:animEffect transition="in" filter="wipe(left)">
                                      <p:cBhvr>
                                        <p:cTn id="76" dur="500"/>
                                        <p:tgtEl>
                                          <p:spTgt spid="145456"/>
                                        </p:tgtEl>
                                      </p:cBhvr>
                                    </p:animEffect>
                                  </p:childTnLst>
                                </p:cTn>
                              </p:par>
                            </p:childTnLst>
                          </p:cTn>
                        </p:par>
                        <p:par>
                          <p:cTn id="77" fill="hold" nodeType="afterGroup">
                            <p:stCondLst>
                              <p:cond delay="500"/>
                            </p:stCondLst>
                            <p:childTnLst>
                              <p:par>
                                <p:cTn id="78" presetID="18" presetClass="entr" presetSubtype="6" fill="hold" nodeType="afterEffect">
                                  <p:stCondLst>
                                    <p:cond delay="0"/>
                                  </p:stCondLst>
                                  <p:childTnLst>
                                    <p:set>
                                      <p:cBhvr>
                                        <p:cTn id="79" dur="1" fill="hold">
                                          <p:stCondLst>
                                            <p:cond delay="0"/>
                                          </p:stCondLst>
                                        </p:cTn>
                                        <p:tgtEl>
                                          <p:spTgt spid="145422"/>
                                        </p:tgtEl>
                                        <p:attrNameLst>
                                          <p:attrName>style.visibility</p:attrName>
                                        </p:attrNameLst>
                                      </p:cBhvr>
                                      <p:to>
                                        <p:strVal val="visible"/>
                                      </p:to>
                                    </p:set>
                                    <p:animEffect transition="in" filter="strips(downRight)">
                                      <p:cBhvr>
                                        <p:cTn id="80" dur="500"/>
                                        <p:tgtEl>
                                          <p:spTgt spid="145422"/>
                                        </p:tgtEl>
                                      </p:cBhvr>
                                    </p:animEffect>
                                  </p:childTnLst>
                                </p:cTn>
                              </p:par>
                            </p:childTnLst>
                          </p:cTn>
                        </p:par>
                        <p:par>
                          <p:cTn id="81" fill="hold" nodeType="afterGroup">
                            <p:stCondLst>
                              <p:cond delay="1000"/>
                            </p:stCondLst>
                            <p:childTnLst>
                              <p:par>
                                <p:cTn id="82" presetID="1" presetClass="entr" presetSubtype="0" fill="hold" nodeType="afterEffect">
                                  <p:stCondLst>
                                    <p:cond delay="0"/>
                                  </p:stCondLst>
                                  <p:childTnLst>
                                    <p:set>
                                      <p:cBhvr>
                                        <p:cTn id="83" dur="1" fill="hold">
                                          <p:stCondLst>
                                            <p:cond delay="499"/>
                                          </p:stCondLst>
                                        </p:cTn>
                                        <p:tgtEl>
                                          <p:spTgt spid="145423"/>
                                        </p:tgtEl>
                                        <p:attrNameLst>
                                          <p:attrName>style.visibility</p:attrName>
                                        </p:attrNameLst>
                                      </p:cBhvr>
                                      <p:to>
                                        <p:strVal val="visible"/>
                                      </p:to>
                                    </p:set>
                                  </p:childTnLst>
                                </p:cTn>
                              </p:par>
                            </p:childTnLst>
                          </p:cTn>
                        </p:par>
                        <p:par>
                          <p:cTn id="84" fill="hold" nodeType="afterGroup">
                            <p:stCondLst>
                              <p:cond delay="1500"/>
                            </p:stCondLst>
                            <p:childTnLst>
                              <p:par>
                                <p:cTn id="85" presetID="1" presetClass="entr" presetSubtype="0" fill="hold" nodeType="afterEffect">
                                  <p:stCondLst>
                                    <p:cond delay="0"/>
                                  </p:stCondLst>
                                  <p:childTnLst>
                                    <p:set>
                                      <p:cBhvr>
                                        <p:cTn id="86" dur="1" fill="hold">
                                          <p:stCondLst>
                                            <p:cond delay="499"/>
                                          </p:stCondLst>
                                        </p:cTn>
                                        <p:tgtEl>
                                          <p:spTgt spid="145426"/>
                                        </p:tgtEl>
                                        <p:attrNameLst>
                                          <p:attrName>style.visibility</p:attrName>
                                        </p:attrNameLst>
                                      </p:cBhvr>
                                      <p:to>
                                        <p:strVal val="visible"/>
                                      </p:to>
                                    </p:set>
                                  </p:childTnLst>
                                </p:cTn>
                              </p:par>
                              <p:par>
                                <p:cTn id="87" presetID="9" presetClass="entr" presetSubtype="0" fill="hold" nodeType="withEffect">
                                  <p:stCondLst>
                                    <p:cond delay="0"/>
                                  </p:stCondLst>
                                  <p:childTnLst>
                                    <p:set>
                                      <p:cBhvr>
                                        <p:cTn id="88" dur="1" fill="hold">
                                          <p:stCondLst>
                                            <p:cond delay="0"/>
                                          </p:stCondLst>
                                        </p:cTn>
                                        <p:tgtEl>
                                          <p:spTgt spid="145438"/>
                                        </p:tgtEl>
                                        <p:attrNameLst>
                                          <p:attrName>style.visibility</p:attrName>
                                        </p:attrNameLst>
                                      </p:cBhvr>
                                      <p:to>
                                        <p:strVal val="visible"/>
                                      </p:to>
                                    </p:set>
                                    <p:animEffect transition="in" filter="dissolve">
                                      <p:cBhvr>
                                        <p:cTn id="89" dur="500"/>
                                        <p:tgtEl>
                                          <p:spTgt spid="145438"/>
                                        </p:tgtEl>
                                      </p:cBhvr>
                                    </p:animEffect>
                                  </p:childTnLst>
                                </p:cTn>
                              </p:par>
                              <p:par>
                                <p:cTn id="90" presetID="9" presetClass="entr" presetSubtype="0" fill="hold" grpId="0" nodeType="withEffect">
                                  <p:stCondLst>
                                    <p:cond delay="0"/>
                                  </p:stCondLst>
                                  <p:childTnLst>
                                    <p:set>
                                      <p:cBhvr>
                                        <p:cTn id="91" dur="1" fill="hold">
                                          <p:stCondLst>
                                            <p:cond delay="0"/>
                                          </p:stCondLst>
                                        </p:cTn>
                                        <p:tgtEl>
                                          <p:spTgt spid="145439"/>
                                        </p:tgtEl>
                                        <p:attrNameLst>
                                          <p:attrName>style.visibility</p:attrName>
                                        </p:attrNameLst>
                                      </p:cBhvr>
                                      <p:to>
                                        <p:strVal val="visible"/>
                                      </p:to>
                                    </p:set>
                                    <p:animEffect transition="in" filter="dissolve">
                                      <p:cBhvr>
                                        <p:cTn id="92" dur="500"/>
                                        <p:tgtEl>
                                          <p:spTgt spid="145439"/>
                                        </p:tgtEl>
                                      </p:cBhvr>
                                    </p:animEffect>
                                  </p:childTnLst>
                                </p:cTn>
                              </p:par>
                              <p:par>
                                <p:cTn id="93" presetID="22" presetClass="entr" presetSubtype="4" fill="hold" grpId="0" nodeType="withEffect">
                                  <p:stCondLst>
                                    <p:cond delay="0"/>
                                  </p:stCondLst>
                                  <p:childTnLst>
                                    <p:set>
                                      <p:cBhvr>
                                        <p:cTn id="94" dur="1" fill="hold">
                                          <p:stCondLst>
                                            <p:cond delay="0"/>
                                          </p:stCondLst>
                                        </p:cTn>
                                        <p:tgtEl>
                                          <p:spTgt spid="145457"/>
                                        </p:tgtEl>
                                        <p:attrNameLst>
                                          <p:attrName>style.visibility</p:attrName>
                                        </p:attrNameLst>
                                      </p:cBhvr>
                                      <p:to>
                                        <p:strVal val="visible"/>
                                      </p:to>
                                    </p:set>
                                    <p:animEffect transition="in" filter="wipe(down)">
                                      <p:cBhvr>
                                        <p:cTn id="95" dur="500"/>
                                        <p:tgtEl>
                                          <p:spTgt spid="145457"/>
                                        </p:tgtEl>
                                      </p:cBhvr>
                                    </p:animEffect>
                                  </p:childTnLst>
                                </p:cTn>
                              </p:par>
                              <p:par>
                                <p:cTn id="96" presetID="1" presetClass="entr" presetSubtype="0" fill="hold" grpId="0" nodeType="withEffect">
                                  <p:stCondLst>
                                    <p:cond delay="0"/>
                                  </p:stCondLst>
                                  <p:childTnLst>
                                    <p:set>
                                      <p:cBhvr>
                                        <p:cTn id="97" dur="1" fill="hold">
                                          <p:stCondLst>
                                            <p:cond delay="499"/>
                                          </p:stCondLst>
                                        </p:cTn>
                                        <p:tgtEl>
                                          <p:spTgt spid="145458"/>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45440"/>
                                        </p:tgtEl>
                                        <p:attrNameLst>
                                          <p:attrName>style.visibility</p:attrName>
                                        </p:attrNameLst>
                                      </p:cBhvr>
                                      <p:to>
                                        <p:strVal val="visible"/>
                                      </p:to>
                                    </p:set>
                                    <p:animEffect transition="in" filter="wipe(left)">
                                      <p:cBhvr>
                                        <p:cTn id="102" dur="500"/>
                                        <p:tgtEl>
                                          <p:spTgt spid="145440"/>
                                        </p:tgtEl>
                                      </p:cBhvr>
                                    </p:animEffect>
                                  </p:childTnLst>
                                </p:cTn>
                              </p:par>
                            </p:childTnLst>
                          </p:cTn>
                        </p:par>
                        <p:par>
                          <p:cTn id="103" fill="hold" nodeType="afterGroup">
                            <p:stCondLst>
                              <p:cond delay="500"/>
                            </p:stCondLst>
                            <p:childTnLst>
                              <p:par>
                                <p:cTn id="104" presetID="12" presetClass="entr" presetSubtype="8" fill="hold" nodeType="afterEffect">
                                  <p:stCondLst>
                                    <p:cond delay="0"/>
                                  </p:stCondLst>
                                  <p:childTnLst>
                                    <p:set>
                                      <p:cBhvr>
                                        <p:cTn id="105" dur="1" fill="hold">
                                          <p:stCondLst>
                                            <p:cond delay="0"/>
                                          </p:stCondLst>
                                        </p:cTn>
                                        <p:tgtEl>
                                          <p:spTgt spid="145427"/>
                                        </p:tgtEl>
                                        <p:attrNameLst>
                                          <p:attrName>style.visibility</p:attrName>
                                        </p:attrNameLst>
                                      </p:cBhvr>
                                      <p:to>
                                        <p:strVal val="visible"/>
                                      </p:to>
                                    </p:set>
                                    <p:animEffect transition="in" filter="slide(fromLeft)">
                                      <p:cBhvr>
                                        <p:cTn id="106" dur="500"/>
                                        <p:tgtEl>
                                          <p:spTgt spid="145427"/>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grpId="0" nodeType="clickEffect">
                                  <p:stCondLst>
                                    <p:cond delay="0"/>
                                  </p:stCondLst>
                                  <p:childTnLst>
                                    <p:set>
                                      <p:cBhvr>
                                        <p:cTn id="110" dur="1" fill="hold">
                                          <p:stCondLst>
                                            <p:cond delay="499"/>
                                          </p:stCondLst>
                                        </p:cTn>
                                        <p:tgtEl>
                                          <p:spTgt spid="145429"/>
                                        </p:tgtEl>
                                        <p:attrNameLst>
                                          <p:attrName>style.visibility</p:attrName>
                                        </p:attrNameLst>
                                      </p:cBhvr>
                                      <p:to>
                                        <p:strVal val="visible"/>
                                      </p:to>
                                    </p:set>
                                  </p:childTnLst>
                                </p:cTn>
                              </p:par>
                            </p:childTnLst>
                          </p:cTn>
                        </p:par>
                        <p:par>
                          <p:cTn id="111" fill="hold" nodeType="afterGroup">
                            <p:stCondLst>
                              <p:cond delay="500"/>
                            </p:stCondLst>
                            <p:childTnLst>
                              <p:par>
                                <p:cTn id="112" presetID="22" presetClass="entr" presetSubtype="8" fill="hold" nodeType="afterEffect">
                                  <p:stCondLst>
                                    <p:cond delay="0"/>
                                  </p:stCondLst>
                                  <p:childTnLst>
                                    <p:set>
                                      <p:cBhvr>
                                        <p:cTn id="113" dur="1" fill="hold">
                                          <p:stCondLst>
                                            <p:cond delay="0"/>
                                          </p:stCondLst>
                                        </p:cTn>
                                        <p:tgtEl>
                                          <p:spTgt spid="145428"/>
                                        </p:tgtEl>
                                        <p:attrNameLst>
                                          <p:attrName>style.visibility</p:attrName>
                                        </p:attrNameLst>
                                      </p:cBhvr>
                                      <p:to>
                                        <p:strVal val="visible"/>
                                      </p:to>
                                    </p:set>
                                    <p:animEffect transition="in" filter="wipe(left)">
                                      <p:cBhvr>
                                        <p:cTn id="114" dur="500"/>
                                        <p:tgtEl>
                                          <p:spTgt spid="145428"/>
                                        </p:tgtEl>
                                      </p:cBhvr>
                                    </p:animEffect>
                                  </p:childTnLst>
                                </p:cTn>
                              </p:par>
                            </p:childTnLst>
                          </p:cTn>
                        </p:par>
                        <p:par>
                          <p:cTn id="115" fill="hold" nodeType="afterGroup">
                            <p:stCondLst>
                              <p:cond delay="1000"/>
                            </p:stCondLst>
                            <p:childTnLst>
                              <p:par>
                                <p:cTn id="116" presetID="1" presetClass="entr" presetSubtype="0" fill="hold" grpId="0" nodeType="afterEffect">
                                  <p:stCondLst>
                                    <p:cond delay="0"/>
                                  </p:stCondLst>
                                  <p:childTnLst>
                                    <p:set>
                                      <p:cBhvr>
                                        <p:cTn id="117" dur="1" fill="hold">
                                          <p:stCondLst>
                                            <p:cond delay="499"/>
                                          </p:stCondLst>
                                        </p:cTn>
                                        <p:tgtEl>
                                          <p:spTgt spid="1454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0" grpId="0"/>
      <p:bldP spid="145417" grpId="0" autoUpdateAnimBg="0"/>
      <p:bldP spid="145418" grpId="0" autoUpdateAnimBg="0"/>
      <p:bldP spid="145419" grpId="0" autoUpdateAnimBg="0"/>
      <p:bldP spid="145420" grpId="0" autoUpdateAnimBg="0"/>
      <p:bldP spid="145421" grpId="0"/>
      <p:bldP spid="145429" grpId="0" autoUpdateAnimBg="0"/>
      <p:bldP spid="145430" grpId="0" autoUpdateAnimBg="0"/>
      <p:bldP spid="145431" grpId="0"/>
      <p:bldP spid="145439" grpId="0"/>
      <p:bldP spid="145440" grpId="0"/>
      <p:bldP spid="145441" grpId="0"/>
      <p:bldP spid="145454" grpId="0"/>
      <p:bldP spid="145456" grpId="0"/>
      <p:bldP spid="145457" grpId="0" animBg="1"/>
      <p:bldP spid="145458"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46434" name="Object 2"/>
          <p:cNvGraphicFramePr>
            <a:graphicFrameLocks noChangeAspect="1"/>
          </p:cNvGraphicFramePr>
          <p:nvPr/>
        </p:nvGraphicFramePr>
        <p:xfrm>
          <a:off x="2051050" y="1089025"/>
          <a:ext cx="2349500" cy="457200"/>
        </p:xfrm>
        <a:graphic>
          <a:graphicData uri="http://schemas.openxmlformats.org/presentationml/2006/ole">
            <p:oleObj spid="_x0000_s63490" name="公式" r:id="rId5" imgW="1099440" imgH="203760" progId="Equation.3">
              <p:embed/>
            </p:oleObj>
          </a:graphicData>
        </a:graphic>
      </p:graphicFrame>
      <p:sp>
        <p:nvSpPr>
          <p:cNvPr id="146435" name="Rectangle 3"/>
          <p:cNvSpPr>
            <a:spLocks noChangeArrowheads="1"/>
          </p:cNvSpPr>
          <p:nvPr/>
        </p:nvSpPr>
        <p:spPr bwMode="auto">
          <a:xfrm>
            <a:off x="611188" y="485775"/>
            <a:ext cx="5040312" cy="512763"/>
          </a:xfrm>
          <a:prstGeom prst="rect">
            <a:avLst/>
          </a:prstGeom>
          <a:noFill/>
          <a:ln w="9525">
            <a:noFill/>
            <a:miter lim="800000"/>
            <a:headEnd/>
            <a:tailEnd/>
          </a:ln>
          <a:effectLst/>
        </p:spPr>
        <p:txBody>
          <a:bodyPr>
            <a:spAutoFit/>
          </a:bodyPr>
          <a:lstStyle/>
          <a:p>
            <a:pPr>
              <a:lnSpc>
                <a:spcPct val="115000"/>
              </a:lnSpc>
            </a:pPr>
            <a:r>
              <a:rPr lang="zh-CN" altLang="en-US" b="1">
                <a:solidFill>
                  <a:schemeClr val="bg1"/>
                </a:solidFill>
                <a:latin typeface="楷体_GB2312" pitchFamily="49" charset="-122"/>
                <a:ea typeface="楷体_GB2312" pitchFamily="49" charset="-122"/>
              </a:rPr>
              <a:t>由于磁场作用</a:t>
            </a:r>
            <a:r>
              <a:rPr lang="en-US" altLang="zh-CN" b="1">
                <a:solidFill>
                  <a:schemeClr val="bg1"/>
                </a:solidFill>
                <a:latin typeface="楷体_GB2312" pitchFamily="49" charset="-122"/>
                <a:ea typeface="楷体_GB2312" pitchFamily="49" charset="-122"/>
              </a:rPr>
              <a:t>, </a:t>
            </a:r>
            <a:r>
              <a:rPr lang="zh-CN" altLang="en-US" b="1">
                <a:solidFill>
                  <a:schemeClr val="bg1"/>
                </a:solidFill>
                <a:latin typeface="楷体_GB2312" pitchFamily="49" charset="-122"/>
                <a:ea typeface="楷体_GB2312" pitchFamily="49" charset="-122"/>
              </a:rPr>
              <a:t>原子附加能量为</a:t>
            </a:r>
            <a:r>
              <a:rPr lang="zh-CN" altLang="en-US" b="1">
                <a:solidFill>
                  <a:schemeClr val="bg1"/>
                </a:solidFill>
              </a:rPr>
              <a:t> </a:t>
            </a:r>
          </a:p>
        </p:txBody>
      </p:sp>
      <p:sp>
        <p:nvSpPr>
          <p:cNvPr id="146436" name="Rectangle 4"/>
          <p:cNvSpPr>
            <a:spLocks noChangeArrowheads="1"/>
          </p:cNvSpPr>
          <p:nvPr/>
        </p:nvSpPr>
        <p:spPr bwMode="auto">
          <a:xfrm>
            <a:off x="684213" y="1700213"/>
            <a:ext cx="4824412" cy="457200"/>
          </a:xfrm>
          <a:prstGeom prst="rect">
            <a:avLst/>
          </a:prstGeom>
          <a:noFill/>
          <a:ln w="9525">
            <a:noFill/>
            <a:miter lim="800000"/>
            <a:headEnd/>
            <a:tailEnd/>
          </a:ln>
          <a:effectLst/>
        </p:spPr>
        <p:txBody>
          <a:bodyPr>
            <a:spAutoFit/>
          </a:bodyPr>
          <a:lstStyle/>
          <a:p>
            <a:r>
              <a:rPr lang="en-US" altLang="zh-CN" b="1" i="1">
                <a:solidFill>
                  <a:schemeClr val="bg1"/>
                </a:solidFill>
                <a:latin typeface="楷体_GB2312" pitchFamily="49" charset="-122"/>
                <a:ea typeface="楷体_GB2312" pitchFamily="49" charset="-122"/>
              </a:rPr>
              <a:t> </a:t>
            </a:r>
            <a:r>
              <a:rPr lang="zh-CN" altLang="en-US" b="1">
                <a:solidFill>
                  <a:schemeClr val="bg1"/>
                </a:solidFill>
                <a:latin typeface="楷体_GB2312" pitchFamily="49" charset="-122"/>
                <a:ea typeface="楷体_GB2312" pitchFamily="49" charset="-122"/>
              </a:rPr>
              <a:t>其中</a:t>
            </a:r>
            <a:r>
              <a:rPr lang="zh-CN" altLang="en-US" b="1">
                <a:solidFill>
                  <a:schemeClr val="bg1"/>
                </a:solidFill>
              </a:rPr>
              <a:t> </a:t>
            </a:r>
            <a:r>
              <a:rPr lang="zh-CN" altLang="en-US" b="1" i="1">
                <a:solidFill>
                  <a:schemeClr val="bg1"/>
                </a:solidFill>
              </a:rPr>
              <a:t>  </a:t>
            </a:r>
            <a:r>
              <a:rPr lang="en-US" altLang="zh-CN" b="1" i="1">
                <a:solidFill>
                  <a:schemeClr val="accent2"/>
                </a:solidFill>
              </a:rPr>
              <a:t>m</a:t>
            </a:r>
            <a:r>
              <a:rPr lang="en-US" altLang="zh-CN" b="1" i="1" baseline="-20000">
                <a:solidFill>
                  <a:schemeClr val="accent2"/>
                </a:solidFill>
              </a:rPr>
              <a:t>l  </a:t>
            </a:r>
            <a:r>
              <a:rPr lang="en-US" altLang="zh-CN" b="1">
                <a:solidFill>
                  <a:schemeClr val="accent2"/>
                </a:solidFill>
              </a:rPr>
              <a:t>= 0, ±1, ± 2, …, ± </a:t>
            </a:r>
            <a:r>
              <a:rPr lang="en-US" altLang="zh-CN" b="1" i="1">
                <a:solidFill>
                  <a:schemeClr val="accent2"/>
                </a:solidFill>
              </a:rPr>
              <a:t>l</a:t>
            </a:r>
          </a:p>
        </p:txBody>
      </p:sp>
      <p:graphicFrame>
        <p:nvGraphicFramePr>
          <p:cNvPr id="146437" name="Object 5"/>
          <p:cNvGraphicFramePr>
            <a:graphicFrameLocks noChangeAspect="1"/>
          </p:cNvGraphicFramePr>
          <p:nvPr/>
        </p:nvGraphicFramePr>
        <p:xfrm>
          <a:off x="4437063" y="1133475"/>
          <a:ext cx="1184275" cy="409575"/>
        </p:xfrm>
        <a:graphic>
          <a:graphicData uri="http://schemas.openxmlformats.org/presentationml/2006/ole">
            <p:oleObj spid="_x0000_s63493" name="公式" r:id="rId6" imgW="545760" imgH="179280" progId="Equation.3">
              <p:embed/>
            </p:oleObj>
          </a:graphicData>
        </a:graphic>
      </p:graphicFrame>
      <p:sp>
        <p:nvSpPr>
          <p:cNvPr id="146438" name="Line 6"/>
          <p:cNvSpPr>
            <a:spLocks noChangeShapeType="1"/>
          </p:cNvSpPr>
          <p:nvPr/>
        </p:nvSpPr>
        <p:spPr bwMode="auto">
          <a:xfrm>
            <a:off x="2328863" y="3668713"/>
            <a:ext cx="1308100" cy="0"/>
          </a:xfrm>
          <a:prstGeom prst="line">
            <a:avLst/>
          </a:prstGeom>
          <a:noFill/>
          <a:ln w="38100">
            <a:solidFill>
              <a:srgbClr val="FF6600"/>
            </a:solidFill>
            <a:round/>
            <a:headEnd/>
            <a:tailEnd/>
          </a:ln>
          <a:effectLst/>
        </p:spPr>
        <p:txBody>
          <a:bodyPr/>
          <a:lstStyle/>
          <a:p>
            <a:endParaRPr lang="zh-CN" altLang="en-US"/>
          </a:p>
        </p:txBody>
      </p:sp>
      <p:sp>
        <p:nvSpPr>
          <p:cNvPr id="146439" name="Line 7"/>
          <p:cNvSpPr>
            <a:spLocks noChangeShapeType="1"/>
          </p:cNvSpPr>
          <p:nvPr/>
        </p:nvSpPr>
        <p:spPr bwMode="auto">
          <a:xfrm>
            <a:off x="2328863" y="5268913"/>
            <a:ext cx="1379537" cy="0"/>
          </a:xfrm>
          <a:prstGeom prst="line">
            <a:avLst/>
          </a:prstGeom>
          <a:noFill/>
          <a:ln w="38100">
            <a:solidFill>
              <a:srgbClr val="FF6600"/>
            </a:solidFill>
            <a:round/>
            <a:headEnd/>
            <a:tailEnd/>
          </a:ln>
          <a:effectLst/>
        </p:spPr>
        <p:txBody>
          <a:bodyPr/>
          <a:lstStyle/>
          <a:p>
            <a:endParaRPr lang="zh-CN" altLang="en-US"/>
          </a:p>
        </p:txBody>
      </p:sp>
      <p:grpSp>
        <p:nvGrpSpPr>
          <p:cNvPr id="146440" name="Group 8"/>
          <p:cNvGrpSpPr>
            <a:grpSpLocks/>
          </p:cNvGrpSpPr>
          <p:nvPr/>
        </p:nvGrpSpPr>
        <p:grpSpPr bwMode="auto">
          <a:xfrm>
            <a:off x="4284663" y="3363913"/>
            <a:ext cx="1579562" cy="609600"/>
            <a:chOff x="1488" y="2064"/>
            <a:chExt cx="768" cy="384"/>
          </a:xfrm>
        </p:grpSpPr>
        <p:sp>
          <p:nvSpPr>
            <p:cNvPr id="63532" name="Line 9"/>
            <p:cNvSpPr>
              <a:spLocks noChangeShapeType="1"/>
            </p:cNvSpPr>
            <p:nvPr/>
          </p:nvSpPr>
          <p:spPr bwMode="auto">
            <a:xfrm>
              <a:off x="1488" y="2064"/>
              <a:ext cx="768" cy="0"/>
            </a:xfrm>
            <a:prstGeom prst="line">
              <a:avLst/>
            </a:prstGeom>
            <a:noFill/>
            <a:ln w="38100">
              <a:solidFill>
                <a:srgbClr val="FF6600"/>
              </a:solidFill>
              <a:round/>
              <a:headEnd/>
              <a:tailEnd/>
            </a:ln>
            <a:effectLst/>
          </p:spPr>
          <p:txBody>
            <a:bodyPr/>
            <a:lstStyle/>
            <a:p>
              <a:endParaRPr lang="zh-CN" altLang="en-US"/>
            </a:p>
          </p:txBody>
        </p:sp>
        <p:sp>
          <p:nvSpPr>
            <p:cNvPr id="63533" name="Line 10"/>
            <p:cNvSpPr>
              <a:spLocks noChangeShapeType="1"/>
            </p:cNvSpPr>
            <p:nvPr/>
          </p:nvSpPr>
          <p:spPr bwMode="auto">
            <a:xfrm>
              <a:off x="1488" y="2256"/>
              <a:ext cx="768" cy="0"/>
            </a:xfrm>
            <a:prstGeom prst="line">
              <a:avLst/>
            </a:prstGeom>
            <a:noFill/>
            <a:ln w="38100">
              <a:solidFill>
                <a:srgbClr val="FF6600"/>
              </a:solidFill>
              <a:round/>
              <a:headEnd/>
              <a:tailEnd/>
            </a:ln>
            <a:effectLst/>
          </p:spPr>
          <p:txBody>
            <a:bodyPr/>
            <a:lstStyle/>
            <a:p>
              <a:endParaRPr lang="zh-CN" altLang="en-US"/>
            </a:p>
          </p:txBody>
        </p:sp>
        <p:sp>
          <p:nvSpPr>
            <p:cNvPr id="63534" name="Line 11"/>
            <p:cNvSpPr>
              <a:spLocks noChangeShapeType="1"/>
            </p:cNvSpPr>
            <p:nvPr/>
          </p:nvSpPr>
          <p:spPr bwMode="auto">
            <a:xfrm>
              <a:off x="1488" y="2448"/>
              <a:ext cx="768" cy="0"/>
            </a:xfrm>
            <a:prstGeom prst="line">
              <a:avLst/>
            </a:prstGeom>
            <a:noFill/>
            <a:ln w="38100">
              <a:solidFill>
                <a:srgbClr val="FF6600"/>
              </a:solidFill>
              <a:round/>
              <a:headEnd/>
              <a:tailEnd/>
            </a:ln>
            <a:effectLst/>
          </p:spPr>
          <p:txBody>
            <a:bodyPr/>
            <a:lstStyle/>
            <a:p>
              <a:endParaRPr lang="zh-CN" altLang="en-US"/>
            </a:p>
          </p:txBody>
        </p:sp>
      </p:grpSp>
      <p:sp>
        <p:nvSpPr>
          <p:cNvPr id="146444" name="Line 12"/>
          <p:cNvSpPr>
            <a:spLocks noChangeShapeType="1"/>
          </p:cNvSpPr>
          <p:nvPr/>
        </p:nvSpPr>
        <p:spPr bwMode="auto">
          <a:xfrm>
            <a:off x="4213225" y="5268913"/>
            <a:ext cx="1651000" cy="0"/>
          </a:xfrm>
          <a:prstGeom prst="line">
            <a:avLst/>
          </a:prstGeom>
          <a:noFill/>
          <a:ln w="38100">
            <a:solidFill>
              <a:srgbClr val="FF6600"/>
            </a:solidFill>
            <a:round/>
            <a:headEnd/>
            <a:tailEnd/>
          </a:ln>
          <a:effectLst/>
        </p:spPr>
        <p:txBody>
          <a:bodyPr/>
          <a:lstStyle/>
          <a:p>
            <a:endParaRPr lang="zh-CN" altLang="en-US"/>
          </a:p>
        </p:txBody>
      </p:sp>
      <p:sp>
        <p:nvSpPr>
          <p:cNvPr id="146445" name="Line 13"/>
          <p:cNvSpPr>
            <a:spLocks noChangeShapeType="1"/>
          </p:cNvSpPr>
          <p:nvPr/>
        </p:nvSpPr>
        <p:spPr bwMode="auto">
          <a:xfrm>
            <a:off x="2974975" y="3668713"/>
            <a:ext cx="0" cy="1600200"/>
          </a:xfrm>
          <a:prstGeom prst="line">
            <a:avLst/>
          </a:prstGeom>
          <a:noFill/>
          <a:ln w="28575">
            <a:solidFill>
              <a:srgbClr val="FF6600"/>
            </a:solidFill>
            <a:round/>
            <a:headEnd/>
            <a:tailEnd type="triangle" w="med" len="med"/>
          </a:ln>
          <a:effectLst/>
        </p:spPr>
        <p:txBody>
          <a:bodyPr/>
          <a:lstStyle/>
          <a:p>
            <a:endParaRPr lang="zh-CN" altLang="en-US"/>
          </a:p>
        </p:txBody>
      </p:sp>
      <p:grpSp>
        <p:nvGrpSpPr>
          <p:cNvPr id="146446" name="Group 14"/>
          <p:cNvGrpSpPr>
            <a:grpSpLocks/>
          </p:cNvGrpSpPr>
          <p:nvPr/>
        </p:nvGrpSpPr>
        <p:grpSpPr bwMode="auto">
          <a:xfrm>
            <a:off x="3679825" y="3363913"/>
            <a:ext cx="533400" cy="609600"/>
            <a:chOff x="1152" y="2064"/>
            <a:chExt cx="336" cy="384"/>
          </a:xfrm>
        </p:grpSpPr>
        <p:sp>
          <p:nvSpPr>
            <p:cNvPr id="63529" name="Line 15"/>
            <p:cNvSpPr>
              <a:spLocks noChangeShapeType="1"/>
            </p:cNvSpPr>
            <p:nvPr/>
          </p:nvSpPr>
          <p:spPr bwMode="auto">
            <a:xfrm flipV="1">
              <a:off x="1152" y="2064"/>
              <a:ext cx="336" cy="192"/>
            </a:xfrm>
            <a:prstGeom prst="line">
              <a:avLst/>
            </a:prstGeom>
            <a:noFill/>
            <a:ln w="9525" cap="rnd">
              <a:solidFill>
                <a:schemeClr val="bg1"/>
              </a:solidFill>
              <a:prstDash val="sysDot"/>
              <a:round/>
              <a:headEnd/>
              <a:tailEnd/>
            </a:ln>
            <a:effectLst/>
          </p:spPr>
          <p:txBody>
            <a:bodyPr/>
            <a:lstStyle/>
            <a:p>
              <a:endParaRPr lang="zh-CN" altLang="en-US"/>
            </a:p>
          </p:txBody>
        </p:sp>
        <p:sp>
          <p:nvSpPr>
            <p:cNvPr id="63530" name="Line 16"/>
            <p:cNvSpPr>
              <a:spLocks noChangeShapeType="1"/>
            </p:cNvSpPr>
            <p:nvPr/>
          </p:nvSpPr>
          <p:spPr bwMode="auto">
            <a:xfrm>
              <a:off x="1152" y="2256"/>
              <a:ext cx="336" cy="192"/>
            </a:xfrm>
            <a:prstGeom prst="line">
              <a:avLst/>
            </a:prstGeom>
            <a:noFill/>
            <a:ln w="9525" cap="rnd">
              <a:solidFill>
                <a:schemeClr val="bg1"/>
              </a:solidFill>
              <a:prstDash val="sysDot"/>
              <a:round/>
              <a:headEnd/>
              <a:tailEnd/>
            </a:ln>
            <a:effectLst/>
          </p:spPr>
          <p:txBody>
            <a:bodyPr/>
            <a:lstStyle/>
            <a:p>
              <a:endParaRPr lang="zh-CN" altLang="en-US"/>
            </a:p>
          </p:txBody>
        </p:sp>
        <p:sp>
          <p:nvSpPr>
            <p:cNvPr id="63531" name="Line 17"/>
            <p:cNvSpPr>
              <a:spLocks noChangeShapeType="1"/>
            </p:cNvSpPr>
            <p:nvPr/>
          </p:nvSpPr>
          <p:spPr bwMode="auto">
            <a:xfrm>
              <a:off x="1248" y="2256"/>
              <a:ext cx="240" cy="0"/>
            </a:xfrm>
            <a:prstGeom prst="line">
              <a:avLst/>
            </a:prstGeom>
            <a:noFill/>
            <a:ln w="9525" cap="rnd">
              <a:solidFill>
                <a:schemeClr val="bg1"/>
              </a:solidFill>
              <a:prstDash val="sysDot"/>
              <a:round/>
              <a:headEnd/>
              <a:tailEnd/>
            </a:ln>
            <a:effectLst/>
          </p:spPr>
          <p:txBody>
            <a:bodyPr/>
            <a:lstStyle/>
            <a:p>
              <a:endParaRPr lang="zh-CN" altLang="en-US"/>
            </a:p>
          </p:txBody>
        </p:sp>
      </p:grpSp>
      <p:sp>
        <p:nvSpPr>
          <p:cNvPr id="146450" name="Text Box 18"/>
          <p:cNvSpPr txBox="1">
            <a:spLocks noChangeArrowheads="1"/>
          </p:cNvSpPr>
          <p:nvPr/>
        </p:nvSpPr>
        <p:spPr bwMode="auto">
          <a:xfrm>
            <a:off x="1331913" y="3440113"/>
            <a:ext cx="746125" cy="457200"/>
          </a:xfrm>
          <a:prstGeom prst="rect">
            <a:avLst/>
          </a:prstGeom>
          <a:noFill/>
          <a:ln w="9525">
            <a:noFill/>
            <a:miter lim="800000"/>
            <a:headEnd/>
            <a:tailEnd/>
          </a:ln>
          <a:effectLst/>
        </p:spPr>
        <p:txBody>
          <a:bodyPr wrap="none">
            <a:spAutoFit/>
          </a:bodyPr>
          <a:lstStyle/>
          <a:p>
            <a:r>
              <a:rPr lang="en-US" altLang="zh-CN" b="1" i="1">
                <a:solidFill>
                  <a:schemeClr val="bg1"/>
                </a:solidFill>
              </a:rPr>
              <a:t>l = </a:t>
            </a:r>
            <a:r>
              <a:rPr lang="en-US" altLang="zh-CN" b="1">
                <a:solidFill>
                  <a:schemeClr val="bg1"/>
                </a:solidFill>
              </a:rPr>
              <a:t>1</a:t>
            </a:r>
          </a:p>
        </p:txBody>
      </p:sp>
      <p:sp>
        <p:nvSpPr>
          <p:cNvPr id="146451" name="Text Box 19"/>
          <p:cNvSpPr txBox="1">
            <a:spLocks noChangeArrowheads="1"/>
          </p:cNvSpPr>
          <p:nvPr/>
        </p:nvSpPr>
        <p:spPr bwMode="auto">
          <a:xfrm>
            <a:off x="1331913" y="5040313"/>
            <a:ext cx="746125" cy="457200"/>
          </a:xfrm>
          <a:prstGeom prst="rect">
            <a:avLst/>
          </a:prstGeom>
          <a:noFill/>
          <a:ln w="9525">
            <a:noFill/>
            <a:miter lim="800000"/>
            <a:headEnd/>
            <a:tailEnd/>
          </a:ln>
          <a:effectLst/>
        </p:spPr>
        <p:txBody>
          <a:bodyPr wrap="none">
            <a:spAutoFit/>
          </a:bodyPr>
          <a:lstStyle/>
          <a:p>
            <a:r>
              <a:rPr lang="en-US" altLang="zh-CN" b="1" i="1">
                <a:solidFill>
                  <a:schemeClr val="bg1"/>
                </a:solidFill>
              </a:rPr>
              <a:t>l = </a:t>
            </a:r>
            <a:r>
              <a:rPr lang="en-US" altLang="zh-CN" b="1">
                <a:solidFill>
                  <a:schemeClr val="bg1"/>
                </a:solidFill>
              </a:rPr>
              <a:t>0</a:t>
            </a:r>
          </a:p>
        </p:txBody>
      </p:sp>
      <p:sp>
        <p:nvSpPr>
          <p:cNvPr id="146452" name="Rectangle 20"/>
          <p:cNvSpPr>
            <a:spLocks noChangeArrowheads="1"/>
          </p:cNvSpPr>
          <p:nvPr/>
        </p:nvSpPr>
        <p:spPr bwMode="auto">
          <a:xfrm>
            <a:off x="6149975" y="2735263"/>
            <a:ext cx="477838" cy="457200"/>
          </a:xfrm>
          <a:prstGeom prst="rect">
            <a:avLst/>
          </a:prstGeom>
          <a:noFill/>
          <a:ln w="9525">
            <a:noFill/>
            <a:miter lim="800000"/>
            <a:headEnd/>
            <a:tailEnd/>
          </a:ln>
          <a:effectLst/>
        </p:spPr>
        <p:txBody>
          <a:bodyPr wrap="none">
            <a:spAutoFit/>
          </a:bodyPr>
          <a:lstStyle/>
          <a:p>
            <a:r>
              <a:rPr lang="en-US" altLang="zh-CN" b="1" i="1">
                <a:solidFill>
                  <a:schemeClr val="bg1"/>
                </a:solidFill>
              </a:rPr>
              <a:t>m</a:t>
            </a:r>
            <a:r>
              <a:rPr lang="en-US" altLang="zh-CN" b="1" i="1" baseline="-20000">
                <a:solidFill>
                  <a:schemeClr val="bg1"/>
                </a:solidFill>
              </a:rPr>
              <a:t>l</a:t>
            </a:r>
          </a:p>
        </p:txBody>
      </p:sp>
      <p:sp>
        <p:nvSpPr>
          <p:cNvPr id="146453" name="Text Box 21"/>
          <p:cNvSpPr txBox="1">
            <a:spLocks noChangeArrowheads="1"/>
          </p:cNvSpPr>
          <p:nvPr/>
        </p:nvSpPr>
        <p:spPr bwMode="auto">
          <a:xfrm>
            <a:off x="6180138" y="3135313"/>
            <a:ext cx="374650" cy="1039812"/>
          </a:xfrm>
          <a:prstGeom prst="rect">
            <a:avLst/>
          </a:prstGeom>
          <a:noFill/>
          <a:ln w="9525">
            <a:noFill/>
            <a:miter lim="800000"/>
            <a:headEnd/>
            <a:tailEnd/>
          </a:ln>
          <a:effectLst/>
        </p:spPr>
        <p:txBody>
          <a:bodyPr wrap="none">
            <a:spAutoFit/>
          </a:bodyPr>
          <a:lstStyle/>
          <a:p>
            <a:pPr algn="ctr">
              <a:lnSpc>
                <a:spcPct val="115000"/>
              </a:lnSpc>
            </a:pPr>
            <a:r>
              <a:rPr lang="en-US" altLang="zh-CN" sz="1800" b="1">
                <a:solidFill>
                  <a:schemeClr val="bg1"/>
                </a:solidFill>
              </a:rPr>
              <a:t>1</a:t>
            </a:r>
          </a:p>
          <a:p>
            <a:pPr algn="ctr">
              <a:lnSpc>
                <a:spcPct val="115000"/>
              </a:lnSpc>
            </a:pPr>
            <a:r>
              <a:rPr lang="en-US" altLang="zh-CN" sz="1800" b="1">
                <a:solidFill>
                  <a:schemeClr val="bg1"/>
                </a:solidFill>
              </a:rPr>
              <a:t>0</a:t>
            </a:r>
          </a:p>
          <a:p>
            <a:pPr algn="ctr">
              <a:lnSpc>
                <a:spcPct val="115000"/>
              </a:lnSpc>
            </a:pPr>
            <a:r>
              <a:rPr lang="en-US" altLang="zh-CN" sz="1800" b="1">
                <a:solidFill>
                  <a:schemeClr val="bg1"/>
                </a:solidFill>
              </a:rPr>
              <a:t>-1</a:t>
            </a:r>
          </a:p>
        </p:txBody>
      </p:sp>
      <p:sp>
        <p:nvSpPr>
          <p:cNvPr id="146454" name="Rectangle 22"/>
          <p:cNvSpPr>
            <a:spLocks noChangeArrowheads="1"/>
          </p:cNvSpPr>
          <p:nvPr/>
        </p:nvSpPr>
        <p:spPr bwMode="auto">
          <a:xfrm>
            <a:off x="6835775" y="2735263"/>
            <a:ext cx="762000" cy="366712"/>
          </a:xfrm>
          <a:prstGeom prst="rect">
            <a:avLst/>
          </a:prstGeom>
          <a:noFill/>
          <a:ln w="9525">
            <a:noFill/>
            <a:miter lim="800000"/>
            <a:headEnd/>
            <a:tailEnd/>
          </a:ln>
          <a:effectLst/>
        </p:spPr>
        <p:txBody>
          <a:bodyPr>
            <a:spAutoFit/>
          </a:bodyPr>
          <a:lstStyle/>
          <a:p>
            <a:r>
              <a:rPr lang="en-US" altLang="zh-CN" sz="1800" b="1">
                <a:solidFill>
                  <a:schemeClr val="tx2"/>
                </a:solidFill>
              </a:rPr>
              <a:t>△</a:t>
            </a:r>
            <a:r>
              <a:rPr lang="en-US" altLang="zh-CN" sz="1800" b="1" i="1">
                <a:solidFill>
                  <a:schemeClr val="tx2"/>
                </a:solidFill>
              </a:rPr>
              <a:t>E</a:t>
            </a:r>
          </a:p>
        </p:txBody>
      </p:sp>
      <p:graphicFrame>
        <p:nvGraphicFramePr>
          <p:cNvPr id="146455" name="Object 23"/>
          <p:cNvGraphicFramePr>
            <a:graphicFrameLocks noChangeAspect="1"/>
          </p:cNvGraphicFramePr>
          <p:nvPr/>
        </p:nvGraphicFramePr>
        <p:xfrm>
          <a:off x="6867525" y="3159125"/>
          <a:ext cx="522288" cy="341313"/>
        </p:xfrm>
        <a:graphic>
          <a:graphicData uri="http://schemas.openxmlformats.org/presentationml/2006/ole">
            <p:oleObj spid="_x0000_s63505" name="公式" r:id="rId7" imgW="268560" imgH="171360" progId="Equation.3">
              <p:embed/>
            </p:oleObj>
          </a:graphicData>
        </a:graphic>
      </p:graphicFrame>
      <p:graphicFrame>
        <p:nvGraphicFramePr>
          <p:cNvPr id="146456" name="Object 24"/>
          <p:cNvGraphicFramePr>
            <a:graphicFrameLocks noChangeAspect="1"/>
          </p:cNvGraphicFramePr>
          <p:nvPr/>
        </p:nvGraphicFramePr>
        <p:xfrm>
          <a:off x="6777038" y="3789363"/>
          <a:ext cx="712787" cy="346075"/>
        </p:xfrm>
        <a:graphic>
          <a:graphicData uri="http://schemas.openxmlformats.org/presentationml/2006/ole">
            <p:oleObj spid="_x0000_s63506" name="公式" r:id="rId8" imgW="366480" imgH="171360" progId="Equation.3">
              <p:embed/>
            </p:oleObj>
          </a:graphicData>
        </a:graphic>
      </p:graphicFrame>
      <p:sp>
        <p:nvSpPr>
          <p:cNvPr id="146457" name="Rectangle 25"/>
          <p:cNvSpPr>
            <a:spLocks noChangeArrowheads="1"/>
          </p:cNvSpPr>
          <p:nvPr/>
        </p:nvSpPr>
        <p:spPr bwMode="auto">
          <a:xfrm>
            <a:off x="6988175" y="3473450"/>
            <a:ext cx="298450" cy="366713"/>
          </a:xfrm>
          <a:prstGeom prst="rect">
            <a:avLst/>
          </a:prstGeom>
          <a:noFill/>
          <a:ln w="9525">
            <a:noFill/>
            <a:miter lim="800000"/>
            <a:headEnd/>
            <a:tailEnd/>
          </a:ln>
          <a:effectLst/>
        </p:spPr>
        <p:txBody>
          <a:bodyPr wrap="none">
            <a:spAutoFit/>
          </a:bodyPr>
          <a:lstStyle/>
          <a:p>
            <a:r>
              <a:rPr lang="en-US" altLang="zh-CN" sz="1800" b="1">
                <a:solidFill>
                  <a:srgbClr val="0000FF"/>
                </a:solidFill>
              </a:rPr>
              <a:t>0</a:t>
            </a:r>
          </a:p>
        </p:txBody>
      </p:sp>
      <p:sp>
        <p:nvSpPr>
          <p:cNvPr id="146458" name="Line 26"/>
          <p:cNvSpPr>
            <a:spLocks noChangeShapeType="1"/>
          </p:cNvSpPr>
          <p:nvPr/>
        </p:nvSpPr>
        <p:spPr bwMode="auto">
          <a:xfrm>
            <a:off x="3779838" y="5268913"/>
            <a:ext cx="381000" cy="0"/>
          </a:xfrm>
          <a:prstGeom prst="line">
            <a:avLst/>
          </a:prstGeom>
          <a:noFill/>
          <a:ln w="9525" cap="rnd">
            <a:solidFill>
              <a:schemeClr val="bg1"/>
            </a:solidFill>
            <a:prstDash val="sysDot"/>
            <a:round/>
            <a:headEnd/>
            <a:tailEnd/>
          </a:ln>
          <a:effectLst/>
        </p:spPr>
        <p:txBody>
          <a:bodyPr/>
          <a:lstStyle/>
          <a:p>
            <a:endParaRPr lang="zh-CN" altLang="en-US"/>
          </a:p>
        </p:txBody>
      </p:sp>
      <p:sp>
        <p:nvSpPr>
          <p:cNvPr id="146459" name="Line 27"/>
          <p:cNvSpPr>
            <a:spLocks noChangeShapeType="1"/>
          </p:cNvSpPr>
          <p:nvPr/>
        </p:nvSpPr>
        <p:spPr bwMode="auto">
          <a:xfrm>
            <a:off x="5102225" y="3668713"/>
            <a:ext cx="0" cy="1600200"/>
          </a:xfrm>
          <a:prstGeom prst="line">
            <a:avLst/>
          </a:prstGeom>
          <a:noFill/>
          <a:ln w="28575">
            <a:solidFill>
              <a:srgbClr val="FF6600"/>
            </a:solidFill>
            <a:round/>
            <a:headEnd/>
            <a:tailEnd type="triangle" w="med" len="med"/>
          </a:ln>
          <a:effectLst/>
        </p:spPr>
        <p:txBody>
          <a:bodyPr/>
          <a:lstStyle/>
          <a:p>
            <a:endParaRPr lang="zh-CN" altLang="en-US"/>
          </a:p>
        </p:txBody>
      </p:sp>
      <p:sp>
        <p:nvSpPr>
          <p:cNvPr id="146460" name="Line 28"/>
          <p:cNvSpPr>
            <a:spLocks noChangeShapeType="1"/>
          </p:cNvSpPr>
          <p:nvPr/>
        </p:nvSpPr>
        <p:spPr bwMode="auto">
          <a:xfrm>
            <a:off x="4645025" y="3973513"/>
            <a:ext cx="0" cy="1295400"/>
          </a:xfrm>
          <a:prstGeom prst="line">
            <a:avLst/>
          </a:prstGeom>
          <a:noFill/>
          <a:ln w="28575">
            <a:solidFill>
              <a:srgbClr val="FF6600"/>
            </a:solidFill>
            <a:round/>
            <a:headEnd/>
            <a:tailEnd type="triangle" w="med" len="med"/>
          </a:ln>
          <a:effectLst/>
        </p:spPr>
        <p:txBody>
          <a:bodyPr/>
          <a:lstStyle/>
          <a:p>
            <a:endParaRPr lang="zh-CN" altLang="en-US"/>
          </a:p>
        </p:txBody>
      </p:sp>
      <p:sp>
        <p:nvSpPr>
          <p:cNvPr id="146461" name="Line 29"/>
          <p:cNvSpPr>
            <a:spLocks noChangeShapeType="1"/>
          </p:cNvSpPr>
          <p:nvPr/>
        </p:nvSpPr>
        <p:spPr bwMode="auto">
          <a:xfrm>
            <a:off x="5559425" y="3363913"/>
            <a:ext cx="0" cy="1905000"/>
          </a:xfrm>
          <a:prstGeom prst="line">
            <a:avLst/>
          </a:prstGeom>
          <a:noFill/>
          <a:ln w="28575">
            <a:solidFill>
              <a:srgbClr val="FF6600"/>
            </a:solidFill>
            <a:round/>
            <a:headEnd/>
            <a:tailEnd type="triangle" w="med" len="med"/>
          </a:ln>
          <a:effectLst/>
        </p:spPr>
        <p:txBody>
          <a:bodyPr/>
          <a:lstStyle/>
          <a:p>
            <a:endParaRPr lang="zh-CN" altLang="en-US"/>
          </a:p>
        </p:txBody>
      </p:sp>
      <p:grpSp>
        <p:nvGrpSpPr>
          <p:cNvPr id="146462" name="Group 30"/>
          <p:cNvGrpSpPr>
            <a:grpSpLocks/>
          </p:cNvGrpSpPr>
          <p:nvPr/>
        </p:nvGrpSpPr>
        <p:grpSpPr bwMode="auto">
          <a:xfrm rot="10800000">
            <a:off x="4429125" y="5641975"/>
            <a:ext cx="1371600" cy="614363"/>
            <a:chOff x="1440" y="2640"/>
            <a:chExt cx="864" cy="432"/>
          </a:xfrm>
        </p:grpSpPr>
        <p:sp>
          <p:nvSpPr>
            <p:cNvPr id="63525" name="Rectangle 31"/>
            <p:cNvSpPr>
              <a:spLocks noChangeArrowheads="1"/>
            </p:cNvSpPr>
            <p:nvPr/>
          </p:nvSpPr>
          <p:spPr bwMode="auto">
            <a:xfrm>
              <a:off x="1440" y="2640"/>
              <a:ext cx="864" cy="432"/>
            </a:xfrm>
            <a:prstGeom prst="rect">
              <a:avLst/>
            </a:prstGeom>
            <a:solidFill>
              <a:srgbClr val="C0C0C0">
                <a:alpha val="49019"/>
              </a:srgbClr>
            </a:solidFill>
            <a:ln w="9525">
              <a:solidFill>
                <a:schemeClr val="tx1"/>
              </a:solidFill>
              <a:miter lim="800000"/>
              <a:headEnd/>
              <a:tailEnd/>
            </a:ln>
            <a:effectLst/>
          </p:spPr>
          <p:txBody>
            <a:bodyPr wrap="none" anchor="ctr"/>
            <a:lstStyle/>
            <a:p>
              <a:endParaRPr lang="zh-CN" altLang="en-US"/>
            </a:p>
          </p:txBody>
        </p:sp>
        <p:sp>
          <p:nvSpPr>
            <p:cNvPr id="63526" name="Line 32"/>
            <p:cNvSpPr>
              <a:spLocks noChangeShapeType="1"/>
            </p:cNvSpPr>
            <p:nvPr/>
          </p:nvSpPr>
          <p:spPr bwMode="auto">
            <a:xfrm>
              <a:off x="1872" y="2640"/>
              <a:ext cx="0" cy="432"/>
            </a:xfrm>
            <a:prstGeom prst="line">
              <a:avLst/>
            </a:prstGeom>
            <a:noFill/>
            <a:ln w="19050">
              <a:solidFill>
                <a:schemeClr val="bg1"/>
              </a:solidFill>
              <a:round/>
              <a:headEnd/>
              <a:tailEnd/>
            </a:ln>
            <a:effectLst/>
          </p:spPr>
          <p:txBody>
            <a:bodyPr/>
            <a:lstStyle/>
            <a:p>
              <a:endParaRPr lang="zh-CN" altLang="en-US"/>
            </a:p>
          </p:txBody>
        </p:sp>
        <p:sp>
          <p:nvSpPr>
            <p:cNvPr id="63527" name="Line 33"/>
            <p:cNvSpPr>
              <a:spLocks noChangeShapeType="1"/>
            </p:cNvSpPr>
            <p:nvPr/>
          </p:nvSpPr>
          <p:spPr bwMode="auto">
            <a:xfrm>
              <a:off x="2160" y="2640"/>
              <a:ext cx="0" cy="432"/>
            </a:xfrm>
            <a:prstGeom prst="line">
              <a:avLst/>
            </a:prstGeom>
            <a:noFill/>
            <a:ln w="19050">
              <a:solidFill>
                <a:schemeClr val="bg1"/>
              </a:solidFill>
              <a:round/>
              <a:headEnd/>
              <a:tailEnd/>
            </a:ln>
            <a:effectLst/>
          </p:spPr>
          <p:txBody>
            <a:bodyPr/>
            <a:lstStyle/>
            <a:p>
              <a:endParaRPr lang="zh-CN" altLang="en-US"/>
            </a:p>
          </p:txBody>
        </p:sp>
        <p:sp>
          <p:nvSpPr>
            <p:cNvPr id="63528" name="Line 34"/>
            <p:cNvSpPr>
              <a:spLocks noChangeShapeType="1"/>
            </p:cNvSpPr>
            <p:nvPr/>
          </p:nvSpPr>
          <p:spPr bwMode="auto">
            <a:xfrm>
              <a:off x="1584" y="2640"/>
              <a:ext cx="0" cy="432"/>
            </a:xfrm>
            <a:prstGeom prst="line">
              <a:avLst/>
            </a:prstGeom>
            <a:noFill/>
            <a:ln w="19050">
              <a:solidFill>
                <a:schemeClr val="bg1"/>
              </a:solidFill>
              <a:round/>
              <a:headEnd/>
              <a:tailEnd/>
            </a:ln>
            <a:effectLst/>
          </p:spPr>
          <p:txBody>
            <a:bodyPr/>
            <a:lstStyle/>
            <a:p>
              <a:endParaRPr lang="zh-CN" altLang="en-US"/>
            </a:p>
          </p:txBody>
        </p:sp>
      </p:grpSp>
      <p:grpSp>
        <p:nvGrpSpPr>
          <p:cNvPr id="146467" name="Group 35"/>
          <p:cNvGrpSpPr>
            <a:grpSpLocks/>
          </p:cNvGrpSpPr>
          <p:nvPr/>
        </p:nvGrpSpPr>
        <p:grpSpPr bwMode="auto">
          <a:xfrm rot="10800000">
            <a:off x="2289175" y="5641975"/>
            <a:ext cx="1371600" cy="614363"/>
            <a:chOff x="2064" y="3552"/>
            <a:chExt cx="864" cy="432"/>
          </a:xfrm>
        </p:grpSpPr>
        <p:sp>
          <p:nvSpPr>
            <p:cNvPr id="63523" name="Rectangle 36"/>
            <p:cNvSpPr>
              <a:spLocks noChangeArrowheads="1"/>
            </p:cNvSpPr>
            <p:nvPr/>
          </p:nvSpPr>
          <p:spPr bwMode="auto">
            <a:xfrm>
              <a:off x="2064" y="3552"/>
              <a:ext cx="864" cy="432"/>
            </a:xfrm>
            <a:prstGeom prst="rect">
              <a:avLst/>
            </a:prstGeom>
            <a:solidFill>
              <a:srgbClr val="C0C0C0">
                <a:alpha val="49019"/>
              </a:srgbClr>
            </a:solidFill>
            <a:ln w="9525">
              <a:solidFill>
                <a:schemeClr val="tx1"/>
              </a:solidFill>
              <a:miter lim="800000"/>
              <a:headEnd/>
              <a:tailEnd/>
            </a:ln>
            <a:effectLst/>
          </p:spPr>
          <p:txBody>
            <a:bodyPr wrap="none" anchor="ctr"/>
            <a:lstStyle/>
            <a:p>
              <a:endParaRPr lang="zh-CN" altLang="en-US"/>
            </a:p>
          </p:txBody>
        </p:sp>
        <p:sp>
          <p:nvSpPr>
            <p:cNvPr id="63524" name="Line 37"/>
            <p:cNvSpPr>
              <a:spLocks noChangeShapeType="1"/>
            </p:cNvSpPr>
            <p:nvPr/>
          </p:nvSpPr>
          <p:spPr bwMode="auto">
            <a:xfrm>
              <a:off x="2496" y="3552"/>
              <a:ext cx="0" cy="432"/>
            </a:xfrm>
            <a:prstGeom prst="line">
              <a:avLst/>
            </a:prstGeom>
            <a:noFill/>
            <a:ln w="38100">
              <a:solidFill>
                <a:schemeClr val="bg1"/>
              </a:solidFill>
              <a:round/>
              <a:headEnd/>
              <a:tailEnd/>
            </a:ln>
            <a:effectLst/>
          </p:spPr>
          <p:txBody>
            <a:bodyPr/>
            <a:lstStyle/>
            <a:p>
              <a:endParaRPr lang="zh-CN" altLang="en-US"/>
            </a:p>
          </p:txBody>
        </p:sp>
      </p:grpSp>
      <p:sp>
        <p:nvSpPr>
          <p:cNvPr id="146470" name="Text Box 38"/>
          <p:cNvSpPr txBox="1">
            <a:spLocks noChangeArrowheads="1"/>
          </p:cNvSpPr>
          <p:nvPr/>
        </p:nvSpPr>
        <p:spPr bwMode="auto">
          <a:xfrm>
            <a:off x="2843213" y="5219700"/>
            <a:ext cx="379412" cy="396875"/>
          </a:xfrm>
          <a:prstGeom prst="rect">
            <a:avLst/>
          </a:prstGeom>
          <a:noFill/>
          <a:ln w="9525">
            <a:noFill/>
            <a:miter lim="800000"/>
            <a:headEnd/>
            <a:tailEnd/>
          </a:ln>
          <a:effectLst/>
        </p:spPr>
        <p:txBody>
          <a:bodyPr wrap="none">
            <a:spAutoFit/>
          </a:bodyPr>
          <a:lstStyle/>
          <a:p>
            <a:r>
              <a:rPr lang="en-US" altLang="zh-CN" sz="2000" b="1" i="1">
                <a:solidFill>
                  <a:schemeClr val="bg1"/>
                </a:solidFill>
              </a:rPr>
              <a:t>v</a:t>
            </a:r>
            <a:r>
              <a:rPr lang="en-US" altLang="zh-CN" sz="2000" b="1" baseline="-20000">
                <a:solidFill>
                  <a:schemeClr val="bg1"/>
                </a:solidFill>
              </a:rPr>
              <a:t>0</a:t>
            </a:r>
            <a:endParaRPr lang="en-US" altLang="zh-CN" sz="2000" b="1">
              <a:solidFill>
                <a:schemeClr val="bg1"/>
              </a:solidFill>
            </a:endParaRPr>
          </a:p>
        </p:txBody>
      </p:sp>
      <p:sp>
        <p:nvSpPr>
          <p:cNvPr id="146471" name="Text Box 39"/>
          <p:cNvSpPr txBox="1">
            <a:spLocks noChangeArrowheads="1"/>
          </p:cNvSpPr>
          <p:nvPr/>
        </p:nvSpPr>
        <p:spPr bwMode="auto">
          <a:xfrm>
            <a:off x="4900613" y="5184775"/>
            <a:ext cx="420687" cy="457200"/>
          </a:xfrm>
          <a:prstGeom prst="rect">
            <a:avLst/>
          </a:prstGeom>
          <a:noFill/>
          <a:ln w="9525">
            <a:noFill/>
            <a:miter lim="800000"/>
            <a:headEnd/>
            <a:tailEnd/>
          </a:ln>
          <a:effectLst/>
        </p:spPr>
        <p:txBody>
          <a:bodyPr wrap="none">
            <a:spAutoFit/>
          </a:bodyPr>
          <a:lstStyle/>
          <a:p>
            <a:r>
              <a:rPr lang="en-US" altLang="zh-CN" b="1" i="1">
                <a:solidFill>
                  <a:schemeClr val="bg1"/>
                </a:solidFill>
              </a:rPr>
              <a:t>v</a:t>
            </a:r>
            <a:r>
              <a:rPr lang="en-US" altLang="zh-CN" b="1" baseline="-20000">
                <a:solidFill>
                  <a:schemeClr val="bg1"/>
                </a:solidFill>
              </a:rPr>
              <a:t>0</a:t>
            </a:r>
            <a:endParaRPr lang="en-US" altLang="zh-CN" b="1">
              <a:solidFill>
                <a:schemeClr val="bg1"/>
              </a:solidFill>
            </a:endParaRPr>
          </a:p>
        </p:txBody>
      </p:sp>
      <p:sp>
        <p:nvSpPr>
          <p:cNvPr id="146472" name="Text Box 40"/>
          <p:cNvSpPr txBox="1">
            <a:spLocks noChangeArrowheads="1"/>
          </p:cNvSpPr>
          <p:nvPr/>
        </p:nvSpPr>
        <p:spPr bwMode="auto">
          <a:xfrm>
            <a:off x="5441950" y="6119813"/>
            <a:ext cx="1219200" cy="457200"/>
          </a:xfrm>
          <a:prstGeom prst="rect">
            <a:avLst/>
          </a:prstGeom>
          <a:noFill/>
          <a:ln w="9525">
            <a:noFill/>
            <a:miter lim="800000"/>
            <a:headEnd/>
            <a:tailEnd/>
          </a:ln>
          <a:effectLst/>
        </p:spPr>
        <p:txBody>
          <a:bodyPr>
            <a:spAutoFit/>
          </a:bodyPr>
          <a:lstStyle/>
          <a:p>
            <a:r>
              <a:rPr lang="en-US" altLang="zh-CN" b="1" i="1">
                <a:solidFill>
                  <a:schemeClr val="bg1"/>
                </a:solidFill>
              </a:rPr>
              <a:t>v</a:t>
            </a:r>
            <a:r>
              <a:rPr lang="en-US" altLang="zh-CN" b="1" baseline="-20000">
                <a:solidFill>
                  <a:schemeClr val="bg1"/>
                </a:solidFill>
              </a:rPr>
              <a:t>0</a:t>
            </a:r>
            <a:r>
              <a:rPr lang="en-US" altLang="zh-CN" sz="2000" b="1">
                <a:solidFill>
                  <a:schemeClr val="bg1"/>
                </a:solidFill>
              </a:rPr>
              <a:t>+</a:t>
            </a:r>
            <a:r>
              <a:rPr lang="en-US" altLang="zh-CN" sz="1600" b="1">
                <a:solidFill>
                  <a:schemeClr val="bg1"/>
                </a:solidFill>
              </a:rPr>
              <a:t>△</a:t>
            </a:r>
            <a:r>
              <a:rPr lang="en-US" altLang="zh-CN" b="1" i="1">
                <a:solidFill>
                  <a:schemeClr val="bg1"/>
                </a:solidFill>
              </a:rPr>
              <a:t>v</a:t>
            </a:r>
          </a:p>
        </p:txBody>
      </p:sp>
      <p:sp>
        <p:nvSpPr>
          <p:cNvPr id="146473" name="Text Box 41"/>
          <p:cNvSpPr txBox="1">
            <a:spLocks noChangeArrowheads="1"/>
          </p:cNvSpPr>
          <p:nvPr/>
        </p:nvSpPr>
        <p:spPr bwMode="auto">
          <a:xfrm>
            <a:off x="3925888" y="6119813"/>
            <a:ext cx="862012" cy="457200"/>
          </a:xfrm>
          <a:prstGeom prst="rect">
            <a:avLst/>
          </a:prstGeom>
          <a:noFill/>
          <a:ln w="9525">
            <a:noFill/>
            <a:miter lim="800000"/>
            <a:headEnd/>
            <a:tailEnd/>
          </a:ln>
          <a:effectLst/>
        </p:spPr>
        <p:txBody>
          <a:bodyPr wrap="none">
            <a:spAutoFit/>
          </a:bodyPr>
          <a:lstStyle/>
          <a:p>
            <a:r>
              <a:rPr lang="en-US" altLang="zh-CN" b="1" i="1">
                <a:solidFill>
                  <a:schemeClr val="bg1"/>
                </a:solidFill>
              </a:rPr>
              <a:t>v</a:t>
            </a:r>
            <a:r>
              <a:rPr lang="en-US" altLang="zh-CN" b="1" baseline="-20000">
                <a:solidFill>
                  <a:schemeClr val="bg1"/>
                </a:solidFill>
              </a:rPr>
              <a:t>0</a:t>
            </a:r>
            <a:r>
              <a:rPr lang="en-US" altLang="zh-CN" b="1">
                <a:solidFill>
                  <a:schemeClr val="bg1"/>
                </a:solidFill>
              </a:rPr>
              <a:t>-</a:t>
            </a:r>
            <a:r>
              <a:rPr lang="en-US" altLang="zh-CN" sz="1600" b="1">
                <a:solidFill>
                  <a:schemeClr val="bg1"/>
                </a:solidFill>
              </a:rPr>
              <a:t>△</a:t>
            </a:r>
            <a:r>
              <a:rPr lang="en-US" altLang="zh-CN" b="1" i="1">
                <a:solidFill>
                  <a:schemeClr val="bg1"/>
                </a:solidFill>
              </a:rPr>
              <a:t>v</a:t>
            </a:r>
          </a:p>
        </p:txBody>
      </p:sp>
      <p:sp>
        <p:nvSpPr>
          <p:cNvPr id="146474" name="Text Box 42"/>
          <p:cNvSpPr txBox="1">
            <a:spLocks noChangeArrowheads="1"/>
          </p:cNvSpPr>
          <p:nvPr/>
        </p:nvSpPr>
        <p:spPr bwMode="auto">
          <a:xfrm>
            <a:off x="2441575" y="2811463"/>
            <a:ext cx="1108075" cy="457200"/>
          </a:xfrm>
          <a:prstGeom prst="rect">
            <a:avLst/>
          </a:prstGeom>
          <a:noFill/>
          <a:ln w="9525">
            <a:noFill/>
            <a:miter lim="800000"/>
            <a:headEnd/>
            <a:tailEnd/>
          </a:ln>
          <a:effectLst/>
        </p:spPr>
        <p:txBody>
          <a:bodyPr wrap="none">
            <a:spAutoFit/>
          </a:bodyPr>
          <a:lstStyle/>
          <a:p>
            <a:r>
              <a:rPr lang="zh-CN" altLang="en-US" b="1">
                <a:solidFill>
                  <a:schemeClr val="bg1"/>
                </a:solidFill>
                <a:ea typeface="楷体_GB2312" pitchFamily="49" charset="-122"/>
              </a:rPr>
              <a:t>无磁场</a:t>
            </a:r>
          </a:p>
        </p:txBody>
      </p:sp>
      <p:sp>
        <p:nvSpPr>
          <p:cNvPr id="146475" name="Text Box 43"/>
          <p:cNvSpPr txBox="1">
            <a:spLocks noChangeArrowheads="1"/>
          </p:cNvSpPr>
          <p:nvPr/>
        </p:nvSpPr>
        <p:spPr bwMode="auto">
          <a:xfrm>
            <a:off x="4645025" y="2811463"/>
            <a:ext cx="1108075" cy="457200"/>
          </a:xfrm>
          <a:prstGeom prst="rect">
            <a:avLst/>
          </a:prstGeom>
          <a:noFill/>
          <a:ln w="9525">
            <a:noFill/>
            <a:miter lim="800000"/>
            <a:headEnd/>
            <a:tailEnd/>
          </a:ln>
          <a:effectLst/>
        </p:spPr>
        <p:txBody>
          <a:bodyPr wrap="none">
            <a:spAutoFit/>
          </a:bodyPr>
          <a:lstStyle/>
          <a:p>
            <a:r>
              <a:rPr lang="zh-CN" altLang="en-US" b="1">
                <a:solidFill>
                  <a:schemeClr val="bg1"/>
                </a:solidFill>
                <a:latin typeface="楷体_GB2312" pitchFamily="49" charset="-122"/>
                <a:ea typeface="楷体_GB2312" pitchFamily="49" charset="-122"/>
              </a:rPr>
              <a:t>有磁场</a:t>
            </a:r>
          </a:p>
        </p:txBody>
      </p:sp>
      <p:sp>
        <p:nvSpPr>
          <p:cNvPr id="146476" name="Rectangle 44"/>
          <p:cNvSpPr>
            <a:spLocks noChangeArrowheads="1"/>
          </p:cNvSpPr>
          <p:nvPr/>
        </p:nvSpPr>
        <p:spPr bwMode="auto">
          <a:xfrm>
            <a:off x="6232525" y="5094288"/>
            <a:ext cx="1041400" cy="366712"/>
          </a:xfrm>
          <a:prstGeom prst="rect">
            <a:avLst/>
          </a:prstGeom>
          <a:noFill/>
          <a:ln w="9525">
            <a:noFill/>
            <a:miter lim="800000"/>
            <a:headEnd/>
            <a:tailEnd/>
          </a:ln>
          <a:effectLst/>
        </p:spPr>
        <p:txBody>
          <a:bodyPr wrap="none">
            <a:spAutoFit/>
          </a:bodyPr>
          <a:lstStyle/>
          <a:p>
            <a:r>
              <a:rPr lang="en-US" altLang="zh-CN" sz="1800" b="1">
                <a:solidFill>
                  <a:schemeClr val="bg1"/>
                </a:solidFill>
              </a:rPr>
              <a:t>0           </a:t>
            </a:r>
            <a:r>
              <a:rPr lang="en-US" altLang="zh-CN" sz="1800" b="1">
                <a:solidFill>
                  <a:srgbClr val="0000FF"/>
                </a:solidFill>
              </a:rPr>
              <a:t>0</a:t>
            </a:r>
          </a:p>
        </p:txBody>
      </p:sp>
      <p:sp>
        <p:nvSpPr>
          <p:cNvPr id="146477" name="Text Box 45"/>
          <p:cNvSpPr txBox="1">
            <a:spLocks noChangeArrowheads="1"/>
          </p:cNvSpPr>
          <p:nvPr/>
        </p:nvSpPr>
        <p:spPr bwMode="auto">
          <a:xfrm>
            <a:off x="539750" y="2349500"/>
            <a:ext cx="2546350" cy="457200"/>
          </a:xfrm>
          <a:prstGeom prst="rect">
            <a:avLst/>
          </a:prstGeom>
          <a:noFill/>
          <a:ln w="9525">
            <a:noFill/>
            <a:miter lim="800000"/>
            <a:headEnd/>
            <a:tailEnd/>
          </a:ln>
          <a:effectLst/>
        </p:spPr>
        <p:txBody>
          <a:bodyPr>
            <a:spAutoFit/>
          </a:bodyPr>
          <a:lstStyle/>
          <a:p>
            <a:pPr>
              <a:buClr>
                <a:srgbClr val="CC00CC"/>
              </a:buClr>
              <a:buFont typeface="Wingdings" pitchFamily="2" charset="2"/>
              <a:buChar char="Ø"/>
            </a:pPr>
            <a:r>
              <a:rPr lang="en-US" altLang="zh-CN" b="1">
                <a:solidFill>
                  <a:schemeClr val="bg1"/>
                </a:solidFill>
              </a:rPr>
              <a:t> </a:t>
            </a:r>
            <a:r>
              <a:rPr lang="zh-CN" altLang="en-US" b="1">
                <a:solidFill>
                  <a:schemeClr val="bg1"/>
                </a:solidFill>
                <a:ea typeface="楷体_GB2312" pitchFamily="49" charset="-122"/>
              </a:rPr>
              <a:t>能级分裂</a:t>
            </a:r>
          </a:p>
        </p:txBody>
      </p:sp>
      <p:sp>
        <p:nvSpPr>
          <p:cNvPr id="146478" name="Text Box 46"/>
          <p:cNvSpPr txBox="1">
            <a:spLocks noChangeArrowheads="1"/>
          </p:cNvSpPr>
          <p:nvPr/>
        </p:nvSpPr>
        <p:spPr bwMode="auto">
          <a:xfrm>
            <a:off x="3543300" y="3419475"/>
            <a:ext cx="2638425" cy="457200"/>
          </a:xfrm>
          <a:prstGeom prst="rect">
            <a:avLst/>
          </a:prstGeom>
          <a:noFill/>
          <a:ln w="9525">
            <a:noFill/>
            <a:miter lim="800000"/>
            <a:headEnd/>
            <a:tailEnd/>
          </a:ln>
          <a:effectLst/>
        </p:spPr>
        <p:txBody>
          <a:bodyPr wrap="none">
            <a:spAutoFit/>
          </a:bodyPr>
          <a:lstStyle/>
          <a:p>
            <a:r>
              <a:rPr lang="en-US" altLang="zh-CN" b="1">
                <a:solidFill>
                  <a:schemeClr val="bg1"/>
                </a:solidFill>
                <a:latin typeface="楷体_GB2312" pitchFamily="49" charset="-122"/>
                <a:ea typeface="楷体_GB2312" pitchFamily="49" charset="-122"/>
              </a:rPr>
              <a:t>←  </a:t>
            </a:r>
            <a:r>
              <a:rPr lang="zh-CN" altLang="en-US" b="1">
                <a:solidFill>
                  <a:schemeClr val="bg1"/>
                </a:solidFill>
                <a:latin typeface="楷体_GB2312" pitchFamily="49" charset="-122"/>
                <a:ea typeface="楷体_GB2312" pitchFamily="49" charset="-122"/>
              </a:rPr>
              <a:t>能 级 简 并 </a:t>
            </a: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6435"/>
                                        </p:tgtEl>
                                        <p:attrNameLst>
                                          <p:attrName>style.visibility</p:attrName>
                                        </p:attrNameLst>
                                      </p:cBhvr>
                                      <p:to>
                                        <p:strVal val="visible"/>
                                      </p:to>
                                    </p:set>
                                    <p:animEffect transition="in" filter="dissolve">
                                      <p:cBhvr>
                                        <p:cTn id="7" dur="500"/>
                                        <p:tgtEl>
                                          <p:spTgt spid="14643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46434"/>
                                        </p:tgtEl>
                                        <p:attrNameLst>
                                          <p:attrName>style.visibility</p:attrName>
                                        </p:attrNameLst>
                                      </p:cBhvr>
                                      <p:to>
                                        <p:strVal val="visible"/>
                                      </p:to>
                                    </p:set>
                                    <p:animEffect transition="in" filter="wipe(left)">
                                      <p:cBhvr>
                                        <p:cTn id="11" dur="500"/>
                                        <p:tgtEl>
                                          <p:spTgt spid="14643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46437"/>
                                        </p:tgtEl>
                                        <p:attrNameLst>
                                          <p:attrName>style.visibility</p:attrName>
                                        </p:attrNameLst>
                                      </p:cBhvr>
                                      <p:to>
                                        <p:strVal val="visible"/>
                                      </p:to>
                                    </p:set>
                                    <p:animEffect transition="in" filter="wipe(left)">
                                      <p:cBhvr>
                                        <p:cTn id="16" dur="500"/>
                                        <p:tgtEl>
                                          <p:spTgt spid="14643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4643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46477"/>
                                        </p:tgtEl>
                                        <p:attrNameLst>
                                          <p:attrName>style.visibility</p:attrName>
                                        </p:attrNameLst>
                                      </p:cBhvr>
                                      <p:to>
                                        <p:strVal val="visible"/>
                                      </p:to>
                                    </p:set>
                                    <p:animEffect transition="in" filter="wipe(left)">
                                      <p:cBhvr>
                                        <p:cTn id="25" dur="500"/>
                                        <p:tgtEl>
                                          <p:spTgt spid="14647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46438"/>
                                        </p:tgtEl>
                                        <p:attrNameLst>
                                          <p:attrName>style.visibility</p:attrName>
                                        </p:attrNameLst>
                                      </p:cBhvr>
                                      <p:to>
                                        <p:strVal val="visible"/>
                                      </p:to>
                                    </p:set>
                                    <p:animEffect transition="in" filter="dissolve">
                                      <p:cBhvr>
                                        <p:cTn id="30" dur="500"/>
                                        <p:tgtEl>
                                          <p:spTgt spid="146438"/>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46439"/>
                                        </p:tgtEl>
                                        <p:attrNameLst>
                                          <p:attrName>style.visibility</p:attrName>
                                        </p:attrNameLst>
                                      </p:cBhvr>
                                      <p:to>
                                        <p:strVal val="visible"/>
                                      </p:to>
                                    </p:set>
                                    <p:animEffect transition="in" filter="dissolve">
                                      <p:cBhvr>
                                        <p:cTn id="33" dur="500"/>
                                        <p:tgtEl>
                                          <p:spTgt spid="146439"/>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46450"/>
                                        </p:tgtEl>
                                        <p:attrNameLst>
                                          <p:attrName>style.visibility</p:attrName>
                                        </p:attrNameLst>
                                      </p:cBhvr>
                                      <p:to>
                                        <p:strVal val="visible"/>
                                      </p:to>
                                    </p:set>
                                    <p:animEffect transition="in" filter="dissolve">
                                      <p:cBhvr>
                                        <p:cTn id="36" dur="500"/>
                                        <p:tgtEl>
                                          <p:spTgt spid="146450"/>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46451"/>
                                        </p:tgtEl>
                                        <p:attrNameLst>
                                          <p:attrName>style.visibility</p:attrName>
                                        </p:attrNameLst>
                                      </p:cBhvr>
                                      <p:to>
                                        <p:strVal val="visible"/>
                                      </p:to>
                                    </p:set>
                                    <p:animEffect transition="in" filter="dissolve">
                                      <p:cBhvr>
                                        <p:cTn id="39" dur="500"/>
                                        <p:tgtEl>
                                          <p:spTgt spid="146451"/>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46474"/>
                                        </p:tgtEl>
                                        <p:attrNameLst>
                                          <p:attrName>style.visibility</p:attrName>
                                        </p:attrNameLst>
                                      </p:cBhvr>
                                      <p:to>
                                        <p:strVal val="visible"/>
                                      </p:to>
                                    </p:set>
                                    <p:animEffect transition="in" filter="dissolve">
                                      <p:cBhvr>
                                        <p:cTn id="42" dur="500"/>
                                        <p:tgtEl>
                                          <p:spTgt spid="14647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1" fill="hold" grpId="0" nodeType="clickEffect">
                                  <p:stCondLst>
                                    <p:cond delay="0"/>
                                  </p:stCondLst>
                                  <p:childTnLst>
                                    <p:set>
                                      <p:cBhvr>
                                        <p:cTn id="46" dur="1" fill="hold">
                                          <p:stCondLst>
                                            <p:cond delay="0"/>
                                          </p:stCondLst>
                                        </p:cTn>
                                        <p:tgtEl>
                                          <p:spTgt spid="146445"/>
                                        </p:tgtEl>
                                        <p:attrNameLst>
                                          <p:attrName>style.visibility</p:attrName>
                                        </p:attrNameLst>
                                      </p:cBhvr>
                                      <p:to>
                                        <p:strVal val="visible"/>
                                      </p:to>
                                    </p:set>
                                    <p:animEffect transition="in" filter="slide(fromTop)">
                                      <p:cBhvr>
                                        <p:cTn id="47" dur="500"/>
                                        <p:tgtEl>
                                          <p:spTgt spid="146445"/>
                                        </p:tgtEl>
                                      </p:cBhvr>
                                    </p:animEffect>
                                  </p:childTnLst>
                                </p:cTn>
                              </p:par>
                            </p:childTnLst>
                          </p:cTn>
                        </p:par>
                        <p:par>
                          <p:cTn id="48" fill="hold" nodeType="afterGroup">
                            <p:stCondLst>
                              <p:cond delay="500"/>
                            </p:stCondLst>
                            <p:childTnLst>
                              <p:par>
                                <p:cTn id="49" presetID="4" presetClass="entr" presetSubtype="32" fill="hold" nodeType="afterEffect">
                                  <p:stCondLst>
                                    <p:cond delay="0"/>
                                  </p:stCondLst>
                                  <p:childTnLst>
                                    <p:set>
                                      <p:cBhvr>
                                        <p:cTn id="50" dur="1" fill="hold">
                                          <p:stCondLst>
                                            <p:cond delay="0"/>
                                          </p:stCondLst>
                                        </p:cTn>
                                        <p:tgtEl>
                                          <p:spTgt spid="146467"/>
                                        </p:tgtEl>
                                        <p:attrNameLst>
                                          <p:attrName>style.visibility</p:attrName>
                                        </p:attrNameLst>
                                      </p:cBhvr>
                                      <p:to>
                                        <p:strVal val="visible"/>
                                      </p:to>
                                    </p:set>
                                    <p:animEffect transition="in" filter="box(out)">
                                      <p:cBhvr>
                                        <p:cTn id="51" dur="500"/>
                                        <p:tgtEl>
                                          <p:spTgt spid="146467"/>
                                        </p:tgtEl>
                                      </p:cBhvr>
                                    </p:animEffect>
                                  </p:childTnLst>
                                  <p:subTnLst>
                                    <p:audio>
                                      <p:cMediaNode>
                                        <p:cTn display="0" masterRel="sameClick">
                                          <p:stCondLst>
                                            <p:cond evt="begin" delay="0">
                                              <p:tn val="49"/>
                                            </p:cond>
                                          </p:stCondLst>
                                          <p:endCondLst>
                                            <p:cond evt="onStopAudio" delay="0">
                                              <p:tgtEl>
                                                <p:sldTgt/>
                                              </p:tgtEl>
                                            </p:cond>
                                          </p:endCondLst>
                                        </p:cTn>
                                        <p:tgtEl>
                                          <p:sndTgt r:embed="rId4" name="camera.wav" builtIn="1"/>
                                        </p:tgtEl>
                                      </p:cMediaNode>
                                    </p:audio>
                                  </p:subTnLst>
                                </p:cTn>
                              </p:par>
                            </p:childTnLst>
                          </p:cTn>
                        </p:par>
                        <p:par>
                          <p:cTn id="52" fill="hold" nodeType="afterGroup">
                            <p:stCondLst>
                              <p:cond delay="1000"/>
                            </p:stCondLst>
                            <p:childTnLst>
                              <p:par>
                                <p:cTn id="53" presetID="1" presetClass="entr" presetSubtype="0" fill="hold" grpId="0" nodeType="afterEffect">
                                  <p:stCondLst>
                                    <p:cond delay="0"/>
                                  </p:stCondLst>
                                  <p:childTnLst>
                                    <p:set>
                                      <p:cBhvr>
                                        <p:cTn id="54" dur="1" fill="hold">
                                          <p:stCondLst>
                                            <p:cond delay="499"/>
                                          </p:stCondLst>
                                        </p:cTn>
                                        <p:tgtEl>
                                          <p:spTgt spid="14647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46452"/>
                                        </p:tgtEl>
                                        <p:attrNameLst>
                                          <p:attrName>style.visibility</p:attrName>
                                        </p:attrNameLst>
                                      </p:cBhvr>
                                      <p:to>
                                        <p:strVal val="visible"/>
                                      </p:to>
                                    </p:set>
                                  </p:childTnLst>
                                </p:cTn>
                              </p:par>
                            </p:childTnLst>
                          </p:cTn>
                        </p:par>
                        <p:par>
                          <p:cTn id="59" fill="hold" nodeType="afterGroup">
                            <p:stCondLst>
                              <p:cond delay="500"/>
                            </p:stCondLst>
                            <p:childTnLst>
                              <p:par>
                                <p:cTn id="60" presetID="1" presetClass="entr" presetSubtype="0" fill="hold" grpId="0" nodeType="afterEffect">
                                  <p:stCondLst>
                                    <p:cond delay="0"/>
                                  </p:stCondLst>
                                  <p:childTnLst>
                                    <p:set>
                                      <p:cBhvr>
                                        <p:cTn id="61" dur="1" fill="hold">
                                          <p:stCondLst>
                                            <p:cond delay="499"/>
                                          </p:stCondLst>
                                        </p:cTn>
                                        <p:tgtEl>
                                          <p:spTgt spid="146453"/>
                                        </p:tgtEl>
                                        <p:attrNameLst>
                                          <p:attrName>style.visibility</p:attrName>
                                        </p:attrNameLst>
                                      </p:cBhvr>
                                      <p:to>
                                        <p:strVal val="visible"/>
                                      </p:to>
                                    </p:set>
                                  </p:childTnLst>
                                </p:cTn>
                              </p:par>
                            </p:childTnLst>
                          </p:cTn>
                        </p:par>
                        <p:par>
                          <p:cTn id="62" fill="hold" nodeType="afterGroup">
                            <p:stCondLst>
                              <p:cond delay="1000"/>
                            </p:stCondLst>
                            <p:childTnLst>
                              <p:par>
                                <p:cTn id="63" presetID="12" presetClass="entr" presetSubtype="2" fill="hold" grpId="0" nodeType="afterEffect">
                                  <p:stCondLst>
                                    <p:cond delay="0"/>
                                  </p:stCondLst>
                                  <p:childTnLst>
                                    <p:set>
                                      <p:cBhvr>
                                        <p:cTn id="64" dur="1" fill="hold">
                                          <p:stCondLst>
                                            <p:cond delay="0"/>
                                          </p:stCondLst>
                                        </p:cTn>
                                        <p:tgtEl>
                                          <p:spTgt spid="146478"/>
                                        </p:tgtEl>
                                        <p:attrNameLst>
                                          <p:attrName>style.visibility</p:attrName>
                                        </p:attrNameLst>
                                      </p:cBhvr>
                                      <p:to>
                                        <p:strVal val="visible"/>
                                      </p:to>
                                    </p:set>
                                    <p:animEffect transition="in" filter="slide(fromRight)">
                                      <p:cBhvr>
                                        <p:cTn id="65" dur="500"/>
                                        <p:tgtEl>
                                          <p:spTgt spid="146478"/>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146475"/>
                                        </p:tgtEl>
                                        <p:attrNameLst>
                                          <p:attrName>style.visibility</p:attrName>
                                        </p:attrNameLst>
                                      </p:cBhvr>
                                      <p:to>
                                        <p:strVal val="visible"/>
                                      </p:to>
                                    </p:set>
                                    <p:animEffect transition="in" filter="dissolve">
                                      <p:cBhvr>
                                        <p:cTn id="70" dur="500"/>
                                        <p:tgtEl>
                                          <p:spTgt spid="146475"/>
                                        </p:tgtEl>
                                      </p:cBhvr>
                                    </p:animEffect>
                                  </p:childTnLst>
                                </p:cTn>
                              </p:par>
                            </p:childTnLst>
                          </p:cTn>
                        </p:par>
                        <p:par>
                          <p:cTn id="71" fill="hold" nodeType="afterGroup">
                            <p:stCondLst>
                              <p:cond delay="500"/>
                            </p:stCondLst>
                            <p:childTnLst>
                              <p:par>
                                <p:cTn id="72" presetID="1" presetClass="exit" presetSubtype="0" fill="hold" grpId="1" nodeType="afterEffect">
                                  <p:stCondLst>
                                    <p:cond delay="0"/>
                                  </p:stCondLst>
                                  <p:childTnLst>
                                    <p:set>
                                      <p:cBhvr>
                                        <p:cTn id="73" dur="1" fill="hold">
                                          <p:stCondLst>
                                            <p:cond delay="0"/>
                                          </p:stCondLst>
                                        </p:cTn>
                                        <p:tgtEl>
                                          <p:spTgt spid="146478"/>
                                        </p:tgtEl>
                                        <p:attrNameLst>
                                          <p:attrName>style.visibility</p:attrName>
                                        </p:attrNameLst>
                                      </p:cBhvr>
                                      <p:to>
                                        <p:strVal val="hidden"/>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146446"/>
                                        </p:tgtEl>
                                        <p:attrNameLst>
                                          <p:attrName>style.visibility</p:attrName>
                                        </p:attrNameLst>
                                      </p:cBhvr>
                                      <p:to>
                                        <p:strVal val="visible"/>
                                      </p:to>
                                    </p:set>
                                    <p:animEffect transition="in" filter="wipe(left)">
                                      <p:cBhvr>
                                        <p:cTn id="78" dur="500"/>
                                        <p:tgtEl>
                                          <p:spTgt spid="146446"/>
                                        </p:tgtEl>
                                      </p:cBhvr>
                                    </p:animEffect>
                                  </p:childTnLst>
                                </p:cTn>
                              </p:par>
                            </p:childTnLst>
                          </p:cTn>
                        </p:par>
                        <p:par>
                          <p:cTn id="79" fill="hold" nodeType="afterGroup">
                            <p:stCondLst>
                              <p:cond delay="500"/>
                            </p:stCondLst>
                            <p:childTnLst>
                              <p:par>
                                <p:cTn id="80" presetID="22" presetClass="entr" presetSubtype="8" fill="hold" nodeType="afterEffect">
                                  <p:stCondLst>
                                    <p:cond delay="0"/>
                                  </p:stCondLst>
                                  <p:childTnLst>
                                    <p:set>
                                      <p:cBhvr>
                                        <p:cTn id="81" dur="1" fill="hold">
                                          <p:stCondLst>
                                            <p:cond delay="0"/>
                                          </p:stCondLst>
                                        </p:cTn>
                                        <p:tgtEl>
                                          <p:spTgt spid="146440"/>
                                        </p:tgtEl>
                                        <p:attrNameLst>
                                          <p:attrName>style.visibility</p:attrName>
                                        </p:attrNameLst>
                                      </p:cBhvr>
                                      <p:to>
                                        <p:strVal val="visible"/>
                                      </p:to>
                                    </p:set>
                                    <p:animEffect transition="in" filter="wipe(left)">
                                      <p:cBhvr>
                                        <p:cTn id="82" dur="500"/>
                                        <p:tgtEl>
                                          <p:spTgt spid="146440"/>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146454"/>
                                        </p:tgtEl>
                                        <p:attrNameLst>
                                          <p:attrName>style.visibility</p:attrName>
                                        </p:attrNameLst>
                                      </p:cBhvr>
                                      <p:to>
                                        <p:strVal val="visible"/>
                                      </p:to>
                                    </p:set>
                                    <p:animEffect transition="in" filter="dissolve">
                                      <p:cBhvr>
                                        <p:cTn id="87" dur="500"/>
                                        <p:tgtEl>
                                          <p:spTgt spid="14645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146457"/>
                                        </p:tgtEl>
                                        <p:attrNameLst>
                                          <p:attrName>style.visibility</p:attrName>
                                        </p:attrNameLst>
                                      </p:cBhvr>
                                      <p:to>
                                        <p:strVal val="visible"/>
                                      </p:to>
                                    </p:set>
                                    <p:animEffect transition="in" filter="dissolve">
                                      <p:cBhvr>
                                        <p:cTn id="92" dur="500"/>
                                        <p:tgtEl>
                                          <p:spTgt spid="146457"/>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9" presetClass="entr" presetSubtype="0" fill="hold" nodeType="clickEffect">
                                  <p:stCondLst>
                                    <p:cond delay="0"/>
                                  </p:stCondLst>
                                  <p:childTnLst>
                                    <p:set>
                                      <p:cBhvr>
                                        <p:cTn id="96" dur="1" fill="hold">
                                          <p:stCondLst>
                                            <p:cond delay="0"/>
                                          </p:stCondLst>
                                        </p:cTn>
                                        <p:tgtEl>
                                          <p:spTgt spid="146455"/>
                                        </p:tgtEl>
                                        <p:attrNameLst>
                                          <p:attrName>style.visibility</p:attrName>
                                        </p:attrNameLst>
                                      </p:cBhvr>
                                      <p:to>
                                        <p:strVal val="visible"/>
                                      </p:to>
                                    </p:set>
                                    <p:animEffect transition="in" filter="dissolve">
                                      <p:cBhvr>
                                        <p:cTn id="97" dur="500"/>
                                        <p:tgtEl>
                                          <p:spTgt spid="146455"/>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9" presetClass="entr" presetSubtype="0" fill="hold" nodeType="clickEffect">
                                  <p:stCondLst>
                                    <p:cond delay="0"/>
                                  </p:stCondLst>
                                  <p:childTnLst>
                                    <p:set>
                                      <p:cBhvr>
                                        <p:cTn id="101" dur="1" fill="hold">
                                          <p:stCondLst>
                                            <p:cond delay="0"/>
                                          </p:stCondLst>
                                        </p:cTn>
                                        <p:tgtEl>
                                          <p:spTgt spid="146456"/>
                                        </p:tgtEl>
                                        <p:attrNameLst>
                                          <p:attrName>style.visibility</p:attrName>
                                        </p:attrNameLst>
                                      </p:cBhvr>
                                      <p:to>
                                        <p:strVal val="visible"/>
                                      </p:to>
                                    </p:set>
                                    <p:animEffect transition="in" filter="dissolve">
                                      <p:cBhvr>
                                        <p:cTn id="102" dur="500"/>
                                        <p:tgtEl>
                                          <p:spTgt spid="146456"/>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46458"/>
                                        </p:tgtEl>
                                        <p:attrNameLst>
                                          <p:attrName>style.visibility</p:attrName>
                                        </p:attrNameLst>
                                      </p:cBhvr>
                                      <p:to>
                                        <p:strVal val="visible"/>
                                      </p:to>
                                    </p:set>
                                    <p:animEffect transition="in" filter="wipe(left)">
                                      <p:cBhvr>
                                        <p:cTn id="107" dur="500"/>
                                        <p:tgtEl>
                                          <p:spTgt spid="146458"/>
                                        </p:tgtEl>
                                      </p:cBhvr>
                                    </p:animEffect>
                                  </p:childTnLst>
                                </p:cTn>
                              </p:par>
                            </p:childTnLst>
                          </p:cTn>
                        </p:par>
                        <p:par>
                          <p:cTn id="108" fill="hold" nodeType="afterGroup">
                            <p:stCondLst>
                              <p:cond delay="500"/>
                            </p:stCondLst>
                            <p:childTnLst>
                              <p:par>
                                <p:cTn id="109" presetID="22" presetClass="entr" presetSubtype="8" fill="hold" grpId="0" nodeType="afterEffect">
                                  <p:stCondLst>
                                    <p:cond delay="0"/>
                                  </p:stCondLst>
                                  <p:childTnLst>
                                    <p:set>
                                      <p:cBhvr>
                                        <p:cTn id="110" dur="1" fill="hold">
                                          <p:stCondLst>
                                            <p:cond delay="0"/>
                                          </p:stCondLst>
                                        </p:cTn>
                                        <p:tgtEl>
                                          <p:spTgt spid="146444"/>
                                        </p:tgtEl>
                                        <p:attrNameLst>
                                          <p:attrName>style.visibility</p:attrName>
                                        </p:attrNameLst>
                                      </p:cBhvr>
                                      <p:to>
                                        <p:strVal val="visible"/>
                                      </p:to>
                                    </p:set>
                                    <p:animEffect transition="in" filter="wipe(left)">
                                      <p:cBhvr>
                                        <p:cTn id="111" dur="500"/>
                                        <p:tgtEl>
                                          <p:spTgt spid="146444"/>
                                        </p:tgtEl>
                                      </p:cBhvr>
                                    </p:animEffect>
                                  </p:childTnLst>
                                </p:cTn>
                              </p:par>
                            </p:childTnLst>
                          </p:cTn>
                        </p:par>
                        <p:par>
                          <p:cTn id="112" fill="hold" nodeType="afterGroup">
                            <p:stCondLst>
                              <p:cond delay="1000"/>
                            </p:stCondLst>
                            <p:childTnLst>
                              <p:par>
                                <p:cTn id="113" presetID="9" presetClass="entr" presetSubtype="0" fill="hold" grpId="0" nodeType="afterEffect">
                                  <p:stCondLst>
                                    <p:cond delay="0"/>
                                  </p:stCondLst>
                                  <p:childTnLst>
                                    <p:set>
                                      <p:cBhvr>
                                        <p:cTn id="114" dur="1" fill="hold">
                                          <p:stCondLst>
                                            <p:cond delay="0"/>
                                          </p:stCondLst>
                                        </p:cTn>
                                        <p:tgtEl>
                                          <p:spTgt spid="146476"/>
                                        </p:tgtEl>
                                        <p:attrNameLst>
                                          <p:attrName>style.visibility</p:attrName>
                                        </p:attrNameLst>
                                      </p:cBhvr>
                                      <p:to>
                                        <p:strVal val="visible"/>
                                      </p:to>
                                    </p:set>
                                    <p:animEffect transition="in" filter="dissolve">
                                      <p:cBhvr>
                                        <p:cTn id="115" dur="500"/>
                                        <p:tgtEl>
                                          <p:spTgt spid="146476"/>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2" presetClass="entr" presetSubtype="1" fill="hold" grpId="0" nodeType="clickEffect">
                                  <p:stCondLst>
                                    <p:cond delay="0"/>
                                  </p:stCondLst>
                                  <p:childTnLst>
                                    <p:set>
                                      <p:cBhvr>
                                        <p:cTn id="119" dur="1" fill="hold">
                                          <p:stCondLst>
                                            <p:cond delay="0"/>
                                          </p:stCondLst>
                                        </p:cTn>
                                        <p:tgtEl>
                                          <p:spTgt spid="146459"/>
                                        </p:tgtEl>
                                        <p:attrNameLst>
                                          <p:attrName>style.visibility</p:attrName>
                                        </p:attrNameLst>
                                      </p:cBhvr>
                                      <p:to>
                                        <p:strVal val="visible"/>
                                      </p:to>
                                    </p:set>
                                    <p:animEffect transition="in" filter="slide(fromTop)">
                                      <p:cBhvr>
                                        <p:cTn id="120" dur="500"/>
                                        <p:tgtEl>
                                          <p:spTgt spid="146459"/>
                                        </p:tgtEl>
                                      </p:cBhvr>
                                    </p:animEffect>
                                  </p:childTnLst>
                                </p:cTn>
                              </p:par>
                            </p:childTnLst>
                          </p:cTn>
                        </p:par>
                        <p:par>
                          <p:cTn id="121" fill="hold" nodeType="afterGroup">
                            <p:stCondLst>
                              <p:cond delay="500"/>
                            </p:stCondLst>
                            <p:childTnLst>
                              <p:par>
                                <p:cTn id="122" presetID="9" presetClass="entr" presetSubtype="0" fill="hold" grpId="0" nodeType="afterEffect">
                                  <p:stCondLst>
                                    <p:cond delay="0"/>
                                  </p:stCondLst>
                                  <p:childTnLst>
                                    <p:set>
                                      <p:cBhvr>
                                        <p:cTn id="123" dur="1" fill="hold">
                                          <p:stCondLst>
                                            <p:cond delay="0"/>
                                          </p:stCondLst>
                                        </p:cTn>
                                        <p:tgtEl>
                                          <p:spTgt spid="146471"/>
                                        </p:tgtEl>
                                        <p:attrNameLst>
                                          <p:attrName>style.visibility</p:attrName>
                                        </p:attrNameLst>
                                      </p:cBhvr>
                                      <p:to>
                                        <p:strVal val="visible"/>
                                      </p:to>
                                    </p:set>
                                    <p:animEffect transition="in" filter="dissolve">
                                      <p:cBhvr>
                                        <p:cTn id="124" dur="500"/>
                                        <p:tgtEl>
                                          <p:spTgt spid="146471"/>
                                        </p:tgtEl>
                                      </p:cBhvr>
                                    </p:animEffect>
                                  </p:childTnLst>
                                </p:cTn>
                              </p:par>
                            </p:childTnLst>
                          </p:cTn>
                        </p:par>
                        <p:par>
                          <p:cTn id="125" fill="hold" nodeType="afterGroup">
                            <p:stCondLst>
                              <p:cond delay="1000"/>
                            </p:stCondLst>
                            <p:childTnLst>
                              <p:par>
                                <p:cTn id="126" presetID="12" presetClass="entr" presetSubtype="1" fill="hold" grpId="0" nodeType="afterEffect">
                                  <p:stCondLst>
                                    <p:cond delay="0"/>
                                  </p:stCondLst>
                                  <p:childTnLst>
                                    <p:set>
                                      <p:cBhvr>
                                        <p:cTn id="127" dur="1" fill="hold">
                                          <p:stCondLst>
                                            <p:cond delay="0"/>
                                          </p:stCondLst>
                                        </p:cTn>
                                        <p:tgtEl>
                                          <p:spTgt spid="146460"/>
                                        </p:tgtEl>
                                        <p:attrNameLst>
                                          <p:attrName>style.visibility</p:attrName>
                                        </p:attrNameLst>
                                      </p:cBhvr>
                                      <p:to>
                                        <p:strVal val="visible"/>
                                      </p:to>
                                    </p:set>
                                    <p:animEffect transition="in" filter="slide(fromTop)">
                                      <p:cBhvr>
                                        <p:cTn id="128" dur="500"/>
                                        <p:tgtEl>
                                          <p:spTgt spid="146460"/>
                                        </p:tgtEl>
                                      </p:cBhvr>
                                    </p:animEffect>
                                  </p:childTnLst>
                                </p:cTn>
                              </p:par>
                            </p:childTnLst>
                          </p:cTn>
                        </p:par>
                        <p:par>
                          <p:cTn id="129" fill="hold" nodeType="afterGroup">
                            <p:stCondLst>
                              <p:cond delay="1500"/>
                            </p:stCondLst>
                            <p:childTnLst>
                              <p:par>
                                <p:cTn id="130" presetID="9" presetClass="entr" presetSubtype="0" fill="hold" grpId="0" nodeType="afterEffect">
                                  <p:stCondLst>
                                    <p:cond delay="0"/>
                                  </p:stCondLst>
                                  <p:childTnLst>
                                    <p:set>
                                      <p:cBhvr>
                                        <p:cTn id="131" dur="1" fill="hold">
                                          <p:stCondLst>
                                            <p:cond delay="0"/>
                                          </p:stCondLst>
                                        </p:cTn>
                                        <p:tgtEl>
                                          <p:spTgt spid="146473"/>
                                        </p:tgtEl>
                                        <p:attrNameLst>
                                          <p:attrName>style.visibility</p:attrName>
                                        </p:attrNameLst>
                                      </p:cBhvr>
                                      <p:to>
                                        <p:strVal val="visible"/>
                                      </p:to>
                                    </p:set>
                                    <p:animEffect transition="in" filter="dissolve">
                                      <p:cBhvr>
                                        <p:cTn id="132" dur="500"/>
                                        <p:tgtEl>
                                          <p:spTgt spid="146473"/>
                                        </p:tgtEl>
                                      </p:cBhvr>
                                    </p:animEffect>
                                  </p:childTnLst>
                                </p:cTn>
                              </p:par>
                            </p:childTnLst>
                          </p:cTn>
                        </p:par>
                        <p:par>
                          <p:cTn id="133" fill="hold" nodeType="afterGroup">
                            <p:stCondLst>
                              <p:cond delay="2000"/>
                            </p:stCondLst>
                            <p:childTnLst>
                              <p:par>
                                <p:cTn id="134" presetID="12" presetClass="entr" presetSubtype="1" fill="hold" grpId="0" nodeType="afterEffect">
                                  <p:stCondLst>
                                    <p:cond delay="0"/>
                                  </p:stCondLst>
                                  <p:childTnLst>
                                    <p:set>
                                      <p:cBhvr>
                                        <p:cTn id="135" dur="1" fill="hold">
                                          <p:stCondLst>
                                            <p:cond delay="0"/>
                                          </p:stCondLst>
                                        </p:cTn>
                                        <p:tgtEl>
                                          <p:spTgt spid="146461"/>
                                        </p:tgtEl>
                                        <p:attrNameLst>
                                          <p:attrName>style.visibility</p:attrName>
                                        </p:attrNameLst>
                                      </p:cBhvr>
                                      <p:to>
                                        <p:strVal val="visible"/>
                                      </p:to>
                                    </p:set>
                                    <p:animEffect transition="in" filter="slide(fromTop)">
                                      <p:cBhvr>
                                        <p:cTn id="136" dur="500"/>
                                        <p:tgtEl>
                                          <p:spTgt spid="146461"/>
                                        </p:tgtEl>
                                      </p:cBhvr>
                                    </p:animEffect>
                                  </p:childTnLst>
                                </p:cTn>
                              </p:par>
                            </p:childTnLst>
                          </p:cTn>
                        </p:par>
                        <p:par>
                          <p:cTn id="137" fill="hold" nodeType="afterGroup">
                            <p:stCondLst>
                              <p:cond delay="2500"/>
                            </p:stCondLst>
                            <p:childTnLst>
                              <p:par>
                                <p:cTn id="138" presetID="9" presetClass="entr" presetSubtype="0" fill="hold" grpId="0" nodeType="afterEffect">
                                  <p:stCondLst>
                                    <p:cond delay="0"/>
                                  </p:stCondLst>
                                  <p:childTnLst>
                                    <p:set>
                                      <p:cBhvr>
                                        <p:cTn id="139" dur="1" fill="hold">
                                          <p:stCondLst>
                                            <p:cond delay="0"/>
                                          </p:stCondLst>
                                        </p:cTn>
                                        <p:tgtEl>
                                          <p:spTgt spid="146472"/>
                                        </p:tgtEl>
                                        <p:attrNameLst>
                                          <p:attrName>style.visibility</p:attrName>
                                        </p:attrNameLst>
                                      </p:cBhvr>
                                      <p:to>
                                        <p:strVal val="visible"/>
                                      </p:to>
                                    </p:set>
                                    <p:animEffect transition="in" filter="dissolve">
                                      <p:cBhvr>
                                        <p:cTn id="140" dur="500"/>
                                        <p:tgtEl>
                                          <p:spTgt spid="146472"/>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4" presetClass="entr" presetSubtype="32" fill="hold" nodeType="clickEffect">
                                  <p:stCondLst>
                                    <p:cond delay="0"/>
                                  </p:stCondLst>
                                  <p:childTnLst>
                                    <p:set>
                                      <p:cBhvr>
                                        <p:cTn id="144" dur="1" fill="hold">
                                          <p:stCondLst>
                                            <p:cond delay="0"/>
                                          </p:stCondLst>
                                        </p:cTn>
                                        <p:tgtEl>
                                          <p:spTgt spid="146462"/>
                                        </p:tgtEl>
                                        <p:attrNameLst>
                                          <p:attrName>style.visibility</p:attrName>
                                        </p:attrNameLst>
                                      </p:cBhvr>
                                      <p:to>
                                        <p:strVal val="visible"/>
                                      </p:to>
                                    </p:set>
                                    <p:animEffect transition="in" filter="box(out)">
                                      <p:cBhvr>
                                        <p:cTn id="145" dur="500"/>
                                        <p:tgtEl>
                                          <p:spTgt spid="146462"/>
                                        </p:tgtEl>
                                      </p:cBhvr>
                                    </p:animEffect>
                                  </p:childTnLst>
                                  <p:subTnLst>
                                    <p:audio>
                                      <p:cMediaNode>
                                        <p:cTn display="0" masterRel="sameClick">
                                          <p:stCondLst>
                                            <p:cond evt="begin" delay="0">
                                              <p:tn val="143"/>
                                            </p:cond>
                                          </p:stCondLst>
                                          <p:endCondLst>
                                            <p:cond evt="onStopAudio" delay="0">
                                              <p:tgtEl>
                                                <p:sldTgt/>
                                              </p:tgtEl>
                                            </p:cond>
                                          </p:endCondLst>
                                        </p:cTn>
                                        <p:tgtEl>
                                          <p:sndTgt r:embed="rId4" name="camera.wav" builtIn="1"/>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autoUpdateAnimBg="0"/>
      <p:bldP spid="146436" grpId="0" autoUpdateAnimBg="0"/>
      <p:bldP spid="146438" grpId="0" animBg="1"/>
      <p:bldP spid="146439" grpId="0" animBg="1"/>
      <p:bldP spid="146444" grpId="0" animBg="1"/>
      <p:bldP spid="146445" grpId="0" animBg="1"/>
      <p:bldP spid="146450" grpId="0"/>
      <p:bldP spid="146451" grpId="0"/>
      <p:bldP spid="146452" grpId="0" autoUpdateAnimBg="0"/>
      <p:bldP spid="146453" grpId="0" autoUpdateAnimBg="0"/>
      <p:bldP spid="146454" grpId="0" autoUpdateAnimBg="0"/>
      <p:bldP spid="146457" grpId="0" autoUpdateAnimBg="0"/>
      <p:bldP spid="146458" grpId="0" animBg="1"/>
      <p:bldP spid="146459" grpId="0" animBg="1"/>
      <p:bldP spid="146460" grpId="0" animBg="1"/>
      <p:bldP spid="146461" grpId="0" animBg="1"/>
      <p:bldP spid="146470" grpId="0" autoUpdateAnimBg="0"/>
      <p:bldP spid="146471" grpId="0" autoUpdateAnimBg="0"/>
      <p:bldP spid="146472" grpId="0" autoUpdateAnimBg="0"/>
      <p:bldP spid="146473" grpId="0" autoUpdateAnimBg="0"/>
      <p:bldP spid="146474" grpId="0"/>
      <p:bldP spid="146475" grpId="0" autoUpdateAnimBg="0"/>
      <p:bldP spid="146476" grpId="0" autoUpdateAnimBg="0"/>
      <p:bldP spid="146477" grpId="0"/>
      <p:bldP spid="146478" grpId="0" autoUpdateAnimBg="0"/>
      <p:bldP spid="146478" grpId="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64514" name="Rectangle 19"/>
          <p:cNvSpPr>
            <a:spLocks noChangeArrowheads="1"/>
          </p:cNvSpPr>
          <p:nvPr/>
        </p:nvSpPr>
        <p:spPr bwMode="auto">
          <a:xfrm>
            <a:off x="6170613" y="1330325"/>
            <a:ext cx="1362075" cy="409575"/>
          </a:xfrm>
          <a:prstGeom prst="rect">
            <a:avLst/>
          </a:prstGeom>
          <a:ln w="9525">
            <a:noFill/>
            <a:miter lim="800000"/>
            <a:headEnd/>
            <a:tailEnd/>
          </a:ln>
          <a:effectLst/>
        </p:spPr>
        <p:txBody>
          <a:bodyPr wrap="none" anchor="ctr"/>
          <a:lstStyle/>
          <a:p>
            <a:endParaRPr lang="zh-CN" altLang="en-US"/>
          </a:p>
        </p:txBody>
      </p:sp>
      <p:pic>
        <p:nvPicPr>
          <p:cNvPr id="149506" name="Picture 2" descr="电子自旋13"/>
          <p:cNvPicPr>
            <a:picLocks noChangeAspect="1" noChangeArrowheads="1"/>
          </p:cNvPicPr>
          <p:nvPr/>
        </p:nvPicPr>
        <p:blipFill>
          <a:blip r:embed="rId4"/>
          <a:srcRect/>
          <a:stretch>
            <a:fillRect/>
          </a:stretch>
        </p:blipFill>
        <p:spPr bwMode="auto">
          <a:xfrm>
            <a:off x="5299075" y="1265238"/>
            <a:ext cx="3278188" cy="4232275"/>
          </a:xfrm>
          <a:prstGeom prst="rect">
            <a:avLst/>
          </a:prstGeom>
          <a:noFill/>
          <a:ln w="9525">
            <a:noFill/>
            <a:miter lim="800000"/>
            <a:headEnd/>
            <a:tailEnd/>
          </a:ln>
        </p:spPr>
      </p:pic>
      <p:graphicFrame>
        <p:nvGraphicFramePr>
          <p:cNvPr id="149507" name="Object 3"/>
          <p:cNvGraphicFramePr>
            <a:graphicFrameLocks noChangeAspect="1"/>
          </p:cNvGraphicFramePr>
          <p:nvPr/>
        </p:nvGraphicFramePr>
        <p:xfrm>
          <a:off x="1544638" y="1757363"/>
          <a:ext cx="2082800" cy="538162"/>
        </p:xfrm>
        <a:graphic>
          <a:graphicData uri="http://schemas.openxmlformats.org/presentationml/2006/ole">
            <p:oleObj spid="_x0000_s64516" name="公式" r:id="rId5" imgW="830520" imgH="203760" progId="Equation.3">
              <p:embed/>
            </p:oleObj>
          </a:graphicData>
        </a:graphic>
      </p:graphicFrame>
      <p:graphicFrame>
        <p:nvGraphicFramePr>
          <p:cNvPr id="149508" name="Object 4"/>
          <p:cNvGraphicFramePr>
            <a:graphicFrameLocks noChangeAspect="1"/>
          </p:cNvGraphicFramePr>
          <p:nvPr/>
        </p:nvGraphicFramePr>
        <p:xfrm>
          <a:off x="1962150" y="3698875"/>
          <a:ext cx="1304925" cy="469900"/>
        </p:xfrm>
        <a:graphic>
          <a:graphicData uri="http://schemas.openxmlformats.org/presentationml/2006/ole">
            <p:oleObj spid="_x0000_s64517" name="公式" r:id="rId6" imgW="529200" imgH="179280" progId="Equation.3">
              <p:embed/>
            </p:oleObj>
          </a:graphicData>
        </a:graphic>
      </p:graphicFrame>
      <p:sp>
        <p:nvSpPr>
          <p:cNvPr id="149509" name="Rectangle 5"/>
          <p:cNvSpPr>
            <a:spLocks noChangeArrowheads="1"/>
          </p:cNvSpPr>
          <p:nvPr/>
        </p:nvSpPr>
        <p:spPr bwMode="auto">
          <a:xfrm>
            <a:off x="746125" y="1089025"/>
            <a:ext cx="4086225" cy="457200"/>
          </a:xfrm>
          <a:prstGeom prst="rect">
            <a:avLst/>
          </a:prstGeom>
          <a:noFill/>
          <a:ln w="9525">
            <a:noFill/>
            <a:miter lim="800000"/>
            <a:headEnd/>
            <a:tailEnd/>
          </a:ln>
          <a:effectLst/>
        </p:spPr>
        <p:txBody>
          <a:bodyPr>
            <a:spAutoFit/>
          </a:bodyPr>
          <a:lstStyle/>
          <a:p>
            <a:pPr>
              <a:buClr>
                <a:schemeClr val="accent1"/>
              </a:buClr>
            </a:pPr>
            <a:r>
              <a:rPr lang="zh-CN" altLang="en-US" b="1">
                <a:solidFill>
                  <a:schemeClr val="bg1"/>
                </a:solidFill>
                <a:latin typeface="楷体_GB2312" pitchFamily="49" charset="-122"/>
                <a:ea typeface="楷体_GB2312" pitchFamily="49" charset="-122"/>
              </a:rPr>
              <a:t>电子自旋角动量大小</a:t>
            </a:r>
          </a:p>
        </p:txBody>
      </p:sp>
      <p:sp>
        <p:nvSpPr>
          <p:cNvPr id="149510" name="Rectangle 6"/>
          <p:cNvSpPr>
            <a:spLocks noChangeArrowheads="1"/>
          </p:cNvSpPr>
          <p:nvPr/>
        </p:nvSpPr>
        <p:spPr bwMode="auto">
          <a:xfrm>
            <a:off x="755650" y="3006725"/>
            <a:ext cx="4130675" cy="519113"/>
          </a:xfrm>
          <a:prstGeom prst="rect">
            <a:avLst/>
          </a:prstGeom>
          <a:noFill/>
          <a:ln w="9525">
            <a:noFill/>
            <a:miter lim="800000"/>
            <a:headEnd/>
            <a:tailEnd/>
          </a:ln>
          <a:effectLst/>
        </p:spPr>
        <p:txBody>
          <a:bodyPr>
            <a:spAutoFit/>
          </a:bodyPr>
          <a:lstStyle/>
          <a:p>
            <a:pPr>
              <a:buClr>
                <a:schemeClr val="accent1"/>
              </a:buClr>
              <a:buFontTx/>
              <a:buChar char="•"/>
            </a:pPr>
            <a:r>
              <a:rPr lang="en-US" altLang="zh-CN" sz="2800" b="1" i="1">
                <a:solidFill>
                  <a:schemeClr val="bg1"/>
                </a:solidFill>
              </a:rPr>
              <a:t> </a:t>
            </a:r>
            <a:r>
              <a:rPr lang="en-US" altLang="zh-CN" sz="2800" i="1">
                <a:solidFill>
                  <a:schemeClr val="bg1"/>
                </a:solidFill>
              </a:rPr>
              <a:t>S</a:t>
            </a:r>
            <a:r>
              <a:rPr lang="en-US" altLang="zh-CN" sz="2800" b="1" i="1">
                <a:solidFill>
                  <a:schemeClr val="bg1"/>
                </a:solidFill>
              </a:rPr>
              <a:t> </a:t>
            </a:r>
            <a:r>
              <a:rPr lang="zh-CN" altLang="en-US" b="1">
                <a:solidFill>
                  <a:schemeClr val="bg1"/>
                </a:solidFill>
                <a:ea typeface="楷体_GB2312" pitchFamily="49" charset="-122"/>
              </a:rPr>
              <a:t>在外磁场方向的投影</a:t>
            </a:r>
          </a:p>
        </p:txBody>
      </p:sp>
      <p:graphicFrame>
        <p:nvGraphicFramePr>
          <p:cNvPr id="149511" name="Object 7"/>
          <p:cNvGraphicFramePr>
            <a:graphicFrameLocks noChangeAspect="1"/>
          </p:cNvGraphicFramePr>
          <p:nvPr/>
        </p:nvGraphicFramePr>
        <p:xfrm>
          <a:off x="1422400" y="5903913"/>
          <a:ext cx="2879725" cy="565150"/>
        </p:xfrm>
        <a:graphic>
          <a:graphicData uri="http://schemas.openxmlformats.org/presentationml/2006/ole">
            <p:oleObj spid="_x0000_s64520" name="公式" r:id="rId7" imgW="1197000" imgH="220320" progId="Equation.3">
              <p:embed/>
            </p:oleObj>
          </a:graphicData>
        </a:graphic>
      </p:graphicFrame>
      <p:sp>
        <p:nvSpPr>
          <p:cNvPr id="149512" name="Rectangle 8"/>
          <p:cNvSpPr>
            <a:spLocks noChangeArrowheads="1"/>
          </p:cNvSpPr>
          <p:nvPr/>
        </p:nvSpPr>
        <p:spPr bwMode="auto">
          <a:xfrm>
            <a:off x="1309688" y="2425700"/>
            <a:ext cx="2547937" cy="519113"/>
          </a:xfrm>
          <a:prstGeom prst="rect">
            <a:avLst/>
          </a:prstGeom>
          <a:noFill/>
          <a:ln w="9525">
            <a:noFill/>
            <a:miter lim="800000"/>
            <a:headEnd/>
            <a:tailEnd/>
          </a:ln>
          <a:effectLst/>
        </p:spPr>
        <p:txBody>
          <a:bodyPr>
            <a:spAutoFit/>
          </a:bodyPr>
          <a:lstStyle/>
          <a:p>
            <a:r>
              <a:rPr lang="en-US" altLang="zh-CN" sz="2800" b="1" i="1">
                <a:solidFill>
                  <a:schemeClr val="accent2"/>
                </a:solidFill>
                <a:ea typeface="楷体_GB2312" pitchFamily="49" charset="-122"/>
              </a:rPr>
              <a:t>s </a:t>
            </a:r>
            <a:r>
              <a:rPr lang="en-US" altLang="zh-CN" sz="2800" b="1">
                <a:solidFill>
                  <a:schemeClr val="accent2"/>
                </a:solidFill>
                <a:ea typeface="楷体_GB2312" pitchFamily="49" charset="-122"/>
              </a:rPr>
              <a:t>—</a:t>
            </a:r>
            <a:r>
              <a:rPr lang="zh-CN" altLang="en-US" b="1">
                <a:solidFill>
                  <a:schemeClr val="bg1"/>
                </a:solidFill>
                <a:ea typeface="楷体_GB2312" pitchFamily="49" charset="-122"/>
              </a:rPr>
              <a:t>自旋量子数</a:t>
            </a:r>
          </a:p>
        </p:txBody>
      </p:sp>
      <p:sp>
        <p:nvSpPr>
          <p:cNvPr id="149513" name="Text Box 9"/>
          <p:cNvSpPr txBox="1">
            <a:spLocks noChangeArrowheads="1"/>
          </p:cNvSpPr>
          <p:nvPr/>
        </p:nvSpPr>
        <p:spPr bwMode="auto">
          <a:xfrm>
            <a:off x="5738813" y="5541963"/>
            <a:ext cx="2687637" cy="701675"/>
          </a:xfrm>
          <a:prstGeom prst="rect">
            <a:avLst/>
          </a:prstGeom>
          <a:noFill/>
          <a:ln w="9525">
            <a:noFill/>
            <a:miter lim="800000"/>
            <a:headEnd/>
            <a:tailEnd/>
          </a:ln>
          <a:effectLst/>
        </p:spPr>
        <p:txBody>
          <a:bodyPr>
            <a:spAutoFit/>
          </a:bodyPr>
          <a:lstStyle/>
          <a:p>
            <a:r>
              <a:rPr lang="zh-CN" altLang="en-US" sz="2000" b="1">
                <a:solidFill>
                  <a:schemeClr val="bg1"/>
                </a:solidFill>
                <a:latin typeface="楷体_GB2312" pitchFamily="49" charset="-122"/>
                <a:ea typeface="楷体_GB2312" pitchFamily="49" charset="-122"/>
              </a:rPr>
              <a:t>电子自旋角动量在    </a:t>
            </a:r>
          </a:p>
          <a:p>
            <a:r>
              <a:rPr lang="zh-CN" altLang="en-US" sz="2000" b="1">
                <a:solidFill>
                  <a:schemeClr val="bg1"/>
                </a:solidFill>
                <a:latin typeface="楷体_GB2312" pitchFamily="49" charset="-122"/>
                <a:ea typeface="楷体_GB2312" pitchFamily="49" charset="-122"/>
              </a:rPr>
              <a:t> 外磁场中的取向</a:t>
            </a:r>
          </a:p>
        </p:txBody>
      </p:sp>
      <p:sp>
        <p:nvSpPr>
          <p:cNvPr id="149514" name="Rectangle 10"/>
          <p:cNvSpPr>
            <a:spLocks noChangeArrowheads="1"/>
          </p:cNvSpPr>
          <p:nvPr/>
        </p:nvSpPr>
        <p:spPr bwMode="auto">
          <a:xfrm>
            <a:off x="681038" y="4210050"/>
            <a:ext cx="4470400" cy="561975"/>
          </a:xfrm>
          <a:prstGeom prst="rect">
            <a:avLst/>
          </a:prstGeom>
          <a:noFill/>
          <a:ln w="9525">
            <a:noFill/>
            <a:miter lim="800000"/>
            <a:headEnd/>
            <a:tailEnd/>
          </a:ln>
          <a:effectLst/>
        </p:spPr>
        <p:txBody>
          <a:bodyPr>
            <a:spAutoFit/>
          </a:bodyPr>
          <a:lstStyle/>
          <a:p>
            <a:pPr>
              <a:lnSpc>
                <a:spcPct val="110000"/>
              </a:lnSpc>
            </a:pPr>
            <a:r>
              <a:rPr lang="zh-CN" altLang="en-US" b="1">
                <a:solidFill>
                  <a:schemeClr val="bg1"/>
                </a:solidFill>
                <a:ea typeface="楷体_GB2312" pitchFamily="49" charset="-122"/>
              </a:rPr>
              <a:t>自旋磁量子数</a:t>
            </a:r>
            <a:r>
              <a:rPr lang="zh-CN" altLang="en-US">
                <a:solidFill>
                  <a:schemeClr val="accent2"/>
                </a:solidFill>
                <a:ea typeface="楷体_GB2312" pitchFamily="49" charset="-122"/>
              </a:rPr>
              <a:t> </a:t>
            </a:r>
            <a:r>
              <a:rPr lang="en-US" altLang="zh-CN" sz="2800" i="1">
                <a:solidFill>
                  <a:schemeClr val="accent2"/>
                </a:solidFill>
                <a:ea typeface="楷体_GB2312" pitchFamily="49" charset="-122"/>
              </a:rPr>
              <a:t>m</a:t>
            </a:r>
            <a:r>
              <a:rPr lang="en-US" altLang="zh-CN" sz="2800" i="1" baseline="-22000">
                <a:solidFill>
                  <a:schemeClr val="accent2"/>
                </a:solidFill>
                <a:ea typeface="楷体_GB2312" pitchFamily="49" charset="-122"/>
              </a:rPr>
              <a:t>s</a:t>
            </a:r>
            <a:r>
              <a:rPr lang="en-US" altLang="zh-CN" sz="2800">
                <a:solidFill>
                  <a:schemeClr val="accent2"/>
                </a:solidFill>
                <a:ea typeface="楷体_GB2312" pitchFamily="49" charset="-122"/>
              </a:rPr>
              <a:t> </a:t>
            </a:r>
            <a:r>
              <a:rPr lang="zh-CN" altLang="en-US" b="1">
                <a:solidFill>
                  <a:schemeClr val="bg1"/>
                </a:solidFill>
                <a:ea typeface="楷体_GB2312" pitchFamily="49" charset="-122"/>
              </a:rPr>
              <a:t>取值个数为              </a:t>
            </a:r>
            <a:endParaRPr lang="zh-CN" altLang="en-US" b="1">
              <a:solidFill>
                <a:srgbClr val="66FFFF"/>
              </a:solidFill>
              <a:ea typeface="楷体_GB2312" pitchFamily="49" charset="-122"/>
            </a:endParaRPr>
          </a:p>
        </p:txBody>
      </p:sp>
      <p:sp>
        <p:nvSpPr>
          <p:cNvPr id="64524" name="Rectangle 11"/>
          <p:cNvSpPr>
            <a:spLocks noChangeArrowheads="1"/>
          </p:cNvSpPr>
          <p:nvPr/>
        </p:nvSpPr>
        <p:spPr bwMode="auto">
          <a:xfrm>
            <a:off x="198438" y="496888"/>
            <a:ext cx="6862776"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dirty="0" smtClean="0">
                <a:solidFill>
                  <a:srgbClr val="3333CC"/>
                </a:solidFill>
                <a:ea typeface="+mn-ea"/>
                <a:cs typeface="Times New Roman" pitchFamily="18" charset="0"/>
              </a:rPr>
              <a:t>13.6.3 </a:t>
            </a:r>
            <a:r>
              <a:rPr lang="zh-CN" altLang="en-US" b="1" dirty="0" smtClean="0">
                <a:solidFill>
                  <a:srgbClr val="3333CC"/>
                </a:solidFill>
                <a:latin typeface="+mn-ea"/>
                <a:ea typeface="+mn-ea"/>
              </a:rPr>
              <a:t>电子的自旋 </a:t>
            </a:r>
            <a:r>
              <a:rPr lang="en-US" altLang="zh-CN" b="1" dirty="0">
                <a:solidFill>
                  <a:srgbClr val="3333CC"/>
                </a:solidFill>
                <a:latin typeface="+mn-ea"/>
                <a:ea typeface="+mn-ea"/>
              </a:rPr>
              <a:t>(1925</a:t>
            </a:r>
            <a:r>
              <a:rPr lang="zh-CN" altLang="en-US" b="1" dirty="0">
                <a:solidFill>
                  <a:srgbClr val="3333CC"/>
                </a:solidFill>
                <a:latin typeface="+mn-ea"/>
                <a:ea typeface="+mn-ea"/>
              </a:rPr>
              <a:t>年乌伦贝克和古兹密特 </a:t>
            </a:r>
            <a:r>
              <a:rPr lang="en-US" altLang="zh-CN" b="1" dirty="0">
                <a:solidFill>
                  <a:schemeClr val="bg2"/>
                </a:solidFill>
              </a:rPr>
              <a:t>)</a:t>
            </a:r>
          </a:p>
        </p:txBody>
      </p:sp>
      <p:grpSp>
        <p:nvGrpSpPr>
          <p:cNvPr id="149516" name="Group 12"/>
          <p:cNvGrpSpPr>
            <a:grpSpLocks/>
          </p:cNvGrpSpPr>
          <p:nvPr/>
        </p:nvGrpSpPr>
        <p:grpSpPr bwMode="auto">
          <a:xfrm>
            <a:off x="5300663" y="1265238"/>
            <a:ext cx="3276600" cy="4232275"/>
            <a:chOff x="3329" y="617"/>
            <a:chExt cx="2064" cy="2666"/>
          </a:xfrm>
        </p:grpSpPr>
        <p:pic>
          <p:nvPicPr>
            <p:cNvPr id="64531" name="Picture 13" descr="电子自旋1"/>
            <p:cNvPicPr>
              <a:picLocks noChangeAspect="1" noChangeArrowheads="1"/>
            </p:cNvPicPr>
            <p:nvPr/>
          </p:nvPicPr>
          <p:blipFill>
            <a:blip r:embed="rId8"/>
            <a:srcRect/>
            <a:stretch>
              <a:fillRect/>
            </a:stretch>
          </p:blipFill>
          <p:spPr bwMode="auto">
            <a:xfrm>
              <a:off x="3329" y="617"/>
              <a:ext cx="2064" cy="2666"/>
            </a:xfrm>
            <a:prstGeom prst="rect">
              <a:avLst/>
            </a:prstGeom>
            <a:noFill/>
            <a:ln w="9525">
              <a:noFill/>
              <a:miter lim="800000"/>
              <a:headEnd/>
              <a:tailEnd/>
            </a:ln>
          </p:spPr>
        </p:pic>
        <p:sp useBgFill="1">
          <p:nvSpPr>
            <p:cNvPr id="64532" name="Line 14"/>
            <p:cNvSpPr>
              <a:spLocks noChangeShapeType="1"/>
            </p:cNvSpPr>
            <p:nvPr/>
          </p:nvSpPr>
          <p:spPr bwMode="auto">
            <a:xfrm>
              <a:off x="5077" y="2486"/>
              <a:ext cx="67" cy="0"/>
            </a:xfrm>
            <a:prstGeom prst="line">
              <a:avLst/>
            </a:prstGeom>
            <a:ln w="9525">
              <a:solidFill>
                <a:schemeClr val="bg1"/>
              </a:solidFill>
              <a:round/>
              <a:headEnd/>
              <a:tailEnd type="triangle" w="sm" len="sm"/>
            </a:ln>
            <a:effectLst/>
          </p:spPr>
          <p:txBody>
            <a:bodyPr/>
            <a:lstStyle/>
            <a:p>
              <a:endParaRPr lang="zh-CN" altLang="en-US"/>
            </a:p>
          </p:txBody>
        </p:sp>
      </p:grpSp>
      <p:sp>
        <p:nvSpPr>
          <p:cNvPr id="149519" name="Line 15"/>
          <p:cNvSpPr>
            <a:spLocks noChangeShapeType="1"/>
          </p:cNvSpPr>
          <p:nvPr/>
        </p:nvSpPr>
        <p:spPr bwMode="auto">
          <a:xfrm>
            <a:off x="8097838" y="2765425"/>
            <a:ext cx="106362" cy="0"/>
          </a:xfrm>
          <a:prstGeom prst="line">
            <a:avLst/>
          </a:prstGeom>
          <a:noFill/>
          <a:ln w="9525">
            <a:solidFill>
              <a:schemeClr val="bg1"/>
            </a:solidFill>
            <a:round/>
            <a:headEnd/>
            <a:tailEnd type="triangle" w="sm" len="sm"/>
          </a:ln>
          <a:effectLst/>
        </p:spPr>
        <p:txBody>
          <a:bodyPr/>
          <a:lstStyle/>
          <a:p>
            <a:endParaRPr lang="zh-CN" altLang="en-US"/>
          </a:p>
        </p:txBody>
      </p:sp>
      <p:sp>
        <p:nvSpPr>
          <p:cNvPr id="149520" name="Rectangle 16"/>
          <p:cNvSpPr>
            <a:spLocks noChangeArrowheads="1"/>
          </p:cNvSpPr>
          <p:nvPr/>
        </p:nvSpPr>
        <p:spPr bwMode="auto">
          <a:xfrm>
            <a:off x="2462213" y="5335588"/>
            <a:ext cx="1495425" cy="457200"/>
          </a:xfrm>
          <a:prstGeom prst="rect">
            <a:avLst/>
          </a:prstGeom>
          <a:noFill/>
          <a:ln w="9525">
            <a:noFill/>
            <a:miter lim="800000"/>
            <a:headEnd/>
            <a:tailEnd/>
          </a:ln>
          <a:effectLst/>
        </p:spPr>
        <p:txBody>
          <a:bodyPr wrap="none">
            <a:spAutoFit/>
          </a:bodyPr>
          <a:lstStyle/>
          <a:p>
            <a:r>
              <a:rPr lang="en-US" altLang="zh-CN" b="1" i="1">
                <a:solidFill>
                  <a:schemeClr val="accent2"/>
                </a:solidFill>
                <a:ea typeface="楷体_GB2312" pitchFamily="49" charset="-122"/>
              </a:rPr>
              <a:t>m</a:t>
            </a:r>
            <a:r>
              <a:rPr lang="en-US" altLang="zh-CN" b="1" baseline="-20000">
                <a:solidFill>
                  <a:schemeClr val="accent2"/>
                </a:solidFill>
                <a:ea typeface="楷体_GB2312" pitchFamily="49" charset="-122"/>
              </a:rPr>
              <a:t>s </a:t>
            </a:r>
            <a:r>
              <a:rPr lang="en-US" altLang="zh-CN" b="1" i="1">
                <a:solidFill>
                  <a:schemeClr val="accent2"/>
                </a:solidFill>
                <a:ea typeface="楷体_GB2312" pitchFamily="49" charset="-122"/>
              </a:rPr>
              <a:t>= </a:t>
            </a:r>
            <a:r>
              <a:rPr lang="en-US" altLang="zh-CN" b="1">
                <a:solidFill>
                  <a:schemeClr val="accent2"/>
                </a:solidFill>
                <a:ea typeface="楷体_GB2312" pitchFamily="49" charset="-122"/>
              </a:rPr>
              <a:t>±1/2</a:t>
            </a:r>
          </a:p>
        </p:txBody>
      </p:sp>
      <p:sp>
        <p:nvSpPr>
          <p:cNvPr id="149521" name="Rectangle 17"/>
          <p:cNvSpPr>
            <a:spLocks noChangeArrowheads="1"/>
          </p:cNvSpPr>
          <p:nvPr/>
        </p:nvSpPr>
        <p:spPr bwMode="auto">
          <a:xfrm>
            <a:off x="1673225" y="4862513"/>
            <a:ext cx="1258888" cy="457200"/>
          </a:xfrm>
          <a:prstGeom prst="rect">
            <a:avLst/>
          </a:prstGeom>
          <a:noFill/>
          <a:ln w="9525">
            <a:noFill/>
            <a:miter lim="800000"/>
            <a:headEnd/>
            <a:tailEnd/>
          </a:ln>
          <a:effectLst/>
        </p:spPr>
        <p:txBody>
          <a:bodyPr wrap="none">
            <a:spAutoFit/>
          </a:bodyPr>
          <a:lstStyle/>
          <a:p>
            <a:r>
              <a:rPr lang="en-US" altLang="zh-CN" b="1">
                <a:solidFill>
                  <a:srgbClr val="0000FF"/>
                </a:solidFill>
                <a:ea typeface="楷体_GB2312" pitchFamily="49" charset="-122"/>
              </a:rPr>
              <a:t>2</a:t>
            </a:r>
            <a:r>
              <a:rPr lang="en-US" altLang="zh-CN" b="1" i="1">
                <a:solidFill>
                  <a:srgbClr val="0000FF"/>
                </a:solidFill>
                <a:ea typeface="楷体_GB2312" pitchFamily="49" charset="-122"/>
              </a:rPr>
              <a:t>s </a:t>
            </a:r>
            <a:r>
              <a:rPr lang="en-US" altLang="zh-CN" b="1">
                <a:solidFill>
                  <a:srgbClr val="0000FF"/>
                </a:solidFill>
                <a:ea typeface="楷体_GB2312" pitchFamily="49" charset="-122"/>
              </a:rPr>
              <a:t>+1= 2</a:t>
            </a:r>
          </a:p>
        </p:txBody>
      </p:sp>
      <p:sp>
        <p:nvSpPr>
          <p:cNvPr id="149522" name="Rectangle 18"/>
          <p:cNvSpPr>
            <a:spLocks noChangeArrowheads="1"/>
          </p:cNvSpPr>
          <p:nvPr/>
        </p:nvSpPr>
        <p:spPr bwMode="auto">
          <a:xfrm>
            <a:off x="717550" y="5273675"/>
            <a:ext cx="2111375" cy="519113"/>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则</a:t>
            </a:r>
            <a:r>
              <a:rPr lang="zh-CN" altLang="en-US" sz="2800" i="1">
                <a:solidFill>
                  <a:schemeClr val="accent2"/>
                </a:solidFill>
                <a:ea typeface="楷体_GB2312" pitchFamily="49" charset="-122"/>
              </a:rPr>
              <a:t>  </a:t>
            </a:r>
            <a:r>
              <a:rPr lang="en-US" altLang="zh-CN" b="1" i="1">
                <a:solidFill>
                  <a:schemeClr val="accent2"/>
                </a:solidFill>
                <a:ea typeface="楷体_GB2312" pitchFamily="49" charset="-122"/>
              </a:rPr>
              <a:t>s = </a:t>
            </a:r>
            <a:r>
              <a:rPr lang="en-US" altLang="zh-CN" b="1">
                <a:solidFill>
                  <a:schemeClr val="accent2"/>
                </a:solidFill>
                <a:ea typeface="楷体_GB2312" pitchFamily="49" charset="-122"/>
              </a:rPr>
              <a:t>1/2 </a:t>
            </a:r>
            <a:r>
              <a:rPr lang="zh-CN" altLang="en-US" b="1">
                <a:solidFill>
                  <a:schemeClr val="accent2"/>
                </a:solidFill>
                <a:ea typeface="楷体_GB2312" pitchFamily="49" charset="-122"/>
              </a:rPr>
              <a:t>，</a:t>
            </a:r>
          </a:p>
        </p:txBody>
      </p:sp>
      <p:graphicFrame>
        <p:nvGraphicFramePr>
          <p:cNvPr id="149524" name="Object 20"/>
          <p:cNvGraphicFramePr>
            <a:graphicFrameLocks/>
          </p:cNvGraphicFramePr>
          <p:nvPr/>
        </p:nvGraphicFramePr>
        <p:xfrm>
          <a:off x="6134100" y="1331913"/>
          <a:ext cx="1381125" cy="431800"/>
        </p:xfrm>
        <a:graphic>
          <a:graphicData uri="http://schemas.openxmlformats.org/presentationml/2006/ole">
            <p:oleObj spid="_x0000_s64530" name="公式" r:id="rId9" imgW="1164600" imgH="350640" progId="Equation.3">
              <p:embed/>
            </p:oleObj>
          </a:graphicData>
        </a:graphic>
      </p:graphicFrame>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9509"/>
                                        </p:tgtEl>
                                        <p:attrNameLst>
                                          <p:attrName>style.visibility</p:attrName>
                                        </p:attrNameLst>
                                      </p:cBhvr>
                                      <p:to>
                                        <p:strVal val="visible"/>
                                      </p:to>
                                    </p:set>
                                    <p:animEffect transition="in" filter="wipe(left)">
                                      <p:cBhvr>
                                        <p:cTn id="7" dur="500"/>
                                        <p:tgtEl>
                                          <p:spTgt spid="1495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9507"/>
                                        </p:tgtEl>
                                        <p:attrNameLst>
                                          <p:attrName>style.visibility</p:attrName>
                                        </p:attrNameLst>
                                      </p:cBhvr>
                                      <p:to>
                                        <p:strVal val="visible"/>
                                      </p:to>
                                    </p:set>
                                    <p:animEffect transition="in" filter="wipe(left)">
                                      <p:cBhvr>
                                        <p:cTn id="12" dur="500"/>
                                        <p:tgtEl>
                                          <p:spTgt spid="149507"/>
                                        </p:tgtEl>
                                      </p:cBhvr>
                                    </p:animEffect>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149512"/>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49510"/>
                                        </p:tgtEl>
                                        <p:attrNameLst>
                                          <p:attrName>style.visibility</p:attrName>
                                        </p:attrNameLst>
                                      </p:cBhvr>
                                      <p:to>
                                        <p:strVal val="visible"/>
                                      </p:to>
                                    </p:set>
                                    <p:animEffect transition="in" filter="wipe(left)">
                                      <p:cBhvr>
                                        <p:cTn id="20" dur="500"/>
                                        <p:tgtEl>
                                          <p:spTgt spid="149510"/>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149508"/>
                                        </p:tgtEl>
                                        <p:attrNameLst>
                                          <p:attrName>style.visibility</p:attrName>
                                        </p:attrNameLst>
                                      </p:cBhvr>
                                      <p:to>
                                        <p:strVal val="visible"/>
                                      </p:to>
                                    </p:set>
                                    <p:animEffect transition="in" filter="wipe(left)">
                                      <p:cBhvr>
                                        <p:cTn id="24" dur="500"/>
                                        <p:tgtEl>
                                          <p:spTgt spid="14950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49514"/>
                                        </p:tgtEl>
                                        <p:attrNameLst>
                                          <p:attrName>style.visibility</p:attrName>
                                        </p:attrNameLst>
                                      </p:cBhvr>
                                      <p:to>
                                        <p:strVal val="visible"/>
                                      </p:to>
                                    </p:set>
                                    <p:animEffect transition="in" filter="wipe(left)">
                                      <p:cBhvr>
                                        <p:cTn id="29" dur="500"/>
                                        <p:tgtEl>
                                          <p:spTgt spid="149514"/>
                                        </p:tgtEl>
                                      </p:cBhvr>
                                    </p:animEffect>
                                  </p:childTnLst>
                                </p:cTn>
                              </p:par>
                            </p:childTnLst>
                          </p:cTn>
                        </p:par>
                        <p:par>
                          <p:cTn id="30" fill="hold" nodeType="afterGroup">
                            <p:stCondLst>
                              <p:cond delay="500"/>
                            </p:stCondLst>
                            <p:childTnLst>
                              <p:par>
                                <p:cTn id="31" presetID="9" presetClass="entr" presetSubtype="0" fill="hold" grpId="0" nodeType="afterEffect">
                                  <p:stCondLst>
                                    <p:cond delay="0"/>
                                  </p:stCondLst>
                                  <p:childTnLst>
                                    <p:set>
                                      <p:cBhvr>
                                        <p:cTn id="32" dur="1" fill="hold">
                                          <p:stCondLst>
                                            <p:cond delay="0"/>
                                          </p:stCondLst>
                                        </p:cTn>
                                        <p:tgtEl>
                                          <p:spTgt spid="149521"/>
                                        </p:tgtEl>
                                        <p:attrNameLst>
                                          <p:attrName>style.visibility</p:attrName>
                                        </p:attrNameLst>
                                      </p:cBhvr>
                                      <p:to>
                                        <p:strVal val="visible"/>
                                      </p:to>
                                    </p:set>
                                    <p:animEffect transition="in" filter="dissolve">
                                      <p:cBhvr>
                                        <p:cTn id="33" dur="500"/>
                                        <p:tgtEl>
                                          <p:spTgt spid="14952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49522"/>
                                        </p:tgtEl>
                                        <p:attrNameLst>
                                          <p:attrName>style.visibility</p:attrName>
                                        </p:attrNameLst>
                                      </p:cBhvr>
                                      <p:to>
                                        <p:strVal val="visible"/>
                                      </p:to>
                                    </p:set>
                                    <p:animEffect transition="in" filter="wipe(left)">
                                      <p:cBhvr>
                                        <p:cTn id="38" dur="500"/>
                                        <p:tgtEl>
                                          <p:spTgt spid="14952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49520"/>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49511"/>
                                        </p:tgtEl>
                                        <p:attrNameLst>
                                          <p:attrName>style.visibility</p:attrName>
                                        </p:attrNameLst>
                                      </p:cBhvr>
                                      <p:to>
                                        <p:strVal val="visible"/>
                                      </p:to>
                                    </p:set>
                                    <p:animEffect transition="in" filter="wipe(left)">
                                      <p:cBhvr>
                                        <p:cTn id="47" dur="500"/>
                                        <p:tgtEl>
                                          <p:spTgt spid="149511"/>
                                        </p:tgtEl>
                                      </p:cBhvr>
                                    </p:animEffect>
                                  </p:childTnLst>
                                </p:cTn>
                              </p:par>
                            </p:childTnLst>
                          </p:cTn>
                        </p:par>
                        <p:par>
                          <p:cTn id="48" fill="hold" nodeType="afterGroup">
                            <p:stCondLst>
                              <p:cond delay="500"/>
                            </p:stCondLst>
                            <p:childTnLst>
                              <p:par>
                                <p:cTn id="49" presetID="22" presetClass="entr" presetSubtype="8" fill="hold" nodeType="afterEffect">
                                  <p:stCondLst>
                                    <p:cond delay="0"/>
                                  </p:stCondLst>
                                  <p:childTnLst>
                                    <p:set>
                                      <p:cBhvr>
                                        <p:cTn id="50" dur="1" fill="hold">
                                          <p:stCondLst>
                                            <p:cond delay="0"/>
                                          </p:stCondLst>
                                        </p:cTn>
                                        <p:tgtEl>
                                          <p:spTgt spid="149524"/>
                                        </p:tgtEl>
                                        <p:attrNameLst>
                                          <p:attrName>style.visibility</p:attrName>
                                        </p:attrNameLst>
                                      </p:cBhvr>
                                      <p:to>
                                        <p:strVal val="visible"/>
                                      </p:to>
                                    </p:set>
                                    <p:animEffect transition="in" filter="wipe(left)">
                                      <p:cBhvr>
                                        <p:cTn id="51" dur="500"/>
                                        <p:tgtEl>
                                          <p:spTgt spid="14952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nodeType="clickEffect">
                                  <p:stCondLst>
                                    <p:cond delay="0"/>
                                  </p:stCondLst>
                                  <p:childTnLst>
                                    <p:set>
                                      <p:cBhvr>
                                        <p:cTn id="55" dur="1" fill="hold">
                                          <p:stCondLst>
                                            <p:cond delay="0"/>
                                          </p:stCondLst>
                                        </p:cTn>
                                        <p:tgtEl>
                                          <p:spTgt spid="149506"/>
                                        </p:tgtEl>
                                        <p:attrNameLst>
                                          <p:attrName>style.visibility</p:attrName>
                                        </p:attrNameLst>
                                      </p:cBhvr>
                                      <p:to>
                                        <p:strVal val="visible"/>
                                      </p:to>
                                    </p:set>
                                    <p:animEffect transition="in" filter="dissolve">
                                      <p:cBhvr>
                                        <p:cTn id="56" dur="500"/>
                                        <p:tgtEl>
                                          <p:spTgt spid="149506"/>
                                        </p:tgtEl>
                                      </p:cBhvr>
                                    </p:animEffect>
                                  </p:childTnLst>
                                </p:cTn>
                              </p:par>
                            </p:childTnLst>
                          </p:cTn>
                        </p:par>
                        <p:par>
                          <p:cTn id="57" fill="hold" nodeType="afterGroup">
                            <p:stCondLst>
                              <p:cond delay="500"/>
                            </p:stCondLst>
                            <p:childTnLst>
                              <p:par>
                                <p:cTn id="58" presetID="1" presetClass="entr" presetSubtype="0" fill="hold" grpId="0" nodeType="afterEffect">
                                  <p:stCondLst>
                                    <p:cond delay="0"/>
                                  </p:stCondLst>
                                  <p:childTnLst>
                                    <p:set>
                                      <p:cBhvr>
                                        <p:cTn id="59" dur="1" fill="hold">
                                          <p:stCondLst>
                                            <p:cond delay="499"/>
                                          </p:stCondLst>
                                        </p:cTn>
                                        <p:tgtEl>
                                          <p:spTgt spid="149519"/>
                                        </p:tgtEl>
                                        <p:attrNameLst>
                                          <p:attrName>style.visibility</p:attrName>
                                        </p:attrNameLst>
                                      </p:cBhvr>
                                      <p:to>
                                        <p:strVal val="visible"/>
                                      </p:to>
                                    </p:set>
                                  </p:childTnLst>
                                </p:cTn>
                              </p:par>
                            </p:childTnLst>
                          </p:cTn>
                        </p:par>
                        <p:par>
                          <p:cTn id="60" fill="hold" nodeType="afterGroup">
                            <p:stCondLst>
                              <p:cond delay="1000"/>
                            </p:stCondLst>
                            <p:childTnLst>
                              <p:par>
                                <p:cTn id="61" presetID="1" presetClass="entr" presetSubtype="0" fill="hold" grpId="0" nodeType="afterEffect">
                                  <p:stCondLst>
                                    <p:cond delay="0"/>
                                  </p:stCondLst>
                                  <p:childTnLst>
                                    <p:set>
                                      <p:cBhvr>
                                        <p:cTn id="62" dur="1" fill="hold">
                                          <p:stCondLst>
                                            <p:cond delay="499"/>
                                          </p:stCondLst>
                                        </p:cTn>
                                        <p:tgtEl>
                                          <p:spTgt spid="149513"/>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149516"/>
                                        </p:tgtEl>
                                        <p:attrNameLst>
                                          <p:attrName>style.visibility</p:attrName>
                                        </p:attrNameLst>
                                      </p:cBhvr>
                                      <p:to>
                                        <p:strVal val="visible"/>
                                      </p:to>
                                    </p:set>
                                    <p:animEffect transition="in" filter="wipe(up)">
                                      <p:cBhvr>
                                        <p:cTn id="67" dur="1000"/>
                                        <p:tgtEl>
                                          <p:spTgt spid="149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9" grpId="0" autoUpdateAnimBg="0"/>
      <p:bldP spid="149510" grpId="0" autoUpdateAnimBg="0"/>
      <p:bldP spid="149512" grpId="0" autoUpdateAnimBg="0"/>
      <p:bldP spid="149513" grpId="0" autoUpdateAnimBg="0"/>
      <p:bldP spid="149514" grpId="0" autoUpdateAnimBg="0"/>
      <p:bldP spid="149519" grpId="0" animBg="1"/>
      <p:bldP spid="149520" grpId="0" autoUpdateAnimBg="0"/>
      <p:bldP spid="149521" grpId="0" autoUpdateAnimBg="0"/>
      <p:bldP spid="149522"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2" name="Rectangle 4"/>
          <p:cNvSpPr>
            <a:spLocks noChangeArrowheads="1"/>
          </p:cNvSpPr>
          <p:nvPr/>
        </p:nvSpPr>
        <p:spPr bwMode="auto">
          <a:xfrm>
            <a:off x="431800" y="1719263"/>
            <a:ext cx="6784975" cy="519112"/>
          </a:xfrm>
          <a:prstGeom prst="rect">
            <a:avLst/>
          </a:prstGeom>
          <a:noFill/>
          <a:ln w="9525">
            <a:noFill/>
            <a:miter lim="800000"/>
            <a:headEnd/>
            <a:tailEnd/>
          </a:ln>
          <a:effectLst/>
        </p:spPr>
        <p:txBody>
          <a:bodyPr>
            <a:spAutoFit/>
          </a:bodyPr>
          <a:lstStyle/>
          <a:p>
            <a:pPr indent="269875">
              <a:buFont typeface="Wingdings" pitchFamily="2" charset="2"/>
              <a:buNone/>
            </a:pPr>
            <a:r>
              <a:rPr lang="en-US" altLang="zh-CN" b="1">
                <a:solidFill>
                  <a:schemeClr val="bg1"/>
                </a:solidFill>
              </a:rPr>
              <a:t>1</a:t>
            </a:r>
            <a:r>
              <a:rPr lang="en-US" altLang="zh-CN" sz="2800" b="1">
                <a:solidFill>
                  <a:schemeClr val="bg1"/>
                </a:solidFill>
              </a:rPr>
              <a:t>.</a:t>
            </a:r>
            <a:r>
              <a:rPr lang="zh-CN" altLang="en-US" b="1">
                <a:solidFill>
                  <a:schemeClr val="bg1"/>
                </a:solidFill>
                <a:ea typeface="楷体_GB2312" pitchFamily="49" charset="-122"/>
              </a:rPr>
              <a:t>主量子数</a:t>
            </a:r>
            <a:r>
              <a:rPr lang="zh-CN" altLang="en-US" b="1">
                <a:solidFill>
                  <a:schemeClr val="accent2"/>
                </a:solidFill>
              </a:rPr>
              <a:t> </a:t>
            </a:r>
            <a:r>
              <a:rPr lang="en-US" altLang="zh-CN" b="1" i="1">
                <a:solidFill>
                  <a:schemeClr val="accent2"/>
                </a:solidFill>
              </a:rPr>
              <a:t>n</a:t>
            </a:r>
            <a:r>
              <a:rPr lang="en-US" altLang="zh-CN" b="1">
                <a:solidFill>
                  <a:schemeClr val="bg1"/>
                </a:solidFill>
              </a:rPr>
              <a:t> </a:t>
            </a:r>
            <a:r>
              <a:rPr lang="en-US" altLang="zh-CN" b="1">
                <a:solidFill>
                  <a:schemeClr val="hlink"/>
                </a:solidFill>
              </a:rPr>
              <a:t> </a:t>
            </a:r>
            <a:r>
              <a:rPr lang="en-US" altLang="zh-CN" b="1">
                <a:solidFill>
                  <a:srgbClr val="CC00CC"/>
                </a:solidFill>
              </a:rPr>
              <a:t>( 1 , 2 , 3, ……)</a:t>
            </a:r>
          </a:p>
        </p:txBody>
      </p:sp>
      <p:sp>
        <p:nvSpPr>
          <p:cNvPr id="150533" name="Rectangle 5"/>
          <p:cNvSpPr>
            <a:spLocks noChangeArrowheads="1"/>
          </p:cNvSpPr>
          <p:nvPr/>
        </p:nvSpPr>
        <p:spPr bwMode="auto">
          <a:xfrm>
            <a:off x="701675" y="2919413"/>
            <a:ext cx="6927850" cy="519112"/>
          </a:xfrm>
          <a:prstGeom prst="rect">
            <a:avLst/>
          </a:prstGeom>
          <a:noFill/>
          <a:ln w="9525">
            <a:noFill/>
            <a:miter lim="800000"/>
            <a:headEnd/>
            <a:tailEnd/>
          </a:ln>
          <a:effectLst/>
        </p:spPr>
        <p:txBody>
          <a:bodyPr>
            <a:spAutoFit/>
          </a:bodyPr>
          <a:lstStyle/>
          <a:p>
            <a:pPr eaLnBrk="0" hangingPunct="0">
              <a:spcBef>
                <a:spcPct val="50000"/>
              </a:spcBef>
            </a:pPr>
            <a:r>
              <a:rPr lang="en-US" altLang="zh-CN" b="1">
                <a:solidFill>
                  <a:schemeClr val="bg1"/>
                </a:solidFill>
              </a:rPr>
              <a:t>2</a:t>
            </a:r>
            <a:r>
              <a:rPr lang="en-US" altLang="zh-CN" sz="2800" b="1">
                <a:solidFill>
                  <a:schemeClr val="bg1"/>
                </a:solidFill>
              </a:rPr>
              <a:t>. </a:t>
            </a:r>
            <a:r>
              <a:rPr lang="zh-CN" altLang="en-US" b="1">
                <a:solidFill>
                  <a:schemeClr val="bg1"/>
                </a:solidFill>
                <a:ea typeface="楷体_GB2312" pitchFamily="49" charset="-122"/>
              </a:rPr>
              <a:t>副量子数</a:t>
            </a:r>
            <a:r>
              <a:rPr lang="zh-CN" altLang="en-US" b="1">
                <a:solidFill>
                  <a:schemeClr val="bg1"/>
                </a:solidFill>
              </a:rPr>
              <a:t>  </a:t>
            </a:r>
            <a:r>
              <a:rPr lang="en-US" altLang="zh-CN" b="1" i="1">
                <a:solidFill>
                  <a:schemeClr val="accent2"/>
                </a:solidFill>
              </a:rPr>
              <a:t>l </a:t>
            </a:r>
            <a:r>
              <a:rPr lang="en-US" altLang="zh-CN" b="1" i="1">
                <a:solidFill>
                  <a:schemeClr val="hlink"/>
                </a:solidFill>
              </a:rPr>
              <a:t> </a:t>
            </a:r>
            <a:r>
              <a:rPr lang="en-US" altLang="zh-CN" b="1">
                <a:solidFill>
                  <a:srgbClr val="CC00CC"/>
                </a:solidFill>
              </a:rPr>
              <a:t>( 0</a:t>
            </a:r>
            <a:r>
              <a:rPr lang="zh-CN" altLang="en-US" b="1">
                <a:solidFill>
                  <a:srgbClr val="CC00CC"/>
                </a:solidFill>
              </a:rPr>
              <a:t>，</a:t>
            </a:r>
            <a:r>
              <a:rPr lang="en-US" altLang="zh-CN" b="1">
                <a:solidFill>
                  <a:srgbClr val="CC00CC"/>
                </a:solidFill>
              </a:rPr>
              <a:t>1</a:t>
            </a:r>
            <a:r>
              <a:rPr lang="zh-CN" altLang="en-US" b="1">
                <a:solidFill>
                  <a:srgbClr val="CC00CC"/>
                </a:solidFill>
              </a:rPr>
              <a:t>，</a:t>
            </a:r>
            <a:r>
              <a:rPr lang="en-US" altLang="zh-CN" b="1">
                <a:solidFill>
                  <a:srgbClr val="CC00CC"/>
                </a:solidFill>
              </a:rPr>
              <a:t>2</a:t>
            </a:r>
            <a:r>
              <a:rPr lang="zh-CN" altLang="en-US" b="1">
                <a:solidFill>
                  <a:srgbClr val="CC00CC"/>
                </a:solidFill>
              </a:rPr>
              <a:t>，</a:t>
            </a:r>
            <a:r>
              <a:rPr lang="en-US" altLang="zh-CN" b="1">
                <a:solidFill>
                  <a:srgbClr val="CC00CC"/>
                </a:solidFill>
              </a:rPr>
              <a:t>……. , </a:t>
            </a:r>
            <a:r>
              <a:rPr lang="en-US" altLang="zh-CN" b="1" i="1">
                <a:solidFill>
                  <a:srgbClr val="CC00CC"/>
                </a:solidFill>
              </a:rPr>
              <a:t>n </a:t>
            </a:r>
            <a:r>
              <a:rPr lang="en-US" altLang="zh-CN" b="1">
                <a:solidFill>
                  <a:srgbClr val="CC00CC"/>
                </a:solidFill>
              </a:rPr>
              <a:t>-1 )</a:t>
            </a:r>
            <a:r>
              <a:rPr lang="en-US" altLang="zh-CN" b="1">
                <a:solidFill>
                  <a:srgbClr val="CCFF66"/>
                </a:solidFill>
              </a:rPr>
              <a:t> </a:t>
            </a:r>
          </a:p>
        </p:txBody>
      </p:sp>
      <p:sp>
        <p:nvSpPr>
          <p:cNvPr id="150534" name="Rectangle 6"/>
          <p:cNvSpPr>
            <a:spLocks noChangeArrowheads="1"/>
          </p:cNvSpPr>
          <p:nvPr/>
        </p:nvSpPr>
        <p:spPr bwMode="auto">
          <a:xfrm>
            <a:off x="701675" y="4162425"/>
            <a:ext cx="7299325" cy="519113"/>
          </a:xfrm>
          <a:prstGeom prst="rect">
            <a:avLst/>
          </a:prstGeom>
          <a:noFill/>
          <a:ln w="9525">
            <a:noFill/>
            <a:miter lim="800000"/>
            <a:headEnd/>
            <a:tailEnd/>
          </a:ln>
          <a:effectLst/>
        </p:spPr>
        <p:txBody>
          <a:bodyPr>
            <a:spAutoFit/>
          </a:bodyPr>
          <a:lstStyle/>
          <a:p>
            <a:pPr eaLnBrk="0" hangingPunct="0">
              <a:spcBef>
                <a:spcPct val="50000"/>
              </a:spcBef>
            </a:pPr>
            <a:r>
              <a:rPr lang="en-US" altLang="zh-CN" b="1">
                <a:solidFill>
                  <a:schemeClr val="bg1"/>
                </a:solidFill>
              </a:rPr>
              <a:t>3</a:t>
            </a:r>
            <a:r>
              <a:rPr lang="en-US" altLang="zh-CN" sz="2800" b="1">
                <a:solidFill>
                  <a:schemeClr val="bg1"/>
                </a:solidFill>
              </a:rPr>
              <a:t>. </a:t>
            </a:r>
            <a:r>
              <a:rPr lang="zh-CN" altLang="en-US" b="1">
                <a:solidFill>
                  <a:schemeClr val="bg1"/>
                </a:solidFill>
                <a:ea typeface="楷体_GB2312" pitchFamily="49" charset="-122"/>
              </a:rPr>
              <a:t>磁量子数</a:t>
            </a:r>
            <a:r>
              <a:rPr lang="zh-CN" altLang="en-US" b="1">
                <a:solidFill>
                  <a:schemeClr val="bg1"/>
                </a:solidFill>
              </a:rPr>
              <a:t> </a:t>
            </a:r>
            <a:r>
              <a:rPr lang="zh-CN" altLang="en-US" b="1">
                <a:solidFill>
                  <a:schemeClr val="accent2"/>
                </a:solidFill>
              </a:rPr>
              <a:t> </a:t>
            </a:r>
            <a:r>
              <a:rPr lang="en-US" altLang="zh-CN" b="1" i="1">
                <a:solidFill>
                  <a:schemeClr val="accent2"/>
                </a:solidFill>
              </a:rPr>
              <a:t>m</a:t>
            </a:r>
            <a:r>
              <a:rPr lang="en-US" altLang="zh-CN" b="1" i="1" baseline="-20000">
                <a:solidFill>
                  <a:schemeClr val="accent2"/>
                </a:solidFill>
              </a:rPr>
              <a:t>l</a:t>
            </a:r>
            <a:r>
              <a:rPr lang="en-US" altLang="zh-CN" b="1" i="1" baseline="-20000">
                <a:solidFill>
                  <a:schemeClr val="bg1"/>
                </a:solidFill>
              </a:rPr>
              <a:t> </a:t>
            </a:r>
            <a:r>
              <a:rPr lang="en-US" altLang="zh-CN" sz="2800" b="1" i="1" baseline="-20000">
                <a:solidFill>
                  <a:schemeClr val="hlink"/>
                </a:solidFill>
              </a:rPr>
              <a:t> </a:t>
            </a:r>
            <a:r>
              <a:rPr lang="en-US" altLang="zh-CN" b="1">
                <a:solidFill>
                  <a:srgbClr val="CC00CC"/>
                </a:solidFill>
              </a:rPr>
              <a:t>( 0</a:t>
            </a:r>
            <a:r>
              <a:rPr lang="zh-CN" altLang="en-US" b="1">
                <a:solidFill>
                  <a:srgbClr val="CC00CC"/>
                </a:solidFill>
              </a:rPr>
              <a:t>，</a:t>
            </a:r>
            <a:r>
              <a:rPr lang="en-US" altLang="zh-CN" sz="2000" b="1">
                <a:solidFill>
                  <a:srgbClr val="CC00CC"/>
                </a:solidFill>
              </a:rPr>
              <a:t>±</a:t>
            </a:r>
            <a:r>
              <a:rPr lang="en-US" altLang="zh-CN" b="1">
                <a:solidFill>
                  <a:srgbClr val="CC00CC"/>
                </a:solidFill>
              </a:rPr>
              <a:t>1</a:t>
            </a:r>
            <a:r>
              <a:rPr lang="zh-CN" altLang="en-US" b="1">
                <a:solidFill>
                  <a:srgbClr val="CC00CC"/>
                </a:solidFill>
              </a:rPr>
              <a:t>， </a:t>
            </a:r>
            <a:r>
              <a:rPr lang="en-US" altLang="zh-CN" sz="2000" b="1">
                <a:solidFill>
                  <a:srgbClr val="CC00CC"/>
                </a:solidFill>
              </a:rPr>
              <a:t>±</a:t>
            </a:r>
            <a:r>
              <a:rPr lang="en-US" altLang="zh-CN" b="1">
                <a:solidFill>
                  <a:srgbClr val="CC00CC"/>
                </a:solidFill>
              </a:rPr>
              <a:t> 2</a:t>
            </a:r>
            <a:r>
              <a:rPr lang="zh-CN" altLang="en-US" b="1">
                <a:solidFill>
                  <a:srgbClr val="CC00CC"/>
                </a:solidFill>
              </a:rPr>
              <a:t>，</a:t>
            </a:r>
            <a:r>
              <a:rPr lang="en-US" altLang="zh-CN" b="1">
                <a:solidFill>
                  <a:srgbClr val="CC00CC"/>
                </a:solidFill>
              </a:rPr>
              <a:t>……. , </a:t>
            </a:r>
            <a:r>
              <a:rPr lang="en-US" altLang="zh-CN" sz="2000" b="1">
                <a:solidFill>
                  <a:srgbClr val="CC00CC"/>
                </a:solidFill>
              </a:rPr>
              <a:t>±</a:t>
            </a:r>
            <a:r>
              <a:rPr lang="en-US" altLang="zh-CN" b="1">
                <a:solidFill>
                  <a:srgbClr val="CC00CC"/>
                </a:solidFill>
              </a:rPr>
              <a:t> </a:t>
            </a:r>
            <a:r>
              <a:rPr lang="en-US" altLang="zh-CN" b="1" i="1">
                <a:solidFill>
                  <a:srgbClr val="CC00CC"/>
                </a:solidFill>
              </a:rPr>
              <a:t>l</a:t>
            </a:r>
            <a:r>
              <a:rPr lang="en-US" altLang="zh-CN" b="1">
                <a:solidFill>
                  <a:srgbClr val="CC00CC"/>
                </a:solidFill>
              </a:rPr>
              <a:t> ) </a:t>
            </a:r>
          </a:p>
        </p:txBody>
      </p:sp>
      <p:sp>
        <p:nvSpPr>
          <p:cNvPr id="150535" name="Rectangle 7"/>
          <p:cNvSpPr>
            <a:spLocks noChangeArrowheads="1"/>
          </p:cNvSpPr>
          <p:nvPr/>
        </p:nvSpPr>
        <p:spPr bwMode="auto">
          <a:xfrm>
            <a:off x="701675" y="5387975"/>
            <a:ext cx="7013575" cy="519113"/>
          </a:xfrm>
          <a:prstGeom prst="rect">
            <a:avLst/>
          </a:prstGeom>
          <a:noFill/>
          <a:ln w="9525">
            <a:noFill/>
            <a:miter lim="800000"/>
            <a:headEnd/>
            <a:tailEnd/>
          </a:ln>
          <a:effectLst/>
        </p:spPr>
        <p:txBody>
          <a:bodyPr>
            <a:spAutoFit/>
          </a:bodyPr>
          <a:lstStyle/>
          <a:p>
            <a:r>
              <a:rPr lang="en-US" altLang="zh-CN" b="1">
                <a:solidFill>
                  <a:schemeClr val="bg1"/>
                </a:solidFill>
              </a:rPr>
              <a:t>4</a:t>
            </a:r>
            <a:r>
              <a:rPr lang="en-US" altLang="zh-CN" sz="2800" b="1">
                <a:solidFill>
                  <a:schemeClr val="bg1"/>
                </a:solidFill>
              </a:rPr>
              <a:t>.</a:t>
            </a:r>
            <a:r>
              <a:rPr lang="zh-CN" altLang="en-US" b="1">
                <a:solidFill>
                  <a:schemeClr val="bg1"/>
                </a:solidFill>
                <a:ea typeface="楷体_GB2312" pitchFamily="49" charset="-122"/>
              </a:rPr>
              <a:t>自旋磁量子数</a:t>
            </a:r>
            <a:r>
              <a:rPr lang="zh-CN" altLang="en-US" b="1">
                <a:solidFill>
                  <a:schemeClr val="bg1"/>
                </a:solidFill>
              </a:rPr>
              <a:t> </a:t>
            </a:r>
            <a:r>
              <a:rPr lang="zh-CN" altLang="en-US" b="1">
                <a:solidFill>
                  <a:schemeClr val="accent2"/>
                </a:solidFill>
              </a:rPr>
              <a:t> </a:t>
            </a:r>
            <a:r>
              <a:rPr lang="en-US" altLang="zh-CN" b="1" i="1">
                <a:solidFill>
                  <a:schemeClr val="accent2"/>
                </a:solidFill>
              </a:rPr>
              <a:t>m</a:t>
            </a:r>
            <a:r>
              <a:rPr lang="en-US" altLang="zh-CN" b="1" i="1" baseline="-20000">
                <a:solidFill>
                  <a:schemeClr val="accent2"/>
                </a:solidFill>
              </a:rPr>
              <a:t>s</a:t>
            </a:r>
            <a:r>
              <a:rPr lang="en-US" altLang="zh-CN" b="1" i="1" baseline="-20000">
                <a:solidFill>
                  <a:schemeClr val="hlink"/>
                </a:solidFill>
              </a:rPr>
              <a:t> </a:t>
            </a:r>
            <a:r>
              <a:rPr lang="en-US" altLang="zh-CN" sz="2800" b="1" i="1" baseline="-20000">
                <a:solidFill>
                  <a:schemeClr val="hlink"/>
                </a:solidFill>
              </a:rPr>
              <a:t> </a:t>
            </a:r>
            <a:r>
              <a:rPr lang="en-US" altLang="zh-CN" b="1">
                <a:solidFill>
                  <a:srgbClr val="CC00CC"/>
                </a:solidFill>
              </a:rPr>
              <a:t>( 1/2 ,  -1/2 )</a:t>
            </a:r>
            <a:r>
              <a:rPr lang="en-US" altLang="zh-CN" b="1">
                <a:solidFill>
                  <a:srgbClr val="CCFF66"/>
                </a:solidFill>
              </a:rPr>
              <a:t> </a:t>
            </a:r>
          </a:p>
        </p:txBody>
      </p:sp>
      <p:sp>
        <p:nvSpPr>
          <p:cNvPr id="150536" name="Rectangle 8"/>
          <p:cNvSpPr>
            <a:spLocks noChangeArrowheads="1"/>
          </p:cNvSpPr>
          <p:nvPr/>
        </p:nvSpPr>
        <p:spPr bwMode="auto">
          <a:xfrm>
            <a:off x="1538288" y="2327275"/>
            <a:ext cx="4378325"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大体上决定了电子能量</a:t>
            </a:r>
          </a:p>
        </p:txBody>
      </p:sp>
      <p:sp>
        <p:nvSpPr>
          <p:cNvPr id="150537" name="Rectangle 9"/>
          <p:cNvSpPr>
            <a:spLocks noChangeArrowheads="1"/>
          </p:cNvSpPr>
          <p:nvPr/>
        </p:nvSpPr>
        <p:spPr bwMode="auto">
          <a:xfrm>
            <a:off x="1536700" y="3495675"/>
            <a:ext cx="7310438"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决定电子的轨道角动量大小，对能量也有稍许影响。</a:t>
            </a:r>
          </a:p>
        </p:txBody>
      </p:sp>
      <p:sp>
        <p:nvSpPr>
          <p:cNvPr id="150538" name="Rectangle 10"/>
          <p:cNvSpPr>
            <a:spLocks noChangeArrowheads="1"/>
          </p:cNvSpPr>
          <p:nvPr/>
        </p:nvSpPr>
        <p:spPr bwMode="auto">
          <a:xfrm>
            <a:off x="1543050" y="4784725"/>
            <a:ext cx="4957763"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决定电子轨道角动量空间取向</a:t>
            </a:r>
          </a:p>
        </p:txBody>
      </p:sp>
      <p:sp>
        <p:nvSpPr>
          <p:cNvPr id="150539" name="Rectangle 11"/>
          <p:cNvSpPr>
            <a:spLocks noChangeArrowheads="1"/>
          </p:cNvSpPr>
          <p:nvPr/>
        </p:nvSpPr>
        <p:spPr bwMode="auto">
          <a:xfrm>
            <a:off x="1536700" y="5991225"/>
            <a:ext cx="5368925"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决定电子自旋角动量空间取向</a:t>
            </a:r>
          </a:p>
        </p:txBody>
      </p:sp>
      <p:sp>
        <p:nvSpPr>
          <p:cNvPr id="150541" name="Text Box 13"/>
          <p:cNvSpPr txBox="1">
            <a:spLocks noChangeArrowheads="1"/>
          </p:cNvSpPr>
          <p:nvPr/>
        </p:nvSpPr>
        <p:spPr bwMode="auto">
          <a:xfrm>
            <a:off x="792163" y="773113"/>
            <a:ext cx="7694612" cy="968375"/>
          </a:xfrm>
          <a:prstGeom prst="rect">
            <a:avLst/>
          </a:prstGeom>
          <a:noFill/>
          <a:ln w="9525">
            <a:noFill/>
            <a:miter lim="800000"/>
            <a:headEnd/>
            <a:tailEnd/>
          </a:ln>
          <a:effectLst/>
        </p:spPr>
        <p:txBody>
          <a:bodyPr>
            <a:spAutoFit/>
          </a:bodyPr>
          <a:lstStyle/>
          <a:p>
            <a:pPr>
              <a:lnSpc>
                <a:spcPct val="120000"/>
              </a:lnSpc>
            </a:pPr>
            <a:r>
              <a:rPr lang="en-US" altLang="zh-CN" b="1">
                <a:solidFill>
                  <a:srgbClr val="0000FF"/>
                </a:solidFill>
              </a:rPr>
              <a:t>        </a:t>
            </a:r>
            <a:r>
              <a:rPr lang="zh-CN" altLang="en-US" b="1">
                <a:solidFill>
                  <a:srgbClr val="0000FF"/>
                </a:solidFill>
              </a:rPr>
              <a:t>原子中电子的运动状态由四个量子数来确定：三个决定电子轨道运动状态，一个决定电子自旋运动状态。</a:t>
            </a:r>
            <a:r>
              <a:rPr lang="zh-CN" altLang="en-US">
                <a:solidFill>
                  <a:srgbClr val="0000FF"/>
                </a:solidFill>
              </a:rPr>
              <a:t> </a:t>
            </a:r>
          </a:p>
        </p:txBody>
      </p:sp>
      <p:sp>
        <p:nvSpPr>
          <p:cNvPr id="150542" name="AutoShape 14"/>
          <p:cNvSpPr>
            <a:spLocks noChangeArrowheads="1"/>
          </p:cNvSpPr>
          <p:nvPr/>
        </p:nvSpPr>
        <p:spPr bwMode="auto">
          <a:xfrm>
            <a:off x="476250" y="323850"/>
            <a:ext cx="360363" cy="576263"/>
          </a:xfrm>
          <a:prstGeom prst="star4">
            <a:avLst>
              <a:gd name="adj" fmla="val 18519"/>
            </a:avLst>
          </a:prstGeom>
          <a:gradFill rotWithShape="0">
            <a:gsLst>
              <a:gs pos="0">
                <a:schemeClr val="accent2"/>
              </a:gs>
              <a:gs pos="100000">
                <a:schemeClr val="accent2">
                  <a:gamma/>
                  <a:shade val="46275"/>
                  <a:invGamma/>
                </a:schemeClr>
              </a:gs>
            </a:gsLst>
            <a:path path="shape">
              <a:fillToRect l="50000" t="50000" r="50000" b="50000"/>
            </a:path>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150543" name="Text Box 15"/>
          <p:cNvSpPr txBox="1">
            <a:spLocks noChangeArrowheads="1"/>
          </p:cNvSpPr>
          <p:nvPr/>
        </p:nvSpPr>
        <p:spPr bwMode="auto">
          <a:xfrm>
            <a:off x="881063" y="368300"/>
            <a:ext cx="1576387"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tx2"/>
                </a:solidFill>
              </a:rPr>
              <a:t>重要结论</a:t>
            </a:r>
          </a:p>
        </p:txBody>
      </p:sp>
      <p:sp>
        <p:nvSpPr>
          <p:cNvPr id="13" name="AutoShape 15">
            <a:hlinkClick r:id="rId3" action="ppaction://hlinksldjump" highlightClick="1"/>
          </p:cNvPr>
          <p:cNvSpPr>
            <a:spLocks noChangeAspect="1" noChangeArrowheads="1"/>
          </p:cNvSpPr>
          <p:nvPr/>
        </p:nvSpPr>
        <p:spPr bwMode="auto">
          <a:xfrm>
            <a:off x="8720138" y="6280150"/>
            <a:ext cx="244475" cy="244475"/>
          </a:xfrm>
          <a:prstGeom prst="actionButtonBeginning">
            <a:avLst/>
          </a:prstGeom>
          <a:solidFill>
            <a:srgbClr val="99CCFF"/>
          </a:solidFill>
          <a:ln w="19050">
            <a:noFill/>
            <a:miter lim="800000"/>
            <a:headEnd/>
            <a:tailEnd/>
          </a:ln>
        </p:spPr>
        <p:txBody>
          <a:bodyPr wrap="none" anchor="ctr"/>
          <a:lstStyle/>
          <a:p>
            <a:endParaRPr lang="zh-CN" altLang="en-US"/>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0542"/>
                                        </p:tgtEl>
                                        <p:attrNameLst>
                                          <p:attrName>style.visibility</p:attrName>
                                        </p:attrNameLst>
                                      </p:cBhvr>
                                      <p:to>
                                        <p:strVal val="visible"/>
                                      </p:to>
                                    </p:set>
                                    <p:animEffect transition="in" filter="dissolve">
                                      <p:cBhvr>
                                        <p:cTn id="7" dur="500"/>
                                        <p:tgtEl>
                                          <p:spTgt spid="1505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0543"/>
                                        </p:tgtEl>
                                        <p:attrNameLst>
                                          <p:attrName>style.visibility</p:attrName>
                                        </p:attrNameLst>
                                      </p:cBhvr>
                                      <p:to>
                                        <p:strVal val="visible"/>
                                      </p:to>
                                    </p:set>
                                    <p:animEffect transition="in" filter="wipe(left)">
                                      <p:cBhvr>
                                        <p:cTn id="12" dur="500"/>
                                        <p:tgtEl>
                                          <p:spTgt spid="1505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0541"/>
                                        </p:tgtEl>
                                        <p:attrNameLst>
                                          <p:attrName>style.visibility</p:attrName>
                                        </p:attrNameLst>
                                      </p:cBhvr>
                                      <p:to>
                                        <p:strVal val="visible"/>
                                      </p:to>
                                    </p:set>
                                    <p:animEffect transition="in" filter="wipe(left)">
                                      <p:cBhvr>
                                        <p:cTn id="17" dur="500"/>
                                        <p:tgtEl>
                                          <p:spTgt spid="1505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0532"/>
                                        </p:tgtEl>
                                        <p:attrNameLst>
                                          <p:attrName>style.visibility</p:attrName>
                                        </p:attrNameLst>
                                      </p:cBhvr>
                                      <p:to>
                                        <p:strVal val="visible"/>
                                      </p:to>
                                    </p:set>
                                    <p:animEffect transition="in" filter="wipe(left)">
                                      <p:cBhvr>
                                        <p:cTn id="22" dur="500"/>
                                        <p:tgtEl>
                                          <p:spTgt spid="150532"/>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50536"/>
                                        </p:tgtEl>
                                        <p:attrNameLst>
                                          <p:attrName>style.visibility</p:attrName>
                                        </p:attrNameLst>
                                      </p:cBhvr>
                                      <p:to>
                                        <p:strVal val="visible"/>
                                      </p:to>
                                    </p:set>
                                    <p:animEffect transition="in" filter="wipe(left)">
                                      <p:cBhvr>
                                        <p:cTn id="26" dur="500"/>
                                        <p:tgtEl>
                                          <p:spTgt spid="15053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0533"/>
                                        </p:tgtEl>
                                        <p:attrNameLst>
                                          <p:attrName>style.visibility</p:attrName>
                                        </p:attrNameLst>
                                      </p:cBhvr>
                                      <p:to>
                                        <p:strVal val="visible"/>
                                      </p:to>
                                    </p:set>
                                    <p:animEffect transition="in" filter="wipe(left)">
                                      <p:cBhvr>
                                        <p:cTn id="31" dur="500"/>
                                        <p:tgtEl>
                                          <p:spTgt spid="150533"/>
                                        </p:tgtEl>
                                      </p:cBhvr>
                                    </p:animEffect>
                                  </p:childTnLst>
                                </p:cTn>
                              </p:par>
                            </p:childTnLst>
                          </p:cTn>
                        </p:par>
                        <p:par>
                          <p:cTn id="32" fill="hold" nodeType="afterGroup">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50537"/>
                                        </p:tgtEl>
                                        <p:attrNameLst>
                                          <p:attrName>style.visibility</p:attrName>
                                        </p:attrNameLst>
                                      </p:cBhvr>
                                      <p:to>
                                        <p:strVal val="visible"/>
                                      </p:to>
                                    </p:set>
                                    <p:animEffect transition="in" filter="wipe(left)">
                                      <p:cBhvr>
                                        <p:cTn id="35" dur="500"/>
                                        <p:tgtEl>
                                          <p:spTgt spid="15053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50534"/>
                                        </p:tgtEl>
                                        <p:attrNameLst>
                                          <p:attrName>style.visibility</p:attrName>
                                        </p:attrNameLst>
                                      </p:cBhvr>
                                      <p:to>
                                        <p:strVal val="visible"/>
                                      </p:to>
                                    </p:set>
                                    <p:animEffect transition="in" filter="wipe(left)">
                                      <p:cBhvr>
                                        <p:cTn id="40" dur="500"/>
                                        <p:tgtEl>
                                          <p:spTgt spid="150534"/>
                                        </p:tgtEl>
                                      </p:cBhvr>
                                    </p:animEffect>
                                  </p:childTnLst>
                                </p:cTn>
                              </p:par>
                            </p:childTnLst>
                          </p:cTn>
                        </p:par>
                        <p:par>
                          <p:cTn id="41" fill="hold" nodeType="afterGroup">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50538"/>
                                        </p:tgtEl>
                                        <p:attrNameLst>
                                          <p:attrName>style.visibility</p:attrName>
                                        </p:attrNameLst>
                                      </p:cBhvr>
                                      <p:to>
                                        <p:strVal val="visible"/>
                                      </p:to>
                                    </p:set>
                                    <p:animEffect transition="in" filter="wipe(left)">
                                      <p:cBhvr>
                                        <p:cTn id="44" dur="500"/>
                                        <p:tgtEl>
                                          <p:spTgt spid="15053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50535"/>
                                        </p:tgtEl>
                                        <p:attrNameLst>
                                          <p:attrName>style.visibility</p:attrName>
                                        </p:attrNameLst>
                                      </p:cBhvr>
                                      <p:to>
                                        <p:strVal val="visible"/>
                                      </p:to>
                                    </p:set>
                                    <p:animEffect transition="in" filter="wipe(left)">
                                      <p:cBhvr>
                                        <p:cTn id="49" dur="500"/>
                                        <p:tgtEl>
                                          <p:spTgt spid="150535"/>
                                        </p:tgtEl>
                                      </p:cBhvr>
                                    </p:animEffect>
                                  </p:childTnLst>
                                </p:cTn>
                              </p:par>
                            </p:childTnLst>
                          </p:cTn>
                        </p:par>
                        <p:par>
                          <p:cTn id="50" fill="hold" nodeType="afterGroup">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150539"/>
                                        </p:tgtEl>
                                        <p:attrNameLst>
                                          <p:attrName>style.visibility</p:attrName>
                                        </p:attrNameLst>
                                      </p:cBhvr>
                                      <p:to>
                                        <p:strVal val="visible"/>
                                      </p:to>
                                    </p:set>
                                    <p:animEffect transition="in" filter="wipe(left)">
                                      <p:cBhvr>
                                        <p:cTn id="53" dur="500"/>
                                        <p:tgtEl>
                                          <p:spTgt spid="15053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left)">
                                      <p:cBhvr>
                                        <p:cTn id="5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2" grpId="0" autoUpdateAnimBg="0"/>
      <p:bldP spid="150533" grpId="0" autoUpdateAnimBg="0"/>
      <p:bldP spid="150534" grpId="0" autoUpdateAnimBg="0"/>
      <p:bldP spid="150535" grpId="0" autoUpdateAnimBg="0"/>
      <p:bldP spid="150536" grpId="0" autoUpdateAnimBg="0"/>
      <p:bldP spid="150537" grpId="0" autoUpdateAnimBg="0"/>
      <p:bldP spid="150538" grpId="0" autoUpdateAnimBg="0"/>
      <p:bldP spid="150539" grpId="0" autoUpdateAnimBg="0"/>
      <p:bldP spid="150541" grpId="0"/>
      <p:bldP spid="150542" grpId="0" animBg="1"/>
      <p:bldP spid="150543" grpId="0"/>
      <p:bldP spid="1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p:cNvSpPr>
            <a:spLocks noChangeArrowheads="1"/>
          </p:cNvSpPr>
          <p:nvPr/>
        </p:nvSpPr>
        <p:spPr bwMode="auto">
          <a:xfrm>
            <a:off x="657225" y="414338"/>
            <a:ext cx="7772400" cy="630237"/>
          </a:xfrm>
          <a:prstGeom prst="rect">
            <a:avLst/>
          </a:prstGeom>
          <a:noFill/>
          <a:ln w="9525">
            <a:noFill/>
            <a:miter lim="800000"/>
            <a:headEnd/>
            <a:tailEnd/>
          </a:ln>
        </p:spPr>
        <p:txBody>
          <a:bodyPr/>
          <a:lstStyle/>
          <a:p>
            <a:pPr algn="ctr">
              <a:lnSpc>
                <a:spcPct val="115000"/>
              </a:lnSpc>
            </a:pPr>
            <a:r>
              <a:rPr lang="en-US" altLang="zh-CN" sz="2800" b="1">
                <a:solidFill>
                  <a:srgbClr val="0000FF"/>
                </a:solidFill>
                <a:latin typeface="黑体" pitchFamily="2" charset="-122"/>
                <a:ea typeface="黑体" pitchFamily="2" charset="-122"/>
              </a:rPr>
              <a:t>§</a:t>
            </a:r>
            <a:r>
              <a:rPr lang="en-US" altLang="zh-CN" sz="2800" b="1">
                <a:solidFill>
                  <a:srgbClr val="3333CC"/>
                </a:solidFill>
                <a:latin typeface="黑体" pitchFamily="2" charset="-122"/>
                <a:ea typeface="黑体" pitchFamily="2" charset="-122"/>
              </a:rPr>
              <a:t>13.7 </a:t>
            </a:r>
            <a:r>
              <a:rPr lang="zh-CN" altLang="en-US" sz="2800" b="1">
                <a:solidFill>
                  <a:srgbClr val="3333CC"/>
                </a:solidFill>
                <a:latin typeface="黑体" pitchFamily="2" charset="-122"/>
                <a:ea typeface="黑体" pitchFamily="2" charset="-122"/>
              </a:rPr>
              <a:t>原子的电子壳层结构 </a:t>
            </a:r>
          </a:p>
        </p:txBody>
      </p:sp>
      <p:grpSp>
        <p:nvGrpSpPr>
          <p:cNvPr id="224271" name="Group 15"/>
          <p:cNvGrpSpPr>
            <a:grpSpLocks/>
          </p:cNvGrpSpPr>
          <p:nvPr/>
        </p:nvGrpSpPr>
        <p:grpSpPr bwMode="auto">
          <a:xfrm>
            <a:off x="6821488" y="1133475"/>
            <a:ext cx="2322512" cy="3386138"/>
            <a:chOff x="4297" y="714"/>
            <a:chExt cx="1463" cy="2133"/>
          </a:xfrm>
        </p:grpSpPr>
        <p:pic>
          <p:nvPicPr>
            <p:cNvPr id="66567" name="Picture 10" descr="pauli"/>
            <p:cNvPicPr>
              <a:picLocks noChangeAspect="1" noChangeArrowheads="1"/>
            </p:cNvPicPr>
            <p:nvPr/>
          </p:nvPicPr>
          <p:blipFill>
            <a:blip r:embed="rId2"/>
            <a:srcRect/>
            <a:stretch>
              <a:fillRect/>
            </a:stretch>
          </p:blipFill>
          <p:spPr bwMode="auto">
            <a:xfrm>
              <a:off x="4297" y="714"/>
              <a:ext cx="1220" cy="1729"/>
            </a:xfrm>
            <a:prstGeom prst="rect">
              <a:avLst/>
            </a:prstGeom>
            <a:noFill/>
            <a:ln w="9525">
              <a:noFill/>
              <a:miter lim="800000"/>
              <a:headEnd/>
              <a:tailEnd/>
            </a:ln>
          </p:spPr>
        </p:pic>
        <p:sp>
          <p:nvSpPr>
            <p:cNvPr id="66568" name="Text Box 11"/>
            <p:cNvSpPr txBox="1">
              <a:spLocks noChangeArrowheads="1"/>
            </p:cNvSpPr>
            <p:nvPr/>
          </p:nvSpPr>
          <p:spPr bwMode="auto">
            <a:xfrm>
              <a:off x="4342" y="2443"/>
              <a:ext cx="1418" cy="404"/>
            </a:xfrm>
            <a:prstGeom prst="rect">
              <a:avLst/>
            </a:prstGeom>
            <a:noFill/>
            <a:ln w="9525">
              <a:noFill/>
              <a:miter lim="800000"/>
              <a:headEnd/>
              <a:tailEnd/>
            </a:ln>
            <a:effectLst/>
          </p:spPr>
          <p:txBody>
            <a:bodyPr>
              <a:spAutoFit/>
            </a:bodyPr>
            <a:lstStyle/>
            <a:p>
              <a:pPr algn="ctr"/>
              <a:r>
                <a:rPr lang="en-US" altLang="zh-CN" sz="1800" b="1">
                  <a:solidFill>
                    <a:srgbClr val="0000FF"/>
                  </a:solidFill>
                </a:rPr>
                <a:t>Pauli</a:t>
              </a:r>
            </a:p>
            <a:p>
              <a:pPr algn="ctr"/>
              <a:r>
                <a:rPr lang="zh-CN" altLang="en-US" sz="1800" b="1">
                  <a:solidFill>
                    <a:srgbClr val="0000FF"/>
                  </a:solidFill>
                </a:rPr>
                <a:t>（</a:t>
              </a:r>
              <a:r>
                <a:rPr lang="en-US" altLang="zh-CN" sz="1800" b="1">
                  <a:solidFill>
                    <a:srgbClr val="0000FF"/>
                  </a:solidFill>
                </a:rPr>
                <a:t>1900</a:t>
              </a:r>
              <a:r>
                <a:rPr lang="zh-CN" altLang="en-US" sz="1800" b="1">
                  <a:solidFill>
                    <a:srgbClr val="0000FF"/>
                  </a:solidFill>
                </a:rPr>
                <a:t>～</a:t>
              </a:r>
              <a:r>
                <a:rPr lang="en-US" altLang="zh-CN" sz="1800" b="1">
                  <a:solidFill>
                    <a:srgbClr val="0000FF"/>
                  </a:solidFill>
                </a:rPr>
                <a:t>1958</a:t>
              </a:r>
              <a:r>
                <a:rPr lang="en-US" altLang="zh-CN" sz="1800">
                  <a:solidFill>
                    <a:srgbClr val="0000FF"/>
                  </a:solidFill>
                </a:rPr>
                <a:t> </a:t>
              </a:r>
              <a:r>
                <a:rPr lang="zh-CN" altLang="en-US" sz="1800" b="1">
                  <a:solidFill>
                    <a:srgbClr val="0000FF"/>
                  </a:solidFill>
                  <a:latin typeface="楷体_GB2312" pitchFamily="49" charset="-122"/>
                  <a:ea typeface="楷体_GB2312" pitchFamily="49" charset="-122"/>
                </a:rPr>
                <a:t>）</a:t>
              </a:r>
            </a:p>
          </p:txBody>
        </p:sp>
      </p:grpSp>
      <p:sp>
        <p:nvSpPr>
          <p:cNvPr id="224268" name="Text Box 12"/>
          <p:cNvSpPr txBox="1">
            <a:spLocks noChangeArrowheads="1"/>
          </p:cNvSpPr>
          <p:nvPr/>
        </p:nvSpPr>
        <p:spPr bwMode="auto">
          <a:xfrm>
            <a:off x="341313" y="3530600"/>
            <a:ext cx="6751637" cy="1698625"/>
          </a:xfrm>
          <a:prstGeom prst="rect">
            <a:avLst/>
          </a:prstGeom>
          <a:noFill/>
          <a:ln w="9525">
            <a:noFill/>
            <a:miter lim="800000"/>
            <a:headEnd/>
            <a:tailEnd/>
          </a:ln>
          <a:effectLst/>
        </p:spPr>
        <p:txBody>
          <a:bodyPr>
            <a:spAutoFit/>
          </a:bodyPr>
          <a:lstStyle/>
          <a:p>
            <a:pPr>
              <a:lnSpc>
                <a:spcPct val="110000"/>
              </a:lnSpc>
            </a:pPr>
            <a:r>
              <a:rPr lang="zh-CN" altLang="en-US" dirty="0">
                <a:solidFill>
                  <a:schemeClr val="bg2"/>
                </a:solidFill>
                <a:latin typeface="楷体_GB2312" pitchFamily="49" charset="-122"/>
                <a:ea typeface="楷体_GB2312" pitchFamily="49" charset="-122"/>
              </a:rPr>
              <a:t>　  </a:t>
            </a:r>
            <a:r>
              <a:rPr lang="zh-CN" altLang="en-US" b="1" dirty="0">
                <a:solidFill>
                  <a:schemeClr val="bg2"/>
                </a:solidFill>
                <a:latin typeface="楷体_GB2312" pitchFamily="49" charset="-122"/>
                <a:ea typeface="楷体_GB2312" pitchFamily="49" charset="-122"/>
              </a:rPr>
              <a:t>他以严谨博学而著称，同时也以尖刻和爱挑刺而闻名。泡利被玻尔称作</a:t>
            </a:r>
            <a:r>
              <a:rPr lang="zh-CN" altLang="en-US" b="1" dirty="0">
                <a:solidFill>
                  <a:srgbClr val="FF0000"/>
                </a:solidFill>
                <a:latin typeface="宋体" charset="-122"/>
                <a:ea typeface="楷体_GB2312" pitchFamily="49" charset="-122"/>
              </a:rPr>
              <a:t>“</a:t>
            </a:r>
            <a:r>
              <a:rPr lang="zh-CN" altLang="en-US" b="1" dirty="0">
                <a:solidFill>
                  <a:srgbClr val="FF0000"/>
                </a:solidFill>
                <a:latin typeface="楷体_GB2312" pitchFamily="49" charset="-122"/>
                <a:ea typeface="楷体_GB2312" pitchFamily="49" charset="-122"/>
              </a:rPr>
              <a:t>物理学的良知</a:t>
            </a:r>
            <a:r>
              <a:rPr lang="zh-CN" altLang="en-US" b="1" dirty="0">
                <a:solidFill>
                  <a:srgbClr val="FF0000"/>
                </a:solidFill>
                <a:latin typeface="宋体" charset="-122"/>
                <a:ea typeface="楷体_GB2312" pitchFamily="49" charset="-122"/>
              </a:rPr>
              <a:t>”</a:t>
            </a:r>
            <a:r>
              <a:rPr lang="zh-CN" altLang="en-US" b="1" dirty="0">
                <a:solidFill>
                  <a:srgbClr val="0000FF"/>
                </a:solidFill>
                <a:latin typeface="楷体_GB2312" pitchFamily="49" charset="-122"/>
                <a:ea typeface="楷体_GB2312" pitchFamily="49" charset="-122"/>
              </a:rPr>
              <a:t>，</a:t>
            </a:r>
            <a:r>
              <a:rPr lang="zh-CN" altLang="en-US" b="1" dirty="0">
                <a:solidFill>
                  <a:schemeClr val="bg2"/>
                </a:solidFill>
                <a:latin typeface="楷体_GB2312" pitchFamily="49" charset="-122"/>
                <a:ea typeface="楷体_GB2312" pitchFamily="49" charset="-122"/>
              </a:rPr>
              <a:t>因为他的敏锐和审慎挑剔，使他具有一眼就能发现错误的能力。</a:t>
            </a:r>
          </a:p>
        </p:txBody>
      </p:sp>
      <p:sp>
        <p:nvSpPr>
          <p:cNvPr id="224269" name="Text Box 13"/>
          <p:cNvSpPr txBox="1">
            <a:spLocks noChangeArrowheads="1"/>
          </p:cNvSpPr>
          <p:nvPr/>
        </p:nvSpPr>
        <p:spPr bwMode="auto">
          <a:xfrm>
            <a:off x="341313" y="1089025"/>
            <a:ext cx="6165850" cy="2936875"/>
          </a:xfrm>
          <a:prstGeom prst="rect">
            <a:avLst/>
          </a:prstGeom>
          <a:noFill/>
          <a:ln w="9525">
            <a:noFill/>
            <a:miter lim="800000"/>
            <a:headEnd/>
            <a:tailEnd/>
          </a:ln>
          <a:effectLst/>
        </p:spPr>
        <p:txBody>
          <a:bodyPr>
            <a:spAutoFit/>
          </a:bodyPr>
          <a:lstStyle/>
          <a:p>
            <a:pPr>
              <a:lnSpc>
                <a:spcPct val="110000"/>
              </a:lnSpc>
            </a:pPr>
            <a:r>
              <a:rPr lang="en-US" altLang="zh-CN" b="1">
                <a:solidFill>
                  <a:schemeClr val="bg2"/>
                </a:solidFill>
                <a:latin typeface="楷体_GB2312" pitchFamily="49" charset="-122"/>
                <a:ea typeface="楷体_GB2312" pitchFamily="49" charset="-122"/>
              </a:rPr>
              <a:t>    </a:t>
            </a:r>
            <a:r>
              <a:rPr lang="zh-CN" altLang="en-US" b="1">
                <a:solidFill>
                  <a:schemeClr val="bg2"/>
                </a:solidFill>
                <a:latin typeface="楷体_GB2312" pitchFamily="49" charset="-122"/>
                <a:ea typeface="楷体_GB2312" pitchFamily="49" charset="-122"/>
              </a:rPr>
              <a:t>奥地利人，</a:t>
            </a:r>
            <a:r>
              <a:rPr lang="en-US" altLang="zh-CN" b="1">
                <a:solidFill>
                  <a:schemeClr val="bg2"/>
                </a:solidFill>
                <a:latin typeface="楷体_GB2312" pitchFamily="49" charset="-122"/>
                <a:ea typeface="楷体_GB2312" pitchFamily="49" charset="-122"/>
              </a:rPr>
              <a:t>21</a:t>
            </a:r>
            <a:r>
              <a:rPr lang="zh-CN" altLang="en-US" b="1">
                <a:solidFill>
                  <a:schemeClr val="bg2"/>
                </a:solidFill>
                <a:latin typeface="楷体_GB2312" pitchFamily="49" charset="-122"/>
                <a:ea typeface="楷体_GB2312" pitchFamily="49" charset="-122"/>
              </a:rPr>
              <a:t>岁取得博士学位，并由导师索末菲推荐为</a:t>
            </a:r>
            <a:r>
              <a:rPr lang="en-US" altLang="zh-CN" b="1">
                <a:solidFill>
                  <a:schemeClr val="bg2"/>
                </a:solidFill>
                <a:latin typeface="楷体_GB2312" pitchFamily="49" charset="-122"/>
                <a:ea typeface="楷体_GB2312" pitchFamily="49" charset="-122"/>
              </a:rPr>
              <a:t>《</a:t>
            </a:r>
            <a:r>
              <a:rPr lang="zh-CN" altLang="en-US" b="1">
                <a:solidFill>
                  <a:schemeClr val="bg2"/>
                </a:solidFill>
                <a:latin typeface="楷体_GB2312" pitchFamily="49" charset="-122"/>
                <a:ea typeface="楷体_GB2312" pitchFamily="49" charset="-122"/>
              </a:rPr>
              <a:t>数学科学百科全书</a:t>
            </a:r>
            <a:r>
              <a:rPr lang="en-US" altLang="zh-CN" b="1">
                <a:solidFill>
                  <a:schemeClr val="bg2"/>
                </a:solidFill>
                <a:latin typeface="楷体_GB2312" pitchFamily="49" charset="-122"/>
                <a:ea typeface="楷体_GB2312" pitchFamily="49" charset="-122"/>
              </a:rPr>
              <a:t>》</a:t>
            </a:r>
            <a:r>
              <a:rPr lang="zh-CN" altLang="en-US" b="1">
                <a:solidFill>
                  <a:schemeClr val="bg2"/>
                </a:solidFill>
                <a:latin typeface="楷体_GB2312" pitchFamily="49" charset="-122"/>
                <a:ea typeface="楷体_GB2312" pitchFamily="49" charset="-122"/>
              </a:rPr>
              <a:t>写了关于相对论的</a:t>
            </a:r>
            <a:r>
              <a:rPr lang="en-US" altLang="zh-CN" b="1">
                <a:solidFill>
                  <a:schemeClr val="bg2"/>
                </a:solidFill>
                <a:latin typeface="楷体_GB2312" pitchFamily="49" charset="-122"/>
                <a:ea typeface="楷体_GB2312" pitchFamily="49" charset="-122"/>
              </a:rPr>
              <a:t>250</a:t>
            </a:r>
            <a:r>
              <a:rPr lang="zh-CN" altLang="en-US" b="1">
                <a:solidFill>
                  <a:schemeClr val="bg2"/>
                </a:solidFill>
                <a:latin typeface="楷体_GB2312" pitchFamily="49" charset="-122"/>
                <a:ea typeface="楷体_GB2312" pitchFamily="49" charset="-122"/>
              </a:rPr>
              <a:t>页综述文章，受到爱因斯坦的高度赞许。</a:t>
            </a:r>
            <a:r>
              <a:rPr lang="en-US" altLang="zh-CN" b="1">
                <a:solidFill>
                  <a:schemeClr val="bg2"/>
                </a:solidFill>
                <a:latin typeface="楷体_GB2312" pitchFamily="49" charset="-122"/>
                <a:ea typeface="楷体_GB2312" pitchFamily="49" charset="-122"/>
              </a:rPr>
              <a:t>25</a:t>
            </a:r>
            <a:r>
              <a:rPr lang="zh-CN" altLang="en-US" b="1">
                <a:solidFill>
                  <a:schemeClr val="bg2"/>
                </a:solidFill>
                <a:latin typeface="楷体_GB2312" pitchFamily="49" charset="-122"/>
                <a:ea typeface="楷体_GB2312" pitchFamily="49" charset="-122"/>
              </a:rPr>
              <a:t>岁时提出后来以泡利命名的</a:t>
            </a:r>
            <a:r>
              <a:rPr lang="zh-CN" altLang="en-US" b="1">
                <a:solidFill>
                  <a:srgbClr val="FF0000"/>
                </a:solidFill>
                <a:ea typeface="楷体_GB2312" pitchFamily="49" charset="-122"/>
              </a:rPr>
              <a:t>“</a:t>
            </a:r>
            <a:r>
              <a:rPr lang="zh-CN" altLang="en-US" b="1">
                <a:solidFill>
                  <a:srgbClr val="FF0000"/>
                </a:solidFill>
                <a:latin typeface="楷体_GB2312" pitchFamily="49" charset="-122"/>
                <a:ea typeface="楷体_GB2312" pitchFamily="49" charset="-122"/>
              </a:rPr>
              <a:t>不相容原理</a:t>
            </a:r>
            <a:r>
              <a:rPr lang="zh-CN" altLang="en-US" b="1">
                <a:solidFill>
                  <a:srgbClr val="FF0000"/>
                </a:solidFill>
                <a:ea typeface="楷体_GB2312" pitchFamily="49" charset="-122"/>
              </a:rPr>
              <a:t>”</a:t>
            </a:r>
            <a:r>
              <a:rPr lang="zh-CN" altLang="en-US" b="1">
                <a:solidFill>
                  <a:schemeClr val="bg2"/>
                </a:solidFill>
                <a:latin typeface="楷体_GB2312" pitchFamily="49" charset="-122"/>
                <a:ea typeface="楷体_GB2312" pitchFamily="49" charset="-122"/>
              </a:rPr>
              <a:t>，从而把早期量子论发展到极高的地步。</a:t>
            </a:r>
            <a:r>
              <a:rPr lang="en-US" altLang="zh-CN" b="1">
                <a:solidFill>
                  <a:schemeClr val="bg2"/>
                </a:solidFill>
                <a:latin typeface="楷体_GB2312" pitchFamily="49" charset="-122"/>
                <a:ea typeface="楷体_GB2312" pitchFamily="49" charset="-122"/>
              </a:rPr>
              <a:t>45</a:t>
            </a:r>
            <a:r>
              <a:rPr lang="zh-CN" altLang="en-US" b="1">
                <a:solidFill>
                  <a:schemeClr val="bg2"/>
                </a:solidFill>
                <a:latin typeface="楷体_GB2312" pitchFamily="49" charset="-122"/>
                <a:ea typeface="楷体_GB2312" pitchFamily="49" charset="-122"/>
              </a:rPr>
              <a:t>岁时因发现该原理获诺贝尔奖。</a:t>
            </a:r>
          </a:p>
        </p:txBody>
      </p:sp>
      <p:sp>
        <p:nvSpPr>
          <p:cNvPr id="224270" name="Text Box 14"/>
          <p:cNvSpPr txBox="1">
            <a:spLocks noChangeArrowheads="1"/>
          </p:cNvSpPr>
          <p:nvPr/>
        </p:nvSpPr>
        <p:spPr bwMode="auto">
          <a:xfrm>
            <a:off x="476250" y="5211763"/>
            <a:ext cx="8505825" cy="1187450"/>
          </a:xfrm>
          <a:prstGeom prst="rect">
            <a:avLst/>
          </a:prstGeom>
          <a:noFill/>
          <a:ln w="9525">
            <a:noFill/>
            <a:miter lim="800000"/>
            <a:headEnd/>
            <a:tailEnd/>
          </a:ln>
          <a:effectLst/>
        </p:spPr>
        <p:txBody>
          <a:bodyPr>
            <a:spAutoFit/>
          </a:bodyPr>
          <a:lstStyle/>
          <a:p>
            <a:pPr>
              <a:spcBef>
                <a:spcPct val="50000"/>
              </a:spcBef>
            </a:pPr>
            <a:r>
              <a:rPr lang="en-US" altLang="zh-CN" b="1">
                <a:solidFill>
                  <a:schemeClr val="bg2"/>
                </a:solidFill>
              </a:rPr>
              <a:t>       </a:t>
            </a:r>
            <a:r>
              <a:rPr lang="en-US" altLang="zh-CN" b="1">
                <a:solidFill>
                  <a:srgbClr val="0000FF"/>
                </a:solidFill>
                <a:ea typeface="楷体_GB2312" pitchFamily="49" charset="-122"/>
              </a:rPr>
              <a:t>“</a:t>
            </a:r>
            <a:r>
              <a:rPr lang="zh-CN" altLang="en-US" b="1">
                <a:solidFill>
                  <a:srgbClr val="0000FF"/>
                </a:solidFill>
                <a:latin typeface="楷体_GB2312" pitchFamily="49" charset="-122"/>
                <a:ea typeface="楷体_GB2312" pitchFamily="49" charset="-122"/>
              </a:rPr>
              <a:t>泡利效应</a:t>
            </a:r>
            <a:r>
              <a:rPr lang="zh-CN" altLang="en-US" b="1">
                <a:solidFill>
                  <a:srgbClr val="0000FF"/>
                </a:solidFill>
                <a:ea typeface="楷体_GB2312" pitchFamily="49" charset="-122"/>
              </a:rPr>
              <a:t>”</a:t>
            </a:r>
            <a:r>
              <a:rPr lang="zh-CN" altLang="en-US" b="1">
                <a:solidFill>
                  <a:schemeClr val="bg2"/>
                </a:solidFill>
                <a:latin typeface="楷体_GB2312" pitchFamily="49" charset="-122"/>
                <a:ea typeface="楷体_GB2312" pitchFamily="49" charset="-122"/>
              </a:rPr>
              <a:t> </a:t>
            </a:r>
            <a:r>
              <a:rPr lang="en-US" altLang="zh-CN" b="1">
                <a:solidFill>
                  <a:schemeClr val="bg2"/>
                </a:solidFill>
                <a:ea typeface="楷体_GB2312" pitchFamily="49" charset="-122"/>
              </a:rPr>
              <a:t>——</a:t>
            </a:r>
            <a:r>
              <a:rPr lang="zh-CN" altLang="en-US" b="1">
                <a:solidFill>
                  <a:schemeClr val="bg2"/>
                </a:solidFill>
                <a:latin typeface="楷体_GB2312" pitchFamily="49" charset="-122"/>
                <a:ea typeface="楷体_GB2312" pitchFamily="49" charset="-122"/>
              </a:rPr>
              <a:t>当泡利在哪里出现时，那儿的人不管做理论推导还是实验操作一定会出岔子。而当泡利说：</a:t>
            </a:r>
            <a:r>
              <a:rPr lang="zh-CN" altLang="en-US" b="1">
                <a:solidFill>
                  <a:schemeClr val="bg2"/>
                </a:solidFill>
                <a:ea typeface="楷体_GB2312" pitchFamily="49" charset="-122"/>
              </a:rPr>
              <a:t>“</a:t>
            </a:r>
            <a:r>
              <a:rPr lang="zh-CN" altLang="en-US" b="1">
                <a:solidFill>
                  <a:schemeClr val="bg2"/>
                </a:solidFill>
                <a:latin typeface="楷体_GB2312" pitchFamily="49" charset="-122"/>
                <a:ea typeface="楷体_GB2312" pitchFamily="49" charset="-122"/>
              </a:rPr>
              <a:t>哦，这竟然没什么错</a:t>
            </a:r>
            <a:r>
              <a:rPr lang="zh-CN" altLang="en-US" b="1">
                <a:solidFill>
                  <a:schemeClr val="bg2"/>
                </a:solidFill>
                <a:ea typeface="楷体_GB2312" pitchFamily="49" charset="-122"/>
              </a:rPr>
              <a:t>”</a:t>
            </a:r>
            <a:r>
              <a:rPr lang="zh-CN" altLang="en-US" b="1">
                <a:solidFill>
                  <a:schemeClr val="bg2"/>
                </a:solidFill>
                <a:latin typeface="楷体_GB2312" pitchFamily="49" charset="-122"/>
                <a:ea typeface="楷体_GB2312" pitchFamily="49" charset="-122"/>
              </a:rPr>
              <a:t>时，通常表示一种非常高的赞许。</a:t>
            </a:r>
            <a:endParaRPr lang="zh-CN" altLang="en-US">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24271"/>
                                        </p:tgtEl>
                                        <p:attrNameLst>
                                          <p:attrName>style.visibility</p:attrName>
                                        </p:attrNameLst>
                                      </p:cBhvr>
                                      <p:to>
                                        <p:strVal val="visible"/>
                                      </p:to>
                                    </p:set>
                                    <p:animEffect transition="in" filter="box(out)">
                                      <p:cBhvr>
                                        <p:cTn id="7" dur="500"/>
                                        <p:tgtEl>
                                          <p:spTgt spid="2242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4269"/>
                                        </p:tgtEl>
                                        <p:attrNameLst>
                                          <p:attrName>style.visibility</p:attrName>
                                        </p:attrNameLst>
                                      </p:cBhvr>
                                      <p:to>
                                        <p:strVal val="visible"/>
                                      </p:to>
                                    </p:set>
                                    <p:animEffect transition="in" filter="wipe(left)">
                                      <p:cBhvr>
                                        <p:cTn id="12" dur="500"/>
                                        <p:tgtEl>
                                          <p:spTgt spid="2242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4268"/>
                                        </p:tgtEl>
                                        <p:attrNameLst>
                                          <p:attrName>style.visibility</p:attrName>
                                        </p:attrNameLst>
                                      </p:cBhvr>
                                      <p:to>
                                        <p:strVal val="visible"/>
                                      </p:to>
                                    </p:set>
                                    <p:animEffect transition="in" filter="wipe(left)">
                                      <p:cBhvr>
                                        <p:cTn id="17" dur="500"/>
                                        <p:tgtEl>
                                          <p:spTgt spid="2242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4270"/>
                                        </p:tgtEl>
                                        <p:attrNameLst>
                                          <p:attrName>style.visibility</p:attrName>
                                        </p:attrNameLst>
                                      </p:cBhvr>
                                      <p:to>
                                        <p:strVal val="visible"/>
                                      </p:to>
                                    </p:set>
                                    <p:animEffect transition="in" filter="wipe(left)">
                                      <p:cBhvr>
                                        <p:cTn id="22" dur="500"/>
                                        <p:tgtEl>
                                          <p:spTgt spid="224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8" grpId="0"/>
      <p:bldP spid="224269" grpId="0"/>
      <p:bldP spid="224270" grpId="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ChangeArrowheads="1"/>
          </p:cNvSpPr>
          <p:nvPr/>
        </p:nvSpPr>
        <p:spPr bwMode="auto">
          <a:xfrm>
            <a:off x="476250" y="2438400"/>
            <a:ext cx="8359775" cy="530225"/>
          </a:xfrm>
          <a:prstGeom prst="rect">
            <a:avLst/>
          </a:prstGeom>
          <a:noFill/>
          <a:ln w="9525">
            <a:noFill/>
            <a:miter lim="800000"/>
            <a:headEnd/>
            <a:tailEnd/>
          </a:ln>
          <a:effectLst/>
        </p:spPr>
        <p:txBody>
          <a:bodyPr>
            <a:spAutoFit/>
          </a:bodyPr>
          <a:lstStyle/>
          <a:p>
            <a:pPr>
              <a:lnSpc>
                <a:spcPct val="120000"/>
              </a:lnSpc>
            </a:pPr>
            <a:r>
              <a:rPr lang="zh-CN" altLang="en-US" b="1">
                <a:solidFill>
                  <a:schemeClr val="bg1"/>
                </a:solidFill>
                <a:latin typeface="楷体_GB2312" pitchFamily="49" charset="-122"/>
                <a:ea typeface="楷体_GB2312" pitchFamily="49" charset="-122"/>
              </a:rPr>
              <a:t>原子处于正常状态时，每个电子都趋向占据可能的最低能级 </a:t>
            </a:r>
          </a:p>
        </p:txBody>
      </p:sp>
      <p:sp>
        <p:nvSpPr>
          <p:cNvPr id="154627" name="Rectangle 3"/>
          <p:cNvSpPr>
            <a:spLocks noChangeArrowheads="1"/>
          </p:cNvSpPr>
          <p:nvPr/>
        </p:nvSpPr>
        <p:spPr bwMode="auto">
          <a:xfrm>
            <a:off x="161925" y="1898650"/>
            <a:ext cx="4781550" cy="519113"/>
          </a:xfrm>
          <a:prstGeom prst="rect">
            <a:avLst/>
          </a:prstGeom>
          <a:noFill/>
          <a:ln w="9525">
            <a:noFill/>
            <a:miter lim="800000"/>
            <a:headEnd/>
            <a:tailEnd/>
          </a:ln>
          <a:effectLst/>
        </p:spPr>
        <p:txBody>
          <a:bodyPr>
            <a:spAutoFit/>
          </a:bodyPr>
          <a:lstStyle/>
          <a:p>
            <a:r>
              <a:rPr lang="en-US" altLang="zh-CN" b="1" dirty="0" smtClean="0">
                <a:solidFill>
                  <a:srgbClr val="0000FF"/>
                </a:solidFill>
              </a:rPr>
              <a:t>13.7.2 </a:t>
            </a:r>
            <a:r>
              <a:rPr lang="zh-CN" altLang="en-US" b="1" dirty="0" smtClean="0">
                <a:solidFill>
                  <a:srgbClr val="0000FF"/>
                </a:solidFill>
                <a:latin typeface="宋体" charset="-122"/>
              </a:rPr>
              <a:t>能量</a:t>
            </a:r>
            <a:r>
              <a:rPr lang="zh-CN" altLang="en-US" b="1" dirty="0">
                <a:solidFill>
                  <a:srgbClr val="0000FF"/>
                </a:solidFill>
                <a:latin typeface="宋体" charset="-122"/>
              </a:rPr>
              <a:t>最小原理</a:t>
            </a:r>
            <a:r>
              <a:rPr lang="zh-CN" altLang="en-US" sz="2800" dirty="0">
                <a:solidFill>
                  <a:srgbClr val="0000FF"/>
                </a:solidFill>
                <a:latin typeface="宋体" charset="-122"/>
              </a:rPr>
              <a:t> </a:t>
            </a:r>
          </a:p>
        </p:txBody>
      </p:sp>
      <p:sp>
        <p:nvSpPr>
          <p:cNvPr id="154628" name="Text Box 4"/>
          <p:cNvSpPr txBox="1">
            <a:spLocks noChangeArrowheads="1"/>
          </p:cNvSpPr>
          <p:nvPr/>
        </p:nvSpPr>
        <p:spPr bwMode="auto">
          <a:xfrm>
            <a:off x="3976688" y="3384550"/>
            <a:ext cx="1630362" cy="466725"/>
          </a:xfrm>
          <a:prstGeom prst="rect">
            <a:avLst/>
          </a:prstGeom>
          <a:solidFill>
            <a:srgbClr val="CCFFFF"/>
          </a:solidFill>
          <a:ln w="9525">
            <a:solidFill>
              <a:srgbClr val="00FFFF"/>
            </a:solidFill>
            <a:miter lim="800000"/>
            <a:headEnd/>
            <a:tailEnd/>
          </a:ln>
          <a:effectLst/>
        </p:spPr>
        <p:txBody>
          <a:bodyPr>
            <a:spAutoFit/>
          </a:bodyPr>
          <a:lstStyle/>
          <a:p>
            <a:pPr algn="ctr"/>
            <a:r>
              <a:rPr lang="zh-CN" altLang="en-US" b="1">
                <a:solidFill>
                  <a:schemeClr val="bg1"/>
                </a:solidFill>
                <a:ea typeface="楷体_GB2312" pitchFamily="49" charset="-122"/>
              </a:rPr>
              <a:t>能级高低</a:t>
            </a:r>
          </a:p>
        </p:txBody>
      </p:sp>
      <p:grpSp>
        <p:nvGrpSpPr>
          <p:cNvPr id="154629" name="Group 5"/>
          <p:cNvGrpSpPr>
            <a:grpSpLocks/>
          </p:cNvGrpSpPr>
          <p:nvPr/>
        </p:nvGrpSpPr>
        <p:grpSpPr bwMode="auto">
          <a:xfrm>
            <a:off x="901700" y="3159125"/>
            <a:ext cx="2889250" cy="687388"/>
            <a:chOff x="428" y="3491"/>
            <a:chExt cx="1820" cy="433"/>
          </a:xfrm>
        </p:grpSpPr>
        <p:sp>
          <p:nvSpPr>
            <p:cNvPr id="67598" name="Text Box 6"/>
            <p:cNvSpPr txBox="1">
              <a:spLocks noChangeArrowheads="1"/>
            </p:cNvSpPr>
            <p:nvPr/>
          </p:nvSpPr>
          <p:spPr bwMode="auto">
            <a:xfrm>
              <a:off x="428" y="3630"/>
              <a:ext cx="1059" cy="294"/>
            </a:xfrm>
            <a:prstGeom prst="rect">
              <a:avLst/>
            </a:prstGeom>
            <a:solidFill>
              <a:srgbClr val="CCFFFF"/>
            </a:solidFill>
            <a:ln w="9525">
              <a:solidFill>
                <a:srgbClr val="00FFFF"/>
              </a:solidFill>
              <a:miter lim="800000"/>
              <a:headEnd/>
              <a:tailEnd/>
            </a:ln>
            <a:effectLst/>
          </p:spPr>
          <p:txBody>
            <a:bodyPr>
              <a:spAutoFit/>
            </a:bodyPr>
            <a:lstStyle/>
            <a:p>
              <a:pPr algn="ctr"/>
              <a:r>
                <a:rPr lang="zh-CN" altLang="en-US" b="1">
                  <a:solidFill>
                    <a:schemeClr val="bg1"/>
                  </a:solidFill>
                  <a:ea typeface="楷体_GB2312" pitchFamily="49" charset="-122"/>
                </a:rPr>
                <a:t>主量子数</a:t>
              </a:r>
              <a:r>
                <a:rPr lang="zh-CN" altLang="en-US" b="1">
                  <a:solidFill>
                    <a:schemeClr val="bg1"/>
                  </a:solidFill>
                </a:rPr>
                <a:t> </a:t>
              </a:r>
              <a:r>
                <a:rPr lang="en-US" altLang="zh-CN" b="1" i="1">
                  <a:solidFill>
                    <a:schemeClr val="accent2"/>
                  </a:solidFill>
                </a:rPr>
                <a:t>n</a:t>
              </a:r>
            </a:p>
          </p:txBody>
        </p:sp>
        <p:sp>
          <p:nvSpPr>
            <p:cNvPr id="67599" name="Line 7"/>
            <p:cNvSpPr>
              <a:spLocks noChangeShapeType="1"/>
            </p:cNvSpPr>
            <p:nvPr/>
          </p:nvSpPr>
          <p:spPr bwMode="auto">
            <a:xfrm>
              <a:off x="1630" y="3791"/>
              <a:ext cx="618" cy="0"/>
            </a:xfrm>
            <a:prstGeom prst="line">
              <a:avLst/>
            </a:prstGeom>
            <a:noFill/>
            <a:ln w="57150">
              <a:solidFill>
                <a:srgbClr val="0000FF"/>
              </a:solidFill>
              <a:round/>
              <a:headEnd/>
              <a:tailEnd type="triangle" w="med" len="med"/>
            </a:ln>
            <a:effectLst/>
          </p:spPr>
          <p:txBody>
            <a:bodyPr/>
            <a:lstStyle/>
            <a:p>
              <a:endParaRPr lang="zh-CN" altLang="en-US"/>
            </a:p>
          </p:txBody>
        </p:sp>
        <p:sp>
          <p:nvSpPr>
            <p:cNvPr id="67600" name="Text Box 8"/>
            <p:cNvSpPr txBox="1">
              <a:spLocks noChangeArrowheads="1"/>
            </p:cNvSpPr>
            <p:nvPr/>
          </p:nvSpPr>
          <p:spPr bwMode="auto">
            <a:xfrm>
              <a:off x="1656" y="3491"/>
              <a:ext cx="500" cy="288"/>
            </a:xfrm>
            <a:prstGeom prst="rect">
              <a:avLst/>
            </a:prstGeom>
            <a:noFill/>
            <a:ln w="9525">
              <a:noFill/>
              <a:miter lim="800000"/>
              <a:headEnd/>
              <a:tailEnd/>
            </a:ln>
            <a:effectLst/>
          </p:spPr>
          <p:txBody>
            <a:bodyPr wrap="none">
              <a:spAutoFit/>
            </a:bodyPr>
            <a:lstStyle/>
            <a:p>
              <a:pPr algn="ctr"/>
              <a:r>
                <a:rPr lang="zh-CN" altLang="en-US" b="1">
                  <a:solidFill>
                    <a:schemeClr val="tx2"/>
                  </a:solidFill>
                  <a:ea typeface="楷体_GB2312" pitchFamily="49" charset="-122"/>
                </a:rPr>
                <a:t>决定</a:t>
              </a:r>
            </a:p>
          </p:txBody>
        </p:sp>
      </p:grpSp>
      <p:grpSp>
        <p:nvGrpSpPr>
          <p:cNvPr id="154633" name="Group 9"/>
          <p:cNvGrpSpPr>
            <a:grpSpLocks/>
          </p:cNvGrpSpPr>
          <p:nvPr/>
        </p:nvGrpSpPr>
        <p:grpSpPr bwMode="auto">
          <a:xfrm>
            <a:off x="5695950" y="3159125"/>
            <a:ext cx="2862263" cy="688975"/>
            <a:chOff x="3448" y="3490"/>
            <a:chExt cx="1803" cy="434"/>
          </a:xfrm>
        </p:grpSpPr>
        <p:sp>
          <p:nvSpPr>
            <p:cNvPr id="67595" name="Text Box 10"/>
            <p:cNvSpPr txBox="1">
              <a:spLocks noChangeArrowheads="1"/>
            </p:cNvSpPr>
            <p:nvPr/>
          </p:nvSpPr>
          <p:spPr bwMode="auto">
            <a:xfrm>
              <a:off x="4233" y="3630"/>
              <a:ext cx="1018" cy="294"/>
            </a:xfrm>
            <a:prstGeom prst="rect">
              <a:avLst/>
            </a:prstGeom>
            <a:solidFill>
              <a:srgbClr val="CCFFFF"/>
            </a:solidFill>
            <a:ln w="9525">
              <a:solidFill>
                <a:srgbClr val="00FFFF"/>
              </a:solidFill>
              <a:miter lim="800000"/>
              <a:headEnd/>
              <a:tailEnd/>
            </a:ln>
            <a:effectLst/>
          </p:spPr>
          <p:txBody>
            <a:bodyPr>
              <a:spAutoFit/>
            </a:bodyPr>
            <a:lstStyle/>
            <a:p>
              <a:pPr algn="ctr"/>
              <a:r>
                <a:rPr lang="zh-CN" altLang="en-US" b="1">
                  <a:solidFill>
                    <a:schemeClr val="bg1"/>
                  </a:solidFill>
                  <a:ea typeface="楷体_GB2312" pitchFamily="49" charset="-122"/>
                </a:rPr>
                <a:t>角量子数</a:t>
              </a:r>
              <a:r>
                <a:rPr lang="zh-CN" altLang="en-US" b="1">
                  <a:solidFill>
                    <a:srgbClr val="99FFCC"/>
                  </a:solidFill>
                </a:rPr>
                <a:t> </a:t>
              </a:r>
              <a:r>
                <a:rPr lang="en-US" altLang="zh-CN" b="1" i="1">
                  <a:solidFill>
                    <a:srgbClr val="FF6600"/>
                  </a:solidFill>
                </a:rPr>
                <a:t>l</a:t>
              </a:r>
            </a:p>
          </p:txBody>
        </p:sp>
        <p:sp>
          <p:nvSpPr>
            <p:cNvPr id="67596" name="Line 11"/>
            <p:cNvSpPr>
              <a:spLocks noChangeShapeType="1"/>
            </p:cNvSpPr>
            <p:nvPr/>
          </p:nvSpPr>
          <p:spPr bwMode="auto">
            <a:xfrm>
              <a:off x="3448" y="3791"/>
              <a:ext cx="618" cy="0"/>
            </a:xfrm>
            <a:prstGeom prst="line">
              <a:avLst/>
            </a:prstGeom>
            <a:noFill/>
            <a:ln w="57150">
              <a:solidFill>
                <a:srgbClr val="0000FF"/>
              </a:solidFill>
              <a:round/>
              <a:headEnd type="triangle" w="med" len="med"/>
              <a:tailEnd/>
            </a:ln>
            <a:effectLst/>
          </p:spPr>
          <p:txBody>
            <a:bodyPr/>
            <a:lstStyle/>
            <a:p>
              <a:endParaRPr lang="zh-CN" altLang="en-US"/>
            </a:p>
          </p:txBody>
        </p:sp>
        <p:sp>
          <p:nvSpPr>
            <p:cNvPr id="67597" name="Text Box 12"/>
            <p:cNvSpPr txBox="1">
              <a:spLocks noChangeArrowheads="1"/>
            </p:cNvSpPr>
            <p:nvPr/>
          </p:nvSpPr>
          <p:spPr bwMode="auto">
            <a:xfrm>
              <a:off x="3535" y="3490"/>
              <a:ext cx="500" cy="288"/>
            </a:xfrm>
            <a:prstGeom prst="rect">
              <a:avLst/>
            </a:prstGeom>
            <a:noFill/>
            <a:ln w="9525">
              <a:noFill/>
              <a:miter lim="800000"/>
              <a:headEnd/>
              <a:tailEnd/>
            </a:ln>
            <a:effectLst/>
          </p:spPr>
          <p:txBody>
            <a:bodyPr wrap="none">
              <a:spAutoFit/>
            </a:bodyPr>
            <a:lstStyle/>
            <a:p>
              <a:pPr algn="ctr"/>
              <a:r>
                <a:rPr lang="zh-CN" altLang="en-US" b="1">
                  <a:solidFill>
                    <a:schemeClr val="tx2"/>
                  </a:solidFill>
                  <a:ea typeface="楷体_GB2312" pitchFamily="49" charset="-122"/>
                </a:rPr>
                <a:t>影响</a:t>
              </a:r>
            </a:p>
          </p:txBody>
        </p:sp>
      </p:grpSp>
      <p:sp>
        <p:nvSpPr>
          <p:cNvPr id="154640" name="Rectangle 16"/>
          <p:cNvSpPr>
            <a:spLocks noChangeArrowheads="1"/>
          </p:cNvSpPr>
          <p:nvPr/>
        </p:nvSpPr>
        <p:spPr bwMode="auto">
          <a:xfrm>
            <a:off x="206375" y="4100513"/>
            <a:ext cx="8686800" cy="1354137"/>
          </a:xfrm>
          <a:prstGeom prst="rect">
            <a:avLst/>
          </a:prstGeom>
          <a:noFill/>
          <a:ln w="9525">
            <a:noFill/>
            <a:miter lim="800000"/>
            <a:headEnd/>
            <a:tailEnd/>
          </a:ln>
          <a:effectLst/>
        </p:spPr>
        <p:txBody>
          <a:bodyPr>
            <a:spAutoFit/>
          </a:bodyPr>
          <a:lstStyle/>
          <a:p>
            <a:pPr>
              <a:lnSpc>
                <a:spcPct val="115000"/>
              </a:lnSpc>
            </a:pPr>
            <a:r>
              <a:rPr lang="en-US" altLang="zh-CN" b="1">
                <a:solidFill>
                  <a:schemeClr val="bg1"/>
                </a:solidFill>
                <a:latin typeface="楷体_GB2312" pitchFamily="49" charset="-122"/>
                <a:ea typeface="楷体_GB2312" pitchFamily="49" charset="-122"/>
              </a:rPr>
              <a:t>    </a:t>
            </a:r>
            <a:r>
              <a:rPr lang="zh-CN" altLang="en-US" b="1">
                <a:solidFill>
                  <a:schemeClr val="bg1"/>
                </a:solidFill>
                <a:latin typeface="楷体_GB2312" pitchFamily="49" charset="-122"/>
                <a:ea typeface="楷体_GB2312" pitchFamily="49" charset="-122"/>
              </a:rPr>
              <a:t>所以在多电子原子中，电子的能量和量子数</a:t>
            </a:r>
            <a:r>
              <a:rPr lang="en-US" altLang="zh-CN" b="1" i="1">
                <a:solidFill>
                  <a:srgbClr val="FF6600"/>
                </a:solidFill>
                <a:ea typeface="楷体_GB2312" pitchFamily="49" charset="-122"/>
              </a:rPr>
              <a:t>n </a:t>
            </a:r>
            <a:r>
              <a:rPr lang="zh-CN" altLang="en-US" b="1">
                <a:solidFill>
                  <a:schemeClr val="bg1"/>
                </a:solidFill>
                <a:ea typeface="楷体_GB2312" pitchFamily="49" charset="-122"/>
              </a:rPr>
              <a:t>、</a:t>
            </a:r>
            <a:r>
              <a:rPr lang="en-US" altLang="zh-CN" b="1" i="1">
                <a:solidFill>
                  <a:srgbClr val="FF6600"/>
                </a:solidFill>
                <a:ea typeface="楷体_GB2312" pitchFamily="49" charset="-122"/>
              </a:rPr>
              <a:t>l </a:t>
            </a:r>
            <a:r>
              <a:rPr lang="zh-CN" altLang="en-US" b="1">
                <a:solidFill>
                  <a:schemeClr val="bg1"/>
                </a:solidFill>
                <a:latin typeface="楷体_GB2312" pitchFamily="49" charset="-122"/>
                <a:ea typeface="楷体_GB2312" pitchFamily="49" charset="-122"/>
              </a:rPr>
              <a:t>有关，有时</a:t>
            </a:r>
            <a:r>
              <a:rPr lang="en-US" altLang="zh-CN" b="1" i="1">
                <a:solidFill>
                  <a:srgbClr val="FF6600"/>
                </a:solidFill>
                <a:ea typeface="楷体_GB2312" pitchFamily="49" charset="-122"/>
              </a:rPr>
              <a:t>n</a:t>
            </a:r>
            <a:r>
              <a:rPr lang="en-US" altLang="zh-CN" b="1" i="1">
                <a:solidFill>
                  <a:schemeClr val="bg1"/>
                </a:solidFill>
                <a:ea typeface="楷体_GB2312" pitchFamily="49" charset="-122"/>
              </a:rPr>
              <a:t> </a:t>
            </a:r>
            <a:r>
              <a:rPr lang="zh-CN" altLang="en-US" b="1">
                <a:solidFill>
                  <a:schemeClr val="bg1"/>
                </a:solidFill>
                <a:latin typeface="楷体_GB2312" pitchFamily="49" charset="-122"/>
                <a:ea typeface="楷体_GB2312" pitchFamily="49" charset="-122"/>
              </a:rPr>
              <a:t>较小的壳层中电子尚未填满，下一壳层上就开始有电子填入了。有一条经验规律：</a:t>
            </a:r>
          </a:p>
        </p:txBody>
      </p:sp>
      <p:sp>
        <p:nvSpPr>
          <p:cNvPr id="154641" name="Rectangle 17"/>
          <p:cNvSpPr>
            <a:spLocks noChangeArrowheads="1"/>
          </p:cNvSpPr>
          <p:nvPr/>
        </p:nvSpPr>
        <p:spPr bwMode="auto">
          <a:xfrm>
            <a:off x="206375" y="5465763"/>
            <a:ext cx="8596313" cy="933450"/>
          </a:xfrm>
          <a:prstGeom prst="rect">
            <a:avLst/>
          </a:prstGeom>
          <a:noFill/>
          <a:ln w="9525">
            <a:noFill/>
            <a:miter lim="800000"/>
            <a:headEnd/>
            <a:tailEnd/>
          </a:ln>
          <a:effectLst/>
        </p:spPr>
        <p:txBody>
          <a:bodyPr>
            <a:spAutoFit/>
          </a:bodyPr>
          <a:lstStyle/>
          <a:p>
            <a:pPr>
              <a:lnSpc>
                <a:spcPct val="115000"/>
              </a:lnSpc>
            </a:pPr>
            <a:r>
              <a:rPr lang="en-US" altLang="zh-CN" b="1">
                <a:solidFill>
                  <a:schemeClr val="bg1"/>
                </a:solidFill>
                <a:latin typeface="楷体_GB2312" pitchFamily="49" charset="-122"/>
                <a:ea typeface="楷体_GB2312" pitchFamily="49" charset="-122"/>
              </a:rPr>
              <a:t>    </a:t>
            </a:r>
            <a:r>
              <a:rPr lang="zh-CN" altLang="en-US" b="1">
                <a:solidFill>
                  <a:srgbClr val="FF6600"/>
                </a:solidFill>
                <a:latin typeface="楷体_GB2312" pitchFamily="49" charset="-122"/>
                <a:ea typeface="楷体_GB2312" pitchFamily="49" charset="-122"/>
              </a:rPr>
              <a:t>原子外层电子的能级高低可以用 </a:t>
            </a:r>
            <a:r>
              <a:rPr lang="en-US" altLang="zh-CN" b="1">
                <a:solidFill>
                  <a:srgbClr val="0000FF"/>
                </a:solidFill>
                <a:ea typeface="楷体_GB2312" pitchFamily="49" charset="-122"/>
              </a:rPr>
              <a:t>(</a:t>
            </a:r>
            <a:r>
              <a:rPr lang="en-US" altLang="zh-CN" b="1" i="1">
                <a:solidFill>
                  <a:srgbClr val="0000FF"/>
                </a:solidFill>
                <a:ea typeface="楷体_GB2312" pitchFamily="49" charset="-122"/>
              </a:rPr>
              <a:t>n +</a:t>
            </a:r>
            <a:r>
              <a:rPr lang="en-US" altLang="zh-CN" b="1">
                <a:solidFill>
                  <a:srgbClr val="0000FF"/>
                </a:solidFill>
                <a:ea typeface="楷体_GB2312" pitchFamily="49" charset="-122"/>
              </a:rPr>
              <a:t>0.7</a:t>
            </a:r>
            <a:r>
              <a:rPr lang="en-US" altLang="zh-CN" b="1" i="1">
                <a:solidFill>
                  <a:srgbClr val="0000FF"/>
                </a:solidFill>
                <a:ea typeface="楷体_GB2312" pitchFamily="49" charset="-122"/>
              </a:rPr>
              <a:t>l </a:t>
            </a:r>
            <a:r>
              <a:rPr lang="en-US" altLang="zh-CN" b="1">
                <a:solidFill>
                  <a:srgbClr val="0000FF"/>
                </a:solidFill>
                <a:ea typeface="楷体_GB2312" pitchFamily="49" charset="-122"/>
              </a:rPr>
              <a:t>)</a:t>
            </a:r>
            <a:r>
              <a:rPr lang="en-US" altLang="zh-CN" b="1">
                <a:solidFill>
                  <a:srgbClr val="FF6600"/>
                </a:solidFill>
                <a:latin typeface="楷体_GB2312" pitchFamily="49" charset="-122"/>
                <a:ea typeface="楷体_GB2312" pitchFamily="49" charset="-122"/>
              </a:rPr>
              <a:t> </a:t>
            </a:r>
            <a:r>
              <a:rPr lang="zh-CN" altLang="en-US" b="1">
                <a:solidFill>
                  <a:srgbClr val="FF6600"/>
                </a:solidFill>
                <a:latin typeface="楷体_GB2312" pitchFamily="49" charset="-122"/>
                <a:ea typeface="楷体_GB2312" pitchFamily="49" charset="-122"/>
              </a:rPr>
              <a:t>值的大小来比较，该值越大，能级越高。</a:t>
            </a:r>
          </a:p>
        </p:txBody>
      </p:sp>
      <p:sp>
        <p:nvSpPr>
          <p:cNvPr id="154642" name="Rectangle 18"/>
          <p:cNvSpPr>
            <a:spLocks noChangeArrowheads="1"/>
          </p:cNvSpPr>
          <p:nvPr/>
        </p:nvSpPr>
        <p:spPr bwMode="auto">
          <a:xfrm>
            <a:off x="115888" y="458788"/>
            <a:ext cx="6383337" cy="457200"/>
          </a:xfrm>
          <a:prstGeom prst="rect">
            <a:avLst/>
          </a:prstGeom>
          <a:noFill/>
          <a:ln w="9525">
            <a:noFill/>
            <a:miter lim="800000"/>
            <a:headEnd/>
            <a:tailEnd/>
          </a:ln>
          <a:effectLst/>
        </p:spPr>
        <p:txBody>
          <a:bodyPr>
            <a:spAutoFit/>
          </a:bodyPr>
          <a:lstStyle/>
          <a:p>
            <a:pPr algn="just"/>
            <a:r>
              <a:rPr lang="en-US" altLang="zh-CN" b="1" dirty="0" smtClean="0">
                <a:solidFill>
                  <a:srgbClr val="0000FF"/>
                </a:solidFill>
              </a:rPr>
              <a:t>13.7.1 </a:t>
            </a:r>
            <a:r>
              <a:rPr lang="zh-CN" altLang="en-US" b="1" dirty="0" smtClean="0">
                <a:solidFill>
                  <a:srgbClr val="0000FF"/>
                </a:solidFill>
                <a:latin typeface="宋体" charset="-122"/>
              </a:rPr>
              <a:t>泡利不相容原理 </a:t>
            </a:r>
            <a:r>
              <a:rPr lang="en-US" altLang="zh-CN" b="1" dirty="0">
                <a:solidFill>
                  <a:schemeClr val="bg1"/>
                </a:solidFill>
              </a:rPr>
              <a:t>(1925</a:t>
            </a:r>
            <a:r>
              <a:rPr lang="zh-CN" altLang="en-US" b="1" dirty="0">
                <a:solidFill>
                  <a:schemeClr val="bg1"/>
                </a:solidFill>
              </a:rPr>
              <a:t>年</a:t>
            </a:r>
            <a:r>
              <a:rPr lang="en-US" altLang="zh-CN" b="1" dirty="0">
                <a:solidFill>
                  <a:schemeClr val="bg1"/>
                </a:solidFill>
              </a:rPr>
              <a:t>)</a:t>
            </a:r>
          </a:p>
        </p:txBody>
      </p:sp>
      <p:sp>
        <p:nvSpPr>
          <p:cNvPr id="154643" name="Rectangle 19"/>
          <p:cNvSpPr>
            <a:spLocks noChangeArrowheads="1"/>
          </p:cNvSpPr>
          <p:nvPr/>
        </p:nvSpPr>
        <p:spPr bwMode="auto">
          <a:xfrm>
            <a:off x="115888" y="908050"/>
            <a:ext cx="8461375" cy="933450"/>
          </a:xfrm>
          <a:prstGeom prst="rect">
            <a:avLst/>
          </a:prstGeom>
          <a:noFill/>
          <a:ln w="9525">
            <a:noFill/>
            <a:miter lim="800000"/>
            <a:headEnd/>
            <a:tailEnd/>
          </a:ln>
          <a:effectLst/>
        </p:spPr>
        <p:txBody>
          <a:bodyPr>
            <a:spAutoFit/>
          </a:bodyPr>
          <a:lstStyle/>
          <a:p>
            <a:pPr>
              <a:lnSpc>
                <a:spcPct val="115000"/>
              </a:lnSpc>
            </a:pPr>
            <a:r>
              <a:rPr lang="en-US" altLang="zh-CN" b="1">
                <a:solidFill>
                  <a:schemeClr val="bg1"/>
                </a:solidFill>
                <a:latin typeface="楷体_GB2312" pitchFamily="49" charset="-122"/>
                <a:ea typeface="楷体_GB2312" pitchFamily="49" charset="-122"/>
              </a:rPr>
              <a:t>    </a:t>
            </a:r>
            <a:r>
              <a:rPr lang="zh-CN" altLang="en-US" b="1">
                <a:solidFill>
                  <a:schemeClr val="bg1"/>
                </a:solidFill>
                <a:latin typeface="楷体_GB2312" pitchFamily="49" charset="-122"/>
                <a:ea typeface="楷体_GB2312" pitchFamily="49" charset="-122"/>
              </a:rPr>
              <a:t>在一个原子中</a:t>
            </a:r>
            <a:r>
              <a:rPr lang="en-US" altLang="zh-CN" b="1">
                <a:solidFill>
                  <a:schemeClr val="bg1"/>
                </a:solidFill>
                <a:latin typeface="楷体_GB2312" pitchFamily="49" charset="-122"/>
                <a:ea typeface="楷体_GB2312" pitchFamily="49" charset="-122"/>
              </a:rPr>
              <a:t>,</a:t>
            </a:r>
            <a:r>
              <a:rPr lang="zh-CN" altLang="en-US" b="1">
                <a:solidFill>
                  <a:schemeClr val="bg1"/>
                </a:solidFill>
                <a:latin typeface="楷体_GB2312" pitchFamily="49" charset="-122"/>
                <a:ea typeface="楷体_GB2312" pitchFamily="49" charset="-122"/>
              </a:rPr>
              <a:t>不能有两个或两个以上的电子处在完全相同的量子态 ，即它们不能具有一组完全相同的量子数</a:t>
            </a:r>
            <a:r>
              <a:rPr lang="zh-CN" altLang="en-US" b="1">
                <a:solidFill>
                  <a:schemeClr val="bg2"/>
                </a:solidFill>
              </a:rPr>
              <a:t>。</a:t>
            </a:r>
            <a:endParaRPr lang="zh-CN" altLang="en-US" b="1">
              <a:solidFill>
                <a:schemeClr val="bg2"/>
              </a:solidFill>
              <a:latin typeface="宋体" charset="-122"/>
            </a:endParaRPr>
          </a:p>
        </p:txBody>
      </p:sp>
    </p:spTree>
  </p:cSld>
  <p:clrMapOvr>
    <a:overrideClrMapping bg1="dk2" tx1="lt1" bg2="dk1" tx2="lt2" accent1="accent1" accent2="accent2" accent3="accent3" accent4="accent4" accent5="accent5" accent6="accent6" hlink="hlink" folHlink="folHlink"/>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4642"/>
                                        </p:tgtEl>
                                        <p:attrNameLst>
                                          <p:attrName>style.visibility</p:attrName>
                                        </p:attrNameLst>
                                      </p:cBhvr>
                                      <p:to>
                                        <p:strVal val="visible"/>
                                      </p:to>
                                    </p:set>
                                    <p:animEffect transition="in" filter="wipe(left)">
                                      <p:cBhvr>
                                        <p:cTn id="7" dur="500"/>
                                        <p:tgtEl>
                                          <p:spTgt spid="1546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4643"/>
                                        </p:tgtEl>
                                        <p:attrNameLst>
                                          <p:attrName>style.visibility</p:attrName>
                                        </p:attrNameLst>
                                      </p:cBhvr>
                                      <p:to>
                                        <p:strVal val="visible"/>
                                      </p:to>
                                    </p:set>
                                    <p:animEffect transition="in" filter="wipe(left)">
                                      <p:cBhvr>
                                        <p:cTn id="12" dur="500"/>
                                        <p:tgtEl>
                                          <p:spTgt spid="1546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4627"/>
                                        </p:tgtEl>
                                        <p:attrNameLst>
                                          <p:attrName>style.visibility</p:attrName>
                                        </p:attrNameLst>
                                      </p:cBhvr>
                                      <p:to>
                                        <p:strVal val="visible"/>
                                      </p:to>
                                    </p:set>
                                    <p:animEffect transition="in" filter="wipe(left)">
                                      <p:cBhvr>
                                        <p:cTn id="17" dur="500"/>
                                        <p:tgtEl>
                                          <p:spTgt spid="1546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4626"/>
                                        </p:tgtEl>
                                        <p:attrNameLst>
                                          <p:attrName>style.visibility</p:attrName>
                                        </p:attrNameLst>
                                      </p:cBhvr>
                                      <p:to>
                                        <p:strVal val="visible"/>
                                      </p:to>
                                    </p:set>
                                    <p:animEffect transition="in" filter="wipe(left)">
                                      <p:cBhvr>
                                        <p:cTn id="22" dur="500"/>
                                        <p:tgtEl>
                                          <p:spTgt spid="1546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9" presetClass="entr" presetSubtype="10" fill="hold" grpId="0" nodeType="clickEffect">
                                  <p:stCondLst>
                                    <p:cond delay="0"/>
                                  </p:stCondLst>
                                  <p:childTnLst>
                                    <p:set>
                                      <p:cBhvr>
                                        <p:cTn id="26" dur="1" fill="hold">
                                          <p:stCondLst>
                                            <p:cond delay="0"/>
                                          </p:stCondLst>
                                        </p:cTn>
                                        <p:tgtEl>
                                          <p:spTgt spid="154628"/>
                                        </p:tgtEl>
                                        <p:attrNameLst>
                                          <p:attrName>style.visibility</p:attrName>
                                        </p:attrNameLst>
                                      </p:cBhvr>
                                      <p:to>
                                        <p:strVal val="visible"/>
                                      </p:to>
                                    </p:set>
                                    <p:anim calcmode="lin" valueType="num">
                                      <p:cBhvr>
                                        <p:cTn id="27" dur="5000" fill="hold"/>
                                        <p:tgtEl>
                                          <p:spTgt spid="154628"/>
                                        </p:tgtEl>
                                        <p:attrNameLst>
                                          <p:attrName>ppt_w</p:attrName>
                                        </p:attrNameLst>
                                      </p:cBhvr>
                                      <p:tavLst>
                                        <p:tav tm="0" fmla="#ppt_w*sin(2.5*pi*$)">
                                          <p:val>
                                            <p:fltVal val="0"/>
                                          </p:val>
                                        </p:tav>
                                        <p:tav tm="100000">
                                          <p:val>
                                            <p:fltVal val="1"/>
                                          </p:val>
                                        </p:tav>
                                      </p:tavLst>
                                    </p:anim>
                                    <p:anim calcmode="lin" valueType="num">
                                      <p:cBhvr>
                                        <p:cTn id="28" dur="5000" fill="hold"/>
                                        <p:tgtEl>
                                          <p:spTgt spid="154628"/>
                                        </p:tgtEl>
                                        <p:attrNameLst>
                                          <p:attrName>ppt_h</p:attrName>
                                        </p:attrNameLst>
                                      </p:cBhvr>
                                      <p:tavLst>
                                        <p:tav tm="0">
                                          <p:val>
                                            <p:strVal val="#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8" fill="hold" nodeType="clickEffect">
                                  <p:stCondLst>
                                    <p:cond delay="0"/>
                                  </p:stCondLst>
                                  <p:childTnLst>
                                    <p:set>
                                      <p:cBhvr>
                                        <p:cTn id="32" dur="1" fill="hold">
                                          <p:stCondLst>
                                            <p:cond delay="0"/>
                                          </p:stCondLst>
                                        </p:cTn>
                                        <p:tgtEl>
                                          <p:spTgt spid="154629"/>
                                        </p:tgtEl>
                                        <p:attrNameLst>
                                          <p:attrName>style.visibility</p:attrName>
                                        </p:attrNameLst>
                                      </p:cBhvr>
                                      <p:to>
                                        <p:strVal val="visible"/>
                                      </p:to>
                                    </p:set>
                                    <p:animEffect transition="in" filter="slide(fromLeft)">
                                      <p:cBhvr>
                                        <p:cTn id="33" dur="500"/>
                                        <p:tgtEl>
                                          <p:spTgt spid="15462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2" fill="hold" nodeType="clickEffect">
                                  <p:stCondLst>
                                    <p:cond delay="0"/>
                                  </p:stCondLst>
                                  <p:childTnLst>
                                    <p:set>
                                      <p:cBhvr>
                                        <p:cTn id="37" dur="1" fill="hold">
                                          <p:stCondLst>
                                            <p:cond delay="0"/>
                                          </p:stCondLst>
                                        </p:cTn>
                                        <p:tgtEl>
                                          <p:spTgt spid="154633"/>
                                        </p:tgtEl>
                                        <p:attrNameLst>
                                          <p:attrName>style.visibility</p:attrName>
                                        </p:attrNameLst>
                                      </p:cBhvr>
                                      <p:to>
                                        <p:strVal val="visible"/>
                                      </p:to>
                                    </p:set>
                                    <p:animEffect transition="in" filter="slide(fromRight)">
                                      <p:cBhvr>
                                        <p:cTn id="38" dur="500"/>
                                        <p:tgtEl>
                                          <p:spTgt spid="15463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54640"/>
                                        </p:tgtEl>
                                        <p:attrNameLst>
                                          <p:attrName>style.visibility</p:attrName>
                                        </p:attrNameLst>
                                      </p:cBhvr>
                                      <p:to>
                                        <p:strVal val="visible"/>
                                      </p:to>
                                    </p:set>
                                    <p:animEffect transition="in" filter="wipe(left)">
                                      <p:cBhvr>
                                        <p:cTn id="43" dur="500"/>
                                        <p:tgtEl>
                                          <p:spTgt spid="15464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54641"/>
                                        </p:tgtEl>
                                        <p:attrNameLst>
                                          <p:attrName>style.visibility</p:attrName>
                                        </p:attrNameLst>
                                      </p:cBhvr>
                                      <p:to>
                                        <p:strVal val="visible"/>
                                      </p:to>
                                    </p:set>
                                    <p:animEffect transition="in" filter="wipe(left)">
                                      <p:cBhvr>
                                        <p:cTn id="48" dur="500"/>
                                        <p:tgtEl>
                                          <p:spTgt spid="1546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6" grpId="0" autoUpdateAnimBg="0"/>
      <p:bldP spid="154627" grpId="0" autoUpdateAnimBg="0"/>
      <p:bldP spid="154628" grpId="0" animBg="1" autoUpdateAnimBg="0"/>
      <p:bldP spid="154640" grpId="0" autoUpdateAnimBg="0"/>
      <p:bldP spid="154641" grpId="0" autoUpdateAnimBg="0"/>
      <p:bldP spid="154642" grpId="0"/>
      <p:bldP spid="154643"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4" name="Rectangle 2"/>
          <p:cNvSpPr>
            <a:spLocks noChangeArrowheads="1"/>
          </p:cNvSpPr>
          <p:nvPr/>
        </p:nvSpPr>
        <p:spPr bwMode="auto">
          <a:xfrm>
            <a:off x="206375" y="593725"/>
            <a:ext cx="5170488" cy="517065"/>
          </a:xfrm>
          <a:prstGeom prst="rect">
            <a:avLst/>
          </a:prstGeom>
          <a:noFill/>
          <a:ln w="9525">
            <a:noFill/>
            <a:miter lim="800000"/>
            <a:headEnd/>
            <a:tailEnd/>
          </a:ln>
          <a:effectLst/>
        </p:spPr>
        <p:txBody>
          <a:bodyPr>
            <a:spAutoFit/>
          </a:bodyPr>
          <a:lstStyle/>
          <a:p>
            <a:pPr algn="just">
              <a:lnSpc>
                <a:spcPct val="115000"/>
              </a:lnSpc>
            </a:pPr>
            <a:r>
              <a:rPr lang="en-US" altLang="zh-CN" b="1" dirty="0" smtClean="0">
                <a:solidFill>
                  <a:srgbClr val="0000FF"/>
                </a:solidFill>
              </a:rPr>
              <a:t>13.7.3 </a:t>
            </a:r>
            <a:r>
              <a:rPr lang="zh-CN" altLang="en-US" b="1" dirty="0" smtClean="0">
                <a:solidFill>
                  <a:srgbClr val="0000FF"/>
                </a:solidFill>
                <a:latin typeface="宋体" charset="-122"/>
              </a:rPr>
              <a:t>原子中电子按壳层的排布</a:t>
            </a:r>
            <a:endParaRPr lang="zh-CN" altLang="en-US" b="1" dirty="0">
              <a:solidFill>
                <a:srgbClr val="0000FF"/>
              </a:solidFill>
              <a:latin typeface="宋体" charset="-122"/>
            </a:endParaRPr>
          </a:p>
        </p:txBody>
      </p:sp>
      <p:sp>
        <p:nvSpPr>
          <p:cNvPr id="151556" name="Rectangle 4"/>
          <p:cNvSpPr>
            <a:spLocks noChangeArrowheads="1"/>
          </p:cNvSpPr>
          <p:nvPr/>
        </p:nvSpPr>
        <p:spPr bwMode="auto">
          <a:xfrm>
            <a:off x="342900" y="1101725"/>
            <a:ext cx="8545513" cy="1354138"/>
          </a:xfrm>
          <a:prstGeom prst="rect">
            <a:avLst/>
          </a:prstGeom>
          <a:noFill/>
          <a:ln w="9525">
            <a:noFill/>
            <a:miter lim="800000"/>
            <a:headEnd/>
            <a:tailEnd/>
          </a:ln>
          <a:effectLst/>
        </p:spPr>
        <p:txBody>
          <a:bodyPr>
            <a:spAutoFit/>
          </a:bodyPr>
          <a:lstStyle/>
          <a:p>
            <a:pPr>
              <a:lnSpc>
                <a:spcPct val="115000"/>
              </a:lnSpc>
            </a:pPr>
            <a:r>
              <a:rPr lang="en-US" altLang="zh-CN" b="1">
                <a:solidFill>
                  <a:schemeClr val="bg1"/>
                </a:solidFill>
                <a:ea typeface="楷体_GB2312" pitchFamily="49" charset="-122"/>
              </a:rPr>
              <a:t>        </a:t>
            </a:r>
            <a:r>
              <a:rPr lang="zh-CN" altLang="en-US" b="1">
                <a:solidFill>
                  <a:schemeClr val="bg1"/>
                </a:solidFill>
                <a:ea typeface="楷体_GB2312" pitchFamily="49" charset="-122"/>
              </a:rPr>
              <a:t>元素的化学性质和物理性质的周期性变化来源于原子的电子组态的周期性变化，而电子组态的周期性变化与特定轨道可容纳的电子数有关。</a:t>
            </a:r>
            <a:endParaRPr lang="zh-CN" altLang="en-US" b="1">
              <a:solidFill>
                <a:schemeClr val="bg1"/>
              </a:solidFill>
              <a:latin typeface="宋体" charset="-122"/>
            </a:endParaRPr>
          </a:p>
        </p:txBody>
      </p:sp>
      <p:sp>
        <p:nvSpPr>
          <p:cNvPr id="151557" name="Rectangle 5"/>
          <p:cNvSpPr>
            <a:spLocks noChangeArrowheads="1"/>
          </p:cNvSpPr>
          <p:nvPr/>
        </p:nvSpPr>
        <p:spPr bwMode="auto">
          <a:xfrm>
            <a:off x="831850" y="2482850"/>
            <a:ext cx="7380288" cy="512763"/>
          </a:xfrm>
          <a:prstGeom prst="rect">
            <a:avLst/>
          </a:prstGeom>
          <a:noFill/>
          <a:ln w="9525">
            <a:noFill/>
            <a:miter lim="800000"/>
            <a:headEnd/>
            <a:tailEnd/>
          </a:ln>
          <a:effectLst/>
        </p:spPr>
        <p:txBody>
          <a:bodyPr>
            <a:spAutoFit/>
          </a:bodyPr>
          <a:lstStyle/>
          <a:p>
            <a:pPr>
              <a:lnSpc>
                <a:spcPct val="115000"/>
              </a:lnSpc>
            </a:pPr>
            <a:r>
              <a:rPr lang="zh-CN" altLang="en-US" b="1">
                <a:solidFill>
                  <a:srgbClr val="006600"/>
                </a:solidFill>
                <a:ea typeface="楷体_GB2312" pitchFamily="49" charset="-122"/>
              </a:rPr>
              <a:t>这种周期性变化的本质在于原子的电子壳层结构</a:t>
            </a:r>
            <a:endParaRPr lang="zh-CN" altLang="en-US" b="1">
              <a:solidFill>
                <a:srgbClr val="006600"/>
              </a:solidFill>
              <a:latin typeface="宋体" charset="-122"/>
            </a:endParaRPr>
          </a:p>
        </p:txBody>
      </p:sp>
      <p:sp>
        <p:nvSpPr>
          <p:cNvPr id="151558" name="Rectangle 6"/>
          <p:cNvSpPr>
            <a:spLocks noChangeArrowheads="1"/>
          </p:cNvSpPr>
          <p:nvPr/>
        </p:nvSpPr>
        <p:spPr bwMode="auto">
          <a:xfrm>
            <a:off x="831850" y="3068638"/>
            <a:ext cx="7335838" cy="512762"/>
          </a:xfrm>
          <a:prstGeom prst="rect">
            <a:avLst/>
          </a:prstGeom>
          <a:noFill/>
          <a:ln w="9525">
            <a:noFill/>
            <a:miter lim="800000"/>
            <a:headEnd/>
            <a:tailEnd/>
          </a:ln>
          <a:effectLst/>
        </p:spPr>
        <p:txBody>
          <a:bodyPr>
            <a:spAutoFit/>
          </a:bodyPr>
          <a:lstStyle/>
          <a:p>
            <a:pPr>
              <a:lnSpc>
                <a:spcPct val="115000"/>
              </a:lnSpc>
            </a:pPr>
            <a:r>
              <a:rPr lang="en-US" altLang="zh-CN" b="1">
                <a:solidFill>
                  <a:schemeClr val="accent2"/>
                </a:solidFill>
                <a:ea typeface="楷体_GB2312" pitchFamily="49" charset="-122"/>
              </a:rPr>
              <a:t>1916</a:t>
            </a:r>
            <a:r>
              <a:rPr lang="zh-CN" altLang="en-US" b="1">
                <a:solidFill>
                  <a:schemeClr val="bg1"/>
                </a:solidFill>
                <a:ea typeface="楷体_GB2312" pitchFamily="49" charset="-122"/>
              </a:rPr>
              <a:t>年，</a:t>
            </a:r>
            <a:r>
              <a:rPr lang="zh-CN" altLang="en-US" b="1">
                <a:solidFill>
                  <a:schemeClr val="accent2"/>
                </a:solidFill>
                <a:ea typeface="楷体_GB2312" pitchFamily="49" charset="-122"/>
              </a:rPr>
              <a:t>柯塞尔</a:t>
            </a:r>
            <a:r>
              <a:rPr lang="zh-CN" altLang="en-US" b="1">
                <a:solidFill>
                  <a:schemeClr val="bg1"/>
                </a:solidFill>
                <a:ea typeface="楷体_GB2312" pitchFamily="49" charset="-122"/>
              </a:rPr>
              <a:t>提出了原子的电子壳层结构，即</a:t>
            </a:r>
            <a:endParaRPr lang="zh-CN" altLang="en-US" b="1">
              <a:solidFill>
                <a:schemeClr val="bg1"/>
              </a:solidFill>
              <a:latin typeface="宋体" charset="-122"/>
            </a:endParaRPr>
          </a:p>
        </p:txBody>
      </p:sp>
      <p:sp>
        <p:nvSpPr>
          <p:cNvPr id="151559" name="Rectangle 7"/>
          <p:cNvSpPr>
            <a:spLocks noChangeArrowheads="1"/>
          </p:cNvSpPr>
          <p:nvPr/>
        </p:nvSpPr>
        <p:spPr bwMode="auto">
          <a:xfrm>
            <a:off x="247650" y="3683000"/>
            <a:ext cx="8640763" cy="933450"/>
          </a:xfrm>
          <a:prstGeom prst="rect">
            <a:avLst/>
          </a:prstGeom>
          <a:noFill/>
          <a:ln w="9525">
            <a:noFill/>
            <a:miter lim="800000"/>
            <a:headEnd/>
            <a:tailEnd/>
          </a:ln>
          <a:effectLst/>
        </p:spPr>
        <p:txBody>
          <a:bodyPr>
            <a:spAutoFit/>
          </a:bodyPr>
          <a:lstStyle/>
          <a:p>
            <a:pPr>
              <a:lnSpc>
                <a:spcPct val="115000"/>
              </a:lnSpc>
            </a:pPr>
            <a:r>
              <a:rPr lang="en-US" altLang="zh-CN" b="1">
                <a:solidFill>
                  <a:schemeClr val="bg1"/>
                </a:solidFill>
                <a:ea typeface="楷体_GB2312" pitchFamily="49" charset="-122"/>
              </a:rPr>
              <a:t>        </a:t>
            </a:r>
            <a:r>
              <a:rPr lang="zh-CN" altLang="en-US" b="1">
                <a:solidFill>
                  <a:schemeClr val="accent2"/>
                </a:solidFill>
                <a:ea typeface="楷体_GB2312" pitchFamily="49" charset="-122"/>
              </a:rPr>
              <a:t>主量子</a:t>
            </a:r>
            <a:r>
              <a:rPr lang="en-US" altLang="zh-CN" b="1" i="1">
                <a:solidFill>
                  <a:schemeClr val="accent2"/>
                </a:solidFill>
                <a:ea typeface="楷体_GB2312" pitchFamily="49" charset="-122"/>
              </a:rPr>
              <a:t>n</a:t>
            </a:r>
            <a:r>
              <a:rPr lang="en-US" altLang="zh-CN" b="1" i="1">
                <a:solidFill>
                  <a:srgbClr val="FFFF66"/>
                </a:solidFill>
                <a:ea typeface="楷体_GB2312" pitchFamily="49" charset="-122"/>
              </a:rPr>
              <a:t> </a:t>
            </a:r>
            <a:r>
              <a:rPr lang="zh-CN" altLang="en-US" b="1">
                <a:solidFill>
                  <a:schemeClr val="bg1"/>
                </a:solidFill>
                <a:ea typeface="楷体_GB2312" pitchFamily="49" charset="-122"/>
              </a:rPr>
              <a:t>数相同的电子组成一个</a:t>
            </a:r>
            <a:r>
              <a:rPr lang="zh-CN" altLang="en-US" b="1">
                <a:solidFill>
                  <a:schemeClr val="accent2"/>
                </a:solidFill>
                <a:ea typeface="楷体_GB2312" pitchFamily="49" charset="-122"/>
              </a:rPr>
              <a:t>壳层</a:t>
            </a:r>
            <a:r>
              <a:rPr lang="zh-CN" altLang="en-US" b="1">
                <a:solidFill>
                  <a:schemeClr val="bg1"/>
                </a:solidFill>
                <a:ea typeface="楷体_GB2312" pitchFamily="49" charset="-122"/>
              </a:rPr>
              <a:t>，每一特定的壳层用一个符号来表示。</a:t>
            </a:r>
            <a:endParaRPr lang="zh-CN" altLang="en-US" b="1">
              <a:solidFill>
                <a:schemeClr val="bg1"/>
              </a:solidFill>
              <a:latin typeface="宋体" charset="-122"/>
            </a:endParaRPr>
          </a:p>
        </p:txBody>
      </p:sp>
      <p:graphicFrame>
        <p:nvGraphicFramePr>
          <p:cNvPr id="151560" name="Object 8"/>
          <p:cNvGraphicFramePr>
            <a:graphicFrameLocks/>
          </p:cNvGraphicFramePr>
          <p:nvPr/>
        </p:nvGraphicFramePr>
        <p:xfrm>
          <a:off x="1646238" y="4705350"/>
          <a:ext cx="5192712" cy="406400"/>
        </p:xfrm>
        <a:graphic>
          <a:graphicData uri="http://schemas.openxmlformats.org/presentationml/2006/ole">
            <p:oleObj spid="_x0000_s68615" name="公式" r:id="rId4" imgW="1294920" imgH="154800" progId="Equation.3">
              <p:embed/>
            </p:oleObj>
          </a:graphicData>
        </a:graphic>
      </p:graphicFrame>
      <p:grpSp>
        <p:nvGrpSpPr>
          <p:cNvPr id="151561" name="Group 9"/>
          <p:cNvGrpSpPr>
            <a:grpSpLocks/>
          </p:cNvGrpSpPr>
          <p:nvPr/>
        </p:nvGrpSpPr>
        <p:grpSpPr bwMode="auto">
          <a:xfrm>
            <a:off x="2317750" y="5156200"/>
            <a:ext cx="4354513" cy="720725"/>
            <a:chOff x="1519" y="3577"/>
            <a:chExt cx="2743" cy="454"/>
          </a:xfrm>
        </p:grpSpPr>
        <p:graphicFrame>
          <p:nvGraphicFramePr>
            <p:cNvPr id="68617" name="Object 10"/>
            <p:cNvGraphicFramePr>
              <a:graphicFrameLocks noChangeAspect="1"/>
            </p:cNvGraphicFramePr>
            <p:nvPr/>
          </p:nvGraphicFramePr>
          <p:xfrm>
            <a:off x="1519" y="3831"/>
            <a:ext cx="2743" cy="200"/>
          </p:xfrm>
          <a:graphic>
            <a:graphicData uri="http://schemas.openxmlformats.org/presentationml/2006/ole">
              <p:oleObj spid="_x0000_s68617" name="公式" r:id="rId5" imgW="1360080" imgH="154800" progId="Equation.3">
                <p:embed/>
              </p:oleObj>
            </a:graphicData>
          </a:graphic>
        </p:graphicFrame>
        <p:sp>
          <p:nvSpPr>
            <p:cNvPr id="68618" name="Line 11"/>
            <p:cNvSpPr>
              <a:spLocks noChangeAspect="1" noChangeShapeType="1"/>
            </p:cNvSpPr>
            <p:nvPr/>
          </p:nvSpPr>
          <p:spPr bwMode="auto">
            <a:xfrm>
              <a:off x="1692" y="3577"/>
              <a:ext cx="0" cy="201"/>
            </a:xfrm>
            <a:prstGeom prst="line">
              <a:avLst/>
            </a:prstGeom>
            <a:noFill/>
            <a:ln w="38100">
              <a:solidFill>
                <a:schemeClr val="hlink"/>
              </a:solidFill>
              <a:round/>
              <a:headEnd/>
              <a:tailEnd/>
            </a:ln>
            <a:effectLst/>
          </p:spPr>
          <p:txBody>
            <a:bodyPr/>
            <a:lstStyle/>
            <a:p>
              <a:endParaRPr lang="zh-CN" altLang="en-US"/>
            </a:p>
          </p:txBody>
        </p:sp>
        <p:sp>
          <p:nvSpPr>
            <p:cNvPr id="68619" name="Line 12"/>
            <p:cNvSpPr>
              <a:spLocks noChangeAspect="1" noChangeShapeType="1"/>
            </p:cNvSpPr>
            <p:nvPr/>
          </p:nvSpPr>
          <p:spPr bwMode="auto">
            <a:xfrm>
              <a:off x="2033" y="3577"/>
              <a:ext cx="0" cy="201"/>
            </a:xfrm>
            <a:prstGeom prst="line">
              <a:avLst/>
            </a:prstGeom>
            <a:noFill/>
            <a:ln w="38100">
              <a:solidFill>
                <a:schemeClr val="hlink"/>
              </a:solidFill>
              <a:round/>
              <a:headEnd/>
              <a:tailEnd/>
            </a:ln>
            <a:effectLst/>
          </p:spPr>
          <p:txBody>
            <a:bodyPr/>
            <a:lstStyle/>
            <a:p>
              <a:endParaRPr lang="zh-CN" altLang="en-US"/>
            </a:p>
          </p:txBody>
        </p:sp>
        <p:sp>
          <p:nvSpPr>
            <p:cNvPr id="68620" name="Line 13"/>
            <p:cNvSpPr>
              <a:spLocks noChangeAspect="1" noChangeShapeType="1"/>
            </p:cNvSpPr>
            <p:nvPr/>
          </p:nvSpPr>
          <p:spPr bwMode="auto">
            <a:xfrm>
              <a:off x="2405" y="3577"/>
              <a:ext cx="0" cy="201"/>
            </a:xfrm>
            <a:prstGeom prst="line">
              <a:avLst/>
            </a:prstGeom>
            <a:noFill/>
            <a:ln w="38100">
              <a:solidFill>
                <a:schemeClr val="hlink"/>
              </a:solidFill>
              <a:round/>
              <a:headEnd/>
              <a:tailEnd/>
            </a:ln>
            <a:effectLst/>
          </p:spPr>
          <p:txBody>
            <a:bodyPr/>
            <a:lstStyle/>
            <a:p>
              <a:endParaRPr lang="zh-CN" altLang="en-US"/>
            </a:p>
          </p:txBody>
        </p:sp>
        <p:sp>
          <p:nvSpPr>
            <p:cNvPr id="68621" name="Line 14"/>
            <p:cNvSpPr>
              <a:spLocks noChangeAspect="1" noChangeShapeType="1"/>
            </p:cNvSpPr>
            <p:nvPr/>
          </p:nvSpPr>
          <p:spPr bwMode="auto">
            <a:xfrm>
              <a:off x="2746" y="3577"/>
              <a:ext cx="0" cy="201"/>
            </a:xfrm>
            <a:prstGeom prst="line">
              <a:avLst/>
            </a:prstGeom>
            <a:noFill/>
            <a:ln w="38100">
              <a:solidFill>
                <a:schemeClr val="hlink"/>
              </a:solidFill>
              <a:round/>
              <a:headEnd/>
              <a:tailEnd/>
            </a:ln>
            <a:effectLst/>
          </p:spPr>
          <p:txBody>
            <a:bodyPr/>
            <a:lstStyle/>
            <a:p>
              <a:endParaRPr lang="zh-CN" altLang="en-US"/>
            </a:p>
          </p:txBody>
        </p:sp>
        <p:sp>
          <p:nvSpPr>
            <p:cNvPr id="68622" name="Line 15"/>
            <p:cNvSpPr>
              <a:spLocks noChangeAspect="1" noChangeShapeType="1"/>
            </p:cNvSpPr>
            <p:nvPr/>
          </p:nvSpPr>
          <p:spPr bwMode="auto">
            <a:xfrm>
              <a:off x="3108" y="3577"/>
              <a:ext cx="0" cy="201"/>
            </a:xfrm>
            <a:prstGeom prst="line">
              <a:avLst/>
            </a:prstGeom>
            <a:noFill/>
            <a:ln w="38100">
              <a:solidFill>
                <a:schemeClr val="hlink"/>
              </a:solidFill>
              <a:round/>
              <a:headEnd/>
              <a:tailEnd/>
            </a:ln>
            <a:effectLst/>
          </p:spPr>
          <p:txBody>
            <a:bodyPr/>
            <a:lstStyle/>
            <a:p>
              <a:endParaRPr lang="zh-CN" altLang="en-US"/>
            </a:p>
          </p:txBody>
        </p:sp>
        <p:sp>
          <p:nvSpPr>
            <p:cNvPr id="68623" name="Line 16"/>
            <p:cNvSpPr>
              <a:spLocks noChangeAspect="1" noChangeShapeType="1"/>
            </p:cNvSpPr>
            <p:nvPr/>
          </p:nvSpPr>
          <p:spPr bwMode="auto">
            <a:xfrm>
              <a:off x="3449" y="3577"/>
              <a:ext cx="0" cy="201"/>
            </a:xfrm>
            <a:prstGeom prst="line">
              <a:avLst/>
            </a:prstGeom>
            <a:noFill/>
            <a:ln w="38100">
              <a:solidFill>
                <a:schemeClr val="hlink"/>
              </a:solidFill>
              <a:round/>
              <a:headEnd/>
              <a:tailEnd/>
            </a:ln>
            <a:effectLst/>
          </p:spPr>
          <p:txBody>
            <a:bodyPr/>
            <a:lstStyle/>
            <a:p>
              <a:endParaRPr lang="zh-CN" altLang="en-US"/>
            </a:p>
          </p:txBody>
        </p:sp>
      </p:grpSp>
    </p:spTree>
  </p:cSld>
  <p:clrMapOvr>
    <a:overrideClrMapping bg1="dk2" tx1="lt1" bg2="dk1" tx2="lt2" accent1="accent1" accent2="accent2" accent3="accent3" accent4="accent4" accent5="accent5" accent6="accent6" hlink="hlink" folHlink="folHlink"/>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1554"/>
                                        </p:tgtEl>
                                        <p:attrNameLst>
                                          <p:attrName>style.visibility</p:attrName>
                                        </p:attrNameLst>
                                      </p:cBhvr>
                                      <p:to>
                                        <p:strVal val="visible"/>
                                      </p:to>
                                    </p:set>
                                    <p:animEffect transition="in" filter="wipe(left)">
                                      <p:cBhvr>
                                        <p:cTn id="7" dur="500"/>
                                        <p:tgtEl>
                                          <p:spTgt spid="1515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1556"/>
                                        </p:tgtEl>
                                        <p:attrNameLst>
                                          <p:attrName>style.visibility</p:attrName>
                                        </p:attrNameLst>
                                      </p:cBhvr>
                                      <p:to>
                                        <p:strVal val="visible"/>
                                      </p:to>
                                    </p:set>
                                    <p:animEffect transition="in" filter="wipe(left)">
                                      <p:cBhvr>
                                        <p:cTn id="12" dur="500"/>
                                        <p:tgtEl>
                                          <p:spTgt spid="1515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1" nodeType="clickEffect">
                                  <p:stCondLst>
                                    <p:cond delay="0"/>
                                  </p:stCondLst>
                                  <p:childTnLst>
                                    <p:set>
                                      <p:cBhvr>
                                        <p:cTn id="16" dur="1" fill="hold">
                                          <p:stCondLst>
                                            <p:cond delay="0"/>
                                          </p:stCondLst>
                                        </p:cTn>
                                        <p:tgtEl>
                                          <p:spTgt spid="151557"/>
                                        </p:tgtEl>
                                        <p:attrNameLst>
                                          <p:attrName>style.visibility</p:attrName>
                                        </p:attrNameLst>
                                      </p:cBhvr>
                                      <p:to>
                                        <p:strVal val="visible"/>
                                      </p:to>
                                    </p:set>
                                    <p:anim calcmode="lin" valueType="num">
                                      <p:cBhvr additive="base">
                                        <p:cTn id="17" dur="500" fill="hold"/>
                                        <p:tgtEl>
                                          <p:spTgt spid="151557"/>
                                        </p:tgtEl>
                                        <p:attrNameLst>
                                          <p:attrName>ppt_x</p:attrName>
                                        </p:attrNameLst>
                                      </p:cBhvr>
                                      <p:tavLst>
                                        <p:tav tm="0">
                                          <p:val>
                                            <p:strVal val="#ppt_x"/>
                                          </p:val>
                                        </p:tav>
                                        <p:tav tm="100000">
                                          <p:val>
                                            <p:strVal val="#ppt_x"/>
                                          </p:val>
                                        </p:tav>
                                      </p:tavLst>
                                    </p:anim>
                                    <p:anim calcmode="lin" valueType="num">
                                      <p:cBhvr additive="base">
                                        <p:cTn id="18" dur="500" fill="hold"/>
                                        <p:tgtEl>
                                          <p:spTgt spid="151557"/>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8" presetClass="emph" presetSubtype="0" fill="hold" grpId="0" nodeType="clickEffect">
                                  <p:stCondLst>
                                    <p:cond delay="0"/>
                                  </p:stCondLst>
                                  <p:childTnLst>
                                    <p:animRot by="21600000">
                                      <p:cBhvr>
                                        <p:cTn id="22" dur="2000" fill="hold"/>
                                        <p:tgtEl>
                                          <p:spTgt spid="151557"/>
                                        </p:tgtEl>
                                        <p:attrNameLst>
                                          <p:attrName>r</p:attrName>
                                        </p:attrNameLst>
                                      </p:cBhvr>
                                    </p:animRo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1558"/>
                                        </p:tgtEl>
                                        <p:attrNameLst>
                                          <p:attrName>style.visibility</p:attrName>
                                        </p:attrNameLst>
                                      </p:cBhvr>
                                      <p:to>
                                        <p:strVal val="visible"/>
                                      </p:to>
                                    </p:set>
                                    <p:animEffect transition="in" filter="wipe(left)">
                                      <p:cBhvr>
                                        <p:cTn id="27" dur="500"/>
                                        <p:tgtEl>
                                          <p:spTgt spid="15155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1559"/>
                                        </p:tgtEl>
                                        <p:attrNameLst>
                                          <p:attrName>style.visibility</p:attrName>
                                        </p:attrNameLst>
                                      </p:cBhvr>
                                      <p:to>
                                        <p:strVal val="visible"/>
                                      </p:to>
                                    </p:set>
                                    <p:animEffect transition="in" filter="wipe(left)">
                                      <p:cBhvr>
                                        <p:cTn id="32" dur="500"/>
                                        <p:tgtEl>
                                          <p:spTgt spid="15155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51560"/>
                                        </p:tgtEl>
                                        <p:attrNameLst>
                                          <p:attrName>style.visibility</p:attrName>
                                        </p:attrNameLst>
                                      </p:cBhvr>
                                      <p:to>
                                        <p:strVal val="visible"/>
                                      </p:to>
                                    </p:set>
                                    <p:animEffect transition="in" filter="blinds(horizontal)">
                                      <p:cBhvr>
                                        <p:cTn id="37" dur="500"/>
                                        <p:tgtEl>
                                          <p:spTgt spid="15156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1515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4" grpId="0"/>
      <p:bldP spid="151556" grpId="0" autoUpdateAnimBg="0"/>
      <p:bldP spid="151557" grpId="0"/>
      <p:bldP spid="151557" grpId="1"/>
      <p:bldP spid="151558" grpId="0" autoUpdateAnimBg="0"/>
      <p:bldP spid="151559"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ChangeArrowheads="1"/>
          </p:cNvSpPr>
          <p:nvPr/>
        </p:nvSpPr>
        <p:spPr bwMode="auto">
          <a:xfrm>
            <a:off x="206375" y="503238"/>
            <a:ext cx="8640763" cy="933450"/>
          </a:xfrm>
          <a:prstGeom prst="rect">
            <a:avLst/>
          </a:prstGeom>
          <a:noFill/>
          <a:ln w="9525">
            <a:noFill/>
            <a:miter lim="800000"/>
            <a:headEnd/>
            <a:tailEnd/>
          </a:ln>
          <a:effectLst/>
        </p:spPr>
        <p:txBody>
          <a:bodyPr>
            <a:spAutoFit/>
          </a:bodyPr>
          <a:lstStyle/>
          <a:p>
            <a:pPr>
              <a:lnSpc>
                <a:spcPct val="115000"/>
              </a:lnSpc>
            </a:pPr>
            <a:r>
              <a:rPr lang="en-US" altLang="zh-CN" b="1">
                <a:solidFill>
                  <a:schemeClr val="bg1"/>
                </a:solidFill>
                <a:ea typeface="楷体_GB2312" pitchFamily="49" charset="-122"/>
              </a:rPr>
              <a:t>        </a:t>
            </a:r>
            <a:r>
              <a:rPr lang="zh-CN" altLang="en-US" b="1">
                <a:solidFill>
                  <a:schemeClr val="bg1"/>
                </a:solidFill>
                <a:ea typeface="楷体_GB2312" pitchFamily="49" charset="-122"/>
              </a:rPr>
              <a:t>在给定壳层中，根据其</a:t>
            </a:r>
            <a:r>
              <a:rPr lang="zh-CN" altLang="en-US" b="1">
                <a:solidFill>
                  <a:schemeClr val="accent2"/>
                </a:solidFill>
                <a:ea typeface="楷体_GB2312" pitchFamily="49" charset="-122"/>
              </a:rPr>
              <a:t>副量子数</a:t>
            </a:r>
            <a:r>
              <a:rPr lang="en-US" altLang="zh-CN" b="1" i="1">
                <a:solidFill>
                  <a:schemeClr val="accent2"/>
                </a:solidFill>
                <a:ea typeface="楷体_GB2312" pitchFamily="49" charset="-122"/>
              </a:rPr>
              <a:t>l</a:t>
            </a:r>
            <a:r>
              <a:rPr lang="en-US" altLang="zh-CN" b="1" i="1">
                <a:solidFill>
                  <a:schemeClr val="bg1"/>
                </a:solidFill>
                <a:ea typeface="楷体_GB2312" pitchFamily="49" charset="-122"/>
              </a:rPr>
              <a:t> </a:t>
            </a:r>
            <a:r>
              <a:rPr lang="zh-CN" altLang="en-US" b="1">
                <a:solidFill>
                  <a:schemeClr val="bg1"/>
                </a:solidFill>
                <a:ea typeface="楷体_GB2312" pitchFamily="49" charset="-122"/>
              </a:rPr>
              <a:t>分成若干个</a:t>
            </a:r>
            <a:r>
              <a:rPr lang="zh-CN" altLang="en-US" b="1">
                <a:solidFill>
                  <a:schemeClr val="accent2"/>
                </a:solidFill>
                <a:ea typeface="楷体_GB2312" pitchFamily="49" charset="-122"/>
              </a:rPr>
              <a:t>支壳层</a:t>
            </a:r>
            <a:r>
              <a:rPr lang="zh-CN" altLang="en-US" b="1">
                <a:solidFill>
                  <a:schemeClr val="bg1"/>
                </a:solidFill>
                <a:ea typeface="楷体_GB2312" pitchFamily="49" charset="-122"/>
              </a:rPr>
              <a:t>，也称</a:t>
            </a:r>
            <a:r>
              <a:rPr lang="zh-CN" altLang="en-US" b="1">
                <a:solidFill>
                  <a:schemeClr val="accent2"/>
                </a:solidFill>
                <a:ea typeface="楷体_GB2312" pitchFamily="49" charset="-122"/>
              </a:rPr>
              <a:t>亚壳层</a:t>
            </a:r>
            <a:r>
              <a:rPr lang="zh-CN" altLang="en-US" b="1">
                <a:solidFill>
                  <a:schemeClr val="bg1"/>
                </a:solidFill>
                <a:ea typeface="楷体_GB2312" pitchFamily="49" charset="-122"/>
              </a:rPr>
              <a:t>或</a:t>
            </a:r>
            <a:r>
              <a:rPr lang="zh-CN" altLang="en-US" b="1">
                <a:solidFill>
                  <a:schemeClr val="accent2"/>
                </a:solidFill>
                <a:ea typeface="楷体_GB2312" pitchFamily="49" charset="-122"/>
              </a:rPr>
              <a:t>分壳层</a:t>
            </a:r>
            <a:r>
              <a:rPr lang="zh-CN" altLang="en-US" b="1">
                <a:solidFill>
                  <a:schemeClr val="bg1"/>
                </a:solidFill>
                <a:ea typeface="楷体_GB2312" pitchFamily="49" charset="-122"/>
              </a:rPr>
              <a:t>，每一特定的支壳层也用一个符号来表示。</a:t>
            </a:r>
            <a:endParaRPr lang="zh-CN" altLang="en-US" b="1">
              <a:solidFill>
                <a:schemeClr val="bg1"/>
              </a:solidFill>
              <a:latin typeface="宋体" charset="-122"/>
            </a:endParaRPr>
          </a:p>
        </p:txBody>
      </p:sp>
      <p:graphicFrame>
        <p:nvGraphicFramePr>
          <p:cNvPr id="152579" name="Object 3"/>
          <p:cNvGraphicFramePr>
            <a:graphicFrameLocks/>
          </p:cNvGraphicFramePr>
          <p:nvPr/>
        </p:nvGraphicFramePr>
        <p:xfrm>
          <a:off x="1736725" y="1676400"/>
          <a:ext cx="5553075" cy="357188"/>
        </p:xfrm>
        <a:graphic>
          <a:graphicData uri="http://schemas.openxmlformats.org/presentationml/2006/ole">
            <p:oleObj spid="_x0000_s69635" name="公式" r:id="rId4" imgW="1229760" imgH="154800" progId="Equation.3">
              <p:embed/>
            </p:oleObj>
          </a:graphicData>
        </a:graphic>
      </p:graphicFrame>
      <p:grpSp>
        <p:nvGrpSpPr>
          <p:cNvPr id="152580" name="Group 4"/>
          <p:cNvGrpSpPr>
            <a:grpSpLocks/>
          </p:cNvGrpSpPr>
          <p:nvPr/>
        </p:nvGrpSpPr>
        <p:grpSpPr bwMode="auto">
          <a:xfrm>
            <a:off x="2457450" y="2133600"/>
            <a:ext cx="4773613" cy="755650"/>
            <a:chOff x="1633" y="1344"/>
            <a:chExt cx="3007" cy="476"/>
          </a:xfrm>
        </p:grpSpPr>
        <p:graphicFrame>
          <p:nvGraphicFramePr>
            <p:cNvPr id="69641" name="Object 5"/>
            <p:cNvGraphicFramePr>
              <a:graphicFrameLocks noChangeAspect="1"/>
            </p:cNvGraphicFramePr>
            <p:nvPr/>
          </p:nvGraphicFramePr>
          <p:xfrm>
            <a:off x="1633" y="1580"/>
            <a:ext cx="3007" cy="240"/>
          </p:xfrm>
          <a:graphic>
            <a:graphicData uri="http://schemas.openxmlformats.org/presentationml/2006/ole">
              <p:oleObj spid="_x0000_s69641" name="公式" r:id="rId5" imgW="1164600" imgH="154800" progId="Equation.3">
                <p:embed/>
              </p:oleObj>
            </a:graphicData>
          </a:graphic>
        </p:graphicFrame>
        <p:sp>
          <p:nvSpPr>
            <p:cNvPr id="69642" name="Line 6"/>
            <p:cNvSpPr>
              <a:spLocks noChangeAspect="1" noChangeShapeType="1"/>
            </p:cNvSpPr>
            <p:nvPr/>
          </p:nvSpPr>
          <p:spPr bwMode="auto">
            <a:xfrm>
              <a:off x="1747" y="1344"/>
              <a:ext cx="0" cy="218"/>
            </a:xfrm>
            <a:prstGeom prst="line">
              <a:avLst/>
            </a:prstGeom>
            <a:noFill/>
            <a:ln w="38100">
              <a:solidFill>
                <a:schemeClr val="hlink"/>
              </a:solidFill>
              <a:round/>
              <a:headEnd/>
              <a:tailEnd/>
            </a:ln>
            <a:effectLst/>
          </p:spPr>
          <p:txBody>
            <a:bodyPr/>
            <a:lstStyle/>
            <a:p>
              <a:endParaRPr lang="zh-CN" altLang="en-US"/>
            </a:p>
          </p:txBody>
        </p:sp>
        <p:sp>
          <p:nvSpPr>
            <p:cNvPr id="69643" name="Line 7"/>
            <p:cNvSpPr>
              <a:spLocks noChangeAspect="1" noChangeShapeType="1"/>
            </p:cNvSpPr>
            <p:nvPr/>
          </p:nvSpPr>
          <p:spPr bwMode="auto">
            <a:xfrm>
              <a:off x="2109" y="1344"/>
              <a:ext cx="0" cy="218"/>
            </a:xfrm>
            <a:prstGeom prst="line">
              <a:avLst/>
            </a:prstGeom>
            <a:noFill/>
            <a:ln w="38100">
              <a:solidFill>
                <a:schemeClr val="hlink"/>
              </a:solidFill>
              <a:round/>
              <a:headEnd/>
              <a:tailEnd/>
            </a:ln>
            <a:effectLst/>
          </p:spPr>
          <p:txBody>
            <a:bodyPr/>
            <a:lstStyle/>
            <a:p>
              <a:endParaRPr lang="zh-CN" altLang="en-US"/>
            </a:p>
          </p:txBody>
        </p:sp>
        <p:sp>
          <p:nvSpPr>
            <p:cNvPr id="69644" name="Line 8"/>
            <p:cNvSpPr>
              <a:spLocks noChangeAspect="1" noChangeShapeType="1"/>
            </p:cNvSpPr>
            <p:nvPr/>
          </p:nvSpPr>
          <p:spPr bwMode="auto">
            <a:xfrm>
              <a:off x="2505" y="1344"/>
              <a:ext cx="0" cy="218"/>
            </a:xfrm>
            <a:prstGeom prst="line">
              <a:avLst/>
            </a:prstGeom>
            <a:noFill/>
            <a:ln w="38100">
              <a:solidFill>
                <a:schemeClr val="hlink"/>
              </a:solidFill>
              <a:round/>
              <a:headEnd/>
              <a:tailEnd/>
            </a:ln>
            <a:effectLst/>
          </p:spPr>
          <p:txBody>
            <a:bodyPr/>
            <a:lstStyle/>
            <a:p>
              <a:endParaRPr lang="zh-CN" altLang="en-US"/>
            </a:p>
          </p:txBody>
        </p:sp>
        <p:sp>
          <p:nvSpPr>
            <p:cNvPr id="69645" name="Line 9"/>
            <p:cNvSpPr>
              <a:spLocks noChangeAspect="1" noChangeShapeType="1"/>
            </p:cNvSpPr>
            <p:nvPr/>
          </p:nvSpPr>
          <p:spPr bwMode="auto">
            <a:xfrm>
              <a:off x="2868" y="1344"/>
              <a:ext cx="0" cy="218"/>
            </a:xfrm>
            <a:prstGeom prst="line">
              <a:avLst/>
            </a:prstGeom>
            <a:noFill/>
            <a:ln w="38100">
              <a:solidFill>
                <a:schemeClr val="hlink"/>
              </a:solidFill>
              <a:round/>
              <a:headEnd/>
              <a:tailEnd/>
            </a:ln>
            <a:effectLst/>
          </p:spPr>
          <p:txBody>
            <a:bodyPr/>
            <a:lstStyle/>
            <a:p>
              <a:endParaRPr lang="zh-CN" altLang="en-US"/>
            </a:p>
          </p:txBody>
        </p:sp>
        <p:sp>
          <p:nvSpPr>
            <p:cNvPr id="69646" name="Line 10"/>
            <p:cNvSpPr>
              <a:spLocks noChangeAspect="1" noChangeShapeType="1"/>
            </p:cNvSpPr>
            <p:nvPr/>
          </p:nvSpPr>
          <p:spPr bwMode="auto">
            <a:xfrm>
              <a:off x="3253" y="1344"/>
              <a:ext cx="0" cy="218"/>
            </a:xfrm>
            <a:prstGeom prst="line">
              <a:avLst/>
            </a:prstGeom>
            <a:noFill/>
            <a:ln w="38100">
              <a:solidFill>
                <a:schemeClr val="hlink"/>
              </a:solidFill>
              <a:round/>
              <a:headEnd/>
              <a:tailEnd/>
            </a:ln>
            <a:effectLst/>
          </p:spPr>
          <p:txBody>
            <a:bodyPr/>
            <a:lstStyle/>
            <a:p>
              <a:endParaRPr lang="zh-CN" altLang="en-US"/>
            </a:p>
          </p:txBody>
        </p:sp>
        <p:sp>
          <p:nvSpPr>
            <p:cNvPr id="69647" name="Line 11"/>
            <p:cNvSpPr>
              <a:spLocks noChangeAspect="1" noChangeShapeType="1"/>
            </p:cNvSpPr>
            <p:nvPr/>
          </p:nvSpPr>
          <p:spPr bwMode="auto">
            <a:xfrm>
              <a:off x="3616" y="1344"/>
              <a:ext cx="0" cy="218"/>
            </a:xfrm>
            <a:prstGeom prst="line">
              <a:avLst/>
            </a:prstGeom>
            <a:noFill/>
            <a:ln w="38100">
              <a:solidFill>
                <a:schemeClr val="hlink"/>
              </a:solidFill>
              <a:round/>
              <a:headEnd/>
              <a:tailEnd/>
            </a:ln>
            <a:effectLst/>
          </p:spPr>
          <p:txBody>
            <a:bodyPr/>
            <a:lstStyle/>
            <a:p>
              <a:endParaRPr lang="zh-CN" altLang="en-US"/>
            </a:p>
          </p:txBody>
        </p:sp>
      </p:grpSp>
      <p:sp>
        <p:nvSpPr>
          <p:cNvPr id="152588" name="AutoShape 12"/>
          <p:cNvSpPr>
            <a:spLocks noChangeArrowheads="1"/>
          </p:cNvSpPr>
          <p:nvPr/>
        </p:nvSpPr>
        <p:spPr bwMode="auto">
          <a:xfrm>
            <a:off x="161925" y="3024188"/>
            <a:ext cx="360363" cy="576262"/>
          </a:xfrm>
          <a:prstGeom prst="star4">
            <a:avLst>
              <a:gd name="adj" fmla="val 18519"/>
            </a:avLst>
          </a:prstGeom>
          <a:gradFill rotWithShape="0">
            <a:gsLst>
              <a:gs pos="0">
                <a:schemeClr val="accent2"/>
              </a:gs>
              <a:gs pos="100000">
                <a:schemeClr val="accent2">
                  <a:gamma/>
                  <a:shade val="46275"/>
                  <a:invGamma/>
                </a:schemeClr>
              </a:gs>
            </a:gsLst>
            <a:path path="shape">
              <a:fillToRect l="50000" t="50000" r="50000" b="50000"/>
            </a:path>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152589" name="Text Box 13"/>
          <p:cNvSpPr txBox="1">
            <a:spLocks noChangeArrowheads="1"/>
          </p:cNvSpPr>
          <p:nvPr/>
        </p:nvSpPr>
        <p:spPr bwMode="auto">
          <a:xfrm>
            <a:off x="476250" y="3097213"/>
            <a:ext cx="1709738" cy="457200"/>
          </a:xfrm>
          <a:prstGeom prst="rect">
            <a:avLst/>
          </a:prstGeom>
          <a:noFill/>
          <a:ln w="9525">
            <a:noFill/>
            <a:miter lim="800000"/>
            <a:headEnd/>
            <a:tailEnd/>
          </a:ln>
          <a:effectLst/>
        </p:spPr>
        <p:txBody>
          <a:bodyPr>
            <a:spAutoFit/>
          </a:bodyPr>
          <a:lstStyle/>
          <a:p>
            <a:r>
              <a:rPr lang="zh-CN" altLang="en-US" b="1">
                <a:solidFill>
                  <a:schemeClr val="accent2"/>
                </a:solidFill>
              </a:rPr>
              <a:t>说明</a:t>
            </a:r>
          </a:p>
        </p:txBody>
      </p:sp>
      <p:sp>
        <p:nvSpPr>
          <p:cNvPr id="152590" name="Text Box 14"/>
          <p:cNvSpPr txBox="1">
            <a:spLocks noChangeArrowheads="1"/>
          </p:cNvSpPr>
          <p:nvPr/>
        </p:nvSpPr>
        <p:spPr bwMode="auto">
          <a:xfrm>
            <a:off x="476250" y="3563938"/>
            <a:ext cx="7920038" cy="968375"/>
          </a:xfrm>
          <a:prstGeom prst="rect">
            <a:avLst/>
          </a:prstGeom>
          <a:noFill/>
          <a:ln w="9525" algn="ctr">
            <a:noFill/>
            <a:miter lim="800000"/>
            <a:headEnd/>
            <a:tailEnd/>
          </a:ln>
          <a:effectLst/>
        </p:spPr>
        <p:txBody>
          <a:bodyPr>
            <a:spAutoFit/>
          </a:bodyPr>
          <a:lstStyle/>
          <a:p>
            <a:pPr>
              <a:lnSpc>
                <a:spcPct val="120000"/>
              </a:lnSpc>
            </a:pPr>
            <a:r>
              <a:rPr kumimoji="0" lang="en-US" altLang="zh-CN" b="1">
                <a:solidFill>
                  <a:schemeClr val="bg1"/>
                </a:solidFill>
                <a:ea typeface="楷体_GB2312" pitchFamily="49" charset="-122"/>
              </a:rPr>
              <a:t>        (1) </a:t>
            </a:r>
            <a:r>
              <a:rPr kumimoji="0" lang="zh-CN" altLang="en-US" b="1">
                <a:solidFill>
                  <a:schemeClr val="bg1"/>
                </a:solidFill>
                <a:ea typeface="楷体_GB2312" pitchFamily="49" charset="-122"/>
              </a:rPr>
              <a:t>主量子数</a:t>
            </a:r>
            <a:r>
              <a:rPr kumimoji="0" lang="en-US" altLang="zh-CN" b="1" i="1">
                <a:solidFill>
                  <a:schemeClr val="accent2"/>
                </a:solidFill>
                <a:ea typeface="楷体_GB2312" pitchFamily="49" charset="-122"/>
              </a:rPr>
              <a:t>n</a:t>
            </a:r>
            <a:r>
              <a:rPr kumimoji="0" lang="en-US" altLang="zh-CN" b="1">
                <a:solidFill>
                  <a:schemeClr val="bg1"/>
                </a:solidFill>
                <a:ea typeface="楷体_GB2312" pitchFamily="49" charset="-122"/>
              </a:rPr>
              <a:t> </a:t>
            </a:r>
            <a:r>
              <a:rPr kumimoji="0" lang="zh-CN" altLang="en-US" b="1">
                <a:solidFill>
                  <a:schemeClr val="bg1"/>
                </a:solidFill>
                <a:ea typeface="楷体_GB2312" pitchFamily="49" charset="-122"/>
              </a:rPr>
              <a:t>越大的壳层，其能级越高；同一壳层中，副量子数</a:t>
            </a:r>
            <a:r>
              <a:rPr kumimoji="0" lang="en-US" altLang="zh-CN" b="1" i="1">
                <a:solidFill>
                  <a:schemeClr val="accent2"/>
                </a:solidFill>
                <a:ea typeface="楷体_GB2312" pitchFamily="49" charset="-122"/>
              </a:rPr>
              <a:t>l</a:t>
            </a:r>
            <a:r>
              <a:rPr kumimoji="0" lang="en-US" altLang="zh-CN" b="1">
                <a:solidFill>
                  <a:schemeClr val="accent2"/>
                </a:solidFill>
                <a:ea typeface="楷体_GB2312" pitchFamily="49" charset="-122"/>
              </a:rPr>
              <a:t> </a:t>
            </a:r>
            <a:r>
              <a:rPr kumimoji="0" lang="zh-CN" altLang="en-US" b="1">
                <a:solidFill>
                  <a:schemeClr val="bg1"/>
                </a:solidFill>
                <a:ea typeface="楷体_GB2312" pitchFamily="49" charset="-122"/>
              </a:rPr>
              <a:t>越大的支壳层能级越高。</a:t>
            </a:r>
          </a:p>
        </p:txBody>
      </p:sp>
      <p:sp>
        <p:nvSpPr>
          <p:cNvPr id="152591" name="Text Box 15"/>
          <p:cNvSpPr txBox="1">
            <a:spLocks noChangeArrowheads="1"/>
          </p:cNvSpPr>
          <p:nvPr/>
        </p:nvSpPr>
        <p:spPr bwMode="auto">
          <a:xfrm>
            <a:off x="657225" y="4508500"/>
            <a:ext cx="7605713" cy="1406525"/>
          </a:xfrm>
          <a:prstGeom prst="rect">
            <a:avLst/>
          </a:prstGeom>
          <a:noFill/>
          <a:ln w="9525" algn="ctr">
            <a:noFill/>
            <a:miter lim="800000"/>
            <a:headEnd/>
            <a:tailEnd/>
          </a:ln>
          <a:effectLst/>
        </p:spPr>
        <p:txBody>
          <a:bodyPr>
            <a:spAutoFit/>
          </a:bodyPr>
          <a:lstStyle/>
          <a:p>
            <a:pPr>
              <a:lnSpc>
                <a:spcPct val="120000"/>
              </a:lnSpc>
            </a:pPr>
            <a:r>
              <a:rPr kumimoji="0" lang="en-US" altLang="zh-CN" b="1">
                <a:solidFill>
                  <a:schemeClr val="bg1"/>
                </a:solidFill>
                <a:ea typeface="楷体_GB2312" pitchFamily="49" charset="-122"/>
              </a:rPr>
              <a:t>      (2) </a:t>
            </a:r>
            <a:r>
              <a:rPr kumimoji="0" lang="zh-CN" altLang="en-US" b="1">
                <a:solidFill>
                  <a:schemeClr val="bg1"/>
                </a:solidFill>
                <a:ea typeface="楷体_GB2312" pitchFamily="49" charset="-122"/>
              </a:rPr>
              <a:t>量子数</a:t>
            </a:r>
            <a:r>
              <a:rPr kumimoji="0" lang="en-US" altLang="zh-CN" b="1" i="1">
                <a:solidFill>
                  <a:schemeClr val="accent2"/>
                </a:solidFill>
                <a:ea typeface="楷体_GB2312" pitchFamily="49" charset="-122"/>
              </a:rPr>
              <a:t>n</a:t>
            </a:r>
            <a:r>
              <a:rPr kumimoji="0" lang="zh-CN" altLang="en-US" b="1" i="1">
                <a:solidFill>
                  <a:schemeClr val="bg1"/>
                </a:solidFill>
                <a:ea typeface="楷体_GB2312" pitchFamily="49" charset="-122"/>
              </a:rPr>
              <a:t>、</a:t>
            </a:r>
            <a:r>
              <a:rPr kumimoji="0" lang="en-US" altLang="zh-CN" b="1" i="1">
                <a:solidFill>
                  <a:schemeClr val="accent2"/>
                </a:solidFill>
                <a:ea typeface="楷体_GB2312" pitchFamily="49" charset="-122"/>
              </a:rPr>
              <a:t>l</a:t>
            </a:r>
            <a:r>
              <a:rPr kumimoji="0" lang="en-US" altLang="zh-CN" b="1">
                <a:solidFill>
                  <a:schemeClr val="accent2"/>
                </a:solidFill>
                <a:ea typeface="楷体_GB2312" pitchFamily="49" charset="-122"/>
              </a:rPr>
              <a:t> </a:t>
            </a:r>
            <a:r>
              <a:rPr kumimoji="0" lang="zh-CN" altLang="en-US" b="1">
                <a:solidFill>
                  <a:schemeClr val="bg1"/>
                </a:solidFill>
                <a:ea typeface="楷体_GB2312" pitchFamily="49" charset="-122"/>
              </a:rPr>
              <a:t>确定的支壳层通常表示为：把</a:t>
            </a:r>
            <a:r>
              <a:rPr kumimoji="0" lang="en-US" altLang="zh-CN" b="1" i="1">
                <a:solidFill>
                  <a:schemeClr val="accent2"/>
                </a:solidFill>
                <a:ea typeface="楷体_GB2312" pitchFamily="49" charset="-122"/>
              </a:rPr>
              <a:t>n</a:t>
            </a:r>
            <a:r>
              <a:rPr kumimoji="0" lang="en-US" altLang="zh-CN" b="1">
                <a:solidFill>
                  <a:schemeClr val="bg1"/>
                </a:solidFill>
                <a:ea typeface="楷体_GB2312" pitchFamily="49" charset="-122"/>
              </a:rPr>
              <a:t> </a:t>
            </a:r>
            <a:r>
              <a:rPr kumimoji="0" lang="zh-CN" altLang="en-US" b="1">
                <a:solidFill>
                  <a:schemeClr val="bg1"/>
                </a:solidFill>
                <a:ea typeface="楷体_GB2312" pitchFamily="49" charset="-122"/>
              </a:rPr>
              <a:t>的数值写在前面，并排写出代表</a:t>
            </a:r>
            <a:r>
              <a:rPr kumimoji="0" lang="en-US" altLang="zh-CN" b="1" i="1">
                <a:solidFill>
                  <a:schemeClr val="accent2"/>
                </a:solidFill>
                <a:ea typeface="楷体_GB2312" pitchFamily="49" charset="-122"/>
              </a:rPr>
              <a:t>l </a:t>
            </a:r>
            <a:r>
              <a:rPr kumimoji="0" lang="zh-CN" altLang="en-US" b="1">
                <a:solidFill>
                  <a:schemeClr val="bg1"/>
                </a:solidFill>
                <a:ea typeface="楷体_GB2312" pitchFamily="49" charset="-122"/>
              </a:rPr>
              <a:t>的字母；如</a:t>
            </a:r>
            <a:r>
              <a:rPr kumimoji="0" lang="zh-CN" altLang="en-US" b="1">
                <a:solidFill>
                  <a:schemeClr val="accent2"/>
                </a:solidFill>
                <a:ea typeface="楷体_GB2312" pitchFamily="49" charset="-122"/>
              </a:rPr>
              <a:t> </a:t>
            </a:r>
            <a:r>
              <a:rPr kumimoji="0" lang="en-US" altLang="zh-CN" b="1">
                <a:solidFill>
                  <a:schemeClr val="accent2"/>
                </a:solidFill>
                <a:ea typeface="楷体_GB2312" pitchFamily="49" charset="-122"/>
              </a:rPr>
              <a:t>1</a:t>
            </a:r>
            <a:r>
              <a:rPr kumimoji="0" lang="en-US" altLang="zh-CN" b="1" i="1">
                <a:solidFill>
                  <a:schemeClr val="accent2"/>
                </a:solidFill>
                <a:ea typeface="楷体_GB2312" pitchFamily="49" charset="-122"/>
              </a:rPr>
              <a:t>s</a:t>
            </a:r>
            <a:r>
              <a:rPr kumimoji="0" lang="en-US" altLang="zh-CN" b="1">
                <a:solidFill>
                  <a:srgbClr val="FFFF66"/>
                </a:solidFill>
                <a:ea typeface="楷体_GB2312" pitchFamily="49" charset="-122"/>
              </a:rPr>
              <a:t> </a:t>
            </a:r>
            <a:r>
              <a:rPr kumimoji="0" lang="zh-CN" altLang="en-US" b="1">
                <a:solidFill>
                  <a:schemeClr val="bg1"/>
                </a:solidFill>
                <a:ea typeface="楷体_GB2312" pitchFamily="49" charset="-122"/>
              </a:rPr>
              <a:t>、</a:t>
            </a:r>
            <a:r>
              <a:rPr kumimoji="0" lang="en-US" altLang="zh-CN" b="1">
                <a:solidFill>
                  <a:schemeClr val="accent2"/>
                </a:solidFill>
                <a:ea typeface="楷体_GB2312" pitchFamily="49" charset="-122"/>
              </a:rPr>
              <a:t>2</a:t>
            </a:r>
            <a:r>
              <a:rPr kumimoji="0" lang="en-US" altLang="zh-CN" b="1" i="1">
                <a:solidFill>
                  <a:schemeClr val="accent2"/>
                </a:solidFill>
                <a:ea typeface="楷体_GB2312" pitchFamily="49" charset="-122"/>
              </a:rPr>
              <a:t>s</a:t>
            </a:r>
            <a:r>
              <a:rPr kumimoji="0" lang="zh-CN" altLang="en-US" b="1">
                <a:solidFill>
                  <a:schemeClr val="bg1"/>
                </a:solidFill>
                <a:ea typeface="楷体_GB2312" pitchFamily="49" charset="-122"/>
              </a:rPr>
              <a:t>、</a:t>
            </a:r>
            <a:r>
              <a:rPr kumimoji="0" lang="en-US" altLang="zh-CN" b="1">
                <a:solidFill>
                  <a:schemeClr val="accent2"/>
                </a:solidFill>
                <a:ea typeface="楷体_GB2312" pitchFamily="49" charset="-122"/>
              </a:rPr>
              <a:t>2</a:t>
            </a:r>
            <a:r>
              <a:rPr kumimoji="0" lang="en-US" altLang="zh-CN" b="1" i="1">
                <a:solidFill>
                  <a:schemeClr val="accent2"/>
                </a:solidFill>
                <a:ea typeface="楷体_GB2312" pitchFamily="49" charset="-122"/>
              </a:rPr>
              <a:t>p</a:t>
            </a:r>
            <a:r>
              <a:rPr kumimoji="0" lang="zh-CN" altLang="en-US" b="1">
                <a:solidFill>
                  <a:schemeClr val="bg1"/>
                </a:solidFill>
                <a:ea typeface="楷体_GB2312" pitchFamily="49" charset="-122"/>
              </a:rPr>
              <a:t>、</a:t>
            </a:r>
            <a:r>
              <a:rPr kumimoji="0" lang="en-US" altLang="zh-CN" b="1">
                <a:solidFill>
                  <a:schemeClr val="accent2"/>
                </a:solidFill>
                <a:ea typeface="楷体_GB2312" pitchFamily="49" charset="-122"/>
              </a:rPr>
              <a:t>3</a:t>
            </a:r>
            <a:r>
              <a:rPr kumimoji="0" lang="en-US" altLang="zh-CN" b="1" i="1">
                <a:solidFill>
                  <a:schemeClr val="accent2"/>
                </a:solidFill>
                <a:ea typeface="楷体_GB2312" pitchFamily="49" charset="-122"/>
              </a:rPr>
              <a:t>s</a:t>
            </a:r>
            <a:r>
              <a:rPr kumimoji="0" lang="zh-CN" altLang="en-US" b="1">
                <a:solidFill>
                  <a:schemeClr val="bg1"/>
                </a:solidFill>
                <a:ea typeface="楷体_GB2312" pitchFamily="49" charset="-122"/>
              </a:rPr>
              <a:t>、</a:t>
            </a:r>
            <a:r>
              <a:rPr kumimoji="0" lang="en-US" altLang="zh-CN" b="1">
                <a:solidFill>
                  <a:schemeClr val="accent2"/>
                </a:solidFill>
                <a:ea typeface="楷体_GB2312" pitchFamily="49" charset="-122"/>
              </a:rPr>
              <a:t>3</a:t>
            </a:r>
            <a:r>
              <a:rPr kumimoji="0" lang="en-US" altLang="zh-CN" b="1" i="1">
                <a:solidFill>
                  <a:schemeClr val="accent2"/>
                </a:solidFill>
                <a:ea typeface="楷体_GB2312" pitchFamily="49" charset="-122"/>
              </a:rPr>
              <a:t>p</a:t>
            </a:r>
            <a:r>
              <a:rPr kumimoji="0" lang="zh-CN" altLang="en-US" b="1">
                <a:solidFill>
                  <a:schemeClr val="bg1"/>
                </a:solidFill>
                <a:ea typeface="楷体_GB2312" pitchFamily="49" charset="-122"/>
              </a:rPr>
              <a:t>、</a:t>
            </a:r>
            <a:r>
              <a:rPr kumimoji="0" lang="en-US" altLang="zh-CN" b="1">
                <a:solidFill>
                  <a:schemeClr val="accent2"/>
                </a:solidFill>
                <a:ea typeface="楷体_GB2312" pitchFamily="49" charset="-122"/>
              </a:rPr>
              <a:t>3</a:t>
            </a:r>
            <a:r>
              <a:rPr kumimoji="0" lang="en-US" altLang="zh-CN" b="1" i="1">
                <a:solidFill>
                  <a:schemeClr val="accent2"/>
                </a:solidFill>
                <a:ea typeface="楷体_GB2312" pitchFamily="49" charset="-122"/>
              </a:rPr>
              <a:t>d</a:t>
            </a:r>
            <a:r>
              <a:rPr kumimoji="0" lang="zh-CN" altLang="en-US" b="1">
                <a:solidFill>
                  <a:schemeClr val="bg1"/>
                </a:solidFill>
                <a:ea typeface="楷体_GB2312" pitchFamily="49" charset="-122"/>
              </a:rPr>
              <a:t>等等。</a:t>
            </a:r>
          </a:p>
        </p:txBody>
      </p:sp>
    </p:spTree>
  </p:cSld>
  <p:clrMapOvr>
    <a:overrideClrMapping bg1="dk2" tx1="lt1" bg2="dk1" tx2="lt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2578"/>
                                        </p:tgtEl>
                                        <p:attrNameLst>
                                          <p:attrName>style.visibility</p:attrName>
                                        </p:attrNameLst>
                                      </p:cBhvr>
                                      <p:to>
                                        <p:strVal val="visible"/>
                                      </p:to>
                                    </p:set>
                                    <p:animEffect transition="in" filter="wipe(left)">
                                      <p:cBhvr>
                                        <p:cTn id="7" dur="500"/>
                                        <p:tgtEl>
                                          <p:spTgt spid="1525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152579"/>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nodeType="clickEffect">
                                  <p:stCondLst>
                                    <p:cond delay="0"/>
                                  </p:stCondLst>
                                  <p:childTnLst>
                                    <p:set>
                                      <p:cBhvr>
                                        <p:cTn id="15" dur="1" fill="hold">
                                          <p:stCondLst>
                                            <p:cond delay="0"/>
                                          </p:stCondLst>
                                        </p:cTn>
                                        <p:tgtEl>
                                          <p:spTgt spid="152580"/>
                                        </p:tgtEl>
                                        <p:attrNameLst>
                                          <p:attrName>style.visibility</p:attrName>
                                        </p:attrNameLst>
                                      </p:cBhvr>
                                      <p:to>
                                        <p:strVal val="visible"/>
                                      </p:to>
                                    </p:set>
                                    <p:anim calcmode="lin" valueType="num">
                                      <p:cBhvr additive="base">
                                        <p:cTn id="16" dur="500" fill="hold"/>
                                        <p:tgtEl>
                                          <p:spTgt spid="152580"/>
                                        </p:tgtEl>
                                        <p:attrNameLst>
                                          <p:attrName>ppt_x</p:attrName>
                                        </p:attrNameLst>
                                      </p:cBhvr>
                                      <p:tavLst>
                                        <p:tav tm="0">
                                          <p:val>
                                            <p:strVal val="#ppt_x"/>
                                          </p:val>
                                        </p:tav>
                                        <p:tav tm="100000">
                                          <p:val>
                                            <p:strVal val="#ppt_x"/>
                                          </p:val>
                                        </p:tav>
                                      </p:tavLst>
                                    </p:anim>
                                    <p:anim calcmode="lin" valueType="num">
                                      <p:cBhvr additive="base">
                                        <p:cTn id="17" dur="500" fill="hold"/>
                                        <p:tgtEl>
                                          <p:spTgt spid="152580"/>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50" presetClass="entr" presetSubtype="0" decel="100000" fill="hold" grpId="0" nodeType="clickEffect">
                                  <p:stCondLst>
                                    <p:cond delay="0"/>
                                  </p:stCondLst>
                                  <p:childTnLst>
                                    <p:set>
                                      <p:cBhvr>
                                        <p:cTn id="21" dur="1" fill="hold">
                                          <p:stCondLst>
                                            <p:cond delay="0"/>
                                          </p:stCondLst>
                                        </p:cTn>
                                        <p:tgtEl>
                                          <p:spTgt spid="152588"/>
                                        </p:tgtEl>
                                        <p:attrNameLst>
                                          <p:attrName>style.visibility</p:attrName>
                                        </p:attrNameLst>
                                      </p:cBhvr>
                                      <p:to>
                                        <p:strVal val="visible"/>
                                      </p:to>
                                    </p:set>
                                    <p:anim calcmode="lin" valueType="num">
                                      <p:cBhvr>
                                        <p:cTn id="22" dur="1000" fill="hold"/>
                                        <p:tgtEl>
                                          <p:spTgt spid="152588"/>
                                        </p:tgtEl>
                                        <p:attrNameLst>
                                          <p:attrName>ppt_w</p:attrName>
                                        </p:attrNameLst>
                                      </p:cBhvr>
                                      <p:tavLst>
                                        <p:tav tm="0">
                                          <p:val>
                                            <p:strVal val="#ppt_w+.3"/>
                                          </p:val>
                                        </p:tav>
                                        <p:tav tm="100000">
                                          <p:val>
                                            <p:strVal val="#ppt_w"/>
                                          </p:val>
                                        </p:tav>
                                      </p:tavLst>
                                    </p:anim>
                                    <p:anim calcmode="lin" valueType="num">
                                      <p:cBhvr>
                                        <p:cTn id="23" dur="1000" fill="hold"/>
                                        <p:tgtEl>
                                          <p:spTgt spid="152588"/>
                                        </p:tgtEl>
                                        <p:attrNameLst>
                                          <p:attrName>ppt_h</p:attrName>
                                        </p:attrNameLst>
                                      </p:cBhvr>
                                      <p:tavLst>
                                        <p:tav tm="0">
                                          <p:val>
                                            <p:strVal val="#ppt_h"/>
                                          </p:val>
                                        </p:tav>
                                        <p:tav tm="100000">
                                          <p:val>
                                            <p:strVal val="#ppt_h"/>
                                          </p:val>
                                        </p:tav>
                                      </p:tavLst>
                                    </p:anim>
                                    <p:animEffect transition="in" filter="fade">
                                      <p:cBhvr>
                                        <p:cTn id="24" dur="1000"/>
                                        <p:tgtEl>
                                          <p:spTgt spid="152588"/>
                                        </p:tgtEl>
                                      </p:cBhvr>
                                    </p:animEffect>
                                  </p:childTnLst>
                                </p:cTn>
                              </p:par>
                            </p:childTnLst>
                          </p:cTn>
                        </p:par>
                        <p:par>
                          <p:cTn id="25" fill="hold" nodeType="afterGroup">
                            <p:stCondLst>
                              <p:cond delay="1000"/>
                            </p:stCondLst>
                            <p:childTnLst>
                              <p:par>
                                <p:cTn id="26" presetID="1" presetClass="entr" presetSubtype="0" fill="hold" grpId="0" nodeType="afterEffect">
                                  <p:stCondLst>
                                    <p:cond delay="0"/>
                                  </p:stCondLst>
                                  <p:childTnLst>
                                    <p:set>
                                      <p:cBhvr>
                                        <p:cTn id="27" dur="1" fill="hold">
                                          <p:stCondLst>
                                            <p:cond delay="499"/>
                                          </p:stCondLst>
                                        </p:cTn>
                                        <p:tgtEl>
                                          <p:spTgt spid="152589"/>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2590"/>
                                        </p:tgtEl>
                                        <p:attrNameLst>
                                          <p:attrName>style.visibility</p:attrName>
                                        </p:attrNameLst>
                                      </p:cBhvr>
                                      <p:to>
                                        <p:strVal val="visible"/>
                                      </p:to>
                                    </p:set>
                                    <p:animEffect transition="in" filter="wipe(left)">
                                      <p:cBhvr>
                                        <p:cTn id="32" dur="500"/>
                                        <p:tgtEl>
                                          <p:spTgt spid="15259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2591"/>
                                        </p:tgtEl>
                                        <p:attrNameLst>
                                          <p:attrName>style.visibility</p:attrName>
                                        </p:attrNameLst>
                                      </p:cBhvr>
                                      <p:to>
                                        <p:strVal val="visible"/>
                                      </p:to>
                                    </p:set>
                                    <p:animEffect transition="in" filter="wipe(left)">
                                      <p:cBhvr>
                                        <p:cTn id="37" dur="500"/>
                                        <p:tgtEl>
                                          <p:spTgt spid="152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8" grpId="0" autoUpdateAnimBg="0"/>
      <p:bldP spid="152588" grpId="0" animBg="1"/>
      <p:bldP spid="152589" grpId="0"/>
      <p:bldP spid="152590" grpId="0"/>
      <p:bldP spid="152591" grpId="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53711" name="Group 111"/>
          <p:cNvGraphicFramePr>
            <a:graphicFrameLocks noGrp="1"/>
          </p:cNvGraphicFramePr>
          <p:nvPr/>
        </p:nvGraphicFramePr>
        <p:xfrm>
          <a:off x="385763" y="458788"/>
          <a:ext cx="8369611" cy="2714328"/>
        </p:xfrm>
        <a:graphic>
          <a:graphicData uri="http://schemas.openxmlformats.org/drawingml/2006/table">
            <a:tbl>
              <a:tblPr/>
              <a:tblGrid>
                <a:gridCol w="630237"/>
                <a:gridCol w="265113"/>
                <a:gridCol w="290512"/>
                <a:gridCol w="261938"/>
                <a:gridCol w="285750"/>
                <a:gridCol w="268287"/>
                <a:gridCol w="287338"/>
                <a:gridCol w="263525"/>
                <a:gridCol w="287337"/>
                <a:gridCol w="265113"/>
                <a:gridCol w="303212"/>
                <a:gridCol w="249238"/>
                <a:gridCol w="288925"/>
                <a:gridCol w="261937"/>
                <a:gridCol w="352425"/>
                <a:gridCol w="208274"/>
                <a:gridCol w="288925"/>
                <a:gridCol w="242887"/>
                <a:gridCol w="309563"/>
                <a:gridCol w="242887"/>
                <a:gridCol w="307975"/>
                <a:gridCol w="242888"/>
                <a:gridCol w="309562"/>
                <a:gridCol w="244475"/>
                <a:gridCol w="306388"/>
                <a:gridCol w="244475"/>
                <a:gridCol w="307975"/>
                <a:gridCol w="242887"/>
                <a:gridCol w="309563"/>
              </a:tblGrid>
              <a:tr h="5810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bg1"/>
                          </a:solidFill>
                          <a:effectLst/>
                          <a:latin typeface="Times New Roman" pitchFamily="18" charset="0"/>
                          <a:ea typeface="宋体" charset="-122"/>
                        </a:rPr>
                        <a:t>n</a:t>
                      </a:r>
                    </a:p>
                  </a:txBody>
                  <a:tcPr marL="91437" marR="91437" marT="45725" marB="4572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1</a:t>
                      </a:r>
                    </a:p>
                  </a:txBody>
                  <a:tcPr marL="91437" marR="91437" marT="45725" marB="4572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hMerge="1">
                  <a:txBody>
                    <a:bodyPr/>
                    <a:lstStyle/>
                    <a:p>
                      <a:endParaRPr lang="zh-CN" altLang="en-US"/>
                    </a:p>
                  </a:txBody>
                  <a:tcPr/>
                </a:tc>
                <a:tc gridSpan="8">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2</a:t>
                      </a:r>
                    </a:p>
                  </a:txBody>
                  <a:tcPr marL="91437" marR="91437" marT="45725" marB="4572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18">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3</a:t>
                      </a:r>
                    </a:p>
                  </a:txBody>
                  <a:tcPr marL="91437" marR="91437" marT="45725" marB="4572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bg1"/>
                          </a:solidFill>
                          <a:effectLst/>
                          <a:latin typeface="Times New Roman" pitchFamily="18" charset="0"/>
                          <a:ea typeface="宋体" charset="-122"/>
                        </a:rPr>
                        <a:t>l</a:t>
                      </a:r>
                    </a:p>
                  </a:txBody>
                  <a:tcPr marL="91437" marR="91437" marT="45725" marB="4572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0</a:t>
                      </a:r>
                    </a:p>
                  </a:txBody>
                  <a:tcPr marL="91437" marR="91437" marT="45725" marB="4572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0</a:t>
                      </a:r>
                    </a:p>
                  </a:txBody>
                  <a:tcPr marL="91437" marR="91437" marT="45725" marB="45725" anchor="ct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6">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1</a:t>
                      </a:r>
                    </a:p>
                  </a:txBody>
                  <a:tcPr marL="91437" marR="91437" marT="45725" marB="45725" anchor="ct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0</a:t>
                      </a:r>
                    </a:p>
                  </a:txBody>
                  <a:tcPr marL="91437" marR="91437" marT="45725" marB="45725" anchor="ct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6">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1</a:t>
                      </a:r>
                    </a:p>
                  </a:txBody>
                  <a:tcPr marL="91437" marR="91437" marT="45725" marB="45725"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10">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2</a:t>
                      </a:r>
                    </a:p>
                  </a:txBody>
                  <a:tcPr marL="91437" marR="91437" marT="45725" marB="45725" anchor="ctr" horzOverflow="overflow">
                    <a:lnL w="190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5762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bg1"/>
                          </a:solidFill>
                          <a:effectLst/>
                          <a:latin typeface="Times New Roman" pitchFamily="18" charset="0"/>
                          <a:ea typeface="宋体" charset="-122"/>
                        </a:rPr>
                        <a:t>m</a:t>
                      </a:r>
                      <a:r>
                        <a:rPr kumimoji="1" lang="en-US" altLang="zh-CN" sz="2800" b="1" i="1" u="none" strike="noStrike" cap="none" normalizeH="0" baseline="-20000" smtClean="0">
                          <a:ln>
                            <a:noFill/>
                          </a:ln>
                          <a:solidFill>
                            <a:schemeClr val="bg1"/>
                          </a:solidFill>
                          <a:effectLst/>
                          <a:latin typeface="Times New Roman" pitchFamily="18" charset="0"/>
                          <a:ea typeface="宋体" charset="-122"/>
                        </a:rPr>
                        <a:t>l</a:t>
                      </a:r>
                    </a:p>
                  </a:txBody>
                  <a:tcPr marL="91437" marR="91437" marT="45725" marB="4572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0</a:t>
                      </a:r>
                    </a:p>
                  </a:txBody>
                  <a:tcPr marL="91437" marR="91437" marT="45725" marB="4572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0</a:t>
                      </a:r>
                    </a:p>
                  </a:txBody>
                  <a:tcPr marL="91437" marR="91437" marT="45725" marB="45725" anchor="ct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-1</a:t>
                      </a:r>
                    </a:p>
                  </a:txBody>
                  <a:tcPr marL="91437" marR="91437" marT="45725" marB="45725" anchor="ctr" horzOverflow="overflow">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0</a:t>
                      </a:r>
                    </a:p>
                  </a:txBody>
                  <a:tcPr marL="91437" marR="91437" marT="45725" marB="45725"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1</a:t>
                      </a:r>
                    </a:p>
                  </a:txBody>
                  <a:tcPr marL="91437" marR="91437" marT="45725" marB="45725" anchor="ctr" horzOverflow="overflow">
                    <a:lnL w="31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0</a:t>
                      </a:r>
                    </a:p>
                  </a:txBody>
                  <a:tcPr marL="91437" marR="91437" marT="45725" marB="45725" anchor="ctr"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-1</a:t>
                      </a:r>
                    </a:p>
                  </a:txBody>
                  <a:tcPr marL="91437" marR="91437" marT="45725" marB="45725" anchor="ctr" horzOverflow="overflow">
                    <a:lnL w="1905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0</a:t>
                      </a:r>
                    </a:p>
                  </a:txBody>
                  <a:tcPr marL="91437" marR="91437" marT="45725" marB="45725" anchor="ctr" horzOverflow="overflow">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1</a:t>
                      </a:r>
                    </a:p>
                  </a:txBody>
                  <a:tcPr marL="91437" marR="91437" marT="45725" marB="45725" anchor="ctr" horzOverflow="overflow">
                    <a:lnL w="31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-2</a:t>
                      </a:r>
                    </a:p>
                  </a:txBody>
                  <a:tcPr marL="91437" marR="91437" marT="45725" marB="45725" anchor="ctr" horzOverflow="overflow">
                    <a:lnL w="1905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-1</a:t>
                      </a:r>
                    </a:p>
                  </a:txBody>
                  <a:tcPr marL="91437" marR="91437" marT="45725" marB="45725"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0</a:t>
                      </a:r>
                    </a:p>
                  </a:txBody>
                  <a:tcPr marL="91437" marR="91437" marT="45725" marB="45725"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1</a:t>
                      </a:r>
                    </a:p>
                  </a:txBody>
                  <a:tcPr marL="91437" marR="91437" marT="45725" marB="45725"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2</a:t>
                      </a:r>
                    </a:p>
                  </a:txBody>
                  <a:tcPr marL="91437" marR="91437" marT="45725" marB="45725" anchor="ctr" horzOverflow="overflow">
                    <a:lnL w="31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r>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bg1"/>
                          </a:solidFill>
                          <a:effectLst/>
                          <a:latin typeface="Times New Roman" pitchFamily="18" charset="0"/>
                          <a:ea typeface="宋体" charset="-122"/>
                        </a:rPr>
                        <a:t>m</a:t>
                      </a:r>
                      <a:r>
                        <a:rPr kumimoji="1" lang="en-US" altLang="zh-CN" sz="2800" b="1" i="1" u="none" strike="noStrike" cap="none" normalizeH="0" baseline="-20000" smtClean="0">
                          <a:ln>
                            <a:noFill/>
                          </a:ln>
                          <a:solidFill>
                            <a:schemeClr val="bg1"/>
                          </a:solidFill>
                          <a:effectLst/>
                          <a:latin typeface="Times New Roman" pitchFamily="18" charset="0"/>
                          <a:ea typeface="宋体" charset="-122"/>
                        </a:rPr>
                        <a:t>s</a:t>
                      </a:r>
                    </a:p>
                  </a:txBody>
                  <a:tcPr marL="91437" marR="91437" marT="45725" marB="4572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L="91437" marR="91437"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3366CC"/>
                    </a:solidFill>
                  </a:tcPr>
                </a:tc>
              </a:tr>
              <a:tr h="5207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1" u="none" strike="noStrike" cap="none" normalizeH="0" baseline="0" smtClean="0">
                          <a:ln>
                            <a:noFill/>
                          </a:ln>
                          <a:solidFill>
                            <a:schemeClr val="bg1"/>
                          </a:solidFill>
                          <a:effectLst/>
                          <a:latin typeface="Times New Roman" pitchFamily="18" charset="0"/>
                          <a:ea typeface="宋体" charset="-122"/>
                        </a:rPr>
                        <a:t>Z</a:t>
                      </a:r>
                      <a:endParaRPr kumimoji="1" lang="en-US" altLang="zh-CN" sz="2800" b="1" i="1" u="none" strike="noStrike" cap="none" normalizeH="0" baseline="-20000" smtClean="0">
                        <a:ln>
                          <a:noFill/>
                        </a:ln>
                        <a:solidFill>
                          <a:schemeClr val="bg1"/>
                        </a:solidFill>
                        <a:effectLst/>
                        <a:latin typeface="Times New Roman" pitchFamily="18" charset="0"/>
                        <a:ea typeface="宋体" charset="-122"/>
                      </a:endParaRPr>
                    </a:p>
                  </a:txBody>
                  <a:tcPr marL="91437" marR="91437" marT="45725" marB="4572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2</a:t>
                      </a:r>
                    </a:p>
                  </a:txBody>
                  <a:tcPr marL="91437" marR="91437" marT="45725" marB="4572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gridSpan="8">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8</a:t>
                      </a:r>
                    </a:p>
                  </a:txBody>
                  <a:tcPr marL="91437" marR="91437" marT="45725" marB="4572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18">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smtClean="0">
                          <a:ln>
                            <a:noFill/>
                          </a:ln>
                          <a:solidFill>
                            <a:schemeClr val="bg1"/>
                          </a:solidFill>
                          <a:effectLst/>
                          <a:latin typeface="Times New Roman" pitchFamily="18" charset="0"/>
                          <a:ea typeface="宋体" charset="-122"/>
                        </a:rPr>
                        <a:t>18</a:t>
                      </a:r>
                    </a:p>
                  </a:txBody>
                  <a:tcPr marL="91437" marR="91437" marT="45725" marB="4572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bl>
          </a:graphicData>
        </a:graphic>
      </p:graphicFrame>
      <p:graphicFrame>
        <p:nvGraphicFramePr>
          <p:cNvPr id="153703" name="Object 103"/>
          <p:cNvGraphicFramePr>
            <a:graphicFrameLocks/>
          </p:cNvGraphicFramePr>
          <p:nvPr/>
        </p:nvGraphicFramePr>
        <p:xfrm>
          <a:off x="4032250" y="3878263"/>
          <a:ext cx="1598613" cy="409575"/>
        </p:xfrm>
        <a:graphic>
          <a:graphicData uri="http://schemas.openxmlformats.org/presentationml/2006/ole">
            <p:oleObj spid="_x0000_s70757" name="公式" r:id="rId5" imgW="740880" imgH="179280" progId="Equation.3">
              <p:embed/>
            </p:oleObj>
          </a:graphicData>
        </a:graphic>
      </p:graphicFrame>
      <p:sp>
        <p:nvSpPr>
          <p:cNvPr id="153704" name="Text Box 104"/>
          <p:cNvSpPr txBox="1">
            <a:spLocks noChangeArrowheads="1"/>
          </p:cNvSpPr>
          <p:nvPr/>
        </p:nvSpPr>
        <p:spPr bwMode="auto">
          <a:xfrm>
            <a:off x="395288" y="3300413"/>
            <a:ext cx="6884987" cy="457200"/>
          </a:xfrm>
          <a:prstGeom prst="rect">
            <a:avLst/>
          </a:prstGeom>
          <a:noFill/>
          <a:ln w="9525">
            <a:noFill/>
            <a:miter lim="800000"/>
            <a:headEnd/>
            <a:tailEnd/>
          </a:ln>
          <a:effectLst/>
        </p:spPr>
        <p:txBody>
          <a:bodyPr>
            <a:spAutoFit/>
          </a:bodyPr>
          <a:lstStyle/>
          <a:p>
            <a:r>
              <a:rPr lang="en-US" altLang="zh-CN" b="1" i="1">
                <a:solidFill>
                  <a:schemeClr val="accent2"/>
                </a:solidFill>
                <a:ea typeface="楷体_GB2312" pitchFamily="49" charset="-122"/>
              </a:rPr>
              <a:t>l </a:t>
            </a:r>
            <a:r>
              <a:rPr lang="zh-CN" altLang="en-US" b="1">
                <a:solidFill>
                  <a:schemeClr val="bg1"/>
                </a:solidFill>
                <a:ea typeface="楷体_GB2312" pitchFamily="49" charset="-122"/>
              </a:rPr>
              <a:t>为一定值的支壳层上最多容纳的电子数目：</a:t>
            </a:r>
          </a:p>
        </p:txBody>
      </p:sp>
      <p:sp>
        <p:nvSpPr>
          <p:cNvPr id="153712" name="Text Box 112"/>
          <p:cNvSpPr txBox="1">
            <a:spLocks noChangeArrowheads="1"/>
          </p:cNvSpPr>
          <p:nvPr/>
        </p:nvSpPr>
        <p:spPr bwMode="auto">
          <a:xfrm>
            <a:off x="431800" y="4419600"/>
            <a:ext cx="4710113"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各壳层上最多容纳的电子数目：</a:t>
            </a:r>
          </a:p>
        </p:txBody>
      </p:sp>
      <p:graphicFrame>
        <p:nvGraphicFramePr>
          <p:cNvPr id="153713" name="Object 113"/>
          <p:cNvGraphicFramePr>
            <a:graphicFrameLocks/>
          </p:cNvGraphicFramePr>
          <p:nvPr/>
        </p:nvGraphicFramePr>
        <p:xfrm>
          <a:off x="3538538" y="4957763"/>
          <a:ext cx="1962150" cy="777875"/>
        </p:xfrm>
        <a:graphic>
          <a:graphicData uri="http://schemas.openxmlformats.org/presentationml/2006/ole">
            <p:oleObj spid="_x0000_s70760" name="公式" r:id="rId6" imgW="920160" imgH="350640" progId="Equation.3">
              <p:embed/>
            </p:oleObj>
          </a:graphicData>
        </a:graphic>
      </p:graphicFrame>
      <p:graphicFrame>
        <p:nvGraphicFramePr>
          <p:cNvPr id="153714" name="Object 114"/>
          <p:cNvGraphicFramePr>
            <a:graphicFrameLocks noChangeAspect="1"/>
          </p:cNvGraphicFramePr>
          <p:nvPr/>
        </p:nvGraphicFramePr>
        <p:xfrm>
          <a:off x="5562600" y="5138738"/>
          <a:ext cx="712788" cy="368300"/>
        </p:xfrm>
        <a:graphic>
          <a:graphicData uri="http://schemas.openxmlformats.org/presentationml/2006/ole">
            <p:oleObj spid="_x0000_s70761" name="公式" r:id="rId7" imgW="317520" imgH="154800" progId="Equation.3">
              <p:embed/>
            </p:oleObj>
          </a:graphicData>
        </a:graphic>
      </p:graphicFrame>
    </p:spTree>
  </p:cSld>
  <p:clrMapOvr>
    <a:overrideClrMapping bg1="dk2" tx1="lt1" bg2="dk1" tx2="lt2" accent1="accent1" accent2="accent2" accent3="accent3" accent4="accent4" accent5="accent5" accent6="accent6" hlink="hlink" folHlink="folHlink"/>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53711"/>
                                        </p:tgtEl>
                                        <p:attrNameLst>
                                          <p:attrName>style.visibility</p:attrName>
                                        </p:attrNameLst>
                                      </p:cBhvr>
                                      <p:to>
                                        <p:strVal val="visible"/>
                                      </p:to>
                                    </p:set>
                                    <p:animEffect transition="in" filter="box(out)">
                                      <p:cBhvr>
                                        <p:cTn id="7" dur="500"/>
                                        <p:tgtEl>
                                          <p:spTgt spid="153711"/>
                                        </p:tgtEl>
                                      </p:cBhvr>
                                    </p:animEffect>
                                  </p:childTnLst>
                                  <p:subTnLst>
                                    <p:audio>
                                      <p:cMediaNode>
                                        <p:cTn display="0" masterRel="sameClick">
                                          <p:stCondLst>
                                            <p:cond evt="begin" delay="0">
                                              <p:tn val="5"/>
                                            </p:cond>
                                          </p:stCondLst>
                                          <p:endCondLst>
                                            <p:cond evt="onStopAudio" delay="0">
                                              <p:tgtEl>
                                                <p:sldTgt/>
                                              </p:tgtEl>
                                            </p:cond>
                                          </p:endCondLst>
                                        </p:cTn>
                                        <p:tgtEl>
                                          <p:sndTgt r:embed="rId4" name="camera.wav" builtIn="1"/>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5370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2" fill="hold" nodeType="clickEffect">
                                  <p:stCondLst>
                                    <p:cond delay="0"/>
                                  </p:stCondLst>
                                  <p:childTnLst>
                                    <p:set>
                                      <p:cBhvr>
                                        <p:cTn id="15" dur="1" fill="hold">
                                          <p:stCondLst>
                                            <p:cond delay="0"/>
                                          </p:stCondLst>
                                        </p:cTn>
                                        <p:tgtEl>
                                          <p:spTgt spid="153703"/>
                                        </p:tgtEl>
                                        <p:attrNameLst>
                                          <p:attrName>style.visibility</p:attrName>
                                        </p:attrNameLst>
                                      </p:cBhvr>
                                      <p:to>
                                        <p:strVal val="visible"/>
                                      </p:to>
                                    </p:set>
                                    <p:animEffect transition="in" filter="slide(fromRight)">
                                      <p:cBhvr>
                                        <p:cTn id="16" dur="500"/>
                                        <p:tgtEl>
                                          <p:spTgt spid="15370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5371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2" fill="hold" nodeType="clickEffect">
                                  <p:stCondLst>
                                    <p:cond delay="0"/>
                                  </p:stCondLst>
                                  <p:childTnLst>
                                    <p:set>
                                      <p:cBhvr>
                                        <p:cTn id="24" dur="1" fill="hold">
                                          <p:stCondLst>
                                            <p:cond delay="0"/>
                                          </p:stCondLst>
                                        </p:cTn>
                                        <p:tgtEl>
                                          <p:spTgt spid="153713"/>
                                        </p:tgtEl>
                                        <p:attrNameLst>
                                          <p:attrName>style.visibility</p:attrName>
                                        </p:attrNameLst>
                                      </p:cBhvr>
                                      <p:to>
                                        <p:strVal val="visible"/>
                                      </p:to>
                                    </p:set>
                                    <p:animEffect transition="in" filter="slide(fromRight)">
                                      <p:cBhvr>
                                        <p:cTn id="25" dur="500"/>
                                        <p:tgtEl>
                                          <p:spTgt spid="15371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153714"/>
                                        </p:tgtEl>
                                        <p:attrNameLst>
                                          <p:attrName>style.visibility</p:attrName>
                                        </p:attrNameLst>
                                      </p:cBhvr>
                                      <p:to>
                                        <p:strVal val="visible"/>
                                      </p:to>
                                    </p:set>
                                    <p:anim calcmode="lin" valueType="num">
                                      <p:cBhvr additive="base">
                                        <p:cTn id="30" dur="500" fill="hold"/>
                                        <p:tgtEl>
                                          <p:spTgt spid="153714"/>
                                        </p:tgtEl>
                                        <p:attrNameLst>
                                          <p:attrName>ppt_x</p:attrName>
                                        </p:attrNameLst>
                                      </p:cBhvr>
                                      <p:tavLst>
                                        <p:tav tm="0">
                                          <p:val>
                                            <p:strVal val="#ppt_x"/>
                                          </p:val>
                                        </p:tav>
                                        <p:tav tm="100000">
                                          <p:val>
                                            <p:strVal val="#ppt_x"/>
                                          </p:val>
                                        </p:tav>
                                      </p:tavLst>
                                    </p:anim>
                                    <p:anim calcmode="lin" valueType="num">
                                      <p:cBhvr additive="base">
                                        <p:cTn id="31" dur="500" fill="hold"/>
                                        <p:tgtEl>
                                          <p:spTgt spid="1537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04" grpId="0" autoUpdateAnimBg="0"/>
      <p:bldP spid="153712"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55736" name="Group 88"/>
          <p:cNvGraphicFramePr>
            <a:graphicFrameLocks noGrp="1"/>
          </p:cNvGraphicFramePr>
          <p:nvPr/>
        </p:nvGraphicFramePr>
        <p:xfrm>
          <a:off x="1033463" y="795338"/>
          <a:ext cx="7158037" cy="5044111"/>
        </p:xfrm>
        <a:graphic>
          <a:graphicData uri="http://schemas.openxmlformats.org/drawingml/2006/table">
            <a:tbl>
              <a:tblPr/>
              <a:tblGrid>
                <a:gridCol w="1190625"/>
                <a:gridCol w="742950"/>
                <a:gridCol w="660400"/>
                <a:gridCol w="835025"/>
                <a:gridCol w="742950"/>
                <a:gridCol w="747712"/>
                <a:gridCol w="747713"/>
                <a:gridCol w="742950"/>
                <a:gridCol w="747712"/>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smtClean="0">
                        <a:ln>
                          <a:noFill/>
                        </a:ln>
                        <a:solidFill>
                          <a:schemeClr val="tx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itchFamily="18" charset="0"/>
                          <a:ea typeface="宋体" charset="-122"/>
                        </a:rPr>
                        <a:t>1</a:t>
                      </a:r>
                      <a:r>
                        <a:rPr kumimoji="1" lang="en-US" altLang="zh-CN" sz="2400" b="0" i="1" u="none" strike="noStrike" cap="none" normalizeH="0" baseline="0" smtClean="0">
                          <a:ln>
                            <a:noFill/>
                          </a:ln>
                          <a:solidFill>
                            <a:schemeClr val="tx1"/>
                          </a:solidFill>
                          <a:effectLst/>
                          <a:latin typeface="Times New Roman" pitchFamily="18" charset="0"/>
                          <a:ea typeface="宋体" charset="-122"/>
                        </a:rPr>
                        <a:t>s</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itchFamily="18" charset="0"/>
                          <a:ea typeface="宋体" charset="-122"/>
                        </a:rPr>
                        <a:t>2</a:t>
                      </a:r>
                      <a:r>
                        <a:rPr kumimoji="1" lang="en-US" altLang="zh-CN" sz="2400" b="0" i="1" u="none" strike="noStrike" cap="none" normalizeH="0" baseline="0" smtClean="0">
                          <a:ln>
                            <a:noFill/>
                          </a:ln>
                          <a:solidFill>
                            <a:schemeClr val="tx1"/>
                          </a:solidFill>
                          <a:effectLst/>
                          <a:latin typeface="Times New Roman" pitchFamily="18" charset="0"/>
                          <a:ea typeface="宋体" charset="-122"/>
                        </a:rPr>
                        <a:t>s</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itchFamily="18" charset="0"/>
                          <a:ea typeface="宋体" charset="-122"/>
                        </a:rPr>
                        <a:t>2</a:t>
                      </a:r>
                      <a:r>
                        <a:rPr kumimoji="1" lang="en-US" altLang="zh-CN" sz="2400" b="0" i="1" u="none" strike="noStrike" cap="none" normalizeH="0" baseline="0" smtClean="0">
                          <a:ln>
                            <a:noFill/>
                          </a:ln>
                          <a:solidFill>
                            <a:schemeClr val="tx1"/>
                          </a:solidFill>
                          <a:effectLst/>
                          <a:latin typeface="Times New Roman" pitchFamily="18" charset="0"/>
                          <a:ea typeface="宋体" charset="-122"/>
                        </a:rPr>
                        <a:t>p</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itchFamily="18" charset="0"/>
                          <a:ea typeface="宋体" charset="-122"/>
                        </a:rPr>
                        <a:t>3</a:t>
                      </a:r>
                      <a:r>
                        <a:rPr kumimoji="1" lang="en-US" altLang="zh-CN" sz="2400" b="0" i="1" u="none" strike="noStrike" cap="none" normalizeH="0" baseline="0" smtClean="0">
                          <a:ln>
                            <a:noFill/>
                          </a:ln>
                          <a:solidFill>
                            <a:schemeClr val="tx1"/>
                          </a:solidFill>
                          <a:effectLst/>
                          <a:latin typeface="Times New Roman" pitchFamily="18" charset="0"/>
                          <a:ea typeface="宋体" charset="-122"/>
                        </a:rPr>
                        <a:t>s</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itchFamily="18" charset="0"/>
                          <a:ea typeface="宋体" charset="-122"/>
                        </a:rPr>
                        <a:t>3</a:t>
                      </a:r>
                      <a:r>
                        <a:rPr kumimoji="1" lang="en-US" altLang="zh-CN" sz="2400" b="0" i="1" u="none" strike="noStrike" cap="none" normalizeH="0" baseline="0" smtClean="0">
                          <a:ln>
                            <a:noFill/>
                          </a:ln>
                          <a:solidFill>
                            <a:schemeClr val="tx1"/>
                          </a:solidFill>
                          <a:effectLst/>
                          <a:latin typeface="Times New Roman" pitchFamily="18" charset="0"/>
                          <a:ea typeface="宋体" charset="-122"/>
                        </a:rPr>
                        <a:t>p</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itchFamily="18" charset="0"/>
                          <a:ea typeface="宋体" charset="-122"/>
                        </a:rPr>
                        <a:t>3</a:t>
                      </a:r>
                      <a:r>
                        <a:rPr kumimoji="1" lang="en-US" altLang="zh-CN" sz="2400" b="0" i="1" u="none" strike="noStrike" cap="none" normalizeH="0" baseline="0" smtClean="0">
                          <a:ln>
                            <a:noFill/>
                          </a:ln>
                          <a:solidFill>
                            <a:schemeClr val="tx1"/>
                          </a:solidFill>
                          <a:effectLst/>
                          <a:latin typeface="Times New Roman" pitchFamily="18" charset="0"/>
                          <a:ea typeface="宋体" charset="-122"/>
                        </a:rPr>
                        <a:t>d</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itchFamily="18" charset="0"/>
                          <a:ea typeface="宋体" charset="-122"/>
                        </a:rPr>
                        <a:t>4</a:t>
                      </a:r>
                      <a:r>
                        <a:rPr kumimoji="1" lang="en-US" altLang="zh-CN" sz="2400" b="0" i="1" u="none" strike="noStrike" cap="none" normalizeH="0" baseline="0" smtClean="0">
                          <a:ln>
                            <a:noFill/>
                          </a:ln>
                          <a:solidFill>
                            <a:schemeClr val="tx1"/>
                          </a:solidFill>
                          <a:effectLst/>
                          <a:latin typeface="Times New Roman" pitchFamily="18" charset="0"/>
                          <a:ea typeface="宋体" charset="-122"/>
                        </a:rPr>
                        <a:t>s</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6666"/>
                    </a:solidFill>
                  </a:tcPr>
                </a:tc>
              </a:tr>
              <a:tr h="701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1    </a:t>
                      </a:r>
                      <a:r>
                        <a:rPr kumimoji="1" lang="zh-CN" altLang="en-US" sz="2000" b="0" i="0" u="none" strike="noStrike" cap="none" normalizeH="0" baseline="0" smtClean="0">
                          <a:ln>
                            <a:noFill/>
                          </a:ln>
                          <a:solidFill>
                            <a:schemeClr val="tx1"/>
                          </a:solidFill>
                          <a:effectLst/>
                          <a:latin typeface="Times New Roman" pitchFamily="18" charset="0"/>
                          <a:ea typeface="宋体" charset="-122"/>
                        </a:rPr>
                        <a:t>氢</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2    </a:t>
                      </a:r>
                      <a:r>
                        <a:rPr kumimoji="1" lang="zh-CN" altLang="en-US" sz="2000" b="0" i="0" u="none" strike="noStrike" cap="none" normalizeH="0" baseline="0" smtClean="0">
                          <a:ln>
                            <a:noFill/>
                          </a:ln>
                          <a:solidFill>
                            <a:schemeClr val="tx1"/>
                          </a:solidFill>
                          <a:effectLst/>
                          <a:latin typeface="Times New Roman" pitchFamily="18" charset="0"/>
                          <a:ea typeface="宋体" charset="-122"/>
                        </a:rPr>
                        <a:t>氦</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002F2F"/>
                        </a:gs>
                        <a:gs pos="100000">
                          <a:srgbClr val="00666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H</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He</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002F2F"/>
                        </a:gs>
                        <a:gs pos="100000">
                          <a:srgbClr val="00666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bg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bg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bg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tx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tx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tx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r>
              <a:tr h="701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3    </a:t>
                      </a:r>
                      <a:r>
                        <a:rPr kumimoji="1" lang="zh-CN" altLang="en-US" sz="2000" b="0" i="0" u="none" strike="noStrike" cap="none" normalizeH="0" baseline="0" smtClean="0">
                          <a:ln>
                            <a:noFill/>
                          </a:ln>
                          <a:solidFill>
                            <a:schemeClr val="tx1"/>
                          </a:solidFill>
                          <a:effectLst/>
                          <a:latin typeface="Times New Roman" pitchFamily="18" charset="0"/>
                          <a:ea typeface="宋体" charset="-122"/>
                        </a:rPr>
                        <a:t>锂</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4    </a:t>
                      </a:r>
                      <a:r>
                        <a:rPr kumimoji="1" lang="zh-CN" altLang="en-US" sz="2000" b="0" i="0" u="none" strike="noStrike" cap="none" normalizeH="0" baseline="0" smtClean="0">
                          <a:ln>
                            <a:noFill/>
                          </a:ln>
                          <a:solidFill>
                            <a:schemeClr val="tx1"/>
                          </a:solidFill>
                          <a:effectLst/>
                          <a:latin typeface="Times New Roman" pitchFamily="18" charset="0"/>
                          <a:ea typeface="宋体" charset="-122"/>
                        </a:rPr>
                        <a:t>铍</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002F2F"/>
                        </a:gs>
                        <a:gs pos="100000">
                          <a:srgbClr val="00666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Li</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Be</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002F2F"/>
                        </a:gs>
                        <a:gs pos="100000">
                          <a:srgbClr val="00666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bg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bg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tx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tx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tx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r>
              <a:tr h="1006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5    </a:t>
                      </a:r>
                      <a:r>
                        <a:rPr kumimoji="1" lang="zh-CN" altLang="en-US" sz="2000" b="0" i="0" u="none" strike="noStrike" cap="none" normalizeH="0" baseline="0" smtClean="0">
                          <a:ln>
                            <a:noFill/>
                          </a:ln>
                          <a:solidFill>
                            <a:schemeClr val="tx1"/>
                          </a:solidFill>
                          <a:effectLst/>
                          <a:latin typeface="Times New Roman" pitchFamily="18" charset="0"/>
                          <a:ea typeface="宋体" charset="-122"/>
                        </a:rPr>
                        <a:t>硼</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6    </a:t>
                      </a:r>
                      <a:r>
                        <a:rPr kumimoji="1" lang="zh-CN" altLang="en-US" sz="2000" b="0" i="0" u="none" strike="noStrike" cap="none" normalizeH="0" baseline="0" smtClean="0">
                          <a:ln>
                            <a:noFill/>
                          </a:ln>
                          <a:solidFill>
                            <a:schemeClr val="tx1"/>
                          </a:solidFill>
                          <a:effectLst/>
                          <a:latin typeface="Times New Roman" pitchFamily="18" charset="0"/>
                          <a:ea typeface="宋体" charset="-122"/>
                        </a:rPr>
                        <a:t>碳</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10   </a:t>
                      </a:r>
                      <a:r>
                        <a:rPr kumimoji="1" lang="zh-CN" altLang="en-US" sz="2000" b="0" i="0" u="none" strike="noStrike" cap="none" normalizeH="0" baseline="0" smtClean="0">
                          <a:ln>
                            <a:noFill/>
                          </a:ln>
                          <a:solidFill>
                            <a:schemeClr val="tx1"/>
                          </a:solidFill>
                          <a:effectLst/>
                          <a:latin typeface="Times New Roman" pitchFamily="18" charset="0"/>
                          <a:ea typeface="宋体" charset="-122"/>
                        </a:rPr>
                        <a:t>氖</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002F2F"/>
                        </a:gs>
                        <a:gs pos="100000">
                          <a:srgbClr val="00666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B</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C</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Ne</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002F2F"/>
                        </a:gs>
                        <a:gs pos="100000">
                          <a:srgbClr val="00666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6</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bg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tx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tx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tx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r>
              <a:tr h="1006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13   </a:t>
                      </a:r>
                      <a:r>
                        <a:rPr kumimoji="1" lang="zh-CN" altLang="en-US" sz="2000" b="0" i="0" u="none" strike="noStrike" cap="none" normalizeH="0" baseline="0" smtClean="0">
                          <a:ln>
                            <a:noFill/>
                          </a:ln>
                          <a:solidFill>
                            <a:schemeClr val="tx1"/>
                          </a:solidFill>
                          <a:effectLst/>
                          <a:latin typeface="Times New Roman" pitchFamily="18" charset="0"/>
                          <a:ea typeface="宋体" charset="-122"/>
                        </a:rPr>
                        <a:t>铝</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14   </a:t>
                      </a:r>
                      <a:r>
                        <a:rPr kumimoji="1" lang="zh-CN" altLang="en-US" sz="2000" b="0" i="0" u="none" strike="noStrike" cap="none" normalizeH="0" baseline="0" smtClean="0">
                          <a:ln>
                            <a:noFill/>
                          </a:ln>
                          <a:solidFill>
                            <a:schemeClr val="tx1"/>
                          </a:solidFill>
                          <a:effectLst/>
                          <a:latin typeface="Times New Roman" pitchFamily="18" charset="0"/>
                          <a:ea typeface="宋体" charset="-122"/>
                        </a:rPr>
                        <a:t>硅</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18   </a:t>
                      </a:r>
                      <a:r>
                        <a:rPr kumimoji="1" lang="zh-CN" altLang="en-US" sz="2000" b="0" i="0" u="none" strike="noStrike" cap="none" normalizeH="0" baseline="0" smtClean="0">
                          <a:ln>
                            <a:noFill/>
                          </a:ln>
                          <a:solidFill>
                            <a:schemeClr val="tx1"/>
                          </a:solidFill>
                          <a:effectLst/>
                          <a:latin typeface="Times New Roman" pitchFamily="18" charset="0"/>
                          <a:ea typeface="宋体" charset="-122"/>
                        </a:rPr>
                        <a:t>氩</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002F2F"/>
                        </a:gs>
                        <a:gs pos="100000">
                          <a:srgbClr val="00666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Al</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Si</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Ar</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002F2F"/>
                        </a:gs>
                        <a:gs pos="100000">
                          <a:srgbClr val="00666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6</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6</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6</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6</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tx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tx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r>
              <a:tr h="701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19   </a:t>
                      </a:r>
                      <a:r>
                        <a:rPr kumimoji="1" lang="zh-CN" altLang="en-US" sz="2000" b="0" i="0" u="none" strike="noStrike" cap="none" normalizeH="0" baseline="0" smtClean="0">
                          <a:ln>
                            <a:noFill/>
                          </a:ln>
                          <a:solidFill>
                            <a:schemeClr val="tx1"/>
                          </a:solidFill>
                          <a:effectLst/>
                          <a:latin typeface="Times New Roman" pitchFamily="18" charset="0"/>
                          <a:ea typeface="宋体" charset="-122"/>
                        </a:rPr>
                        <a:t>钾</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20   </a:t>
                      </a:r>
                      <a:r>
                        <a:rPr kumimoji="1" lang="zh-CN" altLang="en-US" sz="2000" b="0" i="0" u="none" strike="noStrike" cap="none" normalizeH="0" baseline="0" smtClean="0">
                          <a:ln>
                            <a:noFill/>
                          </a:ln>
                          <a:solidFill>
                            <a:schemeClr val="tx1"/>
                          </a:solidFill>
                          <a:effectLst/>
                          <a:latin typeface="Times New Roman" pitchFamily="18" charset="0"/>
                          <a:ea typeface="宋体" charset="-122"/>
                        </a:rPr>
                        <a:t>钙</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002F2F"/>
                        </a:gs>
                        <a:gs pos="100000">
                          <a:srgbClr val="00666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K</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Ca</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002F2F"/>
                        </a:gs>
                        <a:gs pos="100000">
                          <a:srgbClr val="00666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6</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6</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6</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6</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1" i="0" u="none" strike="noStrike" cap="none" normalizeH="0" baseline="0" smtClean="0">
                        <a:ln>
                          <a:noFill/>
                        </a:ln>
                        <a:solidFill>
                          <a:schemeClr val="bg1"/>
                        </a:solidFill>
                        <a:effectLst/>
                        <a:latin typeface="Times New Roman" pitchFamily="18" charset="0"/>
                        <a:ea typeface="宋体"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1</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r>
              <a:tr h="4079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21   </a:t>
                      </a:r>
                      <a:r>
                        <a:rPr kumimoji="1" lang="zh-CN" altLang="en-US" sz="2000" b="0" i="0" u="none" strike="noStrike" cap="none" normalizeH="0" baseline="0" smtClean="0">
                          <a:ln>
                            <a:noFill/>
                          </a:ln>
                          <a:solidFill>
                            <a:schemeClr val="tx1"/>
                          </a:solidFill>
                          <a:effectLst/>
                          <a:latin typeface="Times New Roman" pitchFamily="18" charset="0"/>
                          <a:ea typeface="宋体" charset="-122"/>
                        </a:rPr>
                        <a:t>钪</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rgbClr val="002F2F"/>
                        </a:gs>
                        <a:gs pos="100000">
                          <a:srgbClr val="00666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charset="-122"/>
                        </a:rPr>
                        <a:t>Sc</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rgbClr val="002F2F"/>
                        </a:gs>
                        <a:gs pos="100000">
                          <a:srgbClr val="00666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6</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6</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1</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smtClean="0">
                          <a:ln>
                            <a:noFill/>
                          </a:ln>
                          <a:solidFill>
                            <a:schemeClr val="bg1"/>
                          </a:solidFill>
                          <a:effectLst/>
                          <a:latin typeface="Times New Roman" pitchFamily="18" charset="0"/>
                          <a:ea typeface="宋体" charset="-122"/>
                        </a:rPr>
                        <a:t>2</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chemeClr val="accent1"/>
                        </a:gs>
                        <a:gs pos="100000">
                          <a:srgbClr val="767676"/>
                        </a:gs>
                      </a:gsLst>
                      <a:lin ang="2700000" scaled="1"/>
                    </a:gradFill>
                  </a:tcPr>
                </a:tc>
              </a:tr>
            </a:tbl>
          </a:graphicData>
        </a:graphic>
      </p:graphicFrame>
      <p:sp>
        <p:nvSpPr>
          <p:cNvPr id="155732" name="AutoShape 84"/>
          <p:cNvSpPr>
            <a:spLocks noChangeArrowheads="1"/>
          </p:cNvSpPr>
          <p:nvPr/>
        </p:nvSpPr>
        <p:spPr bwMode="auto">
          <a:xfrm>
            <a:off x="6732588" y="2863850"/>
            <a:ext cx="1374775" cy="1239838"/>
          </a:xfrm>
          <a:prstGeom prst="wedgeRoundRectCallout">
            <a:avLst>
              <a:gd name="adj1" fmla="val 22750"/>
              <a:gd name="adj2" fmla="val 108898"/>
              <a:gd name="adj3" fmla="val 16667"/>
            </a:avLst>
          </a:prstGeom>
          <a:solidFill>
            <a:srgbClr val="CCFFFF"/>
          </a:solidFill>
          <a:ln w="9525">
            <a:solidFill>
              <a:srgbClr val="00FFFF"/>
            </a:solidFill>
            <a:miter lim="800000"/>
            <a:headEnd/>
            <a:tailEnd/>
          </a:ln>
          <a:effectLst/>
        </p:spPr>
        <p:txBody>
          <a:bodyPr/>
          <a:lstStyle/>
          <a:p>
            <a:pPr algn="ctr"/>
            <a:r>
              <a:rPr lang="en-US" altLang="zh-CN" b="1">
                <a:solidFill>
                  <a:schemeClr val="bg1"/>
                </a:solidFill>
              </a:rPr>
              <a:t>4</a:t>
            </a:r>
            <a:r>
              <a:rPr lang="en-US" altLang="zh-CN" b="1" i="1">
                <a:solidFill>
                  <a:schemeClr val="bg1"/>
                </a:solidFill>
              </a:rPr>
              <a:t>s </a:t>
            </a:r>
            <a:r>
              <a:rPr lang="zh-CN" altLang="en-US" b="1">
                <a:solidFill>
                  <a:schemeClr val="bg1"/>
                </a:solidFill>
                <a:ea typeface="楷体_GB2312" pitchFamily="49" charset="-122"/>
              </a:rPr>
              <a:t>能级</a:t>
            </a:r>
          </a:p>
          <a:p>
            <a:pPr algn="ctr"/>
            <a:r>
              <a:rPr lang="zh-CN" altLang="en-US" b="1">
                <a:solidFill>
                  <a:schemeClr val="bg1"/>
                </a:solidFill>
                <a:ea typeface="楷体_GB2312" pitchFamily="49" charset="-122"/>
              </a:rPr>
              <a:t>低于</a:t>
            </a:r>
          </a:p>
          <a:p>
            <a:pPr algn="ctr"/>
            <a:r>
              <a:rPr lang="en-US" altLang="zh-CN" b="1">
                <a:solidFill>
                  <a:schemeClr val="bg1"/>
                </a:solidFill>
              </a:rPr>
              <a:t>3</a:t>
            </a:r>
            <a:r>
              <a:rPr lang="en-US" altLang="zh-CN" b="1" i="1">
                <a:solidFill>
                  <a:schemeClr val="bg1"/>
                </a:solidFill>
              </a:rPr>
              <a:t>d </a:t>
            </a:r>
            <a:r>
              <a:rPr lang="zh-CN" altLang="en-US" b="1">
                <a:solidFill>
                  <a:schemeClr val="bg1"/>
                </a:solidFill>
                <a:ea typeface="楷体_GB2312" pitchFamily="49" charset="-122"/>
              </a:rPr>
              <a:t>能级</a:t>
            </a:r>
          </a:p>
        </p:txBody>
      </p:sp>
      <p:sp>
        <p:nvSpPr>
          <p:cNvPr id="155733" name="Text Box 85"/>
          <p:cNvSpPr txBox="1">
            <a:spLocks noChangeArrowheads="1"/>
          </p:cNvSpPr>
          <p:nvPr/>
        </p:nvSpPr>
        <p:spPr bwMode="auto">
          <a:xfrm>
            <a:off x="5741988" y="1989138"/>
            <a:ext cx="1530350" cy="466725"/>
          </a:xfrm>
          <a:prstGeom prst="rect">
            <a:avLst/>
          </a:prstGeom>
          <a:solidFill>
            <a:srgbClr val="CCFFFF"/>
          </a:solidFill>
          <a:ln w="9525">
            <a:solidFill>
              <a:srgbClr val="00FFFF"/>
            </a:solidFill>
            <a:miter lim="800000"/>
            <a:headEnd/>
            <a:tailEnd/>
          </a:ln>
          <a:effectLst/>
        </p:spPr>
        <p:txBody>
          <a:bodyPr>
            <a:spAutoFit/>
          </a:bodyPr>
          <a:lstStyle/>
          <a:p>
            <a:r>
              <a:rPr lang="en-US" altLang="zh-CN" b="1" i="1">
                <a:solidFill>
                  <a:srgbClr val="0000FF"/>
                </a:solidFill>
              </a:rPr>
              <a:t>n </a:t>
            </a:r>
            <a:r>
              <a:rPr lang="en-US" altLang="zh-CN" b="1">
                <a:solidFill>
                  <a:srgbClr val="0000FF"/>
                </a:solidFill>
              </a:rPr>
              <a:t>+ 0.7 </a:t>
            </a:r>
            <a:r>
              <a:rPr lang="en-US" altLang="zh-CN" b="1" i="1">
                <a:solidFill>
                  <a:srgbClr val="0000FF"/>
                </a:solidFill>
              </a:rPr>
              <a:t>l</a:t>
            </a:r>
          </a:p>
        </p:txBody>
      </p:sp>
      <p:sp>
        <p:nvSpPr>
          <p:cNvPr id="71766" name="Text Box 86"/>
          <p:cNvSpPr txBox="1">
            <a:spLocks noChangeArrowheads="1"/>
          </p:cNvSpPr>
          <p:nvPr/>
        </p:nvSpPr>
        <p:spPr bwMode="auto">
          <a:xfrm>
            <a:off x="3224213" y="5973763"/>
            <a:ext cx="2833687" cy="396875"/>
          </a:xfrm>
          <a:prstGeom prst="rect">
            <a:avLst/>
          </a:prstGeom>
          <a:noFill/>
          <a:ln w="9525">
            <a:noFill/>
            <a:miter lim="800000"/>
            <a:headEnd/>
            <a:tailEnd/>
          </a:ln>
          <a:effectLst/>
        </p:spPr>
        <p:txBody>
          <a:bodyPr>
            <a:spAutoFit/>
          </a:bodyPr>
          <a:lstStyle/>
          <a:p>
            <a:r>
              <a:rPr lang="zh-CN" altLang="en-US" sz="2000" b="1">
                <a:solidFill>
                  <a:schemeClr val="bg1"/>
                </a:solidFill>
                <a:ea typeface="楷体_GB2312" pitchFamily="49" charset="-122"/>
              </a:rPr>
              <a:t>部分原子的电子排列</a:t>
            </a:r>
          </a:p>
        </p:txBody>
      </p:sp>
      <p:sp>
        <p:nvSpPr>
          <p:cNvPr id="6" name="AutoShape 15">
            <a:hlinkClick r:id="rId3" action="ppaction://hlinksldjump" highlightClick="1"/>
          </p:cNvPr>
          <p:cNvSpPr>
            <a:spLocks noChangeAspect="1" noChangeArrowheads="1"/>
          </p:cNvSpPr>
          <p:nvPr/>
        </p:nvSpPr>
        <p:spPr bwMode="auto">
          <a:xfrm>
            <a:off x="8720138" y="6280150"/>
            <a:ext cx="244475" cy="244475"/>
          </a:xfrm>
          <a:prstGeom prst="actionButtonBeginning">
            <a:avLst/>
          </a:prstGeom>
          <a:solidFill>
            <a:srgbClr val="99CCFF"/>
          </a:solidFill>
          <a:ln w="19050">
            <a:noFill/>
            <a:miter lim="800000"/>
            <a:headEnd/>
            <a:tailEnd/>
          </a:ln>
        </p:spPr>
        <p:txBody>
          <a:bodyPr wrap="none" anchor="ctr"/>
          <a:lstStyle/>
          <a:p>
            <a:endParaRPr lang="zh-CN" altLang="en-US"/>
          </a:p>
        </p:txBody>
      </p:sp>
    </p:spTree>
  </p:cSld>
  <p:clrMapOvr>
    <a:overrideClrMapping bg1="dk2" tx1="lt1" bg2="dk1" tx2="lt2" accent1="accent1" accent2="accent2" accent3="accent3" accent4="accent4" accent5="accent5" accent6="accent6" hlink="hlink" folHlink="folHlink"/>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5732"/>
                                        </p:tgtEl>
                                        <p:attrNameLst>
                                          <p:attrName>style.visibility</p:attrName>
                                        </p:attrNameLst>
                                      </p:cBhvr>
                                      <p:to>
                                        <p:strVal val="visible"/>
                                      </p:to>
                                    </p:set>
                                    <p:animEffect transition="in" filter="dissolve">
                                      <p:cBhvr>
                                        <p:cTn id="7" dur="500"/>
                                        <p:tgtEl>
                                          <p:spTgt spid="1557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528" fill="hold" grpId="0" nodeType="clickEffect">
                                  <p:stCondLst>
                                    <p:cond delay="0"/>
                                  </p:stCondLst>
                                  <p:childTnLst>
                                    <p:set>
                                      <p:cBhvr>
                                        <p:cTn id="11" dur="1" fill="hold">
                                          <p:stCondLst>
                                            <p:cond delay="0"/>
                                          </p:stCondLst>
                                        </p:cTn>
                                        <p:tgtEl>
                                          <p:spTgt spid="155733"/>
                                        </p:tgtEl>
                                        <p:attrNameLst>
                                          <p:attrName>style.visibility</p:attrName>
                                        </p:attrNameLst>
                                      </p:cBhvr>
                                      <p:to>
                                        <p:strVal val="visible"/>
                                      </p:to>
                                    </p:set>
                                    <p:anim calcmode="lin" valueType="num">
                                      <p:cBhvr>
                                        <p:cTn id="12" dur="500" fill="hold"/>
                                        <p:tgtEl>
                                          <p:spTgt spid="155733"/>
                                        </p:tgtEl>
                                        <p:attrNameLst>
                                          <p:attrName>ppt_w</p:attrName>
                                        </p:attrNameLst>
                                      </p:cBhvr>
                                      <p:tavLst>
                                        <p:tav tm="0">
                                          <p:val>
                                            <p:fltVal val="0"/>
                                          </p:val>
                                        </p:tav>
                                        <p:tav tm="100000">
                                          <p:val>
                                            <p:strVal val="#ppt_w"/>
                                          </p:val>
                                        </p:tav>
                                      </p:tavLst>
                                    </p:anim>
                                    <p:anim calcmode="lin" valueType="num">
                                      <p:cBhvr>
                                        <p:cTn id="13" dur="500" fill="hold"/>
                                        <p:tgtEl>
                                          <p:spTgt spid="155733"/>
                                        </p:tgtEl>
                                        <p:attrNameLst>
                                          <p:attrName>ppt_h</p:attrName>
                                        </p:attrNameLst>
                                      </p:cBhvr>
                                      <p:tavLst>
                                        <p:tav tm="0">
                                          <p:val>
                                            <p:fltVal val="0"/>
                                          </p:val>
                                        </p:tav>
                                        <p:tav tm="100000">
                                          <p:val>
                                            <p:strVal val="#ppt_h"/>
                                          </p:val>
                                        </p:tav>
                                      </p:tavLst>
                                    </p:anim>
                                    <p:anim calcmode="lin" valueType="num">
                                      <p:cBhvr>
                                        <p:cTn id="14" dur="500" fill="hold"/>
                                        <p:tgtEl>
                                          <p:spTgt spid="155733"/>
                                        </p:tgtEl>
                                        <p:attrNameLst>
                                          <p:attrName>ppt_x</p:attrName>
                                        </p:attrNameLst>
                                      </p:cBhvr>
                                      <p:tavLst>
                                        <p:tav tm="0">
                                          <p:val>
                                            <p:fltVal val="0.5"/>
                                          </p:val>
                                        </p:tav>
                                        <p:tav tm="100000">
                                          <p:val>
                                            <p:strVal val="#ppt_x"/>
                                          </p:val>
                                        </p:tav>
                                      </p:tavLst>
                                    </p:anim>
                                    <p:anim calcmode="lin" valueType="num">
                                      <p:cBhvr>
                                        <p:cTn id="15" dur="500" fill="hold"/>
                                        <p:tgtEl>
                                          <p:spTgt spid="155733"/>
                                        </p:tgtEl>
                                        <p:attrNameLst>
                                          <p:attrName>ppt_y</p:attrName>
                                        </p:attrNameLst>
                                      </p:cBhvr>
                                      <p:tavLst>
                                        <p:tav tm="0">
                                          <p:val>
                                            <p:fltVal val="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732" grpId="0" animBg="1" autoUpdateAnimBg="0"/>
      <p:bldP spid="155733" grpId="0" animBg="1" autoUpdateAnimBg="0"/>
      <p:bldP spid="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2" name="Rectangle 4"/>
          <p:cNvSpPr>
            <a:spLocks noChangeArrowheads="1"/>
          </p:cNvSpPr>
          <p:nvPr/>
        </p:nvSpPr>
        <p:spPr bwMode="auto">
          <a:xfrm>
            <a:off x="476250" y="458788"/>
            <a:ext cx="7772400" cy="630237"/>
          </a:xfrm>
          <a:prstGeom prst="rect">
            <a:avLst/>
          </a:prstGeom>
          <a:noFill/>
          <a:ln w="9525">
            <a:noFill/>
            <a:miter lim="800000"/>
            <a:headEnd/>
            <a:tailEnd/>
          </a:ln>
        </p:spPr>
        <p:txBody>
          <a:bodyPr/>
          <a:lstStyle/>
          <a:p>
            <a:pPr algn="ctr">
              <a:lnSpc>
                <a:spcPct val="115000"/>
              </a:lnSpc>
            </a:pPr>
            <a:r>
              <a:rPr lang="en-US" altLang="zh-CN" sz="2800" b="1" dirty="0">
                <a:solidFill>
                  <a:srgbClr val="0000FF"/>
                </a:solidFill>
                <a:latin typeface="黑体" pitchFamily="2" charset="-122"/>
                <a:ea typeface="黑体" pitchFamily="2" charset="-122"/>
              </a:rPr>
              <a:t>§13.8 </a:t>
            </a:r>
            <a:r>
              <a:rPr lang="zh-CN" altLang="en-US" sz="2800" b="1" dirty="0">
                <a:solidFill>
                  <a:srgbClr val="0000FF"/>
                </a:solidFill>
                <a:latin typeface="黑体" pitchFamily="2" charset="-122"/>
                <a:ea typeface="黑体" pitchFamily="2" charset="-122"/>
              </a:rPr>
              <a:t>激光原理 </a:t>
            </a:r>
          </a:p>
        </p:txBody>
      </p:sp>
      <p:sp>
        <p:nvSpPr>
          <p:cNvPr id="227333" name="Text Box 5"/>
          <p:cNvSpPr txBox="1">
            <a:spLocks noChangeArrowheads="1"/>
          </p:cNvSpPr>
          <p:nvPr/>
        </p:nvSpPr>
        <p:spPr bwMode="auto">
          <a:xfrm>
            <a:off x="296863" y="1042988"/>
            <a:ext cx="8596312" cy="1354137"/>
          </a:xfrm>
          <a:prstGeom prst="rect">
            <a:avLst/>
          </a:prstGeom>
          <a:noFill/>
          <a:ln w="9525">
            <a:noFill/>
            <a:miter lim="800000"/>
            <a:headEnd/>
            <a:tailEnd/>
          </a:ln>
          <a:effectLst/>
        </p:spPr>
        <p:txBody>
          <a:bodyPr>
            <a:spAutoFit/>
          </a:bodyPr>
          <a:lstStyle/>
          <a:p>
            <a:pPr>
              <a:lnSpc>
                <a:spcPct val="115000"/>
              </a:lnSpc>
            </a:pPr>
            <a:r>
              <a:rPr lang="en-US" altLang="zh-CN">
                <a:solidFill>
                  <a:schemeClr val="bg2"/>
                </a:solidFill>
              </a:rPr>
              <a:t>        </a:t>
            </a:r>
            <a:r>
              <a:rPr lang="zh-CN" altLang="en-US" b="1">
                <a:solidFill>
                  <a:schemeClr val="accent2"/>
                </a:solidFill>
              </a:rPr>
              <a:t>激光（</a:t>
            </a:r>
            <a:r>
              <a:rPr lang="en-US" altLang="zh-CN" b="1">
                <a:solidFill>
                  <a:schemeClr val="accent2"/>
                </a:solidFill>
              </a:rPr>
              <a:t>Laser</a:t>
            </a:r>
            <a:r>
              <a:rPr lang="zh-CN" altLang="en-US" b="1">
                <a:solidFill>
                  <a:schemeClr val="accent2"/>
                </a:solidFill>
              </a:rPr>
              <a:t>）</a:t>
            </a:r>
            <a:r>
              <a:rPr lang="zh-CN" altLang="en-US" b="1">
                <a:solidFill>
                  <a:schemeClr val="bg2"/>
                </a:solidFill>
              </a:rPr>
              <a:t>是受激辐射光放大（</a:t>
            </a:r>
            <a:r>
              <a:rPr lang="en-US" altLang="zh-CN" b="1">
                <a:solidFill>
                  <a:schemeClr val="bg2"/>
                </a:solidFill>
              </a:rPr>
              <a:t>Light Amplification by Stimulated Emission of Radiation</a:t>
            </a:r>
            <a:r>
              <a:rPr lang="zh-CN" altLang="en-US" b="1">
                <a:solidFill>
                  <a:schemeClr val="bg2"/>
                </a:solidFill>
              </a:rPr>
              <a:t>）的简称，能够产生激光的装置称为</a:t>
            </a:r>
            <a:r>
              <a:rPr lang="zh-CN" altLang="en-US" b="1">
                <a:solidFill>
                  <a:schemeClr val="accent2"/>
                </a:solidFill>
              </a:rPr>
              <a:t>激光器</a:t>
            </a:r>
            <a:r>
              <a:rPr lang="zh-CN" altLang="en-US" b="1">
                <a:solidFill>
                  <a:schemeClr val="bg2"/>
                </a:solidFill>
              </a:rPr>
              <a:t>。 </a:t>
            </a:r>
          </a:p>
        </p:txBody>
      </p:sp>
      <p:sp>
        <p:nvSpPr>
          <p:cNvPr id="227334" name="Text Box 6"/>
          <p:cNvSpPr txBox="1">
            <a:spLocks noChangeArrowheads="1"/>
          </p:cNvSpPr>
          <p:nvPr/>
        </p:nvSpPr>
        <p:spPr bwMode="auto">
          <a:xfrm>
            <a:off x="973138" y="2303463"/>
            <a:ext cx="7920037" cy="512762"/>
          </a:xfrm>
          <a:prstGeom prst="rect">
            <a:avLst/>
          </a:prstGeom>
          <a:noFill/>
          <a:ln w="9525">
            <a:noFill/>
            <a:miter lim="800000"/>
            <a:headEnd/>
            <a:tailEnd/>
          </a:ln>
          <a:effectLst/>
        </p:spPr>
        <p:txBody>
          <a:bodyPr>
            <a:spAutoFit/>
          </a:bodyPr>
          <a:lstStyle/>
          <a:p>
            <a:pPr>
              <a:lnSpc>
                <a:spcPct val="115000"/>
              </a:lnSpc>
            </a:pPr>
            <a:r>
              <a:rPr lang="en-US" altLang="zh-CN" b="1">
                <a:solidFill>
                  <a:schemeClr val="bg2"/>
                </a:solidFill>
              </a:rPr>
              <a:t>1917</a:t>
            </a:r>
            <a:r>
              <a:rPr lang="zh-CN" altLang="en-US" b="1">
                <a:solidFill>
                  <a:schemeClr val="bg2"/>
                </a:solidFill>
              </a:rPr>
              <a:t>年，爱因斯坦在其辐射理论中提出受激辐射的概念。</a:t>
            </a:r>
          </a:p>
        </p:txBody>
      </p:sp>
      <p:sp>
        <p:nvSpPr>
          <p:cNvPr id="227335" name="Text Box 7"/>
          <p:cNvSpPr txBox="1">
            <a:spLocks noChangeArrowheads="1"/>
          </p:cNvSpPr>
          <p:nvPr/>
        </p:nvSpPr>
        <p:spPr bwMode="auto">
          <a:xfrm>
            <a:off x="1047750" y="5499100"/>
            <a:ext cx="4468813" cy="512763"/>
          </a:xfrm>
          <a:prstGeom prst="rect">
            <a:avLst/>
          </a:prstGeom>
          <a:noFill/>
          <a:ln w="9525">
            <a:noFill/>
            <a:miter lim="800000"/>
            <a:headEnd/>
            <a:tailEnd/>
          </a:ln>
          <a:effectLst/>
        </p:spPr>
        <p:txBody>
          <a:bodyPr wrap="none">
            <a:spAutoFit/>
          </a:bodyPr>
          <a:lstStyle/>
          <a:p>
            <a:pPr>
              <a:lnSpc>
                <a:spcPct val="115000"/>
              </a:lnSpc>
            </a:pPr>
            <a:r>
              <a:rPr lang="en-US" altLang="zh-CN" b="1">
                <a:solidFill>
                  <a:schemeClr val="bg2"/>
                </a:solidFill>
              </a:rPr>
              <a:t>1964</a:t>
            </a:r>
            <a:r>
              <a:rPr lang="zh-CN" altLang="en-US" b="1">
                <a:solidFill>
                  <a:schemeClr val="bg2"/>
                </a:solidFill>
              </a:rPr>
              <a:t>年钱学森建议使用</a:t>
            </a:r>
            <a:r>
              <a:rPr lang="zh-CN" altLang="en-US" b="1">
                <a:solidFill>
                  <a:srgbClr val="FF6600"/>
                </a:solidFill>
              </a:rPr>
              <a:t>“激光”。</a:t>
            </a:r>
          </a:p>
        </p:txBody>
      </p:sp>
      <p:sp>
        <p:nvSpPr>
          <p:cNvPr id="227336" name="Text Box 8"/>
          <p:cNvSpPr txBox="1">
            <a:spLocks noChangeArrowheads="1"/>
          </p:cNvSpPr>
          <p:nvPr/>
        </p:nvSpPr>
        <p:spPr bwMode="auto">
          <a:xfrm>
            <a:off x="1082675" y="4959350"/>
            <a:ext cx="4929188" cy="512763"/>
          </a:xfrm>
          <a:prstGeom prst="rect">
            <a:avLst/>
          </a:prstGeom>
          <a:noFill/>
          <a:ln w="9525">
            <a:noFill/>
            <a:miter lim="800000"/>
            <a:headEnd/>
            <a:tailEnd/>
          </a:ln>
          <a:effectLst/>
        </p:spPr>
        <p:txBody>
          <a:bodyPr wrap="none">
            <a:spAutoFit/>
          </a:bodyPr>
          <a:lstStyle/>
          <a:p>
            <a:pPr>
              <a:lnSpc>
                <a:spcPct val="115000"/>
              </a:lnSpc>
            </a:pPr>
            <a:r>
              <a:rPr lang="en-US" altLang="zh-CN" b="1">
                <a:solidFill>
                  <a:schemeClr val="bg2"/>
                </a:solidFill>
              </a:rPr>
              <a:t>1961</a:t>
            </a:r>
            <a:r>
              <a:rPr lang="zh-CN" altLang="en-US" b="1">
                <a:solidFill>
                  <a:schemeClr val="bg2"/>
                </a:solidFill>
              </a:rPr>
              <a:t>年</a:t>
            </a:r>
            <a:r>
              <a:rPr lang="en-US" altLang="zh-CN" b="1">
                <a:solidFill>
                  <a:schemeClr val="bg2"/>
                </a:solidFill>
              </a:rPr>
              <a:t>9</a:t>
            </a:r>
            <a:r>
              <a:rPr lang="zh-CN" altLang="en-US" b="1">
                <a:solidFill>
                  <a:schemeClr val="bg2"/>
                </a:solidFill>
              </a:rPr>
              <a:t>月我国第一台激光器问世。</a:t>
            </a:r>
          </a:p>
        </p:txBody>
      </p:sp>
      <p:sp>
        <p:nvSpPr>
          <p:cNvPr id="227337" name="Text Box 9"/>
          <p:cNvSpPr txBox="1">
            <a:spLocks noChangeArrowheads="1"/>
          </p:cNvSpPr>
          <p:nvPr/>
        </p:nvSpPr>
        <p:spPr bwMode="auto">
          <a:xfrm>
            <a:off x="469900" y="4059238"/>
            <a:ext cx="8016875" cy="933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defRPr/>
            </a:pPr>
            <a:r>
              <a:rPr lang="en-US" altLang="zh-CN" b="1" dirty="0">
                <a:solidFill>
                  <a:schemeClr val="bg2"/>
                </a:solidFill>
                <a:effectLst>
                  <a:outerShdw blurRad="38100" dist="38100" dir="2700000" algn="tl">
                    <a:srgbClr val="FFFFFF"/>
                  </a:outerShdw>
                </a:effectLst>
                <a:ea typeface="宋体" pitchFamily="2" charset="-122"/>
              </a:rPr>
              <a:t>        1960</a:t>
            </a:r>
            <a:r>
              <a:rPr lang="zh-CN" altLang="en-US" b="1" dirty="0">
                <a:solidFill>
                  <a:schemeClr val="bg2"/>
                </a:solidFill>
                <a:effectLst>
                  <a:outerShdw blurRad="38100" dist="38100" dir="2700000" algn="tl">
                    <a:srgbClr val="FFFFFF"/>
                  </a:outerShdw>
                </a:effectLst>
                <a:ea typeface="宋体" pitchFamily="2" charset="-122"/>
              </a:rPr>
              <a:t>年，梅曼成功制成第一台红宝石激光器。同年， 雅文又制成了氦氖激光器。</a:t>
            </a:r>
          </a:p>
        </p:txBody>
      </p:sp>
      <p:sp>
        <p:nvSpPr>
          <p:cNvPr id="227338" name="Text Box 10"/>
          <p:cNvSpPr txBox="1">
            <a:spLocks noChangeArrowheads="1"/>
          </p:cNvSpPr>
          <p:nvPr/>
        </p:nvSpPr>
        <p:spPr bwMode="auto">
          <a:xfrm>
            <a:off x="385763" y="2843213"/>
            <a:ext cx="7920037" cy="1354137"/>
          </a:xfrm>
          <a:prstGeom prst="rect">
            <a:avLst/>
          </a:prstGeom>
          <a:noFill/>
          <a:ln w="9525">
            <a:noFill/>
            <a:miter lim="800000"/>
            <a:headEnd/>
            <a:tailEnd/>
          </a:ln>
          <a:effectLst/>
        </p:spPr>
        <p:txBody>
          <a:bodyPr>
            <a:spAutoFit/>
          </a:bodyPr>
          <a:lstStyle/>
          <a:p>
            <a:pPr>
              <a:lnSpc>
                <a:spcPct val="115000"/>
              </a:lnSpc>
            </a:pPr>
            <a:r>
              <a:rPr lang="en-US" altLang="zh-CN" b="1">
                <a:solidFill>
                  <a:schemeClr val="bg2"/>
                </a:solidFill>
              </a:rPr>
              <a:t>        1958</a:t>
            </a:r>
            <a:r>
              <a:rPr lang="zh-CN" altLang="en-US" b="1">
                <a:solidFill>
                  <a:schemeClr val="bg2"/>
                </a:solidFill>
              </a:rPr>
              <a:t>年美国肖洛、汤斯以及前苏联的普洛霍洛夫几乎同时提出用平行平面镜作为光的谐振腔，用镜面反射实现光的反馈，并因此获</a:t>
            </a:r>
            <a:r>
              <a:rPr lang="en-US" altLang="zh-CN" b="1">
                <a:solidFill>
                  <a:schemeClr val="bg2"/>
                </a:solidFill>
              </a:rPr>
              <a:t>1964</a:t>
            </a:r>
            <a:r>
              <a:rPr lang="zh-CN" altLang="en-US" b="1">
                <a:solidFill>
                  <a:schemeClr val="bg2"/>
                </a:solidFill>
              </a:rPr>
              <a:t>年诺贝尔物理奖。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7332"/>
                                        </p:tgtEl>
                                        <p:attrNameLst>
                                          <p:attrName>style.visibility</p:attrName>
                                        </p:attrNameLst>
                                      </p:cBhvr>
                                      <p:to>
                                        <p:strVal val="visible"/>
                                      </p:to>
                                    </p:set>
                                    <p:animEffect transition="in" filter="wipe(left)">
                                      <p:cBhvr>
                                        <p:cTn id="7" dur="500"/>
                                        <p:tgtEl>
                                          <p:spTgt spid="2273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7333"/>
                                        </p:tgtEl>
                                        <p:attrNameLst>
                                          <p:attrName>style.visibility</p:attrName>
                                        </p:attrNameLst>
                                      </p:cBhvr>
                                      <p:to>
                                        <p:strVal val="visible"/>
                                      </p:to>
                                    </p:set>
                                    <p:animEffect transition="in" filter="wipe(left)">
                                      <p:cBhvr>
                                        <p:cTn id="12" dur="500"/>
                                        <p:tgtEl>
                                          <p:spTgt spid="2273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7334"/>
                                        </p:tgtEl>
                                        <p:attrNameLst>
                                          <p:attrName>style.visibility</p:attrName>
                                        </p:attrNameLst>
                                      </p:cBhvr>
                                      <p:to>
                                        <p:strVal val="visible"/>
                                      </p:to>
                                    </p:set>
                                    <p:animEffect transition="in" filter="wipe(left)">
                                      <p:cBhvr>
                                        <p:cTn id="17" dur="500"/>
                                        <p:tgtEl>
                                          <p:spTgt spid="2273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7338"/>
                                        </p:tgtEl>
                                        <p:attrNameLst>
                                          <p:attrName>style.visibility</p:attrName>
                                        </p:attrNameLst>
                                      </p:cBhvr>
                                      <p:to>
                                        <p:strVal val="visible"/>
                                      </p:to>
                                    </p:set>
                                    <p:animEffect transition="in" filter="wipe(left)">
                                      <p:cBhvr>
                                        <p:cTn id="22" dur="500"/>
                                        <p:tgtEl>
                                          <p:spTgt spid="2273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7337"/>
                                        </p:tgtEl>
                                        <p:attrNameLst>
                                          <p:attrName>style.visibility</p:attrName>
                                        </p:attrNameLst>
                                      </p:cBhvr>
                                      <p:to>
                                        <p:strVal val="visible"/>
                                      </p:to>
                                    </p:set>
                                    <p:animEffect transition="in" filter="wipe(left)">
                                      <p:cBhvr>
                                        <p:cTn id="27" dur="500"/>
                                        <p:tgtEl>
                                          <p:spTgt spid="22733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7336"/>
                                        </p:tgtEl>
                                        <p:attrNameLst>
                                          <p:attrName>style.visibility</p:attrName>
                                        </p:attrNameLst>
                                      </p:cBhvr>
                                      <p:to>
                                        <p:strVal val="visible"/>
                                      </p:to>
                                    </p:set>
                                    <p:animEffect transition="in" filter="wipe(left)">
                                      <p:cBhvr>
                                        <p:cTn id="32" dur="500"/>
                                        <p:tgtEl>
                                          <p:spTgt spid="2273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7335"/>
                                        </p:tgtEl>
                                        <p:attrNameLst>
                                          <p:attrName>style.visibility</p:attrName>
                                        </p:attrNameLst>
                                      </p:cBhvr>
                                      <p:to>
                                        <p:strVal val="visible"/>
                                      </p:to>
                                    </p:set>
                                    <p:animEffect transition="in" filter="wipe(left)">
                                      <p:cBhvr>
                                        <p:cTn id="37" dur="500"/>
                                        <p:tgtEl>
                                          <p:spTgt spid="227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2" grpId="0"/>
      <p:bldP spid="227333" grpId="0"/>
      <p:bldP spid="227334" grpId="0"/>
      <p:bldP spid="227335" grpId="0"/>
      <p:bldP spid="227336" grpId="0"/>
      <p:bldP spid="227337" grpId="0"/>
      <p:bldP spid="22733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6" name="Text Box 4"/>
          <p:cNvSpPr txBox="1">
            <a:spLocks noChangeArrowheads="1"/>
          </p:cNvSpPr>
          <p:nvPr/>
        </p:nvSpPr>
        <p:spPr bwMode="auto">
          <a:xfrm>
            <a:off x="341313" y="503238"/>
            <a:ext cx="3825875" cy="457200"/>
          </a:xfrm>
          <a:prstGeom prst="rect">
            <a:avLst/>
          </a:prstGeom>
          <a:noFill/>
          <a:ln w="9525">
            <a:noFill/>
            <a:miter lim="800000"/>
            <a:headEnd/>
            <a:tailEnd/>
          </a:ln>
          <a:effectLst/>
        </p:spPr>
        <p:txBody>
          <a:bodyPr>
            <a:spAutoFit/>
          </a:bodyPr>
          <a:lstStyle/>
          <a:p>
            <a:pPr>
              <a:spcBef>
                <a:spcPct val="50000"/>
              </a:spcBef>
            </a:pPr>
            <a:r>
              <a:rPr lang="en-US" altLang="zh-CN" b="1" dirty="0" smtClean="0">
                <a:solidFill>
                  <a:srgbClr val="3333CC"/>
                </a:solidFill>
              </a:rPr>
              <a:t>13.8.1 </a:t>
            </a:r>
            <a:r>
              <a:rPr lang="zh-CN" altLang="en-US" b="1" dirty="0" smtClean="0">
                <a:solidFill>
                  <a:srgbClr val="3333CC"/>
                </a:solidFill>
              </a:rPr>
              <a:t>原子</a:t>
            </a:r>
            <a:r>
              <a:rPr lang="zh-CN" altLang="en-US" b="1" dirty="0">
                <a:solidFill>
                  <a:srgbClr val="3333CC"/>
                </a:solidFill>
              </a:rPr>
              <a:t>的自发辐射</a:t>
            </a:r>
            <a:r>
              <a:rPr lang="zh-CN" altLang="en-US" dirty="0">
                <a:solidFill>
                  <a:srgbClr val="3333CC"/>
                </a:solidFill>
              </a:rPr>
              <a:t> </a:t>
            </a:r>
          </a:p>
        </p:txBody>
      </p:sp>
      <p:grpSp>
        <p:nvGrpSpPr>
          <p:cNvPr id="228359" name="Group 7"/>
          <p:cNvGrpSpPr>
            <a:grpSpLocks/>
          </p:cNvGrpSpPr>
          <p:nvPr/>
        </p:nvGrpSpPr>
        <p:grpSpPr bwMode="auto">
          <a:xfrm>
            <a:off x="522288" y="908050"/>
            <a:ext cx="8010525" cy="1354138"/>
            <a:chOff x="329" y="657"/>
            <a:chExt cx="5046" cy="853"/>
          </a:xfrm>
        </p:grpSpPr>
        <p:sp>
          <p:nvSpPr>
            <p:cNvPr id="73763" name="Text Box 5"/>
            <p:cNvSpPr txBox="1">
              <a:spLocks noChangeArrowheads="1"/>
            </p:cNvSpPr>
            <p:nvPr/>
          </p:nvSpPr>
          <p:spPr bwMode="auto">
            <a:xfrm>
              <a:off x="329" y="657"/>
              <a:ext cx="5046" cy="853"/>
            </a:xfrm>
            <a:prstGeom prst="rect">
              <a:avLst/>
            </a:prstGeom>
            <a:noFill/>
            <a:ln w="9525">
              <a:noFill/>
              <a:miter lim="800000"/>
              <a:headEnd/>
              <a:tailEnd/>
            </a:ln>
            <a:effectLst/>
          </p:spPr>
          <p:txBody>
            <a:bodyPr>
              <a:spAutoFit/>
            </a:bodyPr>
            <a:lstStyle/>
            <a:p>
              <a:pPr>
                <a:lnSpc>
                  <a:spcPct val="115000"/>
                </a:lnSpc>
              </a:pPr>
              <a:r>
                <a:rPr lang="en-US" altLang="zh-CN" b="1">
                  <a:solidFill>
                    <a:schemeClr val="bg2"/>
                  </a:solidFill>
                </a:rPr>
                <a:t>       </a:t>
              </a:r>
              <a:r>
                <a:rPr lang="zh-CN" altLang="en-US" b="1">
                  <a:solidFill>
                    <a:schemeClr val="bg2"/>
                  </a:solidFill>
                </a:rPr>
                <a:t>在没有外界影响下，电子会由高能级</a:t>
              </a:r>
              <a:r>
                <a:rPr lang="en-US" altLang="zh-CN" b="1" i="1">
                  <a:solidFill>
                    <a:schemeClr val="bg2"/>
                  </a:solidFill>
                </a:rPr>
                <a:t>E</a:t>
              </a:r>
              <a:r>
                <a:rPr lang="en-US" altLang="zh-CN" b="1" baseline="-25000">
                  <a:solidFill>
                    <a:schemeClr val="bg2"/>
                  </a:solidFill>
                </a:rPr>
                <a:t>2</a:t>
              </a:r>
              <a:r>
                <a:rPr lang="zh-CN" altLang="en-US" b="1">
                  <a:solidFill>
                    <a:schemeClr val="bg2"/>
                  </a:solidFill>
                </a:rPr>
                <a:t>自发地向低能级</a:t>
              </a:r>
              <a:r>
                <a:rPr lang="en-US" altLang="zh-CN" b="1" i="1">
                  <a:solidFill>
                    <a:schemeClr val="bg2"/>
                  </a:solidFill>
                </a:rPr>
                <a:t>E</a:t>
              </a:r>
              <a:r>
                <a:rPr lang="en-US" altLang="zh-CN" b="1" baseline="-25000">
                  <a:solidFill>
                    <a:schemeClr val="bg2"/>
                  </a:solidFill>
                </a:rPr>
                <a:t>1</a:t>
              </a:r>
              <a:r>
                <a:rPr lang="zh-CN" altLang="en-US" b="1">
                  <a:solidFill>
                    <a:schemeClr val="bg2"/>
                  </a:solidFill>
                </a:rPr>
                <a:t>跃迁，并发出一个能量为的                  光子，这种过程称为</a:t>
              </a:r>
              <a:r>
                <a:rPr lang="zh-CN" altLang="en-US" b="1">
                  <a:solidFill>
                    <a:srgbClr val="FF0000"/>
                  </a:solidFill>
                </a:rPr>
                <a:t>自发辐射</a:t>
              </a:r>
              <a:r>
                <a:rPr lang="zh-CN" altLang="en-US" b="1">
                  <a:solidFill>
                    <a:schemeClr val="bg2"/>
                  </a:solidFill>
                </a:rPr>
                <a:t>． </a:t>
              </a:r>
            </a:p>
          </p:txBody>
        </p:sp>
        <p:graphicFrame>
          <p:nvGraphicFramePr>
            <p:cNvPr id="73764" name="Object 6"/>
            <p:cNvGraphicFramePr>
              <a:graphicFrameLocks noChangeAspect="1"/>
            </p:cNvGraphicFramePr>
            <p:nvPr/>
          </p:nvGraphicFramePr>
          <p:xfrm>
            <a:off x="3078" y="998"/>
            <a:ext cx="847" cy="228"/>
          </p:xfrm>
          <a:graphic>
            <a:graphicData uri="http://schemas.openxmlformats.org/presentationml/2006/ole">
              <p:oleObj spid="_x0000_s73764" name="公式" r:id="rId3" imgW="667800" imgH="171360" progId="Equation.3">
                <p:embed/>
              </p:oleObj>
            </a:graphicData>
          </a:graphic>
        </p:graphicFrame>
      </p:grpSp>
      <p:grpSp>
        <p:nvGrpSpPr>
          <p:cNvPr id="228360" name="Group 8"/>
          <p:cNvGrpSpPr>
            <a:grpSpLocks/>
          </p:cNvGrpSpPr>
          <p:nvPr/>
        </p:nvGrpSpPr>
        <p:grpSpPr bwMode="auto">
          <a:xfrm>
            <a:off x="5457825" y="2241550"/>
            <a:ext cx="1250950" cy="381000"/>
            <a:chOff x="3492" y="816"/>
            <a:chExt cx="788" cy="240"/>
          </a:xfrm>
        </p:grpSpPr>
        <p:sp>
          <p:nvSpPr>
            <p:cNvPr id="73761" name="Line 9"/>
            <p:cNvSpPr>
              <a:spLocks noChangeShapeType="1"/>
            </p:cNvSpPr>
            <p:nvPr/>
          </p:nvSpPr>
          <p:spPr bwMode="auto">
            <a:xfrm>
              <a:off x="3936" y="912"/>
              <a:ext cx="344" cy="0"/>
            </a:xfrm>
            <a:prstGeom prst="line">
              <a:avLst/>
            </a:prstGeom>
            <a:noFill/>
            <a:ln w="19050">
              <a:solidFill>
                <a:srgbClr val="FF0000"/>
              </a:solidFill>
              <a:round/>
              <a:headEnd type="none" w="med" len="sm"/>
              <a:tailEnd type="triangle" w="med" len="lg"/>
            </a:ln>
            <a:effectLst/>
          </p:spPr>
          <p:txBody>
            <a:bodyPr/>
            <a:lstStyle/>
            <a:p>
              <a:endParaRPr lang="zh-CN" altLang="en-US"/>
            </a:p>
          </p:txBody>
        </p:sp>
        <p:sp>
          <p:nvSpPr>
            <p:cNvPr id="73762" name="Rectangle 10"/>
            <p:cNvSpPr>
              <a:spLocks noChangeArrowheads="1"/>
            </p:cNvSpPr>
            <p:nvPr/>
          </p:nvSpPr>
          <p:spPr bwMode="auto">
            <a:xfrm>
              <a:off x="3492" y="816"/>
              <a:ext cx="540" cy="240"/>
            </a:xfrm>
            <a:prstGeom prst="rect">
              <a:avLst/>
            </a:prstGeom>
            <a:noFill/>
            <a:ln w="25400">
              <a:noFill/>
              <a:miter lim="800000"/>
              <a:headEnd/>
              <a:tailEnd/>
            </a:ln>
            <a:effectLst/>
          </p:spPr>
          <p:txBody>
            <a:bodyPr lIns="12700" tIns="12700" rIns="12700" bIns="12700"/>
            <a:lstStyle/>
            <a:p>
              <a:pPr algn="just"/>
              <a:r>
                <a:rPr lang="zh-CN" altLang="en-US" sz="2000" b="1">
                  <a:solidFill>
                    <a:srgbClr val="0000FF"/>
                  </a:solidFill>
                  <a:latin typeface="宋体" charset="-122"/>
                </a:rPr>
                <a:t>波列</a:t>
              </a:r>
              <a:endParaRPr lang="zh-CN" altLang="en-US" sz="2000">
                <a:solidFill>
                  <a:srgbClr val="0000FF"/>
                </a:solidFill>
                <a:latin typeface="宋体" charset="-122"/>
              </a:endParaRPr>
            </a:p>
          </p:txBody>
        </p:sp>
      </p:grpSp>
      <p:grpSp>
        <p:nvGrpSpPr>
          <p:cNvPr id="228363" name="Group 11"/>
          <p:cNvGrpSpPr>
            <a:grpSpLocks/>
          </p:cNvGrpSpPr>
          <p:nvPr/>
        </p:nvGrpSpPr>
        <p:grpSpPr bwMode="auto">
          <a:xfrm>
            <a:off x="1381125" y="2471738"/>
            <a:ext cx="1658938" cy="455612"/>
            <a:chOff x="924" y="961"/>
            <a:chExt cx="1045" cy="287"/>
          </a:xfrm>
        </p:grpSpPr>
        <p:sp>
          <p:nvSpPr>
            <p:cNvPr id="73759" name="Rectangle 12"/>
            <p:cNvSpPr>
              <a:spLocks noChangeArrowheads="1"/>
            </p:cNvSpPr>
            <p:nvPr/>
          </p:nvSpPr>
          <p:spPr bwMode="auto">
            <a:xfrm>
              <a:off x="1248" y="1104"/>
              <a:ext cx="721" cy="96"/>
            </a:xfrm>
            <a:prstGeom prst="rect">
              <a:avLst/>
            </a:prstGeom>
            <a:solidFill>
              <a:srgbClr val="00FFFF"/>
            </a:solidFill>
            <a:ln w="9525">
              <a:solidFill>
                <a:schemeClr val="tx1"/>
              </a:solidFill>
              <a:miter lim="800000"/>
              <a:headEnd/>
              <a:tailEnd/>
            </a:ln>
            <a:effectLst/>
          </p:spPr>
          <p:txBody>
            <a:bodyPr wrap="none" anchor="ctr"/>
            <a:lstStyle/>
            <a:p>
              <a:endParaRPr lang="zh-CN" altLang="en-US"/>
            </a:p>
          </p:txBody>
        </p:sp>
        <p:sp>
          <p:nvSpPr>
            <p:cNvPr id="73760" name="Text Box 13"/>
            <p:cNvSpPr txBox="1">
              <a:spLocks noChangeArrowheads="1"/>
            </p:cNvSpPr>
            <p:nvPr/>
          </p:nvSpPr>
          <p:spPr bwMode="auto">
            <a:xfrm>
              <a:off x="924" y="961"/>
              <a:ext cx="308" cy="287"/>
            </a:xfrm>
            <a:prstGeom prst="rect">
              <a:avLst/>
            </a:prstGeom>
            <a:noFill/>
            <a:ln w="9525">
              <a:noFill/>
              <a:miter lim="800000"/>
              <a:headEnd/>
              <a:tailEnd/>
            </a:ln>
            <a:effectLst/>
          </p:spPr>
          <p:txBody>
            <a:bodyPr wrap="none">
              <a:spAutoFit/>
            </a:bodyPr>
            <a:lstStyle/>
            <a:p>
              <a:r>
                <a:rPr lang="en-US" altLang="zh-CN" b="1" i="1">
                  <a:solidFill>
                    <a:srgbClr val="0000FF"/>
                  </a:solidFill>
                </a:rPr>
                <a:t>E</a:t>
              </a:r>
              <a:r>
                <a:rPr lang="en-US" altLang="zh-CN" b="1" baseline="-20000">
                  <a:solidFill>
                    <a:srgbClr val="0000FF"/>
                  </a:solidFill>
                </a:rPr>
                <a:t>2</a:t>
              </a:r>
              <a:endParaRPr lang="en-US" altLang="zh-CN" b="1">
                <a:solidFill>
                  <a:srgbClr val="0000FF"/>
                </a:solidFill>
              </a:endParaRPr>
            </a:p>
          </p:txBody>
        </p:sp>
      </p:grpSp>
      <p:grpSp>
        <p:nvGrpSpPr>
          <p:cNvPr id="228366" name="Group 14"/>
          <p:cNvGrpSpPr>
            <a:grpSpLocks/>
          </p:cNvGrpSpPr>
          <p:nvPr/>
        </p:nvGrpSpPr>
        <p:grpSpPr bwMode="auto">
          <a:xfrm>
            <a:off x="1362075" y="3481388"/>
            <a:ext cx="1744663" cy="457200"/>
            <a:chOff x="912" y="1597"/>
            <a:chExt cx="1099" cy="288"/>
          </a:xfrm>
        </p:grpSpPr>
        <p:sp>
          <p:nvSpPr>
            <p:cNvPr id="73757" name="Rectangle 15"/>
            <p:cNvSpPr>
              <a:spLocks noChangeArrowheads="1"/>
            </p:cNvSpPr>
            <p:nvPr/>
          </p:nvSpPr>
          <p:spPr bwMode="auto">
            <a:xfrm>
              <a:off x="1248" y="1680"/>
              <a:ext cx="763" cy="96"/>
            </a:xfrm>
            <a:prstGeom prst="rect">
              <a:avLst/>
            </a:prstGeom>
            <a:solidFill>
              <a:srgbClr val="00FFFF"/>
            </a:solidFill>
            <a:ln w="9525">
              <a:solidFill>
                <a:schemeClr val="tx1"/>
              </a:solidFill>
              <a:miter lim="800000"/>
              <a:headEnd/>
              <a:tailEnd/>
            </a:ln>
            <a:effectLst/>
          </p:spPr>
          <p:txBody>
            <a:bodyPr wrap="none" anchor="ctr"/>
            <a:lstStyle/>
            <a:p>
              <a:endParaRPr lang="zh-CN" altLang="en-US"/>
            </a:p>
          </p:txBody>
        </p:sp>
        <p:sp>
          <p:nvSpPr>
            <p:cNvPr id="73758" name="Text Box 16"/>
            <p:cNvSpPr txBox="1">
              <a:spLocks noChangeArrowheads="1"/>
            </p:cNvSpPr>
            <p:nvPr/>
          </p:nvSpPr>
          <p:spPr bwMode="auto">
            <a:xfrm>
              <a:off x="912" y="1597"/>
              <a:ext cx="308" cy="288"/>
            </a:xfrm>
            <a:prstGeom prst="rect">
              <a:avLst/>
            </a:prstGeom>
            <a:noFill/>
            <a:ln w="9525">
              <a:noFill/>
              <a:miter lim="800000"/>
              <a:headEnd/>
              <a:tailEnd/>
            </a:ln>
            <a:effectLst/>
          </p:spPr>
          <p:txBody>
            <a:bodyPr wrap="none">
              <a:spAutoFit/>
            </a:bodyPr>
            <a:lstStyle/>
            <a:p>
              <a:r>
                <a:rPr lang="en-US" altLang="zh-CN" b="1" i="1">
                  <a:solidFill>
                    <a:srgbClr val="0000FF"/>
                  </a:solidFill>
                </a:rPr>
                <a:t>E</a:t>
              </a:r>
              <a:r>
                <a:rPr lang="en-US" altLang="zh-CN" b="1" baseline="-20000">
                  <a:solidFill>
                    <a:srgbClr val="0000FF"/>
                  </a:solidFill>
                </a:rPr>
                <a:t>1</a:t>
              </a:r>
              <a:endParaRPr lang="en-US" altLang="zh-CN" b="1">
                <a:solidFill>
                  <a:srgbClr val="0000FF"/>
                </a:solidFill>
              </a:endParaRPr>
            </a:p>
          </p:txBody>
        </p:sp>
      </p:grpSp>
      <p:sp>
        <p:nvSpPr>
          <p:cNvPr id="228369" name="Freeform 17"/>
          <p:cNvSpPr>
            <a:spLocks/>
          </p:cNvSpPr>
          <p:nvPr/>
        </p:nvSpPr>
        <p:spPr bwMode="auto">
          <a:xfrm>
            <a:off x="3389313" y="3079750"/>
            <a:ext cx="792162" cy="207963"/>
          </a:xfrm>
          <a:custGeom>
            <a:avLst/>
            <a:gdLst>
              <a:gd name="T0" fmla="*/ 0 w 865"/>
              <a:gd name="T1" fmla="*/ 203574850 h 159"/>
              <a:gd name="T2" fmla="*/ 111544652 w 865"/>
              <a:gd name="T3" fmla="*/ 5132370 h 159"/>
              <a:gd name="T4" fmla="*/ 222249520 w 865"/>
              <a:gd name="T5" fmla="*/ 230946181 h 159"/>
              <a:gd name="T6" fmla="*/ 363148124 w 865"/>
              <a:gd name="T7" fmla="*/ 5132370 h 159"/>
              <a:gd name="T8" fmla="*/ 473853908 w 865"/>
              <a:gd name="T9" fmla="*/ 251475661 h 159"/>
              <a:gd name="T10" fmla="*/ 584559693 w 865"/>
              <a:gd name="T11" fmla="*/ 128304015 h 159"/>
              <a:gd name="T12" fmla="*/ 725457381 w 865"/>
              <a:gd name="T13" fmla="*/ 107774536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3300"/>
            </a:solidFill>
            <a:prstDash val="solid"/>
            <a:round/>
            <a:headEnd type="none" w="med" len="med"/>
            <a:tailEnd type="triangle" w="med" len="med"/>
          </a:ln>
          <a:effectLst/>
        </p:spPr>
        <p:txBody>
          <a:bodyPr wrap="none" anchor="ctr"/>
          <a:lstStyle/>
          <a:p>
            <a:endParaRPr lang="zh-CN" altLang="en-US"/>
          </a:p>
        </p:txBody>
      </p:sp>
      <p:graphicFrame>
        <p:nvGraphicFramePr>
          <p:cNvPr id="228370" name="Object 18"/>
          <p:cNvGraphicFramePr>
            <a:graphicFrameLocks/>
          </p:cNvGraphicFramePr>
          <p:nvPr/>
        </p:nvGraphicFramePr>
        <p:xfrm>
          <a:off x="3190875" y="3384550"/>
          <a:ext cx="1816100" cy="336550"/>
        </p:xfrm>
        <a:graphic>
          <a:graphicData uri="http://schemas.openxmlformats.org/presentationml/2006/ole">
            <p:oleObj spid="_x0000_s73736" name="公式" r:id="rId4" imgW="1913760" imgH="342720" progId="Equation.3">
              <p:embed/>
            </p:oleObj>
          </a:graphicData>
        </a:graphic>
      </p:graphicFrame>
      <p:sp>
        <p:nvSpPr>
          <p:cNvPr id="228371" name="Freeform 19"/>
          <p:cNvSpPr>
            <a:spLocks/>
          </p:cNvSpPr>
          <p:nvPr/>
        </p:nvSpPr>
        <p:spPr bwMode="auto">
          <a:xfrm>
            <a:off x="5278438" y="2790825"/>
            <a:ext cx="2246312" cy="596900"/>
          </a:xfrm>
          <a:custGeom>
            <a:avLst/>
            <a:gdLst>
              <a:gd name="T0" fmla="*/ 0 w 1237"/>
              <a:gd name="T1" fmla="*/ 328482307 h 529"/>
              <a:gd name="T2" fmla="*/ 237428096 w 1237"/>
              <a:gd name="T3" fmla="*/ 53473890 h 529"/>
              <a:gd name="T4" fmla="*/ 478155747 w 1237"/>
              <a:gd name="T5" fmla="*/ 649324520 h 529"/>
              <a:gd name="T6" fmla="*/ 712286105 w 1237"/>
              <a:gd name="T7" fmla="*/ 38195958 h 529"/>
              <a:gd name="T8" fmla="*/ 989287064 w 1237"/>
              <a:gd name="T9" fmla="*/ 653144003 h 529"/>
              <a:gd name="T10" fmla="*/ 1266286207 w 1237"/>
              <a:gd name="T11" fmla="*/ 22916898 h 529"/>
              <a:gd name="T12" fmla="*/ 1543287165 w 1237"/>
              <a:gd name="T13" fmla="*/ 634046588 h 529"/>
              <a:gd name="T14" fmla="*/ 1820286308 w 1237"/>
              <a:gd name="T15" fmla="*/ 38195958 h 529"/>
              <a:gd name="T16" fmla="*/ 2018143358 w 1237"/>
              <a:gd name="T17" fmla="*/ 634046588 h 529"/>
              <a:gd name="T18" fmla="*/ 2147483647 w 1237"/>
              <a:gd name="T19" fmla="*/ 38195958 h 529"/>
              <a:gd name="T20" fmla="*/ 2147483647 w 1237"/>
              <a:gd name="T21" fmla="*/ 634046588 h 529"/>
              <a:gd name="T22" fmla="*/ 2147483647 w 1237"/>
              <a:gd name="T23" fmla="*/ 22916898 h 529"/>
              <a:gd name="T24" fmla="*/ 2147483647 w 1237"/>
              <a:gd name="T25" fmla="*/ 634046588 h 529"/>
              <a:gd name="T26" fmla="*/ 2147483647 w 1237"/>
              <a:gd name="T27" fmla="*/ 26736381 h 529"/>
              <a:gd name="T28" fmla="*/ 2147483647 w 1237"/>
              <a:gd name="T29" fmla="*/ 634046588 h 529"/>
              <a:gd name="T30" fmla="*/ 2147483647 w 1237"/>
              <a:gd name="T31" fmla="*/ 42015441 h 529"/>
              <a:gd name="T32" fmla="*/ 2147483647 w 1237"/>
              <a:gd name="T33" fmla="*/ 618768656 h 529"/>
              <a:gd name="T34" fmla="*/ 2147483647 w 1237"/>
              <a:gd name="T35" fmla="*/ 374316103 h 5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37" h="529">
                <a:moveTo>
                  <a:pt x="0" y="258"/>
                </a:moveTo>
                <a:cubicBezTo>
                  <a:pt x="14" y="222"/>
                  <a:pt x="48" y="0"/>
                  <a:pt x="72" y="42"/>
                </a:cubicBezTo>
                <a:cubicBezTo>
                  <a:pt x="96" y="84"/>
                  <a:pt x="121" y="512"/>
                  <a:pt x="145" y="510"/>
                </a:cubicBezTo>
                <a:cubicBezTo>
                  <a:pt x="169" y="508"/>
                  <a:pt x="190" y="30"/>
                  <a:pt x="216" y="30"/>
                </a:cubicBezTo>
                <a:cubicBezTo>
                  <a:pt x="242" y="30"/>
                  <a:pt x="272" y="515"/>
                  <a:pt x="300" y="513"/>
                </a:cubicBezTo>
                <a:cubicBezTo>
                  <a:pt x="328" y="511"/>
                  <a:pt x="356" y="20"/>
                  <a:pt x="384" y="18"/>
                </a:cubicBezTo>
                <a:cubicBezTo>
                  <a:pt x="412" y="16"/>
                  <a:pt x="440" y="496"/>
                  <a:pt x="468" y="498"/>
                </a:cubicBezTo>
                <a:cubicBezTo>
                  <a:pt x="496" y="500"/>
                  <a:pt x="528" y="30"/>
                  <a:pt x="552" y="30"/>
                </a:cubicBezTo>
                <a:cubicBezTo>
                  <a:pt x="576" y="30"/>
                  <a:pt x="590" y="498"/>
                  <a:pt x="612" y="498"/>
                </a:cubicBezTo>
                <a:cubicBezTo>
                  <a:pt x="634" y="498"/>
                  <a:pt x="659" y="30"/>
                  <a:pt x="685" y="30"/>
                </a:cubicBezTo>
                <a:cubicBezTo>
                  <a:pt x="711" y="30"/>
                  <a:pt x="742" y="500"/>
                  <a:pt x="768" y="498"/>
                </a:cubicBezTo>
                <a:cubicBezTo>
                  <a:pt x="794" y="496"/>
                  <a:pt x="818" y="18"/>
                  <a:pt x="840" y="18"/>
                </a:cubicBezTo>
                <a:cubicBezTo>
                  <a:pt x="862" y="18"/>
                  <a:pt x="879" y="498"/>
                  <a:pt x="901" y="498"/>
                </a:cubicBezTo>
                <a:cubicBezTo>
                  <a:pt x="923" y="498"/>
                  <a:pt x="951" y="21"/>
                  <a:pt x="975" y="21"/>
                </a:cubicBezTo>
                <a:cubicBezTo>
                  <a:pt x="999" y="21"/>
                  <a:pt x="1022" y="496"/>
                  <a:pt x="1044" y="498"/>
                </a:cubicBezTo>
                <a:cubicBezTo>
                  <a:pt x="1066" y="500"/>
                  <a:pt x="1087" y="35"/>
                  <a:pt x="1107" y="33"/>
                </a:cubicBezTo>
                <a:cubicBezTo>
                  <a:pt x="1127" y="31"/>
                  <a:pt x="1142" y="443"/>
                  <a:pt x="1164" y="486"/>
                </a:cubicBezTo>
                <a:cubicBezTo>
                  <a:pt x="1186" y="529"/>
                  <a:pt x="1222" y="334"/>
                  <a:pt x="1237" y="294"/>
                </a:cubicBezTo>
              </a:path>
            </a:pathLst>
          </a:custGeom>
          <a:noFill/>
          <a:ln w="31750" cap="flat" cmpd="sng">
            <a:solidFill>
              <a:srgbClr val="FF3300"/>
            </a:solidFill>
            <a:prstDash val="solid"/>
            <a:round/>
            <a:headEnd/>
            <a:tailEnd type="none" w="med" len="lg"/>
          </a:ln>
          <a:effectLst/>
        </p:spPr>
        <p:txBody>
          <a:bodyPr wrap="none" anchor="ctr"/>
          <a:lstStyle/>
          <a:p>
            <a:endParaRPr lang="zh-CN" altLang="en-US"/>
          </a:p>
        </p:txBody>
      </p:sp>
      <p:grpSp>
        <p:nvGrpSpPr>
          <p:cNvPr id="228372" name="Group 20"/>
          <p:cNvGrpSpPr>
            <a:grpSpLocks/>
          </p:cNvGrpSpPr>
          <p:nvPr/>
        </p:nvGrpSpPr>
        <p:grpSpPr bwMode="auto">
          <a:xfrm>
            <a:off x="2276475" y="2851150"/>
            <a:ext cx="457200" cy="914400"/>
            <a:chOff x="1488" y="1200"/>
            <a:chExt cx="288" cy="576"/>
          </a:xfrm>
        </p:grpSpPr>
        <p:sp>
          <p:nvSpPr>
            <p:cNvPr id="73755" name="Line 21"/>
            <p:cNvSpPr>
              <a:spLocks noChangeShapeType="1"/>
            </p:cNvSpPr>
            <p:nvPr/>
          </p:nvSpPr>
          <p:spPr bwMode="auto">
            <a:xfrm>
              <a:off x="1607" y="1200"/>
              <a:ext cx="0" cy="358"/>
            </a:xfrm>
            <a:prstGeom prst="line">
              <a:avLst/>
            </a:prstGeom>
            <a:noFill/>
            <a:ln w="28575">
              <a:solidFill>
                <a:srgbClr val="FF9900"/>
              </a:solidFill>
              <a:prstDash val="dash"/>
              <a:round/>
              <a:headEnd/>
              <a:tailEnd type="triangle" w="med" len="lg"/>
            </a:ln>
            <a:effectLst/>
          </p:spPr>
          <p:txBody>
            <a:bodyPr/>
            <a:lstStyle/>
            <a:p>
              <a:endParaRPr lang="zh-CN" altLang="en-US"/>
            </a:p>
          </p:txBody>
        </p:sp>
        <p:graphicFrame>
          <p:nvGraphicFramePr>
            <p:cNvPr id="73756" name="Object 22"/>
            <p:cNvGraphicFramePr>
              <a:graphicFrameLocks noChangeAspect="1"/>
            </p:cNvGraphicFramePr>
            <p:nvPr/>
          </p:nvGraphicFramePr>
          <p:xfrm>
            <a:off x="1488" y="1488"/>
            <a:ext cx="288" cy="288"/>
          </p:xfrm>
          <a:graphic>
            <a:graphicData uri="http://schemas.openxmlformats.org/presentationml/2006/ole">
              <p:oleObj spid="_x0000_s73756" name="Equation" r:id="rId5" imgW="81360" imgH="81720" progId="Equation.3">
                <p:embed/>
              </p:oleObj>
            </a:graphicData>
          </a:graphic>
        </p:graphicFrame>
      </p:grpSp>
      <p:graphicFrame>
        <p:nvGraphicFramePr>
          <p:cNvPr id="228375" name="Object 23"/>
          <p:cNvGraphicFramePr>
            <a:graphicFrameLocks noChangeAspect="1"/>
          </p:cNvGraphicFramePr>
          <p:nvPr/>
        </p:nvGraphicFramePr>
        <p:xfrm>
          <a:off x="2276475" y="2393950"/>
          <a:ext cx="457200" cy="457200"/>
        </p:xfrm>
        <a:graphic>
          <a:graphicData uri="http://schemas.openxmlformats.org/presentationml/2006/ole">
            <p:oleObj spid="_x0000_s73739" name="Equation" r:id="rId6" imgW="81360" imgH="81720" progId="Equation.3">
              <p:embed/>
            </p:oleObj>
          </a:graphicData>
        </a:graphic>
      </p:graphicFrame>
      <p:sp>
        <p:nvSpPr>
          <p:cNvPr id="228376" name="Text Box 24"/>
          <p:cNvSpPr txBox="1">
            <a:spLocks noChangeArrowheads="1"/>
          </p:cNvSpPr>
          <p:nvPr/>
        </p:nvSpPr>
        <p:spPr bwMode="auto">
          <a:xfrm>
            <a:off x="828675" y="2622550"/>
            <a:ext cx="533400" cy="1311275"/>
          </a:xfrm>
          <a:prstGeom prst="rect">
            <a:avLst/>
          </a:prstGeom>
          <a:noFill/>
          <a:ln w="9525">
            <a:noFill/>
            <a:miter lim="800000"/>
            <a:headEnd/>
            <a:tailEnd/>
          </a:ln>
          <a:effectLst/>
        </p:spPr>
        <p:txBody>
          <a:bodyPr>
            <a:spAutoFit/>
          </a:bodyPr>
          <a:lstStyle/>
          <a:p>
            <a:pPr>
              <a:spcBef>
                <a:spcPct val="50000"/>
              </a:spcBef>
            </a:pPr>
            <a:r>
              <a:rPr lang="zh-CN" altLang="en-US" sz="2000" b="1">
                <a:solidFill>
                  <a:srgbClr val="0000FF"/>
                </a:solidFill>
                <a:latin typeface="宋体" charset="-122"/>
              </a:rPr>
              <a:t>自发辐射</a:t>
            </a:r>
          </a:p>
        </p:txBody>
      </p:sp>
      <p:sp>
        <p:nvSpPr>
          <p:cNvPr id="228378" name="Line 26"/>
          <p:cNvSpPr>
            <a:spLocks noChangeShapeType="1"/>
          </p:cNvSpPr>
          <p:nvPr/>
        </p:nvSpPr>
        <p:spPr bwMode="auto">
          <a:xfrm>
            <a:off x="2817813" y="5359400"/>
            <a:ext cx="382587" cy="393700"/>
          </a:xfrm>
          <a:prstGeom prst="line">
            <a:avLst/>
          </a:prstGeom>
          <a:noFill/>
          <a:ln w="12700">
            <a:solidFill>
              <a:schemeClr val="accent2"/>
            </a:solidFill>
            <a:round/>
            <a:headEnd type="none" w="med" len="sm"/>
            <a:tailEnd type="triangle" w="lg" len="med"/>
          </a:ln>
          <a:effectLst/>
        </p:spPr>
        <p:txBody>
          <a:bodyPr/>
          <a:lstStyle/>
          <a:p>
            <a:endParaRPr lang="zh-CN" altLang="en-US"/>
          </a:p>
        </p:txBody>
      </p:sp>
      <p:sp>
        <p:nvSpPr>
          <p:cNvPr id="228379" name="Line 27"/>
          <p:cNvSpPr>
            <a:spLocks noChangeShapeType="1"/>
          </p:cNvSpPr>
          <p:nvPr/>
        </p:nvSpPr>
        <p:spPr bwMode="auto">
          <a:xfrm flipH="1">
            <a:off x="3276600" y="5372100"/>
            <a:ext cx="304800" cy="381000"/>
          </a:xfrm>
          <a:prstGeom prst="line">
            <a:avLst/>
          </a:prstGeom>
          <a:noFill/>
          <a:ln w="12700">
            <a:solidFill>
              <a:srgbClr val="0000FF"/>
            </a:solidFill>
            <a:round/>
            <a:headEnd type="none" w="med" len="sm"/>
            <a:tailEnd type="triangle" w="lg" len="med"/>
          </a:ln>
          <a:effectLst/>
        </p:spPr>
        <p:txBody>
          <a:bodyPr/>
          <a:lstStyle/>
          <a:p>
            <a:endParaRPr lang="zh-CN" altLang="en-US"/>
          </a:p>
        </p:txBody>
      </p:sp>
      <p:sp>
        <p:nvSpPr>
          <p:cNvPr id="228380" name="Rectangle 28"/>
          <p:cNvSpPr>
            <a:spLocks noChangeArrowheads="1"/>
          </p:cNvSpPr>
          <p:nvPr/>
        </p:nvSpPr>
        <p:spPr bwMode="auto">
          <a:xfrm>
            <a:off x="5021263" y="4953000"/>
            <a:ext cx="3741737" cy="533400"/>
          </a:xfrm>
          <a:prstGeom prst="rect">
            <a:avLst/>
          </a:prstGeom>
          <a:noFill/>
          <a:ln w="9525">
            <a:noFill/>
            <a:miter lim="800000"/>
            <a:headEnd/>
            <a:tailEnd/>
          </a:ln>
          <a:effectLst/>
        </p:spPr>
        <p:txBody>
          <a:bodyPr lIns="12700" tIns="12700" rIns="12700" bIns="12700"/>
          <a:lstStyle/>
          <a:p>
            <a:pPr algn="just" eaLnBrk="0" hangingPunct="0"/>
            <a:r>
              <a:rPr kumimoji="0" lang="zh-CN" altLang="en-US" b="1">
                <a:solidFill>
                  <a:srgbClr val="0000FF"/>
                </a:solidFill>
                <a:latin typeface="宋体" charset="-122"/>
              </a:rPr>
              <a:t>非相干</a:t>
            </a:r>
            <a:r>
              <a:rPr kumimoji="0" lang="en-US" altLang="zh-CN" b="1">
                <a:solidFill>
                  <a:srgbClr val="0000FF"/>
                </a:solidFill>
                <a:latin typeface="宋体" charset="-122"/>
              </a:rPr>
              <a:t>(</a:t>
            </a:r>
            <a:r>
              <a:rPr kumimoji="0" lang="zh-CN" altLang="en-US" b="1">
                <a:solidFill>
                  <a:srgbClr val="0000FF"/>
                </a:solidFill>
                <a:latin typeface="宋体" charset="-122"/>
              </a:rPr>
              <a:t>不同原子发的光</a:t>
            </a:r>
            <a:r>
              <a:rPr kumimoji="0" lang="en-US" altLang="zh-CN" b="1">
                <a:solidFill>
                  <a:srgbClr val="0000FF"/>
                </a:solidFill>
                <a:latin typeface="宋体" charset="-122"/>
              </a:rPr>
              <a:t>)</a:t>
            </a:r>
          </a:p>
          <a:p>
            <a:pPr eaLnBrk="0" hangingPunct="0"/>
            <a:endParaRPr kumimoji="0" lang="en-US" altLang="zh-CN">
              <a:solidFill>
                <a:srgbClr val="0000FF"/>
              </a:solidFill>
              <a:latin typeface="宋体" charset="-122"/>
            </a:endParaRPr>
          </a:p>
        </p:txBody>
      </p:sp>
      <p:sp>
        <p:nvSpPr>
          <p:cNvPr id="228381" name="Line 29"/>
          <p:cNvSpPr>
            <a:spLocks noChangeShapeType="1"/>
          </p:cNvSpPr>
          <p:nvPr/>
        </p:nvSpPr>
        <p:spPr bwMode="auto">
          <a:xfrm flipV="1">
            <a:off x="3965575" y="5200650"/>
            <a:ext cx="758825" cy="104775"/>
          </a:xfrm>
          <a:prstGeom prst="line">
            <a:avLst/>
          </a:prstGeom>
          <a:noFill/>
          <a:ln w="12700">
            <a:solidFill>
              <a:srgbClr val="0000FF"/>
            </a:solidFill>
            <a:round/>
            <a:headEnd type="none" w="med" len="sm"/>
            <a:tailEnd type="triangle" w="lg" len="med"/>
          </a:ln>
          <a:effectLst/>
        </p:spPr>
        <p:txBody>
          <a:bodyPr/>
          <a:lstStyle/>
          <a:p>
            <a:endParaRPr lang="zh-CN" altLang="en-US"/>
          </a:p>
        </p:txBody>
      </p:sp>
      <p:sp>
        <p:nvSpPr>
          <p:cNvPr id="228382" name="Line 30"/>
          <p:cNvSpPr>
            <a:spLocks noChangeShapeType="1"/>
          </p:cNvSpPr>
          <p:nvPr/>
        </p:nvSpPr>
        <p:spPr bwMode="auto">
          <a:xfrm>
            <a:off x="4076700" y="4911725"/>
            <a:ext cx="647700" cy="144463"/>
          </a:xfrm>
          <a:prstGeom prst="line">
            <a:avLst/>
          </a:prstGeom>
          <a:noFill/>
          <a:ln w="12700">
            <a:solidFill>
              <a:srgbClr val="0000FF"/>
            </a:solidFill>
            <a:round/>
            <a:headEnd type="none" w="med" len="sm"/>
            <a:tailEnd type="triangle" w="lg" len="med"/>
          </a:ln>
          <a:effectLst/>
        </p:spPr>
        <p:txBody>
          <a:bodyPr/>
          <a:lstStyle/>
          <a:p>
            <a:endParaRPr lang="zh-CN" altLang="en-US"/>
          </a:p>
        </p:txBody>
      </p:sp>
      <p:sp>
        <p:nvSpPr>
          <p:cNvPr id="228383" name="Rectangle 31"/>
          <p:cNvSpPr>
            <a:spLocks noChangeArrowheads="1"/>
          </p:cNvSpPr>
          <p:nvPr/>
        </p:nvSpPr>
        <p:spPr bwMode="auto">
          <a:xfrm>
            <a:off x="2819400" y="5829300"/>
            <a:ext cx="4749800" cy="457200"/>
          </a:xfrm>
          <a:prstGeom prst="rect">
            <a:avLst/>
          </a:prstGeom>
          <a:noFill/>
          <a:ln w="9525">
            <a:noFill/>
            <a:miter lim="800000"/>
            <a:headEnd/>
            <a:tailEnd/>
          </a:ln>
          <a:effectLst/>
        </p:spPr>
        <p:txBody>
          <a:bodyPr lIns="12700" tIns="12700" rIns="12700" bIns="12700"/>
          <a:lstStyle/>
          <a:p>
            <a:pPr algn="just" eaLnBrk="0" hangingPunct="0"/>
            <a:r>
              <a:rPr kumimoji="0" lang="zh-CN" altLang="en-US" sz="2000" b="1">
                <a:solidFill>
                  <a:srgbClr val="0000FF"/>
                </a:solidFill>
                <a:latin typeface="宋体" charset="-122"/>
              </a:rPr>
              <a:t>非相干</a:t>
            </a:r>
            <a:r>
              <a:rPr kumimoji="0" lang="en-US" altLang="zh-CN" sz="2000" b="1">
                <a:solidFill>
                  <a:srgbClr val="0000FF"/>
                </a:solidFill>
                <a:latin typeface="宋体" charset="-122"/>
              </a:rPr>
              <a:t>(</a:t>
            </a:r>
            <a:r>
              <a:rPr kumimoji="0" lang="zh-CN" altLang="en-US" sz="2000" b="1">
                <a:solidFill>
                  <a:srgbClr val="0000FF"/>
                </a:solidFill>
                <a:latin typeface="宋体" charset="-122"/>
              </a:rPr>
              <a:t>同一原子先后发的光</a:t>
            </a:r>
            <a:r>
              <a:rPr kumimoji="0" lang="en-US" altLang="zh-CN" sz="2000" b="1">
                <a:solidFill>
                  <a:srgbClr val="0000FF"/>
                </a:solidFill>
                <a:latin typeface="宋体" charset="-122"/>
              </a:rPr>
              <a:t>)</a:t>
            </a:r>
          </a:p>
        </p:txBody>
      </p:sp>
      <p:sp>
        <p:nvSpPr>
          <p:cNvPr id="228384" name="Freeform 32"/>
          <p:cNvSpPr>
            <a:spLocks/>
          </p:cNvSpPr>
          <p:nvPr/>
        </p:nvSpPr>
        <p:spPr bwMode="auto">
          <a:xfrm>
            <a:off x="979488" y="4419600"/>
            <a:ext cx="876300" cy="1244600"/>
          </a:xfrm>
          <a:custGeom>
            <a:avLst/>
            <a:gdLst>
              <a:gd name="T0" fmla="*/ 131670837 w 648"/>
              <a:gd name="T1" fmla="*/ 967740000 h 784"/>
              <a:gd name="T2" fmla="*/ 131670837 w 648"/>
              <a:gd name="T3" fmla="*/ 483870000 h 784"/>
              <a:gd name="T4" fmla="*/ 658351478 w 648"/>
              <a:gd name="T5" fmla="*/ 0 h 784"/>
              <a:gd name="T6" fmla="*/ 1097253365 w 648"/>
              <a:gd name="T7" fmla="*/ 483870000 h 784"/>
              <a:gd name="T8" fmla="*/ 1185033472 w 648"/>
              <a:gd name="T9" fmla="*/ 967740000 h 784"/>
              <a:gd name="T10" fmla="*/ 1097253365 w 648"/>
              <a:gd name="T11" fmla="*/ 1814512500 h 784"/>
              <a:gd name="T12" fmla="*/ 921693151 w 648"/>
              <a:gd name="T13" fmla="*/ 1935480000 h 784"/>
              <a:gd name="T14" fmla="*/ 395011157 w 648"/>
              <a:gd name="T15" fmla="*/ 1693545000 h 784"/>
              <a:gd name="T16" fmla="*/ 43890730 w 648"/>
              <a:gd name="T17" fmla="*/ 1451610000 h 784"/>
              <a:gd name="T18" fmla="*/ 131670837 w 648"/>
              <a:gd name="T19" fmla="*/ 967740000 h 7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48" h="784">
                <a:moveTo>
                  <a:pt x="72" y="384"/>
                </a:moveTo>
                <a:cubicBezTo>
                  <a:pt x="80" y="320"/>
                  <a:pt x="24" y="256"/>
                  <a:pt x="72" y="192"/>
                </a:cubicBezTo>
                <a:cubicBezTo>
                  <a:pt x="120" y="128"/>
                  <a:pt x="272" y="0"/>
                  <a:pt x="360" y="0"/>
                </a:cubicBezTo>
                <a:cubicBezTo>
                  <a:pt x="448" y="0"/>
                  <a:pt x="552" y="128"/>
                  <a:pt x="600" y="192"/>
                </a:cubicBezTo>
                <a:cubicBezTo>
                  <a:pt x="648" y="256"/>
                  <a:pt x="648" y="296"/>
                  <a:pt x="648" y="384"/>
                </a:cubicBezTo>
                <a:cubicBezTo>
                  <a:pt x="648" y="472"/>
                  <a:pt x="624" y="656"/>
                  <a:pt x="600" y="720"/>
                </a:cubicBezTo>
                <a:cubicBezTo>
                  <a:pt x="576" y="784"/>
                  <a:pt x="568" y="776"/>
                  <a:pt x="504" y="768"/>
                </a:cubicBezTo>
                <a:cubicBezTo>
                  <a:pt x="440" y="760"/>
                  <a:pt x="296" y="704"/>
                  <a:pt x="216" y="672"/>
                </a:cubicBezTo>
                <a:cubicBezTo>
                  <a:pt x="136" y="640"/>
                  <a:pt x="48" y="624"/>
                  <a:pt x="24" y="576"/>
                </a:cubicBezTo>
                <a:cubicBezTo>
                  <a:pt x="0" y="528"/>
                  <a:pt x="64" y="448"/>
                  <a:pt x="72" y="384"/>
                </a:cubicBezTo>
                <a:close/>
              </a:path>
            </a:pathLst>
          </a:custGeom>
          <a:solidFill>
            <a:srgbClr val="FFCC00"/>
          </a:solidFill>
          <a:ln w="9525">
            <a:solidFill>
              <a:schemeClr val="tx1"/>
            </a:solidFill>
            <a:round/>
            <a:headEnd/>
            <a:tailEnd/>
          </a:ln>
          <a:effectLst/>
        </p:spPr>
        <p:txBody>
          <a:bodyPr/>
          <a:lstStyle/>
          <a:p>
            <a:endParaRPr lang="zh-CN" altLang="en-US"/>
          </a:p>
        </p:txBody>
      </p:sp>
      <p:sp>
        <p:nvSpPr>
          <p:cNvPr id="228385" name="Text Box 33"/>
          <p:cNvSpPr txBox="1">
            <a:spLocks noChangeArrowheads="1"/>
          </p:cNvSpPr>
          <p:nvPr/>
        </p:nvSpPr>
        <p:spPr bwMode="auto">
          <a:xfrm>
            <a:off x="1363663" y="4257675"/>
            <a:ext cx="609600" cy="1555750"/>
          </a:xfrm>
          <a:prstGeom prst="rect">
            <a:avLst/>
          </a:prstGeom>
          <a:noFill/>
          <a:ln w="9525">
            <a:noFill/>
            <a:miter lim="800000"/>
            <a:headEnd/>
            <a:tailEnd/>
          </a:ln>
          <a:effectLst/>
        </p:spPr>
        <p:txBody>
          <a:bodyPr>
            <a:spAutoFit/>
          </a:bodyPr>
          <a:lstStyle/>
          <a:p>
            <a:pPr eaLnBrk="0" hangingPunct="0"/>
            <a:r>
              <a:rPr kumimoji="0" lang="en-US" altLang="zh-CN" sz="9600">
                <a:solidFill>
                  <a:srgbClr val="0000FF"/>
                </a:solidFill>
                <a:latin typeface="宋体" charset="-122"/>
              </a:rPr>
              <a:t>.</a:t>
            </a:r>
          </a:p>
        </p:txBody>
      </p:sp>
      <p:sp>
        <p:nvSpPr>
          <p:cNvPr id="228386" name="Freeform 34"/>
          <p:cNvSpPr>
            <a:spLocks/>
          </p:cNvSpPr>
          <p:nvPr/>
        </p:nvSpPr>
        <p:spPr bwMode="auto">
          <a:xfrm>
            <a:off x="1604963" y="4767263"/>
            <a:ext cx="614362" cy="246062"/>
          </a:xfrm>
          <a:custGeom>
            <a:avLst/>
            <a:gdLst>
              <a:gd name="T0" fmla="*/ 0 w 865"/>
              <a:gd name="T1" fmla="*/ 284998603 h 159"/>
              <a:gd name="T2" fmla="*/ 67091882 w 865"/>
              <a:gd name="T3" fmla="*/ 7185320 h 159"/>
              <a:gd name="T4" fmla="*/ 133678779 w 865"/>
              <a:gd name="T5" fmla="*/ 323317730 h 159"/>
              <a:gd name="T6" fmla="*/ 218425933 w 865"/>
              <a:gd name="T7" fmla="*/ 7185320 h 159"/>
              <a:gd name="T8" fmla="*/ 285012830 w 865"/>
              <a:gd name="T9" fmla="*/ 352055915 h 159"/>
              <a:gd name="T10" fmla="*/ 351600438 w 865"/>
              <a:gd name="T11" fmla="*/ 179620617 h 159"/>
              <a:gd name="T12" fmla="*/ 436347592 w 865"/>
              <a:gd name="T13" fmla="*/ 150880885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31750"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28387" name="Freeform 35"/>
          <p:cNvSpPr>
            <a:spLocks/>
          </p:cNvSpPr>
          <p:nvPr/>
        </p:nvSpPr>
        <p:spPr bwMode="auto">
          <a:xfrm>
            <a:off x="2530475" y="4767263"/>
            <a:ext cx="614363" cy="246062"/>
          </a:xfrm>
          <a:custGeom>
            <a:avLst/>
            <a:gdLst>
              <a:gd name="T0" fmla="*/ 0 w 865"/>
              <a:gd name="T1" fmla="*/ 284998603 h 159"/>
              <a:gd name="T2" fmla="*/ 67091991 w 865"/>
              <a:gd name="T3" fmla="*/ 7185320 h 159"/>
              <a:gd name="T4" fmla="*/ 133678997 w 865"/>
              <a:gd name="T5" fmla="*/ 323317730 h 159"/>
              <a:gd name="T6" fmla="*/ 218426999 w 865"/>
              <a:gd name="T7" fmla="*/ 7185320 h 159"/>
              <a:gd name="T8" fmla="*/ 285014005 w 865"/>
              <a:gd name="T9" fmla="*/ 352055915 h 159"/>
              <a:gd name="T10" fmla="*/ 351601721 w 865"/>
              <a:gd name="T11" fmla="*/ 179620617 h 159"/>
              <a:gd name="T12" fmla="*/ 436349012 w 865"/>
              <a:gd name="T13" fmla="*/ 150880885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31750"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28388" name="Freeform 36"/>
          <p:cNvSpPr>
            <a:spLocks/>
          </p:cNvSpPr>
          <p:nvPr/>
        </p:nvSpPr>
        <p:spPr bwMode="auto">
          <a:xfrm>
            <a:off x="3429000" y="4767263"/>
            <a:ext cx="614363" cy="246062"/>
          </a:xfrm>
          <a:custGeom>
            <a:avLst/>
            <a:gdLst>
              <a:gd name="T0" fmla="*/ 0 w 865"/>
              <a:gd name="T1" fmla="*/ 284998603 h 159"/>
              <a:gd name="T2" fmla="*/ 67091991 w 865"/>
              <a:gd name="T3" fmla="*/ 7185320 h 159"/>
              <a:gd name="T4" fmla="*/ 133678997 w 865"/>
              <a:gd name="T5" fmla="*/ 323317730 h 159"/>
              <a:gd name="T6" fmla="*/ 218426999 w 865"/>
              <a:gd name="T7" fmla="*/ 7185320 h 159"/>
              <a:gd name="T8" fmla="*/ 285014005 w 865"/>
              <a:gd name="T9" fmla="*/ 352055915 h 159"/>
              <a:gd name="T10" fmla="*/ 351601721 w 865"/>
              <a:gd name="T11" fmla="*/ 179620617 h 159"/>
              <a:gd name="T12" fmla="*/ 436349012 w 865"/>
              <a:gd name="T13" fmla="*/ 150880885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31750"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28389" name="Freeform 37"/>
          <p:cNvSpPr>
            <a:spLocks/>
          </p:cNvSpPr>
          <p:nvPr/>
        </p:nvSpPr>
        <p:spPr bwMode="auto">
          <a:xfrm>
            <a:off x="1676400" y="5146675"/>
            <a:ext cx="720725" cy="246063"/>
          </a:xfrm>
          <a:custGeom>
            <a:avLst/>
            <a:gdLst>
              <a:gd name="T0" fmla="*/ 0 w 865"/>
              <a:gd name="T1" fmla="*/ 284999762 h 159"/>
              <a:gd name="T2" fmla="*/ 92333621 w 865"/>
              <a:gd name="T3" fmla="*/ 7185349 h 159"/>
              <a:gd name="T4" fmla="*/ 183972347 w 865"/>
              <a:gd name="T5" fmla="*/ 323319044 h 159"/>
              <a:gd name="T6" fmla="*/ 300603982 w 865"/>
              <a:gd name="T7" fmla="*/ 7185349 h 159"/>
              <a:gd name="T8" fmla="*/ 392243541 w 865"/>
              <a:gd name="T9" fmla="*/ 352058893 h 159"/>
              <a:gd name="T10" fmla="*/ 483882267 w 865"/>
              <a:gd name="T11" fmla="*/ 179621347 h 159"/>
              <a:gd name="T12" fmla="*/ 600513902 w 865"/>
              <a:gd name="T13" fmla="*/ 150883046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31750"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28390" name="Freeform 38"/>
          <p:cNvSpPr>
            <a:spLocks/>
          </p:cNvSpPr>
          <p:nvPr/>
        </p:nvSpPr>
        <p:spPr bwMode="auto">
          <a:xfrm>
            <a:off x="2554288" y="5146675"/>
            <a:ext cx="614362" cy="246063"/>
          </a:xfrm>
          <a:custGeom>
            <a:avLst/>
            <a:gdLst>
              <a:gd name="T0" fmla="*/ 0 w 865"/>
              <a:gd name="T1" fmla="*/ 284999762 h 159"/>
              <a:gd name="T2" fmla="*/ 67091882 w 865"/>
              <a:gd name="T3" fmla="*/ 7185349 h 159"/>
              <a:gd name="T4" fmla="*/ 133678779 w 865"/>
              <a:gd name="T5" fmla="*/ 323319044 h 159"/>
              <a:gd name="T6" fmla="*/ 218425933 w 865"/>
              <a:gd name="T7" fmla="*/ 7185349 h 159"/>
              <a:gd name="T8" fmla="*/ 285012830 w 865"/>
              <a:gd name="T9" fmla="*/ 352058893 h 159"/>
              <a:gd name="T10" fmla="*/ 351600438 w 865"/>
              <a:gd name="T11" fmla="*/ 179621347 h 159"/>
              <a:gd name="T12" fmla="*/ 436347592 w 865"/>
              <a:gd name="T13" fmla="*/ 150883046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31750"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28391" name="Freeform 39"/>
          <p:cNvSpPr>
            <a:spLocks/>
          </p:cNvSpPr>
          <p:nvPr/>
        </p:nvSpPr>
        <p:spPr bwMode="auto">
          <a:xfrm>
            <a:off x="3500438" y="5146675"/>
            <a:ext cx="382587" cy="246063"/>
          </a:xfrm>
          <a:custGeom>
            <a:avLst/>
            <a:gdLst>
              <a:gd name="T0" fmla="*/ 0 w 865"/>
              <a:gd name="T1" fmla="*/ 284999762 h 159"/>
              <a:gd name="T2" fmla="*/ 26018570 w 865"/>
              <a:gd name="T3" fmla="*/ 7185349 h 159"/>
              <a:gd name="T4" fmla="*/ 51841202 w 865"/>
              <a:gd name="T5" fmla="*/ 323319044 h 159"/>
              <a:gd name="T6" fmla="*/ 84706531 w 865"/>
              <a:gd name="T7" fmla="*/ 7185349 h 159"/>
              <a:gd name="T8" fmla="*/ 110529163 w 865"/>
              <a:gd name="T9" fmla="*/ 352058893 h 159"/>
              <a:gd name="T10" fmla="*/ 136351795 w 865"/>
              <a:gd name="T11" fmla="*/ 179621347 h 159"/>
              <a:gd name="T12" fmla="*/ 169217124 w 865"/>
              <a:gd name="T13" fmla="*/ 150883046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31750" cap="flat" cmpd="sng">
            <a:solidFill>
              <a:srgbClr val="FF3300"/>
            </a:solidFill>
            <a:prstDash val="solid"/>
            <a:round/>
            <a:headEnd type="none" w="med" len="med"/>
            <a:tailEnd type="triangle" w="med" len="med"/>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8356"/>
                                        </p:tgtEl>
                                        <p:attrNameLst>
                                          <p:attrName>style.visibility</p:attrName>
                                        </p:attrNameLst>
                                      </p:cBhvr>
                                      <p:to>
                                        <p:strVal val="visible"/>
                                      </p:to>
                                    </p:set>
                                    <p:animEffect transition="in" filter="wipe(left)">
                                      <p:cBhvr>
                                        <p:cTn id="7" dur="500"/>
                                        <p:tgtEl>
                                          <p:spTgt spid="2283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8359"/>
                                        </p:tgtEl>
                                        <p:attrNameLst>
                                          <p:attrName>style.visibility</p:attrName>
                                        </p:attrNameLst>
                                      </p:cBhvr>
                                      <p:to>
                                        <p:strVal val="visible"/>
                                      </p:to>
                                    </p:set>
                                    <p:animEffect transition="in" filter="wipe(left)">
                                      <p:cBhvr>
                                        <p:cTn id="12" dur="500"/>
                                        <p:tgtEl>
                                          <p:spTgt spid="2283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8366"/>
                                        </p:tgtEl>
                                        <p:attrNameLst>
                                          <p:attrName>style.visibility</p:attrName>
                                        </p:attrNameLst>
                                      </p:cBhvr>
                                      <p:to>
                                        <p:strVal val="visible"/>
                                      </p:to>
                                    </p:set>
                                    <p:animEffect transition="in" filter="wipe(left)">
                                      <p:cBhvr>
                                        <p:cTn id="17" dur="1000"/>
                                        <p:tgtEl>
                                          <p:spTgt spid="2283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8363"/>
                                        </p:tgtEl>
                                        <p:attrNameLst>
                                          <p:attrName>style.visibility</p:attrName>
                                        </p:attrNameLst>
                                      </p:cBhvr>
                                      <p:to>
                                        <p:strVal val="visible"/>
                                      </p:to>
                                    </p:set>
                                    <p:animEffect transition="in" filter="wipe(left)">
                                      <p:cBhvr>
                                        <p:cTn id="22" dur="1000"/>
                                        <p:tgtEl>
                                          <p:spTgt spid="2283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28375"/>
                                        </p:tgtEl>
                                        <p:attrNameLst>
                                          <p:attrName>style.visibility</p:attrName>
                                        </p:attrNameLst>
                                      </p:cBhvr>
                                      <p:to>
                                        <p:strVal val="visible"/>
                                      </p:to>
                                    </p:set>
                                    <p:animEffect transition="in" filter="wipe(left)">
                                      <p:cBhvr>
                                        <p:cTn id="27" dur="1000"/>
                                        <p:tgtEl>
                                          <p:spTgt spid="22837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28372"/>
                                        </p:tgtEl>
                                        <p:attrNameLst>
                                          <p:attrName>style.visibility</p:attrName>
                                        </p:attrNameLst>
                                      </p:cBhvr>
                                      <p:to>
                                        <p:strVal val="visible"/>
                                      </p:to>
                                    </p:set>
                                    <p:animEffect transition="in" filter="wipe(left)">
                                      <p:cBhvr>
                                        <p:cTn id="32" dur="1000"/>
                                        <p:tgtEl>
                                          <p:spTgt spid="22837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xit" presetSubtype="0" fill="hold" nodeType="clickEffect">
                                  <p:stCondLst>
                                    <p:cond delay="0"/>
                                  </p:stCondLst>
                                  <p:childTnLst>
                                    <p:set>
                                      <p:cBhvr>
                                        <p:cTn id="36" dur="1" fill="hold">
                                          <p:stCondLst>
                                            <p:cond delay="0"/>
                                          </p:stCondLst>
                                        </p:cTn>
                                        <p:tgtEl>
                                          <p:spTgt spid="228375"/>
                                        </p:tgtEl>
                                        <p:attrNameLst>
                                          <p:attrName>style.visibility</p:attrName>
                                        </p:attrNameLst>
                                      </p:cBhvr>
                                      <p:to>
                                        <p:strVal val="hidden"/>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28376"/>
                                        </p:tgtEl>
                                        <p:attrNameLst>
                                          <p:attrName>style.visibility</p:attrName>
                                        </p:attrNameLst>
                                      </p:cBhvr>
                                      <p:to>
                                        <p:strVal val="visible"/>
                                      </p:to>
                                    </p:set>
                                    <p:animEffect transition="in" filter="wipe(left)">
                                      <p:cBhvr>
                                        <p:cTn id="41" dur="1000"/>
                                        <p:tgtEl>
                                          <p:spTgt spid="22837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28369"/>
                                        </p:tgtEl>
                                        <p:attrNameLst>
                                          <p:attrName>style.visibility</p:attrName>
                                        </p:attrNameLst>
                                      </p:cBhvr>
                                      <p:to>
                                        <p:strVal val="visible"/>
                                      </p:to>
                                    </p:set>
                                    <p:animEffect transition="in" filter="wipe(left)">
                                      <p:cBhvr>
                                        <p:cTn id="46" dur="1000"/>
                                        <p:tgtEl>
                                          <p:spTgt spid="22836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28370"/>
                                        </p:tgtEl>
                                        <p:attrNameLst>
                                          <p:attrName>style.visibility</p:attrName>
                                        </p:attrNameLst>
                                      </p:cBhvr>
                                      <p:to>
                                        <p:strVal val="visible"/>
                                      </p:to>
                                    </p:set>
                                    <p:animEffect transition="in" filter="wipe(left)">
                                      <p:cBhvr>
                                        <p:cTn id="51" dur="1000"/>
                                        <p:tgtEl>
                                          <p:spTgt spid="22837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28371"/>
                                        </p:tgtEl>
                                        <p:attrNameLst>
                                          <p:attrName>style.visibility</p:attrName>
                                        </p:attrNameLst>
                                      </p:cBhvr>
                                      <p:to>
                                        <p:strVal val="visible"/>
                                      </p:to>
                                    </p:set>
                                    <p:animEffect transition="in" filter="wipe(left)">
                                      <p:cBhvr>
                                        <p:cTn id="56" dur="1000"/>
                                        <p:tgtEl>
                                          <p:spTgt spid="22837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28360"/>
                                        </p:tgtEl>
                                        <p:attrNameLst>
                                          <p:attrName>style.visibility</p:attrName>
                                        </p:attrNameLst>
                                      </p:cBhvr>
                                      <p:to>
                                        <p:strVal val="visible"/>
                                      </p:to>
                                    </p:set>
                                    <p:animEffect transition="in" filter="wipe(left)">
                                      <p:cBhvr>
                                        <p:cTn id="61" dur="1000"/>
                                        <p:tgtEl>
                                          <p:spTgt spid="22836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28384"/>
                                        </p:tgtEl>
                                        <p:attrNameLst>
                                          <p:attrName>style.visibility</p:attrName>
                                        </p:attrNameLst>
                                      </p:cBhvr>
                                      <p:to>
                                        <p:strVal val="visible"/>
                                      </p:to>
                                    </p:set>
                                    <p:animEffect transition="in" filter="wipe(left)">
                                      <p:cBhvr>
                                        <p:cTn id="66" dur="500"/>
                                        <p:tgtEl>
                                          <p:spTgt spid="22838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28385"/>
                                        </p:tgtEl>
                                        <p:attrNameLst>
                                          <p:attrName>style.visibility</p:attrName>
                                        </p:attrNameLst>
                                      </p:cBhvr>
                                      <p:to>
                                        <p:strVal val="visible"/>
                                      </p:to>
                                    </p:set>
                                    <p:animEffect transition="in" filter="wipe(left)">
                                      <p:cBhvr>
                                        <p:cTn id="71" dur="500"/>
                                        <p:tgtEl>
                                          <p:spTgt spid="22838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28386"/>
                                        </p:tgtEl>
                                        <p:attrNameLst>
                                          <p:attrName>style.visibility</p:attrName>
                                        </p:attrNameLst>
                                      </p:cBhvr>
                                      <p:to>
                                        <p:strVal val="visible"/>
                                      </p:to>
                                    </p:set>
                                    <p:animEffect transition="in" filter="wipe(left)">
                                      <p:cBhvr>
                                        <p:cTn id="76" dur="500"/>
                                        <p:tgtEl>
                                          <p:spTgt spid="228386"/>
                                        </p:tgtEl>
                                      </p:cBhvr>
                                    </p:animEffect>
                                  </p:childTnLst>
                                </p:cTn>
                              </p:par>
                            </p:childTnLst>
                          </p:cTn>
                        </p:par>
                        <p:par>
                          <p:cTn id="77" fill="hold" nodeType="afterGroup">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228387"/>
                                        </p:tgtEl>
                                        <p:attrNameLst>
                                          <p:attrName>style.visibility</p:attrName>
                                        </p:attrNameLst>
                                      </p:cBhvr>
                                      <p:to>
                                        <p:strVal val="visible"/>
                                      </p:to>
                                    </p:set>
                                    <p:animEffect transition="in" filter="wipe(left)">
                                      <p:cBhvr>
                                        <p:cTn id="80" dur="500"/>
                                        <p:tgtEl>
                                          <p:spTgt spid="228387"/>
                                        </p:tgtEl>
                                      </p:cBhvr>
                                    </p:animEffect>
                                  </p:childTnLst>
                                </p:cTn>
                              </p:par>
                            </p:childTnLst>
                          </p:cTn>
                        </p:par>
                        <p:par>
                          <p:cTn id="81" fill="hold" nodeType="afterGroup">
                            <p:stCondLst>
                              <p:cond delay="1000"/>
                            </p:stCondLst>
                            <p:childTnLst>
                              <p:par>
                                <p:cTn id="82" presetID="22" presetClass="entr" presetSubtype="8" fill="hold" grpId="0" nodeType="afterEffect">
                                  <p:stCondLst>
                                    <p:cond delay="0"/>
                                  </p:stCondLst>
                                  <p:childTnLst>
                                    <p:set>
                                      <p:cBhvr>
                                        <p:cTn id="83" dur="1" fill="hold">
                                          <p:stCondLst>
                                            <p:cond delay="0"/>
                                          </p:stCondLst>
                                        </p:cTn>
                                        <p:tgtEl>
                                          <p:spTgt spid="228388"/>
                                        </p:tgtEl>
                                        <p:attrNameLst>
                                          <p:attrName>style.visibility</p:attrName>
                                        </p:attrNameLst>
                                      </p:cBhvr>
                                      <p:to>
                                        <p:strVal val="visible"/>
                                      </p:to>
                                    </p:set>
                                    <p:animEffect transition="in" filter="wipe(left)">
                                      <p:cBhvr>
                                        <p:cTn id="84" dur="500"/>
                                        <p:tgtEl>
                                          <p:spTgt spid="228388"/>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228389"/>
                                        </p:tgtEl>
                                        <p:attrNameLst>
                                          <p:attrName>style.visibility</p:attrName>
                                        </p:attrNameLst>
                                      </p:cBhvr>
                                      <p:to>
                                        <p:strVal val="visible"/>
                                      </p:to>
                                    </p:set>
                                    <p:animEffect transition="in" filter="wipe(left)">
                                      <p:cBhvr>
                                        <p:cTn id="89" dur="500"/>
                                        <p:tgtEl>
                                          <p:spTgt spid="228389"/>
                                        </p:tgtEl>
                                      </p:cBhvr>
                                    </p:animEffect>
                                  </p:childTnLst>
                                </p:cTn>
                              </p:par>
                            </p:childTnLst>
                          </p:cTn>
                        </p:par>
                        <p:par>
                          <p:cTn id="90" fill="hold" nodeType="afterGroup">
                            <p:stCondLst>
                              <p:cond delay="500"/>
                            </p:stCondLst>
                            <p:childTnLst>
                              <p:par>
                                <p:cTn id="91" presetID="22" presetClass="entr" presetSubtype="8" fill="hold" grpId="0" nodeType="afterEffect">
                                  <p:stCondLst>
                                    <p:cond delay="0"/>
                                  </p:stCondLst>
                                  <p:childTnLst>
                                    <p:set>
                                      <p:cBhvr>
                                        <p:cTn id="92" dur="1" fill="hold">
                                          <p:stCondLst>
                                            <p:cond delay="0"/>
                                          </p:stCondLst>
                                        </p:cTn>
                                        <p:tgtEl>
                                          <p:spTgt spid="228390"/>
                                        </p:tgtEl>
                                        <p:attrNameLst>
                                          <p:attrName>style.visibility</p:attrName>
                                        </p:attrNameLst>
                                      </p:cBhvr>
                                      <p:to>
                                        <p:strVal val="visible"/>
                                      </p:to>
                                    </p:set>
                                    <p:animEffect transition="in" filter="wipe(left)">
                                      <p:cBhvr>
                                        <p:cTn id="93" dur="500"/>
                                        <p:tgtEl>
                                          <p:spTgt spid="228390"/>
                                        </p:tgtEl>
                                      </p:cBhvr>
                                    </p:animEffect>
                                  </p:childTnLst>
                                </p:cTn>
                              </p:par>
                            </p:childTnLst>
                          </p:cTn>
                        </p:par>
                        <p:par>
                          <p:cTn id="94" fill="hold" nodeType="afterGroup">
                            <p:stCondLst>
                              <p:cond delay="1000"/>
                            </p:stCondLst>
                            <p:childTnLst>
                              <p:par>
                                <p:cTn id="95" presetID="22" presetClass="entr" presetSubtype="8" fill="hold" grpId="0" nodeType="afterEffect">
                                  <p:stCondLst>
                                    <p:cond delay="0"/>
                                  </p:stCondLst>
                                  <p:childTnLst>
                                    <p:set>
                                      <p:cBhvr>
                                        <p:cTn id="96" dur="1" fill="hold">
                                          <p:stCondLst>
                                            <p:cond delay="0"/>
                                          </p:stCondLst>
                                        </p:cTn>
                                        <p:tgtEl>
                                          <p:spTgt spid="228391"/>
                                        </p:tgtEl>
                                        <p:attrNameLst>
                                          <p:attrName>style.visibility</p:attrName>
                                        </p:attrNameLst>
                                      </p:cBhvr>
                                      <p:to>
                                        <p:strVal val="visible"/>
                                      </p:to>
                                    </p:set>
                                    <p:animEffect transition="in" filter="wipe(left)">
                                      <p:cBhvr>
                                        <p:cTn id="97" dur="500"/>
                                        <p:tgtEl>
                                          <p:spTgt spid="228391"/>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228379"/>
                                        </p:tgtEl>
                                        <p:attrNameLst>
                                          <p:attrName>style.visibility</p:attrName>
                                        </p:attrNameLst>
                                      </p:cBhvr>
                                      <p:to>
                                        <p:strVal val="visible"/>
                                      </p:to>
                                    </p:set>
                                    <p:animEffect transition="in" filter="wipe(up)">
                                      <p:cBhvr>
                                        <p:cTn id="102" dur="500"/>
                                        <p:tgtEl>
                                          <p:spTgt spid="228379"/>
                                        </p:tgtEl>
                                      </p:cBhvr>
                                    </p:animEffect>
                                  </p:childTnLst>
                                </p:cTn>
                              </p:par>
                            </p:childTnLst>
                          </p:cTn>
                        </p:par>
                        <p:par>
                          <p:cTn id="103" fill="hold" nodeType="afterGroup">
                            <p:stCondLst>
                              <p:cond delay="500"/>
                            </p:stCondLst>
                            <p:childTnLst>
                              <p:par>
                                <p:cTn id="104" presetID="22" presetClass="entr" presetSubtype="1" fill="hold" grpId="0" nodeType="afterEffect">
                                  <p:stCondLst>
                                    <p:cond delay="0"/>
                                  </p:stCondLst>
                                  <p:childTnLst>
                                    <p:set>
                                      <p:cBhvr>
                                        <p:cTn id="105" dur="1" fill="hold">
                                          <p:stCondLst>
                                            <p:cond delay="0"/>
                                          </p:stCondLst>
                                        </p:cTn>
                                        <p:tgtEl>
                                          <p:spTgt spid="228378"/>
                                        </p:tgtEl>
                                        <p:attrNameLst>
                                          <p:attrName>style.visibility</p:attrName>
                                        </p:attrNameLst>
                                      </p:cBhvr>
                                      <p:to>
                                        <p:strVal val="visible"/>
                                      </p:to>
                                    </p:set>
                                    <p:animEffect transition="in" filter="wipe(up)">
                                      <p:cBhvr>
                                        <p:cTn id="106" dur="500"/>
                                        <p:tgtEl>
                                          <p:spTgt spid="228378"/>
                                        </p:tgtEl>
                                      </p:cBhvr>
                                    </p:animEffect>
                                  </p:childTnLst>
                                </p:cTn>
                              </p:par>
                            </p:childTnLst>
                          </p:cTn>
                        </p:par>
                        <p:par>
                          <p:cTn id="107" fill="hold" nodeType="afterGroup">
                            <p:stCondLst>
                              <p:cond delay="1000"/>
                            </p:stCondLst>
                            <p:childTnLst>
                              <p:par>
                                <p:cTn id="108" presetID="22" presetClass="entr" presetSubtype="8" fill="hold" grpId="0" nodeType="afterEffect">
                                  <p:stCondLst>
                                    <p:cond delay="0"/>
                                  </p:stCondLst>
                                  <p:childTnLst>
                                    <p:set>
                                      <p:cBhvr>
                                        <p:cTn id="109" dur="1" fill="hold">
                                          <p:stCondLst>
                                            <p:cond delay="0"/>
                                          </p:stCondLst>
                                        </p:cTn>
                                        <p:tgtEl>
                                          <p:spTgt spid="228383"/>
                                        </p:tgtEl>
                                        <p:attrNameLst>
                                          <p:attrName>style.visibility</p:attrName>
                                        </p:attrNameLst>
                                      </p:cBhvr>
                                      <p:to>
                                        <p:strVal val="visible"/>
                                      </p:to>
                                    </p:set>
                                    <p:animEffect transition="in" filter="wipe(left)">
                                      <p:cBhvr>
                                        <p:cTn id="110" dur="500"/>
                                        <p:tgtEl>
                                          <p:spTgt spid="228383"/>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228381"/>
                                        </p:tgtEl>
                                        <p:attrNameLst>
                                          <p:attrName>style.visibility</p:attrName>
                                        </p:attrNameLst>
                                      </p:cBhvr>
                                      <p:to>
                                        <p:strVal val="visible"/>
                                      </p:to>
                                    </p:set>
                                    <p:animEffect transition="in" filter="wipe(left)">
                                      <p:cBhvr>
                                        <p:cTn id="115" dur="500"/>
                                        <p:tgtEl>
                                          <p:spTgt spid="228381"/>
                                        </p:tgtEl>
                                      </p:cBhvr>
                                    </p:animEffect>
                                  </p:childTnLst>
                                </p:cTn>
                              </p:par>
                            </p:childTnLst>
                          </p:cTn>
                        </p:par>
                        <p:par>
                          <p:cTn id="116" fill="hold" nodeType="afterGroup">
                            <p:stCondLst>
                              <p:cond delay="500"/>
                            </p:stCondLst>
                            <p:childTnLst>
                              <p:par>
                                <p:cTn id="117" presetID="22" presetClass="entr" presetSubtype="8" fill="hold" grpId="0" nodeType="afterEffect">
                                  <p:stCondLst>
                                    <p:cond delay="0"/>
                                  </p:stCondLst>
                                  <p:childTnLst>
                                    <p:set>
                                      <p:cBhvr>
                                        <p:cTn id="118" dur="1" fill="hold">
                                          <p:stCondLst>
                                            <p:cond delay="0"/>
                                          </p:stCondLst>
                                        </p:cTn>
                                        <p:tgtEl>
                                          <p:spTgt spid="228382"/>
                                        </p:tgtEl>
                                        <p:attrNameLst>
                                          <p:attrName>style.visibility</p:attrName>
                                        </p:attrNameLst>
                                      </p:cBhvr>
                                      <p:to>
                                        <p:strVal val="visible"/>
                                      </p:to>
                                    </p:set>
                                    <p:animEffect transition="in" filter="wipe(left)">
                                      <p:cBhvr>
                                        <p:cTn id="119" dur="500"/>
                                        <p:tgtEl>
                                          <p:spTgt spid="228382"/>
                                        </p:tgtEl>
                                      </p:cBhvr>
                                    </p:animEffect>
                                  </p:childTnLst>
                                </p:cTn>
                              </p:par>
                            </p:childTnLst>
                          </p:cTn>
                        </p:par>
                        <p:par>
                          <p:cTn id="120" fill="hold" nodeType="afterGroup">
                            <p:stCondLst>
                              <p:cond delay="1000"/>
                            </p:stCondLst>
                            <p:childTnLst>
                              <p:par>
                                <p:cTn id="121" presetID="22" presetClass="entr" presetSubtype="8" fill="hold" grpId="0" nodeType="afterEffect">
                                  <p:stCondLst>
                                    <p:cond delay="0"/>
                                  </p:stCondLst>
                                  <p:childTnLst>
                                    <p:set>
                                      <p:cBhvr>
                                        <p:cTn id="122" dur="1" fill="hold">
                                          <p:stCondLst>
                                            <p:cond delay="0"/>
                                          </p:stCondLst>
                                        </p:cTn>
                                        <p:tgtEl>
                                          <p:spTgt spid="228380"/>
                                        </p:tgtEl>
                                        <p:attrNameLst>
                                          <p:attrName>style.visibility</p:attrName>
                                        </p:attrNameLst>
                                      </p:cBhvr>
                                      <p:to>
                                        <p:strVal val="visible"/>
                                      </p:to>
                                    </p:set>
                                    <p:animEffect transition="in" filter="wipe(left)">
                                      <p:cBhvr>
                                        <p:cTn id="123" dur="500"/>
                                        <p:tgtEl>
                                          <p:spTgt spid="228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6" grpId="0"/>
      <p:bldP spid="228369" grpId="0" animBg="1"/>
      <p:bldP spid="228371" grpId="0" animBg="1"/>
      <p:bldP spid="228376" grpId="0"/>
      <p:bldP spid="228378" grpId="0" animBg="1"/>
      <p:bldP spid="228379" grpId="0" animBg="1"/>
      <p:bldP spid="228380" grpId="0" autoUpdateAnimBg="0"/>
      <p:bldP spid="228381" grpId="0" animBg="1"/>
      <p:bldP spid="228382" grpId="0" animBg="1"/>
      <p:bldP spid="228383" grpId="0" autoUpdateAnimBg="0"/>
      <p:bldP spid="228384" grpId="0" animBg="1"/>
      <p:bldP spid="228385" grpId="0" autoUpdateAnimBg="0"/>
      <p:bldP spid="228386" grpId="0" animBg="1"/>
      <p:bldP spid="228387" grpId="0" animBg="1"/>
      <p:bldP spid="228388" grpId="0" animBg="1"/>
      <p:bldP spid="228389" grpId="0" animBg="1"/>
      <p:bldP spid="228390" grpId="0" animBg="1"/>
      <p:bldP spid="22839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80" name="Text Box 4"/>
          <p:cNvSpPr txBox="1">
            <a:spLocks noChangeArrowheads="1"/>
          </p:cNvSpPr>
          <p:nvPr/>
        </p:nvSpPr>
        <p:spPr bwMode="auto">
          <a:xfrm>
            <a:off x="296863" y="593725"/>
            <a:ext cx="3825875" cy="457200"/>
          </a:xfrm>
          <a:prstGeom prst="rect">
            <a:avLst/>
          </a:prstGeom>
          <a:noFill/>
          <a:ln w="9525">
            <a:noFill/>
            <a:miter lim="800000"/>
            <a:headEnd/>
            <a:tailEnd/>
          </a:ln>
          <a:effectLst/>
        </p:spPr>
        <p:txBody>
          <a:bodyPr>
            <a:spAutoFit/>
          </a:bodyPr>
          <a:lstStyle/>
          <a:p>
            <a:pPr>
              <a:spcBef>
                <a:spcPct val="50000"/>
              </a:spcBef>
            </a:pPr>
            <a:r>
              <a:rPr lang="en-US" altLang="zh-CN" b="1" dirty="0" smtClean="0">
                <a:solidFill>
                  <a:srgbClr val="3333CC"/>
                </a:solidFill>
              </a:rPr>
              <a:t>13.8.2 </a:t>
            </a:r>
            <a:r>
              <a:rPr lang="zh-CN" altLang="en-US" b="1" dirty="0" smtClean="0">
                <a:solidFill>
                  <a:srgbClr val="3333CC"/>
                </a:solidFill>
              </a:rPr>
              <a:t>原子</a:t>
            </a:r>
            <a:r>
              <a:rPr lang="zh-CN" altLang="en-US" b="1" dirty="0">
                <a:solidFill>
                  <a:srgbClr val="3333CC"/>
                </a:solidFill>
              </a:rPr>
              <a:t>的受激辐射</a:t>
            </a:r>
            <a:r>
              <a:rPr lang="zh-CN" altLang="en-US" dirty="0">
                <a:solidFill>
                  <a:srgbClr val="3333CC"/>
                </a:solidFill>
              </a:rPr>
              <a:t> </a:t>
            </a:r>
          </a:p>
        </p:txBody>
      </p:sp>
      <p:grpSp>
        <p:nvGrpSpPr>
          <p:cNvPr id="229381" name="Group 5"/>
          <p:cNvGrpSpPr>
            <a:grpSpLocks/>
          </p:cNvGrpSpPr>
          <p:nvPr/>
        </p:nvGrpSpPr>
        <p:grpSpPr bwMode="auto">
          <a:xfrm>
            <a:off x="2057400" y="1366838"/>
            <a:ext cx="1658938" cy="455612"/>
            <a:chOff x="924" y="961"/>
            <a:chExt cx="1045" cy="287"/>
          </a:xfrm>
        </p:grpSpPr>
        <p:sp>
          <p:nvSpPr>
            <p:cNvPr id="74802" name="Rectangle 6"/>
            <p:cNvSpPr>
              <a:spLocks noChangeArrowheads="1"/>
            </p:cNvSpPr>
            <p:nvPr/>
          </p:nvSpPr>
          <p:spPr bwMode="auto">
            <a:xfrm>
              <a:off x="1248" y="1104"/>
              <a:ext cx="721" cy="96"/>
            </a:xfrm>
            <a:prstGeom prst="rect">
              <a:avLst/>
            </a:prstGeom>
            <a:solidFill>
              <a:srgbClr val="00FFFF"/>
            </a:solidFill>
            <a:ln w="9525">
              <a:solidFill>
                <a:schemeClr val="tx1"/>
              </a:solidFill>
              <a:miter lim="800000"/>
              <a:headEnd/>
              <a:tailEnd/>
            </a:ln>
            <a:effectLst/>
          </p:spPr>
          <p:txBody>
            <a:bodyPr wrap="none" anchor="ctr"/>
            <a:lstStyle/>
            <a:p>
              <a:endParaRPr lang="zh-CN" altLang="en-US"/>
            </a:p>
          </p:txBody>
        </p:sp>
        <p:sp>
          <p:nvSpPr>
            <p:cNvPr id="74803" name="Text Box 7"/>
            <p:cNvSpPr txBox="1">
              <a:spLocks noChangeArrowheads="1"/>
            </p:cNvSpPr>
            <p:nvPr/>
          </p:nvSpPr>
          <p:spPr bwMode="auto">
            <a:xfrm>
              <a:off x="924" y="961"/>
              <a:ext cx="308" cy="287"/>
            </a:xfrm>
            <a:prstGeom prst="rect">
              <a:avLst/>
            </a:prstGeom>
            <a:noFill/>
            <a:ln w="9525">
              <a:noFill/>
              <a:miter lim="800000"/>
              <a:headEnd/>
              <a:tailEnd/>
            </a:ln>
            <a:effectLst/>
          </p:spPr>
          <p:txBody>
            <a:bodyPr wrap="none">
              <a:spAutoFit/>
            </a:bodyPr>
            <a:lstStyle/>
            <a:p>
              <a:r>
                <a:rPr lang="en-US" altLang="zh-CN" b="1" i="1">
                  <a:solidFill>
                    <a:srgbClr val="0000FF"/>
                  </a:solidFill>
                </a:rPr>
                <a:t>E</a:t>
              </a:r>
              <a:r>
                <a:rPr lang="en-US" altLang="zh-CN" b="1" baseline="-20000">
                  <a:solidFill>
                    <a:srgbClr val="0000FF"/>
                  </a:solidFill>
                </a:rPr>
                <a:t>2</a:t>
              </a:r>
              <a:endParaRPr lang="en-US" altLang="zh-CN" b="1">
                <a:solidFill>
                  <a:srgbClr val="0000FF"/>
                </a:solidFill>
              </a:endParaRPr>
            </a:p>
          </p:txBody>
        </p:sp>
      </p:grpSp>
      <p:graphicFrame>
        <p:nvGraphicFramePr>
          <p:cNvPr id="229384" name="Object 8"/>
          <p:cNvGraphicFramePr>
            <a:graphicFrameLocks/>
          </p:cNvGraphicFramePr>
          <p:nvPr/>
        </p:nvGraphicFramePr>
        <p:xfrm>
          <a:off x="6638925" y="1892300"/>
          <a:ext cx="1968500" cy="381000"/>
        </p:xfrm>
        <a:graphic>
          <a:graphicData uri="http://schemas.openxmlformats.org/presentationml/2006/ole">
            <p:oleObj spid="_x0000_s74756" name="公式" r:id="rId3" imgW="1913760" imgH="342720" progId="Equation.3">
              <p:embed/>
            </p:oleObj>
          </a:graphicData>
        </a:graphic>
      </p:graphicFrame>
      <p:grpSp>
        <p:nvGrpSpPr>
          <p:cNvPr id="229385" name="Group 9"/>
          <p:cNvGrpSpPr>
            <a:grpSpLocks/>
          </p:cNvGrpSpPr>
          <p:nvPr/>
        </p:nvGrpSpPr>
        <p:grpSpPr bwMode="auto">
          <a:xfrm>
            <a:off x="2971800" y="1739900"/>
            <a:ext cx="457200" cy="914400"/>
            <a:chOff x="1488" y="1200"/>
            <a:chExt cx="288" cy="576"/>
          </a:xfrm>
        </p:grpSpPr>
        <p:sp>
          <p:nvSpPr>
            <p:cNvPr id="74800" name="Line 10"/>
            <p:cNvSpPr>
              <a:spLocks noChangeShapeType="1"/>
            </p:cNvSpPr>
            <p:nvPr/>
          </p:nvSpPr>
          <p:spPr bwMode="auto">
            <a:xfrm>
              <a:off x="1607" y="1200"/>
              <a:ext cx="0" cy="358"/>
            </a:xfrm>
            <a:prstGeom prst="line">
              <a:avLst/>
            </a:prstGeom>
            <a:noFill/>
            <a:ln w="28575">
              <a:solidFill>
                <a:srgbClr val="FF9900"/>
              </a:solidFill>
              <a:prstDash val="dash"/>
              <a:round/>
              <a:headEnd/>
              <a:tailEnd type="triangle" w="med" len="lg"/>
            </a:ln>
            <a:effectLst/>
          </p:spPr>
          <p:txBody>
            <a:bodyPr/>
            <a:lstStyle/>
            <a:p>
              <a:endParaRPr lang="zh-CN" altLang="en-US"/>
            </a:p>
          </p:txBody>
        </p:sp>
        <p:graphicFrame>
          <p:nvGraphicFramePr>
            <p:cNvPr id="74801" name="Object 11"/>
            <p:cNvGraphicFramePr>
              <a:graphicFrameLocks noChangeAspect="1"/>
            </p:cNvGraphicFramePr>
            <p:nvPr/>
          </p:nvGraphicFramePr>
          <p:xfrm>
            <a:off x="1488" y="1488"/>
            <a:ext cx="288" cy="288"/>
          </p:xfrm>
          <a:graphic>
            <a:graphicData uri="http://schemas.openxmlformats.org/presentationml/2006/ole">
              <p:oleObj spid="_x0000_s74801" name="Equation" r:id="rId4" imgW="81360" imgH="81720" progId="Equation.3">
                <p:embed/>
              </p:oleObj>
            </a:graphicData>
          </a:graphic>
        </p:graphicFrame>
      </p:grpSp>
      <p:graphicFrame>
        <p:nvGraphicFramePr>
          <p:cNvPr id="229388" name="Object 12"/>
          <p:cNvGraphicFramePr>
            <a:graphicFrameLocks noChangeAspect="1"/>
          </p:cNvGraphicFramePr>
          <p:nvPr/>
        </p:nvGraphicFramePr>
        <p:xfrm>
          <a:off x="2971800" y="1282700"/>
          <a:ext cx="457200" cy="457200"/>
        </p:xfrm>
        <a:graphic>
          <a:graphicData uri="http://schemas.openxmlformats.org/presentationml/2006/ole">
            <p:oleObj spid="_x0000_s74758" name="Equation" r:id="rId5" imgW="81360" imgH="81720" progId="Equation.3">
              <p:embed/>
            </p:oleObj>
          </a:graphicData>
        </a:graphic>
      </p:graphicFrame>
      <p:grpSp>
        <p:nvGrpSpPr>
          <p:cNvPr id="229389" name="Group 13"/>
          <p:cNvGrpSpPr>
            <a:grpSpLocks/>
          </p:cNvGrpSpPr>
          <p:nvPr/>
        </p:nvGrpSpPr>
        <p:grpSpPr bwMode="auto">
          <a:xfrm>
            <a:off x="4768850" y="977900"/>
            <a:ext cx="1250950" cy="381000"/>
            <a:chOff x="3492" y="816"/>
            <a:chExt cx="788" cy="240"/>
          </a:xfrm>
        </p:grpSpPr>
        <p:sp>
          <p:nvSpPr>
            <p:cNvPr id="74798" name="Line 14"/>
            <p:cNvSpPr>
              <a:spLocks noChangeShapeType="1"/>
            </p:cNvSpPr>
            <p:nvPr/>
          </p:nvSpPr>
          <p:spPr bwMode="auto">
            <a:xfrm>
              <a:off x="3936" y="912"/>
              <a:ext cx="344" cy="0"/>
            </a:xfrm>
            <a:prstGeom prst="line">
              <a:avLst/>
            </a:prstGeom>
            <a:noFill/>
            <a:ln w="19050">
              <a:solidFill>
                <a:srgbClr val="9900CC"/>
              </a:solidFill>
              <a:round/>
              <a:headEnd type="none" w="med" len="sm"/>
              <a:tailEnd type="triangle" w="med" len="lg"/>
            </a:ln>
            <a:effectLst/>
          </p:spPr>
          <p:txBody>
            <a:bodyPr/>
            <a:lstStyle/>
            <a:p>
              <a:endParaRPr lang="zh-CN" altLang="en-US"/>
            </a:p>
          </p:txBody>
        </p:sp>
        <p:sp>
          <p:nvSpPr>
            <p:cNvPr id="74799" name="Rectangle 15"/>
            <p:cNvSpPr>
              <a:spLocks noChangeArrowheads="1"/>
            </p:cNvSpPr>
            <p:nvPr/>
          </p:nvSpPr>
          <p:spPr bwMode="auto">
            <a:xfrm>
              <a:off x="3492" y="816"/>
              <a:ext cx="540" cy="240"/>
            </a:xfrm>
            <a:prstGeom prst="rect">
              <a:avLst/>
            </a:prstGeom>
            <a:noFill/>
            <a:ln w="25400">
              <a:noFill/>
              <a:miter lim="800000"/>
              <a:headEnd/>
              <a:tailEnd/>
            </a:ln>
            <a:effectLst/>
          </p:spPr>
          <p:txBody>
            <a:bodyPr lIns="12700" tIns="12700" rIns="12700" bIns="12700"/>
            <a:lstStyle/>
            <a:p>
              <a:pPr algn="just"/>
              <a:r>
                <a:rPr lang="zh-CN" altLang="en-US" sz="2000" b="1">
                  <a:solidFill>
                    <a:srgbClr val="0000FF"/>
                  </a:solidFill>
                  <a:latin typeface="宋体" charset="-122"/>
                </a:rPr>
                <a:t>波列</a:t>
              </a:r>
              <a:endParaRPr lang="zh-CN" altLang="en-US" sz="2000">
                <a:solidFill>
                  <a:srgbClr val="0000FF"/>
                </a:solidFill>
                <a:latin typeface="宋体" charset="-122"/>
              </a:endParaRPr>
            </a:p>
          </p:txBody>
        </p:sp>
      </p:grpSp>
      <p:grpSp>
        <p:nvGrpSpPr>
          <p:cNvPr id="229392" name="Group 16"/>
          <p:cNvGrpSpPr>
            <a:grpSpLocks/>
          </p:cNvGrpSpPr>
          <p:nvPr/>
        </p:nvGrpSpPr>
        <p:grpSpPr bwMode="auto">
          <a:xfrm>
            <a:off x="2038350" y="2370138"/>
            <a:ext cx="1744663" cy="457200"/>
            <a:chOff x="912" y="1597"/>
            <a:chExt cx="1099" cy="288"/>
          </a:xfrm>
        </p:grpSpPr>
        <p:sp>
          <p:nvSpPr>
            <p:cNvPr id="74796" name="Rectangle 17"/>
            <p:cNvSpPr>
              <a:spLocks noChangeArrowheads="1"/>
            </p:cNvSpPr>
            <p:nvPr/>
          </p:nvSpPr>
          <p:spPr bwMode="auto">
            <a:xfrm>
              <a:off x="1248" y="1680"/>
              <a:ext cx="763" cy="96"/>
            </a:xfrm>
            <a:prstGeom prst="rect">
              <a:avLst/>
            </a:prstGeom>
            <a:solidFill>
              <a:srgbClr val="00FFFF"/>
            </a:solidFill>
            <a:ln w="9525">
              <a:solidFill>
                <a:schemeClr val="tx1"/>
              </a:solidFill>
              <a:miter lim="800000"/>
              <a:headEnd/>
              <a:tailEnd/>
            </a:ln>
            <a:effectLst/>
          </p:spPr>
          <p:txBody>
            <a:bodyPr wrap="none" anchor="ctr"/>
            <a:lstStyle/>
            <a:p>
              <a:endParaRPr lang="zh-CN" altLang="en-US"/>
            </a:p>
          </p:txBody>
        </p:sp>
        <p:sp>
          <p:nvSpPr>
            <p:cNvPr id="74797" name="Text Box 18"/>
            <p:cNvSpPr txBox="1">
              <a:spLocks noChangeArrowheads="1"/>
            </p:cNvSpPr>
            <p:nvPr/>
          </p:nvSpPr>
          <p:spPr bwMode="auto">
            <a:xfrm>
              <a:off x="912" y="1597"/>
              <a:ext cx="308" cy="288"/>
            </a:xfrm>
            <a:prstGeom prst="rect">
              <a:avLst/>
            </a:prstGeom>
            <a:noFill/>
            <a:ln w="9525">
              <a:noFill/>
              <a:miter lim="800000"/>
              <a:headEnd/>
              <a:tailEnd/>
            </a:ln>
            <a:effectLst/>
          </p:spPr>
          <p:txBody>
            <a:bodyPr wrap="none">
              <a:spAutoFit/>
            </a:bodyPr>
            <a:lstStyle/>
            <a:p>
              <a:r>
                <a:rPr lang="en-US" altLang="zh-CN" b="1" i="1">
                  <a:solidFill>
                    <a:srgbClr val="0000FF"/>
                  </a:solidFill>
                </a:rPr>
                <a:t>E</a:t>
              </a:r>
              <a:r>
                <a:rPr lang="en-US" altLang="zh-CN" b="1" baseline="-20000">
                  <a:solidFill>
                    <a:srgbClr val="0000FF"/>
                  </a:solidFill>
                </a:rPr>
                <a:t>1</a:t>
              </a:r>
              <a:endParaRPr lang="en-US" altLang="zh-CN" b="1">
                <a:solidFill>
                  <a:srgbClr val="0000FF"/>
                </a:solidFill>
              </a:endParaRPr>
            </a:p>
          </p:txBody>
        </p:sp>
      </p:grpSp>
      <p:grpSp>
        <p:nvGrpSpPr>
          <p:cNvPr id="229395" name="Group 19"/>
          <p:cNvGrpSpPr>
            <a:grpSpLocks/>
          </p:cNvGrpSpPr>
          <p:nvPr/>
        </p:nvGrpSpPr>
        <p:grpSpPr bwMode="auto">
          <a:xfrm>
            <a:off x="3810000" y="1792288"/>
            <a:ext cx="806450" cy="568325"/>
            <a:chOff x="2780" y="3299"/>
            <a:chExt cx="508" cy="358"/>
          </a:xfrm>
        </p:grpSpPr>
        <p:sp>
          <p:nvSpPr>
            <p:cNvPr id="74794" name="Freeform 20"/>
            <p:cNvSpPr>
              <a:spLocks/>
            </p:cNvSpPr>
            <p:nvPr/>
          </p:nvSpPr>
          <p:spPr bwMode="auto">
            <a:xfrm>
              <a:off x="2789" y="3299"/>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sp>
          <p:nvSpPr>
            <p:cNvPr id="74795" name="Freeform 21"/>
            <p:cNvSpPr>
              <a:spLocks/>
            </p:cNvSpPr>
            <p:nvPr/>
          </p:nvSpPr>
          <p:spPr bwMode="auto">
            <a:xfrm>
              <a:off x="2780" y="3526"/>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grpSp>
      <p:grpSp>
        <p:nvGrpSpPr>
          <p:cNvPr id="229398" name="Group 22"/>
          <p:cNvGrpSpPr>
            <a:grpSpLocks/>
          </p:cNvGrpSpPr>
          <p:nvPr/>
        </p:nvGrpSpPr>
        <p:grpSpPr bwMode="auto">
          <a:xfrm>
            <a:off x="4732338" y="1582738"/>
            <a:ext cx="806450" cy="1065212"/>
            <a:chOff x="3243" y="3072"/>
            <a:chExt cx="508" cy="671"/>
          </a:xfrm>
        </p:grpSpPr>
        <p:sp>
          <p:nvSpPr>
            <p:cNvPr id="74790" name="Freeform 23"/>
            <p:cNvSpPr>
              <a:spLocks/>
            </p:cNvSpPr>
            <p:nvPr/>
          </p:nvSpPr>
          <p:spPr bwMode="auto">
            <a:xfrm>
              <a:off x="3252" y="3430"/>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sp>
          <p:nvSpPr>
            <p:cNvPr id="74791" name="Freeform 24"/>
            <p:cNvSpPr>
              <a:spLocks/>
            </p:cNvSpPr>
            <p:nvPr/>
          </p:nvSpPr>
          <p:spPr bwMode="auto">
            <a:xfrm>
              <a:off x="3243" y="3612"/>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sp>
          <p:nvSpPr>
            <p:cNvPr id="74792" name="Freeform 25"/>
            <p:cNvSpPr>
              <a:spLocks/>
            </p:cNvSpPr>
            <p:nvPr/>
          </p:nvSpPr>
          <p:spPr bwMode="auto">
            <a:xfrm>
              <a:off x="3252" y="3072"/>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sp>
          <p:nvSpPr>
            <p:cNvPr id="74793" name="Freeform 26"/>
            <p:cNvSpPr>
              <a:spLocks/>
            </p:cNvSpPr>
            <p:nvPr/>
          </p:nvSpPr>
          <p:spPr bwMode="auto">
            <a:xfrm>
              <a:off x="3243" y="3249"/>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grpSp>
      <p:grpSp>
        <p:nvGrpSpPr>
          <p:cNvPr id="229403" name="Group 27"/>
          <p:cNvGrpSpPr>
            <a:grpSpLocks/>
          </p:cNvGrpSpPr>
          <p:nvPr/>
        </p:nvGrpSpPr>
        <p:grpSpPr bwMode="auto">
          <a:xfrm>
            <a:off x="5653088" y="1511300"/>
            <a:ext cx="820737" cy="1252538"/>
            <a:chOff x="3678" y="3122"/>
            <a:chExt cx="517" cy="789"/>
          </a:xfrm>
        </p:grpSpPr>
        <p:sp>
          <p:nvSpPr>
            <p:cNvPr id="74782" name="Freeform 28"/>
            <p:cNvSpPr>
              <a:spLocks/>
            </p:cNvSpPr>
            <p:nvPr/>
          </p:nvSpPr>
          <p:spPr bwMode="auto">
            <a:xfrm>
              <a:off x="3687" y="3594"/>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sp>
          <p:nvSpPr>
            <p:cNvPr id="74783" name="Freeform 29"/>
            <p:cNvSpPr>
              <a:spLocks/>
            </p:cNvSpPr>
            <p:nvPr/>
          </p:nvSpPr>
          <p:spPr bwMode="auto">
            <a:xfrm>
              <a:off x="3678" y="3780"/>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sp>
          <p:nvSpPr>
            <p:cNvPr id="74784" name="Freeform 30"/>
            <p:cNvSpPr>
              <a:spLocks/>
            </p:cNvSpPr>
            <p:nvPr/>
          </p:nvSpPr>
          <p:spPr bwMode="auto">
            <a:xfrm>
              <a:off x="3696" y="3212"/>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sp>
          <p:nvSpPr>
            <p:cNvPr id="74785" name="Freeform 31"/>
            <p:cNvSpPr>
              <a:spLocks/>
            </p:cNvSpPr>
            <p:nvPr/>
          </p:nvSpPr>
          <p:spPr bwMode="auto">
            <a:xfrm>
              <a:off x="3696" y="3394"/>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sp>
          <p:nvSpPr>
            <p:cNvPr id="74786" name="Freeform 32"/>
            <p:cNvSpPr>
              <a:spLocks/>
            </p:cNvSpPr>
            <p:nvPr/>
          </p:nvSpPr>
          <p:spPr bwMode="auto">
            <a:xfrm>
              <a:off x="3696" y="3503"/>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sp>
          <p:nvSpPr>
            <p:cNvPr id="74787" name="Freeform 33"/>
            <p:cNvSpPr>
              <a:spLocks/>
            </p:cNvSpPr>
            <p:nvPr/>
          </p:nvSpPr>
          <p:spPr bwMode="auto">
            <a:xfrm>
              <a:off x="3687" y="3689"/>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sp>
          <p:nvSpPr>
            <p:cNvPr id="74788" name="Freeform 34"/>
            <p:cNvSpPr>
              <a:spLocks/>
            </p:cNvSpPr>
            <p:nvPr/>
          </p:nvSpPr>
          <p:spPr bwMode="auto">
            <a:xfrm>
              <a:off x="3696" y="3122"/>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sp>
          <p:nvSpPr>
            <p:cNvPr id="74789" name="Freeform 35"/>
            <p:cNvSpPr>
              <a:spLocks/>
            </p:cNvSpPr>
            <p:nvPr/>
          </p:nvSpPr>
          <p:spPr bwMode="auto">
            <a:xfrm>
              <a:off x="3696" y="3308"/>
              <a:ext cx="499" cy="131"/>
            </a:xfrm>
            <a:custGeom>
              <a:avLst/>
              <a:gdLst>
                <a:gd name="T0" fmla="*/ 0 w 865"/>
                <a:gd name="T1" fmla="*/ 81 h 159"/>
                <a:gd name="T2" fmla="*/ 44 w 865"/>
                <a:gd name="T3" fmla="*/ 2 h 159"/>
                <a:gd name="T4" fmla="*/ 88 w 865"/>
                <a:gd name="T5" fmla="*/ 91 h 159"/>
                <a:gd name="T6" fmla="*/ 144 w 865"/>
                <a:gd name="T7" fmla="*/ 2 h 159"/>
                <a:gd name="T8" fmla="*/ 188 w 865"/>
                <a:gd name="T9" fmla="*/ 100 h 159"/>
                <a:gd name="T10" fmla="*/ 232 w 865"/>
                <a:gd name="T11" fmla="*/ 51 h 159"/>
                <a:gd name="T12" fmla="*/ 288 w 865"/>
                <a:gd name="T13" fmla="*/ 43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grpSp>
      <p:sp>
        <p:nvSpPr>
          <p:cNvPr id="229412" name="Freeform 36"/>
          <p:cNvSpPr>
            <a:spLocks/>
          </p:cNvSpPr>
          <p:nvPr/>
        </p:nvSpPr>
        <p:spPr bwMode="auto">
          <a:xfrm>
            <a:off x="2057400" y="1989138"/>
            <a:ext cx="792163" cy="207962"/>
          </a:xfrm>
          <a:custGeom>
            <a:avLst/>
            <a:gdLst>
              <a:gd name="T0" fmla="*/ 0 w 865"/>
              <a:gd name="T1" fmla="*/ 203573871 h 159"/>
              <a:gd name="T2" fmla="*/ 111544793 w 865"/>
              <a:gd name="T3" fmla="*/ 5132345 h 159"/>
              <a:gd name="T4" fmla="*/ 222250717 w 865"/>
              <a:gd name="T5" fmla="*/ 230945071 h 159"/>
              <a:gd name="T6" fmla="*/ 363148582 w 865"/>
              <a:gd name="T7" fmla="*/ 5132345 h 159"/>
              <a:gd name="T8" fmla="*/ 473854506 w 865"/>
              <a:gd name="T9" fmla="*/ 251473144 h 159"/>
              <a:gd name="T10" fmla="*/ 584560430 w 865"/>
              <a:gd name="T11" fmla="*/ 128302091 h 159"/>
              <a:gd name="T12" fmla="*/ 725459212 w 865"/>
              <a:gd name="T13" fmla="*/ 107774018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sp>
        <p:nvSpPr>
          <p:cNvPr id="229413" name="Text Box 37"/>
          <p:cNvSpPr txBox="1">
            <a:spLocks noChangeArrowheads="1"/>
          </p:cNvSpPr>
          <p:nvPr/>
        </p:nvSpPr>
        <p:spPr bwMode="auto">
          <a:xfrm>
            <a:off x="1273175" y="1435100"/>
            <a:ext cx="609600" cy="1311275"/>
          </a:xfrm>
          <a:prstGeom prst="rect">
            <a:avLst/>
          </a:prstGeom>
          <a:noFill/>
          <a:ln w="9525">
            <a:noFill/>
            <a:miter lim="800000"/>
            <a:headEnd/>
            <a:tailEnd/>
          </a:ln>
          <a:effectLst/>
        </p:spPr>
        <p:txBody>
          <a:bodyPr>
            <a:spAutoFit/>
          </a:bodyPr>
          <a:lstStyle/>
          <a:p>
            <a:pPr algn="just"/>
            <a:r>
              <a:rPr lang="zh-CN" altLang="en-US" sz="2000" b="1">
                <a:solidFill>
                  <a:srgbClr val="0000FF"/>
                </a:solidFill>
                <a:latin typeface="宋体" charset="-122"/>
              </a:rPr>
              <a:t>受激辐射</a:t>
            </a:r>
            <a:endParaRPr lang="zh-CN" altLang="en-US" sz="2000">
              <a:solidFill>
                <a:srgbClr val="0000FF"/>
              </a:solidFill>
              <a:latin typeface="宋体" charset="-122"/>
            </a:endParaRPr>
          </a:p>
        </p:txBody>
      </p:sp>
      <p:sp>
        <p:nvSpPr>
          <p:cNvPr id="229414" name="Text Box 38"/>
          <p:cNvSpPr txBox="1">
            <a:spLocks noChangeArrowheads="1"/>
          </p:cNvSpPr>
          <p:nvPr/>
        </p:nvSpPr>
        <p:spPr bwMode="auto">
          <a:xfrm>
            <a:off x="1196975" y="2889250"/>
            <a:ext cx="7162800" cy="968375"/>
          </a:xfrm>
          <a:prstGeom prst="rect">
            <a:avLst/>
          </a:prstGeom>
          <a:noFill/>
          <a:ln w="9525">
            <a:noFill/>
            <a:miter lim="800000"/>
            <a:headEnd/>
            <a:tailEnd/>
          </a:ln>
          <a:effectLst/>
        </p:spPr>
        <p:txBody>
          <a:bodyPr>
            <a:spAutoFit/>
          </a:bodyPr>
          <a:lstStyle/>
          <a:p>
            <a:pPr>
              <a:lnSpc>
                <a:spcPct val="120000"/>
              </a:lnSpc>
              <a:spcBef>
                <a:spcPct val="50000"/>
              </a:spcBef>
            </a:pPr>
            <a:r>
              <a:rPr lang="zh-CN" altLang="en-US" b="1">
                <a:solidFill>
                  <a:schemeClr val="bg2"/>
                </a:solidFill>
              </a:rPr>
              <a:t>光波的相位、频率、振动方向以及传播方向都和原来的入射光相同，即它们具有</a:t>
            </a:r>
            <a:r>
              <a:rPr lang="zh-CN" altLang="en-US" b="1">
                <a:solidFill>
                  <a:srgbClr val="0000FF"/>
                </a:solidFill>
              </a:rPr>
              <a:t>相干性</a:t>
            </a:r>
            <a:r>
              <a:rPr lang="zh-CN" altLang="en-US" b="1">
                <a:solidFill>
                  <a:schemeClr val="bg2"/>
                </a:solidFill>
              </a:rPr>
              <a:t>。</a:t>
            </a:r>
          </a:p>
        </p:txBody>
      </p:sp>
      <p:sp>
        <p:nvSpPr>
          <p:cNvPr id="229419" name="Text Box 43"/>
          <p:cNvSpPr txBox="1">
            <a:spLocks noChangeArrowheads="1"/>
          </p:cNvSpPr>
          <p:nvPr/>
        </p:nvSpPr>
        <p:spPr bwMode="auto">
          <a:xfrm>
            <a:off x="393700" y="3924300"/>
            <a:ext cx="3825875" cy="457200"/>
          </a:xfrm>
          <a:prstGeom prst="rect">
            <a:avLst/>
          </a:prstGeom>
          <a:noFill/>
          <a:ln w="9525">
            <a:noFill/>
            <a:miter lim="800000"/>
            <a:headEnd/>
            <a:tailEnd/>
          </a:ln>
          <a:effectLst/>
        </p:spPr>
        <p:txBody>
          <a:bodyPr>
            <a:spAutoFit/>
          </a:bodyPr>
          <a:lstStyle/>
          <a:p>
            <a:pPr>
              <a:spcBef>
                <a:spcPct val="50000"/>
              </a:spcBef>
            </a:pPr>
            <a:r>
              <a:rPr lang="en-US" altLang="zh-CN" b="1" dirty="0" smtClean="0">
                <a:solidFill>
                  <a:srgbClr val="3333CC"/>
                </a:solidFill>
              </a:rPr>
              <a:t>13.8.3 </a:t>
            </a:r>
            <a:r>
              <a:rPr lang="zh-CN" altLang="en-US" b="1" dirty="0" smtClean="0">
                <a:solidFill>
                  <a:srgbClr val="3333CC"/>
                </a:solidFill>
              </a:rPr>
              <a:t>原子</a:t>
            </a:r>
            <a:r>
              <a:rPr lang="zh-CN" altLang="en-US" b="1" dirty="0">
                <a:solidFill>
                  <a:srgbClr val="3333CC"/>
                </a:solidFill>
              </a:rPr>
              <a:t>的受激吸收</a:t>
            </a:r>
            <a:r>
              <a:rPr lang="zh-CN" altLang="en-US" dirty="0">
                <a:solidFill>
                  <a:srgbClr val="3333CC"/>
                </a:solidFill>
              </a:rPr>
              <a:t> </a:t>
            </a:r>
          </a:p>
        </p:txBody>
      </p:sp>
      <p:grpSp>
        <p:nvGrpSpPr>
          <p:cNvPr id="229420" name="Group 44"/>
          <p:cNvGrpSpPr>
            <a:grpSpLocks/>
          </p:cNvGrpSpPr>
          <p:nvPr/>
        </p:nvGrpSpPr>
        <p:grpSpPr bwMode="auto">
          <a:xfrm>
            <a:off x="2097088" y="4598988"/>
            <a:ext cx="1658937" cy="455612"/>
            <a:chOff x="924" y="961"/>
            <a:chExt cx="1045" cy="287"/>
          </a:xfrm>
        </p:grpSpPr>
        <p:sp>
          <p:nvSpPr>
            <p:cNvPr id="74780" name="Rectangle 45"/>
            <p:cNvSpPr>
              <a:spLocks noChangeArrowheads="1"/>
            </p:cNvSpPr>
            <p:nvPr/>
          </p:nvSpPr>
          <p:spPr bwMode="auto">
            <a:xfrm>
              <a:off x="1248" y="1104"/>
              <a:ext cx="721" cy="96"/>
            </a:xfrm>
            <a:prstGeom prst="rect">
              <a:avLst/>
            </a:prstGeom>
            <a:solidFill>
              <a:srgbClr val="00FFFF"/>
            </a:solidFill>
            <a:ln w="9525">
              <a:solidFill>
                <a:schemeClr val="tx1"/>
              </a:solidFill>
              <a:miter lim="800000"/>
              <a:headEnd/>
              <a:tailEnd/>
            </a:ln>
            <a:effectLst/>
          </p:spPr>
          <p:txBody>
            <a:bodyPr wrap="none" anchor="ctr"/>
            <a:lstStyle/>
            <a:p>
              <a:endParaRPr lang="zh-CN" altLang="en-US"/>
            </a:p>
          </p:txBody>
        </p:sp>
        <p:sp>
          <p:nvSpPr>
            <p:cNvPr id="74781" name="Text Box 46"/>
            <p:cNvSpPr txBox="1">
              <a:spLocks noChangeArrowheads="1"/>
            </p:cNvSpPr>
            <p:nvPr/>
          </p:nvSpPr>
          <p:spPr bwMode="auto">
            <a:xfrm>
              <a:off x="924" y="961"/>
              <a:ext cx="308" cy="287"/>
            </a:xfrm>
            <a:prstGeom prst="rect">
              <a:avLst/>
            </a:prstGeom>
            <a:noFill/>
            <a:ln w="9525">
              <a:noFill/>
              <a:miter lim="800000"/>
              <a:headEnd/>
              <a:tailEnd/>
            </a:ln>
            <a:effectLst/>
          </p:spPr>
          <p:txBody>
            <a:bodyPr wrap="none">
              <a:spAutoFit/>
            </a:bodyPr>
            <a:lstStyle/>
            <a:p>
              <a:r>
                <a:rPr lang="en-US" altLang="zh-CN" b="1" i="1">
                  <a:solidFill>
                    <a:srgbClr val="0000FF"/>
                  </a:solidFill>
                </a:rPr>
                <a:t>E</a:t>
              </a:r>
              <a:r>
                <a:rPr lang="en-US" altLang="zh-CN" b="1" baseline="-20000">
                  <a:solidFill>
                    <a:srgbClr val="0000FF"/>
                  </a:solidFill>
                </a:rPr>
                <a:t>2</a:t>
              </a:r>
              <a:endParaRPr lang="en-US" altLang="zh-CN" b="1">
                <a:solidFill>
                  <a:srgbClr val="0000FF"/>
                </a:solidFill>
              </a:endParaRPr>
            </a:p>
          </p:txBody>
        </p:sp>
      </p:grpSp>
      <p:sp>
        <p:nvSpPr>
          <p:cNvPr id="229424" name="Line 48"/>
          <p:cNvSpPr>
            <a:spLocks noChangeShapeType="1"/>
          </p:cNvSpPr>
          <p:nvPr/>
        </p:nvSpPr>
        <p:spPr bwMode="auto">
          <a:xfrm flipH="1" flipV="1">
            <a:off x="3203575" y="4892675"/>
            <a:ext cx="0" cy="628650"/>
          </a:xfrm>
          <a:prstGeom prst="line">
            <a:avLst/>
          </a:prstGeom>
          <a:noFill/>
          <a:ln w="28575">
            <a:solidFill>
              <a:srgbClr val="FF9900"/>
            </a:solidFill>
            <a:prstDash val="dash"/>
            <a:round/>
            <a:headEnd/>
            <a:tailEnd type="triangle" w="med" len="lg"/>
          </a:ln>
          <a:effectLst/>
        </p:spPr>
        <p:txBody>
          <a:bodyPr/>
          <a:lstStyle/>
          <a:p>
            <a:endParaRPr lang="zh-CN" altLang="en-US"/>
          </a:p>
        </p:txBody>
      </p:sp>
      <p:graphicFrame>
        <p:nvGraphicFramePr>
          <p:cNvPr id="229425" name="Object 49"/>
          <p:cNvGraphicFramePr>
            <a:graphicFrameLocks noChangeAspect="1"/>
          </p:cNvGraphicFramePr>
          <p:nvPr/>
        </p:nvGraphicFramePr>
        <p:xfrm>
          <a:off x="3011488" y="5429250"/>
          <a:ext cx="457200" cy="457200"/>
        </p:xfrm>
        <a:graphic>
          <a:graphicData uri="http://schemas.openxmlformats.org/presentationml/2006/ole">
            <p:oleObj spid="_x0000_s74770" name="Equation" r:id="rId6" imgW="81360" imgH="81720" progId="Equation.3">
              <p:embed/>
            </p:oleObj>
          </a:graphicData>
        </a:graphic>
      </p:graphicFrame>
      <p:graphicFrame>
        <p:nvGraphicFramePr>
          <p:cNvPr id="229426" name="Object 50"/>
          <p:cNvGraphicFramePr>
            <a:graphicFrameLocks noChangeAspect="1"/>
          </p:cNvGraphicFramePr>
          <p:nvPr/>
        </p:nvGraphicFramePr>
        <p:xfrm>
          <a:off x="3011488" y="4514850"/>
          <a:ext cx="457200" cy="457200"/>
        </p:xfrm>
        <a:graphic>
          <a:graphicData uri="http://schemas.openxmlformats.org/presentationml/2006/ole">
            <p:oleObj spid="_x0000_s74771" name="Equation" r:id="rId7" imgW="81360" imgH="81720" progId="Equation.3">
              <p:embed/>
            </p:oleObj>
          </a:graphicData>
        </a:graphic>
      </p:graphicFrame>
      <p:grpSp>
        <p:nvGrpSpPr>
          <p:cNvPr id="229427" name="Group 51"/>
          <p:cNvGrpSpPr>
            <a:grpSpLocks/>
          </p:cNvGrpSpPr>
          <p:nvPr/>
        </p:nvGrpSpPr>
        <p:grpSpPr bwMode="auto">
          <a:xfrm>
            <a:off x="2078038" y="5602288"/>
            <a:ext cx="1744662" cy="457200"/>
            <a:chOff x="912" y="1597"/>
            <a:chExt cx="1099" cy="288"/>
          </a:xfrm>
        </p:grpSpPr>
        <p:sp>
          <p:nvSpPr>
            <p:cNvPr id="74778" name="Rectangle 52"/>
            <p:cNvSpPr>
              <a:spLocks noChangeArrowheads="1"/>
            </p:cNvSpPr>
            <p:nvPr/>
          </p:nvSpPr>
          <p:spPr bwMode="auto">
            <a:xfrm>
              <a:off x="1248" y="1680"/>
              <a:ext cx="763" cy="96"/>
            </a:xfrm>
            <a:prstGeom prst="rect">
              <a:avLst/>
            </a:prstGeom>
            <a:solidFill>
              <a:srgbClr val="00FFFF"/>
            </a:solidFill>
            <a:ln w="9525">
              <a:solidFill>
                <a:schemeClr val="tx1"/>
              </a:solidFill>
              <a:miter lim="800000"/>
              <a:headEnd/>
              <a:tailEnd/>
            </a:ln>
            <a:effectLst/>
          </p:spPr>
          <p:txBody>
            <a:bodyPr wrap="none" anchor="ctr"/>
            <a:lstStyle/>
            <a:p>
              <a:endParaRPr lang="zh-CN" altLang="en-US"/>
            </a:p>
          </p:txBody>
        </p:sp>
        <p:sp>
          <p:nvSpPr>
            <p:cNvPr id="74779" name="Text Box 53"/>
            <p:cNvSpPr txBox="1">
              <a:spLocks noChangeArrowheads="1"/>
            </p:cNvSpPr>
            <p:nvPr/>
          </p:nvSpPr>
          <p:spPr bwMode="auto">
            <a:xfrm>
              <a:off x="912" y="1597"/>
              <a:ext cx="308" cy="288"/>
            </a:xfrm>
            <a:prstGeom prst="rect">
              <a:avLst/>
            </a:prstGeom>
            <a:noFill/>
            <a:ln w="9525">
              <a:noFill/>
              <a:miter lim="800000"/>
              <a:headEnd/>
              <a:tailEnd/>
            </a:ln>
            <a:effectLst/>
          </p:spPr>
          <p:txBody>
            <a:bodyPr wrap="none">
              <a:spAutoFit/>
            </a:bodyPr>
            <a:lstStyle/>
            <a:p>
              <a:r>
                <a:rPr lang="en-US" altLang="zh-CN" b="1" i="1">
                  <a:solidFill>
                    <a:srgbClr val="0000FF"/>
                  </a:solidFill>
                </a:rPr>
                <a:t>E</a:t>
              </a:r>
              <a:r>
                <a:rPr lang="en-US" altLang="zh-CN" b="1" baseline="-20000">
                  <a:solidFill>
                    <a:srgbClr val="0000FF"/>
                  </a:solidFill>
                </a:rPr>
                <a:t>1</a:t>
              </a:r>
              <a:endParaRPr lang="en-US" altLang="zh-CN" b="1">
                <a:solidFill>
                  <a:srgbClr val="0000FF"/>
                </a:solidFill>
              </a:endParaRPr>
            </a:p>
          </p:txBody>
        </p:sp>
      </p:grpSp>
      <p:sp>
        <p:nvSpPr>
          <p:cNvPr id="229430" name="Freeform 54"/>
          <p:cNvSpPr>
            <a:spLocks/>
          </p:cNvSpPr>
          <p:nvPr/>
        </p:nvSpPr>
        <p:spPr bwMode="auto">
          <a:xfrm>
            <a:off x="2097088" y="5221288"/>
            <a:ext cx="792162" cy="207962"/>
          </a:xfrm>
          <a:custGeom>
            <a:avLst/>
            <a:gdLst>
              <a:gd name="T0" fmla="*/ 0 w 865"/>
              <a:gd name="T1" fmla="*/ 203573871 h 159"/>
              <a:gd name="T2" fmla="*/ 111544652 w 865"/>
              <a:gd name="T3" fmla="*/ 5132345 h 159"/>
              <a:gd name="T4" fmla="*/ 222249520 w 865"/>
              <a:gd name="T5" fmla="*/ 230945071 h 159"/>
              <a:gd name="T6" fmla="*/ 363148124 w 865"/>
              <a:gd name="T7" fmla="*/ 5132345 h 159"/>
              <a:gd name="T8" fmla="*/ 473853908 w 865"/>
              <a:gd name="T9" fmla="*/ 251473144 h 159"/>
              <a:gd name="T10" fmla="*/ 584559693 w 865"/>
              <a:gd name="T11" fmla="*/ 128302091 h 159"/>
              <a:gd name="T12" fmla="*/ 725457381 w 865"/>
              <a:gd name="T13" fmla="*/ 107774018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6600"/>
            </a:solidFill>
            <a:prstDash val="solid"/>
            <a:round/>
            <a:headEnd type="none" w="med" len="med"/>
            <a:tailEnd type="triangle" w="med" len="med"/>
          </a:ln>
          <a:effectLst/>
        </p:spPr>
        <p:txBody>
          <a:bodyPr wrap="none" anchor="ctr"/>
          <a:lstStyle/>
          <a:p>
            <a:endParaRPr lang="zh-CN" altLang="en-US"/>
          </a:p>
        </p:txBody>
      </p:sp>
      <p:sp>
        <p:nvSpPr>
          <p:cNvPr id="229431" name="Text Box 55"/>
          <p:cNvSpPr txBox="1">
            <a:spLocks noChangeArrowheads="1"/>
          </p:cNvSpPr>
          <p:nvPr/>
        </p:nvSpPr>
        <p:spPr bwMode="auto">
          <a:xfrm>
            <a:off x="1312863" y="4667250"/>
            <a:ext cx="609600" cy="1311275"/>
          </a:xfrm>
          <a:prstGeom prst="rect">
            <a:avLst/>
          </a:prstGeom>
          <a:noFill/>
          <a:ln w="9525">
            <a:noFill/>
            <a:miter lim="800000"/>
            <a:headEnd/>
            <a:tailEnd/>
          </a:ln>
          <a:effectLst/>
        </p:spPr>
        <p:txBody>
          <a:bodyPr>
            <a:spAutoFit/>
          </a:bodyPr>
          <a:lstStyle/>
          <a:p>
            <a:pPr algn="just"/>
            <a:r>
              <a:rPr lang="zh-CN" altLang="en-US" sz="2000" b="1">
                <a:solidFill>
                  <a:srgbClr val="0000FF"/>
                </a:solidFill>
                <a:latin typeface="宋体" charset="-122"/>
              </a:rPr>
              <a:t>受激吸收</a:t>
            </a:r>
            <a:endParaRPr lang="zh-CN" altLang="en-US" sz="2000">
              <a:solidFill>
                <a:srgbClr val="0000FF"/>
              </a:solidFill>
              <a:latin typeface="宋体" charset="-122"/>
            </a:endParaRPr>
          </a:p>
        </p:txBody>
      </p:sp>
      <p:sp>
        <p:nvSpPr>
          <p:cNvPr id="229433" name="Text Box 57"/>
          <p:cNvSpPr txBox="1">
            <a:spLocks noChangeArrowheads="1"/>
          </p:cNvSpPr>
          <p:nvPr/>
        </p:nvSpPr>
        <p:spPr bwMode="auto">
          <a:xfrm>
            <a:off x="4662488" y="4194175"/>
            <a:ext cx="4095750" cy="1917700"/>
          </a:xfrm>
          <a:prstGeom prst="rect">
            <a:avLst/>
          </a:prstGeom>
          <a:noFill/>
          <a:ln w="9525">
            <a:noFill/>
            <a:miter lim="800000"/>
            <a:headEnd/>
            <a:tailEnd/>
          </a:ln>
          <a:effectLst/>
        </p:spPr>
        <p:txBody>
          <a:bodyPr>
            <a:spAutoFit/>
          </a:bodyPr>
          <a:lstStyle/>
          <a:p>
            <a:pPr>
              <a:spcBef>
                <a:spcPct val="50000"/>
              </a:spcBef>
            </a:pPr>
            <a:r>
              <a:rPr lang="zh-CN" altLang="en-US" b="1">
                <a:solidFill>
                  <a:schemeClr val="bg2"/>
                </a:solidFill>
                <a:latin typeface="楷体_GB2312" pitchFamily="49" charset="-122"/>
                <a:ea typeface="楷体_GB2312" pitchFamily="49" charset="-122"/>
              </a:rPr>
              <a:t>光和原子系统相互作用时，总是</a:t>
            </a:r>
            <a:r>
              <a:rPr lang="zh-CN" altLang="en-US" b="1">
                <a:solidFill>
                  <a:schemeClr val="accent2"/>
                </a:solidFill>
                <a:latin typeface="楷体_GB2312" pitchFamily="49" charset="-122"/>
                <a:ea typeface="楷体_GB2312" pitchFamily="49" charset="-122"/>
              </a:rPr>
              <a:t>同时存在自发辐射、受激辐射和受激吸收三种过程</a:t>
            </a:r>
            <a:r>
              <a:rPr lang="zh-CN" altLang="en-US" b="1">
                <a:solidFill>
                  <a:schemeClr val="bg2"/>
                </a:solidFill>
                <a:latin typeface="楷体_GB2312" pitchFamily="49" charset="-122"/>
                <a:ea typeface="楷体_GB2312" pitchFamily="49" charset="-122"/>
              </a:rPr>
              <a:t>。吸收过程使光子数减少，辐射过程则使光子数增加． </a:t>
            </a:r>
          </a:p>
        </p:txBody>
      </p:sp>
      <p:sp>
        <p:nvSpPr>
          <p:cNvPr id="229434" name="AutoShape 58"/>
          <p:cNvSpPr>
            <a:spLocks noChangeArrowheads="1"/>
          </p:cNvSpPr>
          <p:nvPr/>
        </p:nvSpPr>
        <p:spPr bwMode="auto">
          <a:xfrm>
            <a:off x="4302125" y="4194175"/>
            <a:ext cx="360363" cy="576263"/>
          </a:xfrm>
          <a:prstGeom prst="star4">
            <a:avLst>
              <a:gd name="adj" fmla="val 18722"/>
            </a:avLst>
          </a:prstGeom>
          <a:gradFill rotWithShape="0">
            <a:gsLst>
              <a:gs pos="0">
                <a:schemeClr val="accent2"/>
              </a:gs>
              <a:gs pos="100000">
                <a:schemeClr val="accent2">
                  <a:gamma/>
                  <a:shade val="46275"/>
                  <a:invGamma/>
                </a:schemeClr>
              </a:gs>
            </a:gsLst>
            <a:path path="shape">
              <a:fillToRect l="50000" t="50000" r="50000" b="50000"/>
            </a:path>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graphicFrame>
        <p:nvGraphicFramePr>
          <p:cNvPr id="229435" name="Object 59"/>
          <p:cNvGraphicFramePr>
            <a:graphicFrameLocks noChangeAspect="1"/>
          </p:cNvGraphicFramePr>
          <p:nvPr/>
        </p:nvGraphicFramePr>
        <p:xfrm>
          <a:off x="2997200" y="5408613"/>
          <a:ext cx="457200" cy="457200"/>
        </p:xfrm>
        <a:graphic>
          <a:graphicData uri="http://schemas.openxmlformats.org/presentationml/2006/ole">
            <p:oleObj spid="_x0000_s74777" name="Equation" r:id="rId8" imgW="81360" imgH="8172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9380"/>
                                        </p:tgtEl>
                                        <p:attrNameLst>
                                          <p:attrName>style.visibility</p:attrName>
                                        </p:attrNameLst>
                                      </p:cBhvr>
                                      <p:to>
                                        <p:strVal val="visible"/>
                                      </p:to>
                                    </p:set>
                                    <p:animEffect transition="in" filter="wipe(left)">
                                      <p:cBhvr>
                                        <p:cTn id="7" dur="500"/>
                                        <p:tgtEl>
                                          <p:spTgt spid="2293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9413"/>
                                        </p:tgtEl>
                                        <p:attrNameLst>
                                          <p:attrName>style.visibility</p:attrName>
                                        </p:attrNameLst>
                                      </p:cBhvr>
                                      <p:to>
                                        <p:strVal val="visible"/>
                                      </p:to>
                                    </p:set>
                                    <p:animEffect transition="in" filter="wipe(left)">
                                      <p:cBhvr>
                                        <p:cTn id="12" dur="1000"/>
                                        <p:tgtEl>
                                          <p:spTgt spid="2294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9392"/>
                                        </p:tgtEl>
                                        <p:attrNameLst>
                                          <p:attrName>style.visibility</p:attrName>
                                        </p:attrNameLst>
                                      </p:cBhvr>
                                      <p:to>
                                        <p:strVal val="visible"/>
                                      </p:to>
                                    </p:set>
                                    <p:animEffect transition="in" filter="wipe(left)">
                                      <p:cBhvr>
                                        <p:cTn id="17" dur="1000"/>
                                        <p:tgtEl>
                                          <p:spTgt spid="2293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9381"/>
                                        </p:tgtEl>
                                        <p:attrNameLst>
                                          <p:attrName>style.visibility</p:attrName>
                                        </p:attrNameLst>
                                      </p:cBhvr>
                                      <p:to>
                                        <p:strVal val="visible"/>
                                      </p:to>
                                    </p:set>
                                    <p:animEffect transition="in" filter="wipe(left)">
                                      <p:cBhvr>
                                        <p:cTn id="22" dur="1000"/>
                                        <p:tgtEl>
                                          <p:spTgt spid="22938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9412"/>
                                        </p:tgtEl>
                                        <p:attrNameLst>
                                          <p:attrName>style.visibility</p:attrName>
                                        </p:attrNameLst>
                                      </p:cBhvr>
                                      <p:to>
                                        <p:strVal val="visible"/>
                                      </p:to>
                                    </p:set>
                                    <p:animEffect transition="in" filter="wipe(left)">
                                      <p:cBhvr>
                                        <p:cTn id="27" dur="1000"/>
                                        <p:tgtEl>
                                          <p:spTgt spid="2294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29388"/>
                                        </p:tgtEl>
                                        <p:attrNameLst>
                                          <p:attrName>style.visibility</p:attrName>
                                        </p:attrNameLst>
                                      </p:cBhvr>
                                      <p:to>
                                        <p:strVal val="visible"/>
                                      </p:to>
                                    </p:set>
                                    <p:animEffect transition="in" filter="wipe(left)">
                                      <p:cBhvr>
                                        <p:cTn id="32" dur="1000"/>
                                        <p:tgtEl>
                                          <p:spTgt spid="229388"/>
                                        </p:tgtEl>
                                      </p:cBhvr>
                                    </p:animEffect>
                                  </p:childTnLst>
                                </p:cTn>
                              </p:par>
                            </p:childTnLst>
                          </p:cTn>
                        </p:par>
                        <p:par>
                          <p:cTn id="33" fill="hold" nodeType="afterGroup">
                            <p:stCondLst>
                              <p:cond delay="1000"/>
                            </p:stCondLst>
                            <p:childTnLst>
                              <p:par>
                                <p:cTn id="34" presetID="1" presetClass="exit" presetSubtype="0" fill="hold" nodeType="afterEffect">
                                  <p:stCondLst>
                                    <p:cond delay="0"/>
                                  </p:stCondLst>
                                  <p:childTnLst>
                                    <p:set>
                                      <p:cBhvr>
                                        <p:cTn id="35" dur="1" fill="hold">
                                          <p:stCondLst>
                                            <p:cond delay="0"/>
                                          </p:stCondLst>
                                        </p:cTn>
                                        <p:tgtEl>
                                          <p:spTgt spid="229388"/>
                                        </p:tgtEl>
                                        <p:attrNameLst>
                                          <p:attrName>style.visibility</p:attrName>
                                        </p:attrNameLst>
                                      </p:cBhvr>
                                      <p:to>
                                        <p:strVal val="hidden"/>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29385"/>
                                        </p:tgtEl>
                                        <p:attrNameLst>
                                          <p:attrName>style.visibility</p:attrName>
                                        </p:attrNameLst>
                                      </p:cBhvr>
                                      <p:to>
                                        <p:strVal val="visible"/>
                                      </p:to>
                                    </p:set>
                                    <p:animEffect transition="in" filter="wipe(left)">
                                      <p:cBhvr>
                                        <p:cTn id="40" dur="1000"/>
                                        <p:tgtEl>
                                          <p:spTgt spid="22938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29395"/>
                                        </p:tgtEl>
                                        <p:attrNameLst>
                                          <p:attrName>style.visibility</p:attrName>
                                        </p:attrNameLst>
                                      </p:cBhvr>
                                      <p:to>
                                        <p:strVal val="visible"/>
                                      </p:to>
                                    </p:set>
                                    <p:animEffect transition="in" filter="wipe(left)">
                                      <p:cBhvr>
                                        <p:cTn id="45" dur="1000"/>
                                        <p:tgtEl>
                                          <p:spTgt spid="22939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229398"/>
                                        </p:tgtEl>
                                        <p:attrNameLst>
                                          <p:attrName>style.visibility</p:attrName>
                                        </p:attrNameLst>
                                      </p:cBhvr>
                                      <p:to>
                                        <p:strVal val="visible"/>
                                      </p:to>
                                    </p:set>
                                    <p:animEffect transition="in" filter="wipe(left)">
                                      <p:cBhvr>
                                        <p:cTn id="50" dur="1000"/>
                                        <p:tgtEl>
                                          <p:spTgt spid="22939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229403"/>
                                        </p:tgtEl>
                                        <p:attrNameLst>
                                          <p:attrName>style.visibility</p:attrName>
                                        </p:attrNameLst>
                                      </p:cBhvr>
                                      <p:to>
                                        <p:strVal val="visible"/>
                                      </p:to>
                                    </p:set>
                                    <p:animEffect transition="in" filter="wipe(left)">
                                      <p:cBhvr>
                                        <p:cTn id="55" dur="1000"/>
                                        <p:tgtEl>
                                          <p:spTgt spid="22940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29389"/>
                                        </p:tgtEl>
                                        <p:attrNameLst>
                                          <p:attrName>style.visibility</p:attrName>
                                        </p:attrNameLst>
                                      </p:cBhvr>
                                      <p:to>
                                        <p:strVal val="visible"/>
                                      </p:to>
                                    </p:set>
                                    <p:animEffect transition="in" filter="wipe(left)">
                                      <p:cBhvr>
                                        <p:cTn id="60" dur="1000"/>
                                        <p:tgtEl>
                                          <p:spTgt spid="22938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229384"/>
                                        </p:tgtEl>
                                        <p:attrNameLst>
                                          <p:attrName>style.visibility</p:attrName>
                                        </p:attrNameLst>
                                      </p:cBhvr>
                                      <p:to>
                                        <p:strVal val="visible"/>
                                      </p:to>
                                    </p:set>
                                    <p:animEffect transition="in" filter="wipe(left)">
                                      <p:cBhvr>
                                        <p:cTn id="65" dur="1000"/>
                                        <p:tgtEl>
                                          <p:spTgt spid="22938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29414"/>
                                        </p:tgtEl>
                                        <p:attrNameLst>
                                          <p:attrName>style.visibility</p:attrName>
                                        </p:attrNameLst>
                                      </p:cBhvr>
                                      <p:to>
                                        <p:strVal val="visible"/>
                                      </p:to>
                                    </p:set>
                                    <p:animEffect transition="in" filter="wipe(left)">
                                      <p:cBhvr>
                                        <p:cTn id="70" dur="1000"/>
                                        <p:tgtEl>
                                          <p:spTgt spid="229414"/>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29419"/>
                                        </p:tgtEl>
                                        <p:attrNameLst>
                                          <p:attrName>style.visibility</p:attrName>
                                        </p:attrNameLst>
                                      </p:cBhvr>
                                      <p:to>
                                        <p:strVal val="visible"/>
                                      </p:to>
                                    </p:set>
                                    <p:animEffect transition="in" filter="wipe(left)">
                                      <p:cBhvr>
                                        <p:cTn id="75" dur="500"/>
                                        <p:tgtEl>
                                          <p:spTgt spid="22941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229431"/>
                                        </p:tgtEl>
                                        <p:attrNameLst>
                                          <p:attrName>style.visibility</p:attrName>
                                        </p:attrNameLst>
                                      </p:cBhvr>
                                      <p:to>
                                        <p:strVal val="visible"/>
                                      </p:to>
                                    </p:set>
                                    <p:animEffect transition="in" filter="wipe(left)">
                                      <p:cBhvr>
                                        <p:cTn id="80" dur="1000"/>
                                        <p:tgtEl>
                                          <p:spTgt spid="229431"/>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229427"/>
                                        </p:tgtEl>
                                        <p:attrNameLst>
                                          <p:attrName>style.visibility</p:attrName>
                                        </p:attrNameLst>
                                      </p:cBhvr>
                                      <p:to>
                                        <p:strVal val="visible"/>
                                      </p:to>
                                    </p:set>
                                    <p:animEffect transition="in" filter="wipe(left)">
                                      <p:cBhvr>
                                        <p:cTn id="85" dur="1000"/>
                                        <p:tgtEl>
                                          <p:spTgt spid="229427"/>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229420"/>
                                        </p:tgtEl>
                                        <p:attrNameLst>
                                          <p:attrName>style.visibility</p:attrName>
                                        </p:attrNameLst>
                                      </p:cBhvr>
                                      <p:to>
                                        <p:strVal val="visible"/>
                                      </p:to>
                                    </p:set>
                                    <p:animEffect transition="in" filter="wipe(left)">
                                      <p:cBhvr>
                                        <p:cTn id="90" dur="1000"/>
                                        <p:tgtEl>
                                          <p:spTgt spid="22942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29430"/>
                                        </p:tgtEl>
                                        <p:attrNameLst>
                                          <p:attrName>style.visibility</p:attrName>
                                        </p:attrNameLst>
                                      </p:cBhvr>
                                      <p:to>
                                        <p:strVal val="visible"/>
                                      </p:to>
                                    </p:set>
                                    <p:animEffect transition="in" filter="wipe(left)">
                                      <p:cBhvr>
                                        <p:cTn id="95" dur="1000"/>
                                        <p:tgtEl>
                                          <p:spTgt spid="229430"/>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4" fill="hold" nodeType="clickEffect">
                                  <p:stCondLst>
                                    <p:cond delay="0"/>
                                  </p:stCondLst>
                                  <p:childTnLst>
                                    <p:set>
                                      <p:cBhvr>
                                        <p:cTn id="99" dur="1" fill="hold">
                                          <p:stCondLst>
                                            <p:cond delay="0"/>
                                          </p:stCondLst>
                                        </p:cTn>
                                        <p:tgtEl>
                                          <p:spTgt spid="229435"/>
                                        </p:tgtEl>
                                        <p:attrNameLst>
                                          <p:attrName>style.visibility</p:attrName>
                                        </p:attrNameLst>
                                      </p:cBhvr>
                                      <p:to>
                                        <p:strVal val="visible"/>
                                      </p:to>
                                    </p:set>
                                    <p:animEffect transition="in" filter="wipe(down)">
                                      <p:cBhvr>
                                        <p:cTn id="100" dur="500"/>
                                        <p:tgtEl>
                                          <p:spTgt spid="229435"/>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4" fill="hold" nodeType="clickEffect">
                                  <p:stCondLst>
                                    <p:cond delay="0"/>
                                  </p:stCondLst>
                                  <p:childTnLst>
                                    <p:set>
                                      <p:cBhvr>
                                        <p:cTn id="104" dur="1" fill="hold">
                                          <p:stCondLst>
                                            <p:cond delay="0"/>
                                          </p:stCondLst>
                                        </p:cTn>
                                        <p:tgtEl>
                                          <p:spTgt spid="229425"/>
                                        </p:tgtEl>
                                        <p:attrNameLst>
                                          <p:attrName>style.visibility</p:attrName>
                                        </p:attrNameLst>
                                      </p:cBhvr>
                                      <p:to>
                                        <p:strVal val="visible"/>
                                      </p:to>
                                    </p:set>
                                    <p:animEffect transition="in" filter="wipe(down)">
                                      <p:cBhvr>
                                        <p:cTn id="105" dur="500"/>
                                        <p:tgtEl>
                                          <p:spTgt spid="229425"/>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229424"/>
                                        </p:tgtEl>
                                        <p:attrNameLst>
                                          <p:attrName>style.visibility</p:attrName>
                                        </p:attrNameLst>
                                      </p:cBhvr>
                                      <p:to>
                                        <p:strVal val="visible"/>
                                      </p:to>
                                    </p:set>
                                    <p:animEffect transition="in" filter="wipe(down)">
                                      <p:cBhvr>
                                        <p:cTn id="110" dur="500"/>
                                        <p:tgtEl>
                                          <p:spTgt spid="229424"/>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55" presetClass="entr" presetSubtype="0" fill="hold" nodeType="clickEffect">
                                  <p:stCondLst>
                                    <p:cond delay="0"/>
                                  </p:stCondLst>
                                  <p:childTnLst>
                                    <p:set>
                                      <p:cBhvr>
                                        <p:cTn id="114" dur="1" fill="hold">
                                          <p:stCondLst>
                                            <p:cond delay="0"/>
                                          </p:stCondLst>
                                        </p:cTn>
                                        <p:tgtEl>
                                          <p:spTgt spid="229426"/>
                                        </p:tgtEl>
                                        <p:attrNameLst>
                                          <p:attrName>style.visibility</p:attrName>
                                        </p:attrNameLst>
                                      </p:cBhvr>
                                      <p:to>
                                        <p:strVal val="visible"/>
                                      </p:to>
                                    </p:set>
                                    <p:anim calcmode="lin" valueType="num">
                                      <p:cBhvr>
                                        <p:cTn id="115" dur="1000" fill="hold"/>
                                        <p:tgtEl>
                                          <p:spTgt spid="229426"/>
                                        </p:tgtEl>
                                        <p:attrNameLst>
                                          <p:attrName>ppt_w</p:attrName>
                                        </p:attrNameLst>
                                      </p:cBhvr>
                                      <p:tavLst>
                                        <p:tav tm="0">
                                          <p:val>
                                            <p:strVal val="#ppt_w*0.70"/>
                                          </p:val>
                                        </p:tav>
                                        <p:tav tm="100000">
                                          <p:val>
                                            <p:strVal val="#ppt_w"/>
                                          </p:val>
                                        </p:tav>
                                      </p:tavLst>
                                    </p:anim>
                                    <p:anim calcmode="lin" valueType="num">
                                      <p:cBhvr>
                                        <p:cTn id="116" dur="1000" fill="hold"/>
                                        <p:tgtEl>
                                          <p:spTgt spid="229426"/>
                                        </p:tgtEl>
                                        <p:attrNameLst>
                                          <p:attrName>ppt_h</p:attrName>
                                        </p:attrNameLst>
                                      </p:cBhvr>
                                      <p:tavLst>
                                        <p:tav tm="0">
                                          <p:val>
                                            <p:strVal val="#ppt_h"/>
                                          </p:val>
                                        </p:tav>
                                        <p:tav tm="100000">
                                          <p:val>
                                            <p:strVal val="#ppt_h"/>
                                          </p:val>
                                        </p:tav>
                                      </p:tavLst>
                                    </p:anim>
                                    <p:animEffect transition="in" filter="fade">
                                      <p:cBhvr>
                                        <p:cTn id="117" dur="1000"/>
                                        <p:tgtEl>
                                          <p:spTgt spid="229426"/>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50" presetClass="entr" presetSubtype="0" decel="100000" fill="hold" grpId="0" nodeType="clickEffect">
                                  <p:stCondLst>
                                    <p:cond delay="0"/>
                                  </p:stCondLst>
                                  <p:childTnLst>
                                    <p:set>
                                      <p:cBhvr>
                                        <p:cTn id="121" dur="1" fill="hold">
                                          <p:stCondLst>
                                            <p:cond delay="0"/>
                                          </p:stCondLst>
                                        </p:cTn>
                                        <p:tgtEl>
                                          <p:spTgt spid="229434"/>
                                        </p:tgtEl>
                                        <p:attrNameLst>
                                          <p:attrName>style.visibility</p:attrName>
                                        </p:attrNameLst>
                                      </p:cBhvr>
                                      <p:to>
                                        <p:strVal val="visible"/>
                                      </p:to>
                                    </p:set>
                                    <p:anim calcmode="lin" valueType="num">
                                      <p:cBhvr>
                                        <p:cTn id="122" dur="1000" fill="hold"/>
                                        <p:tgtEl>
                                          <p:spTgt spid="229434"/>
                                        </p:tgtEl>
                                        <p:attrNameLst>
                                          <p:attrName>ppt_w</p:attrName>
                                        </p:attrNameLst>
                                      </p:cBhvr>
                                      <p:tavLst>
                                        <p:tav tm="0">
                                          <p:val>
                                            <p:strVal val="#ppt_w+.3"/>
                                          </p:val>
                                        </p:tav>
                                        <p:tav tm="100000">
                                          <p:val>
                                            <p:strVal val="#ppt_w"/>
                                          </p:val>
                                        </p:tav>
                                      </p:tavLst>
                                    </p:anim>
                                    <p:anim calcmode="lin" valueType="num">
                                      <p:cBhvr>
                                        <p:cTn id="123" dur="1000" fill="hold"/>
                                        <p:tgtEl>
                                          <p:spTgt spid="229434"/>
                                        </p:tgtEl>
                                        <p:attrNameLst>
                                          <p:attrName>ppt_h</p:attrName>
                                        </p:attrNameLst>
                                      </p:cBhvr>
                                      <p:tavLst>
                                        <p:tav tm="0">
                                          <p:val>
                                            <p:strVal val="#ppt_h"/>
                                          </p:val>
                                        </p:tav>
                                        <p:tav tm="100000">
                                          <p:val>
                                            <p:strVal val="#ppt_h"/>
                                          </p:val>
                                        </p:tav>
                                      </p:tavLst>
                                    </p:anim>
                                    <p:animEffect transition="in" filter="fade">
                                      <p:cBhvr>
                                        <p:cTn id="124" dur="1000"/>
                                        <p:tgtEl>
                                          <p:spTgt spid="229434"/>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229433"/>
                                        </p:tgtEl>
                                        <p:attrNameLst>
                                          <p:attrName>style.visibility</p:attrName>
                                        </p:attrNameLst>
                                      </p:cBhvr>
                                      <p:to>
                                        <p:strVal val="visible"/>
                                      </p:to>
                                    </p:set>
                                    <p:animEffect transition="in" filter="wipe(left)">
                                      <p:cBhvr>
                                        <p:cTn id="129" dur="500"/>
                                        <p:tgtEl>
                                          <p:spTgt spid="229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80" grpId="0"/>
      <p:bldP spid="229412" grpId="0" animBg="1"/>
      <p:bldP spid="229413" grpId="0"/>
      <p:bldP spid="229414" grpId="0"/>
      <p:bldP spid="229419" grpId="0"/>
      <p:bldP spid="229424" grpId="0" animBg="1"/>
      <p:bldP spid="229430" grpId="0" animBg="1"/>
      <p:bldP spid="229431" grpId="0"/>
      <p:bldP spid="229433" grpId="0"/>
      <p:bldP spid="22943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4" name="Text Box 4"/>
          <p:cNvSpPr txBox="1">
            <a:spLocks noChangeArrowheads="1"/>
          </p:cNvSpPr>
          <p:nvPr/>
        </p:nvSpPr>
        <p:spPr bwMode="auto">
          <a:xfrm>
            <a:off x="341313" y="503238"/>
            <a:ext cx="3960812" cy="457200"/>
          </a:xfrm>
          <a:prstGeom prst="rect">
            <a:avLst/>
          </a:prstGeom>
          <a:noFill/>
          <a:ln w="9525">
            <a:noFill/>
            <a:miter lim="800000"/>
            <a:headEnd/>
            <a:tailEnd/>
          </a:ln>
          <a:effectLst/>
        </p:spPr>
        <p:txBody>
          <a:bodyPr>
            <a:spAutoFit/>
          </a:bodyPr>
          <a:lstStyle/>
          <a:p>
            <a:pPr>
              <a:spcBef>
                <a:spcPct val="50000"/>
              </a:spcBef>
            </a:pPr>
            <a:r>
              <a:rPr lang="en-US" altLang="zh-CN" b="1" dirty="0" smtClean="0">
                <a:solidFill>
                  <a:srgbClr val="3333CC"/>
                </a:solidFill>
              </a:rPr>
              <a:t>13.8.4 </a:t>
            </a:r>
            <a:r>
              <a:rPr lang="zh-CN" altLang="en-US" b="1" dirty="0" smtClean="0">
                <a:solidFill>
                  <a:srgbClr val="3333CC"/>
                </a:solidFill>
              </a:rPr>
              <a:t>粒子数反转分布</a:t>
            </a:r>
            <a:r>
              <a:rPr lang="zh-CN" altLang="en-US" dirty="0" smtClean="0">
                <a:solidFill>
                  <a:srgbClr val="3333CC"/>
                </a:solidFill>
              </a:rPr>
              <a:t> </a:t>
            </a:r>
            <a:endParaRPr lang="zh-CN" altLang="en-US" dirty="0">
              <a:solidFill>
                <a:srgbClr val="3333CC"/>
              </a:solidFill>
            </a:endParaRPr>
          </a:p>
        </p:txBody>
      </p:sp>
      <p:sp>
        <p:nvSpPr>
          <p:cNvPr id="230405" name="Text Box 5"/>
          <p:cNvSpPr txBox="1">
            <a:spLocks noChangeArrowheads="1"/>
          </p:cNvSpPr>
          <p:nvPr/>
        </p:nvSpPr>
        <p:spPr bwMode="auto">
          <a:xfrm>
            <a:off x="1016000" y="1089025"/>
            <a:ext cx="2924175" cy="457200"/>
          </a:xfrm>
          <a:prstGeom prst="rect">
            <a:avLst/>
          </a:prstGeom>
          <a:noFill/>
          <a:ln w="9525">
            <a:noFill/>
            <a:miter lim="800000"/>
            <a:headEnd/>
            <a:tailEnd/>
          </a:ln>
          <a:effectLst/>
        </p:spPr>
        <p:txBody>
          <a:bodyPr>
            <a:spAutoFit/>
          </a:bodyPr>
          <a:lstStyle/>
          <a:p>
            <a:pPr>
              <a:spcBef>
                <a:spcPct val="50000"/>
              </a:spcBef>
            </a:pPr>
            <a:r>
              <a:rPr lang="zh-CN" altLang="en-US" b="1">
                <a:solidFill>
                  <a:srgbClr val="FF0000"/>
                </a:solidFill>
              </a:rPr>
              <a:t>粒子数的正常分布：</a:t>
            </a:r>
            <a:r>
              <a:rPr lang="zh-CN" altLang="en-US">
                <a:solidFill>
                  <a:srgbClr val="FF0000"/>
                </a:solidFill>
              </a:rPr>
              <a:t> </a:t>
            </a:r>
          </a:p>
        </p:txBody>
      </p:sp>
      <p:graphicFrame>
        <p:nvGraphicFramePr>
          <p:cNvPr id="230406" name="Object 6"/>
          <p:cNvGraphicFramePr>
            <a:graphicFrameLocks noChangeAspect="1"/>
          </p:cNvGraphicFramePr>
          <p:nvPr/>
        </p:nvGraphicFramePr>
        <p:xfrm>
          <a:off x="5697538" y="1538288"/>
          <a:ext cx="2341562" cy="996950"/>
        </p:xfrm>
        <a:graphic>
          <a:graphicData uri="http://schemas.openxmlformats.org/presentationml/2006/ole">
            <p:oleObj spid="_x0000_s75780" name="公式" r:id="rId3" imgW="838800" imgH="350640" progId="Equation.3">
              <p:embed/>
            </p:oleObj>
          </a:graphicData>
        </a:graphic>
      </p:graphicFrame>
      <p:sp>
        <p:nvSpPr>
          <p:cNvPr id="230408" name="Text Box 8"/>
          <p:cNvSpPr txBox="1">
            <a:spLocks noChangeArrowheads="1"/>
          </p:cNvSpPr>
          <p:nvPr/>
        </p:nvSpPr>
        <p:spPr bwMode="auto">
          <a:xfrm>
            <a:off x="3671888" y="1042988"/>
            <a:ext cx="5086350" cy="512762"/>
          </a:xfrm>
          <a:prstGeom prst="rect">
            <a:avLst/>
          </a:prstGeom>
          <a:noFill/>
          <a:ln w="9525">
            <a:noFill/>
            <a:miter lim="800000"/>
            <a:headEnd/>
            <a:tailEnd/>
          </a:ln>
          <a:effectLst/>
        </p:spPr>
        <p:txBody>
          <a:bodyPr>
            <a:spAutoFit/>
          </a:bodyPr>
          <a:lstStyle/>
          <a:p>
            <a:pPr>
              <a:lnSpc>
                <a:spcPct val="115000"/>
              </a:lnSpc>
            </a:pPr>
            <a:r>
              <a:rPr lang="zh-CN" altLang="en-US" b="1">
                <a:solidFill>
                  <a:schemeClr val="bg2"/>
                </a:solidFill>
                <a:latin typeface="宋体" charset="-122"/>
              </a:rPr>
              <a:t>在热平衡状态下，高能级上的粒子数</a:t>
            </a:r>
          </a:p>
        </p:txBody>
      </p:sp>
      <p:sp>
        <p:nvSpPr>
          <p:cNvPr id="230409" name="Text Box 9"/>
          <p:cNvSpPr txBox="1">
            <a:spLocks noChangeArrowheads="1"/>
          </p:cNvSpPr>
          <p:nvPr/>
        </p:nvSpPr>
        <p:spPr bwMode="auto">
          <a:xfrm>
            <a:off x="1557338" y="1719263"/>
            <a:ext cx="4005262"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2"/>
                </a:solidFill>
              </a:rPr>
              <a:t>总是小于低能级上的粒子数。</a:t>
            </a:r>
          </a:p>
        </p:txBody>
      </p:sp>
      <p:sp>
        <p:nvSpPr>
          <p:cNvPr id="230410" name="Text Box 10"/>
          <p:cNvSpPr txBox="1">
            <a:spLocks noChangeArrowheads="1"/>
          </p:cNvSpPr>
          <p:nvPr/>
        </p:nvSpPr>
        <p:spPr bwMode="auto">
          <a:xfrm>
            <a:off x="1062038" y="2619375"/>
            <a:ext cx="2924175" cy="457200"/>
          </a:xfrm>
          <a:prstGeom prst="rect">
            <a:avLst/>
          </a:prstGeom>
          <a:noFill/>
          <a:ln w="9525">
            <a:noFill/>
            <a:miter lim="800000"/>
            <a:headEnd/>
            <a:tailEnd/>
          </a:ln>
          <a:effectLst/>
        </p:spPr>
        <p:txBody>
          <a:bodyPr>
            <a:spAutoFit/>
          </a:bodyPr>
          <a:lstStyle/>
          <a:p>
            <a:pPr>
              <a:spcBef>
                <a:spcPct val="50000"/>
              </a:spcBef>
            </a:pPr>
            <a:r>
              <a:rPr lang="zh-CN" altLang="en-US" b="1">
                <a:solidFill>
                  <a:srgbClr val="FF0000"/>
                </a:solidFill>
              </a:rPr>
              <a:t>粒子数的反转分布：</a:t>
            </a:r>
            <a:r>
              <a:rPr lang="zh-CN" altLang="en-US">
                <a:solidFill>
                  <a:srgbClr val="FF0000"/>
                </a:solidFill>
              </a:rPr>
              <a:t> </a:t>
            </a:r>
          </a:p>
        </p:txBody>
      </p:sp>
      <p:sp>
        <p:nvSpPr>
          <p:cNvPr id="230411" name="Text Box 11"/>
          <p:cNvSpPr txBox="1">
            <a:spLocks noChangeArrowheads="1"/>
          </p:cNvSpPr>
          <p:nvPr/>
        </p:nvSpPr>
        <p:spPr bwMode="auto">
          <a:xfrm>
            <a:off x="3806825" y="2528888"/>
            <a:ext cx="4995863" cy="968375"/>
          </a:xfrm>
          <a:prstGeom prst="rect">
            <a:avLst/>
          </a:prstGeom>
          <a:noFill/>
          <a:ln w="9525">
            <a:noFill/>
            <a:miter lim="800000"/>
            <a:headEnd/>
            <a:tailEnd/>
          </a:ln>
          <a:effectLst/>
        </p:spPr>
        <p:txBody>
          <a:bodyPr>
            <a:spAutoFit/>
          </a:bodyPr>
          <a:lstStyle/>
          <a:p>
            <a:pPr>
              <a:lnSpc>
                <a:spcPct val="120000"/>
              </a:lnSpc>
            </a:pPr>
            <a:r>
              <a:rPr lang="zh-CN" altLang="en-US" b="1">
                <a:solidFill>
                  <a:schemeClr val="bg2"/>
                </a:solidFill>
                <a:latin typeface="宋体" charset="-122"/>
              </a:rPr>
              <a:t>在外界能源激励下，破坏介质的热平衡，使</a:t>
            </a:r>
            <a:r>
              <a:rPr lang="en-US" altLang="zh-CN" b="1" i="1">
                <a:solidFill>
                  <a:schemeClr val="accent2"/>
                </a:solidFill>
              </a:rPr>
              <a:t>N</a:t>
            </a:r>
            <a:r>
              <a:rPr lang="en-US" altLang="zh-CN" b="1" baseline="-25000">
                <a:solidFill>
                  <a:schemeClr val="accent2"/>
                </a:solidFill>
              </a:rPr>
              <a:t>2</a:t>
            </a:r>
            <a:r>
              <a:rPr lang="en-US" altLang="zh-CN" b="1">
                <a:solidFill>
                  <a:schemeClr val="accent2"/>
                </a:solidFill>
              </a:rPr>
              <a:t>&gt;</a:t>
            </a:r>
            <a:r>
              <a:rPr lang="en-US" altLang="zh-CN" b="1" i="1">
                <a:solidFill>
                  <a:schemeClr val="accent2"/>
                </a:solidFill>
              </a:rPr>
              <a:t>N</a:t>
            </a:r>
            <a:r>
              <a:rPr lang="en-US" altLang="zh-CN" b="1" baseline="-25000">
                <a:solidFill>
                  <a:schemeClr val="accent2"/>
                </a:solidFill>
              </a:rPr>
              <a:t>1</a:t>
            </a:r>
            <a:r>
              <a:rPr lang="en-US" altLang="zh-CN" b="1">
                <a:solidFill>
                  <a:schemeClr val="accent2"/>
                </a:solidFill>
                <a:latin typeface="宋体" charset="-122"/>
              </a:rPr>
              <a:t> </a:t>
            </a:r>
            <a:r>
              <a:rPr lang="zh-CN" altLang="en-US" b="1">
                <a:solidFill>
                  <a:schemeClr val="bg2"/>
                </a:solidFill>
                <a:latin typeface="宋体" charset="-122"/>
              </a:rPr>
              <a:t>的分布。 </a:t>
            </a:r>
          </a:p>
        </p:txBody>
      </p:sp>
      <p:sp>
        <p:nvSpPr>
          <p:cNvPr id="230416" name="Text Box 16"/>
          <p:cNvSpPr txBox="1">
            <a:spLocks noChangeArrowheads="1"/>
          </p:cNvSpPr>
          <p:nvPr/>
        </p:nvSpPr>
        <p:spPr bwMode="auto">
          <a:xfrm>
            <a:off x="755650" y="4149725"/>
            <a:ext cx="1008063"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2"/>
                </a:solidFill>
              </a:rPr>
              <a:t>讨论</a:t>
            </a:r>
          </a:p>
        </p:txBody>
      </p:sp>
      <p:sp>
        <p:nvSpPr>
          <p:cNvPr id="230417" name="Oval 17"/>
          <p:cNvSpPr>
            <a:spLocks noChangeArrowheads="1"/>
          </p:cNvSpPr>
          <p:nvPr/>
        </p:nvSpPr>
        <p:spPr bwMode="auto">
          <a:xfrm>
            <a:off x="1619250" y="4724400"/>
            <a:ext cx="144463" cy="144463"/>
          </a:xfrm>
          <a:prstGeom prst="ellipse">
            <a:avLst/>
          </a:prstGeom>
          <a:gradFill rotWithShape="1">
            <a:gsLst>
              <a:gs pos="0">
                <a:srgbClr val="9900FF"/>
              </a:gs>
              <a:gs pos="100000">
                <a:srgbClr val="470076"/>
              </a:gs>
            </a:gsLst>
            <a:path path="shape">
              <a:fillToRect l="50000" t="50000" r="50000" b="50000"/>
            </a:path>
          </a:gradFill>
          <a:ln w="9525">
            <a:noFill/>
            <a:round/>
            <a:headEnd/>
            <a:tailEnd/>
          </a:ln>
          <a:effectLst/>
        </p:spPr>
        <p:txBody>
          <a:bodyPr wrap="none" anchor="ctr"/>
          <a:lstStyle/>
          <a:p>
            <a:endParaRPr lang="zh-CN" altLang="en-US"/>
          </a:p>
        </p:txBody>
      </p:sp>
      <p:sp>
        <p:nvSpPr>
          <p:cNvPr id="230418" name="Oval 18"/>
          <p:cNvSpPr>
            <a:spLocks noChangeArrowheads="1"/>
          </p:cNvSpPr>
          <p:nvPr/>
        </p:nvSpPr>
        <p:spPr bwMode="auto">
          <a:xfrm>
            <a:off x="1619250" y="5589588"/>
            <a:ext cx="144463" cy="144462"/>
          </a:xfrm>
          <a:prstGeom prst="ellipse">
            <a:avLst/>
          </a:prstGeom>
          <a:gradFill rotWithShape="1">
            <a:gsLst>
              <a:gs pos="0">
                <a:srgbClr val="9900FF"/>
              </a:gs>
              <a:gs pos="100000">
                <a:srgbClr val="470076"/>
              </a:gs>
            </a:gsLst>
            <a:path path="shape">
              <a:fillToRect l="50000" t="50000" r="50000" b="50000"/>
            </a:path>
          </a:gradFill>
          <a:ln w="9525">
            <a:noFill/>
            <a:round/>
            <a:headEnd/>
            <a:tailEnd/>
          </a:ln>
          <a:effectLst/>
        </p:spPr>
        <p:txBody>
          <a:bodyPr wrap="none" anchor="ctr"/>
          <a:lstStyle/>
          <a:p>
            <a:endParaRPr lang="zh-CN" altLang="en-US"/>
          </a:p>
        </p:txBody>
      </p:sp>
      <p:sp>
        <p:nvSpPr>
          <p:cNvPr id="230419" name="Text Box 19"/>
          <p:cNvSpPr txBox="1">
            <a:spLocks noChangeArrowheads="1"/>
          </p:cNvSpPr>
          <p:nvPr/>
        </p:nvSpPr>
        <p:spPr bwMode="auto">
          <a:xfrm>
            <a:off x="1835150" y="4581525"/>
            <a:ext cx="6553200" cy="457200"/>
          </a:xfrm>
          <a:prstGeom prst="rect">
            <a:avLst/>
          </a:prstGeom>
          <a:noFill/>
          <a:ln w="9525">
            <a:noFill/>
            <a:miter lim="800000"/>
            <a:headEnd/>
            <a:tailEnd/>
          </a:ln>
          <a:effectLst/>
        </p:spPr>
        <p:txBody>
          <a:bodyPr>
            <a:spAutoFit/>
          </a:bodyPr>
          <a:lstStyle/>
          <a:p>
            <a:pPr>
              <a:spcBef>
                <a:spcPct val="50000"/>
              </a:spcBef>
            </a:pPr>
            <a:r>
              <a:rPr lang="zh-CN" altLang="en-US" b="1">
                <a:solidFill>
                  <a:srgbClr val="0000FF"/>
                </a:solidFill>
              </a:rPr>
              <a:t>正常分布：</a:t>
            </a:r>
            <a:r>
              <a:rPr lang="en-US" altLang="zh-CN" b="1" i="1">
                <a:solidFill>
                  <a:schemeClr val="accent2"/>
                </a:solidFill>
              </a:rPr>
              <a:t>N</a:t>
            </a:r>
            <a:r>
              <a:rPr lang="en-US" altLang="zh-CN" b="1" baseline="-25000">
                <a:solidFill>
                  <a:schemeClr val="accent2"/>
                </a:solidFill>
              </a:rPr>
              <a:t>1</a:t>
            </a:r>
            <a:r>
              <a:rPr lang="en-US" altLang="zh-CN" b="1">
                <a:solidFill>
                  <a:schemeClr val="accent2"/>
                </a:solidFill>
              </a:rPr>
              <a:t>&gt;&gt;</a:t>
            </a:r>
            <a:r>
              <a:rPr lang="en-US" altLang="zh-CN" b="1" i="1">
                <a:solidFill>
                  <a:schemeClr val="accent2"/>
                </a:solidFill>
              </a:rPr>
              <a:t>N</a:t>
            </a:r>
            <a:r>
              <a:rPr lang="en-US" altLang="zh-CN" b="1" baseline="-25000">
                <a:solidFill>
                  <a:schemeClr val="accent2"/>
                </a:solidFill>
              </a:rPr>
              <a:t>2</a:t>
            </a:r>
            <a:r>
              <a:rPr lang="zh-CN" altLang="en-US" b="1">
                <a:solidFill>
                  <a:schemeClr val="accent2"/>
                </a:solidFill>
              </a:rPr>
              <a:t>。</a:t>
            </a:r>
            <a:r>
              <a:rPr lang="zh-CN" altLang="en-US" b="1">
                <a:solidFill>
                  <a:srgbClr val="0000FF"/>
                </a:solidFill>
              </a:rPr>
              <a:t>光吸收比光辐射占优势。</a:t>
            </a:r>
            <a:r>
              <a:rPr lang="zh-CN" altLang="en-US" b="1">
                <a:solidFill>
                  <a:srgbClr val="FF6600"/>
                </a:solidFill>
              </a:rPr>
              <a:t> </a:t>
            </a:r>
          </a:p>
        </p:txBody>
      </p:sp>
      <p:sp>
        <p:nvSpPr>
          <p:cNvPr id="230420" name="Text Box 20"/>
          <p:cNvSpPr txBox="1">
            <a:spLocks noChangeArrowheads="1"/>
          </p:cNvSpPr>
          <p:nvPr/>
        </p:nvSpPr>
        <p:spPr bwMode="auto">
          <a:xfrm>
            <a:off x="1908175" y="5445125"/>
            <a:ext cx="6696075" cy="457200"/>
          </a:xfrm>
          <a:prstGeom prst="rect">
            <a:avLst/>
          </a:prstGeom>
          <a:noFill/>
          <a:ln w="9525">
            <a:noFill/>
            <a:miter lim="800000"/>
            <a:headEnd/>
            <a:tailEnd/>
          </a:ln>
          <a:effectLst/>
        </p:spPr>
        <p:txBody>
          <a:bodyPr>
            <a:spAutoFit/>
          </a:bodyPr>
          <a:lstStyle/>
          <a:p>
            <a:pPr>
              <a:spcBef>
                <a:spcPct val="50000"/>
              </a:spcBef>
            </a:pPr>
            <a:r>
              <a:rPr lang="zh-CN" altLang="en-US" b="1">
                <a:solidFill>
                  <a:srgbClr val="0000FF"/>
                </a:solidFill>
              </a:rPr>
              <a:t>粒子数反转：</a:t>
            </a:r>
            <a:r>
              <a:rPr lang="en-US" altLang="zh-CN" b="1" i="1">
                <a:solidFill>
                  <a:schemeClr val="accent2"/>
                </a:solidFill>
              </a:rPr>
              <a:t>N</a:t>
            </a:r>
            <a:r>
              <a:rPr lang="en-US" altLang="zh-CN" b="1" baseline="-25000">
                <a:solidFill>
                  <a:schemeClr val="accent2"/>
                </a:solidFill>
              </a:rPr>
              <a:t>2</a:t>
            </a:r>
            <a:r>
              <a:rPr lang="en-US" altLang="zh-CN" b="1">
                <a:solidFill>
                  <a:schemeClr val="accent2"/>
                </a:solidFill>
              </a:rPr>
              <a:t>&gt;&gt;</a:t>
            </a:r>
            <a:r>
              <a:rPr lang="en-US" altLang="zh-CN" b="1" i="1">
                <a:solidFill>
                  <a:schemeClr val="accent2"/>
                </a:solidFill>
              </a:rPr>
              <a:t>N</a:t>
            </a:r>
            <a:r>
              <a:rPr lang="en-US" altLang="zh-CN" b="1" baseline="-25000">
                <a:solidFill>
                  <a:schemeClr val="accent2"/>
                </a:solidFill>
              </a:rPr>
              <a:t>1</a:t>
            </a:r>
            <a:r>
              <a:rPr lang="zh-CN" altLang="en-US" b="1">
                <a:solidFill>
                  <a:schemeClr val="accent2"/>
                </a:solidFill>
              </a:rPr>
              <a:t>。</a:t>
            </a:r>
            <a:r>
              <a:rPr lang="zh-CN" altLang="en-US" b="1">
                <a:solidFill>
                  <a:srgbClr val="0000FF"/>
                </a:solidFill>
              </a:rPr>
              <a:t>光通过物质得到光放大。</a:t>
            </a:r>
            <a:endParaRPr lang="zh-CN" altLang="en-US">
              <a:solidFill>
                <a:srgbClr val="0000FF"/>
              </a:solidFill>
            </a:endParaRPr>
          </a:p>
        </p:txBody>
      </p:sp>
      <p:sp>
        <p:nvSpPr>
          <p:cNvPr id="230421" name="AutoShape 21"/>
          <p:cNvSpPr>
            <a:spLocks noChangeArrowheads="1"/>
          </p:cNvSpPr>
          <p:nvPr/>
        </p:nvSpPr>
        <p:spPr bwMode="auto">
          <a:xfrm>
            <a:off x="431800" y="4103688"/>
            <a:ext cx="360363" cy="576262"/>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0404"/>
                                        </p:tgtEl>
                                        <p:attrNameLst>
                                          <p:attrName>style.visibility</p:attrName>
                                        </p:attrNameLst>
                                      </p:cBhvr>
                                      <p:to>
                                        <p:strVal val="visible"/>
                                      </p:to>
                                    </p:set>
                                    <p:animEffect transition="in" filter="wipe(left)">
                                      <p:cBhvr>
                                        <p:cTn id="7" dur="500"/>
                                        <p:tgtEl>
                                          <p:spTgt spid="2304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0405"/>
                                        </p:tgtEl>
                                        <p:attrNameLst>
                                          <p:attrName>style.visibility</p:attrName>
                                        </p:attrNameLst>
                                      </p:cBhvr>
                                      <p:to>
                                        <p:strVal val="visible"/>
                                      </p:to>
                                    </p:set>
                                    <p:animEffect transition="in" filter="wipe(left)">
                                      <p:cBhvr>
                                        <p:cTn id="12" dur="500"/>
                                        <p:tgtEl>
                                          <p:spTgt spid="2304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0408"/>
                                        </p:tgtEl>
                                        <p:attrNameLst>
                                          <p:attrName>style.visibility</p:attrName>
                                        </p:attrNameLst>
                                      </p:cBhvr>
                                      <p:to>
                                        <p:strVal val="visible"/>
                                      </p:to>
                                    </p:set>
                                    <p:animEffect transition="in" filter="wipe(left)">
                                      <p:cBhvr>
                                        <p:cTn id="17" dur="500"/>
                                        <p:tgtEl>
                                          <p:spTgt spid="230408"/>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30409"/>
                                        </p:tgtEl>
                                        <p:attrNameLst>
                                          <p:attrName>style.visibility</p:attrName>
                                        </p:attrNameLst>
                                      </p:cBhvr>
                                      <p:to>
                                        <p:strVal val="visible"/>
                                      </p:to>
                                    </p:set>
                                    <p:animEffect transition="in" filter="wipe(left)">
                                      <p:cBhvr>
                                        <p:cTn id="21" dur="500"/>
                                        <p:tgtEl>
                                          <p:spTgt spid="23040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30406"/>
                                        </p:tgtEl>
                                        <p:attrNameLst>
                                          <p:attrName>style.visibility</p:attrName>
                                        </p:attrNameLst>
                                      </p:cBhvr>
                                      <p:to>
                                        <p:strVal val="visible"/>
                                      </p:to>
                                    </p:set>
                                    <p:animEffect transition="in" filter="wipe(left)">
                                      <p:cBhvr>
                                        <p:cTn id="26" dur="500"/>
                                        <p:tgtEl>
                                          <p:spTgt spid="23040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30410"/>
                                        </p:tgtEl>
                                        <p:attrNameLst>
                                          <p:attrName>style.visibility</p:attrName>
                                        </p:attrNameLst>
                                      </p:cBhvr>
                                      <p:to>
                                        <p:strVal val="visible"/>
                                      </p:to>
                                    </p:set>
                                    <p:animEffect transition="in" filter="wipe(left)">
                                      <p:cBhvr>
                                        <p:cTn id="31" dur="500"/>
                                        <p:tgtEl>
                                          <p:spTgt spid="23041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30411"/>
                                        </p:tgtEl>
                                        <p:attrNameLst>
                                          <p:attrName>style.visibility</p:attrName>
                                        </p:attrNameLst>
                                      </p:cBhvr>
                                      <p:to>
                                        <p:strVal val="visible"/>
                                      </p:to>
                                    </p:set>
                                    <p:animEffect transition="in" filter="wipe(left)">
                                      <p:cBhvr>
                                        <p:cTn id="36" dur="500"/>
                                        <p:tgtEl>
                                          <p:spTgt spid="23041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32" fill="hold" grpId="0" nodeType="clickEffect">
                                  <p:stCondLst>
                                    <p:cond delay="0"/>
                                  </p:stCondLst>
                                  <p:childTnLst>
                                    <p:set>
                                      <p:cBhvr>
                                        <p:cTn id="40" dur="1" fill="hold">
                                          <p:stCondLst>
                                            <p:cond delay="0"/>
                                          </p:stCondLst>
                                        </p:cTn>
                                        <p:tgtEl>
                                          <p:spTgt spid="230421"/>
                                        </p:tgtEl>
                                        <p:attrNameLst>
                                          <p:attrName>style.visibility</p:attrName>
                                        </p:attrNameLst>
                                      </p:cBhvr>
                                      <p:to>
                                        <p:strVal val="visible"/>
                                      </p:to>
                                    </p:set>
                                    <p:anim calcmode="lin" valueType="num">
                                      <p:cBhvr>
                                        <p:cTn id="41" dur="500" fill="hold"/>
                                        <p:tgtEl>
                                          <p:spTgt spid="230421"/>
                                        </p:tgtEl>
                                        <p:attrNameLst>
                                          <p:attrName>ppt_w</p:attrName>
                                        </p:attrNameLst>
                                      </p:cBhvr>
                                      <p:tavLst>
                                        <p:tav tm="0">
                                          <p:val>
                                            <p:strVal val="4*#ppt_w"/>
                                          </p:val>
                                        </p:tav>
                                        <p:tav tm="100000">
                                          <p:val>
                                            <p:strVal val="#ppt_w"/>
                                          </p:val>
                                        </p:tav>
                                      </p:tavLst>
                                    </p:anim>
                                    <p:anim calcmode="lin" valueType="num">
                                      <p:cBhvr>
                                        <p:cTn id="42" dur="500" fill="hold"/>
                                        <p:tgtEl>
                                          <p:spTgt spid="230421"/>
                                        </p:tgtEl>
                                        <p:attrNameLst>
                                          <p:attrName>ppt_h</p:attrName>
                                        </p:attrNameLst>
                                      </p:cBhvr>
                                      <p:tavLst>
                                        <p:tav tm="0">
                                          <p:val>
                                            <p:strVal val="4*#ppt_h"/>
                                          </p:val>
                                        </p:tav>
                                        <p:tav tm="100000">
                                          <p:val>
                                            <p:strVal val="#ppt_h"/>
                                          </p:val>
                                        </p:tav>
                                      </p:tavLst>
                                    </p:anim>
                                  </p:childTnLst>
                                </p:cTn>
                              </p:par>
                            </p:childTnLst>
                          </p:cTn>
                        </p:par>
                        <p:par>
                          <p:cTn id="43" fill="hold" nodeType="afterGroup">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230416"/>
                                        </p:tgtEl>
                                        <p:attrNameLst>
                                          <p:attrName>style.visibility</p:attrName>
                                        </p:attrNameLst>
                                      </p:cBhvr>
                                      <p:to>
                                        <p:strVal val="visible"/>
                                      </p:to>
                                    </p:set>
                                    <p:animEffect transition="in" filter="wipe(left)">
                                      <p:cBhvr>
                                        <p:cTn id="46" dur="1000"/>
                                        <p:tgtEl>
                                          <p:spTgt spid="23041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0417"/>
                                        </p:tgtEl>
                                        <p:attrNameLst>
                                          <p:attrName>style.visibility</p:attrName>
                                        </p:attrNameLst>
                                      </p:cBhvr>
                                      <p:to>
                                        <p:strVal val="visible"/>
                                      </p:to>
                                    </p:set>
                                    <p:animEffect transition="in" filter="fade">
                                      <p:cBhvr>
                                        <p:cTn id="51" dur="2000"/>
                                        <p:tgtEl>
                                          <p:spTgt spid="23041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30419"/>
                                        </p:tgtEl>
                                        <p:attrNameLst>
                                          <p:attrName>style.visibility</p:attrName>
                                        </p:attrNameLst>
                                      </p:cBhvr>
                                      <p:to>
                                        <p:strVal val="visible"/>
                                      </p:to>
                                    </p:set>
                                    <p:animEffect transition="in" filter="wipe(left)">
                                      <p:cBhvr>
                                        <p:cTn id="56" dur="1000"/>
                                        <p:tgtEl>
                                          <p:spTgt spid="23041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30418"/>
                                        </p:tgtEl>
                                        <p:attrNameLst>
                                          <p:attrName>style.visibility</p:attrName>
                                        </p:attrNameLst>
                                      </p:cBhvr>
                                      <p:to>
                                        <p:strVal val="visible"/>
                                      </p:to>
                                    </p:set>
                                    <p:animEffect transition="in" filter="fade">
                                      <p:cBhvr>
                                        <p:cTn id="61" dur="2000"/>
                                        <p:tgtEl>
                                          <p:spTgt spid="23041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30420"/>
                                        </p:tgtEl>
                                        <p:attrNameLst>
                                          <p:attrName>style.visibility</p:attrName>
                                        </p:attrNameLst>
                                      </p:cBhvr>
                                      <p:to>
                                        <p:strVal val="visible"/>
                                      </p:to>
                                    </p:set>
                                    <p:animEffect transition="in" filter="wipe(left)">
                                      <p:cBhvr>
                                        <p:cTn id="66" dur="1000"/>
                                        <p:tgtEl>
                                          <p:spTgt spid="230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4" grpId="0"/>
      <p:bldP spid="230405" grpId="0"/>
      <p:bldP spid="230408" grpId="0"/>
      <p:bldP spid="230409" grpId="0"/>
      <p:bldP spid="230410" grpId="0"/>
      <p:bldP spid="230411" grpId="0"/>
      <p:bldP spid="230416" grpId="0"/>
      <p:bldP spid="230417" grpId="0" animBg="1"/>
      <p:bldP spid="230418" grpId="0" animBg="1"/>
      <p:bldP spid="230419" grpId="0"/>
      <p:bldP spid="230420" grpId="0"/>
      <p:bldP spid="230421"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Text Box 2"/>
          <p:cNvSpPr txBox="1">
            <a:spLocks noChangeArrowheads="1"/>
          </p:cNvSpPr>
          <p:nvPr/>
        </p:nvSpPr>
        <p:spPr bwMode="auto">
          <a:xfrm>
            <a:off x="395288" y="765175"/>
            <a:ext cx="4824412"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2"/>
                </a:solidFill>
              </a:rPr>
              <a:t>粒子数反转必须具备的条件：</a:t>
            </a:r>
            <a:r>
              <a:rPr lang="zh-CN" altLang="en-US">
                <a:solidFill>
                  <a:schemeClr val="bg2"/>
                </a:solidFill>
              </a:rPr>
              <a:t> </a:t>
            </a:r>
          </a:p>
        </p:txBody>
      </p:sp>
      <p:sp>
        <p:nvSpPr>
          <p:cNvPr id="245763" name="Text Box 3"/>
          <p:cNvSpPr txBox="1">
            <a:spLocks noChangeArrowheads="1"/>
          </p:cNvSpPr>
          <p:nvPr/>
        </p:nvSpPr>
        <p:spPr bwMode="auto">
          <a:xfrm>
            <a:off x="1763713" y="1387475"/>
            <a:ext cx="4752975"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2"/>
                </a:solidFill>
              </a:rPr>
              <a:t>能量的供应过程</a:t>
            </a:r>
            <a:r>
              <a:rPr lang="zh-CN" altLang="en-US" b="1">
                <a:solidFill>
                  <a:srgbClr val="FF6600"/>
                </a:solidFill>
              </a:rPr>
              <a:t>激励（光泵浦）</a:t>
            </a:r>
          </a:p>
        </p:txBody>
      </p:sp>
      <p:sp>
        <p:nvSpPr>
          <p:cNvPr id="245764" name="Oval 4"/>
          <p:cNvSpPr>
            <a:spLocks noChangeArrowheads="1"/>
          </p:cNvSpPr>
          <p:nvPr/>
        </p:nvSpPr>
        <p:spPr bwMode="auto">
          <a:xfrm>
            <a:off x="1258888" y="1531938"/>
            <a:ext cx="144462" cy="144462"/>
          </a:xfrm>
          <a:prstGeom prst="ellipse">
            <a:avLst/>
          </a:prstGeom>
          <a:gradFill rotWithShape="1">
            <a:gsLst>
              <a:gs pos="0">
                <a:srgbClr val="9900FF"/>
              </a:gs>
              <a:gs pos="100000">
                <a:srgbClr val="470076"/>
              </a:gs>
            </a:gsLst>
            <a:path path="shape">
              <a:fillToRect l="50000" t="50000" r="50000" b="50000"/>
            </a:path>
          </a:gradFill>
          <a:ln w="9525">
            <a:noFill/>
            <a:round/>
            <a:headEnd/>
            <a:tailEnd/>
          </a:ln>
          <a:effectLst/>
        </p:spPr>
        <p:txBody>
          <a:bodyPr wrap="none" anchor="ctr"/>
          <a:lstStyle/>
          <a:p>
            <a:endParaRPr lang="zh-CN" altLang="en-US"/>
          </a:p>
        </p:txBody>
      </p:sp>
      <p:sp>
        <p:nvSpPr>
          <p:cNvPr id="245765" name="Oval 5"/>
          <p:cNvSpPr>
            <a:spLocks noChangeArrowheads="1"/>
          </p:cNvSpPr>
          <p:nvPr/>
        </p:nvSpPr>
        <p:spPr bwMode="auto">
          <a:xfrm>
            <a:off x="1258888" y="2179638"/>
            <a:ext cx="144462" cy="144462"/>
          </a:xfrm>
          <a:prstGeom prst="ellipse">
            <a:avLst/>
          </a:prstGeom>
          <a:gradFill rotWithShape="1">
            <a:gsLst>
              <a:gs pos="0">
                <a:srgbClr val="9900FF"/>
              </a:gs>
              <a:gs pos="100000">
                <a:srgbClr val="470076"/>
              </a:gs>
            </a:gsLst>
            <a:path path="shape">
              <a:fillToRect l="50000" t="50000" r="50000" b="50000"/>
            </a:path>
          </a:gradFill>
          <a:ln w="9525">
            <a:noFill/>
            <a:round/>
            <a:headEnd/>
            <a:tailEnd/>
          </a:ln>
          <a:effectLst/>
        </p:spPr>
        <p:txBody>
          <a:bodyPr wrap="none" anchor="ctr"/>
          <a:lstStyle/>
          <a:p>
            <a:endParaRPr lang="zh-CN" altLang="en-US"/>
          </a:p>
        </p:txBody>
      </p:sp>
      <p:sp>
        <p:nvSpPr>
          <p:cNvPr id="245766" name="Text Box 6"/>
          <p:cNvSpPr txBox="1">
            <a:spLocks noChangeArrowheads="1"/>
          </p:cNvSpPr>
          <p:nvPr/>
        </p:nvSpPr>
        <p:spPr bwMode="auto">
          <a:xfrm>
            <a:off x="1692275" y="1963738"/>
            <a:ext cx="4895850" cy="457200"/>
          </a:xfrm>
          <a:prstGeom prst="rect">
            <a:avLst/>
          </a:prstGeom>
          <a:noFill/>
          <a:ln w="9525">
            <a:noFill/>
            <a:miter lim="800000"/>
            <a:headEnd/>
            <a:tailEnd/>
          </a:ln>
          <a:effectLst/>
        </p:spPr>
        <p:txBody>
          <a:bodyPr>
            <a:spAutoFit/>
          </a:bodyPr>
          <a:lstStyle/>
          <a:p>
            <a:pPr>
              <a:spcBef>
                <a:spcPct val="50000"/>
              </a:spcBef>
            </a:pPr>
            <a:r>
              <a:rPr lang="zh-CN" altLang="en-US" b="1">
                <a:solidFill>
                  <a:schemeClr val="bg2"/>
                </a:solidFill>
              </a:rPr>
              <a:t>工作物质内必须存在</a:t>
            </a:r>
            <a:r>
              <a:rPr lang="zh-CN" altLang="en-US" b="1">
                <a:solidFill>
                  <a:srgbClr val="FF6600"/>
                </a:solidFill>
              </a:rPr>
              <a:t>亚稳态能级</a:t>
            </a:r>
          </a:p>
        </p:txBody>
      </p:sp>
      <p:sp>
        <p:nvSpPr>
          <p:cNvPr id="245767" name="AutoShape 7"/>
          <p:cNvSpPr>
            <a:spLocks noChangeArrowheads="1"/>
          </p:cNvSpPr>
          <p:nvPr/>
        </p:nvSpPr>
        <p:spPr bwMode="auto">
          <a:xfrm>
            <a:off x="6156325" y="523875"/>
            <a:ext cx="2808288" cy="1800225"/>
          </a:xfrm>
          <a:prstGeom prst="wedgeRoundRectCallout">
            <a:avLst>
              <a:gd name="adj1" fmla="val -51639"/>
              <a:gd name="adj2" fmla="val 58023"/>
              <a:gd name="adj3" fmla="val 16667"/>
            </a:avLst>
          </a:prstGeom>
          <a:solidFill>
            <a:srgbClr val="00FFFF">
              <a:alpha val="59999"/>
            </a:srgbClr>
          </a:solidFill>
          <a:ln w="9525">
            <a:solidFill>
              <a:srgbClr val="00FFFF"/>
            </a:solidFill>
            <a:miter lim="800000"/>
            <a:headEnd/>
            <a:tailEnd/>
          </a:ln>
          <a:effectLst/>
        </p:spPr>
        <p:txBody>
          <a:bodyPr/>
          <a:lstStyle/>
          <a:p>
            <a:r>
              <a:rPr lang="en-US" altLang="zh-CN" sz="1800" b="1">
                <a:solidFill>
                  <a:schemeClr val="accent2"/>
                </a:solidFill>
              </a:rPr>
              <a:t>   </a:t>
            </a:r>
            <a:r>
              <a:rPr lang="zh-CN" altLang="en-US" sz="2000" b="1">
                <a:solidFill>
                  <a:srgbClr val="3333CC"/>
                </a:solidFill>
                <a:latin typeface="楷体_GB2312" pitchFamily="49" charset="-122"/>
                <a:ea typeface="楷体_GB2312" pitchFamily="49" charset="-122"/>
              </a:rPr>
              <a:t>亚稳态不如基态稳定，但比激发态稳定</a:t>
            </a:r>
            <a:r>
              <a:rPr lang="en-US" altLang="zh-CN" sz="2000" b="1">
                <a:solidFill>
                  <a:srgbClr val="FF6600"/>
                </a:solidFill>
                <a:ea typeface="楷体_GB2312" pitchFamily="49" charset="-122"/>
              </a:rPr>
              <a:t>He,Ne,Ar,Ru,CO</a:t>
            </a:r>
            <a:r>
              <a:rPr lang="en-US" altLang="zh-CN" sz="2000" b="1" baseline="-25000">
                <a:solidFill>
                  <a:srgbClr val="FF6600"/>
                </a:solidFill>
                <a:ea typeface="楷体_GB2312" pitchFamily="49" charset="-122"/>
              </a:rPr>
              <a:t>2</a:t>
            </a:r>
            <a:r>
              <a:rPr lang="zh-CN" altLang="en-US" sz="2000" b="1">
                <a:solidFill>
                  <a:srgbClr val="3333CC"/>
                </a:solidFill>
                <a:latin typeface="楷体_GB2312" pitchFamily="49" charset="-122"/>
                <a:ea typeface="楷体_GB2312" pitchFamily="49" charset="-122"/>
              </a:rPr>
              <a:t>等具有亚稳态，可实现粒子数反转</a:t>
            </a:r>
            <a:r>
              <a:rPr lang="zh-CN" altLang="en-US" sz="1800" b="1" baseline="-25000">
                <a:solidFill>
                  <a:schemeClr val="accent2"/>
                </a:solidFill>
              </a:rPr>
              <a:t>。</a:t>
            </a:r>
          </a:p>
        </p:txBody>
      </p:sp>
      <p:sp>
        <p:nvSpPr>
          <p:cNvPr id="245768" name="Line 8"/>
          <p:cNvSpPr>
            <a:spLocks noChangeShapeType="1"/>
          </p:cNvSpPr>
          <p:nvPr/>
        </p:nvSpPr>
        <p:spPr bwMode="auto">
          <a:xfrm>
            <a:off x="1116013" y="5491163"/>
            <a:ext cx="3600450" cy="0"/>
          </a:xfrm>
          <a:prstGeom prst="line">
            <a:avLst/>
          </a:prstGeom>
          <a:noFill/>
          <a:ln w="28575">
            <a:solidFill>
              <a:srgbClr val="000080"/>
            </a:solidFill>
            <a:round/>
            <a:headEnd/>
            <a:tailEnd/>
          </a:ln>
          <a:effectLst/>
        </p:spPr>
        <p:txBody>
          <a:bodyPr/>
          <a:lstStyle/>
          <a:p>
            <a:endParaRPr lang="zh-CN" altLang="en-US"/>
          </a:p>
        </p:txBody>
      </p:sp>
      <p:sp>
        <p:nvSpPr>
          <p:cNvPr id="245769" name="Line 9"/>
          <p:cNvSpPr>
            <a:spLocks noChangeShapeType="1"/>
          </p:cNvSpPr>
          <p:nvPr/>
        </p:nvSpPr>
        <p:spPr bwMode="auto">
          <a:xfrm>
            <a:off x="1042988" y="3403600"/>
            <a:ext cx="3600450" cy="0"/>
          </a:xfrm>
          <a:prstGeom prst="line">
            <a:avLst/>
          </a:prstGeom>
          <a:noFill/>
          <a:ln w="28575">
            <a:solidFill>
              <a:srgbClr val="000080"/>
            </a:solidFill>
            <a:round/>
            <a:headEnd/>
            <a:tailEnd/>
          </a:ln>
          <a:effectLst/>
        </p:spPr>
        <p:txBody>
          <a:bodyPr/>
          <a:lstStyle/>
          <a:p>
            <a:endParaRPr lang="zh-CN" altLang="en-US"/>
          </a:p>
        </p:txBody>
      </p:sp>
      <p:sp>
        <p:nvSpPr>
          <p:cNvPr id="245770" name="AutoShape 10"/>
          <p:cNvSpPr>
            <a:spLocks noChangeArrowheads="1"/>
          </p:cNvSpPr>
          <p:nvPr/>
        </p:nvSpPr>
        <p:spPr bwMode="auto">
          <a:xfrm>
            <a:off x="1116013" y="5275263"/>
            <a:ext cx="217487" cy="215900"/>
          </a:xfrm>
          <a:prstGeom prst="flowChartConnector">
            <a:avLst/>
          </a:prstGeom>
          <a:solidFill>
            <a:srgbClr val="339933"/>
          </a:solidFill>
          <a:ln w="9525">
            <a:solidFill>
              <a:schemeClr val="tx1"/>
            </a:solidFill>
            <a:round/>
            <a:headEnd/>
            <a:tailEnd/>
          </a:ln>
          <a:effectLst/>
        </p:spPr>
        <p:txBody>
          <a:bodyPr wrap="none" anchor="ctr"/>
          <a:lstStyle/>
          <a:p>
            <a:endParaRPr lang="zh-CN" altLang="en-US"/>
          </a:p>
        </p:txBody>
      </p:sp>
      <p:sp>
        <p:nvSpPr>
          <p:cNvPr id="245771" name="AutoShape 11"/>
          <p:cNvSpPr>
            <a:spLocks noChangeArrowheads="1"/>
          </p:cNvSpPr>
          <p:nvPr/>
        </p:nvSpPr>
        <p:spPr bwMode="auto">
          <a:xfrm>
            <a:off x="1403350" y="5275263"/>
            <a:ext cx="217488" cy="215900"/>
          </a:xfrm>
          <a:prstGeom prst="flowChartConnector">
            <a:avLst/>
          </a:prstGeom>
          <a:solidFill>
            <a:srgbClr val="339933"/>
          </a:solidFill>
          <a:ln w="9525">
            <a:solidFill>
              <a:schemeClr val="tx1"/>
            </a:solidFill>
            <a:round/>
            <a:headEnd/>
            <a:tailEnd/>
          </a:ln>
          <a:effectLst/>
        </p:spPr>
        <p:txBody>
          <a:bodyPr wrap="none" anchor="ctr"/>
          <a:lstStyle/>
          <a:p>
            <a:endParaRPr lang="zh-CN" altLang="en-US"/>
          </a:p>
        </p:txBody>
      </p:sp>
      <p:sp>
        <p:nvSpPr>
          <p:cNvPr id="245772" name="AutoShape 12"/>
          <p:cNvSpPr>
            <a:spLocks noChangeArrowheads="1"/>
          </p:cNvSpPr>
          <p:nvPr/>
        </p:nvSpPr>
        <p:spPr bwMode="auto">
          <a:xfrm>
            <a:off x="1692275" y="5275263"/>
            <a:ext cx="217488" cy="215900"/>
          </a:xfrm>
          <a:prstGeom prst="flowChartConnector">
            <a:avLst/>
          </a:prstGeom>
          <a:solidFill>
            <a:srgbClr val="339933"/>
          </a:solidFill>
          <a:ln w="9525">
            <a:solidFill>
              <a:schemeClr val="tx1"/>
            </a:solidFill>
            <a:round/>
            <a:headEnd/>
            <a:tailEnd/>
          </a:ln>
          <a:effectLst/>
        </p:spPr>
        <p:txBody>
          <a:bodyPr wrap="none" anchor="ctr"/>
          <a:lstStyle/>
          <a:p>
            <a:endParaRPr lang="zh-CN" altLang="en-US"/>
          </a:p>
        </p:txBody>
      </p:sp>
      <p:sp>
        <p:nvSpPr>
          <p:cNvPr id="245773" name="AutoShape 13"/>
          <p:cNvSpPr>
            <a:spLocks noChangeArrowheads="1"/>
          </p:cNvSpPr>
          <p:nvPr/>
        </p:nvSpPr>
        <p:spPr bwMode="auto">
          <a:xfrm>
            <a:off x="1979613" y="5275263"/>
            <a:ext cx="217487" cy="215900"/>
          </a:xfrm>
          <a:prstGeom prst="flowChartConnector">
            <a:avLst/>
          </a:prstGeom>
          <a:solidFill>
            <a:srgbClr val="339933"/>
          </a:solidFill>
          <a:ln w="9525">
            <a:solidFill>
              <a:schemeClr val="tx1"/>
            </a:solidFill>
            <a:round/>
            <a:headEnd/>
            <a:tailEnd/>
          </a:ln>
          <a:effectLst/>
        </p:spPr>
        <p:txBody>
          <a:bodyPr wrap="none" anchor="ctr"/>
          <a:lstStyle/>
          <a:p>
            <a:endParaRPr lang="zh-CN" altLang="en-US"/>
          </a:p>
        </p:txBody>
      </p:sp>
      <p:sp>
        <p:nvSpPr>
          <p:cNvPr id="245774" name="AutoShape 14"/>
          <p:cNvSpPr>
            <a:spLocks noChangeArrowheads="1"/>
          </p:cNvSpPr>
          <p:nvPr/>
        </p:nvSpPr>
        <p:spPr bwMode="auto">
          <a:xfrm>
            <a:off x="2268538" y="5275263"/>
            <a:ext cx="217487" cy="215900"/>
          </a:xfrm>
          <a:prstGeom prst="flowChartConnector">
            <a:avLst/>
          </a:prstGeom>
          <a:solidFill>
            <a:srgbClr val="339933"/>
          </a:solidFill>
          <a:ln w="9525">
            <a:solidFill>
              <a:schemeClr val="tx1"/>
            </a:solidFill>
            <a:round/>
            <a:headEnd/>
            <a:tailEnd/>
          </a:ln>
          <a:effectLst/>
        </p:spPr>
        <p:txBody>
          <a:bodyPr wrap="none" anchor="ctr"/>
          <a:lstStyle/>
          <a:p>
            <a:endParaRPr lang="zh-CN" altLang="en-US"/>
          </a:p>
        </p:txBody>
      </p:sp>
      <p:sp>
        <p:nvSpPr>
          <p:cNvPr id="245775" name="Line 15"/>
          <p:cNvSpPr>
            <a:spLocks noChangeShapeType="1"/>
          </p:cNvSpPr>
          <p:nvPr/>
        </p:nvSpPr>
        <p:spPr bwMode="auto">
          <a:xfrm flipV="1">
            <a:off x="1763713" y="3403600"/>
            <a:ext cx="0" cy="1871663"/>
          </a:xfrm>
          <a:prstGeom prst="line">
            <a:avLst/>
          </a:prstGeom>
          <a:noFill/>
          <a:ln w="28575">
            <a:solidFill>
              <a:srgbClr val="FF3300"/>
            </a:solidFill>
            <a:round/>
            <a:headEnd/>
            <a:tailEnd type="triangle" w="med" len="med"/>
          </a:ln>
          <a:effectLst/>
        </p:spPr>
        <p:txBody>
          <a:bodyPr/>
          <a:lstStyle/>
          <a:p>
            <a:endParaRPr lang="zh-CN" altLang="en-US"/>
          </a:p>
        </p:txBody>
      </p:sp>
      <p:sp>
        <p:nvSpPr>
          <p:cNvPr id="245776" name="AutoShape 16"/>
          <p:cNvSpPr>
            <a:spLocks noChangeArrowheads="1"/>
          </p:cNvSpPr>
          <p:nvPr/>
        </p:nvSpPr>
        <p:spPr bwMode="auto">
          <a:xfrm>
            <a:off x="3201988" y="3187700"/>
            <a:ext cx="217487" cy="215900"/>
          </a:xfrm>
          <a:prstGeom prst="flowChartConnector">
            <a:avLst/>
          </a:prstGeom>
          <a:solidFill>
            <a:srgbClr val="339933"/>
          </a:solidFill>
          <a:ln w="9525">
            <a:solidFill>
              <a:schemeClr val="tx1"/>
            </a:solidFill>
            <a:round/>
            <a:headEnd/>
            <a:tailEnd/>
          </a:ln>
          <a:effectLst/>
        </p:spPr>
        <p:txBody>
          <a:bodyPr wrap="none" anchor="ctr"/>
          <a:lstStyle/>
          <a:p>
            <a:endParaRPr lang="zh-CN" altLang="en-US"/>
          </a:p>
        </p:txBody>
      </p:sp>
      <p:sp>
        <p:nvSpPr>
          <p:cNvPr id="245777" name="AutoShape 17"/>
          <p:cNvSpPr>
            <a:spLocks noChangeArrowheads="1"/>
          </p:cNvSpPr>
          <p:nvPr/>
        </p:nvSpPr>
        <p:spPr bwMode="auto">
          <a:xfrm>
            <a:off x="3490913" y="3187700"/>
            <a:ext cx="217487" cy="215900"/>
          </a:xfrm>
          <a:prstGeom prst="flowChartConnector">
            <a:avLst/>
          </a:prstGeom>
          <a:solidFill>
            <a:srgbClr val="339933"/>
          </a:solidFill>
          <a:ln w="9525">
            <a:solidFill>
              <a:schemeClr val="tx1"/>
            </a:solidFill>
            <a:round/>
            <a:headEnd/>
            <a:tailEnd/>
          </a:ln>
          <a:effectLst/>
        </p:spPr>
        <p:txBody>
          <a:bodyPr wrap="none" anchor="ctr"/>
          <a:lstStyle/>
          <a:p>
            <a:endParaRPr lang="zh-CN" altLang="en-US"/>
          </a:p>
        </p:txBody>
      </p:sp>
      <p:sp>
        <p:nvSpPr>
          <p:cNvPr id="245778" name="AutoShape 18"/>
          <p:cNvSpPr>
            <a:spLocks noChangeArrowheads="1"/>
          </p:cNvSpPr>
          <p:nvPr/>
        </p:nvSpPr>
        <p:spPr bwMode="auto">
          <a:xfrm>
            <a:off x="2914650" y="3187700"/>
            <a:ext cx="217488" cy="215900"/>
          </a:xfrm>
          <a:prstGeom prst="flowChartConnector">
            <a:avLst/>
          </a:prstGeom>
          <a:solidFill>
            <a:srgbClr val="339933"/>
          </a:solidFill>
          <a:ln w="9525">
            <a:solidFill>
              <a:schemeClr val="tx1"/>
            </a:solidFill>
            <a:round/>
            <a:headEnd/>
            <a:tailEnd/>
          </a:ln>
          <a:effectLst/>
        </p:spPr>
        <p:txBody>
          <a:bodyPr wrap="none" anchor="ctr"/>
          <a:lstStyle/>
          <a:p>
            <a:endParaRPr lang="zh-CN" altLang="en-US"/>
          </a:p>
        </p:txBody>
      </p:sp>
      <p:sp>
        <p:nvSpPr>
          <p:cNvPr id="245779" name="AutoShape 19"/>
          <p:cNvSpPr>
            <a:spLocks noChangeArrowheads="1"/>
          </p:cNvSpPr>
          <p:nvPr/>
        </p:nvSpPr>
        <p:spPr bwMode="auto">
          <a:xfrm>
            <a:off x="3779838" y="3187700"/>
            <a:ext cx="217487" cy="215900"/>
          </a:xfrm>
          <a:prstGeom prst="flowChartConnector">
            <a:avLst/>
          </a:prstGeom>
          <a:solidFill>
            <a:srgbClr val="339933"/>
          </a:solidFill>
          <a:ln w="9525">
            <a:solidFill>
              <a:schemeClr val="tx1"/>
            </a:solidFill>
            <a:round/>
            <a:headEnd/>
            <a:tailEnd/>
          </a:ln>
          <a:effectLst/>
        </p:spPr>
        <p:txBody>
          <a:bodyPr wrap="none" anchor="ctr"/>
          <a:lstStyle/>
          <a:p>
            <a:endParaRPr lang="zh-CN" altLang="en-US"/>
          </a:p>
        </p:txBody>
      </p:sp>
      <p:sp>
        <p:nvSpPr>
          <p:cNvPr id="245780" name="AutoShape 20"/>
          <p:cNvSpPr>
            <a:spLocks noChangeArrowheads="1"/>
          </p:cNvSpPr>
          <p:nvPr/>
        </p:nvSpPr>
        <p:spPr bwMode="auto">
          <a:xfrm>
            <a:off x="4067175" y="3187700"/>
            <a:ext cx="217488" cy="215900"/>
          </a:xfrm>
          <a:prstGeom prst="flowChartConnector">
            <a:avLst/>
          </a:prstGeom>
          <a:solidFill>
            <a:srgbClr val="339933"/>
          </a:solidFill>
          <a:ln w="9525">
            <a:solidFill>
              <a:schemeClr val="tx1"/>
            </a:solidFill>
            <a:round/>
            <a:headEnd/>
            <a:tailEnd/>
          </a:ln>
          <a:effectLst/>
        </p:spPr>
        <p:txBody>
          <a:bodyPr wrap="none" anchor="ctr"/>
          <a:lstStyle/>
          <a:p>
            <a:endParaRPr lang="zh-CN" altLang="en-US"/>
          </a:p>
        </p:txBody>
      </p:sp>
      <p:sp>
        <p:nvSpPr>
          <p:cNvPr id="245781" name="Line 21"/>
          <p:cNvSpPr>
            <a:spLocks noChangeShapeType="1"/>
          </p:cNvSpPr>
          <p:nvPr/>
        </p:nvSpPr>
        <p:spPr bwMode="auto">
          <a:xfrm>
            <a:off x="2771775" y="4195763"/>
            <a:ext cx="1728788" cy="0"/>
          </a:xfrm>
          <a:prstGeom prst="line">
            <a:avLst/>
          </a:prstGeom>
          <a:noFill/>
          <a:ln w="28575">
            <a:solidFill>
              <a:srgbClr val="0000FF"/>
            </a:solidFill>
            <a:round/>
            <a:headEnd/>
            <a:tailEnd/>
          </a:ln>
          <a:effectLst/>
        </p:spPr>
        <p:txBody>
          <a:bodyPr/>
          <a:lstStyle/>
          <a:p>
            <a:endParaRPr lang="zh-CN" altLang="en-US"/>
          </a:p>
        </p:txBody>
      </p:sp>
      <p:sp>
        <p:nvSpPr>
          <p:cNvPr id="245782" name="AutoShape 22"/>
          <p:cNvSpPr>
            <a:spLocks noChangeArrowheads="1"/>
          </p:cNvSpPr>
          <p:nvPr/>
        </p:nvSpPr>
        <p:spPr bwMode="auto">
          <a:xfrm>
            <a:off x="2771775" y="3979863"/>
            <a:ext cx="217488" cy="215900"/>
          </a:xfrm>
          <a:prstGeom prst="flowChartConnector">
            <a:avLst/>
          </a:prstGeom>
          <a:solidFill>
            <a:srgbClr val="993300"/>
          </a:solidFill>
          <a:ln w="9525">
            <a:solidFill>
              <a:schemeClr val="tx1"/>
            </a:solidFill>
            <a:round/>
            <a:headEnd/>
            <a:tailEnd/>
          </a:ln>
          <a:effectLst/>
        </p:spPr>
        <p:txBody>
          <a:bodyPr wrap="none" anchor="ctr"/>
          <a:lstStyle/>
          <a:p>
            <a:endParaRPr lang="zh-CN" altLang="en-US"/>
          </a:p>
        </p:txBody>
      </p:sp>
      <p:sp>
        <p:nvSpPr>
          <p:cNvPr id="245783" name="AutoShape 23"/>
          <p:cNvSpPr>
            <a:spLocks noChangeArrowheads="1"/>
          </p:cNvSpPr>
          <p:nvPr/>
        </p:nvSpPr>
        <p:spPr bwMode="auto">
          <a:xfrm>
            <a:off x="3059113" y="3979863"/>
            <a:ext cx="217487" cy="215900"/>
          </a:xfrm>
          <a:prstGeom prst="flowChartConnector">
            <a:avLst/>
          </a:prstGeom>
          <a:solidFill>
            <a:srgbClr val="993300"/>
          </a:solidFill>
          <a:ln w="9525">
            <a:solidFill>
              <a:schemeClr val="tx1"/>
            </a:solidFill>
            <a:round/>
            <a:headEnd/>
            <a:tailEnd/>
          </a:ln>
          <a:effectLst/>
        </p:spPr>
        <p:txBody>
          <a:bodyPr wrap="none" anchor="ctr"/>
          <a:lstStyle/>
          <a:p>
            <a:endParaRPr lang="zh-CN" altLang="en-US"/>
          </a:p>
        </p:txBody>
      </p:sp>
      <p:sp>
        <p:nvSpPr>
          <p:cNvPr id="245784" name="AutoShape 24"/>
          <p:cNvSpPr>
            <a:spLocks noChangeArrowheads="1"/>
          </p:cNvSpPr>
          <p:nvPr/>
        </p:nvSpPr>
        <p:spPr bwMode="auto">
          <a:xfrm>
            <a:off x="3346450" y="3979863"/>
            <a:ext cx="217488" cy="215900"/>
          </a:xfrm>
          <a:prstGeom prst="flowChartConnector">
            <a:avLst/>
          </a:prstGeom>
          <a:solidFill>
            <a:srgbClr val="993300"/>
          </a:solidFill>
          <a:ln w="9525">
            <a:solidFill>
              <a:schemeClr val="tx1"/>
            </a:solidFill>
            <a:round/>
            <a:headEnd/>
            <a:tailEnd/>
          </a:ln>
          <a:effectLst/>
        </p:spPr>
        <p:txBody>
          <a:bodyPr wrap="none" anchor="ctr"/>
          <a:lstStyle/>
          <a:p>
            <a:endParaRPr lang="zh-CN" altLang="en-US"/>
          </a:p>
        </p:txBody>
      </p:sp>
      <p:sp>
        <p:nvSpPr>
          <p:cNvPr id="245785" name="AutoShape 25"/>
          <p:cNvSpPr>
            <a:spLocks noChangeArrowheads="1"/>
          </p:cNvSpPr>
          <p:nvPr/>
        </p:nvSpPr>
        <p:spPr bwMode="auto">
          <a:xfrm>
            <a:off x="3706813" y="3979863"/>
            <a:ext cx="217487" cy="215900"/>
          </a:xfrm>
          <a:prstGeom prst="flowChartConnector">
            <a:avLst/>
          </a:prstGeom>
          <a:solidFill>
            <a:srgbClr val="993300"/>
          </a:solidFill>
          <a:ln w="9525">
            <a:solidFill>
              <a:schemeClr val="tx1"/>
            </a:solidFill>
            <a:round/>
            <a:headEnd/>
            <a:tailEnd/>
          </a:ln>
          <a:effectLst/>
        </p:spPr>
        <p:txBody>
          <a:bodyPr wrap="none" anchor="ctr"/>
          <a:lstStyle/>
          <a:p>
            <a:endParaRPr lang="zh-CN" altLang="en-US"/>
          </a:p>
        </p:txBody>
      </p:sp>
      <p:sp>
        <p:nvSpPr>
          <p:cNvPr id="245786" name="AutoShape 26"/>
          <p:cNvSpPr>
            <a:spLocks noChangeArrowheads="1"/>
          </p:cNvSpPr>
          <p:nvPr/>
        </p:nvSpPr>
        <p:spPr bwMode="auto">
          <a:xfrm>
            <a:off x="3994150" y="3979863"/>
            <a:ext cx="217488" cy="215900"/>
          </a:xfrm>
          <a:prstGeom prst="flowChartConnector">
            <a:avLst/>
          </a:prstGeom>
          <a:solidFill>
            <a:srgbClr val="993300"/>
          </a:solidFill>
          <a:ln w="9525">
            <a:solidFill>
              <a:schemeClr val="tx1"/>
            </a:solidFill>
            <a:round/>
            <a:headEnd/>
            <a:tailEnd/>
          </a:ln>
          <a:effectLst/>
        </p:spPr>
        <p:txBody>
          <a:bodyPr wrap="none" anchor="ctr"/>
          <a:lstStyle/>
          <a:p>
            <a:endParaRPr lang="zh-CN" altLang="en-US"/>
          </a:p>
        </p:txBody>
      </p:sp>
      <p:sp>
        <p:nvSpPr>
          <p:cNvPr id="245787" name="Line 27"/>
          <p:cNvSpPr>
            <a:spLocks noChangeShapeType="1"/>
          </p:cNvSpPr>
          <p:nvPr/>
        </p:nvSpPr>
        <p:spPr bwMode="auto">
          <a:xfrm>
            <a:off x="3635375" y="3403600"/>
            <a:ext cx="0" cy="792163"/>
          </a:xfrm>
          <a:prstGeom prst="line">
            <a:avLst/>
          </a:prstGeom>
          <a:noFill/>
          <a:ln w="28575">
            <a:solidFill>
              <a:srgbClr val="FF3300"/>
            </a:solidFill>
            <a:round/>
            <a:headEnd/>
            <a:tailEnd type="triangle" w="med" len="med"/>
          </a:ln>
          <a:effectLst/>
        </p:spPr>
        <p:txBody>
          <a:bodyPr/>
          <a:lstStyle/>
          <a:p>
            <a:endParaRPr lang="zh-CN" altLang="en-US"/>
          </a:p>
        </p:txBody>
      </p:sp>
      <p:sp>
        <p:nvSpPr>
          <p:cNvPr id="245788" name="Line 28"/>
          <p:cNvSpPr>
            <a:spLocks noChangeShapeType="1"/>
          </p:cNvSpPr>
          <p:nvPr/>
        </p:nvSpPr>
        <p:spPr bwMode="auto">
          <a:xfrm>
            <a:off x="3635375" y="4195763"/>
            <a:ext cx="0" cy="1295400"/>
          </a:xfrm>
          <a:prstGeom prst="line">
            <a:avLst/>
          </a:prstGeom>
          <a:noFill/>
          <a:ln w="28575">
            <a:solidFill>
              <a:srgbClr val="FF3300"/>
            </a:solidFill>
            <a:round/>
            <a:headEnd/>
            <a:tailEnd type="triangle" w="med" len="med"/>
          </a:ln>
          <a:effectLst/>
        </p:spPr>
        <p:txBody>
          <a:bodyPr/>
          <a:lstStyle/>
          <a:p>
            <a:endParaRPr lang="zh-CN" altLang="en-US"/>
          </a:p>
        </p:txBody>
      </p:sp>
      <p:sp>
        <p:nvSpPr>
          <p:cNvPr id="245789" name="AutoShape 29"/>
          <p:cNvSpPr>
            <a:spLocks noChangeArrowheads="1"/>
          </p:cNvSpPr>
          <p:nvPr/>
        </p:nvSpPr>
        <p:spPr bwMode="auto">
          <a:xfrm>
            <a:off x="3276600" y="5275263"/>
            <a:ext cx="217488" cy="215900"/>
          </a:xfrm>
          <a:prstGeom prst="flowChartConnector">
            <a:avLst/>
          </a:prstGeom>
          <a:solidFill>
            <a:srgbClr val="993300"/>
          </a:solidFill>
          <a:ln w="9525">
            <a:solidFill>
              <a:schemeClr val="tx1"/>
            </a:solidFill>
            <a:round/>
            <a:headEnd/>
            <a:tailEnd/>
          </a:ln>
          <a:effectLst/>
        </p:spPr>
        <p:txBody>
          <a:bodyPr wrap="none" anchor="ctr"/>
          <a:lstStyle/>
          <a:p>
            <a:endParaRPr lang="zh-CN" altLang="en-US"/>
          </a:p>
        </p:txBody>
      </p:sp>
      <p:grpSp>
        <p:nvGrpSpPr>
          <p:cNvPr id="245790" name="Group 30"/>
          <p:cNvGrpSpPr>
            <a:grpSpLocks/>
          </p:cNvGrpSpPr>
          <p:nvPr/>
        </p:nvGrpSpPr>
        <p:grpSpPr bwMode="auto">
          <a:xfrm>
            <a:off x="2843213" y="4411663"/>
            <a:ext cx="614362" cy="604837"/>
            <a:chOff x="4150" y="3249"/>
            <a:chExt cx="387" cy="381"/>
          </a:xfrm>
        </p:grpSpPr>
        <p:graphicFrame>
          <p:nvGraphicFramePr>
            <p:cNvPr id="76845" name="Object 31"/>
            <p:cNvGraphicFramePr>
              <a:graphicFrameLocks noChangeAspect="1"/>
            </p:cNvGraphicFramePr>
            <p:nvPr/>
          </p:nvGraphicFramePr>
          <p:xfrm>
            <a:off x="4195" y="3249"/>
            <a:ext cx="272" cy="212"/>
          </p:xfrm>
          <a:graphic>
            <a:graphicData uri="http://schemas.openxmlformats.org/presentationml/2006/ole">
              <p:oleObj spid="_x0000_s76845" name="公式" r:id="rId3" imgW="179280" imgH="138600" progId="Equation.3">
                <p:embed/>
              </p:oleObj>
            </a:graphicData>
          </a:graphic>
        </p:graphicFrame>
        <p:sp>
          <p:nvSpPr>
            <p:cNvPr id="76846" name="Freeform 32"/>
            <p:cNvSpPr>
              <a:spLocks/>
            </p:cNvSpPr>
            <p:nvPr/>
          </p:nvSpPr>
          <p:spPr bwMode="auto">
            <a:xfrm>
              <a:off x="4150" y="3475"/>
              <a:ext cx="387" cy="155"/>
            </a:xfrm>
            <a:custGeom>
              <a:avLst/>
              <a:gdLst>
                <a:gd name="T0" fmla="*/ 0 w 865"/>
                <a:gd name="T1" fmla="*/ 113 h 159"/>
                <a:gd name="T2" fmla="*/ 27 w 865"/>
                <a:gd name="T3" fmla="*/ 3 h 159"/>
                <a:gd name="T4" fmla="*/ 53 w 865"/>
                <a:gd name="T5" fmla="*/ 129 h 159"/>
                <a:gd name="T6" fmla="*/ 87 w 865"/>
                <a:gd name="T7" fmla="*/ 3 h 159"/>
                <a:gd name="T8" fmla="*/ 113 w 865"/>
                <a:gd name="T9" fmla="*/ 139 h 159"/>
                <a:gd name="T10" fmla="*/ 140 w 865"/>
                <a:gd name="T11" fmla="*/ 71 h 159"/>
                <a:gd name="T12" fmla="*/ 173 w 865"/>
                <a:gd name="T13" fmla="*/ 59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3300"/>
              </a:solidFill>
              <a:prstDash val="solid"/>
              <a:round/>
              <a:headEnd type="none" w="med" len="med"/>
              <a:tailEnd type="triangle" w="med" len="med"/>
            </a:ln>
            <a:effectLst/>
          </p:spPr>
          <p:txBody>
            <a:bodyPr wrap="none" anchor="ctr"/>
            <a:lstStyle/>
            <a:p>
              <a:endParaRPr lang="zh-CN" altLang="en-US"/>
            </a:p>
          </p:txBody>
        </p:sp>
      </p:grpSp>
      <p:grpSp>
        <p:nvGrpSpPr>
          <p:cNvPr id="245793" name="Group 33"/>
          <p:cNvGrpSpPr>
            <a:grpSpLocks/>
          </p:cNvGrpSpPr>
          <p:nvPr/>
        </p:nvGrpSpPr>
        <p:grpSpPr bwMode="auto">
          <a:xfrm>
            <a:off x="3779838" y="4195763"/>
            <a:ext cx="614362" cy="604837"/>
            <a:chOff x="4150" y="3249"/>
            <a:chExt cx="387" cy="381"/>
          </a:xfrm>
        </p:grpSpPr>
        <p:graphicFrame>
          <p:nvGraphicFramePr>
            <p:cNvPr id="76843" name="Object 34"/>
            <p:cNvGraphicFramePr>
              <a:graphicFrameLocks noChangeAspect="1"/>
            </p:cNvGraphicFramePr>
            <p:nvPr/>
          </p:nvGraphicFramePr>
          <p:xfrm>
            <a:off x="4195" y="3249"/>
            <a:ext cx="272" cy="212"/>
          </p:xfrm>
          <a:graphic>
            <a:graphicData uri="http://schemas.openxmlformats.org/presentationml/2006/ole">
              <p:oleObj spid="_x0000_s76843" name="公式" r:id="rId4" imgW="179280" imgH="138600" progId="Equation.3">
                <p:embed/>
              </p:oleObj>
            </a:graphicData>
          </a:graphic>
        </p:graphicFrame>
        <p:sp>
          <p:nvSpPr>
            <p:cNvPr id="76844" name="Freeform 35"/>
            <p:cNvSpPr>
              <a:spLocks/>
            </p:cNvSpPr>
            <p:nvPr/>
          </p:nvSpPr>
          <p:spPr bwMode="auto">
            <a:xfrm>
              <a:off x="4150" y="3475"/>
              <a:ext cx="387" cy="155"/>
            </a:xfrm>
            <a:custGeom>
              <a:avLst/>
              <a:gdLst>
                <a:gd name="T0" fmla="*/ 0 w 865"/>
                <a:gd name="T1" fmla="*/ 113 h 159"/>
                <a:gd name="T2" fmla="*/ 27 w 865"/>
                <a:gd name="T3" fmla="*/ 3 h 159"/>
                <a:gd name="T4" fmla="*/ 53 w 865"/>
                <a:gd name="T5" fmla="*/ 129 h 159"/>
                <a:gd name="T6" fmla="*/ 87 w 865"/>
                <a:gd name="T7" fmla="*/ 3 h 159"/>
                <a:gd name="T8" fmla="*/ 113 w 865"/>
                <a:gd name="T9" fmla="*/ 139 h 159"/>
                <a:gd name="T10" fmla="*/ 140 w 865"/>
                <a:gd name="T11" fmla="*/ 71 h 159"/>
                <a:gd name="T12" fmla="*/ 173 w 865"/>
                <a:gd name="T13" fmla="*/ 59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3300"/>
              </a:solidFill>
              <a:prstDash val="solid"/>
              <a:round/>
              <a:headEnd type="none" w="med" len="med"/>
              <a:tailEnd type="triangle" w="med" len="med"/>
            </a:ln>
            <a:effectLst/>
          </p:spPr>
          <p:txBody>
            <a:bodyPr wrap="none" anchor="ctr"/>
            <a:lstStyle/>
            <a:p>
              <a:endParaRPr lang="zh-CN" altLang="en-US"/>
            </a:p>
          </p:txBody>
        </p:sp>
      </p:grpSp>
      <p:grpSp>
        <p:nvGrpSpPr>
          <p:cNvPr id="245796" name="Group 36"/>
          <p:cNvGrpSpPr>
            <a:grpSpLocks/>
          </p:cNvGrpSpPr>
          <p:nvPr/>
        </p:nvGrpSpPr>
        <p:grpSpPr bwMode="auto">
          <a:xfrm>
            <a:off x="3779838" y="4772025"/>
            <a:ext cx="614362" cy="604838"/>
            <a:chOff x="4150" y="3249"/>
            <a:chExt cx="387" cy="381"/>
          </a:xfrm>
        </p:grpSpPr>
        <p:graphicFrame>
          <p:nvGraphicFramePr>
            <p:cNvPr id="76841" name="Object 37"/>
            <p:cNvGraphicFramePr>
              <a:graphicFrameLocks noChangeAspect="1"/>
            </p:cNvGraphicFramePr>
            <p:nvPr/>
          </p:nvGraphicFramePr>
          <p:xfrm>
            <a:off x="4195" y="3249"/>
            <a:ext cx="272" cy="212"/>
          </p:xfrm>
          <a:graphic>
            <a:graphicData uri="http://schemas.openxmlformats.org/presentationml/2006/ole">
              <p:oleObj spid="_x0000_s76841" name="公式" r:id="rId5" imgW="179280" imgH="138600" progId="Equation.3">
                <p:embed/>
              </p:oleObj>
            </a:graphicData>
          </a:graphic>
        </p:graphicFrame>
        <p:sp>
          <p:nvSpPr>
            <p:cNvPr id="76842" name="Freeform 38"/>
            <p:cNvSpPr>
              <a:spLocks/>
            </p:cNvSpPr>
            <p:nvPr/>
          </p:nvSpPr>
          <p:spPr bwMode="auto">
            <a:xfrm>
              <a:off x="4150" y="3475"/>
              <a:ext cx="387" cy="155"/>
            </a:xfrm>
            <a:custGeom>
              <a:avLst/>
              <a:gdLst>
                <a:gd name="T0" fmla="*/ 0 w 865"/>
                <a:gd name="T1" fmla="*/ 113 h 159"/>
                <a:gd name="T2" fmla="*/ 27 w 865"/>
                <a:gd name="T3" fmla="*/ 3 h 159"/>
                <a:gd name="T4" fmla="*/ 53 w 865"/>
                <a:gd name="T5" fmla="*/ 129 h 159"/>
                <a:gd name="T6" fmla="*/ 87 w 865"/>
                <a:gd name="T7" fmla="*/ 3 h 159"/>
                <a:gd name="T8" fmla="*/ 113 w 865"/>
                <a:gd name="T9" fmla="*/ 139 h 159"/>
                <a:gd name="T10" fmla="*/ 140 w 865"/>
                <a:gd name="T11" fmla="*/ 71 h 159"/>
                <a:gd name="T12" fmla="*/ 173 w 865"/>
                <a:gd name="T13" fmla="*/ 59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3300"/>
              </a:solidFill>
              <a:prstDash val="solid"/>
              <a:round/>
              <a:headEnd type="none" w="med" len="med"/>
              <a:tailEnd type="triangle" w="med" len="med"/>
            </a:ln>
            <a:effectLst/>
          </p:spPr>
          <p:txBody>
            <a:bodyPr wrap="none" anchor="ctr"/>
            <a:lstStyle/>
            <a:p>
              <a:endParaRPr lang="zh-CN" altLang="en-US"/>
            </a:p>
          </p:txBody>
        </p:sp>
      </p:grpSp>
      <p:sp>
        <p:nvSpPr>
          <p:cNvPr id="245799" name="Text Box 39"/>
          <p:cNvSpPr txBox="1">
            <a:spLocks noChangeArrowheads="1"/>
          </p:cNvSpPr>
          <p:nvPr/>
        </p:nvSpPr>
        <p:spPr bwMode="auto">
          <a:xfrm>
            <a:off x="2124075" y="3619500"/>
            <a:ext cx="1223963" cy="396875"/>
          </a:xfrm>
          <a:prstGeom prst="rect">
            <a:avLst/>
          </a:prstGeom>
          <a:noFill/>
          <a:ln w="9525">
            <a:noFill/>
            <a:miter lim="800000"/>
            <a:headEnd/>
            <a:tailEnd/>
          </a:ln>
          <a:effectLst/>
        </p:spPr>
        <p:txBody>
          <a:bodyPr>
            <a:spAutoFit/>
          </a:bodyPr>
          <a:lstStyle/>
          <a:p>
            <a:pPr>
              <a:spcBef>
                <a:spcPct val="50000"/>
              </a:spcBef>
            </a:pPr>
            <a:r>
              <a:rPr lang="zh-CN" altLang="en-US" sz="2000" b="1">
                <a:solidFill>
                  <a:srgbClr val="FF3300"/>
                </a:solidFill>
              </a:rPr>
              <a:t>亚稳态</a:t>
            </a:r>
            <a:r>
              <a:rPr lang="en-US" altLang="zh-CN" sz="2000" b="1" i="1">
                <a:solidFill>
                  <a:srgbClr val="FF3300"/>
                </a:solidFill>
              </a:rPr>
              <a:t>E</a:t>
            </a:r>
            <a:r>
              <a:rPr lang="en-US" altLang="zh-CN" sz="2000" b="1" baseline="-25000">
                <a:solidFill>
                  <a:srgbClr val="FF3300"/>
                </a:solidFill>
              </a:rPr>
              <a:t>2</a:t>
            </a:r>
          </a:p>
        </p:txBody>
      </p:sp>
      <p:sp>
        <p:nvSpPr>
          <p:cNvPr id="245800" name="Text Box 40"/>
          <p:cNvSpPr txBox="1">
            <a:spLocks noChangeArrowheads="1"/>
          </p:cNvSpPr>
          <p:nvPr/>
        </p:nvSpPr>
        <p:spPr bwMode="auto">
          <a:xfrm>
            <a:off x="179388" y="5059363"/>
            <a:ext cx="1008062" cy="396875"/>
          </a:xfrm>
          <a:prstGeom prst="rect">
            <a:avLst/>
          </a:prstGeom>
          <a:noFill/>
          <a:ln w="9525">
            <a:noFill/>
            <a:miter lim="800000"/>
            <a:headEnd/>
            <a:tailEnd/>
          </a:ln>
          <a:effectLst/>
        </p:spPr>
        <p:txBody>
          <a:bodyPr>
            <a:spAutoFit/>
          </a:bodyPr>
          <a:lstStyle/>
          <a:p>
            <a:pPr>
              <a:spcBef>
                <a:spcPct val="50000"/>
              </a:spcBef>
            </a:pPr>
            <a:r>
              <a:rPr lang="zh-CN" altLang="en-US" sz="2000" b="1">
                <a:solidFill>
                  <a:srgbClr val="FF3300"/>
                </a:solidFill>
              </a:rPr>
              <a:t>基态</a:t>
            </a:r>
            <a:r>
              <a:rPr lang="en-US" altLang="zh-CN" sz="2000" b="1" i="1">
                <a:solidFill>
                  <a:srgbClr val="FF3300"/>
                </a:solidFill>
              </a:rPr>
              <a:t>E</a:t>
            </a:r>
            <a:r>
              <a:rPr lang="en-US" altLang="zh-CN" sz="2000" b="1" baseline="-25000">
                <a:solidFill>
                  <a:srgbClr val="FF3300"/>
                </a:solidFill>
              </a:rPr>
              <a:t>1</a:t>
            </a:r>
          </a:p>
        </p:txBody>
      </p:sp>
      <p:sp>
        <p:nvSpPr>
          <p:cNvPr id="245801" name="Text Box 41"/>
          <p:cNvSpPr txBox="1">
            <a:spLocks noChangeArrowheads="1"/>
          </p:cNvSpPr>
          <p:nvPr/>
        </p:nvSpPr>
        <p:spPr bwMode="auto">
          <a:xfrm>
            <a:off x="179388" y="2971800"/>
            <a:ext cx="1439862" cy="396875"/>
          </a:xfrm>
          <a:prstGeom prst="rect">
            <a:avLst/>
          </a:prstGeom>
          <a:noFill/>
          <a:ln w="9525">
            <a:noFill/>
            <a:miter lim="800000"/>
            <a:headEnd/>
            <a:tailEnd/>
          </a:ln>
          <a:effectLst/>
        </p:spPr>
        <p:txBody>
          <a:bodyPr>
            <a:spAutoFit/>
          </a:bodyPr>
          <a:lstStyle/>
          <a:p>
            <a:pPr>
              <a:spcBef>
                <a:spcPct val="50000"/>
              </a:spcBef>
            </a:pPr>
            <a:r>
              <a:rPr lang="zh-CN" altLang="en-US" sz="2000" b="1">
                <a:solidFill>
                  <a:srgbClr val="FF3300"/>
                </a:solidFill>
              </a:rPr>
              <a:t>激发态</a:t>
            </a:r>
            <a:r>
              <a:rPr lang="en-US" altLang="zh-CN" sz="2000" b="1" i="1">
                <a:solidFill>
                  <a:srgbClr val="FF3300"/>
                </a:solidFill>
              </a:rPr>
              <a:t>E</a:t>
            </a:r>
            <a:r>
              <a:rPr lang="en-US" altLang="zh-CN" sz="2000" b="1" baseline="-25000">
                <a:solidFill>
                  <a:srgbClr val="FF3300"/>
                </a:solidFill>
              </a:rPr>
              <a:t>3</a:t>
            </a:r>
          </a:p>
        </p:txBody>
      </p:sp>
      <p:sp>
        <p:nvSpPr>
          <p:cNvPr id="245802" name="Text Box 42"/>
          <p:cNvSpPr txBox="1">
            <a:spLocks noChangeArrowheads="1"/>
          </p:cNvSpPr>
          <p:nvPr/>
        </p:nvSpPr>
        <p:spPr bwMode="auto">
          <a:xfrm>
            <a:off x="1619250" y="5851525"/>
            <a:ext cx="2952750" cy="457200"/>
          </a:xfrm>
          <a:prstGeom prst="rect">
            <a:avLst/>
          </a:prstGeom>
          <a:noFill/>
          <a:ln w="9525">
            <a:noFill/>
            <a:miter lim="800000"/>
            <a:headEnd/>
            <a:tailEnd/>
          </a:ln>
          <a:effectLst/>
        </p:spPr>
        <p:txBody>
          <a:bodyPr>
            <a:spAutoFit/>
          </a:bodyPr>
          <a:lstStyle/>
          <a:p>
            <a:pPr>
              <a:spcBef>
                <a:spcPct val="50000"/>
              </a:spcBef>
            </a:pPr>
            <a:r>
              <a:rPr lang="zh-CN" altLang="en-US" b="1">
                <a:solidFill>
                  <a:srgbClr val="3333CC"/>
                </a:solidFill>
                <a:ea typeface="楷体_GB2312" pitchFamily="49" charset="-122"/>
              </a:rPr>
              <a:t>三能级系统示意图</a:t>
            </a:r>
          </a:p>
        </p:txBody>
      </p:sp>
      <p:graphicFrame>
        <p:nvGraphicFramePr>
          <p:cNvPr id="245803" name="Object 43"/>
          <p:cNvGraphicFramePr>
            <a:graphicFrameLocks noChangeAspect="1"/>
          </p:cNvGraphicFramePr>
          <p:nvPr>
            <p:ph sz="quarter" idx="1"/>
          </p:nvPr>
        </p:nvGraphicFramePr>
        <p:xfrm>
          <a:off x="5580063" y="3332163"/>
          <a:ext cx="2663825" cy="1400175"/>
        </p:xfrm>
        <a:graphic>
          <a:graphicData uri="http://schemas.openxmlformats.org/presentationml/2006/ole">
            <p:oleObj spid="_x0000_s76837" name="公式" r:id="rId6" imgW="627120" imgH="318240" progId="Equation.3">
              <p:embed/>
            </p:oleObj>
          </a:graphicData>
        </a:graphic>
      </p:graphicFrame>
      <p:sp>
        <p:nvSpPr>
          <p:cNvPr id="245804" name="Text Box 44"/>
          <p:cNvSpPr txBox="1">
            <a:spLocks noChangeArrowheads="1"/>
          </p:cNvSpPr>
          <p:nvPr/>
        </p:nvSpPr>
        <p:spPr bwMode="auto">
          <a:xfrm>
            <a:off x="5580063" y="4843463"/>
            <a:ext cx="3167062" cy="1079500"/>
          </a:xfrm>
          <a:prstGeom prst="rect">
            <a:avLst/>
          </a:prstGeom>
          <a:noFill/>
          <a:ln w="9525">
            <a:noFill/>
            <a:miter lim="800000"/>
            <a:headEnd/>
            <a:tailEnd/>
          </a:ln>
          <a:effectLst/>
        </p:spPr>
        <p:txBody>
          <a:bodyPr>
            <a:spAutoFit/>
          </a:bodyPr>
          <a:lstStyle/>
          <a:p>
            <a:pPr>
              <a:lnSpc>
                <a:spcPct val="135000"/>
              </a:lnSpc>
              <a:spcBef>
                <a:spcPct val="50000"/>
              </a:spcBef>
            </a:pPr>
            <a:r>
              <a:rPr lang="en-US" altLang="zh-CN" b="1" i="1">
                <a:solidFill>
                  <a:srgbClr val="0000FF"/>
                </a:solidFill>
              </a:rPr>
              <a:t>E</a:t>
            </a:r>
            <a:r>
              <a:rPr lang="en-US" altLang="zh-CN" b="1" baseline="-25000">
                <a:solidFill>
                  <a:srgbClr val="0000FF"/>
                </a:solidFill>
              </a:rPr>
              <a:t>1</a:t>
            </a:r>
            <a:r>
              <a:rPr lang="zh-CN" altLang="en-US" b="1">
                <a:solidFill>
                  <a:schemeClr val="bg2"/>
                </a:solidFill>
              </a:rPr>
              <a:t>与</a:t>
            </a:r>
            <a:r>
              <a:rPr lang="en-US" altLang="zh-CN" b="1" i="1">
                <a:solidFill>
                  <a:srgbClr val="0000FF"/>
                </a:solidFill>
              </a:rPr>
              <a:t>E</a:t>
            </a:r>
            <a:r>
              <a:rPr lang="en-US" altLang="zh-CN" b="1" baseline="-25000">
                <a:solidFill>
                  <a:srgbClr val="0000FF"/>
                </a:solidFill>
              </a:rPr>
              <a:t>2</a:t>
            </a:r>
            <a:r>
              <a:rPr lang="zh-CN" altLang="en-US" b="1">
                <a:solidFill>
                  <a:schemeClr val="bg2"/>
                </a:solidFill>
              </a:rPr>
              <a:t>之间产生以</a:t>
            </a:r>
            <a:r>
              <a:rPr lang="zh-CN" altLang="en-US" b="1">
                <a:solidFill>
                  <a:srgbClr val="0000FF"/>
                </a:solidFill>
              </a:rPr>
              <a:t>受激辐射为主的跃迁</a:t>
            </a:r>
          </a:p>
        </p:txBody>
      </p:sp>
      <p:sp>
        <p:nvSpPr>
          <p:cNvPr id="245805" name="Text Box 45"/>
          <p:cNvSpPr txBox="1">
            <a:spLocks noChangeArrowheads="1"/>
          </p:cNvSpPr>
          <p:nvPr/>
        </p:nvSpPr>
        <p:spPr bwMode="auto">
          <a:xfrm>
            <a:off x="1042988" y="4195763"/>
            <a:ext cx="792162" cy="396875"/>
          </a:xfrm>
          <a:prstGeom prst="rect">
            <a:avLst/>
          </a:prstGeom>
          <a:noFill/>
          <a:ln w="9525">
            <a:noFill/>
            <a:miter lim="800000"/>
            <a:headEnd/>
            <a:tailEnd/>
          </a:ln>
          <a:effectLst/>
        </p:spPr>
        <p:txBody>
          <a:bodyPr>
            <a:spAutoFit/>
          </a:bodyPr>
          <a:lstStyle/>
          <a:p>
            <a:pPr>
              <a:spcBef>
                <a:spcPct val="50000"/>
              </a:spcBef>
            </a:pPr>
            <a:r>
              <a:rPr lang="zh-CN" altLang="en-US" sz="2000" b="1">
                <a:solidFill>
                  <a:schemeClr val="accent2"/>
                </a:solidFill>
              </a:rPr>
              <a:t>激励</a:t>
            </a:r>
          </a:p>
        </p:txBody>
      </p:sp>
      <p:sp>
        <p:nvSpPr>
          <p:cNvPr id="245806" name="Text Box 46"/>
          <p:cNvSpPr txBox="1">
            <a:spLocks noChangeArrowheads="1"/>
          </p:cNvSpPr>
          <p:nvPr/>
        </p:nvSpPr>
        <p:spPr bwMode="auto">
          <a:xfrm>
            <a:off x="3779838" y="3546475"/>
            <a:ext cx="1655762" cy="396875"/>
          </a:xfrm>
          <a:prstGeom prst="rect">
            <a:avLst/>
          </a:prstGeom>
          <a:noFill/>
          <a:ln w="9525">
            <a:noFill/>
            <a:miter lim="800000"/>
            <a:headEnd/>
            <a:tailEnd/>
          </a:ln>
          <a:effectLst/>
        </p:spPr>
        <p:txBody>
          <a:bodyPr>
            <a:spAutoFit/>
          </a:bodyPr>
          <a:lstStyle/>
          <a:p>
            <a:pPr>
              <a:spcBef>
                <a:spcPct val="50000"/>
              </a:spcBef>
            </a:pPr>
            <a:r>
              <a:rPr lang="zh-CN" altLang="en-US" sz="2000" b="1">
                <a:solidFill>
                  <a:schemeClr val="accent2"/>
                </a:solidFill>
              </a:rPr>
              <a:t>无辐射跃迁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62"/>
                                        </p:tgtEl>
                                        <p:attrNameLst>
                                          <p:attrName>style.visibility</p:attrName>
                                        </p:attrNameLst>
                                      </p:cBhvr>
                                      <p:to>
                                        <p:strVal val="visible"/>
                                      </p:to>
                                    </p:set>
                                    <p:animEffect transition="in" filter="wipe(left)">
                                      <p:cBhvr>
                                        <p:cTn id="7" dur="1000"/>
                                        <p:tgtEl>
                                          <p:spTgt spid="2457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5764"/>
                                        </p:tgtEl>
                                        <p:attrNameLst>
                                          <p:attrName>style.visibility</p:attrName>
                                        </p:attrNameLst>
                                      </p:cBhvr>
                                      <p:to>
                                        <p:strVal val="visible"/>
                                      </p:to>
                                    </p:set>
                                    <p:animEffect transition="in" filter="fade">
                                      <p:cBhvr>
                                        <p:cTn id="12" dur="2000"/>
                                        <p:tgtEl>
                                          <p:spTgt spid="2457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5763"/>
                                        </p:tgtEl>
                                        <p:attrNameLst>
                                          <p:attrName>style.visibility</p:attrName>
                                        </p:attrNameLst>
                                      </p:cBhvr>
                                      <p:to>
                                        <p:strVal val="visible"/>
                                      </p:to>
                                    </p:set>
                                    <p:animEffect transition="in" filter="wipe(left)">
                                      <p:cBhvr>
                                        <p:cTn id="17" dur="1000"/>
                                        <p:tgtEl>
                                          <p:spTgt spid="2457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5765"/>
                                        </p:tgtEl>
                                        <p:attrNameLst>
                                          <p:attrName>style.visibility</p:attrName>
                                        </p:attrNameLst>
                                      </p:cBhvr>
                                      <p:to>
                                        <p:strVal val="visible"/>
                                      </p:to>
                                    </p:set>
                                    <p:animEffect transition="in" filter="fade">
                                      <p:cBhvr>
                                        <p:cTn id="22" dur="2000"/>
                                        <p:tgtEl>
                                          <p:spTgt spid="24576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5766"/>
                                        </p:tgtEl>
                                        <p:attrNameLst>
                                          <p:attrName>style.visibility</p:attrName>
                                        </p:attrNameLst>
                                      </p:cBhvr>
                                      <p:to>
                                        <p:strVal val="visible"/>
                                      </p:to>
                                    </p:set>
                                    <p:animEffect transition="in" filter="wipe(left)">
                                      <p:cBhvr>
                                        <p:cTn id="27" dur="1000"/>
                                        <p:tgtEl>
                                          <p:spTgt spid="24576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5767"/>
                                        </p:tgtEl>
                                        <p:attrNameLst>
                                          <p:attrName>style.visibility</p:attrName>
                                        </p:attrNameLst>
                                      </p:cBhvr>
                                      <p:to>
                                        <p:strVal val="visible"/>
                                      </p:to>
                                    </p:set>
                                    <p:animEffect transition="in" filter="wipe(left)">
                                      <p:cBhvr>
                                        <p:cTn id="32" dur="1000"/>
                                        <p:tgtEl>
                                          <p:spTgt spid="24576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5802"/>
                                        </p:tgtEl>
                                        <p:attrNameLst>
                                          <p:attrName>style.visibility</p:attrName>
                                        </p:attrNameLst>
                                      </p:cBhvr>
                                      <p:to>
                                        <p:strVal val="visible"/>
                                      </p:to>
                                    </p:set>
                                    <p:animEffect transition="in" filter="wipe(left)">
                                      <p:cBhvr>
                                        <p:cTn id="37" dur="1000"/>
                                        <p:tgtEl>
                                          <p:spTgt spid="24580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5768"/>
                                        </p:tgtEl>
                                        <p:attrNameLst>
                                          <p:attrName>style.visibility</p:attrName>
                                        </p:attrNameLst>
                                      </p:cBhvr>
                                      <p:to>
                                        <p:strVal val="visible"/>
                                      </p:to>
                                    </p:set>
                                    <p:animEffect transition="in" filter="wipe(left)">
                                      <p:cBhvr>
                                        <p:cTn id="42" dur="1000"/>
                                        <p:tgtEl>
                                          <p:spTgt spid="24576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5800"/>
                                        </p:tgtEl>
                                        <p:attrNameLst>
                                          <p:attrName>style.visibility</p:attrName>
                                        </p:attrNameLst>
                                      </p:cBhvr>
                                      <p:to>
                                        <p:strVal val="visible"/>
                                      </p:to>
                                    </p:set>
                                    <p:animEffect transition="in" filter="wipe(left)">
                                      <p:cBhvr>
                                        <p:cTn id="47" dur="1000"/>
                                        <p:tgtEl>
                                          <p:spTgt spid="24580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45781"/>
                                        </p:tgtEl>
                                        <p:attrNameLst>
                                          <p:attrName>style.visibility</p:attrName>
                                        </p:attrNameLst>
                                      </p:cBhvr>
                                      <p:to>
                                        <p:strVal val="visible"/>
                                      </p:to>
                                    </p:set>
                                    <p:animEffect transition="in" filter="wipe(left)">
                                      <p:cBhvr>
                                        <p:cTn id="52" dur="1000"/>
                                        <p:tgtEl>
                                          <p:spTgt spid="24578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5799"/>
                                        </p:tgtEl>
                                        <p:attrNameLst>
                                          <p:attrName>style.visibility</p:attrName>
                                        </p:attrNameLst>
                                      </p:cBhvr>
                                      <p:to>
                                        <p:strVal val="visible"/>
                                      </p:to>
                                    </p:set>
                                    <p:animEffect transition="in" filter="wipe(left)">
                                      <p:cBhvr>
                                        <p:cTn id="57" dur="1000"/>
                                        <p:tgtEl>
                                          <p:spTgt spid="24579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45769"/>
                                        </p:tgtEl>
                                        <p:attrNameLst>
                                          <p:attrName>style.visibility</p:attrName>
                                        </p:attrNameLst>
                                      </p:cBhvr>
                                      <p:to>
                                        <p:strVal val="visible"/>
                                      </p:to>
                                    </p:set>
                                    <p:animEffect transition="in" filter="wipe(left)">
                                      <p:cBhvr>
                                        <p:cTn id="62" dur="1000"/>
                                        <p:tgtEl>
                                          <p:spTgt spid="24576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45801"/>
                                        </p:tgtEl>
                                        <p:attrNameLst>
                                          <p:attrName>style.visibility</p:attrName>
                                        </p:attrNameLst>
                                      </p:cBhvr>
                                      <p:to>
                                        <p:strVal val="visible"/>
                                      </p:to>
                                    </p:set>
                                    <p:animEffect transition="in" filter="wipe(left)">
                                      <p:cBhvr>
                                        <p:cTn id="67" dur="1000"/>
                                        <p:tgtEl>
                                          <p:spTgt spid="24580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45770"/>
                                        </p:tgtEl>
                                        <p:attrNameLst>
                                          <p:attrName>style.visibility</p:attrName>
                                        </p:attrNameLst>
                                      </p:cBhvr>
                                      <p:to>
                                        <p:strVal val="visible"/>
                                      </p:to>
                                    </p:set>
                                    <p:animEffect transition="in" filter="wipe(left)">
                                      <p:cBhvr>
                                        <p:cTn id="72" dur="1000"/>
                                        <p:tgtEl>
                                          <p:spTgt spid="245770"/>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245771"/>
                                        </p:tgtEl>
                                        <p:attrNameLst>
                                          <p:attrName>style.visibility</p:attrName>
                                        </p:attrNameLst>
                                      </p:cBhvr>
                                      <p:to>
                                        <p:strVal val="visible"/>
                                      </p:to>
                                    </p:set>
                                    <p:animEffect transition="in" filter="wipe(left)">
                                      <p:cBhvr>
                                        <p:cTn id="75" dur="1000"/>
                                        <p:tgtEl>
                                          <p:spTgt spid="245771"/>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245772"/>
                                        </p:tgtEl>
                                        <p:attrNameLst>
                                          <p:attrName>style.visibility</p:attrName>
                                        </p:attrNameLst>
                                      </p:cBhvr>
                                      <p:to>
                                        <p:strVal val="visible"/>
                                      </p:to>
                                    </p:set>
                                    <p:animEffect transition="in" filter="wipe(left)">
                                      <p:cBhvr>
                                        <p:cTn id="78" dur="1000"/>
                                        <p:tgtEl>
                                          <p:spTgt spid="245772"/>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245773"/>
                                        </p:tgtEl>
                                        <p:attrNameLst>
                                          <p:attrName>style.visibility</p:attrName>
                                        </p:attrNameLst>
                                      </p:cBhvr>
                                      <p:to>
                                        <p:strVal val="visible"/>
                                      </p:to>
                                    </p:set>
                                    <p:animEffect transition="in" filter="wipe(left)">
                                      <p:cBhvr>
                                        <p:cTn id="81" dur="1000"/>
                                        <p:tgtEl>
                                          <p:spTgt spid="245773"/>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245774"/>
                                        </p:tgtEl>
                                        <p:attrNameLst>
                                          <p:attrName>style.visibility</p:attrName>
                                        </p:attrNameLst>
                                      </p:cBhvr>
                                      <p:to>
                                        <p:strVal val="visible"/>
                                      </p:to>
                                    </p:set>
                                    <p:animEffect transition="in" filter="wipe(left)">
                                      <p:cBhvr>
                                        <p:cTn id="84" dur="1000"/>
                                        <p:tgtEl>
                                          <p:spTgt spid="245774"/>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245805"/>
                                        </p:tgtEl>
                                        <p:attrNameLst>
                                          <p:attrName>style.visibility</p:attrName>
                                        </p:attrNameLst>
                                      </p:cBhvr>
                                      <p:to>
                                        <p:strVal val="visible"/>
                                      </p:to>
                                    </p:set>
                                    <p:animEffect transition="in" filter="wipe(left)">
                                      <p:cBhvr>
                                        <p:cTn id="89" dur="1000"/>
                                        <p:tgtEl>
                                          <p:spTgt spid="245805"/>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245775"/>
                                        </p:tgtEl>
                                        <p:attrNameLst>
                                          <p:attrName>style.visibility</p:attrName>
                                        </p:attrNameLst>
                                      </p:cBhvr>
                                      <p:to>
                                        <p:strVal val="visible"/>
                                      </p:to>
                                    </p:set>
                                    <p:animEffect transition="in" filter="wipe(down)">
                                      <p:cBhvr>
                                        <p:cTn id="94" dur="1000"/>
                                        <p:tgtEl>
                                          <p:spTgt spid="245775"/>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245778"/>
                                        </p:tgtEl>
                                        <p:attrNameLst>
                                          <p:attrName>style.visibility</p:attrName>
                                        </p:attrNameLst>
                                      </p:cBhvr>
                                      <p:to>
                                        <p:strVal val="visible"/>
                                      </p:to>
                                    </p:set>
                                    <p:animEffect transition="in" filter="wipe(left)">
                                      <p:cBhvr>
                                        <p:cTn id="99" dur="1000"/>
                                        <p:tgtEl>
                                          <p:spTgt spid="245778"/>
                                        </p:tgtEl>
                                      </p:cBhvr>
                                    </p:animEffect>
                                  </p:childTnLst>
                                </p:cTn>
                              </p:par>
                              <p:par>
                                <p:cTn id="100" presetID="22" presetClass="entr" presetSubtype="8" fill="hold" grpId="0" nodeType="withEffect">
                                  <p:stCondLst>
                                    <p:cond delay="0"/>
                                  </p:stCondLst>
                                  <p:childTnLst>
                                    <p:set>
                                      <p:cBhvr>
                                        <p:cTn id="101" dur="1" fill="hold">
                                          <p:stCondLst>
                                            <p:cond delay="0"/>
                                          </p:stCondLst>
                                        </p:cTn>
                                        <p:tgtEl>
                                          <p:spTgt spid="245776"/>
                                        </p:tgtEl>
                                        <p:attrNameLst>
                                          <p:attrName>style.visibility</p:attrName>
                                        </p:attrNameLst>
                                      </p:cBhvr>
                                      <p:to>
                                        <p:strVal val="visible"/>
                                      </p:to>
                                    </p:set>
                                    <p:animEffect transition="in" filter="wipe(left)">
                                      <p:cBhvr>
                                        <p:cTn id="102" dur="1000"/>
                                        <p:tgtEl>
                                          <p:spTgt spid="245776"/>
                                        </p:tgtEl>
                                      </p:cBhvr>
                                    </p:animEffect>
                                  </p:childTnLst>
                                </p:cTn>
                              </p:par>
                              <p:par>
                                <p:cTn id="103" presetID="22" presetClass="entr" presetSubtype="8" fill="hold" grpId="0" nodeType="withEffect">
                                  <p:stCondLst>
                                    <p:cond delay="0"/>
                                  </p:stCondLst>
                                  <p:childTnLst>
                                    <p:set>
                                      <p:cBhvr>
                                        <p:cTn id="104" dur="1" fill="hold">
                                          <p:stCondLst>
                                            <p:cond delay="0"/>
                                          </p:stCondLst>
                                        </p:cTn>
                                        <p:tgtEl>
                                          <p:spTgt spid="245777"/>
                                        </p:tgtEl>
                                        <p:attrNameLst>
                                          <p:attrName>style.visibility</p:attrName>
                                        </p:attrNameLst>
                                      </p:cBhvr>
                                      <p:to>
                                        <p:strVal val="visible"/>
                                      </p:to>
                                    </p:set>
                                    <p:animEffect transition="in" filter="wipe(left)">
                                      <p:cBhvr>
                                        <p:cTn id="105" dur="1000"/>
                                        <p:tgtEl>
                                          <p:spTgt spid="245777"/>
                                        </p:tgtEl>
                                      </p:cBhvr>
                                    </p:animEffect>
                                  </p:childTnLst>
                                </p:cTn>
                              </p:par>
                              <p:par>
                                <p:cTn id="106" presetID="22" presetClass="entr" presetSubtype="8" fill="hold" grpId="0" nodeType="withEffect">
                                  <p:stCondLst>
                                    <p:cond delay="0"/>
                                  </p:stCondLst>
                                  <p:childTnLst>
                                    <p:set>
                                      <p:cBhvr>
                                        <p:cTn id="107" dur="1" fill="hold">
                                          <p:stCondLst>
                                            <p:cond delay="0"/>
                                          </p:stCondLst>
                                        </p:cTn>
                                        <p:tgtEl>
                                          <p:spTgt spid="245779"/>
                                        </p:tgtEl>
                                        <p:attrNameLst>
                                          <p:attrName>style.visibility</p:attrName>
                                        </p:attrNameLst>
                                      </p:cBhvr>
                                      <p:to>
                                        <p:strVal val="visible"/>
                                      </p:to>
                                    </p:set>
                                    <p:animEffect transition="in" filter="wipe(left)">
                                      <p:cBhvr>
                                        <p:cTn id="108" dur="1000"/>
                                        <p:tgtEl>
                                          <p:spTgt spid="245779"/>
                                        </p:tgtEl>
                                      </p:cBhvr>
                                    </p:animEffect>
                                  </p:childTnLst>
                                </p:cTn>
                              </p:par>
                              <p:par>
                                <p:cTn id="109" presetID="22" presetClass="entr" presetSubtype="8" fill="hold" grpId="0" nodeType="withEffect">
                                  <p:stCondLst>
                                    <p:cond delay="0"/>
                                  </p:stCondLst>
                                  <p:childTnLst>
                                    <p:set>
                                      <p:cBhvr>
                                        <p:cTn id="110" dur="1" fill="hold">
                                          <p:stCondLst>
                                            <p:cond delay="0"/>
                                          </p:stCondLst>
                                        </p:cTn>
                                        <p:tgtEl>
                                          <p:spTgt spid="245780"/>
                                        </p:tgtEl>
                                        <p:attrNameLst>
                                          <p:attrName>style.visibility</p:attrName>
                                        </p:attrNameLst>
                                      </p:cBhvr>
                                      <p:to>
                                        <p:strVal val="visible"/>
                                      </p:to>
                                    </p:set>
                                    <p:animEffect transition="in" filter="wipe(left)">
                                      <p:cBhvr>
                                        <p:cTn id="111" dur="1000"/>
                                        <p:tgtEl>
                                          <p:spTgt spid="245780"/>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1" fill="hold" grpId="0" nodeType="clickEffect">
                                  <p:stCondLst>
                                    <p:cond delay="0"/>
                                  </p:stCondLst>
                                  <p:childTnLst>
                                    <p:set>
                                      <p:cBhvr>
                                        <p:cTn id="115" dur="1" fill="hold">
                                          <p:stCondLst>
                                            <p:cond delay="0"/>
                                          </p:stCondLst>
                                        </p:cTn>
                                        <p:tgtEl>
                                          <p:spTgt spid="245787"/>
                                        </p:tgtEl>
                                        <p:attrNameLst>
                                          <p:attrName>style.visibility</p:attrName>
                                        </p:attrNameLst>
                                      </p:cBhvr>
                                      <p:to>
                                        <p:strVal val="visible"/>
                                      </p:to>
                                    </p:set>
                                    <p:animEffect transition="in" filter="wipe(up)">
                                      <p:cBhvr>
                                        <p:cTn id="116" dur="1000"/>
                                        <p:tgtEl>
                                          <p:spTgt spid="245787"/>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245806"/>
                                        </p:tgtEl>
                                        <p:attrNameLst>
                                          <p:attrName>style.visibility</p:attrName>
                                        </p:attrNameLst>
                                      </p:cBhvr>
                                      <p:to>
                                        <p:strVal val="visible"/>
                                      </p:to>
                                    </p:set>
                                    <p:animEffect transition="in" filter="wipe(left)">
                                      <p:cBhvr>
                                        <p:cTn id="121" dur="1000"/>
                                        <p:tgtEl>
                                          <p:spTgt spid="245806"/>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45782"/>
                                        </p:tgtEl>
                                        <p:attrNameLst>
                                          <p:attrName>style.visibility</p:attrName>
                                        </p:attrNameLst>
                                      </p:cBhvr>
                                      <p:to>
                                        <p:strVal val="visible"/>
                                      </p:to>
                                    </p:set>
                                    <p:animEffect transition="in" filter="wipe(left)">
                                      <p:cBhvr>
                                        <p:cTn id="126" dur="1000"/>
                                        <p:tgtEl>
                                          <p:spTgt spid="245782"/>
                                        </p:tgtEl>
                                      </p:cBhvr>
                                    </p:animEffect>
                                  </p:childTnLst>
                                </p:cTn>
                              </p:par>
                              <p:par>
                                <p:cTn id="127" presetID="22" presetClass="entr" presetSubtype="8" fill="hold" grpId="0" nodeType="withEffect">
                                  <p:stCondLst>
                                    <p:cond delay="0"/>
                                  </p:stCondLst>
                                  <p:childTnLst>
                                    <p:set>
                                      <p:cBhvr>
                                        <p:cTn id="128" dur="1" fill="hold">
                                          <p:stCondLst>
                                            <p:cond delay="0"/>
                                          </p:stCondLst>
                                        </p:cTn>
                                        <p:tgtEl>
                                          <p:spTgt spid="245783"/>
                                        </p:tgtEl>
                                        <p:attrNameLst>
                                          <p:attrName>style.visibility</p:attrName>
                                        </p:attrNameLst>
                                      </p:cBhvr>
                                      <p:to>
                                        <p:strVal val="visible"/>
                                      </p:to>
                                    </p:set>
                                    <p:animEffect transition="in" filter="wipe(left)">
                                      <p:cBhvr>
                                        <p:cTn id="129" dur="1000"/>
                                        <p:tgtEl>
                                          <p:spTgt spid="245783"/>
                                        </p:tgtEl>
                                      </p:cBhvr>
                                    </p:animEffect>
                                  </p:childTnLst>
                                </p:cTn>
                              </p:par>
                              <p:par>
                                <p:cTn id="130" presetID="22" presetClass="entr" presetSubtype="8" fill="hold" grpId="0" nodeType="withEffect">
                                  <p:stCondLst>
                                    <p:cond delay="0"/>
                                  </p:stCondLst>
                                  <p:childTnLst>
                                    <p:set>
                                      <p:cBhvr>
                                        <p:cTn id="131" dur="1" fill="hold">
                                          <p:stCondLst>
                                            <p:cond delay="0"/>
                                          </p:stCondLst>
                                        </p:cTn>
                                        <p:tgtEl>
                                          <p:spTgt spid="245784"/>
                                        </p:tgtEl>
                                        <p:attrNameLst>
                                          <p:attrName>style.visibility</p:attrName>
                                        </p:attrNameLst>
                                      </p:cBhvr>
                                      <p:to>
                                        <p:strVal val="visible"/>
                                      </p:to>
                                    </p:set>
                                    <p:animEffect transition="in" filter="wipe(left)">
                                      <p:cBhvr>
                                        <p:cTn id="132" dur="1000"/>
                                        <p:tgtEl>
                                          <p:spTgt spid="245784"/>
                                        </p:tgtEl>
                                      </p:cBhvr>
                                    </p:animEffect>
                                  </p:childTnLst>
                                </p:cTn>
                              </p:par>
                              <p:par>
                                <p:cTn id="133" presetID="22" presetClass="entr" presetSubtype="8" fill="hold" grpId="0" nodeType="withEffect">
                                  <p:stCondLst>
                                    <p:cond delay="0"/>
                                  </p:stCondLst>
                                  <p:childTnLst>
                                    <p:set>
                                      <p:cBhvr>
                                        <p:cTn id="134" dur="1" fill="hold">
                                          <p:stCondLst>
                                            <p:cond delay="0"/>
                                          </p:stCondLst>
                                        </p:cTn>
                                        <p:tgtEl>
                                          <p:spTgt spid="245785"/>
                                        </p:tgtEl>
                                        <p:attrNameLst>
                                          <p:attrName>style.visibility</p:attrName>
                                        </p:attrNameLst>
                                      </p:cBhvr>
                                      <p:to>
                                        <p:strVal val="visible"/>
                                      </p:to>
                                    </p:set>
                                    <p:animEffect transition="in" filter="wipe(left)">
                                      <p:cBhvr>
                                        <p:cTn id="135" dur="1000"/>
                                        <p:tgtEl>
                                          <p:spTgt spid="245785"/>
                                        </p:tgtEl>
                                      </p:cBhvr>
                                    </p:animEffect>
                                  </p:childTnLst>
                                </p:cTn>
                              </p:par>
                              <p:par>
                                <p:cTn id="136" presetID="22" presetClass="entr" presetSubtype="8" fill="hold" grpId="0" nodeType="withEffect">
                                  <p:stCondLst>
                                    <p:cond delay="0"/>
                                  </p:stCondLst>
                                  <p:childTnLst>
                                    <p:set>
                                      <p:cBhvr>
                                        <p:cTn id="137" dur="1" fill="hold">
                                          <p:stCondLst>
                                            <p:cond delay="0"/>
                                          </p:stCondLst>
                                        </p:cTn>
                                        <p:tgtEl>
                                          <p:spTgt spid="245786"/>
                                        </p:tgtEl>
                                        <p:attrNameLst>
                                          <p:attrName>style.visibility</p:attrName>
                                        </p:attrNameLst>
                                      </p:cBhvr>
                                      <p:to>
                                        <p:strVal val="visible"/>
                                      </p:to>
                                    </p:set>
                                    <p:animEffect transition="in" filter="wipe(left)">
                                      <p:cBhvr>
                                        <p:cTn id="138" dur="1000"/>
                                        <p:tgtEl>
                                          <p:spTgt spid="245786"/>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8" fill="hold" nodeType="clickEffect">
                                  <p:stCondLst>
                                    <p:cond delay="0"/>
                                  </p:stCondLst>
                                  <p:childTnLst>
                                    <p:set>
                                      <p:cBhvr>
                                        <p:cTn id="142" dur="1" fill="hold">
                                          <p:stCondLst>
                                            <p:cond delay="0"/>
                                          </p:stCondLst>
                                        </p:cTn>
                                        <p:tgtEl>
                                          <p:spTgt spid="245790"/>
                                        </p:tgtEl>
                                        <p:attrNameLst>
                                          <p:attrName>style.visibility</p:attrName>
                                        </p:attrNameLst>
                                      </p:cBhvr>
                                      <p:to>
                                        <p:strVal val="visible"/>
                                      </p:to>
                                    </p:set>
                                    <p:animEffect transition="in" filter="wipe(left)">
                                      <p:cBhvr>
                                        <p:cTn id="143" dur="1000"/>
                                        <p:tgtEl>
                                          <p:spTgt spid="245790"/>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1" fill="hold" grpId="0" nodeType="clickEffect">
                                  <p:stCondLst>
                                    <p:cond delay="0"/>
                                  </p:stCondLst>
                                  <p:childTnLst>
                                    <p:set>
                                      <p:cBhvr>
                                        <p:cTn id="147" dur="1" fill="hold">
                                          <p:stCondLst>
                                            <p:cond delay="0"/>
                                          </p:stCondLst>
                                        </p:cTn>
                                        <p:tgtEl>
                                          <p:spTgt spid="245788"/>
                                        </p:tgtEl>
                                        <p:attrNameLst>
                                          <p:attrName>style.visibility</p:attrName>
                                        </p:attrNameLst>
                                      </p:cBhvr>
                                      <p:to>
                                        <p:strVal val="visible"/>
                                      </p:to>
                                    </p:set>
                                    <p:animEffect transition="in" filter="wipe(up)">
                                      <p:cBhvr>
                                        <p:cTn id="148" dur="1000"/>
                                        <p:tgtEl>
                                          <p:spTgt spid="245788"/>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245789"/>
                                        </p:tgtEl>
                                        <p:attrNameLst>
                                          <p:attrName>style.visibility</p:attrName>
                                        </p:attrNameLst>
                                      </p:cBhvr>
                                      <p:to>
                                        <p:strVal val="visible"/>
                                      </p:to>
                                    </p:set>
                                    <p:animEffect transition="in" filter="wipe(left)">
                                      <p:cBhvr>
                                        <p:cTn id="153" dur="1000"/>
                                        <p:tgtEl>
                                          <p:spTgt spid="245789"/>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2" presetClass="entr" presetSubtype="8" fill="hold" nodeType="clickEffect">
                                  <p:stCondLst>
                                    <p:cond delay="0"/>
                                  </p:stCondLst>
                                  <p:childTnLst>
                                    <p:set>
                                      <p:cBhvr>
                                        <p:cTn id="157" dur="1" fill="hold">
                                          <p:stCondLst>
                                            <p:cond delay="0"/>
                                          </p:stCondLst>
                                        </p:cTn>
                                        <p:tgtEl>
                                          <p:spTgt spid="245793"/>
                                        </p:tgtEl>
                                        <p:attrNameLst>
                                          <p:attrName>style.visibility</p:attrName>
                                        </p:attrNameLst>
                                      </p:cBhvr>
                                      <p:to>
                                        <p:strVal val="visible"/>
                                      </p:to>
                                    </p:set>
                                    <p:animEffect transition="in" filter="wipe(left)">
                                      <p:cBhvr>
                                        <p:cTn id="158" dur="2000"/>
                                        <p:tgtEl>
                                          <p:spTgt spid="245793"/>
                                        </p:tgtEl>
                                      </p:cBhvr>
                                    </p:animEffect>
                                  </p:childTnLst>
                                </p:cTn>
                              </p:par>
                              <p:par>
                                <p:cTn id="159" presetID="22" presetClass="entr" presetSubtype="8" fill="hold" nodeType="withEffect">
                                  <p:stCondLst>
                                    <p:cond delay="0"/>
                                  </p:stCondLst>
                                  <p:childTnLst>
                                    <p:set>
                                      <p:cBhvr>
                                        <p:cTn id="160" dur="1" fill="hold">
                                          <p:stCondLst>
                                            <p:cond delay="0"/>
                                          </p:stCondLst>
                                        </p:cTn>
                                        <p:tgtEl>
                                          <p:spTgt spid="245796"/>
                                        </p:tgtEl>
                                        <p:attrNameLst>
                                          <p:attrName>style.visibility</p:attrName>
                                        </p:attrNameLst>
                                      </p:cBhvr>
                                      <p:to>
                                        <p:strVal val="visible"/>
                                      </p:to>
                                    </p:set>
                                    <p:animEffect transition="in" filter="wipe(left)">
                                      <p:cBhvr>
                                        <p:cTn id="161" dur="1000"/>
                                        <p:tgtEl>
                                          <p:spTgt spid="245796"/>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2" presetClass="entr" presetSubtype="8" fill="hold" nodeType="clickEffect">
                                  <p:stCondLst>
                                    <p:cond delay="0"/>
                                  </p:stCondLst>
                                  <p:childTnLst>
                                    <p:set>
                                      <p:cBhvr>
                                        <p:cTn id="165" dur="1" fill="hold">
                                          <p:stCondLst>
                                            <p:cond delay="0"/>
                                          </p:stCondLst>
                                        </p:cTn>
                                        <p:tgtEl>
                                          <p:spTgt spid="245803"/>
                                        </p:tgtEl>
                                        <p:attrNameLst>
                                          <p:attrName>style.visibility</p:attrName>
                                        </p:attrNameLst>
                                      </p:cBhvr>
                                      <p:to>
                                        <p:strVal val="visible"/>
                                      </p:to>
                                    </p:set>
                                    <p:animEffect transition="in" filter="wipe(left)">
                                      <p:cBhvr>
                                        <p:cTn id="166" dur="1000"/>
                                        <p:tgtEl>
                                          <p:spTgt spid="245803"/>
                                        </p:tgtEl>
                                      </p:cBhvr>
                                    </p:animEffec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22" presetClass="entr" presetSubtype="8" fill="hold" grpId="0" nodeType="clickEffect">
                                  <p:stCondLst>
                                    <p:cond delay="0"/>
                                  </p:stCondLst>
                                  <p:childTnLst>
                                    <p:set>
                                      <p:cBhvr>
                                        <p:cTn id="170" dur="1" fill="hold">
                                          <p:stCondLst>
                                            <p:cond delay="0"/>
                                          </p:stCondLst>
                                        </p:cTn>
                                        <p:tgtEl>
                                          <p:spTgt spid="245804"/>
                                        </p:tgtEl>
                                        <p:attrNameLst>
                                          <p:attrName>style.visibility</p:attrName>
                                        </p:attrNameLst>
                                      </p:cBhvr>
                                      <p:to>
                                        <p:strVal val="visible"/>
                                      </p:to>
                                    </p:set>
                                    <p:animEffect transition="in" filter="wipe(left)">
                                      <p:cBhvr>
                                        <p:cTn id="171" dur="1000"/>
                                        <p:tgtEl>
                                          <p:spTgt spid="245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2" grpId="0"/>
      <p:bldP spid="245763" grpId="0"/>
      <p:bldP spid="245764" grpId="0" animBg="1"/>
      <p:bldP spid="245765" grpId="0" animBg="1"/>
      <p:bldP spid="245766" grpId="0"/>
      <p:bldP spid="245767" grpId="0" animBg="1"/>
      <p:bldP spid="245768" grpId="0" animBg="1"/>
      <p:bldP spid="245769" grpId="0" animBg="1"/>
      <p:bldP spid="245770" grpId="0" animBg="1"/>
      <p:bldP spid="245771" grpId="0" animBg="1"/>
      <p:bldP spid="245772" grpId="0" animBg="1"/>
      <p:bldP spid="245773" grpId="0" animBg="1"/>
      <p:bldP spid="245774" grpId="0" animBg="1"/>
      <p:bldP spid="245775" grpId="0" animBg="1"/>
      <p:bldP spid="245776" grpId="0" animBg="1"/>
      <p:bldP spid="245777" grpId="0" animBg="1"/>
      <p:bldP spid="245778" grpId="0" animBg="1"/>
      <p:bldP spid="245779" grpId="0" animBg="1"/>
      <p:bldP spid="245780" grpId="0" animBg="1"/>
      <p:bldP spid="245781" grpId="0" animBg="1"/>
      <p:bldP spid="245782" grpId="0" animBg="1"/>
      <p:bldP spid="245783" grpId="0" animBg="1"/>
      <p:bldP spid="245784" grpId="0" animBg="1"/>
      <p:bldP spid="245785" grpId="0" animBg="1"/>
      <p:bldP spid="245786" grpId="0" animBg="1"/>
      <p:bldP spid="245787" grpId="0" animBg="1"/>
      <p:bldP spid="245788" grpId="0" animBg="1"/>
      <p:bldP spid="245789" grpId="0" animBg="1"/>
      <p:bldP spid="245799" grpId="0"/>
      <p:bldP spid="245800" grpId="0"/>
      <p:bldP spid="245801" grpId="0"/>
      <p:bldP spid="245802" grpId="0"/>
      <p:bldP spid="245804" grpId="0"/>
      <p:bldP spid="245805" grpId="0"/>
      <p:bldP spid="24580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ChangeArrowheads="1"/>
          </p:cNvSpPr>
          <p:nvPr/>
        </p:nvSpPr>
        <p:spPr bwMode="auto">
          <a:xfrm>
            <a:off x="206375" y="623888"/>
            <a:ext cx="6580188" cy="6000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tIns="152352" bIns="76176">
            <a:spAutoFit/>
          </a:bodyPr>
          <a:lstStyle/>
          <a:p>
            <a:pPr algn="just">
              <a:defRPr/>
            </a:pPr>
            <a:r>
              <a:rPr lang="en-US" altLang="zh-CN" b="1" dirty="0" smtClean="0">
                <a:solidFill>
                  <a:srgbClr val="3333CC"/>
                </a:solidFill>
                <a:ea typeface="+mn-ea"/>
                <a:cs typeface="Times New Roman" pitchFamily="18" charset="0"/>
              </a:rPr>
              <a:t>13.8.5  </a:t>
            </a:r>
            <a:r>
              <a:rPr lang="zh-CN" altLang="en-US" b="1" dirty="0" smtClean="0">
                <a:solidFill>
                  <a:srgbClr val="3333CC"/>
                </a:solidFill>
                <a:latin typeface="+mn-ea"/>
                <a:ea typeface="+mn-ea"/>
              </a:rPr>
              <a:t>激光器</a:t>
            </a:r>
            <a:r>
              <a:rPr lang="zh-CN" altLang="en-US" b="1" dirty="0">
                <a:solidFill>
                  <a:srgbClr val="3333CC"/>
                </a:solidFill>
                <a:latin typeface="+mn-ea"/>
                <a:ea typeface="+mn-ea"/>
              </a:rPr>
              <a:t>的基本构成及激光的形成</a:t>
            </a:r>
          </a:p>
        </p:txBody>
      </p:sp>
      <p:sp>
        <p:nvSpPr>
          <p:cNvPr id="234500" name="Rectangle 4"/>
          <p:cNvSpPr>
            <a:spLocks noChangeArrowheads="1"/>
          </p:cNvSpPr>
          <p:nvPr/>
        </p:nvSpPr>
        <p:spPr bwMode="auto">
          <a:xfrm>
            <a:off x="3559175" y="2789238"/>
            <a:ext cx="144463" cy="1584325"/>
          </a:xfrm>
          <a:prstGeom prst="rect">
            <a:avLst/>
          </a:prstGeom>
          <a:gradFill rotWithShape="1">
            <a:gsLst>
              <a:gs pos="0">
                <a:schemeClr val="hlink">
                  <a:gamma/>
                  <a:shade val="46275"/>
                  <a:invGamma/>
                </a:schemeClr>
              </a:gs>
              <a:gs pos="50000">
                <a:schemeClr val="hlink">
                  <a:alpha val="89999"/>
                </a:schemeClr>
              </a:gs>
              <a:gs pos="100000">
                <a:schemeClr val="hlink">
                  <a:gamma/>
                  <a:shade val="46275"/>
                  <a:invGamma/>
                </a:schemeClr>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234501" name="Rectangle 5"/>
          <p:cNvSpPr>
            <a:spLocks noChangeArrowheads="1"/>
          </p:cNvSpPr>
          <p:nvPr/>
        </p:nvSpPr>
        <p:spPr bwMode="auto">
          <a:xfrm>
            <a:off x="4695825" y="5167313"/>
            <a:ext cx="2593975" cy="576262"/>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zh-CN" altLang="en-US" b="1">
                <a:solidFill>
                  <a:srgbClr val="0000FF"/>
                </a:solidFill>
                <a:ea typeface="楷体_GB2312" pitchFamily="49" charset="-122"/>
              </a:rPr>
              <a:t>激励能源</a:t>
            </a:r>
          </a:p>
        </p:txBody>
      </p:sp>
      <p:sp>
        <p:nvSpPr>
          <p:cNvPr id="234502" name="AutoShape 6"/>
          <p:cNvSpPr>
            <a:spLocks noChangeArrowheads="1"/>
          </p:cNvSpPr>
          <p:nvPr/>
        </p:nvSpPr>
        <p:spPr bwMode="auto">
          <a:xfrm>
            <a:off x="5673725" y="4157663"/>
            <a:ext cx="360363" cy="1008062"/>
          </a:xfrm>
          <a:prstGeom prst="upArrow">
            <a:avLst>
              <a:gd name="adj1" fmla="val 50000"/>
              <a:gd name="adj2" fmla="val 69934"/>
            </a:avLst>
          </a:prstGeom>
          <a:solidFill>
            <a:srgbClr val="FF6600"/>
          </a:solidFill>
          <a:ln w="9525">
            <a:solidFill>
              <a:schemeClr val="tx1"/>
            </a:solidFill>
            <a:miter lim="800000"/>
            <a:headEnd/>
            <a:tailEnd/>
          </a:ln>
          <a:effectLst/>
        </p:spPr>
        <p:txBody>
          <a:bodyPr vert="eaVert" wrap="none" anchor="ctr"/>
          <a:lstStyle/>
          <a:p>
            <a:endParaRPr lang="zh-CN" altLang="en-US"/>
          </a:p>
        </p:txBody>
      </p:sp>
      <p:sp>
        <p:nvSpPr>
          <p:cNvPr id="234503" name="Rectangle 7"/>
          <p:cNvSpPr>
            <a:spLocks noChangeArrowheads="1"/>
          </p:cNvSpPr>
          <p:nvPr/>
        </p:nvSpPr>
        <p:spPr bwMode="auto">
          <a:xfrm>
            <a:off x="3730625" y="3005138"/>
            <a:ext cx="4248150" cy="1152525"/>
          </a:xfrm>
          <a:prstGeom prst="rect">
            <a:avLst/>
          </a:prstGeom>
          <a:gradFill rotWithShape="1">
            <a:gsLst>
              <a:gs pos="0">
                <a:srgbClr val="339966">
                  <a:gamma/>
                  <a:shade val="46275"/>
                  <a:invGamma/>
                  <a:alpha val="58000"/>
                </a:srgbClr>
              </a:gs>
              <a:gs pos="50000">
                <a:srgbClr val="339966">
                  <a:alpha val="61000"/>
                </a:srgbClr>
              </a:gs>
              <a:gs pos="100000">
                <a:srgbClr val="339966">
                  <a:gamma/>
                  <a:shade val="46275"/>
                  <a:invGamma/>
                  <a:alpha val="58000"/>
                </a:srgbClr>
              </a:gs>
            </a:gsLst>
            <a:lin ang="5400000" scaled="1"/>
          </a:gra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234504" name="Text Box 8"/>
          <p:cNvSpPr txBox="1">
            <a:spLocks noChangeArrowheads="1"/>
          </p:cNvSpPr>
          <p:nvPr/>
        </p:nvSpPr>
        <p:spPr bwMode="auto">
          <a:xfrm>
            <a:off x="5057775" y="2476500"/>
            <a:ext cx="1730375"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增益介质</a:t>
            </a:r>
          </a:p>
        </p:txBody>
      </p:sp>
      <p:sp>
        <p:nvSpPr>
          <p:cNvPr id="234505" name="Text Box 9"/>
          <p:cNvSpPr txBox="1">
            <a:spLocks noChangeArrowheads="1"/>
          </p:cNvSpPr>
          <p:nvPr/>
        </p:nvSpPr>
        <p:spPr bwMode="auto">
          <a:xfrm>
            <a:off x="5202238" y="1495425"/>
            <a:ext cx="1370012"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谐振腔</a:t>
            </a:r>
          </a:p>
        </p:txBody>
      </p:sp>
      <p:grpSp>
        <p:nvGrpSpPr>
          <p:cNvPr id="234506" name="Group 10"/>
          <p:cNvGrpSpPr>
            <a:grpSpLocks/>
          </p:cNvGrpSpPr>
          <p:nvPr/>
        </p:nvGrpSpPr>
        <p:grpSpPr bwMode="auto">
          <a:xfrm>
            <a:off x="8081963" y="3440113"/>
            <a:ext cx="865187" cy="287337"/>
            <a:chOff x="3567" y="2297"/>
            <a:chExt cx="628" cy="182"/>
          </a:xfrm>
        </p:grpSpPr>
        <p:sp>
          <p:nvSpPr>
            <p:cNvPr id="234507" name="AutoShape 11"/>
            <p:cNvSpPr>
              <a:spLocks noChangeArrowheads="1"/>
            </p:cNvSpPr>
            <p:nvPr/>
          </p:nvSpPr>
          <p:spPr bwMode="auto">
            <a:xfrm>
              <a:off x="3923" y="2297"/>
              <a:ext cx="272" cy="182"/>
            </a:xfrm>
            <a:prstGeom prst="rightArrow">
              <a:avLst>
                <a:gd name="adj1" fmla="val 19824"/>
                <a:gd name="adj2" fmla="val 149451"/>
              </a:avLst>
            </a:prstGeom>
            <a:gradFill rotWithShape="1">
              <a:gsLst>
                <a:gs pos="0">
                  <a:schemeClr val="accent2"/>
                </a:gs>
                <a:gs pos="50000">
                  <a:schemeClr val="accent2">
                    <a:gamma/>
                    <a:tint val="72941"/>
                    <a:invGamma/>
                  </a:schemeClr>
                </a:gs>
                <a:gs pos="100000">
                  <a:schemeClr val="accent2"/>
                </a:gs>
              </a:gsLst>
              <a:lin ang="540000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ea typeface="宋体" pitchFamily="2" charset="-122"/>
              </a:endParaRPr>
            </a:p>
          </p:txBody>
        </p:sp>
        <p:sp>
          <p:nvSpPr>
            <p:cNvPr id="234508" name="Rectangle 12"/>
            <p:cNvSpPr>
              <a:spLocks noChangeArrowheads="1"/>
            </p:cNvSpPr>
            <p:nvPr/>
          </p:nvSpPr>
          <p:spPr bwMode="auto">
            <a:xfrm>
              <a:off x="3567" y="2343"/>
              <a:ext cx="364" cy="88"/>
            </a:xfrm>
            <a:prstGeom prst="rect">
              <a:avLst/>
            </a:prstGeom>
            <a:gradFill rotWithShape="1">
              <a:gsLst>
                <a:gs pos="0">
                  <a:schemeClr val="accent2"/>
                </a:gs>
                <a:gs pos="50000">
                  <a:schemeClr val="accent2">
                    <a:gamma/>
                    <a:tint val="72941"/>
                    <a:invGamma/>
                  </a:schemeClr>
                </a:gs>
                <a:gs pos="100000">
                  <a:schemeClr val="accent2"/>
                </a:gs>
              </a:gsLst>
              <a:lin ang="540000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grpSp>
      <p:sp>
        <p:nvSpPr>
          <p:cNvPr id="234509" name="Text Box 13"/>
          <p:cNvSpPr txBox="1">
            <a:spLocks noChangeArrowheads="1"/>
          </p:cNvSpPr>
          <p:nvPr/>
        </p:nvSpPr>
        <p:spPr bwMode="auto">
          <a:xfrm>
            <a:off x="3402013" y="4373563"/>
            <a:ext cx="938212" cy="822325"/>
          </a:xfrm>
          <a:prstGeom prst="rect">
            <a:avLst/>
          </a:prstGeom>
          <a:noFill/>
          <a:ln w="9525">
            <a:noFill/>
            <a:miter lim="800000"/>
            <a:headEnd/>
            <a:tailEnd/>
          </a:ln>
          <a:effectLst/>
        </p:spPr>
        <p:txBody>
          <a:bodyPr>
            <a:spAutoFit/>
          </a:bodyPr>
          <a:lstStyle/>
          <a:p>
            <a:r>
              <a:rPr lang="zh-CN" altLang="en-US" b="1">
                <a:solidFill>
                  <a:srgbClr val="0000FF"/>
                </a:solidFill>
                <a:ea typeface="楷体_GB2312" pitchFamily="49" charset="-122"/>
              </a:rPr>
              <a:t>全反射镜</a:t>
            </a:r>
          </a:p>
        </p:txBody>
      </p:sp>
      <p:sp>
        <p:nvSpPr>
          <p:cNvPr id="234510" name="Text Box 14"/>
          <p:cNvSpPr txBox="1">
            <a:spLocks noChangeArrowheads="1"/>
          </p:cNvSpPr>
          <p:nvPr/>
        </p:nvSpPr>
        <p:spPr bwMode="auto">
          <a:xfrm>
            <a:off x="7521575" y="4373563"/>
            <a:ext cx="1187450" cy="1187450"/>
          </a:xfrm>
          <a:prstGeom prst="rect">
            <a:avLst/>
          </a:prstGeom>
          <a:noFill/>
          <a:ln w="9525">
            <a:noFill/>
            <a:miter lim="800000"/>
            <a:headEnd/>
            <a:tailEnd/>
          </a:ln>
          <a:effectLst/>
        </p:spPr>
        <p:txBody>
          <a:bodyPr>
            <a:spAutoFit/>
          </a:bodyPr>
          <a:lstStyle/>
          <a:p>
            <a:pPr algn="ctr"/>
            <a:r>
              <a:rPr lang="zh-CN" altLang="en-US" b="1">
                <a:solidFill>
                  <a:srgbClr val="0000FF"/>
                </a:solidFill>
                <a:latin typeface="楷体_GB2312" pitchFamily="49" charset="-122"/>
                <a:ea typeface="楷体_GB2312" pitchFamily="49" charset="-122"/>
              </a:rPr>
              <a:t>部分  反射镜</a:t>
            </a:r>
          </a:p>
          <a:p>
            <a:pPr algn="ctr"/>
            <a:r>
              <a:rPr lang="en-US" altLang="zh-CN" b="1">
                <a:solidFill>
                  <a:srgbClr val="0000FF"/>
                </a:solidFill>
                <a:ea typeface="楷体_GB2312" pitchFamily="49" charset="-122"/>
              </a:rPr>
              <a:t>(99</a:t>
            </a:r>
            <a:r>
              <a:rPr lang="en-US" altLang="zh-CN" b="1">
                <a:solidFill>
                  <a:srgbClr val="0000FF"/>
                </a:solidFill>
                <a:ea typeface="楷体_GB2312" pitchFamily="49" charset="-122"/>
                <a:sym typeface="Symbol" pitchFamily="18" charset="2"/>
              </a:rPr>
              <a:t>)</a:t>
            </a:r>
          </a:p>
        </p:txBody>
      </p:sp>
      <p:sp>
        <p:nvSpPr>
          <p:cNvPr id="234511" name="Line 15"/>
          <p:cNvSpPr>
            <a:spLocks noChangeShapeType="1"/>
          </p:cNvSpPr>
          <p:nvPr/>
        </p:nvSpPr>
        <p:spPr bwMode="auto">
          <a:xfrm flipH="1">
            <a:off x="3689350" y="1782763"/>
            <a:ext cx="1584325" cy="1008062"/>
          </a:xfrm>
          <a:prstGeom prst="line">
            <a:avLst/>
          </a:prstGeom>
          <a:noFill/>
          <a:ln w="15875">
            <a:solidFill>
              <a:srgbClr val="0000FF"/>
            </a:solidFill>
            <a:prstDash val="dash"/>
            <a:round/>
            <a:headEnd/>
            <a:tailEnd/>
          </a:ln>
          <a:effectLst/>
        </p:spPr>
        <p:txBody>
          <a:bodyPr/>
          <a:lstStyle/>
          <a:p>
            <a:endParaRPr lang="zh-CN" altLang="en-US"/>
          </a:p>
        </p:txBody>
      </p:sp>
      <p:sp>
        <p:nvSpPr>
          <p:cNvPr id="234512" name="Line 16"/>
          <p:cNvSpPr>
            <a:spLocks noChangeShapeType="1"/>
          </p:cNvSpPr>
          <p:nvPr/>
        </p:nvSpPr>
        <p:spPr bwMode="auto">
          <a:xfrm>
            <a:off x="6323013" y="1782763"/>
            <a:ext cx="1655762" cy="1008062"/>
          </a:xfrm>
          <a:prstGeom prst="line">
            <a:avLst/>
          </a:prstGeom>
          <a:noFill/>
          <a:ln w="15875">
            <a:solidFill>
              <a:srgbClr val="0000FF"/>
            </a:solidFill>
            <a:prstDash val="dash"/>
            <a:round/>
            <a:headEnd/>
            <a:tailEnd/>
          </a:ln>
          <a:effectLst/>
        </p:spPr>
        <p:txBody>
          <a:bodyPr/>
          <a:lstStyle/>
          <a:p>
            <a:endParaRPr lang="zh-CN" altLang="en-US"/>
          </a:p>
        </p:txBody>
      </p:sp>
      <p:sp>
        <p:nvSpPr>
          <p:cNvPr id="234513" name="Rectangle 17"/>
          <p:cNvSpPr>
            <a:spLocks noChangeArrowheads="1"/>
          </p:cNvSpPr>
          <p:nvPr/>
        </p:nvSpPr>
        <p:spPr bwMode="auto">
          <a:xfrm>
            <a:off x="7988300" y="2789238"/>
            <a:ext cx="215900" cy="1584325"/>
          </a:xfrm>
          <a:prstGeom prst="rect">
            <a:avLst/>
          </a:prstGeom>
          <a:gradFill rotWithShape="1">
            <a:gsLst>
              <a:gs pos="0">
                <a:srgbClr val="CCCCFF">
                  <a:gamma/>
                  <a:shade val="46275"/>
                  <a:invGamma/>
                  <a:alpha val="30000"/>
                </a:srgbClr>
              </a:gs>
              <a:gs pos="50000">
                <a:srgbClr val="CCCCFF">
                  <a:alpha val="78000"/>
                </a:srgbClr>
              </a:gs>
              <a:gs pos="100000">
                <a:srgbClr val="CCCCFF">
                  <a:gamma/>
                  <a:shade val="46275"/>
                  <a:invGamma/>
                  <a:alpha val="30000"/>
                </a:srgbClr>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234514" name="AutoShape 18"/>
          <p:cNvSpPr>
            <a:spLocks noChangeArrowheads="1"/>
          </p:cNvSpPr>
          <p:nvPr/>
        </p:nvSpPr>
        <p:spPr bwMode="auto">
          <a:xfrm>
            <a:off x="3730625" y="3222625"/>
            <a:ext cx="4248150" cy="217488"/>
          </a:xfrm>
          <a:prstGeom prst="leftArrow">
            <a:avLst>
              <a:gd name="adj1" fmla="val 58407"/>
              <a:gd name="adj2" fmla="val 153640"/>
            </a:avLst>
          </a:prstGeom>
          <a:solidFill>
            <a:schemeClr val="accent2">
              <a:alpha val="79999"/>
            </a:schemeClr>
          </a:solidFill>
          <a:ln w="3175">
            <a:solidFill>
              <a:schemeClr val="tx1"/>
            </a:solidFill>
            <a:miter lim="800000"/>
            <a:headEnd/>
            <a:tailEnd/>
          </a:ln>
          <a:effectLst/>
        </p:spPr>
        <p:txBody>
          <a:bodyPr wrap="none" anchor="ctr"/>
          <a:lstStyle/>
          <a:p>
            <a:endParaRPr lang="zh-CN" altLang="en-US"/>
          </a:p>
        </p:txBody>
      </p:sp>
      <p:sp>
        <p:nvSpPr>
          <p:cNvPr id="234515" name="AutoShape 19"/>
          <p:cNvSpPr>
            <a:spLocks noChangeArrowheads="1"/>
          </p:cNvSpPr>
          <p:nvPr/>
        </p:nvSpPr>
        <p:spPr bwMode="auto">
          <a:xfrm rot="10800000">
            <a:off x="3730625" y="3727450"/>
            <a:ext cx="4248150" cy="217488"/>
          </a:xfrm>
          <a:prstGeom prst="leftArrow">
            <a:avLst>
              <a:gd name="adj1" fmla="val 58407"/>
              <a:gd name="adj2" fmla="val 153640"/>
            </a:avLst>
          </a:prstGeom>
          <a:solidFill>
            <a:schemeClr val="accent2"/>
          </a:solidFill>
          <a:ln w="3175">
            <a:solidFill>
              <a:schemeClr val="tx1"/>
            </a:solidFill>
            <a:miter lim="800000"/>
            <a:headEnd/>
            <a:tailEnd/>
          </a:ln>
          <a:effectLst/>
        </p:spPr>
        <p:txBody>
          <a:bodyPr wrap="none" anchor="ctr"/>
          <a:lstStyle/>
          <a:p>
            <a:endParaRPr lang="zh-CN" altLang="en-US"/>
          </a:p>
        </p:txBody>
      </p:sp>
      <p:sp>
        <p:nvSpPr>
          <p:cNvPr id="234516" name="Rectangle 20"/>
          <p:cNvSpPr>
            <a:spLocks noChangeArrowheads="1"/>
          </p:cNvSpPr>
          <p:nvPr/>
        </p:nvSpPr>
        <p:spPr bwMode="auto">
          <a:xfrm>
            <a:off x="809625" y="1782763"/>
            <a:ext cx="2879725" cy="1006475"/>
          </a:xfrm>
          <a:prstGeom prst="rect">
            <a:avLst/>
          </a:prstGeom>
          <a:noFill/>
          <a:ln w="9525">
            <a:noFill/>
            <a:miter lim="800000"/>
            <a:headEnd/>
            <a:tailEnd/>
          </a:ln>
          <a:effectLst/>
        </p:spPr>
        <p:txBody>
          <a:bodyPr>
            <a:spAutoFit/>
          </a:bodyPr>
          <a:lstStyle/>
          <a:p>
            <a:pPr>
              <a:lnSpc>
                <a:spcPct val="125000"/>
              </a:lnSpc>
            </a:pPr>
            <a:r>
              <a:rPr lang="zh-CN" altLang="en-US" b="1">
                <a:solidFill>
                  <a:schemeClr val="bg1"/>
                </a:solidFill>
              </a:rPr>
              <a:t>谐振腔，增益介质，激励能源。</a:t>
            </a:r>
          </a:p>
        </p:txBody>
      </p:sp>
      <p:sp>
        <p:nvSpPr>
          <p:cNvPr id="234517" name="Rectangle 21"/>
          <p:cNvSpPr>
            <a:spLocks noChangeArrowheads="1"/>
          </p:cNvSpPr>
          <p:nvPr/>
        </p:nvSpPr>
        <p:spPr bwMode="auto">
          <a:xfrm>
            <a:off x="450850" y="1281113"/>
            <a:ext cx="3382963" cy="506412"/>
          </a:xfrm>
          <a:prstGeom prst="rect">
            <a:avLst/>
          </a:prstGeom>
          <a:noFill/>
          <a:ln w="9525">
            <a:noFill/>
            <a:miter lim="800000"/>
            <a:headEnd/>
            <a:tailEnd/>
          </a:ln>
          <a:effectLst/>
        </p:spPr>
        <p:txBody>
          <a:bodyPr>
            <a:spAutoFit/>
          </a:bodyPr>
          <a:lstStyle/>
          <a:p>
            <a:pPr marL="457200" indent="-457200">
              <a:lnSpc>
                <a:spcPct val="125000"/>
              </a:lnSpc>
            </a:pPr>
            <a:r>
              <a:rPr lang="en-US" altLang="zh-CN" b="1">
                <a:solidFill>
                  <a:srgbClr val="FF0000"/>
                </a:solidFill>
              </a:rPr>
              <a:t>1. </a:t>
            </a:r>
            <a:r>
              <a:rPr lang="zh-CN" altLang="en-US" b="1">
                <a:solidFill>
                  <a:srgbClr val="FF0000"/>
                </a:solidFill>
              </a:rPr>
              <a:t>基本构成部分</a:t>
            </a:r>
          </a:p>
        </p:txBody>
      </p:sp>
      <p:sp>
        <p:nvSpPr>
          <p:cNvPr id="234518" name="Rectangle 22"/>
          <p:cNvSpPr>
            <a:spLocks noChangeArrowheads="1"/>
          </p:cNvSpPr>
          <p:nvPr/>
        </p:nvSpPr>
        <p:spPr bwMode="auto">
          <a:xfrm>
            <a:off x="449263" y="2962275"/>
            <a:ext cx="2447925" cy="506413"/>
          </a:xfrm>
          <a:prstGeom prst="rect">
            <a:avLst/>
          </a:prstGeom>
          <a:noFill/>
          <a:ln w="9525">
            <a:noFill/>
            <a:miter lim="800000"/>
            <a:headEnd/>
            <a:tailEnd/>
          </a:ln>
          <a:effectLst/>
        </p:spPr>
        <p:txBody>
          <a:bodyPr>
            <a:spAutoFit/>
          </a:bodyPr>
          <a:lstStyle/>
          <a:p>
            <a:pPr marL="457200" indent="-457200">
              <a:lnSpc>
                <a:spcPct val="125000"/>
              </a:lnSpc>
            </a:pPr>
            <a:r>
              <a:rPr lang="en-US" altLang="zh-CN" b="1">
                <a:solidFill>
                  <a:srgbClr val="FF0000"/>
                </a:solidFill>
              </a:rPr>
              <a:t>2. </a:t>
            </a:r>
            <a:r>
              <a:rPr lang="zh-CN" altLang="en-US" b="1">
                <a:solidFill>
                  <a:srgbClr val="FF0000"/>
                </a:solidFill>
              </a:rPr>
              <a:t>激光的形成</a:t>
            </a:r>
          </a:p>
        </p:txBody>
      </p:sp>
      <p:sp>
        <p:nvSpPr>
          <p:cNvPr id="234519" name="Text Box 23"/>
          <p:cNvSpPr txBox="1">
            <a:spLocks noChangeArrowheads="1"/>
          </p:cNvSpPr>
          <p:nvPr/>
        </p:nvSpPr>
        <p:spPr bwMode="auto">
          <a:xfrm>
            <a:off x="809625" y="3436938"/>
            <a:ext cx="2592388" cy="2378075"/>
          </a:xfrm>
          <a:prstGeom prst="rect">
            <a:avLst/>
          </a:prstGeom>
          <a:noFill/>
          <a:ln w="9525">
            <a:noFill/>
            <a:miter lim="800000"/>
            <a:headEnd/>
            <a:tailEnd/>
          </a:ln>
          <a:effectLst/>
        </p:spPr>
        <p:txBody>
          <a:bodyPr>
            <a:spAutoFit/>
          </a:bodyPr>
          <a:lstStyle/>
          <a:p>
            <a:pPr>
              <a:lnSpc>
                <a:spcPct val="125000"/>
              </a:lnSpc>
            </a:pPr>
            <a:r>
              <a:rPr lang="zh-CN" altLang="en-US" b="1">
                <a:solidFill>
                  <a:schemeClr val="bg1"/>
                </a:solidFill>
              </a:rPr>
              <a:t>光束在谐振腔内来回震荡，在增益介质中的传播使光得以放大，并输出激光。</a:t>
            </a:r>
          </a:p>
        </p:txBody>
      </p:sp>
      <p:sp>
        <p:nvSpPr>
          <p:cNvPr id="234520" name="Rectangle 24"/>
          <p:cNvSpPr>
            <a:spLocks noChangeArrowheads="1"/>
          </p:cNvSpPr>
          <p:nvPr/>
        </p:nvSpPr>
        <p:spPr bwMode="auto">
          <a:xfrm>
            <a:off x="3546475" y="2790825"/>
            <a:ext cx="144463" cy="1584325"/>
          </a:xfrm>
          <a:prstGeom prst="rect">
            <a:avLst/>
          </a:prstGeom>
          <a:gradFill rotWithShape="1">
            <a:gsLst>
              <a:gs pos="0">
                <a:schemeClr val="hlink">
                  <a:gamma/>
                  <a:shade val="46275"/>
                  <a:invGamma/>
                  <a:alpha val="32001"/>
                </a:schemeClr>
              </a:gs>
              <a:gs pos="50000">
                <a:schemeClr val="hlink">
                  <a:alpha val="0"/>
                </a:schemeClr>
              </a:gs>
              <a:gs pos="100000">
                <a:schemeClr val="hlink">
                  <a:gamma/>
                  <a:shade val="46275"/>
                  <a:invGamma/>
                  <a:alpha val="32001"/>
                </a:schemeClr>
              </a:gs>
            </a:gsLst>
            <a:lin ang="540000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234521" name="Rectangle 25"/>
          <p:cNvSpPr>
            <a:spLocks noChangeArrowheads="1"/>
          </p:cNvSpPr>
          <p:nvPr/>
        </p:nvSpPr>
        <p:spPr bwMode="auto">
          <a:xfrm>
            <a:off x="8010525" y="2790825"/>
            <a:ext cx="215900" cy="1584325"/>
          </a:xfrm>
          <a:prstGeom prst="rect">
            <a:avLst/>
          </a:prstGeom>
          <a:gradFill rotWithShape="1">
            <a:gsLst>
              <a:gs pos="0">
                <a:srgbClr val="CCCCFF">
                  <a:gamma/>
                  <a:shade val="46275"/>
                  <a:invGamma/>
                  <a:alpha val="23000"/>
                </a:srgbClr>
              </a:gs>
              <a:gs pos="50000">
                <a:srgbClr val="CCCCFF">
                  <a:alpha val="0"/>
                </a:srgbClr>
              </a:gs>
              <a:gs pos="100000">
                <a:srgbClr val="CCCCFF">
                  <a:gamma/>
                  <a:shade val="46275"/>
                  <a:invGamma/>
                  <a:alpha val="23000"/>
                </a:srgbClr>
              </a:gs>
            </a:gsLst>
            <a:lin ang="540000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4498"/>
                                        </p:tgtEl>
                                        <p:attrNameLst>
                                          <p:attrName>style.visibility</p:attrName>
                                        </p:attrNameLst>
                                      </p:cBhvr>
                                      <p:to>
                                        <p:strVal val="visible"/>
                                      </p:to>
                                    </p:set>
                                    <p:animEffect transition="in" filter="wipe(left)">
                                      <p:cBhvr>
                                        <p:cTn id="7" dur="500"/>
                                        <p:tgtEl>
                                          <p:spTgt spid="2344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4517"/>
                                        </p:tgtEl>
                                        <p:attrNameLst>
                                          <p:attrName>style.visibility</p:attrName>
                                        </p:attrNameLst>
                                      </p:cBhvr>
                                      <p:to>
                                        <p:strVal val="visible"/>
                                      </p:to>
                                    </p:set>
                                    <p:animEffect transition="in" filter="wipe(left)">
                                      <p:cBhvr>
                                        <p:cTn id="12" dur="500"/>
                                        <p:tgtEl>
                                          <p:spTgt spid="2345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234503"/>
                                        </p:tgtEl>
                                        <p:attrNameLst>
                                          <p:attrName>style.visibility</p:attrName>
                                        </p:attrNameLst>
                                      </p:cBhvr>
                                      <p:to>
                                        <p:strVal val="visible"/>
                                      </p:to>
                                    </p:set>
                                    <p:anim calcmode="lin" valueType="num">
                                      <p:cBhvr additive="base">
                                        <p:cTn id="17" dur="500" fill="hold"/>
                                        <p:tgtEl>
                                          <p:spTgt spid="234503"/>
                                        </p:tgtEl>
                                        <p:attrNameLst>
                                          <p:attrName>ppt_x</p:attrName>
                                        </p:attrNameLst>
                                      </p:cBhvr>
                                      <p:tavLst>
                                        <p:tav tm="0">
                                          <p:val>
                                            <p:strVal val="#ppt_x"/>
                                          </p:val>
                                        </p:tav>
                                        <p:tav tm="100000">
                                          <p:val>
                                            <p:strVal val="#ppt_x"/>
                                          </p:val>
                                        </p:tav>
                                      </p:tavLst>
                                    </p:anim>
                                    <p:anim calcmode="lin" valueType="num">
                                      <p:cBhvr additive="base">
                                        <p:cTn id="18" dur="500" fill="hold"/>
                                        <p:tgtEl>
                                          <p:spTgt spid="234503"/>
                                        </p:tgtEl>
                                        <p:attrNameLst>
                                          <p:attrName>ppt_y</p:attrName>
                                        </p:attrNameLst>
                                      </p:cBhvr>
                                      <p:tavLst>
                                        <p:tav tm="0">
                                          <p:val>
                                            <p:strVal val="0-#ppt_h/2"/>
                                          </p:val>
                                        </p:tav>
                                        <p:tav tm="100000">
                                          <p:val>
                                            <p:strVal val="#ppt_y"/>
                                          </p:val>
                                        </p:tav>
                                      </p:tavLst>
                                    </p:anim>
                                  </p:childTnLst>
                                </p:cTn>
                              </p:par>
                            </p:childTnLst>
                          </p:cTn>
                        </p:par>
                        <p:par>
                          <p:cTn id="19" fill="hold" nodeType="afterGroup">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23450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234500"/>
                                        </p:tgtEl>
                                        <p:attrNameLst>
                                          <p:attrName>style.visibility</p:attrName>
                                        </p:attrNameLst>
                                      </p:cBhvr>
                                      <p:to>
                                        <p:strVal val="visible"/>
                                      </p:to>
                                    </p:set>
                                    <p:anim calcmode="lin" valueType="num">
                                      <p:cBhvr additive="base">
                                        <p:cTn id="26" dur="500" fill="hold"/>
                                        <p:tgtEl>
                                          <p:spTgt spid="234500"/>
                                        </p:tgtEl>
                                        <p:attrNameLst>
                                          <p:attrName>ppt_x</p:attrName>
                                        </p:attrNameLst>
                                      </p:cBhvr>
                                      <p:tavLst>
                                        <p:tav tm="0">
                                          <p:val>
                                            <p:strVal val="0-#ppt_w/2"/>
                                          </p:val>
                                        </p:tav>
                                        <p:tav tm="100000">
                                          <p:val>
                                            <p:strVal val="#ppt_x"/>
                                          </p:val>
                                        </p:tav>
                                      </p:tavLst>
                                    </p:anim>
                                    <p:anim calcmode="lin" valueType="num">
                                      <p:cBhvr additive="base">
                                        <p:cTn id="27" dur="500" fill="hold"/>
                                        <p:tgtEl>
                                          <p:spTgt spid="234500"/>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stCondLst>
                                    <p:cond delay="0"/>
                                  </p:stCondLst>
                                  <p:childTnLst>
                                    <p:set>
                                      <p:cBhvr>
                                        <p:cTn id="29" dur="1" fill="hold">
                                          <p:stCondLst>
                                            <p:cond delay="0"/>
                                          </p:stCondLst>
                                        </p:cTn>
                                        <p:tgtEl>
                                          <p:spTgt spid="234520"/>
                                        </p:tgtEl>
                                        <p:attrNameLst>
                                          <p:attrName>style.visibility</p:attrName>
                                        </p:attrNameLst>
                                      </p:cBhvr>
                                      <p:to>
                                        <p:strVal val="visible"/>
                                      </p:to>
                                    </p:set>
                                    <p:anim calcmode="lin" valueType="num">
                                      <p:cBhvr additive="base">
                                        <p:cTn id="30" dur="500" fill="hold"/>
                                        <p:tgtEl>
                                          <p:spTgt spid="234520"/>
                                        </p:tgtEl>
                                        <p:attrNameLst>
                                          <p:attrName>ppt_x</p:attrName>
                                        </p:attrNameLst>
                                      </p:cBhvr>
                                      <p:tavLst>
                                        <p:tav tm="0">
                                          <p:val>
                                            <p:strVal val="0-#ppt_w/2"/>
                                          </p:val>
                                        </p:tav>
                                        <p:tav tm="100000">
                                          <p:val>
                                            <p:strVal val="#ppt_x"/>
                                          </p:val>
                                        </p:tav>
                                      </p:tavLst>
                                    </p:anim>
                                    <p:anim calcmode="lin" valueType="num">
                                      <p:cBhvr additive="base">
                                        <p:cTn id="31" dur="500" fill="hold"/>
                                        <p:tgtEl>
                                          <p:spTgt spid="234520"/>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0"/>
                                  </p:stCondLst>
                                  <p:childTnLst>
                                    <p:set>
                                      <p:cBhvr>
                                        <p:cTn id="33" dur="1" fill="hold">
                                          <p:stCondLst>
                                            <p:cond delay="0"/>
                                          </p:stCondLst>
                                        </p:cTn>
                                        <p:tgtEl>
                                          <p:spTgt spid="234513"/>
                                        </p:tgtEl>
                                        <p:attrNameLst>
                                          <p:attrName>style.visibility</p:attrName>
                                        </p:attrNameLst>
                                      </p:cBhvr>
                                      <p:to>
                                        <p:strVal val="visible"/>
                                      </p:to>
                                    </p:set>
                                    <p:anim calcmode="lin" valueType="num">
                                      <p:cBhvr additive="base">
                                        <p:cTn id="34" dur="500" fill="hold"/>
                                        <p:tgtEl>
                                          <p:spTgt spid="234513"/>
                                        </p:tgtEl>
                                        <p:attrNameLst>
                                          <p:attrName>ppt_x</p:attrName>
                                        </p:attrNameLst>
                                      </p:cBhvr>
                                      <p:tavLst>
                                        <p:tav tm="0">
                                          <p:val>
                                            <p:strVal val="1+#ppt_w/2"/>
                                          </p:val>
                                        </p:tav>
                                        <p:tav tm="100000">
                                          <p:val>
                                            <p:strVal val="#ppt_x"/>
                                          </p:val>
                                        </p:tav>
                                      </p:tavLst>
                                    </p:anim>
                                    <p:anim calcmode="lin" valueType="num">
                                      <p:cBhvr additive="base">
                                        <p:cTn id="35" dur="500" fill="hold"/>
                                        <p:tgtEl>
                                          <p:spTgt spid="234513"/>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0"/>
                                  </p:stCondLst>
                                  <p:childTnLst>
                                    <p:set>
                                      <p:cBhvr>
                                        <p:cTn id="37" dur="1" fill="hold">
                                          <p:stCondLst>
                                            <p:cond delay="0"/>
                                          </p:stCondLst>
                                        </p:cTn>
                                        <p:tgtEl>
                                          <p:spTgt spid="234521"/>
                                        </p:tgtEl>
                                        <p:attrNameLst>
                                          <p:attrName>style.visibility</p:attrName>
                                        </p:attrNameLst>
                                      </p:cBhvr>
                                      <p:to>
                                        <p:strVal val="visible"/>
                                      </p:to>
                                    </p:set>
                                    <p:anim calcmode="lin" valueType="num">
                                      <p:cBhvr additive="base">
                                        <p:cTn id="38" dur="500" fill="hold"/>
                                        <p:tgtEl>
                                          <p:spTgt spid="234521"/>
                                        </p:tgtEl>
                                        <p:attrNameLst>
                                          <p:attrName>ppt_x</p:attrName>
                                        </p:attrNameLst>
                                      </p:cBhvr>
                                      <p:tavLst>
                                        <p:tav tm="0">
                                          <p:val>
                                            <p:strVal val="1+#ppt_w/2"/>
                                          </p:val>
                                        </p:tav>
                                        <p:tav tm="100000">
                                          <p:val>
                                            <p:strVal val="#ppt_x"/>
                                          </p:val>
                                        </p:tav>
                                      </p:tavLst>
                                    </p:anim>
                                    <p:anim calcmode="lin" valueType="num">
                                      <p:cBhvr additive="base">
                                        <p:cTn id="39" dur="500" fill="hold"/>
                                        <p:tgtEl>
                                          <p:spTgt spid="234521"/>
                                        </p:tgtEl>
                                        <p:attrNameLst>
                                          <p:attrName>ppt_y</p:attrName>
                                        </p:attrNameLst>
                                      </p:cBhvr>
                                      <p:tavLst>
                                        <p:tav tm="0">
                                          <p:val>
                                            <p:strVal val="#ppt_y"/>
                                          </p:val>
                                        </p:tav>
                                        <p:tav tm="100000">
                                          <p:val>
                                            <p:strVal val="#ppt_y"/>
                                          </p:val>
                                        </p:tav>
                                      </p:tavLst>
                                    </p:anim>
                                  </p:childTnLst>
                                </p:cTn>
                              </p:par>
                            </p:childTnLst>
                          </p:cTn>
                        </p:par>
                        <p:par>
                          <p:cTn id="40" fill="hold" nodeType="afterGroup">
                            <p:stCondLst>
                              <p:cond delay="500"/>
                            </p:stCondLst>
                            <p:childTnLst>
                              <p:par>
                                <p:cTn id="41" presetID="1" presetClass="entr" presetSubtype="0" fill="hold" grpId="0" nodeType="afterEffect">
                                  <p:stCondLst>
                                    <p:cond delay="0"/>
                                  </p:stCondLst>
                                  <p:childTnLst>
                                    <p:set>
                                      <p:cBhvr>
                                        <p:cTn id="42" dur="1" fill="hold">
                                          <p:stCondLst>
                                            <p:cond delay="0"/>
                                          </p:stCondLst>
                                        </p:cTn>
                                        <p:tgtEl>
                                          <p:spTgt spid="23450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4510"/>
                                        </p:tgtEl>
                                        <p:attrNameLst>
                                          <p:attrName>style.visibility</p:attrName>
                                        </p:attrNameLst>
                                      </p:cBhvr>
                                      <p:to>
                                        <p:strVal val="visible"/>
                                      </p:to>
                                    </p:set>
                                  </p:childTnLst>
                                </p:cTn>
                              </p:par>
                            </p:childTnLst>
                          </p:cTn>
                        </p:par>
                        <p:par>
                          <p:cTn id="45" fill="hold" nodeType="afterGroup">
                            <p:stCondLst>
                              <p:cond delay="500"/>
                            </p:stCondLst>
                            <p:childTnLst>
                              <p:par>
                                <p:cTn id="46" presetID="18" presetClass="entr" presetSubtype="3" fill="hold" grpId="0" nodeType="afterEffect">
                                  <p:stCondLst>
                                    <p:cond delay="1500"/>
                                  </p:stCondLst>
                                  <p:childTnLst>
                                    <p:set>
                                      <p:cBhvr>
                                        <p:cTn id="47" dur="1" fill="hold">
                                          <p:stCondLst>
                                            <p:cond delay="0"/>
                                          </p:stCondLst>
                                        </p:cTn>
                                        <p:tgtEl>
                                          <p:spTgt spid="234511"/>
                                        </p:tgtEl>
                                        <p:attrNameLst>
                                          <p:attrName>style.visibility</p:attrName>
                                        </p:attrNameLst>
                                      </p:cBhvr>
                                      <p:to>
                                        <p:strVal val="visible"/>
                                      </p:to>
                                    </p:set>
                                    <p:animEffect transition="in" filter="strips(upRight)">
                                      <p:cBhvr>
                                        <p:cTn id="48" dur="500"/>
                                        <p:tgtEl>
                                          <p:spTgt spid="234511"/>
                                        </p:tgtEl>
                                      </p:cBhvr>
                                    </p:animEffect>
                                  </p:childTnLst>
                                </p:cTn>
                              </p:par>
                              <p:par>
                                <p:cTn id="49" presetID="18" presetClass="entr" presetSubtype="9" fill="hold" grpId="0" nodeType="withEffect">
                                  <p:stCondLst>
                                    <p:cond delay="1500"/>
                                  </p:stCondLst>
                                  <p:childTnLst>
                                    <p:set>
                                      <p:cBhvr>
                                        <p:cTn id="50" dur="1" fill="hold">
                                          <p:stCondLst>
                                            <p:cond delay="0"/>
                                          </p:stCondLst>
                                        </p:cTn>
                                        <p:tgtEl>
                                          <p:spTgt spid="234512"/>
                                        </p:tgtEl>
                                        <p:attrNameLst>
                                          <p:attrName>style.visibility</p:attrName>
                                        </p:attrNameLst>
                                      </p:cBhvr>
                                      <p:to>
                                        <p:strVal val="visible"/>
                                      </p:to>
                                    </p:set>
                                    <p:animEffect transition="in" filter="strips(upLeft)">
                                      <p:cBhvr>
                                        <p:cTn id="51" dur="500"/>
                                        <p:tgtEl>
                                          <p:spTgt spid="234512"/>
                                        </p:tgtEl>
                                      </p:cBhvr>
                                    </p:animEffect>
                                  </p:childTnLst>
                                </p:cTn>
                              </p:par>
                            </p:childTnLst>
                          </p:cTn>
                        </p:par>
                        <p:par>
                          <p:cTn id="52" fill="hold" nodeType="afterGroup">
                            <p:stCondLst>
                              <p:cond delay="2500"/>
                            </p:stCondLst>
                            <p:childTnLst>
                              <p:par>
                                <p:cTn id="53" presetID="1" presetClass="entr" presetSubtype="0" fill="hold" grpId="0" nodeType="afterEffect">
                                  <p:stCondLst>
                                    <p:cond delay="0"/>
                                  </p:stCondLst>
                                  <p:childTnLst>
                                    <p:set>
                                      <p:cBhvr>
                                        <p:cTn id="54" dur="1" fill="hold">
                                          <p:stCondLst>
                                            <p:cond delay="0"/>
                                          </p:stCondLst>
                                        </p:cTn>
                                        <p:tgtEl>
                                          <p:spTgt spid="234505"/>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34501"/>
                                        </p:tgtEl>
                                        <p:attrNameLst>
                                          <p:attrName>style.visibility</p:attrName>
                                        </p:attrNameLst>
                                      </p:cBhvr>
                                      <p:to>
                                        <p:strVal val="visible"/>
                                      </p:to>
                                    </p:set>
                                    <p:anim calcmode="lin" valueType="num">
                                      <p:cBhvr additive="base">
                                        <p:cTn id="59" dur="500" fill="hold"/>
                                        <p:tgtEl>
                                          <p:spTgt spid="234501"/>
                                        </p:tgtEl>
                                        <p:attrNameLst>
                                          <p:attrName>ppt_x</p:attrName>
                                        </p:attrNameLst>
                                      </p:cBhvr>
                                      <p:tavLst>
                                        <p:tav tm="0">
                                          <p:val>
                                            <p:strVal val="#ppt_x"/>
                                          </p:val>
                                        </p:tav>
                                        <p:tav tm="100000">
                                          <p:val>
                                            <p:strVal val="#ppt_x"/>
                                          </p:val>
                                        </p:tav>
                                      </p:tavLst>
                                    </p:anim>
                                    <p:anim calcmode="lin" valueType="num">
                                      <p:cBhvr additive="base">
                                        <p:cTn id="60" dur="500" fill="hold"/>
                                        <p:tgtEl>
                                          <p:spTgt spid="234501"/>
                                        </p:tgtEl>
                                        <p:attrNameLst>
                                          <p:attrName>ppt_y</p:attrName>
                                        </p:attrNameLst>
                                      </p:cBhvr>
                                      <p:tavLst>
                                        <p:tav tm="0">
                                          <p:val>
                                            <p:strVal val="1+#ppt_h/2"/>
                                          </p:val>
                                        </p:tav>
                                        <p:tav tm="100000">
                                          <p:val>
                                            <p:strVal val="#ppt_y"/>
                                          </p:val>
                                        </p:tav>
                                      </p:tavLst>
                                    </p:anim>
                                  </p:childTnLst>
                                </p:cTn>
                              </p:par>
                            </p:childTnLst>
                          </p:cTn>
                        </p:par>
                        <p:par>
                          <p:cTn id="61" fill="hold" nodeType="afterGroup">
                            <p:stCondLst>
                              <p:cond delay="500"/>
                            </p:stCondLst>
                            <p:childTnLst>
                              <p:par>
                                <p:cTn id="62" presetID="9" presetClass="entr" presetSubtype="0" fill="hold" grpId="0" nodeType="afterEffect">
                                  <p:stCondLst>
                                    <p:cond delay="1500"/>
                                  </p:stCondLst>
                                  <p:childTnLst>
                                    <p:set>
                                      <p:cBhvr>
                                        <p:cTn id="63" dur="1" fill="hold">
                                          <p:stCondLst>
                                            <p:cond delay="0"/>
                                          </p:stCondLst>
                                        </p:cTn>
                                        <p:tgtEl>
                                          <p:spTgt spid="234516"/>
                                        </p:tgtEl>
                                        <p:attrNameLst>
                                          <p:attrName>style.visibility</p:attrName>
                                        </p:attrNameLst>
                                      </p:cBhvr>
                                      <p:to>
                                        <p:strVal val="visible"/>
                                      </p:to>
                                    </p:set>
                                    <p:animEffect transition="in" filter="dissolve">
                                      <p:cBhvr>
                                        <p:cTn id="64" dur="500"/>
                                        <p:tgtEl>
                                          <p:spTgt spid="234516"/>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34518"/>
                                        </p:tgtEl>
                                        <p:attrNameLst>
                                          <p:attrName>style.visibility</p:attrName>
                                        </p:attrNameLst>
                                      </p:cBhvr>
                                      <p:to>
                                        <p:strVal val="visible"/>
                                      </p:to>
                                    </p:set>
                                    <p:animEffect transition="in" filter="wipe(left)">
                                      <p:cBhvr>
                                        <p:cTn id="69" dur="500"/>
                                        <p:tgtEl>
                                          <p:spTgt spid="23451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2" presetClass="entr" presetSubtype="4" fill="hold" grpId="0" nodeType="clickEffect">
                                  <p:stCondLst>
                                    <p:cond delay="0"/>
                                  </p:stCondLst>
                                  <p:childTnLst>
                                    <p:set>
                                      <p:cBhvr>
                                        <p:cTn id="73" dur="1" fill="hold">
                                          <p:stCondLst>
                                            <p:cond delay="0"/>
                                          </p:stCondLst>
                                        </p:cTn>
                                        <p:tgtEl>
                                          <p:spTgt spid="234502"/>
                                        </p:tgtEl>
                                        <p:attrNameLst>
                                          <p:attrName>style.visibility</p:attrName>
                                        </p:attrNameLst>
                                      </p:cBhvr>
                                      <p:to>
                                        <p:strVal val="visible"/>
                                      </p:to>
                                    </p:set>
                                    <p:animEffect transition="in" filter="slide(fromBottom)">
                                      <p:cBhvr>
                                        <p:cTn id="74" dur="500"/>
                                        <p:tgtEl>
                                          <p:spTgt spid="234502"/>
                                        </p:tgtEl>
                                      </p:cBhvr>
                                    </p:animEffect>
                                  </p:childTnLst>
                                </p:cTn>
                              </p:par>
                            </p:childTnLst>
                          </p:cTn>
                        </p:par>
                        <p:par>
                          <p:cTn id="75" fill="hold" nodeType="afterGroup">
                            <p:stCondLst>
                              <p:cond delay="500"/>
                            </p:stCondLst>
                            <p:childTnLst>
                              <p:par>
                                <p:cTn id="76" presetID="1" presetClass="emph" presetSubtype="2" fill="hold" nodeType="afterEffect">
                                  <p:stCondLst>
                                    <p:cond delay="0"/>
                                  </p:stCondLst>
                                  <p:childTnLst>
                                    <p:animClr clrSpc="rgb" dir="cw">
                                      <p:cBhvr>
                                        <p:cTn id="77" dur="1000" fill="hold"/>
                                        <p:tgtEl>
                                          <p:spTgt spid="234503"/>
                                        </p:tgtEl>
                                        <p:attrNameLst>
                                          <p:attrName>fillcolor</p:attrName>
                                        </p:attrNameLst>
                                      </p:cBhvr>
                                      <p:to>
                                        <a:schemeClr val="accent1"/>
                                      </p:to>
                                    </p:animClr>
                                    <p:set>
                                      <p:cBhvr>
                                        <p:cTn id="78" dur="1000" fill="hold"/>
                                        <p:tgtEl>
                                          <p:spTgt spid="234503"/>
                                        </p:tgtEl>
                                        <p:attrNameLst>
                                          <p:attrName>fill.type</p:attrName>
                                        </p:attrNameLst>
                                      </p:cBhvr>
                                      <p:to>
                                        <p:strVal val="solid"/>
                                      </p:to>
                                    </p:set>
                                    <p:set>
                                      <p:cBhvr>
                                        <p:cTn id="79" dur="1000" fill="hold"/>
                                        <p:tgtEl>
                                          <p:spTgt spid="234503"/>
                                        </p:tgtEl>
                                        <p:attrNameLst>
                                          <p:attrName>fill.on</p:attrName>
                                        </p:attrNameLst>
                                      </p:cBhvr>
                                      <p:to>
                                        <p:strVal val="true"/>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12" presetClass="entr" presetSubtype="2" fill="hold" grpId="0" nodeType="clickEffect">
                                  <p:stCondLst>
                                    <p:cond delay="0"/>
                                  </p:stCondLst>
                                  <p:childTnLst>
                                    <p:set>
                                      <p:cBhvr>
                                        <p:cTn id="83" dur="1" fill="hold">
                                          <p:stCondLst>
                                            <p:cond delay="0"/>
                                          </p:stCondLst>
                                        </p:cTn>
                                        <p:tgtEl>
                                          <p:spTgt spid="234514"/>
                                        </p:tgtEl>
                                        <p:attrNameLst>
                                          <p:attrName>style.visibility</p:attrName>
                                        </p:attrNameLst>
                                      </p:cBhvr>
                                      <p:to>
                                        <p:strVal val="visible"/>
                                      </p:to>
                                    </p:set>
                                    <p:animEffect transition="in" filter="slide(fromRight)">
                                      <p:cBhvr>
                                        <p:cTn id="84" dur="500"/>
                                        <p:tgtEl>
                                          <p:spTgt spid="234514"/>
                                        </p:tgtEl>
                                      </p:cBhvr>
                                    </p:animEffect>
                                  </p:childTnLst>
                                </p:cTn>
                              </p:par>
                            </p:childTnLst>
                          </p:cTn>
                        </p:par>
                        <p:par>
                          <p:cTn id="85" fill="hold" nodeType="afterGroup">
                            <p:stCondLst>
                              <p:cond delay="500"/>
                            </p:stCondLst>
                            <p:childTnLst>
                              <p:par>
                                <p:cTn id="86" presetID="12" presetClass="entr" presetSubtype="8" fill="hold" grpId="0" nodeType="afterEffect">
                                  <p:stCondLst>
                                    <p:cond delay="0"/>
                                  </p:stCondLst>
                                  <p:childTnLst>
                                    <p:set>
                                      <p:cBhvr>
                                        <p:cTn id="87" dur="1" fill="hold">
                                          <p:stCondLst>
                                            <p:cond delay="0"/>
                                          </p:stCondLst>
                                        </p:cTn>
                                        <p:tgtEl>
                                          <p:spTgt spid="234515"/>
                                        </p:tgtEl>
                                        <p:attrNameLst>
                                          <p:attrName>style.visibility</p:attrName>
                                        </p:attrNameLst>
                                      </p:cBhvr>
                                      <p:to>
                                        <p:strVal val="visible"/>
                                      </p:to>
                                    </p:set>
                                    <p:animEffect transition="in" filter="slide(fromLeft)">
                                      <p:cBhvr>
                                        <p:cTn id="88" dur="500"/>
                                        <p:tgtEl>
                                          <p:spTgt spid="234515"/>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2" presetClass="entr" presetSubtype="8" fill="hold" nodeType="clickEffect">
                                  <p:stCondLst>
                                    <p:cond delay="0"/>
                                  </p:stCondLst>
                                  <p:childTnLst>
                                    <p:set>
                                      <p:cBhvr>
                                        <p:cTn id="92" dur="1" fill="hold">
                                          <p:stCondLst>
                                            <p:cond delay="0"/>
                                          </p:stCondLst>
                                        </p:cTn>
                                        <p:tgtEl>
                                          <p:spTgt spid="234506"/>
                                        </p:tgtEl>
                                        <p:attrNameLst>
                                          <p:attrName>style.visibility</p:attrName>
                                        </p:attrNameLst>
                                      </p:cBhvr>
                                      <p:to>
                                        <p:strVal val="visible"/>
                                      </p:to>
                                    </p:set>
                                    <p:animEffect transition="in" filter="slide(fromLeft)">
                                      <p:cBhvr>
                                        <p:cTn id="93" dur="500"/>
                                        <p:tgtEl>
                                          <p:spTgt spid="234506"/>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9" presetClass="entr" presetSubtype="0" fill="hold" grpId="0" nodeType="clickEffect">
                                  <p:stCondLst>
                                    <p:cond delay="0"/>
                                  </p:stCondLst>
                                  <p:childTnLst>
                                    <p:set>
                                      <p:cBhvr>
                                        <p:cTn id="97" dur="1" fill="hold">
                                          <p:stCondLst>
                                            <p:cond delay="0"/>
                                          </p:stCondLst>
                                        </p:cTn>
                                        <p:tgtEl>
                                          <p:spTgt spid="234519"/>
                                        </p:tgtEl>
                                        <p:attrNameLst>
                                          <p:attrName>style.visibility</p:attrName>
                                        </p:attrNameLst>
                                      </p:cBhvr>
                                      <p:to>
                                        <p:strVal val="visible"/>
                                      </p:to>
                                    </p:set>
                                    <p:animEffect transition="in" filter="dissolve">
                                      <p:cBhvr>
                                        <p:cTn id="98" dur="500"/>
                                        <p:tgtEl>
                                          <p:spTgt spid="234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8" grpId="0"/>
      <p:bldP spid="234500" grpId="0" animBg="1"/>
      <p:bldP spid="234501" grpId="0" animBg="1"/>
      <p:bldP spid="234502" grpId="0" animBg="1"/>
      <p:bldP spid="234503" grpId="0" animBg="1"/>
      <p:bldP spid="234504" grpId="0"/>
      <p:bldP spid="234505" grpId="0"/>
      <p:bldP spid="234509" grpId="0"/>
      <p:bldP spid="234510" grpId="0"/>
      <p:bldP spid="234511" grpId="0" animBg="1"/>
      <p:bldP spid="234512" grpId="0" animBg="1"/>
      <p:bldP spid="234513" grpId="0" animBg="1"/>
      <p:bldP spid="234514" grpId="0" animBg="1"/>
      <p:bldP spid="234515" grpId="0" animBg="1"/>
      <p:bldP spid="234516" grpId="0"/>
      <p:bldP spid="234517" grpId="0"/>
      <p:bldP spid="234518" grpId="0"/>
      <p:bldP spid="234519" grpId="0"/>
      <p:bldP spid="234520" grpId="0" animBg="1"/>
      <p:bldP spid="23452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AutoShape 2"/>
          <p:cNvSpPr>
            <a:spLocks noChangeArrowheads="1"/>
          </p:cNvSpPr>
          <p:nvPr/>
        </p:nvSpPr>
        <p:spPr bwMode="auto">
          <a:xfrm>
            <a:off x="323850" y="620713"/>
            <a:ext cx="360363" cy="576262"/>
          </a:xfrm>
          <a:prstGeom prst="star4">
            <a:avLst>
              <a:gd name="adj" fmla="val 18519"/>
            </a:avLst>
          </a:prstGeom>
          <a:gradFill rotWithShape="1">
            <a:gsLst>
              <a:gs pos="0">
                <a:srgbClr val="FF9933"/>
              </a:gs>
              <a:gs pos="100000">
                <a:srgbClr val="764718"/>
              </a:gs>
            </a:gsLst>
            <a:path path="shape">
              <a:fillToRect l="50000" t="50000" r="50000" b="50000"/>
            </a:path>
          </a:gradFill>
          <a:ln w="9525">
            <a:noFill/>
            <a:miter lim="800000"/>
            <a:headEnd/>
            <a:tailEnd/>
          </a:ln>
          <a:effectLst/>
        </p:spPr>
        <p:txBody>
          <a:bodyPr wrap="none" anchor="ctr"/>
          <a:lstStyle/>
          <a:p>
            <a:endParaRPr lang="zh-CN" altLang="en-US"/>
          </a:p>
        </p:txBody>
      </p:sp>
      <p:sp>
        <p:nvSpPr>
          <p:cNvPr id="244739" name="Text Box 3"/>
          <p:cNvSpPr txBox="1">
            <a:spLocks noChangeArrowheads="1"/>
          </p:cNvSpPr>
          <p:nvPr/>
        </p:nvSpPr>
        <p:spPr bwMode="auto">
          <a:xfrm>
            <a:off x="827088" y="668338"/>
            <a:ext cx="1944687" cy="457200"/>
          </a:xfrm>
          <a:prstGeom prst="rect">
            <a:avLst/>
          </a:prstGeom>
          <a:noFill/>
          <a:ln w="9525">
            <a:noFill/>
            <a:miter lim="800000"/>
            <a:headEnd/>
            <a:tailEnd/>
          </a:ln>
          <a:effectLst/>
        </p:spPr>
        <p:txBody>
          <a:bodyPr>
            <a:spAutoFit/>
          </a:bodyPr>
          <a:lstStyle/>
          <a:p>
            <a:pPr>
              <a:spcBef>
                <a:spcPct val="50000"/>
              </a:spcBef>
            </a:pPr>
            <a:r>
              <a:rPr lang="zh-CN" altLang="en-US" b="1">
                <a:solidFill>
                  <a:srgbClr val="FF0000"/>
                </a:solidFill>
              </a:rPr>
              <a:t>光学谐振腔</a:t>
            </a:r>
          </a:p>
        </p:txBody>
      </p:sp>
      <p:sp>
        <p:nvSpPr>
          <p:cNvPr id="244740" name="Text Box 4"/>
          <p:cNvSpPr txBox="1">
            <a:spLocks noChangeArrowheads="1"/>
          </p:cNvSpPr>
          <p:nvPr/>
        </p:nvSpPr>
        <p:spPr bwMode="auto">
          <a:xfrm>
            <a:off x="900113" y="1268413"/>
            <a:ext cx="7812087" cy="968375"/>
          </a:xfrm>
          <a:prstGeom prst="rect">
            <a:avLst/>
          </a:prstGeom>
          <a:noFill/>
          <a:ln w="9525">
            <a:noFill/>
            <a:miter lim="800000"/>
            <a:headEnd/>
            <a:tailEnd/>
          </a:ln>
          <a:effectLst/>
        </p:spPr>
        <p:txBody>
          <a:bodyPr>
            <a:spAutoFit/>
          </a:bodyPr>
          <a:lstStyle/>
          <a:p>
            <a:pPr>
              <a:lnSpc>
                <a:spcPct val="120000"/>
              </a:lnSpc>
              <a:spcBef>
                <a:spcPct val="50000"/>
              </a:spcBef>
            </a:pPr>
            <a:r>
              <a:rPr lang="zh-CN" altLang="en-US" b="1">
                <a:solidFill>
                  <a:schemeClr val="bg1"/>
                </a:solidFill>
              </a:rPr>
              <a:t>使</a:t>
            </a:r>
            <a:r>
              <a:rPr lang="zh-CN" altLang="en-US" b="1">
                <a:solidFill>
                  <a:srgbClr val="FF6600"/>
                </a:solidFill>
              </a:rPr>
              <a:t>某一方向、某一频率</a:t>
            </a:r>
            <a:r>
              <a:rPr lang="zh-CN" altLang="en-US" b="1">
                <a:solidFill>
                  <a:schemeClr val="bg1"/>
                </a:solidFill>
              </a:rPr>
              <a:t>的辐射不断得到加强，其它方向、其它频率的辐射受到抑制的装置</a:t>
            </a:r>
          </a:p>
        </p:txBody>
      </p:sp>
      <p:grpSp>
        <p:nvGrpSpPr>
          <p:cNvPr id="244741" name="Group 5"/>
          <p:cNvGrpSpPr>
            <a:grpSpLocks/>
          </p:cNvGrpSpPr>
          <p:nvPr/>
        </p:nvGrpSpPr>
        <p:grpSpPr bwMode="auto">
          <a:xfrm>
            <a:off x="971550" y="3357563"/>
            <a:ext cx="287338" cy="1800225"/>
            <a:chOff x="612" y="2115"/>
            <a:chExt cx="181" cy="1134"/>
          </a:xfrm>
        </p:grpSpPr>
        <p:sp>
          <p:nvSpPr>
            <p:cNvPr id="78890" name="AutoShape 6"/>
            <p:cNvSpPr>
              <a:spLocks noChangeArrowheads="1"/>
            </p:cNvSpPr>
            <p:nvPr/>
          </p:nvSpPr>
          <p:spPr bwMode="auto">
            <a:xfrm>
              <a:off x="612" y="2115"/>
              <a:ext cx="181" cy="1134"/>
            </a:xfrm>
            <a:prstGeom prst="flowChartProcess">
              <a:avLst/>
            </a:prstGeom>
            <a:solidFill>
              <a:srgbClr val="0000FF">
                <a:alpha val="65881"/>
              </a:srgbClr>
            </a:solidFill>
            <a:ln w="9525">
              <a:solidFill>
                <a:schemeClr val="tx1"/>
              </a:solidFill>
              <a:miter lim="800000"/>
              <a:headEnd/>
              <a:tailEnd/>
            </a:ln>
            <a:effectLst/>
          </p:spPr>
          <p:txBody>
            <a:bodyPr wrap="none" anchor="ctr"/>
            <a:lstStyle/>
            <a:p>
              <a:endParaRPr lang="zh-CN" altLang="en-US"/>
            </a:p>
          </p:txBody>
        </p:sp>
        <p:grpSp>
          <p:nvGrpSpPr>
            <p:cNvPr id="78891" name="Group 7"/>
            <p:cNvGrpSpPr>
              <a:grpSpLocks/>
            </p:cNvGrpSpPr>
            <p:nvPr/>
          </p:nvGrpSpPr>
          <p:grpSpPr bwMode="auto">
            <a:xfrm>
              <a:off x="657" y="2296"/>
              <a:ext cx="90" cy="182"/>
              <a:chOff x="1020" y="3566"/>
              <a:chExt cx="136" cy="227"/>
            </a:xfrm>
          </p:grpSpPr>
          <p:sp>
            <p:nvSpPr>
              <p:cNvPr id="78900" name="Line 8"/>
              <p:cNvSpPr>
                <a:spLocks noChangeShapeType="1"/>
              </p:cNvSpPr>
              <p:nvPr/>
            </p:nvSpPr>
            <p:spPr bwMode="auto">
              <a:xfrm flipH="1">
                <a:off x="1020" y="3612"/>
                <a:ext cx="46" cy="90"/>
              </a:xfrm>
              <a:prstGeom prst="line">
                <a:avLst/>
              </a:prstGeom>
              <a:noFill/>
              <a:ln w="9525">
                <a:solidFill>
                  <a:schemeClr val="tx1"/>
                </a:solidFill>
                <a:round/>
                <a:headEnd/>
                <a:tailEnd/>
              </a:ln>
              <a:effectLst/>
            </p:spPr>
            <p:txBody>
              <a:bodyPr/>
              <a:lstStyle/>
              <a:p>
                <a:endParaRPr lang="zh-CN" altLang="en-US"/>
              </a:p>
            </p:txBody>
          </p:sp>
          <p:sp>
            <p:nvSpPr>
              <p:cNvPr id="78901" name="Line 9"/>
              <p:cNvSpPr>
                <a:spLocks noChangeShapeType="1"/>
              </p:cNvSpPr>
              <p:nvPr/>
            </p:nvSpPr>
            <p:spPr bwMode="auto">
              <a:xfrm flipH="1">
                <a:off x="1020" y="3566"/>
                <a:ext cx="136" cy="227"/>
              </a:xfrm>
              <a:prstGeom prst="line">
                <a:avLst/>
              </a:prstGeom>
              <a:noFill/>
              <a:ln w="9525">
                <a:solidFill>
                  <a:schemeClr val="tx1"/>
                </a:solidFill>
                <a:round/>
                <a:headEnd/>
                <a:tailEnd/>
              </a:ln>
              <a:effectLst/>
            </p:spPr>
            <p:txBody>
              <a:bodyPr/>
              <a:lstStyle/>
              <a:p>
                <a:endParaRPr lang="zh-CN" altLang="en-US"/>
              </a:p>
            </p:txBody>
          </p:sp>
          <p:sp>
            <p:nvSpPr>
              <p:cNvPr id="78902" name="Line 10"/>
              <p:cNvSpPr>
                <a:spLocks noChangeShapeType="1"/>
              </p:cNvSpPr>
              <p:nvPr/>
            </p:nvSpPr>
            <p:spPr bwMode="auto">
              <a:xfrm flipH="1">
                <a:off x="1111" y="3657"/>
                <a:ext cx="45" cy="91"/>
              </a:xfrm>
              <a:prstGeom prst="line">
                <a:avLst/>
              </a:prstGeom>
              <a:noFill/>
              <a:ln w="9525">
                <a:solidFill>
                  <a:schemeClr val="tx1"/>
                </a:solidFill>
                <a:round/>
                <a:headEnd/>
                <a:tailEnd/>
              </a:ln>
              <a:effectLst/>
            </p:spPr>
            <p:txBody>
              <a:bodyPr/>
              <a:lstStyle/>
              <a:p>
                <a:endParaRPr lang="zh-CN" altLang="en-US"/>
              </a:p>
            </p:txBody>
          </p:sp>
        </p:grpSp>
        <p:grpSp>
          <p:nvGrpSpPr>
            <p:cNvPr id="78892" name="Group 11"/>
            <p:cNvGrpSpPr>
              <a:grpSpLocks/>
            </p:cNvGrpSpPr>
            <p:nvPr/>
          </p:nvGrpSpPr>
          <p:grpSpPr bwMode="auto">
            <a:xfrm>
              <a:off x="657" y="2614"/>
              <a:ext cx="90" cy="182"/>
              <a:chOff x="1020" y="3566"/>
              <a:chExt cx="136" cy="227"/>
            </a:xfrm>
          </p:grpSpPr>
          <p:sp>
            <p:nvSpPr>
              <p:cNvPr id="78897" name="Line 12"/>
              <p:cNvSpPr>
                <a:spLocks noChangeShapeType="1"/>
              </p:cNvSpPr>
              <p:nvPr/>
            </p:nvSpPr>
            <p:spPr bwMode="auto">
              <a:xfrm flipH="1">
                <a:off x="1020" y="3612"/>
                <a:ext cx="46" cy="90"/>
              </a:xfrm>
              <a:prstGeom prst="line">
                <a:avLst/>
              </a:prstGeom>
              <a:noFill/>
              <a:ln w="9525">
                <a:solidFill>
                  <a:schemeClr val="tx1"/>
                </a:solidFill>
                <a:round/>
                <a:headEnd/>
                <a:tailEnd/>
              </a:ln>
              <a:effectLst/>
            </p:spPr>
            <p:txBody>
              <a:bodyPr/>
              <a:lstStyle/>
              <a:p>
                <a:endParaRPr lang="zh-CN" altLang="en-US"/>
              </a:p>
            </p:txBody>
          </p:sp>
          <p:sp>
            <p:nvSpPr>
              <p:cNvPr id="78898" name="Line 13"/>
              <p:cNvSpPr>
                <a:spLocks noChangeShapeType="1"/>
              </p:cNvSpPr>
              <p:nvPr/>
            </p:nvSpPr>
            <p:spPr bwMode="auto">
              <a:xfrm flipH="1">
                <a:off x="1020" y="3566"/>
                <a:ext cx="136" cy="227"/>
              </a:xfrm>
              <a:prstGeom prst="line">
                <a:avLst/>
              </a:prstGeom>
              <a:noFill/>
              <a:ln w="9525">
                <a:solidFill>
                  <a:schemeClr val="tx1"/>
                </a:solidFill>
                <a:round/>
                <a:headEnd/>
                <a:tailEnd/>
              </a:ln>
              <a:effectLst/>
            </p:spPr>
            <p:txBody>
              <a:bodyPr/>
              <a:lstStyle/>
              <a:p>
                <a:endParaRPr lang="zh-CN" altLang="en-US"/>
              </a:p>
            </p:txBody>
          </p:sp>
          <p:sp>
            <p:nvSpPr>
              <p:cNvPr id="78899" name="Line 14"/>
              <p:cNvSpPr>
                <a:spLocks noChangeShapeType="1"/>
              </p:cNvSpPr>
              <p:nvPr/>
            </p:nvSpPr>
            <p:spPr bwMode="auto">
              <a:xfrm flipH="1">
                <a:off x="1111" y="3657"/>
                <a:ext cx="45" cy="91"/>
              </a:xfrm>
              <a:prstGeom prst="line">
                <a:avLst/>
              </a:prstGeom>
              <a:noFill/>
              <a:ln w="9525">
                <a:solidFill>
                  <a:schemeClr val="tx1"/>
                </a:solidFill>
                <a:round/>
                <a:headEnd/>
                <a:tailEnd/>
              </a:ln>
              <a:effectLst/>
            </p:spPr>
            <p:txBody>
              <a:bodyPr/>
              <a:lstStyle/>
              <a:p>
                <a:endParaRPr lang="zh-CN" altLang="en-US"/>
              </a:p>
            </p:txBody>
          </p:sp>
        </p:grpSp>
        <p:grpSp>
          <p:nvGrpSpPr>
            <p:cNvPr id="78893" name="Group 15"/>
            <p:cNvGrpSpPr>
              <a:grpSpLocks/>
            </p:cNvGrpSpPr>
            <p:nvPr/>
          </p:nvGrpSpPr>
          <p:grpSpPr bwMode="auto">
            <a:xfrm>
              <a:off x="657" y="2931"/>
              <a:ext cx="90" cy="182"/>
              <a:chOff x="1020" y="3566"/>
              <a:chExt cx="136" cy="227"/>
            </a:xfrm>
          </p:grpSpPr>
          <p:sp>
            <p:nvSpPr>
              <p:cNvPr id="78894" name="Line 16"/>
              <p:cNvSpPr>
                <a:spLocks noChangeShapeType="1"/>
              </p:cNvSpPr>
              <p:nvPr/>
            </p:nvSpPr>
            <p:spPr bwMode="auto">
              <a:xfrm flipH="1">
                <a:off x="1020" y="3612"/>
                <a:ext cx="46" cy="90"/>
              </a:xfrm>
              <a:prstGeom prst="line">
                <a:avLst/>
              </a:prstGeom>
              <a:noFill/>
              <a:ln w="9525">
                <a:solidFill>
                  <a:schemeClr val="tx1"/>
                </a:solidFill>
                <a:round/>
                <a:headEnd/>
                <a:tailEnd/>
              </a:ln>
              <a:effectLst/>
            </p:spPr>
            <p:txBody>
              <a:bodyPr/>
              <a:lstStyle/>
              <a:p>
                <a:endParaRPr lang="zh-CN" altLang="en-US"/>
              </a:p>
            </p:txBody>
          </p:sp>
          <p:sp>
            <p:nvSpPr>
              <p:cNvPr id="78895" name="Line 17"/>
              <p:cNvSpPr>
                <a:spLocks noChangeShapeType="1"/>
              </p:cNvSpPr>
              <p:nvPr/>
            </p:nvSpPr>
            <p:spPr bwMode="auto">
              <a:xfrm flipH="1">
                <a:off x="1020" y="3566"/>
                <a:ext cx="136" cy="227"/>
              </a:xfrm>
              <a:prstGeom prst="line">
                <a:avLst/>
              </a:prstGeom>
              <a:noFill/>
              <a:ln w="9525">
                <a:solidFill>
                  <a:schemeClr val="tx1"/>
                </a:solidFill>
                <a:round/>
                <a:headEnd/>
                <a:tailEnd/>
              </a:ln>
              <a:effectLst/>
            </p:spPr>
            <p:txBody>
              <a:bodyPr/>
              <a:lstStyle/>
              <a:p>
                <a:endParaRPr lang="zh-CN" altLang="en-US"/>
              </a:p>
            </p:txBody>
          </p:sp>
          <p:sp>
            <p:nvSpPr>
              <p:cNvPr id="78896" name="Line 18"/>
              <p:cNvSpPr>
                <a:spLocks noChangeShapeType="1"/>
              </p:cNvSpPr>
              <p:nvPr/>
            </p:nvSpPr>
            <p:spPr bwMode="auto">
              <a:xfrm flipH="1">
                <a:off x="1111" y="3657"/>
                <a:ext cx="45" cy="91"/>
              </a:xfrm>
              <a:prstGeom prst="line">
                <a:avLst/>
              </a:prstGeom>
              <a:noFill/>
              <a:ln w="9525">
                <a:solidFill>
                  <a:schemeClr val="tx1"/>
                </a:solidFill>
                <a:round/>
                <a:headEnd/>
                <a:tailEnd/>
              </a:ln>
              <a:effectLst/>
            </p:spPr>
            <p:txBody>
              <a:bodyPr/>
              <a:lstStyle/>
              <a:p>
                <a:endParaRPr lang="zh-CN" altLang="en-US"/>
              </a:p>
            </p:txBody>
          </p:sp>
        </p:grpSp>
      </p:grpSp>
      <p:sp>
        <p:nvSpPr>
          <p:cNvPr id="244755" name="Rectangle 19"/>
          <p:cNvSpPr>
            <a:spLocks noChangeArrowheads="1"/>
          </p:cNvSpPr>
          <p:nvPr/>
        </p:nvSpPr>
        <p:spPr bwMode="auto">
          <a:xfrm>
            <a:off x="1476375" y="3429000"/>
            <a:ext cx="3887788" cy="1655763"/>
          </a:xfrm>
          <a:prstGeom prst="rect">
            <a:avLst/>
          </a:prstGeom>
          <a:solidFill>
            <a:srgbClr val="00FFFF"/>
          </a:solidFill>
          <a:ln w="9525">
            <a:solidFill>
              <a:srgbClr val="00FF00"/>
            </a:solidFill>
            <a:miter lim="800000"/>
            <a:headEnd/>
            <a:tailEnd/>
          </a:ln>
          <a:effectLst/>
        </p:spPr>
        <p:txBody>
          <a:bodyPr wrap="none" anchor="ctr"/>
          <a:lstStyle/>
          <a:p>
            <a:endParaRPr lang="zh-CN" altLang="en-US"/>
          </a:p>
        </p:txBody>
      </p:sp>
      <p:sp>
        <p:nvSpPr>
          <p:cNvPr id="244756" name="Line 20"/>
          <p:cNvSpPr>
            <a:spLocks noChangeShapeType="1"/>
          </p:cNvSpPr>
          <p:nvPr/>
        </p:nvSpPr>
        <p:spPr bwMode="auto">
          <a:xfrm>
            <a:off x="539750" y="4221163"/>
            <a:ext cx="5832475" cy="0"/>
          </a:xfrm>
          <a:prstGeom prst="line">
            <a:avLst/>
          </a:prstGeom>
          <a:noFill/>
          <a:ln w="9525">
            <a:solidFill>
              <a:schemeClr val="accent2"/>
            </a:solidFill>
            <a:prstDash val="lgDash"/>
            <a:round/>
            <a:headEnd/>
            <a:tailEnd/>
          </a:ln>
          <a:effectLst/>
        </p:spPr>
        <p:txBody>
          <a:bodyPr/>
          <a:lstStyle/>
          <a:p>
            <a:endParaRPr lang="zh-CN" altLang="en-US"/>
          </a:p>
        </p:txBody>
      </p:sp>
      <p:grpSp>
        <p:nvGrpSpPr>
          <p:cNvPr id="244757" name="Group 21"/>
          <p:cNvGrpSpPr>
            <a:grpSpLocks/>
          </p:cNvGrpSpPr>
          <p:nvPr/>
        </p:nvGrpSpPr>
        <p:grpSpPr bwMode="auto">
          <a:xfrm>
            <a:off x="5651500" y="3357563"/>
            <a:ext cx="287338" cy="1800225"/>
            <a:chOff x="3560" y="2115"/>
            <a:chExt cx="181" cy="1134"/>
          </a:xfrm>
        </p:grpSpPr>
        <p:sp>
          <p:nvSpPr>
            <p:cNvPr id="78877" name="AutoShape 22"/>
            <p:cNvSpPr>
              <a:spLocks noChangeArrowheads="1"/>
            </p:cNvSpPr>
            <p:nvPr/>
          </p:nvSpPr>
          <p:spPr bwMode="auto">
            <a:xfrm>
              <a:off x="3560" y="2115"/>
              <a:ext cx="181" cy="1134"/>
            </a:xfrm>
            <a:prstGeom prst="flowChartProcess">
              <a:avLst/>
            </a:prstGeom>
            <a:solidFill>
              <a:srgbClr val="0000FF">
                <a:alpha val="70979"/>
              </a:srgbClr>
            </a:solidFill>
            <a:ln w="9525">
              <a:solidFill>
                <a:schemeClr val="tx1"/>
              </a:solidFill>
              <a:miter lim="800000"/>
              <a:headEnd/>
              <a:tailEnd/>
            </a:ln>
            <a:effectLst/>
          </p:spPr>
          <p:txBody>
            <a:bodyPr wrap="none" anchor="ctr"/>
            <a:lstStyle/>
            <a:p>
              <a:endParaRPr lang="zh-CN" altLang="en-US"/>
            </a:p>
          </p:txBody>
        </p:sp>
        <p:grpSp>
          <p:nvGrpSpPr>
            <p:cNvPr id="78878" name="Group 23"/>
            <p:cNvGrpSpPr>
              <a:grpSpLocks/>
            </p:cNvGrpSpPr>
            <p:nvPr/>
          </p:nvGrpSpPr>
          <p:grpSpPr bwMode="auto">
            <a:xfrm>
              <a:off x="3606" y="2296"/>
              <a:ext cx="90" cy="182"/>
              <a:chOff x="1020" y="3566"/>
              <a:chExt cx="136" cy="227"/>
            </a:xfrm>
          </p:grpSpPr>
          <p:sp>
            <p:nvSpPr>
              <p:cNvPr id="78887" name="Line 24"/>
              <p:cNvSpPr>
                <a:spLocks noChangeShapeType="1"/>
              </p:cNvSpPr>
              <p:nvPr/>
            </p:nvSpPr>
            <p:spPr bwMode="auto">
              <a:xfrm flipH="1">
                <a:off x="1020" y="3612"/>
                <a:ext cx="46" cy="90"/>
              </a:xfrm>
              <a:prstGeom prst="line">
                <a:avLst/>
              </a:prstGeom>
              <a:noFill/>
              <a:ln w="9525">
                <a:solidFill>
                  <a:schemeClr val="tx1"/>
                </a:solidFill>
                <a:round/>
                <a:headEnd/>
                <a:tailEnd/>
              </a:ln>
              <a:effectLst/>
            </p:spPr>
            <p:txBody>
              <a:bodyPr/>
              <a:lstStyle/>
              <a:p>
                <a:endParaRPr lang="zh-CN" altLang="en-US"/>
              </a:p>
            </p:txBody>
          </p:sp>
          <p:sp>
            <p:nvSpPr>
              <p:cNvPr id="78888" name="Line 25"/>
              <p:cNvSpPr>
                <a:spLocks noChangeShapeType="1"/>
              </p:cNvSpPr>
              <p:nvPr/>
            </p:nvSpPr>
            <p:spPr bwMode="auto">
              <a:xfrm flipH="1">
                <a:off x="1020" y="3566"/>
                <a:ext cx="136" cy="227"/>
              </a:xfrm>
              <a:prstGeom prst="line">
                <a:avLst/>
              </a:prstGeom>
              <a:noFill/>
              <a:ln w="9525">
                <a:solidFill>
                  <a:schemeClr val="tx1"/>
                </a:solidFill>
                <a:round/>
                <a:headEnd/>
                <a:tailEnd/>
              </a:ln>
              <a:effectLst/>
            </p:spPr>
            <p:txBody>
              <a:bodyPr/>
              <a:lstStyle/>
              <a:p>
                <a:endParaRPr lang="zh-CN" altLang="en-US"/>
              </a:p>
            </p:txBody>
          </p:sp>
          <p:sp>
            <p:nvSpPr>
              <p:cNvPr id="78889" name="Line 26"/>
              <p:cNvSpPr>
                <a:spLocks noChangeShapeType="1"/>
              </p:cNvSpPr>
              <p:nvPr/>
            </p:nvSpPr>
            <p:spPr bwMode="auto">
              <a:xfrm flipH="1">
                <a:off x="1111" y="3657"/>
                <a:ext cx="45" cy="91"/>
              </a:xfrm>
              <a:prstGeom prst="line">
                <a:avLst/>
              </a:prstGeom>
              <a:noFill/>
              <a:ln w="9525">
                <a:solidFill>
                  <a:schemeClr val="tx1"/>
                </a:solidFill>
                <a:round/>
                <a:headEnd/>
                <a:tailEnd/>
              </a:ln>
              <a:effectLst/>
            </p:spPr>
            <p:txBody>
              <a:bodyPr/>
              <a:lstStyle/>
              <a:p>
                <a:endParaRPr lang="zh-CN" altLang="en-US"/>
              </a:p>
            </p:txBody>
          </p:sp>
        </p:grpSp>
        <p:grpSp>
          <p:nvGrpSpPr>
            <p:cNvPr id="78879" name="Group 27"/>
            <p:cNvGrpSpPr>
              <a:grpSpLocks/>
            </p:cNvGrpSpPr>
            <p:nvPr/>
          </p:nvGrpSpPr>
          <p:grpSpPr bwMode="auto">
            <a:xfrm>
              <a:off x="3606" y="2614"/>
              <a:ext cx="90" cy="182"/>
              <a:chOff x="1020" y="3566"/>
              <a:chExt cx="136" cy="227"/>
            </a:xfrm>
          </p:grpSpPr>
          <p:sp>
            <p:nvSpPr>
              <p:cNvPr id="78884" name="Line 28"/>
              <p:cNvSpPr>
                <a:spLocks noChangeShapeType="1"/>
              </p:cNvSpPr>
              <p:nvPr/>
            </p:nvSpPr>
            <p:spPr bwMode="auto">
              <a:xfrm flipH="1">
                <a:off x="1020" y="3612"/>
                <a:ext cx="46" cy="90"/>
              </a:xfrm>
              <a:prstGeom prst="line">
                <a:avLst/>
              </a:prstGeom>
              <a:noFill/>
              <a:ln w="9525">
                <a:solidFill>
                  <a:schemeClr val="tx1"/>
                </a:solidFill>
                <a:round/>
                <a:headEnd/>
                <a:tailEnd/>
              </a:ln>
              <a:effectLst/>
            </p:spPr>
            <p:txBody>
              <a:bodyPr/>
              <a:lstStyle/>
              <a:p>
                <a:endParaRPr lang="zh-CN" altLang="en-US"/>
              </a:p>
            </p:txBody>
          </p:sp>
          <p:sp>
            <p:nvSpPr>
              <p:cNvPr id="78885" name="Line 29"/>
              <p:cNvSpPr>
                <a:spLocks noChangeShapeType="1"/>
              </p:cNvSpPr>
              <p:nvPr/>
            </p:nvSpPr>
            <p:spPr bwMode="auto">
              <a:xfrm flipH="1">
                <a:off x="1020" y="3566"/>
                <a:ext cx="136" cy="227"/>
              </a:xfrm>
              <a:prstGeom prst="line">
                <a:avLst/>
              </a:prstGeom>
              <a:noFill/>
              <a:ln w="9525">
                <a:solidFill>
                  <a:schemeClr val="tx1"/>
                </a:solidFill>
                <a:round/>
                <a:headEnd/>
                <a:tailEnd/>
              </a:ln>
              <a:effectLst/>
            </p:spPr>
            <p:txBody>
              <a:bodyPr/>
              <a:lstStyle/>
              <a:p>
                <a:endParaRPr lang="zh-CN" altLang="en-US"/>
              </a:p>
            </p:txBody>
          </p:sp>
          <p:sp>
            <p:nvSpPr>
              <p:cNvPr id="78886" name="Line 30"/>
              <p:cNvSpPr>
                <a:spLocks noChangeShapeType="1"/>
              </p:cNvSpPr>
              <p:nvPr/>
            </p:nvSpPr>
            <p:spPr bwMode="auto">
              <a:xfrm flipH="1">
                <a:off x="1111" y="3657"/>
                <a:ext cx="45" cy="91"/>
              </a:xfrm>
              <a:prstGeom prst="line">
                <a:avLst/>
              </a:prstGeom>
              <a:noFill/>
              <a:ln w="9525">
                <a:solidFill>
                  <a:schemeClr val="tx1"/>
                </a:solidFill>
                <a:round/>
                <a:headEnd/>
                <a:tailEnd/>
              </a:ln>
              <a:effectLst/>
            </p:spPr>
            <p:txBody>
              <a:bodyPr/>
              <a:lstStyle/>
              <a:p>
                <a:endParaRPr lang="zh-CN" altLang="en-US"/>
              </a:p>
            </p:txBody>
          </p:sp>
        </p:grpSp>
        <p:grpSp>
          <p:nvGrpSpPr>
            <p:cNvPr id="78880" name="Group 31"/>
            <p:cNvGrpSpPr>
              <a:grpSpLocks/>
            </p:cNvGrpSpPr>
            <p:nvPr/>
          </p:nvGrpSpPr>
          <p:grpSpPr bwMode="auto">
            <a:xfrm>
              <a:off x="3606" y="2886"/>
              <a:ext cx="90" cy="182"/>
              <a:chOff x="1020" y="3566"/>
              <a:chExt cx="136" cy="227"/>
            </a:xfrm>
          </p:grpSpPr>
          <p:sp>
            <p:nvSpPr>
              <p:cNvPr id="78881" name="Line 32"/>
              <p:cNvSpPr>
                <a:spLocks noChangeShapeType="1"/>
              </p:cNvSpPr>
              <p:nvPr/>
            </p:nvSpPr>
            <p:spPr bwMode="auto">
              <a:xfrm flipH="1">
                <a:off x="1020" y="3612"/>
                <a:ext cx="46" cy="90"/>
              </a:xfrm>
              <a:prstGeom prst="line">
                <a:avLst/>
              </a:prstGeom>
              <a:noFill/>
              <a:ln w="9525">
                <a:solidFill>
                  <a:schemeClr val="tx1"/>
                </a:solidFill>
                <a:round/>
                <a:headEnd/>
                <a:tailEnd/>
              </a:ln>
              <a:effectLst/>
            </p:spPr>
            <p:txBody>
              <a:bodyPr/>
              <a:lstStyle/>
              <a:p>
                <a:endParaRPr lang="zh-CN" altLang="en-US"/>
              </a:p>
            </p:txBody>
          </p:sp>
          <p:sp>
            <p:nvSpPr>
              <p:cNvPr id="78882" name="Line 33"/>
              <p:cNvSpPr>
                <a:spLocks noChangeShapeType="1"/>
              </p:cNvSpPr>
              <p:nvPr/>
            </p:nvSpPr>
            <p:spPr bwMode="auto">
              <a:xfrm flipH="1">
                <a:off x="1020" y="3566"/>
                <a:ext cx="136" cy="227"/>
              </a:xfrm>
              <a:prstGeom prst="line">
                <a:avLst/>
              </a:prstGeom>
              <a:noFill/>
              <a:ln w="9525">
                <a:solidFill>
                  <a:schemeClr val="tx1"/>
                </a:solidFill>
                <a:round/>
                <a:headEnd/>
                <a:tailEnd/>
              </a:ln>
              <a:effectLst/>
            </p:spPr>
            <p:txBody>
              <a:bodyPr/>
              <a:lstStyle/>
              <a:p>
                <a:endParaRPr lang="zh-CN" altLang="en-US"/>
              </a:p>
            </p:txBody>
          </p:sp>
          <p:sp>
            <p:nvSpPr>
              <p:cNvPr id="78883" name="Line 34"/>
              <p:cNvSpPr>
                <a:spLocks noChangeShapeType="1"/>
              </p:cNvSpPr>
              <p:nvPr/>
            </p:nvSpPr>
            <p:spPr bwMode="auto">
              <a:xfrm flipH="1">
                <a:off x="1111" y="3657"/>
                <a:ext cx="45" cy="91"/>
              </a:xfrm>
              <a:prstGeom prst="line">
                <a:avLst/>
              </a:prstGeom>
              <a:noFill/>
              <a:ln w="9525">
                <a:solidFill>
                  <a:schemeClr val="tx1"/>
                </a:solidFill>
                <a:round/>
                <a:headEnd/>
                <a:tailEnd/>
              </a:ln>
              <a:effectLst/>
            </p:spPr>
            <p:txBody>
              <a:bodyPr/>
              <a:lstStyle/>
              <a:p>
                <a:endParaRPr lang="zh-CN" altLang="en-US"/>
              </a:p>
            </p:txBody>
          </p:sp>
        </p:grpSp>
      </p:grpSp>
      <p:sp>
        <p:nvSpPr>
          <p:cNvPr id="244771" name="AutoShape 35"/>
          <p:cNvSpPr>
            <a:spLocks noChangeArrowheads="1"/>
          </p:cNvSpPr>
          <p:nvPr/>
        </p:nvSpPr>
        <p:spPr bwMode="auto">
          <a:xfrm>
            <a:off x="6227763" y="4005263"/>
            <a:ext cx="865187" cy="360362"/>
          </a:xfrm>
          <a:prstGeom prst="rightArrow">
            <a:avLst>
              <a:gd name="adj1" fmla="val 50000"/>
              <a:gd name="adj2" fmla="val 60022"/>
            </a:avLst>
          </a:prstGeom>
          <a:solidFill>
            <a:srgbClr val="00FFFF"/>
          </a:solidFill>
          <a:ln w="9525">
            <a:solidFill>
              <a:schemeClr val="tx1"/>
            </a:solidFill>
            <a:miter lim="800000"/>
            <a:headEnd/>
            <a:tailEnd/>
          </a:ln>
          <a:effectLst/>
        </p:spPr>
        <p:txBody>
          <a:bodyPr wrap="none" anchor="ctr"/>
          <a:lstStyle/>
          <a:p>
            <a:endParaRPr lang="zh-CN" altLang="en-US"/>
          </a:p>
        </p:txBody>
      </p:sp>
      <p:sp>
        <p:nvSpPr>
          <p:cNvPr id="244772" name="Text Box 36"/>
          <p:cNvSpPr txBox="1">
            <a:spLocks noChangeArrowheads="1"/>
          </p:cNvSpPr>
          <p:nvPr/>
        </p:nvSpPr>
        <p:spPr bwMode="auto">
          <a:xfrm>
            <a:off x="323850" y="2852738"/>
            <a:ext cx="1657350" cy="396875"/>
          </a:xfrm>
          <a:prstGeom prst="rect">
            <a:avLst/>
          </a:prstGeom>
          <a:noFill/>
          <a:ln w="9525">
            <a:noFill/>
            <a:miter lim="800000"/>
            <a:headEnd/>
            <a:tailEnd/>
          </a:ln>
          <a:effectLst/>
        </p:spPr>
        <p:txBody>
          <a:bodyPr>
            <a:spAutoFit/>
          </a:bodyPr>
          <a:lstStyle/>
          <a:p>
            <a:pPr>
              <a:spcBef>
                <a:spcPct val="50000"/>
              </a:spcBef>
            </a:pPr>
            <a:r>
              <a:rPr lang="zh-CN" altLang="en-US" sz="2000" b="1">
                <a:solidFill>
                  <a:srgbClr val="0000FF"/>
                </a:solidFill>
              </a:rPr>
              <a:t>全反射镜</a:t>
            </a:r>
            <a:r>
              <a:rPr lang="en-US" altLang="zh-CN" sz="2000" b="1" i="1">
                <a:solidFill>
                  <a:srgbClr val="0000FF"/>
                </a:solidFill>
              </a:rPr>
              <a:t>M</a:t>
            </a:r>
            <a:r>
              <a:rPr lang="en-US" altLang="zh-CN" sz="2000" b="1" baseline="-25000">
                <a:solidFill>
                  <a:srgbClr val="0000FF"/>
                </a:solidFill>
              </a:rPr>
              <a:t>1</a:t>
            </a:r>
          </a:p>
        </p:txBody>
      </p:sp>
      <p:sp>
        <p:nvSpPr>
          <p:cNvPr id="244773" name="Text Box 37"/>
          <p:cNvSpPr txBox="1">
            <a:spLocks noChangeArrowheads="1"/>
          </p:cNvSpPr>
          <p:nvPr/>
        </p:nvSpPr>
        <p:spPr bwMode="auto">
          <a:xfrm>
            <a:off x="4859338" y="2924175"/>
            <a:ext cx="1871662" cy="396875"/>
          </a:xfrm>
          <a:prstGeom prst="rect">
            <a:avLst/>
          </a:prstGeom>
          <a:noFill/>
          <a:ln w="9525">
            <a:noFill/>
            <a:miter lim="800000"/>
            <a:headEnd/>
            <a:tailEnd/>
          </a:ln>
          <a:effectLst/>
        </p:spPr>
        <p:txBody>
          <a:bodyPr>
            <a:spAutoFit/>
          </a:bodyPr>
          <a:lstStyle/>
          <a:p>
            <a:pPr>
              <a:spcBef>
                <a:spcPct val="50000"/>
              </a:spcBef>
            </a:pPr>
            <a:r>
              <a:rPr lang="zh-CN" altLang="en-US" sz="2000" b="1">
                <a:solidFill>
                  <a:srgbClr val="0000FF"/>
                </a:solidFill>
              </a:rPr>
              <a:t>部分反射镜</a:t>
            </a:r>
            <a:r>
              <a:rPr lang="en-US" altLang="zh-CN" sz="2000" b="1" i="1">
                <a:solidFill>
                  <a:srgbClr val="0000FF"/>
                </a:solidFill>
              </a:rPr>
              <a:t>M</a:t>
            </a:r>
            <a:r>
              <a:rPr lang="en-US" altLang="zh-CN" sz="2000" b="1" baseline="-25000">
                <a:solidFill>
                  <a:srgbClr val="0000FF"/>
                </a:solidFill>
              </a:rPr>
              <a:t>2</a:t>
            </a:r>
          </a:p>
        </p:txBody>
      </p:sp>
      <p:sp>
        <p:nvSpPr>
          <p:cNvPr id="244774" name="Freeform 38"/>
          <p:cNvSpPr>
            <a:spLocks/>
          </p:cNvSpPr>
          <p:nvPr/>
        </p:nvSpPr>
        <p:spPr bwMode="auto">
          <a:xfrm>
            <a:off x="2843213" y="3789363"/>
            <a:ext cx="1008062" cy="287337"/>
          </a:xfrm>
          <a:custGeom>
            <a:avLst/>
            <a:gdLst>
              <a:gd name="T0" fmla="*/ 0 w 865"/>
              <a:gd name="T1" fmla="*/ 388629618 h 159"/>
              <a:gd name="T2" fmla="*/ 180631891 w 865"/>
              <a:gd name="T3" fmla="*/ 9796565 h 159"/>
              <a:gd name="T4" fmla="*/ 359904938 w 865"/>
              <a:gd name="T5" fmla="*/ 440881580 h 159"/>
              <a:gd name="T6" fmla="*/ 588071905 w 865"/>
              <a:gd name="T7" fmla="*/ 9796565 h 159"/>
              <a:gd name="T8" fmla="*/ 767344952 w 865"/>
              <a:gd name="T9" fmla="*/ 480071455 h 159"/>
              <a:gd name="T10" fmla="*/ 946619164 w 865"/>
              <a:gd name="T11" fmla="*/ 244934010 h 159"/>
              <a:gd name="T12" fmla="*/ 1174784966 w 865"/>
              <a:gd name="T13" fmla="*/ 205745942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44775" name="Freeform 39"/>
          <p:cNvSpPr>
            <a:spLocks/>
          </p:cNvSpPr>
          <p:nvPr/>
        </p:nvSpPr>
        <p:spPr bwMode="auto">
          <a:xfrm>
            <a:off x="2916238" y="4437063"/>
            <a:ext cx="935037" cy="287337"/>
          </a:xfrm>
          <a:custGeom>
            <a:avLst/>
            <a:gdLst>
              <a:gd name="T0" fmla="*/ 0 w 865"/>
              <a:gd name="T1" fmla="*/ 388629618 h 159"/>
              <a:gd name="T2" fmla="*/ 155409635 w 865"/>
              <a:gd name="T3" fmla="*/ 9796565 h 159"/>
              <a:gd name="T4" fmla="*/ 309649663 w 865"/>
              <a:gd name="T5" fmla="*/ 440881580 h 159"/>
              <a:gd name="T6" fmla="*/ 505956628 w 865"/>
              <a:gd name="T7" fmla="*/ 9796565 h 159"/>
              <a:gd name="T8" fmla="*/ 660197737 w 865"/>
              <a:gd name="T9" fmla="*/ 480071455 h 159"/>
              <a:gd name="T10" fmla="*/ 814437765 w 865"/>
              <a:gd name="T11" fmla="*/ 244934010 h 159"/>
              <a:gd name="T12" fmla="*/ 1010744730 w 865"/>
              <a:gd name="T13" fmla="*/ 205745942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44776" name="Freeform 40"/>
          <p:cNvSpPr>
            <a:spLocks/>
          </p:cNvSpPr>
          <p:nvPr/>
        </p:nvSpPr>
        <p:spPr bwMode="auto">
          <a:xfrm>
            <a:off x="1763713" y="4076700"/>
            <a:ext cx="1008062" cy="288925"/>
          </a:xfrm>
          <a:custGeom>
            <a:avLst/>
            <a:gdLst>
              <a:gd name="T0" fmla="*/ 0 w 865"/>
              <a:gd name="T1" fmla="*/ 392936183 h 159"/>
              <a:gd name="T2" fmla="*/ 180631891 w 865"/>
              <a:gd name="T3" fmla="*/ 9905221 h 159"/>
              <a:gd name="T4" fmla="*/ 359904938 w 865"/>
              <a:gd name="T5" fmla="*/ 445769481 h 159"/>
              <a:gd name="T6" fmla="*/ 588071905 w 865"/>
              <a:gd name="T7" fmla="*/ 9905221 h 159"/>
              <a:gd name="T8" fmla="*/ 767344952 w 865"/>
              <a:gd name="T9" fmla="*/ 485392183 h 159"/>
              <a:gd name="T10" fmla="*/ 946619164 w 865"/>
              <a:gd name="T11" fmla="*/ 247648702 h 159"/>
              <a:gd name="T12" fmla="*/ 1174784966 w 865"/>
              <a:gd name="T13" fmla="*/ 208026000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44777" name="Freeform 41"/>
          <p:cNvSpPr>
            <a:spLocks/>
          </p:cNvSpPr>
          <p:nvPr/>
        </p:nvSpPr>
        <p:spPr bwMode="auto">
          <a:xfrm>
            <a:off x="4067175" y="3573463"/>
            <a:ext cx="1008063" cy="288925"/>
          </a:xfrm>
          <a:custGeom>
            <a:avLst/>
            <a:gdLst>
              <a:gd name="T0" fmla="*/ 0 w 865"/>
              <a:gd name="T1" fmla="*/ 392936183 h 159"/>
              <a:gd name="T2" fmla="*/ 180632070 w 865"/>
              <a:gd name="T3" fmla="*/ 9905221 h 159"/>
              <a:gd name="T4" fmla="*/ 359906460 w 865"/>
              <a:gd name="T5" fmla="*/ 445769481 h 159"/>
              <a:gd name="T6" fmla="*/ 588072489 w 865"/>
              <a:gd name="T7" fmla="*/ 9905221 h 159"/>
              <a:gd name="T8" fmla="*/ 767346879 w 865"/>
              <a:gd name="T9" fmla="*/ 485392183 h 159"/>
              <a:gd name="T10" fmla="*/ 946620103 w 865"/>
              <a:gd name="T11" fmla="*/ 247648702 h 159"/>
              <a:gd name="T12" fmla="*/ 1174787297 w 865"/>
              <a:gd name="T13" fmla="*/ 208026000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44778" name="Freeform 42"/>
          <p:cNvSpPr>
            <a:spLocks/>
          </p:cNvSpPr>
          <p:nvPr/>
        </p:nvSpPr>
        <p:spPr bwMode="auto">
          <a:xfrm>
            <a:off x="3995738" y="4076700"/>
            <a:ext cx="1008062" cy="288925"/>
          </a:xfrm>
          <a:custGeom>
            <a:avLst/>
            <a:gdLst>
              <a:gd name="T0" fmla="*/ 0 w 865"/>
              <a:gd name="T1" fmla="*/ 392936183 h 159"/>
              <a:gd name="T2" fmla="*/ 180631891 w 865"/>
              <a:gd name="T3" fmla="*/ 9905221 h 159"/>
              <a:gd name="T4" fmla="*/ 359904938 w 865"/>
              <a:gd name="T5" fmla="*/ 445769481 h 159"/>
              <a:gd name="T6" fmla="*/ 588071905 w 865"/>
              <a:gd name="T7" fmla="*/ 9905221 h 159"/>
              <a:gd name="T8" fmla="*/ 767344952 w 865"/>
              <a:gd name="T9" fmla="*/ 485392183 h 159"/>
              <a:gd name="T10" fmla="*/ 946619164 w 865"/>
              <a:gd name="T11" fmla="*/ 247648702 h 159"/>
              <a:gd name="T12" fmla="*/ 1174784966 w 865"/>
              <a:gd name="T13" fmla="*/ 208026000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44779" name="Freeform 43"/>
          <p:cNvSpPr>
            <a:spLocks/>
          </p:cNvSpPr>
          <p:nvPr/>
        </p:nvSpPr>
        <p:spPr bwMode="auto">
          <a:xfrm>
            <a:off x="3995738" y="4508500"/>
            <a:ext cx="1008062" cy="288925"/>
          </a:xfrm>
          <a:custGeom>
            <a:avLst/>
            <a:gdLst>
              <a:gd name="T0" fmla="*/ 0 w 865"/>
              <a:gd name="T1" fmla="*/ 392936183 h 159"/>
              <a:gd name="T2" fmla="*/ 180631891 w 865"/>
              <a:gd name="T3" fmla="*/ 9905221 h 159"/>
              <a:gd name="T4" fmla="*/ 359904938 w 865"/>
              <a:gd name="T5" fmla="*/ 445769481 h 159"/>
              <a:gd name="T6" fmla="*/ 588071905 w 865"/>
              <a:gd name="T7" fmla="*/ 9905221 h 159"/>
              <a:gd name="T8" fmla="*/ 767344952 w 865"/>
              <a:gd name="T9" fmla="*/ 485392183 h 159"/>
              <a:gd name="T10" fmla="*/ 946619164 w 865"/>
              <a:gd name="T11" fmla="*/ 247648702 h 159"/>
              <a:gd name="T12" fmla="*/ 1174784966 w 865"/>
              <a:gd name="T13" fmla="*/ 208026000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44780" name="Freeform 44"/>
          <p:cNvSpPr>
            <a:spLocks/>
          </p:cNvSpPr>
          <p:nvPr/>
        </p:nvSpPr>
        <p:spPr bwMode="auto">
          <a:xfrm rot="5152842">
            <a:off x="1764506" y="4868069"/>
            <a:ext cx="1008063" cy="288925"/>
          </a:xfrm>
          <a:custGeom>
            <a:avLst/>
            <a:gdLst>
              <a:gd name="T0" fmla="*/ 0 w 865"/>
              <a:gd name="T1" fmla="*/ 392936183 h 159"/>
              <a:gd name="T2" fmla="*/ 180632070 w 865"/>
              <a:gd name="T3" fmla="*/ 9905221 h 159"/>
              <a:gd name="T4" fmla="*/ 359906460 w 865"/>
              <a:gd name="T5" fmla="*/ 445769481 h 159"/>
              <a:gd name="T6" fmla="*/ 588072489 w 865"/>
              <a:gd name="T7" fmla="*/ 9905221 h 159"/>
              <a:gd name="T8" fmla="*/ 767346879 w 865"/>
              <a:gd name="T9" fmla="*/ 485392183 h 159"/>
              <a:gd name="T10" fmla="*/ 946620103 w 865"/>
              <a:gd name="T11" fmla="*/ 247648702 h 159"/>
              <a:gd name="T12" fmla="*/ 1174787297 w 865"/>
              <a:gd name="T13" fmla="*/ 208026000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44781" name="Freeform 45"/>
          <p:cNvSpPr>
            <a:spLocks/>
          </p:cNvSpPr>
          <p:nvPr/>
        </p:nvSpPr>
        <p:spPr bwMode="auto">
          <a:xfrm rot="3155573">
            <a:off x="3347244" y="5156994"/>
            <a:ext cx="1008063" cy="288925"/>
          </a:xfrm>
          <a:custGeom>
            <a:avLst/>
            <a:gdLst>
              <a:gd name="T0" fmla="*/ 0 w 865"/>
              <a:gd name="T1" fmla="*/ 392936183 h 159"/>
              <a:gd name="T2" fmla="*/ 180632070 w 865"/>
              <a:gd name="T3" fmla="*/ 9905221 h 159"/>
              <a:gd name="T4" fmla="*/ 359906460 w 865"/>
              <a:gd name="T5" fmla="*/ 445769481 h 159"/>
              <a:gd name="T6" fmla="*/ 588072489 w 865"/>
              <a:gd name="T7" fmla="*/ 9905221 h 159"/>
              <a:gd name="T8" fmla="*/ 767346879 w 865"/>
              <a:gd name="T9" fmla="*/ 485392183 h 159"/>
              <a:gd name="T10" fmla="*/ 946620103 w 865"/>
              <a:gd name="T11" fmla="*/ 247648702 h 159"/>
              <a:gd name="T12" fmla="*/ 1174787297 w 865"/>
              <a:gd name="T13" fmla="*/ 208026000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44782" name="Freeform 46"/>
          <p:cNvSpPr>
            <a:spLocks/>
          </p:cNvSpPr>
          <p:nvPr/>
        </p:nvSpPr>
        <p:spPr bwMode="auto">
          <a:xfrm rot="-4291812">
            <a:off x="3418681" y="3140869"/>
            <a:ext cx="1008063" cy="288925"/>
          </a:xfrm>
          <a:custGeom>
            <a:avLst/>
            <a:gdLst>
              <a:gd name="T0" fmla="*/ 0 w 865"/>
              <a:gd name="T1" fmla="*/ 392936183 h 159"/>
              <a:gd name="T2" fmla="*/ 180632070 w 865"/>
              <a:gd name="T3" fmla="*/ 9905221 h 159"/>
              <a:gd name="T4" fmla="*/ 359906460 w 865"/>
              <a:gd name="T5" fmla="*/ 445769481 h 159"/>
              <a:gd name="T6" fmla="*/ 588072489 w 865"/>
              <a:gd name="T7" fmla="*/ 9905221 h 159"/>
              <a:gd name="T8" fmla="*/ 767346879 w 865"/>
              <a:gd name="T9" fmla="*/ 485392183 h 159"/>
              <a:gd name="T10" fmla="*/ 946620103 w 865"/>
              <a:gd name="T11" fmla="*/ 247648702 h 159"/>
              <a:gd name="T12" fmla="*/ 1174787297 w 865"/>
              <a:gd name="T13" fmla="*/ 208026000 h 1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5" h="159">
                <a:moveTo>
                  <a:pt x="0" y="119"/>
                </a:moveTo>
                <a:cubicBezTo>
                  <a:pt x="22" y="100"/>
                  <a:pt x="89" y="0"/>
                  <a:pt x="133" y="3"/>
                </a:cubicBezTo>
                <a:cubicBezTo>
                  <a:pt x="177" y="6"/>
                  <a:pt x="215" y="135"/>
                  <a:pt x="265" y="135"/>
                </a:cubicBezTo>
                <a:cubicBezTo>
                  <a:pt x="315" y="135"/>
                  <a:pt x="383" y="1"/>
                  <a:pt x="433" y="3"/>
                </a:cubicBezTo>
                <a:cubicBezTo>
                  <a:pt x="483" y="5"/>
                  <a:pt x="521" y="135"/>
                  <a:pt x="565" y="147"/>
                </a:cubicBezTo>
                <a:cubicBezTo>
                  <a:pt x="609" y="159"/>
                  <a:pt x="647" y="89"/>
                  <a:pt x="697" y="75"/>
                </a:cubicBezTo>
                <a:cubicBezTo>
                  <a:pt x="747" y="61"/>
                  <a:pt x="830" y="65"/>
                  <a:pt x="865" y="63"/>
                </a:cubicBezTo>
              </a:path>
            </a:pathLst>
          </a:custGeom>
          <a:noFill/>
          <a:ln w="28575" cap="flat" cmpd="sng">
            <a:solidFill>
              <a:srgbClr val="FF3300"/>
            </a:solidFill>
            <a:prstDash val="solid"/>
            <a:round/>
            <a:headEnd type="none" w="med" len="med"/>
            <a:tailEnd type="triangle" w="med" len="med"/>
          </a:ln>
          <a:effectLst/>
        </p:spPr>
        <p:txBody>
          <a:bodyPr wrap="none" anchor="ctr"/>
          <a:lstStyle/>
          <a:p>
            <a:endParaRPr lang="zh-CN" altLang="en-US"/>
          </a:p>
        </p:txBody>
      </p:sp>
      <p:sp>
        <p:nvSpPr>
          <p:cNvPr id="244783" name="Text Box 47"/>
          <p:cNvSpPr txBox="1">
            <a:spLocks noChangeArrowheads="1"/>
          </p:cNvSpPr>
          <p:nvPr/>
        </p:nvSpPr>
        <p:spPr bwMode="auto">
          <a:xfrm>
            <a:off x="6227763" y="3500438"/>
            <a:ext cx="1008062" cy="396875"/>
          </a:xfrm>
          <a:prstGeom prst="rect">
            <a:avLst/>
          </a:prstGeom>
          <a:noFill/>
          <a:ln w="9525">
            <a:noFill/>
            <a:miter lim="800000"/>
            <a:headEnd/>
            <a:tailEnd/>
          </a:ln>
          <a:effectLst/>
        </p:spPr>
        <p:txBody>
          <a:bodyPr>
            <a:spAutoFit/>
          </a:bodyPr>
          <a:lstStyle/>
          <a:p>
            <a:pPr>
              <a:spcBef>
                <a:spcPct val="50000"/>
              </a:spcBef>
            </a:pPr>
            <a:r>
              <a:rPr lang="zh-CN" altLang="en-US" sz="2000" b="1">
                <a:solidFill>
                  <a:schemeClr val="tx2"/>
                </a:solidFill>
              </a:rPr>
              <a:t>激光</a:t>
            </a:r>
          </a:p>
        </p:txBody>
      </p:sp>
      <p:sp>
        <p:nvSpPr>
          <p:cNvPr id="244784" name="Text Box 48"/>
          <p:cNvSpPr txBox="1">
            <a:spLocks noChangeArrowheads="1"/>
          </p:cNvSpPr>
          <p:nvPr/>
        </p:nvSpPr>
        <p:spPr bwMode="auto">
          <a:xfrm>
            <a:off x="1476375" y="3429000"/>
            <a:ext cx="1295400" cy="396875"/>
          </a:xfrm>
          <a:prstGeom prst="rect">
            <a:avLst/>
          </a:prstGeom>
          <a:noFill/>
          <a:ln w="9525">
            <a:noFill/>
            <a:miter lim="800000"/>
            <a:headEnd/>
            <a:tailEnd/>
          </a:ln>
          <a:effectLst/>
        </p:spPr>
        <p:txBody>
          <a:bodyPr>
            <a:spAutoFit/>
          </a:bodyPr>
          <a:lstStyle/>
          <a:p>
            <a:pPr>
              <a:spcBef>
                <a:spcPct val="50000"/>
              </a:spcBef>
            </a:pPr>
            <a:r>
              <a:rPr lang="zh-CN" altLang="en-US" sz="2000" b="1">
                <a:solidFill>
                  <a:srgbClr val="0000FF"/>
                </a:solidFill>
              </a:rPr>
              <a:t>工作物质</a:t>
            </a:r>
          </a:p>
        </p:txBody>
      </p:sp>
      <p:sp>
        <p:nvSpPr>
          <p:cNvPr id="244785" name="Text Box 49"/>
          <p:cNvSpPr txBox="1">
            <a:spLocks noChangeArrowheads="1"/>
          </p:cNvSpPr>
          <p:nvPr/>
        </p:nvSpPr>
        <p:spPr bwMode="auto">
          <a:xfrm>
            <a:off x="7742238" y="2492375"/>
            <a:ext cx="1150937" cy="457200"/>
          </a:xfrm>
          <a:prstGeom prst="rect">
            <a:avLst/>
          </a:prstGeom>
          <a:noFill/>
          <a:ln w="9525">
            <a:noFill/>
            <a:miter lim="800000"/>
            <a:headEnd/>
            <a:tailEnd/>
          </a:ln>
          <a:effectLst/>
        </p:spPr>
        <p:txBody>
          <a:bodyPr>
            <a:spAutoFit/>
          </a:bodyPr>
          <a:lstStyle/>
          <a:p>
            <a:pPr>
              <a:spcBef>
                <a:spcPct val="50000"/>
              </a:spcBef>
            </a:pPr>
            <a:r>
              <a:rPr lang="zh-CN" altLang="en-US" b="1">
                <a:solidFill>
                  <a:srgbClr val="FF3300"/>
                </a:solidFill>
              </a:rPr>
              <a:t>作用</a:t>
            </a:r>
          </a:p>
        </p:txBody>
      </p:sp>
      <p:sp>
        <p:nvSpPr>
          <p:cNvPr id="244786" name="AutoShape 50"/>
          <p:cNvSpPr>
            <a:spLocks/>
          </p:cNvSpPr>
          <p:nvPr/>
        </p:nvSpPr>
        <p:spPr bwMode="auto">
          <a:xfrm rot="5400000">
            <a:off x="7938294" y="2726531"/>
            <a:ext cx="395288" cy="936625"/>
          </a:xfrm>
          <a:prstGeom prst="leftBrace">
            <a:avLst>
              <a:gd name="adj1" fmla="val 19746"/>
              <a:gd name="adj2" fmla="val 50000"/>
            </a:avLst>
          </a:prstGeom>
          <a:noFill/>
          <a:ln w="9525">
            <a:solidFill>
              <a:srgbClr val="0000FF"/>
            </a:solidFill>
            <a:round/>
            <a:headEnd/>
            <a:tailEnd/>
          </a:ln>
          <a:effectLst/>
        </p:spPr>
        <p:txBody>
          <a:bodyPr wrap="none" anchor="ctr"/>
          <a:lstStyle/>
          <a:p>
            <a:endParaRPr lang="zh-CN" altLang="en-US"/>
          </a:p>
        </p:txBody>
      </p:sp>
      <p:sp>
        <p:nvSpPr>
          <p:cNvPr id="244787" name="Text Box 51"/>
          <p:cNvSpPr txBox="1">
            <a:spLocks noChangeArrowheads="1"/>
          </p:cNvSpPr>
          <p:nvPr/>
        </p:nvSpPr>
        <p:spPr bwMode="auto">
          <a:xfrm>
            <a:off x="7467600" y="3500438"/>
            <a:ext cx="488950" cy="2305050"/>
          </a:xfrm>
          <a:prstGeom prst="rect">
            <a:avLst/>
          </a:prstGeom>
          <a:noFill/>
          <a:ln w="9525">
            <a:noFill/>
            <a:miter lim="800000"/>
            <a:headEnd/>
            <a:tailEnd/>
          </a:ln>
          <a:effectLst/>
        </p:spPr>
        <p:txBody>
          <a:bodyPr vert="eaVert">
            <a:spAutoFit/>
          </a:bodyPr>
          <a:lstStyle/>
          <a:p>
            <a:pPr>
              <a:spcBef>
                <a:spcPct val="50000"/>
              </a:spcBef>
            </a:pPr>
            <a:r>
              <a:rPr lang="zh-CN" altLang="en-US" sz="2000" b="1">
                <a:solidFill>
                  <a:srgbClr val="0000FF"/>
                </a:solidFill>
              </a:rPr>
              <a:t>选择激光的方向</a:t>
            </a:r>
          </a:p>
        </p:txBody>
      </p:sp>
      <p:sp>
        <p:nvSpPr>
          <p:cNvPr id="244788" name="Text Box 52"/>
          <p:cNvSpPr txBox="1">
            <a:spLocks noChangeArrowheads="1"/>
          </p:cNvSpPr>
          <p:nvPr/>
        </p:nvSpPr>
        <p:spPr bwMode="auto">
          <a:xfrm>
            <a:off x="8404225" y="3500438"/>
            <a:ext cx="488950" cy="1944687"/>
          </a:xfrm>
          <a:prstGeom prst="rect">
            <a:avLst/>
          </a:prstGeom>
          <a:noFill/>
          <a:ln w="9525">
            <a:noFill/>
            <a:miter lim="800000"/>
            <a:headEnd/>
            <a:tailEnd/>
          </a:ln>
          <a:effectLst/>
        </p:spPr>
        <p:txBody>
          <a:bodyPr vert="eaVert">
            <a:spAutoFit/>
          </a:bodyPr>
          <a:lstStyle/>
          <a:p>
            <a:pPr>
              <a:spcBef>
                <a:spcPct val="50000"/>
              </a:spcBef>
            </a:pPr>
            <a:r>
              <a:rPr lang="zh-CN" altLang="en-US" sz="2000" b="1">
                <a:solidFill>
                  <a:srgbClr val="0000FF"/>
                </a:solidFill>
              </a:rPr>
              <a:t>选择激光的频率</a:t>
            </a:r>
          </a:p>
        </p:txBody>
      </p:sp>
      <p:sp>
        <p:nvSpPr>
          <p:cNvPr id="244789" name="Rectangle 53"/>
          <p:cNvSpPr>
            <a:spLocks noChangeArrowheads="1"/>
          </p:cNvSpPr>
          <p:nvPr/>
        </p:nvSpPr>
        <p:spPr bwMode="auto">
          <a:xfrm>
            <a:off x="1763713" y="5805488"/>
            <a:ext cx="2952750" cy="576262"/>
          </a:xfrm>
          <a:prstGeom prst="rect">
            <a:avLst/>
          </a:prstGeom>
          <a:solidFill>
            <a:srgbClr val="00FF00">
              <a:alpha val="47842"/>
            </a:srgbClr>
          </a:solidFill>
          <a:ln w="9525">
            <a:solidFill>
              <a:schemeClr val="tx1"/>
            </a:solidFill>
            <a:miter lim="800000"/>
            <a:headEnd/>
            <a:tailEnd/>
          </a:ln>
          <a:effectLst/>
        </p:spPr>
        <p:txBody>
          <a:bodyPr wrap="none" anchor="ctr"/>
          <a:lstStyle/>
          <a:p>
            <a:pPr algn="ctr"/>
            <a:r>
              <a:rPr lang="zh-CN" altLang="en-US" b="1">
                <a:solidFill>
                  <a:srgbClr val="0000FF"/>
                </a:solidFill>
                <a:ea typeface="楷体_GB2312" pitchFamily="49" charset="-122"/>
              </a:rPr>
              <a:t>激励能源</a:t>
            </a:r>
          </a:p>
        </p:txBody>
      </p:sp>
      <p:sp>
        <p:nvSpPr>
          <p:cNvPr id="244790" name="AutoShape 54"/>
          <p:cNvSpPr>
            <a:spLocks noChangeArrowheads="1"/>
          </p:cNvSpPr>
          <p:nvPr/>
        </p:nvSpPr>
        <p:spPr bwMode="auto">
          <a:xfrm>
            <a:off x="3059113" y="5084763"/>
            <a:ext cx="360362" cy="719137"/>
          </a:xfrm>
          <a:prstGeom prst="upArrow">
            <a:avLst>
              <a:gd name="adj1" fmla="val 50000"/>
              <a:gd name="adj2" fmla="val 49890"/>
            </a:avLst>
          </a:prstGeom>
          <a:solidFill>
            <a:srgbClr val="FF6600"/>
          </a:solidFill>
          <a:ln w="9525">
            <a:solidFill>
              <a:schemeClr val="tx1"/>
            </a:solidFill>
            <a:miter lim="800000"/>
            <a:headEnd/>
            <a:tailEnd/>
          </a:ln>
          <a:effectLst/>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44738"/>
                                        </p:tgtEl>
                                        <p:attrNameLst>
                                          <p:attrName>style.visibility</p:attrName>
                                        </p:attrNameLst>
                                      </p:cBhvr>
                                      <p:to>
                                        <p:strVal val="visible"/>
                                      </p:to>
                                    </p:set>
                                    <p:anim calcmode="lin" valueType="num">
                                      <p:cBhvr>
                                        <p:cTn id="7" dur="500" fill="hold"/>
                                        <p:tgtEl>
                                          <p:spTgt spid="244738"/>
                                        </p:tgtEl>
                                        <p:attrNameLst>
                                          <p:attrName>ppt_w</p:attrName>
                                        </p:attrNameLst>
                                      </p:cBhvr>
                                      <p:tavLst>
                                        <p:tav tm="0">
                                          <p:val>
                                            <p:strVal val="4*#ppt_w"/>
                                          </p:val>
                                        </p:tav>
                                        <p:tav tm="100000">
                                          <p:val>
                                            <p:strVal val="#ppt_w"/>
                                          </p:val>
                                        </p:tav>
                                      </p:tavLst>
                                    </p:anim>
                                    <p:anim calcmode="lin" valueType="num">
                                      <p:cBhvr>
                                        <p:cTn id="8" dur="500" fill="hold"/>
                                        <p:tgtEl>
                                          <p:spTgt spid="244738"/>
                                        </p:tgtEl>
                                        <p:attrNameLst>
                                          <p:attrName>ppt_h</p:attrName>
                                        </p:attrNameLst>
                                      </p:cBhvr>
                                      <p:tavLst>
                                        <p:tav tm="0">
                                          <p:val>
                                            <p:strVal val="4*#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44739"/>
                                        </p:tgtEl>
                                        <p:attrNameLst>
                                          <p:attrName>style.visibility</p:attrName>
                                        </p:attrNameLst>
                                      </p:cBhvr>
                                      <p:to>
                                        <p:strVal val="visible"/>
                                      </p:to>
                                    </p:set>
                                    <p:animEffect transition="in" filter="wipe(left)">
                                      <p:cBhvr>
                                        <p:cTn id="13" dur="1000"/>
                                        <p:tgtEl>
                                          <p:spTgt spid="24473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iterate type="lt">
                                    <p:tmPct val="10000"/>
                                  </p:iterate>
                                  <p:childTnLst>
                                    <p:set>
                                      <p:cBhvr>
                                        <p:cTn id="17" dur="1" fill="hold">
                                          <p:stCondLst>
                                            <p:cond delay="0"/>
                                          </p:stCondLst>
                                        </p:cTn>
                                        <p:tgtEl>
                                          <p:spTgt spid="244740"/>
                                        </p:tgtEl>
                                        <p:attrNameLst>
                                          <p:attrName>style.visibility</p:attrName>
                                        </p:attrNameLst>
                                      </p:cBhvr>
                                      <p:to>
                                        <p:strVal val="visible"/>
                                      </p:to>
                                    </p:set>
                                    <p:animEffect transition="in" filter="wipe(left)">
                                      <p:cBhvr>
                                        <p:cTn id="18" dur="1000"/>
                                        <p:tgtEl>
                                          <p:spTgt spid="24474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244741"/>
                                        </p:tgtEl>
                                        <p:attrNameLst>
                                          <p:attrName>style.visibility</p:attrName>
                                        </p:attrNameLst>
                                      </p:cBhvr>
                                      <p:to>
                                        <p:strVal val="visible"/>
                                      </p:to>
                                    </p:set>
                                    <p:animEffect transition="in" filter="wipe(left)">
                                      <p:cBhvr>
                                        <p:cTn id="23" dur="1000"/>
                                        <p:tgtEl>
                                          <p:spTgt spid="24474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44772"/>
                                        </p:tgtEl>
                                        <p:attrNameLst>
                                          <p:attrName>style.visibility</p:attrName>
                                        </p:attrNameLst>
                                      </p:cBhvr>
                                      <p:to>
                                        <p:strVal val="visible"/>
                                      </p:to>
                                    </p:set>
                                    <p:animEffect transition="in" filter="wipe(left)">
                                      <p:cBhvr>
                                        <p:cTn id="28" dur="1000"/>
                                        <p:tgtEl>
                                          <p:spTgt spid="24477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44755"/>
                                        </p:tgtEl>
                                        <p:attrNameLst>
                                          <p:attrName>style.visibility</p:attrName>
                                        </p:attrNameLst>
                                      </p:cBhvr>
                                      <p:to>
                                        <p:strVal val="visible"/>
                                      </p:to>
                                    </p:set>
                                    <p:animEffect transition="in" filter="wipe(left)">
                                      <p:cBhvr>
                                        <p:cTn id="33" dur="1000"/>
                                        <p:tgtEl>
                                          <p:spTgt spid="24475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44757"/>
                                        </p:tgtEl>
                                        <p:attrNameLst>
                                          <p:attrName>style.visibility</p:attrName>
                                        </p:attrNameLst>
                                      </p:cBhvr>
                                      <p:to>
                                        <p:strVal val="visible"/>
                                      </p:to>
                                    </p:set>
                                    <p:animEffect transition="in" filter="wipe(left)">
                                      <p:cBhvr>
                                        <p:cTn id="38" dur="1000"/>
                                        <p:tgtEl>
                                          <p:spTgt spid="24475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44773"/>
                                        </p:tgtEl>
                                        <p:attrNameLst>
                                          <p:attrName>style.visibility</p:attrName>
                                        </p:attrNameLst>
                                      </p:cBhvr>
                                      <p:to>
                                        <p:strVal val="visible"/>
                                      </p:to>
                                    </p:set>
                                    <p:animEffect transition="in" filter="wipe(left)">
                                      <p:cBhvr>
                                        <p:cTn id="43" dur="1000"/>
                                        <p:tgtEl>
                                          <p:spTgt spid="24477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44756"/>
                                        </p:tgtEl>
                                        <p:attrNameLst>
                                          <p:attrName>style.visibility</p:attrName>
                                        </p:attrNameLst>
                                      </p:cBhvr>
                                      <p:to>
                                        <p:strVal val="visible"/>
                                      </p:to>
                                    </p:set>
                                    <p:animEffect transition="in" filter="wipe(left)">
                                      <p:cBhvr>
                                        <p:cTn id="48" dur="1000"/>
                                        <p:tgtEl>
                                          <p:spTgt spid="24475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44784"/>
                                        </p:tgtEl>
                                        <p:attrNameLst>
                                          <p:attrName>style.visibility</p:attrName>
                                        </p:attrNameLst>
                                      </p:cBhvr>
                                      <p:to>
                                        <p:strVal val="visible"/>
                                      </p:to>
                                    </p:set>
                                    <p:animEffect transition="in" filter="wipe(left)">
                                      <p:cBhvr>
                                        <p:cTn id="53" dur="1000"/>
                                        <p:tgtEl>
                                          <p:spTgt spid="24478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244789"/>
                                        </p:tgtEl>
                                        <p:attrNameLst>
                                          <p:attrName>style.visibility</p:attrName>
                                        </p:attrNameLst>
                                      </p:cBhvr>
                                      <p:to>
                                        <p:strVal val="visible"/>
                                      </p:to>
                                    </p:set>
                                    <p:anim calcmode="lin" valueType="num">
                                      <p:cBhvr additive="base">
                                        <p:cTn id="58" dur="500" fill="hold"/>
                                        <p:tgtEl>
                                          <p:spTgt spid="244789"/>
                                        </p:tgtEl>
                                        <p:attrNameLst>
                                          <p:attrName>ppt_x</p:attrName>
                                        </p:attrNameLst>
                                      </p:cBhvr>
                                      <p:tavLst>
                                        <p:tav tm="0">
                                          <p:val>
                                            <p:strVal val="#ppt_x"/>
                                          </p:val>
                                        </p:tav>
                                        <p:tav tm="100000">
                                          <p:val>
                                            <p:strVal val="#ppt_x"/>
                                          </p:val>
                                        </p:tav>
                                      </p:tavLst>
                                    </p:anim>
                                    <p:anim calcmode="lin" valueType="num">
                                      <p:cBhvr additive="base">
                                        <p:cTn id="59" dur="500" fill="hold"/>
                                        <p:tgtEl>
                                          <p:spTgt spid="244789"/>
                                        </p:tgtEl>
                                        <p:attrNameLst>
                                          <p:attrName>ppt_y</p:attrName>
                                        </p:attrNameLst>
                                      </p:cBhvr>
                                      <p:tavLst>
                                        <p:tav tm="0">
                                          <p:val>
                                            <p:strVal val="1+#ppt_h/2"/>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2" presetClass="entr" presetSubtype="4" fill="hold" grpId="0" nodeType="clickEffect">
                                  <p:stCondLst>
                                    <p:cond delay="0"/>
                                  </p:stCondLst>
                                  <p:childTnLst>
                                    <p:set>
                                      <p:cBhvr>
                                        <p:cTn id="63" dur="1" fill="hold">
                                          <p:stCondLst>
                                            <p:cond delay="0"/>
                                          </p:stCondLst>
                                        </p:cTn>
                                        <p:tgtEl>
                                          <p:spTgt spid="244790"/>
                                        </p:tgtEl>
                                        <p:attrNameLst>
                                          <p:attrName>style.visibility</p:attrName>
                                        </p:attrNameLst>
                                      </p:cBhvr>
                                      <p:to>
                                        <p:strVal val="visible"/>
                                      </p:to>
                                    </p:set>
                                    <p:animEffect transition="in" filter="slide(fromBottom)">
                                      <p:cBhvr>
                                        <p:cTn id="64" dur="500"/>
                                        <p:tgtEl>
                                          <p:spTgt spid="244790"/>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244776"/>
                                        </p:tgtEl>
                                        <p:attrNameLst>
                                          <p:attrName>style.visibility</p:attrName>
                                        </p:attrNameLst>
                                      </p:cBhvr>
                                      <p:to>
                                        <p:strVal val="visible"/>
                                      </p:to>
                                    </p:set>
                                    <p:animEffect transition="in" filter="wipe(left)">
                                      <p:cBhvr>
                                        <p:cTn id="69" dur="500"/>
                                        <p:tgtEl>
                                          <p:spTgt spid="244776"/>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44774"/>
                                        </p:tgtEl>
                                        <p:attrNameLst>
                                          <p:attrName>style.visibility</p:attrName>
                                        </p:attrNameLst>
                                      </p:cBhvr>
                                      <p:to>
                                        <p:strVal val="visible"/>
                                      </p:to>
                                    </p:set>
                                    <p:animEffect transition="in" filter="wipe(left)">
                                      <p:cBhvr>
                                        <p:cTn id="74" dur="500"/>
                                        <p:tgtEl>
                                          <p:spTgt spid="244774"/>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244775"/>
                                        </p:tgtEl>
                                        <p:attrNameLst>
                                          <p:attrName>style.visibility</p:attrName>
                                        </p:attrNameLst>
                                      </p:cBhvr>
                                      <p:to>
                                        <p:strVal val="visible"/>
                                      </p:to>
                                    </p:set>
                                    <p:animEffect transition="in" filter="wipe(left)">
                                      <p:cBhvr>
                                        <p:cTn id="77" dur="500"/>
                                        <p:tgtEl>
                                          <p:spTgt spid="24477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44780"/>
                                        </p:tgtEl>
                                        <p:attrNameLst>
                                          <p:attrName>style.visibility</p:attrName>
                                        </p:attrNameLst>
                                      </p:cBhvr>
                                      <p:to>
                                        <p:strVal val="visible"/>
                                      </p:to>
                                    </p:set>
                                    <p:animEffect transition="in" filter="wipe(left)">
                                      <p:cBhvr>
                                        <p:cTn id="82" dur="500"/>
                                        <p:tgtEl>
                                          <p:spTgt spid="244780"/>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44777"/>
                                        </p:tgtEl>
                                        <p:attrNameLst>
                                          <p:attrName>style.visibility</p:attrName>
                                        </p:attrNameLst>
                                      </p:cBhvr>
                                      <p:to>
                                        <p:strVal val="visible"/>
                                      </p:to>
                                    </p:set>
                                    <p:animEffect transition="in" filter="wipe(left)">
                                      <p:cBhvr>
                                        <p:cTn id="87" dur="500"/>
                                        <p:tgtEl>
                                          <p:spTgt spid="244777"/>
                                        </p:tgtEl>
                                      </p:cBhvr>
                                    </p:animEffect>
                                  </p:childTnLst>
                                </p:cTn>
                              </p:par>
                              <p:par>
                                <p:cTn id="88" presetID="22" presetClass="entr" presetSubtype="8" fill="hold" grpId="0" nodeType="withEffect">
                                  <p:stCondLst>
                                    <p:cond delay="0"/>
                                  </p:stCondLst>
                                  <p:childTnLst>
                                    <p:set>
                                      <p:cBhvr>
                                        <p:cTn id="89" dur="1" fill="hold">
                                          <p:stCondLst>
                                            <p:cond delay="0"/>
                                          </p:stCondLst>
                                        </p:cTn>
                                        <p:tgtEl>
                                          <p:spTgt spid="244778"/>
                                        </p:tgtEl>
                                        <p:attrNameLst>
                                          <p:attrName>style.visibility</p:attrName>
                                        </p:attrNameLst>
                                      </p:cBhvr>
                                      <p:to>
                                        <p:strVal val="visible"/>
                                      </p:to>
                                    </p:set>
                                    <p:animEffect transition="in" filter="wipe(left)">
                                      <p:cBhvr>
                                        <p:cTn id="90" dur="500"/>
                                        <p:tgtEl>
                                          <p:spTgt spid="244778"/>
                                        </p:tgtEl>
                                      </p:cBhvr>
                                    </p:animEffect>
                                  </p:childTnLst>
                                </p:cTn>
                              </p:par>
                              <p:par>
                                <p:cTn id="91" presetID="22" presetClass="entr" presetSubtype="8" fill="hold" grpId="0" nodeType="withEffect">
                                  <p:stCondLst>
                                    <p:cond delay="0"/>
                                  </p:stCondLst>
                                  <p:childTnLst>
                                    <p:set>
                                      <p:cBhvr>
                                        <p:cTn id="92" dur="1" fill="hold">
                                          <p:stCondLst>
                                            <p:cond delay="0"/>
                                          </p:stCondLst>
                                        </p:cTn>
                                        <p:tgtEl>
                                          <p:spTgt spid="244779"/>
                                        </p:tgtEl>
                                        <p:attrNameLst>
                                          <p:attrName>style.visibility</p:attrName>
                                        </p:attrNameLst>
                                      </p:cBhvr>
                                      <p:to>
                                        <p:strVal val="visible"/>
                                      </p:to>
                                    </p:set>
                                    <p:animEffect transition="in" filter="wipe(left)">
                                      <p:cBhvr>
                                        <p:cTn id="93" dur="500"/>
                                        <p:tgtEl>
                                          <p:spTgt spid="244779"/>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244781"/>
                                        </p:tgtEl>
                                        <p:attrNameLst>
                                          <p:attrName>style.visibility</p:attrName>
                                        </p:attrNameLst>
                                      </p:cBhvr>
                                      <p:to>
                                        <p:strVal val="visible"/>
                                      </p:to>
                                    </p:set>
                                    <p:animEffect transition="in" filter="wipe(left)">
                                      <p:cBhvr>
                                        <p:cTn id="98" dur="500"/>
                                        <p:tgtEl>
                                          <p:spTgt spid="244781"/>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44782"/>
                                        </p:tgtEl>
                                        <p:attrNameLst>
                                          <p:attrName>style.visibility</p:attrName>
                                        </p:attrNameLst>
                                      </p:cBhvr>
                                      <p:to>
                                        <p:strVal val="visible"/>
                                      </p:to>
                                    </p:set>
                                    <p:animEffect transition="in" filter="wipe(left)">
                                      <p:cBhvr>
                                        <p:cTn id="103" dur="500"/>
                                        <p:tgtEl>
                                          <p:spTgt spid="244782"/>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44771"/>
                                        </p:tgtEl>
                                        <p:attrNameLst>
                                          <p:attrName>style.visibility</p:attrName>
                                        </p:attrNameLst>
                                      </p:cBhvr>
                                      <p:to>
                                        <p:strVal val="visible"/>
                                      </p:to>
                                    </p:set>
                                    <p:animEffect transition="in" filter="wipe(left)">
                                      <p:cBhvr>
                                        <p:cTn id="108" dur="1000"/>
                                        <p:tgtEl>
                                          <p:spTgt spid="244771"/>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244783"/>
                                        </p:tgtEl>
                                        <p:attrNameLst>
                                          <p:attrName>style.visibility</p:attrName>
                                        </p:attrNameLst>
                                      </p:cBhvr>
                                      <p:to>
                                        <p:strVal val="visible"/>
                                      </p:to>
                                    </p:set>
                                    <p:animEffect transition="in" filter="wipe(left)">
                                      <p:cBhvr>
                                        <p:cTn id="113" dur="1000"/>
                                        <p:tgtEl>
                                          <p:spTgt spid="244783"/>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244785"/>
                                        </p:tgtEl>
                                        <p:attrNameLst>
                                          <p:attrName>style.visibility</p:attrName>
                                        </p:attrNameLst>
                                      </p:cBhvr>
                                      <p:to>
                                        <p:strVal val="visible"/>
                                      </p:to>
                                    </p:set>
                                    <p:animEffect transition="in" filter="wipe(left)">
                                      <p:cBhvr>
                                        <p:cTn id="118" dur="1000"/>
                                        <p:tgtEl>
                                          <p:spTgt spid="244785"/>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1" fill="hold" grpId="0" nodeType="clickEffect">
                                  <p:stCondLst>
                                    <p:cond delay="0"/>
                                  </p:stCondLst>
                                  <p:childTnLst>
                                    <p:set>
                                      <p:cBhvr>
                                        <p:cTn id="122" dur="1" fill="hold">
                                          <p:stCondLst>
                                            <p:cond delay="0"/>
                                          </p:stCondLst>
                                        </p:cTn>
                                        <p:tgtEl>
                                          <p:spTgt spid="244786"/>
                                        </p:tgtEl>
                                        <p:attrNameLst>
                                          <p:attrName>style.visibility</p:attrName>
                                        </p:attrNameLst>
                                      </p:cBhvr>
                                      <p:to>
                                        <p:strVal val="visible"/>
                                      </p:to>
                                    </p:set>
                                    <p:animEffect transition="in" filter="wipe(up)">
                                      <p:cBhvr>
                                        <p:cTn id="123" dur="1000"/>
                                        <p:tgtEl>
                                          <p:spTgt spid="244786"/>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1" fill="hold" grpId="0" nodeType="clickEffect">
                                  <p:stCondLst>
                                    <p:cond delay="0"/>
                                  </p:stCondLst>
                                  <p:childTnLst>
                                    <p:set>
                                      <p:cBhvr>
                                        <p:cTn id="127" dur="1" fill="hold">
                                          <p:stCondLst>
                                            <p:cond delay="0"/>
                                          </p:stCondLst>
                                        </p:cTn>
                                        <p:tgtEl>
                                          <p:spTgt spid="244787"/>
                                        </p:tgtEl>
                                        <p:attrNameLst>
                                          <p:attrName>style.visibility</p:attrName>
                                        </p:attrNameLst>
                                      </p:cBhvr>
                                      <p:to>
                                        <p:strVal val="visible"/>
                                      </p:to>
                                    </p:set>
                                    <p:animEffect transition="in" filter="wipe(up)">
                                      <p:cBhvr>
                                        <p:cTn id="128" dur="1000"/>
                                        <p:tgtEl>
                                          <p:spTgt spid="244787"/>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1" fill="hold" grpId="0" nodeType="clickEffect">
                                  <p:stCondLst>
                                    <p:cond delay="0"/>
                                  </p:stCondLst>
                                  <p:childTnLst>
                                    <p:set>
                                      <p:cBhvr>
                                        <p:cTn id="132" dur="1" fill="hold">
                                          <p:stCondLst>
                                            <p:cond delay="0"/>
                                          </p:stCondLst>
                                        </p:cTn>
                                        <p:tgtEl>
                                          <p:spTgt spid="244788"/>
                                        </p:tgtEl>
                                        <p:attrNameLst>
                                          <p:attrName>style.visibility</p:attrName>
                                        </p:attrNameLst>
                                      </p:cBhvr>
                                      <p:to>
                                        <p:strVal val="visible"/>
                                      </p:to>
                                    </p:set>
                                    <p:animEffect transition="in" filter="wipe(up)">
                                      <p:cBhvr>
                                        <p:cTn id="133" dur="1000"/>
                                        <p:tgtEl>
                                          <p:spTgt spid="244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8" grpId="0" animBg="1"/>
      <p:bldP spid="244739" grpId="0"/>
      <p:bldP spid="244740" grpId="0"/>
      <p:bldP spid="244755" grpId="0" animBg="1"/>
      <p:bldP spid="244756" grpId="0" animBg="1"/>
      <p:bldP spid="244771" grpId="0" animBg="1"/>
      <p:bldP spid="244772" grpId="0"/>
      <p:bldP spid="244773" grpId="0"/>
      <p:bldP spid="244774" grpId="0" animBg="1"/>
      <p:bldP spid="244775" grpId="0" animBg="1"/>
      <p:bldP spid="244776" grpId="0" animBg="1"/>
      <p:bldP spid="244777" grpId="0" animBg="1"/>
      <p:bldP spid="244778" grpId="0" animBg="1"/>
      <p:bldP spid="244779" grpId="0" animBg="1"/>
      <p:bldP spid="244780" grpId="0" animBg="1"/>
      <p:bldP spid="244781" grpId="0" animBg="1"/>
      <p:bldP spid="244782" grpId="0" animBg="1"/>
      <p:bldP spid="244783" grpId="0"/>
      <p:bldP spid="244784" grpId="0"/>
      <p:bldP spid="244785" grpId="0"/>
      <p:bldP spid="244786" grpId="0" animBg="1"/>
      <p:bldP spid="244787" grpId="0"/>
      <p:bldP spid="244788" grpId="0"/>
      <p:bldP spid="244789" grpId="0" animBg="1"/>
      <p:bldP spid="244790"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ChangeArrowheads="1"/>
          </p:cNvSpPr>
          <p:nvPr/>
        </p:nvSpPr>
        <p:spPr bwMode="auto">
          <a:xfrm>
            <a:off x="381000" y="981075"/>
            <a:ext cx="5562600" cy="457200"/>
          </a:xfrm>
          <a:prstGeom prst="rect">
            <a:avLst/>
          </a:prstGeom>
          <a:noFill/>
          <a:ln w="9525">
            <a:noFill/>
            <a:miter lim="800000"/>
            <a:headEnd/>
            <a:tailEnd/>
          </a:ln>
          <a:effectLst/>
        </p:spPr>
        <p:txBody>
          <a:bodyPr>
            <a:spAutoFit/>
          </a:bodyPr>
          <a:lstStyle/>
          <a:p>
            <a:pPr algn="just"/>
            <a:r>
              <a:rPr lang="en-US" altLang="zh-CN" b="1">
                <a:solidFill>
                  <a:srgbClr val="FF0000"/>
                </a:solidFill>
                <a:latin typeface="宋体" charset="-122"/>
              </a:rPr>
              <a:t>1</a:t>
            </a:r>
            <a:r>
              <a:rPr lang="en-US" altLang="zh-CN" b="1">
                <a:solidFill>
                  <a:srgbClr val="FF0000"/>
                </a:solidFill>
              </a:rPr>
              <a:t>. </a:t>
            </a:r>
            <a:r>
              <a:rPr lang="zh-CN" altLang="en-US" b="1">
                <a:solidFill>
                  <a:srgbClr val="FF0000"/>
                </a:solidFill>
                <a:latin typeface="宋体" charset="-122"/>
              </a:rPr>
              <a:t>高定向性</a:t>
            </a:r>
          </a:p>
        </p:txBody>
      </p:sp>
      <p:sp>
        <p:nvSpPr>
          <p:cNvPr id="238595" name="Rectangle 3"/>
          <p:cNvSpPr>
            <a:spLocks noChangeArrowheads="1"/>
          </p:cNvSpPr>
          <p:nvPr/>
        </p:nvSpPr>
        <p:spPr bwMode="auto">
          <a:xfrm>
            <a:off x="381000" y="2108200"/>
            <a:ext cx="6705600" cy="457200"/>
          </a:xfrm>
          <a:prstGeom prst="rect">
            <a:avLst/>
          </a:prstGeom>
          <a:noFill/>
          <a:ln w="9525">
            <a:noFill/>
            <a:miter lim="800000"/>
            <a:headEnd/>
            <a:tailEnd/>
          </a:ln>
          <a:effectLst/>
        </p:spPr>
        <p:txBody>
          <a:bodyPr>
            <a:spAutoFit/>
          </a:bodyPr>
          <a:lstStyle/>
          <a:p>
            <a:r>
              <a:rPr lang="en-US" altLang="zh-CN" b="1">
                <a:solidFill>
                  <a:srgbClr val="FF0000"/>
                </a:solidFill>
                <a:latin typeface="宋体" charset="-122"/>
              </a:rPr>
              <a:t>2</a:t>
            </a:r>
            <a:r>
              <a:rPr lang="en-US" altLang="zh-CN" b="1">
                <a:solidFill>
                  <a:srgbClr val="FF0000"/>
                </a:solidFill>
              </a:rPr>
              <a:t>. </a:t>
            </a:r>
            <a:r>
              <a:rPr lang="zh-CN" altLang="en-US" b="1">
                <a:solidFill>
                  <a:srgbClr val="FF0000"/>
                </a:solidFill>
                <a:latin typeface="宋体" charset="-122"/>
              </a:rPr>
              <a:t>高单色性</a:t>
            </a:r>
            <a:endParaRPr lang="zh-CN" altLang="en-US" b="1">
              <a:solidFill>
                <a:srgbClr val="FF0000"/>
              </a:solidFill>
              <a:ea typeface="仿宋_GB2312" pitchFamily="49" charset="-122"/>
              <a:sym typeface="Symbol" pitchFamily="18" charset="2"/>
            </a:endParaRPr>
          </a:p>
        </p:txBody>
      </p:sp>
      <p:sp>
        <p:nvSpPr>
          <p:cNvPr id="238596" name="Text Box 4"/>
          <p:cNvSpPr txBox="1">
            <a:spLocks noChangeArrowheads="1"/>
          </p:cNvSpPr>
          <p:nvPr/>
        </p:nvSpPr>
        <p:spPr bwMode="auto">
          <a:xfrm>
            <a:off x="296863" y="519113"/>
            <a:ext cx="3586238" cy="461665"/>
          </a:xfrm>
          <a:prstGeom prst="rect">
            <a:avLst/>
          </a:prstGeom>
          <a:noFill/>
          <a:ln w="9525">
            <a:noFill/>
            <a:miter lim="800000"/>
            <a:headEnd/>
            <a:tailEnd/>
          </a:ln>
          <a:effectLst/>
        </p:spPr>
        <p:txBody>
          <a:bodyPr wrap="none">
            <a:spAutoFit/>
          </a:bodyPr>
          <a:lstStyle/>
          <a:p>
            <a:r>
              <a:rPr lang="en-US" altLang="zh-CN" b="1" dirty="0" smtClean="0">
                <a:solidFill>
                  <a:srgbClr val="3333CC"/>
                </a:solidFill>
                <a:cs typeface="Times New Roman" pitchFamily="18" charset="0"/>
              </a:rPr>
              <a:t>13.8.6</a:t>
            </a:r>
            <a:r>
              <a:rPr lang="en-US" altLang="zh-CN" b="1" dirty="0" smtClean="0">
                <a:solidFill>
                  <a:srgbClr val="3333CC"/>
                </a:solidFill>
                <a:latin typeface="宋体" charset="-122"/>
              </a:rPr>
              <a:t> </a:t>
            </a:r>
            <a:r>
              <a:rPr lang="zh-CN" altLang="en-US" b="1" dirty="0" smtClean="0">
                <a:solidFill>
                  <a:srgbClr val="3333CC"/>
                </a:solidFill>
                <a:latin typeface="宋体" charset="-122"/>
              </a:rPr>
              <a:t>激光特性 激光器</a:t>
            </a:r>
            <a:r>
              <a:rPr lang="zh-CN" altLang="en-US" b="1" dirty="0" smtClean="0">
                <a:solidFill>
                  <a:srgbClr val="3333CC"/>
                </a:solidFill>
                <a:latin typeface="黑体" pitchFamily="2" charset="-122"/>
                <a:ea typeface="黑体" pitchFamily="2" charset="-122"/>
              </a:rPr>
              <a:t> </a:t>
            </a:r>
            <a:endParaRPr lang="zh-CN" altLang="en-US" b="1" dirty="0">
              <a:solidFill>
                <a:srgbClr val="3333CC"/>
              </a:solidFill>
              <a:latin typeface="黑体" pitchFamily="2" charset="-122"/>
              <a:ea typeface="黑体" pitchFamily="2" charset="-122"/>
            </a:endParaRPr>
          </a:p>
        </p:txBody>
      </p:sp>
      <p:sp>
        <p:nvSpPr>
          <p:cNvPr id="238597" name="Rectangle 5"/>
          <p:cNvSpPr>
            <a:spLocks noChangeArrowheads="1"/>
          </p:cNvSpPr>
          <p:nvPr/>
        </p:nvSpPr>
        <p:spPr bwMode="auto">
          <a:xfrm>
            <a:off x="684213" y="3024188"/>
            <a:ext cx="8712200" cy="549275"/>
          </a:xfrm>
          <a:prstGeom prst="rect">
            <a:avLst/>
          </a:prstGeom>
          <a:noFill/>
          <a:ln w="22225">
            <a:noFill/>
            <a:miter lim="800000"/>
            <a:headEnd/>
            <a:tailEnd/>
          </a:ln>
          <a:effectLst/>
        </p:spPr>
        <p:txBody>
          <a:bodyPr>
            <a:spAutoFit/>
          </a:bodyPr>
          <a:lstStyle/>
          <a:p>
            <a:pPr>
              <a:lnSpc>
                <a:spcPct val="125000"/>
              </a:lnSpc>
            </a:pPr>
            <a:r>
              <a:rPr lang="zh-CN" altLang="en-US" b="1">
                <a:solidFill>
                  <a:schemeClr val="bg1"/>
                </a:solidFill>
                <a:latin typeface="宋体" charset="-122"/>
              </a:rPr>
              <a:t>普通光源中，</a:t>
            </a:r>
            <a:r>
              <a:rPr lang="zh-CN" altLang="en-US" b="1">
                <a:solidFill>
                  <a:srgbClr val="0000FF"/>
                </a:solidFill>
                <a:latin typeface="宋体" charset="-122"/>
              </a:rPr>
              <a:t>氪</a:t>
            </a:r>
            <a:r>
              <a:rPr lang="en-US" altLang="zh-CN" b="1">
                <a:solidFill>
                  <a:srgbClr val="0000FF"/>
                </a:solidFill>
                <a:latin typeface="宋体" charset="-122"/>
              </a:rPr>
              <a:t>(</a:t>
            </a:r>
            <a:r>
              <a:rPr lang="en-US" altLang="zh-CN" b="1">
                <a:solidFill>
                  <a:srgbClr val="0000FF"/>
                </a:solidFill>
              </a:rPr>
              <a:t>Kr</a:t>
            </a:r>
            <a:r>
              <a:rPr lang="en-US" altLang="zh-CN" b="1">
                <a:solidFill>
                  <a:srgbClr val="0000FF"/>
                </a:solidFill>
                <a:latin typeface="宋体" charset="-122"/>
              </a:rPr>
              <a:t>86)</a:t>
            </a:r>
            <a:r>
              <a:rPr lang="zh-CN" altLang="en-US" b="1">
                <a:solidFill>
                  <a:srgbClr val="0000FF"/>
                </a:solidFill>
                <a:latin typeface="宋体" charset="-122"/>
              </a:rPr>
              <a:t>灯</a:t>
            </a:r>
            <a:r>
              <a:rPr lang="zh-CN" altLang="en-US" b="1">
                <a:solidFill>
                  <a:schemeClr val="bg1"/>
                </a:solidFill>
                <a:latin typeface="宋体" charset="-122"/>
              </a:rPr>
              <a:t>单色性最好   </a:t>
            </a:r>
            <a:r>
              <a:rPr lang="zh-CN" altLang="en-US" b="1">
                <a:solidFill>
                  <a:srgbClr val="0000FF"/>
                </a:solidFill>
                <a:sym typeface="Symbol" pitchFamily="18" charset="2"/>
              </a:rPr>
              <a:t> </a:t>
            </a:r>
            <a:r>
              <a:rPr lang="en-US" altLang="zh-CN" b="1">
                <a:solidFill>
                  <a:srgbClr val="0000FF"/>
                </a:solidFill>
                <a:sym typeface="Symbol" pitchFamily="18" charset="2"/>
              </a:rPr>
              <a:t>= 4.710</a:t>
            </a:r>
            <a:r>
              <a:rPr lang="en-US" altLang="zh-CN" b="1" baseline="30000">
                <a:solidFill>
                  <a:srgbClr val="0000FF"/>
                </a:solidFill>
                <a:sym typeface="Symbol" pitchFamily="18" charset="2"/>
              </a:rPr>
              <a:t>-13 </a:t>
            </a:r>
            <a:r>
              <a:rPr lang="en-US" altLang="zh-CN" b="1">
                <a:solidFill>
                  <a:srgbClr val="0000FF"/>
                </a:solidFill>
                <a:sym typeface="Symbol" pitchFamily="18" charset="2"/>
              </a:rPr>
              <a:t>m</a:t>
            </a:r>
          </a:p>
        </p:txBody>
      </p:sp>
      <p:sp>
        <p:nvSpPr>
          <p:cNvPr id="238598" name="Rectangle 6"/>
          <p:cNvSpPr>
            <a:spLocks noChangeArrowheads="1"/>
          </p:cNvSpPr>
          <p:nvPr/>
        </p:nvSpPr>
        <p:spPr bwMode="auto">
          <a:xfrm>
            <a:off x="749300" y="2636838"/>
            <a:ext cx="7985125" cy="457200"/>
          </a:xfrm>
          <a:prstGeom prst="rect">
            <a:avLst/>
          </a:prstGeom>
          <a:noFill/>
          <a:ln w="22225">
            <a:noFill/>
            <a:miter lim="800000"/>
            <a:headEnd/>
            <a:tailEnd/>
          </a:ln>
          <a:effectLst/>
        </p:spPr>
        <p:txBody>
          <a:bodyPr>
            <a:spAutoFit/>
          </a:bodyPr>
          <a:lstStyle/>
          <a:p>
            <a:r>
              <a:rPr lang="en-US" altLang="zh-CN" b="1">
                <a:solidFill>
                  <a:schemeClr val="bg1"/>
                </a:solidFill>
                <a:latin typeface="宋体" charset="-122"/>
              </a:rPr>
              <a:t>    </a:t>
            </a:r>
            <a:r>
              <a:rPr lang="zh-CN" altLang="en-US" b="1">
                <a:solidFill>
                  <a:srgbClr val="0000FF"/>
                </a:solidFill>
                <a:latin typeface="宋体" charset="-122"/>
              </a:rPr>
              <a:t>氦－氖激光器</a:t>
            </a:r>
            <a:r>
              <a:rPr lang="zh-CN" altLang="en-US" b="1">
                <a:solidFill>
                  <a:schemeClr val="bg1"/>
                </a:solidFill>
                <a:latin typeface="宋体" charset="-122"/>
              </a:rPr>
              <a:t>的单色性为          </a:t>
            </a:r>
            <a:r>
              <a:rPr lang="zh-CN" altLang="en-US" b="1">
                <a:solidFill>
                  <a:srgbClr val="0000FF"/>
                </a:solidFill>
                <a:sym typeface="Symbol" pitchFamily="18" charset="2"/>
              </a:rPr>
              <a:t> </a:t>
            </a:r>
            <a:r>
              <a:rPr lang="en-US" altLang="zh-CN" b="1">
                <a:solidFill>
                  <a:srgbClr val="0000FF"/>
                </a:solidFill>
                <a:sym typeface="Symbol" pitchFamily="18" charset="2"/>
              </a:rPr>
              <a:t>&lt; 10</a:t>
            </a:r>
            <a:r>
              <a:rPr lang="en-US" altLang="zh-CN" b="1" baseline="30000">
                <a:solidFill>
                  <a:srgbClr val="0000FF"/>
                </a:solidFill>
                <a:sym typeface="Symbol" pitchFamily="18" charset="2"/>
              </a:rPr>
              <a:t>-17 </a:t>
            </a:r>
            <a:r>
              <a:rPr lang="en-US" altLang="zh-CN" b="1">
                <a:solidFill>
                  <a:srgbClr val="0000FF"/>
                </a:solidFill>
                <a:sym typeface="Symbol" pitchFamily="18" charset="2"/>
              </a:rPr>
              <a:t>m</a:t>
            </a:r>
          </a:p>
        </p:txBody>
      </p:sp>
      <p:sp>
        <p:nvSpPr>
          <p:cNvPr id="238599" name="Rectangle 7"/>
          <p:cNvSpPr>
            <a:spLocks noChangeArrowheads="1"/>
          </p:cNvSpPr>
          <p:nvPr/>
        </p:nvSpPr>
        <p:spPr bwMode="auto">
          <a:xfrm>
            <a:off x="684213" y="1530350"/>
            <a:ext cx="7531100" cy="457200"/>
          </a:xfrm>
          <a:prstGeom prst="rect">
            <a:avLst/>
          </a:prstGeom>
          <a:noFill/>
          <a:ln w="9525">
            <a:noFill/>
            <a:miter lim="800000"/>
            <a:headEnd/>
            <a:tailEnd/>
          </a:ln>
          <a:effectLst/>
        </p:spPr>
        <p:txBody>
          <a:bodyPr wrap="none">
            <a:spAutoFit/>
          </a:bodyPr>
          <a:lstStyle/>
          <a:p>
            <a:r>
              <a:rPr lang="zh-CN" altLang="en-US" b="1">
                <a:solidFill>
                  <a:schemeClr val="bg1"/>
                </a:solidFill>
                <a:latin typeface="Arial" charset="0"/>
              </a:rPr>
              <a:t>激光发散角极小</a:t>
            </a:r>
            <a:r>
              <a:rPr lang="zh-CN" altLang="en-US" b="1">
                <a:solidFill>
                  <a:schemeClr val="bg1"/>
                </a:solidFill>
                <a:latin typeface="楷体_GB2312" pitchFamily="49" charset="-122"/>
              </a:rPr>
              <a:t>，可用于定位，准直，导向，测距</a:t>
            </a:r>
            <a:r>
              <a:rPr lang="zh-CN" altLang="en-US" b="1">
                <a:solidFill>
                  <a:schemeClr val="bg1"/>
                </a:solidFill>
                <a:latin typeface="宋体" charset="-122"/>
              </a:rPr>
              <a:t>等。</a:t>
            </a:r>
          </a:p>
        </p:txBody>
      </p:sp>
      <p:sp>
        <p:nvSpPr>
          <p:cNvPr id="238600" name="Rectangle 8"/>
          <p:cNvSpPr>
            <a:spLocks noChangeArrowheads="1"/>
          </p:cNvSpPr>
          <p:nvPr/>
        </p:nvSpPr>
        <p:spPr bwMode="auto">
          <a:xfrm>
            <a:off x="684213" y="3573463"/>
            <a:ext cx="8001000" cy="1463675"/>
          </a:xfrm>
          <a:prstGeom prst="rect">
            <a:avLst/>
          </a:prstGeom>
          <a:noFill/>
          <a:ln w="9525">
            <a:noFill/>
            <a:miter lim="800000"/>
            <a:headEnd/>
            <a:tailEnd/>
          </a:ln>
          <a:effectLst/>
        </p:spPr>
        <p:txBody>
          <a:bodyPr>
            <a:spAutoFit/>
          </a:bodyPr>
          <a:lstStyle/>
          <a:p>
            <a:pPr>
              <a:lnSpc>
                <a:spcPct val="125000"/>
              </a:lnSpc>
            </a:pPr>
            <a:r>
              <a:rPr lang="zh-CN" altLang="en-US" b="1">
                <a:solidFill>
                  <a:schemeClr val="bg1"/>
                </a:solidFill>
                <a:latin typeface="Arial" charset="0"/>
              </a:rPr>
              <a:t>能量集中在很窄的频率范围</a:t>
            </a:r>
            <a:r>
              <a:rPr lang="zh-CN" altLang="en-US" b="1">
                <a:solidFill>
                  <a:schemeClr val="bg1"/>
                </a:solidFill>
                <a:latin typeface="宋体" charset="-122"/>
              </a:rPr>
              <a:t>激光的谱线分辨率高，可用于研究原子、分子、晶体等物质的能级和光谱的精细结构，超精细结构等。</a:t>
            </a:r>
          </a:p>
        </p:txBody>
      </p:sp>
      <p:sp>
        <p:nvSpPr>
          <p:cNvPr id="238601" name="Rectangle 9"/>
          <p:cNvSpPr>
            <a:spLocks noChangeArrowheads="1"/>
          </p:cNvSpPr>
          <p:nvPr/>
        </p:nvSpPr>
        <p:spPr bwMode="auto">
          <a:xfrm>
            <a:off x="287338" y="5132388"/>
            <a:ext cx="3276600" cy="457200"/>
          </a:xfrm>
          <a:prstGeom prst="rect">
            <a:avLst/>
          </a:prstGeom>
          <a:noFill/>
          <a:ln w="9525">
            <a:noFill/>
            <a:miter lim="800000"/>
            <a:headEnd/>
            <a:tailEnd/>
          </a:ln>
          <a:effectLst/>
        </p:spPr>
        <p:txBody>
          <a:bodyPr>
            <a:spAutoFit/>
          </a:bodyPr>
          <a:lstStyle/>
          <a:p>
            <a:r>
              <a:rPr lang="en-US" altLang="zh-CN" b="1">
                <a:solidFill>
                  <a:srgbClr val="FF0000"/>
                </a:solidFill>
                <a:latin typeface="宋体" charset="-122"/>
              </a:rPr>
              <a:t>3</a:t>
            </a:r>
            <a:r>
              <a:rPr lang="en-US" altLang="zh-CN" b="1">
                <a:solidFill>
                  <a:srgbClr val="FF0000"/>
                </a:solidFill>
              </a:rPr>
              <a:t>. </a:t>
            </a:r>
            <a:r>
              <a:rPr lang="zh-CN" altLang="en-US" b="1">
                <a:solidFill>
                  <a:srgbClr val="FF0000"/>
                </a:solidFill>
                <a:latin typeface="宋体" charset="-122"/>
              </a:rPr>
              <a:t>高相干性 </a:t>
            </a:r>
          </a:p>
        </p:txBody>
      </p:sp>
      <p:sp>
        <p:nvSpPr>
          <p:cNvPr id="238602" name="Rectangle 10"/>
          <p:cNvSpPr>
            <a:spLocks noChangeArrowheads="1"/>
          </p:cNvSpPr>
          <p:nvPr/>
        </p:nvSpPr>
        <p:spPr bwMode="auto">
          <a:xfrm>
            <a:off x="611188" y="5518150"/>
            <a:ext cx="7913687" cy="1006475"/>
          </a:xfrm>
          <a:prstGeom prst="rect">
            <a:avLst/>
          </a:prstGeom>
          <a:noFill/>
          <a:ln w="22225">
            <a:noFill/>
            <a:miter lim="800000"/>
            <a:headEnd/>
            <a:tailEnd/>
          </a:ln>
          <a:effectLst/>
        </p:spPr>
        <p:txBody>
          <a:bodyPr>
            <a:spAutoFit/>
          </a:bodyPr>
          <a:lstStyle/>
          <a:p>
            <a:pPr>
              <a:lnSpc>
                <a:spcPct val="125000"/>
              </a:lnSpc>
            </a:pPr>
            <a:r>
              <a:rPr lang="zh-CN" altLang="en-US" b="1">
                <a:solidFill>
                  <a:schemeClr val="bg1"/>
                </a:solidFill>
                <a:latin typeface="宋体" charset="-122"/>
              </a:rPr>
              <a:t>用于测量长度、干涉以及全息术，</a:t>
            </a:r>
            <a:r>
              <a:rPr lang="en-US" altLang="zh-CN" b="1">
                <a:solidFill>
                  <a:schemeClr val="bg1"/>
                </a:solidFill>
              </a:rPr>
              <a:t>X</a:t>
            </a:r>
            <a:r>
              <a:rPr lang="en-US" altLang="zh-CN" b="1" i="1">
                <a:solidFill>
                  <a:schemeClr val="bg1"/>
                </a:solidFill>
              </a:rPr>
              <a:t> </a:t>
            </a:r>
            <a:r>
              <a:rPr lang="zh-CN" altLang="en-US" b="1">
                <a:solidFill>
                  <a:schemeClr val="bg1"/>
                </a:solidFill>
                <a:latin typeface="宋体" charset="-122"/>
              </a:rPr>
              <a:t>射线激光可作分子和生物高分子的全息图。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8596"/>
                                        </p:tgtEl>
                                        <p:attrNameLst>
                                          <p:attrName>style.visibility</p:attrName>
                                        </p:attrNameLst>
                                      </p:cBhvr>
                                      <p:to>
                                        <p:strVal val="visible"/>
                                      </p:to>
                                    </p:set>
                                    <p:animEffect transition="in" filter="wipe(left)">
                                      <p:cBhvr>
                                        <p:cTn id="7" dur="500"/>
                                        <p:tgtEl>
                                          <p:spTgt spid="2385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8594"/>
                                        </p:tgtEl>
                                        <p:attrNameLst>
                                          <p:attrName>style.visibility</p:attrName>
                                        </p:attrNameLst>
                                      </p:cBhvr>
                                      <p:to>
                                        <p:strVal val="visible"/>
                                      </p:to>
                                    </p:set>
                                    <p:animEffect transition="in" filter="wipe(left)">
                                      <p:cBhvr>
                                        <p:cTn id="12" dur="500"/>
                                        <p:tgtEl>
                                          <p:spTgt spid="2385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8599"/>
                                        </p:tgtEl>
                                        <p:attrNameLst>
                                          <p:attrName>style.visibility</p:attrName>
                                        </p:attrNameLst>
                                      </p:cBhvr>
                                      <p:to>
                                        <p:strVal val="visible"/>
                                      </p:to>
                                    </p:set>
                                    <p:animEffect transition="in" filter="wipe(left)">
                                      <p:cBhvr>
                                        <p:cTn id="17" dur="500"/>
                                        <p:tgtEl>
                                          <p:spTgt spid="2385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8595"/>
                                        </p:tgtEl>
                                        <p:attrNameLst>
                                          <p:attrName>style.visibility</p:attrName>
                                        </p:attrNameLst>
                                      </p:cBhvr>
                                      <p:to>
                                        <p:strVal val="visible"/>
                                      </p:to>
                                    </p:set>
                                    <p:animEffect transition="in" filter="wipe(left)">
                                      <p:cBhvr>
                                        <p:cTn id="22" dur="500"/>
                                        <p:tgtEl>
                                          <p:spTgt spid="23859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8598"/>
                                        </p:tgtEl>
                                        <p:attrNameLst>
                                          <p:attrName>style.visibility</p:attrName>
                                        </p:attrNameLst>
                                      </p:cBhvr>
                                      <p:to>
                                        <p:strVal val="visible"/>
                                      </p:to>
                                    </p:set>
                                    <p:animEffect transition="in" filter="wipe(left)">
                                      <p:cBhvr>
                                        <p:cTn id="27" dur="500"/>
                                        <p:tgtEl>
                                          <p:spTgt spid="23859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8597"/>
                                        </p:tgtEl>
                                        <p:attrNameLst>
                                          <p:attrName>style.visibility</p:attrName>
                                        </p:attrNameLst>
                                      </p:cBhvr>
                                      <p:to>
                                        <p:strVal val="visible"/>
                                      </p:to>
                                    </p:set>
                                    <p:animEffect transition="in" filter="wipe(left)">
                                      <p:cBhvr>
                                        <p:cTn id="32" dur="500"/>
                                        <p:tgtEl>
                                          <p:spTgt spid="23859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8600"/>
                                        </p:tgtEl>
                                        <p:attrNameLst>
                                          <p:attrName>style.visibility</p:attrName>
                                        </p:attrNameLst>
                                      </p:cBhvr>
                                      <p:to>
                                        <p:strVal val="visible"/>
                                      </p:to>
                                    </p:set>
                                    <p:animEffect transition="in" filter="wipe(left)">
                                      <p:cBhvr>
                                        <p:cTn id="37" dur="500"/>
                                        <p:tgtEl>
                                          <p:spTgt spid="23860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38601"/>
                                        </p:tgtEl>
                                        <p:attrNameLst>
                                          <p:attrName>style.visibility</p:attrName>
                                        </p:attrNameLst>
                                      </p:cBhvr>
                                      <p:to>
                                        <p:strVal val="visible"/>
                                      </p:to>
                                    </p:set>
                                    <p:animEffect transition="in" filter="dissolve">
                                      <p:cBhvr>
                                        <p:cTn id="42" dur="500"/>
                                        <p:tgtEl>
                                          <p:spTgt spid="23860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38602"/>
                                        </p:tgtEl>
                                        <p:attrNameLst>
                                          <p:attrName>style.visibility</p:attrName>
                                        </p:attrNameLst>
                                      </p:cBhvr>
                                      <p:to>
                                        <p:strVal val="visible"/>
                                      </p:to>
                                    </p:set>
                                    <p:animEffect transition="in" filter="wipe(left)">
                                      <p:cBhvr>
                                        <p:cTn id="47" dur="500"/>
                                        <p:tgtEl>
                                          <p:spTgt spid="238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4" grpId="0" autoUpdateAnimBg="0"/>
      <p:bldP spid="238595" grpId="0" autoUpdateAnimBg="0"/>
      <p:bldP spid="238596" grpId="0"/>
      <p:bldP spid="238597" grpId="0" autoUpdateAnimBg="0"/>
      <p:bldP spid="238598" grpId="0" autoUpdateAnimBg="0"/>
      <p:bldP spid="238599" grpId="0" autoUpdateAnimBg="0"/>
      <p:bldP spid="238600" grpId="0" autoUpdateAnimBg="0"/>
      <p:bldP spid="238601" grpId="0" autoUpdateAnimBg="0"/>
      <p:bldP spid="238602"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18" name="Picture 2" descr="章末)激光加工"/>
          <p:cNvPicPr>
            <a:picLocks noChangeAspect="1" noChangeArrowheads="1"/>
          </p:cNvPicPr>
          <p:nvPr/>
        </p:nvPicPr>
        <p:blipFill>
          <a:blip r:embed="rId2"/>
          <a:srcRect/>
          <a:stretch>
            <a:fillRect/>
          </a:stretch>
        </p:blipFill>
        <p:spPr bwMode="auto">
          <a:xfrm>
            <a:off x="5818188" y="2205038"/>
            <a:ext cx="2930525" cy="4103687"/>
          </a:xfrm>
          <a:prstGeom prst="rect">
            <a:avLst/>
          </a:prstGeom>
          <a:noFill/>
          <a:ln w="9525">
            <a:noFill/>
            <a:miter lim="800000"/>
            <a:headEnd/>
            <a:tailEnd/>
          </a:ln>
        </p:spPr>
      </p:pic>
      <p:sp>
        <p:nvSpPr>
          <p:cNvPr id="239619" name="Text Box 3"/>
          <p:cNvSpPr txBox="1">
            <a:spLocks noChangeArrowheads="1"/>
          </p:cNvSpPr>
          <p:nvPr/>
        </p:nvSpPr>
        <p:spPr bwMode="auto">
          <a:xfrm>
            <a:off x="684213" y="2600325"/>
            <a:ext cx="4248150" cy="1463675"/>
          </a:xfrm>
          <a:prstGeom prst="rect">
            <a:avLst/>
          </a:prstGeom>
          <a:noFill/>
          <a:ln w="9525">
            <a:noFill/>
            <a:miter lim="800000"/>
            <a:headEnd/>
            <a:tailEnd/>
          </a:ln>
          <a:effectLst/>
        </p:spPr>
        <p:txBody>
          <a:bodyPr>
            <a:spAutoFit/>
          </a:bodyPr>
          <a:lstStyle/>
          <a:p>
            <a:pPr>
              <a:lnSpc>
                <a:spcPct val="125000"/>
              </a:lnSpc>
            </a:pPr>
            <a:r>
              <a:rPr lang="zh-CN" altLang="en-US" b="1">
                <a:solidFill>
                  <a:schemeClr val="accent2"/>
                </a:solidFill>
              </a:rPr>
              <a:t>激光加工</a:t>
            </a:r>
            <a:r>
              <a:rPr lang="en-US" altLang="zh-CN" b="1">
                <a:solidFill>
                  <a:schemeClr val="bg1"/>
                </a:solidFill>
              </a:rPr>
              <a:t>— 6KW CO</a:t>
            </a:r>
            <a:r>
              <a:rPr lang="en-US" altLang="zh-CN" b="1" baseline="-20000">
                <a:solidFill>
                  <a:schemeClr val="bg1"/>
                </a:solidFill>
              </a:rPr>
              <a:t>2 </a:t>
            </a:r>
            <a:r>
              <a:rPr lang="zh-CN" altLang="en-US" b="1">
                <a:solidFill>
                  <a:schemeClr val="bg1"/>
                </a:solidFill>
              </a:rPr>
              <a:t>激光加工机在进行金属表面涂敷合金粉末的作业</a:t>
            </a:r>
          </a:p>
        </p:txBody>
      </p:sp>
      <p:sp>
        <p:nvSpPr>
          <p:cNvPr id="239620" name="Rectangle 4"/>
          <p:cNvSpPr>
            <a:spLocks noChangeArrowheads="1"/>
          </p:cNvSpPr>
          <p:nvPr/>
        </p:nvSpPr>
        <p:spPr bwMode="auto">
          <a:xfrm>
            <a:off x="1466850" y="835025"/>
            <a:ext cx="6705600" cy="1006475"/>
          </a:xfrm>
          <a:prstGeom prst="rect">
            <a:avLst/>
          </a:prstGeom>
          <a:noFill/>
          <a:ln w="9525">
            <a:noFill/>
            <a:miter lim="800000"/>
            <a:headEnd/>
            <a:tailEnd/>
          </a:ln>
          <a:effectLst/>
        </p:spPr>
        <p:txBody>
          <a:bodyPr>
            <a:spAutoFit/>
          </a:bodyPr>
          <a:lstStyle/>
          <a:p>
            <a:pPr algn="just">
              <a:lnSpc>
                <a:spcPct val="125000"/>
              </a:lnSpc>
            </a:pPr>
            <a:r>
              <a:rPr lang="en-US" altLang="zh-CN" b="1">
                <a:solidFill>
                  <a:srgbClr val="FFCC66"/>
                </a:solidFill>
              </a:rPr>
              <a:t>   </a:t>
            </a:r>
            <a:r>
              <a:rPr lang="zh-CN" altLang="en-US" b="1">
                <a:solidFill>
                  <a:schemeClr val="bg1"/>
                </a:solidFill>
              </a:rPr>
              <a:t>太阳表面亮度约</a:t>
            </a:r>
            <a:r>
              <a:rPr lang="zh-CN" altLang="en-US" b="1">
                <a:solidFill>
                  <a:srgbClr val="FFCC66"/>
                </a:solidFill>
              </a:rPr>
              <a:t>           </a:t>
            </a:r>
            <a:r>
              <a:rPr lang="zh-CN" altLang="en-US" b="1">
                <a:solidFill>
                  <a:srgbClr val="0000FF"/>
                </a:solidFill>
              </a:rPr>
              <a:t> </a:t>
            </a:r>
            <a:r>
              <a:rPr lang="en-US" altLang="zh-CN" b="1">
                <a:solidFill>
                  <a:srgbClr val="0000FF"/>
                </a:solidFill>
              </a:rPr>
              <a:t>10</a:t>
            </a:r>
            <a:r>
              <a:rPr lang="en-US" altLang="zh-CN" b="1" baseline="30000">
                <a:solidFill>
                  <a:srgbClr val="0000FF"/>
                </a:solidFill>
              </a:rPr>
              <a:t>3</a:t>
            </a:r>
            <a:r>
              <a:rPr lang="en-US" altLang="zh-CN" b="1">
                <a:solidFill>
                  <a:srgbClr val="0000FF"/>
                </a:solidFill>
              </a:rPr>
              <a:t> </a:t>
            </a:r>
            <a:r>
              <a:rPr lang="en-US" altLang="zh-CN" b="1">
                <a:solidFill>
                  <a:srgbClr val="FFCC66"/>
                </a:solidFill>
              </a:rPr>
              <a:t>        </a:t>
            </a:r>
            <a:r>
              <a:rPr lang="en-US" altLang="zh-CN" b="1">
                <a:solidFill>
                  <a:schemeClr val="bg1"/>
                </a:solidFill>
              </a:rPr>
              <a:t>W·cm</a:t>
            </a:r>
            <a:r>
              <a:rPr lang="en-US" altLang="zh-CN" b="1" baseline="30000">
                <a:solidFill>
                  <a:schemeClr val="bg1"/>
                </a:solidFill>
              </a:rPr>
              <a:t>-2</a:t>
            </a:r>
            <a:r>
              <a:rPr lang="en-US" altLang="zh-CN" b="1">
                <a:solidFill>
                  <a:schemeClr val="bg1"/>
                </a:solidFill>
              </a:rPr>
              <a:t>·sr</a:t>
            </a:r>
            <a:r>
              <a:rPr lang="en-US" altLang="zh-CN" b="1" baseline="30000">
                <a:solidFill>
                  <a:schemeClr val="bg1"/>
                </a:solidFill>
              </a:rPr>
              <a:t>-1</a:t>
            </a:r>
            <a:r>
              <a:rPr lang="en-US" altLang="zh-CN" b="1" baseline="30000">
                <a:solidFill>
                  <a:srgbClr val="FFCC66"/>
                </a:solidFill>
              </a:rPr>
              <a:t> </a:t>
            </a:r>
          </a:p>
          <a:p>
            <a:pPr algn="just">
              <a:lnSpc>
                <a:spcPct val="125000"/>
              </a:lnSpc>
            </a:pPr>
            <a:r>
              <a:rPr lang="en-US" altLang="zh-CN" b="1">
                <a:solidFill>
                  <a:srgbClr val="FFCC66"/>
                </a:solidFill>
              </a:rPr>
              <a:t>   </a:t>
            </a:r>
            <a:r>
              <a:rPr lang="zh-CN" altLang="en-US" b="1">
                <a:solidFill>
                  <a:schemeClr val="bg1"/>
                </a:solidFill>
              </a:rPr>
              <a:t>大功率激光亮度</a:t>
            </a:r>
            <a:r>
              <a:rPr lang="zh-CN" altLang="en-US" b="1">
                <a:solidFill>
                  <a:srgbClr val="FFCC66"/>
                </a:solidFill>
              </a:rPr>
              <a:t>      </a:t>
            </a:r>
            <a:r>
              <a:rPr lang="en-US" altLang="zh-CN" b="1">
                <a:solidFill>
                  <a:srgbClr val="0000FF"/>
                </a:solidFill>
              </a:rPr>
              <a:t>10</a:t>
            </a:r>
            <a:r>
              <a:rPr lang="en-US" altLang="zh-CN" b="1" baseline="30000">
                <a:solidFill>
                  <a:srgbClr val="0000FF"/>
                </a:solidFill>
              </a:rPr>
              <a:t>10 </a:t>
            </a:r>
            <a:r>
              <a:rPr lang="en-US" altLang="zh-CN" b="1">
                <a:solidFill>
                  <a:srgbClr val="0000FF"/>
                </a:solidFill>
              </a:rPr>
              <a:t>~</a:t>
            </a:r>
            <a:r>
              <a:rPr lang="en-US" altLang="zh-CN" b="1" baseline="30000">
                <a:solidFill>
                  <a:srgbClr val="0000FF"/>
                </a:solidFill>
              </a:rPr>
              <a:t> </a:t>
            </a:r>
            <a:r>
              <a:rPr lang="en-US" altLang="zh-CN" b="1">
                <a:solidFill>
                  <a:srgbClr val="0000FF"/>
                </a:solidFill>
              </a:rPr>
              <a:t>10</a:t>
            </a:r>
            <a:r>
              <a:rPr lang="en-US" altLang="zh-CN" b="1" baseline="30000">
                <a:solidFill>
                  <a:srgbClr val="0000FF"/>
                </a:solidFill>
              </a:rPr>
              <a:t>17</a:t>
            </a:r>
            <a:r>
              <a:rPr lang="en-US" altLang="zh-CN" b="1">
                <a:solidFill>
                  <a:srgbClr val="FFCC66"/>
                </a:solidFill>
              </a:rPr>
              <a:t>    </a:t>
            </a:r>
            <a:r>
              <a:rPr lang="en-US" altLang="zh-CN" b="1">
                <a:solidFill>
                  <a:schemeClr val="bg1"/>
                </a:solidFill>
              </a:rPr>
              <a:t>W·cm</a:t>
            </a:r>
            <a:r>
              <a:rPr lang="en-US" altLang="zh-CN" b="1" baseline="30000">
                <a:solidFill>
                  <a:schemeClr val="bg1"/>
                </a:solidFill>
              </a:rPr>
              <a:t>-2</a:t>
            </a:r>
            <a:r>
              <a:rPr lang="en-US" altLang="zh-CN" b="1">
                <a:solidFill>
                  <a:schemeClr val="bg1"/>
                </a:solidFill>
              </a:rPr>
              <a:t>·sr</a:t>
            </a:r>
            <a:r>
              <a:rPr lang="en-US" altLang="zh-CN" b="1" baseline="30000">
                <a:solidFill>
                  <a:schemeClr val="bg1"/>
                </a:solidFill>
              </a:rPr>
              <a:t>-1</a:t>
            </a:r>
            <a:endParaRPr lang="en-US" altLang="zh-CN" b="1">
              <a:solidFill>
                <a:schemeClr val="bg1"/>
              </a:solidFill>
            </a:endParaRPr>
          </a:p>
        </p:txBody>
      </p:sp>
      <p:sp>
        <p:nvSpPr>
          <p:cNvPr id="239621" name="Rectangle 5"/>
          <p:cNvSpPr>
            <a:spLocks noChangeArrowheads="1"/>
          </p:cNvSpPr>
          <p:nvPr/>
        </p:nvSpPr>
        <p:spPr bwMode="auto">
          <a:xfrm>
            <a:off x="381000" y="388938"/>
            <a:ext cx="2819400" cy="457200"/>
          </a:xfrm>
          <a:prstGeom prst="rect">
            <a:avLst/>
          </a:prstGeom>
          <a:noFill/>
          <a:ln w="9525">
            <a:noFill/>
            <a:miter lim="800000"/>
            <a:headEnd/>
            <a:tailEnd/>
          </a:ln>
          <a:effectLst/>
        </p:spPr>
        <p:txBody>
          <a:bodyPr>
            <a:spAutoFit/>
          </a:bodyPr>
          <a:lstStyle/>
          <a:p>
            <a:r>
              <a:rPr lang="en-US" altLang="zh-CN" b="1">
                <a:solidFill>
                  <a:srgbClr val="FF0000"/>
                </a:solidFill>
                <a:latin typeface="宋体" charset="-122"/>
              </a:rPr>
              <a:t>4</a:t>
            </a:r>
            <a:r>
              <a:rPr lang="en-US" altLang="zh-CN" b="1">
                <a:solidFill>
                  <a:srgbClr val="FF0000"/>
                </a:solidFill>
              </a:rPr>
              <a:t>. </a:t>
            </a:r>
            <a:r>
              <a:rPr lang="zh-CN" altLang="en-US" b="1">
                <a:solidFill>
                  <a:srgbClr val="FF0000"/>
                </a:solidFill>
                <a:latin typeface="宋体" charset="-122"/>
              </a:rPr>
              <a:t>高亮度 </a:t>
            </a:r>
          </a:p>
        </p:txBody>
      </p:sp>
      <p:sp>
        <p:nvSpPr>
          <p:cNvPr id="239622" name="Rectangle 6"/>
          <p:cNvSpPr>
            <a:spLocks noChangeArrowheads="1"/>
          </p:cNvSpPr>
          <p:nvPr/>
        </p:nvSpPr>
        <p:spPr bwMode="auto">
          <a:xfrm>
            <a:off x="684213" y="1989138"/>
            <a:ext cx="5181600" cy="457200"/>
          </a:xfrm>
          <a:prstGeom prst="rect">
            <a:avLst/>
          </a:prstGeom>
          <a:noFill/>
          <a:ln w="22225">
            <a:noFill/>
            <a:miter lim="800000"/>
            <a:headEnd/>
            <a:tailEnd/>
          </a:ln>
          <a:effectLst/>
        </p:spPr>
        <p:txBody>
          <a:bodyPr>
            <a:spAutoFit/>
          </a:bodyPr>
          <a:lstStyle/>
          <a:p>
            <a:r>
              <a:rPr lang="zh-CN" altLang="en-US" b="1">
                <a:solidFill>
                  <a:schemeClr val="bg1"/>
                </a:solidFill>
                <a:latin typeface="宋体" charset="-122"/>
              </a:rPr>
              <a:t>可用于精密加工，医学，核聚变等。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9621"/>
                                        </p:tgtEl>
                                        <p:attrNameLst>
                                          <p:attrName>style.visibility</p:attrName>
                                        </p:attrNameLst>
                                      </p:cBhvr>
                                      <p:to>
                                        <p:strVal val="visible"/>
                                      </p:to>
                                    </p:set>
                                    <p:animEffect transition="in" filter="dissolve">
                                      <p:cBhvr>
                                        <p:cTn id="7" dur="500"/>
                                        <p:tgtEl>
                                          <p:spTgt spid="239621"/>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39620"/>
                                        </p:tgtEl>
                                        <p:attrNameLst>
                                          <p:attrName>style.visibility</p:attrName>
                                        </p:attrNameLst>
                                      </p:cBhvr>
                                      <p:to>
                                        <p:strVal val="visible"/>
                                      </p:to>
                                    </p:set>
                                    <p:animEffect transition="in" filter="dissolve">
                                      <p:cBhvr>
                                        <p:cTn id="11" dur="500"/>
                                        <p:tgtEl>
                                          <p:spTgt spid="23962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39622"/>
                                        </p:tgtEl>
                                        <p:attrNameLst>
                                          <p:attrName>style.visibility</p:attrName>
                                        </p:attrNameLst>
                                      </p:cBhvr>
                                      <p:to>
                                        <p:strVal val="visible"/>
                                      </p:to>
                                    </p:set>
                                    <p:animEffect transition="in" filter="wipe(left)">
                                      <p:cBhvr>
                                        <p:cTn id="16" dur="500"/>
                                        <p:tgtEl>
                                          <p:spTgt spid="23962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nodeType="clickEffect">
                                  <p:stCondLst>
                                    <p:cond delay="0"/>
                                  </p:stCondLst>
                                  <p:childTnLst>
                                    <p:set>
                                      <p:cBhvr>
                                        <p:cTn id="20" dur="1" fill="hold">
                                          <p:stCondLst>
                                            <p:cond delay="0"/>
                                          </p:stCondLst>
                                        </p:cTn>
                                        <p:tgtEl>
                                          <p:spTgt spid="239618"/>
                                        </p:tgtEl>
                                        <p:attrNameLst>
                                          <p:attrName>style.visibility</p:attrName>
                                        </p:attrNameLst>
                                      </p:cBhvr>
                                      <p:to>
                                        <p:strVal val="visible"/>
                                      </p:to>
                                    </p:set>
                                    <p:animEffect transition="in" filter="box(out)">
                                      <p:cBhvr>
                                        <p:cTn id="21" dur="500"/>
                                        <p:tgtEl>
                                          <p:spTgt spid="239618"/>
                                        </p:tgtEl>
                                      </p:cBhvr>
                                    </p:animEffect>
                                  </p:childTnLst>
                                </p:cTn>
                              </p:par>
                            </p:childTnLst>
                          </p:cTn>
                        </p:par>
                        <p:par>
                          <p:cTn id="22" fill="hold" nodeType="afterGroup">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239619"/>
                                        </p:tgtEl>
                                        <p:attrNameLst>
                                          <p:attrName>style.visibility</p:attrName>
                                        </p:attrNameLst>
                                      </p:cBhvr>
                                      <p:to>
                                        <p:strVal val="visible"/>
                                      </p:to>
                                    </p:set>
                                    <p:animEffect transition="in" filter="dissolve">
                                      <p:cBhvr>
                                        <p:cTn id="25" dur="500"/>
                                        <p:tgtEl>
                                          <p:spTgt spid="239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p:bldP spid="239620" grpId="0" autoUpdateAnimBg="0"/>
      <p:bldP spid="239621" grpId="0" autoUpdateAnimBg="0"/>
      <p:bldP spid="239622"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4" descr="7530798_8006545"/>
          <p:cNvPicPr>
            <a:picLocks noChangeAspect="1" noChangeArrowheads="1"/>
          </p:cNvPicPr>
          <p:nvPr/>
        </p:nvPicPr>
        <p:blipFill>
          <a:blip r:embed="rId2">
            <a:lum bright="4000" contrast="2000"/>
          </a:blip>
          <a:srcRect/>
          <a:stretch>
            <a:fillRect/>
          </a:stretch>
        </p:blipFill>
        <p:spPr bwMode="auto">
          <a:xfrm>
            <a:off x="476250" y="908050"/>
            <a:ext cx="7966075" cy="5581650"/>
          </a:xfrm>
          <a:prstGeom prst="rect">
            <a:avLst/>
          </a:prstGeom>
          <a:noFill/>
          <a:ln w="9525">
            <a:noFill/>
            <a:miter lim="800000"/>
            <a:headEnd/>
            <a:tailEnd/>
          </a:ln>
        </p:spPr>
      </p:pic>
      <p:sp>
        <p:nvSpPr>
          <p:cNvPr id="84995" name="Text Box 5"/>
          <p:cNvSpPr txBox="1">
            <a:spLocks noChangeArrowheads="1"/>
          </p:cNvSpPr>
          <p:nvPr/>
        </p:nvSpPr>
        <p:spPr bwMode="auto">
          <a:xfrm>
            <a:off x="2816225" y="414338"/>
            <a:ext cx="3644900" cy="457200"/>
          </a:xfrm>
          <a:prstGeom prst="rect">
            <a:avLst/>
          </a:prstGeom>
          <a:noFill/>
          <a:ln w="9525">
            <a:noFill/>
            <a:miter lim="800000"/>
            <a:headEnd/>
            <a:tailEnd/>
          </a:ln>
          <a:effectLst/>
        </p:spPr>
        <p:txBody>
          <a:bodyPr>
            <a:spAutoFit/>
          </a:bodyPr>
          <a:lstStyle/>
          <a:p>
            <a:pPr>
              <a:spcBef>
                <a:spcPct val="50000"/>
              </a:spcBef>
            </a:pPr>
            <a:r>
              <a:rPr lang="zh-CN" altLang="en-US" b="1">
                <a:solidFill>
                  <a:srgbClr val="0000FF"/>
                </a:solidFill>
              </a:rPr>
              <a:t>再次认识一下量子前辈们</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2" name="Rectangle 4"/>
          <p:cNvSpPr>
            <a:spLocks noChangeArrowheads="1"/>
          </p:cNvSpPr>
          <p:nvPr/>
        </p:nvSpPr>
        <p:spPr bwMode="auto">
          <a:xfrm>
            <a:off x="2862263" y="368300"/>
            <a:ext cx="4186237" cy="528638"/>
          </a:xfrm>
          <a:prstGeom prst="rect">
            <a:avLst/>
          </a:prstGeom>
          <a:noFill/>
          <a:ln w="9525">
            <a:noFill/>
            <a:miter lim="800000"/>
            <a:headEnd/>
            <a:tailEnd/>
          </a:ln>
        </p:spPr>
        <p:txBody>
          <a:bodyPr/>
          <a:lstStyle/>
          <a:p>
            <a:r>
              <a:rPr lang="zh-CN" altLang="en-US" sz="3600">
                <a:solidFill>
                  <a:srgbClr val="0000FF"/>
                </a:solidFill>
                <a:ea typeface="隶书" pitchFamily="49" charset="-122"/>
              </a:rPr>
              <a:t>量子力学发展史</a:t>
            </a:r>
          </a:p>
        </p:txBody>
      </p:sp>
      <p:sp>
        <p:nvSpPr>
          <p:cNvPr id="160773" name="Rectangle 5"/>
          <p:cNvSpPr>
            <a:spLocks noChangeArrowheads="1"/>
          </p:cNvSpPr>
          <p:nvPr/>
        </p:nvSpPr>
        <p:spPr bwMode="auto">
          <a:xfrm>
            <a:off x="161925" y="908050"/>
            <a:ext cx="3960813" cy="528638"/>
          </a:xfrm>
          <a:prstGeom prst="rect">
            <a:avLst/>
          </a:prstGeom>
          <a:noFill/>
          <a:ln w="9525">
            <a:noFill/>
            <a:miter lim="800000"/>
            <a:headEnd/>
            <a:tailEnd/>
          </a:ln>
        </p:spPr>
        <p:txBody>
          <a:bodyPr/>
          <a:lstStyle/>
          <a:p>
            <a:r>
              <a:rPr lang="zh-CN" altLang="en-US" sz="2800" b="1">
                <a:solidFill>
                  <a:schemeClr val="tx2"/>
                </a:solidFill>
                <a:ea typeface="楷体_GB2312" pitchFamily="49" charset="-122"/>
              </a:rPr>
              <a:t>一、时代背景：</a:t>
            </a:r>
          </a:p>
        </p:txBody>
      </p:sp>
      <p:sp>
        <p:nvSpPr>
          <p:cNvPr id="160774" name="Rectangle 6"/>
          <p:cNvSpPr>
            <a:spLocks noChangeArrowheads="1"/>
          </p:cNvSpPr>
          <p:nvPr/>
        </p:nvSpPr>
        <p:spPr bwMode="auto">
          <a:xfrm>
            <a:off x="592138" y="1854200"/>
            <a:ext cx="3330575" cy="404813"/>
          </a:xfrm>
          <a:prstGeom prst="rect">
            <a:avLst/>
          </a:prstGeom>
          <a:noFill/>
          <a:ln w="9525">
            <a:noFill/>
            <a:miter lim="800000"/>
            <a:headEnd/>
            <a:tailEnd/>
          </a:ln>
          <a:effectLst/>
        </p:spPr>
        <p:txBody>
          <a:bodyPr/>
          <a:lstStyle/>
          <a:p>
            <a:pPr marL="342900" indent="-342900">
              <a:spcBef>
                <a:spcPct val="20000"/>
              </a:spcBef>
            </a:pPr>
            <a:r>
              <a:rPr lang="en-US" altLang="zh-CN" b="1">
                <a:solidFill>
                  <a:srgbClr val="0000FF"/>
                </a:solidFill>
                <a:ea typeface="楷体_GB2312" pitchFamily="49" charset="-122"/>
              </a:rPr>
              <a:t>1</a:t>
            </a:r>
            <a:r>
              <a:rPr lang="zh-CN" altLang="en-US" b="1">
                <a:solidFill>
                  <a:srgbClr val="0000FF"/>
                </a:solidFill>
                <a:ea typeface="楷体_GB2312" pitchFamily="49" charset="-122"/>
              </a:rPr>
              <a:t>、经典物理学大厦</a:t>
            </a:r>
          </a:p>
        </p:txBody>
      </p:sp>
      <p:sp>
        <p:nvSpPr>
          <p:cNvPr id="160776" name="Line 8"/>
          <p:cNvSpPr>
            <a:spLocks noChangeShapeType="1"/>
          </p:cNvSpPr>
          <p:nvPr/>
        </p:nvSpPr>
        <p:spPr bwMode="auto">
          <a:xfrm flipV="1">
            <a:off x="3338513" y="1403350"/>
            <a:ext cx="538162" cy="630238"/>
          </a:xfrm>
          <a:prstGeom prst="line">
            <a:avLst/>
          </a:prstGeom>
          <a:noFill/>
          <a:ln w="19050">
            <a:solidFill>
              <a:srgbClr val="0000FF"/>
            </a:solidFill>
            <a:round/>
            <a:headEnd/>
            <a:tailEnd/>
          </a:ln>
          <a:effectLst/>
        </p:spPr>
        <p:txBody>
          <a:bodyPr/>
          <a:lstStyle/>
          <a:p>
            <a:endParaRPr lang="zh-CN" altLang="en-US"/>
          </a:p>
        </p:txBody>
      </p:sp>
      <p:sp>
        <p:nvSpPr>
          <p:cNvPr id="160777" name="Text Box 9"/>
          <p:cNvSpPr txBox="1">
            <a:spLocks noChangeArrowheads="1"/>
          </p:cNvSpPr>
          <p:nvPr/>
        </p:nvSpPr>
        <p:spPr bwMode="auto">
          <a:xfrm>
            <a:off x="3833813" y="1089025"/>
            <a:ext cx="4364037"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机械运动</a:t>
            </a:r>
            <a:r>
              <a:rPr lang="en-US" altLang="zh-CN" b="1">
                <a:solidFill>
                  <a:schemeClr val="bg1"/>
                </a:solidFill>
                <a:ea typeface="楷体_GB2312" pitchFamily="49" charset="-122"/>
              </a:rPr>
              <a:t>——</a:t>
            </a:r>
            <a:r>
              <a:rPr lang="zh-CN" altLang="en-US" b="1">
                <a:solidFill>
                  <a:schemeClr val="bg1"/>
                </a:solidFill>
                <a:ea typeface="楷体_GB2312" pitchFamily="49" charset="-122"/>
              </a:rPr>
              <a:t>牛顿力学</a:t>
            </a:r>
            <a:endParaRPr lang="zh-CN" altLang="en-US">
              <a:ea typeface="楷体_GB2312" pitchFamily="49" charset="-122"/>
            </a:endParaRPr>
          </a:p>
        </p:txBody>
      </p:sp>
      <p:sp>
        <p:nvSpPr>
          <p:cNvPr id="160778" name="Text Box 10"/>
          <p:cNvSpPr txBox="1">
            <a:spLocks noChangeArrowheads="1"/>
          </p:cNvSpPr>
          <p:nvPr/>
        </p:nvSpPr>
        <p:spPr bwMode="auto">
          <a:xfrm>
            <a:off x="3833813" y="1538288"/>
            <a:ext cx="5310187"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热运动</a:t>
            </a:r>
            <a:r>
              <a:rPr lang="en-US" altLang="zh-CN" b="1">
                <a:solidFill>
                  <a:schemeClr val="bg1"/>
                </a:solidFill>
                <a:ea typeface="楷体_GB2312" pitchFamily="49" charset="-122"/>
              </a:rPr>
              <a:t>——</a:t>
            </a:r>
            <a:r>
              <a:rPr lang="zh-CN" altLang="en-US" b="1">
                <a:solidFill>
                  <a:schemeClr val="bg1"/>
                </a:solidFill>
                <a:ea typeface="楷体_GB2312" pitchFamily="49" charset="-122"/>
              </a:rPr>
              <a:t>热力学和统计物理学</a:t>
            </a:r>
            <a:endParaRPr lang="zh-CN" altLang="en-US">
              <a:ea typeface="楷体_GB2312" pitchFamily="49" charset="-122"/>
            </a:endParaRPr>
          </a:p>
        </p:txBody>
      </p:sp>
      <p:sp>
        <p:nvSpPr>
          <p:cNvPr id="160779" name="Text Box 11"/>
          <p:cNvSpPr txBox="1">
            <a:spLocks noChangeArrowheads="1"/>
          </p:cNvSpPr>
          <p:nvPr/>
        </p:nvSpPr>
        <p:spPr bwMode="auto">
          <a:xfrm>
            <a:off x="3833813" y="2033588"/>
            <a:ext cx="4364037"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电磁现象</a:t>
            </a:r>
            <a:r>
              <a:rPr lang="en-US" altLang="zh-CN" b="1">
                <a:solidFill>
                  <a:schemeClr val="bg1"/>
                </a:solidFill>
                <a:ea typeface="楷体_GB2312" pitchFamily="49" charset="-122"/>
              </a:rPr>
              <a:t>——</a:t>
            </a:r>
            <a:r>
              <a:rPr lang="zh-CN" altLang="en-US" b="1">
                <a:solidFill>
                  <a:schemeClr val="bg1"/>
                </a:solidFill>
                <a:ea typeface="楷体_GB2312" pitchFamily="49" charset="-122"/>
              </a:rPr>
              <a:t>麦克斯韦方程组</a:t>
            </a:r>
            <a:endParaRPr lang="zh-CN" altLang="en-US">
              <a:ea typeface="楷体_GB2312" pitchFamily="49" charset="-122"/>
            </a:endParaRPr>
          </a:p>
        </p:txBody>
      </p:sp>
      <p:sp>
        <p:nvSpPr>
          <p:cNvPr id="160780" name="Text Box 12"/>
          <p:cNvSpPr txBox="1">
            <a:spLocks noChangeArrowheads="1"/>
          </p:cNvSpPr>
          <p:nvPr/>
        </p:nvSpPr>
        <p:spPr bwMode="auto">
          <a:xfrm>
            <a:off x="3833813" y="2528888"/>
            <a:ext cx="4364037" cy="457200"/>
          </a:xfrm>
          <a:prstGeom prst="rect">
            <a:avLst/>
          </a:prstGeom>
          <a:noFill/>
          <a:ln w="9525">
            <a:noFill/>
            <a:miter lim="800000"/>
            <a:headEnd/>
            <a:tailEnd/>
          </a:ln>
          <a:effectLst/>
        </p:spPr>
        <p:txBody>
          <a:bodyPr>
            <a:spAutoFit/>
          </a:bodyPr>
          <a:lstStyle/>
          <a:p>
            <a:r>
              <a:rPr lang="zh-CN" altLang="en-US" b="1">
                <a:solidFill>
                  <a:schemeClr val="bg1"/>
                </a:solidFill>
                <a:ea typeface="楷体_GB2312" pitchFamily="49" charset="-122"/>
              </a:rPr>
              <a:t>光学现象</a:t>
            </a:r>
            <a:r>
              <a:rPr lang="en-US" altLang="zh-CN" b="1">
                <a:solidFill>
                  <a:schemeClr val="bg1"/>
                </a:solidFill>
                <a:ea typeface="楷体_GB2312" pitchFamily="49" charset="-122"/>
              </a:rPr>
              <a:t>——</a:t>
            </a:r>
            <a:r>
              <a:rPr lang="zh-CN" altLang="en-US" b="1">
                <a:solidFill>
                  <a:schemeClr val="bg1"/>
                </a:solidFill>
                <a:ea typeface="楷体_GB2312" pitchFamily="49" charset="-122"/>
              </a:rPr>
              <a:t>波动光学</a:t>
            </a:r>
            <a:endParaRPr lang="zh-CN" altLang="en-US">
              <a:ea typeface="楷体_GB2312" pitchFamily="49" charset="-122"/>
            </a:endParaRPr>
          </a:p>
        </p:txBody>
      </p:sp>
      <p:sp>
        <p:nvSpPr>
          <p:cNvPr id="160781" name="Line 13"/>
          <p:cNvSpPr>
            <a:spLocks noChangeShapeType="1"/>
          </p:cNvSpPr>
          <p:nvPr/>
        </p:nvSpPr>
        <p:spPr bwMode="auto">
          <a:xfrm flipV="1">
            <a:off x="3338513" y="1808163"/>
            <a:ext cx="539750" cy="271462"/>
          </a:xfrm>
          <a:prstGeom prst="line">
            <a:avLst/>
          </a:prstGeom>
          <a:noFill/>
          <a:ln w="19050">
            <a:solidFill>
              <a:srgbClr val="0000FF"/>
            </a:solidFill>
            <a:round/>
            <a:headEnd/>
            <a:tailEnd/>
          </a:ln>
          <a:effectLst/>
        </p:spPr>
        <p:txBody>
          <a:bodyPr/>
          <a:lstStyle/>
          <a:p>
            <a:endParaRPr lang="zh-CN" altLang="en-US"/>
          </a:p>
        </p:txBody>
      </p:sp>
      <p:sp>
        <p:nvSpPr>
          <p:cNvPr id="160782" name="Line 14"/>
          <p:cNvSpPr>
            <a:spLocks noChangeShapeType="1"/>
          </p:cNvSpPr>
          <p:nvPr/>
        </p:nvSpPr>
        <p:spPr bwMode="auto">
          <a:xfrm>
            <a:off x="3338513" y="2168525"/>
            <a:ext cx="538162" cy="539750"/>
          </a:xfrm>
          <a:prstGeom prst="line">
            <a:avLst/>
          </a:prstGeom>
          <a:noFill/>
          <a:ln w="19050">
            <a:solidFill>
              <a:srgbClr val="0000FF"/>
            </a:solidFill>
            <a:round/>
            <a:headEnd/>
            <a:tailEnd/>
          </a:ln>
          <a:effectLst/>
        </p:spPr>
        <p:txBody>
          <a:bodyPr/>
          <a:lstStyle/>
          <a:p>
            <a:endParaRPr lang="zh-CN" altLang="en-US"/>
          </a:p>
        </p:txBody>
      </p:sp>
      <p:sp>
        <p:nvSpPr>
          <p:cNvPr id="160783" name="Line 15"/>
          <p:cNvSpPr>
            <a:spLocks noChangeShapeType="1"/>
          </p:cNvSpPr>
          <p:nvPr/>
        </p:nvSpPr>
        <p:spPr bwMode="auto">
          <a:xfrm>
            <a:off x="3338513" y="2124075"/>
            <a:ext cx="582612" cy="134938"/>
          </a:xfrm>
          <a:prstGeom prst="line">
            <a:avLst/>
          </a:prstGeom>
          <a:noFill/>
          <a:ln w="19050">
            <a:solidFill>
              <a:srgbClr val="0000FF"/>
            </a:solidFill>
            <a:round/>
            <a:headEnd/>
            <a:tailEnd/>
          </a:ln>
          <a:effectLst/>
        </p:spPr>
        <p:txBody>
          <a:bodyPr/>
          <a:lstStyle/>
          <a:p>
            <a:endParaRPr lang="zh-CN" altLang="en-US"/>
          </a:p>
        </p:txBody>
      </p:sp>
      <p:sp>
        <p:nvSpPr>
          <p:cNvPr id="160785" name="Rectangle 17"/>
          <p:cNvSpPr>
            <a:spLocks noChangeArrowheads="1"/>
          </p:cNvSpPr>
          <p:nvPr/>
        </p:nvSpPr>
        <p:spPr bwMode="auto">
          <a:xfrm>
            <a:off x="614363" y="3203575"/>
            <a:ext cx="4321175" cy="404813"/>
          </a:xfrm>
          <a:prstGeom prst="rect">
            <a:avLst/>
          </a:prstGeom>
          <a:noFill/>
          <a:ln w="9525">
            <a:noFill/>
            <a:miter lim="800000"/>
            <a:headEnd/>
            <a:tailEnd/>
          </a:ln>
          <a:effectLst/>
        </p:spPr>
        <p:txBody>
          <a:bodyPr/>
          <a:lstStyle/>
          <a:p>
            <a:pPr marL="342900" indent="-342900">
              <a:spcBef>
                <a:spcPct val="20000"/>
              </a:spcBef>
            </a:pPr>
            <a:r>
              <a:rPr lang="en-US" altLang="zh-CN" b="1">
                <a:solidFill>
                  <a:srgbClr val="0000FF"/>
                </a:solidFill>
                <a:ea typeface="楷体_GB2312" pitchFamily="49" charset="-122"/>
              </a:rPr>
              <a:t>2</a:t>
            </a:r>
            <a:r>
              <a:rPr lang="zh-CN" altLang="en-US" b="1">
                <a:solidFill>
                  <a:srgbClr val="0000FF"/>
                </a:solidFill>
                <a:ea typeface="楷体_GB2312" pitchFamily="49" charset="-122"/>
              </a:rPr>
              <a:t>、几朵令人不安的乌云</a:t>
            </a:r>
          </a:p>
        </p:txBody>
      </p:sp>
      <p:sp>
        <p:nvSpPr>
          <p:cNvPr id="160793" name="AutoShape 25"/>
          <p:cNvSpPr>
            <a:spLocks noChangeArrowheads="1"/>
          </p:cNvSpPr>
          <p:nvPr/>
        </p:nvSpPr>
        <p:spPr bwMode="auto">
          <a:xfrm>
            <a:off x="3671888" y="4373563"/>
            <a:ext cx="2339975" cy="914400"/>
          </a:xfrm>
          <a:prstGeom prst="cloudCallout">
            <a:avLst>
              <a:gd name="adj1" fmla="val 24968"/>
              <a:gd name="adj2" fmla="val 111806"/>
            </a:avLst>
          </a:prstGeom>
          <a:gradFill rotWithShape="0">
            <a:gsLst>
              <a:gs pos="0">
                <a:srgbClr val="666666"/>
              </a:gs>
              <a:gs pos="50000">
                <a:srgbClr val="DADADA"/>
              </a:gs>
              <a:gs pos="100000">
                <a:srgbClr val="666666"/>
              </a:gs>
            </a:gsLst>
            <a:lin ang="540000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defRPr/>
            </a:pPr>
            <a:r>
              <a:rPr kumimoji="0" lang="en-US" altLang="zh-CN" b="1">
                <a:solidFill>
                  <a:schemeClr val="bg2"/>
                </a:solidFill>
                <a:latin typeface="楷体_GB2312" pitchFamily="49" charset="-122"/>
                <a:ea typeface="楷体_GB2312" pitchFamily="49" charset="-122"/>
              </a:rPr>
              <a:t> </a:t>
            </a:r>
            <a:r>
              <a:rPr kumimoji="0" lang="zh-CN" altLang="en-US" b="1">
                <a:solidFill>
                  <a:schemeClr val="bg2"/>
                </a:solidFill>
                <a:latin typeface="楷体_GB2312" pitchFamily="49" charset="-122"/>
                <a:ea typeface="楷体_GB2312" pitchFamily="49" charset="-122"/>
              </a:rPr>
              <a:t>紫外灾难</a:t>
            </a:r>
            <a:endParaRPr kumimoji="0" lang="zh-CN" altLang="en-US" b="1">
              <a:solidFill>
                <a:schemeClr val="bg2"/>
              </a:solidFill>
              <a:effectLst>
                <a:outerShdw blurRad="38100" dist="38100" dir="2700000" algn="tl">
                  <a:srgbClr val="FFFFFF"/>
                </a:outerShdw>
              </a:effectLst>
              <a:latin typeface="楷体_GB2312" pitchFamily="49" charset="-122"/>
              <a:ea typeface="楷体_GB2312" pitchFamily="49" charset="-122"/>
            </a:endParaRPr>
          </a:p>
        </p:txBody>
      </p:sp>
      <p:sp>
        <p:nvSpPr>
          <p:cNvPr id="160794" name="AutoShape 26"/>
          <p:cNvSpPr>
            <a:spLocks noChangeArrowheads="1"/>
          </p:cNvSpPr>
          <p:nvPr/>
        </p:nvSpPr>
        <p:spPr bwMode="auto">
          <a:xfrm>
            <a:off x="1601788" y="3833813"/>
            <a:ext cx="2520950" cy="1025525"/>
          </a:xfrm>
          <a:prstGeom prst="cloudCallout">
            <a:avLst>
              <a:gd name="adj1" fmla="val -1194"/>
              <a:gd name="adj2" fmla="val 139630"/>
            </a:avLst>
          </a:prstGeom>
          <a:gradFill rotWithShape="0">
            <a:gsLst>
              <a:gs pos="0">
                <a:srgbClr val="6C6C6C"/>
              </a:gs>
              <a:gs pos="50000">
                <a:srgbClr val="E0E0E0"/>
              </a:gs>
              <a:gs pos="100000">
                <a:srgbClr val="6C6C6C"/>
              </a:gs>
            </a:gsLst>
            <a:lin ang="540000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190000"/>
              </a:lnSpc>
              <a:defRPr/>
            </a:pPr>
            <a:r>
              <a:rPr kumimoji="0" lang="zh-CN" altLang="en-US" b="1">
                <a:solidFill>
                  <a:schemeClr val="bg2"/>
                </a:solidFill>
                <a:latin typeface="楷体_GB2312" pitchFamily="49" charset="-122"/>
                <a:ea typeface="楷体_GB2312" pitchFamily="49" charset="-122"/>
              </a:rPr>
              <a:t>迈克尔逊</a:t>
            </a:r>
          </a:p>
          <a:p>
            <a:pPr algn="ctr" eaLnBrk="0" hangingPunct="0">
              <a:lnSpc>
                <a:spcPct val="80000"/>
              </a:lnSpc>
              <a:defRPr/>
            </a:pPr>
            <a:r>
              <a:rPr kumimoji="0" lang="en-US" altLang="zh-CN" b="1">
                <a:solidFill>
                  <a:schemeClr val="bg2"/>
                </a:solidFill>
                <a:latin typeface="Dotum"/>
                <a:ea typeface="楷体_GB2312" pitchFamily="49" charset="-122"/>
              </a:rPr>
              <a:t>—</a:t>
            </a:r>
            <a:r>
              <a:rPr kumimoji="0" lang="zh-CN" altLang="en-US" b="1">
                <a:solidFill>
                  <a:schemeClr val="bg2"/>
                </a:solidFill>
                <a:latin typeface="楷体_GB2312" pitchFamily="49" charset="-122"/>
                <a:ea typeface="楷体_GB2312" pitchFamily="49" charset="-122"/>
              </a:rPr>
              <a:t>莫雷实验</a:t>
            </a:r>
          </a:p>
          <a:p>
            <a:pPr algn="ctr" eaLnBrk="0" hangingPunct="0">
              <a:defRPr/>
            </a:pPr>
            <a:endParaRPr kumimoji="0" lang="en-US" altLang="zh-CN" sz="2000" b="1">
              <a:solidFill>
                <a:schemeClr val="bg2"/>
              </a:solidFill>
              <a:effectLst>
                <a:outerShdw blurRad="38100" dist="38100" dir="2700000" algn="tl">
                  <a:srgbClr val="FFFFFF"/>
                </a:outerShdw>
              </a:effectLst>
              <a:latin typeface="楷体_GB2312" pitchFamily="49" charset="-122"/>
              <a:ea typeface="楷体_GB2312" pitchFamily="49" charset="-122"/>
            </a:endParaRPr>
          </a:p>
        </p:txBody>
      </p:sp>
      <p:sp>
        <p:nvSpPr>
          <p:cNvPr id="160795" name="AutoShape 27"/>
          <p:cNvSpPr>
            <a:spLocks noChangeArrowheads="1"/>
          </p:cNvSpPr>
          <p:nvPr/>
        </p:nvSpPr>
        <p:spPr bwMode="auto">
          <a:xfrm>
            <a:off x="4527550" y="3473450"/>
            <a:ext cx="2293938" cy="914400"/>
          </a:xfrm>
          <a:prstGeom prst="cloudCallout">
            <a:avLst>
              <a:gd name="adj1" fmla="val -4949"/>
              <a:gd name="adj2" fmla="val 191319"/>
            </a:avLst>
          </a:prstGeom>
          <a:gradFill rotWithShape="0">
            <a:gsLst>
              <a:gs pos="0">
                <a:srgbClr val="767676"/>
              </a:gs>
              <a:gs pos="50000">
                <a:srgbClr val="DADADA"/>
              </a:gs>
              <a:gs pos="100000">
                <a:srgbClr val="767676"/>
              </a:gs>
            </a:gsLst>
            <a:lin ang="5400000" scaled="1"/>
          </a:gradFill>
          <a:ln w="9525">
            <a:noFill/>
            <a:round/>
            <a:headEnd/>
            <a:tailEnd/>
          </a:ln>
          <a:effectLst/>
        </p:spPr>
        <p:txBody>
          <a:bodyPr wrap="none" anchor="ctr"/>
          <a:lstStyle/>
          <a:p>
            <a:pPr algn="ctr" eaLnBrk="0" hangingPunct="0"/>
            <a:r>
              <a:rPr kumimoji="0" lang="zh-CN" altLang="en-US" b="1">
                <a:solidFill>
                  <a:schemeClr val="bg2"/>
                </a:solidFill>
                <a:latin typeface="楷体_GB2312" pitchFamily="49" charset="-122"/>
                <a:ea typeface="楷体_GB2312" pitchFamily="49" charset="-122"/>
              </a:rPr>
              <a:t>光电效应</a:t>
            </a:r>
          </a:p>
        </p:txBody>
      </p:sp>
      <p:sp>
        <p:nvSpPr>
          <p:cNvPr id="160796" name="AutoShape 28"/>
          <p:cNvSpPr>
            <a:spLocks noChangeArrowheads="1"/>
          </p:cNvSpPr>
          <p:nvPr/>
        </p:nvSpPr>
        <p:spPr bwMode="auto">
          <a:xfrm>
            <a:off x="6011863" y="4643438"/>
            <a:ext cx="2700337" cy="990600"/>
          </a:xfrm>
          <a:prstGeom prst="cloudCallout">
            <a:avLst>
              <a:gd name="adj1" fmla="val -63287"/>
              <a:gd name="adj2" fmla="val 71472"/>
            </a:avLst>
          </a:prstGeom>
          <a:gradFill rotWithShape="0">
            <a:gsLst>
              <a:gs pos="0">
                <a:srgbClr val="787878"/>
              </a:gs>
              <a:gs pos="50000">
                <a:srgbClr val="DADADA"/>
              </a:gs>
              <a:gs pos="100000">
                <a:srgbClr val="787878"/>
              </a:gs>
            </a:gsLst>
            <a:lin ang="5400000" scaled="1"/>
          </a:gradFill>
          <a:ln w="9525">
            <a:noFill/>
            <a:round/>
            <a:headEnd/>
            <a:tailEnd/>
          </a:ln>
          <a:effectLst/>
        </p:spPr>
        <p:txBody>
          <a:bodyPr wrap="none" anchor="ctr"/>
          <a:lstStyle/>
          <a:p>
            <a:pPr algn="ctr" eaLnBrk="0" hangingPunct="0"/>
            <a:r>
              <a:rPr kumimoji="0" lang="zh-CN" altLang="en-US" b="1">
                <a:solidFill>
                  <a:schemeClr val="bg2"/>
                </a:solidFill>
                <a:latin typeface="楷体_GB2312" pitchFamily="49" charset="-122"/>
                <a:ea typeface="楷体_GB2312" pitchFamily="49" charset="-122"/>
              </a:rPr>
              <a:t>氢原子光谱</a:t>
            </a:r>
          </a:p>
        </p:txBody>
      </p:sp>
      <p:sp>
        <p:nvSpPr>
          <p:cNvPr id="160799" name="Text Box 31"/>
          <p:cNvSpPr txBox="1">
            <a:spLocks noChangeArrowheads="1"/>
          </p:cNvSpPr>
          <p:nvPr/>
        </p:nvSpPr>
        <p:spPr bwMode="auto">
          <a:xfrm>
            <a:off x="1916113" y="5851525"/>
            <a:ext cx="1835150" cy="473075"/>
          </a:xfrm>
          <a:prstGeom prst="rect">
            <a:avLst/>
          </a:prstGeom>
          <a:noFill/>
          <a:ln w="15875">
            <a:solidFill>
              <a:srgbClr val="0000FF"/>
            </a:solidFill>
            <a:miter lim="800000"/>
            <a:headEnd/>
            <a:tailEnd/>
          </a:ln>
          <a:effectLst/>
        </p:spPr>
        <p:txBody>
          <a:bodyPr>
            <a:spAutoFit/>
          </a:bodyPr>
          <a:lstStyle/>
          <a:p>
            <a:pPr algn="just">
              <a:spcBef>
                <a:spcPct val="50000"/>
              </a:spcBef>
            </a:pPr>
            <a:r>
              <a:rPr lang="zh-CN" altLang="en-US" b="1">
                <a:solidFill>
                  <a:schemeClr val="tx2"/>
                </a:solidFill>
                <a:latin typeface="楷体_GB2312" pitchFamily="49" charset="-122"/>
                <a:ea typeface="楷体_GB2312" pitchFamily="49" charset="-122"/>
              </a:rPr>
              <a:t>狭义相对论</a:t>
            </a:r>
          </a:p>
        </p:txBody>
      </p:sp>
      <p:sp>
        <p:nvSpPr>
          <p:cNvPr id="160801" name="AutoShape 33"/>
          <p:cNvSpPr>
            <a:spLocks noChangeArrowheads="1"/>
          </p:cNvSpPr>
          <p:nvPr/>
        </p:nvSpPr>
        <p:spPr bwMode="auto">
          <a:xfrm>
            <a:off x="5967413" y="4194175"/>
            <a:ext cx="806450" cy="449263"/>
          </a:xfrm>
          <a:prstGeom prst="cloudCallout">
            <a:avLst>
              <a:gd name="adj1" fmla="val 43306"/>
              <a:gd name="adj2" fmla="val -65194"/>
            </a:avLst>
          </a:prstGeom>
          <a:gradFill rotWithShape="0">
            <a:gsLst>
              <a:gs pos="0">
                <a:srgbClr val="8B8B8B"/>
              </a:gs>
              <a:gs pos="50000">
                <a:srgbClr val="DADADA"/>
              </a:gs>
              <a:gs pos="100000">
                <a:srgbClr val="8B8B8B"/>
              </a:gs>
            </a:gsLst>
            <a:lin ang="5400000" scaled="1"/>
          </a:gradFill>
          <a:ln w="9525">
            <a:noFill/>
            <a:round/>
            <a:headEnd/>
            <a:tailEnd/>
          </a:ln>
          <a:effectLst/>
        </p:spPr>
        <p:txBody>
          <a:bodyPr wrap="none" anchor="ctr"/>
          <a:lstStyle/>
          <a:p>
            <a:pPr algn="ctr" eaLnBrk="0" hangingPunct="0"/>
            <a:r>
              <a:rPr kumimoji="0" lang="en-US" altLang="en-US" b="1">
                <a:solidFill>
                  <a:schemeClr val="bg2"/>
                </a:solidFill>
              </a:rPr>
              <a:t>… …</a:t>
            </a:r>
            <a:endParaRPr kumimoji="0" lang="en-US" altLang="zh-CN" b="1">
              <a:solidFill>
                <a:schemeClr val="bg2"/>
              </a:solidFill>
            </a:endParaRPr>
          </a:p>
        </p:txBody>
      </p:sp>
      <p:sp>
        <p:nvSpPr>
          <p:cNvPr id="160802" name="AutoShape 34"/>
          <p:cNvSpPr>
            <a:spLocks noChangeArrowheads="1"/>
          </p:cNvSpPr>
          <p:nvPr/>
        </p:nvSpPr>
        <p:spPr bwMode="auto">
          <a:xfrm>
            <a:off x="7115175" y="4094163"/>
            <a:ext cx="922338" cy="542925"/>
          </a:xfrm>
          <a:prstGeom prst="cloudCallout">
            <a:avLst>
              <a:gd name="adj1" fmla="val 85111"/>
              <a:gd name="adj2" fmla="val -69593"/>
            </a:avLst>
          </a:prstGeom>
          <a:gradFill rotWithShape="0">
            <a:gsLst>
              <a:gs pos="0">
                <a:srgbClr val="8B8B8B"/>
              </a:gs>
              <a:gs pos="50000">
                <a:srgbClr val="DADADA"/>
              </a:gs>
              <a:gs pos="100000">
                <a:srgbClr val="8B8B8B"/>
              </a:gs>
            </a:gsLst>
            <a:lin ang="5400000" scaled="1"/>
          </a:gradFill>
          <a:ln w="9525">
            <a:noFill/>
            <a:round/>
            <a:headEnd/>
            <a:tailEnd/>
          </a:ln>
          <a:effectLst/>
        </p:spPr>
        <p:txBody>
          <a:bodyPr wrap="none" anchor="ctr"/>
          <a:lstStyle/>
          <a:p>
            <a:pPr algn="ctr" eaLnBrk="0" hangingPunct="0"/>
            <a:r>
              <a:rPr kumimoji="0" lang="en-US" altLang="en-US" b="1">
                <a:solidFill>
                  <a:schemeClr val="bg2"/>
                </a:solidFill>
              </a:rPr>
              <a:t>… …</a:t>
            </a:r>
            <a:endParaRPr kumimoji="0" lang="en-US" altLang="zh-CN" b="1">
              <a:solidFill>
                <a:schemeClr val="bg2"/>
              </a:solidFill>
            </a:endParaRPr>
          </a:p>
        </p:txBody>
      </p:sp>
      <p:sp>
        <p:nvSpPr>
          <p:cNvPr id="160803" name="AutoShape 35"/>
          <p:cNvSpPr>
            <a:spLocks noChangeArrowheads="1"/>
          </p:cNvSpPr>
          <p:nvPr/>
        </p:nvSpPr>
        <p:spPr bwMode="auto">
          <a:xfrm>
            <a:off x="6281738" y="3429000"/>
            <a:ext cx="2655887" cy="630238"/>
          </a:xfrm>
          <a:prstGeom prst="cloudCallout">
            <a:avLst>
              <a:gd name="adj1" fmla="val -30454"/>
              <a:gd name="adj2" fmla="val -66875"/>
            </a:avLst>
          </a:prstGeom>
          <a:gradFill rotWithShape="0">
            <a:gsLst>
              <a:gs pos="0">
                <a:srgbClr val="8B8B8B"/>
              </a:gs>
              <a:gs pos="50000">
                <a:srgbClr val="DADADA"/>
              </a:gs>
              <a:gs pos="100000">
                <a:srgbClr val="8B8B8B"/>
              </a:gs>
            </a:gsLst>
            <a:lin ang="5400000" scaled="1"/>
          </a:gradFill>
          <a:ln w="9525">
            <a:noFill/>
            <a:round/>
            <a:headEnd/>
            <a:tailEnd/>
          </a:ln>
          <a:effectLst/>
        </p:spPr>
        <p:txBody>
          <a:bodyPr wrap="none" anchor="ctr"/>
          <a:lstStyle/>
          <a:p>
            <a:pPr algn="ctr" eaLnBrk="0" hangingPunct="0"/>
            <a:r>
              <a:rPr kumimoji="0" lang="zh-CN" altLang="en-US" b="1">
                <a:solidFill>
                  <a:schemeClr val="bg2"/>
                </a:solidFill>
                <a:ea typeface="楷体_GB2312" pitchFamily="49" charset="-122"/>
              </a:rPr>
              <a:t>电子的发现</a:t>
            </a:r>
          </a:p>
        </p:txBody>
      </p:sp>
      <p:sp>
        <p:nvSpPr>
          <p:cNvPr id="160804" name="Text Box 36"/>
          <p:cNvSpPr txBox="1">
            <a:spLocks noChangeArrowheads="1"/>
          </p:cNvSpPr>
          <p:nvPr/>
        </p:nvSpPr>
        <p:spPr bwMode="auto">
          <a:xfrm>
            <a:off x="4841875" y="5815013"/>
            <a:ext cx="1844675" cy="473075"/>
          </a:xfrm>
          <a:prstGeom prst="rect">
            <a:avLst/>
          </a:prstGeom>
          <a:noFill/>
          <a:ln w="15875">
            <a:solidFill>
              <a:srgbClr val="0000FF"/>
            </a:solidFill>
            <a:miter lim="800000"/>
            <a:headEnd/>
            <a:tailEnd/>
          </a:ln>
          <a:effectLst/>
        </p:spPr>
        <p:txBody>
          <a:bodyPr>
            <a:spAutoFit/>
          </a:bodyPr>
          <a:lstStyle/>
          <a:p>
            <a:pPr algn="just">
              <a:spcBef>
                <a:spcPct val="50000"/>
              </a:spcBef>
            </a:pPr>
            <a:r>
              <a:rPr lang="zh-CN" altLang="en-US" b="1">
                <a:solidFill>
                  <a:schemeClr val="tx2"/>
                </a:solidFill>
                <a:latin typeface="楷体_GB2312" pitchFamily="49" charset="-122"/>
                <a:ea typeface="楷体_GB2312" pitchFamily="49" charset="-122"/>
              </a:rPr>
              <a:t>量子力学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0772"/>
                                        </p:tgtEl>
                                        <p:attrNameLst>
                                          <p:attrName>style.visibility</p:attrName>
                                        </p:attrNameLst>
                                      </p:cBhvr>
                                      <p:to>
                                        <p:strVal val="visible"/>
                                      </p:to>
                                    </p:set>
                                    <p:animEffect transition="in" filter="wipe(left)">
                                      <p:cBhvr>
                                        <p:cTn id="7" dur="500"/>
                                        <p:tgtEl>
                                          <p:spTgt spid="1607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0773"/>
                                        </p:tgtEl>
                                        <p:attrNameLst>
                                          <p:attrName>style.visibility</p:attrName>
                                        </p:attrNameLst>
                                      </p:cBhvr>
                                      <p:to>
                                        <p:strVal val="visible"/>
                                      </p:to>
                                    </p:set>
                                    <p:animEffect transition="in" filter="wipe(left)">
                                      <p:cBhvr>
                                        <p:cTn id="12" dur="500"/>
                                        <p:tgtEl>
                                          <p:spTgt spid="1607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0774"/>
                                        </p:tgtEl>
                                        <p:attrNameLst>
                                          <p:attrName>style.visibility</p:attrName>
                                        </p:attrNameLst>
                                      </p:cBhvr>
                                      <p:to>
                                        <p:strVal val="visible"/>
                                      </p:to>
                                    </p:set>
                                    <p:animEffect transition="in" filter="wipe(left)">
                                      <p:cBhvr>
                                        <p:cTn id="17" dur="500"/>
                                        <p:tgtEl>
                                          <p:spTgt spid="1607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0776"/>
                                        </p:tgtEl>
                                        <p:attrNameLst>
                                          <p:attrName>style.visibility</p:attrName>
                                        </p:attrNameLst>
                                      </p:cBhvr>
                                      <p:to>
                                        <p:strVal val="visible"/>
                                      </p:to>
                                    </p:set>
                                    <p:animEffect transition="in" filter="wipe(left)">
                                      <p:cBhvr>
                                        <p:cTn id="22" dur="500"/>
                                        <p:tgtEl>
                                          <p:spTgt spid="160776"/>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60777"/>
                                        </p:tgtEl>
                                        <p:attrNameLst>
                                          <p:attrName>style.visibility</p:attrName>
                                        </p:attrNameLst>
                                      </p:cBhvr>
                                      <p:to>
                                        <p:strVal val="visible"/>
                                      </p:to>
                                    </p:set>
                                    <p:animEffect transition="in" filter="wipe(left)">
                                      <p:cBhvr>
                                        <p:cTn id="26" dur="500"/>
                                        <p:tgtEl>
                                          <p:spTgt spid="16077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0781"/>
                                        </p:tgtEl>
                                        <p:attrNameLst>
                                          <p:attrName>style.visibility</p:attrName>
                                        </p:attrNameLst>
                                      </p:cBhvr>
                                      <p:to>
                                        <p:strVal val="visible"/>
                                      </p:to>
                                    </p:set>
                                    <p:animEffect transition="in" filter="wipe(left)">
                                      <p:cBhvr>
                                        <p:cTn id="31" dur="500"/>
                                        <p:tgtEl>
                                          <p:spTgt spid="160781"/>
                                        </p:tgtEl>
                                      </p:cBhvr>
                                    </p:animEffect>
                                  </p:childTnLst>
                                </p:cTn>
                              </p:par>
                            </p:childTnLst>
                          </p:cTn>
                        </p:par>
                        <p:par>
                          <p:cTn id="32" fill="hold" nodeType="afterGroup">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60778"/>
                                        </p:tgtEl>
                                        <p:attrNameLst>
                                          <p:attrName>style.visibility</p:attrName>
                                        </p:attrNameLst>
                                      </p:cBhvr>
                                      <p:to>
                                        <p:strVal val="visible"/>
                                      </p:to>
                                    </p:set>
                                    <p:animEffect transition="in" filter="wipe(left)">
                                      <p:cBhvr>
                                        <p:cTn id="35" dur="500"/>
                                        <p:tgtEl>
                                          <p:spTgt spid="16077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60783"/>
                                        </p:tgtEl>
                                        <p:attrNameLst>
                                          <p:attrName>style.visibility</p:attrName>
                                        </p:attrNameLst>
                                      </p:cBhvr>
                                      <p:to>
                                        <p:strVal val="visible"/>
                                      </p:to>
                                    </p:set>
                                    <p:animEffect transition="in" filter="wipe(left)">
                                      <p:cBhvr>
                                        <p:cTn id="40" dur="500"/>
                                        <p:tgtEl>
                                          <p:spTgt spid="160783"/>
                                        </p:tgtEl>
                                      </p:cBhvr>
                                    </p:animEffect>
                                  </p:childTnLst>
                                </p:cTn>
                              </p:par>
                            </p:childTnLst>
                          </p:cTn>
                        </p:par>
                        <p:par>
                          <p:cTn id="41" fill="hold" nodeType="afterGroup">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60779"/>
                                        </p:tgtEl>
                                        <p:attrNameLst>
                                          <p:attrName>style.visibility</p:attrName>
                                        </p:attrNameLst>
                                      </p:cBhvr>
                                      <p:to>
                                        <p:strVal val="visible"/>
                                      </p:to>
                                    </p:set>
                                    <p:animEffect transition="in" filter="wipe(left)">
                                      <p:cBhvr>
                                        <p:cTn id="44" dur="500"/>
                                        <p:tgtEl>
                                          <p:spTgt spid="16077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60782"/>
                                        </p:tgtEl>
                                        <p:attrNameLst>
                                          <p:attrName>style.visibility</p:attrName>
                                        </p:attrNameLst>
                                      </p:cBhvr>
                                      <p:to>
                                        <p:strVal val="visible"/>
                                      </p:to>
                                    </p:set>
                                    <p:animEffect transition="in" filter="wipe(left)">
                                      <p:cBhvr>
                                        <p:cTn id="49" dur="500"/>
                                        <p:tgtEl>
                                          <p:spTgt spid="160782"/>
                                        </p:tgtEl>
                                      </p:cBhvr>
                                    </p:animEffect>
                                  </p:childTnLst>
                                </p:cTn>
                              </p:par>
                            </p:childTnLst>
                          </p:cTn>
                        </p:par>
                        <p:par>
                          <p:cTn id="50" fill="hold" nodeType="afterGroup">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160780"/>
                                        </p:tgtEl>
                                        <p:attrNameLst>
                                          <p:attrName>style.visibility</p:attrName>
                                        </p:attrNameLst>
                                      </p:cBhvr>
                                      <p:to>
                                        <p:strVal val="visible"/>
                                      </p:to>
                                    </p:set>
                                    <p:animEffect transition="in" filter="wipe(left)">
                                      <p:cBhvr>
                                        <p:cTn id="53" dur="500"/>
                                        <p:tgtEl>
                                          <p:spTgt spid="16078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60785"/>
                                        </p:tgtEl>
                                        <p:attrNameLst>
                                          <p:attrName>style.visibility</p:attrName>
                                        </p:attrNameLst>
                                      </p:cBhvr>
                                      <p:to>
                                        <p:strVal val="visible"/>
                                      </p:to>
                                    </p:set>
                                    <p:animEffect transition="in" filter="wipe(left)">
                                      <p:cBhvr>
                                        <p:cTn id="58" dur="500"/>
                                        <p:tgtEl>
                                          <p:spTgt spid="16078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60794"/>
                                        </p:tgtEl>
                                        <p:attrNameLst>
                                          <p:attrName>style.visibility</p:attrName>
                                        </p:attrNameLst>
                                      </p:cBhvr>
                                      <p:to>
                                        <p:strVal val="visible"/>
                                      </p:to>
                                    </p:set>
                                    <p:animEffect transition="in" filter="wipe(left)">
                                      <p:cBhvr>
                                        <p:cTn id="63" dur="500"/>
                                        <p:tgtEl>
                                          <p:spTgt spid="16079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60793"/>
                                        </p:tgtEl>
                                        <p:attrNameLst>
                                          <p:attrName>style.visibility</p:attrName>
                                        </p:attrNameLst>
                                      </p:cBhvr>
                                      <p:to>
                                        <p:strVal val="visible"/>
                                      </p:to>
                                    </p:set>
                                    <p:animEffect transition="in" filter="wipe(left)">
                                      <p:cBhvr>
                                        <p:cTn id="68" dur="500"/>
                                        <p:tgtEl>
                                          <p:spTgt spid="16079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60795"/>
                                        </p:tgtEl>
                                        <p:attrNameLst>
                                          <p:attrName>style.visibility</p:attrName>
                                        </p:attrNameLst>
                                      </p:cBhvr>
                                      <p:to>
                                        <p:strVal val="visible"/>
                                      </p:to>
                                    </p:set>
                                    <p:animEffect transition="in" filter="wipe(left)">
                                      <p:cBhvr>
                                        <p:cTn id="73" dur="500"/>
                                        <p:tgtEl>
                                          <p:spTgt spid="16079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60796"/>
                                        </p:tgtEl>
                                        <p:attrNameLst>
                                          <p:attrName>style.visibility</p:attrName>
                                        </p:attrNameLst>
                                      </p:cBhvr>
                                      <p:to>
                                        <p:strVal val="visible"/>
                                      </p:to>
                                    </p:set>
                                    <p:animEffect transition="in" filter="wipe(left)">
                                      <p:cBhvr>
                                        <p:cTn id="78" dur="500"/>
                                        <p:tgtEl>
                                          <p:spTgt spid="16079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60801"/>
                                        </p:tgtEl>
                                        <p:attrNameLst>
                                          <p:attrName>style.visibility</p:attrName>
                                        </p:attrNameLst>
                                      </p:cBhvr>
                                      <p:to>
                                        <p:strVal val="visible"/>
                                      </p:to>
                                    </p:set>
                                    <p:animEffect transition="in" filter="wipe(left)">
                                      <p:cBhvr>
                                        <p:cTn id="83" dur="500"/>
                                        <p:tgtEl>
                                          <p:spTgt spid="160801"/>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60802"/>
                                        </p:tgtEl>
                                        <p:attrNameLst>
                                          <p:attrName>style.visibility</p:attrName>
                                        </p:attrNameLst>
                                      </p:cBhvr>
                                      <p:to>
                                        <p:strVal val="visible"/>
                                      </p:to>
                                    </p:set>
                                    <p:animEffect transition="in" filter="wipe(left)">
                                      <p:cBhvr>
                                        <p:cTn id="88" dur="500"/>
                                        <p:tgtEl>
                                          <p:spTgt spid="160802"/>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60803"/>
                                        </p:tgtEl>
                                        <p:attrNameLst>
                                          <p:attrName>style.visibility</p:attrName>
                                        </p:attrNameLst>
                                      </p:cBhvr>
                                      <p:to>
                                        <p:strVal val="visible"/>
                                      </p:to>
                                    </p:set>
                                    <p:animEffect transition="in" filter="wipe(left)">
                                      <p:cBhvr>
                                        <p:cTn id="93" dur="500"/>
                                        <p:tgtEl>
                                          <p:spTgt spid="160803"/>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60799"/>
                                        </p:tgtEl>
                                        <p:attrNameLst>
                                          <p:attrName>style.visibility</p:attrName>
                                        </p:attrNameLst>
                                      </p:cBhvr>
                                      <p:to>
                                        <p:strVal val="visible"/>
                                      </p:to>
                                    </p:set>
                                    <p:animEffect transition="in" filter="wipe(left)">
                                      <p:cBhvr>
                                        <p:cTn id="98" dur="500"/>
                                        <p:tgtEl>
                                          <p:spTgt spid="160799"/>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60804"/>
                                        </p:tgtEl>
                                        <p:attrNameLst>
                                          <p:attrName>style.visibility</p:attrName>
                                        </p:attrNameLst>
                                      </p:cBhvr>
                                      <p:to>
                                        <p:strVal val="visible"/>
                                      </p:to>
                                    </p:set>
                                    <p:animEffect transition="in" filter="wipe(left)">
                                      <p:cBhvr>
                                        <p:cTn id="103" dur="500"/>
                                        <p:tgtEl>
                                          <p:spTgt spid="160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2" grpId="0"/>
      <p:bldP spid="160773" grpId="0"/>
      <p:bldP spid="160774" grpId="0"/>
      <p:bldP spid="160776" grpId="0" animBg="1"/>
      <p:bldP spid="160777" grpId="0"/>
      <p:bldP spid="160778" grpId="0"/>
      <p:bldP spid="160779" grpId="0"/>
      <p:bldP spid="160780" grpId="0"/>
      <p:bldP spid="160781" grpId="0" animBg="1"/>
      <p:bldP spid="160782" grpId="0" animBg="1"/>
      <p:bldP spid="160783" grpId="0" animBg="1"/>
      <p:bldP spid="160785" grpId="0"/>
      <p:bldP spid="160793" grpId="0" animBg="1"/>
      <p:bldP spid="160794" grpId="0" animBg="1"/>
      <p:bldP spid="160795" grpId="0" animBg="1"/>
      <p:bldP spid="160796" grpId="0" animBg="1"/>
      <p:bldP spid="160799" grpId="0" animBg="1"/>
      <p:bldP spid="160801" grpId="0" animBg="1"/>
      <p:bldP spid="160802" grpId="0" animBg="1"/>
      <p:bldP spid="160803" grpId="0" animBg="1"/>
      <p:bldP spid="160804"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6" name="Rectangle 4"/>
          <p:cNvSpPr>
            <a:spLocks noChangeArrowheads="1"/>
          </p:cNvSpPr>
          <p:nvPr/>
        </p:nvSpPr>
        <p:spPr bwMode="auto">
          <a:xfrm>
            <a:off x="206375" y="414338"/>
            <a:ext cx="3465513" cy="528637"/>
          </a:xfrm>
          <a:prstGeom prst="rect">
            <a:avLst/>
          </a:prstGeom>
          <a:noFill/>
          <a:ln w="9525">
            <a:noFill/>
            <a:miter lim="800000"/>
            <a:headEnd/>
            <a:tailEnd/>
          </a:ln>
        </p:spPr>
        <p:txBody>
          <a:bodyPr/>
          <a:lstStyle/>
          <a:p>
            <a:r>
              <a:rPr lang="zh-CN" altLang="en-US" sz="2800" b="1">
                <a:solidFill>
                  <a:schemeClr val="tx2"/>
                </a:solidFill>
                <a:ea typeface="楷体_GB2312" pitchFamily="49" charset="-122"/>
              </a:rPr>
              <a:t>二、早期量子论</a:t>
            </a:r>
            <a:r>
              <a:rPr lang="zh-CN" altLang="en-US" sz="2800">
                <a:solidFill>
                  <a:schemeClr val="tx2"/>
                </a:solidFill>
                <a:ea typeface="楷体_GB2312" pitchFamily="49" charset="-122"/>
              </a:rPr>
              <a:t>：</a:t>
            </a:r>
          </a:p>
        </p:txBody>
      </p:sp>
      <p:sp>
        <p:nvSpPr>
          <p:cNvPr id="161798" name="Text Box 6"/>
          <p:cNvSpPr txBox="1">
            <a:spLocks noChangeArrowheads="1"/>
          </p:cNvSpPr>
          <p:nvPr/>
        </p:nvSpPr>
        <p:spPr bwMode="auto">
          <a:xfrm>
            <a:off x="836613" y="1460500"/>
            <a:ext cx="8101012" cy="1463675"/>
          </a:xfrm>
          <a:prstGeom prst="rect">
            <a:avLst/>
          </a:prstGeom>
          <a:noFill/>
          <a:ln w="9525">
            <a:noFill/>
            <a:miter lim="800000"/>
            <a:headEnd/>
            <a:tailEnd/>
          </a:ln>
          <a:effectLst/>
        </p:spPr>
        <p:txBody>
          <a:bodyPr>
            <a:spAutoFit/>
          </a:bodyPr>
          <a:lstStyle/>
          <a:p>
            <a:pPr>
              <a:lnSpc>
                <a:spcPct val="125000"/>
              </a:lnSpc>
            </a:pPr>
            <a:r>
              <a:rPr lang="en-US" altLang="zh-CN" b="1">
                <a:solidFill>
                  <a:schemeClr val="bg1"/>
                </a:solidFill>
                <a:latin typeface="楷体_GB2312" pitchFamily="49" charset="-122"/>
                <a:ea typeface="楷体_GB2312" pitchFamily="49" charset="-122"/>
              </a:rPr>
              <a:t>    1900</a:t>
            </a:r>
            <a:r>
              <a:rPr lang="zh-CN" altLang="en-US" b="1">
                <a:solidFill>
                  <a:schemeClr val="bg1"/>
                </a:solidFill>
                <a:latin typeface="楷体_GB2312" pitchFamily="49" charset="-122"/>
                <a:ea typeface="楷体_GB2312" pitchFamily="49" charset="-122"/>
              </a:rPr>
              <a:t>年</a:t>
            </a:r>
            <a:r>
              <a:rPr lang="en-US" altLang="zh-CN" b="1">
                <a:solidFill>
                  <a:schemeClr val="bg1"/>
                </a:solidFill>
                <a:latin typeface="楷体_GB2312" pitchFamily="49" charset="-122"/>
                <a:ea typeface="楷体_GB2312" pitchFamily="49" charset="-122"/>
              </a:rPr>
              <a:t>12</a:t>
            </a:r>
            <a:r>
              <a:rPr lang="zh-CN" altLang="en-US" b="1">
                <a:solidFill>
                  <a:schemeClr val="bg1"/>
                </a:solidFill>
                <a:latin typeface="楷体_GB2312" pitchFamily="49" charset="-122"/>
                <a:ea typeface="楷体_GB2312" pitchFamily="49" charset="-122"/>
              </a:rPr>
              <a:t>月</a:t>
            </a:r>
            <a:r>
              <a:rPr lang="en-US" altLang="zh-CN" b="1">
                <a:solidFill>
                  <a:schemeClr val="bg1"/>
                </a:solidFill>
                <a:latin typeface="楷体_GB2312" pitchFamily="49" charset="-122"/>
                <a:ea typeface="楷体_GB2312" pitchFamily="49" charset="-122"/>
              </a:rPr>
              <a:t>14</a:t>
            </a:r>
            <a:r>
              <a:rPr lang="zh-CN" altLang="en-US" b="1">
                <a:solidFill>
                  <a:schemeClr val="bg1"/>
                </a:solidFill>
                <a:latin typeface="楷体_GB2312" pitchFamily="49" charset="-122"/>
                <a:ea typeface="楷体_GB2312" pitchFamily="49" charset="-122"/>
              </a:rPr>
              <a:t>日，德国的</a:t>
            </a:r>
            <a:r>
              <a:rPr lang="zh-CN" altLang="en-US" b="1">
                <a:solidFill>
                  <a:srgbClr val="0000FF"/>
                </a:solidFill>
                <a:latin typeface="楷体_GB2312" pitchFamily="49" charset="-122"/>
                <a:ea typeface="楷体_GB2312" pitchFamily="49" charset="-122"/>
              </a:rPr>
              <a:t>普朗克</a:t>
            </a:r>
            <a:r>
              <a:rPr lang="zh-CN" altLang="en-US" b="1">
                <a:solidFill>
                  <a:schemeClr val="bg1"/>
                </a:solidFill>
                <a:latin typeface="楷体_GB2312" pitchFamily="49" charset="-122"/>
                <a:ea typeface="楷体_GB2312" pitchFamily="49" charset="-122"/>
              </a:rPr>
              <a:t>首次提出微观粒子的</a:t>
            </a:r>
            <a:r>
              <a:rPr lang="zh-CN" altLang="en-US" b="1">
                <a:solidFill>
                  <a:srgbClr val="FF6600"/>
                </a:solidFill>
                <a:latin typeface="楷体_GB2312" pitchFamily="49" charset="-122"/>
                <a:ea typeface="楷体_GB2312" pitchFamily="49" charset="-122"/>
              </a:rPr>
              <a:t>能量是量子化的概念</a:t>
            </a:r>
            <a:r>
              <a:rPr lang="zh-CN" altLang="en-US" b="1">
                <a:solidFill>
                  <a:schemeClr val="bg1"/>
                </a:solidFill>
                <a:latin typeface="楷体_GB2312" pitchFamily="49" charset="-122"/>
                <a:ea typeface="楷体_GB2312" pitchFamily="49" charset="-122"/>
              </a:rPr>
              <a:t>，用以解释黑体辐射的实验规律，引入</a:t>
            </a:r>
            <a:r>
              <a:rPr lang="zh-CN" altLang="en-US" b="1">
                <a:solidFill>
                  <a:schemeClr val="bg2"/>
                </a:solidFill>
                <a:ea typeface="楷体_GB2312" pitchFamily="49" charset="-122"/>
              </a:rPr>
              <a:t>“</a:t>
            </a:r>
            <a:r>
              <a:rPr lang="zh-CN" altLang="en-US" b="1">
                <a:solidFill>
                  <a:schemeClr val="bg2"/>
                </a:solidFill>
                <a:latin typeface="楷体_GB2312" pitchFamily="49" charset="-122"/>
                <a:ea typeface="楷体_GB2312" pitchFamily="49" charset="-122"/>
              </a:rPr>
              <a:t>普朗克常数</a:t>
            </a:r>
            <a:r>
              <a:rPr lang="zh-CN" altLang="en-US" b="1">
                <a:solidFill>
                  <a:schemeClr val="bg2"/>
                </a:solidFill>
                <a:ea typeface="楷体_GB2312" pitchFamily="49" charset="-122"/>
              </a:rPr>
              <a:t>”</a:t>
            </a:r>
            <a:r>
              <a:rPr lang="en-US" altLang="zh-CN" b="1" i="1">
                <a:solidFill>
                  <a:schemeClr val="bg2"/>
                </a:solidFill>
                <a:ea typeface="楷体_GB2312" pitchFamily="49" charset="-122"/>
              </a:rPr>
              <a:t>h</a:t>
            </a:r>
            <a:r>
              <a:rPr lang="zh-CN" altLang="en-US" b="1">
                <a:solidFill>
                  <a:schemeClr val="bg2"/>
                </a:solidFill>
                <a:latin typeface="楷体_GB2312" pitchFamily="49" charset="-122"/>
                <a:ea typeface="楷体_GB2312" pitchFamily="49" charset="-122"/>
              </a:rPr>
              <a:t>。获</a:t>
            </a:r>
            <a:r>
              <a:rPr lang="en-US" altLang="zh-CN" b="1">
                <a:solidFill>
                  <a:srgbClr val="FF6600"/>
                </a:solidFill>
                <a:latin typeface="楷体_GB2312" pitchFamily="49" charset="-122"/>
                <a:ea typeface="楷体_GB2312" pitchFamily="49" charset="-122"/>
              </a:rPr>
              <a:t>1918</a:t>
            </a:r>
            <a:r>
              <a:rPr lang="zh-CN" altLang="en-US" b="1">
                <a:solidFill>
                  <a:srgbClr val="FF6600"/>
                </a:solidFill>
                <a:latin typeface="楷体_GB2312" pitchFamily="49" charset="-122"/>
                <a:ea typeface="楷体_GB2312" pitchFamily="49" charset="-122"/>
              </a:rPr>
              <a:t>年诺贝尔奖。</a:t>
            </a:r>
            <a:r>
              <a:rPr lang="zh-CN" altLang="en-US">
                <a:solidFill>
                  <a:schemeClr val="bg2"/>
                </a:solidFill>
              </a:rPr>
              <a:t> </a:t>
            </a:r>
          </a:p>
        </p:txBody>
      </p:sp>
      <p:sp>
        <p:nvSpPr>
          <p:cNvPr id="161800" name="Text Box 8"/>
          <p:cNvSpPr txBox="1">
            <a:spLocks noChangeArrowheads="1"/>
          </p:cNvSpPr>
          <p:nvPr/>
        </p:nvSpPr>
        <p:spPr bwMode="auto">
          <a:xfrm>
            <a:off x="566738" y="1025525"/>
            <a:ext cx="2293937"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00FF"/>
                </a:solidFill>
                <a:latin typeface="楷体_GB2312" pitchFamily="49" charset="-122"/>
                <a:ea typeface="楷体_GB2312" pitchFamily="49" charset="-122"/>
              </a:rPr>
              <a:t>1</a:t>
            </a:r>
            <a:r>
              <a:rPr lang="zh-CN" altLang="en-US" b="1">
                <a:solidFill>
                  <a:srgbClr val="0000FF"/>
                </a:solidFill>
                <a:latin typeface="楷体_GB2312" pitchFamily="49" charset="-122"/>
                <a:ea typeface="楷体_GB2312" pitchFamily="49" charset="-122"/>
              </a:rPr>
              <a:t>、量子假说：</a:t>
            </a:r>
          </a:p>
        </p:txBody>
      </p:sp>
      <p:sp>
        <p:nvSpPr>
          <p:cNvPr id="161801" name="Text Box 9"/>
          <p:cNvSpPr txBox="1">
            <a:spLocks noChangeArrowheads="1"/>
          </p:cNvSpPr>
          <p:nvPr/>
        </p:nvSpPr>
        <p:spPr bwMode="auto">
          <a:xfrm>
            <a:off x="566738" y="3059113"/>
            <a:ext cx="2293937"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00FF"/>
                </a:solidFill>
                <a:latin typeface="楷体_GB2312" pitchFamily="49" charset="-122"/>
                <a:ea typeface="楷体_GB2312" pitchFamily="49" charset="-122"/>
              </a:rPr>
              <a:t>2</a:t>
            </a:r>
            <a:r>
              <a:rPr lang="zh-CN" altLang="en-US" b="1">
                <a:solidFill>
                  <a:srgbClr val="0000FF"/>
                </a:solidFill>
                <a:latin typeface="楷体_GB2312" pitchFamily="49" charset="-122"/>
                <a:ea typeface="楷体_GB2312" pitchFamily="49" charset="-122"/>
              </a:rPr>
              <a:t>、光量子理论：</a:t>
            </a:r>
          </a:p>
        </p:txBody>
      </p:sp>
      <p:sp>
        <p:nvSpPr>
          <p:cNvPr id="161802" name="Text Box 10"/>
          <p:cNvSpPr txBox="1">
            <a:spLocks noChangeArrowheads="1"/>
          </p:cNvSpPr>
          <p:nvPr/>
        </p:nvSpPr>
        <p:spPr bwMode="auto">
          <a:xfrm>
            <a:off x="882650" y="3530600"/>
            <a:ext cx="7877175" cy="968375"/>
          </a:xfrm>
          <a:prstGeom prst="rect">
            <a:avLst/>
          </a:prstGeom>
          <a:noFill/>
          <a:ln w="9525">
            <a:noFill/>
            <a:miter lim="800000"/>
            <a:headEnd/>
            <a:tailEnd/>
          </a:ln>
          <a:effectLst/>
        </p:spPr>
        <p:txBody>
          <a:bodyPr>
            <a:spAutoFit/>
          </a:bodyPr>
          <a:lstStyle/>
          <a:p>
            <a:pPr>
              <a:lnSpc>
                <a:spcPct val="120000"/>
              </a:lnSpc>
            </a:pPr>
            <a:r>
              <a:rPr lang="en-US" altLang="zh-CN">
                <a:solidFill>
                  <a:schemeClr val="bg2"/>
                </a:solidFill>
              </a:rPr>
              <a:t>       </a:t>
            </a:r>
            <a:r>
              <a:rPr lang="en-US" altLang="zh-CN" b="1">
                <a:solidFill>
                  <a:schemeClr val="bg2"/>
                </a:solidFill>
                <a:latin typeface="楷体_GB2312" pitchFamily="49" charset="-122"/>
                <a:ea typeface="楷体_GB2312" pitchFamily="49" charset="-122"/>
              </a:rPr>
              <a:t>1905</a:t>
            </a:r>
            <a:r>
              <a:rPr lang="zh-CN" altLang="en-US" b="1">
                <a:solidFill>
                  <a:schemeClr val="bg2"/>
                </a:solidFill>
                <a:latin typeface="楷体_GB2312" pitchFamily="49" charset="-122"/>
                <a:ea typeface="楷体_GB2312" pitchFamily="49" charset="-122"/>
              </a:rPr>
              <a:t>年</a:t>
            </a:r>
            <a:r>
              <a:rPr lang="zh-CN" altLang="en-US" b="1">
                <a:solidFill>
                  <a:srgbClr val="0000FF"/>
                </a:solidFill>
                <a:latin typeface="楷体_GB2312" pitchFamily="49" charset="-122"/>
                <a:ea typeface="楷体_GB2312" pitchFamily="49" charset="-122"/>
              </a:rPr>
              <a:t>爱因斯坦</a:t>
            </a:r>
            <a:r>
              <a:rPr lang="zh-CN" altLang="en-US" b="1">
                <a:solidFill>
                  <a:schemeClr val="bg2"/>
                </a:solidFill>
                <a:latin typeface="楷体_GB2312" pitchFamily="49" charset="-122"/>
                <a:ea typeface="楷体_GB2312" pitchFamily="49" charset="-122"/>
              </a:rPr>
              <a:t>提出</a:t>
            </a:r>
            <a:r>
              <a:rPr lang="zh-CN" altLang="en-US" b="1">
                <a:solidFill>
                  <a:srgbClr val="FF6600"/>
                </a:solidFill>
                <a:latin typeface="楷体_GB2312" pitchFamily="49" charset="-122"/>
                <a:ea typeface="楷体_GB2312" pitchFamily="49" charset="-122"/>
              </a:rPr>
              <a:t>光量子的假说</a:t>
            </a:r>
            <a:r>
              <a:rPr lang="zh-CN" altLang="en-US" b="1">
                <a:solidFill>
                  <a:schemeClr val="bg2"/>
                </a:solidFill>
                <a:latin typeface="楷体_GB2312" pitchFamily="49" charset="-122"/>
                <a:ea typeface="楷体_GB2312" pitchFamily="49" charset="-122"/>
              </a:rPr>
              <a:t>，用来解释光电效应中无法用电磁理论说通的现象。获</a:t>
            </a:r>
            <a:r>
              <a:rPr lang="en-US" altLang="zh-CN" b="1">
                <a:solidFill>
                  <a:srgbClr val="FF6600"/>
                </a:solidFill>
                <a:latin typeface="楷体_GB2312" pitchFamily="49" charset="-122"/>
                <a:ea typeface="楷体_GB2312" pitchFamily="49" charset="-122"/>
              </a:rPr>
              <a:t>1921</a:t>
            </a:r>
            <a:r>
              <a:rPr lang="zh-CN" altLang="en-US" b="1">
                <a:solidFill>
                  <a:srgbClr val="FF6600"/>
                </a:solidFill>
                <a:latin typeface="楷体_GB2312" pitchFamily="49" charset="-122"/>
                <a:ea typeface="楷体_GB2312" pitchFamily="49" charset="-122"/>
              </a:rPr>
              <a:t>年的诺贝尔奖。</a:t>
            </a:r>
          </a:p>
        </p:txBody>
      </p:sp>
      <p:sp>
        <p:nvSpPr>
          <p:cNvPr id="161808" name="Text Box 16"/>
          <p:cNvSpPr txBox="1">
            <a:spLocks noChangeArrowheads="1"/>
          </p:cNvSpPr>
          <p:nvPr/>
        </p:nvSpPr>
        <p:spPr bwMode="auto">
          <a:xfrm>
            <a:off x="927100" y="5048250"/>
            <a:ext cx="7875588" cy="968375"/>
          </a:xfrm>
          <a:prstGeom prst="rect">
            <a:avLst/>
          </a:prstGeom>
          <a:noFill/>
          <a:ln w="9525">
            <a:noFill/>
            <a:miter lim="800000"/>
            <a:headEnd/>
            <a:tailEnd/>
          </a:ln>
          <a:effectLst/>
        </p:spPr>
        <p:txBody>
          <a:bodyPr>
            <a:spAutoFit/>
          </a:bodyPr>
          <a:lstStyle/>
          <a:p>
            <a:pPr>
              <a:lnSpc>
                <a:spcPct val="120000"/>
              </a:lnSpc>
            </a:pPr>
            <a:r>
              <a:rPr lang="en-US" altLang="zh-CN" b="1">
                <a:solidFill>
                  <a:schemeClr val="bg1"/>
                </a:solidFill>
                <a:latin typeface="楷体_GB2312" pitchFamily="49" charset="-122"/>
                <a:ea typeface="楷体_GB2312" pitchFamily="49" charset="-122"/>
              </a:rPr>
              <a:t>    1913</a:t>
            </a:r>
            <a:r>
              <a:rPr lang="zh-CN" altLang="en-US" b="1">
                <a:solidFill>
                  <a:schemeClr val="bg1"/>
                </a:solidFill>
                <a:latin typeface="楷体_GB2312" pitchFamily="49" charset="-122"/>
                <a:ea typeface="楷体_GB2312" pitchFamily="49" charset="-122"/>
              </a:rPr>
              <a:t>年，丹麦的</a:t>
            </a:r>
            <a:r>
              <a:rPr lang="zh-CN" altLang="en-US" b="1">
                <a:solidFill>
                  <a:srgbClr val="0000FF"/>
                </a:solidFill>
                <a:latin typeface="楷体_GB2312" pitchFamily="49" charset="-122"/>
                <a:ea typeface="楷体_GB2312" pitchFamily="49" charset="-122"/>
              </a:rPr>
              <a:t>玻尔</a:t>
            </a:r>
            <a:r>
              <a:rPr lang="zh-CN" altLang="en-US" b="1">
                <a:solidFill>
                  <a:schemeClr val="bg1"/>
                </a:solidFill>
                <a:latin typeface="楷体_GB2312" pitchFamily="49" charset="-122"/>
                <a:ea typeface="楷体_GB2312" pitchFamily="49" charset="-122"/>
              </a:rPr>
              <a:t>在卢瑟福有核原子模型的基础上建立了</a:t>
            </a:r>
            <a:r>
              <a:rPr lang="zh-CN" altLang="en-US" b="1">
                <a:solidFill>
                  <a:schemeClr val="accent2"/>
                </a:solidFill>
                <a:latin typeface="楷体_GB2312" pitchFamily="49" charset="-122"/>
                <a:ea typeface="楷体_GB2312" pitchFamily="49" charset="-122"/>
              </a:rPr>
              <a:t>定态跃迁原子理论模型</a:t>
            </a:r>
            <a:r>
              <a:rPr lang="zh-CN" altLang="en-US" b="1">
                <a:solidFill>
                  <a:schemeClr val="bg1"/>
                </a:solidFill>
                <a:latin typeface="楷体_GB2312" pitchFamily="49" charset="-122"/>
                <a:ea typeface="楷体_GB2312" pitchFamily="49" charset="-122"/>
              </a:rPr>
              <a:t>。获</a:t>
            </a:r>
            <a:r>
              <a:rPr lang="en-US" altLang="zh-CN" b="1">
                <a:solidFill>
                  <a:srgbClr val="FF6600"/>
                </a:solidFill>
                <a:latin typeface="楷体_GB2312" pitchFamily="49" charset="-122"/>
                <a:ea typeface="楷体_GB2312" pitchFamily="49" charset="-122"/>
              </a:rPr>
              <a:t>1922</a:t>
            </a:r>
            <a:r>
              <a:rPr lang="zh-CN" altLang="en-US" b="1">
                <a:solidFill>
                  <a:srgbClr val="FF6600"/>
                </a:solidFill>
                <a:latin typeface="楷体_GB2312" pitchFamily="49" charset="-122"/>
                <a:ea typeface="楷体_GB2312" pitchFamily="49" charset="-122"/>
              </a:rPr>
              <a:t>年诺贝尔奖。</a:t>
            </a:r>
            <a:r>
              <a:rPr lang="zh-CN" altLang="en-US" b="1">
                <a:solidFill>
                  <a:schemeClr val="bg1"/>
                </a:solidFill>
                <a:latin typeface="楷体_GB2312" pitchFamily="49" charset="-122"/>
                <a:ea typeface="楷体_GB2312" pitchFamily="49" charset="-122"/>
              </a:rPr>
              <a:t> </a:t>
            </a:r>
          </a:p>
        </p:txBody>
      </p:sp>
      <p:sp>
        <p:nvSpPr>
          <p:cNvPr id="161809" name="Text Box 17"/>
          <p:cNvSpPr txBox="1">
            <a:spLocks noChangeArrowheads="1"/>
          </p:cNvSpPr>
          <p:nvPr/>
        </p:nvSpPr>
        <p:spPr bwMode="auto">
          <a:xfrm>
            <a:off x="612775" y="4689475"/>
            <a:ext cx="2293938"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00FF"/>
                </a:solidFill>
                <a:latin typeface="楷体_GB2312" pitchFamily="49" charset="-122"/>
                <a:ea typeface="楷体_GB2312" pitchFamily="49" charset="-122"/>
              </a:rPr>
              <a:t>3</a:t>
            </a:r>
            <a:r>
              <a:rPr lang="zh-CN" altLang="en-US" b="1">
                <a:solidFill>
                  <a:srgbClr val="0000FF"/>
                </a:solidFill>
                <a:latin typeface="楷体_GB2312" pitchFamily="49" charset="-122"/>
                <a:ea typeface="楷体_GB2312" pitchFamily="49" charset="-122"/>
              </a:rPr>
              <a:t>、原子理论：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6"/>
                                        </p:tgtEl>
                                        <p:attrNameLst>
                                          <p:attrName>style.visibility</p:attrName>
                                        </p:attrNameLst>
                                      </p:cBhvr>
                                      <p:to>
                                        <p:strVal val="visible"/>
                                      </p:to>
                                    </p:set>
                                    <p:animEffect transition="in" filter="wipe(left)">
                                      <p:cBhvr>
                                        <p:cTn id="7" dur="500"/>
                                        <p:tgtEl>
                                          <p:spTgt spid="1617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1800"/>
                                        </p:tgtEl>
                                        <p:attrNameLst>
                                          <p:attrName>style.visibility</p:attrName>
                                        </p:attrNameLst>
                                      </p:cBhvr>
                                      <p:to>
                                        <p:strVal val="visible"/>
                                      </p:to>
                                    </p:set>
                                    <p:animEffect transition="in" filter="wipe(left)">
                                      <p:cBhvr>
                                        <p:cTn id="12" dur="500"/>
                                        <p:tgtEl>
                                          <p:spTgt spid="1618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1798"/>
                                        </p:tgtEl>
                                        <p:attrNameLst>
                                          <p:attrName>style.visibility</p:attrName>
                                        </p:attrNameLst>
                                      </p:cBhvr>
                                      <p:to>
                                        <p:strVal val="visible"/>
                                      </p:to>
                                    </p:set>
                                    <p:animEffect transition="in" filter="wipe(left)">
                                      <p:cBhvr>
                                        <p:cTn id="17" dur="500"/>
                                        <p:tgtEl>
                                          <p:spTgt spid="1617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1801"/>
                                        </p:tgtEl>
                                        <p:attrNameLst>
                                          <p:attrName>style.visibility</p:attrName>
                                        </p:attrNameLst>
                                      </p:cBhvr>
                                      <p:to>
                                        <p:strVal val="visible"/>
                                      </p:to>
                                    </p:set>
                                    <p:animEffect transition="in" filter="wipe(left)">
                                      <p:cBhvr>
                                        <p:cTn id="22" dur="500"/>
                                        <p:tgtEl>
                                          <p:spTgt spid="1618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1802"/>
                                        </p:tgtEl>
                                        <p:attrNameLst>
                                          <p:attrName>style.visibility</p:attrName>
                                        </p:attrNameLst>
                                      </p:cBhvr>
                                      <p:to>
                                        <p:strVal val="visible"/>
                                      </p:to>
                                    </p:set>
                                    <p:animEffect transition="in" filter="wipe(left)">
                                      <p:cBhvr>
                                        <p:cTn id="27" dur="500"/>
                                        <p:tgtEl>
                                          <p:spTgt spid="1618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1809"/>
                                        </p:tgtEl>
                                        <p:attrNameLst>
                                          <p:attrName>style.visibility</p:attrName>
                                        </p:attrNameLst>
                                      </p:cBhvr>
                                      <p:to>
                                        <p:strVal val="visible"/>
                                      </p:to>
                                    </p:set>
                                    <p:animEffect transition="in" filter="wipe(left)">
                                      <p:cBhvr>
                                        <p:cTn id="32" dur="500"/>
                                        <p:tgtEl>
                                          <p:spTgt spid="16180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1808"/>
                                        </p:tgtEl>
                                        <p:attrNameLst>
                                          <p:attrName>style.visibility</p:attrName>
                                        </p:attrNameLst>
                                      </p:cBhvr>
                                      <p:to>
                                        <p:strVal val="visible"/>
                                      </p:to>
                                    </p:set>
                                    <p:animEffect transition="in" filter="wipe(left)">
                                      <p:cBhvr>
                                        <p:cTn id="37" dur="500"/>
                                        <p:tgtEl>
                                          <p:spTgt spid="161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6" grpId="0"/>
      <p:bldP spid="161798" grpId="0"/>
      <p:bldP spid="161800" grpId="0"/>
      <p:bldP spid="161801" grpId="0"/>
      <p:bldP spid="161802" grpId="0"/>
      <p:bldP spid="161808" grpId="0"/>
      <p:bldP spid="16180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4885" name="Group 21"/>
          <p:cNvGrpSpPr>
            <a:grpSpLocks/>
          </p:cNvGrpSpPr>
          <p:nvPr/>
        </p:nvGrpSpPr>
        <p:grpSpPr bwMode="auto">
          <a:xfrm>
            <a:off x="519113" y="2484438"/>
            <a:ext cx="2032000" cy="3567112"/>
            <a:chOff x="327" y="1565"/>
            <a:chExt cx="1280" cy="2247"/>
          </a:xfrm>
        </p:grpSpPr>
        <p:pic>
          <p:nvPicPr>
            <p:cNvPr id="88078" name="Picture 4" descr="40-bio1"/>
            <p:cNvPicPr>
              <a:picLocks noChangeAspect="1" noChangeArrowheads="1"/>
            </p:cNvPicPr>
            <p:nvPr/>
          </p:nvPicPr>
          <p:blipFill>
            <a:blip r:embed="rId2"/>
            <a:srcRect b="1888"/>
            <a:stretch>
              <a:fillRect/>
            </a:stretch>
          </p:blipFill>
          <p:spPr bwMode="auto">
            <a:xfrm>
              <a:off x="327" y="1565"/>
              <a:ext cx="1280" cy="1701"/>
            </a:xfrm>
            <a:prstGeom prst="rect">
              <a:avLst/>
            </a:prstGeom>
            <a:noFill/>
            <a:ln w="9525">
              <a:noFill/>
              <a:miter lim="800000"/>
              <a:headEnd/>
              <a:tailEnd/>
            </a:ln>
          </p:spPr>
        </p:pic>
        <p:sp>
          <p:nvSpPr>
            <p:cNvPr id="88079" name="Rectangle 13"/>
            <p:cNvSpPr>
              <a:spLocks noChangeArrowheads="1"/>
            </p:cNvSpPr>
            <p:nvPr/>
          </p:nvSpPr>
          <p:spPr bwMode="auto">
            <a:xfrm>
              <a:off x="329" y="3294"/>
              <a:ext cx="1234" cy="518"/>
            </a:xfrm>
            <a:prstGeom prst="rect">
              <a:avLst/>
            </a:prstGeom>
            <a:noFill/>
            <a:ln w="9525">
              <a:noFill/>
              <a:miter lim="800000"/>
              <a:headEnd/>
              <a:tailEnd/>
            </a:ln>
            <a:effectLst/>
          </p:spPr>
          <p:txBody>
            <a:bodyPr>
              <a:spAutoFit/>
            </a:bodyPr>
            <a:lstStyle/>
            <a:p>
              <a:r>
                <a:rPr lang="en-US" altLang="zh-CN" b="1">
                  <a:solidFill>
                    <a:srgbClr val="0000FF"/>
                  </a:solidFill>
                  <a:latin typeface="楷体_GB2312" pitchFamily="49" charset="-122"/>
                  <a:ea typeface="楷体_GB2312" pitchFamily="49" charset="-122"/>
                </a:rPr>
                <a:t>   </a:t>
              </a:r>
              <a:r>
                <a:rPr lang="zh-CN" altLang="en-US" b="1">
                  <a:solidFill>
                    <a:srgbClr val="0000FF"/>
                  </a:solidFill>
                  <a:latin typeface="楷体_GB2312" pitchFamily="49" charset="-122"/>
                  <a:ea typeface="楷体_GB2312" pitchFamily="49" charset="-122"/>
                </a:rPr>
                <a:t>普朗克（</a:t>
              </a:r>
              <a:r>
                <a:rPr lang="en-US" altLang="zh-CN" sz="2000" b="1">
                  <a:solidFill>
                    <a:srgbClr val="0000FF"/>
                  </a:solidFill>
                  <a:latin typeface="楷体_GB2312" pitchFamily="49" charset="-122"/>
                  <a:ea typeface="楷体_GB2312" pitchFamily="49" charset="-122"/>
                </a:rPr>
                <a:t>1858</a:t>
              </a:r>
              <a:r>
                <a:rPr lang="zh-CN" altLang="en-US" sz="2000" b="1">
                  <a:solidFill>
                    <a:srgbClr val="0000FF"/>
                  </a:solidFill>
                  <a:latin typeface="楷体_GB2312" pitchFamily="49" charset="-122"/>
                  <a:ea typeface="楷体_GB2312" pitchFamily="49" charset="-122"/>
                </a:rPr>
                <a:t>～</a:t>
              </a:r>
              <a:r>
                <a:rPr lang="en-US" altLang="zh-CN" sz="2000" b="1">
                  <a:solidFill>
                    <a:srgbClr val="0000FF"/>
                  </a:solidFill>
                  <a:latin typeface="楷体_GB2312" pitchFamily="49" charset="-122"/>
                  <a:ea typeface="楷体_GB2312" pitchFamily="49" charset="-122"/>
                </a:rPr>
                <a:t>1947</a:t>
              </a:r>
              <a:r>
                <a:rPr lang="zh-CN" altLang="en-US" sz="2000" b="1">
                  <a:solidFill>
                    <a:srgbClr val="0000FF"/>
                  </a:solidFill>
                  <a:latin typeface="楷体_GB2312" pitchFamily="49" charset="-122"/>
                  <a:ea typeface="楷体_GB2312" pitchFamily="49" charset="-122"/>
                </a:rPr>
                <a:t>）</a:t>
              </a:r>
            </a:p>
          </p:txBody>
        </p:sp>
      </p:grpSp>
      <p:grpSp>
        <p:nvGrpSpPr>
          <p:cNvPr id="164886" name="Group 22"/>
          <p:cNvGrpSpPr>
            <a:grpSpLocks/>
          </p:cNvGrpSpPr>
          <p:nvPr/>
        </p:nvGrpSpPr>
        <p:grpSpPr bwMode="auto">
          <a:xfrm>
            <a:off x="2546350" y="2484438"/>
            <a:ext cx="2116138" cy="3567112"/>
            <a:chOff x="1604" y="1565"/>
            <a:chExt cx="1333" cy="2247"/>
          </a:xfrm>
        </p:grpSpPr>
        <p:pic>
          <p:nvPicPr>
            <p:cNvPr id="88076" name="Picture 12" descr="kzzy_clip_image008"/>
            <p:cNvPicPr>
              <a:picLocks noChangeAspect="1" noChangeArrowheads="1"/>
            </p:cNvPicPr>
            <p:nvPr/>
          </p:nvPicPr>
          <p:blipFill>
            <a:blip r:embed="rId3"/>
            <a:srcRect l="7626" r="8914"/>
            <a:stretch>
              <a:fillRect/>
            </a:stretch>
          </p:blipFill>
          <p:spPr bwMode="auto">
            <a:xfrm>
              <a:off x="1604" y="1565"/>
              <a:ext cx="1333" cy="1696"/>
            </a:xfrm>
            <a:prstGeom prst="rect">
              <a:avLst/>
            </a:prstGeom>
            <a:noFill/>
            <a:ln w="9525">
              <a:noFill/>
              <a:miter lim="800000"/>
              <a:headEnd/>
              <a:tailEnd/>
            </a:ln>
          </p:spPr>
        </p:pic>
        <p:sp>
          <p:nvSpPr>
            <p:cNvPr id="88077" name="Rectangle 15"/>
            <p:cNvSpPr>
              <a:spLocks noChangeArrowheads="1"/>
            </p:cNvSpPr>
            <p:nvPr/>
          </p:nvSpPr>
          <p:spPr bwMode="auto">
            <a:xfrm>
              <a:off x="1633" y="3294"/>
              <a:ext cx="1285" cy="518"/>
            </a:xfrm>
            <a:prstGeom prst="rect">
              <a:avLst/>
            </a:prstGeom>
            <a:noFill/>
            <a:ln w="9525">
              <a:noFill/>
              <a:miter lim="800000"/>
              <a:headEnd/>
              <a:tailEnd/>
            </a:ln>
            <a:effectLst/>
          </p:spPr>
          <p:txBody>
            <a:bodyPr>
              <a:spAutoFit/>
            </a:bodyPr>
            <a:lstStyle/>
            <a:p>
              <a:pPr algn="ctr"/>
              <a:r>
                <a:rPr lang="zh-CN" altLang="en-US" b="1">
                  <a:solidFill>
                    <a:srgbClr val="0000FF"/>
                  </a:solidFill>
                  <a:latin typeface="楷体_GB2312" pitchFamily="49" charset="-122"/>
                  <a:ea typeface="楷体_GB2312" pitchFamily="49" charset="-122"/>
                </a:rPr>
                <a:t>爱因斯坦（</a:t>
              </a:r>
              <a:r>
                <a:rPr lang="en-US" altLang="zh-CN" sz="2000" b="1">
                  <a:solidFill>
                    <a:srgbClr val="0000FF"/>
                  </a:solidFill>
                  <a:latin typeface="楷体_GB2312" pitchFamily="49" charset="-122"/>
                  <a:ea typeface="楷体_GB2312" pitchFamily="49" charset="-122"/>
                </a:rPr>
                <a:t>1879</a:t>
              </a:r>
              <a:r>
                <a:rPr lang="zh-CN" altLang="en-US" sz="2000" b="1">
                  <a:solidFill>
                    <a:srgbClr val="0000FF"/>
                  </a:solidFill>
                  <a:latin typeface="楷体_GB2312" pitchFamily="49" charset="-122"/>
                  <a:ea typeface="楷体_GB2312" pitchFamily="49" charset="-122"/>
                </a:rPr>
                <a:t>～</a:t>
              </a:r>
              <a:r>
                <a:rPr lang="en-US" altLang="zh-CN" sz="2000" b="1">
                  <a:solidFill>
                    <a:srgbClr val="0000FF"/>
                  </a:solidFill>
                  <a:latin typeface="楷体_GB2312" pitchFamily="49" charset="-122"/>
                  <a:ea typeface="楷体_GB2312" pitchFamily="49" charset="-122"/>
                </a:rPr>
                <a:t>1955</a:t>
              </a:r>
              <a:r>
                <a:rPr lang="zh-CN" altLang="en-US" sz="2000" b="1">
                  <a:solidFill>
                    <a:srgbClr val="0000FF"/>
                  </a:solidFill>
                  <a:latin typeface="楷体_GB2312" pitchFamily="49" charset="-122"/>
                  <a:ea typeface="楷体_GB2312" pitchFamily="49" charset="-122"/>
                </a:rPr>
                <a:t>）</a:t>
              </a:r>
            </a:p>
          </p:txBody>
        </p:sp>
      </p:grpSp>
      <p:grpSp>
        <p:nvGrpSpPr>
          <p:cNvPr id="164887" name="Group 23"/>
          <p:cNvGrpSpPr>
            <a:grpSpLocks/>
          </p:cNvGrpSpPr>
          <p:nvPr/>
        </p:nvGrpSpPr>
        <p:grpSpPr bwMode="auto">
          <a:xfrm>
            <a:off x="4660900" y="2484438"/>
            <a:ext cx="2100263" cy="3506787"/>
            <a:chOff x="2936" y="1565"/>
            <a:chExt cx="1323" cy="2209"/>
          </a:xfrm>
        </p:grpSpPr>
        <p:pic>
          <p:nvPicPr>
            <p:cNvPr id="88074" name="Picture 10" descr="22bohr"/>
            <p:cNvPicPr>
              <a:picLocks noChangeAspect="1" noChangeArrowheads="1"/>
            </p:cNvPicPr>
            <p:nvPr/>
          </p:nvPicPr>
          <p:blipFill>
            <a:blip r:embed="rId4"/>
            <a:srcRect/>
            <a:stretch>
              <a:fillRect/>
            </a:stretch>
          </p:blipFill>
          <p:spPr bwMode="auto">
            <a:xfrm>
              <a:off x="2936" y="1565"/>
              <a:ext cx="1323" cy="1701"/>
            </a:xfrm>
            <a:prstGeom prst="rect">
              <a:avLst/>
            </a:prstGeom>
            <a:noFill/>
            <a:ln w="57150">
              <a:noFill/>
              <a:miter lim="800000"/>
              <a:headEnd/>
              <a:tailEnd/>
            </a:ln>
          </p:spPr>
        </p:pic>
        <p:sp>
          <p:nvSpPr>
            <p:cNvPr id="88075" name="Rectangle 16"/>
            <p:cNvSpPr>
              <a:spLocks noChangeArrowheads="1"/>
            </p:cNvSpPr>
            <p:nvPr/>
          </p:nvSpPr>
          <p:spPr bwMode="auto">
            <a:xfrm>
              <a:off x="3021" y="3294"/>
              <a:ext cx="1191" cy="480"/>
            </a:xfrm>
            <a:prstGeom prst="rect">
              <a:avLst/>
            </a:prstGeom>
            <a:noFill/>
            <a:ln w="9525">
              <a:noFill/>
              <a:miter lim="800000"/>
              <a:headEnd/>
              <a:tailEnd/>
            </a:ln>
            <a:effectLst/>
          </p:spPr>
          <p:txBody>
            <a:bodyPr>
              <a:spAutoFit/>
            </a:bodyPr>
            <a:lstStyle/>
            <a:p>
              <a:pPr algn="ctr"/>
              <a:r>
                <a:rPr lang="zh-CN" altLang="en-US" b="1">
                  <a:solidFill>
                    <a:srgbClr val="0000FF"/>
                  </a:solidFill>
                  <a:latin typeface="楷体_GB2312" pitchFamily="49" charset="-122"/>
                  <a:ea typeface="楷体_GB2312" pitchFamily="49" charset="-122"/>
                </a:rPr>
                <a:t>玻尔</a:t>
              </a:r>
            </a:p>
            <a:p>
              <a:r>
                <a:rPr lang="zh-CN" altLang="en-US" sz="2000" b="1">
                  <a:solidFill>
                    <a:srgbClr val="0000FF"/>
                  </a:solidFill>
                  <a:latin typeface="楷体_GB2312" pitchFamily="49" charset="-122"/>
                  <a:ea typeface="楷体_GB2312" pitchFamily="49" charset="-122"/>
                </a:rPr>
                <a:t>（</a:t>
              </a:r>
              <a:r>
                <a:rPr lang="en-US" altLang="zh-CN" sz="2000" b="1">
                  <a:solidFill>
                    <a:srgbClr val="0000FF"/>
                  </a:solidFill>
                  <a:latin typeface="楷体_GB2312" pitchFamily="49" charset="-122"/>
                  <a:ea typeface="楷体_GB2312" pitchFamily="49" charset="-122"/>
                </a:rPr>
                <a:t>1885</a:t>
              </a:r>
              <a:r>
                <a:rPr lang="zh-CN" altLang="en-US" sz="2000" b="1">
                  <a:solidFill>
                    <a:srgbClr val="0000FF"/>
                  </a:solidFill>
                  <a:latin typeface="楷体_GB2312" pitchFamily="49" charset="-122"/>
                  <a:ea typeface="楷体_GB2312" pitchFamily="49" charset="-122"/>
                </a:rPr>
                <a:t>～</a:t>
              </a:r>
              <a:r>
                <a:rPr lang="en-US" altLang="zh-CN" sz="2000" b="1">
                  <a:solidFill>
                    <a:srgbClr val="0000FF"/>
                  </a:solidFill>
                  <a:latin typeface="楷体_GB2312" pitchFamily="49" charset="-122"/>
                  <a:ea typeface="楷体_GB2312" pitchFamily="49" charset="-122"/>
                </a:rPr>
                <a:t>1962</a:t>
              </a:r>
              <a:r>
                <a:rPr lang="zh-CN" altLang="en-US" sz="2000" b="1">
                  <a:solidFill>
                    <a:srgbClr val="0000FF"/>
                  </a:solidFill>
                  <a:latin typeface="楷体_GB2312" pitchFamily="49" charset="-122"/>
                  <a:ea typeface="楷体_GB2312" pitchFamily="49" charset="-122"/>
                </a:rPr>
                <a:t>）</a:t>
              </a:r>
              <a:endParaRPr lang="zh-CN" altLang="en-US" sz="2000">
                <a:solidFill>
                  <a:srgbClr val="0000FF"/>
                </a:solidFill>
                <a:latin typeface="楷体_GB2312" pitchFamily="49" charset="-122"/>
                <a:ea typeface="楷体_GB2312" pitchFamily="49" charset="-122"/>
              </a:endParaRPr>
            </a:p>
          </p:txBody>
        </p:sp>
      </p:grpSp>
      <p:sp>
        <p:nvSpPr>
          <p:cNvPr id="164881" name="Rectangle 17"/>
          <p:cNvSpPr>
            <a:spLocks noChangeArrowheads="1"/>
          </p:cNvSpPr>
          <p:nvPr/>
        </p:nvSpPr>
        <p:spPr bwMode="auto">
          <a:xfrm>
            <a:off x="658813" y="1155700"/>
            <a:ext cx="8010525" cy="968375"/>
          </a:xfrm>
          <a:prstGeom prst="rect">
            <a:avLst/>
          </a:prstGeom>
          <a:noFill/>
          <a:ln w="9525">
            <a:noFill/>
            <a:miter lim="800000"/>
            <a:headEnd/>
            <a:tailEnd/>
          </a:ln>
          <a:effectLst/>
        </p:spPr>
        <p:txBody>
          <a:bodyPr anchor="ctr">
            <a:spAutoFit/>
          </a:bodyPr>
          <a:lstStyle/>
          <a:p>
            <a:pPr>
              <a:lnSpc>
                <a:spcPct val="120000"/>
              </a:lnSpc>
            </a:pPr>
            <a:r>
              <a:rPr lang="en-US" altLang="zh-CN" b="1">
                <a:solidFill>
                  <a:schemeClr val="bg1"/>
                </a:solidFill>
                <a:latin typeface="楷体_GB2312" pitchFamily="49" charset="-122"/>
                <a:ea typeface="楷体_GB2312" pitchFamily="49" charset="-122"/>
              </a:rPr>
              <a:t>    1924</a:t>
            </a:r>
            <a:r>
              <a:rPr lang="zh-CN" altLang="en-US" b="1">
                <a:solidFill>
                  <a:schemeClr val="bg1"/>
                </a:solidFill>
                <a:latin typeface="楷体_GB2312" pitchFamily="49" charset="-122"/>
                <a:ea typeface="楷体_GB2312" pitchFamily="49" charset="-122"/>
              </a:rPr>
              <a:t>年，法国的</a:t>
            </a:r>
            <a:r>
              <a:rPr kumimoji="0" lang="zh-CN" altLang="en-US" b="1">
                <a:solidFill>
                  <a:srgbClr val="0000FF"/>
                </a:solidFill>
                <a:ea typeface="楷体_GB2312" pitchFamily="49" charset="-122"/>
              </a:rPr>
              <a:t>德布罗意</a:t>
            </a:r>
            <a:r>
              <a:rPr kumimoji="0" lang="zh-CN" altLang="en-US" b="1">
                <a:solidFill>
                  <a:schemeClr val="bg2"/>
                </a:solidFill>
                <a:ea typeface="楷体_GB2312" pitchFamily="49" charset="-122"/>
              </a:rPr>
              <a:t>提出</a:t>
            </a:r>
            <a:r>
              <a:rPr kumimoji="0" lang="zh-CN" altLang="en-US" b="1">
                <a:solidFill>
                  <a:schemeClr val="accent2"/>
                </a:solidFill>
                <a:ea typeface="楷体_GB2312" pitchFamily="49" charset="-122"/>
              </a:rPr>
              <a:t>“</a:t>
            </a:r>
            <a:r>
              <a:rPr lang="zh-CN" altLang="en-US" b="1">
                <a:solidFill>
                  <a:schemeClr val="accent2"/>
                </a:solidFill>
                <a:latin typeface="楷体_GB2312" pitchFamily="49" charset="-122"/>
                <a:ea typeface="楷体_GB2312" pitchFamily="49" charset="-122"/>
              </a:rPr>
              <a:t>一切实物粒子也具有波粒二象性</a:t>
            </a:r>
            <a:r>
              <a:rPr lang="zh-CN" altLang="en-US" b="1">
                <a:solidFill>
                  <a:schemeClr val="accent2"/>
                </a:solidFill>
                <a:ea typeface="楷体_GB2312" pitchFamily="49" charset="-122"/>
              </a:rPr>
              <a:t>”</a:t>
            </a:r>
            <a:r>
              <a:rPr lang="zh-CN" altLang="en-US" b="1">
                <a:solidFill>
                  <a:schemeClr val="accent2"/>
                </a:solidFill>
                <a:latin typeface="楷体_GB2312" pitchFamily="49" charset="-122"/>
                <a:ea typeface="楷体_GB2312" pitchFamily="49" charset="-122"/>
              </a:rPr>
              <a:t>。</a:t>
            </a:r>
            <a:r>
              <a:rPr lang="zh-CN" altLang="en-US" b="1">
                <a:solidFill>
                  <a:schemeClr val="bg1"/>
                </a:solidFill>
                <a:latin typeface="楷体_GB2312" pitchFamily="49" charset="-122"/>
                <a:ea typeface="楷体_GB2312" pitchFamily="49" charset="-122"/>
              </a:rPr>
              <a:t>获</a:t>
            </a:r>
            <a:r>
              <a:rPr lang="en-US" altLang="zh-CN" b="1">
                <a:solidFill>
                  <a:srgbClr val="FF6600"/>
                </a:solidFill>
                <a:latin typeface="楷体_GB2312" pitchFamily="49" charset="-122"/>
                <a:ea typeface="楷体_GB2312" pitchFamily="49" charset="-122"/>
              </a:rPr>
              <a:t>1929</a:t>
            </a:r>
            <a:r>
              <a:rPr lang="zh-CN" altLang="en-US" b="1">
                <a:solidFill>
                  <a:srgbClr val="FF6600"/>
                </a:solidFill>
                <a:latin typeface="楷体_GB2312" pitchFamily="49" charset="-122"/>
                <a:ea typeface="楷体_GB2312" pitchFamily="49" charset="-122"/>
              </a:rPr>
              <a:t>年诺贝尔奖。</a:t>
            </a:r>
            <a:r>
              <a:rPr lang="zh-CN" altLang="en-US" b="1">
                <a:solidFill>
                  <a:schemeClr val="bg1"/>
                </a:solidFill>
              </a:rPr>
              <a:t> </a:t>
            </a:r>
            <a:r>
              <a:rPr lang="zh-CN" altLang="en-US" b="1">
                <a:solidFill>
                  <a:schemeClr val="bg1"/>
                </a:solidFill>
                <a:latin typeface="楷体_GB2312" pitchFamily="49" charset="-122"/>
                <a:ea typeface="楷体_GB2312" pitchFamily="49" charset="-122"/>
              </a:rPr>
              <a:t> </a:t>
            </a:r>
          </a:p>
        </p:txBody>
      </p:sp>
      <p:sp>
        <p:nvSpPr>
          <p:cNvPr id="164882" name="Text Box 18"/>
          <p:cNvSpPr txBox="1">
            <a:spLocks noChangeArrowheads="1"/>
          </p:cNvSpPr>
          <p:nvPr/>
        </p:nvSpPr>
        <p:spPr bwMode="auto">
          <a:xfrm>
            <a:off x="431800" y="728663"/>
            <a:ext cx="2293938"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00FF"/>
                </a:solidFill>
                <a:latin typeface="楷体_GB2312" pitchFamily="49" charset="-122"/>
                <a:ea typeface="楷体_GB2312" pitchFamily="49" charset="-122"/>
              </a:rPr>
              <a:t>4</a:t>
            </a:r>
            <a:r>
              <a:rPr lang="zh-CN" altLang="en-US" b="1">
                <a:solidFill>
                  <a:srgbClr val="0000FF"/>
                </a:solidFill>
                <a:latin typeface="楷体_GB2312" pitchFamily="49" charset="-122"/>
                <a:ea typeface="楷体_GB2312" pitchFamily="49" charset="-122"/>
              </a:rPr>
              <a:t>、</a:t>
            </a:r>
            <a:r>
              <a:rPr kumimoji="0" lang="zh-CN" altLang="en-US" b="1">
                <a:solidFill>
                  <a:srgbClr val="0000FF"/>
                </a:solidFill>
                <a:ea typeface="楷体_GB2312" pitchFamily="49" charset="-122"/>
              </a:rPr>
              <a:t>德布罗意波</a:t>
            </a:r>
            <a:r>
              <a:rPr lang="zh-CN" altLang="en-US" b="1">
                <a:solidFill>
                  <a:srgbClr val="0000FF"/>
                </a:solidFill>
                <a:latin typeface="楷体_GB2312" pitchFamily="49" charset="-122"/>
                <a:ea typeface="楷体_GB2312" pitchFamily="49" charset="-122"/>
              </a:rPr>
              <a:t>：</a:t>
            </a:r>
          </a:p>
        </p:txBody>
      </p:sp>
      <p:grpSp>
        <p:nvGrpSpPr>
          <p:cNvPr id="164888" name="Group 24"/>
          <p:cNvGrpSpPr>
            <a:grpSpLocks/>
          </p:cNvGrpSpPr>
          <p:nvPr/>
        </p:nvGrpSpPr>
        <p:grpSpPr bwMode="auto">
          <a:xfrm>
            <a:off x="6767513" y="2484438"/>
            <a:ext cx="1973262" cy="3506787"/>
            <a:chOff x="4263" y="1565"/>
            <a:chExt cx="1243" cy="2209"/>
          </a:xfrm>
        </p:grpSpPr>
        <p:pic>
          <p:nvPicPr>
            <p:cNvPr id="88072" name="Picture 19" descr="29debroglie"/>
            <p:cNvPicPr>
              <a:picLocks noChangeAspect="1" noChangeArrowheads="1"/>
            </p:cNvPicPr>
            <p:nvPr/>
          </p:nvPicPr>
          <p:blipFill>
            <a:blip r:embed="rId5"/>
            <a:srcRect/>
            <a:stretch>
              <a:fillRect/>
            </a:stretch>
          </p:blipFill>
          <p:spPr bwMode="auto">
            <a:xfrm>
              <a:off x="4263" y="1565"/>
              <a:ext cx="1191" cy="1701"/>
            </a:xfrm>
            <a:prstGeom prst="rect">
              <a:avLst/>
            </a:prstGeom>
            <a:noFill/>
            <a:ln w="38100">
              <a:noFill/>
              <a:miter lim="800000"/>
              <a:headEnd/>
              <a:tailEnd/>
            </a:ln>
          </p:spPr>
        </p:pic>
        <p:sp>
          <p:nvSpPr>
            <p:cNvPr id="88073" name="Rectangle 20"/>
            <p:cNvSpPr>
              <a:spLocks noChangeArrowheads="1"/>
            </p:cNvSpPr>
            <p:nvPr/>
          </p:nvSpPr>
          <p:spPr bwMode="auto">
            <a:xfrm>
              <a:off x="4297" y="3294"/>
              <a:ext cx="1209" cy="480"/>
            </a:xfrm>
            <a:prstGeom prst="rect">
              <a:avLst/>
            </a:prstGeom>
            <a:noFill/>
            <a:ln w="9525">
              <a:noFill/>
              <a:miter lim="800000"/>
              <a:headEnd/>
              <a:tailEnd/>
            </a:ln>
            <a:effectLst/>
          </p:spPr>
          <p:txBody>
            <a:bodyPr>
              <a:spAutoFit/>
            </a:bodyPr>
            <a:lstStyle/>
            <a:p>
              <a:pPr algn="ctr"/>
              <a:r>
                <a:rPr kumimoji="0" lang="zh-CN" altLang="en-US" b="1">
                  <a:solidFill>
                    <a:srgbClr val="0000FF"/>
                  </a:solidFill>
                  <a:ea typeface="楷体_GB2312" pitchFamily="49" charset="-122"/>
                </a:rPr>
                <a:t>德布罗意</a:t>
              </a:r>
            </a:p>
            <a:p>
              <a:r>
                <a:rPr kumimoji="0" lang="zh-CN" altLang="en-US" sz="2000" b="1">
                  <a:solidFill>
                    <a:srgbClr val="0000FF"/>
                  </a:solidFill>
                  <a:latin typeface="楷体_GB2312" pitchFamily="49" charset="-122"/>
                  <a:ea typeface="楷体_GB2312" pitchFamily="49" charset="-122"/>
                </a:rPr>
                <a:t>（</a:t>
              </a:r>
              <a:r>
                <a:rPr kumimoji="0" lang="en-US" altLang="zh-CN" sz="2000" b="1">
                  <a:solidFill>
                    <a:srgbClr val="0000FF"/>
                  </a:solidFill>
                  <a:latin typeface="楷体_GB2312" pitchFamily="49" charset="-122"/>
                  <a:ea typeface="楷体_GB2312" pitchFamily="49" charset="-122"/>
                </a:rPr>
                <a:t>1892</a:t>
              </a:r>
              <a:r>
                <a:rPr kumimoji="0" lang="zh-CN" altLang="en-US" sz="2000" b="1">
                  <a:solidFill>
                    <a:srgbClr val="0000FF"/>
                  </a:solidFill>
                  <a:latin typeface="楷体_GB2312" pitchFamily="49" charset="-122"/>
                  <a:ea typeface="楷体_GB2312" pitchFamily="49" charset="-122"/>
                </a:rPr>
                <a:t>～</a:t>
              </a:r>
              <a:r>
                <a:rPr kumimoji="0" lang="en-US" altLang="zh-CN" sz="2000" b="1">
                  <a:solidFill>
                    <a:srgbClr val="0000FF"/>
                  </a:solidFill>
                  <a:latin typeface="楷体_GB2312" pitchFamily="49" charset="-122"/>
                  <a:ea typeface="楷体_GB2312" pitchFamily="49" charset="-122"/>
                </a:rPr>
                <a:t>1960</a:t>
              </a:r>
              <a:r>
                <a:rPr kumimoji="0" lang="zh-CN" altLang="en-US" sz="2000" b="1">
                  <a:solidFill>
                    <a:srgbClr val="0000FF"/>
                  </a:solidFill>
                  <a:latin typeface="楷体_GB2312" pitchFamily="49" charset="-122"/>
                  <a:ea typeface="楷体_GB2312" pitchFamily="49"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82"/>
                                        </p:tgtEl>
                                        <p:attrNameLst>
                                          <p:attrName>style.visibility</p:attrName>
                                        </p:attrNameLst>
                                      </p:cBhvr>
                                      <p:to>
                                        <p:strVal val="visible"/>
                                      </p:to>
                                    </p:set>
                                    <p:animEffect transition="in" filter="wipe(left)">
                                      <p:cBhvr>
                                        <p:cTn id="7" dur="500"/>
                                        <p:tgtEl>
                                          <p:spTgt spid="1648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881"/>
                                        </p:tgtEl>
                                        <p:attrNameLst>
                                          <p:attrName>style.visibility</p:attrName>
                                        </p:attrNameLst>
                                      </p:cBhvr>
                                      <p:to>
                                        <p:strVal val="visible"/>
                                      </p:to>
                                    </p:set>
                                    <p:animEffect transition="in" filter="wipe(left)">
                                      <p:cBhvr>
                                        <p:cTn id="12" dur="500"/>
                                        <p:tgtEl>
                                          <p:spTgt spid="1648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4885"/>
                                        </p:tgtEl>
                                        <p:attrNameLst>
                                          <p:attrName>style.visibility</p:attrName>
                                        </p:attrNameLst>
                                      </p:cBhvr>
                                      <p:to>
                                        <p:strVal val="visible"/>
                                      </p:to>
                                    </p:set>
                                    <p:animEffect transition="in" filter="wipe(left)">
                                      <p:cBhvr>
                                        <p:cTn id="17" dur="500"/>
                                        <p:tgtEl>
                                          <p:spTgt spid="164885"/>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164886"/>
                                        </p:tgtEl>
                                        <p:attrNameLst>
                                          <p:attrName>style.visibility</p:attrName>
                                        </p:attrNameLst>
                                      </p:cBhvr>
                                      <p:to>
                                        <p:strVal val="visible"/>
                                      </p:to>
                                    </p:set>
                                    <p:animEffect transition="in" filter="wipe(left)">
                                      <p:cBhvr>
                                        <p:cTn id="21" dur="500"/>
                                        <p:tgtEl>
                                          <p:spTgt spid="164886"/>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164887"/>
                                        </p:tgtEl>
                                        <p:attrNameLst>
                                          <p:attrName>style.visibility</p:attrName>
                                        </p:attrNameLst>
                                      </p:cBhvr>
                                      <p:to>
                                        <p:strVal val="visible"/>
                                      </p:to>
                                    </p:set>
                                    <p:animEffect transition="in" filter="wipe(left)">
                                      <p:cBhvr>
                                        <p:cTn id="25" dur="500"/>
                                        <p:tgtEl>
                                          <p:spTgt spid="164887"/>
                                        </p:tgtEl>
                                      </p:cBhvr>
                                    </p:animEffect>
                                  </p:childTnLst>
                                </p:cTn>
                              </p:par>
                            </p:childTnLst>
                          </p:cTn>
                        </p:par>
                        <p:par>
                          <p:cTn id="26" fill="hold" nodeType="afterGroup">
                            <p:stCondLst>
                              <p:cond delay="1500"/>
                            </p:stCondLst>
                            <p:childTnLst>
                              <p:par>
                                <p:cTn id="27" presetID="22" presetClass="entr" presetSubtype="8" fill="hold" nodeType="afterEffect">
                                  <p:stCondLst>
                                    <p:cond delay="0"/>
                                  </p:stCondLst>
                                  <p:childTnLst>
                                    <p:set>
                                      <p:cBhvr>
                                        <p:cTn id="28" dur="1" fill="hold">
                                          <p:stCondLst>
                                            <p:cond delay="0"/>
                                          </p:stCondLst>
                                        </p:cTn>
                                        <p:tgtEl>
                                          <p:spTgt spid="164888"/>
                                        </p:tgtEl>
                                        <p:attrNameLst>
                                          <p:attrName>style.visibility</p:attrName>
                                        </p:attrNameLst>
                                      </p:cBhvr>
                                      <p:to>
                                        <p:strVal val="visible"/>
                                      </p:to>
                                    </p:set>
                                    <p:animEffect transition="in" filter="wipe(left)">
                                      <p:cBhvr>
                                        <p:cTn id="29" dur="500"/>
                                        <p:tgtEl>
                                          <p:spTgt spid="1648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81" grpId="0"/>
      <p:bldP spid="16488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Text Box 3"/>
          <p:cNvSpPr txBox="1">
            <a:spLocks noChangeArrowheads="1"/>
          </p:cNvSpPr>
          <p:nvPr/>
        </p:nvSpPr>
        <p:spPr bwMode="auto">
          <a:xfrm>
            <a:off x="476250" y="414338"/>
            <a:ext cx="6751638"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00FF"/>
                </a:solidFill>
                <a:latin typeface="楷体_GB2312" pitchFamily="49" charset="-122"/>
                <a:ea typeface="楷体_GB2312" pitchFamily="49" charset="-122"/>
              </a:rPr>
              <a:t>5</a:t>
            </a:r>
            <a:r>
              <a:rPr lang="zh-CN" altLang="en-US" b="1">
                <a:solidFill>
                  <a:srgbClr val="0000FF"/>
                </a:solidFill>
                <a:latin typeface="楷体_GB2312" pitchFamily="49" charset="-122"/>
                <a:ea typeface="楷体_GB2312" pitchFamily="49" charset="-122"/>
              </a:rPr>
              <a:t>、证实量子性的早期实验及解释：</a:t>
            </a:r>
          </a:p>
        </p:txBody>
      </p:sp>
      <p:sp>
        <p:nvSpPr>
          <p:cNvPr id="167940" name="Text Box 4"/>
          <p:cNvSpPr txBox="1">
            <a:spLocks noChangeArrowheads="1"/>
          </p:cNvSpPr>
          <p:nvPr/>
        </p:nvSpPr>
        <p:spPr bwMode="auto">
          <a:xfrm>
            <a:off x="700088" y="4114800"/>
            <a:ext cx="8351837" cy="968375"/>
          </a:xfrm>
          <a:prstGeom prst="rect">
            <a:avLst/>
          </a:prstGeom>
          <a:noFill/>
          <a:ln w="9525">
            <a:noFill/>
            <a:miter lim="800000"/>
            <a:headEnd/>
            <a:tailEnd/>
          </a:ln>
          <a:effectLst/>
        </p:spPr>
        <p:txBody>
          <a:bodyPr>
            <a:spAutoFit/>
          </a:bodyPr>
          <a:lstStyle/>
          <a:p>
            <a:pPr>
              <a:lnSpc>
                <a:spcPct val="120000"/>
              </a:lnSpc>
            </a:pPr>
            <a:r>
              <a:rPr lang="en-US" altLang="zh-CN" b="1">
                <a:solidFill>
                  <a:schemeClr val="bg2"/>
                </a:solidFill>
                <a:latin typeface="楷体_GB2312" pitchFamily="49" charset="-122"/>
                <a:ea typeface="楷体_GB2312" pitchFamily="49" charset="-122"/>
              </a:rPr>
              <a:t>(4)</a:t>
            </a:r>
            <a:r>
              <a:rPr lang="en-US" altLang="zh-CN" b="1">
                <a:solidFill>
                  <a:schemeClr val="bg2"/>
                </a:solidFill>
              </a:rPr>
              <a:t> </a:t>
            </a:r>
            <a:r>
              <a:rPr lang="en-US" altLang="zh-CN" b="1">
                <a:solidFill>
                  <a:schemeClr val="bg2"/>
                </a:solidFill>
                <a:latin typeface="楷体_GB2312" pitchFamily="49" charset="-122"/>
                <a:ea typeface="楷体_GB2312" pitchFamily="49" charset="-122"/>
              </a:rPr>
              <a:t>1923</a:t>
            </a:r>
            <a:r>
              <a:rPr lang="zh-CN" altLang="en-US" b="1">
                <a:solidFill>
                  <a:schemeClr val="bg2"/>
                </a:solidFill>
                <a:latin typeface="楷体_GB2312" pitchFamily="49" charset="-122"/>
                <a:ea typeface="楷体_GB2312" pitchFamily="49" charset="-122"/>
              </a:rPr>
              <a:t>年用康普顿用光的量子理论解释了</a:t>
            </a:r>
            <a:r>
              <a:rPr lang="zh-CN" altLang="en-US" b="1">
                <a:solidFill>
                  <a:schemeClr val="bg2"/>
                </a:solidFill>
                <a:ea typeface="楷体_GB2312" pitchFamily="49" charset="-122"/>
              </a:rPr>
              <a:t>“</a:t>
            </a:r>
            <a:r>
              <a:rPr lang="zh-CN" altLang="en-US" b="1">
                <a:solidFill>
                  <a:schemeClr val="bg2"/>
                </a:solidFill>
                <a:latin typeface="楷体_GB2312" pitchFamily="49" charset="-122"/>
                <a:ea typeface="楷体_GB2312" pitchFamily="49" charset="-122"/>
              </a:rPr>
              <a:t>康普顿效应</a:t>
            </a:r>
            <a:r>
              <a:rPr lang="zh-CN" altLang="en-US" b="1">
                <a:solidFill>
                  <a:schemeClr val="bg2"/>
                </a:solidFill>
                <a:ea typeface="楷体_GB2312" pitchFamily="49" charset="-122"/>
              </a:rPr>
              <a:t>”</a:t>
            </a:r>
            <a:r>
              <a:rPr lang="zh-CN" altLang="en-US" b="1">
                <a:solidFill>
                  <a:schemeClr val="bg2"/>
                </a:solidFill>
                <a:latin typeface="楷体_GB2312" pitchFamily="49" charset="-122"/>
                <a:ea typeface="楷体_GB2312" pitchFamily="49" charset="-122"/>
              </a:rPr>
              <a:t>，  </a:t>
            </a:r>
          </a:p>
          <a:p>
            <a:pPr>
              <a:lnSpc>
                <a:spcPct val="120000"/>
              </a:lnSpc>
            </a:pPr>
            <a:r>
              <a:rPr lang="zh-CN" altLang="en-US" b="1">
                <a:solidFill>
                  <a:schemeClr val="bg2"/>
                </a:solidFill>
                <a:latin typeface="楷体_GB2312" pitchFamily="49" charset="-122"/>
                <a:ea typeface="楷体_GB2312" pitchFamily="49" charset="-122"/>
              </a:rPr>
              <a:t>   获</a:t>
            </a:r>
            <a:r>
              <a:rPr lang="en-US" altLang="zh-CN" b="1">
                <a:solidFill>
                  <a:srgbClr val="FF6600"/>
                </a:solidFill>
                <a:latin typeface="楷体_GB2312" pitchFamily="49" charset="-122"/>
                <a:ea typeface="楷体_GB2312" pitchFamily="49" charset="-122"/>
              </a:rPr>
              <a:t>1927</a:t>
            </a:r>
            <a:r>
              <a:rPr lang="zh-CN" altLang="en-US" b="1">
                <a:solidFill>
                  <a:srgbClr val="FF6600"/>
                </a:solidFill>
                <a:latin typeface="楷体_GB2312" pitchFamily="49" charset="-122"/>
                <a:ea typeface="楷体_GB2312" pitchFamily="49" charset="-122"/>
              </a:rPr>
              <a:t>年诺贝尔奖</a:t>
            </a:r>
            <a:r>
              <a:rPr lang="zh-CN" altLang="en-US" b="1">
                <a:solidFill>
                  <a:schemeClr val="bg2"/>
                </a:solidFill>
                <a:latin typeface="楷体_GB2312" pitchFamily="49" charset="-122"/>
                <a:ea typeface="楷体_GB2312" pitchFamily="49" charset="-122"/>
              </a:rPr>
              <a:t>。</a:t>
            </a:r>
          </a:p>
        </p:txBody>
      </p:sp>
      <p:sp>
        <p:nvSpPr>
          <p:cNvPr id="167941" name="Text Box 5"/>
          <p:cNvSpPr txBox="1">
            <a:spLocks noChangeArrowheads="1"/>
          </p:cNvSpPr>
          <p:nvPr/>
        </p:nvSpPr>
        <p:spPr bwMode="auto">
          <a:xfrm>
            <a:off x="476250" y="5138738"/>
            <a:ext cx="7831138" cy="1333500"/>
          </a:xfrm>
          <a:prstGeom prst="rect">
            <a:avLst/>
          </a:prstGeom>
          <a:noFill/>
          <a:ln w="9525">
            <a:noFill/>
            <a:miter lim="800000"/>
            <a:headEnd/>
            <a:tailEnd/>
          </a:ln>
          <a:effectLst/>
        </p:spPr>
        <p:txBody>
          <a:bodyPr>
            <a:spAutoFit/>
          </a:bodyPr>
          <a:lstStyle/>
          <a:p>
            <a:pPr>
              <a:spcBef>
                <a:spcPct val="20000"/>
              </a:spcBef>
            </a:pPr>
            <a:r>
              <a:rPr lang="en-US" altLang="zh-CN" b="1">
                <a:solidFill>
                  <a:schemeClr val="bg2"/>
                </a:solidFill>
                <a:latin typeface="楷体_GB2312" pitchFamily="49" charset="-122"/>
                <a:ea typeface="楷体_GB2312" pitchFamily="49" charset="-122"/>
              </a:rPr>
              <a:t> (5)1927</a:t>
            </a:r>
            <a:r>
              <a:rPr lang="zh-CN" altLang="en-US" b="1">
                <a:solidFill>
                  <a:schemeClr val="bg2"/>
                </a:solidFill>
                <a:latin typeface="楷体_GB2312" pitchFamily="49" charset="-122"/>
                <a:ea typeface="楷体_GB2312" pitchFamily="49" charset="-122"/>
              </a:rPr>
              <a:t>年美国</a:t>
            </a:r>
            <a:r>
              <a:rPr lang="zh-CN" altLang="en-US" b="1">
                <a:solidFill>
                  <a:srgbClr val="0000FF"/>
                </a:solidFill>
                <a:latin typeface="楷体_GB2312" pitchFamily="49" charset="-122"/>
                <a:ea typeface="楷体_GB2312" pitchFamily="49" charset="-122"/>
              </a:rPr>
              <a:t>戴维逊</a:t>
            </a:r>
            <a:r>
              <a:rPr lang="en-US" altLang="zh-CN" b="1">
                <a:solidFill>
                  <a:srgbClr val="0000FF"/>
                </a:solidFill>
                <a:ea typeface="楷体_GB2312" pitchFamily="49" charset="-122"/>
              </a:rPr>
              <a:t>—</a:t>
            </a:r>
            <a:r>
              <a:rPr lang="zh-CN" altLang="en-US" b="1">
                <a:solidFill>
                  <a:srgbClr val="0000FF"/>
                </a:solidFill>
                <a:latin typeface="楷体_GB2312" pitchFamily="49" charset="-122"/>
                <a:ea typeface="楷体_GB2312" pitchFamily="49" charset="-122"/>
              </a:rPr>
              <a:t>革末实验</a:t>
            </a:r>
            <a:r>
              <a:rPr kumimoji="0" lang="zh-CN" altLang="en-US" b="1">
                <a:solidFill>
                  <a:schemeClr val="bg2"/>
                </a:solidFill>
                <a:latin typeface="楷体_GB2312" pitchFamily="49" charset="-122"/>
                <a:ea typeface="楷体_GB2312" pitchFamily="49" charset="-122"/>
              </a:rPr>
              <a:t>及英国的</a:t>
            </a:r>
            <a:r>
              <a:rPr kumimoji="0" lang="zh-CN" altLang="en-US" b="1">
                <a:solidFill>
                  <a:srgbClr val="0000FF"/>
                </a:solidFill>
                <a:latin typeface="楷体_GB2312" pitchFamily="49" charset="-122"/>
                <a:ea typeface="楷体_GB2312" pitchFamily="49" charset="-122"/>
              </a:rPr>
              <a:t>汤姆逊电子</a:t>
            </a:r>
          </a:p>
          <a:p>
            <a:pPr>
              <a:spcBef>
                <a:spcPct val="20000"/>
              </a:spcBef>
            </a:pPr>
            <a:r>
              <a:rPr kumimoji="0" lang="zh-CN" altLang="en-US" b="1">
                <a:solidFill>
                  <a:srgbClr val="0000FF"/>
                </a:solidFill>
                <a:latin typeface="楷体_GB2312" pitchFamily="49" charset="-122"/>
                <a:ea typeface="楷体_GB2312" pitchFamily="49" charset="-122"/>
              </a:rPr>
              <a:t>    衍射实验</a:t>
            </a:r>
            <a:r>
              <a:rPr kumimoji="0" lang="zh-CN" altLang="en-US" b="1">
                <a:solidFill>
                  <a:schemeClr val="bg2"/>
                </a:solidFill>
                <a:latin typeface="楷体_GB2312" pitchFamily="49" charset="-122"/>
                <a:ea typeface="楷体_GB2312" pitchFamily="49" charset="-122"/>
              </a:rPr>
              <a:t>，证明了</a:t>
            </a:r>
            <a:r>
              <a:rPr lang="zh-CN" altLang="en-US" b="1">
                <a:solidFill>
                  <a:schemeClr val="bg2"/>
                </a:solidFill>
                <a:latin typeface="楷体_GB2312" pitchFamily="49" charset="-122"/>
                <a:ea typeface="楷体_GB2312" pitchFamily="49" charset="-122"/>
              </a:rPr>
              <a:t>电子的波动性，戴维逊和</a:t>
            </a:r>
            <a:r>
              <a:rPr kumimoji="0" lang="zh-CN" altLang="en-US" b="1">
                <a:solidFill>
                  <a:schemeClr val="bg2"/>
                </a:solidFill>
                <a:latin typeface="楷体_GB2312" pitchFamily="49" charset="-122"/>
                <a:ea typeface="楷体_GB2312" pitchFamily="49" charset="-122"/>
              </a:rPr>
              <a:t>汤姆逊</a:t>
            </a:r>
          </a:p>
          <a:p>
            <a:pPr>
              <a:spcBef>
                <a:spcPct val="20000"/>
              </a:spcBef>
            </a:pPr>
            <a:r>
              <a:rPr kumimoji="0" lang="zh-CN" altLang="en-US" b="1">
                <a:solidFill>
                  <a:schemeClr val="bg2"/>
                </a:solidFill>
                <a:latin typeface="楷体_GB2312" pitchFamily="49" charset="-122"/>
                <a:ea typeface="楷体_GB2312" pitchFamily="49" charset="-122"/>
              </a:rPr>
              <a:t>    </a:t>
            </a:r>
            <a:r>
              <a:rPr lang="zh-CN" altLang="en-US" b="1">
                <a:solidFill>
                  <a:schemeClr val="bg2"/>
                </a:solidFill>
                <a:latin typeface="楷体_GB2312" pitchFamily="49" charset="-122"/>
                <a:ea typeface="楷体_GB2312" pitchFamily="49" charset="-122"/>
              </a:rPr>
              <a:t>共享</a:t>
            </a:r>
            <a:r>
              <a:rPr lang="en-US" altLang="zh-CN" b="1">
                <a:solidFill>
                  <a:srgbClr val="FF6600"/>
                </a:solidFill>
                <a:latin typeface="楷体_GB2312" pitchFamily="49" charset="-122"/>
                <a:ea typeface="楷体_GB2312" pitchFamily="49" charset="-122"/>
              </a:rPr>
              <a:t>1937</a:t>
            </a:r>
            <a:r>
              <a:rPr lang="zh-CN" altLang="en-US" b="1">
                <a:solidFill>
                  <a:srgbClr val="FF6600"/>
                </a:solidFill>
                <a:latin typeface="楷体_GB2312" pitchFamily="49" charset="-122"/>
                <a:ea typeface="楷体_GB2312" pitchFamily="49" charset="-122"/>
              </a:rPr>
              <a:t>年诺贝尔奖</a:t>
            </a:r>
            <a:r>
              <a:rPr lang="zh-CN" altLang="en-US" b="1">
                <a:solidFill>
                  <a:schemeClr val="bg2"/>
                </a:solidFill>
                <a:latin typeface="楷体_GB2312" pitchFamily="49" charset="-122"/>
                <a:ea typeface="楷体_GB2312" pitchFamily="49" charset="-122"/>
              </a:rPr>
              <a:t>。</a:t>
            </a:r>
          </a:p>
        </p:txBody>
      </p:sp>
      <p:sp>
        <p:nvSpPr>
          <p:cNvPr id="167943" name="Text Box 7"/>
          <p:cNvSpPr txBox="1">
            <a:spLocks noChangeArrowheads="1"/>
          </p:cNvSpPr>
          <p:nvPr/>
        </p:nvSpPr>
        <p:spPr bwMode="auto">
          <a:xfrm>
            <a:off x="700088" y="2708275"/>
            <a:ext cx="7921625" cy="1406525"/>
          </a:xfrm>
          <a:prstGeom prst="rect">
            <a:avLst/>
          </a:prstGeom>
          <a:noFill/>
          <a:ln w="9525">
            <a:noFill/>
            <a:miter lim="800000"/>
            <a:headEnd/>
            <a:tailEnd/>
          </a:ln>
          <a:effectLst/>
        </p:spPr>
        <p:txBody>
          <a:bodyPr>
            <a:spAutoFit/>
          </a:bodyPr>
          <a:lstStyle/>
          <a:p>
            <a:pPr>
              <a:lnSpc>
                <a:spcPct val="120000"/>
              </a:lnSpc>
            </a:pPr>
            <a:r>
              <a:rPr lang="en-US" altLang="zh-CN" b="1">
                <a:solidFill>
                  <a:schemeClr val="bg2"/>
                </a:solidFill>
                <a:latin typeface="楷体_GB2312" pitchFamily="49" charset="-122"/>
                <a:ea typeface="楷体_GB2312" pitchFamily="49" charset="-122"/>
              </a:rPr>
              <a:t>(3)1922</a:t>
            </a:r>
            <a:r>
              <a:rPr lang="zh-CN" altLang="en-US" b="1">
                <a:solidFill>
                  <a:schemeClr val="bg2"/>
                </a:solidFill>
                <a:latin typeface="楷体_GB2312" pitchFamily="49" charset="-122"/>
                <a:ea typeface="楷体_GB2312" pitchFamily="49" charset="-122"/>
              </a:rPr>
              <a:t>年</a:t>
            </a:r>
            <a:r>
              <a:rPr lang="zh-CN" altLang="en-US" b="1">
                <a:solidFill>
                  <a:srgbClr val="0000FF"/>
                </a:solidFill>
                <a:latin typeface="楷体_GB2312" pitchFamily="49" charset="-122"/>
                <a:ea typeface="楷体_GB2312" pitchFamily="49" charset="-122"/>
              </a:rPr>
              <a:t>斯特恩</a:t>
            </a:r>
            <a:r>
              <a:rPr lang="en-US" altLang="zh-CN" b="1">
                <a:solidFill>
                  <a:srgbClr val="0000FF"/>
                </a:solidFill>
                <a:ea typeface="楷体_GB2312" pitchFamily="49" charset="-122"/>
              </a:rPr>
              <a:t>—</a:t>
            </a:r>
            <a:r>
              <a:rPr lang="zh-CN" altLang="en-US" b="1">
                <a:solidFill>
                  <a:srgbClr val="0000FF"/>
                </a:solidFill>
                <a:latin typeface="楷体_GB2312" pitchFamily="49" charset="-122"/>
                <a:ea typeface="楷体_GB2312" pitchFamily="49" charset="-122"/>
              </a:rPr>
              <a:t>盖拉赫实验</a:t>
            </a:r>
            <a:r>
              <a:rPr lang="zh-CN" altLang="en-US" b="1">
                <a:solidFill>
                  <a:schemeClr val="bg2"/>
                </a:solidFill>
                <a:latin typeface="楷体_GB2312" pitchFamily="49" charset="-122"/>
                <a:ea typeface="楷体_GB2312" pitchFamily="49" charset="-122"/>
              </a:rPr>
              <a:t>支持了玻尔的定态轨道原</a:t>
            </a:r>
          </a:p>
          <a:p>
            <a:pPr>
              <a:lnSpc>
                <a:spcPct val="120000"/>
              </a:lnSpc>
            </a:pPr>
            <a:r>
              <a:rPr lang="zh-CN" altLang="en-US" b="1">
                <a:solidFill>
                  <a:schemeClr val="bg2"/>
                </a:solidFill>
                <a:latin typeface="楷体_GB2312" pitchFamily="49" charset="-122"/>
                <a:ea typeface="楷体_GB2312" pitchFamily="49" charset="-122"/>
              </a:rPr>
              <a:t>   子理论，并为</a:t>
            </a:r>
            <a:r>
              <a:rPr lang="zh-CN" altLang="en-US" b="1">
                <a:solidFill>
                  <a:schemeClr val="bg2"/>
                </a:solidFill>
                <a:ea typeface="楷体_GB2312" pitchFamily="49" charset="-122"/>
              </a:rPr>
              <a:t>“</a:t>
            </a:r>
            <a:r>
              <a:rPr lang="zh-CN" altLang="en-US" b="1">
                <a:solidFill>
                  <a:schemeClr val="bg2"/>
                </a:solidFill>
                <a:latin typeface="楷体_GB2312" pitchFamily="49" charset="-122"/>
                <a:ea typeface="楷体_GB2312" pitchFamily="49" charset="-122"/>
              </a:rPr>
              <a:t>电子自旋</a:t>
            </a:r>
            <a:r>
              <a:rPr lang="zh-CN" altLang="en-US" b="1">
                <a:solidFill>
                  <a:schemeClr val="bg2"/>
                </a:solidFill>
                <a:ea typeface="楷体_GB2312" pitchFamily="49" charset="-122"/>
              </a:rPr>
              <a:t>”</a:t>
            </a:r>
            <a:r>
              <a:rPr lang="zh-CN" altLang="en-US" b="1">
                <a:solidFill>
                  <a:schemeClr val="bg2"/>
                </a:solidFill>
                <a:latin typeface="楷体_GB2312" pitchFamily="49" charset="-122"/>
                <a:ea typeface="楷体_GB2312" pitchFamily="49" charset="-122"/>
              </a:rPr>
              <a:t>概念的提出提供了实验基础。斯特恩获</a:t>
            </a:r>
            <a:r>
              <a:rPr lang="en-US" altLang="zh-CN" b="1">
                <a:solidFill>
                  <a:srgbClr val="FF6600"/>
                </a:solidFill>
                <a:latin typeface="楷体_GB2312" pitchFamily="49" charset="-122"/>
                <a:ea typeface="楷体_GB2312" pitchFamily="49" charset="-122"/>
              </a:rPr>
              <a:t>1943</a:t>
            </a:r>
            <a:r>
              <a:rPr lang="zh-CN" altLang="en-US" b="1">
                <a:solidFill>
                  <a:srgbClr val="FF6600"/>
                </a:solidFill>
                <a:latin typeface="楷体_GB2312" pitchFamily="49" charset="-122"/>
                <a:ea typeface="楷体_GB2312" pitchFamily="49" charset="-122"/>
              </a:rPr>
              <a:t>年诺贝尔奖</a:t>
            </a:r>
            <a:r>
              <a:rPr lang="zh-CN" altLang="en-US" b="1">
                <a:solidFill>
                  <a:schemeClr val="bg2"/>
                </a:solidFill>
                <a:latin typeface="楷体_GB2312" pitchFamily="49" charset="-122"/>
                <a:ea typeface="楷体_GB2312" pitchFamily="49" charset="-122"/>
              </a:rPr>
              <a:t>。</a:t>
            </a:r>
          </a:p>
        </p:txBody>
      </p:sp>
      <p:sp>
        <p:nvSpPr>
          <p:cNvPr id="167945" name="Text Box 9"/>
          <p:cNvSpPr txBox="1">
            <a:spLocks noChangeArrowheads="1"/>
          </p:cNvSpPr>
          <p:nvPr/>
        </p:nvSpPr>
        <p:spPr bwMode="auto">
          <a:xfrm>
            <a:off x="746125" y="954088"/>
            <a:ext cx="7921625" cy="895350"/>
          </a:xfrm>
          <a:prstGeom prst="rect">
            <a:avLst/>
          </a:prstGeom>
          <a:noFill/>
          <a:ln w="9525">
            <a:noFill/>
            <a:miter lim="800000"/>
            <a:headEnd/>
            <a:tailEnd/>
          </a:ln>
          <a:effectLst/>
        </p:spPr>
        <p:txBody>
          <a:bodyPr>
            <a:spAutoFit/>
          </a:bodyPr>
          <a:lstStyle/>
          <a:p>
            <a:pPr>
              <a:spcBef>
                <a:spcPct val="20000"/>
              </a:spcBef>
            </a:pPr>
            <a:r>
              <a:rPr lang="en-US" altLang="zh-CN" b="1">
                <a:solidFill>
                  <a:schemeClr val="bg2"/>
                </a:solidFill>
                <a:latin typeface="楷体_GB2312" pitchFamily="49" charset="-122"/>
                <a:ea typeface="楷体_GB2312" pitchFamily="49" charset="-122"/>
              </a:rPr>
              <a:t>(1)1914</a:t>
            </a:r>
            <a:r>
              <a:rPr lang="zh-CN" altLang="en-US" b="1">
                <a:solidFill>
                  <a:schemeClr val="bg2"/>
                </a:solidFill>
                <a:latin typeface="楷体_GB2312" pitchFamily="49" charset="-122"/>
                <a:ea typeface="楷体_GB2312" pitchFamily="49" charset="-122"/>
              </a:rPr>
              <a:t>年</a:t>
            </a:r>
            <a:r>
              <a:rPr lang="zh-CN" altLang="en-US" b="1">
                <a:solidFill>
                  <a:srgbClr val="0000FF"/>
                </a:solidFill>
                <a:latin typeface="楷体_GB2312" pitchFamily="49" charset="-122"/>
                <a:ea typeface="楷体_GB2312" pitchFamily="49" charset="-122"/>
              </a:rPr>
              <a:t>弗兰克</a:t>
            </a:r>
            <a:r>
              <a:rPr lang="en-US" altLang="zh-CN" b="1">
                <a:solidFill>
                  <a:srgbClr val="0000FF"/>
                </a:solidFill>
                <a:ea typeface="楷体_GB2312" pitchFamily="49" charset="-122"/>
              </a:rPr>
              <a:t>—</a:t>
            </a:r>
            <a:r>
              <a:rPr lang="zh-CN" altLang="en-US" b="1">
                <a:solidFill>
                  <a:srgbClr val="0000FF"/>
                </a:solidFill>
                <a:latin typeface="楷体_GB2312" pitchFamily="49" charset="-122"/>
                <a:ea typeface="楷体_GB2312" pitchFamily="49" charset="-122"/>
              </a:rPr>
              <a:t>赫兹实验</a:t>
            </a:r>
            <a:r>
              <a:rPr lang="zh-CN" altLang="en-US" b="1">
                <a:solidFill>
                  <a:schemeClr val="bg2"/>
                </a:solidFill>
                <a:latin typeface="楷体_GB2312" pitchFamily="49" charset="-122"/>
                <a:ea typeface="楷体_GB2312" pitchFamily="49" charset="-122"/>
              </a:rPr>
              <a:t>证明了原子内部能级是分立    </a:t>
            </a:r>
          </a:p>
          <a:p>
            <a:pPr>
              <a:spcBef>
                <a:spcPct val="20000"/>
              </a:spcBef>
            </a:pPr>
            <a:r>
              <a:rPr lang="zh-CN" altLang="en-US" b="1">
                <a:solidFill>
                  <a:schemeClr val="bg2"/>
                </a:solidFill>
                <a:latin typeface="楷体_GB2312" pitchFamily="49" charset="-122"/>
                <a:ea typeface="楷体_GB2312" pitchFamily="49" charset="-122"/>
              </a:rPr>
              <a:t>   的，二人共享</a:t>
            </a:r>
            <a:r>
              <a:rPr lang="en-US" altLang="zh-CN" b="1">
                <a:solidFill>
                  <a:srgbClr val="FF6600"/>
                </a:solidFill>
                <a:latin typeface="楷体_GB2312" pitchFamily="49" charset="-122"/>
                <a:ea typeface="楷体_GB2312" pitchFamily="49" charset="-122"/>
              </a:rPr>
              <a:t>1925</a:t>
            </a:r>
            <a:r>
              <a:rPr lang="zh-CN" altLang="en-US" b="1">
                <a:solidFill>
                  <a:srgbClr val="FF6600"/>
                </a:solidFill>
                <a:latin typeface="楷体_GB2312" pitchFamily="49" charset="-122"/>
                <a:ea typeface="楷体_GB2312" pitchFamily="49" charset="-122"/>
              </a:rPr>
              <a:t>年诺贝尔奖</a:t>
            </a:r>
            <a:r>
              <a:rPr lang="zh-CN" altLang="en-US" b="1">
                <a:solidFill>
                  <a:schemeClr val="bg2"/>
                </a:solidFill>
                <a:latin typeface="楷体_GB2312" pitchFamily="49" charset="-122"/>
                <a:ea typeface="楷体_GB2312" pitchFamily="49" charset="-122"/>
              </a:rPr>
              <a:t>。</a:t>
            </a:r>
          </a:p>
        </p:txBody>
      </p:sp>
      <p:sp>
        <p:nvSpPr>
          <p:cNvPr id="167947" name="Rectangle 11"/>
          <p:cNvSpPr>
            <a:spLocks noChangeArrowheads="1"/>
          </p:cNvSpPr>
          <p:nvPr/>
        </p:nvSpPr>
        <p:spPr bwMode="auto">
          <a:xfrm>
            <a:off x="792163" y="1785938"/>
            <a:ext cx="7740650" cy="968375"/>
          </a:xfrm>
          <a:prstGeom prst="rect">
            <a:avLst/>
          </a:prstGeom>
          <a:noFill/>
          <a:ln w="9525">
            <a:noFill/>
            <a:miter lim="800000"/>
            <a:headEnd/>
            <a:tailEnd/>
          </a:ln>
          <a:effectLst/>
        </p:spPr>
        <p:txBody>
          <a:bodyPr>
            <a:spAutoFit/>
          </a:bodyPr>
          <a:lstStyle/>
          <a:p>
            <a:pPr>
              <a:lnSpc>
                <a:spcPct val="120000"/>
              </a:lnSpc>
            </a:pPr>
            <a:r>
              <a:rPr lang="en-US" altLang="zh-CN" b="1">
                <a:solidFill>
                  <a:schemeClr val="bg2"/>
                </a:solidFill>
                <a:latin typeface="楷体_GB2312" pitchFamily="49" charset="-122"/>
                <a:ea typeface="楷体_GB2312" pitchFamily="49" charset="-122"/>
              </a:rPr>
              <a:t>(2)1916</a:t>
            </a:r>
            <a:r>
              <a:rPr lang="zh-CN" altLang="en-US" b="1">
                <a:solidFill>
                  <a:schemeClr val="bg2"/>
                </a:solidFill>
                <a:latin typeface="楷体_GB2312" pitchFamily="49" charset="-122"/>
                <a:ea typeface="楷体_GB2312" pitchFamily="49" charset="-122"/>
              </a:rPr>
              <a:t>年美国人密立根用实验证实了</a:t>
            </a:r>
            <a:r>
              <a:rPr lang="zh-CN" altLang="en-US" b="1">
                <a:solidFill>
                  <a:srgbClr val="0000FF"/>
                </a:solidFill>
                <a:latin typeface="楷体_GB2312" pitchFamily="49" charset="-122"/>
                <a:ea typeface="楷体_GB2312" pitchFamily="49" charset="-122"/>
              </a:rPr>
              <a:t>爱因斯坦方程</a:t>
            </a:r>
            <a:r>
              <a:rPr lang="zh-CN" altLang="en-US" b="1">
                <a:solidFill>
                  <a:schemeClr val="bg2"/>
                </a:solidFill>
                <a:latin typeface="楷体_GB2312" pitchFamily="49" charset="-122"/>
                <a:ea typeface="楷体_GB2312" pitchFamily="49" charset="-122"/>
              </a:rPr>
              <a:t>的正 </a:t>
            </a:r>
          </a:p>
          <a:p>
            <a:pPr>
              <a:lnSpc>
                <a:spcPct val="120000"/>
              </a:lnSpc>
            </a:pPr>
            <a:r>
              <a:rPr lang="zh-CN" altLang="en-US" b="1">
                <a:solidFill>
                  <a:schemeClr val="bg2"/>
                </a:solidFill>
                <a:latin typeface="楷体_GB2312" pitchFamily="49" charset="-122"/>
                <a:ea typeface="楷体_GB2312" pitchFamily="49" charset="-122"/>
              </a:rPr>
              <a:t>   确性，获</a:t>
            </a:r>
            <a:r>
              <a:rPr lang="en-US" altLang="zh-CN" b="1">
                <a:solidFill>
                  <a:srgbClr val="FF6600"/>
                </a:solidFill>
                <a:latin typeface="楷体_GB2312" pitchFamily="49" charset="-122"/>
                <a:ea typeface="楷体_GB2312" pitchFamily="49" charset="-122"/>
              </a:rPr>
              <a:t>1923</a:t>
            </a:r>
            <a:r>
              <a:rPr lang="zh-CN" altLang="en-US" b="1">
                <a:solidFill>
                  <a:srgbClr val="FF6600"/>
                </a:solidFill>
                <a:latin typeface="楷体_GB2312" pitchFamily="49" charset="-122"/>
                <a:ea typeface="楷体_GB2312" pitchFamily="49" charset="-122"/>
              </a:rPr>
              <a:t>年诺贝尔奖</a:t>
            </a:r>
            <a:r>
              <a:rPr lang="zh-CN" altLang="en-US" b="1">
                <a:solidFill>
                  <a:schemeClr val="bg2"/>
                </a:solidFill>
                <a:latin typeface="楷体_GB2312" pitchFamily="49" charset="-122"/>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7939"/>
                                        </p:tgtEl>
                                        <p:attrNameLst>
                                          <p:attrName>style.visibility</p:attrName>
                                        </p:attrNameLst>
                                      </p:cBhvr>
                                      <p:to>
                                        <p:strVal val="visible"/>
                                      </p:to>
                                    </p:set>
                                    <p:animEffect transition="in" filter="wipe(left)">
                                      <p:cBhvr>
                                        <p:cTn id="7" dur="500"/>
                                        <p:tgtEl>
                                          <p:spTgt spid="1679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7945"/>
                                        </p:tgtEl>
                                        <p:attrNameLst>
                                          <p:attrName>style.visibility</p:attrName>
                                        </p:attrNameLst>
                                      </p:cBhvr>
                                      <p:to>
                                        <p:strVal val="visible"/>
                                      </p:to>
                                    </p:set>
                                    <p:animEffect transition="in" filter="wipe(left)">
                                      <p:cBhvr>
                                        <p:cTn id="12" dur="500"/>
                                        <p:tgtEl>
                                          <p:spTgt spid="1679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7947"/>
                                        </p:tgtEl>
                                        <p:attrNameLst>
                                          <p:attrName>style.visibility</p:attrName>
                                        </p:attrNameLst>
                                      </p:cBhvr>
                                      <p:to>
                                        <p:strVal val="visible"/>
                                      </p:to>
                                    </p:set>
                                    <p:animEffect transition="in" filter="wipe(left)">
                                      <p:cBhvr>
                                        <p:cTn id="17" dur="500"/>
                                        <p:tgtEl>
                                          <p:spTgt spid="1679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7943"/>
                                        </p:tgtEl>
                                        <p:attrNameLst>
                                          <p:attrName>style.visibility</p:attrName>
                                        </p:attrNameLst>
                                      </p:cBhvr>
                                      <p:to>
                                        <p:strVal val="visible"/>
                                      </p:to>
                                    </p:set>
                                    <p:animEffect transition="in" filter="wipe(left)">
                                      <p:cBhvr>
                                        <p:cTn id="22" dur="500"/>
                                        <p:tgtEl>
                                          <p:spTgt spid="1679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7940"/>
                                        </p:tgtEl>
                                        <p:attrNameLst>
                                          <p:attrName>style.visibility</p:attrName>
                                        </p:attrNameLst>
                                      </p:cBhvr>
                                      <p:to>
                                        <p:strVal val="visible"/>
                                      </p:to>
                                    </p:set>
                                    <p:animEffect transition="in" filter="wipe(left)">
                                      <p:cBhvr>
                                        <p:cTn id="27" dur="500"/>
                                        <p:tgtEl>
                                          <p:spTgt spid="16794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7941"/>
                                        </p:tgtEl>
                                        <p:attrNameLst>
                                          <p:attrName>style.visibility</p:attrName>
                                        </p:attrNameLst>
                                      </p:cBhvr>
                                      <p:to>
                                        <p:strVal val="visible"/>
                                      </p:to>
                                    </p:set>
                                    <p:animEffect transition="in" filter="wipe(left)">
                                      <p:cBhvr>
                                        <p:cTn id="32" dur="500"/>
                                        <p:tgtEl>
                                          <p:spTgt spid="167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p:bldP spid="167940" grpId="0"/>
      <p:bldP spid="167941" grpId="0"/>
      <p:bldP spid="167943" grpId="0"/>
      <p:bldP spid="167945" grpId="0"/>
      <p:bldP spid="16794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2" name="Rectangle 4"/>
          <p:cNvSpPr>
            <a:spLocks noChangeArrowheads="1"/>
          </p:cNvSpPr>
          <p:nvPr/>
        </p:nvSpPr>
        <p:spPr bwMode="auto">
          <a:xfrm>
            <a:off x="206375" y="425450"/>
            <a:ext cx="5445125" cy="528638"/>
          </a:xfrm>
          <a:prstGeom prst="rect">
            <a:avLst/>
          </a:prstGeom>
          <a:noFill/>
          <a:ln w="9525">
            <a:noFill/>
            <a:miter lim="800000"/>
            <a:headEnd/>
            <a:tailEnd/>
          </a:ln>
        </p:spPr>
        <p:txBody>
          <a:bodyPr/>
          <a:lstStyle/>
          <a:p>
            <a:r>
              <a:rPr lang="zh-CN" altLang="en-US" sz="2800" b="1">
                <a:solidFill>
                  <a:schemeClr val="tx2"/>
                </a:solidFill>
                <a:latin typeface="楷体_GB2312" pitchFamily="49" charset="-122"/>
                <a:ea typeface="楷体_GB2312" pitchFamily="49" charset="-122"/>
              </a:rPr>
              <a:t>三、量子力学的建立与发展：</a:t>
            </a:r>
          </a:p>
        </p:txBody>
      </p:sp>
      <p:sp>
        <p:nvSpPr>
          <p:cNvPr id="165893" name="Text Box 5"/>
          <p:cNvSpPr txBox="1">
            <a:spLocks noChangeArrowheads="1"/>
          </p:cNvSpPr>
          <p:nvPr/>
        </p:nvSpPr>
        <p:spPr bwMode="auto">
          <a:xfrm>
            <a:off x="657225" y="954088"/>
            <a:ext cx="3284538"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00FF"/>
                </a:solidFill>
                <a:latin typeface="楷体_GB2312" pitchFamily="49" charset="-122"/>
                <a:ea typeface="楷体_GB2312" pitchFamily="49" charset="-122"/>
              </a:rPr>
              <a:t>1</a:t>
            </a:r>
            <a:r>
              <a:rPr lang="zh-CN" altLang="en-US" b="1">
                <a:solidFill>
                  <a:srgbClr val="0000FF"/>
                </a:solidFill>
                <a:latin typeface="楷体_GB2312" pitchFamily="49" charset="-122"/>
                <a:ea typeface="楷体_GB2312" pitchFamily="49" charset="-122"/>
              </a:rPr>
              <a:t>、</a:t>
            </a:r>
            <a:r>
              <a:rPr kumimoji="0" lang="zh-CN" altLang="en-US" b="1">
                <a:solidFill>
                  <a:srgbClr val="0000FF"/>
                </a:solidFill>
                <a:latin typeface="楷体_GB2312" pitchFamily="49" charset="-122"/>
                <a:ea typeface="楷体_GB2312" pitchFamily="49" charset="-122"/>
              </a:rPr>
              <a:t>矩阵力学的创立</a:t>
            </a:r>
            <a:r>
              <a:rPr lang="zh-CN" altLang="en-US" b="1">
                <a:solidFill>
                  <a:srgbClr val="0000FF"/>
                </a:solidFill>
                <a:latin typeface="楷体_GB2312" pitchFamily="49" charset="-122"/>
                <a:ea typeface="楷体_GB2312" pitchFamily="49" charset="-122"/>
              </a:rPr>
              <a:t>：</a:t>
            </a:r>
          </a:p>
        </p:txBody>
      </p:sp>
      <p:sp>
        <p:nvSpPr>
          <p:cNvPr id="165894" name="Text Box 6"/>
          <p:cNvSpPr txBox="1">
            <a:spLocks noChangeArrowheads="1"/>
          </p:cNvSpPr>
          <p:nvPr/>
        </p:nvSpPr>
        <p:spPr bwMode="auto">
          <a:xfrm>
            <a:off x="746125" y="1403350"/>
            <a:ext cx="7875588" cy="1698625"/>
          </a:xfrm>
          <a:prstGeom prst="rect">
            <a:avLst/>
          </a:prstGeom>
          <a:noFill/>
          <a:ln w="9525">
            <a:noFill/>
            <a:miter lim="800000"/>
            <a:headEnd/>
            <a:tailEnd/>
          </a:ln>
          <a:effectLst/>
        </p:spPr>
        <p:txBody>
          <a:bodyPr>
            <a:spAutoFit/>
          </a:bodyPr>
          <a:lstStyle/>
          <a:p>
            <a:pPr>
              <a:lnSpc>
                <a:spcPct val="110000"/>
              </a:lnSpc>
            </a:pPr>
            <a:r>
              <a:rPr lang="en-US" altLang="zh-CN" b="1">
                <a:solidFill>
                  <a:schemeClr val="bg2"/>
                </a:solidFill>
                <a:latin typeface="楷体_GB2312" pitchFamily="49" charset="-122"/>
                <a:ea typeface="楷体_GB2312" pitchFamily="49" charset="-122"/>
              </a:rPr>
              <a:t>    1925</a:t>
            </a:r>
            <a:r>
              <a:rPr lang="zh-CN" altLang="en-US" b="1">
                <a:solidFill>
                  <a:schemeClr val="bg2"/>
                </a:solidFill>
                <a:latin typeface="楷体_GB2312" pitchFamily="49" charset="-122"/>
                <a:ea typeface="楷体_GB2312" pitchFamily="49" charset="-122"/>
              </a:rPr>
              <a:t>年，德国</a:t>
            </a:r>
            <a:r>
              <a:rPr lang="zh-CN" altLang="en-US" b="1">
                <a:solidFill>
                  <a:schemeClr val="accent2"/>
                </a:solidFill>
                <a:latin typeface="楷体_GB2312" pitchFamily="49" charset="-122"/>
                <a:ea typeface="楷体_GB2312" pitchFamily="49" charset="-122"/>
              </a:rPr>
              <a:t>海森堡（</a:t>
            </a:r>
            <a:r>
              <a:rPr lang="en-US" altLang="zh-CN" b="1">
                <a:solidFill>
                  <a:schemeClr val="accent2"/>
                </a:solidFill>
                <a:latin typeface="楷体_GB2312" pitchFamily="49" charset="-122"/>
                <a:ea typeface="楷体_GB2312" pitchFamily="49" charset="-122"/>
              </a:rPr>
              <a:t>1932</a:t>
            </a:r>
            <a:r>
              <a:rPr lang="zh-CN" altLang="en-US" b="1">
                <a:solidFill>
                  <a:schemeClr val="accent2"/>
                </a:solidFill>
                <a:latin typeface="楷体_GB2312" pitchFamily="49" charset="-122"/>
                <a:ea typeface="楷体_GB2312" pitchFamily="49" charset="-122"/>
              </a:rPr>
              <a:t>年诺贝尔奖）</a:t>
            </a:r>
            <a:r>
              <a:rPr lang="zh-CN" altLang="en-US" b="1">
                <a:solidFill>
                  <a:schemeClr val="bg2"/>
                </a:solidFill>
                <a:latin typeface="楷体_GB2312" pitchFamily="49" charset="-122"/>
                <a:ea typeface="楷体_GB2312" pitchFamily="49" charset="-122"/>
              </a:rPr>
              <a:t>提出</a:t>
            </a:r>
            <a:r>
              <a:rPr lang="zh-CN" altLang="en-US" b="1">
                <a:solidFill>
                  <a:srgbClr val="0000FF"/>
                </a:solidFill>
                <a:latin typeface="楷体_GB2312" pitchFamily="49" charset="-122"/>
                <a:ea typeface="楷体_GB2312" pitchFamily="49" charset="-122"/>
              </a:rPr>
              <a:t>不确定原理：</a:t>
            </a:r>
            <a:r>
              <a:rPr lang="zh-CN" altLang="en-US" b="1">
                <a:solidFill>
                  <a:schemeClr val="bg2"/>
                </a:solidFill>
                <a:latin typeface="楷体_GB2312" pitchFamily="49" charset="-122"/>
                <a:ea typeface="楷体_GB2312" pitchFamily="49" charset="-122"/>
              </a:rPr>
              <a:t>不可能同时精确地测量出粒子的动量和位置。量子理论跨越了牛顿力学中的死角，只有量子理论能处理原子和分子现象中的细节。同年，海森堡提出</a:t>
            </a:r>
            <a:r>
              <a:rPr lang="zh-CN" altLang="en-US" b="1">
                <a:solidFill>
                  <a:srgbClr val="0000FF"/>
                </a:solidFill>
                <a:latin typeface="楷体_GB2312" pitchFamily="49" charset="-122"/>
                <a:ea typeface="楷体_GB2312" pitchFamily="49" charset="-122"/>
              </a:rPr>
              <a:t>矩阵力学理论</a:t>
            </a:r>
            <a:r>
              <a:rPr lang="zh-CN" altLang="en-US" b="1">
                <a:solidFill>
                  <a:schemeClr val="bg2"/>
                </a:solidFill>
                <a:latin typeface="楷体_GB2312" pitchFamily="49" charset="-122"/>
                <a:ea typeface="楷体_GB2312" pitchFamily="49" charset="-122"/>
              </a:rPr>
              <a:t>。</a:t>
            </a:r>
          </a:p>
        </p:txBody>
      </p:sp>
      <p:sp>
        <p:nvSpPr>
          <p:cNvPr id="165895" name="Text Box 7"/>
          <p:cNvSpPr txBox="1">
            <a:spLocks noChangeArrowheads="1"/>
          </p:cNvSpPr>
          <p:nvPr/>
        </p:nvSpPr>
        <p:spPr bwMode="auto">
          <a:xfrm>
            <a:off x="701675" y="3024188"/>
            <a:ext cx="3284538"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00FF"/>
                </a:solidFill>
                <a:latin typeface="楷体_GB2312" pitchFamily="49" charset="-122"/>
                <a:ea typeface="楷体_GB2312" pitchFamily="49" charset="-122"/>
              </a:rPr>
              <a:t>2</a:t>
            </a:r>
            <a:r>
              <a:rPr lang="zh-CN" altLang="en-US" b="1">
                <a:solidFill>
                  <a:srgbClr val="0000FF"/>
                </a:solidFill>
                <a:latin typeface="楷体_GB2312" pitchFamily="49" charset="-122"/>
                <a:ea typeface="楷体_GB2312" pitchFamily="49" charset="-122"/>
              </a:rPr>
              <a:t>、</a:t>
            </a:r>
            <a:r>
              <a:rPr kumimoji="0" lang="zh-CN" altLang="en-US" b="1">
                <a:solidFill>
                  <a:srgbClr val="0000FF"/>
                </a:solidFill>
                <a:latin typeface="楷体_GB2312" pitchFamily="49" charset="-122"/>
                <a:ea typeface="楷体_GB2312" pitchFamily="49" charset="-122"/>
              </a:rPr>
              <a:t>波动力学的创立</a:t>
            </a:r>
            <a:r>
              <a:rPr lang="zh-CN" altLang="en-US" b="1">
                <a:solidFill>
                  <a:srgbClr val="0000FF"/>
                </a:solidFill>
                <a:latin typeface="楷体_GB2312" pitchFamily="49" charset="-122"/>
                <a:ea typeface="楷体_GB2312" pitchFamily="49" charset="-122"/>
              </a:rPr>
              <a:t>：</a:t>
            </a:r>
          </a:p>
        </p:txBody>
      </p:sp>
      <p:sp>
        <p:nvSpPr>
          <p:cNvPr id="165896" name="Text Box 8"/>
          <p:cNvSpPr txBox="1">
            <a:spLocks noChangeArrowheads="1"/>
          </p:cNvSpPr>
          <p:nvPr/>
        </p:nvSpPr>
        <p:spPr bwMode="auto">
          <a:xfrm>
            <a:off x="836613" y="3429000"/>
            <a:ext cx="7831137" cy="2903538"/>
          </a:xfrm>
          <a:prstGeom prst="rect">
            <a:avLst/>
          </a:prstGeom>
          <a:noFill/>
          <a:ln w="9525">
            <a:noFill/>
            <a:miter lim="800000"/>
            <a:headEnd/>
            <a:tailEnd/>
          </a:ln>
          <a:effectLst/>
        </p:spPr>
        <p:txBody>
          <a:bodyPr>
            <a:spAutoFit/>
          </a:bodyPr>
          <a:lstStyle/>
          <a:p>
            <a:pPr>
              <a:lnSpc>
                <a:spcPct val="110000"/>
              </a:lnSpc>
            </a:pPr>
            <a:r>
              <a:rPr lang="en-US" altLang="zh-CN" b="1">
                <a:solidFill>
                  <a:schemeClr val="bg2"/>
                </a:solidFill>
                <a:latin typeface="楷体_GB2312" pitchFamily="49" charset="-122"/>
                <a:ea typeface="楷体_GB2312" pitchFamily="49" charset="-122"/>
              </a:rPr>
              <a:t>    1926</a:t>
            </a:r>
            <a:r>
              <a:rPr lang="zh-CN" altLang="en-US" b="1">
                <a:solidFill>
                  <a:schemeClr val="bg2"/>
                </a:solidFill>
                <a:latin typeface="楷体_GB2312" pitchFamily="49" charset="-122"/>
                <a:ea typeface="楷体_GB2312" pitchFamily="49" charset="-122"/>
              </a:rPr>
              <a:t>年，奥地利物理学家</a:t>
            </a:r>
            <a:r>
              <a:rPr lang="zh-CN" altLang="en-US" b="1">
                <a:solidFill>
                  <a:schemeClr val="accent2"/>
                </a:solidFill>
                <a:latin typeface="楷体_GB2312" pitchFamily="49" charset="-122"/>
                <a:ea typeface="楷体_GB2312" pitchFamily="49" charset="-122"/>
              </a:rPr>
              <a:t>薛定谔（</a:t>
            </a:r>
            <a:r>
              <a:rPr lang="en-US" altLang="zh-CN" b="1">
                <a:solidFill>
                  <a:schemeClr val="accent2"/>
                </a:solidFill>
                <a:latin typeface="楷体_GB2312" pitchFamily="49" charset="-122"/>
                <a:ea typeface="楷体_GB2312" pitchFamily="49" charset="-122"/>
              </a:rPr>
              <a:t>1933</a:t>
            </a:r>
            <a:r>
              <a:rPr lang="zh-CN" altLang="en-US" b="1">
                <a:solidFill>
                  <a:schemeClr val="accent2"/>
                </a:solidFill>
                <a:latin typeface="楷体_GB2312" pitchFamily="49" charset="-122"/>
                <a:ea typeface="楷体_GB2312" pitchFamily="49" charset="-122"/>
              </a:rPr>
              <a:t>年诺贝尔奖）</a:t>
            </a:r>
            <a:r>
              <a:rPr lang="zh-CN" altLang="en-US" b="1">
                <a:solidFill>
                  <a:schemeClr val="bg2"/>
                </a:solidFill>
                <a:latin typeface="楷体_GB2312" pitchFamily="49" charset="-122"/>
                <a:ea typeface="楷体_GB2312" pitchFamily="49" charset="-122"/>
              </a:rPr>
              <a:t>提出量子力学的第二种形式</a:t>
            </a:r>
            <a:r>
              <a:rPr lang="en-US" altLang="zh-CN" b="1">
                <a:solidFill>
                  <a:schemeClr val="bg2"/>
                </a:solidFill>
                <a:ea typeface="楷体_GB2312" pitchFamily="49" charset="-122"/>
              </a:rPr>
              <a:t>——</a:t>
            </a:r>
            <a:r>
              <a:rPr lang="zh-CN" altLang="en-US" b="1">
                <a:solidFill>
                  <a:srgbClr val="0000FF"/>
                </a:solidFill>
                <a:latin typeface="楷体_GB2312" pitchFamily="49" charset="-122"/>
                <a:ea typeface="楷体_GB2312" pitchFamily="49" charset="-122"/>
              </a:rPr>
              <a:t>波动力学</a:t>
            </a:r>
            <a:r>
              <a:rPr lang="zh-CN" altLang="en-US" b="1">
                <a:solidFill>
                  <a:schemeClr val="bg2"/>
                </a:solidFill>
                <a:latin typeface="楷体_GB2312" pitchFamily="49" charset="-122"/>
                <a:ea typeface="楷体_GB2312" pitchFamily="49" charset="-122"/>
              </a:rPr>
              <a:t>。在他的理论中，电子的运动状态由一个神秘的</a:t>
            </a:r>
            <a:r>
              <a:rPr lang="zh-CN" altLang="en-US" b="1">
                <a:solidFill>
                  <a:srgbClr val="0000FF"/>
                </a:solidFill>
                <a:latin typeface="楷体_GB2312" pitchFamily="49" charset="-122"/>
                <a:ea typeface="楷体_GB2312" pitchFamily="49" charset="-122"/>
              </a:rPr>
              <a:t>波函数</a:t>
            </a:r>
            <a:r>
              <a:rPr lang="zh-CN" altLang="en-US" b="1">
                <a:solidFill>
                  <a:schemeClr val="bg2"/>
                </a:solidFill>
                <a:latin typeface="楷体_GB2312" pitchFamily="49" charset="-122"/>
                <a:ea typeface="楷体_GB2312" pitchFamily="49" charset="-122"/>
              </a:rPr>
              <a:t>来描述，它随时间的变化遵循一个连续的波动方程，即</a:t>
            </a:r>
            <a:r>
              <a:rPr lang="zh-CN" altLang="en-US" b="1">
                <a:solidFill>
                  <a:schemeClr val="bg2"/>
                </a:solidFill>
                <a:ea typeface="楷体_GB2312" pitchFamily="49" charset="-122"/>
              </a:rPr>
              <a:t>“</a:t>
            </a:r>
            <a:r>
              <a:rPr lang="zh-CN" altLang="en-US" b="1">
                <a:solidFill>
                  <a:schemeClr val="bg2"/>
                </a:solidFill>
                <a:latin typeface="楷体_GB2312" pitchFamily="49" charset="-122"/>
                <a:ea typeface="楷体_GB2312" pitchFamily="49" charset="-122"/>
              </a:rPr>
              <a:t>薛定谔方程</a:t>
            </a:r>
            <a:r>
              <a:rPr lang="zh-CN" altLang="en-US" b="1">
                <a:solidFill>
                  <a:schemeClr val="bg2"/>
                </a:solidFill>
                <a:ea typeface="楷体_GB2312" pitchFamily="49" charset="-122"/>
              </a:rPr>
              <a:t>”</a:t>
            </a:r>
            <a:r>
              <a:rPr lang="zh-CN" altLang="en-US" b="1">
                <a:solidFill>
                  <a:schemeClr val="bg2"/>
                </a:solidFill>
                <a:latin typeface="楷体_GB2312" pitchFamily="49" charset="-122"/>
                <a:ea typeface="楷体_GB2312" pitchFamily="49" charset="-122"/>
              </a:rPr>
              <a:t>。同年，薛定谔证明了</a:t>
            </a:r>
            <a:r>
              <a:rPr lang="zh-CN" altLang="en-US" b="1">
                <a:solidFill>
                  <a:schemeClr val="accent2"/>
                </a:solidFill>
                <a:latin typeface="楷体_GB2312" pitchFamily="49" charset="-122"/>
                <a:ea typeface="楷体_GB2312" pitchFamily="49" charset="-122"/>
              </a:rPr>
              <a:t>矩阵力学和波动力学的等价性</a:t>
            </a:r>
            <a:r>
              <a:rPr lang="zh-CN" altLang="en-US" b="1">
                <a:solidFill>
                  <a:schemeClr val="bg2"/>
                </a:solidFill>
                <a:latin typeface="楷体_GB2312" pitchFamily="49" charset="-122"/>
                <a:ea typeface="楷体_GB2312" pitchFamily="49" charset="-122"/>
              </a:rPr>
              <a:t>。此时，</a:t>
            </a:r>
            <a:r>
              <a:rPr lang="zh-CN" altLang="en-US" b="1">
                <a:solidFill>
                  <a:srgbClr val="0000FF"/>
                </a:solidFill>
                <a:latin typeface="楷体_GB2312" pitchFamily="49" charset="-122"/>
                <a:ea typeface="楷体_GB2312" pitchFamily="49" charset="-122"/>
              </a:rPr>
              <a:t>泡利</a:t>
            </a:r>
            <a:r>
              <a:rPr lang="zh-CN" altLang="en-US" b="1">
                <a:solidFill>
                  <a:schemeClr val="bg2"/>
                </a:solidFill>
                <a:latin typeface="楷体_GB2312" pitchFamily="49" charset="-122"/>
                <a:ea typeface="楷体_GB2312" pitchFamily="49" charset="-122"/>
              </a:rPr>
              <a:t>也独立地发现了这种等价性。之后，</a:t>
            </a:r>
            <a:r>
              <a:rPr lang="zh-CN" altLang="en-US" b="1">
                <a:solidFill>
                  <a:srgbClr val="0000FF"/>
                </a:solidFill>
                <a:latin typeface="楷体_GB2312" pitchFamily="49" charset="-122"/>
                <a:ea typeface="楷体_GB2312" pitchFamily="49" charset="-122"/>
              </a:rPr>
              <a:t>狄拉克</a:t>
            </a:r>
            <a:r>
              <a:rPr lang="zh-CN" altLang="en-US" b="1">
                <a:solidFill>
                  <a:schemeClr val="bg2"/>
                </a:solidFill>
                <a:latin typeface="楷体_GB2312" pitchFamily="49" charset="-122"/>
                <a:ea typeface="楷体_GB2312" pitchFamily="49" charset="-122"/>
              </a:rPr>
              <a:t>通过变换理论进一步把矩阵力学和波动力学统一起来。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892"/>
                                        </p:tgtEl>
                                        <p:attrNameLst>
                                          <p:attrName>style.visibility</p:attrName>
                                        </p:attrNameLst>
                                      </p:cBhvr>
                                      <p:to>
                                        <p:strVal val="visible"/>
                                      </p:to>
                                    </p:set>
                                    <p:animEffect transition="in" filter="wipe(left)">
                                      <p:cBhvr>
                                        <p:cTn id="7" dur="500"/>
                                        <p:tgtEl>
                                          <p:spTgt spid="1658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5893"/>
                                        </p:tgtEl>
                                        <p:attrNameLst>
                                          <p:attrName>style.visibility</p:attrName>
                                        </p:attrNameLst>
                                      </p:cBhvr>
                                      <p:to>
                                        <p:strVal val="visible"/>
                                      </p:to>
                                    </p:set>
                                    <p:animEffect transition="in" filter="wipe(left)">
                                      <p:cBhvr>
                                        <p:cTn id="12" dur="500"/>
                                        <p:tgtEl>
                                          <p:spTgt spid="1658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5894"/>
                                        </p:tgtEl>
                                        <p:attrNameLst>
                                          <p:attrName>style.visibility</p:attrName>
                                        </p:attrNameLst>
                                      </p:cBhvr>
                                      <p:to>
                                        <p:strVal val="visible"/>
                                      </p:to>
                                    </p:set>
                                    <p:animEffect transition="in" filter="wipe(left)">
                                      <p:cBhvr>
                                        <p:cTn id="17" dur="500"/>
                                        <p:tgtEl>
                                          <p:spTgt spid="1658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5895"/>
                                        </p:tgtEl>
                                        <p:attrNameLst>
                                          <p:attrName>style.visibility</p:attrName>
                                        </p:attrNameLst>
                                      </p:cBhvr>
                                      <p:to>
                                        <p:strVal val="visible"/>
                                      </p:to>
                                    </p:set>
                                    <p:animEffect transition="in" filter="wipe(left)">
                                      <p:cBhvr>
                                        <p:cTn id="22" dur="500"/>
                                        <p:tgtEl>
                                          <p:spTgt spid="16589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5896"/>
                                        </p:tgtEl>
                                        <p:attrNameLst>
                                          <p:attrName>style.visibility</p:attrName>
                                        </p:attrNameLst>
                                      </p:cBhvr>
                                      <p:to>
                                        <p:strVal val="visible"/>
                                      </p:to>
                                    </p:set>
                                    <p:animEffect transition="in" filter="wipe(left)">
                                      <p:cBhvr>
                                        <p:cTn id="27" dur="500"/>
                                        <p:tgtEl>
                                          <p:spTgt spid="165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2" grpId="0"/>
      <p:bldP spid="165893" grpId="0"/>
      <p:bldP spid="165894" grpId="0"/>
      <p:bldP spid="165895" grpId="0"/>
      <p:bldP spid="16589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4" name="Text Box 4"/>
          <p:cNvSpPr txBox="1">
            <a:spLocks noChangeArrowheads="1"/>
          </p:cNvSpPr>
          <p:nvPr/>
        </p:nvSpPr>
        <p:spPr bwMode="auto">
          <a:xfrm>
            <a:off x="385763" y="812800"/>
            <a:ext cx="8551862" cy="5349875"/>
          </a:xfrm>
          <a:prstGeom prst="rect">
            <a:avLst/>
          </a:prstGeom>
          <a:noFill/>
          <a:ln w="9525">
            <a:noFill/>
            <a:miter lim="800000"/>
            <a:headEnd/>
            <a:tailEnd/>
          </a:ln>
          <a:effectLst/>
        </p:spPr>
        <p:txBody>
          <a:bodyPr>
            <a:spAutoFit/>
          </a:bodyPr>
          <a:lstStyle/>
          <a:p>
            <a:pPr>
              <a:lnSpc>
                <a:spcPct val="120000"/>
              </a:lnSpc>
            </a:pPr>
            <a:r>
              <a:rPr lang="zh-CN" altLang="en-US" b="1">
                <a:solidFill>
                  <a:schemeClr val="bg2"/>
                </a:solidFill>
                <a:latin typeface="楷体_GB2312" pitchFamily="49" charset="-122"/>
                <a:ea typeface="楷体_GB2312" pitchFamily="49" charset="-122"/>
              </a:rPr>
              <a:t>（</a:t>
            </a:r>
            <a:r>
              <a:rPr lang="en-US" altLang="zh-CN" b="1">
                <a:solidFill>
                  <a:schemeClr val="bg2"/>
                </a:solidFill>
                <a:latin typeface="楷体_GB2312" pitchFamily="49" charset="-122"/>
                <a:ea typeface="楷体_GB2312" pitchFamily="49" charset="-122"/>
              </a:rPr>
              <a:t>1</a:t>
            </a:r>
            <a:r>
              <a:rPr lang="zh-CN" altLang="en-US" b="1">
                <a:solidFill>
                  <a:schemeClr val="bg2"/>
                </a:solidFill>
                <a:latin typeface="楷体_GB2312" pitchFamily="49" charset="-122"/>
                <a:ea typeface="楷体_GB2312" pitchFamily="49" charset="-122"/>
              </a:rPr>
              <a:t>）</a:t>
            </a:r>
            <a:r>
              <a:rPr lang="en-US" altLang="zh-CN" b="1">
                <a:solidFill>
                  <a:schemeClr val="bg2"/>
                </a:solidFill>
                <a:latin typeface="楷体_GB2312" pitchFamily="49" charset="-122"/>
                <a:ea typeface="楷体_GB2312" pitchFamily="49" charset="-122"/>
              </a:rPr>
              <a:t>1928</a:t>
            </a:r>
            <a:r>
              <a:rPr lang="zh-CN" altLang="en-US" b="1">
                <a:solidFill>
                  <a:schemeClr val="bg2"/>
                </a:solidFill>
                <a:latin typeface="楷体_GB2312" pitchFamily="49" charset="-122"/>
                <a:ea typeface="楷体_GB2312" pitchFamily="49" charset="-122"/>
              </a:rPr>
              <a:t>年，英国的</a:t>
            </a:r>
            <a:r>
              <a:rPr lang="zh-CN" altLang="en-US" b="1">
                <a:solidFill>
                  <a:srgbClr val="FF6600"/>
                </a:solidFill>
                <a:latin typeface="楷体_GB2312" pitchFamily="49" charset="-122"/>
                <a:ea typeface="楷体_GB2312" pitchFamily="49" charset="-122"/>
              </a:rPr>
              <a:t>狄拉克（</a:t>
            </a:r>
            <a:r>
              <a:rPr lang="en-US" altLang="zh-CN" b="1">
                <a:solidFill>
                  <a:schemeClr val="accent2"/>
                </a:solidFill>
                <a:latin typeface="楷体_GB2312" pitchFamily="49" charset="-122"/>
                <a:ea typeface="楷体_GB2312" pitchFamily="49" charset="-122"/>
              </a:rPr>
              <a:t>1933</a:t>
            </a:r>
            <a:r>
              <a:rPr lang="zh-CN" altLang="en-US" b="1">
                <a:solidFill>
                  <a:schemeClr val="accent2"/>
                </a:solidFill>
                <a:latin typeface="楷体_GB2312" pitchFamily="49" charset="-122"/>
                <a:ea typeface="楷体_GB2312" pitchFamily="49" charset="-122"/>
              </a:rPr>
              <a:t>年诺贝尔奖）</a:t>
            </a:r>
            <a:r>
              <a:rPr lang="zh-CN" altLang="en-US" b="1">
                <a:solidFill>
                  <a:schemeClr val="bg2"/>
                </a:solidFill>
                <a:latin typeface="楷体_GB2312" pitchFamily="49" charset="-122"/>
                <a:ea typeface="楷体_GB2312" pitchFamily="49" charset="-122"/>
              </a:rPr>
              <a:t>解决了物质在高速运动时的量子理论，将</a:t>
            </a:r>
            <a:r>
              <a:rPr lang="zh-CN" altLang="en-US" b="1">
                <a:solidFill>
                  <a:srgbClr val="0000FF"/>
                </a:solidFill>
                <a:latin typeface="楷体_GB2312" pitchFamily="49" charset="-122"/>
                <a:ea typeface="楷体_GB2312" pitchFamily="49" charset="-122"/>
              </a:rPr>
              <a:t>量子论和相对论统一起来</a:t>
            </a:r>
            <a:r>
              <a:rPr lang="zh-CN" altLang="en-US" b="1">
                <a:solidFill>
                  <a:schemeClr val="bg2"/>
                </a:solidFill>
                <a:latin typeface="楷体_GB2312" pitchFamily="49" charset="-122"/>
                <a:ea typeface="楷体_GB2312" pitchFamily="49" charset="-122"/>
              </a:rPr>
              <a:t>。</a:t>
            </a:r>
          </a:p>
          <a:p>
            <a:pPr>
              <a:lnSpc>
                <a:spcPct val="120000"/>
              </a:lnSpc>
            </a:pPr>
            <a:r>
              <a:rPr lang="zh-CN" altLang="en-US" b="1">
                <a:solidFill>
                  <a:schemeClr val="bg2"/>
                </a:solidFill>
                <a:latin typeface="楷体_GB2312" pitchFamily="49" charset="-122"/>
                <a:ea typeface="楷体_GB2312" pitchFamily="49" charset="-122"/>
              </a:rPr>
              <a:t>（</a:t>
            </a:r>
            <a:r>
              <a:rPr lang="en-US" altLang="zh-CN" b="1">
                <a:solidFill>
                  <a:schemeClr val="bg2"/>
                </a:solidFill>
                <a:latin typeface="楷体_GB2312" pitchFamily="49" charset="-122"/>
                <a:ea typeface="楷体_GB2312" pitchFamily="49" charset="-122"/>
              </a:rPr>
              <a:t>2</a:t>
            </a:r>
            <a:r>
              <a:rPr lang="zh-CN" altLang="en-US" b="1">
                <a:solidFill>
                  <a:schemeClr val="bg2"/>
                </a:solidFill>
                <a:latin typeface="楷体_GB2312" pitchFamily="49" charset="-122"/>
                <a:ea typeface="楷体_GB2312" pitchFamily="49" charset="-122"/>
              </a:rPr>
              <a:t>）</a:t>
            </a:r>
            <a:r>
              <a:rPr lang="en-US" altLang="zh-CN" b="1">
                <a:solidFill>
                  <a:schemeClr val="bg2"/>
                </a:solidFill>
                <a:latin typeface="楷体_GB2312" pitchFamily="49" charset="-122"/>
                <a:ea typeface="楷体_GB2312" pitchFamily="49" charset="-122"/>
              </a:rPr>
              <a:t>1930</a:t>
            </a:r>
            <a:r>
              <a:rPr lang="zh-CN" altLang="en-US" b="1">
                <a:solidFill>
                  <a:schemeClr val="bg2"/>
                </a:solidFill>
                <a:latin typeface="楷体_GB2312" pitchFamily="49" charset="-122"/>
                <a:ea typeface="楷体_GB2312" pitchFamily="49" charset="-122"/>
              </a:rPr>
              <a:t>年以后，量子理论很好地解释了</a:t>
            </a:r>
            <a:r>
              <a:rPr lang="zh-CN" altLang="en-US" b="1">
                <a:solidFill>
                  <a:srgbClr val="0000FF"/>
                </a:solidFill>
                <a:latin typeface="楷体_GB2312" pitchFamily="49" charset="-122"/>
                <a:ea typeface="楷体_GB2312" pitchFamily="49" charset="-122"/>
              </a:rPr>
              <a:t>半导体的原理</a:t>
            </a:r>
            <a:r>
              <a:rPr lang="zh-CN" altLang="en-US" b="1">
                <a:solidFill>
                  <a:schemeClr val="bg2"/>
                </a:solidFill>
                <a:latin typeface="楷体_GB2312" pitchFamily="49" charset="-122"/>
                <a:ea typeface="楷体_GB2312" pitchFamily="49" charset="-122"/>
              </a:rPr>
              <a:t>，为晶体管的出现奠定了基础。之后，量子理论在物理学、化学、半导体、微电子、芯片技术、生物学，医学等领域广泛的应用。</a:t>
            </a:r>
          </a:p>
          <a:p>
            <a:pPr>
              <a:lnSpc>
                <a:spcPct val="120000"/>
              </a:lnSpc>
            </a:pPr>
            <a:r>
              <a:rPr lang="zh-CN" altLang="en-US" b="1">
                <a:solidFill>
                  <a:schemeClr val="bg2"/>
                </a:solidFill>
                <a:latin typeface="楷体_GB2312" pitchFamily="49" charset="-122"/>
                <a:ea typeface="楷体_GB2312" pitchFamily="49" charset="-122"/>
              </a:rPr>
              <a:t>（</a:t>
            </a:r>
            <a:r>
              <a:rPr lang="en-US" altLang="zh-CN" b="1">
                <a:solidFill>
                  <a:schemeClr val="bg2"/>
                </a:solidFill>
                <a:latin typeface="楷体_GB2312" pitchFamily="49" charset="-122"/>
                <a:ea typeface="楷体_GB2312" pitchFamily="49" charset="-122"/>
              </a:rPr>
              <a:t>3</a:t>
            </a:r>
            <a:r>
              <a:rPr lang="zh-CN" altLang="en-US" b="1">
                <a:solidFill>
                  <a:schemeClr val="bg2"/>
                </a:solidFill>
                <a:latin typeface="楷体_GB2312" pitchFamily="49" charset="-122"/>
                <a:ea typeface="楷体_GB2312" pitchFamily="49" charset="-122"/>
              </a:rPr>
              <a:t>）</a:t>
            </a:r>
            <a:r>
              <a:rPr lang="en-US" altLang="zh-CN" b="1">
                <a:solidFill>
                  <a:schemeClr val="bg2"/>
                </a:solidFill>
                <a:latin typeface="楷体_GB2312" pitchFamily="49" charset="-122"/>
                <a:ea typeface="楷体_GB2312" pitchFamily="49" charset="-122"/>
              </a:rPr>
              <a:t>1944</a:t>
            </a:r>
            <a:r>
              <a:rPr lang="zh-CN" altLang="en-US" b="1">
                <a:solidFill>
                  <a:schemeClr val="bg2"/>
                </a:solidFill>
                <a:latin typeface="楷体_GB2312" pitchFamily="49" charset="-122"/>
                <a:ea typeface="楷体_GB2312" pitchFamily="49" charset="-122"/>
              </a:rPr>
              <a:t>年，薛定谔在</a:t>
            </a:r>
            <a:r>
              <a:rPr lang="en-US" altLang="zh-CN" b="1">
                <a:solidFill>
                  <a:srgbClr val="0000FF"/>
                </a:solidFill>
                <a:latin typeface="楷体_GB2312" pitchFamily="49" charset="-122"/>
                <a:ea typeface="楷体_GB2312" pitchFamily="49" charset="-122"/>
              </a:rPr>
              <a:t>《</a:t>
            </a:r>
            <a:r>
              <a:rPr lang="zh-CN" altLang="en-US" b="1">
                <a:solidFill>
                  <a:srgbClr val="0000FF"/>
                </a:solidFill>
                <a:latin typeface="楷体_GB2312" pitchFamily="49" charset="-122"/>
                <a:ea typeface="楷体_GB2312" pitchFamily="49" charset="-122"/>
              </a:rPr>
              <a:t>生命是什么</a:t>
            </a:r>
            <a:r>
              <a:rPr lang="en-US" altLang="zh-CN" b="1">
                <a:solidFill>
                  <a:srgbClr val="0000FF"/>
                </a:solidFill>
                <a:latin typeface="楷体_GB2312" pitchFamily="49" charset="-122"/>
                <a:ea typeface="楷体_GB2312" pitchFamily="49" charset="-122"/>
              </a:rPr>
              <a:t>》</a:t>
            </a:r>
            <a:r>
              <a:rPr lang="zh-CN" altLang="en-US" b="1">
                <a:solidFill>
                  <a:schemeClr val="bg2"/>
                </a:solidFill>
                <a:latin typeface="楷体_GB2312" pitchFamily="49" charset="-122"/>
                <a:ea typeface="楷体_GB2312" pitchFamily="49" charset="-122"/>
              </a:rPr>
              <a:t>一书中，试图把量子力学、热力学和生命科学的研究结合起来。</a:t>
            </a:r>
          </a:p>
          <a:p>
            <a:pPr>
              <a:lnSpc>
                <a:spcPct val="120000"/>
              </a:lnSpc>
            </a:pPr>
            <a:r>
              <a:rPr lang="zh-CN" altLang="en-US" b="1">
                <a:solidFill>
                  <a:schemeClr val="bg2"/>
                </a:solidFill>
                <a:latin typeface="楷体_GB2312" pitchFamily="49" charset="-122"/>
                <a:ea typeface="楷体_GB2312" pitchFamily="49" charset="-122"/>
              </a:rPr>
              <a:t>（</a:t>
            </a:r>
            <a:r>
              <a:rPr lang="en-US" altLang="zh-CN" b="1">
                <a:solidFill>
                  <a:schemeClr val="bg2"/>
                </a:solidFill>
                <a:latin typeface="楷体_GB2312" pitchFamily="49" charset="-122"/>
                <a:ea typeface="楷体_GB2312" pitchFamily="49" charset="-122"/>
              </a:rPr>
              <a:t>4</a:t>
            </a:r>
            <a:r>
              <a:rPr lang="zh-CN" altLang="en-US" b="1">
                <a:solidFill>
                  <a:schemeClr val="bg2"/>
                </a:solidFill>
                <a:latin typeface="楷体_GB2312" pitchFamily="49" charset="-122"/>
                <a:ea typeface="楷体_GB2312" pitchFamily="49" charset="-122"/>
              </a:rPr>
              <a:t>）</a:t>
            </a:r>
            <a:r>
              <a:rPr lang="en-US" altLang="zh-CN" b="1">
                <a:solidFill>
                  <a:schemeClr val="bg2"/>
                </a:solidFill>
                <a:latin typeface="楷体_GB2312" pitchFamily="49" charset="-122"/>
                <a:ea typeface="楷体_GB2312" pitchFamily="49" charset="-122"/>
              </a:rPr>
              <a:t>1948</a:t>
            </a:r>
            <a:r>
              <a:rPr lang="zh-CN" altLang="en-US" b="1">
                <a:solidFill>
                  <a:schemeClr val="bg2"/>
                </a:solidFill>
                <a:latin typeface="楷体_GB2312" pitchFamily="49" charset="-122"/>
                <a:ea typeface="楷体_GB2312" pitchFamily="49" charset="-122"/>
              </a:rPr>
              <a:t>年，美国科学家约翰</a:t>
            </a:r>
            <a:r>
              <a:rPr lang="en-US" altLang="zh-CN" b="1">
                <a:solidFill>
                  <a:schemeClr val="bg2"/>
                </a:solidFill>
                <a:ea typeface="楷体_GB2312" pitchFamily="49" charset="-122"/>
              </a:rPr>
              <a:t>·</a:t>
            </a:r>
            <a:r>
              <a:rPr lang="zh-CN" altLang="en-US" b="1">
                <a:solidFill>
                  <a:schemeClr val="bg2"/>
                </a:solidFill>
                <a:latin typeface="楷体_GB2312" pitchFamily="49" charset="-122"/>
                <a:ea typeface="楷体_GB2312" pitchFamily="49" charset="-122"/>
              </a:rPr>
              <a:t>巴丁、威兼</a:t>
            </a:r>
            <a:r>
              <a:rPr lang="en-US" altLang="zh-CN" b="1">
                <a:solidFill>
                  <a:schemeClr val="bg2"/>
                </a:solidFill>
                <a:ea typeface="楷体_GB2312" pitchFamily="49" charset="-122"/>
              </a:rPr>
              <a:t>·</a:t>
            </a:r>
            <a:r>
              <a:rPr lang="zh-CN" altLang="en-US" b="1">
                <a:solidFill>
                  <a:schemeClr val="bg2"/>
                </a:solidFill>
                <a:latin typeface="楷体_GB2312" pitchFamily="49" charset="-122"/>
                <a:ea typeface="楷体_GB2312" pitchFamily="49" charset="-122"/>
              </a:rPr>
              <a:t>肖克利和瓦特</a:t>
            </a:r>
            <a:r>
              <a:rPr lang="en-US" altLang="zh-CN" b="1">
                <a:solidFill>
                  <a:schemeClr val="bg2"/>
                </a:solidFill>
                <a:ea typeface="楷体_GB2312" pitchFamily="49" charset="-122"/>
              </a:rPr>
              <a:t>·</a:t>
            </a:r>
            <a:r>
              <a:rPr lang="zh-CN" altLang="en-US" b="1">
                <a:solidFill>
                  <a:schemeClr val="bg2"/>
                </a:solidFill>
                <a:latin typeface="楷体_GB2312" pitchFamily="49" charset="-122"/>
                <a:ea typeface="楷体_GB2312" pitchFamily="49" charset="-122"/>
              </a:rPr>
              <a:t>布拉顿根据量子理论发明了</a:t>
            </a:r>
            <a:r>
              <a:rPr lang="zh-CN" altLang="en-US" b="1">
                <a:solidFill>
                  <a:srgbClr val="0000FF"/>
                </a:solidFill>
                <a:latin typeface="楷体_GB2312" pitchFamily="49" charset="-122"/>
                <a:ea typeface="楷体_GB2312" pitchFamily="49" charset="-122"/>
              </a:rPr>
              <a:t>晶体管</a:t>
            </a:r>
            <a:r>
              <a:rPr lang="zh-CN" altLang="en-US" b="1">
                <a:solidFill>
                  <a:schemeClr val="bg2"/>
                </a:solidFill>
                <a:latin typeface="楷体_GB2312" pitchFamily="49" charset="-122"/>
                <a:ea typeface="楷体_GB2312" pitchFamily="49" charset="-122"/>
              </a:rPr>
              <a:t>，共享</a:t>
            </a:r>
            <a:r>
              <a:rPr lang="en-US" altLang="zh-CN" b="1">
                <a:solidFill>
                  <a:srgbClr val="FF6600"/>
                </a:solidFill>
                <a:latin typeface="楷体_GB2312" pitchFamily="49" charset="-122"/>
                <a:ea typeface="楷体_GB2312" pitchFamily="49" charset="-122"/>
              </a:rPr>
              <a:t>1956</a:t>
            </a:r>
            <a:r>
              <a:rPr lang="zh-CN" altLang="en-US" b="1">
                <a:solidFill>
                  <a:srgbClr val="FF6600"/>
                </a:solidFill>
                <a:latin typeface="楷体_GB2312" pitchFamily="49" charset="-122"/>
                <a:ea typeface="楷体_GB2312" pitchFamily="49" charset="-122"/>
              </a:rPr>
              <a:t>年诺贝尔奖</a:t>
            </a:r>
            <a:r>
              <a:rPr lang="zh-CN" altLang="en-US" b="1">
                <a:solidFill>
                  <a:schemeClr val="bg2"/>
                </a:solidFill>
                <a:latin typeface="楷体_GB2312" pitchFamily="49" charset="-122"/>
                <a:ea typeface="楷体_GB2312" pitchFamily="49" charset="-122"/>
              </a:rPr>
              <a:t>。</a:t>
            </a:r>
          </a:p>
          <a:p>
            <a:pPr>
              <a:lnSpc>
                <a:spcPct val="120000"/>
              </a:lnSpc>
            </a:pPr>
            <a:r>
              <a:rPr lang="zh-CN" altLang="en-US" b="1">
                <a:solidFill>
                  <a:schemeClr val="bg2"/>
                </a:solidFill>
                <a:latin typeface="楷体_GB2312" pitchFamily="49" charset="-122"/>
                <a:ea typeface="楷体_GB2312" pitchFamily="49" charset="-122"/>
              </a:rPr>
              <a:t>（</a:t>
            </a:r>
            <a:r>
              <a:rPr lang="en-US" altLang="zh-CN" b="1">
                <a:solidFill>
                  <a:schemeClr val="bg2"/>
                </a:solidFill>
                <a:latin typeface="楷体_GB2312" pitchFamily="49" charset="-122"/>
                <a:ea typeface="楷体_GB2312" pitchFamily="49" charset="-122"/>
              </a:rPr>
              <a:t>5</a:t>
            </a:r>
            <a:r>
              <a:rPr lang="zh-CN" altLang="en-US" b="1">
                <a:solidFill>
                  <a:schemeClr val="bg2"/>
                </a:solidFill>
                <a:latin typeface="楷体_GB2312" pitchFamily="49" charset="-122"/>
                <a:ea typeface="楷体_GB2312" pitchFamily="49" charset="-122"/>
              </a:rPr>
              <a:t>）量子理论提供了精确一致地解决关于原子、激光、</a:t>
            </a:r>
            <a:r>
              <a:rPr lang="en-US" altLang="zh-CN" b="1">
                <a:solidFill>
                  <a:schemeClr val="bg2"/>
                </a:solidFill>
                <a:latin typeface="楷体_GB2312" pitchFamily="49" charset="-122"/>
                <a:ea typeface="楷体_GB2312" pitchFamily="49" charset="-122"/>
              </a:rPr>
              <a:t>X</a:t>
            </a:r>
            <a:r>
              <a:rPr lang="zh-CN" altLang="en-US" b="1">
                <a:solidFill>
                  <a:schemeClr val="bg2"/>
                </a:solidFill>
                <a:latin typeface="楷体_GB2312" pitchFamily="49" charset="-122"/>
                <a:ea typeface="楷体_GB2312" pitchFamily="49" charset="-122"/>
              </a:rPr>
              <a:t>射线、超导性以及其他无数方面问题的能力。同时为量子医学提供了理论基础。</a:t>
            </a:r>
          </a:p>
        </p:txBody>
      </p:sp>
      <p:sp>
        <p:nvSpPr>
          <p:cNvPr id="168965" name="Text Box 5"/>
          <p:cNvSpPr txBox="1">
            <a:spLocks noChangeArrowheads="1"/>
          </p:cNvSpPr>
          <p:nvPr/>
        </p:nvSpPr>
        <p:spPr bwMode="auto">
          <a:xfrm>
            <a:off x="296863" y="407988"/>
            <a:ext cx="3284537" cy="457200"/>
          </a:xfrm>
          <a:prstGeom prst="rect">
            <a:avLst/>
          </a:prstGeom>
          <a:noFill/>
          <a:ln w="9525">
            <a:noFill/>
            <a:miter lim="800000"/>
            <a:headEnd/>
            <a:tailEnd/>
          </a:ln>
          <a:effectLst/>
        </p:spPr>
        <p:txBody>
          <a:bodyPr>
            <a:spAutoFit/>
          </a:bodyPr>
          <a:lstStyle/>
          <a:p>
            <a:pPr>
              <a:spcBef>
                <a:spcPct val="50000"/>
              </a:spcBef>
            </a:pPr>
            <a:r>
              <a:rPr lang="en-US" altLang="zh-CN" b="1">
                <a:solidFill>
                  <a:srgbClr val="0000FF"/>
                </a:solidFill>
                <a:latin typeface="楷体_GB2312" pitchFamily="49" charset="-122"/>
                <a:ea typeface="楷体_GB2312" pitchFamily="49" charset="-122"/>
              </a:rPr>
              <a:t>3</a:t>
            </a:r>
            <a:r>
              <a:rPr lang="zh-CN" altLang="en-US" b="1">
                <a:solidFill>
                  <a:srgbClr val="0000FF"/>
                </a:solidFill>
                <a:latin typeface="楷体_GB2312" pitchFamily="49" charset="-122"/>
                <a:ea typeface="楷体_GB2312" pitchFamily="49" charset="-122"/>
              </a:rPr>
              <a:t>、</a:t>
            </a:r>
            <a:r>
              <a:rPr kumimoji="0" lang="zh-CN" altLang="en-US" b="1">
                <a:solidFill>
                  <a:srgbClr val="0000FF"/>
                </a:solidFill>
                <a:latin typeface="楷体_GB2312" pitchFamily="49" charset="-122"/>
                <a:ea typeface="楷体_GB2312" pitchFamily="49" charset="-122"/>
              </a:rPr>
              <a:t>量子力学的发展</a:t>
            </a:r>
            <a:r>
              <a:rPr lang="zh-CN" altLang="en-US" b="1">
                <a:solidFill>
                  <a:srgbClr val="0000FF"/>
                </a:solidFill>
                <a:latin typeface="楷体_GB2312" pitchFamily="49" charset="-122"/>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8965"/>
                                        </p:tgtEl>
                                        <p:attrNameLst>
                                          <p:attrName>style.visibility</p:attrName>
                                        </p:attrNameLst>
                                      </p:cBhvr>
                                      <p:to>
                                        <p:strVal val="visible"/>
                                      </p:to>
                                    </p:set>
                                    <p:animEffect transition="in" filter="wipe(left)">
                                      <p:cBhvr>
                                        <p:cTn id="7" dur="500"/>
                                        <p:tgtEl>
                                          <p:spTgt spid="1689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8964"/>
                                        </p:tgtEl>
                                        <p:attrNameLst>
                                          <p:attrName>style.visibility</p:attrName>
                                        </p:attrNameLst>
                                      </p:cBhvr>
                                      <p:to>
                                        <p:strVal val="visible"/>
                                      </p:to>
                                    </p:set>
                                    <p:animEffect transition="in" filter="wipe(left)">
                                      <p:cBhvr>
                                        <p:cTn id="12" dur="500"/>
                                        <p:tgtEl>
                                          <p:spTgt spid="168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4" grpId="0"/>
      <p:bldP spid="168965"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2" name="Text Box 4"/>
          <p:cNvSpPr txBox="1">
            <a:spLocks noChangeArrowheads="1"/>
          </p:cNvSpPr>
          <p:nvPr/>
        </p:nvSpPr>
        <p:spPr bwMode="auto">
          <a:xfrm>
            <a:off x="522288" y="728663"/>
            <a:ext cx="8415337" cy="2100262"/>
          </a:xfrm>
          <a:prstGeom prst="rect">
            <a:avLst/>
          </a:prstGeom>
          <a:noFill/>
          <a:ln w="9525">
            <a:noFill/>
            <a:miter lim="800000"/>
            <a:headEnd/>
            <a:tailEnd/>
          </a:ln>
          <a:effectLst/>
        </p:spPr>
        <p:txBody>
          <a:bodyPr>
            <a:spAutoFit/>
          </a:bodyPr>
          <a:lstStyle/>
          <a:p>
            <a:pPr>
              <a:lnSpc>
                <a:spcPct val="110000"/>
              </a:lnSpc>
            </a:pPr>
            <a:r>
              <a:rPr lang="en-US" altLang="zh-CN" b="1">
                <a:solidFill>
                  <a:schemeClr val="bg2"/>
                </a:solidFill>
                <a:latin typeface="楷体_GB2312" pitchFamily="49" charset="-122"/>
                <a:ea typeface="楷体_GB2312" pitchFamily="49" charset="-122"/>
              </a:rPr>
              <a:t>    </a:t>
            </a:r>
            <a:r>
              <a:rPr lang="en-US" altLang="zh-CN" b="1">
                <a:solidFill>
                  <a:srgbClr val="0000FF"/>
                </a:solidFill>
                <a:latin typeface="楷体_GB2312" pitchFamily="49" charset="-122"/>
                <a:ea typeface="楷体_GB2312" pitchFamily="49" charset="-122"/>
              </a:rPr>
              <a:t>1</a:t>
            </a:r>
            <a:r>
              <a:rPr lang="zh-CN" altLang="en-US" b="1">
                <a:solidFill>
                  <a:srgbClr val="0000FF"/>
                </a:solidFill>
                <a:latin typeface="楷体_GB2312" pitchFamily="49" charset="-122"/>
                <a:ea typeface="楷体_GB2312" pitchFamily="49" charset="-122"/>
              </a:rPr>
              <a:t>、量子计算机：</a:t>
            </a:r>
            <a:r>
              <a:rPr lang="zh-CN" altLang="en-US" b="1">
                <a:solidFill>
                  <a:schemeClr val="bg2"/>
                </a:solidFill>
                <a:latin typeface="楷体_GB2312" pitchFamily="49" charset="-122"/>
                <a:ea typeface="楷体_GB2312" pitchFamily="49" charset="-122"/>
              </a:rPr>
              <a:t>是一类遵循量子力学规律进行高速数学和逻辑运算、存储及处理量子信息的物理装置。当某个装置处理和计算的是量子信息，运行的是量子算法时，它就是量子计算机。</a:t>
            </a:r>
            <a:r>
              <a:rPr kumimoji="0" lang="en-US" altLang="zh-CN" b="1">
                <a:solidFill>
                  <a:schemeClr val="bg2"/>
                </a:solidFill>
                <a:latin typeface="楷体_GB2312" pitchFamily="49" charset="-122"/>
                <a:ea typeface="楷体_GB2312" pitchFamily="49" charset="-122"/>
              </a:rPr>
              <a:t>2007</a:t>
            </a:r>
            <a:r>
              <a:rPr kumimoji="0" lang="zh-CN" altLang="en-US" b="1">
                <a:solidFill>
                  <a:schemeClr val="bg2"/>
                </a:solidFill>
                <a:latin typeface="楷体_GB2312" pitchFamily="49" charset="-122"/>
                <a:ea typeface="楷体_GB2312" pitchFamily="49" charset="-122"/>
              </a:rPr>
              <a:t>年</a:t>
            </a:r>
            <a:r>
              <a:rPr kumimoji="0" lang="en-US" altLang="zh-CN" b="1">
                <a:solidFill>
                  <a:schemeClr val="bg2"/>
                </a:solidFill>
                <a:latin typeface="楷体_GB2312" pitchFamily="49" charset="-122"/>
                <a:ea typeface="楷体_GB2312" pitchFamily="49" charset="-122"/>
              </a:rPr>
              <a:t>2</a:t>
            </a:r>
            <a:r>
              <a:rPr kumimoji="0" lang="zh-CN" altLang="en-US" b="1">
                <a:solidFill>
                  <a:schemeClr val="bg2"/>
                </a:solidFill>
                <a:latin typeface="楷体_GB2312" pitchFamily="49" charset="-122"/>
                <a:ea typeface="楷体_GB2312" pitchFamily="49" charset="-122"/>
              </a:rPr>
              <a:t>月</a:t>
            </a:r>
            <a:r>
              <a:rPr kumimoji="0" lang="en-US" altLang="zh-CN" b="1">
                <a:solidFill>
                  <a:schemeClr val="bg2"/>
                </a:solidFill>
                <a:latin typeface="楷体_GB2312" pitchFamily="49" charset="-122"/>
                <a:ea typeface="楷体_GB2312" pitchFamily="49" charset="-122"/>
              </a:rPr>
              <a:t>15</a:t>
            </a:r>
            <a:r>
              <a:rPr kumimoji="0" lang="zh-CN" altLang="en-US" b="1">
                <a:solidFill>
                  <a:schemeClr val="bg2"/>
                </a:solidFill>
                <a:latin typeface="楷体_GB2312" pitchFamily="49" charset="-122"/>
                <a:ea typeface="楷体_GB2312" pitchFamily="49" charset="-122"/>
              </a:rPr>
              <a:t>日，</a:t>
            </a:r>
            <a:r>
              <a:rPr kumimoji="0" lang="zh-CN" altLang="en-US" b="1">
                <a:solidFill>
                  <a:schemeClr val="bg2"/>
                </a:solidFill>
                <a:ea typeface="楷体_GB2312" pitchFamily="49" charset="-122"/>
              </a:rPr>
              <a:t>“</a:t>
            </a:r>
            <a:r>
              <a:rPr kumimoji="0" lang="zh-CN" altLang="en-US" b="1">
                <a:solidFill>
                  <a:schemeClr val="bg2"/>
                </a:solidFill>
                <a:latin typeface="楷体_GB2312" pitchFamily="49" charset="-122"/>
                <a:ea typeface="楷体_GB2312" pitchFamily="49" charset="-122"/>
              </a:rPr>
              <a:t>全球第一台商用实用型量子计算机</a:t>
            </a:r>
            <a:r>
              <a:rPr kumimoji="0" lang="zh-CN" altLang="en-US" b="1">
                <a:solidFill>
                  <a:schemeClr val="bg2"/>
                </a:solidFill>
                <a:ea typeface="楷体_GB2312" pitchFamily="49" charset="-122"/>
              </a:rPr>
              <a:t>”</a:t>
            </a:r>
            <a:r>
              <a:rPr kumimoji="0" lang="zh-CN" altLang="en-US" b="1">
                <a:solidFill>
                  <a:schemeClr val="bg2"/>
                </a:solidFill>
                <a:latin typeface="楷体_GB2312" pitchFamily="49" charset="-122"/>
                <a:ea typeface="楷体_GB2312" pitchFamily="49" charset="-122"/>
              </a:rPr>
              <a:t>在美国亮相。</a:t>
            </a:r>
          </a:p>
        </p:txBody>
      </p:sp>
      <p:sp>
        <p:nvSpPr>
          <p:cNvPr id="171018" name="Rectangle 10"/>
          <p:cNvSpPr>
            <a:spLocks noChangeArrowheads="1"/>
          </p:cNvSpPr>
          <p:nvPr/>
        </p:nvSpPr>
        <p:spPr bwMode="auto">
          <a:xfrm>
            <a:off x="206375" y="323850"/>
            <a:ext cx="5445125" cy="528638"/>
          </a:xfrm>
          <a:prstGeom prst="rect">
            <a:avLst/>
          </a:prstGeom>
          <a:noFill/>
          <a:ln w="9525">
            <a:noFill/>
            <a:miter lim="800000"/>
            <a:headEnd/>
            <a:tailEnd/>
          </a:ln>
        </p:spPr>
        <p:txBody>
          <a:bodyPr/>
          <a:lstStyle/>
          <a:p>
            <a:r>
              <a:rPr lang="zh-CN" altLang="en-US" sz="2800" b="1">
                <a:solidFill>
                  <a:schemeClr val="tx2"/>
                </a:solidFill>
                <a:latin typeface="楷体_GB2312" pitchFamily="49" charset="-122"/>
                <a:ea typeface="楷体_GB2312" pitchFamily="49" charset="-122"/>
              </a:rPr>
              <a:t>四、人类迈入量子时代：</a:t>
            </a:r>
          </a:p>
        </p:txBody>
      </p:sp>
      <p:sp>
        <p:nvSpPr>
          <p:cNvPr id="10" name="Text Box 4"/>
          <p:cNvSpPr txBox="1">
            <a:spLocks noChangeArrowheads="1"/>
          </p:cNvSpPr>
          <p:nvPr/>
        </p:nvSpPr>
        <p:spPr bwMode="auto">
          <a:xfrm>
            <a:off x="309563" y="3429000"/>
            <a:ext cx="8415337" cy="2282825"/>
          </a:xfrm>
          <a:prstGeom prst="rect">
            <a:avLst/>
          </a:prstGeom>
          <a:noFill/>
          <a:ln w="9525">
            <a:noFill/>
            <a:miter lim="800000"/>
            <a:headEnd/>
            <a:tailEnd/>
          </a:ln>
          <a:effectLst/>
        </p:spPr>
        <p:txBody>
          <a:bodyPr>
            <a:spAutoFit/>
          </a:bodyPr>
          <a:lstStyle/>
          <a:p>
            <a:pPr>
              <a:lnSpc>
                <a:spcPct val="120000"/>
              </a:lnSpc>
            </a:pPr>
            <a:r>
              <a:rPr lang="en-US" altLang="zh-CN" b="1">
                <a:solidFill>
                  <a:schemeClr val="bg2"/>
                </a:solidFill>
                <a:latin typeface="楷体_GB2312" pitchFamily="49" charset="-122"/>
                <a:ea typeface="楷体_GB2312" pitchFamily="49" charset="-122"/>
              </a:rPr>
              <a:t>    </a:t>
            </a:r>
            <a:r>
              <a:rPr lang="en-US" altLang="zh-CN" b="1">
                <a:solidFill>
                  <a:srgbClr val="0000FF"/>
                </a:solidFill>
                <a:latin typeface="楷体_GB2312" pitchFamily="49" charset="-122"/>
                <a:ea typeface="楷体_GB2312" pitchFamily="49" charset="-122"/>
              </a:rPr>
              <a:t>2</a:t>
            </a:r>
            <a:r>
              <a:rPr lang="zh-CN" altLang="en-US" b="1">
                <a:solidFill>
                  <a:srgbClr val="0000FF"/>
                </a:solidFill>
                <a:latin typeface="楷体_GB2312" pitchFamily="49" charset="-122"/>
                <a:ea typeface="楷体_GB2312" pitchFamily="49" charset="-122"/>
              </a:rPr>
              <a:t>、量子通信</a:t>
            </a:r>
            <a:r>
              <a:rPr lang="zh-CN" altLang="en-US" b="1">
                <a:solidFill>
                  <a:schemeClr val="bg2"/>
                </a:solidFill>
                <a:latin typeface="楷体_GB2312" pitchFamily="49" charset="-122"/>
                <a:ea typeface="楷体_GB2312" pitchFamily="49" charset="-122"/>
              </a:rPr>
              <a:t>：利用量子纠缠效应进行信息传递的一种新型的通讯方式，是量子论和信息论相结合的新的研究领域。量子通信的神奇之处是真正做到了保密通信，其意义在于可实现无限距离完全保密通信</a:t>
            </a:r>
            <a:r>
              <a:rPr lang="en-US" altLang="zh-CN" b="1">
                <a:solidFill>
                  <a:schemeClr val="bg2"/>
                </a:solidFill>
                <a:latin typeface="楷体_GB2312" pitchFamily="49" charset="-122"/>
                <a:ea typeface="楷体_GB2312" pitchFamily="49" charset="-122"/>
              </a:rPr>
              <a:t>,</a:t>
            </a:r>
            <a:r>
              <a:rPr lang="zh-CN" altLang="en-US" b="1">
                <a:solidFill>
                  <a:schemeClr val="bg2"/>
                </a:solidFill>
                <a:latin typeface="楷体_GB2312" pitchFamily="49" charset="-122"/>
                <a:ea typeface="楷体_GB2312" pitchFamily="49" charset="-122"/>
              </a:rPr>
              <a:t>且可实现计算机的无限量级超级计算能力，目前中国已经率先达到应用阶段水平。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1018"/>
                                        </p:tgtEl>
                                        <p:attrNameLst>
                                          <p:attrName>style.visibility</p:attrName>
                                        </p:attrNameLst>
                                      </p:cBhvr>
                                      <p:to>
                                        <p:strVal val="visible"/>
                                      </p:to>
                                    </p:set>
                                    <p:animEffect transition="in" filter="wipe(left)">
                                      <p:cBhvr>
                                        <p:cTn id="7" dur="500"/>
                                        <p:tgtEl>
                                          <p:spTgt spid="1710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1012"/>
                                        </p:tgtEl>
                                        <p:attrNameLst>
                                          <p:attrName>style.visibility</p:attrName>
                                        </p:attrNameLst>
                                      </p:cBhvr>
                                      <p:to>
                                        <p:strVal val="visible"/>
                                      </p:to>
                                    </p:set>
                                    <p:animEffect transition="in" filter="wipe(left)">
                                      <p:cBhvr>
                                        <p:cTn id="12" dur="500"/>
                                        <p:tgtEl>
                                          <p:spTgt spid="1710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2" grpId="0"/>
      <p:bldP spid="171018" grpId="0"/>
      <p:bldP spid="10"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67" name="Text Box 11"/>
          <p:cNvSpPr txBox="1">
            <a:spLocks noChangeArrowheads="1"/>
          </p:cNvSpPr>
          <p:nvPr/>
        </p:nvSpPr>
        <p:spPr bwMode="auto">
          <a:xfrm>
            <a:off x="522288" y="503238"/>
            <a:ext cx="8145462" cy="2282825"/>
          </a:xfrm>
          <a:prstGeom prst="rect">
            <a:avLst/>
          </a:prstGeom>
          <a:noFill/>
          <a:ln w="9525">
            <a:noFill/>
            <a:miter lim="800000"/>
            <a:headEnd/>
            <a:tailEnd/>
          </a:ln>
          <a:effectLst/>
        </p:spPr>
        <p:txBody>
          <a:bodyPr>
            <a:spAutoFit/>
          </a:bodyPr>
          <a:lstStyle/>
          <a:p>
            <a:pPr>
              <a:lnSpc>
                <a:spcPct val="120000"/>
              </a:lnSpc>
            </a:pPr>
            <a:r>
              <a:rPr lang="en-US" altLang="zh-CN" b="1">
                <a:solidFill>
                  <a:srgbClr val="0000FF"/>
                </a:solidFill>
                <a:latin typeface="楷体_GB2312" pitchFamily="49" charset="-122"/>
                <a:ea typeface="楷体_GB2312" pitchFamily="49" charset="-122"/>
              </a:rPr>
              <a:t>    3</a:t>
            </a:r>
            <a:r>
              <a:rPr lang="zh-CN" altLang="en-US" b="1">
                <a:solidFill>
                  <a:srgbClr val="0000FF"/>
                </a:solidFill>
                <a:latin typeface="楷体_GB2312" pitchFamily="49" charset="-122"/>
                <a:ea typeface="楷体_GB2312" pitchFamily="49" charset="-122"/>
              </a:rPr>
              <a:t>、量子密码术：</a:t>
            </a:r>
            <a:r>
              <a:rPr lang="zh-CN" altLang="en-US" b="1">
                <a:solidFill>
                  <a:schemeClr val="bg2"/>
                </a:solidFill>
                <a:latin typeface="楷体_GB2312" pitchFamily="49" charset="-122"/>
                <a:ea typeface="楷体_GB2312" pitchFamily="49" charset="-122"/>
              </a:rPr>
              <a:t>是密码术与量子力学结合的产物，它并不用于传输密文，而是用于建立、传输密码本。根据量子力学的不确定性原理以及量子不可克隆定理，任何窃听者的存在都会被发现，从而保证密码本的绝对安全，也就保证了加密信息的绝对安全。</a:t>
            </a:r>
          </a:p>
        </p:txBody>
      </p:sp>
      <p:sp>
        <p:nvSpPr>
          <p:cNvPr id="173068" name="Text Box 12"/>
          <p:cNvSpPr txBox="1">
            <a:spLocks noChangeArrowheads="1"/>
          </p:cNvSpPr>
          <p:nvPr/>
        </p:nvSpPr>
        <p:spPr bwMode="auto">
          <a:xfrm>
            <a:off x="566738" y="2754313"/>
            <a:ext cx="8145462" cy="1296987"/>
          </a:xfrm>
          <a:prstGeom prst="rect">
            <a:avLst/>
          </a:prstGeom>
          <a:noFill/>
          <a:ln w="9525">
            <a:noFill/>
            <a:miter lim="800000"/>
            <a:headEnd/>
            <a:tailEnd/>
          </a:ln>
          <a:effectLst/>
        </p:spPr>
        <p:txBody>
          <a:bodyPr>
            <a:spAutoFit/>
          </a:bodyPr>
          <a:lstStyle/>
          <a:p>
            <a:pPr>
              <a:lnSpc>
                <a:spcPct val="110000"/>
              </a:lnSpc>
            </a:pPr>
            <a:r>
              <a:rPr kumimoji="0" lang="en-US" altLang="zh-CN" b="1">
                <a:solidFill>
                  <a:schemeClr val="bg2"/>
                </a:solidFill>
                <a:latin typeface="楷体_GB2312" pitchFamily="49" charset="-122"/>
                <a:ea typeface="楷体_GB2312" pitchFamily="49" charset="-122"/>
              </a:rPr>
              <a:t>    </a:t>
            </a:r>
            <a:r>
              <a:rPr kumimoji="0" lang="en-US" altLang="zh-CN" b="1">
                <a:solidFill>
                  <a:srgbClr val="0000FF"/>
                </a:solidFill>
                <a:latin typeface="楷体_GB2312" pitchFamily="49" charset="-122"/>
                <a:ea typeface="楷体_GB2312" pitchFamily="49" charset="-122"/>
              </a:rPr>
              <a:t>4</a:t>
            </a:r>
            <a:r>
              <a:rPr kumimoji="0" lang="zh-CN" altLang="en-US" b="1">
                <a:solidFill>
                  <a:srgbClr val="0000FF"/>
                </a:solidFill>
                <a:latin typeface="楷体_GB2312" pitchFamily="49" charset="-122"/>
                <a:ea typeface="楷体_GB2312" pitchFamily="49" charset="-122"/>
              </a:rPr>
              <a:t>、其它应用：</a:t>
            </a:r>
            <a:r>
              <a:rPr kumimoji="0" lang="zh-CN" altLang="en-US" b="1">
                <a:solidFill>
                  <a:schemeClr val="bg2"/>
                </a:solidFill>
                <a:latin typeface="楷体_GB2312" pitchFamily="49" charset="-122"/>
                <a:ea typeface="楷体_GB2312" pitchFamily="49" charset="-122"/>
              </a:rPr>
              <a:t>量子力学模拟方法能预测材料中电子的行为。因此它是目前最直接最精确的用于计算材料和分子性质的理论手段。</a:t>
            </a:r>
          </a:p>
        </p:txBody>
      </p:sp>
      <p:sp>
        <p:nvSpPr>
          <p:cNvPr id="173069" name="Text Box 13"/>
          <p:cNvSpPr txBox="1">
            <a:spLocks noChangeArrowheads="1"/>
          </p:cNvSpPr>
          <p:nvPr/>
        </p:nvSpPr>
        <p:spPr bwMode="auto">
          <a:xfrm>
            <a:off x="566738" y="3968750"/>
            <a:ext cx="8235950" cy="895350"/>
          </a:xfrm>
          <a:prstGeom prst="rect">
            <a:avLst/>
          </a:prstGeom>
          <a:noFill/>
          <a:ln w="9525">
            <a:noFill/>
            <a:miter lim="800000"/>
            <a:headEnd/>
            <a:tailEnd/>
          </a:ln>
          <a:effectLst/>
        </p:spPr>
        <p:txBody>
          <a:bodyPr>
            <a:spAutoFit/>
          </a:bodyPr>
          <a:lstStyle/>
          <a:p>
            <a:pPr>
              <a:lnSpc>
                <a:spcPct val="110000"/>
              </a:lnSpc>
            </a:pPr>
            <a:r>
              <a:rPr kumimoji="0" lang="en-US" altLang="zh-CN" b="1">
                <a:solidFill>
                  <a:schemeClr val="bg2"/>
                </a:solidFill>
                <a:latin typeface="楷体_GB2312" pitchFamily="49" charset="-122"/>
                <a:ea typeface="楷体_GB2312" pitchFamily="49" charset="-122"/>
              </a:rPr>
              <a:t>    </a:t>
            </a:r>
            <a:r>
              <a:rPr kumimoji="0" lang="en-US" altLang="zh-CN" b="1">
                <a:solidFill>
                  <a:srgbClr val="0000FF"/>
                </a:solidFill>
                <a:latin typeface="楷体_GB2312" pitchFamily="49" charset="-122"/>
                <a:ea typeface="楷体_GB2312" pitchFamily="49" charset="-122"/>
              </a:rPr>
              <a:t>5</a:t>
            </a:r>
            <a:r>
              <a:rPr kumimoji="0" lang="zh-CN" altLang="en-US" b="1">
                <a:solidFill>
                  <a:srgbClr val="0000FF"/>
                </a:solidFill>
                <a:latin typeface="楷体_GB2312" pitchFamily="49" charset="-122"/>
                <a:ea typeface="楷体_GB2312" pitchFamily="49" charset="-122"/>
              </a:rPr>
              <a:t>、生活中的应用：</a:t>
            </a:r>
            <a:r>
              <a:rPr kumimoji="0" lang="en-US" altLang="zh-CN" b="1">
                <a:solidFill>
                  <a:schemeClr val="bg2"/>
                </a:solidFill>
                <a:latin typeface="楷体_GB2312" pitchFamily="49" charset="-122"/>
                <a:ea typeface="楷体_GB2312" pitchFamily="49" charset="-122"/>
              </a:rPr>
              <a:t>MP3</a:t>
            </a:r>
            <a:r>
              <a:rPr kumimoji="0" lang="zh-CN" altLang="en-US" b="1">
                <a:solidFill>
                  <a:schemeClr val="bg2"/>
                </a:solidFill>
                <a:latin typeface="楷体_GB2312" pitchFamily="49" charset="-122"/>
                <a:ea typeface="楷体_GB2312" pitchFamily="49" charset="-122"/>
              </a:rPr>
              <a:t>、电脑、微波炉、医院的体检仪器等等。</a:t>
            </a:r>
            <a:r>
              <a:rPr kumimoji="0" lang="zh-CN" altLang="en-US">
                <a:solidFill>
                  <a:schemeClr val="bg2"/>
                </a:solidFill>
                <a:latin typeface="楷体_GB2312" pitchFamily="49" charset="-122"/>
                <a:ea typeface="楷体_GB2312" pitchFamily="49" charset="-122"/>
              </a:rPr>
              <a:t> </a:t>
            </a:r>
          </a:p>
        </p:txBody>
      </p:sp>
      <p:sp>
        <p:nvSpPr>
          <p:cNvPr id="173070" name="Text Box 14"/>
          <p:cNvSpPr txBox="1">
            <a:spLocks noChangeArrowheads="1"/>
          </p:cNvSpPr>
          <p:nvPr/>
        </p:nvSpPr>
        <p:spPr bwMode="auto">
          <a:xfrm>
            <a:off x="611188" y="4914900"/>
            <a:ext cx="8010525" cy="1552575"/>
          </a:xfrm>
          <a:prstGeom prst="rect">
            <a:avLst/>
          </a:prstGeom>
          <a:noFill/>
          <a:ln w="9525">
            <a:noFill/>
            <a:miter lim="800000"/>
            <a:headEnd/>
            <a:tailEnd/>
          </a:ln>
          <a:effectLst/>
        </p:spPr>
        <p:txBody>
          <a:bodyPr>
            <a:spAutoFit/>
          </a:bodyPr>
          <a:lstStyle/>
          <a:p>
            <a:pPr>
              <a:spcBef>
                <a:spcPct val="50000"/>
              </a:spcBef>
            </a:pPr>
            <a:r>
              <a:rPr lang="en-US" altLang="zh-CN" b="1">
                <a:solidFill>
                  <a:schemeClr val="bg2"/>
                </a:solidFill>
                <a:latin typeface="楷体_GB2312" pitchFamily="49" charset="-122"/>
                <a:ea typeface="楷体_GB2312" pitchFamily="49" charset="-122"/>
              </a:rPr>
              <a:t>    20</a:t>
            </a:r>
            <a:r>
              <a:rPr lang="zh-CN" altLang="en-US" b="1">
                <a:solidFill>
                  <a:schemeClr val="bg2"/>
                </a:solidFill>
                <a:latin typeface="楷体_GB2312" pitchFamily="49" charset="-122"/>
                <a:ea typeface="楷体_GB2312" pitchFamily="49" charset="-122"/>
              </a:rPr>
              <a:t>世纪以来，量子力学不断得到印证，也不断得到创新，相应理论似乎都对，但是也都不完善</a:t>
            </a:r>
            <a:r>
              <a:rPr lang="zh-CN" altLang="en-US">
                <a:solidFill>
                  <a:schemeClr val="bg2"/>
                </a:solidFill>
                <a:latin typeface="楷体_GB2312" pitchFamily="49" charset="-122"/>
                <a:ea typeface="楷体_GB2312" pitchFamily="49" charset="-122"/>
              </a:rPr>
              <a:t>。</a:t>
            </a:r>
            <a:r>
              <a:rPr lang="zh-CN" altLang="en-US" b="1">
                <a:solidFill>
                  <a:schemeClr val="bg2"/>
                </a:solidFill>
                <a:latin typeface="楷体_GB2312" pitchFamily="49" charset="-122"/>
                <a:ea typeface="楷体_GB2312" pitchFamily="49" charset="-122"/>
              </a:rPr>
              <a:t>它的历史本身就是一部争议不断的历史，也是一部人类目前受用最广泛的学科。</a:t>
            </a:r>
            <a:r>
              <a:rPr lang="zh-CN" altLang="en-US">
                <a:solidFill>
                  <a:schemeClr val="bg2"/>
                </a:solidFill>
                <a:latin typeface="楷体_GB2312" pitchFamily="49" charset="-122"/>
                <a:ea typeface="楷体_GB2312"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3067"/>
                                        </p:tgtEl>
                                        <p:attrNameLst>
                                          <p:attrName>style.visibility</p:attrName>
                                        </p:attrNameLst>
                                      </p:cBhvr>
                                      <p:to>
                                        <p:strVal val="visible"/>
                                      </p:to>
                                    </p:set>
                                    <p:animEffect transition="in" filter="wipe(left)">
                                      <p:cBhvr>
                                        <p:cTn id="7" dur="500"/>
                                        <p:tgtEl>
                                          <p:spTgt spid="1730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3068"/>
                                        </p:tgtEl>
                                        <p:attrNameLst>
                                          <p:attrName>style.visibility</p:attrName>
                                        </p:attrNameLst>
                                      </p:cBhvr>
                                      <p:to>
                                        <p:strVal val="visible"/>
                                      </p:to>
                                    </p:set>
                                    <p:animEffect transition="in" filter="wipe(left)">
                                      <p:cBhvr>
                                        <p:cTn id="12" dur="500"/>
                                        <p:tgtEl>
                                          <p:spTgt spid="1730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3069"/>
                                        </p:tgtEl>
                                        <p:attrNameLst>
                                          <p:attrName>style.visibility</p:attrName>
                                        </p:attrNameLst>
                                      </p:cBhvr>
                                      <p:to>
                                        <p:strVal val="visible"/>
                                      </p:to>
                                    </p:set>
                                    <p:animEffect transition="in" filter="wipe(left)">
                                      <p:cBhvr>
                                        <p:cTn id="17" dur="500"/>
                                        <p:tgtEl>
                                          <p:spTgt spid="1730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3070"/>
                                        </p:tgtEl>
                                        <p:attrNameLst>
                                          <p:attrName>style.visibility</p:attrName>
                                        </p:attrNameLst>
                                      </p:cBhvr>
                                      <p:to>
                                        <p:strVal val="visible"/>
                                      </p:to>
                                    </p:set>
                                    <p:animEffect transition="in" filter="wipe(left)">
                                      <p:cBhvr>
                                        <p:cTn id="22" dur="500"/>
                                        <p:tgtEl>
                                          <p:spTgt spid="173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7" grpId="0"/>
      <p:bldP spid="173068" grpId="0"/>
      <p:bldP spid="173069" grpId="0"/>
      <p:bldP spid="173070" grpId="0"/>
    </p:bldLst>
  </p:timing>
</p:sld>
</file>

<file path=ppt/theme/theme1.xml><?xml version="1.0" encoding="utf-8"?>
<a:theme xmlns:a="http://schemas.openxmlformats.org/drawingml/2006/main" name="默认设计模板">
  <a:themeElements>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默认设计模板 8">
        <a:dk1>
          <a:srgbClr val="000000"/>
        </a:dk1>
        <a:lt1>
          <a:srgbClr val="FFFFFF"/>
        </a:lt1>
        <a:dk2>
          <a:srgbClr val="000000"/>
        </a:dk2>
        <a:lt2>
          <a:srgbClr val="FFFFFF"/>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9">
        <a:dk1>
          <a:srgbClr val="000000"/>
        </a:dk1>
        <a:lt1>
          <a:srgbClr val="FFFFFF"/>
        </a:lt1>
        <a:dk2>
          <a:srgbClr val="0000FF"/>
        </a:dk2>
        <a:lt2>
          <a:srgbClr val="FFFFFF"/>
        </a:lt2>
        <a:accent1>
          <a:srgbClr val="3399FF"/>
        </a:accent1>
        <a:accent2>
          <a:srgbClr val="FF6600"/>
        </a:accent2>
        <a:accent3>
          <a:srgbClr val="FFFFFF"/>
        </a:accent3>
        <a:accent4>
          <a:srgbClr val="000000"/>
        </a:accent4>
        <a:accent5>
          <a:srgbClr val="ADCAFF"/>
        </a:accent5>
        <a:accent6>
          <a:srgbClr val="E75C00"/>
        </a:accent6>
        <a:hlink>
          <a:srgbClr val="FF0000"/>
        </a:hlink>
        <a:folHlink>
          <a:srgbClr val="B2B2B2"/>
        </a:folHlink>
      </a:clrScheme>
      <a:clrMap bg1="lt1" tx1="dk1" bg2="lt2" tx2="dk2" accent1="accent1" accent2="accent2" accent3="accent3" accent4="accent4" accent5="accent5" accent6="accent6" hlink="hlink" folHlink="folHlink"/>
    </a:extraClrScheme>
    <a:extraClrScheme>
      <a:clrScheme name="默认设计模板 10">
        <a:dk1>
          <a:srgbClr val="000000"/>
        </a:dk1>
        <a:lt1>
          <a:srgbClr val="FFFFFF"/>
        </a:lt1>
        <a:dk2>
          <a:srgbClr val="000000"/>
        </a:dk2>
        <a:lt2>
          <a:srgbClr val="FFFF00"/>
        </a:lt2>
        <a:accent1>
          <a:srgbClr val="FF9900"/>
        </a:accent1>
        <a:accent2>
          <a:srgbClr val="0000CC"/>
        </a:accent2>
        <a:accent3>
          <a:srgbClr val="AAAAAA"/>
        </a:accent3>
        <a:accent4>
          <a:srgbClr val="DADADA"/>
        </a:accent4>
        <a:accent5>
          <a:srgbClr val="FFCAAA"/>
        </a:accent5>
        <a:accent6>
          <a:srgbClr val="0000B9"/>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2.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3.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4.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5.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6.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7.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8.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9.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10.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11.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12.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13.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14.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15.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16.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17.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18.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19.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20.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21.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22.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23.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24.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25.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26.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27.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28.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29.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30.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31.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32.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33.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34.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35.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36.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37.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38.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39.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40.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41.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42.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43.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44.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ppt/theme/themeOverride45.xml><?xml version="1.0" encoding="utf-8"?>
<a:themeOverride xmlns:a="http://schemas.openxmlformats.org/drawingml/2006/main">
  <a:clrScheme name="默认设计模板 11">
    <a:dk1>
      <a:srgbClr val="000000"/>
    </a:dk1>
    <a:lt1>
      <a:srgbClr val="FFFFFF"/>
    </a:lt1>
    <a:dk2>
      <a:srgbClr val="000000"/>
    </a:dk2>
    <a:lt2>
      <a:srgbClr val="FF0000"/>
    </a:lt2>
    <a:accent1>
      <a:srgbClr val="FFFFFF"/>
    </a:accent1>
    <a:accent2>
      <a:srgbClr val="FF6600"/>
    </a:accent2>
    <a:accent3>
      <a:srgbClr val="AAAAAA"/>
    </a:accent3>
    <a:accent4>
      <a:srgbClr val="DADADA"/>
    </a:accent4>
    <a:accent5>
      <a:srgbClr val="FFFFFF"/>
    </a:accent5>
    <a:accent6>
      <a:srgbClr val="E75C00"/>
    </a:accent6>
    <a:hlink>
      <a:srgbClr val="FF0000"/>
    </a:hlink>
    <a:folHlink>
      <a:srgbClr val="969696"/>
    </a:folHlink>
  </a:clrScheme>
</a:themeOverride>
</file>

<file path=docProps/app.xml><?xml version="1.0" encoding="utf-8"?>
<Properties xmlns="http://schemas.openxmlformats.org/officeDocument/2006/extended-properties" xmlns:vt="http://schemas.openxmlformats.org/officeDocument/2006/docPropsVTypes">
  <TotalTime>4117</TotalTime>
  <Words>6762</Words>
  <Application>Microsoft Office PowerPoint</Application>
  <PresentationFormat>全屏显示(4:3)</PresentationFormat>
  <Paragraphs>918</Paragraphs>
  <Slides>86</Slides>
  <Notes>6</Notes>
  <HiddenSlides>2</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86</vt:i4>
      </vt:variant>
    </vt:vector>
  </HeadingPairs>
  <TitlesOfParts>
    <vt:vector size="90" baseType="lpstr">
      <vt:lpstr>默认设计模板</vt:lpstr>
      <vt:lpstr>公式</vt:lpstr>
      <vt:lpstr>Equation</vt:lpstr>
      <vt:lpstr>文档</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微观粒子和宏观物体的特性对比</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幻灯片 75</vt:lpstr>
      <vt:lpstr>幻灯片 76</vt:lpstr>
      <vt:lpstr>幻灯片 77</vt:lpstr>
      <vt:lpstr>幻灯片 78</vt:lpstr>
      <vt:lpstr>幻灯片 79</vt:lpstr>
      <vt:lpstr>幻灯片 80</vt:lpstr>
      <vt:lpstr>幻灯片 81</vt:lpstr>
      <vt:lpstr>幻灯片 82</vt:lpstr>
      <vt:lpstr>幻灯片 83</vt:lpstr>
      <vt:lpstr>幻灯片 84</vt:lpstr>
      <vt:lpstr>幻灯片 85</vt:lpstr>
      <vt:lpstr>幻灯片 86</vt:lpstr>
    </vt:vector>
  </TitlesOfParts>
  <Company>Microsoft China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微软用户</dc:creator>
  <cp:lastModifiedBy>解迎革</cp:lastModifiedBy>
  <cp:revision>506</cp:revision>
  <dcterms:created xsi:type="dcterms:W3CDTF">2005-06-24T09:15:10Z</dcterms:created>
  <dcterms:modified xsi:type="dcterms:W3CDTF">2015-12-05T03:07:12Z</dcterms:modified>
</cp:coreProperties>
</file>