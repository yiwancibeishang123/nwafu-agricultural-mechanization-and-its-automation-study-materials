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4" r:id="rId2"/>
  </p:sldMasterIdLst>
  <p:notesMasterIdLst>
    <p:notesMasterId r:id="rId49"/>
  </p:notesMasterIdLst>
  <p:sldIdLst>
    <p:sldId id="258" r:id="rId3"/>
    <p:sldId id="259" r:id="rId4"/>
    <p:sldId id="256" r:id="rId5"/>
    <p:sldId id="266" r:id="rId6"/>
    <p:sldId id="261" r:id="rId7"/>
    <p:sldId id="309" r:id="rId8"/>
    <p:sldId id="263" r:id="rId9"/>
    <p:sldId id="270" r:id="rId10"/>
    <p:sldId id="267" r:id="rId11"/>
    <p:sldId id="269" r:id="rId12"/>
    <p:sldId id="271" r:id="rId13"/>
    <p:sldId id="305" r:id="rId14"/>
    <p:sldId id="306" r:id="rId15"/>
    <p:sldId id="291" r:id="rId16"/>
    <p:sldId id="294" r:id="rId17"/>
    <p:sldId id="295" r:id="rId18"/>
    <p:sldId id="296" r:id="rId19"/>
    <p:sldId id="297" r:id="rId20"/>
    <p:sldId id="292" r:id="rId21"/>
    <p:sldId id="298" r:id="rId22"/>
    <p:sldId id="299" r:id="rId23"/>
    <p:sldId id="293" r:id="rId24"/>
    <p:sldId id="300" r:id="rId25"/>
    <p:sldId id="301" r:id="rId26"/>
    <p:sldId id="302" r:id="rId27"/>
    <p:sldId id="303" r:id="rId28"/>
    <p:sldId id="304" r:id="rId29"/>
    <p:sldId id="268" r:id="rId30"/>
    <p:sldId id="274" r:id="rId31"/>
    <p:sldId id="275" r:id="rId32"/>
    <p:sldId id="276" r:id="rId33"/>
    <p:sldId id="277" r:id="rId34"/>
    <p:sldId id="262" r:id="rId35"/>
    <p:sldId id="278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90" r:id="rId44"/>
    <p:sldId id="287" r:id="rId45"/>
    <p:sldId id="288" r:id="rId46"/>
    <p:sldId id="289" r:id="rId47"/>
    <p:sldId id="265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0" autoAdjust="0"/>
    <p:restoredTop sz="94439" autoAdjust="0"/>
  </p:normalViewPr>
  <p:slideViewPr>
    <p:cSldViewPr snapToGrid="0">
      <p:cViewPr varScale="1">
        <p:scale>
          <a:sx n="83" d="100"/>
          <a:sy n="83" d="100"/>
        </p:scale>
        <p:origin x="103" y="3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E425-BF42-4068-87C2-E75EA102A699}" type="datetimeFigureOut">
              <a:rPr lang="zh-CN" altLang="en-US" smtClean="0"/>
              <a:t>2023/5/2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76453-3C94-43D2-B70F-282310072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01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76453-3C94-43D2-B70F-2823100725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940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76453-3C94-43D2-B70F-28231007256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73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76453-3C94-43D2-B70F-282310072568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9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8FCAE-9FB0-4A30-B3FE-9D7E3787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82FBA-F4DB-445D-BAB7-4C15F4CB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2403A-59F3-4AA0-8F78-F512440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-3601" y="98424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4.1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数组的基本概念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00854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-3595" y="94035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4.2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一维数组</a:t>
            </a:r>
          </a:p>
        </p:txBody>
      </p:sp>
    </p:spTree>
    <p:extLst>
      <p:ext uri="{BB962C8B-B14F-4D97-AF65-F5344CB8AC3E}">
        <p14:creationId xmlns:p14="http://schemas.microsoft.com/office/powerpoint/2010/main" val="243412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871" y="102506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4.3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二维数组</a:t>
            </a:r>
          </a:p>
        </p:txBody>
      </p:sp>
    </p:spTree>
    <p:extLst>
      <p:ext uri="{BB962C8B-B14F-4D97-AF65-F5344CB8AC3E}">
        <p14:creationId xmlns:p14="http://schemas.microsoft.com/office/powerpoint/2010/main" val="225274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638" y="98270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4.4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字符数组</a:t>
            </a:r>
          </a:p>
        </p:txBody>
      </p:sp>
    </p:spTree>
    <p:extLst>
      <p:ext uri="{BB962C8B-B14F-4D97-AF65-F5344CB8AC3E}">
        <p14:creationId xmlns:p14="http://schemas.microsoft.com/office/powerpoint/2010/main" val="167127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-3594" y="98271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4.5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案例：抽奖嘉年化</a:t>
            </a:r>
          </a:p>
        </p:txBody>
      </p:sp>
    </p:spTree>
    <p:extLst>
      <p:ext uri="{BB962C8B-B14F-4D97-AF65-F5344CB8AC3E}">
        <p14:creationId xmlns:p14="http://schemas.microsoft.com/office/powerpoint/2010/main" val="35421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74AD4-ABEC-4485-9109-4AE1AAB0B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83F6B7-5C12-4E4E-9073-580CA6A41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D7BC1-B809-427C-9F08-510A0466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B585E-11DE-411B-9226-2007BA33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E87E3-3726-463C-BE2B-B558CD0A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099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EB9E2-C450-47A8-A070-C84B3E16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6C178-61D5-475A-92D0-6FE43A90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7448E-A19A-4D08-9F63-67699940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7C253-9065-4B49-AC33-40A8A2CD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778CF-3F9A-4D9C-AEFB-1138D178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/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0259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B1310-1A44-48D4-892F-24533F5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CA674-3E89-404D-AA3A-E868A1B0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BBCEA-3375-4D2D-B9E1-379CB790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48294-AC7E-42E0-8D1E-1C999923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EBAF8-F76E-411F-9A2A-9733F2A8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8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BAC20-CA2A-4C18-8402-5BA52283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92BEE-0382-41FD-9A45-E74EA7E6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555AA-23E9-4B88-B631-DFC927C3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E48C7-F411-4AB4-A507-487EE211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71B4C-5F2B-4E30-8242-5CEFAA0E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D771C-A0E3-44B3-B5E2-B88352CE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0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BF824-47E5-4895-AC55-60DAEF4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0100"/>
            <a:ext cx="10515600" cy="82391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75336-BDB4-47C1-A61C-8B723885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0ED25-EC93-42FC-BF5E-F0792C72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861F66-EBC8-4197-B543-F620403F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E16E24-B549-438C-8C81-41A92A023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1A5AA-4A79-45C7-9D86-A03ECF8F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2F7098-7947-4E53-A9AC-CC953797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FCE883-2C8A-4773-B3DD-76F5761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1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1F315-15CF-4F24-B2C6-0B5210ED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58A7ED-2843-4FFB-9319-3B46B0CC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F55942-357E-4A3E-A232-70DACE9B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B4F34-C7D5-43BB-AED7-6EC34FE6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09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CDAFB-415E-4AC6-9360-019C0E570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7724"/>
            <a:ext cx="3932237" cy="12096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4F90-2B3F-428E-969E-57B07A69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47725"/>
            <a:ext cx="6172200" cy="5013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D96DF2-0BD2-45EC-9813-59393072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6C782-FD0C-48A3-956A-80A343DB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B88A7-4A15-42F8-8937-61508769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08464-7DBC-45AC-8201-DE0C2DBB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59B7-240A-440C-A694-FAA58C7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E7A531-93E7-47E5-8D8A-7E4689D13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67025A-5FF7-4210-9C63-3B4C50AF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836E2-F1D0-4D62-B64E-9BAA3610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A5121E-A953-4F21-A73A-64F892D8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3BC5F-3C5E-452A-AF6C-E40B0A85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74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3359D-6FC8-48ED-8BCF-54450B4D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C3A34-15A1-46D5-8CD5-71A387CD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48492-6DB5-4CF1-8F9D-5A9CFCC6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7DAC6-B655-4BF5-A955-6D622CB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02F96-4A72-4DD2-B3E9-B893B848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AEE16-01E3-43EC-BC25-37934156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6245"/>
            <a:ext cx="2628900" cy="53407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8E6E2-76C5-4659-8E75-14D8BFF92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6245"/>
            <a:ext cx="7734300" cy="53407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BD946-8A09-4235-8744-79EC636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F3E54-4815-4109-B7F2-744E4C44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44857-0F28-459B-BA4E-04E04401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36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A57981-622F-4C85-AAC3-86D82916A7C7}"/>
              </a:ext>
            </a:extLst>
          </p:cNvPr>
          <p:cNvGrpSpPr/>
          <p:nvPr userDrawn="1"/>
        </p:nvGrpSpPr>
        <p:grpSpPr>
          <a:xfrm>
            <a:off x="0" y="1354137"/>
            <a:ext cx="12191999" cy="2904016"/>
            <a:chOff x="1856581" y="1077913"/>
            <a:chExt cx="9145588" cy="279922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F3B009-7F7D-4A6B-90A7-EAC230DAC673}"/>
                </a:ext>
              </a:extLst>
            </p:cNvPr>
            <p:cNvGrpSpPr/>
            <p:nvPr userDrawn="1"/>
          </p:nvGrpSpPr>
          <p:grpSpPr>
            <a:xfrm>
              <a:off x="1856581" y="1077913"/>
              <a:ext cx="9145588" cy="2798762"/>
              <a:chOff x="0" y="1487488"/>
              <a:chExt cx="9145588" cy="2798762"/>
            </a:xfrm>
          </p:grpSpPr>
          <p:sp>
            <p:nvSpPr>
              <p:cNvPr id="6" name="矩形 4">
                <a:extLst>
                  <a:ext uri="{FF2B5EF4-FFF2-40B4-BE49-F238E27FC236}">
                    <a16:creationId xmlns:a16="http://schemas.microsoft.com/office/drawing/2014/main" id="{3A9F79D7-EE70-44C6-87A7-3A5349DBDB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88" y="1625600"/>
                <a:ext cx="9144000" cy="2484438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BB45569-6700-4093-9D14-557B47137C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4232275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8" name="矩形 6">
                <a:extLst>
                  <a:ext uri="{FF2B5EF4-FFF2-40B4-BE49-F238E27FC236}">
                    <a16:creationId xmlns:a16="http://schemas.microsoft.com/office/drawing/2014/main" id="{EAA0AD1C-D43A-4CDC-9212-0D5DC7E602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87488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CB95522C-BFEF-4FEE-99E2-3D87100C4D6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2581568" y="2508711"/>
              <a:ext cx="7848600" cy="1368425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en-US" altLang="zh-CN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C</a:t>
              </a:r>
              <a:r>
                <a:rPr lang="zh-CN" alt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语言程序设计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101706-0246-4D72-A2BC-98A80CFACEB4}"/>
              </a:ext>
            </a:extLst>
          </p:cNvPr>
          <p:cNvGrpSpPr/>
          <p:nvPr userDrawn="1"/>
        </p:nvGrpSpPr>
        <p:grpSpPr>
          <a:xfrm>
            <a:off x="-1" y="4685984"/>
            <a:ext cx="12192001" cy="1315043"/>
            <a:chOff x="1637409" y="5066644"/>
            <a:chExt cx="6737987" cy="1315043"/>
          </a:xfrm>
        </p:grpSpPr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9BD6CD0-C9AC-44D9-B12D-81931EEEE37F}"/>
                </a:ext>
              </a:extLst>
            </p:cNvPr>
            <p:cNvSpPr txBox="1"/>
            <p:nvPr/>
          </p:nvSpPr>
          <p:spPr>
            <a:xfrm>
              <a:off x="1637409" y="5066644"/>
              <a:ext cx="6736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rPr>
                <a:t>主讲：吴锦桥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2549B70-5E95-4C4F-A488-F377B7D57E38}"/>
                </a:ext>
              </a:extLst>
            </p:cNvPr>
            <p:cNvSpPr txBox="1"/>
            <p:nvPr/>
          </p:nvSpPr>
          <p:spPr>
            <a:xfrm>
              <a:off x="1638581" y="5858467"/>
              <a:ext cx="6736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西北农林科技大学 信息工程学院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D9F945-ED18-412B-ADFB-CA000B285FB1}"/>
              </a:ext>
            </a:extLst>
          </p:cNvPr>
          <p:cNvGrpSpPr/>
          <p:nvPr userDrawn="1"/>
        </p:nvGrpSpPr>
        <p:grpSpPr>
          <a:xfrm>
            <a:off x="0" y="6567544"/>
            <a:ext cx="12192000" cy="290456"/>
            <a:chOff x="0" y="6567544"/>
            <a:chExt cx="12192000" cy="290456"/>
          </a:xfrm>
        </p:grpSpPr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D7F3770B-929D-4134-ABD8-02B82F6E9969}"/>
                </a:ext>
              </a:extLst>
            </p:cNvPr>
            <p:cNvSpPr/>
            <p:nvPr userDrawn="1"/>
          </p:nvSpPr>
          <p:spPr>
            <a:xfrm>
              <a:off x="3058085" y="6567544"/>
              <a:ext cx="6279777" cy="290456"/>
            </a:xfrm>
            <a:prstGeom prst="trapezoid">
              <a:avLst/>
            </a:prstGeom>
            <a:solidFill>
              <a:srgbClr val="00A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126A-0445-4067-A91E-6E9403A4BC26}"/>
                </a:ext>
              </a:extLst>
            </p:cNvPr>
            <p:cNvSpPr/>
            <p:nvPr userDrawn="1"/>
          </p:nvSpPr>
          <p:spPr>
            <a:xfrm>
              <a:off x="0" y="6669741"/>
              <a:ext cx="12192000" cy="188259"/>
            </a:xfrm>
            <a:prstGeom prst="rect">
              <a:avLst/>
            </a:prstGeom>
            <a:solidFill>
              <a:srgbClr val="056A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DA33834-D47B-4A39-AFBF-0707B98EF227}"/>
              </a:ext>
            </a:extLst>
          </p:cNvPr>
          <p:cNvSpPr/>
          <p:nvPr userDrawn="1"/>
        </p:nvSpPr>
        <p:spPr>
          <a:xfrm>
            <a:off x="0" y="0"/>
            <a:ext cx="12192000" cy="51099"/>
          </a:xfrm>
          <a:prstGeom prst="rect">
            <a:avLst/>
          </a:prstGeom>
          <a:solidFill>
            <a:srgbClr val="00A3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471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A406FEC5-3B86-47F4-9DE8-AD14B42FD340}"/>
              </a:ext>
            </a:extLst>
          </p:cNvPr>
          <p:cNvSpPr/>
          <p:nvPr userDrawn="1"/>
        </p:nvSpPr>
        <p:spPr>
          <a:xfrm rot="10800000">
            <a:off x="1867" y="0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46F347A-A251-4B8B-B4C7-ED6BAEA25E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18000" y="990600"/>
            <a:ext cx="115888" cy="4679950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942DE91-6A52-4F3E-B751-25D294D17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27052" y="930536"/>
            <a:ext cx="503236" cy="5048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sz="2800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6AD108-1623-41DA-B8B2-0EF3D74F8E5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904390" y="3558216"/>
            <a:ext cx="2131218" cy="470859"/>
          </a:xfrm>
          <a:prstGeom prst="rect">
            <a:avLst/>
          </a:prstGeom>
        </p:spPr>
        <p:txBody>
          <a:bodyPr/>
          <a:lstStyle>
            <a:lvl1pPr marL="227013" indent="-227013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6842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14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5986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58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9pPr>
          </a:lstStyle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第</a:t>
            </a: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4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章 数组</a:t>
            </a:r>
            <a:endParaRPr lang="en-US" altLang="zh-CN" sz="3200" b="1" dirty="0">
              <a:solidFill>
                <a:srgbClr val="3366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9832B8B-E77D-459B-A122-A63E215FEC28}"/>
              </a:ext>
            </a:extLst>
          </p:cNvPr>
          <p:cNvGrpSpPr/>
          <p:nvPr userDrawn="1"/>
        </p:nvGrpSpPr>
        <p:grpSpPr>
          <a:xfrm>
            <a:off x="4503375" y="977212"/>
            <a:ext cx="5634004" cy="623887"/>
            <a:chOff x="4577557" y="1037605"/>
            <a:chExt cx="5634004" cy="623887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D94ABC20-F180-44D3-B7BA-04431E5E5C0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数组的基本概念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0" name="组合 58">
              <a:extLst>
                <a:ext uri="{FF2B5EF4-FFF2-40B4-BE49-F238E27FC236}">
                  <a16:creationId xmlns:a16="http://schemas.microsoft.com/office/drawing/2014/main" id="{A5C29670-9CA9-4E79-9EEC-B9217AF473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1" name="Oval 16">
                <a:extLst>
                  <a:ext uri="{FF2B5EF4-FFF2-40B4-BE49-F238E27FC236}">
                    <a16:creationId xmlns:a16="http://schemas.microsoft.com/office/drawing/2014/main" id="{DC967EB6-C997-4E3D-8C9C-A7CCAA06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TextBox 60">
                <a:extLst>
                  <a:ext uri="{FF2B5EF4-FFF2-40B4-BE49-F238E27FC236}">
                    <a16:creationId xmlns:a16="http://schemas.microsoft.com/office/drawing/2014/main" id="{AE26040D-EBCE-413F-93C8-3B0DFEDF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4.1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D3DAC6-3986-43E5-AEAF-A1BB0DEACD75}"/>
              </a:ext>
            </a:extLst>
          </p:cNvPr>
          <p:cNvGrpSpPr/>
          <p:nvPr userDrawn="1"/>
        </p:nvGrpSpPr>
        <p:grpSpPr>
          <a:xfrm>
            <a:off x="4510121" y="2968576"/>
            <a:ext cx="5634004" cy="623887"/>
            <a:chOff x="4577557" y="1037605"/>
            <a:chExt cx="5634004" cy="623887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73125C3-7C2A-4C40-BE23-CB648477AC7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二维数组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5" name="组合 58">
              <a:extLst>
                <a:ext uri="{FF2B5EF4-FFF2-40B4-BE49-F238E27FC236}">
                  <a16:creationId xmlns:a16="http://schemas.microsoft.com/office/drawing/2014/main" id="{59003EA9-49AB-4922-BA31-6D62EF448E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65B5D404-033B-4504-B22E-F52048E9D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7" name="TextBox 60">
                <a:extLst>
                  <a:ext uri="{FF2B5EF4-FFF2-40B4-BE49-F238E27FC236}">
                    <a16:creationId xmlns:a16="http://schemas.microsoft.com/office/drawing/2014/main" id="{3BE31F55-8A87-41CD-8BF1-A60F8DBF2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4.3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92780C-9CE0-42EC-B045-F8CBE82ABF40}"/>
              </a:ext>
            </a:extLst>
          </p:cNvPr>
          <p:cNvGrpSpPr/>
          <p:nvPr userDrawn="1"/>
        </p:nvGrpSpPr>
        <p:grpSpPr>
          <a:xfrm>
            <a:off x="4493171" y="1951122"/>
            <a:ext cx="5620512" cy="623887"/>
            <a:chOff x="4557319" y="1009525"/>
            <a:chExt cx="5620512" cy="623887"/>
          </a:xfrm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04A00366-013D-4D06-BA40-3B2FB9036D5A}"/>
                </a:ext>
              </a:extLst>
            </p:cNvPr>
            <p:cNvSpPr/>
            <p:nvPr userDrawn="1"/>
          </p:nvSpPr>
          <p:spPr bwMode="auto">
            <a:xfrm>
              <a:off x="4557319" y="100952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一维数组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0" name="组合 58">
              <a:extLst>
                <a:ext uri="{FF2B5EF4-FFF2-40B4-BE49-F238E27FC236}">
                  <a16:creationId xmlns:a16="http://schemas.microsoft.com/office/drawing/2014/main" id="{53161A28-6C61-43A6-8EA4-15607B7198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DD29CE8A-EBF4-4208-98EE-994EE4B3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2" name="TextBox 60">
                <a:extLst>
                  <a:ext uri="{FF2B5EF4-FFF2-40B4-BE49-F238E27FC236}">
                    <a16:creationId xmlns:a16="http://schemas.microsoft.com/office/drawing/2014/main" id="{A26075A2-4977-4D86-8EFD-B0504A344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4.2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F53E3-60E3-4124-8888-4E808956FB44}"/>
              </a:ext>
            </a:extLst>
          </p:cNvPr>
          <p:cNvGrpSpPr/>
          <p:nvPr userDrawn="1"/>
        </p:nvGrpSpPr>
        <p:grpSpPr>
          <a:xfrm>
            <a:off x="4508149" y="3987016"/>
            <a:ext cx="5634004" cy="623887"/>
            <a:chOff x="4577557" y="1037605"/>
            <a:chExt cx="5634004" cy="623887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4732B8E0-0DFF-4E96-A5BF-481059C4052C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字符数组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5" name="组合 58">
              <a:extLst>
                <a:ext uri="{FF2B5EF4-FFF2-40B4-BE49-F238E27FC236}">
                  <a16:creationId xmlns:a16="http://schemas.microsoft.com/office/drawing/2014/main" id="{90E9BF9A-F17B-43B4-B1E4-6BDE9FA4687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33397C70-D582-4664-BFFF-3A46DC4F3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2591B598-5DF4-4F50-AE0E-A00FD6763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4.4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D3FD84-10C2-4DD1-976E-9E4B2CFFA669}"/>
              </a:ext>
            </a:extLst>
          </p:cNvPr>
          <p:cNvGrpSpPr/>
          <p:nvPr userDrawn="1"/>
        </p:nvGrpSpPr>
        <p:grpSpPr>
          <a:xfrm>
            <a:off x="4504339" y="5001242"/>
            <a:ext cx="5634004" cy="623887"/>
            <a:chOff x="4577557" y="1037605"/>
            <a:chExt cx="5634004" cy="623887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5D2941C-3666-4674-A44F-5ED8322DEBA6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案例：抽奖嘉年华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0" name="组合 58">
              <a:extLst>
                <a:ext uri="{FF2B5EF4-FFF2-40B4-BE49-F238E27FC236}">
                  <a16:creationId xmlns:a16="http://schemas.microsoft.com/office/drawing/2014/main" id="{D7A5A2D9-F643-4267-88EA-AF1A1B351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77CC0453-D257-4869-B188-60540075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0">
                <a:extLst>
                  <a:ext uri="{FF2B5EF4-FFF2-40B4-BE49-F238E27FC236}">
                    <a16:creationId xmlns:a16="http://schemas.microsoft.com/office/drawing/2014/main" id="{4F7D6541-09B4-4488-8E7D-ED9C19299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4.5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0E7AC5B-1CE7-461E-A939-4AD980DF3D78}"/>
              </a:ext>
            </a:extLst>
          </p:cNvPr>
          <p:cNvGrpSpPr/>
          <p:nvPr userDrawn="1"/>
        </p:nvGrpSpPr>
        <p:grpSpPr>
          <a:xfrm>
            <a:off x="1812726" y="977212"/>
            <a:ext cx="2239963" cy="1047750"/>
            <a:chOff x="988824" y="2510466"/>
            <a:chExt cx="2239963" cy="104775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60FAA0-5572-4ED6-AC94-D5D65C2A0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7849" y="3331203"/>
              <a:ext cx="1147763" cy="227013"/>
            </a:xfrm>
            <a:custGeom>
              <a:avLst/>
              <a:gdLst>
                <a:gd name="T0" fmla="*/ 2147483647 w 2195"/>
                <a:gd name="T1" fmla="*/ 2147483647 h 445"/>
                <a:gd name="T2" fmla="*/ 2147483647 w 2195"/>
                <a:gd name="T3" fmla="*/ 2147483647 h 445"/>
                <a:gd name="T4" fmla="*/ 2147483647 w 2195"/>
                <a:gd name="T5" fmla="*/ 2147483647 h 445"/>
                <a:gd name="T6" fmla="*/ 2147483647 w 2195"/>
                <a:gd name="T7" fmla="*/ 2147483647 h 445"/>
                <a:gd name="T8" fmla="*/ 2147483647 w 2195"/>
                <a:gd name="T9" fmla="*/ 2147483647 h 445"/>
                <a:gd name="T10" fmla="*/ 2147483647 w 2195"/>
                <a:gd name="T11" fmla="*/ 2147483647 h 445"/>
                <a:gd name="T12" fmla="*/ 2147483647 w 2195"/>
                <a:gd name="T13" fmla="*/ 2147483647 h 445"/>
                <a:gd name="T14" fmla="*/ 2147483647 w 2195"/>
                <a:gd name="T15" fmla="*/ 2147483647 h 445"/>
                <a:gd name="T16" fmla="*/ 2147483647 w 2195"/>
                <a:gd name="T17" fmla="*/ 2147483647 h 445"/>
                <a:gd name="T18" fmla="*/ 2147483647 w 2195"/>
                <a:gd name="T19" fmla="*/ 2147483647 h 445"/>
                <a:gd name="T20" fmla="*/ 2147483647 w 2195"/>
                <a:gd name="T21" fmla="*/ 2147483647 h 445"/>
                <a:gd name="T22" fmla="*/ 2147483647 w 2195"/>
                <a:gd name="T23" fmla="*/ 2147483647 h 445"/>
                <a:gd name="T24" fmla="*/ 2147483647 w 2195"/>
                <a:gd name="T25" fmla="*/ 2147483647 h 445"/>
                <a:gd name="T26" fmla="*/ 2147483647 w 2195"/>
                <a:gd name="T27" fmla="*/ 2147483647 h 445"/>
                <a:gd name="T28" fmla="*/ 2147483647 w 2195"/>
                <a:gd name="T29" fmla="*/ 2147483647 h 445"/>
                <a:gd name="T30" fmla="*/ 2147483647 w 2195"/>
                <a:gd name="T31" fmla="*/ 2147483647 h 445"/>
                <a:gd name="T32" fmla="*/ 2147483647 w 2195"/>
                <a:gd name="T33" fmla="*/ 2147483647 h 445"/>
                <a:gd name="T34" fmla="*/ 2147483647 w 2195"/>
                <a:gd name="T35" fmla="*/ 2147483647 h 445"/>
                <a:gd name="T36" fmla="*/ 2147483647 w 2195"/>
                <a:gd name="T37" fmla="*/ 2147483647 h 445"/>
                <a:gd name="T38" fmla="*/ 2147483647 w 2195"/>
                <a:gd name="T39" fmla="*/ 2147483647 h 445"/>
                <a:gd name="T40" fmla="*/ 2147483647 w 2195"/>
                <a:gd name="T41" fmla="*/ 2147483647 h 445"/>
                <a:gd name="T42" fmla="*/ 2147483647 w 2195"/>
                <a:gd name="T43" fmla="*/ 2147483647 h 445"/>
                <a:gd name="T44" fmla="*/ 2147483647 w 2195"/>
                <a:gd name="T45" fmla="*/ 2147483647 h 445"/>
                <a:gd name="T46" fmla="*/ 2147483647 w 2195"/>
                <a:gd name="T47" fmla="*/ 2147483647 h 445"/>
                <a:gd name="T48" fmla="*/ 2147483647 w 2195"/>
                <a:gd name="T49" fmla="*/ 2147483647 h 445"/>
                <a:gd name="T50" fmla="*/ 2147483647 w 2195"/>
                <a:gd name="T51" fmla="*/ 2147483647 h 445"/>
                <a:gd name="T52" fmla="*/ 2147483647 w 2195"/>
                <a:gd name="T53" fmla="*/ 2147483647 h 445"/>
                <a:gd name="T54" fmla="*/ 2147483647 w 2195"/>
                <a:gd name="T55" fmla="*/ 2147483647 h 445"/>
                <a:gd name="T56" fmla="*/ 2147483647 w 2195"/>
                <a:gd name="T57" fmla="*/ 2147483647 h 445"/>
                <a:gd name="T58" fmla="*/ 2147483647 w 2195"/>
                <a:gd name="T59" fmla="*/ 2147483647 h 445"/>
                <a:gd name="T60" fmla="*/ 2147483647 w 2195"/>
                <a:gd name="T61" fmla="*/ 2147483647 h 445"/>
                <a:gd name="T62" fmla="*/ 2147483647 w 2195"/>
                <a:gd name="T63" fmla="*/ 2147483647 h 445"/>
                <a:gd name="T64" fmla="*/ 2147483647 w 2195"/>
                <a:gd name="T65" fmla="*/ 2147483647 h 445"/>
                <a:gd name="T66" fmla="*/ 2147483647 w 2195"/>
                <a:gd name="T67" fmla="*/ 2147483647 h 445"/>
                <a:gd name="T68" fmla="*/ 2147483647 w 2195"/>
                <a:gd name="T69" fmla="*/ 2147483647 h 445"/>
                <a:gd name="T70" fmla="*/ 2147483647 w 2195"/>
                <a:gd name="T71" fmla="*/ 2147483647 h 445"/>
                <a:gd name="T72" fmla="*/ 2147483647 w 2195"/>
                <a:gd name="T73" fmla="*/ 2147483647 h 445"/>
                <a:gd name="T74" fmla="*/ 2147483647 w 2195"/>
                <a:gd name="T75" fmla="*/ 2147483647 h 445"/>
                <a:gd name="T76" fmla="*/ 2147483647 w 2195"/>
                <a:gd name="T77" fmla="*/ 2147483647 h 445"/>
                <a:gd name="T78" fmla="*/ 2147483647 w 2195"/>
                <a:gd name="T79" fmla="*/ 2147483647 h 445"/>
                <a:gd name="T80" fmla="*/ 2147483647 w 2195"/>
                <a:gd name="T81" fmla="*/ 2147483647 h 445"/>
                <a:gd name="T82" fmla="*/ 2147483647 w 2195"/>
                <a:gd name="T83" fmla="*/ 2147483647 h 445"/>
                <a:gd name="T84" fmla="*/ 2147483647 w 2195"/>
                <a:gd name="T85" fmla="*/ 2147483647 h 445"/>
                <a:gd name="T86" fmla="*/ 2147483647 w 2195"/>
                <a:gd name="T87" fmla="*/ 2147483647 h 445"/>
                <a:gd name="T88" fmla="*/ 2147483647 w 2195"/>
                <a:gd name="T89" fmla="*/ 2147483647 h 445"/>
                <a:gd name="T90" fmla="*/ 2147483647 w 2195"/>
                <a:gd name="T91" fmla="*/ 2147483647 h 445"/>
                <a:gd name="T92" fmla="*/ 2147483647 w 2195"/>
                <a:gd name="T93" fmla="*/ 2147483647 h 445"/>
                <a:gd name="T94" fmla="*/ 2147483647 w 2195"/>
                <a:gd name="T95" fmla="*/ 2147483647 h 445"/>
                <a:gd name="T96" fmla="*/ 2147483647 w 2195"/>
                <a:gd name="T97" fmla="*/ 2147483647 h 44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95" h="445">
                  <a:moveTo>
                    <a:pt x="154" y="142"/>
                  </a:moveTo>
                  <a:cubicBezTo>
                    <a:pt x="86" y="144"/>
                    <a:pt x="51" y="189"/>
                    <a:pt x="49" y="278"/>
                  </a:cubicBezTo>
                  <a:cubicBezTo>
                    <a:pt x="51" y="361"/>
                    <a:pt x="86" y="405"/>
                    <a:pt x="154" y="407"/>
                  </a:cubicBezTo>
                  <a:cubicBezTo>
                    <a:pt x="218" y="405"/>
                    <a:pt x="251" y="361"/>
                    <a:pt x="252" y="276"/>
                  </a:cubicBezTo>
                  <a:cubicBezTo>
                    <a:pt x="248" y="193"/>
                    <a:pt x="215" y="148"/>
                    <a:pt x="154" y="142"/>
                  </a:cubicBezTo>
                  <a:close/>
                  <a:moveTo>
                    <a:pt x="152" y="443"/>
                  </a:moveTo>
                  <a:cubicBezTo>
                    <a:pt x="55" y="437"/>
                    <a:pt x="5" y="383"/>
                    <a:pt x="0" y="280"/>
                  </a:cubicBezTo>
                  <a:cubicBezTo>
                    <a:pt x="3" y="166"/>
                    <a:pt x="55" y="107"/>
                    <a:pt x="156" y="105"/>
                  </a:cubicBezTo>
                  <a:cubicBezTo>
                    <a:pt x="250" y="109"/>
                    <a:pt x="299" y="165"/>
                    <a:pt x="303" y="274"/>
                  </a:cubicBezTo>
                  <a:cubicBezTo>
                    <a:pt x="302" y="385"/>
                    <a:pt x="251" y="442"/>
                    <a:pt x="152" y="443"/>
                  </a:cubicBezTo>
                  <a:close/>
                  <a:moveTo>
                    <a:pt x="665" y="227"/>
                  </a:moveTo>
                  <a:lnTo>
                    <a:pt x="665" y="434"/>
                  </a:lnTo>
                  <a:lnTo>
                    <a:pt x="618" y="434"/>
                  </a:lnTo>
                  <a:lnTo>
                    <a:pt x="618" y="234"/>
                  </a:lnTo>
                  <a:cubicBezTo>
                    <a:pt x="616" y="174"/>
                    <a:pt x="591" y="144"/>
                    <a:pt x="542" y="142"/>
                  </a:cubicBezTo>
                  <a:cubicBezTo>
                    <a:pt x="484" y="150"/>
                    <a:pt x="452" y="181"/>
                    <a:pt x="446" y="236"/>
                  </a:cubicBezTo>
                  <a:lnTo>
                    <a:pt x="446" y="434"/>
                  </a:lnTo>
                  <a:lnTo>
                    <a:pt x="400" y="436"/>
                  </a:lnTo>
                  <a:lnTo>
                    <a:pt x="400" y="111"/>
                  </a:lnTo>
                  <a:lnTo>
                    <a:pt x="446" y="111"/>
                  </a:lnTo>
                  <a:lnTo>
                    <a:pt x="446" y="160"/>
                  </a:lnTo>
                  <a:cubicBezTo>
                    <a:pt x="472" y="123"/>
                    <a:pt x="507" y="104"/>
                    <a:pt x="553" y="102"/>
                  </a:cubicBezTo>
                  <a:cubicBezTo>
                    <a:pt x="628" y="102"/>
                    <a:pt x="665" y="144"/>
                    <a:pt x="665" y="227"/>
                  </a:cubicBezTo>
                  <a:close/>
                  <a:moveTo>
                    <a:pt x="897" y="407"/>
                  </a:moveTo>
                  <a:lnTo>
                    <a:pt x="906" y="432"/>
                  </a:lnTo>
                  <a:cubicBezTo>
                    <a:pt x="891" y="438"/>
                    <a:pt x="875" y="441"/>
                    <a:pt x="857" y="441"/>
                  </a:cubicBezTo>
                  <a:cubicBezTo>
                    <a:pt x="811" y="442"/>
                    <a:pt x="788" y="419"/>
                    <a:pt x="790" y="370"/>
                  </a:cubicBezTo>
                  <a:lnTo>
                    <a:pt x="790" y="151"/>
                  </a:lnTo>
                  <a:lnTo>
                    <a:pt x="745" y="151"/>
                  </a:lnTo>
                  <a:lnTo>
                    <a:pt x="745" y="111"/>
                  </a:lnTo>
                  <a:lnTo>
                    <a:pt x="790" y="111"/>
                  </a:lnTo>
                  <a:lnTo>
                    <a:pt x="790" y="24"/>
                  </a:lnTo>
                  <a:lnTo>
                    <a:pt x="837" y="0"/>
                  </a:lnTo>
                  <a:lnTo>
                    <a:pt x="837" y="111"/>
                  </a:lnTo>
                  <a:lnTo>
                    <a:pt x="897" y="111"/>
                  </a:lnTo>
                  <a:lnTo>
                    <a:pt x="897" y="151"/>
                  </a:lnTo>
                  <a:lnTo>
                    <a:pt x="837" y="151"/>
                  </a:lnTo>
                  <a:lnTo>
                    <a:pt x="837" y="370"/>
                  </a:lnTo>
                  <a:cubicBezTo>
                    <a:pt x="835" y="398"/>
                    <a:pt x="847" y="411"/>
                    <a:pt x="872" y="410"/>
                  </a:cubicBezTo>
                  <a:cubicBezTo>
                    <a:pt x="881" y="410"/>
                    <a:pt x="890" y="409"/>
                    <a:pt x="897" y="407"/>
                  </a:cubicBezTo>
                  <a:close/>
                  <a:moveTo>
                    <a:pt x="1020" y="249"/>
                  </a:moveTo>
                  <a:lnTo>
                    <a:pt x="1214" y="249"/>
                  </a:lnTo>
                  <a:cubicBezTo>
                    <a:pt x="1211" y="184"/>
                    <a:pt x="1179" y="150"/>
                    <a:pt x="1118" y="147"/>
                  </a:cubicBezTo>
                  <a:cubicBezTo>
                    <a:pt x="1057" y="153"/>
                    <a:pt x="1024" y="187"/>
                    <a:pt x="1020" y="249"/>
                  </a:cubicBezTo>
                  <a:close/>
                  <a:moveTo>
                    <a:pt x="1214" y="334"/>
                  </a:moveTo>
                  <a:lnTo>
                    <a:pt x="1263" y="347"/>
                  </a:lnTo>
                  <a:cubicBezTo>
                    <a:pt x="1245" y="413"/>
                    <a:pt x="1198" y="445"/>
                    <a:pt x="1120" y="443"/>
                  </a:cubicBezTo>
                  <a:cubicBezTo>
                    <a:pt x="1021" y="439"/>
                    <a:pt x="969" y="384"/>
                    <a:pt x="966" y="278"/>
                  </a:cubicBezTo>
                  <a:cubicBezTo>
                    <a:pt x="971" y="167"/>
                    <a:pt x="1021" y="109"/>
                    <a:pt x="1118" y="105"/>
                  </a:cubicBezTo>
                  <a:cubicBezTo>
                    <a:pt x="1213" y="107"/>
                    <a:pt x="1262" y="165"/>
                    <a:pt x="1265" y="278"/>
                  </a:cubicBezTo>
                  <a:cubicBezTo>
                    <a:pt x="1265" y="284"/>
                    <a:pt x="1265" y="288"/>
                    <a:pt x="1265" y="289"/>
                  </a:cubicBezTo>
                  <a:lnTo>
                    <a:pt x="1018" y="289"/>
                  </a:lnTo>
                  <a:cubicBezTo>
                    <a:pt x="1021" y="362"/>
                    <a:pt x="1054" y="401"/>
                    <a:pt x="1118" y="405"/>
                  </a:cubicBezTo>
                  <a:cubicBezTo>
                    <a:pt x="1169" y="405"/>
                    <a:pt x="1200" y="382"/>
                    <a:pt x="1214" y="334"/>
                  </a:cubicBezTo>
                  <a:close/>
                  <a:moveTo>
                    <a:pt x="1626" y="227"/>
                  </a:moveTo>
                  <a:lnTo>
                    <a:pt x="1626" y="434"/>
                  </a:lnTo>
                  <a:lnTo>
                    <a:pt x="1580" y="434"/>
                  </a:lnTo>
                  <a:lnTo>
                    <a:pt x="1580" y="234"/>
                  </a:lnTo>
                  <a:cubicBezTo>
                    <a:pt x="1578" y="174"/>
                    <a:pt x="1553" y="144"/>
                    <a:pt x="1504" y="142"/>
                  </a:cubicBezTo>
                  <a:cubicBezTo>
                    <a:pt x="1446" y="150"/>
                    <a:pt x="1414" y="181"/>
                    <a:pt x="1408" y="236"/>
                  </a:cubicBezTo>
                  <a:lnTo>
                    <a:pt x="1408" y="434"/>
                  </a:lnTo>
                  <a:lnTo>
                    <a:pt x="1361" y="436"/>
                  </a:lnTo>
                  <a:lnTo>
                    <a:pt x="1361" y="111"/>
                  </a:lnTo>
                  <a:lnTo>
                    <a:pt x="1408" y="111"/>
                  </a:lnTo>
                  <a:lnTo>
                    <a:pt x="1408" y="160"/>
                  </a:lnTo>
                  <a:cubicBezTo>
                    <a:pt x="1433" y="123"/>
                    <a:pt x="1469" y="104"/>
                    <a:pt x="1515" y="102"/>
                  </a:cubicBezTo>
                  <a:cubicBezTo>
                    <a:pt x="1589" y="102"/>
                    <a:pt x="1626" y="144"/>
                    <a:pt x="1626" y="227"/>
                  </a:cubicBezTo>
                  <a:close/>
                  <a:moveTo>
                    <a:pt x="1859" y="407"/>
                  </a:moveTo>
                  <a:lnTo>
                    <a:pt x="1868" y="432"/>
                  </a:lnTo>
                  <a:cubicBezTo>
                    <a:pt x="1853" y="438"/>
                    <a:pt x="1836" y="441"/>
                    <a:pt x="1818" y="441"/>
                  </a:cubicBezTo>
                  <a:cubicBezTo>
                    <a:pt x="1772" y="442"/>
                    <a:pt x="1750" y="419"/>
                    <a:pt x="1752" y="370"/>
                  </a:cubicBezTo>
                  <a:lnTo>
                    <a:pt x="1752" y="151"/>
                  </a:lnTo>
                  <a:lnTo>
                    <a:pt x="1707" y="151"/>
                  </a:lnTo>
                  <a:lnTo>
                    <a:pt x="1707" y="111"/>
                  </a:lnTo>
                  <a:lnTo>
                    <a:pt x="1752" y="111"/>
                  </a:lnTo>
                  <a:lnTo>
                    <a:pt x="1752" y="24"/>
                  </a:lnTo>
                  <a:lnTo>
                    <a:pt x="1798" y="0"/>
                  </a:lnTo>
                  <a:lnTo>
                    <a:pt x="1798" y="111"/>
                  </a:lnTo>
                  <a:lnTo>
                    <a:pt x="1859" y="111"/>
                  </a:lnTo>
                  <a:lnTo>
                    <a:pt x="1859" y="151"/>
                  </a:lnTo>
                  <a:lnTo>
                    <a:pt x="1798" y="151"/>
                  </a:lnTo>
                  <a:lnTo>
                    <a:pt x="1798" y="370"/>
                  </a:lnTo>
                  <a:cubicBezTo>
                    <a:pt x="1797" y="398"/>
                    <a:pt x="1809" y="411"/>
                    <a:pt x="1834" y="410"/>
                  </a:cubicBezTo>
                  <a:cubicBezTo>
                    <a:pt x="1843" y="410"/>
                    <a:pt x="1851" y="409"/>
                    <a:pt x="1859" y="407"/>
                  </a:cubicBezTo>
                  <a:close/>
                  <a:moveTo>
                    <a:pt x="2131" y="203"/>
                  </a:moveTo>
                  <a:lnTo>
                    <a:pt x="2180" y="189"/>
                  </a:lnTo>
                  <a:cubicBezTo>
                    <a:pt x="2167" y="133"/>
                    <a:pt x="2125" y="104"/>
                    <a:pt x="2055" y="102"/>
                  </a:cubicBezTo>
                  <a:cubicBezTo>
                    <a:pt x="1982" y="105"/>
                    <a:pt x="1943" y="136"/>
                    <a:pt x="1937" y="194"/>
                  </a:cubicBezTo>
                  <a:cubicBezTo>
                    <a:pt x="1934" y="249"/>
                    <a:pt x="1976" y="281"/>
                    <a:pt x="2062" y="292"/>
                  </a:cubicBezTo>
                  <a:cubicBezTo>
                    <a:pt x="2118" y="302"/>
                    <a:pt x="2146" y="322"/>
                    <a:pt x="2144" y="352"/>
                  </a:cubicBezTo>
                  <a:cubicBezTo>
                    <a:pt x="2143" y="387"/>
                    <a:pt x="2115" y="406"/>
                    <a:pt x="2062" y="407"/>
                  </a:cubicBezTo>
                  <a:cubicBezTo>
                    <a:pt x="2013" y="409"/>
                    <a:pt x="1982" y="384"/>
                    <a:pt x="1970" y="334"/>
                  </a:cubicBezTo>
                  <a:lnTo>
                    <a:pt x="1924" y="347"/>
                  </a:lnTo>
                  <a:cubicBezTo>
                    <a:pt x="1941" y="413"/>
                    <a:pt x="1988" y="445"/>
                    <a:pt x="2062" y="443"/>
                  </a:cubicBezTo>
                  <a:cubicBezTo>
                    <a:pt x="2148" y="442"/>
                    <a:pt x="2192" y="410"/>
                    <a:pt x="2193" y="350"/>
                  </a:cubicBezTo>
                  <a:cubicBezTo>
                    <a:pt x="2195" y="298"/>
                    <a:pt x="2155" y="265"/>
                    <a:pt x="2075" y="252"/>
                  </a:cubicBezTo>
                  <a:cubicBezTo>
                    <a:pt x="2014" y="241"/>
                    <a:pt x="1985" y="222"/>
                    <a:pt x="1986" y="194"/>
                  </a:cubicBezTo>
                  <a:cubicBezTo>
                    <a:pt x="1990" y="162"/>
                    <a:pt x="2014" y="146"/>
                    <a:pt x="2057" y="145"/>
                  </a:cubicBezTo>
                  <a:cubicBezTo>
                    <a:pt x="2097" y="145"/>
                    <a:pt x="2122" y="164"/>
                    <a:pt x="2131" y="203"/>
                  </a:cubicBez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B2CA1C-0244-4212-8B4F-BFADD4B02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25474" y="2626353"/>
              <a:ext cx="1103313" cy="501650"/>
            </a:xfrm>
            <a:custGeom>
              <a:avLst/>
              <a:gdLst>
                <a:gd name="T0" fmla="*/ 2147483647 w 2109"/>
                <a:gd name="T1" fmla="*/ 0 h 986"/>
                <a:gd name="T2" fmla="*/ 2147483647 w 2109"/>
                <a:gd name="T3" fmla="*/ 2147483647 h 986"/>
                <a:gd name="T4" fmla="*/ 2147483647 w 2109"/>
                <a:gd name="T5" fmla="*/ 2147483647 h 986"/>
                <a:gd name="T6" fmla="*/ 0 w 2109"/>
                <a:gd name="T7" fmla="*/ 2147483647 h 986"/>
                <a:gd name="T8" fmla="*/ 2147483647 w 2109"/>
                <a:gd name="T9" fmla="*/ 2147483647 h 986"/>
                <a:gd name="T10" fmla="*/ 2147483647 w 2109"/>
                <a:gd name="T11" fmla="*/ 2147483647 h 986"/>
                <a:gd name="T12" fmla="*/ 2147483647 w 2109"/>
                <a:gd name="T13" fmla="*/ 2147483647 h 986"/>
                <a:gd name="T14" fmla="*/ 2147483647 w 2109"/>
                <a:gd name="T15" fmla="*/ 2147483647 h 986"/>
                <a:gd name="T16" fmla="*/ 2147483647 w 2109"/>
                <a:gd name="T17" fmla="*/ 2147483647 h 986"/>
                <a:gd name="T18" fmla="*/ 2147483647 w 2109"/>
                <a:gd name="T19" fmla="*/ 2147483647 h 986"/>
                <a:gd name="T20" fmla="*/ 2147483647 w 2109"/>
                <a:gd name="T21" fmla="*/ 2147483647 h 986"/>
                <a:gd name="T22" fmla="*/ 2147483647 w 2109"/>
                <a:gd name="T23" fmla="*/ 2147483647 h 986"/>
                <a:gd name="T24" fmla="*/ 2147483647 w 2109"/>
                <a:gd name="T25" fmla="*/ 2147483647 h 986"/>
                <a:gd name="T26" fmla="*/ 2147483647 w 2109"/>
                <a:gd name="T27" fmla="*/ 2147483647 h 986"/>
                <a:gd name="T28" fmla="*/ 2147483647 w 2109"/>
                <a:gd name="T29" fmla="*/ 2147483647 h 986"/>
                <a:gd name="T30" fmla="*/ 2147483647 w 2109"/>
                <a:gd name="T31" fmla="*/ 2147483647 h 986"/>
                <a:gd name="T32" fmla="*/ 2147483647 w 2109"/>
                <a:gd name="T33" fmla="*/ 2147483647 h 986"/>
                <a:gd name="T34" fmla="*/ 2147483647 w 2109"/>
                <a:gd name="T35" fmla="*/ 2147483647 h 986"/>
                <a:gd name="T36" fmla="*/ 2147483647 w 2109"/>
                <a:gd name="T37" fmla="*/ 2147483647 h 986"/>
                <a:gd name="T38" fmla="*/ 2147483647 w 2109"/>
                <a:gd name="T39" fmla="*/ 2147483647 h 986"/>
                <a:gd name="T40" fmla="*/ 2147483647 w 2109"/>
                <a:gd name="T41" fmla="*/ 2147483647 h 986"/>
                <a:gd name="T42" fmla="*/ 2147483647 w 2109"/>
                <a:gd name="T43" fmla="*/ 2147483647 h 986"/>
                <a:gd name="T44" fmla="*/ 2147483647 w 2109"/>
                <a:gd name="T45" fmla="*/ 2147483647 h 986"/>
                <a:gd name="T46" fmla="*/ 2147483647 w 2109"/>
                <a:gd name="T47" fmla="*/ 2147483647 h 986"/>
                <a:gd name="T48" fmla="*/ 2147483647 w 2109"/>
                <a:gd name="T49" fmla="*/ 2147483647 h 986"/>
                <a:gd name="T50" fmla="*/ 2147483647 w 2109"/>
                <a:gd name="T51" fmla="*/ 2147483647 h 986"/>
                <a:gd name="T52" fmla="*/ 2147483647 w 2109"/>
                <a:gd name="T53" fmla="*/ 2147483647 h 986"/>
                <a:gd name="T54" fmla="*/ 2147483647 w 2109"/>
                <a:gd name="T55" fmla="*/ 2147483647 h 986"/>
                <a:gd name="T56" fmla="*/ 2147483647 w 2109"/>
                <a:gd name="T57" fmla="*/ 2147483647 h 986"/>
                <a:gd name="T58" fmla="*/ 2147483647 w 2109"/>
                <a:gd name="T59" fmla="*/ 2147483647 h 986"/>
                <a:gd name="T60" fmla="*/ 2147483647 w 2109"/>
                <a:gd name="T61" fmla="*/ 2147483647 h 986"/>
                <a:gd name="T62" fmla="*/ 2147483647 w 2109"/>
                <a:gd name="T63" fmla="*/ 2147483647 h 986"/>
                <a:gd name="T64" fmla="*/ 2147483647 w 2109"/>
                <a:gd name="T65" fmla="*/ 2147483647 h 986"/>
                <a:gd name="T66" fmla="*/ 2147483647 w 2109"/>
                <a:gd name="T67" fmla="*/ 2147483647 h 98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09" h="986">
                  <a:moveTo>
                    <a:pt x="0" y="0"/>
                  </a:moveTo>
                  <a:lnTo>
                    <a:pt x="764" y="0"/>
                  </a:lnTo>
                  <a:lnTo>
                    <a:pt x="764" y="986"/>
                  </a:lnTo>
                  <a:lnTo>
                    <a:pt x="676" y="986"/>
                  </a:lnTo>
                  <a:lnTo>
                    <a:pt x="676" y="902"/>
                  </a:lnTo>
                  <a:lnTo>
                    <a:pt x="84" y="902"/>
                  </a:lnTo>
                  <a:lnTo>
                    <a:pt x="84" y="986"/>
                  </a:lnTo>
                  <a:lnTo>
                    <a:pt x="0" y="986"/>
                  </a:lnTo>
                  <a:lnTo>
                    <a:pt x="0" y="0"/>
                  </a:lnTo>
                  <a:close/>
                  <a:moveTo>
                    <a:pt x="84" y="80"/>
                  </a:moveTo>
                  <a:lnTo>
                    <a:pt x="84" y="279"/>
                  </a:lnTo>
                  <a:lnTo>
                    <a:pt x="676" y="279"/>
                  </a:lnTo>
                  <a:lnTo>
                    <a:pt x="676" y="80"/>
                  </a:lnTo>
                  <a:lnTo>
                    <a:pt x="84" y="80"/>
                  </a:lnTo>
                  <a:close/>
                  <a:moveTo>
                    <a:pt x="84" y="628"/>
                  </a:moveTo>
                  <a:lnTo>
                    <a:pt x="84" y="831"/>
                  </a:lnTo>
                  <a:lnTo>
                    <a:pt x="676" y="831"/>
                  </a:lnTo>
                  <a:lnTo>
                    <a:pt x="676" y="628"/>
                  </a:lnTo>
                  <a:lnTo>
                    <a:pt x="84" y="628"/>
                  </a:lnTo>
                  <a:close/>
                  <a:moveTo>
                    <a:pt x="84" y="354"/>
                  </a:moveTo>
                  <a:lnTo>
                    <a:pt x="84" y="557"/>
                  </a:lnTo>
                  <a:lnTo>
                    <a:pt x="676" y="557"/>
                  </a:lnTo>
                  <a:lnTo>
                    <a:pt x="676" y="354"/>
                  </a:lnTo>
                  <a:lnTo>
                    <a:pt x="84" y="354"/>
                  </a:lnTo>
                  <a:close/>
                  <a:moveTo>
                    <a:pt x="1963" y="482"/>
                  </a:moveTo>
                  <a:lnTo>
                    <a:pt x="2021" y="553"/>
                  </a:lnTo>
                  <a:cubicBezTo>
                    <a:pt x="2000" y="568"/>
                    <a:pt x="1958" y="594"/>
                    <a:pt x="1893" y="632"/>
                  </a:cubicBezTo>
                  <a:cubicBezTo>
                    <a:pt x="1849" y="659"/>
                    <a:pt x="1815" y="679"/>
                    <a:pt x="1791" y="694"/>
                  </a:cubicBezTo>
                  <a:cubicBezTo>
                    <a:pt x="1859" y="753"/>
                    <a:pt x="1965" y="800"/>
                    <a:pt x="2109" y="836"/>
                  </a:cubicBezTo>
                  <a:cubicBezTo>
                    <a:pt x="2089" y="856"/>
                    <a:pt x="2070" y="883"/>
                    <a:pt x="2052" y="915"/>
                  </a:cubicBezTo>
                  <a:cubicBezTo>
                    <a:pt x="1849" y="856"/>
                    <a:pt x="1704" y="756"/>
                    <a:pt x="1619" y="615"/>
                  </a:cubicBezTo>
                  <a:lnTo>
                    <a:pt x="1619" y="818"/>
                  </a:lnTo>
                  <a:cubicBezTo>
                    <a:pt x="1624" y="924"/>
                    <a:pt x="1573" y="976"/>
                    <a:pt x="1464" y="973"/>
                  </a:cubicBezTo>
                  <a:cubicBezTo>
                    <a:pt x="1423" y="973"/>
                    <a:pt x="1381" y="973"/>
                    <a:pt x="1340" y="973"/>
                  </a:cubicBezTo>
                  <a:cubicBezTo>
                    <a:pt x="1337" y="937"/>
                    <a:pt x="1331" y="908"/>
                    <a:pt x="1322" y="884"/>
                  </a:cubicBezTo>
                  <a:cubicBezTo>
                    <a:pt x="1358" y="887"/>
                    <a:pt x="1403" y="889"/>
                    <a:pt x="1459" y="889"/>
                  </a:cubicBezTo>
                  <a:cubicBezTo>
                    <a:pt x="1515" y="892"/>
                    <a:pt x="1542" y="867"/>
                    <a:pt x="1539" y="814"/>
                  </a:cubicBezTo>
                  <a:lnTo>
                    <a:pt x="1539" y="447"/>
                  </a:lnTo>
                  <a:lnTo>
                    <a:pt x="1057" y="447"/>
                  </a:lnTo>
                  <a:lnTo>
                    <a:pt x="1057" y="376"/>
                  </a:lnTo>
                  <a:lnTo>
                    <a:pt x="1849" y="376"/>
                  </a:lnTo>
                  <a:lnTo>
                    <a:pt x="1849" y="261"/>
                  </a:lnTo>
                  <a:lnTo>
                    <a:pt x="1190" y="261"/>
                  </a:lnTo>
                  <a:lnTo>
                    <a:pt x="1190" y="190"/>
                  </a:lnTo>
                  <a:lnTo>
                    <a:pt x="1849" y="190"/>
                  </a:lnTo>
                  <a:lnTo>
                    <a:pt x="1849" y="75"/>
                  </a:lnTo>
                  <a:lnTo>
                    <a:pt x="1172" y="75"/>
                  </a:lnTo>
                  <a:lnTo>
                    <a:pt x="1172" y="5"/>
                  </a:lnTo>
                  <a:lnTo>
                    <a:pt x="1932" y="5"/>
                  </a:lnTo>
                  <a:lnTo>
                    <a:pt x="1932" y="376"/>
                  </a:lnTo>
                  <a:lnTo>
                    <a:pt x="2101" y="376"/>
                  </a:lnTo>
                  <a:lnTo>
                    <a:pt x="2101" y="447"/>
                  </a:lnTo>
                  <a:lnTo>
                    <a:pt x="1619" y="447"/>
                  </a:lnTo>
                  <a:lnTo>
                    <a:pt x="1619" y="482"/>
                  </a:lnTo>
                  <a:cubicBezTo>
                    <a:pt x="1654" y="544"/>
                    <a:pt x="1692" y="597"/>
                    <a:pt x="1733" y="641"/>
                  </a:cubicBezTo>
                  <a:cubicBezTo>
                    <a:pt x="1822" y="582"/>
                    <a:pt x="1899" y="529"/>
                    <a:pt x="1963" y="482"/>
                  </a:cubicBezTo>
                  <a:close/>
                  <a:moveTo>
                    <a:pt x="1044" y="814"/>
                  </a:moveTo>
                  <a:cubicBezTo>
                    <a:pt x="1168" y="772"/>
                    <a:pt x="1318" y="716"/>
                    <a:pt x="1495" y="646"/>
                  </a:cubicBezTo>
                  <a:cubicBezTo>
                    <a:pt x="1501" y="672"/>
                    <a:pt x="1507" y="699"/>
                    <a:pt x="1513" y="725"/>
                  </a:cubicBezTo>
                  <a:cubicBezTo>
                    <a:pt x="1351" y="784"/>
                    <a:pt x="1205" y="839"/>
                    <a:pt x="1075" y="889"/>
                  </a:cubicBezTo>
                  <a:lnTo>
                    <a:pt x="1044" y="814"/>
                  </a:lnTo>
                  <a:close/>
                  <a:moveTo>
                    <a:pt x="1190" y="473"/>
                  </a:moveTo>
                  <a:cubicBezTo>
                    <a:pt x="1202" y="482"/>
                    <a:pt x="1218" y="492"/>
                    <a:pt x="1238" y="504"/>
                  </a:cubicBezTo>
                  <a:cubicBezTo>
                    <a:pt x="1303" y="545"/>
                    <a:pt x="1356" y="581"/>
                    <a:pt x="1398" y="610"/>
                  </a:cubicBezTo>
                  <a:lnTo>
                    <a:pt x="1349" y="681"/>
                  </a:lnTo>
                  <a:cubicBezTo>
                    <a:pt x="1317" y="658"/>
                    <a:pt x="1272" y="627"/>
                    <a:pt x="1216" y="588"/>
                  </a:cubicBezTo>
                  <a:cubicBezTo>
                    <a:pt x="1184" y="565"/>
                    <a:pt x="1159" y="547"/>
                    <a:pt x="1141" y="535"/>
                  </a:cubicBezTo>
                  <a:lnTo>
                    <a:pt x="1190" y="473"/>
                  </a:ln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F91E4-2DF6-43CC-853C-8A6614119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88824" y="2510466"/>
              <a:ext cx="973394" cy="1047750"/>
            </a:xfrm>
            <a:prstGeom prst="rect">
              <a:avLst/>
            </a:prstGeom>
            <a:solidFill>
              <a:srgbClr val="024C8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D7DEB2-CFBF-4E7F-8A3C-E9CF23E7D7CF}"/>
                </a:ext>
              </a:extLst>
            </p:cNvPr>
            <p:cNvSpPr/>
            <p:nvPr userDrawn="1"/>
          </p:nvSpPr>
          <p:spPr bwMode="auto">
            <a:xfrm>
              <a:off x="1149559" y="2675367"/>
              <a:ext cx="614363" cy="749300"/>
            </a:xfrm>
            <a:custGeom>
              <a:avLst/>
              <a:gdLst>
                <a:gd name="T0" fmla="*/ 2147483647 w 1173"/>
                <a:gd name="T1" fmla="*/ 2147483647 h 1472"/>
                <a:gd name="T2" fmla="*/ 2147483647 w 1173"/>
                <a:gd name="T3" fmla="*/ 2147483647 h 1472"/>
                <a:gd name="T4" fmla="*/ 2147483647 w 1173"/>
                <a:gd name="T5" fmla="*/ 2147483647 h 1472"/>
                <a:gd name="T6" fmla="*/ 2147483647 w 1173"/>
                <a:gd name="T7" fmla="*/ 2147483647 h 1472"/>
                <a:gd name="T8" fmla="*/ 2147483647 w 1173"/>
                <a:gd name="T9" fmla="*/ 2147483647 h 1472"/>
                <a:gd name="T10" fmla="*/ 2147483647 w 1173"/>
                <a:gd name="T11" fmla="*/ 2147483647 h 1472"/>
                <a:gd name="T12" fmla="*/ 0 w 1173"/>
                <a:gd name="T13" fmla="*/ 2147483647 h 1472"/>
                <a:gd name="T14" fmla="*/ 2147483647 w 1173"/>
                <a:gd name="T15" fmla="*/ 2147483647 h 1472"/>
                <a:gd name="T16" fmla="*/ 2147483647 w 1173"/>
                <a:gd name="T17" fmla="*/ 2147483647 h 1472"/>
                <a:gd name="T18" fmla="*/ 2147483647 w 1173"/>
                <a:gd name="T19" fmla="*/ 2147483647 h 1472"/>
                <a:gd name="T20" fmla="*/ 2147483647 w 1173"/>
                <a:gd name="T21" fmla="*/ 2147483647 h 1472"/>
                <a:gd name="T22" fmla="*/ 2147483647 w 1173"/>
                <a:gd name="T23" fmla="*/ 2147483647 h 1472"/>
                <a:gd name="T24" fmla="*/ 2147483647 w 1173"/>
                <a:gd name="T25" fmla="*/ 2147483647 h 1472"/>
                <a:gd name="T26" fmla="*/ 2147483647 w 1173"/>
                <a:gd name="T27" fmla="*/ 2147483647 h 1472"/>
                <a:gd name="T28" fmla="*/ 2147483647 w 1173"/>
                <a:gd name="T29" fmla="*/ 2147483647 h 1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3" h="1472">
                  <a:moveTo>
                    <a:pt x="1131" y="535"/>
                  </a:moveTo>
                  <a:lnTo>
                    <a:pt x="1095" y="47"/>
                  </a:lnTo>
                  <a:cubicBezTo>
                    <a:pt x="1090" y="47"/>
                    <a:pt x="1081" y="49"/>
                    <a:pt x="1067" y="54"/>
                  </a:cubicBezTo>
                  <a:cubicBezTo>
                    <a:pt x="1043" y="64"/>
                    <a:pt x="1022" y="68"/>
                    <a:pt x="1003" y="68"/>
                  </a:cubicBezTo>
                  <a:cubicBezTo>
                    <a:pt x="975" y="68"/>
                    <a:pt x="947" y="64"/>
                    <a:pt x="919" y="54"/>
                  </a:cubicBezTo>
                  <a:cubicBezTo>
                    <a:pt x="810" y="17"/>
                    <a:pt x="714" y="0"/>
                    <a:pt x="629" y="5"/>
                  </a:cubicBezTo>
                  <a:cubicBezTo>
                    <a:pt x="214" y="24"/>
                    <a:pt x="5" y="278"/>
                    <a:pt x="0" y="768"/>
                  </a:cubicBezTo>
                  <a:cubicBezTo>
                    <a:pt x="5" y="1225"/>
                    <a:pt x="219" y="1458"/>
                    <a:pt x="643" y="1467"/>
                  </a:cubicBezTo>
                  <a:cubicBezTo>
                    <a:pt x="912" y="1472"/>
                    <a:pt x="1088" y="1345"/>
                    <a:pt x="1173" y="1086"/>
                  </a:cubicBezTo>
                  <a:lnTo>
                    <a:pt x="1088" y="1036"/>
                  </a:lnTo>
                  <a:cubicBezTo>
                    <a:pt x="999" y="1258"/>
                    <a:pt x="867" y="1369"/>
                    <a:pt x="692" y="1369"/>
                  </a:cubicBezTo>
                  <a:cubicBezTo>
                    <a:pt x="424" y="1359"/>
                    <a:pt x="290" y="1145"/>
                    <a:pt x="290" y="725"/>
                  </a:cubicBezTo>
                  <a:cubicBezTo>
                    <a:pt x="290" y="316"/>
                    <a:pt x="408" y="108"/>
                    <a:pt x="643" y="104"/>
                  </a:cubicBezTo>
                  <a:cubicBezTo>
                    <a:pt x="827" y="94"/>
                    <a:pt x="961" y="250"/>
                    <a:pt x="1046" y="570"/>
                  </a:cubicBezTo>
                  <a:lnTo>
                    <a:pt x="1131" y="5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D6C1642-EF57-4FCF-B70B-9EB19917F44C}"/>
              </a:ext>
            </a:extLst>
          </p:cNvPr>
          <p:cNvSpPr/>
          <p:nvPr userDrawn="1"/>
        </p:nvSpPr>
        <p:spPr>
          <a:xfrm>
            <a:off x="7476565" y="179136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28F3D-440D-4735-B280-F8F3A95DBEF0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7046826-E3C2-4516-8838-F6024486E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E74CD5A-9833-45E4-9F7F-2C7811B867BE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7D8D081-8C72-41AC-BA3C-DA4104B63229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77687D0-C680-4AA6-AE98-5639F0C50311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81" name="平行四边形 80">
                <a:extLst>
                  <a:ext uri="{FF2B5EF4-FFF2-40B4-BE49-F238E27FC236}">
                    <a16:creationId xmlns:a16="http://schemas.microsoft.com/office/drawing/2014/main" id="{999CB817-D56E-488F-9D87-F9D19470D6A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平行四边形 81">
                <a:extLst>
                  <a:ext uri="{FF2B5EF4-FFF2-40B4-BE49-F238E27FC236}">
                    <a16:creationId xmlns:a16="http://schemas.microsoft.com/office/drawing/2014/main" id="{352F10E6-4A02-4A03-A65F-57545BCD6B65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075B0E75-A6C6-4B7F-A0F1-380D72D9805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4632218C-DACA-4F71-8571-397435439B21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9835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BC089EC-55AC-4306-ABB4-631B2FCECE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A572C4-B2D1-490F-99D9-054A5FA5FCD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2404D27-433D-4218-8491-72B29BA071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6202126-DDD4-4338-BB92-B0FB2021831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EBC7994-DE28-4614-BBB3-1258C611821D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9DE37F0-6BDA-4DC2-9F0F-06B7C60DCC0F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8FDA44E1-7425-41B0-ACE1-F3183CE75CB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D92A7CFB-5C2D-4471-9617-5814B155CB7F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DD1E91A-2138-4239-8CDD-3DAEEDA7E6A5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2538672-7F3C-4866-B5C4-959756C63A3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212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397669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EA523-30CE-4428-B8A6-CB0C805C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458"/>
            <a:ext cx="10515600" cy="88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0EFF2-3741-4E9F-9032-7BBA076E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001F3-2526-4AFF-AFF5-E4CAF9502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7446182-0BAA-4592-A192-58B1F2766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1EA361-28EE-45BA-A8A0-3F4170BAD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4" b="35069"/>
          <a:stretch>
            <a:fillRect/>
          </a:stretch>
        </p:blipFill>
        <p:spPr>
          <a:xfrm>
            <a:off x="9855756" y="49391"/>
            <a:ext cx="2336093" cy="50561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E80D9B0E-41FB-4900-A8BD-A1542BFB56E8}"/>
              </a:ext>
            </a:extLst>
          </p:cNvPr>
          <p:cNvGrpSpPr/>
          <p:nvPr userDrawn="1"/>
        </p:nvGrpSpPr>
        <p:grpSpPr>
          <a:xfrm>
            <a:off x="7901494" y="-131876"/>
            <a:ext cx="1406772" cy="769441"/>
            <a:chOff x="654780" y="-55876"/>
            <a:chExt cx="1406772" cy="76944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EE19C7-A1F4-46A3-92CF-BFD9C4E79590}"/>
                </a:ext>
              </a:extLst>
            </p:cNvPr>
            <p:cNvSpPr txBox="1"/>
            <p:nvPr userDrawn="1"/>
          </p:nvSpPr>
          <p:spPr>
            <a:xfrm>
              <a:off x="654780" y="-55876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31597-CB30-47B3-A5E3-96B442662F67}"/>
                </a:ext>
              </a:extLst>
            </p:cNvPr>
            <p:cNvSpPr txBox="1"/>
            <p:nvPr userDrawn="1"/>
          </p:nvSpPr>
          <p:spPr>
            <a:xfrm>
              <a:off x="740752" y="174957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77E9160-0818-4167-A9C5-1B3144D9006A}"/>
              </a:ext>
            </a:extLst>
          </p:cNvPr>
          <p:cNvGrpSpPr/>
          <p:nvPr userDrawn="1"/>
        </p:nvGrpSpPr>
        <p:grpSpPr>
          <a:xfrm>
            <a:off x="-1" y="-940"/>
            <a:ext cx="12192000" cy="573394"/>
            <a:chOff x="-750455" y="3752299"/>
            <a:chExt cx="12201236" cy="573394"/>
          </a:xfrm>
        </p:grpSpPr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E5C0772E-2BDB-46E3-BBF3-98B56199E3AA}"/>
                </a:ext>
              </a:extLst>
            </p:cNvPr>
            <p:cNvSpPr/>
            <p:nvPr userDrawn="1"/>
          </p:nvSpPr>
          <p:spPr>
            <a:xfrm>
              <a:off x="8239862" y="3753689"/>
              <a:ext cx="828964" cy="571818"/>
            </a:xfrm>
            <a:prstGeom prst="parallelogram">
              <a:avLst>
                <a:gd name="adj" fmla="val 10041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9DD3C377-F1A7-48D3-AE26-705C40158D01}"/>
                </a:ext>
              </a:extLst>
            </p:cNvPr>
            <p:cNvSpPr/>
            <p:nvPr userDrawn="1"/>
          </p:nvSpPr>
          <p:spPr>
            <a:xfrm>
              <a:off x="8595059" y="3752299"/>
              <a:ext cx="828964" cy="571818"/>
            </a:xfrm>
            <a:prstGeom prst="parallelogram">
              <a:avLst>
                <a:gd name="adj" fmla="val 10041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5F80F0-A7FB-45D8-A02F-17A28AEF4443}"/>
                </a:ext>
              </a:extLst>
            </p:cNvPr>
            <p:cNvSpPr/>
            <p:nvPr userDrawn="1"/>
          </p:nvSpPr>
          <p:spPr>
            <a:xfrm flipV="1">
              <a:off x="-750455" y="4279974"/>
              <a:ext cx="9247839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0C81418-DA7F-4965-A6CC-440B3B40C695}"/>
                </a:ext>
              </a:extLst>
            </p:cNvPr>
            <p:cNvSpPr/>
            <p:nvPr userDrawn="1"/>
          </p:nvSpPr>
          <p:spPr>
            <a:xfrm flipV="1">
              <a:off x="9178622" y="3753687"/>
              <a:ext cx="2272159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8F14C-64CB-4F88-AFF8-AB0B4D90A2A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6" r:id="rId13"/>
    <p:sldLayoutId id="2147483657" r:id="rId14"/>
    <p:sldLayoutId id="2147483658" r:id="rId15"/>
    <p:sldLayoutId id="214748365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3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406904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8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4E6D9F3-C187-4153-B242-1D5E4B1F7751}"/>
              </a:ext>
            </a:extLst>
          </p:cNvPr>
          <p:cNvSpPr/>
          <p:nvPr/>
        </p:nvSpPr>
        <p:spPr>
          <a:xfrm>
            <a:off x="33557" y="717352"/>
            <a:ext cx="121584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数组</a:t>
            </a:r>
            <a:r>
              <a:rPr lang="zh-CN" altLang="en-US" sz="2800" b="1" dirty="0">
                <a:latin typeface="隶书" pitchFamily="49" charset="-122"/>
              </a:rPr>
              <a:t>是指包含多个相同数据类型的数据的有序集合。数组中的每一个数据称为该数组的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元素</a:t>
            </a:r>
            <a:r>
              <a:rPr lang="zh-CN" altLang="en-US" sz="2800" b="1" dirty="0">
                <a:latin typeface="隶书" pitchFamily="49" charset="-122"/>
              </a:rPr>
              <a:t>，且每一个数组元素均有相应的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下标</a:t>
            </a:r>
            <a:r>
              <a:rPr lang="zh-CN" altLang="en-US" sz="2800" b="1" dirty="0">
                <a:latin typeface="隶书" pitchFamily="49" charset="-122"/>
              </a:rPr>
              <a:t>作为索引。根据数据元素下标的个数可以分为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一维数组</a:t>
            </a:r>
            <a:r>
              <a:rPr lang="zh-CN" altLang="en-US" sz="2800" b="1" dirty="0">
                <a:latin typeface="隶书" pitchFamily="49" charset="-122"/>
              </a:rPr>
              <a:t>、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二维数组</a:t>
            </a:r>
            <a:r>
              <a:rPr lang="zh-CN" altLang="en-US" sz="2800" b="1" dirty="0">
                <a:latin typeface="隶书" pitchFamily="49" charset="-122"/>
              </a:rPr>
              <a:t>和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多维数组</a:t>
            </a:r>
            <a:r>
              <a:rPr lang="zh-CN" altLang="en-US" sz="2800" b="1" dirty="0">
                <a:latin typeface="隶书" pitchFamily="49" charset="-122"/>
              </a:rPr>
              <a:t>。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E460279-0EA8-4083-9A83-B53ACA186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005"/>
              </p:ext>
            </p:extLst>
          </p:nvPr>
        </p:nvGraphicFramePr>
        <p:xfrm>
          <a:off x="2947682" y="2775701"/>
          <a:ext cx="5568425" cy="45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3685">
                  <a:extLst>
                    <a:ext uri="{9D8B030D-6E8A-4147-A177-3AD203B41FA5}">
                      <a16:colId xmlns:a16="http://schemas.microsoft.com/office/drawing/2014/main" val="3756261837"/>
                    </a:ext>
                  </a:extLst>
                </a:gridCol>
                <a:gridCol w="1113685">
                  <a:extLst>
                    <a:ext uri="{9D8B030D-6E8A-4147-A177-3AD203B41FA5}">
                      <a16:colId xmlns:a16="http://schemas.microsoft.com/office/drawing/2014/main" val="2646786835"/>
                    </a:ext>
                  </a:extLst>
                </a:gridCol>
                <a:gridCol w="1113685">
                  <a:extLst>
                    <a:ext uri="{9D8B030D-6E8A-4147-A177-3AD203B41FA5}">
                      <a16:colId xmlns:a16="http://schemas.microsoft.com/office/drawing/2014/main" val="3891346144"/>
                    </a:ext>
                  </a:extLst>
                </a:gridCol>
                <a:gridCol w="1113685">
                  <a:extLst>
                    <a:ext uri="{9D8B030D-6E8A-4147-A177-3AD203B41FA5}">
                      <a16:colId xmlns:a16="http://schemas.microsoft.com/office/drawing/2014/main" val="3501529050"/>
                    </a:ext>
                  </a:extLst>
                </a:gridCol>
                <a:gridCol w="1113685">
                  <a:extLst>
                    <a:ext uri="{9D8B030D-6E8A-4147-A177-3AD203B41FA5}">
                      <a16:colId xmlns:a16="http://schemas.microsoft.com/office/drawing/2014/main" val="261734307"/>
                    </a:ext>
                  </a:extLst>
                </a:gridCol>
              </a:tblGrid>
              <a:tr h="4556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6250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8BF22B2A-BEA7-4831-B061-005140401C3F}"/>
              </a:ext>
            </a:extLst>
          </p:cNvPr>
          <p:cNvSpPr txBox="1"/>
          <p:nvPr/>
        </p:nvSpPr>
        <p:spPr>
          <a:xfrm>
            <a:off x="128266" y="2102347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例如</a:t>
            </a:r>
            <a:r>
              <a:rPr lang="en-US" altLang="zh-CN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:131</a:t>
            </a:r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班五名同学的计算机成绩可以表示为：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9DB83F-A881-42A6-B736-07831A71864E}"/>
              </a:ext>
            </a:extLst>
          </p:cNvPr>
          <p:cNvSpPr txBox="1"/>
          <p:nvPr/>
        </p:nvSpPr>
        <p:spPr>
          <a:xfrm>
            <a:off x="128266" y="3287035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例如</a:t>
            </a:r>
            <a:r>
              <a:rPr lang="en-US" altLang="zh-CN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:131</a:t>
            </a:r>
            <a:r>
              <a:rPr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班五名同学的四门课的成绩可以表示为：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0" name="表格 5">
            <a:extLst>
              <a:ext uri="{FF2B5EF4-FFF2-40B4-BE49-F238E27FC236}">
                <a16:creationId xmlns:a16="http://schemas.microsoft.com/office/drawing/2014/main" id="{9F091FB8-E547-4BC3-B596-9C2D348BC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29655"/>
              </p:ext>
            </p:extLst>
          </p:nvPr>
        </p:nvGraphicFramePr>
        <p:xfrm>
          <a:off x="3563123" y="4267200"/>
          <a:ext cx="4462204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5551">
                  <a:extLst>
                    <a:ext uri="{9D8B030D-6E8A-4147-A177-3AD203B41FA5}">
                      <a16:colId xmlns:a16="http://schemas.microsoft.com/office/drawing/2014/main" val="3756261837"/>
                    </a:ext>
                  </a:extLst>
                </a:gridCol>
                <a:gridCol w="1115551">
                  <a:extLst>
                    <a:ext uri="{9D8B030D-6E8A-4147-A177-3AD203B41FA5}">
                      <a16:colId xmlns:a16="http://schemas.microsoft.com/office/drawing/2014/main" val="2646786835"/>
                    </a:ext>
                  </a:extLst>
                </a:gridCol>
                <a:gridCol w="1115551">
                  <a:extLst>
                    <a:ext uri="{9D8B030D-6E8A-4147-A177-3AD203B41FA5}">
                      <a16:colId xmlns:a16="http://schemas.microsoft.com/office/drawing/2014/main" val="3891346144"/>
                    </a:ext>
                  </a:extLst>
                </a:gridCol>
                <a:gridCol w="1115551">
                  <a:extLst>
                    <a:ext uri="{9D8B030D-6E8A-4147-A177-3AD203B41FA5}">
                      <a16:colId xmlns:a16="http://schemas.microsoft.com/office/drawing/2014/main" val="3501529050"/>
                    </a:ext>
                  </a:extLst>
                </a:gridCol>
              </a:tblGrid>
              <a:tr h="398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6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47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429799"/>
                  </a:ext>
                </a:extLst>
              </a:tr>
              <a:tr h="398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43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267078"/>
                  </a:ext>
                </a:extLst>
              </a:tr>
              <a:tr h="398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46666"/>
                  </a:ext>
                </a:extLst>
              </a:tr>
              <a:tr h="398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73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0433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02554D0-233C-4176-BA7D-52EE3C8ABBED}"/>
              </a:ext>
            </a:extLst>
          </p:cNvPr>
          <p:cNvSpPr txBox="1"/>
          <p:nvPr/>
        </p:nvSpPr>
        <p:spPr>
          <a:xfrm>
            <a:off x="3682428" y="3871810"/>
            <a:ext cx="90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计算机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95D3958-2E7E-4181-A20B-ED7909542618}"/>
              </a:ext>
            </a:extLst>
          </p:cNvPr>
          <p:cNvSpPr txBox="1"/>
          <p:nvPr/>
        </p:nvSpPr>
        <p:spPr>
          <a:xfrm>
            <a:off x="4911271" y="3871810"/>
            <a:ext cx="662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E28B79-93C6-4509-9DEE-9B142CB32F4F}"/>
              </a:ext>
            </a:extLst>
          </p:cNvPr>
          <p:cNvSpPr txBox="1"/>
          <p:nvPr/>
        </p:nvSpPr>
        <p:spPr>
          <a:xfrm>
            <a:off x="6020143" y="3871810"/>
            <a:ext cx="66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英语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01F2A6-654D-415C-9DEB-74B577225753}"/>
              </a:ext>
            </a:extLst>
          </p:cNvPr>
          <p:cNvSpPr txBox="1"/>
          <p:nvPr/>
        </p:nvSpPr>
        <p:spPr>
          <a:xfrm>
            <a:off x="7137282" y="3871810"/>
            <a:ext cx="66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体育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063176-3C56-4C8A-8B97-F8C26E8E6EC8}"/>
              </a:ext>
            </a:extLst>
          </p:cNvPr>
          <p:cNvSpPr txBox="1"/>
          <p:nvPr/>
        </p:nvSpPr>
        <p:spPr>
          <a:xfrm>
            <a:off x="1923964" y="4318666"/>
            <a:ext cx="1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2022110001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5C4B02-FFA7-4E7A-ABA3-7B8793655DB7}"/>
              </a:ext>
            </a:extLst>
          </p:cNvPr>
          <p:cNvSpPr txBox="1"/>
          <p:nvPr/>
        </p:nvSpPr>
        <p:spPr>
          <a:xfrm>
            <a:off x="1923964" y="4765522"/>
            <a:ext cx="1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2022110002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BD1D6-8BA8-4AD6-8816-1ECB0A86B099}"/>
              </a:ext>
            </a:extLst>
          </p:cNvPr>
          <p:cNvSpPr txBox="1"/>
          <p:nvPr/>
        </p:nvSpPr>
        <p:spPr>
          <a:xfrm>
            <a:off x="1930249" y="5225534"/>
            <a:ext cx="1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2022110003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332A8A-F68B-44B6-80F6-6976E9F23746}"/>
              </a:ext>
            </a:extLst>
          </p:cNvPr>
          <p:cNvSpPr txBox="1"/>
          <p:nvPr/>
        </p:nvSpPr>
        <p:spPr>
          <a:xfrm>
            <a:off x="1923963" y="5685546"/>
            <a:ext cx="1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2022110004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BCCE37-3C9D-4253-AF7F-E016B54E342F}"/>
              </a:ext>
            </a:extLst>
          </p:cNvPr>
          <p:cNvSpPr txBox="1"/>
          <p:nvPr/>
        </p:nvSpPr>
        <p:spPr>
          <a:xfrm>
            <a:off x="1923962" y="6140648"/>
            <a:ext cx="151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2022110005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35563D-84F9-4AD7-ACE5-6F636814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87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5943D5-8E52-4819-A171-7EB2BE05B5B3}"/>
              </a:ext>
            </a:extLst>
          </p:cNvPr>
          <p:cNvSpPr/>
          <p:nvPr/>
        </p:nvSpPr>
        <p:spPr>
          <a:xfrm>
            <a:off x="0" y="778996"/>
            <a:ext cx="121584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隶书" pitchFamily="49" charset="-122"/>
              </a:rPr>
              <a:t>一维数组是最简单的数组，其每个元素有一个下标，通过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数组名</a:t>
            </a:r>
            <a:r>
              <a:rPr lang="zh-CN" altLang="en-US" sz="2800" b="1" dirty="0">
                <a:latin typeface="隶书" pitchFamily="49" charset="-122"/>
              </a:rPr>
              <a:t>和</a:t>
            </a:r>
            <a:r>
              <a:rPr lang="zh-CN" altLang="en-US" sz="2800" b="1" dirty="0">
                <a:solidFill>
                  <a:srgbClr val="0070C0"/>
                </a:solidFill>
                <a:latin typeface="隶书" pitchFamily="49" charset="-122"/>
              </a:rPr>
              <a:t>下标</a:t>
            </a:r>
            <a:r>
              <a:rPr lang="zh-CN" altLang="en-US" sz="2800" b="1" dirty="0">
                <a:latin typeface="隶书" pitchFamily="49" charset="-122"/>
              </a:rPr>
              <a:t>可以确定数组元素在该数组中的位置。</a:t>
            </a:r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74D0A696-4EB4-41D3-8694-775CAE2D0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89855"/>
              </p:ext>
            </p:extLst>
          </p:nvPr>
        </p:nvGraphicFramePr>
        <p:xfrm>
          <a:off x="2158154" y="2731143"/>
          <a:ext cx="8007825" cy="635157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1544404">
                  <a:extLst>
                    <a:ext uri="{9D8B030D-6E8A-4147-A177-3AD203B41FA5}">
                      <a16:colId xmlns:a16="http://schemas.microsoft.com/office/drawing/2014/main" val="3756261837"/>
                    </a:ext>
                  </a:extLst>
                </a:gridCol>
                <a:gridCol w="1660871">
                  <a:extLst>
                    <a:ext uri="{9D8B030D-6E8A-4147-A177-3AD203B41FA5}">
                      <a16:colId xmlns:a16="http://schemas.microsoft.com/office/drawing/2014/main" val="2646786835"/>
                    </a:ext>
                  </a:extLst>
                </a:gridCol>
                <a:gridCol w="1600850">
                  <a:extLst>
                    <a:ext uri="{9D8B030D-6E8A-4147-A177-3AD203B41FA5}">
                      <a16:colId xmlns:a16="http://schemas.microsoft.com/office/drawing/2014/main" val="3891346144"/>
                    </a:ext>
                  </a:extLst>
                </a:gridCol>
                <a:gridCol w="1600850">
                  <a:extLst>
                    <a:ext uri="{9D8B030D-6E8A-4147-A177-3AD203B41FA5}">
                      <a16:colId xmlns:a16="http://schemas.microsoft.com/office/drawing/2014/main" val="3501529050"/>
                    </a:ext>
                  </a:extLst>
                </a:gridCol>
                <a:gridCol w="1600850">
                  <a:extLst>
                    <a:ext uri="{9D8B030D-6E8A-4147-A177-3AD203B41FA5}">
                      <a16:colId xmlns:a16="http://schemas.microsoft.com/office/drawing/2014/main" val="261734307"/>
                    </a:ext>
                  </a:extLst>
                </a:gridCol>
              </a:tblGrid>
              <a:tr h="6351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score[0]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score[1]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score[2]</a:t>
                      </a:r>
                      <a:endParaRPr lang="zh-CN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score[3]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</a:rPr>
                        <a:t>score[4]</a:t>
                      </a:r>
                      <a:endParaRPr lang="zh-CN" altLang="en-US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62502"/>
                  </a:ext>
                </a:extLst>
              </a:tr>
            </a:tbl>
          </a:graphicData>
        </a:graphic>
      </p:graphicFrame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E3AE6382-A78B-4B31-A66F-5DA3547EB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430363"/>
              </p:ext>
            </p:extLst>
          </p:nvPr>
        </p:nvGraphicFramePr>
        <p:xfrm>
          <a:off x="2158153" y="2273944"/>
          <a:ext cx="8078160" cy="457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15632">
                  <a:extLst>
                    <a:ext uri="{9D8B030D-6E8A-4147-A177-3AD203B41FA5}">
                      <a16:colId xmlns:a16="http://schemas.microsoft.com/office/drawing/2014/main" val="3756261837"/>
                    </a:ext>
                  </a:extLst>
                </a:gridCol>
                <a:gridCol w="1615632">
                  <a:extLst>
                    <a:ext uri="{9D8B030D-6E8A-4147-A177-3AD203B41FA5}">
                      <a16:colId xmlns:a16="http://schemas.microsoft.com/office/drawing/2014/main" val="2646786835"/>
                    </a:ext>
                  </a:extLst>
                </a:gridCol>
                <a:gridCol w="1615632">
                  <a:extLst>
                    <a:ext uri="{9D8B030D-6E8A-4147-A177-3AD203B41FA5}">
                      <a16:colId xmlns:a16="http://schemas.microsoft.com/office/drawing/2014/main" val="3891346144"/>
                    </a:ext>
                  </a:extLst>
                </a:gridCol>
                <a:gridCol w="1615632">
                  <a:extLst>
                    <a:ext uri="{9D8B030D-6E8A-4147-A177-3AD203B41FA5}">
                      <a16:colId xmlns:a16="http://schemas.microsoft.com/office/drawing/2014/main" val="3501529050"/>
                    </a:ext>
                  </a:extLst>
                </a:gridCol>
                <a:gridCol w="1615632">
                  <a:extLst>
                    <a:ext uri="{9D8B030D-6E8A-4147-A177-3AD203B41FA5}">
                      <a16:colId xmlns:a16="http://schemas.microsoft.com/office/drawing/2014/main" val="261734307"/>
                    </a:ext>
                  </a:extLst>
                </a:gridCol>
              </a:tblGrid>
              <a:tr h="4556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50800" prst="hardEdge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6250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3841D66-9B72-4A55-847C-85AC8CAB7C0D}"/>
              </a:ext>
            </a:extLst>
          </p:cNvPr>
          <p:cNvSpPr txBox="1"/>
          <p:nvPr/>
        </p:nvSpPr>
        <p:spPr>
          <a:xfrm>
            <a:off x="877162" y="2146368"/>
            <a:ext cx="1323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score</a:t>
            </a:r>
            <a:endParaRPr lang="zh-CN" altLang="en-US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B9B222-6CC0-40A5-AE7D-2FF3EBA9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320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AA9AD8-32D1-4E62-B443-8A4789E9C458}"/>
              </a:ext>
            </a:extLst>
          </p:cNvPr>
          <p:cNvSpPr txBox="1"/>
          <p:nvPr/>
        </p:nvSpPr>
        <p:spPr>
          <a:xfrm>
            <a:off x="2140065" y="-568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一维数组的定义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3C1653-CF8F-4418-9E97-0FB34434A227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一维数组定义的一般形式为：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2C3C6C-252B-48C4-A396-4D667DF1D406}"/>
              </a:ext>
            </a:extLst>
          </p:cNvPr>
          <p:cNvSpPr txBox="1">
            <a:spLocks noChangeArrowheads="1"/>
          </p:cNvSpPr>
          <p:nvPr/>
        </p:nvSpPr>
        <p:spPr>
          <a:xfrm>
            <a:off x="2800795" y="1363210"/>
            <a:ext cx="4880165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数据类型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r>
              <a:rPr lang="zh-CN" altLang="en-US" sz="2400" b="1" dirty="0"/>
              <a:t>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5D8F47-09DB-4803-A0A4-74BF164F46D1}"/>
              </a:ext>
            </a:extLst>
          </p:cNvPr>
          <p:cNvSpPr/>
          <p:nvPr/>
        </p:nvSpPr>
        <p:spPr>
          <a:xfrm>
            <a:off x="1946246" y="2136382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D70BD3-16CC-4D47-899F-E91945453CB2}"/>
              </a:ext>
            </a:extLst>
          </p:cNvPr>
          <p:cNvSpPr txBox="1">
            <a:spLocks noChangeArrowheads="1"/>
          </p:cNvSpPr>
          <p:nvPr/>
        </p:nvSpPr>
        <p:spPr>
          <a:xfrm>
            <a:off x="2800795" y="2814857"/>
            <a:ext cx="4880165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score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C8BC796B-EBE6-4860-B195-C186CAA4E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6" y="3607198"/>
            <a:ext cx="12158444" cy="2372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</a:p>
          <a:p>
            <a:pPr indent="457200"/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数据类型是全体数据元素的类型。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数组名需符合标识符规则。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数组中的元素占用连续的存储空间。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④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数组名为该连续存储空间的起始地址值。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⑤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数组元素的有效下标范围为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[0, N-1]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，不能越界访问数组中的元素。</a:t>
            </a:r>
            <a:endParaRPr kumimoji="1" lang="zh-CN" altLang="en-US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942F2D-C7B2-4113-B756-3534158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274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AD5919-545B-4983-9B38-D7C2DD18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853B82-5DA2-4F77-BBF8-1F11AD183052}"/>
              </a:ext>
            </a:extLst>
          </p:cNvPr>
          <p:cNvSpPr txBox="1">
            <a:spLocks noChangeArrowheads="1"/>
          </p:cNvSpPr>
          <p:nvPr/>
        </p:nvSpPr>
        <p:spPr>
          <a:xfrm>
            <a:off x="2995261" y="1677029"/>
            <a:ext cx="4880165" cy="1815882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n;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scanf(“%d”, &amp;n);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int a[n];  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变长数组，仅限</a:t>
            </a:r>
            <a:r>
              <a:rPr lang="en-US" altLang="zh-CN" sz="2400" b="1" dirty="0">
                <a:solidFill>
                  <a:srgbClr val="00B050"/>
                </a:solidFill>
              </a:rPr>
              <a:t>C99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latin typeface="等线" panose="02010600030101010101" pitchFamily="2" charset="-122"/>
                <a:ea typeface="等线" panose="02010600030101010101" pitchFamily="2" charset="-122"/>
              </a:rPr>
              <a:t>  ┉</a:t>
            </a:r>
            <a:endParaRPr lang="zh-CN" altLang="en-US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7FF0086-6AE8-4DD9-B87D-4D9EABF6F6F1}"/>
              </a:ext>
            </a:extLst>
          </p:cNvPr>
          <p:cNvGrpSpPr/>
          <p:nvPr/>
        </p:nvGrpSpPr>
        <p:grpSpPr>
          <a:xfrm>
            <a:off x="33557" y="717352"/>
            <a:ext cx="12158444" cy="830997"/>
            <a:chOff x="33557" y="717352"/>
            <a:chExt cx="12158444" cy="83099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8AA77A-3E45-489D-AF3F-0BDFEFC2479D}"/>
                </a:ext>
              </a:extLst>
            </p:cNvPr>
            <p:cNvSpPr/>
            <p:nvPr/>
          </p:nvSpPr>
          <p:spPr>
            <a:xfrm>
              <a:off x="33557" y="717352"/>
              <a:ext cx="1215844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/>
              <a:r>
                <a:rPr lang="zh-CN" altLang="en-US" sz="2400" b="1" dirty="0">
                  <a:latin typeface="隶书" pitchFamily="49" charset="-122"/>
                </a:rPr>
                <a:t>在前面数组的定义中，数组的长度必须用常量表达式进行定义。但是在    中，有时候也可以使用非常量表达式来定义变长数组</a:t>
              </a:r>
              <a:r>
                <a:rPr lang="en-US" altLang="zh-CN" sz="2400" b="1" dirty="0">
                  <a:latin typeface="隶书" pitchFamily="49" charset="-122"/>
                </a:rPr>
                <a:t>(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</a:rPr>
                <a:t>v</a:t>
              </a:r>
              <a:r>
                <a:rPr lang="en-US" altLang="zh-CN" sz="2400" b="1" dirty="0">
                  <a:latin typeface="隶书" pitchFamily="49" charset="-122"/>
                </a:rPr>
                <a:t>ariable-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</a:rPr>
                <a:t>l</a:t>
              </a:r>
              <a:r>
                <a:rPr lang="en-US" altLang="zh-CN" sz="2400" b="1" dirty="0">
                  <a:latin typeface="隶书" pitchFamily="49" charset="-122"/>
                </a:rPr>
                <a:t>ength 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</a:rPr>
                <a:t>a</a:t>
              </a:r>
              <a:r>
                <a:rPr lang="en-US" altLang="zh-CN" sz="2400" b="1" dirty="0">
                  <a:latin typeface="隶书" pitchFamily="49" charset="-122"/>
                </a:rPr>
                <a:t>rray, </a:t>
              </a:r>
              <a:r>
                <a:rPr lang="en-US" altLang="zh-CN" sz="2400" b="1" dirty="0">
                  <a:solidFill>
                    <a:srgbClr val="0070C0"/>
                  </a:solidFill>
                  <a:latin typeface="隶书" pitchFamily="49" charset="-122"/>
                </a:rPr>
                <a:t>VLA</a:t>
              </a:r>
              <a:r>
                <a:rPr lang="en-US" altLang="zh-CN" sz="2400" b="1" dirty="0">
                  <a:latin typeface="隶书" pitchFamily="49" charset="-122"/>
                </a:rPr>
                <a:t>)</a:t>
              </a:r>
              <a:r>
                <a:rPr lang="zh-CN" altLang="en-US" sz="2400" b="1" dirty="0">
                  <a:latin typeface="隶书" pitchFamily="49" charset="-122"/>
                </a:rPr>
                <a:t>。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DBE31C9-62F3-4226-BE99-2438BE8E3F1C}"/>
                </a:ext>
              </a:extLst>
            </p:cNvPr>
            <p:cNvSpPr/>
            <p:nvPr/>
          </p:nvSpPr>
          <p:spPr>
            <a:xfrm>
              <a:off x="9626048" y="769586"/>
              <a:ext cx="494415" cy="36326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C99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780D072-33C0-469F-AD80-C67822469BD9}"/>
              </a:ext>
            </a:extLst>
          </p:cNvPr>
          <p:cNvGrpSpPr/>
          <p:nvPr/>
        </p:nvGrpSpPr>
        <p:grpSpPr>
          <a:xfrm>
            <a:off x="-45057" y="3492911"/>
            <a:ext cx="12158444" cy="2741393"/>
            <a:chOff x="-45057" y="3492911"/>
            <a:chExt cx="12158444" cy="2741393"/>
          </a:xfrm>
        </p:grpSpPr>
        <p:sp>
          <p:nvSpPr>
            <p:cNvPr id="11" name="Text Box 88">
              <a:extLst>
                <a:ext uri="{FF2B5EF4-FFF2-40B4-BE49-F238E27FC236}">
                  <a16:creationId xmlns:a16="http://schemas.microsoft.com/office/drawing/2014/main" id="{E004FF29-5868-49D4-9FE1-996B4A8B5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5057" y="3492911"/>
              <a:ext cx="12158444" cy="2741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注意</a:t>
              </a:r>
              <a:r>
                <a:rPr kumimoji="1" lang="en-US" altLang="zh-CN" sz="2400" dirty="0">
                  <a:solidFill>
                    <a:srgbClr val="3333FF"/>
                  </a:solidFill>
                  <a:ea typeface="隶书" pitchFamily="49" charset="-122"/>
                </a:rPr>
                <a:t>: </a:t>
              </a:r>
            </a:p>
            <a:p>
              <a:pPr indent="457200"/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① </a:t>
              </a:r>
              <a:r>
                <a:rPr kumimoji="1" lang="zh-CN" altLang="en-US" sz="2400" dirty="0">
                  <a:solidFill>
                    <a:srgbClr val="3333FF"/>
                  </a:solidFill>
                  <a:ea typeface="隶书" pitchFamily="49" charset="-122"/>
                </a:rPr>
                <a:t>变长数组的长度是在程序执行时才计算的，而不是在程序编译时计算的。</a:t>
              </a:r>
              <a:endParaRPr kumimoji="1" lang="en-US" altLang="zh-CN" sz="2400" dirty="0">
                <a:solidFill>
                  <a:srgbClr val="3333FF"/>
                </a:solidFill>
                <a:ea typeface="隶书" pitchFamily="49" charset="-122"/>
              </a:endParaRPr>
            </a:p>
            <a:p>
              <a:pPr indent="457200"/>
              <a:r>
                <a:rPr kumimoji="1" lang="zh-CN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②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 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变长数组的长度不一定要用变量来指定，任意合法表达式都可以。</a:t>
              </a:r>
              <a:endPara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indent="457200"/>
              <a:r>
                <a:rPr kumimoji="1" lang="zh-CN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③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 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变长数组也可以是多维的。</a:t>
              </a:r>
              <a:endPara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indent="457200"/>
              <a:r>
                <a:rPr kumimoji="1" lang="zh-CN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④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 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变长数组的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等线" panose="02010600030101010101" pitchFamily="2" charset="-122"/>
                  <a:ea typeface="隶书" pitchFamily="49" charset="-122"/>
                </a:rPr>
                <a:t>优点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：不必在构造数组时给定数组长度，程序在执行期间准确计算数组     </a:t>
              </a:r>
              <a:endPara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indent="457200"/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    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长度，避免数组过长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(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浪费内存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)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或过短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(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导致程序出错</a:t>
              </a:r>
              <a:r>
                <a:rPr kumimoji="1" lang="en-US" altLang="zh-CN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)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。</a:t>
              </a:r>
              <a:endPara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indent="457200"/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⑤ 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变长数组的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等线" panose="02010600030101010101" pitchFamily="2" charset="-122"/>
                  <a:ea typeface="隶书" pitchFamily="49" charset="-122"/>
                </a:rPr>
                <a:t>限制</a:t>
              </a:r>
              <a:r>
                <a:rPr kumimoji="1" lang="zh-CN" altLang="en-US" sz="24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：不具有静态存储期，没有初始化器。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EAD734E-62D4-4574-999B-AA92C0D92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6" y="3547432"/>
              <a:ext cx="514926" cy="442321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E981536-A4CB-4677-8267-7EB6D9976D4F}"/>
              </a:ext>
            </a:extLst>
          </p:cNvPr>
          <p:cNvGrpSpPr/>
          <p:nvPr/>
        </p:nvGrpSpPr>
        <p:grpSpPr>
          <a:xfrm>
            <a:off x="2178165" y="-48362"/>
            <a:ext cx="6177372" cy="646331"/>
            <a:chOff x="3562458" y="53236"/>
            <a:chExt cx="6177372" cy="64633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0395404-4380-4385-BCD7-8F68FDF2F126}"/>
                </a:ext>
              </a:extLst>
            </p:cNvPr>
            <p:cNvSpPr txBox="1"/>
            <p:nvPr/>
          </p:nvSpPr>
          <p:spPr>
            <a:xfrm>
              <a:off x="3562458" y="53236"/>
              <a:ext cx="61773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spcBef>
                  <a:spcPct val="0"/>
                </a:spcBef>
                <a:buClr>
                  <a:schemeClr val="tx2"/>
                </a:buClr>
                <a:buSzPct val="70000"/>
                <a:buFont typeface="Arial" panose="020B0604020202020204" pitchFamily="34" charset="0"/>
                <a:buNone/>
              </a:pPr>
              <a:r>
                <a:rPr lang="zh-CN" altLang="en-US" sz="3200" b="1" dirty="0">
                  <a:solidFill>
                    <a:srgbClr val="200AC4"/>
                  </a:solidFill>
                  <a:ea typeface="隶书" pitchFamily="49" charset="-122"/>
                </a:rPr>
                <a:t> </a:t>
              </a:r>
              <a:r>
                <a:rPr lang="zh-CN" altLang="en-US" sz="3600" b="1" dirty="0">
                  <a:solidFill>
                    <a:srgbClr val="200AC4"/>
                  </a:solidFill>
                  <a:ea typeface="隶书" pitchFamily="49" charset="-122"/>
                </a:rPr>
                <a:t>变长数组</a:t>
              </a:r>
              <a:endParaRPr lang="zh-CN" altLang="en-US" sz="3200" b="1" dirty="0">
                <a:solidFill>
                  <a:srgbClr val="200AC4"/>
                </a:solidFill>
                <a:ea typeface="隶书" pitchFamily="49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80531-6850-47A9-B450-EE382D25DFC4}"/>
                </a:ext>
              </a:extLst>
            </p:cNvPr>
            <p:cNvSpPr/>
            <p:nvPr/>
          </p:nvSpPr>
          <p:spPr>
            <a:xfrm>
              <a:off x="5578828" y="104715"/>
              <a:ext cx="379253" cy="27168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C99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432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C4FC105-F710-437A-B150-939077346214}"/>
              </a:ext>
            </a:extLst>
          </p:cNvPr>
          <p:cNvSpPr txBox="1"/>
          <p:nvPr/>
        </p:nvSpPr>
        <p:spPr>
          <a:xfrm>
            <a:off x="2140067" y="-568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一维数组的定义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D87B4D-EFA3-40F4-8101-924BF8C26701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判断以下数组的定义哪些是合法的？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BD8591-6090-4057-8A03-5FA9859CAF5A}"/>
              </a:ext>
            </a:extLst>
          </p:cNvPr>
          <p:cNvSpPr txBox="1">
            <a:spLocks noChangeArrowheads="1"/>
          </p:cNvSpPr>
          <p:nvPr/>
        </p:nvSpPr>
        <p:spPr>
          <a:xfrm>
            <a:off x="3454529" y="1555346"/>
            <a:ext cx="3587593" cy="404521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#define  N  5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 </a:t>
            </a:r>
            <a:r>
              <a:rPr lang="en-US" altLang="zh-CN" b="1" dirty="0"/>
              <a:t>i</a:t>
            </a:r>
            <a:r>
              <a:rPr lang="en-US" altLang="zh-CN" b="1" dirty="0">
                <a:solidFill>
                  <a:srgbClr val="0000FF"/>
                </a:solidFill>
              </a:rPr>
              <a:t> = 5;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N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b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2+3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float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c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short</a:t>
            </a:r>
            <a:r>
              <a:rPr lang="en-US" altLang="zh-CN" b="1" dirty="0"/>
              <a:t> d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double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d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/>
              <a:t>4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long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e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 err="1"/>
              <a:t>N+i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07A00-9E39-4AEA-A374-509B5130D6D5}"/>
              </a:ext>
            </a:extLst>
          </p:cNvPr>
          <p:cNvSpPr txBox="1"/>
          <p:nvPr/>
        </p:nvSpPr>
        <p:spPr>
          <a:xfrm>
            <a:off x="6154703" y="4098447"/>
            <a:ext cx="302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96438B-94F2-4942-9D8F-20164E6E24EE}"/>
              </a:ext>
            </a:extLst>
          </p:cNvPr>
          <p:cNvSpPr txBox="1"/>
          <p:nvPr/>
        </p:nvSpPr>
        <p:spPr>
          <a:xfrm>
            <a:off x="6084358" y="2901424"/>
            <a:ext cx="343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√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AEE1B4-65A3-4D26-A5FB-B2714EBC00C0}"/>
              </a:ext>
            </a:extLst>
          </p:cNvPr>
          <p:cNvSpPr txBox="1"/>
          <p:nvPr/>
        </p:nvSpPr>
        <p:spPr>
          <a:xfrm>
            <a:off x="6084358" y="3350013"/>
            <a:ext cx="343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√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F94BFD-7C54-4CD6-9D9B-49676EE52C4A}"/>
              </a:ext>
            </a:extLst>
          </p:cNvPr>
          <p:cNvSpPr txBox="1"/>
          <p:nvPr/>
        </p:nvSpPr>
        <p:spPr>
          <a:xfrm>
            <a:off x="6092634" y="3769649"/>
            <a:ext cx="343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√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03A045-81CF-4542-BA16-A7D8475121C7}"/>
              </a:ext>
            </a:extLst>
          </p:cNvPr>
          <p:cNvSpPr txBox="1"/>
          <p:nvPr/>
        </p:nvSpPr>
        <p:spPr>
          <a:xfrm>
            <a:off x="6162977" y="4533824"/>
            <a:ext cx="302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A9EEFD-B6AF-487C-BD99-04AFA7A33D3C}"/>
              </a:ext>
            </a:extLst>
          </p:cNvPr>
          <p:cNvSpPr txBox="1"/>
          <p:nvPr/>
        </p:nvSpPr>
        <p:spPr>
          <a:xfrm>
            <a:off x="6171249" y="4970487"/>
            <a:ext cx="302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5DBE3442-AF5C-42B6-85D9-E0B645A9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485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DA294BA-B62E-468F-99A0-7C021B637A34}"/>
              </a:ext>
            </a:extLst>
          </p:cNvPr>
          <p:cNvSpPr txBox="1"/>
          <p:nvPr/>
        </p:nvSpPr>
        <p:spPr>
          <a:xfrm>
            <a:off x="2135833" y="-48363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一维数组的引用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7422B8-5B90-43EE-A6CB-DDDCC31AC6D0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引用一维数组元素的一般形式为：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C4B660-DF7A-47B1-88AF-B4DCF85F2470}"/>
              </a:ext>
            </a:extLst>
          </p:cNvPr>
          <p:cNvSpPr txBox="1">
            <a:spLocks noChangeArrowheads="1"/>
          </p:cNvSpPr>
          <p:nvPr/>
        </p:nvSpPr>
        <p:spPr>
          <a:xfrm>
            <a:off x="1818313" y="1505634"/>
            <a:ext cx="2884207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整形表达式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55614E-200B-4D96-9896-982E794B0496}"/>
              </a:ext>
            </a:extLst>
          </p:cNvPr>
          <p:cNvSpPr/>
          <p:nvPr/>
        </p:nvSpPr>
        <p:spPr>
          <a:xfrm>
            <a:off x="267826" y="2450969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072B836-3C1D-4C3D-89A0-70FC9593FFF8}"/>
              </a:ext>
            </a:extLst>
          </p:cNvPr>
          <p:cNvSpPr txBox="1">
            <a:spLocks noChangeArrowheads="1"/>
          </p:cNvSpPr>
          <p:nvPr/>
        </p:nvSpPr>
        <p:spPr>
          <a:xfrm>
            <a:off x="932047" y="3129444"/>
            <a:ext cx="4880165" cy="28122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score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i = 2;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score[0] = 10;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score[i] = 42;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score[i+1] = 0;</a:t>
            </a:r>
            <a:endParaRPr lang="zh-CN" altLang="en-US" b="1" dirty="0"/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CECA8CC6-34E5-462E-A44E-1A7925785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750" y="728397"/>
            <a:ext cx="6802694" cy="526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</a:p>
          <a:p>
            <a:pPr indent="457200"/>
            <a:r>
              <a:rPr kumimoji="1" lang="zh-CN" altLang="en-US" sz="28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800" dirty="0">
                <a:solidFill>
                  <a:srgbClr val="3333FF"/>
                </a:solidFill>
                <a:ea typeface="隶书" pitchFamily="49" charset="-122"/>
              </a:rPr>
              <a:t>数据定义和引用元素的下标值不同。</a:t>
            </a:r>
            <a:endParaRPr kumimoji="1" lang="en-US" altLang="zh-CN" sz="2800" dirty="0">
              <a:solidFill>
                <a:srgbClr val="3333FF"/>
              </a:solidFill>
              <a:ea typeface="隶书" pitchFamily="49" charset="-122"/>
            </a:endParaRPr>
          </a:p>
          <a:p>
            <a:pPr indent="457200"/>
            <a:r>
              <a:rPr kumimoji="1" lang="en-US" altLang="zh-CN" sz="2800" dirty="0">
                <a:ea typeface="隶书" pitchFamily="49" charset="-122"/>
              </a:rPr>
              <a:t>	</a:t>
            </a:r>
            <a:r>
              <a:rPr kumimoji="1" lang="zh-CN" altLang="en-US" sz="2800" dirty="0">
                <a:ea typeface="隶书" pitchFamily="49" charset="-122"/>
              </a:rPr>
              <a:t>定义下标值：整形常量表达式</a:t>
            </a:r>
            <a:endParaRPr kumimoji="1" lang="en-US" altLang="zh-CN" sz="2800" dirty="0">
              <a:ea typeface="隶书" pitchFamily="49" charset="-122"/>
            </a:endParaRPr>
          </a:p>
          <a:p>
            <a:pPr indent="457200"/>
            <a:r>
              <a:rPr kumimoji="1" lang="en-US" altLang="zh-CN" sz="2800" dirty="0">
                <a:ea typeface="隶书" pitchFamily="49" charset="-122"/>
              </a:rPr>
              <a:t>	</a:t>
            </a:r>
            <a:r>
              <a:rPr kumimoji="1" lang="zh-CN" altLang="en-US" sz="2800" dirty="0">
                <a:ea typeface="隶书" pitchFamily="49" charset="-122"/>
              </a:rPr>
              <a:t>引用下标值：整形表达式</a:t>
            </a:r>
            <a:endParaRPr kumimoji="1" lang="en-US" altLang="zh-CN" sz="2800" dirty="0">
              <a:ea typeface="隶书" pitchFamily="49" charset="-122"/>
            </a:endParaRPr>
          </a:p>
          <a:p>
            <a:pPr indent="457200"/>
            <a:r>
              <a:rPr kumimoji="1" lang="zh-CN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引用下标值为</a:t>
            </a:r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[0~N-1]</a:t>
            </a:r>
            <a:r>
              <a:rPr kumimoji="1" lang="zh-CN" altLang="en-US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，不能越界。</a:t>
            </a:r>
            <a:endParaRPr kumimoji="1" lang="en-US" altLang="zh-CN" sz="28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+mn-ea"/>
              </a:rPr>
              <a:t>int</a:t>
            </a:r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en-US" altLang="zh-CN" sz="2800" b="1" dirty="0">
                <a:latin typeface="等线" panose="02010600030101010101" pitchFamily="2" charset="-122"/>
                <a:ea typeface="隶书" pitchFamily="49" charset="-122"/>
              </a:rPr>
              <a:t>a[5], i;</a:t>
            </a:r>
          </a:p>
          <a:p>
            <a:pPr indent="457200"/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+mn-ea"/>
              </a:rPr>
              <a:t>for</a:t>
            </a:r>
            <a:r>
              <a:rPr kumimoji="1" lang="en-US" altLang="zh-CN" sz="2800" b="1" dirty="0">
                <a:latin typeface="等线" panose="02010600030101010101" pitchFamily="2" charset="-122"/>
                <a:ea typeface="隶书" pitchFamily="49" charset="-122"/>
              </a:rPr>
              <a:t>(i=1; i&lt;=5; i++)</a:t>
            </a:r>
          </a:p>
          <a:p>
            <a:pPr indent="457200"/>
            <a:r>
              <a:rPr kumimoji="1" lang="en-US" altLang="zh-CN" sz="2800" b="1" dirty="0">
                <a:latin typeface="等线" panose="02010600030101010101" pitchFamily="2" charset="-122"/>
                <a:ea typeface="隶书" pitchFamily="49" charset="-122"/>
              </a:rPr>
              <a:t>	    a[i] = 0;</a:t>
            </a:r>
          </a:p>
          <a:p>
            <a:pPr indent="457200"/>
            <a:r>
              <a:rPr kumimoji="1" lang="zh-CN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只能逐个引用数组中的元素。</a:t>
            </a:r>
            <a:endParaRPr kumimoji="1" lang="en-US" altLang="zh-CN" sz="28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n-lt"/>
                <a:ea typeface="+mn-ea"/>
              </a:rPr>
              <a:t>int</a:t>
            </a:r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en-US" altLang="zh-CN" sz="2800" b="1" dirty="0">
                <a:latin typeface="等线" panose="02010600030101010101" pitchFamily="2" charset="-122"/>
                <a:ea typeface="隶书" pitchFamily="49" charset="-122"/>
              </a:rPr>
              <a:t>a[10];</a:t>
            </a:r>
          </a:p>
          <a:p>
            <a:pPr indent="457200"/>
            <a:r>
              <a: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	</a:t>
            </a:r>
            <a:r>
              <a:rPr kumimoji="1" lang="en-US" altLang="zh-CN" sz="2800" b="1" dirty="0">
                <a:latin typeface="等线" panose="02010600030101010101" pitchFamily="2" charset="-122"/>
                <a:ea typeface="隶书" pitchFamily="49" charset="-122"/>
              </a:rPr>
              <a:t>printf(“%d”, a);      </a:t>
            </a:r>
            <a:r>
              <a:rPr kumimoji="1"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隶书" pitchFamily="49" charset="-122"/>
              </a:rPr>
              <a:t>//</a:t>
            </a:r>
            <a:r>
              <a:rPr kumimoji="1"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隶书" pitchFamily="49" charset="-122"/>
              </a:rPr>
              <a:t>错误写法</a:t>
            </a:r>
            <a:endParaRPr kumimoji="1" lang="en-US" altLang="zh-CN" sz="2800" b="1" dirty="0">
              <a:solidFill>
                <a:srgbClr val="FF0000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endParaRPr kumimoji="1" lang="en-US" altLang="zh-CN" sz="28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3465E2-030B-4231-BE32-57B82715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433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40067" y="-52595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一维数组的初始化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D5D004-0DAF-41C6-BFB4-10206AA8214B}"/>
              </a:ext>
            </a:extLst>
          </p:cNvPr>
          <p:cNvSpPr/>
          <p:nvPr/>
        </p:nvSpPr>
        <p:spPr>
          <a:xfrm>
            <a:off x="4591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一维数组初始化的一般形式为：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D192FB-6E5D-4235-8B24-C61A568BB535}"/>
              </a:ext>
            </a:extLst>
          </p:cNvPr>
          <p:cNvSpPr txBox="1">
            <a:spLocks noChangeArrowheads="1"/>
          </p:cNvSpPr>
          <p:nvPr/>
        </p:nvSpPr>
        <p:spPr>
          <a:xfrm>
            <a:off x="918539" y="1363210"/>
            <a:ext cx="8155123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数据类型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solidFill>
                  <a:srgbClr val="FF0000"/>
                </a:solidFill>
              </a:rPr>
              <a:t>] 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/>
              <a:t>{ 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初值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，初值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… </a:t>
            </a:r>
            <a:r>
              <a:rPr lang="en-US" altLang="zh-CN" sz="2400" b="1" dirty="0"/>
              <a:t>}</a:t>
            </a:r>
            <a:r>
              <a:rPr lang="zh-CN" altLang="en-US" sz="2400" b="1" dirty="0"/>
              <a:t>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9AF4E4-386B-4D26-9AD1-C4F415E41271}"/>
              </a:ext>
            </a:extLst>
          </p:cNvPr>
          <p:cNvSpPr/>
          <p:nvPr/>
        </p:nvSpPr>
        <p:spPr>
          <a:xfrm>
            <a:off x="33556" y="2064058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B611B97-FECE-482A-836C-89C4FB6A495C}"/>
              </a:ext>
            </a:extLst>
          </p:cNvPr>
          <p:cNvSpPr txBox="1">
            <a:spLocks noChangeArrowheads="1"/>
          </p:cNvSpPr>
          <p:nvPr/>
        </p:nvSpPr>
        <p:spPr>
          <a:xfrm>
            <a:off x="918539" y="2611889"/>
            <a:ext cx="10397678" cy="236559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5 }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/* </a:t>
            </a:r>
            <a:r>
              <a:rPr lang="zh-CN" altLang="en-US" sz="2400" b="1" dirty="0">
                <a:solidFill>
                  <a:srgbClr val="00B050"/>
                </a:solidFill>
              </a:rPr>
              <a:t>部分没有赋初值的元素自动赋值为</a:t>
            </a:r>
            <a:r>
              <a:rPr lang="en-US" altLang="zh-CN" sz="2400" b="1" dirty="0">
                <a:solidFill>
                  <a:srgbClr val="00B050"/>
                </a:solidFill>
              </a:rPr>
              <a:t>0</a:t>
            </a:r>
            <a:r>
              <a:rPr lang="zh-CN" altLang="en-US" sz="3600" b="1" dirty="0">
                <a:solidFill>
                  <a:srgbClr val="00B050"/>
                </a:solidFill>
              </a:rPr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*/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 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7 }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[5]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6 }</a:t>
            </a:r>
            <a:r>
              <a:rPr lang="zh-CN" altLang="en-US" b="1" dirty="0"/>
              <a:t>；</a:t>
            </a:r>
            <a:r>
              <a:rPr lang="en-US" altLang="zh-CN" b="1" dirty="0"/>
              <a:t>		</a:t>
            </a:r>
            <a:r>
              <a:rPr lang="en-US" altLang="zh-CN" b="1" dirty="0">
                <a:solidFill>
                  <a:srgbClr val="00B050"/>
                </a:solidFill>
              </a:rPr>
              <a:t>/* </a:t>
            </a:r>
            <a:r>
              <a:rPr lang="zh-CN" altLang="en-US" sz="2400" b="1" dirty="0">
                <a:solidFill>
                  <a:srgbClr val="00B050"/>
                </a:solidFill>
              </a:rPr>
              <a:t>错误 </a:t>
            </a:r>
            <a:r>
              <a:rPr lang="en-US" altLang="zh-CN" b="1" dirty="0">
                <a:solidFill>
                  <a:srgbClr val="00B050"/>
                </a:solidFill>
              </a:rPr>
              <a:t>*/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[5] </a:t>
            </a:r>
            <a:r>
              <a:rPr lang="en-US" altLang="zh-CN" b="1" dirty="0"/>
              <a:t>= { 0 }</a:t>
            </a:r>
            <a:r>
              <a:rPr lang="zh-CN" altLang="en-US" b="1" dirty="0"/>
              <a:t>；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166CB7CB-8D63-4206-ACBE-EB0E7A1B1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70" y="4865828"/>
            <a:ext cx="12158444" cy="1633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</a:p>
          <a:p>
            <a:pPr indent="457200"/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定义并初始化数组时，可省略数组长度。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初始化的数据个数如果超过数组的长度，多余的初始化数据失效。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数组若未初始化，各个元素的值为随机数。</a:t>
            </a:r>
            <a:endParaRPr kumimoji="1" lang="zh-CN" altLang="en-US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D43BE9-2503-43F0-ACC3-99DDE6B6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77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40062" y="-568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极值问题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6D5A7D-6295-48AE-B9BA-CAB92575575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3666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4-1】</a:t>
            </a:r>
            <a:r>
              <a:rPr lang="zh-CN" altLang="en-US" sz="2400" b="1" dirty="0"/>
              <a:t>输入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个数，找出其中的最大值和最小值。</a:t>
            </a:r>
            <a:endParaRPr lang="zh-CN" altLang="en-US" sz="2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3712C0-DA5C-412E-99CA-B83FE00FC5F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74932"/>
            <a:ext cx="12192000" cy="9686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拓展练习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2400" b="1" dirty="0"/>
              <a:t>某校举行唱歌比赛，共有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位评委给选手打分，去掉一个最高分和一个最低分后求平均分则是选手最终得分。编写程序求某选手的最终得分。</a:t>
            </a:r>
            <a:endParaRPr lang="zh-CN" altLang="en-US" sz="2200" b="1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847C9-D673-4F4A-8027-9EC8BA65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29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35830" y="-52597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查找问题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727ACF-8027-4052-9E8D-B7F13C8970D4}"/>
              </a:ext>
            </a:extLst>
          </p:cNvPr>
          <p:cNvSpPr/>
          <p:nvPr/>
        </p:nvSpPr>
        <p:spPr>
          <a:xfrm>
            <a:off x="0" y="778996"/>
            <a:ext cx="121584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顺序查找</a:t>
            </a:r>
            <a:r>
              <a:rPr lang="zh-CN" altLang="en-US" sz="2800" b="1" dirty="0">
                <a:latin typeface="隶书" pitchFamily="49" charset="-122"/>
              </a:rPr>
              <a:t>：依次比较数组中的数据是否是要查找的数据，若是，结束查找；否则，继续查找 ，直到数组的最后一个元素。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EFE4C8-8665-4C35-8F2F-14266B77E5B0}"/>
              </a:ext>
            </a:extLst>
          </p:cNvPr>
          <p:cNvSpPr/>
          <p:nvPr/>
        </p:nvSpPr>
        <p:spPr>
          <a:xfrm>
            <a:off x="0" y="3426946"/>
            <a:ext cx="121584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折半查找</a:t>
            </a:r>
            <a:r>
              <a:rPr lang="zh-CN" altLang="en-US" sz="2800" b="1" dirty="0">
                <a:latin typeface="隶书" pitchFamily="49" charset="-122"/>
              </a:rPr>
              <a:t>：开始时将整个数组作为搜索区间，比较位于中间位置的元素是否是要查找的数据。若不是，将查找区间折半，通过不断折半，直到找到或确定数组中已没有要找的数据为止。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70C8F6A-1862-412E-A70B-0CDF9ECF651C}"/>
              </a:ext>
            </a:extLst>
          </p:cNvPr>
          <p:cNvSpPr txBox="1">
            <a:spLocks noChangeArrowheads="1"/>
          </p:cNvSpPr>
          <p:nvPr/>
        </p:nvSpPr>
        <p:spPr>
          <a:xfrm>
            <a:off x="-33556" y="1843370"/>
            <a:ext cx="12192000" cy="7760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4-2】</a:t>
            </a:r>
            <a:r>
              <a:rPr lang="zh-CN" altLang="en-US" sz="2400" b="1" dirty="0"/>
              <a:t>猜数字游戏，假设有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个两位正整数，从键盘输入要猜测的数字。若猜中，输出该数字在哪个位置；若没有猜中，输出“没猜中，拜拜！”的提示信息。</a:t>
            </a:r>
            <a:endParaRPr lang="zh-CN" altLang="en-US" sz="22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FA11648-92A8-4605-AB52-6292E8D92E29}"/>
              </a:ext>
            </a:extLst>
          </p:cNvPr>
          <p:cNvSpPr txBox="1">
            <a:spLocks noChangeArrowheads="1"/>
          </p:cNvSpPr>
          <p:nvPr/>
        </p:nvSpPr>
        <p:spPr>
          <a:xfrm>
            <a:off x="-33556" y="4879577"/>
            <a:ext cx="12192000" cy="7760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4-3】</a:t>
            </a:r>
            <a:r>
              <a:rPr lang="zh-CN" altLang="en-US" sz="2400" b="1" dirty="0"/>
              <a:t>假设有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个从小到大排好序的数，存放在数组</a:t>
            </a:r>
            <a:r>
              <a:rPr lang="en-US" altLang="zh-CN" sz="2400" b="1" dirty="0"/>
              <a:t>SearchBin</a:t>
            </a:r>
            <a:r>
              <a:rPr lang="zh-CN" altLang="en-US" sz="2400" b="1" dirty="0"/>
              <a:t>中，要求用折半查找的方法查找指定的数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是否在该数组中。</a:t>
            </a:r>
            <a:endParaRPr lang="zh-CN" altLang="en-US" sz="2200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C141E2F-FECA-475C-9728-A899A1BB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594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5BAC07-1278-4648-B6D2-FF809821CD5F}"/>
              </a:ext>
            </a:extLst>
          </p:cNvPr>
          <p:cNvSpPr txBox="1">
            <a:spLocks noChangeArrowheads="1"/>
          </p:cNvSpPr>
          <p:nvPr/>
        </p:nvSpPr>
        <p:spPr>
          <a:xfrm>
            <a:off x="574675" y="1341438"/>
            <a:ext cx="3733800" cy="812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900">
                <a:latin typeface="Comic Sans MS" pitchFamily="66" charset="0"/>
              </a:rPr>
              <a:t>查找</a:t>
            </a:r>
            <a:r>
              <a:rPr lang="en-US" altLang="zh-CN" sz="3900">
                <a:latin typeface="Comic Sans MS" pitchFamily="66" charset="0"/>
              </a:rPr>
              <a:t>21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246FC6C-321D-472A-8442-64C5C9040F51}"/>
              </a:ext>
            </a:extLst>
          </p:cNvPr>
          <p:cNvGraphicFramePr>
            <a:graphicFrameLocks/>
          </p:cNvGraphicFramePr>
          <p:nvPr/>
        </p:nvGraphicFramePr>
        <p:xfrm>
          <a:off x="609600" y="2187575"/>
          <a:ext cx="6969125" cy="83026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roup 53">
            <a:extLst>
              <a:ext uri="{FF2B5EF4-FFF2-40B4-BE49-F238E27FC236}">
                <a16:creationId xmlns:a16="http://schemas.microsoft.com/office/drawing/2014/main" id="{869ADA20-7A5E-4C59-B4AE-775CC41E2EA4}"/>
              </a:ext>
            </a:extLst>
          </p:cNvPr>
          <p:cNvGrpSpPr>
            <a:grpSpLocks/>
          </p:cNvGrpSpPr>
          <p:nvPr/>
        </p:nvGrpSpPr>
        <p:grpSpPr bwMode="auto">
          <a:xfrm>
            <a:off x="873125" y="3357563"/>
            <a:ext cx="863600" cy="539750"/>
            <a:chOff x="897" y="1253"/>
            <a:chExt cx="544" cy="340"/>
          </a:xfrm>
        </p:grpSpPr>
        <p:sp>
          <p:nvSpPr>
            <p:cNvPr id="6" name="Text Box 54">
              <a:extLst>
                <a:ext uri="{FF2B5EF4-FFF2-40B4-BE49-F238E27FC236}">
                  <a16:creationId xmlns:a16="http://schemas.microsoft.com/office/drawing/2014/main" id="{8B492CA9-B77D-4C5E-B62B-ED4A4C559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low</a:t>
              </a:r>
            </a:p>
          </p:txBody>
        </p:sp>
        <p:sp>
          <p:nvSpPr>
            <p:cNvPr id="7" name="Line 55">
              <a:extLst>
                <a:ext uri="{FF2B5EF4-FFF2-40B4-BE49-F238E27FC236}">
                  <a16:creationId xmlns:a16="http://schemas.microsoft.com/office/drawing/2014/main" id="{919F0067-FCC9-4F1D-9B8E-D6AAB7719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56">
            <a:extLst>
              <a:ext uri="{FF2B5EF4-FFF2-40B4-BE49-F238E27FC236}">
                <a16:creationId xmlns:a16="http://schemas.microsoft.com/office/drawing/2014/main" id="{5BFEB2C9-6576-463E-9267-99423E8C9782}"/>
              </a:ext>
            </a:extLst>
          </p:cNvPr>
          <p:cNvGrpSpPr>
            <a:grpSpLocks/>
          </p:cNvGrpSpPr>
          <p:nvPr/>
        </p:nvGrpSpPr>
        <p:grpSpPr bwMode="auto">
          <a:xfrm>
            <a:off x="7180263" y="3357563"/>
            <a:ext cx="863600" cy="539750"/>
            <a:chOff x="897" y="1253"/>
            <a:chExt cx="544" cy="340"/>
          </a:xfrm>
        </p:grpSpPr>
        <p:sp>
          <p:nvSpPr>
            <p:cNvPr id="9" name="Text Box 57">
              <a:extLst>
                <a:ext uri="{FF2B5EF4-FFF2-40B4-BE49-F238E27FC236}">
                  <a16:creationId xmlns:a16="http://schemas.microsoft.com/office/drawing/2014/main" id="{104250F1-428A-4C45-A58E-BC9BEFBC6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high</a:t>
              </a:r>
            </a:p>
          </p:txBody>
        </p:sp>
        <p:sp>
          <p:nvSpPr>
            <p:cNvPr id="10" name="Line 58">
              <a:extLst>
                <a:ext uri="{FF2B5EF4-FFF2-40B4-BE49-F238E27FC236}">
                  <a16:creationId xmlns:a16="http://schemas.microsoft.com/office/drawing/2014/main" id="{3B5CBA4C-E11E-46A1-863A-5A86FDF0F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" name="Group 59">
            <a:extLst>
              <a:ext uri="{FF2B5EF4-FFF2-40B4-BE49-F238E27FC236}">
                <a16:creationId xmlns:a16="http://schemas.microsoft.com/office/drawing/2014/main" id="{B935134A-8755-4D84-9DD6-93BFF55A2FC7}"/>
              </a:ext>
            </a:extLst>
          </p:cNvPr>
          <p:cNvGrpSpPr>
            <a:grpSpLocks/>
          </p:cNvGrpSpPr>
          <p:nvPr/>
        </p:nvGrpSpPr>
        <p:grpSpPr bwMode="auto">
          <a:xfrm>
            <a:off x="4005263" y="3357563"/>
            <a:ext cx="863600" cy="539750"/>
            <a:chOff x="897" y="1253"/>
            <a:chExt cx="544" cy="340"/>
          </a:xfrm>
        </p:grpSpPr>
        <p:sp>
          <p:nvSpPr>
            <p:cNvPr id="12" name="Text Box 60">
              <a:extLst>
                <a:ext uri="{FF2B5EF4-FFF2-40B4-BE49-F238E27FC236}">
                  <a16:creationId xmlns:a16="http://schemas.microsoft.com/office/drawing/2014/main" id="{A1881199-349C-4381-8941-1399F4FFA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13" name="Line 61">
              <a:extLst>
                <a:ext uri="{FF2B5EF4-FFF2-40B4-BE49-F238E27FC236}">
                  <a16:creationId xmlns:a16="http://schemas.microsoft.com/office/drawing/2014/main" id="{560EC37D-40C3-44AF-9409-CFDF083DF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" name="Group 62">
            <a:extLst>
              <a:ext uri="{FF2B5EF4-FFF2-40B4-BE49-F238E27FC236}">
                <a16:creationId xmlns:a16="http://schemas.microsoft.com/office/drawing/2014/main" id="{876818F1-C247-4789-9D3B-08FD523AAC5B}"/>
              </a:ext>
            </a:extLst>
          </p:cNvPr>
          <p:cNvGrpSpPr>
            <a:grpSpLocks/>
          </p:cNvGrpSpPr>
          <p:nvPr/>
        </p:nvGrpSpPr>
        <p:grpSpPr bwMode="auto">
          <a:xfrm>
            <a:off x="3355975" y="3357563"/>
            <a:ext cx="863600" cy="539750"/>
            <a:chOff x="897" y="1253"/>
            <a:chExt cx="544" cy="340"/>
          </a:xfrm>
        </p:grpSpPr>
        <p:sp>
          <p:nvSpPr>
            <p:cNvPr id="15" name="Text Box 63">
              <a:extLst>
                <a:ext uri="{FF2B5EF4-FFF2-40B4-BE49-F238E27FC236}">
                  <a16:creationId xmlns:a16="http://schemas.microsoft.com/office/drawing/2014/main" id="{712356BE-60AB-4904-BFD7-3B0FC4DC8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high</a:t>
              </a:r>
            </a:p>
          </p:txBody>
        </p:sp>
        <p:sp>
          <p:nvSpPr>
            <p:cNvPr id="16" name="Line 64">
              <a:extLst>
                <a:ext uri="{FF2B5EF4-FFF2-40B4-BE49-F238E27FC236}">
                  <a16:creationId xmlns:a16="http://schemas.microsoft.com/office/drawing/2014/main" id="{36C6CF8F-8E0A-43EA-A46D-67D729C886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80DB6F31-F5BF-4CD4-AECA-67E5916F4593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3357563"/>
            <a:ext cx="863600" cy="539750"/>
            <a:chOff x="897" y="1253"/>
            <a:chExt cx="544" cy="340"/>
          </a:xfrm>
        </p:grpSpPr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05DA0BCA-BF77-4658-AF17-987D1DD3F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19" name="Line 67">
              <a:extLst>
                <a:ext uri="{FF2B5EF4-FFF2-40B4-BE49-F238E27FC236}">
                  <a16:creationId xmlns:a16="http://schemas.microsoft.com/office/drawing/2014/main" id="{CBD6C230-C80B-486D-AA21-9BB6FF7E2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" name="Group 68">
            <a:extLst>
              <a:ext uri="{FF2B5EF4-FFF2-40B4-BE49-F238E27FC236}">
                <a16:creationId xmlns:a16="http://schemas.microsoft.com/office/drawing/2014/main" id="{CAC4288D-20FF-4A4C-B2C5-8E2B1907CC95}"/>
              </a:ext>
            </a:extLst>
          </p:cNvPr>
          <p:cNvGrpSpPr>
            <a:grpSpLocks/>
          </p:cNvGrpSpPr>
          <p:nvPr/>
        </p:nvGrpSpPr>
        <p:grpSpPr bwMode="auto">
          <a:xfrm>
            <a:off x="2746375" y="3357563"/>
            <a:ext cx="863600" cy="539750"/>
            <a:chOff x="897" y="1253"/>
            <a:chExt cx="544" cy="340"/>
          </a:xfrm>
        </p:grpSpPr>
        <p:sp>
          <p:nvSpPr>
            <p:cNvPr id="21" name="Text Box 69">
              <a:extLst>
                <a:ext uri="{FF2B5EF4-FFF2-40B4-BE49-F238E27FC236}">
                  <a16:creationId xmlns:a16="http://schemas.microsoft.com/office/drawing/2014/main" id="{EA84DC04-12D2-4BA1-B47A-602F4C668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low</a:t>
              </a:r>
            </a:p>
          </p:txBody>
        </p:sp>
        <p:sp>
          <p:nvSpPr>
            <p:cNvPr id="22" name="Line 70">
              <a:extLst>
                <a:ext uri="{FF2B5EF4-FFF2-40B4-BE49-F238E27FC236}">
                  <a16:creationId xmlns:a16="http://schemas.microsoft.com/office/drawing/2014/main" id="{7EDC8B28-A1DE-4B69-A581-23210F783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71">
            <a:extLst>
              <a:ext uri="{FF2B5EF4-FFF2-40B4-BE49-F238E27FC236}">
                <a16:creationId xmlns:a16="http://schemas.microsoft.com/office/drawing/2014/main" id="{A9899381-2E80-495F-B66D-51498A51FBC5}"/>
              </a:ext>
            </a:extLst>
          </p:cNvPr>
          <p:cNvGrpSpPr>
            <a:grpSpLocks/>
          </p:cNvGrpSpPr>
          <p:nvPr/>
        </p:nvGrpSpPr>
        <p:grpSpPr bwMode="auto">
          <a:xfrm>
            <a:off x="2746375" y="3970338"/>
            <a:ext cx="863600" cy="539750"/>
            <a:chOff x="897" y="1253"/>
            <a:chExt cx="544" cy="340"/>
          </a:xfrm>
        </p:grpSpPr>
        <p:sp>
          <p:nvSpPr>
            <p:cNvPr id="24" name="Text Box 72">
              <a:extLst>
                <a:ext uri="{FF2B5EF4-FFF2-40B4-BE49-F238E27FC236}">
                  <a16:creationId xmlns:a16="http://schemas.microsoft.com/office/drawing/2014/main" id="{6B83E995-1F22-4580-9B4E-E35743333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25" name="Line 73">
              <a:extLst>
                <a:ext uri="{FF2B5EF4-FFF2-40B4-BE49-F238E27FC236}">
                  <a16:creationId xmlns:a16="http://schemas.microsoft.com/office/drawing/2014/main" id="{A91BF054-542C-462F-A073-4C94F5800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C7C326F-4246-416F-83C8-95E1FA93AD29}"/>
              </a:ext>
            </a:extLst>
          </p:cNvPr>
          <p:cNvSpPr txBox="1"/>
          <p:nvPr/>
        </p:nvSpPr>
        <p:spPr>
          <a:xfrm>
            <a:off x="2135831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折半查找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9A599871-8021-48FF-8420-AFEF9ED2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04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506D82-C587-493A-9295-19B00BA8ADEC}"/>
              </a:ext>
            </a:extLst>
          </p:cNvPr>
          <p:cNvSpPr txBox="1">
            <a:spLocks noChangeArrowheads="1"/>
          </p:cNvSpPr>
          <p:nvPr/>
        </p:nvSpPr>
        <p:spPr>
          <a:xfrm>
            <a:off x="900113" y="1773238"/>
            <a:ext cx="3733800" cy="812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900">
                <a:latin typeface="Comic Sans MS" pitchFamily="66" charset="0"/>
              </a:rPr>
              <a:t>查找</a:t>
            </a:r>
            <a:r>
              <a:rPr lang="en-US" altLang="zh-CN" sz="3900">
                <a:latin typeface="Comic Sans MS" pitchFamily="66" charset="0"/>
              </a:rPr>
              <a:t>85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7D0BB7EB-D8AD-43A6-BC3C-F9C3B283834E}"/>
              </a:ext>
            </a:extLst>
          </p:cNvPr>
          <p:cNvGraphicFramePr>
            <a:graphicFrameLocks/>
          </p:cNvGraphicFramePr>
          <p:nvPr/>
        </p:nvGraphicFramePr>
        <p:xfrm>
          <a:off x="1087438" y="2462213"/>
          <a:ext cx="6772275" cy="911225"/>
        </p:xfrm>
        <a:graphic>
          <a:graphicData uri="http://schemas.openxmlformats.org/drawingml/2006/table">
            <a:tbl>
              <a:tblPr/>
              <a:tblGrid>
                <a:gridCol w="61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96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Group 53">
            <a:extLst>
              <a:ext uri="{FF2B5EF4-FFF2-40B4-BE49-F238E27FC236}">
                <a16:creationId xmlns:a16="http://schemas.microsoft.com/office/drawing/2014/main" id="{1A78F3FB-FF8A-4D7D-84C9-EA62B575230A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675063"/>
            <a:ext cx="863600" cy="539750"/>
            <a:chOff x="897" y="1253"/>
            <a:chExt cx="544" cy="340"/>
          </a:xfrm>
        </p:grpSpPr>
        <p:sp>
          <p:nvSpPr>
            <p:cNvPr id="6" name="Text Box 54">
              <a:extLst>
                <a:ext uri="{FF2B5EF4-FFF2-40B4-BE49-F238E27FC236}">
                  <a16:creationId xmlns:a16="http://schemas.microsoft.com/office/drawing/2014/main" id="{1B0BE5AE-3E60-4953-8454-122989C8B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low</a:t>
              </a:r>
            </a:p>
          </p:txBody>
        </p:sp>
        <p:sp>
          <p:nvSpPr>
            <p:cNvPr id="7" name="Line 55">
              <a:extLst>
                <a:ext uri="{FF2B5EF4-FFF2-40B4-BE49-F238E27FC236}">
                  <a16:creationId xmlns:a16="http://schemas.microsoft.com/office/drawing/2014/main" id="{A6AC823F-D8E4-47E1-B863-F6882A6B25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8" name="Group 56">
            <a:extLst>
              <a:ext uri="{FF2B5EF4-FFF2-40B4-BE49-F238E27FC236}">
                <a16:creationId xmlns:a16="http://schemas.microsoft.com/office/drawing/2014/main" id="{F69839B6-4962-4332-B9F6-DF59BAA81378}"/>
              </a:ext>
            </a:extLst>
          </p:cNvPr>
          <p:cNvGrpSpPr>
            <a:grpSpLocks/>
          </p:cNvGrpSpPr>
          <p:nvPr/>
        </p:nvGrpSpPr>
        <p:grpSpPr bwMode="auto">
          <a:xfrm>
            <a:off x="7499350" y="3717925"/>
            <a:ext cx="863600" cy="539750"/>
            <a:chOff x="897" y="1253"/>
            <a:chExt cx="544" cy="340"/>
          </a:xfrm>
        </p:grpSpPr>
        <p:sp>
          <p:nvSpPr>
            <p:cNvPr id="9" name="Text Box 57">
              <a:extLst>
                <a:ext uri="{FF2B5EF4-FFF2-40B4-BE49-F238E27FC236}">
                  <a16:creationId xmlns:a16="http://schemas.microsoft.com/office/drawing/2014/main" id="{A86920BA-A819-4E58-B0C0-2F0AC7C26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high</a:t>
              </a:r>
            </a:p>
          </p:txBody>
        </p:sp>
        <p:sp>
          <p:nvSpPr>
            <p:cNvPr id="10" name="Line 58">
              <a:extLst>
                <a:ext uri="{FF2B5EF4-FFF2-40B4-BE49-F238E27FC236}">
                  <a16:creationId xmlns:a16="http://schemas.microsoft.com/office/drawing/2014/main" id="{BAE6E7FE-93C0-41CF-AD85-50CB47EEA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" name="Group 59">
            <a:extLst>
              <a:ext uri="{FF2B5EF4-FFF2-40B4-BE49-F238E27FC236}">
                <a16:creationId xmlns:a16="http://schemas.microsoft.com/office/drawing/2014/main" id="{36B28927-F05B-41B3-B8D6-9CB5742CEF68}"/>
              </a:ext>
            </a:extLst>
          </p:cNvPr>
          <p:cNvGrpSpPr>
            <a:grpSpLocks/>
          </p:cNvGrpSpPr>
          <p:nvPr/>
        </p:nvGrpSpPr>
        <p:grpSpPr bwMode="auto">
          <a:xfrm>
            <a:off x="4332288" y="3717925"/>
            <a:ext cx="863600" cy="539750"/>
            <a:chOff x="897" y="1253"/>
            <a:chExt cx="544" cy="340"/>
          </a:xfrm>
        </p:grpSpPr>
        <p:sp>
          <p:nvSpPr>
            <p:cNvPr id="12" name="Text Box 60">
              <a:extLst>
                <a:ext uri="{FF2B5EF4-FFF2-40B4-BE49-F238E27FC236}">
                  <a16:creationId xmlns:a16="http://schemas.microsoft.com/office/drawing/2014/main" id="{32A4ADB4-6FE2-40DE-A085-473E4B1E4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13" name="Line 61">
              <a:extLst>
                <a:ext uri="{FF2B5EF4-FFF2-40B4-BE49-F238E27FC236}">
                  <a16:creationId xmlns:a16="http://schemas.microsoft.com/office/drawing/2014/main" id="{719938DC-6D0F-422D-9E91-0366F7C3F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4" name="Group 62">
            <a:extLst>
              <a:ext uri="{FF2B5EF4-FFF2-40B4-BE49-F238E27FC236}">
                <a16:creationId xmlns:a16="http://schemas.microsoft.com/office/drawing/2014/main" id="{65351D67-92C0-4123-B96D-5B7DC0749837}"/>
              </a:ext>
            </a:extLst>
          </p:cNvPr>
          <p:cNvGrpSpPr>
            <a:grpSpLocks/>
          </p:cNvGrpSpPr>
          <p:nvPr/>
        </p:nvGrpSpPr>
        <p:grpSpPr bwMode="auto">
          <a:xfrm>
            <a:off x="4979988" y="3717925"/>
            <a:ext cx="863600" cy="539750"/>
            <a:chOff x="897" y="1253"/>
            <a:chExt cx="544" cy="340"/>
          </a:xfrm>
        </p:grpSpPr>
        <p:sp>
          <p:nvSpPr>
            <p:cNvPr id="15" name="Text Box 63">
              <a:extLst>
                <a:ext uri="{FF2B5EF4-FFF2-40B4-BE49-F238E27FC236}">
                  <a16:creationId xmlns:a16="http://schemas.microsoft.com/office/drawing/2014/main" id="{E9EBEC5C-CBF1-4856-BA5F-ADE2B2A2D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low</a:t>
              </a:r>
            </a:p>
          </p:txBody>
        </p:sp>
        <p:sp>
          <p:nvSpPr>
            <p:cNvPr id="16" name="Line 64">
              <a:extLst>
                <a:ext uri="{FF2B5EF4-FFF2-40B4-BE49-F238E27FC236}">
                  <a16:creationId xmlns:a16="http://schemas.microsoft.com/office/drawing/2014/main" id="{4CFEF58A-AB0F-4502-9267-E57274CFB6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B75714C2-FCFA-443C-8957-91A8146EE043}"/>
              </a:ext>
            </a:extLst>
          </p:cNvPr>
          <p:cNvGrpSpPr>
            <a:grpSpLocks/>
          </p:cNvGrpSpPr>
          <p:nvPr/>
        </p:nvGrpSpPr>
        <p:grpSpPr bwMode="auto">
          <a:xfrm>
            <a:off x="6203950" y="3717925"/>
            <a:ext cx="863600" cy="539750"/>
            <a:chOff x="897" y="1253"/>
            <a:chExt cx="544" cy="340"/>
          </a:xfrm>
        </p:grpSpPr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71536CF8-07CA-4FB2-B9B1-202F78F6D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19" name="Line 67">
              <a:extLst>
                <a:ext uri="{FF2B5EF4-FFF2-40B4-BE49-F238E27FC236}">
                  <a16:creationId xmlns:a16="http://schemas.microsoft.com/office/drawing/2014/main" id="{390A4476-12AE-48CC-B9B5-34D208F54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0" name="Group 68">
            <a:extLst>
              <a:ext uri="{FF2B5EF4-FFF2-40B4-BE49-F238E27FC236}">
                <a16:creationId xmlns:a16="http://schemas.microsoft.com/office/drawing/2014/main" id="{C3E02741-5161-40E8-A633-7E5F2961EE6F}"/>
              </a:ext>
            </a:extLst>
          </p:cNvPr>
          <p:cNvGrpSpPr>
            <a:grpSpLocks/>
          </p:cNvGrpSpPr>
          <p:nvPr/>
        </p:nvGrpSpPr>
        <p:grpSpPr bwMode="auto">
          <a:xfrm>
            <a:off x="6851650" y="3717925"/>
            <a:ext cx="863600" cy="539750"/>
            <a:chOff x="897" y="1253"/>
            <a:chExt cx="544" cy="340"/>
          </a:xfrm>
        </p:grpSpPr>
        <p:sp>
          <p:nvSpPr>
            <p:cNvPr id="21" name="Text Box 69">
              <a:extLst>
                <a:ext uri="{FF2B5EF4-FFF2-40B4-BE49-F238E27FC236}">
                  <a16:creationId xmlns:a16="http://schemas.microsoft.com/office/drawing/2014/main" id="{5C14978D-C621-4B67-B391-18725117F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low</a:t>
              </a:r>
            </a:p>
          </p:txBody>
        </p:sp>
        <p:sp>
          <p:nvSpPr>
            <p:cNvPr id="22" name="Line 70">
              <a:extLst>
                <a:ext uri="{FF2B5EF4-FFF2-40B4-BE49-F238E27FC236}">
                  <a16:creationId xmlns:a16="http://schemas.microsoft.com/office/drawing/2014/main" id="{16FE5861-0CA5-434E-B547-AD96C8853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3" name="Group 71">
            <a:extLst>
              <a:ext uri="{FF2B5EF4-FFF2-40B4-BE49-F238E27FC236}">
                <a16:creationId xmlns:a16="http://schemas.microsoft.com/office/drawing/2014/main" id="{63CB5E74-E613-4960-8042-7D00914A3F85}"/>
              </a:ext>
            </a:extLst>
          </p:cNvPr>
          <p:cNvGrpSpPr>
            <a:grpSpLocks/>
          </p:cNvGrpSpPr>
          <p:nvPr/>
        </p:nvGrpSpPr>
        <p:grpSpPr bwMode="auto">
          <a:xfrm>
            <a:off x="6883400" y="4344988"/>
            <a:ext cx="863600" cy="539750"/>
            <a:chOff x="897" y="1253"/>
            <a:chExt cx="544" cy="340"/>
          </a:xfrm>
        </p:grpSpPr>
        <p:sp>
          <p:nvSpPr>
            <p:cNvPr id="24" name="Text Box 72">
              <a:extLst>
                <a:ext uri="{FF2B5EF4-FFF2-40B4-BE49-F238E27FC236}">
                  <a16:creationId xmlns:a16="http://schemas.microsoft.com/office/drawing/2014/main" id="{BF4064C0-4F38-4913-9159-53CB2199D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mid</a:t>
              </a:r>
            </a:p>
          </p:txBody>
        </p:sp>
        <p:sp>
          <p:nvSpPr>
            <p:cNvPr id="25" name="Line 73">
              <a:extLst>
                <a:ext uri="{FF2B5EF4-FFF2-40B4-BE49-F238E27FC236}">
                  <a16:creationId xmlns:a16="http://schemas.microsoft.com/office/drawing/2014/main" id="{E918BE8D-69A0-4580-87F3-AA7AF5B10C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" name="Group 74">
            <a:extLst>
              <a:ext uri="{FF2B5EF4-FFF2-40B4-BE49-F238E27FC236}">
                <a16:creationId xmlns:a16="http://schemas.microsoft.com/office/drawing/2014/main" id="{0211E441-297B-4B37-86E2-428BE4A341BB}"/>
              </a:ext>
            </a:extLst>
          </p:cNvPr>
          <p:cNvGrpSpPr>
            <a:grpSpLocks/>
          </p:cNvGrpSpPr>
          <p:nvPr/>
        </p:nvGrpSpPr>
        <p:grpSpPr bwMode="auto">
          <a:xfrm>
            <a:off x="6203950" y="3717925"/>
            <a:ext cx="863600" cy="539750"/>
            <a:chOff x="897" y="1253"/>
            <a:chExt cx="544" cy="340"/>
          </a:xfrm>
        </p:grpSpPr>
        <p:sp>
          <p:nvSpPr>
            <p:cNvPr id="27" name="Text Box 75">
              <a:extLst>
                <a:ext uri="{FF2B5EF4-FFF2-40B4-BE49-F238E27FC236}">
                  <a16:creationId xmlns:a16="http://schemas.microsoft.com/office/drawing/2014/main" id="{38AD62D7-37B5-41AC-A88D-0A1F4C079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282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Comic Sans MS" pitchFamily="66" charset="0"/>
                </a:rPr>
                <a:t>high</a:t>
              </a:r>
            </a:p>
          </p:txBody>
        </p:sp>
        <p:sp>
          <p:nvSpPr>
            <p:cNvPr id="28" name="Line 76">
              <a:extLst>
                <a:ext uri="{FF2B5EF4-FFF2-40B4-BE49-F238E27FC236}">
                  <a16:creationId xmlns:a16="http://schemas.microsoft.com/office/drawing/2014/main" id="{20754FD0-73BD-4E70-9AA8-80F629671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253"/>
              <a:ext cx="0" cy="340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CA241F12-1C44-4730-9EDE-50F48C36CC09}"/>
              </a:ext>
            </a:extLst>
          </p:cNvPr>
          <p:cNvSpPr txBox="1"/>
          <p:nvPr/>
        </p:nvSpPr>
        <p:spPr>
          <a:xfrm>
            <a:off x="2135831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折半查找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3E335CC2-4757-4EB3-B5B4-CF566D6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0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35829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排序问题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B06DBC-0D82-4D4B-A8E4-C1EE5291B5A1}"/>
              </a:ext>
            </a:extLst>
          </p:cNvPr>
          <p:cNvSpPr/>
          <p:nvPr/>
        </p:nvSpPr>
        <p:spPr>
          <a:xfrm>
            <a:off x="0" y="778996"/>
            <a:ext cx="121584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隶书" pitchFamily="49" charset="-122"/>
              </a:rPr>
              <a:t>方法一：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比较交换法排序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升序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)</a:t>
            </a:r>
            <a:endParaRPr lang="zh-CN" altLang="en-US" sz="2800" b="1" dirty="0">
              <a:latin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D98B1C-E9BC-49AB-A88F-3E463F753CB5}"/>
              </a:ext>
            </a:extLst>
          </p:cNvPr>
          <p:cNvSpPr/>
          <p:nvPr/>
        </p:nvSpPr>
        <p:spPr>
          <a:xfrm>
            <a:off x="379701" y="1381645"/>
            <a:ext cx="1144549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将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依次与其后面的每一个元素进行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比较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，若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大于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后面元素，则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它们。</a:t>
            </a:r>
            <a:endParaRPr lang="en-US" altLang="zh-CN" sz="28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通过此轮比较交换，最小的元素被交换到了数组的第</a:t>
            </a:r>
            <a:r>
              <a:rPr lang="en-US" altLang="zh-CN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个元素。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将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依次与其后面的每一个元素进行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比较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，若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大于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后面元素，则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它们。</a:t>
            </a:r>
            <a:endParaRPr lang="en-US" altLang="zh-CN" sz="28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800" dirty="0"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lang="zh-CN" altLang="en-US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通过此轮比较交换，次小的元素被交换到了数组的第</a:t>
            </a:r>
            <a:r>
              <a:rPr lang="en-US" altLang="zh-CN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solidFill>
                  <a:schemeClr val="bg2">
                    <a:lumMod val="9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个元素。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以此类推，直到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最后两个元素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完成比较交换。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27E6CF-38BD-4B5E-90F1-520D1A48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590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1DA228-64C9-442A-94DC-F22BE544D699}"/>
              </a:ext>
            </a:extLst>
          </p:cNvPr>
          <p:cNvSpPr txBox="1"/>
          <p:nvPr/>
        </p:nvSpPr>
        <p:spPr>
          <a:xfrm>
            <a:off x="2135831" y="-56831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比较交换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9D11FFE9-6A63-4B1A-A0B4-F75DFE891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18137"/>
              </p:ext>
            </p:extLst>
          </p:nvPr>
        </p:nvGraphicFramePr>
        <p:xfrm>
          <a:off x="477838" y="1317624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AE94815D-C76F-4F83-B8B4-CBDCB9C654ED}"/>
              </a:ext>
            </a:extLst>
          </p:cNvPr>
          <p:cNvSpPr/>
          <p:nvPr/>
        </p:nvSpPr>
        <p:spPr>
          <a:xfrm>
            <a:off x="949891" y="2517774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D927F0-668E-43B7-AB30-C9F83C0C4538}"/>
              </a:ext>
            </a:extLst>
          </p:cNvPr>
          <p:cNvSpPr/>
          <p:nvPr/>
        </p:nvSpPr>
        <p:spPr>
          <a:xfrm>
            <a:off x="748332" y="3067187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[0]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4FE7BE-7A26-42F4-AAAC-6825B5D6E9C4}"/>
              </a:ext>
            </a:extLst>
          </p:cNvPr>
          <p:cNvSpPr/>
          <p:nvPr/>
        </p:nvSpPr>
        <p:spPr>
          <a:xfrm>
            <a:off x="1739530" y="295568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9AA9B6C7-50FD-4A15-9ACF-D05BBB60DEF2}"/>
              </a:ext>
            </a:extLst>
          </p:cNvPr>
          <p:cNvSpPr/>
          <p:nvPr/>
        </p:nvSpPr>
        <p:spPr bwMode="auto">
          <a:xfrm>
            <a:off x="1618142" y="861067"/>
            <a:ext cx="159185" cy="396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PA-下箭头 16">
            <a:extLst>
              <a:ext uri="{FF2B5EF4-FFF2-40B4-BE49-F238E27FC236}">
                <a16:creationId xmlns:a16="http://schemas.microsoft.com/office/drawing/2014/main" id="{F3DD15F8-61D2-41BD-B4FA-4ED822B9A6D2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576928" y="84836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32CF0DF-ADFD-468B-BD49-9763EAABB58E}"/>
              </a:ext>
            </a:extLst>
          </p:cNvPr>
          <p:cNvSpPr txBox="1"/>
          <p:nvPr/>
        </p:nvSpPr>
        <p:spPr>
          <a:xfrm>
            <a:off x="2449928" y="1423208"/>
            <a:ext cx="5143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F89E23-1C49-4001-82BA-98DDB9346C72}"/>
              </a:ext>
            </a:extLst>
          </p:cNvPr>
          <p:cNvSpPr txBox="1"/>
          <p:nvPr/>
        </p:nvSpPr>
        <p:spPr>
          <a:xfrm flipH="1">
            <a:off x="1571623" y="1423208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6DDCAE-155E-4335-8545-EB69989AF153}"/>
              </a:ext>
            </a:extLst>
          </p:cNvPr>
          <p:cNvSpPr/>
          <p:nvPr/>
        </p:nvSpPr>
        <p:spPr>
          <a:xfrm>
            <a:off x="1739530" y="334938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6A004E-C8E2-4BC2-ACF5-E6E62618240C}"/>
              </a:ext>
            </a:extLst>
          </p:cNvPr>
          <p:cNvSpPr txBox="1"/>
          <p:nvPr/>
        </p:nvSpPr>
        <p:spPr>
          <a:xfrm flipH="1">
            <a:off x="1571622" y="143129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8AB722-208B-4CA6-AB9A-A86986FBB197}"/>
              </a:ext>
            </a:extLst>
          </p:cNvPr>
          <p:cNvSpPr txBox="1"/>
          <p:nvPr/>
        </p:nvSpPr>
        <p:spPr>
          <a:xfrm flipH="1">
            <a:off x="3481370" y="1426657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533E24-BFDA-432C-BD62-05F98CE39621}"/>
              </a:ext>
            </a:extLst>
          </p:cNvPr>
          <p:cNvSpPr/>
          <p:nvPr/>
        </p:nvSpPr>
        <p:spPr>
          <a:xfrm>
            <a:off x="1743340" y="375324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89A8BBE-61B8-4A8B-A738-2785FF226D46}"/>
              </a:ext>
            </a:extLst>
          </p:cNvPr>
          <p:cNvSpPr/>
          <p:nvPr/>
        </p:nvSpPr>
        <p:spPr>
          <a:xfrm>
            <a:off x="1754770" y="415329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9C00474-AC8F-47DB-BE67-3A119CEDE7C6}"/>
              </a:ext>
            </a:extLst>
          </p:cNvPr>
          <p:cNvSpPr/>
          <p:nvPr/>
        </p:nvSpPr>
        <p:spPr>
          <a:xfrm>
            <a:off x="1770010" y="455715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AF3D7B-8387-4B35-B615-ED2740DDDE78}"/>
              </a:ext>
            </a:extLst>
          </p:cNvPr>
          <p:cNvSpPr/>
          <p:nvPr/>
        </p:nvSpPr>
        <p:spPr>
          <a:xfrm>
            <a:off x="1770010" y="493434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45FDFC7-FC93-4201-93F8-AF59661053FA}"/>
              </a:ext>
            </a:extLst>
          </p:cNvPr>
          <p:cNvSpPr/>
          <p:nvPr/>
        </p:nvSpPr>
        <p:spPr>
          <a:xfrm>
            <a:off x="1777630" y="531915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17DBD8-3D9D-476D-95BB-496B8565DDD3}"/>
              </a:ext>
            </a:extLst>
          </p:cNvPr>
          <p:cNvSpPr txBox="1"/>
          <p:nvPr/>
        </p:nvSpPr>
        <p:spPr>
          <a:xfrm flipH="1">
            <a:off x="1561463" y="143658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B20D54A-E38E-4E3C-B704-76E3D946C8EE}"/>
              </a:ext>
            </a:extLst>
          </p:cNvPr>
          <p:cNvSpPr txBox="1"/>
          <p:nvPr/>
        </p:nvSpPr>
        <p:spPr>
          <a:xfrm flipH="1">
            <a:off x="8170379" y="1423208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9D27FA-235F-46CE-955A-6E75D97A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657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00047 L 0.07956 -0.0007 " pathEditMode="relative" rAng="0" ptsTypes="AA">
                                      <p:cBhvr from="" to="">
                                        <p:cTn id="3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56 -0.0007 L 0.16159 -0.00116 " pathEditMode="relative" rAng="0" ptsTypes="AA">
                                      <p:cBhvr from="" to="">
                                        <p:cTn id="5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59 -0.00116 L 0.23711 -0.00116 " pathEditMode="relative" rAng="0" ptsTypes="AA">
                                      <p:cBhvr from="" to="">
                                        <p:cTn id="6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11 -0.00116 L 0.31575 -0.00116 " pathEditMode="relative" rAng="0" ptsTypes="AA">
                                      <p:cBhvr from="" to="">
                                        <p:cTn id="7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entr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575 -0.00116 L 0.39466 -0.0007 " pathEditMode="relative" rAng="0" ptsTypes="AA">
                                      <p:cBhvr from="" to=""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0" presetClass="entr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466 -0.0007 L 0.46497 0.00092 " pathEditMode="relative" rAng="0" ptsTypes="AA">
                                      <p:cBhvr from="" to="">
                                        <p:cTn id="9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 animBg="1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C14496-9B9D-42FB-9DE6-B9CF009B755B}"/>
              </a:ext>
            </a:extLst>
          </p:cNvPr>
          <p:cNvGraphicFramePr>
            <a:graphicFrameLocks noGrp="1"/>
          </p:cNvGraphicFramePr>
          <p:nvPr/>
        </p:nvGraphicFramePr>
        <p:xfrm>
          <a:off x="477838" y="1317625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136E76A-B9A0-4F3D-AF06-83DAD72DEBA8}"/>
              </a:ext>
            </a:extLst>
          </p:cNvPr>
          <p:cNvSpPr/>
          <p:nvPr/>
        </p:nvSpPr>
        <p:spPr>
          <a:xfrm>
            <a:off x="949891" y="251777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D2B0EA-97C2-406C-9C3D-A7DD1DDF590F}"/>
              </a:ext>
            </a:extLst>
          </p:cNvPr>
          <p:cNvSpPr/>
          <p:nvPr/>
        </p:nvSpPr>
        <p:spPr>
          <a:xfrm>
            <a:off x="748332" y="3067188"/>
            <a:ext cx="684803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</a:t>
            </a:r>
            <a:r>
              <a:rPr lang="en-US" altLang="zh-CN" b="1" kern="100" dirty="0">
                <a:solidFill>
                  <a:srgbClr val="FF0066"/>
                </a:solidFill>
              </a:rPr>
              <a:t>[0]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6193CC-C785-4BDD-BC81-71C6DF5524B6}"/>
              </a:ext>
            </a:extLst>
          </p:cNvPr>
          <p:cNvSpPr/>
          <p:nvPr/>
        </p:nvSpPr>
        <p:spPr>
          <a:xfrm>
            <a:off x="1739530" y="29556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D69E1598-B9B7-44AE-A37A-EB7B930BD800}"/>
              </a:ext>
            </a:extLst>
          </p:cNvPr>
          <p:cNvSpPr/>
          <p:nvPr/>
        </p:nvSpPr>
        <p:spPr bwMode="auto">
          <a:xfrm>
            <a:off x="2552201" y="859930"/>
            <a:ext cx="159185" cy="396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PA-下箭头 16">
            <a:extLst>
              <a:ext uri="{FF2B5EF4-FFF2-40B4-BE49-F238E27FC236}">
                <a16:creationId xmlns:a16="http://schemas.microsoft.com/office/drawing/2014/main" id="{3DC14D7F-0F86-43B3-A1C9-09DACEF48F86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3475118" y="861068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897F98-64AC-4A3E-8F31-4CBC06233F23}"/>
              </a:ext>
            </a:extLst>
          </p:cNvPr>
          <p:cNvSpPr txBox="1"/>
          <p:nvPr/>
        </p:nvSpPr>
        <p:spPr>
          <a:xfrm flipH="1">
            <a:off x="3407609" y="1445118"/>
            <a:ext cx="4533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DEE1AF-E587-4DEF-8B9C-62EEBE4E014C}"/>
              </a:ext>
            </a:extLst>
          </p:cNvPr>
          <p:cNvSpPr/>
          <p:nvPr/>
        </p:nvSpPr>
        <p:spPr>
          <a:xfrm>
            <a:off x="1739530" y="33493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AB21E3-9D74-48B3-91D9-2CAFF21DE646}"/>
              </a:ext>
            </a:extLst>
          </p:cNvPr>
          <p:cNvSpPr txBox="1"/>
          <p:nvPr/>
        </p:nvSpPr>
        <p:spPr>
          <a:xfrm flipH="1">
            <a:off x="5384031" y="1434320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CE2A99-76BE-4DE7-B958-A8FC7716BCAA}"/>
              </a:ext>
            </a:extLst>
          </p:cNvPr>
          <p:cNvSpPr/>
          <p:nvPr/>
        </p:nvSpPr>
        <p:spPr>
          <a:xfrm>
            <a:off x="1743340" y="37532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F980C-61B8-4C55-921B-2B652B009E34}"/>
              </a:ext>
            </a:extLst>
          </p:cNvPr>
          <p:cNvSpPr/>
          <p:nvPr/>
        </p:nvSpPr>
        <p:spPr>
          <a:xfrm>
            <a:off x="1754770" y="41532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69E212-DE18-4476-9CFC-1B6C21E93C5E}"/>
              </a:ext>
            </a:extLst>
          </p:cNvPr>
          <p:cNvSpPr/>
          <p:nvPr/>
        </p:nvSpPr>
        <p:spPr>
          <a:xfrm>
            <a:off x="1770010" y="4557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DD259D-0406-454F-B7EA-9FD535617BC2}"/>
              </a:ext>
            </a:extLst>
          </p:cNvPr>
          <p:cNvSpPr/>
          <p:nvPr/>
        </p:nvSpPr>
        <p:spPr>
          <a:xfrm>
            <a:off x="1770010" y="49343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EDBED9-C3B1-443F-91EE-D6E7D5AC5B74}"/>
              </a:ext>
            </a:extLst>
          </p:cNvPr>
          <p:cNvSpPr/>
          <p:nvPr/>
        </p:nvSpPr>
        <p:spPr>
          <a:xfrm>
            <a:off x="1777630" y="5319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09F07C-8244-4AFC-B270-9068D4A21DA4}"/>
              </a:ext>
            </a:extLst>
          </p:cNvPr>
          <p:cNvSpPr txBox="1"/>
          <p:nvPr/>
        </p:nvSpPr>
        <p:spPr>
          <a:xfrm flipH="1">
            <a:off x="2586574" y="1434320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CD4224-FDA1-4FE5-B097-4108537FCE0F}"/>
              </a:ext>
            </a:extLst>
          </p:cNvPr>
          <p:cNvSpPr/>
          <p:nvPr/>
        </p:nvSpPr>
        <p:spPr>
          <a:xfrm>
            <a:off x="2779881" y="249394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04347B-3542-4922-B187-5F13E441BF5F}"/>
              </a:ext>
            </a:extLst>
          </p:cNvPr>
          <p:cNvSpPr/>
          <p:nvPr/>
        </p:nvSpPr>
        <p:spPr>
          <a:xfrm>
            <a:off x="2695242" y="304813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[1]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A3988F1-A917-4CA5-95C2-6C6A2ADE6394}"/>
              </a:ext>
            </a:extLst>
          </p:cNvPr>
          <p:cNvSpPr/>
          <p:nvPr/>
        </p:nvSpPr>
        <p:spPr>
          <a:xfrm>
            <a:off x="3686440" y="29366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26EE3A-FCA0-4C02-872B-21F2AB53C508}"/>
              </a:ext>
            </a:extLst>
          </p:cNvPr>
          <p:cNvSpPr/>
          <p:nvPr/>
        </p:nvSpPr>
        <p:spPr>
          <a:xfrm>
            <a:off x="3701680" y="332906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94A720-9648-43F7-BEB3-930A41D447C6}"/>
              </a:ext>
            </a:extLst>
          </p:cNvPr>
          <p:cNvSpPr/>
          <p:nvPr/>
        </p:nvSpPr>
        <p:spPr>
          <a:xfrm>
            <a:off x="3701680" y="372929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6B8FC7-4F04-46F9-A024-D2FF46C75EBA}"/>
              </a:ext>
            </a:extLst>
          </p:cNvPr>
          <p:cNvSpPr/>
          <p:nvPr/>
        </p:nvSpPr>
        <p:spPr>
          <a:xfrm>
            <a:off x="3716421" y="41295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B75331-31DC-4456-8EE4-3FA0D0CEB8AD}"/>
              </a:ext>
            </a:extLst>
          </p:cNvPr>
          <p:cNvSpPr/>
          <p:nvPr/>
        </p:nvSpPr>
        <p:spPr>
          <a:xfrm>
            <a:off x="3701680" y="4553528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24BCA3-4C9E-4436-82DF-A46EF19AA5C8}"/>
              </a:ext>
            </a:extLst>
          </p:cNvPr>
          <p:cNvSpPr/>
          <p:nvPr/>
        </p:nvSpPr>
        <p:spPr>
          <a:xfrm>
            <a:off x="3716420" y="4977529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C7A631-A52D-484B-94A2-0F1DFBF9AD04}"/>
              </a:ext>
            </a:extLst>
          </p:cNvPr>
          <p:cNvSpPr txBox="1"/>
          <p:nvPr/>
        </p:nvSpPr>
        <p:spPr>
          <a:xfrm rot="10800000" flipH="1" flipV="1">
            <a:off x="2563329" y="1434320"/>
            <a:ext cx="2961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478EA1-F7EC-4228-B812-D209223D0EFD}"/>
              </a:ext>
            </a:extLst>
          </p:cNvPr>
          <p:cNvSpPr txBox="1"/>
          <p:nvPr/>
        </p:nvSpPr>
        <p:spPr>
          <a:xfrm flipH="1">
            <a:off x="8182957" y="1424668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01EA7F-22B0-4D2D-8EF6-499A45C53D16}"/>
              </a:ext>
            </a:extLst>
          </p:cNvPr>
          <p:cNvSpPr txBox="1"/>
          <p:nvPr/>
        </p:nvSpPr>
        <p:spPr>
          <a:xfrm flipH="1">
            <a:off x="2499688" y="1438801"/>
            <a:ext cx="4451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DD1682-7C8B-4C97-91F3-5FAF2A46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8AF704-D1AA-44AE-9F5E-90934EEADBED}"/>
              </a:ext>
            </a:extLst>
          </p:cNvPr>
          <p:cNvSpPr txBox="1"/>
          <p:nvPr/>
        </p:nvSpPr>
        <p:spPr>
          <a:xfrm>
            <a:off x="2135831" y="-56831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比较交换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135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08672 0.00139 " pathEditMode="relative" rAng="0" ptsTypes="AA">
                                      <p:cBhvr from="" to="">
                                        <p:cTn id="3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72 0.00139 L 0.16159 0.00139 " pathEditMode="relative" rAng="0" ptsTypes="AA">
                                      <p:cBhvr from="" to="">
                                        <p:cTn id="4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159 0.00139 L 0.24192 0.00046 " pathEditMode="relative" rAng="0" ptsTypes="AA">
                                      <p:cBhvr from="" to="">
                                        <p:cTn id="6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92 0.00046 L 0.31927 0.00115 " pathEditMode="relative" rAng="0" ptsTypes="AA">
                                      <p:cBhvr from="" to="">
                                        <p:cTn id="7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entr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927 0.00116 L 0.39166 0.00046 " pathEditMode="relative" rAng="0" ptsTypes="AA">
                                      <p:cBhvr from="" to="">
                                        <p:cTn id="8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10" grpId="0" animBg="1"/>
      <p:bldP spid="12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F068A53-BF77-431C-ACCE-77D3C46EBA93}"/>
              </a:ext>
            </a:extLst>
          </p:cNvPr>
          <p:cNvGraphicFramePr>
            <a:graphicFrameLocks noGrp="1"/>
          </p:cNvGraphicFramePr>
          <p:nvPr/>
        </p:nvGraphicFramePr>
        <p:xfrm>
          <a:off x="477838" y="1317625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itchFamily="34" charset="0"/>
                      </a:pP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 8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C79671C-16C1-4105-9046-22B458378B4B}"/>
              </a:ext>
            </a:extLst>
          </p:cNvPr>
          <p:cNvSpPr/>
          <p:nvPr/>
        </p:nvSpPr>
        <p:spPr>
          <a:xfrm>
            <a:off x="949891" y="251777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0DE9DC-4CED-4A08-AC12-97082547E640}"/>
              </a:ext>
            </a:extLst>
          </p:cNvPr>
          <p:cNvSpPr/>
          <p:nvPr/>
        </p:nvSpPr>
        <p:spPr>
          <a:xfrm>
            <a:off x="748332" y="3067188"/>
            <a:ext cx="684803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</a:t>
            </a:r>
            <a:r>
              <a:rPr lang="en-US" altLang="zh-CN" b="1" kern="100" dirty="0">
                <a:solidFill>
                  <a:srgbClr val="FF0066"/>
                </a:solidFill>
              </a:rPr>
              <a:t>[0]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705573-46A1-4B12-B5EC-40CEC4A4A837}"/>
              </a:ext>
            </a:extLst>
          </p:cNvPr>
          <p:cNvSpPr/>
          <p:nvPr/>
        </p:nvSpPr>
        <p:spPr>
          <a:xfrm>
            <a:off x="1739530" y="29556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546E84B9-CEA0-469C-ACD7-029833FE66EF}"/>
              </a:ext>
            </a:extLst>
          </p:cNvPr>
          <p:cNvSpPr/>
          <p:nvPr/>
        </p:nvSpPr>
        <p:spPr bwMode="auto">
          <a:xfrm>
            <a:off x="3557235" y="861068"/>
            <a:ext cx="159185" cy="396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PA-下箭头 16">
            <a:extLst>
              <a:ext uri="{FF2B5EF4-FFF2-40B4-BE49-F238E27FC236}">
                <a16:creationId xmlns:a16="http://schemas.microsoft.com/office/drawing/2014/main" id="{7903A897-235C-4E0E-A52B-2CA5FBA816C9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4480958" y="861068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25D4F-1646-424D-A934-B7D732917F19}"/>
              </a:ext>
            </a:extLst>
          </p:cNvPr>
          <p:cNvSpPr txBox="1"/>
          <p:nvPr/>
        </p:nvSpPr>
        <p:spPr>
          <a:xfrm flipH="1">
            <a:off x="4333856" y="1441697"/>
            <a:ext cx="45338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5DD4D2-05E4-490E-8F80-9821B9CD6A04}"/>
              </a:ext>
            </a:extLst>
          </p:cNvPr>
          <p:cNvSpPr/>
          <p:nvPr/>
        </p:nvSpPr>
        <p:spPr>
          <a:xfrm>
            <a:off x="1739530" y="33493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994BD1-9059-4C5A-BE1D-B5DE88EAF116}"/>
              </a:ext>
            </a:extLst>
          </p:cNvPr>
          <p:cNvSpPr/>
          <p:nvPr/>
        </p:nvSpPr>
        <p:spPr>
          <a:xfrm>
            <a:off x="1743340" y="37532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E3BBB1-E696-452C-B14B-17ECFCAD3C82}"/>
              </a:ext>
            </a:extLst>
          </p:cNvPr>
          <p:cNvSpPr/>
          <p:nvPr/>
        </p:nvSpPr>
        <p:spPr>
          <a:xfrm>
            <a:off x="1754770" y="41532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9CE822-E44E-44CD-AB0D-3650E37790A7}"/>
              </a:ext>
            </a:extLst>
          </p:cNvPr>
          <p:cNvSpPr/>
          <p:nvPr/>
        </p:nvSpPr>
        <p:spPr>
          <a:xfrm>
            <a:off x="1770010" y="4557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8C5914-6C7C-40F3-AFDD-71ED8DA1BB49}"/>
              </a:ext>
            </a:extLst>
          </p:cNvPr>
          <p:cNvSpPr/>
          <p:nvPr/>
        </p:nvSpPr>
        <p:spPr>
          <a:xfrm>
            <a:off x="1770010" y="49343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AABDCF-36BD-4BFD-9217-ABFBA82ADC14}"/>
              </a:ext>
            </a:extLst>
          </p:cNvPr>
          <p:cNvSpPr/>
          <p:nvPr/>
        </p:nvSpPr>
        <p:spPr>
          <a:xfrm>
            <a:off x="1777630" y="5319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17EF5F-F82E-4A32-A5FF-FF3FE03E678C}"/>
              </a:ext>
            </a:extLst>
          </p:cNvPr>
          <p:cNvSpPr txBox="1"/>
          <p:nvPr/>
        </p:nvSpPr>
        <p:spPr>
          <a:xfrm flipH="1">
            <a:off x="3349050" y="1435271"/>
            <a:ext cx="44516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FA1D31-46D5-490C-A7E5-870A5D82B94C}"/>
              </a:ext>
            </a:extLst>
          </p:cNvPr>
          <p:cNvSpPr/>
          <p:nvPr/>
        </p:nvSpPr>
        <p:spPr>
          <a:xfrm>
            <a:off x="2779881" y="249394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58532A-7801-4657-B576-F84F04A97B48}"/>
              </a:ext>
            </a:extLst>
          </p:cNvPr>
          <p:cNvSpPr/>
          <p:nvPr/>
        </p:nvSpPr>
        <p:spPr>
          <a:xfrm>
            <a:off x="2695242" y="304813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[1]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FE70A2-AC75-4440-AF90-A78EB67E60F0}"/>
              </a:ext>
            </a:extLst>
          </p:cNvPr>
          <p:cNvSpPr/>
          <p:nvPr/>
        </p:nvSpPr>
        <p:spPr>
          <a:xfrm>
            <a:off x="3686440" y="29366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F149F2-5B1B-4107-B3BE-993E02D51838}"/>
              </a:ext>
            </a:extLst>
          </p:cNvPr>
          <p:cNvSpPr/>
          <p:nvPr/>
        </p:nvSpPr>
        <p:spPr>
          <a:xfrm>
            <a:off x="3701680" y="332906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E01E58-05B9-4775-B247-F6AFD0D98C44}"/>
              </a:ext>
            </a:extLst>
          </p:cNvPr>
          <p:cNvSpPr/>
          <p:nvPr/>
        </p:nvSpPr>
        <p:spPr>
          <a:xfrm>
            <a:off x="3701680" y="372929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5C6D63-1DFD-4E28-9201-B0F63063AD42}"/>
              </a:ext>
            </a:extLst>
          </p:cNvPr>
          <p:cNvSpPr/>
          <p:nvPr/>
        </p:nvSpPr>
        <p:spPr>
          <a:xfrm>
            <a:off x="3716421" y="41295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309693-100C-4B49-8150-18907276E17E}"/>
              </a:ext>
            </a:extLst>
          </p:cNvPr>
          <p:cNvSpPr/>
          <p:nvPr/>
        </p:nvSpPr>
        <p:spPr>
          <a:xfrm>
            <a:off x="3701680" y="4553528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670F2B-6C8A-4BB2-8715-E70FDDDA617E}"/>
              </a:ext>
            </a:extLst>
          </p:cNvPr>
          <p:cNvSpPr/>
          <p:nvPr/>
        </p:nvSpPr>
        <p:spPr>
          <a:xfrm>
            <a:off x="3716420" y="4977529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C323245-95FD-4B21-BC69-D3E5695EED49}"/>
              </a:ext>
            </a:extLst>
          </p:cNvPr>
          <p:cNvSpPr txBox="1"/>
          <p:nvPr/>
        </p:nvSpPr>
        <p:spPr>
          <a:xfrm rot="10800000" flipH="1" flipV="1">
            <a:off x="5234275" y="1415814"/>
            <a:ext cx="4451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7C180E8-2490-45B7-82E7-894A30E2C75D}"/>
              </a:ext>
            </a:extLst>
          </p:cNvPr>
          <p:cNvSpPr txBox="1"/>
          <p:nvPr/>
        </p:nvSpPr>
        <p:spPr>
          <a:xfrm flipH="1">
            <a:off x="8220991" y="1441697"/>
            <a:ext cx="4451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7FB81E-8F92-425A-BA67-DE836970787B}"/>
              </a:ext>
            </a:extLst>
          </p:cNvPr>
          <p:cNvSpPr/>
          <p:nvPr/>
        </p:nvSpPr>
        <p:spPr>
          <a:xfrm>
            <a:off x="4808392" y="249394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三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D582B9-579E-49C2-8A04-8FD6FE617EA4}"/>
              </a:ext>
            </a:extLst>
          </p:cNvPr>
          <p:cNvSpPr/>
          <p:nvPr/>
        </p:nvSpPr>
        <p:spPr>
          <a:xfrm>
            <a:off x="4636570" y="3022700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[2]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670D0F-03CD-4414-93BE-CF66EAE583A4}"/>
              </a:ext>
            </a:extLst>
          </p:cNvPr>
          <p:cNvSpPr/>
          <p:nvPr/>
        </p:nvSpPr>
        <p:spPr>
          <a:xfrm>
            <a:off x="5633350" y="290325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D0531E-2327-4A05-A6D5-EE48C2CFC105}"/>
              </a:ext>
            </a:extLst>
          </p:cNvPr>
          <p:cNvSpPr/>
          <p:nvPr/>
        </p:nvSpPr>
        <p:spPr>
          <a:xfrm>
            <a:off x="5629540" y="331256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203775-2622-41EF-812D-D26E8AC58C4B}"/>
              </a:ext>
            </a:extLst>
          </p:cNvPr>
          <p:cNvSpPr/>
          <p:nvPr/>
        </p:nvSpPr>
        <p:spPr>
          <a:xfrm>
            <a:off x="5629539" y="37187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A5FEE6E-CB33-4BD0-88EF-24BA49BC9CD4}"/>
              </a:ext>
            </a:extLst>
          </p:cNvPr>
          <p:cNvSpPr txBox="1"/>
          <p:nvPr/>
        </p:nvSpPr>
        <p:spPr>
          <a:xfrm flipH="1">
            <a:off x="3434259" y="1430267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82A6D5-48E7-4A78-83F5-CB66605F6116}"/>
              </a:ext>
            </a:extLst>
          </p:cNvPr>
          <p:cNvSpPr/>
          <p:nvPr/>
        </p:nvSpPr>
        <p:spPr>
          <a:xfrm>
            <a:off x="5624232" y="41295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30B80CF-3C04-4F18-8A30-3098D491B9E5}"/>
              </a:ext>
            </a:extLst>
          </p:cNvPr>
          <p:cNvSpPr/>
          <p:nvPr/>
        </p:nvSpPr>
        <p:spPr>
          <a:xfrm>
            <a:off x="5640847" y="454193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6AF5804-57D6-4C26-B337-8D4FE153E39D}"/>
              </a:ext>
            </a:extLst>
          </p:cNvPr>
          <p:cNvSpPr txBox="1"/>
          <p:nvPr/>
        </p:nvSpPr>
        <p:spPr>
          <a:xfrm flipH="1">
            <a:off x="3481415" y="142526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4287AE-FC9F-468C-85AB-094793480D0B}"/>
              </a:ext>
            </a:extLst>
          </p:cNvPr>
          <p:cNvSpPr/>
          <p:nvPr/>
        </p:nvSpPr>
        <p:spPr>
          <a:xfrm>
            <a:off x="6262527" y="2477998"/>
            <a:ext cx="72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b="1" kern="100" dirty="0">
                <a:latin typeface="宋体"/>
                <a:cs typeface="Times New Roman"/>
              </a:rPr>
              <a:t>…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7" name="灯片编号占位符 36">
            <a:extLst>
              <a:ext uri="{FF2B5EF4-FFF2-40B4-BE49-F238E27FC236}">
                <a16:creationId xmlns:a16="http://schemas.microsoft.com/office/drawing/2014/main" id="{0E267E9A-51F2-4F63-AE38-3A639E4B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C010CE-0DB7-4D73-B91F-72BCF707E4F9}"/>
              </a:ext>
            </a:extLst>
          </p:cNvPr>
          <p:cNvSpPr txBox="1"/>
          <p:nvPr/>
        </p:nvSpPr>
        <p:spPr>
          <a:xfrm>
            <a:off x="2135831" y="-56831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比较交换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1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072 0.00069 " pathEditMode="relative" rAng="0" ptsTypes="AA">
                                      <p:cBhvr from="" to="">
                                        <p:cTn id="3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 0.00069 L 0.15898 0.00023 " pathEditMode="relative" rAng="0" ptsTypes="AA">
                                      <p:cBhvr from="" to="">
                                        <p:cTn id="5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898 0.00023 L 0.23763 -0.00023 " pathEditMode="relative" rAng="0" ptsTypes="AA">
                                      <p:cBhvr from="" to="">
                                        <p:cTn id="6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3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63 -0.00023 L 0.31133 0.00023 " pathEditMode="relative" rAng="0" ptsTypes="AA">
                                      <p:cBhvr from="" to="">
                                        <p:cTn id="7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8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8" grpId="2" animBg="1"/>
      <p:bldP spid="8" grpId="3" animBg="1"/>
      <p:bldP spid="8" grpId="4" animBg="1"/>
      <p:bldP spid="9" grpId="0" animBg="1"/>
      <p:bldP spid="16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E842F8A-0357-467A-BEDB-165F99F10A53}"/>
              </a:ext>
            </a:extLst>
          </p:cNvPr>
          <p:cNvGraphicFramePr>
            <a:graphicFrameLocks noGrp="1"/>
          </p:cNvGraphicFramePr>
          <p:nvPr/>
        </p:nvGraphicFramePr>
        <p:xfrm>
          <a:off x="477838" y="1317625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itchFamily="34" charset="0"/>
                      </a:pP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81F27AC-C07B-405E-8BC6-1A715638555E}"/>
              </a:ext>
            </a:extLst>
          </p:cNvPr>
          <p:cNvSpPr/>
          <p:nvPr/>
        </p:nvSpPr>
        <p:spPr>
          <a:xfrm>
            <a:off x="949891" y="251777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6BF5A8-0109-4833-8DC8-52633BC2306B}"/>
              </a:ext>
            </a:extLst>
          </p:cNvPr>
          <p:cNvSpPr/>
          <p:nvPr/>
        </p:nvSpPr>
        <p:spPr>
          <a:xfrm>
            <a:off x="748332" y="3067188"/>
            <a:ext cx="684803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</a:t>
            </a:r>
            <a:r>
              <a:rPr lang="en-US" altLang="zh-CN" b="1" kern="100" dirty="0">
                <a:solidFill>
                  <a:srgbClr val="FF0066"/>
                </a:solidFill>
              </a:rPr>
              <a:t>[0]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7CB9B0-2C8B-48F8-922B-11E8B7741CF9}"/>
              </a:ext>
            </a:extLst>
          </p:cNvPr>
          <p:cNvSpPr/>
          <p:nvPr/>
        </p:nvSpPr>
        <p:spPr>
          <a:xfrm>
            <a:off x="1739530" y="29556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BE4F21FD-AB1A-4525-BEF5-9AE51AB6CA76}"/>
              </a:ext>
            </a:extLst>
          </p:cNvPr>
          <p:cNvSpPr/>
          <p:nvPr/>
        </p:nvSpPr>
        <p:spPr bwMode="auto">
          <a:xfrm>
            <a:off x="7283146" y="870001"/>
            <a:ext cx="159185" cy="39600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PA-下箭头 16">
            <a:extLst>
              <a:ext uri="{FF2B5EF4-FFF2-40B4-BE49-F238E27FC236}">
                <a16:creationId xmlns:a16="http://schemas.microsoft.com/office/drawing/2014/main" id="{2734E61B-ECF5-4570-9FE3-DDC5176E14B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8219196" y="845716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7C8378-5F75-47FB-B891-279F600B12E6}"/>
              </a:ext>
            </a:extLst>
          </p:cNvPr>
          <p:cNvSpPr/>
          <p:nvPr/>
        </p:nvSpPr>
        <p:spPr>
          <a:xfrm>
            <a:off x="1739530" y="33493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70C3AC-81D2-44DC-86F2-6ED283BA891B}"/>
              </a:ext>
            </a:extLst>
          </p:cNvPr>
          <p:cNvSpPr/>
          <p:nvPr/>
        </p:nvSpPr>
        <p:spPr>
          <a:xfrm>
            <a:off x="1743340" y="37532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C96D0D-1255-4F40-B811-F41E368D60E3}"/>
              </a:ext>
            </a:extLst>
          </p:cNvPr>
          <p:cNvSpPr/>
          <p:nvPr/>
        </p:nvSpPr>
        <p:spPr>
          <a:xfrm>
            <a:off x="1754770" y="41532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DB92CE-DC06-41C5-8FAF-7F8CB36B9687}"/>
              </a:ext>
            </a:extLst>
          </p:cNvPr>
          <p:cNvSpPr/>
          <p:nvPr/>
        </p:nvSpPr>
        <p:spPr>
          <a:xfrm>
            <a:off x="1770010" y="4557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D27E0-0CD6-4330-885E-BF0AE36398FD}"/>
              </a:ext>
            </a:extLst>
          </p:cNvPr>
          <p:cNvSpPr/>
          <p:nvPr/>
        </p:nvSpPr>
        <p:spPr>
          <a:xfrm>
            <a:off x="1770010" y="49343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164493-D614-48AE-87A6-2C87EF1B7447}"/>
              </a:ext>
            </a:extLst>
          </p:cNvPr>
          <p:cNvSpPr/>
          <p:nvPr/>
        </p:nvSpPr>
        <p:spPr>
          <a:xfrm>
            <a:off x="1777630" y="531915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DF8D25-B57A-4D57-B16C-DC790B1E34E9}"/>
              </a:ext>
            </a:extLst>
          </p:cNvPr>
          <p:cNvSpPr/>
          <p:nvPr/>
        </p:nvSpPr>
        <p:spPr>
          <a:xfrm>
            <a:off x="2779881" y="249394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45E147-18D0-449E-9A69-B35CF8259CAD}"/>
              </a:ext>
            </a:extLst>
          </p:cNvPr>
          <p:cNvSpPr/>
          <p:nvPr/>
        </p:nvSpPr>
        <p:spPr>
          <a:xfrm>
            <a:off x="2695242" y="304813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[1]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41747E-4320-41D5-B521-490C8BE85DF8}"/>
              </a:ext>
            </a:extLst>
          </p:cNvPr>
          <p:cNvSpPr/>
          <p:nvPr/>
        </p:nvSpPr>
        <p:spPr>
          <a:xfrm>
            <a:off x="3686440" y="29366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D86D53-F290-4E2B-8D1A-F4C1C5B5EFCE}"/>
              </a:ext>
            </a:extLst>
          </p:cNvPr>
          <p:cNvSpPr/>
          <p:nvPr/>
        </p:nvSpPr>
        <p:spPr>
          <a:xfrm>
            <a:off x="3701680" y="332906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93E6F7-A421-4497-9598-1F57855E1E3D}"/>
              </a:ext>
            </a:extLst>
          </p:cNvPr>
          <p:cNvSpPr/>
          <p:nvPr/>
        </p:nvSpPr>
        <p:spPr>
          <a:xfrm>
            <a:off x="3701680" y="372929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E851B6-E1A8-44D8-B65F-76126EF79DE8}"/>
              </a:ext>
            </a:extLst>
          </p:cNvPr>
          <p:cNvSpPr/>
          <p:nvPr/>
        </p:nvSpPr>
        <p:spPr>
          <a:xfrm>
            <a:off x="3716421" y="41295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374AE1-F95C-4155-AAF2-71B44173FAB0}"/>
              </a:ext>
            </a:extLst>
          </p:cNvPr>
          <p:cNvSpPr/>
          <p:nvPr/>
        </p:nvSpPr>
        <p:spPr>
          <a:xfrm>
            <a:off x="3701680" y="4553528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E9CD31-F640-4887-A4ED-DD65DAB23591}"/>
              </a:ext>
            </a:extLst>
          </p:cNvPr>
          <p:cNvSpPr/>
          <p:nvPr/>
        </p:nvSpPr>
        <p:spPr>
          <a:xfrm>
            <a:off x="3716420" y="4977529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AFD583-C1DE-4123-B885-143B71E40BC3}"/>
              </a:ext>
            </a:extLst>
          </p:cNvPr>
          <p:cNvSpPr txBox="1"/>
          <p:nvPr/>
        </p:nvSpPr>
        <p:spPr>
          <a:xfrm flipH="1">
            <a:off x="8162654" y="1417218"/>
            <a:ext cx="44517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17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7A38AD-D56B-4B4F-91AC-F87A138EF851}"/>
              </a:ext>
            </a:extLst>
          </p:cNvPr>
          <p:cNvSpPr/>
          <p:nvPr/>
        </p:nvSpPr>
        <p:spPr>
          <a:xfrm>
            <a:off x="4808392" y="249394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三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106997-151B-4815-998F-F3C2A7365811}"/>
              </a:ext>
            </a:extLst>
          </p:cNvPr>
          <p:cNvSpPr/>
          <p:nvPr/>
        </p:nvSpPr>
        <p:spPr>
          <a:xfrm>
            <a:off x="4636570" y="3022700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[2]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7F0E31D-B76D-48ED-87CA-EE34CCBC5662}"/>
              </a:ext>
            </a:extLst>
          </p:cNvPr>
          <p:cNvSpPr/>
          <p:nvPr/>
        </p:nvSpPr>
        <p:spPr>
          <a:xfrm>
            <a:off x="5633350" y="290325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742FE8-5413-4654-AC3E-EEE78D327982}"/>
              </a:ext>
            </a:extLst>
          </p:cNvPr>
          <p:cNvSpPr/>
          <p:nvPr/>
        </p:nvSpPr>
        <p:spPr>
          <a:xfrm>
            <a:off x="5629540" y="331256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735CCC6-B2E2-4CD5-AFD0-2257D0FA575C}"/>
              </a:ext>
            </a:extLst>
          </p:cNvPr>
          <p:cNvSpPr/>
          <p:nvPr/>
        </p:nvSpPr>
        <p:spPr>
          <a:xfrm>
            <a:off x="5629539" y="37187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E4D4AE-030B-4429-9DFB-CF09C9CF9FAC}"/>
              </a:ext>
            </a:extLst>
          </p:cNvPr>
          <p:cNvSpPr/>
          <p:nvPr/>
        </p:nvSpPr>
        <p:spPr>
          <a:xfrm>
            <a:off x="5624232" y="41295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2F46AF-07DB-4BEC-A8FB-0E1D002D05AC}"/>
              </a:ext>
            </a:extLst>
          </p:cNvPr>
          <p:cNvSpPr/>
          <p:nvPr/>
        </p:nvSpPr>
        <p:spPr>
          <a:xfrm>
            <a:off x="5640847" y="454193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A1F36FD-D2F5-46AB-BC6D-77CE7AEFD59F}"/>
              </a:ext>
            </a:extLst>
          </p:cNvPr>
          <p:cNvSpPr txBox="1"/>
          <p:nvPr/>
        </p:nvSpPr>
        <p:spPr>
          <a:xfrm flipH="1">
            <a:off x="7216581" y="1428648"/>
            <a:ext cx="4515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6F52F5-BE5A-493A-B5E4-A2F1DB30A6FD}"/>
              </a:ext>
            </a:extLst>
          </p:cNvPr>
          <p:cNvSpPr/>
          <p:nvPr/>
        </p:nvSpPr>
        <p:spPr>
          <a:xfrm>
            <a:off x="6262527" y="2477998"/>
            <a:ext cx="72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b="1" kern="100" dirty="0">
                <a:latin typeface="宋体"/>
                <a:cs typeface="Times New Roman"/>
              </a:rPr>
              <a:t>…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F5C1D8C-5A1E-4D8B-954F-DF2CFDE337D8}"/>
              </a:ext>
            </a:extLst>
          </p:cNvPr>
          <p:cNvSpPr/>
          <p:nvPr/>
        </p:nvSpPr>
        <p:spPr>
          <a:xfrm>
            <a:off x="7362739" y="2486427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七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E8F3540-2AE1-4CDC-8240-788ABA18991C}"/>
              </a:ext>
            </a:extLst>
          </p:cNvPr>
          <p:cNvSpPr/>
          <p:nvPr/>
        </p:nvSpPr>
        <p:spPr>
          <a:xfrm>
            <a:off x="7017184" y="295900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kern="100" dirty="0" err="1">
                <a:solidFill>
                  <a:srgbClr val="FF0066"/>
                </a:solidFill>
              </a:rPr>
              <a:t>arr</a:t>
            </a:r>
            <a:r>
              <a:rPr lang="en-US" altLang="zh-CN" b="1" kern="100" dirty="0">
                <a:solidFill>
                  <a:srgbClr val="FF0066"/>
                </a:solidFill>
              </a:rPr>
              <a:t>[6]</a:t>
            </a:r>
            <a:endParaRPr lang="zh-CN" altLang="zh-CN" b="1" kern="100" dirty="0">
              <a:solidFill>
                <a:srgbClr val="FF0066"/>
              </a:solidFill>
              <a:latin typeface="宋体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A80DA7E-7541-4F3E-8EFA-259EA112FB0A}"/>
              </a:ext>
            </a:extLst>
          </p:cNvPr>
          <p:cNvSpPr/>
          <p:nvPr/>
        </p:nvSpPr>
        <p:spPr>
          <a:xfrm>
            <a:off x="7911504" y="28475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[7]</a:t>
            </a:r>
          </a:p>
        </p:txBody>
      </p:sp>
      <p:sp>
        <p:nvSpPr>
          <p:cNvPr id="36" name="灯片编号占位符 35">
            <a:extLst>
              <a:ext uri="{FF2B5EF4-FFF2-40B4-BE49-F238E27FC236}">
                <a16:creationId xmlns:a16="http://schemas.microsoft.com/office/drawing/2014/main" id="{FC483687-AF30-4EAE-970A-CFD8B9FD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2C7477-042D-4CC3-818B-BA9DF344B258}"/>
              </a:ext>
            </a:extLst>
          </p:cNvPr>
          <p:cNvSpPr txBox="1"/>
          <p:nvPr/>
        </p:nvSpPr>
        <p:spPr>
          <a:xfrm>
            <a:off x="2135831" y="-56831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比较交换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192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23" grpId="0" animBg="1"/>
      <p:bldP spid="31" grpId="0" animBg="1"/>
      <p:bldP spid="33" grpId="0"/>
      <p:bldP spid="3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排序问题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B06DBC-0D82-4D4B-A8E4-C1EE5291B5A1}"/>
              </a:ext>
            </a:extLst>
          </p:cNvPr>
          <p:cNvSpPr/>
          <p:nvPr/>
        </p:nvSpPr>
        <p:spPr>
          <a:xfrm>
            <a:off x="0" y="778996"/>
            <a:ext cx="121584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隶书" pitchFamily="49" charset="-122"/>
              </a:rPr>
              <a:t>方法二：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选择排序法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升序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)</a:t>
            </a:r>
            <a:endParaRPr lang="zh-CN" altLang="en-US" sz="2800" b="1" dirty="0">
              <a:latin typeface="隶书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084D72-DCE9-4346-81C9-6F4ADDF80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34" y="1538520"/>
            <a:ext cx="7724775" cy="2362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8FDBA59-5EA8-4794-9685-64CE9D2BBFAE}"/>
              </a:ext>
            </a:extLst>
          </p:cNvPr>
          <p:cNvSpPr/>
          <p:nvPr/>
        </p:nvSpPr>
        <p:spPr>
          <a:xfrm>
            <a:off x="395207" y="4137024"/>
            <a:ext cx="1149199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从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开始到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最后一个元素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为止，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在该范围内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选择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到最小元素，然后将其和第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个元素进行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从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开始到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最后一个元素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为止，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在该范围内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选择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到最小元素，然后将其和第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个元素进行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以此类推，直到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最后两个元素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完成选择交换；</a:t>
            </a:r>
            <a:endParaRPr lang="en-US" altLang="zh-CN" sz="28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A63801-5A5F-4F1C-AB62-8AF0A288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56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4">
            <a:extLst>
              <a:ext uri="{FF2B5EF4-FFF2-40B4-BE49-F238E27FC236}">
                <a16:creationId xmlns:a16="http://schemas.microsoft.com/office/drawing/2014/main" id="{28FA22A7-B4F5-40E5-8C6A-20EC2C835148}"/>
              </a:ext>
            </a:extLst>
          </p:cNvPr>
          <p:cNvGraphicFramePr>
            <a:graphicFrameLocks/>
          </p:cNvGraphicFramePr>
          <p:nvPr/>
        </p:nvGraphicFramePr>
        <p:xfrm>
          <a:off x="468313" y="1341438"/>
          <a:ext cx="7481887" cy="917576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50">
            <a:extLst>
              <a:ext uri="{FF2B5EF4-FFF2-40B4-BE49-F238E27FC236}">
                <a16:creationId xmlns:a16="http://schemas.microsoft.com/office/drawing/2014/main" id="{000640BB-303F-44B4-9846-480726D0405E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276475"/>
            <a:ext cx="287337" cy="962025"/>
            <a:chOff x="431" y="1661"/>
            <a:chExt cx="136" cy="606"/>
          </a:xfrm>
        </p:grpSpPr>
        <p:sp>
          <p:nvSpPr>
            <p:cNvPr id="5" name="Line 51">
              <a:extLst>
                <a:ext uri="{FF2B5EF4-FFF2-40B4-BE49-F238E27FC236}">
                  <a16:creationId xmlns:a16="http://schemas.microsoft.com/office/drawing/2014/main" id="{BCF6A218-2ADB-448E-BA3A-20308C30E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Text Box 52">
              <a:extLst>
                <a:ext uri="{FF2B5EF4-FFF2-40B4-BE49-F238E27FC236}">
                  <a16:creationId xmlns:a16="http://schemas.microsoft.com/office/drawing/2014/main" id="{F1D93028-DAF2-419A-B903-B22C66A7F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i</a:t>
              </a:r>
            </a:p>
          </p:txBody>
        </p:sp>
      </p:grpSp>
      <p:grpSp>
        <p:nvGrpSpPr>
          <p:cNvPr id="7" name="Group 53">
            <a:extLst>
              <a:ext uri="{FF2B5EF4-FFF2-40B4-BE49-F238E27FC236}">
                <a16:creationId xmlns:a16="http://schemas.microsoft.com/office/drawing/2014/main" id="{4B405B24-C6E1-43AA-A18D-5B191D6B9EAE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276475"/>
            <a:ext cx="288925" cy="962025"/>
            <a:chOff x="431" y="1661"/>
            <a:chExt cx="136" cy="606"/>
          </a:xfrm>
        </p:grpSpPr>
        <p:sp>
          <p:nvSpPr>
            <p:cNvPr id="8" name="Line 54">
              <a:extLst>
                <a:ext uri="{FF2B5EF4-FFF2-40B4-BE49-F238E27FC236}">
                  <a16:creationId xmlns:a16="http://schemas.microsoft.com/office/drawing/2014/main" id="{0C9F70ED-726C-4BE8-A5DC-EA23090F7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FF0066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Text Box 55">
              <a:extLst>
                <a:ext uri="{FF2B5EF4-FFF2-40B4-BE49-F238E27FC236}">
                  <a16:creationId xmlns:a16="http://schemas.microsoft.com/office/drawing/2014/main" id="{320FA6F0-6447-4FFD-B425-6ABD3BC48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j</a:t>
              </a:r>
            </a:p>
          </p:txBody>
        </p:sp>
      </p:grpSp>
      <p:grpSp>
        <p:nvGrpSpPr>
          <p:cNvPr id="10" name="Group 65">
            <a:extLst>
              <a:ext uri="{FF2B5EF4-FFF2-40B4-BE49-F238E27FC236}">
                <a16:creationId xmlns:a16="http://schemas.microsoft.com/office/drawing/2014/main" id="{5DFB3638-3F26-4100-8070-0EF1760F5265}"/>
              </a:ext>
            </a:extLst>
          </p:cNvPr>
          <p:cNvGrpSpPr>
            <a:grpSpLocks/>
          </p:cNvGrpSpPr>
          <p:nvPr/>
        </p:nvGrpSpPr>
        <p:grpSpPr bwMode="auto">
          <a:xfrm>
            <a:off x="874362" y="2286001"/>
            <a:ext cx="287337" cy="962025"/>
            <a:chOff x="431" y="1661"/>
            <a:chExt cx="136" cy="606"/>
          </a:xfrm>
        </p:grpSpPr>
        <p:sp>
          <p:nvSpPr>
            <p:cNvPr id="11" name="Line 66">
              <a:extLst>
                <a:ext uri="{FF2B5EF4-FFF2-40B4-BE49-F238E27FC236}">
                  <a16:creationId xmlns:a16="http://schemas.microsoft.com/office/drawing/2014/main" id="{0EA3D9E0-A17C-4B22-B4F8-E92A1363D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800000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67">
              <a:extLst>
                <a:ext uri="{FF2B5EF4-FFF2-40B4-BE49-F238E27FC236}">
                  <a16:creationId xmlns:a16="http://schemas.microsoft.com/office/drawing/2014/main" id="{55C2E6DE-D026-4878-A5A8-764685937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k</a:t>
              </a:r>
            </a:p>
          </p:txBody>
        </p:sp>
      </p:grpSp>
      <p:sp>
        <p:nvSpPr>
          <p:cNvPr id="13" name="Text Box 68">
            <a:extLst>
              <a:ext uri="{FF2B5EF4-FFF2-40B4-BE49-F238E27FC236}">
                <a16:creationId xmlns:a16="http://schemas.microsoft.com/office/drawing/2014/main" id="{CFA1F56A-E94C-4B5F-A680-D4FDAFBCF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1849438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5</a:t>
            </a:r>
          </a:p>
        </p:txBody>
      </p:sp>
      <p:sp>
        <p:nvSpPr>
          <p:cNvPr id="14" name="Text Box 69">
            <a:extLst>
              <a:ext uri="{FF2B5EF4-FFF2-40B4-BE49-F238E27FC236}">
                <a16:creationId xmlns:a16="http://schemas.microsoft.com/office/drawing/2014/main" id="{A1A94DD4-4797-47C2-8B61-EF8129864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1852613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2</a:t>
            </a:r>
          </a:p>
        </p:txBody>
      </p:sp>
      <p:sp>
        <p:nvSpPr>
          <p:cNvPr id="15" name="Text Box 73">
            <a:extLst>
              <a:ext uri="{FF2B5EF4-FFF2-40B4-BE49-F238E27FC236}">
                <a16:creationId xmlns:a16="http://schemas.microsoft.com/office/drawing/2014/main" id="{39BA20E0-D96C-4CC8-BCE8-0BA9B50BF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019550"/>
            <a:ext cx="32004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第一轮排序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22EEAF-8F6F-46B7-BA80-071C9650090E}"/>
              </a:ext>
            </a:extLst>
          </p:cNvPr>
          <p:cNvSpPr txBox="1"/>
          <p:nvPr/>
        </p:nvSpPr>
        <p:spPr>
          <a:xfrm>
            <a:off x="2140066" y="-568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选择排序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1664EE2F-559B-4F3A-934C-3461358E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428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33333E-6 L 0.05365 0.0009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65 0.00093 L 0.11576 -0.0009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76 -0.00092 L 0.17605 -0.0018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22222E-6 L 0.20873 -0.0004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3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604 -0.00185 L 0.23737 -0.0004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737 -0.00046 L 0.29805 -0.0006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05 -0.00069 L 0.36537 -3.33333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537 -3.33333E-6 L 0.42383 -0.0006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953 -0.00324 L 0.45326 -0.00208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383 -0.00069 L 0.48568 -0.0006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277 C -0.01393 -0.03518 -0.02787 -0.06713 0.04922 -0.07986 C 0.12643 -0.09236 0.39141 -0.09189 0.46419 -0.07824 C 0.53659 -0.06481 0.48164 -0.0118 0.48489 0.00186 " pathEditMode="relative" rAng="0" ptsTypes="AAAA">
                                      <p:cBhvr>
                                        <p:cTn id="6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70" y="-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C 0.02331 0.02824 0.04675 0.05648 -0.03307 0.06967 C -0.11289 0.08287 -0.4039 0.09097 -0.47916 0.07893 C -0.55416 0.06689 -0.5194 0.03171 -0.4845 -0.00324 " pathEditMode="relative" rAng="0" ptsTypes="AAAA">
                                      <p:cBhvr>
                                        <p:cTn id="6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78" y="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>
            <a:extLst>
              <a:ext uri="{FF2B5EF4-FFF2-40B4-BE49-F238E27FC236}">
                <a16:creationId xmlns:a16="http://schemas.microsoft.com/office/drawing/2014/main" id="{32BF1980-4A28-47CC-9FE4-6259ECA1843A}"/>
              </a:ext>
            </a:extLst>
          </p:cNvPr>
          <p:cNvGraphicFramePr>
            <a:graphicFrameLocks/>
          </p:cNvGraphicFramePr>
          <p:nvPr/>
        </p:nvGraphicFramePr>
        <p:xfrm>
          <a:off x="468313" y="1341438"/>
          <a:ext cx="7481887" cy="917576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F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9">
            <a:extLst>
              <a:ext uri="{FF2B5EF4-FFF2-40B4-BE49-F238E27FC236}">
                <a16:creationId xmlns:a16="http://schemas.microsoft.com/office/drawing/2014/main" id="{2B94CDC0-BAD0-4732-9933-2A263B078A63}"/>
              </a:ext>
            </a:extLst>
          </p:cNvPr>
          <p:cNvGrpSpPr>
            <a:grpSpLocks/>
          </p:cNvGrpSpPr>
          <p:nvPr/>
        </p:nvGrpSpPr>
        <p:grpSpPr bwMode="auto">
          <a:xfrm>
            <a:off x="1290638" y="2276475"/>
            <a:ext cx="287337" cy="962025"/>
            <a:chOff x="431" y="1661"/>
            <a:chExt cx="136" cy="606"/>
          </a:xfrm>
        </p:grpSpPr>
        <p:sp>
          <p:nvSpPr>
            <p:cNvPr id="5" name="Line 50">
              <a:extLst>
                <a:ext uri="{FF2B5EF4-FFF2-40B4-BE49-F238E27FC236}">
                  <a16:creationId xmlns:a16="http://schemas.microsoft.com/office/drawing/2014/main" id="{9A1A28C1-40F0-4A6A-BA86-6017EA21A2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0000FF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" name="Text Box 51">
              <a:extLst>
                <a:ext uri="{FF2B5EF4-FFF2-40B4-BE49-F238E27FC236}">
                  <a16:creationId xmlns:a16="http://schemas.microsoft.com/office/drawing/2014/main" id="{29B2FDE8-8D9E-4E05-A563-13DDA2F66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/>
                <a:t>i</a:t>
              </a:r>
            </a:p>
          </p:txBody>
        </p:sp>
      </p:grpSp>
      <p:grpSp>
        <p:nvGrpSpPr>
          <p:cNvPr id="7" name="PA-组合 52">
            <a:extLst>
              <a:ext uri="{FF2B5EF4-FFF2-40B4-BE49-F238E27FC236}">
                <a16:creationId xmlns:a16="http://schemas.microsoft.com/office/drawing/2014/main" id="{4354F4E7-A2F9-451F-A045-F14B8538B363}"/>
              </a:ext>
            </a:extLst>
          </p:cNvPr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2125663" y="2265363"/>
            <a:ext cx="288925" cy="962025"/>
            <a:chOff x="431" y="1661"/>
            <a:chExt cx="136" cy="606"/>
          </a:xfrm>
        </p:grpSpPr>
        <p:sp>
          <p:nvSpPr>
            <p:cNvPr id="8" name="PA-Line 53">
              <a:extLst>
                <a:ext uri="{FF2B5EF4-FFF2-40B4-BE49-F238E27FC236}">
                  <a16:creationId xmlns:a16="http://schemas.microsoft.com/office/drawing/2014/main" id="{BCBFE1AC-20F0-4B3E-A9D1-45E46E9C7C34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FF0066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PA-文本框 54">
              <a:extLst>
                <a:ext uri="{FF2B5EF4-FFF2-40B4-BE49-F238E27FC236}">
                  <a16:creationId xmlns:a16="http://schemas.microsoft.com/office/drawing/2014/main" id="{BFACB50E-A97B-477C-B4AF-E9DA562EA7B9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j</a:t>
              </a:r>
            </a:p>
          </p:txBody>
        </p:sp>
      </p:grpSp>
      <p:grpSp>
        <p:nvGrpSpPr>
          <p:cNvPr id="10" name="Group 55">
            <a:extLst>
              <a:ext uri="{FF2B5EF4-FFF2-40B4-BE49-F238E27FC236}">
                <a16:creationId xmlns:a16="http://schemas.microsoft.com/office/drawing/2014/main" id="{054D64AF-A503-4C3A-B805-6F4B5FEB07C9}"/>
              </a:ext>
            </a:extLst>
          </p:cNvPr>
          <p:cNvGrpSpPr>
            <a:grpSpLocks/>
          </p:cNvGrpSpPr>
          <p:nvPr/>
        </p:nvGrpSpPr>
        <p:grpSpPr bwMode="auto">
          <a:xfrm>
            <a:off x="1480787" y="2276475"/>
            <a:ext cx="287337" cy="962025"/>
            <a:chOff x="431" y="1661"/>
            <a:chExt cx="136" cy="606"/>
          </a:xfrm>
        </p:grpSpPr>
        <p:sp>
          <p:nvSpPr>
            <p:cNvPr id="11" name="Line 56">
              <a:extLst>
                <a:ext uri="{FF2B5EF4-FFF2-40B4-BE49-F238E27FC236}">
                  <a16:creationId xmlns:a16="http://schemas.microsoft.com/office/drawing/2014/main" id="{C64D20EB-CA28-4EA3-801C-48CE5A4A17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661"/>
              <a:ext cx="0" cy="340"/>
            </a:xfrm>
            <a:prstGeom prst="line">
              <a:avLst/>
            </a:prstGeom>
            <a:noFill/>
            <a:ln w="57150" cap="sq">
              <a:solidFill>
                <a:srgbClr val="800000"/>
              </a:solidFill>
              <a:miter lim="800000"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57">
              <a:extLst>
                <a:ext uri="{FF2B5EF4-FFF2-40B4-BE49-F238E27FC236}">
                  <a16:creationId xmlns:a16="http://schemas.microsoft.com/office/drawing/2014/main" id="{F8ED7B22-8271-4CE2-81EC-A2157B0D4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/>
                <a:t>k</a:t>
              </a:r>
            </a:p>
          </p:txBody>
        </p:sp>
      </p:grpSp>
      <p:sp>
        <p:nvSpPr>
          <p:cNvPr id="13" name="Text Box 58">
            <a:extLst>
              <a:ext uri="{FF2B5EF4-FFF2-40B4-BE49-F238E27FC236}">
                <a16:creationId xmlns:a16="http://schemas.microsoft.com/office/drawing/2014/main" id="{D2B39B56-1D2B-460D-B3BB-56B341062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313" y="1860550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5</a:t>
            </a:r>
          </a:p>
        </p:txBody>
      </p:sp>
      <p:sp>
        <p:nvSpPr>
          <p:cNvPr id="14" name="Text Box 59">
            <a:extLst>
              <a:ext uri="{FF2B5EF4-FFF2-40B4-BE49-F238E27FC236}">
                <a16:creationId xmlns:a16="http://schemas.microsoft.com/office/drawing/2014/main" id="{1F72DD4E-42ED-48DE-8C13-89328059D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1862138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2</a:t>
            </a:r>
          </a:p>
        </p:txBody>
      </p:sp>
      <p:sp>
        <p:nvSpPr>
          <p:cNvPr id="15" name="Text Box 60">
            <a:extLst>
              <a:ext uri="{FF2B5EF4-FFF2-40B4-BE49-F238E27FC236}">
                <a16:creationId xmlns:a16="http://schemas.microsoft.com/office/drawing/2014/main" id="{20BF2D8D-080C-43A4-8B6C-B7AC73893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54200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19</a:t>
            </a:r>
          </a:p>
        </p:txBody>
      </p:sp>
      <p:sp>
        <p:nvSpPr>
          <p:cNvPr id="16" name="Text Box 61">
            <a:extLst>
              <a:ext uri="{FF2B5EF4-FFF2-40B4-BE49-F238E27FC236}">
                <a16:creationId xmlns:a16="http://schemas.microsoft.com/office/drawing/2014/main" id="{740DA825-7257-446C-8FBF-A1A567299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25" y="1866900"/>
            <a:ext cx="371475" cy="320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 b="1">
                <a:latin typeface="Comic Sans MS" pitchFamily="66" charset="0"/>
              </a:rPr>
              <a:t>3</a:t>
            </a:r>
          </a:p>
        </p:txBody>
      </p:sp>
      <p:sp>
        <p:nvSpPr>
          <p:cNvPr id="17" name="Text Box 62">
            <a:extLst>
              <a:ext uri="{FF2B5EF4-FFF2-40B4-BE49-F238E27FC236}">
                <a16:creationId xmlns:a16="http://schemas.microsoft.com/office/drawing/2014/main" id="{45B53C86-4844-4100-9784-5F6F755C9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019550"/>
            <a:ext cx="32004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第二轮排序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2ACDC1-574A-4D28-A4C3-D0CADF1F8ED1}"/>
              </a:ext>
            </a:extLst>
          </p:cNvPr>
          <p:cNvSpPr txBox="1"/>
          <p:nvPr/>
        </p:nvSpPr>
        <p:spPr>
          <a:xfrm>
            <a:off x="2135833" y="-568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选择排序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35899CAF-0415-47F8-B2D3-AD4CC6D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941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33333E-6 L 0.04115 -0.001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48148E-6 L 0.0595 0.002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5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51 0.00255 L 0.12044 0.0034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15 -0.00115 L 0.15716 -0.0011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44 0.00348 L 0.1806 0.0009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6 0.00093 L 0.23841 0.0009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841 0.00093 L 0.29818 0.0034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818 0.00348 L 0.36107 0.0034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107 0.00348 L 0.42344 0.0034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85185E-6 L 0.04909 -0.05555 C 0.05951 -0.06829 0.07487 -0.075 0.09102 -0.075 C 0.10951 -0.075 0.12409 -0.06829 0.13438 -0.05555 L 0.18412 -1.85185E-6 " pathEditMode="relative" rAng="0" ptsTypes="AAAAA">
                                      <p:cBhvr>
                                        <p:cTn id="4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06" y="-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0.00185 L -0.04922 0.0426 C -0.05951 0.05278 -0.07474 0.0588 -0.0905 0.0588 C -0.10872 0.0588 -0.12331 0.05278 -0.13359 0.0426 L -0.18177 -0.00185 " pathEditMode="relative" rAng="0" ptsTypes="AAAAA">
                                      <p:cBhvr>
                                        <p:cTn id="4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89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2B4BFA-6D60-4C54-9971-0DC3353A50FD}"/>
              </a:ext>
            </a:extLst>
          </p:cNvPr>
          <p:cNvSpPr txBox="1"/>
          <p:nvPr/>
        </p:nvSpPr>
        <p:spPr>
          <a:xfrm>
            <a:off x="2140063" y="-52595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一维数组应用之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排序问题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B06DBC-0D82-4D4B-A8E4-C1EE5291B5A1}"/>
              </a:ext>
            </a:extLst>
          </p:cNvPr>
          <p:cNvSpPr/>
          <p:nvPr/>
        </p:nvSpPr>
        <p:spPr>
          <a:xfrm>
            <a:off x="0" y="778996"/>
            <a:ext cx="121584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隶书" pitchFamily="49" charset="-122"/>
              </a:rPr>
              <a:t>方法三：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冒泡排序法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(</a:t>
            </a:r>
            <a:r>
              <a:rPr lang="zh-CN" altLang="en-US" sz="2800" b="1" dirty="0">
                <a:solidFill>
                  <a:srgbClr val="00B0F0"/>
                </a:solidFill>
                <a:latin typeface="隶书" pitchFamily="49" charset="-122"/>
              </a:rPr>
              <a:t>升序</a:t>
            </a:r>
            <a:r>
              <a:rPr lang="en-US" altLang="zh-CN" sz="2800" b="1" dirty="0">
                <a:solidFill>
                  <a:srgbClr val="00B0F0"/>
                </a:solidFill>
                <a:latin typeface="隶书" pitchFamily="49" charset="-122"/>
              </a:rPr>
              <a:t>)</a:t>
            </a:r>
            <a:endParaRPr lang="zh-CN" altLang="en-US" sz="2800" b="1" dirty="0">
              <a:latin typeface="隶书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B1AE15-D7A7-49E6-9F9F-BE8AC2DEA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87" y="1538520"/>
            <a:ext cx="7710121" cy="239891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2955F3-BE01-48D2-86B8-3DA4AF20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6D68C4-E748-45D6-A86B-364E3770943E}"/>
              </a:ext>
            </a:extLst>
          </p:cNvPr>
          <p:cNvSpPr/>
          <p:nvPr/>
        </p:nvSpPr>
        <p:spPr>
          <a:xfrm>
            <a:off x="286716" y="4137024"/>
            <a:ext cx="117089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从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起始位置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开始到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倒数第</a:t>
            </a:r>
            <a:r>
              <a:rPr lang="en-US" altLang="zh-CN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为止，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在该范围内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依次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比较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相邻元素，若前面元素大于后面元素，则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它们。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从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起始位置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开始到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倒数第</a:t>
            </a:r>
            <a:r>
              <a:rPr lang="en-US" altLang="zh-CN" sz="2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800" dirty="0">
                <a:solidFill>
                  <a:srgbClr val="00B05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为止，</a:t>
            </a:r>
            <a:r>
              <a:rPr lang="zh-CN" altLang="en-US" sz="2800" dirty="0">
                <a:solidFill>
                  <a:srgbClr val="00B0F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在该范围内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依次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比较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相邻元素，若前面元素大于后面元素，则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交换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它们。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以此类推，直到</a:t>
            </a:r>
            <a:r>
              <a:rPr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最前面两个元素</a:t>
            </a:r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完成比较交换；</a:t>
            </a:r>
          </a:p>
        </p:txBody>
      </p:sp>
    </p:spTree>
    <p:extLst>
      <p:ext uri="{BB962C8B-B14F-4D97-AF65-F5344CB8AC3E}">
        <p14:creationId xmlns:p14="http://schemas.microsoft.com/office/powerpoint/2010/main" val="3382300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EF2C277-FCCF-41B3-970F-0747B8581364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冒泡排序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2D7498F-901F-49A9-8D42-DF67124C36C8}"/>
              </a:ext>
            </a:extLst>
          </p:cNvPr>
          <p:cNvGraphicFramePr>
            <a:graphicFrameLocks noGrp="1"/>
          </p:cNvGraphicFramePr>
          <p:nvPr/>
        </p:nvGraphicFramePr>
        <p:xfrm>
          <a:off x="340678" y="1524027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PA-下箭头 16">
            <a:extLst>
              <a:ext uri="{FF2B5EF4-FFF2-40B4-BE49-F238E27FC236}">
                <a16:creationId xmlns:a16="http://schemas.microsoft.com/office/drawing/2014/main" id="{62051541-A17D-4E60-A5A2-E7E000F4E30A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513938" y="112802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0A0B9B-9340-4784-9B04-5E3C1DE2E3D2}"/>
              </a:ext>
            </a:extLst>
          </p:cNvPr>
          <p:cNvSpPr/>
          <p:nvPr/>
        </p:nvSpPr>
        <p:spPr>
          <a:xfrm>
            <a:off x="949891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106051-31EA-46E1-90E0-C202A894815A}"/>
              </a:ext>
            </a:extLst>
          </p:cNvPr>
          <p:cNvSpPr/>
          <p:nvPr/>
        </p:nvSpPr>
        <p:spPr>
          <a:xfrm>
            <a:off x="748332" y="321577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DBAD3B-8450-46F8-B172-A28FE2F153B0}"/>
              </a:ext>
            </a:extLst>
          </p:cNvPr>
          <p:cNvSpPr/>
          <p:nvPr/>
        </p:nvSpPr>
        <p:spPr>
          <a:xfrm>
            <a:off x="1739530" y="31042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FD7996-CE0B-4213-A3D1-05323589972C}"/>
              </a:ext>
            </a:extLst>
          </p:cNvPr>
          <p:cNvSpPr/>
          <p:nvPr/>
        </p:nvSpPr>
        <p:spPr>
          <a:xfrm>
            <a:off x="1739530" y="34979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2D4C5C-4247-40B8-9978-D65CE90BD7F4}"/>
              </a:ext>
            </a:extLst>
          </p:cNvPr>
          <p:cNvSpPr/>
          <p:nvPr/>
        </p:nvSpPr>
        <p:spPr>
          <a:xfrm>
            <a:off x="1743340" y="39018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DE2A8C-FFA4-4944-89D2-3377BCDB3084}"/>
              </a:ext>
            </a:extLst>
          </p:cNvPr>
          <p:cNvSpPr/>
          <p:nvPr/>
        </p:nvSpPr>
        <p:spPr>
          <a:xfrm>
            <a:off x="1754770" y="43018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F726B6-F6C3-4B88-9613-EFCB811D52EC}"/>
              </a:ext>
            </a:extLst>
          </p:cNvPr>
          <p:cNvSpPr/>
          <p:nvPr/>
        </p:nvSpPr>
        <p:spPr>
          <a:xfrm>
            <a:off x="1770010" y="4705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E04400-59DB-4403-A777-8F70131C8BDF}"/>
              </a:ext>
            </a:extLst>
          </p:cNvPr>
          <p:cNvSpPr/>
          <p:nvPr/>
        </p:nvSpPr>
        <p:spPr>
          <a:xfrm>
            <a:off x="1770010" y="50829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06D1FE-4EA9-4DDA-9F55-90ADE43C458D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[7]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31D34E-47FC-4B3A-BCB3-172CE0895B1D}"/>
              </a:ext>
            </a:extLst>
          </p:cNvPr>
          <p:cNvSpPr/>
          <p:nvPr/>
        </p:nvSpPr>
        <p:spPr>
          <a:xfrm>
            <a:off x="782714" y="35325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955F13-5A2E-4843-A335-5AB91BDB2AD1}"/>
              </a:ext>
            </a:extLst>
          </p:cNvPr>
          <p:cNvSpPr/>
          <p:nvPr/>
        </p:nvSpPr>
        <p:spPr>
          <a:xfrm>
            <a:off x="782714" y="39262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6BFF3A-D2B4-4121-8295-53192C75013F}"/>
              </a:ext>
            </a:extLst>
          </p:cNvPr>
          <p:cNvSpPr/>
          <p:nvPr/>
        </p:nvSpPr>
        <p:spPr>
          <a:xfrm>
            <a:off x="786524" y="433006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E9FDFF-56EC-4EAA-AD62-3C0CF7254CAA}"/>
              </a:ext>
            </a:extLst>
          </p:cNvPr>
          <p:cNvSpPr/>
          <p:nvPr/>
        </p:nvSpPr>
        <p:spPr>
          <a:xfrm>
            <a:off x="797954" y="473011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FBE95F-D4E4-44EF-88FB-B2AC27650A54}"/>
              </a:ext>
            </a:extLst>
          </p:cNvPr>
          <p:cNvSpPr/>
          <p:nvPr/>
        </p:nvSpPr>
        <p:spPr>
          <a:xfrm>
            <a:off x="813194" y="513397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BE88D7-9FF6-4FFE-8382-F96148C3D38B}"/>
              </a:ext>
            </a:extLst>
          </p:cNvPr>
          <p:cNvSpPr/>
          <p:nvPr/>
        </p:nvSpPr>
        <p:spPr>
          <a:xfrm>
            <a:off x="813700" y="54867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701257-E5F5-4D19-9E27-F198626C406E}"/>
              </a:ext>
            </a:extLst>
          </p:cNvPr>
          <p:cNvSpPr txBox="1"/>
          <p:nvPr/>
        </p:nvSpPr>
        <p:spPr>
          <a:xfrm flipH="1">
            <a:off x="1451982" y="164080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EC541E-245C-40EC-A399-53A706802B0A}"/>
              </a:ext>
            </a:extLst>
          </p:cNvPr>
          <p:cNvSpPr txBox="1"/>
          <p:nvPr/>
        </p:nvSpPr>
        <p:spPr>
          <a:xfrm flipH="1">
            <a:off x="2304021" y="1648318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C7EF7A-688B-4170-95D9-05D9C244232D}"/>
              </a:ext>
            </a:extLst>
          </p:cNvPr>
          <p:cNvSpPr txBox="1"/>
          <p:nvPr/>
        </p:nvSpPr>
        <p:spPr>
          <a:xfrm flipH="1">
            <a:off x="2375668" y="1647925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71AC7C-A2B6-49E7-AD89-7BF606F1FA4B}"/>
              </a:ext>
            </a:extLst>
          </p:cNvPr>
          <p:cNvSpPr txBox="1"/>
          <p:nvPr/>
        </p:nvSpPr>
        <p:spPr>
          <a:xfrm flipH="1">
            <a:off x="3227707" y="1655434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570EEE-C042-409D-AF18-B6109017ACB3}"/>
              </a:ext>
            </a:extLst>
          </p:cNvPr>
          <p:cNvSpPr txBox="1"/>
          <p:nvPr/>
        </p:nvSpPr>
        <p:spPr>
          <a:xfrm flipH="1">
            <a:off x="3204581" y="1656049"/>
            <a:ext cx="4811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020E1A9-CA4B-47E5-9F12-FDAE3F971F43}"/>
              </a:ext>
            </a:extLst>
          </p:cNvPr>
          <p:cNvSpPr txBox="1"/>
          <p:nvPr/>
        </p:nvSpPr>
        <p:spPr>
          <a:xfrm flipH="1">
            <a:off x="4159491" y="1652128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42FBC8-BE63-46D0-839D-F44B23592294}"/>
              </a:ext>
            </a:extLst>
          </p:cNvPr>
          <p:cNvSpPr txBox="1"/>
          <p:nvPr/>
        </p:nvSpPr>
        <p:spPr>
          <a:xfrm flipH="1">
            <a:off x="4221852" y="165604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53BA9C-DB90-4736-893B-F44A237BD610}"/>
              </a:ext>
            </a:extLst>
          </p:cNvPr>
          <p:cNvSpPr txBox="1"/>
          <p:nvPr/>
        </p:nvSpPr>
        <p:spPr>
          <a:xfrm flipH="1">
            <a:off x="5073891" y="1663558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D6A791-CD70-4211-9AE3-FE4E7433A7ED}"/>
              </a:ext>
            </a:extLst>
          </p:cNvPr>
          <p:cNvSpPr txBox="1"/>
          <p:nvPr/>
        </p:nvSpPr>
        <p:spPr>
          <a:xfrm flipH="1">
            <a:off x="5091275" y="1644619"/>
            <a:ext cx="4544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10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7EC0754-8A67-46AB-9858-67C3FE965097}"/>
              </a:ext>
            </a:extLst>
          </p:cNvPr>
          <p:cNvSpPr txBox="1"/>
          <p:nvPr/>
        </p:nvSpPr>
        <p:spPr>
          <a:xfrm flipH="1">
            <a:off x="6034011" y="1652128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7B020F-9B3A-4571-8E7E-1102CEAC62AA}"/>
              </a:ext>
            </a:extLst>
          </p:cNvPr>
          <p:cNvSpPr txBox="1"/>
          <p:nvPr/>
        </p:nvSpPr>
        <p:spPr>
          <a:xfrm flipH="1">
            <a:off x="7136502" y="164461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F05DA5-0B1E-4FBB-A834-EDEE49EEE573}"/>
              </a:ext>
            </a:extLst>
          </p:cNvPr>
          <p:cNvSpPr txBox="1"/>
          <p:nvPr/>
        </p:nvSpPr>
        <p:spPr>
          <a:xfrm flipH="1">
            <a:off x="7988541" y="1652128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17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9B2266-9F72-4909-87AF-B76F24BF579E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[7]</a:t>
            </a:r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D8BD0D4F-D259-476B-B0FD-A9C39C5C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1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0.00139 L 0.06849 -0.00208 " pathEditMode="relative" rAng="0" ptsTypes="AA">
                                      <p:cBhvr from="" to=""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49 -0.00209 L 0.14479 -0.00347 " pathEditMode="relative" rAng="0" ptsTypes="AA">
                                      <p:cBhvr from="" to="">
                                        <p:cTn id="5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79 -0.00348 L 0.22422 -0.00347 " pathEditMode="relative" rAng="0" ptsTypes="AA">
                                      <p:cBhvr from="" to="">
                                        <p:cTn id="7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422 -0.00348 L 0.30156 -0.00394 " pathEditMode="relative" rAng="0" ptsTypes="AA">
                                      <p:cBhvr from="" to="">
                                        <p:cTn id="10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0" presetClass="entr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156 -0.00394 L 0.38151 -0.00348 " pathEditMode="relative" rAng="0" ptsTypes="AA">
                                      <p:cBhvr from="" to="">
                                        <p:cTn id="1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0" presetClass="entr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51 -0.00348 L 0.46094 -0.00301 " pathEditMode="relative" rAng="0" ptsTypes="AA">
                                      <p:cBhvr from="" to="">
                                        <p:cTn id="1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E942A2-9904-44ED-A856-4380D0D144C2}"/>
              </a:ext>
            </a:extLst>
          </p:cNvPr>
          <p:cNvGraphicFramePr>
            <a:graphicFrameLocks noGrp="1"/>
          </p:cNvGraphicFramePr>
          <p:nvPr/>
        </p:nvGraphicFramePr>
        <p:xfrm>
          <a:off x="340678" y="1524027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PA-下箭头 16">
            <a:extLst>
              <a:ext uri="{FF2B5EF4-FFF2-40B4-BE49-F238E27FC236}">
                <a16:creationId xmlns:a16="http://schemas.microsoft.com/office/drawing/2014/main" id="{6EDE607A-497B-4A28-AC98-B49270CD859E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68218" y="112802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CA01C5-3529-4003-8037-7292349B039F}"/>
              </a:ext>
            </a:extLst>
          </p:cNvPr>
          <p:cNvSpPr/>
          <p:nvPr/>
        </p:nvSpPr>
        <p:spPr>
          <a:xfrm>
            <a:off x="949891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30BAD3-888A-49D8-9897-B85B0A439D65}"/>
              </a:ext>
            </a:extLst>
          </p:cNvPr>
          <p:cNvSpPr/>
          <p:nvPr/>
        </p:nvSpPr>
        <p:spPr>
          <a:xfrm>
            <a:off x="748332" y="321577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83DBEE-39A7-49C7-BE05-F5CD44FFDE29}"/>
              </a:ext>
            </a:extLst>
          </p:cNvPr>
          <p:cNvSpPr/>
          <p:nvPr/>
        </p:nvSpPr>
        <p:spPr>
          <a:xfrm>
            <a:off x="1739530" y="31042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4734BA-1992-4157-9090-555492463979}"/>
              </a:ext>
            </a:extLst>
          </p:cNvPr>
          <p:cNvSpPr/>
          <p:nvPr/>
        </p:nvSpPr>
        <p:spPr>
          <a:xfrm>
            <a:off x="1739530" y="34979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7BEFE8-8844-40FB-BE1C-198B7F76FD79}"/>
              </a:ext>
            </a:extLst>
          </p:cNvPr>
          <p:cNvSpPr/>
          <p:nvPr/>
        </p:nvSpPr>
        <p:spPr>
          <a:xfrm>
            <a:off x="1743340" y="39018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A70AF0-AEA4-48A1-8035-39F623A5843D}"/>
              </a:ext>
            </a:extLst>
          </p:cNvPr>
          <p:cNvSpPr/>
          <p:nvPr/>
        </p:nvSpPr>
        <p:spPr>
          <a:xfrm>
            <a:off x="1754770" y="43018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4B8C99-1BB4-4E59-A673-5E3110FD67BE}"/>
              </a:ext>
            </a:extLst>
          </p:cNvPr>
          <p:cNvSpPr/>
          <p:nvPr/>
        </p:nvSpPr>
        <p:spPr>
          <a:xfrm>
            <a:off x="1770010" y="4705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66A8A7-5739-4AC0-B285-2EF305650E9F}"/>
              </a:ext>
            </a:extLst>
          </p:cNvPr>
          <p:cNvSpPr/>
          <p:nvPr/>
        </p:nvSpPr>
        <p:spPr>
          <a:xfrm>
            <a:off x="1770010" y="50829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4BFD9E-671D-4A7C-9F5F-56A1C3BF297D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[7]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05FD38-DD98-4789-9092-B6700BDAB88F}"/>
              </a:ext>
            </a:extLst>
          </p:cNvPr>
          <p:cNvSpPr/>
          <p:nvPr/>
        </p:nvSpPr>
        <p:spPr>
          <a:xfrm>
            <a:off x="782714" y="35325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BABCEA-8069-4A47-82F5-D3436D809746}"/>
              </a:ext>
            </a:extLst>
          </p:cNvPr>
          <p:cNvSpPr/>
          <p:nvPr/>
        </p:nvSpPr>
        <p:spPr>
          <a:xfrm>
            <a:off x="782714" y="39262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F2AD2F-3B85-412B-B4A0-567C0A191A16}"/>
              </a:ext>
            </a:extLst>
          </p:cNvPr>
          <p:cNvSpPr/>
          <p:nvPr/>
        </p:nvSpPr>
        <p:spPr>
          <a:xfrm>
            <a:off x="786524" y="433006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F772EE-26EC-4EBF-B767-B58594A20A95}"/>
              </a:ext>
            </a:extLst>
          </p:cNvPr>
          <p:cNvSpPr/>
          <p:nvPr/>
        </p:nvSpPr>
        <p:spPr>
          <a:xfrm>
            <a:off x="797954" y="473011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3A7E8-E6FF-4D03-8210-E75697E59262}"/>
              </a:ext>
            </a:extLst>
          </p:cNvPr>
          <p:cNvSpPr/>
          <p:nvPr/>
        </p:nvSpPr>
        <p:spPr>
          <a:xfrm>
            <a:off x="813194" y="513397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E80D21-B5B7-444E-A25A-72AFB78F8FA9}"/>
              </a:ext>
            </a:extLst>
          </p:cNvPr>
          <p:cNvSpPr/>
          <p:nvPr/>
        </p:nvSpPr>
        <p:spPr>
          <a:xfrm>
            <a:off x="813700" y="54867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79F664-0A8C-4A3E-92A2-C5FB2A8CE71F}"/>
              </a:ext>
            </a:extLst>
          </p:cNvPr>
          <p:cNvSpPr txBox="1"/>
          <p:nvPr/>
        </p:nvSpPr>
        <p:spPr>
          <a:xfrm flipH="1">
            <a:off x="2422355" y="164808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449952-483F-4A45-A150-C053AB1DE583}"/>
              </a:ext>
            </a:extLst>
          </p:cNvPr>
          <p:cNvSpPr txBox="1"/>
          <p:nvPr/>
        </p:nvSpPr>
        <p:spPr>
          <a:xfrm flipH="1">
            <a:off x="1456708" y="164808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9B1774-281F-4409-A0A2-C520792261EA}"/>
              </a:ext>
            </a:extLst>
          </p:cNvPr>
          <p:cNvSpPr txBox="1"/>
          <p:nvPr/>
        </p:nvSpPr>
        <p:spPr>
          <a:xfrm flipH="1">
            <a:off x="3338568" y="164808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F57C0B-6132-4A2C-9E26-F419751F7F84}"/>
              </a:ext>
            </a:extLst>
          </p:cNvPr>
          <p:cNvSpPr txBox="1"/>
          <p:nvPr/>
        </p:nvSpPr>
        <p:spPr>
          <a:xfrm flipH="1">
            <a:off x="4219035" y="164808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A72A2D-F6C1-4AB1-8194-73CDB1A12745}"/>
              </a:ext>
            </a:extLst>
          </p:cNvPr>
          <p:cNvSpPr txBox="1"/>
          <p:nvPr/>
        </p:nvSpPr>
        <p:spPr>
          <a:xfrm flipH="1">
            <a:off x="4166280" y="1640926"/>
            <a:ext cx="4811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10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FAD953-073E-44A9-915F-D32BAFE18BD7}"/>
              </a:ext>
            </a:extLst>
          </p:cNvPr>
          <p:cNvSpPr txBox="1"/>
          <p:nvPr/>
        </p:nvSpPr>
        <p:spPr>
          <a:xfrm flipH="1">
            <a:off x="5146129" y="164808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2A6501-E091-47B6-A4BB-057CD891A142}"/>
              </a:ext>
            </a:extLst>
          </p:cNvPr>
          <p:cNvSpPr txBox="1"/>
          <p:nvPr/>
        </p:nvSpPr>
        <p:spPr>
          <a:xfrm flipH="1">
            <a:off x="6236839" y="1636659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2244F8-1801-40EB-9BC8-836483DCB17C}"/>
              </a:ext>
            </a:extLst>
          </p:cNvPr>
          <p:cNvSpPr txBox="1"/>
          <p:nvPr/>
        </p:nvSpPr>
        <p:spPr>
          <a:xfrm flipH="1">
            <a:off x="6992482" y="164808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15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D2B891-1B39-4145-A511-77C5674E624A}"/>
              </a:ext>
            </a:extLst>
          </p:cNvPr>
          <p:cNvSpPr/>
          <p:nvPr/>
        </p:nvSpPr>
        <p:spPr>
          <a:xfrm>
            <a:off x="2840552" y="318584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0F6508C-8A49-437F-AF47-8B0517E66A27}"/>
              </a:ext>
            </a:extLst>
          </p:cNvPr>
          <p:cNvSpPr/>
          <p:nvPr/>
        </p:nvSpPr>
        <p:spPr>
          <a:xfrm>
            <a:off x="3831750" y="30743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919F1C-458D-4F1D-B09D-8B1AFDF2F596}"/>
              </a:ext>
            </a:extLst>
          </p:cNvPr>
          <p:cNvSpPr/>
          <p:nvPr/>
        </p:nvSpPr>
        <p:spPr>
          <a:xfrm>
            <a:off x="3831750" y="34680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F89274-F587-46E2-A702-9EAFC7277FDE}"/>
              </a:ext>
            </a:extLst>
          </p:cNvPr>
          <p:cNvSpPr/>
          <p:nvPr/>
        </p:nvSpPr>
        <p:spPr>
          <a:xfrm>
            <a:off x="3835560" y="387189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7C87339-E22A-4004-9DC8-1D363730D3B2}"/>
              </a:ext>
            </a:extLst>
          </p:cNvPr>
          <p:cNvSpPr/>
          <p:nvPr/>
        </p:nvSpPr>
        <p:spPr>
          <a:xfrm>
            <a:off x="3846990" y="427194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EFA203-E7E5-49B7-9422-B7B850055F11}"/>
              </a:ext>
            </a:extLst>
          </p:cNvPr>
          <p:cNvSpPr/>
          <p:nvPr/>
        </p:nvSpPr>
        <p:spPr>
          <a:xfrm>
            <a:off x="3862230" y="467580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B48F0B6-CFC6-4745-BE2D-94ED757098BB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D3AD52-F144-4B7D-9B98-96B1278A5E29}"/>
              </a:ext>
            </a:extLst>
          </p:cNvPr>
          <p:cNvSpPr/>
          <p:nvPr/>
        </p:nvSpPr>
        <p:spPr>
          <a:xfrm>
            <a:off x="2874934" y="35025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46F2832-0B52-4419-A737-C713A0959EFA}"/>
              </a:ext>
            </a:extLst>
          </p:cNvPr>
          <p:cNvSpPr/>
          <p:nvPr/>
        </p:nvSpPr>
        <p:spPr>
          <a:xfrm>
            <a:off x="2874934" y="38962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DEE9D8D-781F-4529-96EA-F2BFED9B2336}"/>
              </a:ext>
            </a:extLst>
          </p:cNvPr>
          <p:cNvSpPr/>
          <p:nvPr/>
        </p:nvSpPr>
        <p:spPr>
          <a:xfrm>
            <a:off x="2878744" y="4300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AF74E62-205B-43F7-9DEC-95D72258F9A7}"/>
              </a:ext>
            </a:extLst>
          </p:cNvPr>
          <p:cNvSpPr/>
          <p:nvPr/>
        </p:nvSpPr>
        <p:spPr>
          <a:xfrm>
            <a:off x="2890174" y="47001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D1AA96B-7E94-4532-A07B-8EDD2819BA1D}"/>
              </a:ext>
            </a:extLst>
          </p:cNvPr>
          <p:cNvSpPr/>
          <p:nvPr/>
        </p:nvSpPr>
        <p:spPr>
          <a:xfrm>
            <a:off x="2905414" y="510403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4C2EC90-2674-4411-85E7-A673BBA3FA4D}"/>
              </a:ext>
            </a:extLst>
          </p:cNvPr>
          <p:cNvSpPr/>
          <p:nvPr/>
        </p:nvSpPr>
        <p:spPr>
          <a:xfrm>
            <a:off x="3039484" y="269282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C1BDBA2-78FE-40BC-AFD5-1A164B9DC50A}"/>
              </a:ext>
            </a:extLst>
          </p:cNvPr>
          <p:cNvSpPr/>
          <p:nvPr/>
        </p:nvSpPr>
        <p:spPr>
          <a:xfrm>
            <a:off x="1779631" y="54734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[7]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8726ED7-4716-4318-A9C5-93C0BBA41B8A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[6]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25EDF3ED-77F1-40DF-A3ED-42B6E25F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EC5BD13-8EDD-4EFA-BEF4-93C0C1B635C7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冒泡排序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49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0139 L 0.07357 -0.00301 " pathEditMode="relative" rAng="0" ptsTypes="AA">
                                      <p:cBhvr from="" to=""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57 -0.00301 L 0.14883 -0.00625 " pathEditMode="relative" rAng="0" ptsTypes="AA">
                                      <p:cBhvr from="" to="">
                                        <p:cTn id="4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883 -0.00625 L 0.22956 -0.00532 " pathEditMode="relative" rAng="0" ptsTypes="AA">
                                      <p:cBhvr from="" to="">
                                        <p:cTn id="7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56 -0.00533 L 0.30717 -0.00578 " pathEditMode="relative" rAng="0" ptsTypes="AA">
                                      <p:cBhvr from="" to="">
                                        <p:cTn id="9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entr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716 -0.00579 L 0.38464 -0.00486 " pathEditMode="relative" rAng="0" ptsTypes="AA">
                                      <p:cBhvr from="" to="">
                                        <p:cTn id="10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C1058B8-D6B8-4D18-B2C0-FC4D3533407C}"/>
              </a:ext>
            </a:extLst>
          </p:cNvPr>
          <p:cNvGraphicFramePr>
            <a:graphicFrameLocks noGrp="1"/>
          </p:cNvGraphicFramePr>
          <p:nvPr/>
        </p:nvGraphicFramePr>
        <p:xfrm>
          <a:off x="340678" y="1524027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PA-下箭头 16">
            <a:extLst>
              <a:ext uri="{FF2B5EF4-FFF2-40B4-BE49-F238E27FC236}">
                <a16:creationId xmlns:a16="http://schemas.microsoft.com/office/drawing/2014/main" id="{E0043C59-F35F-4674-B77D-000D0754AD67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68218" y="112802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C58908-FE30-47E1-BC16-BCCE8FA8B621}"/>
              </a:ext>
            </a:extLst>
          </p:cNvPr>
          <p:cNvSpPr/>
          <p:nvPr/>
        </p:nvSpPr>
        <p:spPr>
          <a:xfrm>
            <a:off x="949891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BD9394-8276-4A0B-BF84-697EC23D80A4}"/>
              </a:ext>
            </a:extLst>
          </p:cNvPr>
          <p:cNvSpPr/>
          <p:nvPr/>
        </p:nvSpPr>
        <p:spPr>
          <a:xfrm>
            <a:off x="748332" y="321577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BE2508-87E1-4255-8906-124FCC03601E}"/>
              </a:ext>
            </a:extLst>
          </p:cNvPr>
          <p:cNvSpPr/>
          <p:nvPr/>
        </p:nvSpPr>
        <p:spPr>
          <a:xfrm>
            <a:off x="1739530" y="31042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9EFEED-FBBF-4B20-9A7E-0E068A1A63AC}"/>
              </a:ext>
            </a:extLst>
          </p:cNvPr>
          <p:cNvSpPr/>
          <p:nvPr/>
        </p:nvSpPr>
        <p:spPr>
          <a:xfrm>
            <a:off x="1739530" y="34979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E45316-6F1E-4D4F-A966-73E8A5698AE1}"/>
              </a:ext>
            </a:extLst>
          </p:cNvPr>
          <p:cNvSpPr/>
          <p:nvPr/>
        </p:nvSpPr>
        <p:spPr>
          <a:xfrm>
            <a:off x="1743340" y="39018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DC0E6E-3537-414B-975F-F071CE0865F5}"/>
              </a:ext>
            </a:extLst>
          </p:cNvPr>
          <p:cNvSpPr/>
          <p:nvPr/>
        </p:nvSpPr>
        <p:spPr>
          <a:xfrm>
            <a:off x="1754770" y="43018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08EC27-D3B3-4C8F-B908-E387E3450A86}"/>
              </a:ext>
            </a:extLst>
          </p:cNvPr>
          <p:cNvSpPr/>
          <p:nvPr/>
        </p:nvSpPr>
        <p:spPr>
          <a:xfrm>
            <a:off x="1770010" y="4705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1A6C60-C03B-449C-B346-F937DDBB8DAC}"/>
              </a:ext>
            </a:extLst>
          </p:cNvPr>
          <p:cNvSpPr/>
          <p:nvPr/>
        </p:nvSpPr>
        <p:spPr>
          <a:xfrm>
            <a:off x="1770010" y="50829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9A36F-7067-4690-8249-70E6F9CC8305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[7]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DF3675-5387-4451-B83E-FBF9598810CA}"/>
              </a:ext>
            </a:extLst>
          </p:cNvPr>
          <p:cNvSpPr/>
          <p:nvPr/>
        </p:nvSpPr>
        <p:spPr>
          <a:xfrm>
            <a:off x="782714" y="35325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7F1095-093B-4AD5-894D-548C8FF12133}"/>
              </a:ext>
            </a:extLst>
          </p:cNvPr>
          <p:cNvSpPr/>
          <p:nvPr/>
        </p:nvSpPr>
        <p:spPr>
          <a:xfrm>
            <a:off x="782714" y="39262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0A1E26-2169-41F6-81A3-183DC58A0EF9}"/>
              </a:ext>
            </a:extLst>
          </p:cNvPr>
          <p:cNvSpPr/>
          <p:nvPr/>
        </p:nvSpPr>
        <p:spPr>
          <a:xfrm>
            <a:off x="786524" y="433006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1A0406-A270-4D7D-B054-3F8F5A33CF3E}"/>
              </a:ext>
            </a:extLst>
          </p:cNvPr>
          <p:cNvSpPr/>
          <p:nvPr/>
        </p:nvSpPr>
        <p:spPr>
          <a:xfrm>
            <a:off x="797954" y="473011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A796D8-534A-433E-BA1A-8C6DED5041B1}"/>
              </a:ext>
            </a:extLst>
          </p:cNvPr>
          <p:cNvSpPr/>
          <p:nvPr/>
        </p:nvSpPr>
        <p:spPr>
          <a:xfrm>
            <a:off x="813194" y="513397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78CC8A-C088-4814-AA49-B8660779DBA5}"/>
              </a:ext>
            </a:extLst>
          </p:cNvPr>
          <p:cNvSpPr/>
          <p:nvPr/>
        </p:nvSpPr>
        <p:spPr>
          <a:xfrm>
            <a:off x="813700" y="54867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4FA613-E350-41C8-9D1E-5DDD2745E831}"/>
              </a:ext>
            </a:extLst>
          </p:cNvPr>
          <p:cNvSpPr txBox="1"/>
          <p:nvPr/>
        </p:nvSpPr>
        <p:spPr>
          <a:xfrm flipH="1">
            <a:off x="3338568" y="1635794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8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C19789-CE9A-4BE6-A0CA-8E6F6BC2747E}"/>
              </a:ext>
            </a:extLst>
          </p:cNvPr>
          <p:cNvSpPr txBox="1"/>
          <p:nvPr/>
        </p:nvSpPr>
        <p:spPr>
          <a:xfrm flipH="1">
            <a:off x="2359432" y="163140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6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70B3AD-B662-464E-9920-2512CB4DEEC3}"/>
              </a:ext>
            </a:extLst>
          </p:cNvPr>
          <p:cNvSpPr txBox="1"/>
          <p:nvPr/>
        </p:nvSpPr>
        <p:spPr>
          <a:xfrm flipH="1">
            <a:off x="5225514" y="1640458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9CCF46-83BB-47EE-BC04-E5CF197FE728}"/>
              </a:ext>
            </a:extLst>
          </p:cNvPr>
          <p:cNvSpPr txBox="1"/>
          <p:nvPr/>
        </p:nvSpPr>
        <p:spPr>
          <a:xfrm flipH="1">
            <a:off x="6110143" y="1642839"/>
            <a:ext cx="48112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13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2A8ABED-99F4-4614-93C1-6FDE8E1F0CA4}"/>
              </a:ext>
            </a:extLst>
          </p:cNvPr>
          <p:cNvSpPr/>
          <p:nvPr/>
        </p:nvSpPr>
        <p:spPr>
          <a:xfrm>
            <a:off x="2840552" y="318584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211CF7-2127-4B26-8B73-6E9BA6399C0C}"/>
              </a:ext>
            </a:extLst>
          </p:cNvPr>
          <p:cNvSpPr/>
          <p:nvPr/>
        </p:nvSpPr>
        <p:spPr>
          <a:xfrm>
            <a:off x="3831750" y="30743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1A4070-79EA-4914-8291-3148EA883830}"/>
              </a:ext>
            </a:extLst>
          </p:cNvPr>
          <p:cNvSpPr/>
          <p:nvPr/>
        </p:nvSpPr>
        <p:spPr>
          <a:xfrm>
            <a:off x="3831750" y="34680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97A1CC-71B0-4DF5-A61B-CE352355B184}"/>
              </a:ext>
            </a:extLst>
          </p:cNvPr>
          <p:cNvSpPr/>
          <p:nvPr/>
        </p:nvSpPr>
        <p:spPr>
          <a:xfrm>
            <a:off x="3835560" y="387189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AFC934-9831-43D3-B318-E58A5FB50336}"/>
              </a:ext>
            </a:extLst>
          </p:cNvPr>
          <p:cNvSpPr/>
          <p:nvPr/>
        </p:nvSpPr>
        <p:spPr>
          <a:xfrm>
            <a:off x="3846990" y="427194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70515C-EB1C-4D4C-BCE6-8D3C39DE1800}"/>
              </a:ext>
            </a:extLst>
          </p:cNvPr>
          <p:cNvSpPr/>
          <p:nvPr/>
        </p:nvSpPr>
        <p:spPr>
          <a:xfrm>
            <a:off x="3862230" y="467580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FC1A5B-F5CA-41F1-B929-B46B34B51D8B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9022EB8-1069-4C41-8E2C-B31F7ED0C23D}"/>
              </a:ext>
            </a:extLst>
          </p:cNvPr>
          <p:cNvSpPr/>
          <p:nvPr/>
        </p:nvSpPr>
        <p:spPr>
          <a:xfrm>
            <a:off x="2874934" y="35025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22995E-DDA7-44A6-A42F-C5280EA4D671}"/>
              </a:ext>
            </a:extLst>
          </p:cNvPr>
          <p:cNvSpPr/>
          <p:nvPr/>
        </p:nvSpPr>
        <p:spPr>
          <a:xfrm>
            <a:off x="2874934" y="38962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E0B6082-425A-4E0A-8239-12D3EF7AB5DF}"/>
              </a:ext>
            </a:extLst>
          </p:cNvPr>
          <p:cNvSpPr/>
          <p:nvPr/>
        </p:nvSpPr>
        <p:spPr>
          <a:xfrm>
            <a:off x="2878744" y="4300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E7FD3E-745E-4C42-A4E7-A52B9314A455}"/>
              </a:ext>
            </a:extLst>
          </p:cNvPr>
          <p:cNvSpPr/>
          <p:nvPr/>
        </p:nvSpPr>
        <p:spPr>
          <a:xfrm>
            <a:off x="2890174" y="47001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55F588-5F43-48FA-B7AF-DDDCA96AB3C1}"/>
              </a:ext>
            </a:extLst>
          </p:cNvPr>
          <p:cNvSpPr/>
          <p:nvPr/>
        </p:nvSpPr>
        <p:spPr>
          <a:xfrm>
            <a:off x="2905414" y="510403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C7173A6-463A-421B-9A0B-0B7479D046FF}"/>
              </a:ext>
            </a:extLst>
          </p:cNvPr>
          <p:cNvSpPr/>
          <p:nvPr/>
        </p:nvSpPr>
        <p:spPr>
          <a:xfrm>
            <a:off x="3039484" y="269282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53678F-8F3E-4D53-9272-6655793DAAB0}"/>
              </a:ext>
            </a:extLst>
          </p:cNvPr>
          <p:cNvSpPr/>
          <p:nvPr/>
        </p:nvSpPr>
        <p:spPr>
          <a:xfrm>
            <a:off x="5892960" y="30667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5521DA-5613-403E-9F2A-09C5D38FFA4E}"/>
              </a:ext>
            </a:extLst>
          </p:cNvPr>
          <p:cNvSpPr/>
          <p:nvPr/>
        </p:nvSpPr>
        <p:spPr>
          <a:xfrm>
            <a:off x="5892960" y="34604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AB9BBF1-4A98-4D44-A4B7-549BC268D7E2}"/>
              </a:ext>
            </a:extLst>
          </p:cNvPr>
          <p:cNvSpPr/>
          <p:nvPr/>
        </p:nvSpPr>
        <p:spPr>
          <a:xfrm>
            <a:off x="5896770" y="386427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3EFCE6E-ABD2-4E97-A5F9-81D39A64269D}"/>
              </a:ext>
            </a:extLst>
          </p:cNvPr>
          <p:cNvSpPr/>
          <p:nvPr/>
        </p:nvSpPr>
        <p:spPr>
          <a:xfrm>
            <a:off x="5908200" y="42643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2172E74-17E0-4C27-83F4-2E869DB6A72D}"/>
              </a:ext>
            </a:extLst>
          </p:cNvPr>
          <p:cNvSpPr/>
          <p:nvPr/>
        </p:nvSpPr>
        <p:spPr>
          <a:xfrm>
            <a:off x="5100694" y="268520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三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3AB49A1-5572-4CD5-A1C3-6958BFEE7BB9}"/>
              </a:ext>
            </a:extLst>
          </p:cNvPr>
          <p:cNvSpPr/>
          <p:nvPr/>
        </p:nvSpPr>
        <p:spPr>
          <a:xfrm>
            <a:off x="4901762" y="316679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6D52376-DEDA-4F9F-BDF3-0FEFC684C187}"/>
              </a:ext>
            </a:extLst>
          </p:cNvPr>
          <p:cNvSpPr/>
          <p:nvPr/>
        </p:nvSpPr>
        <p:spPr>
          <a:xfrm>
            <a:off x="4936144" y="34835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196B3FA-91EB-46AA-BBF9-D87B07C6E7AD}"/>
              </a:ext>
            </a:extLst>
          </p:cNvPr>
          <p:cNvSpPr/>
          <p:nvPr/>
        </p:nvSpPr>
        <p:spPr>
          <a:xfrm>
            <a:off x="4936144" y="38772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1F74CC9-FED6-497D-93E7-943238BFDA9A}"/>
              </a:ext>
            </a:extLst>
          </p:cNvPr>
          <p:cNvSpPr/>
          <p:nvPr/>
        </p:nvSpPr>
        <p:spPr>
          <a:xfrm>
            <a:off x="4939954" y="42810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BBCF613-6C08-4183-999C-D6C0D7A801FE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88970AC-9FB6-4D8F-91E8-652FAD7D529C}"/>
              </a:ext>
            </a:extLst>
          </p:cNvPr>
          <p:cNvSpPr/>
          <p:nvPr/>
        </p:nvSpPr>
        <p:spPr>
          <a:xfrm>
            <a:off x="4939954" y="4681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E61F825-0CAD-4016-BCE0-A4FAC2902F52}"/>
              </a:ext>
            </a:extLst>
          </p:cNvPr>
          <p:cNvSpPr/>
          <p:nvPr/>
        </p:nvSpPr>
        <p:spPr>
          <a:xfrm>
            <a:off x="6468267" y="2706598"/>
            <a:ext cx="72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b="1" kern="100" dirty="0">
                <a:latin typeface="宋体"/>
                <a:cs typeface="Times New Roman"/>
              </a:rPr>
              <a:t>…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AFF24BC-E990-43B4-857C-FC072A53D472}"/>
              </a:ext>
            </a:extLst>
          </p:cNvPr>
          <p:cNvSpPr/>
          <p:nvPr/>
        </p:nvSpPr>
        <p:spPr>
          <a:xfrm>
            <a:off x="1779631" y="54734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[7]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B78B141-D8BD-4ABB-AF9C-A61C1AE919CE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[6]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8CAAF4A-B2FF-49EA-8DA8-94EDB4C59B76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55EE5290-E406-40E8-A130-625A0880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35B82E-FA4F-440C-B908-3BF134B86D49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冒泡排序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891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entr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0139 L 0.07279 -0.00393 " pathEditMode="relative" rAng="0" ptsTypes="AA">
                                      <p:cBhvr from="" to=""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entr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79 -0.00394 L 0.15092 -0.00579 " pathEditMode="relative" rAng="0" ptsTypes="AA">
                                      <p:cBhvr from="" to="">
                                        <p:cTn id="4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3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entr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91 -0.00579 L 0.22904 -0.00648 " pathEditMode="relative" rAng="0" ptsTypes="AA">
                                      <p:cBhvr from="" to="">
                                        <p:cTn id="6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entr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04 -0.00648 L 0.30977 -0.00579 " pathEditMode="relative" rAng="0" ptsTypes="AA">
                                      <p:cBhvr from="" to="">
                                        <p:cTn id="7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4" grpId="4" animBg="1"/>
      <p:bldP spid="20" grpId="0" animBg="1"/>
      <p:bldP spid="21" grpId="0" animBg="1"/>
      <p:bldP spid="22" grpId="0" animBg="1"/>
      <p:bldP spid="23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5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79DE82D-36A8-4F0D-9FC7-1F1DABD7A2B0}"/>
              </a:ext>
            </a:extLst>
          </p:cNvPr>
          <p:cNvGraphicFramePr>
            <a:graphicFrameLocks noGrp="1"/>
          </p:cNvGraphicFramePr>
          <p:nvPr/>
        </p:nvGraphicFramePr>
        <p:xfrm>
          <a:off x="340678" y="1524027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PA-下箭头 16">
            <a:extLst>
              <a:ext uri="{FF2B5EF4-FFF2-40B4-BE49-F238E27FC236}">
                <a16:creationId xmlns:a16="http://schemas.microsoft.com/office/drawing/2014/main" id="{7D6A6DC2-6256-4443-BD15-12059FE803E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68218" y="112802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38FCBB-03CF-453D-85B8-86F1A561FA1B}"/>
              </a:ext>
            </a:extLst>
          </p:cNvPr>
          <p:cNvSpPr/>
          <p:nvPr/>
        </p:nvSpPr>
        <p:spPr>
          <a:xfrm>
            <a:off x="949891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F7966B-F00E-4D30-BDBA-8B7503660ABC}"/>
              </a:ext>
            </a:extLst>
          </p:cNvPr>
          <p:cNvSpPr/>
          <p:nvPr/>
        </p:nvSpPr>
        <p:spPr>
          <a:xfrm>
            <a:off x="748332" y="321577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DA33BD-E6E6-4FA1-B0E4-F02CC6A6FBBB}"/>
              </a:ext>
            </a:extLst>
          </p:cNvPr>
          <p:cNvSpPr/>
          <p:nvPr/>
        </p:nvSpPr>
        <p:spPr>
          <a:xfrm>
            <a:off x="1739530" y="31042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F99D5A-978B-4836-8668-6ACF0AB061F8}"/>
              </a:ext>
            </a:extLst>
          </p:cNvPr>
          <p:cNvSpPr/>
          <p:nvPr/>
        </p:nvSpPr>
        <p:spPr>
          <a:xfrm>
            <a:off x="1739530" y="34979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F76871-8E8F-4415-9304-C1F717EED513}"/>
              </a:ext>
            </a:extLst>
          </p:cNvPr>
          <p:cNvSpPr/>
          <p:nvPr/>
        </p:nvSpPr>
        <p:spPr>
          <a:xfrm>
            <a:off x="1743340" y="39018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2D45A-3D93-4A8C-9739-8393CAD90DE5}"/>
              </a:ext>
            </a:extLst>
          </p:cNvPr>
          <p:cNvSpPr/>
          <p:nvPr/>
        </p:nvSpPr>
        <p:spPr>
          <a:xfrm>
            <a:off x="1754770" y="43018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E21D16-1904-4E72-857F-42A23B62F473}"/>
              </a:ext>
            </a:extLst>
          </p:cNvPr>
          <p:cNvSpPr/>
          <p:nvPr/>
        </p:nvSpPr>
        <p:spPr>
          <a:xfrm>
            <a:off x="1770010" y="4705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7524A7-25E6-4002-9EB2-4FCD8799AF0F}"/>
              </a:ext>
            </a:extLst>
          </p:cNvPr>
          <p:cNvSpPr/>
          <p:nvPr/>
        </p:nvSpPr>
        <p:spPr>
          <a:xfrm>
            <a:off x="1770010" y="50829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BF17B9-5623-4DC0-A160-B0A12CC9A27C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[7]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0AB676-2E04-41C5-ABDB-CEC299A7FBBC}"/>
              </a:ext>
            </a:extLst>
          </p:cNvPr>
          <p:cNvSpPr/>
          <p:nvPr/>
        </p:nvSpPr>
        <p:spPr>
          <a:xfrm>
            <a:off x="782714" y="35325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AA55D6-4C20-4738-8DF2-2FA1BE2A2252}"/>
              </a:ext>
            </a:extLst>
          </p:cNvPr>
          <p:cNvSpPr/>
          <p:nvPr/>
        </p:nvSpPr>
        <p:spPr>
          <a:xfrm>
            <a:off x="782714" y="39262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4B98E6-8A0C-46DA-A00A-AD044CA9AA77}"/>
              </a:ext>
            </a:extLst>
          </p:cNvPr>
          <p:cNvSpPr/>
          <p:nvPr/>
        </p:nvSpPr>
        <p:spPr>
          <a:xfrm>
            <a:off x="786524" y="433006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1E772A-060D-4E5A-A9E7-CFBEF2614CF4}"/>
              </a:ext>
            </a:extLst>
          </p:cNvPr>
          <p:cNvSpPr/>
          <p:nvPr/>
        </p:nvSpPr>
        <p:spPr>
          <a:xfrm>
            <a:off x="797954" y="473011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9A584A-CCE3-4B52-830B-130A132C07C9}"/>
              </a:ext>
            </a:extLst>
          </p:cNvPr>
          <p:cNvSpPr/>
          <p:nvPr/>
        </p:nvSpPr>
        <p:spPr>
          <a:xfrm>
            <a:off x="813194" y="513397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46E046-D651-42BB-A0E7-015889C7AD15}"/>
              </a:ext>
            </a:extLst>
          </p:cNvPr>
          <p:cNvSpPr/>
          <p:nvPr/>
        </p:nvSpPr>
        <p:spPr>
          <a:xfrm>
            <a:off x="813700" y="54867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6C2BAC-1776-4EB9-818D-BB0FA937D825}"/>
              </a:ext>
            </a:extLst>
          </p:cNvPr>
          <p:cNvSpPr txBox="1"/>
          <p:nvPr/>
        </p:nvSpPr>
        <p:spPr>
          <a:xfrm flipH="1">
            <a:off x="2351274" y="163175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85F281-0B93-430B-A9D0-80E7E3467B94}"/>
              </a:ext>
            </a:extLst>
          </p:cNvPr>
          <p:cNvSpPr txBox="1"/>
          <p:nvPr/>
        </p:nvSpPr>
        <p:spPr>
          <a:xfrm flipH="1">
            <a:off x="1394458" y="164196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09B67D-4EEC-4F6C-B62F-D5668B5C0593}"/>
              </a:ext>
            </a:extLst>
          </p:cNvPr>
          <p:cNvSpPr/>
          <p:nvPr/>
        </p:nvSpPr>
        <p:spPr>
          <a:xfrm>
            <a:off x="2840552" y="318584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3CD99E-ED8B-4FC9-8AD8-F4CF74D722A1}"/>
              </a:ext>
            </a:extLst>
          </p:cNvPr>
          <p:cNvSpPr/>
          <p:nvPr/>
        </p:nvSpPr>
        <p:spPr>
          <a:xfrm>
            <a:off x="3831750" y="30743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210387-F7E0-4CBB-AF51-7D9775D265E3}"/>
              </a:ext>
            </a:extLst>
          </p:cNvPr>
          <p:cNvSpPr/>
          <p:nvPr/>
        </p:nvSpPr>
        <p:spPr>
          <a:xfrm>
            <a:off x="3831750" y="34680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EF35F3-7C50-447B-9EEC-8CB1EFE264D0}"/>
              </a:ext>
            </a:extLst>
          </p:cNvPr>
          <p:cNvSpPr/>
          <p:nvPr/>
        </p:nvSpPr>
        <p:spPr>
          <a:xfrm>
            <a:off x="3835560" y="387189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C0909D-F7EC-40CC-8431-78ED9F18B8B7}"/>
              </a:ext>
            </a:extLst>
          </p:cNvPr>
          <p:cNvSpPr/>
          <p:nvPr/>
        </p:nvSpPr>
        <p:spPr>
          <a:xfrm>
            <a:off x="3846990" y="427194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9668C0-E426-4220-9E1A-A6C701380A31}"/>
              </a:ext>
            </a:extLst>
          </p:cNvPr>
          <p:cNvSpPr/>
          <p:nvPr/>
        </p:nvSpPr>
        <p:spPr>
          <a:xfrm>
            <a:off x="3862230" y="467580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B7292D-D4B5-48CF-A8F2-58BA365A331C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FC276D-2B66-4E57-A20F-4AE3D164791D}"/>
              </a:ext>
            </a:extLst>
          </p:cNvPr>
          <p:cNvSpPr/>
          <p:nvPr/>
        </p:nvSpPr>
        <p:spPr>
          <a:xfrm>
            <a:off x="2874934" y="35025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E1609C-B9C4-408B-8331-42534D607B41}"/>
              </a:ext>
            </a:extLst>
          </p:cNvPr>
          <p:cNvSpPr/>
          <p:nvPr/>
        </p:nvSpPr>
        <p:spPr>
          <a:xfrm>
            <a:off x="2874934" y="38962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15A249-C143-4FA6-B5B9-8BB1F55A787E}"/>
              </a:ext>
            </a:extLst>
          </p:cNvPr>
          <p:cNvSpPr/>
          <p:nvPr/>
        </p:nvSpPr>
        <p:spPr>
          <a:xfrm>
            <a:off x="2878744" y="4300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C7E279-0D05-4FA9-8A3D-E8C471563F9E}"/>
              </a:ext>
            </a:extLst>
          </p:cNvPr>
          <p:cNvSpPr/>
          <p:nvPr/>
        </p:nvSpPr>
        <p:spPr>
          <a:xfrm>
            <a:off x="2890174" y="47001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0DC634-C4E2-4333-8C34-DAE6F6413B30}"/>
              </a:ext>
            </a:extLst>
          </p:cNvPr>
          <p:cNvSpPr/>
          <p:nvPr/>
        </p:nvSpPr>
        <p:spPr>
          <a:xfrm>
            <a:off x="2905414" y="510403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21BF6B-989C-49B7-8EB1-1DEBB41BDBBA}"/>
              </a:ext>
            </a:extLst>
          </p:cNvPr>
          <p:cNvSpPr/>
          <p:nvPr/>
        </p:nvSpPr>
        <p:spPr>
          <a:xfrm>
            <a:off x="3039484" y="269282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B8C58D-BC63-463F-86B5-CD4BA7D4F994}"/>
              </a:ext>
            </a:extLst>
          </p:cNvPr>
          <p:cNvSpPr/>
          <p:nvPr/>
        </p:nvSpPr>
        <p:spPr>
          <a:xfrm>
            <a:off x="5892960" y="30667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0A0DE1-F05B-45A3-8267-E17DB607C3BF}"/>
              </a:ext>
            </a:extLst>
          </p:cNvPr>
          <p:cNvSpPr/>
          <p:nvPr/>
        </p:nvSpPr>
        <p:spPr>
          <a:xfrm>
            <a:off x="5892960" y="34604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75E577-1A0F-4A4F-A1B2-F979FB4E1CD8}"/>
              </a:ext>
            </a:extLst>
          </p:cNvPr>
          <p:cNvSpPr/>
          <p:nvPr/>
        </p:nvSpPr>
        <p:spPr>
          <a:xfrm>
            <a:off x="5896770" y="386427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B05F703-334B-4BED-9301-F0BC9241D9B2}"/>
              </a:ext>
            </a:extLst>
          </p:cNvPr>
          <p:cNvSpPr/>
          <p:nvPr/>
        </p:nvSpPr>
        <p:spPr>
          <a:xfrm>
            <a:off x="5908200" y="42643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E037AFE-D4FF-488F-B875-278C28B67540}"/>
              </a:ext>
            </a:extLst>
          </p:cNvPr>
          <p:cNvSpPr/>
          <p:nvPr/>
        </p:nvSpPr>
        <p:spPr>
          <a:xfrm>
            <a:off x="5100694" y="268520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三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967D353-779A-4C57-B6DB-6F51554E1A37}"/>
              </a:ext>
            </a:extLst>
          </p:cNvPr>
          <p:cNvSpPr/>
          <p:nvPr/>
        </p:nvSpPr>
        <p:spPr>
          <a:xfrm>
            <a:off x="4901762" y="316679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D96CF88-A564-421E-9A07-05CCF2D5C000}"/>
              </a:ext>
            </a:extLst>
          </p:cNvPr>
          <p:cNvSpPr/>
          <p:nvPr/>
        </p:nvSpPr>
        <p:spPr>
          <a:xfrm>
            <a:off x="4936144" y="34835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803FC2-EBA3-4E39-818F-53DCDB6ADD2D}"/>
              </a:ext>
            </a:extLst>
          </p:cNvPr>
          <p:cNvSpPr/>
          <p:nvPr/>
        </p:nvSpPr>
        <p:spPr>
          <a:xfrm>
            <a:off x="4936144" y="38772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EF7AB61-620A-4ED6-A944-652F9A76E87B}"/>
              </a:ext>
            </a:extLst>
          </p:cNvPr>
          <p:cNvSpPr/>
          <p:nvPr/>
        </p:nvSpPr>
        <p:spPr>
          <a:xfrm>
            <a:off x="4939954" y="42810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BDB487-5B3B-47EE-9404-B7CDF50D441C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046A2AE-5A39-4815-8A58-8284DF50FA53}"/>
              </a:ext>
            </a:extLst>
          </p:cNvPr>
          <p:cNvSpPr/>
          <p:nvPr/>
        </p:nvSpPr>
        <p:spPr>
          <a:xfrm>
            <a:off x="4939954" y="4681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8B731CD-B4B6-43F7-99AB-3211F4F7895A}"/>
              </a:ext>
            </a:extLst>
          </p:cNvPr>
          <p:cNvSpPr/>
          <p:nvPr/>
        </p:nvSpPr>
        <p:spPr>
          <a:xfrm>
            <a:off x="6468267" y="2706598"/>
            <a:ext cx="72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b="1" kern="100" dirty="0">
                <a:latin typeface="宋体"/>
                <a:cs typeface="Times New Roman"/>
              </a:rPr>
              <a:t>…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95416A8-9AD6-4BBD-8B7C-A8EFE4268EA3}"/>
              </a:ext>
            </a:extLst>
          </p:cNvPr>
          <p:cNvSpPr/>
          <p:nvPr/>
        </p:nvSpPr>
        <p:spPr>
          <a:xfrm>
            <a:off x="7231100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七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4B1F16-2AA9-4328-8D74-7819FBF6F966}"/>
              </a:ext>
            </a:extLst>
          </p:cNvPr>
          <p:cNvSpPr/>
          <p:nvPr/>
        </p:nvSpPr>
        <p:spPr>
          <a:xfrm>
            <a:off x="7157282" y="312488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72A2143-C0A7-430B-ADAD-4435B4FC1139}"/>
              </a:ext>
            </a:extLst>
          </p:cNvPr>
          <p:cNvSpPr/>
          <p:nvPr/>
        </p:nvSpPr>
        <p:spPr>
          <a:xfrm>
            <a:off x="8132397" y="300117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5E846D1-B615-40EF-A68D-72F5C1D88DDB}"/>
              </a:ext>
            </a:extLst>
          </p:cNvPr>
          <p:cNvSpPr/>
          <p:nvPr/>
        </p:nvSpPr>
        <p:spPr>
          <a:xfrm>
            <a:off x="1779631" y="54734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[7]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61283A1-E2AD-4D97-A0DC-404C2BF9849C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[6]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34EBC77-A6B9-4DC0-A1E3-29CB163C1478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387F84F-B922-495E-A670-A5F541DFB364}"/>
              </a:ext>
            </a:extLst>
          </p:cNvPr>
          <p:cNvSpPr/>
          <p:nvPr/>
        </p:nvSpPr>
        <p:spPr>
          <a:xfrm>
            <a:off x="8132397" y="300117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384281D4-A318-4E3E-BAB8-28A01E91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B7DE2D5-F906-4982-997D-8E0BE625ECBB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冒泡排序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671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  <p:bldP spid="47" grpId="0"/>
      <p:bldP spid="48" grpId="0"/>
      <p:bldP spid="49" grpId="0"/>
      <p:bldP spid="5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659046D-0619-4CAC-9812-20D1BE2AED79}"/>
              </a:ext>
            </a:extLst>
          </p:cNvPr>
          <p:cNvGraphicFramePr>
            <a:graphicFrameLocks noGrp="1"/>
          </p:cNvGraphicFramePr>
          <p:nvPr/>
        </p:nvGraphicFramePr>
        <p:xfrm>
          <a:off x="340678" y="1524027"/>
          <a:ext cx="8272460" cy="1200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468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13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15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17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cs typeface="Times New Roman"/>
                        </a:rPr>
                        <a:t> </a:t>
                      </a:r>
                      <a:endParaRPr lang="zh-CN" sz="1800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[0]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[1]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[2]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[3]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[4]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[5]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[6]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  <a:latin typeface="Times New Roman"/>
                          <a:cs typeface="Times New Roman"/>
                        </a:rPr>
                        <a:t>arr</a:t>
                      </a:r>
                      <a:r>
                        <a:rPr lang="en-US" sz="1800" b="1" kern="100" dirty="0">
                          <a:effectLst/>
                          <a:latin typeface="Times New Roman"/>
                          <a:cs typeface="Times New Roman"/>
                        </a:rPr>
                        <a:t>[7]</a:t>
                      </a:r>
                      <a:endParaRPr lang="zh-CN" sz="1800" b="1" kern="100" dirty="0">
                        <a:effectLst/>
                        <a:latin typeface="宋体"/>
                        <a:cs typeface="Times New Roman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PA-下箭头 16">
            <a:extLst>
              <a:ext uri="{FF2B5EF4-FFF2-40B4-BE49-F238E27FC236}">
                <a16:creationId xmlns:a16="http://schemas.microsoft.com/office/drawing/2014/main" id="{5090A7A6-B13C-431C-B431-97CF8A1C7FE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468218" y="1128027"/>
            <a:ext cx="159185" cy="396000"/>
          </a:xfrm>
          <a:prstGeom prst="downArrow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465DF7-7E9F-4E6C-B0E7-B76EC52C0404}"/>
              </a:ext>
            </a:extLst>
          </p:cNvPr>
          <p:cNvSpPr/>
          <p:nvPr/>
        </p:nvSpPr>
        <p:spPr>
          <a:xfrm>
            <a:off x="949891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第一轮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F7FB91-2B4A-4190-8F97-E6577FF8DBFC}"/>
              </a:ext>
            </a:extLst>
          </p:cNvPr>
          <p:cNvSpPr/>
          <p:nvPr/>
        </p:nvSpPr>
        <p:spPr>
          <a:xfrm>
            <a:off x="748332" y="3215778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C9D941-1380-4428-A9B6-3C3FA866F6A7}"/>
              </a:ext>
            </a:extLst>
          </p:cNvPr>
          <p:cNvSpPr/>
          <p:nvPr/>
        </p:nvSpPr>
        <p:spPr>
          <a:xfrm>
            <a:off x="1739530" y="31042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A34161-46E4-418A-A153-ACFCC65F249A}"/>
              </a:ext>
            </a:extLst>
          </p:cNvPr>
          <p:cNvSpPr/>
          <p:nvPr/>
        </p:nvSpPr>
        <p:spPr>
          <a:xfrm>
            <a:off x="1739530" y="349797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C4298C-9BE2-45F8-88A0-41F569B24794}"/>
              </a:ext>
            </a:extLst>
          </p:cNvPr>
          <p:cNvSpPr/>
          <p:nvPr/>
        </p:nvSpPr>
        <p:spPr>
          <a:xfrm>
            <a:off x="1743340" y="39018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CA2425-C1E9-4E7F-9040-AB7A274369D8}"/>
              </a:ext>
            </a:extLst>
          </p:cNvPr>
          <p:cNvSpPr/>
          <p:nvPr/>
        </p:nvSpPr>
        <p:spPr>
          <a:xfrm>
            <a:off x="1754770" y="430188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809971-7D8D-471D-9E95-2B15BEF6F484}"/>
              </a:ext>
            </a:extLst>
          </p:cNvPr>
          <p:cNvSpPr/>
          <p:nvPr/>
        </p:nvSpPr>
        <p:spPr>
          <a:xfrm>
            <a:off x="1770010" y="4705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0247BE-06BC-48F0-8746-30DF7B0C1234}"/>
              </a:ext>
            </a:extLst>
          </p:cNvPr>
          <p:cNvSpPr/>
          <p:nvPr/>
        </p:nvSpPr>
        <p:spPr>
          <a:xfrm>
            <a:off x="1770010" y="508293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62C79F-5817-488F-AFAC-3FC65846C678}"/>
              </a:ext>
            </a:extLst>
          </p:cNvPr>
          <p:cNvSpPr/>
          <p:nvPr/>
        </p:nvSpPr>
        <p:spPr>
          <a:xfrm>
            <a:off x="1773820" y="547400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[7]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744941-0B0D-4632-8420-D8B479259105}"/>
              </a:ext>
            </a:extLst>
          </p:cNvPr>
          <p:cNvSpPr/>
          <p:nvPr/>
        </p:nvSpPr>
        <p:spPr>
          <a:xfrm>
            <a:off x="782714" y="35325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DFADB2-70D9-4AC2-A6F7-67441A81A108}"/>
              </a:ext>
            </a:extLst>
          </p:cNvPr>
          <p:cNvSpPr/>
          <p:nvPr/>
        </p:nvSpPr>
        <p:spPr>
          <a:xfrm>
            <a:off x="782714" y="392620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557FBE-88FE-4DA9-86E8-FF4B25AE971F}"/>
              </a:ext>
            </a:extLst>
          </p:cNvPr>
          <p:cNvSpPr/>
          <p:nvPr/>
        </p:nvSpPr>
        <p:spPr>
          <a:xfrm>
            <a:off x="786524" y="433006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DCB3A8-92E1-490D-96DD-DC8EC7FDBF9B}"/>
              </a:ext>
            </a:extLst>
          </p:cNvPr>
          <p:cNvSpPr/>
          <p:nvPr/>
        </p:nvSpPr>
        <p:spPr>
          <a:xfrm>
            <a:off x="797954" y="473011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95C824-1A35-43CE-AADB-5D3DA4EB9941}"/>
              </a:ext>
            </a:extLst>
          </p:cNvPr>
          <p:cNvSpPr/>
          <p:nvPr/>
        </p:nvSpPr>
        <p:spPr>
          <a:xfrm>
            <a:off x="813194" y="5133971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EA4ACF-52AC-4C7D-8C95-C75756C0196A}"/>
              </a:ext>
            </a:extLst>
          </p:cNvPr>
          <p:cNvSpPr/>
          <p:nvPr/>
        </p:nvSpPr>
        <p:spPr>
          <a:xfrm>
            <a:off x="813700" y="548679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[6]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DA0F53-C377-42FB-A8F4-4D3E96D561BE}"/>
              </a:ext>
            </a:extLst>
          </p:cNvPr>
          <p:cNvSpPr txBox="1"/>
          <p:nvPr/>
        </p:nvSpPr>
        <p:spPr>
          <a:xfrm flipH="1">
            <a:off x="2351274" y="163175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4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725B40-F6B0-46F2-A7A2-F5FA86BCC6FC}"/>
              </a:ext>
            </a:extLst>
          </p:cNvPr>
          <p:cNvSpPr txBox="1"/>
          <p:nvPr/>
        </p:nvSpPr>
        <p:spPr>
          <a:xfrm flipH="1">
            <a:off x="1394458" y="1641963"/>
            <a:ext cx="38661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 kern="100" dirty="0">
                <a:latin typeface="Times New Roman"/>
                <a:ea typeface="+mn-ea"/>
                <a:cs typeface="Times New Roman"/>
              </a:rPr>
              <a:t>1</a:t>
            </a:r>
            <a:endParaRPr lang="zh-CN" altLang="en-US" sz="2000" b="1" kern="1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04BC34-5A6B-48BC-8593-F007979AB17F}"/>
              </a:ext>
            </a:extLst>
          </p:cNvPr>
          <p:cNvSpPr/>
          <p:nvPr/>
        </p:nvSpPr>
        <p:spPr>
          <a:xfrm>
            <a:off x="2840552" y="318584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864A5D-FCA7-4A60-8ADE-C3B0CFB8A140}"/>
              </a:ext>
            </a:extLst>
          </p:cNvPr>
          <p:cNvSpPr/>
          <p:nvPr/>
        </p:nvSpPr>
        <p:spPr>
          <a:xfrm>
            <a:off x="3831750" y="30743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DBFDCD-B6D9-4288-8EB5-05F0DB8F8F0D}"/>
              </a:ext>
            </a:extLst>
          </p:cNvPr>
          <p:cNvSpPr/>
          <p:nvPr/>
        </p:nvSpPr>
        <p:spPr>
          <a:xfrm>
            <a:off x="3831750" y="346803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05CFDA-6B4F-4163-89D0-B58FDD4B4E83}"/>
              </a:ext>
            </a:extLst>
          </p:cNvPr>
          <p:cNvSpPr/>
          <p:nvPr/>
        </p:nvSpPr>
        <p:spPr>
          <a:xfrm>
            <a:off x="3835560" y="387189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D09A51-B59F-4763-B556-41114CFB416C}"/>
              </a:ext>
            </a:extLst>
          </p:cNvPr>
          <p:cNvSpPr/>
          <p:nvPr/>
        </p:nvSpPr>
        <p:spPr>
          <a:xfrm>
            <a:off x="3846990" y="427194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00F013-9EF1-4411-A168-3920F8725E17}"/>
              </a:ext>
            </a:extLst>
          </p:cNvPr>
          <p:cNvSpPr/>
          <p:nvPr/>
        </p:nvSpPr>
        <p:spPr>
          <a:xfrm>
            <a:off x="3862230" y="467580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07F869-0B16-4A37-A623-AC1D60B64C45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[6]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094004-EBF7-4E40-9155-63C0AE9D279E}"/>
              </a:ext>
            </a:extLst>
          </p:cNvPr>
          <p:cNvSpPr/>
          <p:nvPr/>
        </p:nvSpPr>
        <p:spPr>
          <a:xfrm>
            <a:off x="2874934" y="35025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9BB6F3D-64D8-4A0C-BF8B-F500F7329740}"/>
              </a:ext>
            </a:extLst>
          </p:cNvPr>
          <p:cNvSpPr/>
          <p:nvPr/>
        </p:nvSpPr>
        <p:spPr>
          <a:xfrm>
            <a:off x="2874934" y="389626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728401-8DCA-4EE3-9157-EBE83F470F5E}"/>
              </a:ext>
            </a:extLst>
          </p:cNvPr>
          <p:cNvSpPr/>
          <p:nvPr/>
        </p:nvSpPr>
        <p:spPr>
          <a:xfrm>
            <a:off x="2878744" y="4300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990DD5-78C1-4120-8ABE-02B13CEB67EC}"/>
              </a:ext>
            </a:extLst>
          </p:cNvPr>
          <p:cNvSpPr/>
          <p:nvPr/>
        </p:nvSpPr>
        <p:spPr>
          <a:xfrm>
            <a:off x="2890174" y="47001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708B8A-4C0E-4EBB-B132-05F013EFEAE6}"/>
              </a:ext>
            </a:extLst>
          </p:cNvPr>
          <p:cNvSpPr/>
          <p:nvPr/>
        </p:nvSpPr>
        <p:spPr>
          <a:xfrm>
            <a:off x="2905414" y="510403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[5]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374B3A0-25C8-4DD1-8B4B-CF867E9E46FC}"/>
              </a:ext>
            </a:extLst>
          </p:cNvPr>
          <p:cNvSpPr/>
          <p:nvPr/>
        </p:nvSpPr>
        <p:spPr>
          <a:xfrm>
            <a:off x="3039484" y="269282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二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3F524E0-BE6E-4B5D-A8E7-DFC778541D3B}"/>
              </a:ext>
            </a:extLst>
          </p:cNvPr>
          <p:cNvSpPr/>
          <p:nvPr/>
        </p:nvSpPr>
        <p:spPr>
          <a:xfrm>
            <a:off x="5892960" y="30667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A883102-BA8F-43EA-9C55-FA4A4867FEF6}"/>
              </a:ext>
            </a:extLst>
          </p:cNvPr>
          <p:cNvSpPr/>
          <p:nvPr/>
        </p:nvSpPr>
        <p:spPr>
          <a:xfrm>
            <a:off x="5892960" y="346041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[2]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42A9BE3-003F-4771-9712-2CF27D737FF7}"/>
              </a:ext>
            </a:extLst>
          </p:cNvPr>
          <p:cNvSpPr/>
          <p:nvPr/>
        </p:nvSpPr>
        <p:spPr>
          <a:xfrm>
            <a:off x="5896770" y="386427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[3]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96DC468-8485-4DDA-99ED-B7D8982B2744}"/>
              </a:ext>
            </a:extLst>
          </p:cNvPr>
          <p:cNvSpPr/>
          <p:nvPr/>
        </p:nvSpPr>
        <p:spPr>
          <a:xfrm>
            <a:off x="5908200" y="426432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[4]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2C92CD0-26BE-48B8-9A54-A487C857C4AA}"/>
              </a:ext>
            </a:extLst>
          </p:cNvPr>
          <p:cNvSpPr/>
          <p:nvPr/>
        </p:nvSpPr>
        <p:spPr>
          <a:xfrm>
            <a:off x="5100694" y="2685201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三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11A322-2155-46E9-B697-93910D7C71DE}"/>
              </a:ext>
            </a:extLst>
          </p:cNvPr>
          <p:cNvSpPr/>
          <p:nvPr/>
        </p:nvSpPr>
        <p:spPr>
          <a:xfrm>
            <a:off x="4901762" y="316679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7D9A121-D3D7-463A-BB53-ABB88AB7A589}"/>
              </a:ext>
            </a:extLst>
          </p:cNvPr>
          <p:cNvSpPr/>
          <p:nvPr/>
        </p:nvSpPr>
        <p:spPr>
          <a:xfrm>
            <a:off x="4936144" y="34835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[1]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314FC4E-C002-43FE-97C8-6FD1A60750F9}"/>
              </a:ext>
            </a:extLst>
          </p:cNvPr>
          <p:cNvSpPr/>
          <p:nvPr/>
        </p:nvSpPr>
        <p:spPr>
          <a:xfrm>
            <a:off x="4936144" y="387721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[2]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B9A9080-E777-4D24-A3E4-23146344F37D}"/>
              </a:ext>
            </a:extLst>
          </p:cNvPr>
          <p:cNvSpPr/>
          <p:nvPr/>
        </p:nvSpPr>
        <p:spPr>
          <a:xfrm>
            <a:off x="4939954" y="428107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[3]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1723D2E-6F65-417E-ADA8-A002FF002620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[5]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BFBD30E-7D79-407D-832C-62DDBF7FAA82}"/>
              </a:ext>
            </a:extLst>
          </p:cNvPr>
          <p:cNvSpPr/>
          <p:nvPr/>
        </p:nvSpPr>
        <p:spPr>
          <a:xfrm>
            <a:off x="4939954" y="4681125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[4]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3B006D-40C4-4513-9458-E6692E88644B}"/>
              </a:ext>
            </a:extLst>
          </p:cNvPr>
          <p:cNvSpPr/>
          <p:nvPr/>
        </p:nvSpPr>
        <p:spPr>
          <a:xfrm>
            <a:off x="6468267" y="2706598"/>
            <a:ext cx="728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b="1" kern="100" dirty="0">
                <a:latin typeface="宋体"/>
                <a:cs typeface="Times New Roman"/>
              </a:rPr>
              <a:t>…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65C4AD6-778A-421A-905D-FA43D07B8154}"/>
              </a:ext>
            </a:extLst>
          </p:cNvPr>
          <p:cNvSpPr/>
          <p:nvPr/>
        </p:nvSpPr>
        <p:spPr>
          <a:xfrm>
            <a:off x="7231100" y="2666365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zh-CN" altLang="zh-CN" b="1" kern="100" dirty="0"/>
              <a:t>第</a:t>
            </a:r>
            <a:r>
              <a:rPr lang="zh-CN" altLang="en-US" b="1" kern="100" dirty="0"/>
              <a:t>七</a:t>
            </a:r>
            <a:r>
              <a:rPr lang="zh-CN" altLang="zh-CN" b="1" kern="100" dirty="0"/>
              <a:t>轮</a:t>
            </a:r>
            <a:endParaRPr lang="zh-CN" altLang="zh-CN" b="1" kern="100" dirty="0">
              <a:latin typeface="宋体"/>
              <a:cs typeface="Times New Roman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0CECF3-D240-436E-9CEF-99A93008825A}"/>
              </a:ext>
            </a:extLst>
          </p:cNvPr>
          <p:cNvSpPr/>
          <p:nvPr/>
        </p:nvSpPr>
        <p:spPr>
          <a:xfrm>
            <a:off x="7157282" y="3124882"/>
            <a:ext cx="774571" cy="257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</a:pPr>
            <a:r>
              <a:rPr lang="en-US" altLang="zh-CN" b="1" dirty="0" err="1">
                <a:solidFill>
                  <a:srgbClr val="0000FF"/>
                </a:solidFill>
              </a:rPr>
              <a:t>arr</a:t>
            </a:r>
            <a:r>
              <a:rPr lang="en-US" altLang="zh-CN" b="1" dirty="0">
                <a:solidFill>
                  <a:srgbClr val="0000FF"/>
                </a:solidFill>
              </a:rPr>
              <a:t>[0]</a:t>
            </a:r>
            <a:endParaRPr lang="zh-CN" altLang="zh-CN" b="1" dirty="0">
              <a:solidFill>
                <a:srgbClr val="0000FF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1F7237A-D4B8-486B-A55F-117CB3987E22}"/>
              </a:ext>
            </a:extLst>
          </p:cNvPr>
          <p:cNvSpPr/>
          <p:nvPr/>
        </p:nvSpPr>
        <p:spPr>
          <a:xfrm>
            <a:off x="8132397" y="300117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chemeClr val="tx2"/>
                </a:solidFill>
              </a:rPr>
              <a:t>arr</a:t>
            </a:r>
            <a:r>
              <a:rPr lang="en-US" altLang="zh-CN" b="1" dirty="0">
                <a:solidFill>
                  <a:schemeClr val="tx2"/>
                </a:solidFill>
              </a:rPr>
              <a:t>[1]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0E74095-D462-43DC-AC2C-0D6B9413C519}"/>
              </a:ext>
            </a:extLst>
          </p:cNvPr>
          <p:cNvSpPr/>
          <p:nvPr/>
        </p:nvSpPr>
        <p:spPr>
          <a:xfrm>
            <a:off x="1779631" y="547340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[7]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37D774E-BE3C-4F2B-8E09-04075BA3D005}"/>
              </a:ext>
            </a:extLst>
          </p:cNvPr>
          <p:cNvSpPr/>
          <p:nvPr/>
        </p:nvSpPr>
        <p:spPr>
          <a:xfrm>
            <a:off x="3862230" y="508728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[6]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66299C7-32DA-43D8-828A-238747D8D3F0}"/>
              </a:ext>
            </a:extLst>
          </p:cNvPr>
          <p:cNvSpPr/>
          <p:nvPr/>
        </p:nvSpPr>
        <p:spPr>
          <a:xfrm>
            <a:off x="5912010" y="465675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667D9AB-65E2-4458-826C-8B323CD4C064}"/>
              </a:ext>
            </a:extLst>
          </p:cNvPr>
          <p:cNvSpPr/>
          <p:nvPr/>
        </p:nvSpPr>
        <p:spPr>
          <a:xfrm>
            <a:off x="8132397" y="300117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arr</a:t>
            </a:r>
            <a:r>
              <a:rPr lang="en-US" altLang="zh-CN" b="1" dirty="0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61" name="灯片编号占位符 60">
            <a:extLst>
              <a:ext uri="{FF2B5EF4-FFF2-40B4-BE49-F238E27FC236}">
                <a16:creationId xmlns:a16="http://schemas.microsoft.com/office/drawing/2014/main" id="{08DB4C09-78BD-4AD6-B387-0AB56AB6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699F73A-E2EA-42A3-B313-BEA5A77214FD}"/>
              </a:ext>
            </a:extLst>
          </p:cNvPr>
          <p:cNvSpPr txBox="1"/>
          <p:nvPr/>
        </p:nvSpPr>
        <p:spPr>
          <a:xfrm>
            <a:off x="2135830" y="-525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一维数组排序之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冒泡排序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3789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EDF87B4-D5E1-45DF-B099-BB5CCA487CFD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定义二维数组的一般形式为：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2F51BA-B037-4333-9461-597BDAC4D562}"/>
              </a:ext>
            </a:extLst>
          </p:cNvPr>
          <p:cNvSpPr txBox="1">
            <a:spLocks noChangeArrowheads="1"/>
          </p:cNvSpPr>
          <p:nvPr/>
        </p:nvSpPr>
        <p:spPr>
          <a:xfrm>
            <a:off x="2246067" y="1350628"/>
            <a:ext cx="7733424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数据类型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</a:rPr>
              <a:t>][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] </a:t>
            </a:r>
            <a:r>
              <a:rPr lang="zh-CN" altLang="en-US" sz="2400" b="1" dirty="0"/>
              <a:t>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AB5431-9268-4F2E-A7E3-D8FFA8D151B9}"/>
              </a:ext>
            </a:extLst>
          </p:cNvPr>
          <p:cNvSpPr/>
          <p:nvPr/>
        </p:nvSpPr>
        <p:spPr>
          <a:xfrm>
            <a:off x="1544214" y="3324501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表示：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A482CA-0253-41B5-AF85-B3B5492D9B31}"/>
              </a:ext>
            </a:extLst>
          </p:cNvPr>
          <p:cNvSpPr txBox="1">
            <a:spLocks noChangeArrowheads="1"/>
          </p:cNvSpPr>
          <p:nvPr/>
        </p:nvSpPr>
        <p:spPr>
          <a:xfrm>
            <a:off x="2246067" y="2769658"/>
            <a:ext cx="4880165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4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AB7D8B-1CAF-4A44-930F-D308802E908A}"/>
              </a:ext>
            </a:extLst>
          </p:cNvPr>
          <p:cNvSpPr/>
          <p:nvPr/>
        </p:nvSpPr>
        <p:spPr>
          <a:xfrm>
            <a:off x="1544214" y="2288782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D7267162-C70C-4F22-8302-AB0C59F0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235" y="3786166"/>
            <a:ext cx="10735580" cy="26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定义了二维数组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，每个数组元素的类型为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int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有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3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4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列，共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3x4=12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个元素。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的行下标为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[0~2]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，列下标为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[0~3]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④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中的元素以</a:t>
            </a:r>
            <a:r>
              <a:rPr kumimoji="1" lang="zh-CN" altLang="en-US" sz="2400" dirty="0">
                <a:solidFill>
                  <a:srgbClr val="FF0000"/>
                </a:solidFill>
                <a:latin typeface="等线" panose="02010600030101010101" pitchFamily="2" charset="-122"/>
                <a:ea typeface="隶书" pitchFamily="49" charset="-122"/>
              </a:rPr>
              <a:t>行序优先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的顺序在内存中连续存放。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-28800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⑤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可将数组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看作由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3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个一维数组嵌套而成，即数组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包含有三个元素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a[0]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-28800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    a[1]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a[2]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，而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a[0]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a[1]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a[2]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均是包含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4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个元素的一维数组，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a[0]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a[1]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、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-28800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    a[2]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分别是这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3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个一维数组的数组名。</a:t>
            </a:r>
            <a:endParaRPr kumimoji="1" lang="zh-CN" altLang="en-US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1F355F-5D1C-400C-A4C9-69EC5FD0B2F2}"/>
              </a:ext>
            </a:extLst>
          </p:cNvPr>
          <p:cNvSpPr txBox="1"/>
          <p:nvPr/>
        </p:nvSpPr>
        <p:spPr>
          <a:xfrm>
            <a:off x="2148530" y="-44129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二维数组定义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0524485-D72F-4B4E-A5FD-9CC18BDE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140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 animBg="1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41153B-9700-4AE2-A2BE-E989C31CB4A2}"/>
              </a:ext>
            </a:extLst>
          </p:cNvPr>
          <p:cNvSpPr txBox="1"/>
          <p:nvPr/>
        </p:nvSpPr>
        <p:spPr>
          <a:xfrm>
            <a:off x="2144289" y="-5014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二维数组引用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35B1CB-0E0E-4393-B578-72CFD41EDD92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二维数组元素引用的一般形式为：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BEAEC45-EC10-4121-B944-A2C4DAB7FF29}"/>
              </a:ext>
            </a:extLst>
          </p:cNvPr>
          <p:cNvSpPr txBox="1">
            <a:spLocks noChangeArrowheads="1"/>
          </p:cNvSpPr>
          <p:nvPr/>
        </p:nvSpPr>
        <p:spPr>
          <a:xfrm>
            <a:off x="3587031" y="1421350"/>
            <a:ext cx="3537436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行下标</a:t>
            </a:r>
            <a:r>
              <a:rPr lang="en-US" altLang="zh-CN" sz="2400" b="1" dirty="0">
                <a:solidFill>
                  <a:srgbClr val="FF0000"/>
                </a:solidFill>
              </a:rPr>
              <a:t>] 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列下标</a:t>
            </a:r>
            <a:r>
              <a:rPr lang="en-US" altLang="zh-CN" sz="2400" b="1" dirty="0">
                <a:solidFill>
                  <a:srgbClr val="FF0000"/>
                </a:solidFill>
              </a:rPr>
              <a:t>]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D60CD5-54FD-45D1-8DA3-0D03176BD623}"/>
              </a:ext>
            </a:extLst>
          </p:cNvPr>
          <p:cNvSpPr/>
          <p:nvPr/>
        </p:nvSpPr>
        <p:spPr>
          <a:xfrm>
            <a:off x="2092489" y="2428730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37360F-08F1-4923-B71D-3E4C1A0FAEEC}"/>
              </a:ext>
            </a:extLst>
          </p:cNvPr>
          <p:cNvSpPr txBox="1">
            <a:spLocks noChangeArrowheads="1"/>
          </p:cNvSpPr>
          <p:nvPr/>
        </p:nvSpPr>
        <p:spPr>
          <a:xfrm>
            <a:off x="2915666" y="3016279"/>
            <a:ext cx="4880165" cy="301817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i = 1, j = 2, k =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a[0][2] = 10;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a[i][j-1] = 42;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a[1][j+k] = 0;</a:t>
            </a:r>
            <a:endParaRPr lang="zh-CN" altLang="en-US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C08A1D1-84C0-4EA2-A52F-E0D2D98E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8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817F97C-9549-4C75-BA61-293BDF2BB1DA}"/>
              </a:ext>
            </a:extLst>
          </p:cNvPr>
          <p:cNvSpPr txBox="1"/>
          <p:nvPr/>
        </p:nvSpPr>
        <p:spPr>
          <a:xfrm>
            <a:off x="2144297" y="-44130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二维数组初始化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502852-CDC0-42A1-A3A6-1751AF792B4C}"/>
              </a:ext>
            </a:extLst>
          </p:cNvPr>
          <p:cNvSpPr/>
          <p:nvPr/>
        </p:nvSpPr>
        <p:spPr>
          <a:xfrm>
            <a:off x="4591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初始化二维数组的一般形式为：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2BFC59-AF23-4E17-9104-4301AC40D77B}"/>
              </a:ext>
            </a:extLst>
          </p:cNvPr>
          <p:cNvSpPr txBox="1">
            <a:spLocks noChangeArrowheads="1"/>
          </p:cNvSpPr>
          <p:nvPr/>
        </p:nvSpPr>
        <p:spPr>
          <a:xfrm>
            <a:off x="744070" y="1325745"/>
            <a:ext cx="10703859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数据类型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</a:rPr>
              <a:t>][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</a:rPr>
              <a:t>] = { 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初值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，初值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，</a:t>
            </a:r>
            <a:r>
              <a:rPr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… 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  <a:r>
              <a:rPr lang="zh-CN" altLang="en-US" sz="2400" b="1" dirty="0"/>
              <a:t>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2AC12F-9E04-4CE3-96B2-D6BDD6314CB6}"/>
              </a:ext>
            </a:extLst>
          </p:cNvPr>
          <p:cNvSpPr/>
          <p:nvPr/>
        </p:nvSpPr>
        <p:spPr>
          <a:xfrm>
            <a:off x="33556" y="2064058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5DDC9E-94B7-473D-B9E6-DC5F7CC3BB26}"/>
              </a:ext>
            </a:extLst>
          </p:cNvPr>
          <p:cNvSpPr txBox="1">
            <a:spLocks noChangeArrowheads="1"/>
          </p:cNvSpPr>
          <p:nvPr/>
        </p:nvSpPr>
        <p:spPr>
          <a:xfrm>
            <a:off x="744070" y="2611888"/>
            <a:ext cx="10703859" cy="360685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6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</a:rPr>
              <a:t>按元素存储顺序依次进行赋值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     //</a:t>
            </a:r>
            <a:r>
              <a:rPr lang="zh-CN" altLang="en-US" sz="2400" b="1" dirty="0">
                <a:solidFill>
                  <a:srgbClr val="00B050"/>
                </a:solidFill>
              </a:rPr>
              <a:t>对部分元素进行初始化赋值</a:t>
            </a:r>
            <a:endParaRPr lang="en-US" altLang="zh-CN" sz="1800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{1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3}</a:t>
            </a:r>
            <a:r>
              <a:rPr lang="zh-CN" altLang="en-US" b="1" dirty="0"/>
              <a:t>，</a:t>
            </a:r>
            <a:r>
              <a:rPr lang="en-US" altLang="zh-CN" b="1" dirty="0"/>
              <a:t>{4</a:t>
            </a:r>
            <a:r>
              <a:rPr lang="zh-CN" altLang="en-US" b="1" dirty="0"/>
              <a:t>，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6}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按行初始化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{1</a:t>
            </a:r>
            <a:r>
              <a:rPr lang="zh-CN" altLang="en-US" b="1" dirty="0"/>
              <a:t>，</a:t>
            </a:r>
            <a:r>
              <a:rPr lang="en-US" altLang="zh-CN" b="1" dirty="0"/>
              <a:t>2}</a:t>
            </a:r>
            <a:r>
              <a:rPr lang="zh-CN" altLang="en-US" b="1" dirty="0"/>
              <a:t>，</a:t>
            </a:r>
            <a:r>
              <a:rPr lang="en-US" altLang="zh-CN" b="1" dirty="0"/>
              <a:t>{4}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     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按行部分初始化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{1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3}</a:t>
            </a:r>
            <a:r>
              <a:rPr lang="zh-CN" altLang="en-US" b="1" dirty="0"/>
              <a:t>，</a:t>
            </a:r>
            <a:r>
              <a:rPr lang="en-US" altLang="zh-CN" b="1" dirty="0"/>
              <a:t>{4</a:t>
            </a:r>
            <a:r>
              <a:rPr lang="zh-CN" altLang="en-US" b="1" dirty="0"/>
              <a:t>，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6}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按行初始化，省略第一维长度</a:t>
            </a:r>
            <a:endParaRPr lang="en-US" altLang="zh-CN" sz="36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{1</a:t>
            </a:r>
            <a:r>
              <a:rPr lang="zh-CN" altLang="en-US" b="1" dirty="0"/>
              <a:t>，</a:t>
            </a:r>
            <a:r>
              <a:rPr lang="en-US" altLang="zh-CN" b="1" dirty="0"/>
              <a:t>2}</a:t>
            </a:r>
            <a:r>
              <a:rPr lang="zh-CN" altLang="en-US" b="1" dirty="0"/>
              <a:t>，</a:t>
            </a:r>
            <a:r>
              <a:rPr lang="en-US" altLang="zh-CN" b="1" dirty="0"/>
              <a:t>{4}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按行部分初始化，省略第一维长度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sz="2000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EA6387B-9F70-4B6A-9A9C-062E51EE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77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C97D71-9081-4044-A5C1-343919037067}"/>
              </a:ext>
            </a:extLst>
          </p:cNvPr>
          <p:cNvSpPr txBox="1"/>
          <p:nvPr/>
        </p:nvSpPr>
        <p:spPr>
          <a:xfrm>
            <a:off x="2144298" y="-39894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二维数组应用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A6D6BD-DA9C-473F-BB40-B45D00DE8A5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99567"/>
            <a:ext cx="12192000" cy="5251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4-7】</a:t>
            </a:r>
            <a:r>
              <a:rPr lang="zh-CN" altLang="en-US" sz="2400" b="1" dirty="0"/>
              <a:t>编程找出二维数组</a:t>
            </a:r>
            <a:r>
              <a:rPr lang="en-US" altLang="zh-CN" sz="2400" b="1" dirty="0"/>
              <a:t>a[4][5]</a:t>
            </a:r>
            <a:r>
              <a:rPr lang="zh-CN" altLang="en-US" sz="2400" b="1" dirty="0"/>
              <a:t>中的最大值和最小值，并指出它们所在的行号和列号。</a:t>
            </a:r>
            <a:endParaRPr lang="zh-CN" altLang="en-US" sz="22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EA95C7-6120-4999-A396-57AA8EFA473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24346"/>
            <a:ext cx="12192000" cy="8651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4-8】</a:t>
            </a:r>
            <a:r>
              <a:rPr lang="zh-CN" altLang="en-US" sz="2400" b="1" dirty="0"/>
              <a:t>输入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名学生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门课的成绩，求每名学生的总成绩、每门课的总成绩和所有成绩</a:t>
            </a:r>
            <a:endParaRPr lang="en-US" altLang="zh-CN" sz="2400" b="1" dirty="0"/>
          </a:p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/>
              <a:t>                  </a:t>
            </a:r>
            <a:r>
              <a:rPr lang="zh-CN" altLang="en-US" sz="2400" b="1" dirty="0"/>
              <a:t>的总和。</a:t>
            </a:r>
            <a:endParaRPr lang="zh-CN" altLang="en-US" sz="2200" b="1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722AA42C-9C9A-4BDC-BD55-499C88306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300064"/>
              </p:ext>
            </p:extLst>
          </p:nvPr>
        </p:nvGraphicFramePr>
        <p:xfrm>
          <a:off x="585370" y="2493271"/>
          <a:ext cx="1969014" cy="1736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338">
                  <a:extLst>
                    <a:ext uri="{9D8B030D-6E8A-4147-A177-3AD203B41FA5}">
                      <a16:colId xmlns:a16="http://schemas.microsoft.com/office/drawing/2014/main" val="1709146908"/>
                    </a:ext>
                  </a:extLst>
                </a:gridCol>
                <a:gridCol w="656338">
                  <a:extLst>
                    <a:ext uri="{9D8B030D-6E8A-4147-A177-3AD203B41FA5}">
                      <a16:colId xmlns:a16="http://schemas.microsoft.com/office/drawing/2014/main" val="176999755"/>
                    </a:ext>
                  </a:extLst>
                </a:gridCol>
                <a:gridCol w="656338">
                  <a:extLst>
                    <a:ext uri="{9D8B030D-6E8A-4147-A177-3AD203B41FA5}">
                      <a16:colId xmlns:a16="http://schemas.microsoft.com/office/drawing/2014/main" val="1443885566"/>
                    </a:ext>
                  </a:extLst>
                </a:gridCol>
              </a:tblGrid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449201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97134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569051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4778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87CAE69-E160-426B-BCE6-8522F8EE9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15164"/>
              </p:ext>
            </p:extLst>
          </p:nvPr>
        </p:nvGraphicFramePr>
        <p:xfrm>
          <a:off x="585370" y="2492188"/>
          <a:ext cx="2840601" cy="2276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085">
                  <a:extLst>
                    <a:ext uri="{9D8B030D-6E8A-4147-A177-3AD203B41FA5}">
                      <a16:colId xmlns:a16="http://schemas.microsoft.com/office/drawing/2014/main" val="1709146908"/>
                    </a:ext>
                  </a:extLst>
                </a:gridCol>
                <a:gridCol w="658777">
                  <a:extLst>
                    <a:ext uri="{9D8B030D-6E8A-4147-A177-3AD203B41FA5}">
                      <a16:colId xmlns:a16="http://schemas.microsoft.com/office/drawing/2014/main" val="176999755"/>
                    </a:ext>
                  </a:extLst>
                </a:gridCol>
                <a:gridCol w="658777">
                  <a:extLst>
                    <a:ext uri="{9D8B030D-6E8A-4147-A177-3AD203B41FA5}">
                      <a16:colId xmlns:a16="http://schemas.microsoft.com/office/drawing/2014/main" val="1443885566"/>
                    </a:ext>
                  </a:extLst>
                </a:gridCol>
                <a:gridCol w="867962">
                  <a:extLst>
                    <a:ext uri="{9D8B030D-6E8A-4147-A177-3AD203B41FA5}">
                      <a16:colId xmlns:a16="http://schemas.microsoft.com/office/drawing/2014/main" val="1932983564"/>
                    </a:ext>
                  </a:extLst>
                </a:gridCol>
              </a:tblGrid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449201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297134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569051"/>
                  </a:ext>
                </a:extLst>
              </a:tr>
              <a:tr h="4340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847787"/>
                  </a:ext>
                </a:extLst>
              </a:tr>
              <a:tr h="540172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2557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A528E39-4963-40D7-9F1C-D813E9D7867F}"/>
              </a:ext>
            </a:extLst>
          </p:cNvPr>
          <p:cNvSpPr txBox="1"/>
          <p:nvPr/>
        </p:nvSpPr>
        <p:spPr>
          <a:xfrm>
            <a:off x="823738" y="4798680"/>
            <a:ext cx="1492278" cy="40011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课程总成绩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FDF5CF-3E43-4FCE-9C5B-CC5511121875}"/>
              </a:ext>
            </a:extLst>
          </p:cNvPr>
          <p:cNvSpPr txBox="1"/>
          <p:nvPr/>
        </p:nvSpPr>
        <p:spPr>
          <a:xfrm>
            <a:off x="3456115" y="2664213"/>
            <a:ext cx="492443" cy="1414814"/>
          </a:xfrm>
          <a:prstGeom prst="rect">
            <a:avLst/>
          </a:prstGeom>
          <a:solidFill>
            <a:srgbClr val="FFFF00"/>
          </a:solidFill>
        </p:spPr>
        <p:txBody>
          <a:bodyPr vert="eaVert" wrap="square" rtlCol="0">
            <a:spAutoFit/>
          </a:bodyPr>
          <a:lstStyle/>
          <a:p>
            <a:r>
              <a:rPr lang="zh-CN" altLang="en-US" sz="2000" dirty="0"/>
              <a:t>学生总成绩</a:t>
            </a: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4A7F475C-A92D-4813-A972-DC9243A41E44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>
            <a:off x="2599137" y="5030666"/>
            <a:ext cx="917333" cy="1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57B614E-EE16-4903-845A-B87F3066DDCC}"/>
              </a:ext>
            </a:extLst>
          </p:cNvPr>
          <p:cNvSpPr txBox="1"/>
          <p:nvPr/>
        </p:nvSpPr>
        <p:spPr>
          <a:xfrm>
            <a:off x="2197190" y="5489333"/>
            <a:ext cx="1721224" cy="4001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所有成绩总和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3741D05-FE21-4DDB-AF82-B0232C7E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CECED8C-6648-405F-B90C-51A095EE9B72}"/>
              </a:ext>
            </a:extLst>
          </p:cNvPr>
          <p:cNvSpPr txBox="1">
            <a:spLocks noChangeArrowheads="1"/>
          </p:cNvSpPr>
          <p:nvPr/>
        </p:nvSpPr>
        <p:spPr>
          <a:xfrm>
            <a:off x="4048300" y="1711625"/>
            <a:ext cx="8143700" cy="489364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zh-CN" alt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600" dirty="0">
                <a:latin typeface="Consolas" panose="020B0609020204030204" pitchFamily="49" charset="0"/>
              </a:rPr>
              <a:t>s</a:t>
            </a:r>
            <a:r>
              <a:rPr lang="en-US" altLang="zh-CN" sz="26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4+1</a:t>
            </a:r>
            <a:r>
              <a:rPr lang="en-US" altLang="zh-CN" sz="2600" b="1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3+1</a:t>
            </a:r>
            <a:r>
              <a:rPr lang="en-US" altLang="zh-CN" sz="26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b="1" dirty="0">
                <a:latin typeface="Consolas" panose="020B0609020204030204" pitchFamily="49" charset="0"/>
              </a:rPr>
              <a:t> </a:t>
            </a:r>
            <a:r>
              <a:rPr lang="en-US" altLang="zh-CN" sz="2600" dirty="0">
                <a:latin typeface="Consolas" panose="020B0609020204030204" pitchFamily="49" charset="0"/>
              </a:rPr>
              <a:t>= { {93,94,92},{70,57,62},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                  {57,60,58},{66,63,83} };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sz="2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600" dirty="0">
                <a:latin typeface="Consolas" panose="020B0609020204030204" pitchFamily="49" charset="0"/>
              </a:rPr>
              <a:t>(</a:t>
            </a:r>
            <a:r>
              <a:rPr lang="en-US" altLang="zh-CN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600" dirty="0">
                <a:latin typeface="Consolas" panose="020B0609020204030204" pitchFamily="49" charset="0"/>
              </a:rPr>
              <a:t> i = 0; i &lt; 4;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</a:t>
            </a:r>
            <a:r>
              <a:rPr lang="en-US" altLang="zh-CN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600" dirty="0">
                <a:latin typeface="Consolas" panose="020B0609020204030204" pitchFamily="49" charset="0"/>
              </a:rPr>
              <a:t>(</a:t>
            </a:r>
            <a:r>
              <a:rPr lang="en-US" altLang="zh-CN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600" dirty="0">
                <a:latin typeface="Consolas" panose="020B0609020204030204" pitchFamily="49" charset="0"/>
              </a:rPr>
              <a:t> j = 0; j &lt; 3; j++)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 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3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 +=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j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 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4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j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 +=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j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 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4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3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 += s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600" dirty="0">
                <a:latin typeface="Consolas" panose="020B0609020204030204" pitchFamily="49" charset="0"/>
              </a:rPr>
              <a:t>i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][</a:t>
            </a:r>
            <a:r>
              <a:rPr lang="en-US" altLang="zh-CN" sz="2600" dirty="0">
                <a:latin typeface="Consolas" panose="020B0609020204030204" pitchFamily="49" charset="0"/>
              </a:rPr>
              <a:t>j</a:t>
            </a:r>
            <a:r>
              <a:rPr lang="en-US" altLang="zh-CN" sz="26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6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152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32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3" grpId="0" animBg="1"/>
      <p:bldP spid="13" grpId="1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A91760-414C-4576-83A4-E474342DC881}"/>
              </a:ext>
            </a:extLst>
          </p:cNvPr>
          <p:cNvSpPr txBox="1"/>
          <p:nvPr/>
        </p:nvSpPr>
        <p:spPr>
          <a:xfrm>
            <a:off x="2144300" y="-52597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字符数组定义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676F66-9028-478A-A27D-67DE820A41D9}"/>
              </a:ext>
            </a:extLst>
          </p:cNvPr>
          <p:cNvSpPr txBox="1">
            <a:spLocks noChangeArrowheads="1"/>
          </p:cNvSpPr>
          <p:nvPr/>
        </p:nvSpPr>
        <p:spPr>
          <a:xfrm>
            <a:off x="2158093" y="1375454"/>
            <a:ext cx="9245011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char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solidFill>
                  <a:srgbClr val="FF0000"/>
                </a:solidFill>
              </a:rPr>
              <a:t>] </a:t>
            </a:r>
            <a:r>
              <a:rPr lang="zh-CN" altLang="en-US" sz="2400" b="1" dirty="0"/>
              <a:t>； 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A7FD0B-4CCF-42DF-BECD-A65468B660D4}"/>
              </a:ext>
            </a:extLst>
          </p:cNvPr>
          <p:cNvSpPr txBox="1">
            <a:spLocks noChangeArrowheads="1"/>
          </p:cNvSpPr>
          <p:nvPr/>
        </p:nvSpPr>
        <p:spPr>
          <a:xfrm>
            <a:off x="2158094" y="2144350"/>
            <a:ext cx="9245012" cy="614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char</a:t>
            </a:r>
            <a:r>
              <a:rPr lang="zh-CN" altLang="en-US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数组名</a:t>
            </a:r>
            <a:r>
              <a:rPr lang="en-US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</a:rPr>
              <a:t>][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整形常量表达式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] </a:t>
            </a:r>
            <a:r>
              <a:rPr lang="zh-CN" altLang="en-US" sz="2400" b="1" dirty="0"/>
              <a:t>；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7BEB01-38D0-413F-AF8C-27318A49D8A9}"/>
              </a:ext>
            </a:extLst>
          </p:cNvPr>
          <p:cNvSpPr/>
          <p:nvPr/>
        </p:nvSpPr>
        <p:spPr>
          <a:xfrm>
            <a:off x="4591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字符数组定义的一般形式为：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418FD2-4846-40BB-8DAC-0196E8EC9EF3}"/>
              </a:ext>
            </a:extLst>
          </p:cNvPr>
          <p:cNvSpPr/>
          <p:nvPr/>
        </p:nvSpPr>
        <p:spPr>
          <a:xfrm>
            <a:off x="1341471" y="4292689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表示：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139D90-AA61-438F-B400-EACC495D7987}"/>
              </a:ext>
            </a:extLst>
          </p:cNvPr>
          <p:cNvSpPr txBox="1">
            <a:spLocks noChangeArrowheads="1"/>
          </p:cNvSpPr>
          <p:nvPr/>
        </p:nvSpPr>
        <p:spPr>
          <a:xfrm>
            <a:off x="2158094" y="3323234"/>
            <a:ext cx="4880165" cy="10046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 str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A8DDE9-CBE3-4BB4-92CB-6DCC84746C66}"/>
              </a:ext>
            </a:extLst>
          </p:cNvPr>
          <p:cNvSpPr/>
          <p:nvPr/>
        </p:nvSpPr>
        <p:spPr>
          <a:xfrm>
            <a:off x="1341471" y="2840503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10" name="Text Box 88">
            <a:extLst>
              <a:ext uri="{FF2B5EF4-FFF2-40B4-BE49-F238E27FC236}">
                <a16:creationId xmlns:a16="http://schemas.microsoft.com/office/drawing/2014/main" id="{09F2824B-F00B-4B27-929F-81CC32851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698" y="4754354"/>
            <a:ext cx="11247326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定义一维字符数组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a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，包含有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6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个字符元素，可以存放长度小于等于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5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的字符串。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定义二维字符数组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str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，每一行可以存放一个长度小于等于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9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的字符串，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str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一共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   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可以存放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5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个字符串。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D9A31BC1-E089-4902-8A9F-9D69E14A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C1F0A9-DE30-46F7-A7D1-6055ECB12CEA}"/>
              </a:ext>
            </a:extLst>
          </p:cNvPr>
          <p:cNvSpPr/>
          <p:nvPr/>
        </p:nvSpPr>
        <p:spPr>
          <a:xfrm>
            <a:off x="9118504" y="1469450"/>
            <a:ext cx="2284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一维字符数组</a:t>
            </a:r>
            <a:endParaRPr lang="zh-CN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CE007B-975B-40CB-84E2-3068841FBAB7}"/>
              </a:ext>
            </a:extLst>
          </p:cNvPr>
          <p:cNvSpPr/>
          <p:nvPr/>
        </p:nvSpPr>
        <p:spPr>
          <a:xfrm>
            <a:off x="9118504" y="2220429"/>
            <a:ext cx="22846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二维字符数组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3095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/>
      <p:bldP spid="10" grpId="0"/>
      <p:bldP spid="2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AE47DEE-6FF1-4F9C-9A93-587610009CD2}"/>
              </a:ext>
            </a:extLst>
          </p:cNvPr>
          <p:cNvSpPr txBox="1"/>
          <p:nvPr/>
        </p:nvSpPr>
        <p:spPr>
          <a:xfrm>
            <a:off x="2144299" y="-48363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字符数组初始化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58D517C-11FB-4B04-841F-3B8C1C19A416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1199670"/>
            <a:ext cx="12191999" cy="191982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 ‘C’</a:t>
            </a:r>
            <a:r>
              <a:rPr lang="zh-CN" altLang="en-US" b="1" dirty="0"/>
              <a:t>，</a:t>
            </a:r>
            <a:r>
              <a:rPr lang="en-US" altLang="zh-CN" b="1" dirty="0"/>
              <a:t>‘h’</a:t>
            </a:r>
            <a:r>
              <a:rPr lang="zh-CN" altLang="en-US" b="1" dirty="0"/>
              <a:t>，</a:t>
            </a:r>
            <a:r>
              <a:rPr lang="en-US" altLang="zh-CN" b="1" dirty="0"/>
              <a:t>‘i’</a:t>
            </a:r>
            <a:r>
              <a:rPr lang="zh-CN" altLang="en-US" b="1" dirty="0"/>
              <a:t>，</a:t>
            </a:r>
            <a:r>
              <a:rPr lang="en-US" altLang="zh-CN" b="1" dirty="0"/>
              <a:t>‘n’</a:t>
            </a:r>
            <a:r>
              <a:rPr lang="zh-CN" altLang="en-US" b="1" dirty="0"/>
              <a:t>，</a:t>
            </a:r>
            <a:r>
              <a:rPr lang="en-US" altLang="zh-CN" b="1" dirty="0"/>
              <a:t>‘a’</a:t>
            </a:r>
            <a:r>
              <a:rPr lang="zh-CN" altLang="en-US" b="1" dirty="0"/>
              <a:t>，</a:t>
            </a:r>
            <a:r>
              <a:rPr lang="en-US" altLang="zh-CN" b="1" dirty="0"/>
              <a:t>‘\0’ 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//</a:t>
            </a:r>
            <a:r>
              <a:rPr lang="zh-CN" altLang="en-US" sz="2400" b="1" dirty="0">
                <a:solidFill>
                  <a:srgbClr val="00B050"/>
                </a:solidFill>
              </a:rPr>
              <a:t>逐个字符初始化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</a:t>
            </a:r>
            <a:r>
              <a:rPr lang="en-US" altLang="zh-CN" b="1" dirty="0">
                <a:solidFill>
                  <a:srgbClr val="00B050"/>
                </a:solidFill>
              </a:rPr>
              <a:t>"China" </a:t>
            </a:r>
            <a:r>
              <a:rPr lang="en-US" altLang="zh-CN" b="1" dirty="0"/>
              <a:t>}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                  //</a:t>
            </a:r>
            <a:r>
              <a:rPr lang="zh-CN" altLang="en-US" sz="2400" b="1" dirty="0">
                <a:solidFill>
                  <a:srgbClr val="00B050"/>
                </a:solidFill>
              </a:rPr>
              <a:t>字符串常量初始化</a:t>
            </a:r>
            <a:endParaRPr lang="en-US" altLang="zh-CN" sz="1800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 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                     //</a:t>
            </a:r>
            <a:r>
              <a:rPr lang="zh-CN" altLang="en-US" sz="2400" b="1" dirty="0">
                <a:solidFill>
                  <a:srgbClr val="00B050"/>
                </a:solidFill>
              </a:rPr>
              <a:t>字符串常量初始化，省略花括号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 </a:t>
            </a:r>
            <a:r>
              <a:rPr lang="zh-CN" altLang="en-US" b="1" dirty="0"/>
              <a:t>；</a:t>
            </a:r>
            <a:r>
              <a:rPr lang="en-US" altLang="zh-CN" b="1" dirty="0">
                <a:solidFill>
                  <a:srgbClr val="00B050"/>
                </a:solidFill>
              </a:rPr>
              <a:t>                                  //</a:t>
            </a:r>
            <a:r>
              <a:rPr lang="zh-CN" altLang="en-US" sz="2400" b="1" dirty="0">
                <a:solidFill>
                  <a:srgbClr val="00B050"/>
                </a:solidFill>
              </a:rPr>
              <a:t>字符串常量初始化，省略数组长度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F0366B8-3594-47F9-85E3-6004DF2AAE0D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3718218"/>
            <a:ext cx="12191999" cy="55512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fruit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dirty="0"/>
              <a:t>7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</a:t>
            </a:r>
            <a:r>
              <a:rPr lang="en-US" altLang="zh-CN" b="1" dirty="0">
                <a:solidFill>
                  <a:srgbClr val="00B050"/>
                </a:solidFill>
              </a:rPr>
              <a:t>"Apple"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"Orange"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"Grape"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"Pear"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"Peach" </a:t>
            </a:r>
            <a:r>
              <a:rPr lang="en-US" altLang="zh-CN" b="1" dirty="0"/>
              <a:t>}</a:t>
            </a:r>
            <a:r>
              <a:rPr lang="zh-CN" altLang="en-US" b="1" dirty="0"/>
              <a:t>；</a:t>
            </a:r>
            <a:endParaRPr lang="zh-CN" altLang="en-US" sz="3200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B7D702-8B7B-430B-9C3F-23C324EBD655}"/>
              </a:ext>
            </a:extLst>
          </p:cNvPr>
          <p:cNvSpPr/>
          <p:nvPr/>
        </p:nvSpPr>
        <p:spPr>
          <a:xfrm>
            <a:off x="4591" y="767008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一维字符数组初始化：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25B5D3-9EF6-43E6-9361-A416E0A64F16}"/>
              </a:ext>
            </a:extLst>
          </p:cNvPr>
          <p:cNvSpPr/>
          <p:nvPr/>
        </p:nvSpPr>
        <p:spPr>
          <a:xfrm>
            <a:off x="0" y="328734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二维字符数组初始化：</a:t>
            </a:r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E82E918B-0577-442C-A715-3832E7E8A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596613"/>
              </p:ext>
            </p:extLst>
          </p:nvPr>
        </p:nvGraphicFramePr>
        <p:xfrm>
          <a:off x="1597557" y="4347728"/>
          <a:ext cx="333855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6936">
                  <a:extLst>
                    <a:ext uri="{9D8B030D-6E8A-4147-A177-3AD203B41FA5}">
                      <a16:colId xmlns:a16="http://schemas.microsoft.com/office/drawing/2014/main" val="1841285813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1005536353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1769103435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3146462569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3702702002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4014025507"/>
                    </a:ext>
                  </a:extLst>
                </a:gridCol>
                <a:gridCol w="476936">
                  <a:extLst>
                    <a:ext uri="{9D8B030D-6E8A-4147-A177-3AD203B41FA5}">
                      <a16:colId xmlns:a16="http://schemas.microsoft.com/office/drawing/2014/main" val="1604002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2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3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1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793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737077"/>
                  </a:ext>
                </a:extLst>
              </a:tr>
            </a:tbl>
          </a:graphicData>
        </a:graphic>
      </p:graphicFrame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3A343520-2492-483E-A319-BA3CA00EB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453634"/>
              </p:ext>
            </p:extLst>
          </p:nvPr>
        </p:nvGraphicFramePr>
        <p:xfrm>
          <a:off x="707522" y="4347729"/>
          <a:ext cx="781998" cy="18351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998">
                  <a:extLst>
                    <a:ext uri="{9D8B030D-6E8A-4147-A177-3AD203B41FA5}">
                      <a16:colId xmlns:a16="http://schemas.microsoft.com/office/drawing/2014/main" val="13319768"/>
                    </a:ext>
                  </a:extLst>
                </a:gridCol>
              </a:tblGrid>
              <a:tr h="37736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fruit[0]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6904002"/>
                  </a:ext>
                </a:extLst>
              </a:tr>
              <a:tr h="36824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fruit[1]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3294087"/>
                  </a:ext>
                </a:extLst>
              </a:tr>
              <a:tr h="36824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fruit[2]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8666169"/>
                  </a:ext>
                </a:extLst>
              </a:tr>
              <a:tr h="36824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fruit[3]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1553441"/>
                  </a:ext>
                </a:extLst>
              </a:tr>
              <a:tr h="35302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fruit[4]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6966131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5C62C0-5947-447F-9A1E-8176A9DA1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00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CFD68CC-2026-4535-AACB-757DA0562D09}"/>
              </a:ext>
            </a:extLst>
          </p:cNvPr>
          <p:cNvSpPr txBox="1"/>
          <p:nvPr/>
        </p:nvSpPr>
        <p:spPr>
          <a:xfrm>
            <a:off x="2140067" y="-48363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字符数组引用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616BA8-C17F-4A58-9442-A4FB91B78B78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对于字符数组，既可以引用字符元素，也可以引用整个字符数组：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DAB7BB-0863-44D4-BEAE-2DB15566BAC0}"/>
              </a:ext>
            </a:extLst>
          </p:cNvPr>
          <p:cNvSpPr txBox="1">
            <a:spLocks noChangeArrowheads="1"/>
          </p:cNvSpPr>
          <p:nvPr/>
        </p:nvSpPr>
        <p:spPr>
          <a:xfrm>
            <a:off x="124128" y="1226160"/>
            <a:ext cx="11953400" cy="183562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"China2000"</a:t>
            </a:r>
            <a:r>
              <a:rPr lang="en-US" altLang="zh-CN" b="1" dirty="0"/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a[</a:t>
            </a:r>
            <a:r>
              <a:rPr lang="en-US" altLang="zh-CN" dirty="0"/>
              <a:t>8</a:t>
            </a:r>
            <a:r>
              <a:rPr lang="en-US" altLang="zh-CN" b="1" dirty="0"/>
              <a:t>] = a[</a:t>
            </a:r>
            <a:r>
              <a:rPr lang="en-US" altLang="zh-CN" dirty="0"/>
              <a:t>5</a:t>
            </a:r>
            <a:r>
              <a:rPr lang="en-US" altLang="zh-CN" b="1" dirty="0"/>
              <a:t>];</a:t>
            </a:r>
            <a:r>
              <a:rPr lang="zh-CN" altLang="en-US" b="1" dirty="0"/>
              <a:t> </a:t>
            </a:r>
            <a:r>
              <a:rPr lang="en-US" altLang="zh-CN" b="1" dirty="0"/>
              <a:t>		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引用数组元素</a:t>
            </a:r>
            <a:r>
              <a:rPr lang="en-US" altLang="zh-CN" sz="2400" b="1" dirty="0">
                <a:solidFill>
                  <a:srgbClr val="00B050"/>
                </a:solidFill>
              </a:rPr>
              <a:t>a[8]</a:t>
            </a:r>
            <a:r>
              <a:rPr lang="zh-CN" altLang="en-US" sz="2400" b="1" dirty="0">
                <a:solidFill>
                  <a:srgbClr val="00B050"/>
                </a:solidFill>
              </a:rPr>
              <a:t>、</a:t>
            </a:r>
            <a:r>
              <a:rPr lang="en-US" altLang="zh-CN" sz="2400" b="1" dirty="0">
                <a:solidFill>
                  <a:srgbClr val="00B050"/>
                </a:solidFill>
              </a:rPr>
              <a:t>a[5]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printf("</a:t>
            </a:r>
            <a:r>
              <a:rPr lang="en-US" altLang="zh-CN" b="1" dirty="0">
                <a:solidFill>
                  <a:srgbClr val="FF0000"/>
                </a:solidFill>
              </a:rPr>
              <a:t>%c</a:t>
            </a:r>
            <a:r>
              <a:rPr lang="en-US" altLang="zh-CN" b="1" dirty="0"/>
              <a:t>\n", a[</a:t>
            </a:r>
            <a:r>
              <a:rPr lang="en-US" altLang="zh-CN" dirty="0"/>
              <a:t>3</a:t>
            </a:r>
            <a:r>
              <a:rPr lang="en-US" altLang="zh-CN" b="1" dirty="0"/>
              <a:t>]);</a:t>
            </a:r>
            <a:r>
              <a:rPr lang="zh-CN" altLang="en-US" b="1" dirty="0"/>
              <a:t> </a:t>
            </a:r>
            <a:r>
              <a:rPr lang="en-US" altLang="zh-CN" b="1" dirty="0"/>
              <a:t>	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引用数组元素</a:t>
            </a:r>
            <a:r>
              <a:rPr lang="en-US" altLang="zh-CN" sz="2400" b="1" dirty="0">
                <a:solidFill>
                  <a:srgbClr val="00B050"/>
                </a:solidFill>
              </a:rPr>
              <a:t>a[3]</a:t>
            </a:r>
            <a:r>
              <a:rPr lang="zh-CN" altLang="en-US" sz="2400" b="1" dirty="0">
                <a:solidFill>
                  <a:srgbClr val="00B050"/>
                </a:solidFill>
              </a:rPr>
              <a:t>，输出</a:t>
            </a:r>
            <a:r>
              <a:rPr lang="en-US" altLang="zh-CN" sz="2400" b="1" dirty="0">
                <a:solidFill>
                  <a:srgbClr val="00B050"/>
                </a:solidFill>
              </a:rPr>
              <a:t>a[3]</a:t>
            </a:r>
            <a:r>
              <a:rPr lang="zh-CN" altLang="en-US" sz="2400" b="1" dirty="0">
                <a:solidFill>
                  <a:srgbClr val="00B050"/>
                </a:solidFill>
              </a:rPr>
              <a:t>中的字符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printf("</a:t>
            </a:r>
            <a:r>
              <a:rPr lang="en-US" altLang="zh-CN" b="1" dirty="0">
                <a:solidFill>
                  <a:srgbClr val="FF0000"/>
                </a:solidFill>
              </a:rPr>
              <a:t>%s</a:t>
            </a:r>
            <a:r>
              <a:rPr lang="en-US" altLang="zh-CN" b="1" dirty="0"/>
              <a:t>\n", a);</a:t>
            </a:r>
            <a:r>
              <a:rPr lang="zh-CN" altLang="en-US" b="1" dirty="0"/>
              <a:t> </a:t>
            </a:r>
            <a:r>
              <a:rPr lang="en-US" altLang="zh-CN" b="1" dirty="0"/>
              <a:t>		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对整个字符数组</a:t>
            </a:r>
            <a:r>
              <a:rPr lang="en-US" altLang="zh-CN" sz="2400" b="1" dirty="0">
                <a:solidFill>
                  <a:srgbClr val="00B050"/>
                </a:solidFill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</a:rPr>
              <a:t>的引用，输出数组</a:t>
            </a:r>
            <a:r>
              <a:rPr lang="en-US" altLang="zh-CN" sz="2400" b="1" dirty="0">
                <a:solidFill>
                  <a:srgbClr val="00B050"/>
                </a:solidFill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</a:rPr>
              <a:t>中的字符串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FB26B6-0735-42F6-A6B3-A7C2CCBCDF8B}"/>
              </a:ext>
            </a:extLst>
          </p:cNvPr>
          <p:cNvSpPr txBox="1">
            <a:spLocks noChangeArrowheads="1"/>
          </p:cNvSpPr>
          <p:nvPr/>
        </p:nvSpPr>
        <p:spPr>
          <a:xfrm>
            <a:off x="119300" y="3397688"/>
            <a:ext cx="11953400" cy="146394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fruit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5</a:t>
            </a:r>
            <a:r>
              <a:rPr lang="en-US" altLang="zh-CN" b="1" dirty="0">
                <a:solidFill>
                  <a:srgbClr val="FF0000"/>
                </a:solidFill>
              </a:rPr>
              <a:t>][</a:t>
            </a:r>
            <a:r>
              <a:rPr lang="en-US" altLang="zh-CN" dirty="0"/>
              <a:t>7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{</a:t>
            </a:r>
            <a:r>
              <a:rPr lang="en-US" altLang="zh-CN" b="1" dirty="0">
                <a:solidFill>
                  <a:srgbClr val="00B050"/>
                </a:solidFill>
              </a:rPr>
              <a:t>"Apple"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"Orange"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"Grape"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"Pear"</a:t>
            </a:r>
            <a:r>
              <a:rPr lang="zh-CN" altLang="en-US" b="1" dirty="0"/>
              <a:t>，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"Peach" </a:t>
            </a:r>
            <a:r>
              <a:rPr lang="en-US" altLang="zh-CN" b="1" dirty="0"/>
              <a:t>}</a:t>
            </a:r>
            <a:r>
              <a:rPr lang="zh-CN" altLang="en-US" b="1" dirty="0"/>
              <a:t>；</a:t>
            </a:r>
            <a:endParaRPr lang="zh-CN" altLang="en-US" sz="4400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i = 0; i &lt; 5;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printf("</a:t>
            </a:r>
            <a:r>
              <a:rPr lang="en-US" altLang="zh-CN" b="1" dirty="0">
                <a:solidFill>
                  <a:srgbClr val="FF0000"/>
                </a:solidFill>
              </a:rPr>
              <a:t>%s</a:t>
            </a:r>
            <a:r>
              <a:rPr lang="en-US" altLang="zh-CN" b="1" dirty="0"/>
              <a:t>\n", fruit[i]); 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输出第</a:t>
            </a:r>
            <a:r>
              <a:rPr lang="en-US" altLang="zh-CN" sz="2400" b="1" dirty="0">
                <a:solidFill>
                  <a:srgbClr val="00B050"/>
                </a:solidFill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</a:rPr>
              <a:t>行中的字符串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BC95A0-7A0F-4D49-989B-3E5B8707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511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979D6D-72C0-4817-8993-9CA625F74683}"/>
              </a:ext>
            </a:extLst>
          </p:cNvPr>
          <p:cNvSpPr txBox="1"/>
          <p:nvPr/>
        </p:nvSpPr>
        <p:spPr>
          <a:xfrm>
            <a:off x="2140066" y="-48362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字符串输入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输出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1.</a:t>
            </a:r>
            <a:r>
              <a:rPr lang="zh-CN" altLang="en-US" sz="2400" b="1" dirty="0">
                <a:latin typeface="隶书" pitchFamily="49" charset="-122"/>
              </a:rPr>
              <a:t>以单个字符的形式输入</a:t>
            </a:r>
            <a:r>
              <a:rPr lang="en-US" altLang="zh-CN" sz="2400" b="1" dirty="0">
                <a:latin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</a:rPr>
              <a:t>输出字符串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A4E5D0-4D02-46BF-A5A3-22DB7E57AAB3}"/>
              </a:ext>
            </a:extLst>
          </p:cNvPr>
          <p:cNvSpPr txBox="1">
            <a:spLocks noChangeArrowheads="1"/>
          </p:cNvSpPr>
          <p:nvPr/>
        </p:nvSpPr>
        <p:spPr>
          <a:xfrm>
            <a:off x="124128" y="1226159"/>
            <a:ext cx="4811977" cy="48105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, ch;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scanf(</a:t>
            </a:r>
            <a:r>
              <a:rPr lang="en-US" altLang="zh-CN" b="1" dirty="0">
                <a:solidFill>
                  <a:srgbClr val="00B050"/>
                </a:solidFill>
              </a:rPr>
              <a:t>"%c"</a:t>
            </a:r>
            <a:r>
              <a:rPr lang="en-US" altLang="zh-CN" b="1" dirty="0"/>
              <a:t>, &amp;ch);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k = 0; ch != </a:t>
            </a:r>
            <a:r>
              <a:rPr lang="en-US" altLang="zh-CN" b="1" dirty="0">
                <a:solidFill>
                  <a:srgbClr val="00B050"/>
                </a:solidFill>
              </a:rPr>
              <a:t>‘\n’</a:t>
            </a:r>
            <a:r>
              <a:rPr lang="en-US" altLang="zh-CN" b="1" dirty="0"/>
              <a:t>; k++)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= ch;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scanf(</a:t>
            </a:r>
            <a:r>
              <a:rPr lang="en-US" altLang="zh-CN" b="1" dirty="0">
                <a:solidFill>
                  <a:srgbClr val="00B050"/>
                </a:solidFill>
              </a:rPr>
              <a:t>"%c"</a:t>
            </a:r>
            <a:r>
              <a:rPr lang="en-US" altLang="zh-CN" b="1" dirty="0"/>
              <a:t>, &amp;ch);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B050"/>
                </a:solidFill>
              </a:rPr>
              <a:t>‘\0’</a:t>
            </a:r>
            <a:r>
              <a:rPr lang="en-US" altLang="zh-CN" b="1" dirty="0"/>
              <a:t>;		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7268E88-9397-4880-869D-CC9FF75B5382}"/>
              </a:ext>
            </a:extLst>
          </p:cNvPr>
          <p:cNvSpPr txBox="1">
            <a:spLocks noChangeArrowheads="1"/>
          </p:cNvSpPr>
          <p:nvPr/>
        </p:nvSpPr>
        <p:spPr>
          <a:xfrm>
            <a:off x="4998165" y="1226160"/>
            <a:ext cx="7069707" cy="236429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, ch;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for(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k = 0; (a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= getchar()) != </a:t>
            </a:r>
            <a:r>
              <a:rPr lang="en-US" altLang="zh-CN" b="1" dirty="0">
                <a:solidFill>
                  <a:srgbClr val="00B050"/>
                </a:solidFill>
              </a:rPr>
              <a:t>‘\n’</a:t>
            </a:r>
            <a:r>
              <a:rPr lang="en-US" altLang="zh-CN" b="1" dirty="0"/>
              <a:t>; k++)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;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B050"/>
                </a:solidFill>
              </a:rPr>
              <a:t>‘\0’</a:t>
            </a:r>
            <a:r>
              <a:rPr lang="en-US" altLang="zh-CN" b="1" dirty="0"/>
              <a:t>;		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3ABBB4-A833-4D17-8075-168C31C17D68}"/>
              </a:ext>
            </a:extLst>
          </p:cNvPr>
          <p:cNvSpPr txBox="1">
            <a:spLocks noChangeArrowheads="1"/>
          </p:cNvSpPr>
          <p:nvPr/>
        </p:nvSpPr>
        <p:spPr>
          <a:xfrm>
            <a:off x="4998165" y="3659995"/>
            <a:ext cx="7069707" cy="236429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k = 0; 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!= </a:t>
            </a:r>
            <a:r>
              <a:rPr lang="en-US" altLang="zh-CN" b="1" dirty="0">
                <a:solidFill>
                  <a:srgbClr val="00B050"/>
                </a:solidFill>
              </a:rPr>
              <a:t>‘\0’</a:t>
            </a:r>
            <a:r>
              <a:rPr lang="en-US" altLang="zh-CN" b="1" dirty="0"/>
              <a:t>; k++)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printf(</a:t>
            </a:r>
            <a:r>
              <a:rPr lang="en-US" altLang="zh-CN" b="1" dirty="0">
                <a:solidFill>
                  <a:srgbClr val="00B050"/>
                </a:solidFill>
              </a:rPr>
              <a:t>“%c”</a:t>
            </a:r>
            <a:r>
              <a:rPr lang="en-US" altLang="zh-CN" b="1" dirty="0"/>
              <a:t>, 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k = 0; 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!= </a:t>
            </a:r>
            <a:r>
              <a:rPr lang="en-US" altLang="zh-CN" b="1" dirty="0">
                <a:solidFill>
                  <a:srgbClr val="00B050"/>
                </a:solidFill>
              </a:rPr>
              <a:t>‘\0’</a:t>
            </a:r>
            <a:r>
              <a:rPr lang="en-US" altLang="zh-CN" b="1" dirty="0"/>
              <a:t>; k++)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putchar(a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b="1" dirty="0"/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);	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3898B54-B871-4AF0-9D11-EC6B982C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532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979D6D-72C0-4817-8993-9CA625F74683}"/>
              </a:ext>
            </a:extLst>
          </p:cNvPr>
          <p:cNvSpPr txBox="1"/>
          <p:nvPr/>
        </p:nvSpPr>
        <p:spPr>
          <a:xfrm>
            <a:off x="2139981" y="-50279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字符串输入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输出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2.</a:t>
            </a:r>
            <a:r>
              <a:rPr lang="zh-CN" altLang="en-US" sz="2400" b="1" dirty="0">
                <a:latin typeface="隶书" pitchFamily="49" charset="-122"/>
              </a:rPr>
              <a:t>字符串整体或部分的输入</a:t>
            </a:r>
            <a:r>
              <a:rPr lang="en-US" altLang="zh-CN" sz="2400" b="1" dirty="0">
                <a:latin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</a:rPr>
              <a:t>输出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A4E5D0-4D02-46BF-A5A3-22DB7E57AAB3}"/>
              </a:ext>
            </a:extLst>
          </p:cNvPr>
          <p:cNvSpPr txBox="1">
            <a:spLocks noChangeArrowheads="1"/>
          </p:cNvSpPr>
          <p:nvPr/>
        </p:nvSpPr>
        <p:spPr>
          <a:xfrm>
            <a:off x="124128" y="1226160"/>
            <a:ext cx="4505798" cy="491448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, b[</a:t>
            </a:r>
            <a:r>
              <a:rPr lang="en-US" altLang="zh-CN" dirty="0"/>
              <a:t>5</a:t>
            </a:r>
            <a:r>
              <a:rPr lang="en-US" altLang="zh-CN" b="1" dirty="0"/>
              <a:t>][</a:t>
            </a:r>
            <a:r>
              <a:rPr lang="en-US" altLang="zh-CN" dirty="0"/>
              <a:t>20</a:t>
            </a:r>
            <a:r>
              <a:rPr lang="en-US" altLang="zh-CN" b="1" dirty="0"/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scanf(</a:t>
            </a:r>
            <a:r>
              <a:rPr lang="en-US" altLang="zh-CN" b="1" dirty="0">
                <a:solidFill>
                  <a:srgbClr val="00B050"/>
                </a:solidFill>
              </a:rPr>
              <a:t>"%s"</a:t>
            </a:r>
            <a:r>
              <a:rPr lang="en-US" altLang="zh-CN" b="1" dirty="0"/>
              <a:t>, a);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"%s"</a:t>
            </a:r>
            <a:r>
              <a:rPr lang="en-US" altLang="zh-CN" b="1" dirty="0"/>
              <a:t>, a);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 </a:t>
            </a:r>
            <a:r>
              <a:rPr lang="en-US" altLang="zh-CN" b="1" dirty="0"/>
              <a:t>i = 0; i &lt; 5;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scanf(</a:t>
            </a:r>
            <a:r>
              <a:rPr lang="en-US" altLang="zh-CN" b="1" dirty="0">
                <a:solidFill>
                  <a:srgbClr val="00B050"/>
                </a:solidFill>
              </a:rPr>
              <a:t>"%s"</a:t>
            </a:r>
            <a:r>
              <a:rPr lang="en-US" altLang="zh-CN" b="1" dirty="0"/>
              <a:t>, b[i]);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}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en-US" altLang="zh-CN" b="1" dirty="0"/>
              <a:t> i = 0; i &lt; 5;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printf(</a:t>
            </a:r>
            <a:r>
              <a:rPr lang="en-US" altLang="zh-CN" b="1" dirty="0">
                <a:solidFill>
                  <a:srgbClr val="00B050"/>
                </a:solidFill>
              </a:rPr>
              <a:t>"%s"</a:t>
            </a:r>
            <a:r>
              <a:rPr lang="en-US" altLang="zh-CN" b="1" dirty="0"/>
              <a:t>, b[i]);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}</a:t>
            </a:r>
            <a:endParaRPr lang="en-US" altLang="zh-CN" sz="36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	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7" name="Text Box 88">
            <a:extLst>
              <a:ext uri="{FF2B5EF4-FFF2-40B4-BE49-F238E27FC236}">
                <a16:creationId xmlns:a16="http://schemas.microsoft.com/office/drawing/2014/main" id="{8C88F4FC-4A53-49B1-8480-999C6847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1307" y="775166"/>
            <a:ext cx="7520694" cy="606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</a:p>
          <a:p>
            <a:pPr indent="457200"/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用格式字符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%s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输入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/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输出字符串时，输入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/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输出项以字符串地址形式出现。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输出项是字符串常量时，直接写出字符串常量。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    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printf(</a:t>
            </a:r>
            <a:r>
              <a:rPr kumimoji="1"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隶书" pitchFamily="49" charset="-122"/>
              </a:rPr>
              <a:t>"%s"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, </a:t>
            </a:r>
            <a:r>
              <a:rPr kumimoji="1"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隶书" pitchFamily="49" charset="-122"/>
              </a:rPr>
              <a:t>"abcd"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);</a:t>
            </a:r>
          </a:p>
          <a:p>
            <a:pPr indent="4572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用格式字符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%s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输出字符数组时，从输出项提供的地址开始输出字符，直到遇到字符串结束字符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’\0’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4572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    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char a[10] = </a:t>
            </a:r>
            <a:r>
              <a:rPr kumimoji="1"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隶书" pitchFamily="49" charset="-122"/>
              </a:rPr>
              <a:t>"abcd\0123"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;</a:t>
            </a:r>
          </a:p>
          <a:p>
            <a:pPr indent="457200"/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     printf(</a:t>
            </a:r>
            <a:r>
              <a:rPr kumimoji="1" lang="en-US" altLang="zh-CN" sz="2400" b="1" dirty="0">
                <a:solidFill>
                  <a:srgbClr val="00B050"/>
                </a:solidFill>
                <a:latin typeface="等线" panose="02010600030101010101" pitchFamily="2" charset="-122"/>
                <a:ea typeface="隶书" pitchFamily="49" charset="-122"/>
              </a:rPr>
              <a:t>"%s"</a:t>
            </a:r>
            <a:r>
              <a:rPr kumimoji="1" lang="en-US" altLang="zh-CN" sz="2400" b="1" dirty="0">
                <a:latin typeface="等线" panose="02010600030101010101" pitchFamily="2" charset="-122"/>
                <a:ea typeface="隶书" pitchFamily="49" charset="-122"/>
              </a:rPr>
              <a:t>, a);</a:t>
            </a:r>
          </a:p>
          <a:p>
            <a:pPr indent="4572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④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用格式字符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%s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输入字符串时，从第一个非空白字符开始，至遇到的第一个空白字符结束，末尾添加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’\0’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indent="457200"/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     </a:t>
            </a:r>
            <a:r>
              <a:rPr kumimoji="1" lang="en-US" altLang="zh-CN" sz="2400" dirty="0">
                <a:ea typeface="隶书" pitchFamily="49" charset="-122"/>
              </a:rPr>
              <a:t>char a[10];</a:t>
            </a:r>
          </a:p>
          <a:p>
            <a:pPr indent="457200"/>
            <a:r>
              <a:rPr kumimoji="1" lang="en-US" altLang="zh-CN" sz="2400" dirty="0">
                <a:ea typeface="隶书" pitchFamily="49" charset="-122"/>
              </a:rPr>
              <a:t>     scanf(</a:t>
            </a:r>
            <a:r>
              <a:rPr kumimoji="1" lang="en-US" altLang="zh-CN" sz="2400" dirty="0">
                <a:solidFill>
                  <a:srgbClr val="00B050"/>
                </a:solidFill>
                <a:ea typeface="隶书" pitchFamily="49" charset="-122"/>
              </a:rPr>
              <a:t>"%s"</a:t>
            </a:r>
            <a:r>
              <a:rPr kumimoji="1" lang="en-US" altLang="zh-CN" sz="2400" dirty="0">
                <a:ea typeface="隶书" pitchFamily="49" charset="-122"/>
              </a:rPr>
              <a:t>, a);</a:t>
            </a:r>
          </a:p>
          <a:p>
            <a:pPr indent="457200"/>
            <a:r>
              <a:rPr kumimoji="1" lang="en-US" altLang="zh-CN" sz="2400" dirty="0">
                <a:ea typeface="隶书" pitchFamily="49" charset="-122"/>
              </a:rPr>
              <a:t>     printf(</a:t>
            </a:r>
            <a:r>
              <a:rPr kumimoji="1" lang="en-US" altLang="zh-CN" sz="2400" dirty="0">
                <a:solidFill>
                  <a:srgbClr val="00B050"/>
                </a:solidFill>
                <a:ea typeface="隶书" pitchFamily="49" charset="-122"/>
              </a:rPr>
              <a:t>"%s"</a:t>
            </a:r>
            <a:r>
              <a:rPr kumimoji="1" lang="en-US" altLang="zh-CN" sz="2400" dirty="0">
                <a:ea typeface="隶书" pitchFamily="49" charset="-122"/>
              </a:rPr>
              <a:t>, a);</a:t>
            </a:r>
          </a:p>
          <a:p>
            <a:pPr indent="457200"/>
            <a:r>
              <a:rPr kumimoji="1" lang="zh-CN" altLang="en-US" sz="2400" dirty="0">
                <a:ea typeface="隶书" pitchFamily="49" charset="-122"/>
              </a:rPr>
              <a:t>输入：</a:t>
            </a:r>
            <a:r>
              <a:rPr kumimoji="1" lang="en-US" altLang="zh-CN" sz="2400" dirty="0">
                <a:ea typeface="隶书" pitchFamily="49" charset="-122"/>
              </a:rPr>
              <a:t>How are you</a:t>
            </a:r>
            <a:r>
              <a:rPr lang="en-US" altLang="zh-CN" sz="2400" b="1" dirty="0">
                <a:solidFill>
                  <a:srgbClr val="000000"/>
                </a:solidFill>
                <a:latin typeface="隶书" pitchFamily="49" charset="-122"/>
                <a:sym typeface="Symbol" pitchFamily="18" charset="2"/>
              </a:rPr>
              <a:t> </a:t>
            </a:r>
            <a:r>
              <a:rPr kumimoji="1" lang="en-US" altLang="zh-CN" sz="2400" dirty="0">
                <a:ea typeface="隶书" pitchFamily="49" charset="-122"/>
              </a:rPr>
              <a:t>	</a:t>
            </a:r>
            <a:r>
              <a:rPr kumimoji="1" lang="zh-CN" altLang="en-US" sz="2400" dirty="0">
                <a:ea typeface="隶书" pitchFamily="49" charset="-122"/>
              </a:rPr>
              <a:t>输出：</a:t>
            </a:r>
            <a:r>
              <a:rPr kumimoji="1" lang="en-US" altLang="zh-CN" sz="2400" dirty="0">
                <a:ea typeface="隶书" pitchFamily="49" charset="-122"/>
              </a:rPr>
              <a:t>How</a:t>
            </a:r>
            <a:endParaRPr kumimoji="1" lang="zh-CN" altLang="en-US" sz="2400" dirty="0">
              <a:ea typeface="隶书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548BE-2229-493E-AD23-531F2BB0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44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979D6D-72C0-4817-8993-9CA625F74683}"/>
              </a:ext>
            </a:extLst>
          </p:cNvPr>
          <p:cNvSpPr txBox="1"/>
          <p:nvPr/>
        </p:nvSpPr>
        <p:spPr>
          <a:xfrm>
            <a:off x="2140064" y="-52597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字符串输入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输出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3.</a:t>
            </a:r>
            <a:r>
              <a:rPr lang="zh-CN" altLang="en-US" sz="2400" b="1" dirty="0">
                <a:latin typeface="隶书" pitchFamily="49" charset="-122"/>
              </a:rPr>
              <a:t>用</a:t>
            </a:r>
            <a:r>
              <a:rPr lang="en-US" altLang="zh-CN" sz="2400" b="1" dirty="0">
                <a:latin typeface="隶书" pitchFamily="49" charset="-122"/>
              </a:rPr>
              <a:t>gets()</a:t>
            </a:r>
            <a:r>
              <a:rPr lang="zh-CN" altLang="en-US" sz="2400" b="1" dirty="0">
                <a:latin typeface="隶书" pitchFamily="49" charset="-122"/>
              </a:rPr>
              <a:t>和</a:t>
            </a:r>
            <a:r>
              <a:rPr lang="en-US" altLang="zh-CN" sz="2400" b="1" dirty="0">
                <a:latin typeface="隶书" pitchFamily="49" charset="-122"/>
              </a:rPr>
              <a:t>puts()</a:t>
            </a:r>
            <a:r>
              <a:rPr lang="zh-CN" altLang="en-US" sz="2400" b="1" dirty="0">
                <a:latin typeface="隶书" pitchFamily="49" charset="-122"/>
              </a:rPr>
              <a:t>库函数输入</a:t>
            </a:r>
            <a:r>
              <a:rPr lang="en-US" altLang="zh-CN" sz="2400" b="1" dirty="0">
                <a:latin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</a:rPr>
              <a:t>输出字符串（位于头文件</a:t>
            </a:r>
            <a:r>
              <a:rPr lang="en-US" altLang="zh-CN" sz="2400" b="1" dirty="0">
                <a:latin typeface="隶书" pitchFamily="49" charset="-122"/>
              </a:rPr>
              <a:t>&lt;</a:t>
            </a:r>
            <a:r>
              <a:rPr lang="en-US" altLang="zh-CN" sz="2800" b="1" dirty="0">
                <a:solidFill>
                  <a:srgbClr val="0000FF"/>
                </a:solidFill>
              </a:rPr>
              <a:t>stdio.h</a:t>
            </a:r>
            <a:r>
              <a:rPr lang="en-US" altLang="zh-CN" sz="2400" b="1" dirty="0">
                <a:latin typeface="隶书" pitchFamily="49" charset="-122"/>
              </a:rPr>
              <a:t>&gt;</a:t>
            </a:r>
            <a:r>
              <a:rPr lang="zh-CN" altLang="en-US" sz="2400" b="1" dirty="0">
                <a:latin typeface="隶书" pitchFamily="49" charset="-122"/>
              </a:rPr>
              <a:t>）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AB70D6-BDB3-4E78-98C7-61622ACE0CF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59228"/>
            <a:ext cx="6156684" cy="230320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 gets(</a:t>
            </a: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 str);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：从标准输入设备读字符串并存入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：存储输入字符串的内存空间首地址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：读入成功，返回与参数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相同的指针；读入过程中如遇到</a:t>
            </a:r>
            <a:r>
              <a:rPr kumimoji="1" lang="en-US" altLang="zh-CN" sz="2000" dirty="0"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或发生错误，则返回</a:t>
            </a:r>
            <a:r>
              <a:rPr kumimoji="1" lang="en-US" altLang="zh-CN" sz="2000" dirty="0">
                <a:latin typeface="Arial" charset="0"/>
                <a:ea typeface="隶书" pitchFamily="49" charset="-122"/>
              </a:rPr>
              <a:t>NULL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指针。</a:t>
            </a:r>
          </a:p>
        </p:txBody>
      </p:sp>
      <p:sp>
        <p:nvSpPr>
          <p:cNvPr id="9" name="Text Box 88">
            <a:extLst>
              <a:ext uri="{FF2B5EF4-FFF2-40B4-BE49-F238E27FC236}">
                <a16:creationId xmlns:a16="http://schemas.microsoft.com/office/drawing/2014/main" id="{83864AD6-3566-4855-9251-6C63C3FF6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" y="3506725"/>
            <a:ext cx="12192000" cy="2741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</a:p>
          <a:p>
            <a:pPr indent="180000"/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 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gets()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函数不会在开始读字符串之前跳过空白字符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(scanf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函数会跳过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)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indent="1800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②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gets()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函数会持续读入，直到换行符才停止。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(scanf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函数会在任意空白字符处停止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)</a:t>
            </a:r>
          </a:p>
          <a:p>
            <a:pPr indent="1800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③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gets()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函数用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’\0’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替换最后读入的换行符并存入字符数组。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180000"/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④ 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在把字符读入数组时，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scanf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和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gets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函数都无法检测数组何时被填满。可以用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%ns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代替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%s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使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scanf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函数更为安全，但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gets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函数天生就是不安全的，所以自从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C11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标准后被废除。</a:t>
            </a:r>
            <a:endParaRPr kumimoji="1" lang="en-US" altLang="zh-CN" sz="2400" dirty="0">
              <a:solidFill>
                <a:srgbClr val="3333FF"/>
              </a:solidFill>
              <a:latin typeface="等线" panose="02010600030101010101" pitchFamily="2" charset="-122"/>
              <a:ea typeface="隶书" pitchFamily="49" charset="-122"/>
            </a:endParaRPr>
          </a:p>
          <a:p>
            <a:pPr indent="180000"/>
            <a:r>
              <a:rPr kumimoji="1" lang="zh-CN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⑤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 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puts()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函数输出一串字符串后，会自动换行，不需要再加一个</a:t>
            </a:r>
            <a:r>
              <a:rPr kumimoji="1" lang="en-US" altLang="zh-CN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\n</a:t>
            </a:r>
            <a:r>
              <a:rPr kumimoji="1" lang="zh-CN" altLang="en-US" sz="24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rPr>
              <a:t>。</a:t>
            </a:r>
            <a:endParaRPr kumimoji="1" lang="zh-CN" altLang="en-US" sz="2400" dirty="0">
              <a:ea typeface="隶书" pitchFamily="49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14A28D0-1C68-4175-BFBD-AB99A86B2E6B}"/>
              </a:ext>
            </a:extLst>
          </p:cNvPr>
          <p:cNvSpPr txBox="1">
            <a:spLocks noChangeArrowheads="1"/>
          </p:cNvSpPr>
          <p:nvPr/>
        </p:nvSpPr>
        <p:spPr>
          <a:xfrm>
            <a:off x="6196683" y="1259229"/>
            <a:ext cx="5995319" cy="230320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 </a:t>
            </a:r>
            <a:r>
              <a:rPr lang="en-US" altLang="zh-CN" b="1" dirty="0"/>
              <a:t>puts(</a:t>
            </a:r>
            <a:r>
              <a:rPr lang="en-US" altLang="zh-CN" b="1" dirty="0">
                <a:solidFill>
                  <a:srgbClr val="0000FF"/>
                </a:solidFill>
              </a:rPr>
              <a:t>const 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str)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>
                <a:srgbClr val="44546A"/>
              </a:buClr>
              <a:buSzPct val="70000"/>
              <a:buNone/>
            </a:pPr>
            <a:r>
              <a:rPr kumimoji="1" lang="zh-CN" altLang="en-US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功能</a:t>
            </a:r>
            <a:r>
              <a:rPr kumimoji="1" lang="zh-CN" altLang="en-US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：向标准输出设备输出字符串并</a:t>
            </a:r>
            <a:r>
              <a:rPr kumimoji="1" lang="zh-CN" altLang="en-US" sz="24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换行</a:t>
            </a:r>
            <a:endParaRPr kumimoji="1" lang="en-US" altLang="zh-CN" sz="2400" dirty="0">
              <a:solidFill>
                <a:srgbClr val="FF0000"/>
              </a:solidFill>
              <a:latin typeface="Arial" charset="0"/>
              <a:ea typeface="隶书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>
                <a:srgbClr val="44546A"/>
              </a:buClr>
              <a:buSzPct val="70000"/>
              <a:buNone/>
            </a:pPr>
            <a:r>
              <a:rPr kumimoji="1" lang="en-US" altLang="zh-CN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：要输出字符串的首地址。</a:t>
            </a:r>
            <a:endParaRPr kumimoji="1" lang="en-US" altLang="zh-CN" sz="2400" dirty="0">
              <a:solidFill>
                <a:prstClr val="black"/>
              </a:solidFill>
              <a:latin typeface="Arial" charset="0"/>
              <a:ea typeface="隶书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Clr>
                <a:srgbClr val="44546A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：输出的字节数，输出失败返回</a:t>
            </a:r>
            <a:r>
              <a:rPr kumimoji="1" lang="en-US" altLang="zh-CN" sz="20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solidFill>
                  <a:prstClr val="black"/>
                </a:solidFill>
                <a:latin typeface="Arial" charset="0"/>
                <a:ea typeface="隶书" pitchFamily="49" charset="-122"/>
              </a:rPr>
              <a:t>。</a:t>
            </a:r>
            <a:endParaRPr lang="zh-CN" altLang="en-US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8E32A8-4C97-4711-BF22-8C853623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97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3.</a:t>
            </a:r>
            <a:r>
              <a:rPr lang="zh-CN" altLang="en-US" sz="2400" b="1" dirty="0">
                <a:latin typeface="隶书" pitchFamily="49" charset="-122"/>
              </a:rPr>
              <a:t>用</a:t>
            </a:r>
            <a:r>
              <a:rPr lang="en-US" altLang="zh-CN" sz="2400" b="1" dirty="0">
                <a:latin typeface="隶书" pitchFamily="49" charset="-122"/>
              </a:rPr>
              <a:t>gets()</a:t>
            </a:r>
            <a:r>
              <a:rPr lang="zh-CN" altLang="en-US" sz="2400" b="1" dirty="0">
                <a:latin typeface="隶书" pitchFamily="49" charset="-122"/>
              </a:rPr>
              <a:t>和</a:t>
            </a:r>
            <a:r>
              <a:rPr lang="en-US" altLang="zh-CN" sz="2400" b="1" dirty="0">
                <a:latin typeface="隶书" pitchFamily="49" charset="-122"/>
              </a:rPr>
              <a:t>puts()</a:t>
            </a:r>
            <a:r>
              <a:rPr lang="zh-CN" altLang="en-US" sz="2400" b="1" dirty="0">
                <a:latin typeface="隶书" pitchFamily="49" charset="-122"/>
              </a:rPr>
              <a:t>库函数输入</a:t>
            </a:r>
            <a:r>
              <a:rPr lang="en-US" altLang="zh-CN" sz="2400" b="1" dirty="0">
                <a:latin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</a:rPr>
              <a:t>输出字符串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AB70D6-BDB3-4E78-98C7-61622ACE0CF8}"/>
              </a:ext>
            </a:extLst>
          </p:cNvPr>
          <p:cNvSpPr txBox="1">
            <a:spLocks noChangeArrowheads="1"/>
          </p:cNvSpPr>
          <p:nvPr/>
        </p:nvSpPr>
        <p:spPr>
          <a:xfrm>
            <a:off x="2908702" y="1271640"/>
            <a:ext cx="6156684" cy="315554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 str[</a:t>
            </a:r>
            <a:r>
              <a:rPr lang="en-US" altLang="zh-CN" dirty="0"/>
              <a:t>128</a:t>
            </a:r>
            <a:r>
              <a:rPr lang="en-US" altLang="zh-CN" b="1" dirty="0"/>
              <a:t>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gets(str);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for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int i</a:t>
            </a:r>
            <a:r>
              <a:rPr lang="en-US" altLang="zh-CN" b="1" dirty="0"/>
              <a:t> = 0; str[i] != </a:t>
            </a:r>
            <a:r>
              <a:rPr lang="en-US" altLang="zh-CN" b="1" dirty="0">
                <a:solidFill>
                  <a:srgbClr val="00B050"/>
                </a:solidFill>
              </a:rPr>
              <a:t>‘\0’</a:t>
            </a:r>
            <a:r>
              <a:rPr lang="en-US" altLang="zh-CN" b="1" dirty="0"/>
              <a:t>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</a:t>
            </a:r>
            <a:r>
              <a:rPr lang="zh-CN" altLang="en-US" b="1" dirty="0"/>
              <a:t> </a:t>
            </a:r>
            <a:r>
              <a:rPr lang="en-US" altLang="zh-CN" b="1" dirty="0">
                <a:solidFill>
                  <a:srgbClr val="00B050"/>
                </a:solidFill>
              </a:rPr>
              <a:t>……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puts(str);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9901E2F-2CF3-410E-8D0E-A0CC4E7D36F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572183"/>
            <a:ext cx="12192000" cy="89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4-9】</a:t>
            </a:r>
            <a:r>
              <a:rPr lang="zh-CN" altLang="en-US" sz="2400" b="1" dirty="0"/>
              <a:t>从键盘输入一个字符串，把其中的小写字母转换为大写字母，其它字符保持不变，把处理后的结果输出到屏幕上。</a:t>
            </a:r>
            <a:endParaRPr lang="zh-CN" altLang="en-US" sz="2200" b="1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397126-928C-4247-A4D0-D051CD4915C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32105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4-10】</a:t>
            </a:r>
            <a:r>
              <a:rPr lang="zh-CN" altLang="en-US" sz="2400" b="1" dirty="0"/>
              <a:t>复制字符串。</a:t>
            </a:r>
            <a:endParaRPr lang="zh-CN" altLang="en-US" sz="22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5243F4-BF3B-4A7F-8D42-052B0067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78D12D-A80B-445D-95B7-E88937C39837}"/>
              </a:ext>
            </a:extLst>
          </p:cNvPr>
          <p:cNvSpPr txBox="1"/>
          <p:nvPr/>
        </p:nvSpPr>
        <p:spPr>
          <a:xfrm>
            <a:off x="2140064" y="-52597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字符串输入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输出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487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11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C979D6D-72C0-4817-8993-9CA625F74683}"/>
              </a:ext>
            </a:extLst>
          </p:cNvPr>
          <p:cNvSpPr txBox="1"/>
          <p:nvPr/>
        </p:nvSpPr>
        <p:spPr>
          <a:xfrm>
            <a:off x="2144299" y="-398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字符串处理函数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&lt;</a:t>
            </a:r>
            <a:r>
              <a:rPr lang="en-US" altLang="zh-CN" sz="3600" b="1" dirty="0" err="1">
                <a:solidFill>
                  <a:srgbClr val="200AC4"/>
                </a:solidFill>
                <a:ea typeface="隶书" pitchFamily="49" charset="-122"/>
              </a:rPr>
              <a:t>string.h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&gt;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1.</a:t>
            </a:r>
            <a:r>
              <a:rPr lang="zh-CN" altLang="en-US" sz="2400" b="1" dirty="0">
                <a:latin typeface="隶书" pitchFamily="49" charset="-122"/>
              </a:rPr>
              <a:t>字符串复制函数</a:t>
            </a:r>
            <a:r>
              <a:rPr lang="en-US" altLang="zh-CN" sz="2400" b="1" dirty="0">
                <a:latin typeface="隶书" pitchFamily="49" charset="-122"/>
              </a:rPr>
              <a:t>strcpy()</a:t>
            </a:r>
            <a:endParaRPr lang="zh-CN" altLang="en-US" sz="2400" b="1" dirty="0">
              <a:latin typeface="隶书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BAB544-FB8C-48A1-88D6-77A9D3EB19E8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1279527"/>
            <a:ext cx="8262700" cy="208014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strcpy(</a:t>
            </a: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dest,</a:t>
            </a:r>
            <a:r>
              <a:rPr lang="en-US" altLang="zh-CN" b="1" dirty="0">
                <a:solidFill>
                  <a:srgbClr val="0000FF"/>
                </a:solidFill>
              </a:rPr>
              <a:t> const 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src);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：把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src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指向的源字符串复制到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dest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指向的目的字符串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 dest: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接受源字符串的内存空间首地址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  src: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源字符串的内存空间首地址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：返回与参数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dest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相同的指针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6654ACF-44C9-4D69-92B5-98399F5F42AC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4015169"/>
            <a:ext cx="8262700" cy="190981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</a:t>
            </a:r>
            <a:r>
              <a:rPr lang="en-US" altLang="zh-CN" b="1" dirty="0"/>
              <a:t>, b[</a:t>
            </a:r>
            <a:r>
              <a:rPr lang="en-US" altLang="zh-CN" dirty="0"/>
              <a:t>7</a:t>
            </a:r>
            <a:r>
              <a:rPr lang="en-US" altLang="zh-CN" b="1" dirty="0"/>
              <a:t>]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strcpy(b, a);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strcpy(b, </a:t>
            </a:r>
            <a:r>
              <a:rPr lang="en-US" altLang="zh-CN" b="1" dirty="0">
                <a:solidFill>
                  <a:srgbClr val="00B050"/>
                </a:solidFill>
              </a:rPr>
              <a:t>"ABC"</a:t>
            </a:r>
            <a:r>
              <a:rPr lang="en-US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strcpy(b, strcpy(a, </a:t>
            </a:r>
            <a:r>
              <a:rPr lang="en-US" altLang="zh-CN" b="1" dirty="0">
                <a:solidFill>
                  <a:srgbClr val="00B050"/>
                </a:solidFill>
              </a:rPr>
              <a:t>"abc"</a:t>
            </a:r>
            <a:r>
              <a:rPr lang="en-US" altLang="zh-CN" b="1" dirty="0"/>
              <a:t>));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FF7EF1-847C-4C7F-B7C8-E3A46E93DA60}"/>
              </a:ext>
            </a:extLst>
          </p:cNvPr>
          <p:cNvSpPr/>
          <p:nvPr/>
        </p:nvSpPr>
        <p:spPr>
          <a:xfrm>
            <a:off x="1105631" y="3429000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3D50C-B9ED-40D6-A245-D94A2D58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533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2.</a:t>
            </a:r>
            <a:r>
              <a:rPr lang="zh-CN" altLang="en-US" sz="2400" b="1" dirty="0">
                <a:latin typeface="隶书" pitchFamily="49" charset="-122"/>
              </a:rPr>
              <a:t>求字符串长度函数</a:t>
            </a:r>
            <a:r>
              <a:rPr lang="en-US" altLang="zh-CN" sz="2400" b="1" dirty="0">
                <a:latin typeface="隶书" pitchFamily="49" charset="-122"/>
              </a:rPr>
              <a:t>strlen()</a:t>
            </a:r>
            <a:endParaRPr lang="zh-CN" altLang="en-US" sz="2400" b="1" dirty="0">
              <a:latin typeface="隶书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BAB544-FB8C-48A1-88D6-77A9D3EB19E8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1279528"/>
            <a:ext cx="8262700" cy="1753302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size_t </a:t>
            </a:r>
            <a:r>
              <a:rPr lang="en-US" altLang="zh-CN" b="1" dirty="0"/>
              <a:t>strlen(</a:t>
            </a:r>
            <a:r>
              <a:rPr lang="en-US" altLang="zh-CN" b="1" dirty="0">
                <a:solidFill>
                  <a:srgbClr val="0000FF"/>
                </a:solidFill>
              </a:rPr>
              <a:t>const 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：返回字符串中包含的字符个数，</a:t>
            </a:r>
            <a:r>
              <a:rPr kumimoji="1" lang="zh-CN" altLang="en-US" sz="2400" dirty="0">
                <a:solidFill>
                  <a:srgbClr val="FF0000"/>
                </a:solidFill>
                <a:latin typeface="Arial" charset="0"/>
                <a:ea typeface="隶书" pitchFamily="49" charset="-122"/>
              </a:rPr>
              <a:t>不包括</a:t>
            </a:r>
            <a:r>
              <a:rPr kumimoji="1" lang="en-US" altLang="zh-CN" sz="2400" dirty="0">
                <a:solidFill>
                  <a:srgbClr val="00B050"/>
                </a:solidFill>
                <a:latin typeface="Arial" charset="0"/>
                <a:ea typeface="隶书" pitchFamily="49" charset="-122"/>
              </a:rPr>
              <a:t>’\0’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的内存空间首地址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中包含的字符个数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6654ACF-44C9-4D69-92B5-98399F5F42AC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3762777"/>
            <a:ext cx="8262700" cy="187085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6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</a:t>
            </a:r>
            <a:r>
              <a:rPr lang="en-US" altLang="zh-CN" b="1" dirty="0"/>
              <a:t> 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"%d"</a:t>
            </a:r>
            <a:r>
              <a:rPr lang="en-US" altLang="zh-CN" b="1" dirty="0"/>
              <a:t>, sizeof(a));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"%d"</a:t>
            </a:r>
            <a:r>
              <a:rPr lang="en-US" altLang="zh-CN" b="1" dirty="0"/>
              <a:t>, strlen(a)); </a:t>
            </a:r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注意和</a:t>
            </a:r>
            <a:r>
              <a:rPr lang="en-US" altLang="zh-CN" b="1" dirty="0">
                <a:solidFill>
                  <a:srgbClr val="00B050"/>
                </a:solidFill>
              </a:rPr>
              <a:t>sizeof(a)</a:t>
            </a:r>
            <a:r>
              <a:rPr lang="zh-CN" altLang="en-US" sz="2400" b="1" dirty="0">
                <a:solidFill>
                  <a:srgbClr val="00B050"/>
                </a:solidFill>
              </a:rPr>
              <a:t>的区别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"%d"</a:t>
            </a:r>
            <a:r>
              <a:rPr lang="en-US" altLang="zh-CN" b="1" dirty="0"/>
              <a:t>, strlen(</a:t>
            </a:r>
            <a:r>
              <a:rPr lang="en-US" altLang="zh-CN" b="1" dirty="0">
                <a:solidFill>
                  <a:srgbClr val="00B050"/>
                </a:solidFill>
              </a:rPr>
              <a:t>""</a:t>
            </a:r>
            <a:r>
              <a:rPr lang="en-US" altLang="zh-CN" b="1" dirty="0"/>
              <a:t>));</a:t>
            </a:r>
            <a:endParaRPr lang="zh-CN" altLang="en-US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FF7EF1-847C-4C7F-B7C8-E3A46E93DA60}"/>
              </a:ext>
            </a:extLst>
          </p:cNvPr>
          <p:cNvSpPr/>
          <p:nvPr/>
        </p:nvSpPr>
        <p:spPr>
          <a:xfrm>
            <a:off x="1113906" y="3133341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C0C93D-A1CC-4C2B-A261-4F606A95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25090B-EC04-47F0-B132-AB8C1418FF0B}"/>
              </a:ext>
            </a:extLst>
          </p:cNvPr>
          <p:cNvSpPr txBox="1"/>
          <p:nvPr/>
        </p:nvSpPr>
        <p:spPr>
          <a:xfrm>
            <a:off x="2144299" y="-398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字符串处理函数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&lt;</a:t>
            </a:r>
            <a:r>
              <a:rPr lang="en-US" altLang="zh-CN" sz="3600" b="1" dirty="0" err="1">
                <a:solidFill>
                  <a:srgbClr val="200AC4"/>
                </a:solidFill>
                <a:ea typeface="隶书" pitchFamily="49" charset="-122"/>
              </a:rPr>
              <a:t>string.h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&gt;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495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3.</a:t>
            </a:r>
            <a:r>
              <a:rPr lang="zh-CN" altLang="en-US" sz="2400" b="1" dirty="0">
                <a:latin typeface="隶书" pitchFamily="49" charset="-122"/>
              </a:rPr>
              <a:t>字符串连接函数</a:t>
            </a:r>
            <a:r>
              <a:rPr lang="en-US" altLang="zh-CN" sz="2400" b="1" dirty="0">
                <a:latin typeface="隶书" pitchFamily="49" charset="-122"/>
              </a:rPr>
              <a:t>strcat()</a:t>
            </a:r>
            <a:endParaRPr lang="zh-CN" altLang="en-US" sz="2400" b="1" dirty="0">
              <a:latin typeface="隶书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BAB544-FB8C-48A1-88D6-77A9D3EB19E8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1279528"/>
            <a:ext cx="8262700" cy="2003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strcat(</a:t>
            </a: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 dest, </a:t>
            </a:r>
            <a:r>
              <a:rPr lang="en-US" altLang="zh-CN" b="1" dirty="0">
                <a:solidFill>
                  <a:srgbClr val="0000FF"/>
                </a:solidFill>
              </a:rPr>
              <a:t>const char</a:t>
            </a:r>
            <a:r>
              <a:rPr lang="en-US" altLang="zh-CN" b="1" dirty="0"/>
              <a:t>* src);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：把字符串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src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追加到字符串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dest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的末尾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dest: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接受追加源字符串的内存空间首地址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           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src: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源字符串的内存空间首地址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dest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的首地址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6654ACF-44C9-4D69-92B5-98399F5F42AC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3820704"/>
            <a:ext cx="8262700" cy="231994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str1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20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</a:t>
            </a:r>
            <a:r>
              <a:rPr lang="zh-CN" altLang="en-US" b="1" dirty="0"/>
              <a:t> </a:t>
            </a:r>
            <a:r>
              <a:rPr lang="en-US" altLang="zh-CN" b="1" dirty="0"/>
              <a:t>str2</a:t>
            </a:r>
            <a:r>
              <a:rPr lang="en-US" altLang="zh-CN" b="1" dirty="0">
                <a:solidFill>
                  <a:srgbClr val="FF0000"/>
                </a:solidFill>
              </a:rPr>
              <a:t>[ ]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B050"/>
                </a:solidFill>
              </a:rPr>
              <a:t>"abc"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strcat(str1, str2);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strcat(str2, </a:t>
            </a:r>
            <a:r>
              <a:rPr lang="en-US" altLang="zh-CN" b="1" dirty="0">
                <a:solidFill>
                  <a:srgbClr val="00B050"/>
                </a:solidFill>
              </a:rPr>
              <a:t>"123"</a:t>
            </a:r>
            <a:r>
              <a:rPr lang="en-US" altLang="zh-CN" b="1" dirty="0"/>
              <a:t>);   </a:t>
            </a:r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错误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char str3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15</a:t>
            </a:r>
            <a:r>
              <a:rPr lang="en-US" altLang="zh-CN" b="1" dirty="0">
                <a:solidFill>
                  <a:srgbClr val="FF0000"/>
                </a:solidFill>
              </a:rPr>
              <a:t>]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B050"/>
                </a:solidFill>
              </a:rPr>
              <a:t>"Hello"</a:t>
            </a:r>
            <a:r>
              <a:rPr lang="en-US" altLang="zh-CN" b="1" dirty="0"/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strcat(str1, strcat(str3, </a:t>
            </a:r>
            <a:r>
              <a:rPr lang="en-US" altLang="zh-CN" b="1" dirty="0">
                <a:solidFill>
                  <a:srgbClr val="00B050"/>
                </a:solidFill>
              </a:rPr>
              <a:t>" World"</a:t>
            </a:r>
            <a:r>
              <a:rPr lang="en-US" altLang="zh-CN" b="1" dirty="0"/>
              <a:t>));</a:t>
            </a:r>
            <a:endParaRPr lang="zh-CN" altLang="en-US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FF7EF1-847C-4C7F-B7C8-E3A46E93DA60}"/>
              </a:ext>
            </a:extLst>
          </p:cNvPr>
          <p:cNvSpPr/>
          <p:nvPr/>
        </p:nvSpPr>
        <p:spPr>
          <a:xfrm>
            <a:off x="1109769" y="3297305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FFBDDA-BCEB-4E53-B335-88212610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B7B165-0E4F-4F19-8EFF-775EC3709CEF}"/>
              </a:ext>
            </a:extLst>
          </p:cNvPr>
          <p:cNvSpPr txBox="1"/>
          <p:nvPr/>
        </p:nvSpPr>
        <p:spPr>
          <a:xfrm>
            <a:off x="2144299" y="-398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字符串处理函数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&lt;</a:t>
            </a:r>
            <a:r>
              <a:rPr lang="en-US" altLang="zh-CN" sz="3600" b="1" dirty="0" err="1">
                <a:solidFill>
                  <a:srgbClr val="200AC4"/>
                </a:solidFill>
                <a:ea typeface="隶书" pitchFamily="49" charset="-122"/>
              </a:rPr>
              <a:t>string.h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&gt;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084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E0924E-FA85-4FEE-B150-8828E15B6A74}"/>
              </a:ext>
            </a:extLst>
          </p:cNvPr>
          <p:cNvSpPr/>
          <p:nvPr/>
        </p:nvSpPr>
        <p:spPr>
          <a:xfrm>
            <a:off x="33557" y="717352"/>
            <a:ext cx="121584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400" b="1" dirty="0">
                <a:latin typeface="隶书" pitchFamily="49" charset="-122"/>
              </a:rPr>
              <a:t>3.</a:t>
            </a:r>
            <a:r>
              <a:rPr lang="zh-CN" altLang="en-US" sz="2400" b="1" dirty="0">
                <a:latin typeface="隶书" pitchFamily="49" charset="-122"/>
              </a:rPr>
              <a:t>字符串比较函数</a:t>
            </a:r>
            <a:r>
              <a:rPr lang="en-US" altLang="zh-CN" sz="2400" b="1" dirty="0">
                <a:latin typeface="隶书" pitchFamily="49" charset="-122"/>
              </a:rPr>
              <a:t>strcmp()</a:t>
            </a:r>
            <a:endParaRPr lang="zh-CN" altLang="en-US" sz="2400" b="1" dirty="0">
              <a:latin typeface="隶书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BAB544-FB8C-48A1-88D6-77A9D3EB19E8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1279527"/>
            <a:ext cx="8262700" cy="275872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 </a:t>
            </a:r>
            <a:r>
              <a:rPr lang="en-US" altLang="zh-CN" b="1" dirty="0"/>
              <a:t>strcmp(</a:t>
            </a:r>
            <a:r>
              <a:rPr lang="en-US" altLang="zh-CN" b="1" dirty="0">
                <a:solidFill>
                  <a:srgbClr val="0000FF"/>
                </a:solidFill>
              </a:rPr>
              <a:t>const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* str1, </a:t>
            </a:r>
            <a:r>
              <a:rPr lang="en-US" altLang="zh-CN" b="1" dirty="0">
                <a:solidFill>
                  <a:srgbClr val="0000FF"/>
                </a:solidFill>
              </a:rPr>
              <a:t>const char</a:t>
            </a:r>
            <a:r>
              <a:rPr lang="en-US" altLang="zh-CN" b="1" dirty="0"/>
              <a:t>* str2);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：比字符串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和字符串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str2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的大小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str1: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参与比较的第一个字符串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         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str2: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参与比较的第二个字符串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：大于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，表示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大于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str2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等于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，表示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等于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str2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小于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，表示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小于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str2</a:t>
            </a:r>
            <a:endParaRPr kumimoji="1" lang="zh-CN" altLang="en-US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6654ACF-44C9-4D69-92B5-98399F5F42AC}"/>
              </a:ext>
            </a:extLst>
          </p:cNvPr>
          <p:cNvSpPr txBox="1">
            <a:spLocks noChangeArrowheads="1"/>
          </p:cNvSpPr>
          <p:nvPr/>
        </p:nvSpPr>
        <p:spPr>
          <a:xfrm>
            <a:off x="1964650" y="4544406"/>
            <a:ext cx="8262700" cy="1475369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</a:t>
            </a:r>
            <a:r>
              <a:rPr lang="en-US" altLang="zh-CN" dirty="0"/>
              <a:t>10</a:t>
            </a:r>
            <a:r>
              <a:rPr lang="en-US" altLang="zh-CN" b="1" dirty="0">
                <a:solidFill>
                  <a:srgbClr val="FF0000"/>
                </a:solidFill>
              </a:rPr>
              <a:t>]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B050"/>
                </a:solidFill>
              </a:rPr>
              <a:t>"China"</a:t>
            </a:r>
            <a:r>
              <a:rPr lang="zh-CN" altLang="en-US" b="1" dirty="0"/>
              <a:t> </a:t>
            </a:r>
            <a:r>
              <a:rPr lang="en-US" altLang="zh-CN" b="1" dirty="0"/>
              <a:t>b</a:t>
            </a:r>
            <a:r>
              <a:rPr lang="en-US" altLang="zh-CN" b="1" dirty="0">
                <a:solidFill>
                  <a:srgbClr val="FF0000"/>
                </a:solidFill>
              </a:rPr>
              <a:t>[ ]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B050"/>
                </a:solidFill>
              </a:rPr>
              <a:t>"123"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"%d"</a:t>
            </a:r>
            <a:r>
              <a:rPr lang="en-US" altLang="zh-CN" b="1" dirty="0"/>
              <a:t>, strcmp(b, a));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printf(</a:t>
            </a:r>
            <a:r>
              <a:rPr lang="en-US" altLang="zh-CN" b="1" dirty="0">
                <a:solidFill>
                  <a:srgbClr val="00B050"/>
                </a:solidFill>
              </a:rPr>
              <a:t>"%d"</a:t>
            </a:r>
            <a:r>
              <a:rPr lang="en-US" altLang="zh-CN" b="1" dirty="0"/>
              <a:t>, strcmp(a, </a:t>
            </a:r>
            <a:r>
              <a:rPr lang="en-US" altLang="zh-CN" b="1" dirty="0">
                <a:solidFill>
                  <a:srgbClr val="00B050"/>
                </a:solidFill>
              </a:rPr>
              <a:t>"Beijing"</a:t>
            </a:r>
            <a:r>
              <a:rPr lang="en-US" altLang="zh-CN" b="1" dirty="0"/>
              <a:t>));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FF7EF1-847C-4C7F-B7C8-E3A46E93DA60}"/>
              </a:ext>
            </a:extLst>
          </p:cNvPr>
          <p:cNvSpPr/>
          <p:nvPr/>
        </p:nvSpPr>
        <p:spPr>
          <a:xfrm>
            <a:off x="1130457" y="3996553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2403E6-EA23-4F06-BD79-C79880CA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E41651-AD0B-4FB4-B9AB-CFB033645685}"/>
              </a:ext>
            </a:extLst>
          </p:cNvPr>
          <p:cNvSpPr txBox="1"/>
          <p:nvPr/>
        </p:nvSpPr>
        <p:spPr>
          <a:xfrm>
            <a:off x="2144299" y="-39896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字符串处理函数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&lt;</a:t>
            </a:r>
            <a:r>
              <a:rPr lang="en-US" altLang="zh-CN" sz="3600" b="1" dirty="0" err="1">
                <a:solidFill>
                  <a:srgbClr val="200AC4"/>
                </a:solidFill>
                <a:ea typeface="隶书" pitchFamily="49" charset="-122"/>
              </a:rPr>
              <a:t>string.h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&gt;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504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C24BA1-3E8B-43DC-B92F-E046D31579F8}"/>
              </a:ext>
            </a:extLst>
          </p:cNvPr>
          <p:cNvSpPr txBox="1"/>
          <p:nvPr/>
        </p:nvSpPr>
        <p:spPr>
          <a:xfrm>
            <a:off x="2144298" y="-52597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字符串应用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对称问题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D83318-2A2D-4195-9C05-E071367E20B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0227"/>
            <a:ext cx="12192000" cy="89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4-11】</a:t>
            </a:r>
            <a:r>
              <a:rPr lang="zh-CN" altLang="en-US" sz="2400" b="1" dirty="0"/>
              <a:t>输入一个字符串，判断该字符串是回文。</a:t>
            </a:r>
            <a:endParaRPr lang="zh-CN" altLang="en-US" sz="2200" b="1" dirty="0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738B9889-4FAF-491F-B313-DECDE36C4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66" y="901709"/>
            <a:ext cx="11807300" cy="149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解题思路：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要验证一个字符串是不是回文，只要分别将它的第一个字符和最后一个字符、第二个字符和倒数第二个字符，直至最中间的两个字符进行比较，如果对应相等，说明它是回文，否则就不是。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C991659-DE17-4A3F-9AD8-1611220B7B05}"/>
              </a:ext>
            </a:extLst>
          </p:cNvPr>
          <p:cNvGrpSpPr/>
          <p:nvPr/>
        </p:nvGrpSpPr>
        <p:grpSpPr>
          <a:xfrm>
            <a:off x="1915573" y="2978166"/>
            <a:ext cx="3375888" cy="2630487"/>
            <a:chOff x="3426658" y="3268370"/>
            <a:chExt cx="3375888" cy="2630487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0ED53382-DC8A-4097-B085-DB61E9BB68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6658" y="3268370"/>
              <a:ext cx="3341688" cy="433388"/>
              <a:chOff x="1156" y="2614"/>
              <a:chExt cx="2105" cy="273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BC0F2868-0523-4B8A-A36F-2E254952F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614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str[0]</a:t>
                </a: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88A1EAED-D094-40C9-95C8-9A3001C16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2615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 dirty="0">
                    <a:latin typeface="Times New Roman" pitchFamily="18" charset="0"/>
                    <a:ea typeface="楷体_GB2312" pitchFamily="49" charset="-122"/>
                  </a:rPr>
                  <a:t>str[n-1]</a:t>
                </a:r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EFC758AC-AAC4-4DDD-BEBF-F646F7DF5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275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A944E07C-FE4F-4246-8692-41549E3F0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6658" y="3987508"/>
              <a:ext cx="3341688" cy="433387"/>
              <a:chOff x="1157" y="3047"/>
              <a:chExt cx="2105" cy="273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CF76AA0A-31AF-478B-B0BA-051ADC7D9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" y="3047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str[1</a:t>
                </a:r>
                <a:r>
                  <a:rPr kumimoji="1" lang="en-US" altLang="zh-CN" sz="2400">
                    <a:latin typeface="Times New Roman" pitchFamily="18" charset="0"/>
                    <a:ea typeface="楷体_GB2312" pitchFamily="49" charset="-122"/>
                  </a:rPr>
                  <a:t>]</a:t>
                </a: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D24081F-D74C-445E-A4CE-1AE2E8C12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048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str[n-2]</a:t>
                </a:r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FD087DEF-B7BB-4D9E-B138-D6FDD0227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9" y="3183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809AF019-6864-4DD2-8273-0BF1B9A6B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2533" y="4727283"/>
              <a:ext cx="3341688" cy="433387"/>
              <a:chOff x="1166" y="3533"/>
              <a:chExt cx="2105" cy="273"/>
            </a:xfrm>
          </p:grpSpPr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423E9D86-6D7B-472B-8F7C-D9F3F8F49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3533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 dirty="0">
                    <a:latin typeface="Times New Roman" pitchFamily="18" charset="0"/>
                    <a:ea typeface="楷体_GB2312" pitchFamily="49" charset="-122"/>
                  </a:rPr>
                  <a:t>str[i]</a:t>
                </a:r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DB5D4A9D-CFB0-4AEB-BB32-41B798B43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9" y="3534"/>
                <a:ext cx="862" cy="272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400" b="1">
                    <a:latin typeface="Times New Roman" pitchFamily="18" charset="0"/>
                    <a:ea typeface="楷体_GB2312" pitchFamily="49" charset="-122"/>
                  </a:rPr>
                  <a:t>str[n-i-1]</a:t>
                </a:r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A86E0FBD-71A0-4301-8688-F0358F2F1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8" y="3669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03C64468-A9A9-4892-8BE5-A2CCFCC5E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458" y="5379744"/>
              <a:ext cx="324008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itchFamily="18" charset="0"/>
                  <a:ea typeface="楷体_GB2312" pitchFamily="49" charset="-122"/>
                </a:rPr>
                <a:t>i=0 to strlen(str)/2-1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C9A9C42F-B9E1-4B0F-8454-CF7FC13C9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596" y="4438358"/>
              <a:ext cx="3048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24AD7F17-BB1F-446E-B74E-579636958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4271" y="4430420"/>
              <a:ext cx="3048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…</a:t>
              </a:r>
            </a:p>
          </p:txBody>
        </p:sp>
      </p:grp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E6FC82EF-AFC1-4DE2-92A4-814EECB2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E7AFC3CD-407A-492A-BB5A-5330E11B23EE}"/>
              </a:ext>
            </a:extLst>
          </p:cNvPr>
          <p:cNvSpPr txBox="1">
            <a:spLocks noChangeArrowheads="1"/>
          </p:cNvSpPr>
          <p:nvPr/>
        </p:nvSpPr>
        <p:spPr>
          <a:xfrm>
            <a:off x="6035316" y="1964353"/>
            <a:ext cx="6156684" cy="4893647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char</a:t>
            </a:r>
            <a:r>
              <a:rPr lang="en-US" altLang="zh-CN" sz="2400" b="1" dirty="0"/>
              <a:t> str[</a:t>
            </a:r>
            <a:r>
              <a:rPr lang="en-US" altLang="zh-CN" sz="2400" dirty="0"/>
              <a:t>80</a:t>
            </a:r>
            <a:r>
              <a:rPr lang="en-US" altLang="zh-CN" sz="2400" b="1" dirty="0"/>
              <a:t>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int</a:t>
            </a:r>
            <a:r>
              <a:rPr lang="en-US" altLang="zh-CN" sz="2400" b="1" dirty="0"/>
              <a:t> flag = 1;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gets(str);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int</a:t>
            </a:r>
            <a:r>
              <a:rPr lang="en-US" altLang="zh-CN" sz="2400" b="1" dirty="0"/>
              <a:t> n = strlen(str);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for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int </a:t>
            </a:r>
            <a:r>
              <a:rPr lang="en-US" altLang="zh-CN" sz="2400" b="1" dirty="0"/>
              <a:t>i = 0; i &lt; n / 2;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(str[i] != str(n-1-i))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    flag = 0; 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    break</a:t>
            </a:r>
            <a:r>
              <a:rPr lang="en-US" altLang="zh-CN" sz="2400" b="1" dirty="0"/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if(flag == 1) printf(</a:t>
            </a:r>
            <a:r>
              <a:rPr lang="en-US" altLang="zh-CN" sz="2400" b="1" dirty="0">
                <a:solidFill>
                  <a:srgbClr val="00B050"/>
                </a:solidFill>
              </a:rPr>
              <a:t>“Yes”</a:t>
            </a:r>
            <a:r>
              <a:rPr lang="en-US" altLang="zh-CN" sz="2400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else printf(</a:t>
            </a:r>
            <a:r>
              <a:rPr lang="en-US" altLang="zh-CN" sz="2400" b="1" dirty="0">
                <a:solidFill>
                  <a:srgbClr val="00B050"/>
                </a:solidFill>
              </a:rPr>
              <a:t>“No”</a:t>
            </a:r>
            <a:r>
              <a:rPr lang="en-US" altLang="zh-CN" sz="24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2391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C24BA1-3E8B-43DC-B92F-E046D31579F8}"/>
              </a:ext>
            </a:extLst>
          </p:cNvPr>
          <p:cNvSpPr txBox="1"/>
          <p:nvPr/>
        </p:nvSpPr>
        <p:spPr>
          <a:xfrm>
            <a:off x="2140064" y="-48363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字符串应用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比较问题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A23D32-5777-4F73-A1AF-E148E900E6A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38199"/>
            <a:ext cx="12192000" cy="89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4-12】</a:t>
            </a:r>
            <a:r>
              <a:rPr lang="zh-CN" altLang="en-US" sz="2400" b="1" dirty="0"/>
              <a:t>自行编写程序，实现两个字符串</a:t>
            </a:r>
            <a:r>
              <a:rPr lang="en-US" altLang="zh-CN" b="1" dirty="0"/>
              <a:t>str1</a:t>
            </a:r>
            <a:r>
              <a:rPr lang="zh-CN" altLang="en-US" sz="2400" b="1" dirty="0"/>
              <a:t>、</a:t>
            </a:r>
            <a:r>
              <a:rPr lang="en-US" altLang="zh-CN" b="1" dirty="0"/>
              <a:t>str2</a:t>
            </a:r>
            <a:r>
              <a:rPr lang="zh-CN" altLang="en-US" sz="2400" b="1" dirty="0"/>
              <a:t>的比较。</a:t>
            </a:r>
            <a:endParaRPr lang="zh-CN" altLang="en-US" sz="2200" b="1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D64AEE8-88F2-4C7C-8052-A5B4166108E6}"/>
              </a:ext>
            </a:extLst>
          </p:cNvPr>
          <p:cNvSpPr txBox="1"/>
          <p:nvPr/>
        </p:nvSpPr>
        <p:spPr>
          <a:xfrm>
            <a:off x="218982" y="830259"/>
            <a:ext cx="1175403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解题思路： 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利用循环对两个字符串中的字符逐个进行比较，找到第一对不同字符或都相同时结束；然后依据结束循环时两个字符</a:t>
            </a:r>
            <a:r>
              <a:rPr kumimoji="1" 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ASCII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码的差值（</a:t>
            </a:r>
            <a:r>
              <a:rPr kumimoji="1" 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str1[i]-str2[i]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）来判断它们的关系，若：</a:t>
            </a:r>
            <a:endParaRPr kumimoji="1"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sz="2400" b="1" dirty="0"/>
              <a:t>str1[i] &gt; str2[i]</a:t>
            </a:r>
            <a:r>
              <a:rPr lang="zh-CN" altLang="en-US" sz="2400" b="1" dirty="0"/>
              <a:t>，则</a:t>
            </a:r>
            <a:r>
              <a:rPr lang="en-US" sz="2400" b="1" dirty="0"/>
              <a:t>j&gt;0</a:t>
            </a:r>
            <a:r>
              <a:rPr lang="zh-CN" altLang="en-US" sz="2400" b="1" dirty="0"/>
              <a:t>，所以</a:t>
            </a:r>
            <a:r>
              <a:rPr lang="en-US" sz="2400" b="1" dirty="0"/>
              <a:t>str1&gt;str2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>
              <a:lnSpc>
                <a:spcPct val="150000"/>
              </a:lnSpc>
              <a:defRPr/>
            </a:pPr>
            <a:r>
              <a:rPr lang="en-US" sz="2400" b="1" dirty="0"/>
              <a:t>str1[i] &lt; str2[i]</a:t>
            </a:r>
            <a:r>
              <a:rPr lang="zh-CN" altLang="en-US" sz="2400" b="1" dirty="0"/>
              <a:t>，则</a:t>
            </a:r>
            <a:r>
              <a:rPr lang="en-US" sz="2400" b="1" dirty="0"/>
              <a:t>j&lt;0</a:t>
            </a:r>
            <a:r>
              <a:rPr lang="zh-CN" altLang="en-US" sz="2400" b="1" dirty="0"/>
              <a:t>，所以</a:t>
            </a:r>
            <a:r>
              <a:rPr lang="en-US" sz="2400" b="1" dirty="0"/>
              <a:t>str1&lt;str2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>
              <a:lnSpc>
                <a:spcPct val="150000"/>
              </a:lnSpc>
              <a:defRPr/>
            </a:pPr>
            <a:r>
              <a:rPr lang="en-US" sz="2400" b="1" dirty="0"/>
              <a:t>str1[i]==str2[i]</a:t>
            </a:r>
            <a:r>
              <a:rPr lang="zh-CN" altLang="en-US" sz="2400" b="1" dirty="0"/>
              <a:t>，则</a:t>
            </a:r>
            <a:r>
              <a:rPr lang="en-US" sz="2400" b="1" dirty="0"/>
              <a:t>j=0</a:t>
            </a:r>
            <a:r>
              <a:rPr lang="zh-CN" altLang="en-US" sz="2400" b="1" dirty="0"/>
              <a:t>，所以</a:t>
            </a:r>
            <a:r>
              <a:rPr lang="en-US" sz="2400" b="1" dirty="0"/>
              <a:t>str1=str2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indent="714375">
              <a:defRPr/>
            </a:pPr>
            <a:endParaRPr lang="en-US" altLang="zh-CN" sz="2400" b="1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83243E-0C25-431D-A6FE-C64EB7DF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72CA1BA-8553-42EA-A04C-C9C55CC1EC72}"/>
              </a:ext>
            </a:extLst>
          </p:cNvPr>
          <p:cNvSpPr txBox="1">
            <a:spLocks noChangeArrowheads="1"/>
          </p:cNvSpPr>
          <p:nvPr/>
        </p:nvSpPr>
        <p:spPr>
          <a:xfrm>
            <a:off x="6035316" y="2141524"/>
            <a:ext cx="6156684" cy="4154984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char</a:t>
            </a:r>
            <a:r>
              <a:rPr lang="en-US" altLang="zh-CN" sz="2400" b="1" dirty="0"/>
              <a:t> str1[80], str2[80];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gets(str1);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gets(str2);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for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int </a:t>
            </a:r>
            <a:r>
              <a:rPr lang="en-US" altLang="zh-CN" sz="2400" b="1" dirty="0"/>
              <a:t>i = 0; str1[i] &amp;&amp; str2[i];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(str1[i] != str2(i))</a:t>
            </a:r>
            <a:r>
              <a:rPr lang="en-US" altLang="zh-CN" sz="2400" b="1" dirty="0">
                <a:solidFill>
                  <a:srgbClr val="0000FF"/>
                </a:solidFill>
              </a:rPr>
              <a:t> break</a:t>
            </a:r>
            <a:r>
              <a:rPr lang="en-US" altLang="zh-CN" sz="2400" b="1" dirty="0"/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int</a:t>
            </a:r>
            <a:r>
              <a:rPr lang="en-US" altLang="zh-CN" sz="2400" b="1" dirty="0"/>
              <a:t> j = str1[i] – str2[i];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 (j &gt; 0) </a:t>
            </a:r>
            <a:r>
              <a:rPr lang="en-US" altLang="zh-CN" sz="2400" b="1" dirty="0">
                <a:solidFill>
                  <a:srgbClr val="0000FF"/>
                </a:solidFill>
              </a:rPr>
              <a:t>return</a:t>
            </a:r>
            <a:r>
              <a:rPr lang="en-US" altLang="zh-CN" sz="2400" b="1" dirty="0"/>
              <a:t> 1;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else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( j &lt; 0) </a:t>
            </a:r>
            <a:r>
              <a:rPr lang="en-US" altLang="zh-CN" sz="2400" b="1" dirty="0">
                <a:solidFill>
                  <a:srgbClr val="0000FF"/>
                </a:solidFill>
              </a:rPr>
              <a:t>return</a:t>
            </a:r>
            <a:r>
              <a:rPr lang="en-US" altLang="zh-CN" sz="2400" b="1" dirty="0"/>
              <a:t> -1;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return</a:t>
            </a:r>
            <a:r>
              <a:rPr lang="en-US" altLang="zh-CN" sz="2400" b="1" dirty="0"/>
              <a:t> 0;</a:t>
            </a:r>
          </a:p>
        </p:txBody>
      </p:sp>
    </p:spTree>
    <p:extLst>
      <p:ext uri="{BB962C8B-B14F-4D97-AF65-F5344CB8AC3E}">
        <p14:creationId xmlns:p14="http://schemas.microsoft.com/office/powerpoint/2010/main" val="18888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C24BA1-3E8B-43DC-B92F-E046D31579F8}"/>
              </a:ext>
            </a:extLst>
          </p:cNvPr>
          <p:cNvSpPr txBox="1"/>
          <p:nvPr/>
        </p:nvSpPr>
        <p:spPr>
          <a:xfrm>
            <a:off x="2140070" y="-48364"/>
            <a:ext cx="617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字符串应用</a:t>
            </a: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ea typeface="隶书" pitchFamily="49" charset="-122"/>
              </a:rPr>
              <a:t>排序问题</a:t>
            </a:r>
            <a:endParaRPr lang="zh-CN" altLang="en-US" sz="3200" b="1" dirty="0">
              <a:solidFill>
                <a:srgbClr val="FF0000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20001E-4E82-43C8-8417-DDD8932EE4C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97967"/>
            <a:ext cx="12192000" cy="89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4-13】</a:t>
            </a:r>
            <a:r>
              <a:rPr lang="zh-CN" altLang="en-US" sz="2400" b="1" dirty="0"/>
              <a:t>从键盘输入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个字符串，按从小到大的顺序排序后输出。</a:t>
            </a:r>
            <a:endParaRPr lang="zh-CN" altLang="en-US" sz="2200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3B98D0-B85C-4B54-ADD4-FB3CF10BE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90" y="899109"/>
            <a:ext cx="11516126" cy="1695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sz="24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解题思路：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对字符串进行有序排列，与前面章节讲的数值型数据排序类似，可以采用选择排序算法，也可以采用冒泡排序算法进行。所不同的是字符串大小的比较需要应用函数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strcmp()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，而字符串的相互赋值需要应用函数</a:t>
            </a: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strcpy()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15DF50-DB54-48A0-9D22-2DAE0305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/44</a:t>
            </a:r>
            <a:endParaRPr lang="zh-CN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8F10353-4E53-454A-87F1-5D279BD138B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731637"/>
            <a:ext cx="5828044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char</a:t>
            </a:r>
            <a:r>
              <a:rPr lang="en-US" altLang="zh-CN" sz="2400" b="1" dirty="0"/>
              <a:t> str[5][80], temp[80];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gets(str1);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gets(str2);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for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0000FF"/>
                </a:solidFill>
              </a:rPr>
              <a:t>int </a:t>
            </a:r>
            <a:r>
              <a:rPr lang="en-US" altLang="zh-CN" sz="2400" b="1" dirty="0"/>
              <a:t>i = 0; i &lt; 4; i++)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00FF"/>
                </a:solidFill>
              </a:rPr>
              <a:t>int</a:t>
            </a:r>
            <a:r>
              <a:rPr lang="en-US" altLang="zh-CN" sz="2400" b="1" dirty="0"/>
              <a:t> k = i;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00FF"/>
                </a:solidFill>
              </a:rPr>
              <a:t>for</a:t>
            </a:r>
            <a:r>
              <a:rPr lang="en-US" altLang="zh-CN" sz="2400" b="1" dirty="0"/>
              <a:t>(j=i+1; j &lt; 5; j++)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(strcmp(str[k], str[j]) &gt; 0) k = j;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27F3085-D861-4F9C-8788-A2B448A07D64}"/>
              </a:ext>
            </a:extLst>
          </p:cNvPr>
          <p:cNvSpPr txBox="1">
            <a:spLocks noChangeArrowheads="1"/>
          </p:cNvSpPr>
          <p:nvPr/>
        </p:nvSpPr>
        <p:spPr>
          <a:xfrm>
            <a:off x="5998866" y="2731637"/>
            <a:ext cx="6193134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</a:t>
            </a:r>
            <a:r>
              <a:rPr lang="en-US" altLang="zh-CN" sz="2400" b="1" dirty="0">
                <a:solidFill>
                  <a:srgbClr val="00B050"/>
                </a:solidFill>
              </a:rPr>
              <a:t>……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en-US" altLang="zh-CN" sz="2400" b="1" dirty="0"/>
              <a:t>(k != i)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    strcpy(temp, str[i]);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    strcpy(str[i], str[k]);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    strcpy(str[k], temp);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00B050"/>
                </a:solidFill>
              </a:rPr>
              <a:t>……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239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3129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和目录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4935</TotalTime>
  <Words>6106</Words>
  <Application>Microsoft Office PowerPoint</Application>
  <PresentationFormat>宽屏</PresentationFormat>
  <Paragraphs>1137</Paragraphs>
  <Slides>46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等线</vt:lpstr>
      <vt:lpstr>等线 Light</vt:lpstr>
      <vt:lpstr>华文楷体</vt:lpstr>
      <vt:lpstr>华文隶书</vt:lpstr>
      <vt:lpstr>华文行楷</vt:lpstr>
      <vt:lpstr>华文中宋</vt:lpstr>
      <vt:lpstr>隶书</vt:lpstr>
      <vt:lpstr>宋体</vt:lpstr>
      <vt:lpstr>微软雅黑</vt:lpstr>
      <vt:lpstr>Arial</vt:lpstr>
      <vt:lpstr>Calibri</vt:lpstr>
      <vt:lpstr>Comic Sans MS</vt:lpstr>
      <vt:lpstr>Consolas</vt:lpstr>
      <vt:lpstr>Times New Roman</vt:lpstr>
      <vt:lpstr>Wingdings</vt:lpstr>
      <vt:lpstr>Office 主题​​</vt:lpstr>
      <vt:lpstr>封面和目录​​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WJQ</dc:creator>
  <cp:lastModifiedBy>WU Jimer</cp:lastModifiedBy>
  <cp:revision>206</cp:revision>
  <dcterms:created xsi:type="dcterms:W3CDTF">2022-05-18T03:53:29Z</dcterms:created>
  <dcterms:modified xsi:type="dcterms:W3CDTF">2023-05-02T09:22:47Z</dcterms:modified>
</cp:coreProperties>
</file>