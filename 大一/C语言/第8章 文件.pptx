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674" r:id="rId2"/>
  </p:sldMasterIdLst>
  <p:notesMasterIdLst>
    <p:notesMasterId r:id="rId45"/>
  </p:notesMasterIdLst>
  <p:sldIdLst>
    <p:sldId id="258" r:id="rId3"/>
    <p:sldId id="259" r:id="rId4"/>
    <p:sldId id="262" r:id="rId5"/>
    <p:sldId id="260" r:id="rId6"/>
    <p:sldId id="261" r:id="rId7"/>
    <p:sldId id="264" r:id="rId8"/>
    <p:sldId id="263" r:id="rId9"/>
    <p:sldId id="276" r:id="rId10"/>
    <p:sldId id="275" r:id="rId11"/>
    <p:sldId id="266" r:id="rId12"/>
    <p:sldId id="277" r:id="rId13"/>
    <p:sldId id="279" r:id="rId14"/>
    <p:sldId id="278" r:id="rId15"/>
    <p:sldId id="272" r:id="rId16"/>
    <p:sldId id="280" r:id="rId17"/>
    <p:sldId id="267" r:id="rId18"/>
    <p:sldId id="281" r:id="rId19"/>
    <p:sldId id="295" r:id="rId20"/>
    <p:sldId id="296" r:id="rId21"/>
    <p:sldId id="283" r:id="rId22"/>
    <p:sldId id="297" r:id="rId23"/>
    <p:sldId id="284" r:id="rId24"/>
    <p:sldId id="298" r:id="rId25"/>
    <p:sldId id="285" r:id="rId26"/>
    <p:sldId id="299" r:id="rId27"/>
    <p:sldId id="286" r:id="rId28"/>
    <p:sldId id="300" r:id="rId29"/>
    <p:sldId id="287" r:id="rId30"/>
    <p:sldId id="301" r:id="rId31"/>
    <p:sldId id="288" r:id="rId32"/>
    <p:sldId id="303" r:id="rId33"/>
    <p:sldId id="304" r:id="rId34"/>
    <p:sldId id="305" r:id="rId35"/>
    <p:sldId id="306" r:id="rId36"/>
    <p:sldId id="307" r:id="rId37"/>
    <p:sldId id="268" r:id="rId38"/>
    <p:sldId id="291" r:id="rId39"/>
    <p:sldId id="292" r:id="rId40"/>
    <p:sldId id="293" r:id="rId41"/>
    <p:sldId id="294" r:id="rId42"/>
    <p:sldId id="308" r:id="rId43"/>
    <p:sldId id="271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 Jimer" initials="WJ" lastIdx="1" clrIdx="0">
    <p:extLst>
      <p:ext uri="{19B8F6BF-5375-455C-9EA6-DF929625EA0E}">
        <p15:presenceInfo xmlns:p15="http://schemas.microsoft.com/office/powerpoint/2012/main" userId="eb19072620c4ca0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6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BEE425-BF42-4068-87C2-E75EA102A699}" type="datetimeFigureOut">
              <a:rPr lang="zh-CN" altLang="en-US" smtClean="0"/>
              <a:t>2023/5/23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76453-3C94-43D2-B70F-2823100725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017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D8FCAE-9FB0-4A30-B3FE-9D7E37874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982FBA-F4DB-445D-BAB7-4C15F4CB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2403A-59F3-4AA0-8F78-F5124408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229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49361"/>
            <a:ext cx="7627917" cy="492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8.1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文件概述</a:t>
            </a:r>
          </a:p>
        </p:txBody>
      </p:sp>
    </p:spTree>
    <p:extLst>
      <p:ext uri="{BB962C8B-B14F-4D97-AF65-F5344CB8AC3E}">
        <p14:creationId xmlns:p14="http://schemas.microsoft.com/office/powerpoint/2010/main" val="200854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49361"/>
            <a:ext cx="7627917" cy="492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8.2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文件的打开与关闭</a:t>
            </a:r>
          </a:p>
        </p:txBody>
      </p:sp>
    </p:spTree>
    <p:extLst>
      <p:ext uri="{BB962C8B-B14F-4D97-AF65-F5344CB8AC3E}">
        <p14:creationId xmlns:p14="http://schemas.microsoft.com/office/powerpoint/2010/main" val="2227407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49361"/>
            <a:ext cx="7627917" cy="492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8.3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文件的读写操作</a:t>
            </a:r>
          </a:p>
        </p:txBody>
      </p:sp>
    </p:spTree>
    <p:extLst>
      <p:ext uri="{BB962C8B-B14F-4D97-AF65-F5344CB8AC3E}">
        <p14:creationId xmlns:p14="http://schemas.microsoft.com/office/powerpoint/2010/main" val="345028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49361"/>
            <a:ext cx="7627917" cy="492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8.4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文件的定位</a:t>
            </a:r>
          </a:p>
        </p:txBody>
      </p:sp>
    </p:spTree>
    <p:extLst>
      <p:ext uri="{BB962C8B-B14F-4D97-AF65-F5344CB8AC3E}">
        <p14:creationId xmlns:p14="http://schemas.microsoft.com/office/powerpoint/2010/main" val="4042275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49361"/>
            <a:ext cx="7627917" cy="492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8.5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文件出错检测</a:t>
            </a:r>
          </a:p>
        </p:txBody>
      </p:sp>
    </p:spTree>
    <p:extLst>
      <p:ext uri="{BB962C8B-B14F-4D97-AF65-F5344CB8AC3E}">
        <p14:creationId xmlns:p14="http://schemas.microsoft.com/office/powerpoint/2010/main" val="325309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.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85AD98-69D5-439C-ADC1-743F29D80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2D1354-29A7-4643-B6C1-32382E1D6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AEB037-461D-429F-8082-F720791B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E822506-8548-47C9-96B3-F599735D716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49361"/>
            <a:ext cx="7627917" cy="4924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66FF"/>
                    </a:gs>
                    <a:gs pos="100000">
                      <a:srgbClr val="0066FF">
                        <a:gamma/>
                        <a:shade val="46275"/>
                        <a:invGamma/>
                      </a:srgbClr>
                    </a:gs>
                  </a:gsLst>
                  <a:path path="shape">
                    <a:fillToRect l="50000" t="50000" r="50000" b="50000"/>
                  </a:path>
                </a:gra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66FF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 wrap="square" tIns="0" bIns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ct val="50000"/>
              </a:spcBef>
              <a:defRPr/>
            </a:pPr>
            <a:r>
              <a:rPr lang="en-US" altLang="zh-CN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8.6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itchFamily="34" charset="-122"/>
                <a:ea typeface="微软雅黑" pitchFamily="34" charset="-122"/>
              </a:rPr>
              <a:t>案例：打字练习程序</a:t>
            </a:r>
          </a:p>
        </p:txBody>
      </p:sp>
    </p:spTree>
    <p:extLst>
      <p:ext uri="{BB962C8B-B14F-4D97-AF65-F5344CB8AC3E}">
        <p14:creationId xmlns:p14="http://schemas.microsoft.com/office/powerpoint/2010/main" val="175341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474AD4-ABEC-4485-9109-4AE1AAB0B7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83F6B7-5C12-4E4E-9073-580CA6A41A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D7BC1-B809-427C-9F08-510A04669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4B585E-11DE-411B-9226-2007BA335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1E87E3-3726-463C-BE2B-B558CD0A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160990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EB9E2-C450-47A8-A070-C84B3E169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6C178-61D5-475A-92D0-6FE43A90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7448E-A19A-4D08-9F63-67699940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7C253-9065-4B49-AC33-40A8A2CD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F778CF-3F9A-4D9C-AEFB-1138D178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第</a:t>
            </a:r>
            <a:fld id="{2FA56C3F-F0F5-411B-954C-A2CFDC009DCE}" type="slidenum">
              <a:rPr lang="zh-CN" altLang="en-US" smtClean="0"/>
              <a:pPr/>
              <a:t>‹#›</a:t>
            </a:fld>
            <a:r>
              <a:rPr lang="zh-CN" altLang="en-US" dirty="0"/>
              <a:t>页，共</a:t>
            </a:r>
            <a:r>
              <a:rPr lang="en-US" altLang="zh-CN" dirty="0"/>
              <a:t>30</a:t>
            </a:r>
            <a:r>
              <a:rPr lang="zh-CN" altLang="en-US" dirty="0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50259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4B1310-1A44-48D4-892F-24533F540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2CA674-3E89-404D-AA3A-E868A1B05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BBCEA-3375-4D2D-B9E1-379CB790B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C48294-AC7E-42E0-8D1E-1C9999236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0EBAF8-F76E-411F-9A2A-9733F2A8F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882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BAC20-CA2A-4C18-8402-5BA522831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10515600" cy="8524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92BEE-0382-41FD-9A45-E74EA7E633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B555AA-23E9-4B88-B631-DFC927C3B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7E48C7-F411-4AB4-A507-487EE211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1D71B4C-5F2B-4E30-8242-5CEFAA0EB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D771C-A0E3-44B3-B5E2-B88352CEB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01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1BF824-47E5-4895-AC55-60DAEF4E0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0100"/>
            <a:ext cx="10515600" cy="823912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E075336-BDB4-47C1-A61C-8B723885C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30ED25-EC93-42FC-BF5E-F0792C724A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D861F66-EBC8-4197-B543-F620403FA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E16E24-B549-438C-8C81-41A92A023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11A5AA-4A79-45C7-9D86-A03ECF8FA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22F7098-7947-4E53-A9AC-CC953797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FCE883-2C8A-4773-B3DD-76F57611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15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81F315-15CF-4F24-B2C6-0B5210ED2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58A7ED-2843-4FFB-9319-3B46B0CCF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F55942-357E-4A3E-A232-70DACE9B1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6FB4F34-C7D5-43BB-AED7-6EC34FE6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3509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CDAFB-415E-4AC6-9360-019C0E570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47724"/>
            <a:ext cx="3932237" cy="12096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E44F90-2B3F-428E-969E-57B07A694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47725"/>
            <a:ext cx="6172200" cy="50133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D96DF2-0BD2-45EC-9813-593930721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6C782-FD0C-48A3-956A-80A343DB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B88A7-4A15-42F8-8937-61508769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908464-7DBC-45AC-8201-DE0C2DBB7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41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959B7-240A-440C-A694-FAA58C73D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E7A531-93E7-47E5-8D8A-7E4689D137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67025A-5FF7-4210-9C63-3B4C50AF9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0836E2-F1D0-4D62-B64E-9BAA3610E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A5121E-A953-4F21-A73A-64F892D89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B3BC5F-3C5E-452A-AF6C-E40B0A85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174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D3359D-6FC8-48ED-8BCF-54450B4D1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9150"/>
            <a:ext cx="10515600" cy="8715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00C3A34-15A1-46D5-8CD5-71A387CD5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B48492-6DB5-4CF1-8F9D-5A9CFCC6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57DAC6-B655-4BF5-A955-6D622CBF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02F96-4A72-4DD2-B3E9-B893B848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75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51AEE16-01E3-43EC-BC25-37934156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6245"/>
            <a:ext cx="2628900" cy="534071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F88E6E2-76C5-4659-8E75-14D8BFF92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6245"/>
            <a:ext cx="7734300" cy="53407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BD946-8A09-4235-8744-79EC6366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F3E54-4815-4109-B7F2-744E4C443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D44857-0F28-459B-BA4E-04E04401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63605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A57981-622F-4C85-AAC3-86D82916A7C7}"/>
              </a:ext>
            </a:extLst>
          </p:cNvPr>
          <p:cNvGrpSpPr/>
          <p:nvPr userDrawn="1"/>
        </p:nvGrpSpPr>
        <p:grpSpPr>
          <a:xfrm>
            <a:off x="0" y="1354137"/>
            <a:ext cx="12191999" cy="2904016"/>
            <a:chOff x="1856581" y="1077913"/>
            <a:chExt cx="9145588" cy="2799223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B5F3B009-7F7D-4A6B-90A7-EAC230DAC673}"/>
                </a:ext>
              </a:extLst>
            </p:cNvPr>
            <p:cNvGrpSpPr/>
            <p:nvPr userDrawn="1"/>
          </p:nvGrpSpPr>
          <p:grpSpPr>
            <a:xfrm>
              <a:off x="1856581" y="1077913"/>
              <a:ext cx="9145588" cy="2798762"/>
              <a:chOff x="0" y="1487488"/>
              <a:chExt cx="9145588" cy="2798762"/>
            </a:xfrm>
          </p:grpSpPr>
          <p:sp>
            <p:nvSpPr>
              <p:cNvPr id="6" name="矩形 4">
                <a:extLst>
                  <a:ext uri="{FF2B5EF4-FFF2-40B4-BE49-F238E27FC236}">
                    <a16:creationId xmlns:a16="http://schemas.microsoft.com/office/drawing/2014/main" id="{3A9F79D7-EE70-44C6-87A7-3A5349DBDB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588" y="1625600"/>
                <a:ext cx="9144000" cy="2484438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7" name="矩形 5">
                <a:extLst>
                  <a:ext uri="{FF2B5EF4-FFF2-40B4-BE49-F238E27FC236}">
                    <a16:creationId xmlns:a16="http://schemas.microsoft.com/office/drawing/2014/main" id="{EBB45569-6700-4093-9D14-557B47137C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4232275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  <p:sp>
            <p:nvSpPr>
              <p:cNvPr id="8" name="矩形 6">
                <a:extLst>
                  <a:ext uri="{FF2B5EF4-FFF2-40B4-BE49-F238E27FC236}">
                    <a16:creationId xmlns:a16="http://schemas.microsoft.com/office/drawing/2014/main" id="{EAA0AD1C-D43A-4CDC-9212-0D5DC7E602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87488"/>
                <a:ext cx="9144000" cy="53975"/>
              </a:xfrm>
              <a:prstGeom prst="rect">
                <a:avLst/>
              </a:prstGeom>
              <a:solidFill>
                <a:srgbClr val="0070C0"/>
              </a:solidFill>
              <a:ln w="25400">
                <a:solidFill>
                  <a:srgbClr val="0070C0"/>
                </a:solidFill>
                <a:miter lim="800000"/>
                <a:headEnd/>
                <a:tailEnd/>
              </a:ln>
            </p:spPr>
            <p:txBody>
              <a:bodyPr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  <a:buFont typeface="Arial" pitchFamily="34" charset="0"/>
                  <a:buNone/>
                </a:pPr>
                <a:endParaRPr lang="zh-CN" altLang="en-US">
                  <a:solidFill>
                    <a:srgbClr val="FFFFFF"/>
                  </a:solidFill>
                  <a:latin typeface="宋体" pitchFamily="2" charset="-122"/>
                  <a:ea typeface="宋体" pitchFamily="2" charset="-122"/>
                  <a:sym typeface="宋体" pitchFamily="2" charset="-122"/>
                </a:endParaRPr>
              </a:p>
            </p:txBody>
          </p:sp>
        </p:grpSp>
        <p:sp>
          <p:nvSpPr>
            <p:cNvPr id="10" name="WordArt 8">
              <a:extLst>
                <a:ext uri="{FF2B5EF4-FFF2-40B4-BE49-F238E27FC236}">
                  <a16:creationId xmlns:a16="http://schemas.microsoft.com/office/drawing/2014/main" id="{CB95522C-BFEF-4FEE-99E2-3D87100C4D60}"/>
                </a:ext>
              </a:extLst>
            </p:cNvPr>
            <p:cNvSpPr>
              <a:spLocks noChangeArrowheads="1" noChangeShapeType="1" noTextEdit="1"/>
            </p:cNvSpPr>
            <p:nvPr userDrawn="1"/>
          </p:nvSpPr>
          <p:spPr bwMode="auto">
            <a:xfrm>
              <a:off x="2581568" y="2508711"/>
              <a:ext cx="7848600" cy="1368425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00"/>
                </a:avLst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  <a:defRPr/>
              </a:pPr>
              <a:r>
                <a:rPr lang="en-US" altLang="zh-CN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C</a:t>
              </a:r>
              <a:r>
                <a:rPr lang="zh-CN" altLang="en-US" sz="3600" kern="10" dirty="0">
                  <a:ln w="12700">
                    <a:solidFill>
                      <a:srgbClr val="EAEAEA"/>
                    </a:solidFill>
                    <a:round/>
                    <a:headEnd type="none" w="sm" len="sm"/>
                    <a:tailEnd type="none" w="sm" len="sm"/>
                  </a:ln>
                  <a:gradFill rotWithShape="0">
                    <a:gsLst>
                      <a:gs pos="0">
                        <a:srgbClr val="A603AB"/>
                      </a:gs>
                      <a:gs pos="12000">
                        <a:srgbClr val="E81766"/>
                      </a:gs>
                      <a:gs pos="27000">
                        <a:srgbClr val="EE3F17"/>
                      </a:gs>
                      <a:gs pos="48000">
                        <a:srgbClr val="FFFF00"/>
                      </a:gs>
                      <a:gs pos="64999">
                        <a:srgbClr val="1A8D48"/>
                      </a:gs>
                      <a:gs pos="78999">
                        <a:srgbClr val="0819FB"/>
                      </a:gs>
                      <a:gs pos="100000">
                        <a:srgbClr val="A603AB"/>
                      </a:gs>
                    </a:gsLst>
                    <a:lin ang="0" scaled="1"/>
                  </a:gradFill>
                  <a:effectLst>
                    <a:outerShdw dist="35921" dir="2700000" sy="50000" kx="2115830" algn="bl" rotWithShape="0">
                      <a:srgbClr val="C0C0C0">
                        <a:alpha val="80000"/>
                      </a:srgbClr>
                    </a:outerShdw>
                  </a:effectLst>
                  <a:latin typeface="华文行楷"/>
                  <a:ea typeface="华文行楷"/>
                </a:rPr>
                <a:t>语言程序设计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7101706-0246-4D72-A2BC-98A80CFACEB4}"/>
              </a:ext>
            </a:extLst>
          </p:cNvPr>
          <p:cNvGrpSpPr/>
          <p:nvPr userDrawn="1"/>
        </p:nvGrpSpPr>
        <p:grpSpPr>
          <a:xfrm>
            <a:off x="-1" y="4685984"/>
            <a:ext cx="12192001" cy="1315043"/>
            <a:chOff x="1637409" y="5066644"/>
            <a:chExt cx="6737987" cy="1315043"/>
          </a:xfrm>
        </p:grpSpPr>
        <p:sp>
          <p:nvSpPr>
            <p:cNvPr id="13" name="TextBox 8">
              <a:extLst>
                <a:ext uri="{FF2B5EF4-FFF2-40B4-BE49-F238E27FC236}">
                  <a16:creationId xmlns:a16="http://schemas.microsoft.com/office/drawing/2014/main" id="{99BD6CD0-C9AC-44D9-B12D-81931EEEE37F}"/>
                </a:ext>
              </a:extLst>
            </p:cNvPr>
            <p:cNvSpPr txBox="1"/>
            <p:nvPr/>
          </p:nvSpPr>
          <p:spPr>
            <a:xfrm>
              <a:off x="1637409" y="5066644"/>
              <a:ext cx="673681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b="1" dirty="0">
                  <a:solidFill>
                    <a:srgbClr val="0000FF"/>
                  </a:solidFill>
                  <a:latin typeface="Arial" pitchFamily="34" charset="0"/>
                  <a:ea typeface="宋体" pitchFamily="2" charset="-122"/>
                </a:rPr>
                <a:t>主讲：吴锦桥</a:t>
              </a:r>
            </a:p>
          </p:txBody>
        </p:sp>
        <p:sp>
          <p:nvSpPr>
            <p:cNvPr id="14" name="TextBox 9">
              <a:extLst>
                <a:ext uri="{FF2B5EF4-FFF2-40B4-BE49-F238E27FC236}">
                  <a16:creationId xmlns:a16="http://schemas.microsoft.com/office/drawing/2014/main" id="{E2549B70-5E95-4C4F-A488-F377B7D57E38}"/>
                </a:ext>
              </a:extLst>
            </p:cNvPr>
            <p:cNvSpPr txBox="1"/>
            <p:nvPr/>
          </p:nvSpPr>
          <p:spPr>
            <a:xfrm>
              <a:off x="1638581" y="5858467"/>
              <a:ext cx="67368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Font typeface="Arial" pitchFamily="34" charset="0"/>
                <a:buNone/>
              </a:pPr>
              <a:r>
                <a:rPr lang="zh-CN" altLang="en-US" sz="2800" dirty="0">
                  <a:solidFill>
                    <a:srgbClr val="000000"/>
                  </a:solidFill>
                  <a:latin typeface="华文中宋" pitchFamily="2" charset="-122"/>
                  <a:ea typeface="华文中宋" pitchFamily="2" charset="-122"/>
                </a:rPr>
                <a:t>西北农林科技大学 信息工程学院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AD9F945-ED18-412B-ADFB-CA000B285FB1}"/>
              </a:ext>
            </a:extLst>
          </p:cNvPr>
          <p:cNvGrpSpPr/>
          <p:nvPr userDrawn="1"/>
        </p:nvGrpSpPr>
        <p:grpSpPr>
          <a:xfrm>
            <a:off x="0" y="6567544"/>
            <a:ext cx="12192000" cy="290456"/>
            <a:chOff x="0" y="6567544"/>
            <a:chExt cx="12192000" cy="290456"/>
          </a:xfrm>
        </p:grpSpPr>
        <p:sp>
          <p:nvSpPr>
            <p:cNvPr id="15" name="梯形 14">
              <a:extLst>
                <a:ext uri="{FF2B5EF4-FFF2-40B4-BE49-F238E27FC236}">
                  <a16:creationId xmlns:a16="http://schemas.microsoft.com/office/drawing/2014/main" id="{D7F3770B-929D-4134-ABD8-02B82F6E9969}"/>
                </a:ext>
              </a:extLst>
            </p:cNvPr>
            <p:cNvSpPr/>
            <p:nvPr userDrawn="1"/>
          </p:nvSpPr>
          <p:spPr>
            <a:xfrm>
              <a:off x="3058085" y="6567544"/>
              <a:ext cx="6279777" cy="290456"/>
            </a:xfrm>
            <a:prstGeom prst="trapezoid">
              <a:avLst/>
            </a:prstGeom>
            <a:solidFill>
              <a:srgbClr val="00A3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928126A-0445-4067-A91E-6E9403A4BC26}"/>
                </a:ext>
              </a:extLst>
            </p:cNvPr>
            <p:cNvSpPr/>
            <p:nvPr userDrawn="1"/>
          </p:nvSpPr>
          <p:spPr>
            <a:xfrm>
              <a:off x="0" y="6669741"/>
              <a:ext cx="12192000" cy="188259"/>
            </a:xfrm>
            <a:prstGeom prst="rect">
              <a:avLst/>
            </a:prstGeom>
            <a:solidFill>
              <a:srgbClr val="056AC8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1DA33834-D47B-4A39-AFBF-0707B98EF227}"/>
              </a:ext>
            </a:extLst>
          </p:cNvPr>
          <p:cNvSpPr/>
          <p:nvPr userDrawn="1"/>
        </p:nvSpPr>
        <p:spPr>
          <a:xfrm>
            <a:off x="0" y="0"/>
            <a:ext cx="12192000" cy="51099"/>
          </a:xfrm>
          <a:prstGeom prst="rect">
            <a:avLst/>
          </a:prstGeom>
          <a:solidFill>
            <a:srgbClr val="00A3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B2EC923-4317-42A6-93C2-6C528B997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314713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矩形 68">
            <a:extLst>
              <a:ext uri="{FF2B5EF4-FFF2-40B4-BE49-F238E27FC236}">
                <a16:creationId xmlns:a16="http://schemas.microsoft.com/office/drawing/2014/main" id="{A406FEC5-3B86-47F4-9DE8-AD14B42FD340}"/>
              </a:ext>
            </a:extLst>
          </p:cNvPr>
          <p:cNvSpPr/>
          <p:nvPr userDrawn="1"/>
        </p:nvSpPr>
        <p:spPr>
          <a:xfrm rot="10800000">
            <a:off x="1867" y="0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D46F347A-A251-4B8B-B4C7-ED6BAEA25E8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318000" y="990600"/>
            <a:ext cx="115888" cy="4679950"/>
          </a:xfrm>
          <a:custGeom>
            <a:avLst/>
            <a:gdLst>
              <a:gd name="T0" fmla="*/ 0 w 153"/>
              <a:gd name="T1" fmla="*/ 0 h 6522"/>
              <a:gd name="T2" fmla="*/ 2147483647 w 153"/>
              <a:gd name="T3" fmla="*/ 0 h 6522"/>
              <a:gd name="T4" fmla="*/ 2147483647 w 153"/>
              <a:gd name="T5" fmla="*/ 2147483647 h 6522"/>
              <a:gd name="T6" fmla="*/ 0 w 153"/>
              <a:gd name="T7" fmla="*/ 2147483647 h 6522"/>
              <a:gd name="T8" fmla="*/ 0 w 153"/>
              <a:gd name="T9" fmla="*/ 0 h 6522"/>
              <a:gd name="T10" fmla="*/ 2147483647 w 153"/>
              <a:gd name="T11" fmla="*/ 0 h 6522"/>
              <a:gd name="T12" fmla="*/ 2147483647 w 153"/>
              <a:gd name="T13" fmla="*/ 0 h 6522"/>
              <a:gd name="T14" fmla="*/ 2147483647 w 153"/>
              <a:gd name="T15" fmla="*/ 2147483647 h 6522"/>
              <a:gd name="T16" fmla="*/ 2147483647 w 153"/>
              <a:gd name="T17" fmla="*/ 2147483647 h 6522"/>
              <a:gd name="T18" fmla="*/ 2147483647 w 153"/>
              <a:gd name="T19" fmla="*/ 0 h 652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53" h="6522">
                <a:moveTo>
                  <a:pt x="0" y="0"/>
                </a:moveTo>
                <a:lnTo>
                  <a:pt x="61" y="0"/>
                </a:lnTo>
                <a:lnTo>
                  <a:pt x="61" y="6522"/>
                </a:lnTo>
                <a:lnTo>
                  <a:pt x="0" y="6522"/>
                </a:lnTo>
                <a:lnTo>
                  <a:pt x="0" y="0"/>
                </a:lnTo>
                <a:close/>
                <a:moveTo>
                  <a:pt x="131" y="0"/>
                </a:moveTo>
                <a:lnTo>
                  <a:pt x="153" y="0"/>
                </a:lnTo>
                <a:lnTo>
                  <a:pt x="153" y="6522"/>
                </a:lnTo>
                <a:lnTo>
                  <a:pt x="131" y="6522"/>
                </a:lnTo>
                <a:lnTo>
                  <a:pt x="131" y="0"/>
                </a:lnTo>
                <a:close/>
              </a:path>
            </a:pathLst>
          </a:custGeom>
          <a:solidFill>
            <a:srgbClr val="2E2C2C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Oval 16">
            <a:extLst>
              <a:ext uri="{FF2B5EF4-FFF2-40B4-BE49-F238E27FC236}">
                <a16:creationId xmlns:a16="http://schemas.microsoft.com/office/drawing/2014/main" id="{F942DE91-6A52-4F3E-B751-25D294D178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27052" y="930536"/>
            <a:ext cx="503236" cy="504825"/>
          </a:xfrm>
          <a:prstGeom prst="ellipse">
            <a:avLst/>
          </a:prstGeom>
          <a:solidFill>
            <a:srgbClr val="FFFFFF"/>
          </a:solidFill>
          <a:ln w="9525">
            <a:noFill/>
            <a:round/>
          </a:ln>
        </p:spPr>
        <p:txBody>
          <a:bodyPr/>
          <a:lstStyle/>
          <a:p>
            <a:pPr>
              <a:defRPr/>
            </a:pPr>
            <a:endParaRPr lang="zh-CN" altLang="en-US" sz="2800" kern="0">
              <a:solidFill>
                <a:sysClr val="windowText" lastClr="000000"/>
              </a:solidFill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866AD108-1623-41DA-B8B2-0EF3D74F8E58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904390" y="3558216"/>
            <a:ext cx="2131218" cy="470859"/>
          </a:xfrm>
          <a:prstGeom prst="rect">
            <a:avLst/>
          </a:prstGeom>
        </p:spPr>
        <p:txBody>
          <a:bodyPr/>
          <a:lstStyle>
            <a:lvl1pPr marL="227013" indent="-227013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itchFamily="34" charset="0"/>
              </a:defRPr>
            </a:lvl1pPr>
            <a:lvl2pPr marL="6842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2pPr>
            <a:lvl3pPr marL="11414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3pPr>
            <a:lvl4pPr marL="15986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4pPr>
            <a:lvl5pPr marL="2055813" indent="-227013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sym typeface="Calibri" pitchFamily="34" charset="0"/>
              </a:defRPr>
            </a:lvl5pPr>
            <a:lvl6pPr marL="25146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6pPr>
            <a:lvl7pPr marL="2971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7pPr>
            <a:lvl8pPr marL="3429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8pPr>
            <a:lvl9pPr marL="3886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  <a:sym typeface="Calibri" panose="020F0502020204030204" pitchFamily="34" charset="0"/>
              </a:defRPr>
            </a:lvl9pPr>
          </a:lstStyle>
          <a:p>
            <a:pPr marL="0" indent="0">
              <a:lnSpc>
                <a:spcPct val="80000"/>
              </a:lnSpc>
              <a:buFont typeface="Arial" pitchFamily="34" charset="0"/>
              <a:buNone/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第</a:t>
            </a:r>
            <a:r>
              <a:rPr lang="en-US" altLang="zh-CN" sz="3200" b="1" dirty="0">
                <a:solidFill>
                  <a:srgbClr val="000000"/>
                </a:solidFill>
                <a:latin typeface="Calibri"/>
                <a:ea typeface="宋体"/>
              </a:rPr>
              <a:t>8</a:t>
            </a:r>
            <a:r>
              <a:rPr lang="zh-CN" altLang="en-US" sz="3200" b="1" dirty="0">
                <a:solidFill>
                  <a:srgbClr val="000000"/>
                </a:solidFill>
                <a:latin typeface="Calibri"/>
                <a:ea typeface="宋体"/>
              </a:rPr>
              <a:t>章 文件</a:t>
            </a:r>
            <a:endParaRPr lang="en-US" altLang="zh-CN" sz="3200" b="1" dirty="0">
              <a:solidFill>
                <a:srgbClr val="3366FF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9832B8B-E77D-459B-A122-A63E215FEC28}"/>
              </a:ext>
            </a:extLst>
          </p:cNvPr>
          <p:cNvGrpSpPr/>
          <p:nvPr userDrawn="1"/>
        </p:nvGrpSpPr>
        <p:grpSpPr>
          <a:xfrm>
            <a:off x="4503375" y="977212"/>
            <a:ext cx="5634004" cy="623887"/>
            <a:chOff x="4577557" y="1037605"/>
            <a:chExt cx="5634004" cy="623887"/>
          </a:xfrm>
        </p:grpSpPr>
        <p:sp>
          <p:nvSpPr>
            <p:cNvPr id="39" name="Freeform 10">
              <a:extLst>
                <a:ext uri="{FF2B5EF4-FFF2-40B4-BE49-F238E27FC236}">
                  <a16:creationId xmlns:a16="http://schemas.microsoft.com/office/drawing/2014/main" id="{D94ABC20-F180-44D3-B7BA-04431E5E5C0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文件概述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0" name="组合 58">
              <a:extLst>
                <a:ext uri="{FF2B5EF4-FFF2-40B4-BE49-F238E27FC236}">
                  <a16:creationId xmlns:a16="http://schemas.microsoft.com/office/drawing/2014/main" id="{A5C29670-9CA9-4E79-9EEC-B9217AF473A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1" name="Oval 16">
                <a:extLst>
                  <a:ext uri="{FF2B5EF4-FFF2-40B4-BE49-F238E27FC236}">
                    <a16:creationId xmlns:a16="http://schemas.microsoft.com/office/drawing/2014/main" id="{DC967EB6-C997-4E3D-8C9C-A7CCAA06A7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2" name="TextBox 60">
                <a:extLst>
                  <a:ext uri="{FF2B5EF4-FFF2-40B4-BE49-F238E27FC236}">
                    <a16:creationId xmlns:a16="http://schemas.microsoft.com/office/drawing/2014/main" id="{AE26040D-EBCE-413F-93C8-3B0DFEDFD5C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8.1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59D3DAC6-3986-43E5-AEAF-A1BB0DEACD75}"/>
              </a:ext>
            </a:extLst>
          </p:cNvPr>
          <p:cNvGrpSpPr/>
          <p:nvPr userDrawn="1"/>
        </p:nvGrpSpPr>
        <p:grpSpPr>
          <a:xfrm>
            <a:off x="4501403" y="2598234"/>
            <a:ext cx="5634004" cy="623887"/>
            <a:chOff x="4577557" y="1037605"/>
            <a:chExt cx="5634004" cy="623887"/>
          </a:xfrm>
        </p:grpSpPr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E73125C3-7C2A-4C40-BE23-CB648477AC7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文件的读写操作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45" name="组合 58">
              <a:extLst>
                <a:ext uri="{FF2B5EF4-FFF2-40B4-BE49-F238E27FC236}">
                  <a16:creationId xmlns:a16="http://schemas.microsoft.com/office/drawing/2014/main" id="{59003EA9-49AB-4922-BA31-6D62EF448EA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46" name="Oval 16">
                <a:extLst>
                  <a:ext uri="{FF2B5EF4-FFF2-40B4-BE49-F238E27FC236}">
                    <a16:creationId xmlns:a16="http://schemas.microsoft.com/office/drawing/2014/main" id="{65B5D404-033B-4504-B22E-F52048E9D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47" name="TextBox 60">
                <a:extLst>
                  <a:ext uri="{FF2B5EF4-FFF2-40B4-BE49-F238E27FC236}">
                    <a16:creationId xmlns:a16="http://schemas.microsoft.com/office/drawing/2014/main" id="{3BE31F55-8A87-41CD-8BF1-A60F8DBF26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8.3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F792780C-9CE0-42EC-B045-F8CBE82ABF40}"/>
              </a:ext>
            </a:extLst>
          </p:cNvPr>
          <p:cNvGrpSpPr/>
          <p:nvPr userDrawn="1"/>
        </p:nvGrpSpPr>
        <p:grpSpPr>
          <a:xfrm>
            <a:off x="4508149" y="1790865"/>
            <a:ext cx="5620512" cy="623887"/>
            <a:chOff x="4557319" y="1009525"/>
            <a:chExt cx="5620512" cy="623887"/>
          </a:xfrm>
        </p:grpSpPr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04A00366-013D-4D06-BA40-3B2FB9036D5A}"/>
                </a:ext>
              </a:extLst>
            </p:cNvPr>
            <p:cNvSpPr/>
            <p:nvPr userDrawn="1"/>
          </p:nvSpPr>
          <p:spPr bwMode="auto">
            <a:xfrm>
              <a:off x="4557319" y="100952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文件的打开与关闭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0" name="组合 58">
              <a:extLst>
                <a:ext uri="{FF2B5EF4-FFF2-40B4-BE49-F238E27FC236}">
                  <a16:creationId xmlns:a16="http://schemas.microsoft.com/office/drawing/2014/main" id="{53161A28-6C61-43A6-8EA4-15607B71986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1" name="Oval 16">
                <a:extLst>
                  <a:ext uri="{FF2B5EF4-FFF2-40B4-BE49-F238E27FC236}">
                    <a16:creationId xmlns:a16="http://schemas.microsoft.com/office/drawing/2014/main" id="{DD29CE8A-EBF4-4208-98EE-994EE4B36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2" name="TextBox 60">
                <a:extLst>
                  <a:ext uri="{FF2B5EF4-FFF2-40B4-BE49-F238E27FC236}">
                    <a16:creationId xmlns:a16="http://schemas.microsoft.com/office/drawing/2014/main" id="{A26075A2-4977-4D86-8EFD-B0504A3442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8.2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24F53E3-60E3-4124-8888-4E808956FB44}"/>
              </a:ext>
            </a:extLst>
          </p:cNvPr>
          <p:cNvGrpSpPr/>
          <p:nvPr userDrawn="1"/>
        </p:nvGrpSpPr>
        <p:grpSpPr>
          <a:xfrm>
            <a:off x="4501403" y="3403493"/>
            <a:ext cx="5634004" cy="623887"/>
            <a:chOff x="4577557" y="1037605"/>
            <a:chExt cx="5634004" cy="623887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4732B8E0-0DFF-4E96-A5BF-481059C4052C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文件的定位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55" name="组合 58">
              <a:extLst>
                <a:ext uri="{FF2B5EF4-FFF2-40B4-BE49-F238E27FC236}">
                  <a16:creationId xmlns:a16="http://schemas.microsoft.com/office/drawing/2014/main" id="{90E9BF9A-F17B-43B4-B1E4-6BDE9FA4687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56" name="Oval 16">
                <a:extLst>
                  <a:ext uri="{FF2B5EF4-FFF2-40B4-BE49-F238E27FC236}">
                    <a16:creationId xmlns:a16="http://schemas.microsoft.com/office/drawing/2014/main" id="{33397C70-D582-4664-BFFF-3A46DC4F3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57" name="TextBox 60">
                <a:extLst>
                  <a:ext uri="{FF2B5EF4-FFF2-40B4-BE49-F238E27FC236}">
                    <a16:creationId xmlns:a16="http://schemas.microsoft.com/office/drawing/2014/main" id="{2591B598-5DF4-4F50-AE0E-A00FD6763E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8.4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9ED3FD84-10C2-4DD1-976E-9E4B2CFFA669}"/>
              </a:ext>
            </a:extLst>
          </p:cNvPr>
          <p:cNvGrpSpPr/>
          <p:nvPr userDrawn="1"/>
        </p:nvGrpSpPr>
        <p:grpSpPr>
          <a:xfrm>
            <a:off x="4508149" y="4206954"/>
            <a:ext cx="5634004" cy="623887"/>
            <a:chOff x="4577557" y="1037605"/>
            <a:chExt cx="5634004" cy="623887"/>
          </a:xfrm>
        </p:grpSpPr>
        <p:sp>
          <p:nvSpPr>
            <p:cNvPr id="59" name="Freeform 10">
              <a:extLst>
                <a:ext uri="{FF2B5EF4-FFF2-40B4-BE49-F238E27FC236}">
                  <a16:creationId xmlns:a16="http://schemas.microsoft.com/office/drawing/2014/main" id="{A5D2941C-3666-4674-A44F-5ED8322DEBA6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文件出错检测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0" name="组合 58">
              <a:extLst>
                <a:ext uri="{FF2B5EF4-FFF2-40B4-BE49-F238E27FC236}">
                  <a16:creationId xmlns:a16="http://schemas.microsoft.com/office/drawing/2014/main" id="{D7A5A2D9-F643-4267-88EA-AF1A1B351A5C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1" name="Oval 16">
                <a:extLst>
                  <a:ext uri="{FF2B5EF4-FFF2-40B4-BE49-F238E27FC236}">
                    <a16:creationId xmlns:a16="http://schemas.microsoft.com/office/drawing/2014/main" id="{77CC0453-D257-4869-B188-605400751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2" name="TextBox 60">
                <a:extLst>
                  <a:ext uri="{FF2B5EF4-FFF2-40B4-BE49-F238E27FC236}">
                    <a16:creationId xmlns:a16="http://schemas.microsoft.com/office/drawing/2014/main" id="{4F7D6541-09B4-4488-8E7D-ED9C192995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8.5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0FB2F520-F5BA-4C7D-BE1D-529AB0705998}"/>
              </a:ext>
            </a:extLst>
          </p:cNvPr>
          <p:cNvGrpSpPr/>
          <p:nvPr userDrawn="1"/>
        </p:nvGrpSpPr>
        <p:grpSpPr>
          <a:xfrm>
            <a:off x="4514895" y="4999880"/>
            <a:ext cx="5634004" cy="623887"/>
            <a:chOff x="4577557" y="1037605"/>
            <a:chExt cx="5634004" cy="623887"/>
          </a:xfrm>
        </p:grpSpPr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DE74F162-C696-4212-BE22-C3E9B5A6A45F}"/>
                </a:ext>
              </a:extLst>
            </p:cNvPr>
            <p:cNvSpPr/>
            <p:nvPr userDrawn="1"/>
          </p:nvSpPr>
          <p:spPr bwMode="auto">
            <a:xfrm>
              <a:off x="4591049" y="1037605"/>
              <a:ext cx="5620512" cy="623887"/>
            </a:xfrm>
            <a:custGeom>
              <a:avLst/>
              <a:gdLst>
                <a:gd name="T0" fmla="*/ 2147483647 w 6425"/>
                <a:gd name="T1" fmla="*/ 0 h 911"/>
                <a:gd name="T2" fmla="*/ 2147483647 w 6425"/>
                <a:gd name="T3" fmla="*/ 0 h 911"/>
                <a:gd name="T4" fmla="*/ 2147483647 w 6425"/>
                <a:gd name="T5" fmla="*/ 2147483647 h 911"/>
                <a:gd name="T6" fmla="*/ 2147483647 w 6425"/>
                <a:gd name="T7" fmla="*/ 2147483647 h 911"/>
                <a:gd name="T8" fmla="*/ 2147483647 w 6425"/>
                <a:gd name="T9" fmla="*/ 2147483647 h 911"/>
                <a:gd name="T10" fmla="*/ 2147483647 w 6425"/>
                <a:gd name="T11" fmla="*/ 2147483647 h 911"/>
                <a:gd name="T12" fmla="*/ 0 w 6425"/>
                <a:gd name="T13" fmla="*/ 2147483647 h 911"/>
                <a:gd name="T14" fmla="*/ 0 w 6425"/>
                <a:gd name="T15" fmla="*/ 2147483647 h 911"/>
                <a:gd name="T16" fmla="*/ 2147483647 w 6425"/>
                <a:gd name="T17" fmla="*/ 0 h 9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425" h="911">
                  <a:moveTo>
                    <a:pt x="93" y="0"/>
                  </a:moveTo>
                  <a:lnTo>
                    <a:pt x="6331" y="0"/>
                  </a:lnTo>
                  <a:cubicBezTo>
                    <a:pt x="6383" y="0"/>
                    <a:pt x="6425" y="42"/>
                    <a:pt x="6425" y="93"/>
                  </a:cubicBezTo>
                  <a:lnTo>
                    <a:pt x="6425" y="818"/>
                  </a:lnTo>
                  <a:cubicBezTo>
                    <a:pt x="6425" y="869"/>
                    <a:pt x="6383" y="911"/>
                    <a:pt x="6331" y="911"/>
                  </a:cubicBezTo>
                  <a:lnTo>
                    <a:pt x="93" y="911"/>
                  </a:lnTo>
                  <a:cubicBezTo>
                    <a:pt x="42" y="911"/>
                    <a:pt x="0" y="869"/>
                    <a:pt x="0" y="818"/>
                  </a:cubicBezTo>
                  <a:lnTo>
                    <a:pt x="0" y="93"/>
                  </a:lnTo>
                  <a:cubicBezTo>
                    <a:pt x="0" y="42"/>
                    <a:pt x="42" y="0"/>
                    <a:pt x="93" y="0"/>
                  </a:cubicBezTo>
                  <a:close/>
                </a:path>
              </a:pathLst>
            </a:custGeom>
            <a:solidFill>
              <a:srgbClr val="024C89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r>
                <a:rPr lang="zh-CN" altLang="en-US" sz="3200" kern="0" dirty="0">
                  <a:solidFill>
                    <a:srgbClr val="FFFFFF"/>
                  </a:solidFill>
                  <a:latin typeface="Arial" pitchFamily="34" charset="0"/>
                  <a:ea typeface="宋体" pitchFamily="2" charset="-122"/>
                </a:rPr>
                <a:t>     案例：打字练习程序</a:t>
              </a:r>
            </a:p>
            <a:p>
              <a:pPr>
                <a:defRPr/>
              </a:pPr>
              <a:endParaRPr lang="zh-CN" altLang="en-US" sz="3200" kern="0" dirty="0">
                <a:solidFill>
                  <a:srgbClr val="FFFFFF"/>
                </a:solidFill>
                <a:latin typeface="Arial" pitchFamily="34" charset="0"/>
                <a:ea typeface="宋体" pitchFamily="2" charset="-122"/>
              </a:endParaRPr>
            </a:p>
          </p:txBody>
        </p:sp>
        <p:grpSp>
          <p:nvGrpSpPr>
            <p:cNvPr id="65" name="组合 58">
              <a:extLst>
                <a:ext uri="{FF2B5EF4-FFF2-40B4-BE49-F238E27FC236}">
                  <a16:creationId xmlns:a16="http://schemas.microsoft.com/office/drawing/2014/main" id="{4058AF65-2F14-484A-98BF-1EDE0F83244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4577557" y="1096709"/>
              <a:ext cx="646112" cy="504825"/>
              <a:chOff x="-80820" y="27858"/>
              <a:chExt cx="756178" cy="590582"/>
            </a:xfrm>
          </p:grpSpPr>
          <p:sp>
            <p:nvSpPr>
              <p:cNvPr id="66" name="Oval 16">
                <a:extLst>
                  <a:ext uri="{FF2B5EF4-FFF2-40B4-BE49-F238E27FC236}">
                    <a16:creationId xmlns:a16="http://schemas.microsoft.com/office/drawing/2014/main" id="{79EA450A-2B7D-4469-BF00-BF585DC327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7858"/>
                <a:ext cx="588963" cy="590582"/>
              </a:xfrm>
              <a:prstGeom prst="ellipse">
                <a:avLst/>
              </a:prstGeom>
              <a:solidFill>
                <a:srgbClr val="FFFFFF"/>
              </a:solidFill>
              <a:ln w="9525">
                <a:noFill/>
                <a:round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800" kern="0">
                  <a:solidFill>
                    <a:sysClr val="windowText" lastClr="000000"/>
                  </a:solidFill>
                  <a:latin typeface="Arial" pitchFamily="34" charset="0"/>
                  <a:ea typeface="宋体" pitchFamily="2" charset="-122"/>
                </a:endParaRPr>
              </a:p>
            </p:txBody>
          </p:sp>
          <p:sp>
            <p:nvSpPr>
              <p:cNvPr id="67" name="TextBox 60">
                <a:extLst>
                  <a:ext uri="{FF2B5EF4-FFF2-40B4-BE49-F238E27FC236}">
                    <a16:creationId xmlns:a16="http://schemas.microsoft.com/office/drawing/2014/main" id="{A8696235-C948-4AF9-B206-44E375C45E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0820" y="36909"/>
                <a:ext cx="756178" cy="540089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zh-CN" sz="2400" b="1" kern="0" dirty="0">
                    <a:solidFill>
                      <a:sysClr val="windowText" lastClr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8.6</a:t>
                </a:r>
                <a:endParaRPr lang="zh-CN" altLang="en-US" sz="2400" b="1" kern="0" dirty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90E7AC5B-1CE7-461E-A939-4AD980DF3D78}"/>
              </a:ext>
            </a:extLst>
          </p:cNvPr>
          <p:cNvGrpSpPr/>
          <p:nvPr userDrawn="1"/>
        </p:nvGrpSpPr>
        <p:grpSpPr>
          <a:xfrm>
            <a:off x="1812726" y="977212"/>
            <a:ext cx="2239963" cy="1047750"/>
            <a:chOff x="988824" y="2510466"/>
            <a:chExt cx="2239963" cy="1047750"/>
          </a:xfrm>
        </p:grpSpPr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460FAA0-5572-4ED6-AC94-D5D65C2A05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77849" y="3331203"/>
              <a:ext cx="1147763" cy="227013"/>
            </a:xfrm>
            <a:custGeom>
              <a:avLst/>
              <a:gdLst>
                <a:gd name="T0" fmla="*/ 2147483647 w 2195"/>
                <a:gd name="T1" fmla="*/ 2147483647 h 445"/>
                <a:gd name="T2" fmla="*/ 2147483647 w 2195"/>
                <a:gd name="T3" fmla="*/ 2147483647 h 445"/>
                <a:gd name="T4" fmla="*/ 2147483647 w 2195"/>
                <a:gd name="T5" fmla="*/ 2147483647 h 445"/>
                <a:gd name="T6" fmla="*/ 2147483647 w 2195"/>
                <a:gd name="T7" fmla="*/ 2147483647 h 445"/>
                <a:gd name="T8" fmla="*/ 2147483647 w 2195"/>
                <a:gd name="T9" fmla="*/ 2147483647 h 445"/>
                <a:gd name="T10" fmla="*/ 2147483647 w 2195"/>
                <a:gd name="T11" fmla="*/ 2147483647 h 445"/>
                <a:gd name="T12" fmla="*/ 2147483647 w 2195"/>
                <a:gd name="T13" fmla="*/ 2147483647 h 445"/>
                <a:gd name="T14" fmla="*/ 2147483647 w 2195"/>
                <a:gd name="T15" fmla="*/ 2147483647 h 445"/>
                <a:gd name="T16" fmla="*/ 2147483647 w 2195"/>
                <a:gd name="T17" fmla="*/ 2147483647 h 445"/>
                <a:gd name="T18" fmla="*/ 2147483647 w 2195"/>
                <a:gd name="T19" fmla="*/ 2147483647 h 445"/>
                <a:gd name="T20" fmla="*/ 2147483647 w 2195"/>
                <a:gd name="T21" fmla="*/ 2147483647 h 445"/>
                <a:gd name="T22" fmla="*/ 2147483647 w 2195"/>
                <a:gd name="T23" fmla="*/ 2147483647 h 445"/>
                <a:gd name="T24" fmla="*/ 2147483647 w 2195"/>
                <a:gd name="T25" fmla="*/ 2147483647 h 445"/>
                <a:gd name="T26" fmla="*/ 2147483647 w 2195"/>
                <a:gd name="T27" fmla="*/ 2147483647 h 445"/>
                <a:gd name="T28" fmla="*/ 2147483647 w 2195"/>
                <a:gd name="T29" fmla="*/ 2147483647 h 445"/>
                <a:gd name="T30" fmla="*/ 2147483647 w 2195"/>
                <a:gd name="T31" fmla="*/ 2147483647 h 445"/>
                <a:gd name="T32" fmla="*/ 2147483647 w 2195"/>
                <a:gd name="T33" fmla="*/ 2147483647 h 445"/>
                <a:gd name="T34" fmla="*/ 2147483647 w 2195"/>
                <a:gd name="T35" fmla="*/ 2147483647 h 445"/>
                <a:gd name="T36" fmla="*/ 2147483647 w 2195"/>
                <a:gd name="T37" fmla="*/ 2147483647 h 445"/>
                <a:gd name="T38" fmla="*/ 2147483647 w 2195"/>
                <a:gd name="T39" fmla="*/ 2147483647 h 445"/>
                <a:gd name="T40" fmla="*/ 2147483647 w 2195"/>
                <a:gd name="T41" fmla="*/ 2147483647 h 445"/>
                <a:gd name="T42" fmla="*/ 2147483647 w 2195"/>
                <a:gd name="T43" fmla="*/ 2147483647 h 445"/>
                <a:gd name="T44" fmla="*/ 2147483647 w 2195"/>
                <a:gd name="T45" fmla="*/ 2147483647 h 445"/>
                <a:gd name="T46" fmla="*/ 2147483647 w 2195"/>
                <a:gd name="T47" fmla="*/ 2147483647 h 445"/>
                <a:gd name="T48" fmla="*/ 2147483647 w 2195"/>
                <a:gd name="T49" fmla="*/ 2147483647 h 445"/>
                <a:gd name="T50" fmla="*/ 2147483647 w 2195"/>
                <a:gd name="T51" fmla="*/ 2147483647 h 445"/>
                <a:gd name="T52" fmla="*/ 2147483647 w 2195"/>
                <a:gd name="T53" fmla="*/ 2147483647 h 445"/>
                <a:gd name="T54" fmla="*/ 2147483647 w 2195"/>
                <a:gd name="T55" fmla="*/ 2147483647 h 445"/>
                <a:gd name="T56" fmla="*/ 2147483647 w 2195"/>
                <a:gd name="T57" fmla="*/ 2147483647 h 445"/>
                <a:gd name="T58" fmla="*/ 2147483647 w 2195"/>
                <a:gd name="T59" fmla="*/ 2147483647 h 445"/>
                <a:gd name="T60" fmla="*/ 2147483647 w 2195"/>
                <a:gd name="T61" fmla="*/ 2147483647 h 445"/>
                <a:gd name="T62" fmla="*/ 2147483647 w 2195"/>
                <a:gd name="T63" fmla="*/ 2147483647 h 445"/>
                <a:gd name="T64" fmla="*/ 2147483647 w 2195"/>
                <a:gd name="T65" fmla="*/ 2147483647 h 445"/>
                <a:gd name="T66" fmla="*/ 2147483647 w 2195"/>
                <a:gd name="T67" fmla="*/ 2147483647 h 445"/>
                <a:gd name="T68" fmla="*/ 2147483647 w 2195"/>
                <a:gd name="T69" fmla="*/ 2147483647 h 445"/>
                <a:gd name="T70" fmla="*/ 2147483647 w 2195"/>
                <a:gd name="T71" fmla="*/ 2147483647 h 445"/>
                <a:gd name="T72" fmla="*/ 2147483647 w 2195"/>
                <a:gd name="T73" fmla="*/ 2147483647 h 445"/>
                <a:gd name="T74" fmla="*/ 2147483647 w 2195"/>
                <a:gd name="T75" fmla="*/ 2147483647 h 445"/>
                <a:gd name="T76" fmla="*/ 2147483647 w 2195"/>
                <a:gd name="T77" fmla="*/ 2147483647 h 445"/>
                <a:gd name="T78" fmla="*/ 2147483647 w 2195"/>
                <a:gd name="T79" fmla="*/ 2147483647 h 445"/>
                <a:gd name="T80" fmla="*/ 2147483647 w 2195"/>
                <a:gd name="T81" fmla="*/ 2147483647 h 445"/>
                <a:gd name="T82" fmla="*/ 2147483647 w 2195"/>
                <a:gd name="T83" fmla="*/ 2147483647 h 445"/>
                <a:gd name="T84" fmla="*/ 2147483647 w 2195"/>
                <a:gd name="T85" fmla="*/ 2147483647 h 445"/>
                <a:gd name="T86" fmla="*/ 2147483647 w 2195"/>
                <a:gd name="T87" fmla="*/ 2147483647 h 445"/>
                <a:gd name="T88" fmla="*/ 2147483647 w 2195"/>
                <a:gd name="T89" fmla="*/ 2147483647 h 445"/>
                <a:gd name="T90" fmla="*/ 2147483647 w 2195"/>
                <a:gd name="T91" fmla="*/ 2147483647 h 445"/>
                <a:gd name="T92" fmla="*/ 2147483647 w 2195"/>
                <a:gd name="T93" fmla="*/ 2147483647 h 445"/>
                <a:gd name="T94" fmla="*/ 2147483647 w 2195"/>
                <a:gd name="T95" fmla="*/ 2147483647 h 445"/>
                <a:gd name="T96" fmla="*/ 2147483647 w 2195"/>
                <a:gd name="T97" fmla="*/ 2147483647 h 445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195" h="445">
                  <a:moveTo>
                    <a:pt x="154" y="142"/>
                  </a:moveTo>
                  <a:cubicBezTo>
                    <a:pt x="86" y="144"/>
                    <a:pt x="51" y="189"/>
                    <a:pt x="49" y="278"/>
                  </a:cubicBezTo>
                  <a:cubicBezTo>
                    <a:pt x="51" y="361"/>
                    <a:pt x="86" y="405"/>
                    <a:pt x="154" y="407"/>
                  </a:cubicBezTo>
                  <a:cubicBezTo>
                    <a:pt x="218" y="405"/>
                    <a:pt x="251" y="361"/>
                    <a:pt x="252" y="276"/>
                  </a:cubicBezTo>
                  <a:cubicBezTo>
                    <a:pt x="248" y="193"/>
                    <a:pt x="215" y="148"/>
                    <a:pt x="154" y="142"/>
                  </a:cubicBezTo>
                  <a:close/>
                  <a:moveTo>
                    <a:pt x="152" y="443"/>
                  </a:moveTo>
                  <a:cubicBezTo>
                    <a:pt x="55" y="437"/>
                    <a:pt x="5" y="383"/>
                    <a:pt x="0" y="280"/>
                  </a:cubicBezTo>
                  <a:cubicBezTo>
                    <a:pt x="3" y="166"/>
                    <a:pt x="55" y="107"/>
                    <a:pt x="156" y="105"/>
                  </a:cubicBezTo>
                  <a:cubicBezTo>
                    <a:pt x="250" y="109"/>
                    <a:pt x="299" y="165"/>
                    <a:pt x="303" y="274"/>
                  </a:cubicBezTo>
                  <a:cubicBezTo>
                    <a:pt x="302" y="385"/>
                    <a:pt x="251" y="442"/>
                    <a:pt x="152" y="443"/>
                  </a:cubicBezTo>
                  <a:close/>
                  <a:moveTo>
                    <a:pt x="665" y="227"/>
                  </a:moveTo>
                  <a:lnTo>
                    <a:pt x="665" y="434"/>
                  </a:lnTo>
                  <a:lnTo>
                    <a:pt x="618" y="434"/>
                  </a:lnTo>
                  <a:lnTo>
                    <a:pt x="618" y="234"/>
                  </a:lnTo>
                  <a:cubicBezTo>
                    <a:pt x="616" y="174"/>
                    <a:pt x="591" y="144"/>
                    <a:pt x="542" y="142"/>
                  </a:cubicBezTo>
                  <a:cubicBezTo>
                    <a:pt x="484" y="150"/>
                    <a:pt x="452" y="181"/>
                    <a:pt x="446" y="236"/>
                  </a:cubicBezTo>
                  <a:lnTo>
                    <a:pt x="446" y="434"/>
                  </a:lnTo>
                  <a:lnTo>
                    <a:pt x="400" y="436"/>
                  </a:lnTo>
                  <a:lnTo>
                    <a:pt x="400" y="111"/>
                  </a:lnTo>
                  <a:lnTo>
                    <a:pt x="446" y="111"/>
                  </a:lnTo>
                  <a:lnTo>
                    <a:pt x="446" y="160"/>
                  </a:lnTo>
                  <a:cubicBezTo>
                    <a:pt x="472" y="123"/>
                    <a:pt x="507" y="104"/>
                    <a:pt x="553" y="102"/>
                  </a:cubicBezTo>
                  <a:cubicBezTo>
                    <a:pt x="628" y="102"/>
                    <a:pt x="665" y="144"/>
                    <a:pt x="665" y="227"/>
                  </a:cubicBezTo>
                  <a:close/>
                  <a:moveTo>
                    <a:pt x="897" y="407"/>
                  </a:moveTo>
                  <a:lnTo>
                    <a:pt x="906" y="432"/>
                  </a:lnTo>
                  <a:cubicBezTo>
                    <a:pt x="891" y="438"/>
                    <a:pt x="875" y="441"/>
                    <a:pt x="857" y="441"/>
                  </a:cubicBezTo>
                  <a:cubicBezTo>
                    <a:pt x="811" y="442"/>
                    <a:pt x="788" y="419"/>
                    <a:pt x="790" y="370"/>
                  </a:cubicBezTo>
                  <a:lnTo>
                    <a:pt x="790" y="151"/>
                  </a:lnTo>
                  <a:lnTo>
                    <a:pt x="745" y="151"/>
                  </a:lnTo>
                  <a:lnTo>
                    <a:pt x="745" y="111"/>
                  </a:lnTo>
                  <a:lnTo>
                    <a:pt x="790" y="111"/>
                  </a:lnTo>
                  <a:lnTo>
                    <a:pt x="790" y="24"/>
                  </a:lnTo>
                  <a:lnTo>
                    <a:pt x="837" y="0"/>
                  </a:lnTo>
                  <a:lnTo>
                    <a:pt x="837" y="111"/>
                  </a:lnTo>
                  <a:lnTo>
                    <a:pt x="897" y="111"/>
                  </a:lnTo>
                  <a:lnTo>
                    <a:pt x="897" y="151"/>
                  </a:lnTo>
                  <a:lnTo>
                    <a:pt x="837" y="151"/>
                  </a:lnTo>
                  <a:lnTo>
                    <a:pt x="837" y="370"/>
                  </a:lnTo>
                  <a:cubicBezTo>
                    <a:pt x="835" y="398"/>
                    <a:pt x="847" y="411"/>
                    <a:pt x="872" y="410"/>
                  </a:cubicBezTo>
                  <a:cubicBezTo>
                    <a:pt x="881" y="410"/>
                    <a:pt x="890" y="409"/>
                    <a:pt x="897" y="407"/>
                  </a:cubicBezTo>
                  <a:close/>
                  <a:moveTo>
                    <a:pt x="1020" y="249"/>
                  </a:moveTo>
                  <a:lnTo>
                    <a:pt x="1214" y="249"/>
                  </a:lnTo>
                  <a:cubicBezTo>
                    <a:pt x="1211" y="184"/>
                    <a:pt x="1179" y="150"/>
                    <a:pt x="1118" y="147"/>
                  </a:cubicBezTo>
                  <a:cubicBezTo>
                    <a:pt x="1057" y="153"/>
                    <a:pt x="1024" y="187"/>
                    <a:pt x="1020" y="249"/>
                  </a:cubicBezTo>
                  <a:close/>
                  <a:moveTo>
                    <a:pt x="1214" y="334"/>
                  </a:moveTo>
                  <a:lnTo>
                    <a:pt x="1263" y="347"/>
                  </a:lnTo>
                  <a:cubicBezTo>
                    <a:pt x="1245" y="413"/>
                    <a:pt x="1198" y="445"/>
                    <a:pt x="1120" y="443"/>
                  </a:cubicBezTo>
                  <a:cubicBezTo>
                    <a:pt x="1021" y="439"/>
                    <a:pt x="969" y="384"/>
                    <a:pt x="966" y="278"/>
                  </a:cubicBezTo>
                  <a:cubicBezTo>
                    <a:pt x="971" y="167"/>
                    <a:pt x="1021" y="109"/>
                    <a:pt x="1118" y="105"/>
                  </a:cubicBezTo>
                  <a:cubicBezTo>
                    <a:pt x="1213" y="107"/>
                    <a:pt x="1262" y="165"/>
                    <a:pt x="1265" y="278"/>
                  </a:cubicBezTo>
                  <a:cubicBezTo>
                    <a:pt x="1265" y="284"/>
                    <a:pt x="1265" y="288"/>
                    <a:pt x="1265" y="289"/>
                  </a:cubicBezTo>
                  <a:lnTo>
                    <a:pt x="1018" y="289"/>
                  </a:lnTo>
                  <a:cubicBezTo>
                    <a:pt x="1021" y="362"/>
                    <a:pt x="1054" y="401"/>
                    <a:pt x="1118" y="405"/>
                  </a:cubicBezTo>
                  <a:cubicBezTo>
                    <a:pt x="1169" y="405"/>
                    <a:pt x="1200" y="382"/>
                    <a:pt x="1214" y="334"/>
                  </a:cubicBezTo>
                  <a:close/>
                  <a:moveTo>
                    <a:pt x="1626" y="227"/>
                  </a:moveTo>
                  <a:lnTo>
                    <a:pt x="1626" y="434"/>
                  </a:lnTo>
                  <a:lnTo>
                    <a:pt x="1580" y="434"/>
                  </a:lnTo>
                  <a:lnTo>
                    <a:pt x="1580" y="234"/>
                  </a:lnTo>
                  <a:cubicBezTo>
                    <a:pt x="1578" y="174"/>
                    <a:pt x="1553" y="144"/>
                    <a:pt x="1504" y="142"/>
                  </a:cubicBezTo>
                  <a:cubicBezTo>
                    <a:pt x="1446" y="150"/>
                    <a:pt x="1414" y="181"/>
                    <a:pt x="1408" y="236"/>
                  </a:cubicBezTo>
                  <a:lnTo>
                    <a:pt x="1408" y="434"/>
                  </a:lnTo>
                  <a:lnTo>
                    <a:pt x="1361" y="436"/>
                  </a:lnTo>
                  <a:lnTo>
                    <a:pt x="1361" y="111"/>
                  </a:lnTo>
                  <a:lnTo>
                    <a:pt x="1408" y="111"/>
                  </a:lnTo>
                  <a:lnTo>
                    <a:pt x="1408" y="160"/>
                  </a:lnTo>
                  <a:cubicBezTo>
                    <a:pt x="1433" y="123"/>
                    <a:pt x="1469" y="104"/>
                    <a:pt x="1515" y="102"/>
                  </a:cubicBezTo>
                  <a:cubicBezTo>
                    <a:pt x="1589" y="102"/>
                    <a:pt x="1626" y="144"/>
                    <a:pt x="1626" y="227"/>
                  </a:cubicBezTo>
                  <a:close/>
                  <a:moveTo>
                    <a:pt x="1859" y="407"/>
                  </a:moveTo>
                  <a:lnTo>
                    <a:pt x="1868" y="432"/>
                  </a:lnTo>
                  <a:cubicBezTo>
                    <a:pt x="1853" y="438"/>
                    <a:pt x="1836" y="441"/>
                    <a:pt x="1818" y="441"/>
                  </a:cubicBezTo>
                  <a:cubicBezTo>
                    <a:pt x="1772" y="442"/>
                    <a:pt x="1750" y="419"/>
                    <a:pt x="1752" y="370"/>
                  </a:cubicBezTo>
                  <a:lnTo>
                    <a:pt x="1752" y="151"/>
                  </a:lnTo>
                  <a:lnTo>
                    <a:pt x="1707" y="151"/>
                  </a:lnTo>
                  <a:lnTo>
                    <a:pt x="1707" y="111"/>
                  </a:lnTo>
                  <a:lnTo>
                    <a:pt x="1752" y="111"/>
                  </a:lnTo>
                  <a:lnTo>
                    <a:pt x="1752" y="24"/>
                  </a:lnTo>
                  <a:lnTo>
                    <a:pt x="1798" y="0"/>
                  </a:lnTo>
                  <a:lnTo>
                    <a:pt x="1798" y="111"/>
                  </a:lnTo>
                  <a:lnTo>
                    <a:pt x="1859" y="111"/>
                  </a:lnTo>
                  <a:lnTo>
                    <a:pt x="1859" y="151"/>
                  </a:lnTo>
                  <a:lnTo>
                    <a:pt x="1798" y="151"/>
                  </a:lnTo>
                  <a:lnTo>
                    <a:pt x="1798" y="370"/>
                  </a:lnTo>
                  <a:cubicBezTo>
                    <a:pt x="1797" y="398"/>
                    <a:pt x="1809" y="411"/>
                    <a:pt x="1834" y="410"/>
                  </a:cubicBezTo>
                  <a:cubicBezTo>
                    <a:pt x="1843" y="410"/>
                    <a:pt x="1851" y="409"/>
                    <a:pt x="1859" y="407"/>
                  </a:cubicBezTo>
                  <a:close/>
                  <a:moveTo>
                    <a:pt x="2131" y="203"/>
                  </a:moveTo>
                  <a:lnTo>
                    <a:pt x="2180" y="189"/>
                  </a:lnTo>
                  <a:cubicBezTo>
                    <a:pt x="2167" y="133"/>
                    <a:pt x="2125" y="104"/>
                    <a:pt x="2055" y="102"/>
                  </a:cubicBezTo>
                  <a:cubicBezTo>
                    <a:pt x="1982" y="105"/>
                    <a:pt x="1943" y="136"/>
                    <a:pt x="1937" y="194"/>
                  </a:cubicBezTo>
                  <a:cubicBezTo>
                    <a:pt x="1934" y="249"/>
                    <a:pt x="1976" y="281"/>
                    <a:pt x="2062" y="292"/>
                  </a:cubicBezTo>
                  <a:cubicBezTo>
                    <a:pt x="2118" y="302"/>
                    <a:pt x="2146" y="322"/>
                    <a:pt x="2144" y="352"/>
                  </a:cubicBezTo>
                  <a:cubicBezTo>
                    <a:pt x="2143" y="387"/>
                    <a:pt x="2115" y="406"/>
                    <a:pt x="2062" y="407"/>
                  </a:cubicBezTo>
                  <a:cubicBezTo>
                    <a:pt x="2013" y="409"/>
                    <a:pt x="1982" y="384"/>
                    <a:pt x="1970" y="334"/>
                  </a:cubicBezTo>
                  <a:lnTo>
                    <a:pt x="1924" y="347"/>
                  </a:lnTo>
                  <a:cubicBezTo>
                    <a:pt x="1941" y="413"/>
                    <a:pt x="1988" y="445"/>
                    <a:pt x="2062" y="443"/>
                  </a:cubicBezTo>
                  <a:cubicBezTo>
                    <a:pt x="2148" y="442"/>
                    <a:pt x="2192" y="410"/>
                    <a:pt x="2193" y="350"/>
                  </a:cubicBezTo>
                  <a:cubicBezTo>
                    <a:pt x="2195" y="298"/>
                    <a:pt x="2155" y="265"/>
                    <a:pt x="2075" y="252"/>
                  </a:cubicBezTo>
                  <a:cubicBezTo>
                    <a:pt x="2014" y="241"/>
                    <a:pt x="1985" y="222"/>
                    <a:pt x="1986" y="194"/>
                  </a:cubicBezTo>
                  <a:cubicBezTo>
                    <a:pt x="1990" y="162"/>
                    <a:pt x="2014" y="146"/>
                    <a:pt x="2057" y="145"/>
                  </a:cubicBezTo>
                  <a:cubicBezTo>
                    <a:pt x="2097" y="145"/>
                    <a:pt x="2122" y="164"/>
                    <a:pt x="2131" y="203"/>
                  </a:cubicBez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7AB2CA1C-0244-4212-8B4F-BFADD4B021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25474" y="2626353"/>
              <a:ext cx="1103313" cy="501650"/>
            </a:xfrm>
            <a:custGeom>
              <a:avLst/>
              <a:gdLst>
                <a:gd name="T0" fmla="*/ 2147483647 w 2109"/>
                <a:gd name="T1" fmla="*/ 0 h 986"/>
                <a:gd name="T2" fmla="*/ 2147483647 w 2109"/>
                <a:gd name="T3" fmla="*/ 2147483647 h 986"/>
                <a:gd name="T4" fmla="*/ 2147483647 w 2109"/>
                <a:gd name="T5" fmla="*/ 2147483647 h 986"/>
                <a:gd name="T6" fmla="*/ 0 w 2109"/>
                <a:gd name="T7" fmla="*/ 2147483647 h 986"/>
                <a:gd name="T8" fmla="*/ 2147483647 w 2109"/>
                <a:gd name="T9" fmla="*/ 2147483647 h 986"/>
                <a:gd name="T10" fmla="*/ 2147483647 w 2109"/>
                <a:gd name="T11" fmla="*/ 2147483647 h 986"/>
                <a:gd name="T12" fmla="*/ 2147483647 w 2109"/>
                <a:gd name="T13" fmla="*/ 2147483647 h 986"/>
                <a:gd name="T14" fmla="*/ 2147483647 w 2109"/>
                <a:gd name="T15" fmla="*/ 2147483647 h 986"/>
                <a:gd name="T16" fmla="*/ 2147483647 w 2109"/>
                <a:gd name="T17" fmla="*/ 2147483647 h 986"/>
                <a:gd name="T18" fmla="*/ 2147483647 w 2109"/>
                <a:gd name="T19" fmla="*/ 2147483647 h 986"/>
                <a:gd name="T20" fmla="*/ 2147483647 w 2109"/>
                <a:gd name="T21" fmla="*/ 2147483647 h 986"/>
                <a:gd name="T22" fmla="*/ 2147483647 w 2109"/>
                <a:gd name="T23" fmla="*/ 2147483647 h 986"/>
                <a:gd name="T24" fmla="*/ 2147483647 w 2109"/>
                <a:gd name="T25" fmla="*/ 2147483647 h 986"/>
                <a:gd name="T26" fmla="*/ 2147483647 w 2109"/>
                <a:gd name="T27" fmla="*/ 2147483647 h 986"/>
                <a:gd name="T28" fmla="*/ 2147483647 w 2109"/>
                <a:gd name="T29" fmla="*/ 2147483647 h 986"/>
                <a:gd name="T30" fmla="*/ 2147483647 w 2109"/>
                <a:gd name="T31" fmla="*/ 2147483647 h 986"/>
                <a:gd name="T32" fmla="*/ 2147483647 w 2109"/>
                <a:gd name="T33" fmla="*/ 2147483647 h 986"/>
                <a:gd name="T34" fmla="*/ 2147483647 w 2109"/>
                <a:gd name="T35" fmla="*/ 2147483647 h 986"/>
                <a:gd name="T36" fmla="*/ 2147483647 w 2109"/>
                <a:gd name="T37" fmla="*/ 2147483647 h 986"/>
                <a:gd name="T38" fmla="*/ 2147483647 w 2109"/>
                <a:gd name="T39" fmla="*/ 2147483647 h 986"/>
                <a:gd name="T40" fmla="*/ 2147483647 w 2109"/>
                <a:gd name="T41" fmla="*/ 2147483647 h 986"/>
                <a:gd name="T42" fmla="*/ 2147483647 w 2109"/>
                <a:gd name="T43" fmla="*/ 2147483647 h 986"/>
                <a:gd name="T44" fmla="*/ 2147483647 w 2109"/>
                <a:gd name="T45" fmla="*/ 2147483647 h 986"/>
                <a:gd name="T46" fmla="*/ 2147483647 w 2109"/>
                <a:gd name="T47" fmla="*/ 2147483647 h 986"/>
                <a:gd name="T48" fmla="*/ 2147483647 w 2109"/>
                <a:gd name="T49" fmla="*/ 2147483647 h 986"/>
                <a:gd name="T50" fmla="*/ 2147483647 w 2109"/>
                <a:gd name="T51" fmla="*/ 2147483647 h 986"/>
                <a:gd name="T52" fmla="*/ 2147483647 w 2109"/>
                <a:gd name="T53" fmla="*/ 2147483647 h 986"/>
                <a:gd name="T54" fmla="*/ 2147483647 w 2109"/>
                <a:gd name="T55" fmla="*/ 2147483647 h 986"/>
                <a:gd name="T56" fmla="*/ 2147483647 w 2109"/>
                <a:gd name="T57" fmla="*/ 2147483647 h 986"/>
                <a:gd name="T58" fmla="*/ 2147483647 w 2109"/>
                <a:gd name="T59" fmla="*/ 2147483647 h 986"/>
                <a:gd name="T60" fmla="*/ 2147483647 w 2109"/>
                <a:gd name="T61" fmla="*/ 2147483647 h 986"/>
                <a:gd name="T62" fmla="*/ 2147483647 w 2109"/>
                <a:gd name="T63" fmla="*/ 2147483647 h 986"/>
                <a:gd name="T64" fmla="*/ 2147483647 w 2109"/>
                <a:gd name="T65" fmla="*/ 2147483647 h 986"/>
                <a:gd name="T66" fmla="*/ 2147483647 w 2109"/>
                <a:gd name="T67" fmla="*/ 2147483647 h 98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09" h="986">
                  <a:moveTo>
                    <a:pt x="0" y="0"/>
                  </a:moveTo>
                  <a:lnTo>
                    <a:pt x="764" y="0"/>
                  </a:lnTo>
                  <a:lnTo>
                    <a:pt x="764" y="986"/>
                  </a:lnTo>
                  <a:lnTo>
                    <a:pt x="676" y="986"/>
                  </a:lnTo>
                  <a:lnTo>
                    <a:pt x="676" y="902"/>
                  </a:lnTo>
                  <a:lnTo>
                    <a:pt x="84" y="902"/>
                  </a:lnTo>
                  <a:lnTo>
                    <a:pt x="84" y="986"/>
                  </a:lnTo>
                  <a:lnTo>
                    <a:pt x="0" y="986"/>
                  </a:lnTo>
                  <a:lnTo>
                    <a:pt x="0" y="0"/>
                  </a:lnTo>
                  <a:close/>
                  <a:moveTo>
                    <a:pt x="84" y="80"/>
                  </a:moveTo>
                  <a:lnTo>
                    <a:pt x="84" y="279"/>
                  </a:lnTo>
                  <a:lnTo>
                    <a:pt x="676" y="279"/>
                  </a:lnTo>
                  <a:lnTo>
                    <a:pt x="676" y="80"/>
                  </a:lnTo>
                  <a:lnTo>
                    <a:pt x="84" y="80"/>
                  </a:lnTo>
                  <a:close/>
                  <a:moveTo>
                    <a:pt x="84" y="628"/>
                  </a:moveTo>
                  <a:lnTo>
                    <a:pt x="84" y="831"/>
                  </a:lnTo>
                  <a:lnTo>
                    <a:pt x="676" y="831"/>
                  </a:lnTo>
                  <a:lnTo>
                    <a:pt x="676" y="628"/>
                  </a:lnTo>
                  <a:lnTo>
                    <a:pt x="84" y="628"/>
                  </a:lnTo>
                  <a:close/>
                  <a:moveTo>
                    <a:pt x="84" y="354"/>
                  </a:moveTo>
                  <a:lnTo>
                    <a:pt x="84" y="557"/>
                  </a:lnTo>
                  <a:lnTo>
                    <a:pt x="676" y="557"/>
                  </a:lnTo>
                  <a:lnTo>
                    <a:pt x="676" y="354"/>
                  </a:lnTo>
                  <a:lnTo>
                    <a:pt x="84" y="354"/>
                  </a:lnTo>
                  <a:close/>
                  <a:moveTo>
                    <a:pt x="1963" y="482"/>
                  </a:moveTo>
                  <a:lnTo>
                    <a:pt x="2021" y="553"/>
                  </a:lnTo>
                  <a:cubicBezTo>
                    <a:pt x="2000" y="568"/>
                    <a:pt x="1958" y="594"/>
                    <a:pt x="1893" y="632"/>
                  </a:cubicBezTo>
                  <a:cubicBezTo>
                    <a:pt x="1849" y="659"/>
                    <a:pt x="1815" y="679"/>
                    <a:pt x="1791" y="694"/>
                  </a:cubicBezTo>
                  <a:cubicBezTo>
                    <a:pt x="1859" y="753"/>
                    <a:pt x="1965" y="800"/>
                    <a:pt x="2109" y="836"/>
                  </a:cubicBezTo>
                  <a:cubicBezTo>
                    <a:pt x="2089" y="856"/>
                    <a:pt x="2070" y="883"/>
                    <a:pt x="2052" y="915"/>
                  </a:cubicBezTo>
                  <a:cubicBezTo>
                    <a:pt x="1849" y="856"/>
                    <a:pt x="1704" y="756"/>
                    <a:pt x="1619" y="615"/>
                  </a:cubicBezTo>
                  <a:lnTo>
                    <a:pt x="1619" y="818"/>
                  </a:lnTo>
                  <a:cubicBezTo>
                    <a:pt x="1624" y="924"/>
                    <a:pt x="1573" y="976"/>
                    <a:pt x="1464" y="973"/>
                  </a:cubicBezTo>
                  <a:cubicBezTo>
                    <a:pt x="1423" y="973"/>
                    <a:pt x="1381" y="973"/>
                    <a:pt x="1340" y="973"/>
                  </a:cubicBezTo>
                  <a:cubicBezTo>
                    <a:pt x="1337" y="937"/>
                    <a:pt x="1331" y="908"/>
                    <a:pt x="1322" y="884"/>
                  </a:cubicBezTo>
                  <a:cubicBezTo>
                    <a:pt x="1358" y="887"/>
                    <a:pt x="1403" y="889"/>
                    <a:pt x="1459" y="889"/>
                  </a:cubicBezTo>
                  <a:cubicBezTo>
                    <a:pt x="1515" y="892"/>
                    <a:pt x="1542" y="867"/>
                    <a:pt x="1539" y="814"/>
                  </a:cubicBezTo>
                  <a:lnTo>
                    <a:pt x="1539" y="447"/>
                  </a:lnTo>
                  <a:lnTo>
                    <a:pt x="1057" y="447"/>
                  </a:lnTo>
                  <a:lnTo>
                    <a:pt x="1057" y="376"/>
                  </a:lnTo>
                  <a:lnTo>
                    <a:pt x="1849" y="376"/>
                  </a:lnTo>
                  <a:lnTo>
                    <a:pt x="1849" y="261"/>
                  </a:lnTo>
                  <a:lnTo>
                    <a:pt x="1190" y="261"/>
                  </a:lnTo>
                  <a:lnTo>
                    <a:pt x="1190" y="190"/>
                  </a:lnTo>
                  <a:lnTo>
                    <a:pt x="1849" y="190"/>
                  </a:lnTo>
                  <a:lnTo>
                    <a:pt x="1849" y="75"/>
                  </a:lnTo>
                  <a:lnTo>
                    <a:pt x="1172" y="75"/>
                  </a:lnTo>
                  <a:lnTo>
                    <a:pt x="1172" y="5"/>
                  </a:lnTo>
                  <a:lnTo>
                    <a:pt x="1932" y="5"/>
                  </a:lnTo>
                  <a:lnTo>
                    <a:pt x="1932" y="376"/>
                  </a:lnTo>
                  <a:lnTo>
                    <a:pt x="2101" y="376"/>
                  </a:lnTo>
                  <a:lnTo>
                    <a:pt x="2101" y="447"/>
                  </a:lnTo>
                  <a:lnTo>
                    <a:pt x="1619" y="447"/>
                  </a:lnTo>
                  <a:lnTo>
                    <a:pt x="1619" y="482"/>
                  </a:lnTo>
                  <a:cubicBezTo>
                    <a:pt x="1654" y="544"/>
                    <a:pt x="1692" y="597"/>
                    <a:pt x="1733" y="641"/>
                  </a:cubicBezTo>
                  <a:cubicBezTo>
                    <a:pt x="1822" y="582"/>
                    <a:pt x="1899" y="529"/>
                    <a:pt x="1963" y="482"/>
                  </a:cubicBezTo>
                  <a:close/>
                  <a:moveTo>
                    <a:pt x="1044" y="814"/>
                  </a:moveTo>
                  <a:cubicBezTo>
                    <a:pt x="1168" y="772"/>
                    <a:pt x="1318" y="716"/>
                    <a:pt x="1495" y="646"/>
                  </a:cubicBezTo>
                  <a:cubicBezTo>
                    <a:pt x="1501" y="672"/>
                    <a:pt x="1507" y="699"/>
                    <a:pt x="1513" y="725"/>
                  </a:cubicBezTo>
                  <a:cubicBezTo>
                    <a:pt x="1351" y="784"/>
                    <a:pt x="1205" y="839"/>
                    <a:pt x="1075" y="889"/>
                  </a:cubicBezTo>
                  <a:lnTo>
                    <a:pt x="1044" y="814"/>
                  </a:lnTo>
                  <a:close/>
                  <a:moveTo>
                    <a:pt x="1190" y="473"/>
                  </a:moveTo>
                  <a:cubicBezTo>
                    <a:pt x="1202" y="482"/>
                    <a:pt x="1218" y="492"/>
                    <a:pt x="1238" y="504"/>
                  </a:cubicBezTo>
                  <a:cubicBezTo>
                    <a:pt x="1303" y="545"/>
                    <a:pt x="1356" y="581"/>
                    <a:pt x="1398" y="610"/>
                  </a:cubicBezTo>
                  <a:lnTo>
                    <a:pt x="1349" y="681"/>
                  </a:lnTo>
                  <a:cubicBezTo>
                    <a:pt x="1317" y="658"/>
                    <a:pt x="1272" y="627"/>
                    <a:pt x="1216" y="588"/>
                  </a:cubicBezTo>
                  <a:cubicBezTo>
                    <a:pt x="1184" y="565"/>
                    <a:pt x="1159" y="547"/>
                    <a:pt x="1141" y="535"/>
                  </a:cubicBezTo>
                  <a:lnTo>
                    <a:pt x="1190" y="473"/>
                  </a:lnTo>
                  <a:close/>
                </a:path>
              </a:pathLst>
            </a:custGeom>
            <a:solidFill>
              <a:srgbClr val="4D4D4D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 dirty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CF91E4-2DF6-43CC-853C-8A66141190C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88824" y="2510466"/>
              <a:ext cx="973394" cy="1047750"/>
            </a:xfrm>
            <a:prstGeom prst="rect">
              <a:avLst/>
            </a:prstGeom>
            <a:solidFill>
              <a:srgbClr val="024C89"/>
            </a:solidFill>
            <a:ln w="9525">
              <a:noFill/>
              <a:miter lim="800000"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9D7DEB2-CFBF-4E7F-8A3C-E9CF23E7D7CF}"/>
                </a:ext>
              </a:extLst>
            </p:cNvPr>
            <p:cNvSpPr/>
            <p:nvPr userDrawn="1"/>
          </p:nvSpPr>
          <p:spPr bwMode="auto">
            <a:xfrm>
              <a:off x="1149559" y="2675367"/>
              <a:ext cx="614363" cy="749300"/>
            </a:xfrm>
            <a:custGeom>
              <a:avLst/>
              <a:gdLst>
                <a:gd name="T0" fmla="*/ 2147483647 w 1173"/>
                <a:gd name="T1" fmla="*/ 2147483647 h 1472"/>
                <a:gd name="T2" fmla="*/ 2147483647 w 1173"/>
                <a:gd name="T3" fmla="*/ 2147483647 h 1472"/>
                <a:gd name="T4" fmla="*/ 2147483647 w 1173"/>
                <a:gd name="T5" fmla="*/ 2147483647 h 1472"/>
                <a:gd name="T6" fmla="*/ 2147483647 w 1173"/>
                <a:gd name="T7" fmla="*/ 2147483647 h 1472"/>
                <a:gd name="T8" fmla="*/ 2147483647 w 1173"/>
                <a:gd name="T9" fmla="*/ 2147483647 h 1472"/>
                <a:gd name="T10" fmla="*/ 2147483647 w 1173"/>
                <a:gd name="T11" fmla="*/ 2147483647 h 1472"/>
                <a:gd name="T12" fmla="*/ 0 w 1173"/>
                <a:gd name="T13" fmla="*/ 2147483647 h 1472"/>
                <a:gd name="T14" fmla="*/ 2147483647 w 1173"/>
                <a:gd name="T15" fmla="*/ 2147483647 h 1472"/>
                <a:gd name="T16" fmla="*/ 2147483647 w 1173"/>
                <a:gd name="T17" fmla="*/ 2147483647 h 1472"/>
                <a:gd name="T18" fmla="*/ 2147483647 w 1173"/>
                <a:gd name="T19" fmla="*/ 2147483647 h 1472"/>
                <a:gd name="T20" fmla="*/ 2147483647 w 1173"/>
                <a:gd name="T21" fmla="*/ 2147483647 h 1472"/>
                <a:gd name="T22" fmla="*/ 2147483647 w 1173"/>
                <a:gd name="T23" fmla="*/ 2147483647 h 1472"/>
                <a:gd name="T24" fmla="*/ 2147483647 w 1173"/>
                <a:gd name="T25" fmla="*/ 2147483647 h 1472"/>
                <a:gd name="T26" fmla="*/ 2147483647 w 1173"/>
                <a:gd name="T27" fmla="*/ 2147483647 h 1472"/>
                <a:gd name="T28" fmla="*/ 2147483647 w 1173"/>
                <a:gd name="T29" fmla="*/ 2147483647 h 14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3" h="1472">
                  <a:moveTo>
                    <a:pt x="1131" y="535"/>
                  </a:moveTo>
                  <a:lnTo>
                    <a:pt x="1095" y="47"/>
                  </a:lnTo>
                  <a:cubicBezTo>
                    <a:pt x="1090" y="47"/>
                    <a:pt x="1081" y="49"/>
                    <a:pt x="1067" y="54"/>
                  </a:cubicBezTo>
                  <a:cubicBezTo>
                    <a:pt x="1043" y="64"/>
                    <a:pt x="1022" y="68"/>
                    <a:pt x="1003" y="68"/>
                  </a:cubicBezTo>
                  <a:cubicBezTo>
                    <a:pt x="975" y="68"/>
                    <a:pt x="947" y="64"/>
                    <a:pt x="919" y="54"/>
                  </a:cubicBezTo>
                  <a:cubicBezTo>
                    <a:pt x="810" y="17"/>
                    <a:pt x="714" y="0"/>
                    <a:pt x="629" y="5"/>
                  </a:cubicBezTo>
                  <a:cubicBezTo>
                    <a:pt x="214" y="24"/>
                    <a:pt x="5" y="278"/>
                    <a:pt x="0" y="768"/>
                  </a:cubicBezTo>
                  <a:cubicBezTo>
                    <a:pt x="5" y="1225"/>
                    <a:pt x="219" y="1458"/>
                    <a:pt x="643" y="1467"/>
                  </a:cubicBezTo>
                  <a:cubicBezTo>
                    <a:pt x="912" y="1472"/>
                    <a:pt x="1088" y="1345"/>
                    <a:pt x="1173" y="1086"/>
                  </a:cubicBezTo>
                  <a:lnTo>
                    <a:pt x="1088" y="1036"/>
                  </a:lnTo>
                  <a:cubicBezTo>
                    <a:pt x="999" y="1258"/>
                    <a:pt x="867" y="1369"/>
                    <a:pt x="692" y="1369"/>
                  </a:cubicBezTo>
                  <a:cubicBezTo>
                    <a:pt x="424" y="1359"/>
                    <a:pt x="290" y="1145"/>
                    <a:pt x="290" y="725"/>
                  </a:cubicBezTo>
                  <a:cubicBezTo>
                    <a:pt x="290" y="316"/>
                    <a:pt x="408" y="108"/>
                    <a:pt x="643" y="104"/>
                  </a:cubicBezTo>
                  <a:cubicBezTo>
                    <a:pt x="827" y="94"/>
                    <a:pt x="961" y="250"/>
                    <a:pt x="1046" y="570"/>
                  </a:cubicBezTo>
                  <a:lnTo>
                    <a:pt x="1131" y="535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</a:ln>
          </p:spPr>
          <p:txBody>
            <a:bodyPr/>
            <a:lstStyle/>
            <a:p>
              <a:pPr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Arial" pitchFamily="34" charset="0"/>
                <a:ea typeface="宋体" pitchFamily="2" charset="-122"/>
              </a:endParaRPr>
            </a:p>
          </p:txBody>
        </p:sp>
      </p:grpSp>
      <p:sp>
        <p:nvSpPr>
          <p:cNvPr id="70" name="矩形 69">
            <a:extLst>
              <a:ext uri="{FF2B5EF4-FFF2-40B4-BE49-F238E27FC236}">
                <a16:creationId xmlns:a16="http://schemas.microsoft.com/office/drawing/2014/main" id="{5D6C1642-EF57-4FCF-B70B-9EB19917F44C}"/>
              </a:ext>
            </a:extLst>
          </p:cNvPr>
          <p:cNvSpPr/>
          <p:nvPr userDrawn="1"/>
        </p:nvSpPr>
        <p:spPr>
          <a:xfrm>
            <a:off x="7476749" y="5022"/>
            <a:ext cx="4715435" cy="6858000"/>
          </a:xfrm>
          <a:prstGeom prst="rect">
            <a:avLst/>
          </a:prstGeom>
          <a:gradFill>
            <a:gsLst>
              <a:gs pos="100000">
                <a:srgbClr val="00B0F0">
                  <a:alpha val="0"/>
                </a:srgbClr>
              </a:gs>
              <a:gs pos="0">
                <a:srgbClr val="00B0F0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79128F3D-440D-4735-B280-F8F3A95DBEF0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77" name="图片 76">
              <a:extLst>
                <a:ext uri="{FF2B5EF4-FFF2-40B4-BE49-F238E27FC236}">
                  <a16:creationId xmlns:a16="http://schemas.microsoft.com/office/drawing/2014/main" id="{F7046826-E3C2-4516-8838-F6024486E91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199642"/>
              <a:ext cx="2336093" cy="505610"/>
            </a:xfrm>
            <a:prstGeom prst="rect">
              <a:avLst/>
            </a:prstGeom>
          </p:spPr>
        </p:pic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0E74CD5A-9833-45E4-9F7F-2C7811B867BE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7D8D081-8C72-41AC-BA3C-DA4104B63229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277687D0-C680-4AA6-AE98-5639F0C50311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81" name="平行四边形 80">
                <a:extLst>
                  <a:ext uri="{FF2B5EF4-FFF2-40B4-BE49-F238E27FC236}">
                    <a16:creationId xmlns:a16="http://schemas.microsoft.com/office/drawing/2014/main" id="{999CB817-D56E-488F-9D87-F9D19470D6A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平行四边形 81">
                <a:extLst>
                  <a:ext uri="{FF2B5EF4-FFF2-40B4-BE49-F238E27FC236}">
                    <a16:creationId xmlns:a16="http://schemas.microsoft.com/office/drawing/2014/main" id="{352F10E6-4A02-4A03-A65F-57545BCD6B65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3" name="矩形 82">
                <a:extLst>
                  <a:ext uri="{FF2B5EF4-FFF2-40B4-BE49-F238E27FC236}">
                    <a16:creationId xmlns:a16="http://schemas.microsoft.com/office/drawing/2014/main" id="{075B0E75-A6C6-4B7F-A0F1-380D72D98050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4" name="矩形 83">
                <a:extLst>
                  <a:ext uri="{FF2B5EF4-FFF2-40B4-BE49-F238E27FC236}">
                    <a16:creationId xmlns:a16="http://schemas.microsoft.com/office/drawing/2014/main" id="{4632218C-DACA-4F71-8571-397435439B21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98357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BC089EC-55AC-4306-ABB4-631B2FCECE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50274" y="1556659"/>
            <a:ext cx="6891452" cy="2816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ts val="1800"/>
              </a:spcBef>
            </a:pP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Question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？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spcBef>
                <a:spcPts val="1800"/>
              </a:spcBef>
            </a:pP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请在班级</a:t>
            </a:r>
            <a:r>
              <a:rPr lang="en-US" altLang="zh-CN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QQ</a:t>
            </a:r>
            <a:r>
              <a:rPr lang="zh-CN" altLang="en-US" sz="5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群或在上机过程中进行提问吧！</a:t>
            </a:r>
            <a:endParaRPr lang="en-US" altLang="zh-CN" sz="5400" b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8A572C4-B2D1-490F-99D9-054A5FA5FCD6}"/>
              </a:ext>
            </a:extLst>
          </p:cNvPr>
          <p:cNvGrpSpPr/>
          <p:nvPr userDrawn="1"/>
        </p:nvGrpSpPr>
        <p:grpSpPr>
          <a:xfrm>
            <a:off x="0" y="40018"/>
            <a:ext cx="12192000" cy="769441"/>
            <a:chOff x="0" y="40018"/>
            <a:chExt cx="12192000" cy="769441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2404D27-433D-4218-8491-72B29BA071A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974" b="35069"/>
            <a:stretch>
              <a:fillRect/>
            </a:stretch>
          </p:blipFill>
          <p:spPr>
            <a:xfrm>
              <a:off x="9699602" y="207560"/>
              <a:ext cx="2336093" cy="505610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6202126-DDD4-4338-BB92-B0FB2021831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EBC7994-DE28-4614-BBB3-1258C611821D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9DE37F0-6BDA-4DC2-9F0F-06B7C60DCC0F}"/>
                </a:ext>
              </a:extLst>
            </p:cNvPr>
            <p:cNvGrpSpPr/>
            <p:nvPr userDrawn="1"/>
          </p:nvGrpSpPr>
          <p:grpSpPr>
            <a:xfrm>
              <a:off x="0" y="140358"/>
              <a:ext cx="12192000" cy="573208"/>
              <a:chOff x="-750454" y="3752299"/>
              <a:chExt cx="12201236" cy="573208"/>
            </a:xfrm>
          </p:grpSpPr>
          <p:sp>
            <p:nvSpPr>
              <p:cNvPr id="9" name="平行四边形 8">
                <a:extLst>
                  <a:ext uri="{FF2B5EF4-FFF2-40B4-BE49-F238E27FC236}">
                    <a16:creationId xmlns:a16="http://schemas.microsoft.com/office/drawing/2014/main" id="{8FDA44E1-7425-41B0-ACE1-F3183CE75CBE}"/>
                  </a:ext>
                </a:extLst>
              </p:cNvPr>
              <p:cNvSpPr/>
              <p:nvPr userDrawn="1"/>
            </p:nvSpPr>
            <p:spPr>
              <a:xfrm>
                <a:off x="7860146" y="375368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平行四边形 9">
                <a:extLst>
                  <a:ext uri="{FF2B5EF4-FFF2-40B4-BE49-F238E27FC236}">
                    <a16:creationId xmlns:a16="http://schemas.microsoft.com/office/drawing/2014/main" id="{D92A7CFB-5C2D-4471-9617-5814B155CB7F}"/>
                  </a:ext>
                </a:extLst>
              </p:cNvPr>
              <p:cNvSpPr/>
              <p:nvPr userDrawn="1"/>
            </p:nvSpPr>
            <p:spPr>
              <a:xfrm>
                <a:off x="8191518" y="3752299"/>
                <a:ext cx="828964" cy="571818"/>
              </a:xfrm>
              <a:prstGeom prst="parallelogram">
                <a:avLst>
                  <a:gd name="adj" fmla="val 100414"/>
                </a:avLst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DD1E91A-2138-4239-8CDD-3DAEEDA7E6A5}"/>
                  </a:ext>
                </a:extLst>
              </p:cNvPr>
              <p:cNvSpPr/>
              <p:nvPr userDrawn="1"/>
            </p:nvSpPr>
            <p:spPr>
              <a:xfrm flipV="1">
                <a:off x="-750454" y="4289506"/>
                <a:ext cx="8856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02538672-7F3C-4866-B5C4-959756C63A35}"/>
                  </a:ext>
                </a:extLst>
              </p:cNvPr>
              <p:cNvSpPr/>
              <p:nvPr userDrawn="1"/>
            </p:nvSpPr>
            <p:spPr>
              <a:xfrm flipV="1">
                <a:off x="8750782" y="3753688"/>
                <a:ext cx="2700000" cy="360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2127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397669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EA523-30CE-4428-B8A6-CB0C805CD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9458"/>
            <a:ext cx="10515600" cy="881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40EFF2-3741-4E9F-9032-7BBA076E8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001F3-2526-4AFF-AFF5-E4CAF95025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87446182-0BAA-4592-A192-58B1F2766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4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1EA361-28EE-45BA-A8A0-3F4170BADB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4" b="35069"/>
          <a:stretch>
            <a:fillRect/>
          </a:stretch>
        </p:blipFill>
        <p:spPr>
          <a:xfrm>
            <a:off x="9858358" y="94577"/>
            <a:ext cx="2336093" cy="505610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152D85F-2470-4DDD-8049-E8F4D92CDBC5}"/>
              </a:ext>
            </a:extLst>
          </p:cNvPr>
          <p:cNvGrpSpPr/>
          <p:nvPr userDrawn="1"/>
        </p:nvGrpSpPr>
        <p:grpSpPr>
          <a:xfrm>
            <a:off x="7910376" y="-109794"/>
            <a:ext cx="1406772" cy="769441"/>
            <a:chOff x="156305" y="40018"/>
            <a:chExt cx="1406772" cy="769441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5EE19C7-A1F4-46A3-92CF-BFD9C4E79590}"/>
                </a:ext>
              </a:extLst>
            </p:cNvPr>
            <p:cNvSpPr txBox="1"/>
            <p:nvPr userDrawn="1"/>
          </p:nvSpPr>
          <p:spPr>
            <a:xfrm>
              <a:off x="156305" y="40018"/>
              <a:ext cx="39076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</a:t>
              </a:r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3C31597-CB30-47B3-A5E3-96B442662F67}"/>
                </a:ext>
              </a:extLst>
            </p:cNvPr>
            <p:cNvSpPr txBox="1"/>
            <p:nvPr userDrawn="1"/>
          </p:nvSpPr>
          <p:spPr>
            <a:xfrm>
              <a:off x="242277" y="270851"/>
              <a:ext cx="13208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Programming</a:t>
              </a:r>
              <a:endParaRPr lang="zh-CN" altLang="en-US" sz="14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77E9160-0818-4167-A9C5-1B3144D9006A}"/>
              </a:ext>
            </a:extLst>
          </p:cNvPr>
          <p:cNvGrpSpPr/>
          <p:nvPr userDrawn="1"/>
        </p:nvGrpSpPr>
        <p:grpSpPr>
          <a:xfrm>
            <a:off x="0" y="26953"/>
            <a:ext cx="12192000" cy="574380"/>
            <a:chOff x="-750455" y="3752098"/>
            <a:chExt cx="12201238" cy="574380"/>
          </a:xfrm>
        </p:grpSpPr>
        <p:sp>
          <p:nvSpPr>
            <p:cNvPr id="17" name="平行四边形 16">
              <a:extLst>
                <a:ext uri="{FF2B5EF4-FFF2-40B4-BE49-F238E27FC236}">
                  <a16:creationId xmlns:a16="http://schemas.microsoft.com/office/drawing/2014/main" id="{E5C0772E-2BDB-46E3-BBF3-98B56199E3AA}"/>
                </a:ext>
              </a:extLst>
            </p:cNvPr>
            <p:cNvSpPr/>
            <p:nvPr userDrawn="1"/>
          </p:nvSpPr>
          <p:spPr>
            <a:xfrm>
              <a:off x="8276398" y="3753689"/>
              <a:ext cx="828964" cy="571818"/>
            </a:xfrm>
            <a:prstGeom prst="parallelogram">
              <a:avLst>
                <a:gd name="adj" fmla="val 10041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平行四边形 17">
              <a:extLst>
                <a:ext uri="{FF2B5EF4-FFF2-40B4-BE49-F238E27FC236}">
                  <a16:creationId xmlns:a16="http://schemas.microsoft.com/office/drawing/2014/main" id="{9DD3C377-F1A7-48D3-AE26-705C40158D01}"/>
                </a:ext>
              </a:extLst>
            </p:cNvPr>
            <p:cNvSpPr/>
            <p:nvPr userDrawn="1"/>
          </p:nvSpPr>
          <p:spPr>
            <a:xfrm>
              <a:off x="8603003" y="3752299"/>
              <a:ext cx="828964" cy="571818"/>
            </a:xfrm>
            <a:prstGeom prst="parallelogram">
              <a:avLst>
                <a:gd name="adj" fmla="val 100414"/>
              </a:avLst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D5F80F0-A7FB-45D8-A02F-17A28AEF4443}"/>
                </a:ext>
              </a:extLst>
            </p:cNvPr>
            <p:cNvSpPr/>
            <p:nvPr userDrawn="1"/>
          </p:nvSpPr>
          <p:spPr>
            <a:xfrm flipV="1">
              <a:off x="-750455" y="4280759"/>
              <a:ext cx="9281785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0C81418-DA7F-4965-A6CC-440B3B40C695}"/>
                </a:ext>
              </a:extLst>
            </p:cNvPr>
            <p:cNvSpPr/>
            <p:nvPr userDrawn="1"/>
          </p:nvSpPr>
          <p:spPr>
            <a:xfrm flipV="1">
              <a:off x="9173856" y="3752098"/>
              <a:ext cx="2276927" cy="4571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58F14C-64CB-4F88-AFF8-AB0B4D90A2A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9448800" y="64992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zh-CN" dirty="0">
                <a:solidFill>
                  <a:prstClr val="black">
                    <a:tint val="75000"/>
                  </a:prstClr>
                </a:solidFill>
              </a:rPr>
              <a:t>/20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00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5ACF6331-42CF-49B5-93BA-B5EACB963342}"/>
              </a:ext>
            </a:extLst>
          </p:cNvPr>
          <p:cNvSpPr/>
          <p:nvPr userDrawn="1"/>
        </p:nvSpPr>
        <p:spPr>
          <a:xfrm rot="16200000">
            <a:off x="5645523" y="-5645523"/>
            <a:ext cx="900954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906814-CB77-42CE-8722-740E4FA37C6F}"/>
              </a:ext>
            </a:extLst>
          </p:cNvPr>
          <p:cNvSpPr/>
          <p:nvPr userDrawn="1"/>
        </p:nvSpPr>
        <p:spPr>
          <a:xfrm rot="5400000">
            <a:off x="5731669" y="406904"/>
            <a:ext cx="728662" cy="12192001"/>
          </a:xfrm>
          <a:prstGeom prst="rect">
            <a:avLst/>
          </a:prstGeom>
          <a:gradFill>
            <a:gsLst>
              <a:gs pos="100000">
                <a:srgbClr val="00A3FF">
                  <a:alpha val="0"/>
                </a:srgbClr>
              </a:gs>
              <a:gs pos="0">
                <a:srgbClr val="00A3FF">
                  <a:alpha val="30000"/>
                </a:srgbClr>
              </a:gs>
            </a:gsLst>
            <a:lin ang="108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082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00" r:id="rId2"/>
    <p:sldLayoutId id="214748370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525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499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70C93E0D-3C8C-4661-859E-0B538B5BB418}"/>
              </a:ext>
            </a:extLst>
          </p:cNvPr>
          <p:cNvGrpSpPr/>
          <p:nvPr/>
        </p:nvGrpSpPr>
        <p:grpSpPr>
          <a:xfrm>
            <a:off x="106532" y="682968"/>
            <a:ext cx="7396887" cy="648512"/>
            <a:chOff x="680746" y="4694799"/>
            <a:chExt cx="6692380" cy="648512"/>
          </a:xfrm>
        </p:grpSpPr>
        <p:sp>
          <p:nvSpPr>
            <p:cNvPr id="4" name="Text Box 88">
              <a:extLst>
                <a:ext uri="{FF2B5EF4-FFF2-40B4-BE49-F238E27FC236}">
                  <a16:creationId xmlns:a16="http://schemas.microsoft.com/office/drawing/2014/main" id="{BF8FE6F4-6C19-422B-B7EC-F778874A30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036" y="4694799"/>
              <a:ext cx="6620090" cy="648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</a:t>
              </a:r>
              <a:r>
                <a:rPr kumimoji="1" lang="zh-CN" altLang="en-US" sz="3600" dirty="0">
                  <a:solidFill>
                    <a:srgbClr val="FF3300"/>
                  </a:solidFill>
                  <a:ea typeface="隶书" pitchFamily="49" charset="-122"/>
                </a:rPr>
                <a:t>什么是文件</a:t>
              </a:r>
              <a:r>
                <a:rPr kumimoji="1" lang="zh-CN" altLang="en-US" sz="3600" dirty="0">
                  <a:solidFill>
                    <a:srgbClr val="3333FF"/>
                  </a:solidFill>
                  <a:ea typeface="隶书" pitchFamily="49" charset="-122"/>
                </a:rPr>
                <a:t>？</a:t>
              </a:r>
              <a:endParaRPr kumimoji="1" lang="en-US" altLang="zh-CN" sz="2400" dirty="0">
                <a:solidFill>
                  <a:srgbClr val="3333FF"/>
                </a:solidFill>
                <a:ea typeface="隶书" pitchFamily="49" charset="-122"/>
              </a:endParaRPr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D9956E2-9E02-4618-BAC0-5954F353A5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0746" y="4721937"/>
              <a:ext cx="594823" cy="621374"/>
            </a:xfrm>
            <a:prstGeom prst="rect">
              <a:avLst/>
            </a:prstGeom>
          </p:spPr>
        </p:pic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266CC0C6-027D-4E1B-9257-D6614FF6122A}"/>
              </a:ext>
            </a:extLst>
          </p:cNvPr>
          <p:cNvGrpSpPr/>
          <p:nvPr/>
        </p:nvGrpSpPr>
        <p:grpSpPr>
          <a:xfrm>
            <a:off x="106532" y="2612024"/>
            <a:ext cx="7396887" cy="648512"/>
            <a:chOff x="680746" y="4694799"/>
            <a:chExt cx="6692380" cy="648512"/>
          </a:xfrm>
        </p:grpSpPr>
        <p:sp>
          <p:nvSpPr>
            <p:cNvPr id="7" name="Text Box 88">
              <a:extLst>
                <a:ext uri="{FF2B5EF4-FFF2-40B4-BE49-F238E27FC236}">
                  <a16:creationId xmlns:a16="http://schemas.microsoft.com/office/drawing/2014/main" id="{3C6848AB-4B90-4E75-985C-B37FEDBDB0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036" y="4694799"/>
              <a:ext cx="6620090" cy="648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</a:t>
              </a:r>
              <a:r>
                <a:rPr kumimoji="1" lang="zh-CN" altLang="en-US" sz="3600" dirty="0">
                  <a:solidFill>
                    <a:srgbClr val="FF3300"/>
                  </a:solidFill>
                  <a:ea typeface="隶书" pitchFamily="49" charset="-122"/>
                </a:rPr>
                <a:t>为什么要使用文件</a:t>
              </a:r>
              <a:r>
                <a:rPr kumimoji="1" lang="zh-CN" altLang="en-US" sz="3600" dirty="0">
                  <a:solidFill>
                    <a:srgbClr val="3333FF"/>
                  </a:solidFill>
                  <a:ea typeface="隶书" pitchFamily="49" charset="-122"/>
                </a:rPr>
                <a:t>？</a:t>
              </a:r>
              <a:endParaRPr kumimoji="1" lang="en-US" altLang="zh-CN" sz="2400" dirty="0">
                <a:solidFill>
                  <a:srgbClr val="3333FF"/>
                </a:solidFill>
                <a:ea typeface="隶书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6D4B3C4-E41C-41FC-A8A7-C8DAE211A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0746" y="4721937"/>
              <a:ext cx="594823" cy="621374"/>
            </a:xfrm>
            <a:prstGeom prst="rect">
              <a:avLst/>
            </a:prstGeom>
          </p:spPr>
        </p:pic>
      </p:grpSp>
      <p:sp>
        <p:nvSpPr>
          <p:cNvPr id="9" name="Text Box 88">
            <a:extLst>
              <a:ext uri="{FF2B5EF4-FFF2-40B4-BE49-F238E27FC236}">
                <a16:creationId xmlns:a16="http://schemas.microsoft.com/office/drawing/2014/main" id="{228D8DBE-BD4B-4053-A000-EC1CBF8E9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72" y="1331480"/>
            <a:ext cx="11428028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文件是指存储在外部介质上的一组数据的集合，这些数据可以被读取或写入。</a:t>
            </a:r>
          </a:p>
        </p:txBody>
      </p:sp>
      <p:sp>
        <p:nvSpPr>
          <p:cNvPr id="10" name="Text Box 88">
            <a:extLst>
              <a:ext uri="{FF2B5EF4-FFF2-40B4-BE49-F238E27FC236}">
                <a16:creationId xmlns:a16="http://schemas.microsoft.com/office/drawing/2014/main" id="{29007CAF-638D-45EB-A013-BBA7579EE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72" y="3422632"/>
            <a:ext cx="11428028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文件中的数据可反复使用。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r>
              <a:rPr kumimoji="1" lang="zh-CN" altLang="en-US" sz="2800" b="1" dirty="0">
                <a:latin typeface="+mn-ea"/>
                <a:ea typeface="+mn-ea"/>
              </a:rPr>
              <a:t>文件中的数据可永久保存。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r>
              <a:rPr kumimoji="1" lang="zh-CN" altLang="en-US" sz="2800" b="1" dirty="0">
                <a:latin typeface="+mn-ea"/>
                <a:ea typeface="+mn-ea"/>
              </a:rPr>
              <a:t>文件中的数据可共享。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3265763A-7086-4B1C-A51D-FA6F4377C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127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8">
            <a:extLst>
              <a:ext uri="{FF2B5EF4-FFF2-40B4-BE49-F238E27FC236}">
                <a16:creationId xmlns:a16="http://schemas.microsoft.com/office/drawing/2014/main" id="{C54E927C-9B14-40BB-A73C-18CCBABE4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39623"/>
            <a:ext cx="12192000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数据由字符组成的文件称为文本文件，通常包含可打印字符和控制字符。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r>
              <a:rPr kumimoji="1" lang="zh-CN" altLang="en-US" sz="2800" b="1" dirty="0">
                <a:latin typeface="+mn-ea"/>
                <a:ea typeface="+mn-ea"/>
              </a:rPr>
              <a:t>在文本文件中，内存中的数据先被转换为等价的字符形式，存储每个字符的</a:t>
            </a:r>
            <a:r>
              <a:rPr kumimoji="1" lang="en-US" altLang="zh-CN" sz="2800" b="1" dirty="0">
                <a:latin typeface="+mn-ea"/>
                <a:ea typeface="+mn-ea"/>
              </a:rPr>
              <a:t>ASCII</a:t>
            </a:r>
            <a:r>
              <a:rPr kumimoji="1" lang="zh-CN" altLang="en-US" sz="2800" b="1" dirty="0">
                <a:latin typeface="+mn-ea"/>
                <a:ea typeface="+mn-ea"/>
              </a:rPr>
              <a:t>码值。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6B32F2-C576-4571-B415-25A2CEA89B92}"/>
              </a:ext>
            </a:extLst>
          </p:cNvPr>
          <p:cNvSpPr txBox="1"/>
          <p:nvPr/>
        </p:nvSpPr>
        <p:spPr>
          <a:xfrm>
            <a:off x="2380081" y="-25621"/>
            <a:ext cx="5549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文本文件和二进制文件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86EB35-0492-47D0-B4DC-86842BDC8F5A}"/>
              </a:ext>
            </a:extLst>
          </p:cNvPr>
          <p:cNvSpPr/>
          <p:nvPr/>
        </p:nvSpPr>
        <p:spPr>
          <a:xfrm>
            <a:off x="0" y="616139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文本文件（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ASCII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文件、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文件）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" name="Text Box 88">
            <a:extLst>
              <a:ext uri="{FF2B5EF4-FFF2-40B4-BE49-F238E27FC236}">
                <a16:creationId xmlns:a16="http://schemas.microsoft.com/office/drawing/2014/main" id="{943173BD-D464-4FA7-9B3E-F5455F1936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144094"/>
            <a:ext cx="12192000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数据由二进制数据组成的文件称为二进制文件。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r>
              <a:rPr kumimoji="1" lang="zh-CN" altLang="en-US" sz="2800" b="1" dirty="0">
                <a:latin typeface="+mn-ea"/>
                <a:ea typeface="+mn-ea"/>
              </a:rPr>
              <a:t>在二进制文件中，存储的是内存中的原始二进制数据。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302E47-E37C-43F4-9361-D289B19049D3}"/>
              </a:ext>
            </a:extLst>
          </p:cNvPr>
          <p:cNvSpPr/>
          <p:nvPr/>
        </p:nvSpPr>
        <p:spPr>
          <a:xfrm>
            <a:off x="0" y="2620610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二进制文件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A07316-4D02-4A4C-915F-6053F7601CE5}"/>
              </a:ext>
            </a:extLst>
          </p:cNvPr>
          <p:cNvSpPr txBox="1"/>
          <p:nvPr/>
        </p:nvSpPr>
        <p:spPr>
          <a:xfrm>
            <a:off x="2233251" y="4717677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13297</a:t>
            </a:r>
            <a:endParaRPr lang="zh-CN" altLang="en-US" b="1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D7852F5-48D2-4E44-B374-3ED440F49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09229"/>
              </p:ext>
            </p:extLst>
          </p:nvPr>
        </p:nvGraphicFramePr>
        <p:xfrm>
          <a:off x="105242" y="5081766"/>
          <a:ext cx="50498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482">
                  <a:extLst>
                    <a:ext uri="{9D8B030D-6E8A-4147-A177-3AD203B41FA5}">
                      <a16:colId xmlns:a16="http://schemas.microsoft.com/office/drawing/2014/main" val="629663877"/>
                    </a:ext>
                  </a:extLst>
                </a:gridCol>
                <a:gridCol w="1262482">
                  <a:extLst>
                    <a:ext uri="{9D8B030D-6E8A-4147-A177-3AD203B41FA5}">
                      <a16:colId xmlns:a16="http://schemas.microsoft.com/office/drawing/2014/main" val="697491970"/>
                    </a:ext>
                  </a:extLst>
                </a:gridCol>
                <a:gridCol w="1262482">
                  <a:extLst>
                    <a:ext uri="{9D8B030D-6E8A-4147-A177-3AD203B41FA5}">
                      <a16:colId xmlns:a16="http://schemas.microsoft.com/office/drawing/2014/main" val="4229580474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766572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00110011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11110001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242098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C34B1D0-1AD1-40B0-B43A-E5C3A60EAF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669340"/>
              </p:ext>
            </p:extLst>
          </p:nvPr>
        </p:nvGraphicFramePr>
        <p:xfrm>
          <a:off x="5943815" y="4508761"/>
          <a:ext cx="612101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380">
                  <a:extLst>
                    <a:ext uri="{9D8B030D-6E8A-4147-A177-3AD203B41FA5}">
                      <a16:colId xmlns:a16="http://schemas.microsoft.com/office/drawing/2014/main" val="1134813741"/>
                    </a:ext>
                  </a:extLst>
                </a:gridCol>
                <a:gridCol w="1214683">
                  <a:extLst>
                    <a:ext uri="{9D8B030D-6E8A-4147-A177-3AD203B41FA5}">
                      <a16:colId xmlns:a16="http://schemas.microsoft.com/office/drawing/2014/main" val="629663877"/>
                    </a:ext>
                  </a:extLst>
                </a:gridCol>
                <a:gridCol w="1214683">
                  <a:extLst>
                    <a:ext uri="{9D8B030D-6E8A-4147-A177-3AD203B41FA5}">
                      <a16:colId xmlns:a16="http://schemas.microsoft.com/office/drawing/2014/main" val="697491970"/>
                    </a:ext>
                  </a:extLst>
                </a:gridCol>
                <a:gridCol w="1214683">
                  <a:extLst>
                    <a:ext uri="{9D8B030D-6E8A-4147-A177-3AD203B41FA5}">
                      <a16:colId xmlns:a16="http://schemas.microsoft.com/office/drawing/2014/main" val="4229580474"/>
                    </a:ext>
                  </a:extLst>
                </a:gridCol>
                <a:gridCol w="1214585">
                  <a:extLst>
                    <a:ext uri="{9D8B030D-6E8A-4147-A177-3AD203B41FA5}">
                      <a16:colId xmlns:a16="http://schemas.microsoft.com/office/drawing/2014/main" val="766572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00110001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00110011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00110010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00111011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00110111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242098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9C91137A-FD11-448F-99A3-5E2B6F66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6953115"/>
              </p:ext>
            </p:extLst>
          </p:nvPr>
        </p:nvGraphicFramePr>
        <p:xfrm>
          <a:off x="5943815" y="5604871"/>
          <a:ext cx="492245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2482">
                  <a:extLst>
                    <a:ext uri="{9D8B030D-6E8A-4147-A177-3AD203B41FA5}">
                      <a16:colId xmlns:a16="http://schemas.microsoft.com/office/drawing/2014/main" val="629663877"/>
                    </a:ext>
                  </a:extLst>
                </a:gridCol>
                <a:gridCol w="1227489">
                  <a:extLst>
                    <a:ext uri="{9D8B030D-6E8A-4147-A177-3AD203B41FA5}">
                      <a16:colId xmlns:a16="http://schemas.microsoft.com/office/drawing/2014/main" val="697491970"/>
                    </a:ext>
                  </a:extLst>
                </a:gridCol>
                <a:gridCol w="1216241">
                  <a:extLst>
                    <a:ext uri="{9D8B030D-6E8A-4147-A177-3AD203B41FA5}">
                      <a16:colId xmlns:a16="http://schemas.microsoft.com/office/drawing/2014/main" val="4229580474"/>
                    </a:ext>
                  </a:extLst>
                </a:gridCol>
                <a:gridCol w="1216241">
                  <a:extLst>
                    <a:ext uri="{9D8B030D-6E8A-4147-A177-3AD203B41FA5}">
                      <a16:colId xmlns:a16="http://schemas.microsoft.com/office/drawing/2014/main" val="7665725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00110011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</a:rPr>
                        <a:t>11110001</a:t>
                      </a:r>
                      <a:endParaRPr lang="zh-CN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2242098"/>
                  </a:ext>
                </a:extLst>
              </a:tr>
            </a:tbl>
          </a:graphicData>
        </a:graphic>
      </p:graphicFrame>
      <p:sp>
        <p:nvSpPr>
          <p:cNvPr id="19" name="文本框 18">
            <a:extLst>
              <a:ext uri="{FF2B5EF4-FFF2-40B4-BE49-F238E27FC236}">
                <a16:creationId xmlns:a16="http://schemas.microsoft.com/office/drawing/2014/main" id="{C72E5598-9E9B-49C7-BF7F-3179C498A2D0}"/>
              </a:ext>
            </a:extLst>
          </p:cNvPr>
          <p:cNvSpPr txBox="1"/>
          <p:nvPr/>
        </p:nvSpPr>
        <p:spPr>
          <a:xfrm>
            <a:off x="6766980" y="5235539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二进制文件中</a:t>
            </a:r>
            <a:r>
              <a:rPr lang="en-US" altLang="zh-CN" b="1" dirty="0"/>
              <a:t>13297</a:t>
            </a:r>
            <a:r>
              <a:rPr lang="zh-CN" altLang="en-US" b="1" dirty="0"/>
              <a:t>的存储形式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FD52058-5797-46EF-A278-110063A61EBE}"/>
              </a:ext>
            </a:extLst>
          </p:cNvPr>
          <p:cNvSpPr txBox="1"/>
          <p:nvPr/>
        </p:nvSpPr>
        <p:spPr>
          <a:xfrm>
            <a:off x="7417994" y="4152823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/>
              <a:t>文本文件中</a:t>
            </a:r>
            <a:r>
              <a:rPr lang="en-US" altLang="zh-CN" b="1" dirty="0"/>
              <a:t>13297</a:t>
            </a:r>
            <a:r>
              <a:rPr lang="zh-CN" altLang="en-US" b="1" dirty="0"/>
              <a:t>的存储形式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54FED72-F895-417A-9BD2-78C5484F964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5155068" y="4694181"/>
            <a:ext cx="788747" cy="5730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2238ECF-C1BE-4347-8B39-08B9488DB453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5155068" y="5267186"/>
            <a:ext cx="788747" cy="5231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7035846-0CCB-4E5B-BE28-F0D051B82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11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E2D85E-3E91-4029-9B1E-A7348632F3D3}"/>
              </a:ext>
            </a:extLst>
          </p:cNvPr>
          <p:cNvSpPr txBox="1"/>
          <p:nvPr/>
        </p:nvSpPr>
        <p:spPr>
          <a:xfrm>
            <a:off x="2380081" y="-25621"/>
            <a:ext cx="5549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文件类型指针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E22070AE-B291-4315-815E-23E0F90DC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程序中每个正在使用的文件均需要声明一个</a:t>
            </a:r>
            <a:r>
              <a:rPr kumimoji="1" lang="en-US" altLang="zh-CN" sz="2800" b="1" dirty="0">
                <a:latin typeface="+mn-ea"/>
                <a:ea typeface="+mn-ea"/>
              </a:rPr>
              <a:t>FILE</a:t>
            </a:r>
            <a:r>
              <a:rPr kumimoji="1" lang="zh-CN" altLang="en-US" sz="2800" b="1" dirty="0">
                <a:latin typeface="+mn-ea"/>
                <a:ea typeface="+mn-ea"/>
              </a:rPr>
              <a:t>类型的结构体变量，用于存放文件的有关信息。</a:t>
            </a:r>
            <a:r>
              <a:rPr kumimoji="1" lang="en-US" altLang="zh-CN" sz="2800" b="1" dirty="0">
                <a:latin typeface="+mn-ea"/>
                <a:ea typeface="+mn-ea"/>
              </a:rPr>
              <a:t>FILE</a:t>
            </a:r>
            <a:r>
              <a:rPr kumimoji="1" lang="zh-CN" altLang="en-US" sz="2800" b="1" dirty="0">
                <a:latin typeface="+mn-ea"/>
                <a:ea typeface="+mn-ea"/>
              </a:rPr>
              <a:t>类型的指针变量的一般声明形式为：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002A4BB-8256-408A-9E50-351D85A38689}"/>
              </a:ext>
            </a:extLst>
          </p:cNvPr>
          <p:cNvSpPr txBox="1">
            <a:spLocks noChangeArrowheads="1"/>
          </p:cNvSpPr>
          <p:nvPr/>
        </p:nvSpPr>
        <p:spPr>
          <a:xfrm>
            <a:off x="3655917" y="1772637"/>
            <a:ext cx="2868259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文件标识符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D06A76-2845-4E9F-B77E-03DEAFD23BEE}"/>
              </a:ext>
            </a:extLst>
          </p:cNvPr>
          <p:cNvSpPr/>
          <p:nvPr/>
        </p:nvSpPr>
        <p:spPr>
          <a:xfrm>
            <a:off x="2842132" y="2295857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9048412-F93D-482D-A35E-4E6A1A0092C8}"/>
              </a:ext>
            </a:extLst>
          </p:cNvPr>
          <p:cNvSpPr txBox="1">
            <a:spLocks noChangeArrowheads="1"/>
          </p:cNvSpPr>
          <p:nvPr/>
        </p:nvSpPr>
        <p:spPr>
          <a:xfrm>
            <a:off x="3665149" y="2796054"/>
            <a:ext cx="2859028" cy="523220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*</a:t>
            </a:r>
            <a:r>
              <a:rPr lang="en-US" altLang="zh-CN" b="1" dirty="0"/>
              <a:t>fp;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A75E639-2349-4C50-A1DE-4ED5E011B018}"/>
              </a:ext>
            </a:extLst>
          </p:cNvPr>
          <p:cNvGrpSpPr/>
          <p:nvPr/>
        </p:nvGrpSpPr>
        <p:grpSpPr>
          <a:xfrm>
            <a:off x="0" y="3545696"/>
            <a:ext cx="12192000" cy="2734962"/>
            <a:chOff x="5682501" y="4377551"/>
            <a:chExt cx="6523772" cy="2734962"/>
          </a:xfrm>
        </p:grpSpPr>
        <p:sp>
          <p:nvSpPr>
            <p:cNvPr id="10" name="Text Box 88">
              <a:extLst>
                <a:ext uri="{FF2B5EF4-FFF2-40B4-BE49-F238E27FC236}">
                  <a16:creationId xmlns:a16="http://schemas.microsoft.com/office/drawing/2014/main" id="{51A78826-3A01-48AB-987E-8CC46E85B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9465" y="4432676"/>
              <a:ext cx="6506808" cy="2679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注意：</a:t>
              </a:r>
              <a:endParaRPr kumimoji="1" lang="en-US" altLang="zh-CN" sz="2400" dirty="0">
                <a:solidFill>
                  <a:srgbClr val="FF0000"/>
                </a:solidFill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FILE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类型不需要用户自己定义，它由系统事先定义在头文件</a:t>
              </a:r>
              <a:r>
                <a:rPr kumimoji="1" lang="en-US" altLang="zh-CN" sz="2800" dirty="0" err="1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stdio.h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中。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在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C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程序中，凡是要对已打开的文件进行操作，都需要通过指向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FILE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类型的结构体指针变量来执行。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如果需要同时处理多个文件，每一个文件都需要单独声明一个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FILE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类型的指针变量。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</p:txBody>
        </p:sp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D7DC686-4DBC-4FD0-87EA-C8AD3D9716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2501" y="4377551"/>
              <a:ext cx="333178" cy="558595"/>
            </a:xfrm>
            <a:prstGeom prst="rect">
              <a:avLst/>
            </a:prstGeom>
          </p:spPr>
        </p:pic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7284B-2306-4A21-82FA-2BC79122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952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6E2D85E-3E91-4029-9B1E-A7348632F3D3}"/>
              </a:ext>
            </a:extLst>
          </p:cNvPr>
          <p:cNvSpPr txBox="1"/>
          <p:nvPr/>
        </p:nvSpPr>
        <p:spPr>
          <a:xfrm>
            <a:off x="2380081" y="-25621"/>
            <a:ext cx="5549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标准</a:t>
            </a:r>
            <a:r>
              <a:rPr lang="en-US" altLang="zh-CN" sz="3600" b="1" dirty="0">
                <a:solidFill>
                  <a:srgbClr val="200AC4"/>
                </a:solidFill>
                <a:latin typeface="Bookman Old Style" panose="02050604050505020204" pitchFamily="18" charset="0"/>
                <a:ea typeface="隶书" pitchFamily="49" charset="-122"/>
              </a:rPr>
              <a:t>I/O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设备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C0782081-4927-4713-938A-F3F691239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224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在</a:t>
            </a:r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语言中，操作系统把终端设备</a:t>
            </a:r>
            <a:r>
              <a:rPr kumimoji="1" lang="en-US" altLang="zh-CN" sz="2800" b="1" dirty="0">
                <a:latin typeface="+mn-ea"/>
                <a:ea typeface="+mn-ea"/>
              </a:rPr>
              <a:t>(</a:t>
            </a:r>
            <a:r>
              <a:rPr kumimoji="1" lang="zh-CN" altLang="en-US" sz="2800" b="1" dirty="0">
                <a:latin typeface="+mn-ea"/>
                <a:ea typeface="+mn-ea"/>
              </a:rPr>
              <a:t>如显示器、键盘等</a:t>
            </a:r>
            <a:r>
              <a:rPr kumimoji="1" lang="en-US" altLang="zh-CN" sz="2800" b="1" dirty="0">
                <a:latin typeface="+mn-ea"/>
                <a:ea typeface="+mn-ea"/>
              </a:rPr>
              <a:t>)</a:t>
            </a:r>
            <a:r>
              <a:rPr kumimoji="1" lang="zh-CN" altLang="en-US" sz="2800" b="1" dirty="0">
                <a:latin typeface="+mn-ea"/>
                <a:ea typeface="+mn-ea"/>
              </a:rPr>
              <a:t>看作文件来进行管理，这些文件称为标准设备文件。对终端设备的输入</a:t>
            </a:r>
            <a:r>
              <a:rPr kumimoji="1" lang="en-US" altLang="zh-CN" sz="2800" b="1" dirty="0">
                <a:latin typeface="+mn-ea"/>
                <a:ea typeface="+mn-ea"/>
              </a:rPr>
              <a:t>/</a:t>
            </a:r>
            <a:r>
              <a:rPr kumimoji="1" lang="zh-CN" altLang="en-US" sz="2800" b="1" dirty="0">
                <a:latin typeface="+mn-ea"/>
                <a:ea typeface="+mn-ea"/>
              </a:rPr>
              <a:t>输出操作等同于对文件的读写操作。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234350" indent="-514350">
              <a:buClr>
                <a:srgbClr val="00B0F0"/>
              </a:buClr>
              <a:buFont typeface="+mj-ea"/>
              <a:buAutoNum type="circleNumDbPlain"/>
            </a:pPr>
            <a:r>
              <a:rPr kumimoji="1" lang="zh-CN" altLang="en-US" sz="2800" dirty="0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显示器</a:t>
            </a:r>
            <a:r>
              <a:rPr kumimoji="1" lang="zh-CN" altLang="en-US" sz="28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：标准输出设备</a:t>
            </a:r>
            <a:endParaRPr kumimoji="1" lang="en-US" altLang="zh-CN" sz="2800" b="1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pPr marL="1234350" indent="-514350">
              <a:buClr>
                <a:srgbClr val="00B0F0"/>
              </a:buClr>
              <a:buFont typeface="+mj-ea"/>
              <a:buAutoNum type="circleNumDbPlain"/>
            </a:pPr>
            <a:r>
              <a:rPr kumimoji="1" lang="en-US" altLang="zh-CN" sz="28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    </a:t>
            </a:r>
            <a:r>
              <a:rPr kumimoji="1" lang="zh-CN" altLang="en-US" sz="2800" dirty="0">
                <a:solidFill>
                  <a:srgbClr val="00B0F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键盘</a:t>
            </a:r>
            <a:r>
              <a:rPr kumimoji="1" lang="zh-CN" altLang="en-US" sz="2800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：标准输入设备</a:t>
            </a:r>
          </a:p>
        </p:txBody>
      </p:sp>
      <p:sp>
        <p:nvSpPr>
          <p:cNvPr id="5" name="Text Box 88">
            <a:extLst>
              <a:ext uri="{FF2B5EF4-FFF2-40B4-BE49-F238E27FC236}">
                <a16:creationId xmlns:a16="http://schemas.microsoft.com/office/drawing/2014/main" id="{0B9D7827-BEF5-4BF0-8A43-1525B2EB2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39559"/>
            <a:ext cx="12192000" cy="1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语言中预定义了三个标准设备文件指针，它们是：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720000" indent="-514350">
              <a:buClr>
                <a:srgbClr val="00B0F0"/>
              </a:buClr>
              <a:buFont typeface="+mj-ea"/>
              <a:buAutoNum type="circleNumDbPlain"/>
            </a:pPr>
            <a:r>
              <a:rPr kumimoji="1" lang="en-US" altLang="zh-CN" sz="2800" b="1" dirty="0">
                <a:latin typeface="Consolas" panose="020B0609020204030204" pitchFamily="49" charset="0"/>
                <a:ea typeface="隶书" panose="02010509060101010101" pitchFamily="49" charset="-122"/>
              </a:rPr>
              <a:t> </a:t>
            </a:r>
            <a:r>
              <a:rPr kumimoji="1" lang="en-US" altLang="zh-CN" sz="2800" dirty="0">
                <a:solidFill>
                  <a:srgbClr val="00B0F0"/>
                </a:solidFill>
                <a:latin typeface="Consolas" panose="020B0609020204030204" pitchFamily="49" charset="0"/>
                <a:ea typeface="隶书" panose="02010509060101010101" pitchFamily="49" charset="-122"/>
                <a:cs typeface="Arial" panose="020B0604020202020204" pitchFamily="34" charset="0"/>
              </a:rPr>
              <a:t>stdin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: 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指向标准输入设备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键盘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  <a:p>
            <a:pPr marL="720000" indent="-514350">
              <a:buFont typeface="+mj-ea"/>
              <a:buAutoNum type="circleNumDbPlain"/>
            </a:pPr>
            <a:r>
              <a:rPr kumimoji="1" lang="en-US" altLang="zh-CN" sz="2800" dirty="0">
                <a:solidFill>
                  <a:srgbClr val="00B0F0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stdout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: 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指向标准输出设备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显示器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  <a:p>
            <a:pPr marL="720000" indent="-514350">
              <a:buFont typeface="+mj-ea"/>
              <a:buAutoNum type="circleNumDbPlain"/>
            </a:pPr>
            <a:r>
              <a:rPr kumimoji="1" lang="en-US" altLang="zh-CN" sz="2800" dirty="0">
                <a:solidFill>
                  <a:srgbClr val="00B0F0"/>
                </a:solidFill>
                <a:latin typeface="Consolas" panose="020B0609020204030204" pitchFamily="49" charset="0"/>
                <a:ea typeface="隶书" panose="02010509060101010101" pitchFamily="49" charset="-122"/>
              </a:rPr>
              <a:t>stderr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: 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指向标准输出设备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显示器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D24C0A7-A569-49A3-AC42-A2E9321FB079}"/>
              </a:ext>
            </a:extLst>
          </p:cNvPr>
          <p:cNvGrpSpPr/>
          <p:nvPr/>
        </p:nvGrpSpPr>
        <p:grpSpPr>
          <a:xfrm>
            <a:off x="0" y="4661826"/>
            <a:ext cx="12192000" cy="1873188"/>
            <a:chOff x="5682501" y="4377551"/>
            <a:chExt cx="6523772" cy="1873188"/>
          </a:xfrm>
        </p:grpSpPr>
        <p:sp>
          <p:nvSpPr>
            <p:cNvPr id="7" name="Text Box 88">
              <a:extLst>
                <a:ext uri="{FF2B5EF4-FFF2-40B4-BE49-F238E27FC236}">
                  <a16:creationId xmlns:a16="http://schemas.microsoft.com/office/drawing/2014/main" id="{C6CFEE4B-7B5A-4544-839C-05C7BEF3A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9465" y="4432676"/>
              <a:ext cx="6506808" cy="1818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注意：</a:t>
              </a:r>
              <a:endParaRPr kumimoji="1" lang="en-US" altLang="zh-CN" sz="2400" dirty="0">
                <a:solidFill>
                  <a:srgbClr val="FF0000"/>
                </a:solidFill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标准设备文件由系统自动控制进行打开和关闭。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标准设备文件指针名称由系统定义和命名，在程序中可直接使用，无需进行额外说明。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136EBE4-8532-4A2A-A72E-E996623D9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2501" y="4377551"/>
              <a:ext cx="333178" cy="558595"/>
            </a:xfrm>
            <a:prstGeom prst="rect">
              <a:avLst/>
            </a:prstGeom>
          </p:spPr>
        </p:pic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B43364-FE86-40B0-901E-64E5ACAE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7617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36FC9FB-077E-41C1-9EB6-9E17CCFC08DF}"/>
              </a:ext>
            </a:extLst>
          </p:cNvPr>
          <p:cNvSpPr txBox="1"/>
          <p:nvPr/>
        </p:nvSpPr>
        <p:spPr>
          <a:xfrm>
            <a:off x="2380081" y="-25621"/>
            <a:ext cx="5549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文件操作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B2D71F8A-EDD4-4A85-BE3F-598DD4B0F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3972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对文件的操作一般包含以下三个步骤：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234350" indent="-514350">
              <a:buFont typeface="+mj-ea"/>
              <a:buAutoNum type="circleNumDbPlain"/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打开</a:t>
            </a:r>
            <a:r>
              <a:rPr kumimoji="1" lang="zh-CN" altLang="en-US" sz="2800" b="1" dirty="0">
                <a:latin typeface="+mn-ea"/>
                <a:ea typeface="+mn-ea"/>
              </a:rPr>
              <a:t>文件：建立程序与文件之间的联系。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234350" indent="-514350">
              <a:buFont typeface="+mj-ea"/>
              <a:buAutoNum type="circleNumDbPlain"/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操作</a:t>
            </a:r>
            <a:r>
              <a:rPr kumimoji="1" lang="zh-CN" altLang="en-US" sz="2800" b="1" dirty="0">
                <a:latin typeface="+mn-ea"/>
                <a:ea typeface="+mn-ea"/>
              </a:rPr>
              <a:t>文件：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954350" indent="-514350"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00B0F0"/>
                </a:solidFill>
                <a:latin typeface="+mn-ea"/>
                <a:ea typeface="+mn-ea"/>
              </a:rPr>
              <a:t>   读</a:t>
            </a:r>
            <a:r>
              <a:rPr kumimoji="1" lang="zh-CN" altLang="en-US" sz="2800" b="1" dirty="0">
                <a:latin typeface="+mn-ea"/>
                <a:ea typeface="+mn-ea"/>
              </a:rPr>
              <a:t>操作：从文件中读取数据，即将文件中的数据读入程序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954350" indent="-514350"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00B0F0"/>
                </a:solidFill>
                <a:latin typeface="+mn-ea"/>
                <a:ea typeface="+mn-ea"/>
              </a:rPr>
              <a:t>   写</a:t>
            </a:r>
            <a:r>
              <a:rPr kumimoji="1" lang="zh-CN" altLang="en-US" sz="2800" b="1" dirty="0">
                <a:latin typeface="+mn-ea"/>
                <a:ea typeface="+mn-ea"/>
              </a:rPr>
              <a:t>操作：向文件中写数据，即将程序中的数据输出到文件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954350" indent="-514350"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00B0F0"/>
                </a:solidFill>
                <a:latin typeface="+mn-ea"/>
                <a:ea typeface="+mn-ea"/>
              </a:rPr>
              <a:t>追加</a:t>
            </a:r>
            <a:r>
              <a:rPr kumimoji="1" lang="zh-CN" altLang="en-US" sz="2800" b="1" dirty="0">
                <a:latin typeface="+mn-ea"/>
                <a:ea typeface="+mn-ea"/>
              </a:rPr>
              <a:t>操作：将程序中的数据写到文件中已有数据的后面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954350" indent="-514350">
              <a:buFont typeface="+mj-lt"/>
              <a:buAutoNum type="arabicPeriod"/>
            </a:pPr>
            <a:r>
              <a:rPr kumimoji="1" lang="zh-CN" altLang="en-US" sz="2800" b="1" dirty="0">
                <a:solidFill>
                  <a:srgbClr val="00B0F0"/>
                </a:solidFill>
                <a:latin typeface="+mn-ea"/>
                <a:ea typeface="+mn-ea"/>
              </a:rPr>
              <a:t>定位</a:t>
            </a:r>
            <a:r>
              <a:rPr kumimoji="1" lang="zh-CN" altLang="en-US" sz="2800" b="1" dirty="0">
                <a:latin typeface="+mn-ea"/>
                <a:ea typeface="+mn-ea"/>
              </a:rPr>
              <a:t>操作：移动文件读写位置到指定位置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1234350" indent="-514350">
              <a:buFont typeface="+mj-ea"/>
              <a:buAutoNum type="circleNumDbPlain"/>
            </a:pPr>
            <a:r>
              <a:rPr kumimoji="1"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关闭</a:t>
            </a:r>
            <a:r>
              <a:rPr kumimoji="1" lang="zh-CN" altLang="en-US" sz="2800" b="1" dirty="0">
                <a:latin typeface="+mn-ea"/>
                <a:ea typeface="+mn-ea"/>
              </a:rPr>
              <a:t>文件：切断文件与程序的联系。</a:t>
            </a:r>
            <a:r>
              <a:rPr kumimoji="1" lang="en-US" altLang="zh-CN" sz="2800" b="1" dirty="0">
                <a:latin typeface="+mn-ea"/>
                <a:ea typeface="+mn-ea"/>
              </a:rPr>
              <a:t>(</a:t>
            </a:r>
            <a:r>
              <a:rPr kumimoji="1" lang="zh-CN" altLang="en-US" sz="2800" b="1" dirty="0">
                <a:latin typeface="+mn-ea"/>
                <a:ea typeface="+mn-ea"/>
              </a:rPr>
              <a:t>将缓冲区中的内容写入文件并释放文件缓冲区</a:t>
            </a:r>
            <a:r>
              <a:rPr kumimoji="1" lang="en-US" altLang="zh-CN" sz="2800" b="1" dirty="0">
                <a:latin typeface="+mn-ea"/>
                <a:ea typeface="+mn-ea"/>
              </a:rPr>
              <a:t>)</a:t>
            </a:r>
            <a:endParaRPr kumimoji="1" lang="zh-CN" altLang="en-US" sz="2800" b="1" dirty="0">
              <a:latin typeface="+mn-ea"/>
              <a:ea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C5B3AFE-70DC-4470-9C4E-740FF0B00020}"/>
              </a:ext>
            </a:extLst>
          </p:cNvPr>
          <p:cNvGrpSpPr/>
          <p:nvPr/>
        </p:nvGrpSpPr>
        <p:grpSpPr>
          <a:xfrm>
            <a:off x="0" y="4661826"/>
            <a:ext cx="12192000" cy="1873188"/>
            <a:chOff x="5682501" y="4377551"/>
            <a:chExt cx="6523772" cy="1873188"/>
          </a:xfrm>
        </p:grpSpPr>
        <p:sp>
          <p:nvSpPr>
            <p:cNvPr id="6" name="Text Box 88">
              <a:extLst>
                <a:ext uri="{FF2B5EF4-FFF2-40B4-BE49-F238E27FC236}">
                  <a16:creationId xmlns:a16="http://schemas.microsoft.com/office/drawing/2014/main" id="{8F3A7A93-8E11-471C-9F6C-A95E7E57EB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9465" y="4432676"/>
              <a:ext cx="6506808" cy="1818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注意：</a:t>
              </a:r>
              <a:endParaRPr kumimoji="1" lang="en-US" altLang="zh-CN" sz="2400" dirty="0">
                <a:solidFill>
                  <a:srgbClr val="FF0000"/>
                </a:solidFill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文件操作由标准库函数实现，这些函数位于头文件</a:t>
              </a:r>
              <a:r>
                <a:rPr kumimoji="1" lang="en-US" altLang="zh-CN" sz="2800" dirty="0" err="1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stdio.h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中。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文件打开和关闭操作仅针对非标准设备文件，标准设备文件由系统自动打开和关闭。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38F98D4E-D860-4756-A1A2-BBB415F85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2501" y="4377551"/>
              <a:ext cx="333178" cy="558595"/>
            </a:xfrm>
            <a:prstGeom prst="rect">
              <a:avLst/>
            </a:prstGeom>
          </p:spPr>
        </p:pic>
      </p:grp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FCE1E3B-5A0F-4567-8F1E-BD30B55F1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3643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C965FD-8D15-4B59-A8BA-97AD234D96CE}"/>
              </a:ext>
            </a:extLst>
          </p:cNvPr>
          <p:cNvSpPr txBox="1"/>
          <p:nvPr/>
        </p:nvSpPr>
        <p:spPr>
          <a:xfrm>
            <a:off x="2380081" y="-25621"/>
            <a:ext cx="55499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rgbClr val="200AC4"/>
                </a:solidFill>
                <a:ea typeface="隶书" pitchFamily="49" charset="-122"/>
              </a:rPr>
              <a:t> 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文件操作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09AD447-B801-461B-9F25-D270E4BC8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681755"/>
              </p:ext>
            </p:extLst>
          </p:nvPr>
        </p:nvGraphicFramePr>
        <p:xfrm>
          <a:off x="2137228" y="1539722"/>
          <a:ext cx="7917544" cy="3384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7538">
                  <a:extLst>
                    <a:ext uri="{9D8B030D-6E8A-4147-A177-3AD203B41FA5}">
                      <a16:colId xmlns:a16="http://schemas.microsoft.com/office/drawing/2014/main" val="3275082846"/>
                    </a:ext>
                  </a:extLst>
                </a:gridCol>
                <a:gridCol w="3378925">
                  <a:extLst>
                    <a:ext uri="{9D8B030D-6E8A-4147-A177-3AD203B41FA5}">
                      <a16:colId xmlns:a16="http://schemas.microsoft.com/office/drawing/2014/main" val="3497703959"/>
                    </a:ext>
                  </a:extLst>
                </a:gridCol>
                <a:gridCol w="2291081">
                  <a:extLst>
                    <a:ext uri="{9D8B030D-6E8A-4147-A177-3AD203B41FA5}">
                      <a16:colId xmlns:a16="http://schemas.microsoft.com/office/drawing/2014/main" val="4160869220"/>
                    </a:ext>
                  </a:extLst>
                </a:gridCol>
              </a:tblGrid>
              <a:tr h="47787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文件操作步骤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标准库函数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说明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473225"/>
                  </a:ext>
                </a:extLst>
              </a:tr>
              <a:tr h="48451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打开文件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fopen()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601243"/>
                  </a:ext>
                </a:extLst>
              </a:tr>
              <a:tr h="484516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操作文件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fscanf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                        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fprintf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格式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I/O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函数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856310"/>
                  </a:ext>
                </a:extLst>
              </a:tr>
              <a:tr h="484516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fgetc()                         fputc()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字符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I/O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函数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46059"/>
                  </a:ext>
                </a:extLst>
              </a:tr>
              <a:tr h="484516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fgets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                         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fputs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字符串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I/O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函数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9592"/>
                  </a:ext>
                </a:extLst>
              </a:tr>
              <a:tr h="484516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fread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                        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fwrite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数据块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I/O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函数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941164"/>
                  </a:ext>
                </a:extLst>
              </a:tr>
              <a:tr h="48451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关闭文件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fclose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8743233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42F2359-F42F-48C2-AC30-08F80D6C406C}"/>
              </a:ext>
            </a:extLst>
          </p:cNvPr>
          <p:cNvSpPr txBox="1"/>
          <p:nvPr/>
        </p:nvSpPr>
        <p:spPr>
          <a:xfrm>
            <a:off x="4638710" y="1140823"/>
            <a:ext cx="3108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表</a:t>
            </a:r>
            <a:r>
              <a:rPr lang="en-US" altLang="zh-CN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8-1 </a:t>
            </a:r>
            <a:r>
              <a:rPr lang="zh-CN" altLang="en-US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文件操作相关库函数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7C0FF0-159C-4B3B-BA7D-BDD5349F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7673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4B3D6BD-A6F2-42AE-ABEB-87147E4C8A86}"/>
              </a:ext>
            </a:extLst>
          </p:cNvPr>
          <p:cNvSpPr txBox="1"/>
          <p:nvPr/>
        </p:nvSpPr>
        <p:spPr>
          <a:xfrm>
            <a:off x="406819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sz="3600" b="1" dirty="0">
                <a:solidFill>
                  <a:srgbClr val="200AC4"/>
                </a:solidFill>
                <a:ea typeface="隶书" pitchFamily="49" charset="-122"/>
              </a:rPr>
              <a:t>fopen()</a:t>
            </a: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函数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4A5CE369-41B8-44D8-B054-AF9C17911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>
                <a:latin typeface="+mn-ea"/>
                <a:ea typeface="+mn-ea"/>
              </a:rPr>
              <a:t>fopen()</a:t>
            </a:r>
            <a:r>
              <a:rPr kumimoji="1" lang="zh-CN" altLang="en-US" sz="2800" b="1" dirty="0">
                <a:latin typeface="+mn-ea"/>
                <a:ea typeface="+mn-ea"/>
              </a:rPr>
              <a:t>函数用于打开一个文件并返回一个指向该文件的指针。其原型如下：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56774A-626C-47F2-9118-B1D87EEEC16B}"/>
              </a:ext>
            </a:extLst>
          </p:cNvPr>
          <p:cNvSpPr txBox="1">
            <a:spLocks noChangeArrowheads="1"/>
          </p:cNvSpPr>
          <p:nvPr/>
        </p:nvSpPr>
        <p:spPr>
          <a:xfrm>
            <a:off x="937379" y="1302066"/>
            <a:ext cx="10317241" cy="200054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fr-FR" altLang="zh-CN" b="1" dirty="0">
                <a:solidFill>
                  <a:srgbClr val="0000FF"/>
                </a:solidFill>
              </a:rPr>
              <a:t>FILE </a:t>
            </a:r>
            <a:r>
              <a:rPr lang="fr-FR" altLang="zh-CN" b="1" dirty="0">
                <a:solidFill>
                  <a:srgbClr val="FF0000"/>
                </a:solidFill>
              </a:rPr>
              <a:t>*</a:t>
            </a:r>
            <a:r>
              <a:rPr lang="fr-FR" altLang="zh-CN" b="1" dirty="0" err="1"/>
              <a:t>fopen</a:t>
            </a:r>
            <a:r>
              <a:rPr lang="fr-FR" altLang="zh-CN" b="1" dirty="0"/>
              <a:t>(</a:t>
            </a:r>
            <a:r>
              <a:rPr lang="fr-FR" altLang="zh-CN" b="1" dirty="0" err="1">
                <a:solidFill>
                  <a:srgbClr val="0000FF"/>
                </a:solidFill>
              </a:rPr>
              <a:t>const</a:t>
            </a:r>
            <a:r>
              <a:rPr lang="fr-FR" altLang="zh-CN" b="1" dirty="0">
                <a:solidFill>
                  <a:srgbClr val="0000FF"/>
                </a:solidFill>
              </a:rPr>
              <a:t> 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/>
              <a:t>filename, </a:t>
            </a:r>
            <a:r>
              <a:rPr lang="fr-FR" altLang="zh-CN" b="1" dirty="0" err="1">
                <a:solidFill>
                  <a:srgbClr val="0000FF"/>
                </a:solidFill>
              </a:rPr>
              <a:t>const</a:t>
            </a:r>
            <a:r>
              <a:rPr lang="fr-FR" altLang="zh-CN" b="1" dirty="0">
                <a:solidFill>
                  <a:srgbClr val="0000FF"/>
                </a:solidFill>
              </a:rPr>
              <a:t> 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/>
              <a:t>mode);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：以指定方式打开一个文件并返回一个指向该文件的指针。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filename: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要打开的文件名，可以是相对路径或绝对路径；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    mode: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打开文件的模式，包括只读、只写、追加等模式。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：返回一个指向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结构体的指针，如果打开文件失败则返回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NULL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56BD64-28B5-4821-93DA-02AD5EB14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63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4BD662-CF18-4323-9EDA-9583D8A34B8B}"/>
              </a:ext>
            </a:extLst>
          </p:cNvPr>
          <p:cNvSpPr txBox="1"/>
          <p:nvPr/>
        </p:nvSpPr>
        <p:spPr>
          <a:xfrm>
            <a:off x="406819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打开文件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CD2DB461-8D0C-4D59-98D1-2A0223D0B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使用标准库函数</a:t>
            </a:r>
            <a:r>
              <a:rPr kumimoji="1" lang="en-US" altLang="zh-CN" sz="2800" b="1" dirty="0">
                <a:latin typeface="+mn-ea"/>
                <a:ea typeface="+mn-ea"/>
              </a:rPr>
              <a:t>fopen()</a:t>
            </a:r>
            <a:r>
              <a:rPr kumimoji="1" lang="zh-CN" altLang="en-US" sz="2800" b="1" dirty="0">
                <a:latin typeface="+mn-ea"/>
                <a:ea typeface="+mn-ea"/>
              </a:rPr>
              <a:t>实现文件打开操作。该函数的调用形式为：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4D16C37-1372-4019-99C1-91B30C5D1F17}"/>
              </a:ext>
            </a:extLst>
          </p:cNvPr>
          <p:cNvSpPr txBox="1">
            <a:spLocks noChangeArrowheads="1"/>
          </p:cNvSpPr>
          <p:nvPr/>
        </p:nvSpPr>
        <p:spPr>
          <a:xfrm>
            <a:off x="3303341" y="1313518"/>
            <a:ext cx="6441672" cy="95410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en-US" altLang="zh-CN" b="1" dirty="0"/>
              <a:t>fp;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fp = fopen(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文件名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文件打开模式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en-US" altLang="zh-CN" b="1" dirty="0"/>
              <a:t>);</a:t>
            </a:r>
            <a:endParaRPr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E33BF8-A436-4E0D-A031-4FCBBDAF1555}"/>
              </a:ext>
            </a:extLst>
          </p:cNvPr>
          <p:cNvSpPr/>
          <p:nvPr/>
        </p:nvSpPr>
        <p:spPr>
          <a:xfrm>
            <a:off x="2463313" y="2356816"/>
            <a:ext cx="50879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例如：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3478624A-E500-454B-AF49-D0C378494B38}"/>
              </a:ext>
            </a:extLst>
          </p:cNvPr>
          <p:cNvGrpSpPr/>
          <p:nvPr/>
        </p:nvGrpSpPr>
        <p:grpSpPr>
          <a:xfrm>
            <a:off x="0" y="4320760"/>
            <a:ext cx="12192000" cy="2304075"/>
            <a:chOff x="5682501" y="4377551"/>
            <a:chExt cx="6523772" cy="2304075"/>
          </a:xfrm>
        </p:grpSpPr>
        <p:sp>
          <p:nvSpPr>
            <p:cNvPr id="9" name="Text Box 88">
              <a:extLst>
                <a:ext uri="{FF2B5EF4-FFF2-40B4-BE49-F238E27FC236}">
                  <a16:creationId xmlns:a16="http://schemas.microsoft.com/office/drawing/2014/main" id="{1CFAF021-743D-4186-95C7-DBFB4850F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9465" y="4432676"/>
              <a:ext cx="6506808" cy="224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注意：</a:t>
              </a:r>
              <a:endParaRPr kumimoji="1" lang="en-US" altLang="zh-CN" sz="2400" dirty="0">
                <a:solidFill>
                  <a:srgbClr val="FF0000"/>
                </a:solidFill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文件名为字符串，可以是相对路径，也可以是绝对路径。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文件打开模式用来说明文件类型及对文件要执行的操作类型。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  <a:p>
              <a:pPr marL="72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标准设备文件在使用时无需调用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fopen()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函数来打开，直接使用为它们预先定义好的文件指针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(stdin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、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stdout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和</a:t>
              </a:r>
              <a:r>
                <a:rPr kumimoji="1" lang="en-US" altLang="zh-CN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stderr)</a:t>
              </a: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进行操作。</a:t>
              </a:r>
              <a:endParaRPr kumimoji="1" lang="en-US" altLang="zh-CN" sz="2800" dirty="0">
                <a:solidFill>
                  <a:srgbClr val="3333FF"/>
                </a:solidFill>
                <a:latin typeface="等线" panose="02010600030101010101" pitchFamily="2" charset="-122"/>
                <a:ea typeface="隶书" pitchFamily="49" charset="-122"/>
              </a:endParaRP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C479F859-2881-41A4-A03C-4336924CB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2501" y="4377551"/>
              <a:ext cx="333178" cy="558595"/>
            </a:xfrm>
            <a:prstGeom prst="rect">
              <a:avLst/>
            </a:prstGeom>
          </p:spPr>
        </p:pic>
      </p:grpSp>
      <p:sp>
        <p:nvSpPr>
          <p:cNvPr id="12" name="Rectangle 2">
            <a:extLst>
              <a:ext uri="{FF2B5EF4-FFF2-40B4-BE49-F238E27FC236}">
                <a16:creationId xmlns:a16="http://schemas.microsoft.com/office/drawing/2014/main" id="{6317E23E-2490-4CA0-A126-2D60CAD740AE}"/>
              </a:ext>
            </a:extLst>
          </p:cNvPr>
          <p:cNvSpPr txBox="1">
            <a:spLocks noChangeArrowheads="1"/>
          </p:cNvSpPr>
          <p:nvPr/>
        </p:nvSpPr>
        <p:spPr>
          <a:xfrm>
            <a:off x="3303340" y="2887348"/>
            <a:ext cx="6441672" cy="138499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en-US" altLang="zh-CN" b="1" dirty="0"/>
              <a:t>fp;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fp = fopen(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c:\\test.txt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en-US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fp = fopen(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c:/test.txt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en-US" altLang="zh-CN" b="1" dirty="0"/>
              <a:t>);</a:t>
            </a:r>
            <a:endParaRPr lang="zh-CN" altLang="en-US" b="1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4C070A-7CDF-43D1-8AB7-C360090F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913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8">
            <a:extLst>
              <a:ext uri="{FF2B5EF4-FFF2-40B4-BE49-F238E27FC236}">
                <a16:creationId xmlns:a16="http://schemas.microsoft.com/office/drawing/2014/main" id="{E8E4668A-3031-4A20-8232-7A5D4283D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在</a:t>
            </a:r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语言中，文件打开模式是指打开文件后可以对文件执行的操作，它决定了文件的读写方式和文件指针的初始位置。</a:t>
            </a:r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语言中常用的文本文件打开模式有以下几种：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FCB03E-C0B5-4943-91EE-97DD07154C67}"/>
              </a:ext>
            </a:extLst>
          </p:cNvPr>
          <p:cNvSpPr txBox="1"/>
          <p:nvPr/>
        </p:nvSpPr>
        <p:spPr>
          <a:xfrm>
            <a:off x="406819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文件打开模式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7EB6ABA-2401-4BFD-8802-0E255DF24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312085"/>
              </p:ext>
            </p:extLst>
          </p:nvPr>
        </p:nvGraphicFramePr>
        <p:xfrm>
          <a:off x="91440" y="2452671"/>
          <a:ext cx="119917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755">
                  <a:extLst>
                    <a:ext uri="{9D8B030D-6E8A-4147-A177-3AD203B41FA5}">
                      <a16:colId xmlns:a16="http://schemas.microsoft.com/office/drawing/2014/main" val="1168246380"/>
                    </a:ext>
                  </a:extLst>
                </a:gridCol>
                <a:gridCol w="10192948">
                  <a:extLst>
                    <a:ext uri="{9D8B030D-6E8A-4147-A177-3AD203B41FA5}">
                      <a16:colId xmlns:a16="http://schemas.microsoft.com/office/drawing/2014/main" val="1202901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模式字符串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意义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064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r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只读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以只读方式打开文件，文件必须存在。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72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“w”(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只写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以写入方式打开文件，如果文件存在则清空文件内容，如果文件不存在则创建新文件。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10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“a”(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追加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以追加写方式打开文件，如果文件存在则将数据追加到文件末尾，如果文件不存在则创建新文件。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55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“r+”(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以读写方式打开文件，文件必须存在。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3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“w+”(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以读写方式打开文件，如果文件存在则清空文件内容，如果文件不存在则创建新文件。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20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“a+”(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以读写方式打开文件，如果文件存在则将数据追加到文件末尾，如果文件不存在则创建新文件。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2542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EB0958B-A3F8-4A6C-A956-40E7267A2149}"/>
              </a:ext>
            </a:extLst>
          </p:cNvPr>
          <p:cNvSpPr txBox="1"/>
          <p:nvPr/>
        </p:nvSpPr>
        <p:spPr>
          <a:xfrm>
            <a:off x="4492944" y="2035277"/>
            <a:ext cx="3188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表</a:t>
            </a:r>
            <a:r>
              <a:rPr lang="en-US" altLang="zh-CN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8-2 </a:t>
            </a:r>
            <a:r>
              <a:rPr lang="zh-CN" altLang="en-US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文本文件模式字符串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E740FD-183E-4493-AB6F-9C274B8C9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277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8">
            <a:extLst>
              <a:ext uri="{FF2B5EF4-FFF2-40B4-BE49-F238E27FC236}">
                <a16:creationId xmlns:a16="http://schemas.microsoft.com/office/drawing/2014/main" id="{E8E4668A-3031-4A20-8232-7A5D4283D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1387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在</a:t>
            </a:r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语言中，文件打开模式是指打开文件后可以对文件执行的操作，它决定了文件的读写方式和文件指针的初始位置。</a:t>
            </a:r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语言中常用的二进制文件打开模式有以下几种：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FCB03E-C0B5-4943-91EE-97DD07154C67}"/>
              </a:ext>
            </a:extLst>
          </p:cNvPr>
          <p:cNvSpPr txBox="1"/>
          <p:nvPr/>
        </p:nvSpPr>
        <p:spPr>
          <a:xfrm>
            <a:off x="406819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文件打开模式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A7EB6ABA-2401-4BFD-8802-0E255DF24A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966219"/>
              </p:ext>
            </p:extLst>
          </p:nvPr>
        </p:nvGraphicFramePr>
        <p:xfrm>
          <a:off x="91440" y="2452671"/>
          <a:ext cx="1199170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034">
                  <a:extLst>
                    <a:ext uri="{9D8B030D-6E8A-4147-A177-3AD203B41FA5}">
                      <a16:colId xmlns:a16="http://schemas.microsoft.com/office/drawing/2014/main" val="1168246380"/>
                    </a:ext>
                  </a:extLst>
                </a:gridCol>
                <a:gridCol w="9975669">
                  <a:extLst>
                    <a:ext uri="{9D8B030D-6E8A-4147-A177-3AD203B41FA5}">
                      <a16:colId xmlns:a16="http://schemas.microsoft.com/office/drawing/2014/main" val="1202901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模式字符串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意义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064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rb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”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只读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以只读方式打开文件，文件必须存在。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720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wb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只写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以写入方式打开文件，如果文件存在则清空文件内容，如果文件不存在则创建新文件。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101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“ab”(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追加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以追加写方式打开文件，如果文件存在则将数据追加到文件末尾，如果文件不存在则创建新文件。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553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rb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+”/“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r+b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以读写方式打开文件，文件必须存在。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3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wb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+”/“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w+b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以读写方式打开文件，如果文件存在则清空文件内容，如果文件不存在则创建新文件。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206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“ab+”/“</a:t>
                      </a:r>
                      <a:r>
                        <a:rPr lang="en-US" altLang="zh-CN" dirty="0" err="1">
                          <a:solidFill>
                            <a:schemeClr val="tx1"/>
                          </a:solidFill>
                        </a:rPr>
                        <a:t>a+b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”(</a:t>
                      </a: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读写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以读写方式打开文件，如果文件存在则将数据追加到文件末尾，如果文件不存在则创建新文件。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82542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EB0958B-A3F8-4A6C-A956-40E7267A2149}"/>
              </a:ext>
            </a:extLst>
          </p:cNvPr>
          <p:cNvSpPr txBox="1"/>
          <p:nvPr/>
        </p:nvSpPr>
        <p:spPr>
          <a:xfrm>
            <a:off x="4492944" y="2035277"/>
            <a:ext cx="3365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表</a:t>
            </a:r>
            <a:r>
              <a:rPr lang="en-US" altLang="zh-CN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8-3 </a:t>
            </a:r>
            <a:r>
              <a:rPr lang="zh-CN" altLang="en-US" sz="2000" dirty="0">
                <a:latin typeface="华文隶书" panose="02010800040101010101" pitchFamily="2" charset="-122"/>
                <a:ea typeface="华文隶书" panose="02010800040101010101" pitchFamily="2" charset="-122"/>
              </a:rPr>
              <a:t>二进制文件模式字符串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890649-43E5-4B4A-BE10-F099EBFD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4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DFCB03E-C0B5-4943-91EE-97DD07154C67}"/>
              </a:ext>
            </a:extLst>
          </p:cNvPr>
          <p:cNvSpPr txBox="1"/>
          <p:nvPr/>
        </p:nvSpPr>
        <p:spPr>
          <a:xfrm>
            <a:off x="406819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打开文件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5CFDAEC7-EF38-448C-B620-F5370AE85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使用标准库函数</a:t>
            </a:r>
            <a:r>
              <a:rPr kumimoji="1" lang="en-US" altLang="zh-CN" sz="2800" b="1" dirty="0">
                <a:latin typeface="+mn-ea"/>
                <a:ea typeface="+mn-ea"/>
              </a:rPr>
              <a:t>fopen()</a:t>
            </a:r>
            <a:r>
              <a:rPr kumimoji="1" lang="zh-CN" altLang="en-US" sz="2800" b="1" dirty="0">
                <a:latin typeface="+mn-ea"/>
                <a:ea typeface="+mn-ea"/>
              </a:rPr>
              <a:t>打开文件时，通常都需要判断打开操作是否出错。例如以“只读”方式打开名为“</a:t>
            </a:r>
            <a:r>
              <a:rPr kumimoji="1" lang="en-US" altLang="zh-CN" sz="2800" b="1" dirty="0">
                <a:latin typeface="+mn-ea"/>
                <a:ea typeface="+mn-ea"/>
              </a:rPr>
              <a:t>filename</a:t>
            </a:r>
            <a:r>
              <a:rPr kumimoji="1" lang="zh-CN" altLang="en-US" sz="2800" b="1" dirty="0">
                <a:latin typeface="+mn-ea"/>
                <a:ea typeface="+mn-ea"/>
              </a:rPr>
              <a:t>”的文本文件时，代码如下：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D39D66F-C2CA-4B6C-8D19-1864C30158A2}"/>
              </a:ext>
            </a:extLst>
          </p:cNvPr>
          <p:cNvSpPr txBox="1">
            <a:spLocks noChangeArrowheads="1"/>
          </p:cNvSpPr>
          <p:nvPr/>
        </p:nvSpPr>
        <p:spPr>
          <a:xfrm>
            <a:off x="41979" y="1566303"/>
            <a:ext cx="5818890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en-US" altLang="zh-CN" b="1" dirty="0"/>
              <a:t>fp = fopen(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filename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zh-CN" altLang="en-US" b="1" dirty="0"/>
              <a:t>，</a:t>
            </a:r>
            <a:r>
              <a:rPr lang="zh-CN" altLang="en-US" b="1" dirty="0">
                <a:solidFill>
                  <a:srgbClr val="00B050"/>
                </a:solidFill>
              </a:rPr>
              <a:t>“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="1" dirty="0">
                <a:solidFill>
                  <a:srgbClr val="00B050"/>
                </a:solidFill>
              </a:rPr>
              <a:t>”</a:t>
            </a:r>
            <a:r>
              <a:rPr lang="en-US" altLang="zh-CN" b="1" dirty="0"/>
              <a:t>));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if</a:t>
            </a:r>
            <a:r>
              <a:rPr lang="en-US" altLang="zh-CN" b="1" dirty="0"/>
              <a:t>( fp == </a:t>
            </a:r>
            <a:r>
              <a:rPr lang="en-US" altLang="zh-CN" b="1" dirty="0">
                <a:solidFill>
                  <a:srgbClr val="0070C0"/>
                </a:solidFill>
              </a:rPr>
              <a:t>NULL</a:t>
            </a:r>
            <a:r>
              <a:rPr lang="en-US" altLang="zh-CN" b="1" dirty="0"/>
              <a:t> 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B050"/>
                </a:solidFill>
              </a:rPr>
              <a:t>“Cannot open file.\n”</a:t>
            </a:r>
            <a:r>
              <a:rPr lang="en-US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/>
              <a:t>    exit(0);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3C1FD4-585E-4021-B7C8-9853044F6E10}"/>
              </a:ext>
            </a:extLst>
          </p:cNvPr>
          <p:cNvSpPr txBox="1">
            <a:spLocks noChangeArrowheads="1"/>
          </p:cNvSpPr>
          <p:nvPr/>
        </p:nvSpPr>
        <p:spPr>
          <a:xfrm>
            <a:off x="5902849" y="2086161"/>
            <a:ext cx="6289152" cy="452431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 err="1"/>
              <a:t>fopenfun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file,</a:t>
            </a:r>
            <a:r>
              <a:rPr lang="en-US" altLang="zh-CN" b="1" dirty="0">
                <a:solidFill>
                  <a:srgbClr val="0000FF"/>
                </a:solidFill>
              </a:rPr>
              <a:t> char</a:t>
            </a:r>
            <a:r>
              <a:rPr lang="en-US" altLang="zh-CN" b="1" dirty="0">
                <a:solidFill>
                  <a:srgbClr val="FF0000"/>
                </a:solidFill>
              </a:rPr>
              <a:t>*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  <a:r>
              <a:rPr lang="en-US" altLang="zh-CN" b="1" dirty="0"/>
              <a:t>mode)</a:t>
            </a:r>
            <a:r>
              <a:rPr lang="en-US" altLang="zh-CN" b="1" dirty="0">
                <a:solidFill>
                  <a:srgbClr val="0000FF"/>
                </a:solidFill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{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FILE</a:t>
            </a:r>
            <a:r>
              <a:rPr lang="zh-CN" altLang="en-US" sz="2800" b="1" dirty="0">
                <a:solidFill>
                  <a:srgbClr val="0000FF"/>
                </a:solidFill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</a:rPr>
              <a:t>*</a:t>
            </a:r>
            <a:r>
              <a:rPr lang="en-US" altLang="zh-CN" sz="2800" b="1" dirty="0"/>
              <a:t>fp = fopen(file</a:t>
            </a:r>
            <a:r>
              <a:rPr lang="zh-CN" altLang="en-US" sz="2800" b="1" dirty="0"/>
              <a:t>，</a:t>
            </a:r>
            <a:r>
              <a:rPr lang="en-US" altLang="zh-CN" sz="2800" b="1" dirty="0"/>
              <a:t>mode));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if</a:t>
            </a:r>
            <a:r>
              <a:rPr lang="en-US" altLang="zh-CN" sz="2800" b="1" dirty="0"/>
              <a:t>( fp == </a:t>
            </a:r>
            <a:r>
              <a:rPr lang="en-US" altLang="zh-CN" sz="2800" b="1" dirty="0">
                <a:solidFill>
                  <a:srgbClr val="0070C0"/>
                </a:solidFill>
              </a:rPr>
              <a:t>NULL</a:t>
            </a:r>
            <a:r>
              <a:rPr lang="en-US" altLang="zh-CN" sz="2800" b="1" dirty="0"/>
              <a:t> )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/>
              <a:t>{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/>
              <a:t>    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</a:t>
            </a:r>
            <a:r>
              <a:rPr lang="en-US" altLang="zh-CN" sz="2800" b="1" dirty="0">
                <a:solidFill>
                  <a:srgbClr val="00B050"/>
                </a:solidFill>
              </a:rPr>
              <a:t>“Cannot open file.\n”</a:t>
            </a:r>
            <a:r>
              <a:rPr lang="en-US" altLang="zh-CN" sz="2800" b="1" dirty="0"/>
              <a:t>);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/>
              <a:t>    exit(0);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/>
              <a:t>}</a:t>
            </a:r>
          </a:p>
          <a:p>
            <a:pPr marL="457200" lvl="1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return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/>
              <a:t>fp;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3200" b="1" dirty="0">
                <a:solidFill>
                  <a:srgbClr val="FF0000"/>
                </a:solidFill>
              </a:rPr>
              <a:t>}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F79F23-A181-43F3-A9F8-3500ADC49547}"/>
              </a:ext>
            </a:extLst>
          </p:cNvPr>
          <p:cNvSpPr txBox="1"/>
          <p:nvPr/>
        </p:nvSpPr>
        <p:spPr>
          <a:xfrm>
            <a:off x="92835" y="4235249"/>
            <a:ext cx="57680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华文隶书" panose="02010800040101010101" pitchFamily="2" charset="-122"/>
                <a:ea typeface="华文隶书" panose="02010800040101010101" pitchFamily="2" charset="-122"/>
              </a:rPr>
              <a:t>为了方便在打开文件的同时判断是否正确打开文件，可将上述过程定义成函数：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8C0B2EB-BCE9-49E3-B196-EB83B7045CB0}"/>
              </a:ext>
            </a:extLst>
          </p:cNvPr>
          <p:cNvSpPr txBox="1">
            <a:spLocks noChangeArrowheads="1"/>
          </p:cNvSpPr>
          <p:nvPr/>
        </p:nvSpPr>
        <p:spPr>
          <a:xfrm>
            <a:off x="41979" y="5576363"/>
            <a:ext cx="5818890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</a:t>
            </a:r>
            <a:r>
              <a:rPr lang="fr-FR" altLang="zh-CN" b="1" dirty="0"/>
              <a:t> fopenfun(</a:t>
            </a:r>
            <a:r>
              <a:rPr lang="fr-FR" altLang="zh-CN" b="1" dirty="0">
                <a:solidFill>
                  <a:srgbClr val="0000FF"/>
                </a:solidFill>
              </a:rPr>
              <a:t>char</a:t>
            </a:r>
            <a:r>
              <a:rPr lang="fr-FR" altLang="zh-CN" b="1" dirty="0">
                <a:solidFill>
                  <a:srgbClr val="FF0000"/>
                </a:solidFill>
              </a:rPr>
              <a:t>*</a:t>
            </a:r>
            <a:r>
              <a:rPr lang="fr-FR" altLang="zh-CN" b="1" dirty="0"/>
              <a:t>, </a:t>
            </a:r>
            <a:r>
              <a:rPr lang="fr-FR" altLang="zh-CN" b="1" dirty="0">
                <a:solidFill>
                  <a:srgbClr val="0000FF"/>
                </a:solidFill>
              </a:rPr>
              <a:t>char</a:t>
            </a:r>
            <a:r>
              <a:rPr lang="fr-FR" altLang="zh-CN" b="1" dirty="0">
                <a:solidFill>
                  <a:srgbClr val="FF0000"/>
                </a:solidFill>
              </a:rPr>
              <a:t>*</a:t>
            </a:r>
            <a:r>
              <a:rPr lang="fr-FR" altLang="zh-CN" b="1" dirty="0"/>
              <a:t>)</a:t>
            </a:r>
            <a:r>
              <a:rPr lang="en-US" altLang="zh-CN" b="1" dirty="0"/>
              <a:t>;</a:t>
            </a:r>
            <a:endParaRPr lang="fr-FR" altLang="zh-CN" b="1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5E4832-1276-4252-A92D-E3B0909E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696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4BD662-CF18-4323-9EDA-9583D8A34B8B}"/>
              </a:ext>
            </a:extLst>
          </p:cNvPr>
          <p:cNvSpPr txBox="1"/>
          <p:nvPr/>
        </p:nvSpPr>
        <p:spPr>
          <a:xfrm>
            <a:off x="406819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关闭文件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65EF44FE-5225-41D9-ADA2-7254140E4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标准库函数</a:t>
            </a:r>
            <a:r>
              <a:rPr kumimoji="1" lang="en-US" altLang="zh-CN" sz="2800" b="1" dirty="0" err="1">
                <a:latin typeface="+mn-ea"/>
                <a:ea typeface="+mn-ea"/>
              </a:rPr>
              <a:t>fclose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实现关闭程序不再使用的一个已打开的文件。该函数的原型为：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852B7D7-6033-4E86-8C9B-3DFC96D54A9D}"/>
              </a:ext>
            </a:extLst>
          </p:cNvPr>
          <p:cNvSpPr txBox="1">
            <a:spLocks noChangeArrowheads="1"/>
          </p:cNvSpPr>
          <p:nvPr/>
        </p:nvSpPr>
        <p:spPr>
          <a:xfrm>
            <a:off x="2238971" y="1378378"/>
            <a:ext cx="8262700" cy="2000548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 </a:t>
            </a:r>
            <a:r>
              <a:rPr lang="en-US" altLang="zh-CN" b="1" dirty="0" err="1"/>
              <a:t>fclose</a:t>
            </a:r>
            <a:r>
              <a:rPr lang="en-US" altLang="zh-CN" b="1" dirty="0"/>
              <a:t>(</a:t>
            </a:r>
            <a:r>
              <a:rPr lang="en-US" altLang="zh-CN" b="1" dirty="0">
                <a:solidFill>
                  <a:srgbClr val="0000FF"/>
                </a:solidFill>
              </a:rPr>
              <a:t>FILE</a:t>
            </a:r>
            <a:r>
              <a:rPr lang="zh-CN" altLang="en-US" b="1" dirty="0">
                <a:solidFill>
                  <a:srgbClr val="0000FF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</a:rPr>
              <a:t>*</a:t>
            </a:r>
            <a:r>
              <a:rPr lang="en-US" altLang="zh-CN" b="1" dirty="0"/>
              <a:t>fp);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：关闭文件指针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指向的文件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：指向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结构体的指针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，文件关闭成功。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EOF(-1)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，文件关闭失败。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758544C-E5FC-4FAD-858B-F61A4A2DA3C1}"/>
              </a:ext>
            </a:extLst>
          </p:cNvPr>
          <p:cNvGrpSpPr/>
          <p:nvPr/>
        </p:nvGrpSpPr>
        <p:grpSpPr>
          <a:xfrm>
            <a:off x="0" y="3432026"/>
            <a:ext cx="10550436" cy="1118715"/>
            <a:chOff x="0" y="5046625"/>
            <a:chExt cx="10550436" cy="1118715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2F093C7-4675-4302-A945-7B20C3AA6922}"/>
                </a:ext>
              </a:extLst>
            </p:cNvPr>
            <p:cNvSpPr/>
            <p:nvPr/>
          </p:nvSpPr>
          <p:spPr>
            <a:xfrm>
              <a:off x="0" y="5046625"/>
              <a:ext cx="508792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/>
              <a:r>
                <a:rPr kumimoji="1" lang="zh-CN" altLang="en-US" sz="2800" b="1" dirty="0">
                  <a:latin typeface="+mn-ea"/>
                </a:rPr>
                <a:t>一般调用形式为：</a:t>
              </a:r>
            </a:p>
          </p:txBody>
        </p:sp>
        <p:sp>
          <p:nvSpPr>
            <p:cNvPr id="9" name="Rectangle 2">
              <a:extLst>
                <a:ext uri="{FF2B5EF4-FFF2-40B4-BE49-F238E27FC236}">
                  <a16:creationId xmlns:a16="http://schemas.microsoft.com/office/drawing/2014/main" id="{869C03AF-B8CD-433B-AD97-6357BAB47F65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2238971" y="5642120"/>
              <a:ext cx="8311465" cy="523220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ct val="0"/>
                </a:spcBef>
                <a:buClr>
                  <a:schemeClr val="tx2"/>
                </a:buClr>
                <a:buSzPct val="70000"/>
                <a:buFont typeface="Arial" panose="020B0604020202020204" pitchFamily="34" charset="0"/>
                <a:buNone/>
              </a:pPr>
              <a:r>
                <a:rPr lang="en-US" altLang="zh-CN" b="1" dirty="0" err="1"/>
                <a:t>fclose</a:t>
              </a:r>
              <a:r>
                <a:rPr lang="en-US" altLang="zh-CN" b="1" dirty="0"/>
                <a:t>(</a:t>
              </a:r>
              <a:r>
                <a:rPr lang="zh-CN" altLang="en-US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文件指针</a:t>
              </a:r>
              <a:r>
                <a:rPr lang="en-US" altLang="zh-CN" b="1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)</a:t>
              </a:r>
              <a:r>
                <a:rPr lang="en-US" altLang="zh-CN" b="1" dirty="0"/>
                <a:t>;</a:t>
              </a:r>
              <a:endParaRPr lang="zh-CN" altLang="en-US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9A16B11-1C25-45DF-A734-58EC8ECC9466}"/>
              </a:ext>
            </a:extLst>
          </p:cNvPr>
          <p:cNvGrpSpPr/>
          <p:nvPr/>
        </p:nvGrpSpPr>
        <p:grpSpPr>
          <a:xfrm>
            <a:off x="0" y="4320760"/>
            <a:ext cx="12192000" cy="2304075"/>
            <a:chOff x="5682501" y="4377551"/>
            <a:chExt cx="6523772" cy="2304075"/>
          </a:xfrm>
        </p:grpSpPr>
        <p:sp>
          <p:nvSpPr>
            <p:cNvPr id="12" name="Text Box 88">
              <a:extLst>
                <a:ext uri="{FF2B5EF4-FFF2-40B4-BE49-F238E27FC236}">
                  <a16:creationId xmlns:a16="http://schemas.microsoft.com/office/drawing/2014/main" id="{9C22328B-E152-449E-8EC2-CF9AC7821F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9465" y="4432676"/>
              <a:ext cx="6506808" cy="2248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r>
                <a:rPr kumimoji="1" lang="zh-CN" altLang="en-US" sz="2800" dirty="0">
                  <a:solidFill>
                    <a:srgbClr val="FF3300"/>
                  </a:solidFill>
                  <a:ea typeface="隶书" pitchFamily="49" charset="-122"/>
                </a:rPr>
                <a:t>     注意：</a:t>
              </a:r>
              <a:endParaRPr kumimoji="1" lang="en-US" altLang="zh-CN" sz="2400" dirty="0">
                <a:solidFill>
                  <a:srgbClr val="FF0000"/>
                </a:solidFill>
                <a:ea typeface="隶书" pitchFamily="49" charset="-122"/>
              </a:endParaRPr>
            </a:p>
            <a:p>
              <a:pPr marL="205650"/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在使用完一个文件后，应该及时关闭文件。成功关闭文件意味着：</a:t>
              </a:r>
            </a:p>
            <a:p>
              <a:pPr marL="144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输出并清空文件缓冲区的已有数据。</a:t>
              </a:r>
            </a:p>
            <a:p>
              <a:pPr marL="144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切断文件缓冲区与文件的关联。</a:t>
              </a:r>
            </a:p>
            <a:p>
              <a:pPr marL="1440000" indent="-514350">
                <a:buFont typeface="+mj-ea"/>
                <a:buAutoNum type="circleNumDbPlain"/>
              </a:pPr>
              <a:r>
                <a:rPr kumimoji="1" lang="zh-CN" altLang="en-US" sz="2800" dirty="0">
                  <a:solidFill>
                    <a:srgbClr val="3333FF"/>
                  </a:solidFill>
                  <a:latin typeface="等线" panose="02010600030101010101" pitchFamily="2" charset="-122"/>
                  <a:ea typeface="隶书" pitchFamily="49" charset="-122"/>
                </a:rPr>
                <a:t>释放缓冲区。</a:t>
              </a: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8EE2EA53-5F45-4306-AFFA-35CC06897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2501" y="4377551"/>
              <a:ext cx="333178" cy="558595"/>
            </a:xfrm>
            <a:prstGeom prst="rect">
              <a:avLst/>
            </a:prstGeom>
          </p:spPr>
        </p:pic>
      </p:grp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6FF7D4-BE99-41DC-B86F-B94E7C91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935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7D014D5E-B14A-4F17-BA0F-440AB003EC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10015"/>
            <a:ext cx="12192000" cy="95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文件读操作：从文件中读入数据，即将文件中的数据读入到内存中的程序。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r>
              <a:rPr kumimoji="1" lang="zh-CN" altLang="en-US" sz="2800" b="1" dirty="0">
                <a:latin typeface="+mn-ea"/>
                <a:ea typeface="+mn-ea"/>
              </a:rPr>
              <a:t>文件写操作：向文件中写入数据，即将内存中的程序数据输出到文件中。</a:t>
            </a: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FB69D494-D087-4C72-A6B5-DDD478DE6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652602"/>
            <a:ext cx="12192000" cy="1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语言提供了丰富的文件读写函数，主要包括：</a:t>
            </a:r>
            <a:endParaRPr kumimoji="1" lang="en-US" altLang="zh-CN" sz="2800" b="1" dirty="0">
              <a:latin typeface="+mn-ea"/>
              <a:ea typeface="+mn-ea"/>
            </a:endParaRPr>
          </a:p>
          <a:p>
            <a:pPr marL="720000" indent="-514350">
              <a:buFont typeface="+mj-ea"/>
              <a:buAutoNum type="circleNumDbPlain"/>
            </a:pP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按字符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(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串</a:t>
            </a:r>
            <a:r>
              <a:rPr kumimoji="1"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)</a:t>
            </a: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读写文件</a:t>
            </a:r>
            <a:endParaRPr kumimoji="1"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720000" indent="-514350">
              <a:buFont typeface="+mj-ea"/>
              <a:buAutoNum type="circleNumDbPlain"/>
            </a:pP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按格式读写文件</a:t>
            </a:r>
            <a:endParaRPr kumimoji="1" lang="en-US" altLang="zh-CN" sz="28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720000" indent="-514350">
              <a:buFont typeface="+mj-ea"/>
              <a:buAutoNum type="circleNumDbPlain"/>
            </a:pPr>
            <a:r>
              <a:rPr kumimoji="1" lang="zh-CN" altLang="en-US" sz="2800" b="1" dirty="0">
                <a:latin typeface="隶书" panose="02010509060101010101" pitchFamily="49" charset="-122"/>
                <a:ea typeface="隶书" panose="02010509060101010101" pitchFamily="49" charset="-122"/>
              </a:rPr>
              <a:t>按数据块读写文件</a:t>
            </a:r>
          </a:p>
        </p:txBody>
      </p:sp>
      <p:sp>
        <p:nvSpPr>
          <p:cNvPr id="5" name="Text Box 88">
            <a:extLst>
              <a:ext uri="{FF2B5EF4-FFF2-40B4-BE49-F238E27FC236}">
                <a16:creationId xmlns:a16="http://schemas.microsoft.com/office/drawing/2014/main" id="{1D261C11-E5E2-4BD3-9E07-14ECFE0924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603128"/>
            <a:ext cx="12192000" cy="1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文件读写位置：在</a:t>
            </a:r>
            <a:r>
              <a:rPr kumimoji="1" lang="en-US" altLang="zh-CN" sz="2800" b="1" dirty="0">
                <a:latin typeface="+mn-ea"/>
                <a:ea typeface="+mn-ea"/>
              </a:rPr>
              <a:t>C</a:t>
            </a:r>
            <a:r>
              <a:rPr kumimoji="1" lang="zh-CN" altLang="en-US" sz="2800" b="1" dirty="0">
                <a:latin typeface="+mn-ea"/>
                <a:ea typeface="+mn-ea"/>
              </a:rPr>
              <a:t>语言中，文件的读写位置是指指向文件中下一个要读取或写入的数据的位置。文件的读写位置是由文件指针来控制的，文件指针是一个指向</a:t>
            </a:r>
            <a:r>
              <a:rPr kumimoji="1" lang="en-US" altLang="zh-CN" sz="2800" b="1" dirty="0">
                <a:latin typeface="+mn-ea"/>
                <a:ea typeface="+mn-ea"/>
              </a:rPr>
              <a:t>FILE</a:t>
            </a:r>
            <a:r>
              <a:rPr kumimoji="1" lang="zh-CN" altLang="en-US" sz="2800" b="1" dirty="0">
                <a:latin typeface="+mn-ea"/>
                <a:ea typeface="+mn-ea"/>
              </a:rPr>
              <a:t>结构体的指针，它包含了文件的读写位置、文件打开模式、缓冲区等信息。随着文件的读写，文件的读写位置由系统自动控制向后移动。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938713-4938-4445-AE6E-3DAE7BFE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4430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48701D-C5F1-4552-82B0-4F87389CE89E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字符输出函数</a:t>
            </a:r>
            <a:r>
              <a:rPr kumimoji="1" lang="en-US" altLang="zh-CN" sz="2800" b="1" dirty="0">
                <a:latin typeface="+mn-ea"/>
                <a:ea typeface="+mn-ea"/>
              </a:rPr>
              <a:t>fputc()</a:t>
            </a:r>
            <a:r>
              <a:rPr kumimoji="1" lang="zh-CN" altLang="en-US" sz="2800" b="1" dirty="0">
                <a:latin typeface="+mn-ea"/>
                <a:ea typeface="+mn-ea"/>
              </a:rPr>
              <a:t>，其原型如下：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937379" y="1705634"/>
            <a:ext cx="10317241" cy="236988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fputc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char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ch</a:t>
            </a:r>
            <a:r>
              <a:rPr lang="fr-FR" altLang="zh-CN" b="1" dirty="0"/>
              <a:t>, 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：将一个字符写入到指定的文件中。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ch: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要写入的字符；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结构体指针，指向要写入的文件。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：返回一个整数值，如果写入成功则返回写入的字符的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ASCII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码值，否则返回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EOF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（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-1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）。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4572886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254597"/>
            <a:ext cx="8311465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fputc(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ch,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读写文件中的字符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70B399-BF4F-431B-8D89-44A5578BD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128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48701D-C5F1-4552-82B0-4F87389CE89E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字符输入函数</a:t>
            </a:r>
            <a:r>
              <a:rPr kumimoji="1" lang="en-US" altLang="zh-CN" sz="2800" b="1" dirty="0">
                <a:latin typeface="+mn-ea"/>
                <a:ea typeface="+mn-ea"/>
              </a:rPr>
              <a:t>fgetc()</a:t>
            </a:r>
            <a:r>
              <a:rPr kumimoji="1" lang="zh-CN" altLang="en-US" sz="2800" b="1" dirty="0">
                <a:latin typeface="+mn-ea"/>
                <a:ea typeface="+mn-ea"/>
              </a:rPr>
              <a:t>，其原型如下：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937379" y="1705634"/>
            <a:ext cx="10317241" cy="200054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fgetc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：从指定的文件中读取一个字符。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结构体指针，指向要读取的文件。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：返回一个整数值，如果读取成功则返回读取的字符的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ASCII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码值，否则返回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EOF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（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-1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）。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4572886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254597"/>
            <a:ext cx="10317241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char</a:t>
            </a:r>
            <a:r>
              <a:rPr lang="en-US" altLang="zh-CN" b="1" dirty="0"/>
              <a:t> ch = fgetc(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读写文件中的字符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6B29D0-70BA-4B50-9898-ED9D4F07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916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6261C3-FCF5-4B03-945E-819E559A103B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D361B8-A68E-44E4-974F-C92C65E73E9F}"/>
              </a:ext>
            </a:extLst>
          </p:cNvPr>
          <p:cNvSpPr/>
          <p:nvPr/>
        </p:nvSpPr>
        <p:spPr>
          <a:xfrm>
            <a:off x="16777" y="608437"/>
            <a:ext cx="12175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8-1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从键盘输入字符串，将该字符串加密后存储到文件</a:t>
            </a:r>
            <a:r>
              <a:rPr lang="en-US" altLang="zh-CN" sz="2400" b="1" dirty="0">
                <a:latin typeface="隶书" pitchFamily="49" charset="-122"/>
              </a:rPr>
              <a:t>file.txt</a:t>
            </a:r>
            <a:r>
              <a:rPr lang="zh-CN" altLang="en-US" sz="2400" b="1" dirty="0">
                <a:latin typeface="隶书" pitchFamily="49" charset="-122"/>
              </a:rPr>
              <a:t>中，当输入字符“</a:t>
            </a:r>
            <a:r>
              <a:rPr lang="en-US" altLang="zh-CN" sz="2400" b="1" dirty="0">
                <a:latin typeface="隶书" pitchFamily="49" charset="-122"/>
              </a:rPr>
              <a:t>@</a:t>
            </a:r>
            <a:r>
              <a:rPr lang="zh-CN" altLang="en-US" sz="2400" b="1" dirty="0">
                <a:latin typeface="隶书" pitchFamily="49" charset="-122"/>
              </a:rPr>
              <a:t>”时停止输入。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938E11-A38D-42DC-83A8-D89A21FD3CCD}"/>
              </a:ext>
            </a:extLst>
          </p:cNvPr>
          <p:cNvSpPr txBox="1">
            <a:spLocks noChangeArrowheads="1"/>
          </p:cNvSpPr>
          <p:nvPr/>
        </p:nvSpPr>
        <p:spPr>
          <a:xfrm>
            <a:off x="1638474" y="1444143"/>
            <a:ext cx="8823800" cy="526297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file.txt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w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 (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getchar</a:t>
            </a:r>
            <a:r>
              <a:rPr lang="en-US" altLang="zh-CN" sz="2400" b="1" dirty="0">
                <a:latin typeface="Consolas" panose="020B0609020204030204" pitchFamily="49" charset="0"/>
              </a:rPr>
              <a:t>()) != 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‘</a:t>
            </a:r>
            <a:r>
              <a:rPr lang="en-US" altLang="zh-CN" sz="2400" b="1" dirty="0">
                <a:solidFill>
                  <a:srgbClr val="FFC000"/>
                </a:solidFill>
                <a:latin typeface="Consolas" panose="020B0609020204030204" pitchFamily="49" charset="0"/>
              </a:rPr>
              <a:t>@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 =~ 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fputc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8989A3-0A17-4362-AF3E-036BA340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4913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6261C3-FCF5-4B03-945E-819E559A103B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D361B8-A68E-44E4-974F-C92C65E73E9F}"/>
              </a:ext>
            </a:extLst>
          </p:cNvPr>
          <p:cNvSpPr/>
          <p:nvPr/>
        </p:nvSpPr>
        <p:spPr>
          <a:xfrm>
            <a:off x="16777" y="608437"/>
            <a:ext cx="12175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8-2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在屏幕上显示文件</a:t>
            </a:r>
            <a:r>
              <a:rPr lang="en-US" altLang="zh-CN" sz="2400" b="1" dirty="0">
                <a:latin typeface="隶书" pitchFamily="49" charset="-122"/>
              </a:rPr>
              <a:t>file.txt</a:t>
            </a:r>
            <a:r>
              <a:rPr lang="zh-CN" altLang="en-US" sz="2400" b="1" dirty="0">
                <a:latin typeface="隶书" pitchFamily="49" charset="-122"/>
              </a:rPr>
              <a:t>解密后的内容。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938E11-A38D-42DC-83A8-D89A21FD3CCD}"/>
              </a:ext>
            </a:extLst>
          </p:cNvPr>
          <p:cNvSpPr txBox="1">
            <a:spLocks noChangeArrowheads="1"/>
          </p:cNvSpPr>
          <p:nvPr/>
        </p:nvSpPr>
        <p:spPr>
          <a:xfrm>
            <a:off x="1510208" y="1142094"/>
            <a:ext cx="8823800" cy="526297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file.txt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r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NULL){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 (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fgetc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))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EOF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 =~ 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putchar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ch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CBE6AD-2B3C-4DA8-B1C0-449B4585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9032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48701D-C5F1-4552-82B0-4F87389CE89E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字符串输出函数</a:t>
            </a:r>
            <a:r>
              <a:rPr kumimoji="1" lang="en-US" altLang="zh-CN" sz="2800" b="1" dirty="0" err="1">
                <a:latin typeface="+mn-ea"/>
                <a:ea typeface="+mn-ea"/>
              </a:rPr>
              <a:t>fputs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，其原型如下：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932191" y="1705634"/>
            <a:ext cx="10583268" cy="27392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fputs</a:t>
            </a:r>
            <a:r>
              <a:rPr lang="fr-FR" altLang="zh-CN" b="1" dirty="0"/>
              <a:t>(</a:t>
            </a:r>
            <a:r>
              <a:rPr lang="fr-FR" altLang="zh-CN" b="1" dirty="0" err="1">
                <a:solidFill>
                  <a:srgbClr val="0000FF"/>
                </a:solidFill>
              </a:rPr>
              <a:t>const</a:t>
            </a:r>
            <a:r>
              <a:rPr lang="fr-FR" altLang="zh-CN" b="1" dirty="0"/>
              <a:t> </a:t>
            </a:r>
            <a:r>
              <a:rPr lang="fr-FR" altLang="zh-CN" b="1" dirty="0">
                <a:solidFill>
                  <a:srgbClr val="0000FF"/>
                </a:solidFill>
              </a:rPr>
              <a:t>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str</a:t>
            </a:r>
            <a:r>
              <a:rPr lang="fr-FR" altLang="zh-CN" b="1" dirty="0"/>
              <a:t>, 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：将一个字符串写入到指定的文件中。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要写入的字符串；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结构体指针，指向要写入的文件。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：返回一个非负整数值，如果写入成功则返回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，否则返回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EOF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（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-1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）。在使用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fputs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函数写入数据时，字符串结束字符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’\0’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会被自动舍去，也不会自动写入换行符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’\n’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4572886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254597"/>
            <a:ext cx="8311465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fputc(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str,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读写文件中的字符串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6486C23-BF3D-4FCA-9AA2-5B6C403B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378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AAA35C4-BEBD-4AC7-BC7F-561578FE596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13DE5E-D525-4A91-B8D7-256136AC34D8}"/>
              </a:ext>
            </a:extLst>
          </p:cNvPr>
          <p:cNvSpPr/>
          <p:nvPr/>
        </p:nvSpPr>
        <p:spPr>
          <a:xfrm>
            <a:off x="16777" y="608437"/>
            <a:ext cx="12175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8-3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将从键盘输入的一行字符串存入文件</a:t>
            </a:r>
            <a:r>
              <a:rPr lang="en-US" altLang="zh-CN" sz="2400" b="1" dirty="0">
                <a:latin typeface="隶书" pitchFamily="49" charset="-122"/>
              </a:rPr>
              <a:t>file.txt</a:t>
            </a:r>
            <a:r>
              <a:rPr lang="zh-CN" altLang="en-US" sz="2400" b="1" dirty="0">
                <a:latin typeface="隶书" pitchFamily="49" charset="-122"/>
              </a:rPr>
              <a:t>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020D1B-859F-48F6-8637-CF0919CBB215}"/>
              </a:ext>
            </a:extLst>
          </p:cNvPr>
          <p:cNvSpPr txBox="1">
            <a:spLocks noChangeArrowheads="1"/>
          </p:cNvSpPr>
          <p:nvPr/>
        </p:nvSpPr>
        <p:spPr>
          <a:xfrm>
            <a:off x="1510208" y="1142094"/>
            <a:ext cx="8823800" cy="489364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file.txt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w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NULL){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latin typeface="Consolas" panose="020B0609020204030204" pitchFamily="49" charset="0"/>
              </a:rPr>
              <a:t> str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81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gets(str);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fputs</a:t>
            </a:r>
            <a:r>
              <a:rPr lang="en-US" altLang="zh-CN" sz="2400" b="1" dirty="0">
                <a:latin typeface="Consolas" panose="020B0609020204030204" pitchFamily="49" charset="0"/>
              </a:rPr>
              <a:t>(str,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fputc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‘</a:t>
            </a:r>
            <a:r>
              <a:rPr lang="en-US" altLang="zh-CN" sz="2400" b="1" dirty="0">
                <a:solidFill>
                  <a:srgbClr val="FFC000"/>
                </a:solidFill>
                <a:latin typeface="Consolas" panose="020B0609020204030204" pitchFamily="49" charset="0"/>
              </a:rPr>
              <a:t>\n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4525E0-ABB5-465B-A058-CB107905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706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148701D-C5F1-4552-82B0-4F87389CE89E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zh-CN" altLang="en-US" sz="2800" b="1" dirty="0">
                <a:latin typeface="+mn-ea"/>
                <a:ea typeface="+mn-ea"/>
              </a:rPr>
              <a:t>字符串输入函数</a:t>
            </a:r>
            <a:r>
              <a:rPr kumimoji="1" lang="en-US" altLang="zh-CN" sz="2800" b="1" dirty="0" err="1">
                <a:latin typeface="+mn-ea"/>
                <a:ea typeface="+mn-ea"/>
              </a:rPr>
              <a:t>fgets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，其原型如下：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31085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fr-FR" altLang="zh-CN" b="1" dirty="0">
                <a:solidFill>
                  <a:srgbClr val="0000FF"/>
                </a:solidFill>
              </a:rPr>
              <a:t>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fget</a:t>
            </a:r>
            <a:r>
              <a:rPr lang="en-US" altLang="zh-CN" b="1" dirty="0"/>
              <a:t>s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str</a:t>
            </a:r>
            <a:r>
              <a:rPr lang="en-US" altLang="zh-CN" b="1" dirty="0"/>
              <a:t>,</a:t>
            </a:r>
            <a:r>
              <a:rPr lang="fr-FR" altLang="zh-CN" b="1" dirty="0"/>
              <a:t> </a:t>
            </a:r>
            <a:r>
              <a:rPr lang="fr-FR" altLang="zh-CN" b="1" dirty="0" err="1">
                <a:solidFill>
                  <a:srgbClr val="0000FF"/>
                </a:solidFill>
              </a:rPr>
              <a:t>int</a:t>
            </a:r>
            <a:r>
              <a:rPr lang="fr-FR" altLang="zh-CN" b="1" dirty="0"/>
              <a:t> n, 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：从指定的文件中读取一行数据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(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长度不超过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n-1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个字符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)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并存放到字符数组中。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存储读取到的字符串的字符数组首地址。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 n: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读取的最大字符数；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结构体指针，指向要读取的文件。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：返回一个指向字符串的指针，如果读取成功则返回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str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参数的值，否则返回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NULL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。在使用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fgets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函数读取数据时，如果在未读满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n-1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个字符就遇到换行符或文件结束标志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EOF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，则将结束本次读入操作，此时读入的字符数小于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n-1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4889077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451144"/>
            <a:ext cx="10317241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fgets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str</a:t>
            </a:r>
            <a:r>
              <a:rPr lang="en-US" altLang="zh-CN" b="1" dirty="0"/>
              <a:t>,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n</a:t>
            </a:r>
            <a:r>
              <a:rPr lang="en-US" altLang="zh-CN" b="1" dirty="0"/>
              <a:t>, 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读写文件中的字符串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48A297F-2B5A-407E-900D-87D8EC827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913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AAA35C4-BEBD-4AC7-BC7F-561578FE596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按字符读写文件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13DE5E-D525-4A91-B8D7-256136AC34D8}"/>
              </a:ext>
            </a:extLst>
          </p:cNvPr>
          <p:cNvSpPr/>
          <p:nvPr/>
        </p:nvSpPr>
        <p:spPr>
          <a:xfrm>
            <a:off x="16777" y="608437"/>
            <a:ext cx="12175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8-4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从键盘输入文件名，在屏幕上显示该文件的内容。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020D1B-859F-48F6-8637-CF0919CBB215}"/>
              </a:ext>
            </a:extLst>
          </p:cNvPr>
          <p:cNvSpPr txBox="1">
            <a:spLocks noChangeArrowheads="1"/>
          </p:cNvSpPr>
          <p:nvPr/>
        </p:nvSpPr>
        <p:spPr>
          <a:xfrm>
            <a:off x="1510208" y="1125542"/>
            <a:ext cx="8823800" cy="56323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file_name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20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10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latin typeface="Consolas" panose="020B0609020204030204" pitchFamily="49" charset="0"/>
              </a:rPr>
              <a:t>gets(</a:t>
            </a:r>
            <a:r>
              <a:rPr lang="en-US" altLang="zh-CN" sz="2400" b="1" dirty="0" err="1">
                <a:latin typeface="Consolas" panose="020B0609020204030204" pitchFamily="49" charset="0"/>
              </a:rPr>
              <a:t>file_name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file_name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r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(!</a:t>
            </a:r>
            <a:r>
              <a:rPr lang="en-US" altLang="zh-CN" sz="2400" b="1" dirty="0" err="1">
                <a:latin typeface="Consolas" panose="020B0609020204030204" pitchFamily="49" charset="0"/>
              </a:rPr>
              <a:t>feof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fgets</a:t>
            </a:r>
            <a:r>
              <a:rPr lang="en-US" altLang="zh-CN" sz="2400" b="1" dirty="0">
                <a:latin typeface="Consolas" panose="020B0609020204030204" pitchFamily="49" charset="0"/>
              </a:rPr>
              <a:t>(str, 10,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		 </a:t>
            </a:r>
            <a:r>
              <a:rPr lang="en-US" altLang="zh-CN" sz="24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 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%s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 “</a:t>
            </a:r>
            <a:r>
              <a:rPr lang="en-US" altLang="zh-CN" sz="2400" b="1" dirty="0">
                <a:latin typeface="Consolas" panose="020B0609020204030204" pitchFamily="49" charset="0"/>
              </a:rPr>
              <a:t>, str);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D446FB-24CC-4689-8CBA-23A436EDE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59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fprintf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236988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fprintf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, </a:t>
            </a:r>
            <a:r>
              <a:rPr lang="fr-FR" altLang="zh-CN" b="1" dirty="0" err="1">
                <a:solidFill>
                  <a:srgbClr val="0000FF"/>
                </a:solidFill>
              </a:rPr>
              <a:t>const</a:t>
            </a:r>
            <a:r>
              <a:rPr lang="fr-FR" altLang="zh-CN" b="1" dirty="0">
                <a:solidFill>
                  <a:srgbClr val="0000FF"/>
                </a:solidFill>
              </a:rPr>
              <a:t> 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/>
              <a:t>format</a:t>
            </a:r>
            <a:r>
              <a:rPr lang="en-US" altLang="zh-CN" b="1" dirty="0"/>
              <a:t>,</a:t>
            </a:r>
            <a:r>
              <a:rPr lang="fr-FR" altLang="zh-CN" b="1" dirty="0"/>
              <a:t> </a:t>
            </a:r>
            <a:r>
              <a:rPr lang="fr-FR" altLang="zh-CN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…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：将格式化的数据写入到指定的文件中。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结构体指针，指向要写入的文件；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format: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格式化字符串，用于指定输出格式；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</a:t>
            </a:r>
            <a:r>
              <a:rPr kumimoji="1" lang="en-US" altLang="zh-CN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…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: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可变参数列表，用于提供要输出的数据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：返回一个非负整数值，表示成功写入的字符数，如果发生错误则返回负数。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4889077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451144"/>
            <a:ext cx="10317241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fprintf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</a:t>
            </a:r>
            <a:r>
              <a:rPr lang="en-US" altLang="zh-CN" b="1" dirty="0"/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格式控制符</a:t>
            </a:r>
            <a:r>
              <a:rPr lang="en-US" altLang="zh-CN" b="1" dirty="0"/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输出项列表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格式化输出函数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fprintf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53062D-1B9A-48D4-8CF7-A5E6244A919D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按格式读写文件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B2C9EBF-704E-4D15-9A6B-79384264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332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2D905FA-41E6-4C1C-B49D-FD85194FDD5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按格式读写文件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DFB654-4F35-4369-9583-086F4C31F183}"/>
              </a:ext>
            </a:extLst>
          </p:cNvPr>
          <p:cNvSpPr/>
          <p:nvPr/>
        </p:nvSpPr>
        <p:spPr>
          <a:xfrm>
            <a:off x="16777" y="608437"/>
            <a:ext cx="12175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8-6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从键盘键入古代剑客资料写入</a:t>
            </a:r>
            <a:r>
              <a:rPr lang="en-US" altLang="zh-CN" sz="2400" b="1" dirty="0">
                <a:latin typeface="隶书" pitchFamily="49" charset="-122"/>
              </a:rPr>
              <a:t>swordsman.txt</a:t>
            </a:r>
            <a:r>
              <a:rPr lang="zh-CN" altLang="en-US" sz="2400" b="1" dirty="0">
                <a:latin typeface="隶书" pitchFamily="49" charset="-122"/>
              </a:rPr>
              <a:t>文件中进行保存，输入“</a:t>
            </a:r>
            <a:r>
              <a:rPr lang="en-US" altLang="zh-CN" sz="2400" b="1" dirty="0">
                <a:latin typeface="隶书" pitchFamily="49" charset="-122"/>
              </a:rPr>
              <a:t>*</a:t>
            </a:r>
            <a:r>
              <a:rPr lang="zh-CN" altLang="en-US" sz="2400" b="1" dirty="0">
                <a:latin typeface="隶书" pitchFamily="49" charset="-122"/>
              </a:rPr>
              <a:t>”时结束。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7CF488-6A63-4082-AAB5-30CD79D85CE8}"/>
              </a:ext>
            </a:extLst>
          </p:cNvPr>
          <p:cNvSpPr txBox="1">
            <a:spLocks noChangeArrowheads="1"/>
          </p:cNvSpPr>
          <p:nvPr/>
        </p:nvSpPr>
        <p:spPr>
          <a:xfrm>
            <a:off x="4046531" y="1232039"/>
            <a:ext cx="8145470" cy="56323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swordsman.txt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CHARACTER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gets(tmp.name);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 </a:t>
            </a:r>
            <a:r>
              <a:rPr lang="en-US" altLang="zh-CN" sz="2400" b="1" dirty="0" err="1">
                <a:latin typeface="Consolas" panose="020B0609020204030204" pitchFamily="49" charset="0"/>
              </a:rPr>
              <a:t>strcmp</a:t>
            </a:r>
            <a:r>
              <a:rPr lang="en-US" altLang="zh-CN" sz="2400" b="1" dirty="0">
                <a:latin typeface="Consolas" panose="020B0609020204030204" pitchFamily="49" charset="0"/>
              </a:rPr>
              <a:t>(tmp.name,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</a:rPr>
              <a:t>*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 != 0 ){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scanf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%d %s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&amp;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tmp.age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tmp.skill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		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fprintf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 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%s %d %s\n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 “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      tmp.name,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tmp.age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tmp.skill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5BECD61-6C3E-4416-A435-8050B04F892D}"/>
              </a:ext>
            </a:extLst>
          </p:cNvPr>
          <p:cNvSpPr txBox="1">
            <a:spLocks noChangeArrowheads="1"/>
          </p:cNvSpPr>
          <p:nvPr/>
        </p:nvSpPr>
        <p:spPr>
          <a:xfrm>
            <a:off x="16778" y="1070102"/>
            <a:ext cx="3988378" cy="34163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Character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name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32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age;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skill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32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CHARACTER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A753E2-8F76-48F5-9352-FC691E57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546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fscanf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236988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/>
              <a:t>f</a:t>
            </a:r>
            <a:r>
              <a:rPr lang="en-US" altLang="zh-CN" b="1" dirty="0"/>
              <a:t>scan</a:t>
            </a:r>
            <a:r>
              <a:rPr lang="fr-FR" altLang="zh-CN" b="1" dirty="0"/>
              <a:t>f(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, </a:t>
            </a:r>
            <a:r>
              <a:rPr lang="fr-FR" altLang="zh-CN" b="1" dirty="0" err="1">
                <a:solidFill>
                  <a:srgbClr val="0000FF"/>
                </a:solidFill>
              </a:rPr>
              <a:t>const</a:t>
            </a:r>
            <a:r>
              <a:rPr lang="fr-FR" altLang="zh-CN" b="1" dirty="0">
                <a:solidFill>
                  <a:srgbClr val="0000FF"/>
                </a:solidFill>
              </a:rPr>
              <a:t> char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/>
              <a:t>format</a:t>
            </a:r>
            <a:r>
              <a:rPr lang="en-US" altLang="zh-CN" b="1" dirty="0"/>
              <a:t>,</a:t>
            </a:r>
            <a:r>
              <a:rPr lang="fr-FR" altLang="zh-CN" b="1" dirty="0"/>
              <a:t> </a:t>
            </a:r>
            <a:r>
              <a:rPr lang="fr-FR" altLang="zh-CN" b="1" dirty="0">
                <a:latin typeface="华文隶书" panose="02010800040101010101" pitchFamily="2" charset="-122"/>
                <a:ea typeface="华文隶书" panose="02010800040101010101" pitchFamily="2" charset="-122"/>
              </a:rPr>
              <a:t>…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：从指定的文件中读取格式化的数据。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结构体指针，指向要读取的文件；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format: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格式化字符串，用于指定输入格式；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</a:t>
            </a:r>
            <a:r>
              <a:rPr kumimoji="1" lang="en-US" altLang="zh-CN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…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: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可变参数列表，用于提供要读取的数据项地址列表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：返回一个非负整数值，表示成功读取的数据项数，如果发生错误则返回负数。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4889077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451144"/>
            <a:ext cx="10317241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fscanf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</a:t>
            </a:r>
            <a:r>
              <a:rPr lang="en-US" altLang="zh-CN" b="1" dirty="0"/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格式控制符</a:t>
            </a:r>
            <a:r>
              <a:rPr lang="en-US" altLang="zh-CN" b="1" dirty="0"/>
              <a:t>, 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输入项地址列表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格式化输入函数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fscanf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53062D-1B9A-48D4-8CF7-A5E6244A919D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按格式读写文件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ED10F9F-2787-4431-B6DA-9D8CA6D15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275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2D905FA-41E6-4C1C-B49D-FD85194FDD5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按格式读写文件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DFB654-4F35-4369-9583-086F4C31F183}"/>
              </a:ext>
            </a:extLst>
          </p:cNvPr>
          <p:cNvSpPr/>
          <p:nvPr/>
        </p:nvSpPr>
        <p:spPr>
          <a:xfrm>
            <a:off x="16777" y="608437"/>
            <a:ext cx="121752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8-7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将例</a:t>
            </a:r>
            <a:r>
              <a:rPr lang="en-US" altLang="zh-CN" sz="2400" b="1" dirty="0">
                <a:latin typeface="隶书" pitchFamily="49" charset="-122"/>
              </a:rPr>
              <a:t>8-6</a:t>
            </a:r>
            <a:r>
              <a:rPr lang="zh-CN" altLang="en-US" sz="2400" b="1" dirty="0">
                <a:latin typeface="隶书" pitchFamily="49" charset="-122"/>
              </a:rPr>
              <a:t>所写的</a:t>
            </a:r>
            <a:r>
              <a:rPr lang="en-US" altLang="zh-CN" sz="2400" b="1" dirty="0">
                <a:latin typeface="隶书" pitchFamily="49" charset="-122"/>
              </a:rPr>
              <a:t>swordsman.txt</a:t>
            </a:r>
            <a:r>
              <a:rPr lang="zh-CN" altLang="en-US" sz="2400" b="1" dirty="0">
                <a:latin typeface="隶书" pitchFamily="49" charset="-122"/>
              </a:rPr>
              <a:t>文件内容读出并显示在显示器上。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7CF488-6A63-4082-AAB5-30CD79D85CE8}"/>
              </a:ext>
            </a:extLst>
          </p:cNvPr>
          <p:cNvSpPr txBox="1">
            <a:spLocks noChangeArrowheads="1"/>
          </p:cNvSpPr>
          <p:nvPr/>
        </p:nvSpPr>
        <p:spPr>
          <a:xfrm>
            <a:off x="3450722" y="1232039"/>
            <a:ext cx="8741279" cy="56323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swordsman.txt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r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CHARACTER</a:t>
            </a:r>
            <a:r>
              <a:rPr lang="en-US" altLang="zh-CN" sz="2400" b="1" dirty="0"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 !</a:t>
            </a:r>
            <a:r>
              <a:rPr lang="en-US" altLang="zh-CN" sz="2400" b="1" dirty="0" err="1">
                <a:latin typeface="Consolas" panose="020B0609020204030204" pitchFamily="49" charset="0"/>
              </a:rPr>
              <a:t>feof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 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fscanf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 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%s %d %s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 “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       tmp.name,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tmp.age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tmp.skill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%s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%d %s\n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       tmp.name,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tmp.age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tmp.skill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3333FF"/>
                </a:solidFill>
                <a:latin typeface="Consolas" panose="020B0609020204030204" pitchFamily="49" charset="0"/>
              </a:rPr>
              <a:t>    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5BECD61-6C3E-4416-A435-8050B04F892D}"/>
              </a:ext>
            </a:extLst>
          </p:cNvPr>
          <p:cNvSpPr txBox="1">
            <a:spLocks noChangeArrowheads="1"/>
          </p:cNvSpPr>
          <p:nvPr/>
        </p:nvSpPr>
        <p:spPr>
          <a:xfrm>
            <a:off x="16778" y="1070102"/>
            <a:ext cx="3359468" cy="34163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typedef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Character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name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32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age;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skill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32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CHARACTER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62AA5C-1D93-4C53-9BBE-7EC9709F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7135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fwrite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34778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 err="1">
                <a:solidFill>
                  <a:srgbClr val="0000FF"/>
                </a:solidFill>
              </a:rPr>
              <a:t>size_t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fwrite</a:t>
            </a:r>
            <a:r>
              <a:rPr lang="fr-FR" altLang="zh-CN" b="1" dirty="0"/>
              <a:t>(</a:t>
            </a:r>
            <a:r>
              <a:rPr lang="fr-FR" altLang="zh-CN" b="1" dirty="0" err="1">
                <a:solidFill>
                  <a:srgbClr val="0000FF"/>
                </a:solidFill>
              </a:rPr>
              <a:t>const</a:t>
            </a:r>
            <a:r>
              <a:rPr lang="fr-FR" altLang="zh-CN" b="1" dirty="0">
                <a:solidFill>
                  <a:srgbClr val="0000FF"/>
                </a:solidFill>
              </a:rPr>
              <a:t> </a:t>
            </a:r>
            <a:r>
              <a:rPr lang="fr-FR" altLang="zh-CN" b="1" dirty="0" err="1">
                <a:solidFill>
                  <a:srgbClr val="0000FF"/>
                </a:solidFill>
              </a:rPr>
              <a:t>void</a:t>
            </a:r>
            <a:r>
              <a:rPr lang="fr-FR" altLang="zh-CN" b="1" dirty="0">
                <a:solidFill>
                  <a:srgbClr val="FF0000"/>
                </a:solidFill>
              </a:rPr>
              <a:t>*</a:t>
            </a:r>
            <a:r>
              <a:rPr lang="fr-FR" altLang="zh-CN" b="1" dirty="0"/>
              <a:t> </a:t>
            </a:r>
            <a:r>
              <a:rPr lang="fr-FR" altLang="zh-CN" b="1" dirty="0" err="1"/>
              <a:t>ptr</a:t>
            </a:r>
            <a:r>
              <a:rPr lang="fr-FR" altLang="zh-CN" b="1" dirty="0"/>
              <a:t>, </a:t>
            </a:r>
            <a:r>
              <a:rPr lang="en-US" altLang="zh-CN" b="1" dirty="0" err="1">
                <a:solidFill>
                  <a:srgbClr val="0000FF"/>
                </a:solidFill>
              </a:rPr>
              <a:t>size_t</a:t>
            </a:r>
            <a:r>
              <a:rPr lang="fr-FR" altLang="zh-CN" b="1" dirty="0"/>
              <a:t> size, </a:t>
            </a:r>
            <a:r>
              <a:rPr lang="en-US" altLang="zh-CN" b="1" dirty="0" err="1">
                <a:solidFill>
                  <a:srgbClr val="0000FF"/>
                </a:solidFill>
              </a:rPr>
              <a:t>size_t</a:t>
            </a:r>
            <a:r>
              <a:rPr lang="fr-FR" altLang="zh-CN" b="1" dirty="0"/>
              <a:t> count, 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：将数据块写入到指定的文件中。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ptr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指向要写入数据块的指针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size: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每个数据项的字节数；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count: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要写入的数据项数；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 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结构体指针，指向要写入的文件；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：返回一个非负整数值，表示成功写入的数据项数，如果发生错误则返回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。如果要写入的数据块大小不为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1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，则需要确保每个数据项的大小为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size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参数指定的大小。另外，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fwrite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函数不会自动在数据末尾添加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'\0'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字符，因此在读取时需要注意数据块的长度。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5162543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724610"/>
            <a:ext cx="10317241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fwrite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buffer, size, count, 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文件数据块写函数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fwrite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3822BB-03E5-4DDB-BFFB-EED320E5766C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4D39A3D-BDB2-4338-A1FE-D809CFA1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59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3D0B12-47D4-4AC3-9160-C28E7E2AD1CA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4F6638-7D6A-4B44-9371-F5B83F3A9A39}"/>
              </a:ext>
            </a:extLst>
          </p:cNvPr>
          <p:cNvSpPr txBox="1">
            <a:spLocks noChangeArrowheads="1"/>
          </p:cNvSpPr>
          <p:nvPr/>
        </p:nvSpPr>
        <p:spPr>
          <a:xfrm>
            <a:off x="103664" y="1679459"/>
            <a:ext cx="5610299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float </a:t>
            </a:r>
            <a:r>
              <a:rPr lang="en-US" altLang="zh-CN" sz="2400" b="1" dirty="0">
                <a:latin typeface="Consolas" panose="020B0609020204030204" pitchFamily="49" charset="0"/>
              </a:rPr>
              <a:t>f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= 0;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&lt; 2;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++)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scanf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%f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2400" b="1" dirty="0">
                <a:latin typeface="Consolas" panose="020B0609020204030204" pitchFamily="49" charset="0"/>
              </a:rPr>
              <a:t>f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aa.dat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wb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 err="1">
                <a:latin typeface="Consolas" panose="020B0609020204030204" pitchFamily="49" charset="0"/>
              </a:rPr>
              <a:t>fwrite</a:t>
            </a:r>
            <a:r>
              <a:rPr lang="en-US" altLang="zh-CN" sz="2400" b="1" dirty="0">
                <a:latin typeface="Consolas" panose="020B0609020204030204" pitchFamily="49" charset="0"/>
              </a:rPr>
              <a:t>(f, 4, 2,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B3EC3C-DFE6-4451-90D0-0B9C6A7146FF}"/>
              </a:ext>
            </a:extLst>
          </p:cNvPr>
          <p:cNvSpPr txBox="1">
            <a:spLocks noChangeArrowheads="1"/>
          </p:cNvSpPr>
          <p:nvPr/>
        </p:nvSpPr>
        <p:spPr>
          <a:xfrm>
            <a:off x="5821542" y="704524"/>
            <a:ext cx="6279432" cy="60016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num;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name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20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age;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stud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 = { {1,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Li Lin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solidFill>
                  <a:srgbClr val="FFC000"/>
                </a:solidFill>
                <a:latin typeface="Consolas" panose="020B0609020204030204" pitchFamily="49" charset="0"/>
              </a:rPr>
              <a:t>M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latin typeface="Consolas" panose="020B0609020204030204" pitchFamily="49" charset="0"/>
              </a:rPr>
              <a:t>, 18},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 {2,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Xi Fan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solidFill>
                  <a:srgbClr val="FFC000"/>
                </a:solidFill>
                <a:latin typeface="Consolas" panose="020B0609020204030204" pitchFamily="49" charset="0"/>
              </a:rPr>
              <a:t>M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latin typeface="Consolas" panose="020B0609020204030204" pitchFamily="49" charset="0"/>
              </a:rPr>
              <a:t>, 19},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  {3,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Mei Si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solidFill>
                  <a:srgbClr val="FFC000"/>
                </a:solidFill>
                <a:latin typeface="Consolas" panose="020B0609020204030204" pitchFamily="49" charset="0"/>
              </a:rPr>
              <a:t>F</a:t>
            </a:r>
            <a:r>
              <a:rPr lang="en-US" altLang="zh-CN" sz="2400" b="1" dirty="0">
                <a:solidFill>
                  <a:srgbClr val="FFC000"/>
                </a:solidFill>
                <a:latin typeface="Agency FB" panose="020B0503020202020204" pitchFamily="34" charset="0"/>
              </a:rPr>
              <a:t>’</a:t>
            </a:r>
            <a:r>
              <a:rPr lang="en-US" altLang="zh-CN" sz="2400" b="1" dirty="0">
                <a:latin typeface="Consolas" panose="020B0609020204030204" pitchFamily="49" charset="0"/>
              </a:rPr>
              <a:t>, 20} };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student.dat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wb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= 0;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&lt; 3;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++)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fwrite</a:t>
            </a:r>
            <a:r>
              <a:rPr lang="en-US" altLang="zh-CN" sz="2400" b="1" dirty="0">
                <a:latin typeface="Consolas" panose="020B0609020204030204" pitchFamily="49" charset="0"/>
              </a:rPr>
              <a:t>(&amp;stud[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],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sizeof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student),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1,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D3407B-B381-4C86-A0FD-4A2E99B0A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358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88">
            <a:extLst>
              <a:ext uri="{FF2B5EF4-FFF2-40B4-BE49-F238E27FC236}">
                <a16:creationId xmlns:a16="http://schemas.microsoft.com/office/drawing/2014/main" id="{828408E3-4C83-4614-9AF4-604129798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fread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CD2489-30ED-4B6F-ABE3-1071D6E68C39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34778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 err="1">
                <a:solidFill>
                  <a:srgbClr val="0000FF"/>
                </a:solidFill>
              </a:rPr>
              <a:t>size_t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fread</a:t>
            </a:r>
            <a:r>
              <a:rPr lang="fr-FR" altLang="zh-CN" b="1" dirty="0"/>
              <a:t>(</a:t>
            </a:r>
            <a:r>
              <a:rPr lang="fr-FR" altLang="zh-CN" b="1" dirty="0" err="1">
                <a:solidFill>
                  <a:srgbClr val="0000FF"/>
                </a:solidFill>
              </a:rPr>
              <a:t>void</a:t>
            </a:r>
            <a:r>
              <a:rPr lang="fr-FR" altLang="zh-CN" b="1" dirty="0">
                <a:solidFill>
                  <a:srgbClr val="FF0000"/>
                </a:solidFill>
              </a:rPr>
              <a:t>*</a:t>
            </a:r>
            <a:r>
              <a:rPr lang="fr-FR" altLang="zh-CN" b="1" dirty="0"/>
              <a:t> </a:t>
            </a:r>
            <a:r>
              <a:rPr lang="fr-FR" altLang="zh-CN" b="1" dirty="0" err="1"/>
              <a:t>ptr</a:t>
            </a:r>
            <a:r>
              <a:rPr lang="fr-FR" altLang="zh-CN" b="1" dirty="0"/>
              <a:t>, </a:t>
            </a:r>
            <a:r>
              <a:rPr lang="en-US" altLang="zh-CN" b="1" dirty="0" err="1">
                <a:solidFill>
                  <a:srgbClr val="0000FF"/>
                </a:solidFill>
              </a:rPr>
              <a:t>size_t</a:t>
            </a:r>
            <a:r>
              <a:rPr lang="fr-FR" altLang="zh-CN" b="1" dirty="0"/>
              <a:t> size, </a:t>
            </a:r>
            <a:r>
              <a:rPr lang="en-US" altLang="zh-CN" b="1" dirty="0" err="1">
                <a:solidFill>
                  <a:srgbClr val="0000FF"/>
                </a:solidFill>
              </a:rPr>
              <a:t>size_t</a:t>
            </a:r>
            <a:r>
              <a:rPr lang="fr-FR" altLang="zh-CN" b="1" dirty="0"/>
              <a:t> count, 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：从指定的文件中读取数据块。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ptr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: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指向接收数据块的缓冲区的指针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size: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每个数据项的字节数；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count: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要读取的数据项数；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      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结构体指针，指向要读取的文件；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：返回一个非负整数值，表示成功读取的数据项数，如果发生错误则返回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。在读取时需要确保缓冲区足够大，以存储要读取的数据块。另外，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fread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函数不会自动在数据末尾添加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'\0'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字符，因此在处理字符串时需要注意数据块的长度。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C6563D4-1789-4C56-AD03-DD70C565DBE5}"/>
              </a:ext>
            </a:extLst>
          </p:cNvPr>
          <p:cNvSpPr/>
          <p:nvPr/>
        </p:nvSpPr>
        <p:spPr>
          <a:xfrm>
            <a:off x="0" y="5166822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6B5D68D7-C07E-40E3-AA98-584AAE90C3CF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728889"/>
            <a:ext cx="10317241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fread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buffer, size, count, 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A054EC-B6DE-42BF-9EEB-12488660026B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文件数据块读函数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fread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83822BB-03E5-4DDB-BFFB-EED320E5766C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271E465-8DB6-4B98-A77B-17F2C7DBB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365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93D0B12-47D4-4AC3-9160-C28E7E2AD1CA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4F6638-7D6A-4B44-9371-F5B83F3A9A39}"/>
              </a:ext>
            </a:extLst>
          </p:cNvPr>
          <p:cNvSpPr txBox="1">
            <a:spLocks noChangeArrowheads="1"/>
          </p:cNvSpPr>
          <p:nvPr/>
        </p:nvSpPr>
        <p:spPr>
          <a:xfrm>
            <a:off x="103664" y="1679459"/>
            <a:ext cx="5610299" cy="267765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float </a:t>
            </a:r>
            <a:r>
              <a:rPr lang="en-US" altLang="zh-CN" sz="2400" b="1" dirty="0">
                <a:latin typeface="Consolas" panose="020B0609020204030204" pitchFamily="49" charset="0"/>
              </a:rPr>
              <a:t>f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aa.dat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rb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 err="1">
                <a:latin typeface="Consolas" panose="020B0609020204030204" pitchFamily="49" charset="0"/>
              </a:rPr>
              <a:t>fread</a:t>
            </a:r>
            <a:r>
              <a:rPr lang="en-US" altLang="zh-CN" sz="2400" b="1" dirty="0">
                <a:latin typeface="Consolas" panose="020B0609020204030204" pitchFamily="49" charset="0"/>
              </a:rPr>
              <a:t>(f, 4, 2,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B3EC3C-DFE6-4451-90D0-0B9C6A7146FF}"/>
              </a:ext>
            </a:extLst>
          </p:cNvPr>
          <p:cNvSpPr txBox="1">
            <a:spLocks noChangeArrowheads="1"/>
          </p:cNvSpPr>
          <p:nvPr/>
        </p:nvSpPr>
        <p:spPr>
          <a:xfrm>
            <a:off x="5821542" y="704524"/>
            <a:ext cx="6279432" cy="563231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num;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name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20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age;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stud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10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student.dat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rb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= 0;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&lt; 10;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++)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fread</a:t>
            </a:r>
            <a:r>
              <a:rPr lang="en-US" altLang="zh-CN" sz="2400" b="1" dirty="0">
                <a:latin typeface="Consolas" panose="020B0609020204030204" pitchFamily="49" charset="0"/>
              </a:rPr>
              <a:t>(&amp;stud[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],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sizeof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student), 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1,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F0976B-3A0E-4CEF-A0BC-306517FF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899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A0711B-1686-492F-AAD8-DD51C974783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944C2C-784A-497F-ACE2-42E93607C2B4}"/>
              </a:ext>
            </a:extLst>
          </p:cNvPr>
          <p:cNvSpPr/>
          <p:nvPr/>
        </p:nvSpPr>
        <p:spPr>
          <a:xfrm>
            <a:off x="16777" y="608437"/>
            <a:ext cx="12175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8-8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从键盘键入</a:t>
            </a:r>
            <a:r>
              <a:rPr lang="en-US" altLang="zh-CN" sz="2400" b="1" dirty="0">
                <a:latin typeface="隶书" pitchFamily="49" charset="-122"/>
              </a:rPr>
              <a:t>3</a:t>
            </a:r>
            <a:r>
              <a:rPr lang="zh-CN" altLang="en-US" sz="2400" b="1" dirty="0">
                <a:latin typeface="隶书" pitchFamily="49" charset="-122"/>
              </a:rPr>
              <a:t>名学生的数据，每名学生的数据包括姓名、年龄和住址，将它们存入文件</a:t>
            </a:r>
            <a:r>
              <a:rPr lang="en-US" altLang="zh-CN" sz="2400" b="1" dirty="0">
                <a:latin typeface="隶书" pitchFamily="49" charset="-122"/>
              </a:rPr>
              <a:t>student.dat</a:t>
            </a:r>
            <a:r>
              <a:rPr lang="zh-CN" altLang="en-US" sz="2400" b="1" dirty="0">
                <a:latin typeface="隶书" pitchFamily="49" charset="-122"/>
              </a:rPr>
              <a:t>，然后再从该文件中读出并显示在屏幕上。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8E54E50-EC4D-4A18-9D9A-9D18E6F173AD}"/>
              </a:ext>
            </a:extLst>
          </p:cNvPr>
          <p:cNvSpPr txBox="1">
            <a:spLocks noChangeArrowheads="1"/>
          </p:cNvSpPr>
          <p:nvPr/>
        </p:nvSpPr>
        <p:spPr>
          <a:xfrm>
            <a:off x="277444" y="1881063"/>
            <a:ext cx="3359468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stdio.h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#define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SIZE </a:t>
            </a:r>
            <a:r>
              <a:rPr lang="en-US" altLang="zh-CN" sz="2400" b="1" dirty="0">
                <a:latin typeface="Consolas" panose="020B0609020204030204" pitchFamily="49" charset="0"/>
              </a:rPr>
              <a:t>3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name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10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age;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char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addr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latin typeface="Consolas" panose="020B0609020204030204" pitchFamily="49" charset="0"/>
              </a:rPr>
              <a:t>10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r>
              <a:rPr lang="en-US" altLang="zh-CN" sz="2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stu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012590-96C5-4F34-AFE6-FDFA4E9A1673}"/>
              </a:ext>
            </a:extLst>
          </p:cNvPr>
          <p:cNvSpPr txBox="1">
            <a:spLocks noChangeArrowheads="1"/>
          </p:cNvSpPr>
          <p:nvPr/>
        </p:nvSpPr>
        <p:spPr>
          <a:xfrm>
            <a:off x="3984004" y="1881063"/>
            <a:ext cx="6020607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2400" b="1" dirty="0">
                <a:latin typeface="Consolas" panose="020B0609020204030204" pitchFamily="49" charset="0"/>
              </a:rPr>
              <a:t>input()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= 0;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&lt;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2400" b="1" dirty="0">
                <a:latin typeface="Consolas" panose="020B0609020204030204" pitchFamily="49" charset="0"/>
              </a:rPr>
              <a:t>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++){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scanf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%s %d %s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stu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.name,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stu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.age,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stu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]</a:t>
            </a:r>
            <a:r>
              <a:rPr lang="en-US" altLang="zh-CN" sz="2400" b="1" dirty="0">
                <a:latin typeface="Consolas" panose="020B0609020204030204" pitchFamily="49" charset="0"/>
              </a:rPr>
              <a:t>.</a:t>
            </a:r>
            <a:r>
              <a:rPr lang="en-US" altLang="zh-CN" sz="2400" b="1" dirty="0" err="1">
                <a:latin typeface="Consolas" panose="020B0609020204030204" pitchFamily="49" charset="0"/>
              </a:rPr>
              <a:t>addr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1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69B804-C6F6-4506-8760-617007745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264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A0711B-1686-492F-AAD8-DD51C974783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944C2C-784A-497F-ACE2-42E93607C2B4}"/>
              </a:ext>
            </a:extLst>
          </p:cNvPr>
          <p:cNvSpPr/>
          <p:nvPr/>
        </p:nvSpPr>
        <p:spPr>
          <a:xfrm>
            <a:off x="16777" y="608437"/>
            <a:ext cx="12175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8-8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从键盘键入</a:t>
            </a:r>
            <a:r>
              <a:rPr lang="en-US" altLang="zh-CN" sz="2400" b="1" dirty="0">
                <a:latin typeface="隶书" pitchFamily="49" charset="-122"/>
              </a:rPr>
              <a:t>3</a:t>
            </a:r>
            <a:r>
              <a:rPr lang="zh-CN" altLang="en-US" sz="2400" b="1" dirty="0">
                <a:latin typeface="隶书" pitchFamily="49" charset="-122"/>
              </a:rPr>
              <a:t>名学生的数据，每名学生的数据包括姓名、年龄和住址，将它们存入文件</a:t>
            </a:r>
            <a:r>
              <a:rPr lang="en-US" altLang="zh-CN" sz="2400" b="1" dirty="0">
                <a:latin typeface="隶书" pitchFamily="49" charset="-122"/>
              </a:rPr>
              <a:t>student.dat</a:t>
            </a:r>
            <a:r>
              <a:rPr lang="zh-CN" altLang="en-US" sz="2400" b="1" dirty="0">
                <a:latin typeface="隶书" pitchFamily="49" charset="-122"/>
              </a:rPr>
              <a:t>，然后再从该文件中读出并显示在屏幕上。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012590-96C5-4F34-AFE6-FDFA4E9A1673}"/>
              </a:ext>
            </a:extLst>
          </p:cNvPr>
          <p:cNvSpPr txBox="1">
            <a:spLocks noChangeArrowheads="1"/>
          </p:cNvSpPr>
          <p:nvPr/>
        </p:nvSpPr>
        <p:spPr>
          <a:xfrm>
            <a:off x="123665" y="1478081"/>
            <a:ext cx="10253328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2400" b="1" dirty="0" err="1">
                <a:latin typeface="Consolas" panose="020B0609020204030204" pitchFamily="49" charset="0"/>
              </a:rPr>
              <a:t>fsave</a:t>
            </a:r>
            <a:r>
              <a:rPr lang="en-US" altLang="zh-CN" sz="2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student.dat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wb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= 0;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 &lt;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SIZE</a:t>
            </a:r>
            <a:r>
              <a:rPr lang="en-US" altLang="zh-CN" sz="2400" b="1" dirty="0">
                <a:latin typeface="Consolas" panose="020B0609020204030204" pitchFamily="49" charset="0"/>
              </a:rPr>
              <a:t>; 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++)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fwrite</a:t>
            </a:r>
            <a:r>
              <a:rPr lang="en-US" altLang="zh-CN" sz="2400" b="1" dirty="0">
                <a:latin typeface="Consolas" panose="020B0609020204030204" pitchFamily="49" charset="0"/>
              </a:rPr>
              <a:t>(&amp;</a:t>
            </a:r>
            <a:r>
              <a:rPr lang="en-US" altLang="zh-CN" sz="2400" b="1" dirty="0" err="1">
                <a:latin typeface="Consolas" panose="020B0609020204030204" pitchFamily="49" charset="0"/>
              </a:rPr>
              <a:t>stu</a:t>
            </a:r>
            <a:r>
              <a:rPr lang="en-US" altLang="zh-CN" sz="2400" b="1" dirty="0">
                <a:latin typeface="Consolas" panose="020B0609020204030204" pitchFamily="49" charset="0"/>
              </a:rPr>
              <a:t>[</a:t>
            </a:r>
            <a:r>
              <a:rPr lang="en-US" altLang="zh-CN" sz="2400" b="1" dirty="0" err="1">
                <a:latin typeface="Consolas" panose="020B0609020204030204" pitchFamily="49" charset="0"/>
              </a:rPr>
              <a:t>i</a:t>
            </a:r>
            <a:r>
              <a:rPr lang="en-US" altLang="zh-CN" sz="2400" b="1" dirty="0">
                <a:latin typeface="Consolas" panose="020B0609020204030204" pitchFamily="49" charset="0"/>
              </a:rPr>
              <a:t>], </a:t>
            </a:r>
            <a:r>
              <a:rPr lang="en-US" altLang="zh-CN" sz="2400" b="1" dirty="0" err="1">
                <a:latin typeface="Consolas" panose="020B0609020204030204" pitchFamily="49" charset="0"/>
              </a:rPr>
              <a:t>sizeof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student), 1,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E9FD3F-D725-426A-AB45-0F4C27006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635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A0711B-1686-492F-AAD8-DD51C974783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944C2C-784A-497F-ACE2-42E93607C2B4}"/>
              </a:ext>
            </a:extLst>
          </p:cNvPr>
          <p:cNvSpPr/>
          <p:nvPr/>
        </p:nvSpPr>
        <p:spPr>
          <a:xfrm>
            <a:off x="16777" y="608437"/>
            <a:ext cx="12175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8-8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从键盘键入</a:t>
            </a:r>
            <a:r>
              <a:rPr lang="en-US" altLang="zh-CN" sz="2400" b="1" dirty="0">
                <a:latin typeface="隶书" pitchFamily="49" charset="-122"/>
              </a:rPr>
              <a:t>3</a:t>
            </a:r>
            <a:r>
              <a:rPr lang="zh-CN" altLang="en-US" sz="2400" b="1" dirty="0">
                <a:latin typeface="隶书" pitchFamily="49" charset="-122"/>
              </a:rPr>
              <a:t>名学生的数据，每名学生的数据包括姓名、年龄和住址，将它们存入文件</a:t>
            </a:r>
            <a:r>
              <a:rPr lang="en-US" altLang="zh-CN" sz="2400" b="1" dirty="0">
                <a:latin typeface="隶书" pitchFamily="49" charset="-122"/>
              </a:rPr>
              <a:t>student.dat</a:t>
            </a:r>
            <a:r>
              <a:rPr lang="zh-CN" altLang="en-US" sz="2400" b="1" dirty="0">
                <a:latin typeface="隶书" pitchFamily="49" charset="-122"/>
              </a:rPr>
              <a:t>，然后再从该文件中读出并显示在屏幕上。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012590-96C5-4F34-AFE6-FDFA4E9A1673}"/>
              </a:ext>
            </a:extLst>
          </p:cNvPr>
          <p:cNvSpPr txBox="1">
            <a:spLocks noChangeArrowheads="1"/>
          </p:cNvSpPr>
          <p:nvPr/>
        </p:nvSpPr>
        <p:spPr>
          <a:xfrm>
            <a:off x="123665" y="1478081"/>
            <a:ext cx="11900074" cy="415498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void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fprint</a:t>
            </a:r>
            <a:r>
              <a:rPr lang="en-US" altLang="zh-CN" sz="2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FILE</a:t>
            </a:r>
            <a:r>
              <a:rPr lang="en-US" altLang="zh-CN" sz="2400" b="1" dirty="0">
                <a:solidFill>
                  <a:srgbClr val="FF0000"/>
                </a:solidFill>
              </a:rPr>
              <a:t>*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= </a:t>
            </a:r>
            <a:r>
              <a:rPr lang="en-US" altLang="zh-CN" sz="2400" b="1" dirty="0" err="1">
                <a:latin typeface="Consolas" panose="020B0609020204030204" pitchFamily="49" charset="0"/>
              </a:rPr>
              <a:t>fopen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student.dat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rb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if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 != </a:t>
            </a:r>
            <a:r>
              <a:rPr lang="en-US" altLang="zh-CN" sz="2400" b="1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2400" b="1" dirty="0">
                <a:latin typeface="Consolas" panose="020B0609020204030204" pitchFamily="49" charset="0"/>
              </a:rPr>
              <a:t>){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</a:t>
            </a:r>
            <a:r>
              <a:rPr lang="en-US" altLang="zh-CN" sz="2400" b="1" dirty="0"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2400" b="1" dirty="0">
                <a:latin typeface="Consolas" panose="020B0609020204030204" pitchFamily="49" charset="0"/>
              </a:rPr>
              <a:t>( </a:t>
            </a:r>
            <a:r>
              <a:rPr lang="en-US" altLang="zh-CN" sz="2400" b="1" dirty="0" err="1">
                <a:latin typeface="Consolas" panose="020B0609020204030204" pitchFamily="49" charset="0"/>
              </a:rPr>
              <a:t>fread</a:t>
            </a:r>
            <a:r>
              <a:rPr lang="en-US" altLang="zh-CN" sz="2400" b="1" dirty="0">
                <a:latin typeface="Consolas" panose="020B0609020204030204" pitchFamily="49" charset="0"/>
              </a:rPr>
              <a:t>(&amp;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sizeof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struct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latin typeface="Consolas" panose="020B0609020204030204" pitchFamily="49" charset="0"/>
              </a:rPr>
              <a:t>student), 1,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 == 1 )</a:t>
            </a: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printf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Consolas" panose="020B0609020204030204" pitchFamily="49" charset="0"/>
              </a:rPr>
              <a:t>%-10s %4d %-10s\n</a:t>
            </a:r>
            <a:r>
              <a:rPr lang="en-US" altLang="zh-CN" sz="2400" b="1" dirty="0">
                <a:solidFill>
                  <a:srgbClr val="00B050"/>
                </a:solidFill>
                <a:latin typeface="Agency FB" panose="020B0503020202020204" pitchFamily="34" charset="0"/>
              </a:rPr>
              <a:t>”</a:t>
            </a:r>
            <a:r>
              <a:rPr lang="en-US" altLang="zh-CN" sz="2400" b="1" dirty="0">
                <a:latin typeface="Consolas" panose="020B0609020204030204" pitchFamily="49" charset="0"/>
              </a:rPr>
              <a:t>, tmp.name,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tmp.age</a:t>
            </a:r>
            <a:r>
              <a:rPr lang="en-US" altLang="zh-CN" sz="2400" b="1" dirty="0">
                <a:latin typeface="Consolas" panose="020B0609020204030204" pitchFamily="49" charset="0"/>
              </a:rPr>
              <a:t>, </a:t>
            </a:r>
            <a:r>
              <a:rPr lang="en-US" altLang="zh-CN" sz="2400" b="1" dirty="0" err="1">
                <a:latin typeface="Consolas" panose="020B0609020204030204" pitchFamily="49" charset="0"/>
              </a:rPr>
              <a:t>tmp.addr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 }</a:t>
            </a:r>
            <a:endParaRPr lang="en-US" altLang="zh-CN" sz="24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fclose</a:t>
            </a:r>
            <a:r>
              <a:rPr lang="en-US" altLang="zh-CN" sz="2400" b="1" dirty="0">
                <a:latin typeface="Consolas" panose="020B0609020204030204" pitchFamily="49" charset="0"/>
              </a:rPr>
              <a:t>(</a:t>
            </a:r>
            <a:r>
              <a:rPr lang="en-US" altLang="zh-CN" sz="2400" b="1" dirty="0" err="1">
                <a:latin typeface="Consolas" panose="020B0609020204030204" pitchFamily="49" charset="0"/>
              </a:rPr>
              <a:t>fp</a:t>
            </a:r>
            <a:r>
              <a:rPr lang="en-US" altLang="zh-CN" sz="2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792BCB4-E293-4296-95C5-18D7816FB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4603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3FA0711B-1686-492F-AAD8-DD51C974783F}"/>
              </a:ext>
            </a:extLst>
          </p:cNvPr>
          <p:cNvSpPr txBox="1"/>
          <p:nvPr/>
        </p:nvSpPr>
        <p:spPr>
          <a:xfrm>
            <a:off x="3677426" y="-25621"/>
            <a:ext cx="38644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zh-CN" altLang="en-US" sz="3600" b="1" dirty="0">
                <a:solidFill>
                  <a:srgbClr val="200AC4"/>
                </a:solidFill>
                <a:ea typeface="隶书" pitchFamily="49" charset="-122"/>
              </a:rPr>
              <a:t>按数据块读写文件</a:t>
            </a:r>
            <a:endParaRPr lang="zh-CN" altLang="en-US" sz="3200" b="1" dirty="0">
              <a:solidFill>
                <a:srgbClr val="200AC4"/>
              </a:solidFill>
              <a:ea typeface="隶书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944C2C-784A-497F-ACE2-42E93607C2B4}"/>
              </a:ext>
            </a:extLst>
          </p:cNvPr>
          <p:cNvSpPr/>
          <p:nvPr/>
        </p:nvSpPr>
        <p:spPr>
          <a:xfrm>
            <a:off x="16777" y="608437"/>
            <a:ext cx="1217522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zh-CN" altLang="en-US" sz="2400" b="1" dirty="0">
                <a:latin typeface="隶书" pitchFamily="49" charset="-122"/>
              </a:rPr>
              <a:t>例</a:t>
            </a:r>
            <a:r>
              <a:rPr lang="en-US" altLang="zh-CN" sz="2400" b="1" dirty="0">
                <a:latin typeface="隶书" pitchFamily="49" charset="-122"/>
              </a:rPr>
              <a:t>【</a:t>
            </a:r>
            <a:r>
              <a:rPr lang="en-US" altLang="zh-CN" sz="2400" b="1" dirty="0">
                <a:solidFill>
                  <a:srgbClr val="00B0F0"/>
                </a:solidFill>
                <a:latin typeface="隶书" pitchFamily="49" charset="-122"/>
              </a:rPr>
              <a:t>8-8</a:t>
            </a:r>
            <a:r>
              <a:rPr lang="en-US" altLang="zh-CN" sz="2400" b="1" dirty="0">
                <a:latin typeface="隶书" pitchFamily="49" charset="-122"/>
              </a:rPr>
              <a:t>】</a:t>
            </a:r>
            <a:r>
              <a:rPr lang="zh-CN" altLang="en-US" sz="2400" b="1" dirty="0">
                <a:latin typeface="隶书" pitchFamily="49" charset="-122"/>
              </a:rPr>
              <a:t>从键盘键入</a:t>
            </a:r>
            <a:r>
              <a:rPr lang="en-US" altLang="zh-CN" sz="2400" b="1" dirty="0">
                <a:latin typeface="隶书" pitchFamily="49" charset="-122"/>
              </a:rPr>
              <a:t>3</a:t>
            </a:r>
            <a:r>
              <a:rPr lang="zh-CN" altLang="en-US" sz="2400" b="1" dirty="0">
                <a:latin typeface="隶书" pitchFamily="49" charset="-122"/>
              </a:rPr>
              <a:t>名学生的数据，每名学生的数据包括姓名、年龄和住址，将它们存入文件</a:t>
            </a:r>
            <a:r>
              <a:rPr lang="en-US" altLang="zh-CN" sz="2400" b="1" dirty="0">
                <a:latin typeface="隶书" pitchFamily="49" charset="-122"/>
              </a:rPr>
              <a:t>student.dat</a:t>
            </a:r>
            <a:r>
              <a:rPr lang="zh-CN" altLang="en-US" sz="2400" b="1" dirty="0">
                <a:latin typeface="隶书" pitchFamily="49" charset="-122"/>
              </a:rPr>
              <a:t>，然后再从该文件中读出并显示在屏幕上。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012590-96C5-4F34-AFE6-FDFA4E9A1673}"/>
              </a:ext>
            </a:extLst>
          </p:cNvPr>
          <p:cNvSpPr txBox="1">
            <a:spLocks noChangeArrowheads="1"/>
          </p:cNvSpPr>
          <p:nvPr/>
        </p:nvSpPr>
        <p:spPr>
          <a:xfrm>
            <a:off x="2850315" y="1755297"/>
            <a:ext cx="3935278" cy="304698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2400" b="1" dirty="0">
                <a:latin typeface="Consolas" panose="020B0609020204030204" pitchFamily="49" charset="0"/>
              </a:rPr>
              <a:t>main()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latin typeface="Consolas" panose="020B0609020204030204" pitchFamily="49" charset="0"/>
              </a:rPr>
              <a:t>input();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fsave</a:t>
            </a:r>
            <a:r>
              <a:rPr lang="en-US" altLang="zh-CN" sz="2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 err="1">
                <a:latin typeface="Consolas" panose="020B0609020204030204" pitchFamily="49" charset="0"/>
              </a:rPr>
              <a:t>fprint</a:t>
            </a:r>
            <a:r>
              <a:rPr lang="en-US" altLang="zh-CN" sz="2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endParaRPr lang="en-US" altLang="zh-CN" sz="2400" b="1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2400" b="1" dirty="0">
                <a:latin typeface="Consolas" panose="020B0609020204030204" pitchFamily="49" charset="0"/>
              </a:rPr>
              <a:t> 0;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610259-A642-4F08-A62A-3C0926BD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3418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8270C1E5-28D3-4208-BEC8-3E33E03AB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fseek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7C6FCC-579B-496A-A73F-D2CBA9B76915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3477875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fseek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, </a:t>
            </a:r>
            <a:r>
              <a:rPr lang="fr-FR" altLang="zh-CN" b="1" dirty="0">
                <a:solidFill>
                  <a:srgbClr val="0000FF"/>
                </a:solidFill>
              </a:rPr>
              <a:t>long</a:t>
            </a:r>
            <a:r>
              <a:rPr lang="fr-FR" altLang="zh-CN" b="1" dirty="0"/>
              <a:t> offset, </a:t>
            </a:r>
            <a:r>
              <a:rPr lang="fr-FR" altLang="zh-CN" b="1" dirty="0" err="1">
                <a:solidFill>
                  <a:srgbClr val="0000FF"/>
                </a:solidFill>
              </a:rPr>
              <a:t>int</a:t>
            </a:r>
            <a:r>
              <a:rPr lang="fr-FR" altLang="zh-CN" b="1" dirty="0"/>
              <a:t> position);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：设置文件读写位置。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 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结构体指针，指向要设置读写位置的文件；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    offset: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偏移的字节数；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      position: 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偏移的基准位置；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：返回一个非零值表示成功，返回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表示失败。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positon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参数可选的取值为：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108000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SEEK_SET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：从文件开头开始计算偏移量。</a:t>
            </a:r>
          </a:p>
          <a:p>
            <a:pPr marL="108000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SEEK_CUR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：从当前位置开始计算偏移量。</a:t>
            </a:r>
          </a:p>
          <a:p>
            <a:pPr marL="108000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en-US" altLang="zh-CN" sz="2400" dirty="0">
                <a:latin typeface="Arial" charset="0"/>
                <a:ea typeface="隶书" pitchFamily="49" charset="-122"/>
              </a:rPr>
              <a:t>SEEK_END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：从文件末尾开始计算偏移量。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A546FB-BC77-4B11-9023-38B7B594E173}"/>
              </a:ext>
            </a:extLst>
          </p:cNvPr>
          <p:cNvSpPr/>
          <p:nvPr/>
        </p:nvSpPr>
        <p:spPr>
          <a:xfrm>
            <a:off x="0" y="5162543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70638A2-2EBF-400A-90DE-33AD26E79618}"/>
              </a:ext>
            </a:extLst>
          </p:cNvPr>
          <p:cNvSpPr txBox="1">
            <a:spLocks noChangeArrowheads="1"/>
          </p:cNvSpPr>
          <p:nvPr/>
        </p:nvSpPr>
        <p:spPr>
          <a:xfrm>
            <a:off x="932190" y="5724610"/>
            <a:ext cx="111259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fseek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fp, offset, position)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A61017-C62F-4E07-AED6-7B81C5F311B7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fseek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8049604-FA2C-40EE-B172-1A4ADDAA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010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8270C1E5-28D3-4208-BEC8-3E33E03AB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>
                <a:latin typeface="+mn-ea"/>
                <a:ea typeface="+mn-ea"/>
              </a:rPr>
              <a:t>rewind()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7C6FCC-579B-496A-A73F-D2CBA9B76915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16312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void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rewind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：重置文件的读写位置到文件开头。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 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结构体指针，指向要重置读写位置的文件；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：无。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A546FB-BC77-4B11-9023-38B7B594E173}"/>
              </a:ext>
            </a:extLst>
          </p:cNvPr>
          <p:cNvSpPr/>
          <p:nvPr/>
        </p:nvSpPr>
        <p:spPr>
          <a:xfrm>
            <a:off x="7197" y="3698070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70638A2-2EBF-400A-90DE-33AD26E79618}"/>
              </a:ext>
            </a:extLst>
          </p:cNvPr>
          <p:cNvSpPr txBox="1">
            <a:spLocks noChangeArrowheads="1"/>
          </p:cNvSpPr>
          <p:nvPr/>
        </p:nvSpPr>
        <p:spPr>
          <a:xfrm>
            <a:off x="939387" y="4260137"/>
            <a:ext cx="111259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/>
              <a:t>rewind(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  </a:t>
            </a:r>
            <a:r>
              <a:rPr lang="en-US" altLang="zh-CN" sz="2400" b="1" dirty="0">
                <a:solidFill>
                  <a:srgbClr val="00B050"/>
                </a:solidFill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</a:rPr>
              <a:t>等价于</a:t>
            </a:r>
            <a:r>
              <a:rPr lang="en-US" altLang="zh-CN" b="1" dirty="0" err="1"/>
              <a:t>fseek</a:t>
            </a:r>
            <a:r>
              <a:rPr lang="en-US" altLang="zh-CN" b="1" dirty="0"/>
              <a:t>(fp, 0, SEEK_SET);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A61017-C62F-4E07-AED6-7B81C5F311B7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rewind()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AF79A9C-75CD-4769-8132-98A5D7F33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97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8270C1E5-28D3-4208-BEC8-3E33E03AB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ftell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97C6FCC-579B-496A-A73F-D2CBA9B76915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236988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long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ftell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：获取文件的当前读写位置相对于文件开头的偏移字节数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(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即文件的当前读写位置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)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 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结构体指针，指向要获取偏移量的文件；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long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类型的值，表示当前读写位置相对于文件开头的字节偏移量。如果发生错误，则返回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-1L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；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ftell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函数返回的偏移量的类型是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long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，因此在使用时需要确保能够存储足够大的偏移量。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A546FB-BC77-4B11-9023-38B7B594E173}"/>
              </a:ext>
            </a:extLst>
          </p:cNvPr>
          <p:cNvSpPr/>
          <p:nvPr/>
        </p:nvSpPr>
        <p:spPr>
          <a:xfrm>
            <a:off x="132461" y="4083838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70638A2-2EBF-400A-90DE-33AD26E79618}"/>
              </a:ext>
            </a:extLst>
          </p:cNvPr>
          <p:cNvSpPr txBox="1">
            <a:spLocks noChangeArrowheads="1"/>
          </p:cNvSpPr>
          <p:nvPr/>
        </p:nvSpPr>
        <p:spPr>
          <a:xfrm>
            <a:off x="1064651" y="4645905"/>
            <a:ext cx="111259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ftell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1A61017-C62F-4E07-AED6-7B81C5F311B7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ftell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69EFBDF-CAA6-4DCC-9E48-E279E8A9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1041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DC27FBDF-0401-4037-885C-D2C969810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ferror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3E8084-A087-4DCF-87B0-AFCF953F62DE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236988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ferror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：检测文件操作是否发生了错误。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  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结构体指针，指向要检测的文件；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：返回一个非零值表示发生了错误，返回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表示没有发生错误。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ferror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函数只能检测到文件操作是否发生了错误，但无法确定具体的错误类型。如果需要获取更详细的错误信息，可以使用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perror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函数或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strerror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C2AA08-EE51-4B5B-9922-95BE547767DC}"/>
              </a:ext>
            </a:extLst>
          </p:cNvPr>
          <p:cNvSpPr/>
          <p:nvPr/>
        </p:nvSpPr>
        <p:spPr>
          <a:xfrm>
            <a:off x="132461" y="4194929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7989C8-1B66-4B1D-B00E-883ED2FA0E19}"/>
              </a:ext>
            </a:extLst>
          </p:cNvPr>
          <p:cNvSpPr txBox="1">
            <a:spLocks noChangeArrowheads="1"/>
          </p:cNvSpPr>
          <p:nvPr/>
        </p:nvSpPr>
        <p:spPr>
          <a:xfrm>
            <a:off x="1064651" y="4756996"/>
            <a:ext cx="111259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ferror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98AC58-D195-4C87-8542-5BECA4987E36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ferror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49A867B-75D5-4E61-B70B-915B9450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565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DC27FBDF-0401-4037-885C-D2C969810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clearerr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3E8084-A087-4DCF-87B0-AFCF953F62DE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200054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void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clearerr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：清除文件的错误标志和文件结束标志。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结构体指针，指向要清除标志的文件；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：无。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clearerr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函数只能清除文件流的标志位，但无法解决实际的错误。如果需要解决文件操作发生的错误，应该先使用</a:t>
            </a:r>
            <a:r>
              <a:rPr kumimoji="1" lang="en-US" altLang="zh-CN" sz="2400" dirty="0" err="1">
                <a:latin typeface="Arial" charset="0"/>
                <a:ea typeface="隶书" pitchFamily="49" charset="-122"/>
              </a:rPr>
              <a:t>ferror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函数检测错误类型，然后再采取相应的措施。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C2AA08-EE51-4B5B-9922-95BE547767DC}"/>
              </a:ext>
            </a:extLst>
          </p:cNvPr>
          <p:cNvSpPr/>
          <p:nvPr/>
        </p:nvSpPr>
        <p:spPr>
          <a:xfrm>
            <a:off x="132461" y="4169296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7989C8-1B66-4B1D-B00E-883ED2FA0E19}"/>
              </a:ext>
            </a:extLst>
          </p:cNvPr>
          <p:cNvSpPr txBox="1">
            <a:spLocks noChangeArrowheads="1"/>
          </p:cNvSpPr>
          <p:nvPr/>
        </p:nvSpPr>
        <p:spPr>
          <a:xfrm>
            <a:off x="1064651" y="4731363"/>
            <a:ext cx="111259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clearerr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98AC58-D195-4C87-8542-5BECA4987E36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clearerr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2D60C64-CAE8-4CEF-8358-4BACA033F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595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8">
            <a:extLst>
              <a:ext uri="{FF2B5EF4-FFF2-40B4-BE49-F238E27FC236}">
                <a16:creationId xmlns:a16="http://schemas.microsoft.com/office/drawing/2014/main" id="{DC27FBDF-0401-4037-885C-D2C969810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04875"/>
            <a:ext cx="12192000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r>
              <a:rPr kumimoji="1" lang="en-US" altLang="zh-CN" sz="2800" b="1" dirty="0" err="1">
                <a:latin typeface="+mn-ea"/>
                <a:ea typeface="+mn-ea"/>
              </a:rPr>
              <a:t>feof</a:t>
            </a:r>
            <a:r>
              <a:rPr kumimoji="1" lang="en-US" altLang="zh-CN" sz="2800" b="1" dirty="0">
                <a:latin typeface="+mn-ea"/>
                <a:ea typeface="+mn-ea"/>
              </a:rPr>
              <a:t>()</a:t>
            </a:r>
            <a:r>
              <a:rPr kumimoji="1" lang="zh-CN" altLang="en-US" sz="2800" b="1" dirty="0">
                <a:latin typeface="+mn-ea"/>
                <a:ea typeface="+mn-ea"/>
              </a:rPr>
              <a:t>函数原型如下：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3E8084-A087-4DCF-87B0-AFCF953F62DE}"/>
              </a:ext>
            </a:extLst>
          </p:cNvPr>
          <p:cNvSpPr txBox="1">
            <a:spLocks noChangeArrowheads="1"/>
          </p:cNvSpPr>
          <p:nvPr/>
        </p:nvSpPr>
        <p:spPr>
          <a:xfrm>
            <a:off x="132461" y="1705634"/>
            <a:ext cx="11925656" cy="16312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int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dirty="0" err="1"/>
              <a:t>feof</a:t>
            </a:r>
            <a:r>
              <a:rPr lang="fr-FR" altLang="zh-CN" b="1" dirty="0"/>
              <a:t>(</a:t>
            </a:r>
            <a:r>
              <a:rPr lang="fr-FR" altLang="zh-CN" b="1" dirty="0">
                <a:solidFill>
                  <a:srgbClr val="0000FF"/>
                </a:solidFill>
              </a:rPr>
              <a:t>FILE</a:t>
            </a:r>
            <a:r>
              <a:rPr lang="fr-FR" altLang="zh-CN" b="1" dirty="0">
                <a:solidFill>
                  <a:srgbClr val="FF0000"/>
                </a:solidFill>
              </a:rPr>
              <a:t>* </a:t>
            </a:r>
            <a:r>
              <a:rPr lang="fr-FR" altLang="zh-CN" b="1" dirty="0" err="1"/>
              <a:t>fp</a:t>
            </a:r>
            <a:r>
              <a:rPr lang="fr-FR" altLang="zh-CN" b="1" dirty="0"/>
              <a:t>);</a:t>
            </a: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   功能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：检测文件流上的文件结束标志。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latin typeface="Arial" charset="0"/>
                <a:ea typeface="隶书" pitchFamily="49" charset="-122"/>
              </a:rPr>
              <a:t>   </a:t>
            </a: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参数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fp: FILE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结构体指针，指向要检测文件结束标志的文件；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None/>
            </a:pPr>
            <a:r>
              <a:rPr kumimoji="1" lang="zh-CN" altLang="en-US" sz="2400" dirty="0">
                <a:solidFill>
                  <a:srgbClr val="0070C0"/>
                </a:solidFill>
                <a:latin typeface="Arial" charset="0"/>
                <a:ea typeface="隶书" pitchFamily="49" charset="-122"/>
              </a:rPr>
              <a:t>返回值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：当文件结束时返回非零值，否则返回</a:t>
            </a:r>
            <a:r>
              <a:rPr kumimoji="1" lang="en-US" altLang="zh-CN" sz="2400" dirty="0">
                <a:latin typeface="Arial" charset="0"/>
                <a:ea typeface="隶书" pitchFamily="49" charset="-122"/>
              </a:rPr>
              <a:t>0</a:t>
            </a:r>
            <a:r>
              <a:rPr kumimoji="1" lang="zh-CN" altLang="en-US" sz="2400" dirty="0">
                <a:latin typeface="Arial" charset="0"/>
                <a:ea typeface="隶书" pitchFamily="49" charset="-122"/>
              </a:rPr>
              <a:t>。</a:t>
            </a:r>
            <a:endParaRPr kumimoji="1" lang="en-US" altLang="zh-CN" sz="2400" dirty="0">
              <a:latin typeface="Arial" charset="0"/>
              <a:ea typeface="隶书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C2AA08-EE51-4B5B-9922-95BE547767DC}"/>
              </a:ext>
            </a:extLst>
          </p:cNvPr>
          <p:cNvSpPr/>
          <p:nvPr/>
        </p:nvSpPr>
        <p:spPr>
          <a:xfrm>
            <a:off x="132461" y="4169296"/>
            <a:ext cx="50879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kumimoji="1" lang="zh-CN" altLang="en-US" sz="2800" b="1" dirty="0">
                <a:latin typeface="+mn-ea"/>
              </a:rPr>
              <a:t>一般调用形式为：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87989C8-1B66-4B1D-B00E-883ED2FA0E19}"/>
              </a:ext>
            </a:extLst>
          </p:cNvPr>
          <p:cNvSpPr txBox="1">
            <a:spLocks noChangeArrowheads="1"/>
          </p:cNvSpPr>
          <p:nvPr/>
        </p:nvSpPr>
        <p:spPr>
          <a:xfrm>
            <a:off x="1064651" y="4731363"/>
            <a:ext cx="111259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ct val="0"/>
              </a:spcBef>
              <a:buClr>
                <a:schemeClr val="tx2"/>
              </a:buClr>
              <a:buSzPct val="70000"/>
              <a:buFont typeface="Arial" panose="020B0604020202020204" pitchFamily="34" charset="0"/>
              <a:buNone/>
            </a:pPr>
            <a:r>
              <a:rPr lang="en-US" altLang="zh-CN" b="1" dirty="0" err="1"/>
              <a:t>feof</a:t>
            </a:r>
            <a:r>
              <a:rPr lang="en-US" altLang="zh-CN" b="1" dirty="0"/>
              <a:t>(</a:t>
            </a:r>
            <a:r>
              <a:rPr lang="en-US" altLang="zh-CN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fp)</a:t>
            </a:r>
            <a:r>
              <a:rPr lang="en-US" altLang="zh-CN" b="1" dirty="0"/>
              <a:t>;</a:t>
            </a:r>
            <a:endParaRPr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98AC58-D195-4C87-8542-5BECA4987E36}"/>
              </a:ext>
            </a:extLst>
          </p:cNvPr>
          <p:cNvSpPr/>
          <p:nvPr/>
        </p:nvSpPr>
        <p:spPr>
          <a:xfrm>
            <a:off x="7197" y="614717"/>
            <a:ext cx="117090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en-US" altLang="zh-CN" sz="2800" b="1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feof</a:t>
            </a:r>
            <a:r>
              <a:rPr lang="en-US" altLang="zh-CN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  <a:r>
              <a:rPr lang="zh-CN" altLang="en-US" sz="28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sz="3200" b="1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48472A04-5DD9-4C81-A63A-345A9D69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A56C3F-F0F5-411B-954C-A2CFDC009DCE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/ 40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868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08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和目录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1722</TotalTime>
  <Words>5077</Words>
  <Application>Microsoft Office PowerPoint</Application>
  <PresentationFormat>宽屏</PresentationFormat>
  <Paragraphs>573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42</vt:i4>
      </vt:variant>
    </vt:vector>
  </HeadingPairs>
  <TitlesOfParts>
    <vt:vector size="57" baseType="lpstr">
      <vt:lpstr>等线</vt:lpstr>
      <vt:lpstr>等线 Light</vt:lpstr>
      <vt:lpstr>华文行楷</vt:lpstr>
      <vt:lpstr>华文隶书</vt:lpstr>
      <vt:lpstr>华文中宋</vt:lpstr>
      <vt:lpstr>隶书</vt:lpstr>
      <vt:lpstr>宋体</vt:lpstr>
      <vt:lpstr>微软雅黑</vt:lpstr>
      <vt:lpstr>Agency FB</vt:lpstr>
      <vt:lpstr>Arial</vt:lpstr>
      <vt:lpstr>Bookman Old Style</vt:lpstr>
      <vt:lpstr>Calibri</vt:lpstr>
      <vt:lpstr>Consolas</vt:lpstr>
      <vt:lpstr>Office 主题​​</vt:lpstr>
      <vt:lpstr>封面和目录​​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WJQ</dc:creator>
  <cp:lastModifiedBy>WJQ</cp:lastModifiedBy>
  <cp:revision>122</cp:revision>
  <dcterms:created xsi:type="dcterms:W3CDTF">2022-05-18T03:53:29Z</dcterms:created>
  <dcterms:modified xsi:type="dcterms:W3CDTF">2023-05-23T11:14:39Z</dcterms:modified>
</cp:coreProperties>
</file>