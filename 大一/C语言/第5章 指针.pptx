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av" ContentType="audio/wav"/>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48" r:id="rId1"/>
    <p:sldMasterId id="2147483674" r:id="rId2"/>
  </p:sldMasterIdLst>
  <p:notesMasterIdLst>
    <p:notesMasterId r:id="rId39"/>
  </p:notesMasterIdLst>
  <p:sldIdLst>
    <p:sldId id="258" r:id="rId3"/>
    <p:sldId id="259" r:id="rId4"/>
    <p:sldId id="260" r:id="rId5"/>
    <p:sldId id="261" r:id="rId6"/>
    <p:sldId id="275" r:id="rId7"/>
    <p:sldId id="262" r:id="rId8"/>
    <p:sldId id="263" r:id="rId9"/>
    <p:sldId id="264" r:id="rId10"/>
    <p:sldId id="265" r:id="rId11"/>
    <p:sldId id="266" r:id="rId12"/>
    <p:sldId id="267" r:id="rId13"/>
    <p:sldId id="278" r:id="rId14"/>
    <p:sldId id="268" r:id="rId15"/>
    <p:sldId id="269" r:id="rId16"/>
    <p:sldId id="279" r:id="rId17"/>
    <p:sldId id="280" r:id="rId18"/>
    <p:sldId id="270" r:id="rId19"/>
    <p:sldId id="281" r:id="rId20"/>
    <p:sldId id="282" r:id="rId21"/>
    <p:sldId id="285" r:id="rId22"/>
    <p:sldId id="286" r:id="rId23"/>
    <p:sldId id="283" r:id="rId24"/>
    <p:sldId id="287" r:id="rId25"/>
    <p:sldId id="289" r:id="rId26"/>
    <p:sldId id="288" r:id="rId27"/>
    <p:sldId id="290" r:id="rId28"/>
    <p:sldId id="271" r:id="rId29"/>
    <p:sldId id="291" r:id="rId30"/>
    <p:sldId id="292" r:id="rId31"/>
    <p:sldId id="293" r:id="rId32"/>
    <p:sldId id="273" r:id="rId33"/>
    <p:sldId id="294" r:id="rId34"/>
    <p:sldId id="295" r:id="rId35"/>
    <p:sldId id="296" r:id="rId36"/>
    <p:sldId id="297" r:id="rId37"/>
    <p:sldId id="298" r:id="rId3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264" y="2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BEE425-BF42-4068-87C2-E75EA102A699}" type="datetimeFigureOut">
              <a:rPr lang="zh-CN" altLang="en-US" smtClean="0"/>
              <a:t>2023/5/2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076453-3C94-43D2-B70F-282310072568}" type="slidenum">
              <a:rPr lang="zh-CN" altLang="en-US" smtClean="0"/>
              <a:t>‹#›</a:t>
            </a:fld>
            <a:endParaRPr lang="zh-CN" altLang="en-US"/>
          </a:p>
        </p:txBody>
      </p:sp>
    </p:spTree>
    <p:extLst>
      <p:ext uri="{BB962C8B-B14F-4D97-AF65-F5344CB8AC3E}">
        <p14:creationId xmlns:p14="http://schemas.microsoft.com/office/powerpoint/2010/main" val="29780176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4076453-3C94-43D2-B70F-282310072568}" type="slidenum">
              <a:rPr lang="zh-CN" altLang="en-US" smtClean="0"/>
              <a:t>22</a:t>
            </a:fld>
            <a:endParaRPr lang="zh-CN" altLang="en-US"/>
          </a:p>
        </p:txBody>
      </p:sp>
    </p:spTree>
    <p:extLst>
      <p:ext uri="{BB962C8B-B14F-4D97-AF65-F5344CB8AC3E}">
        <p14:creationId xmlns:p14="http://schemas.microsoft.com/office/powerpoint/2010/main" val="41131727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BD8FCAE-9FB0-4A30-B3FE-9D7E378746EF}"/>
              </a:ext>
            </a:extLst>
          </p:cNvPr>
          <p:cNvSpPr>
            <a:spLocks noGrp="1"/>
          </p:cNvSpPr>
          <p:nvPr>
            <p:ph type="dt" sz="half" idx="10"/>
          </p:nvPr>
        </p:nvSpPr>
        <p:spPr/>
        <p:txBody>
          <a:bodyPr/>
          <a:lstStyle/>
          <a:p>
            <a:fld id="{FEB81276-50F4-4EAF-A34F-6CA8C5267486}" type="datetime1">
              <a:rPr lang="zh-CN" altLang="en-US" smtClean="0"/>
              <a:t>2023/5/2</a:t>
            </a:fld>
            <a:endParaRPr lang="zh-CN" altLang="en-US"/>
          </a:p>
        </p:txBody>
      </p:sp>
      <p:sp>
        <p:nvSpPr>
          <p:cNvPr id="3" name="页脚占位符 2">
            <a:extLst>
              <a:ext uri="{FF2B5EF4-FFF2-40B4-BE49-F238E27FC236}">
                <a16:creationId xmlns:a16="http://schemas.microsoft.com/office/drawing/2014/main" id="{1D982FBA-F4DB-445D-BAB7-4C15F4CBCCA4}"/>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a:extLst>
              <a:ext uri="{FF2B5EF4-FFF2-40B4-BE49-F238E27FC236}">
                <a16:creationId xmlns:a16="http://schemas.microsoft.com/office/drawing/2014/main" id="{BA42403A-59F3-4AA0-8F78-F512440860C2}"/>
              </a:ext>
            </a:extLst>
          </p:cNvPr>
          <p:cNvSpPr>
            <a:spLocks noGrp="1"/>
          </p:cNvSpPr>
          <p:nvPr>
            <p:ph type="sldNum" sz="quarter" idx="12"/>
          </p:nvPr>
        </p:nvSpPr>
        <p:spPr/>
        <p:txBody>
          <a:bodyPr/>
          <a:lstStyle>
            <a:lvl1pPr>
              <a:defRPr/>
            </a:lvl1pPr>
          </a:lstStyle>
          <a:p>
            <a:fld id="{2FA56C3F-F0F5-411B-954C-A2CFDC009DCE}" type="slidenum">
              <a:rPr lang="zh-CN" altLang="en-US" smtClean="0">
                <a:solidFill>
                  <a:prstClr val="black">
                    <a:tint val="75000"/>
                  </a:prstClr>
                </a:solidFill>
              </a:rPr>
              <a:pPr/>
              <a:t>‹#›</a:t>
            </a:fld>
            <a:r>
              <a:rPr lang="en-US" altLang="zh-CN" dirty="0">
                <a:solidFill>
                  <a:prstClr val="black">
                    <a:tint val="75000"/>
                  </a:prstClr>
                </a:solidFill>
              </a:rPr>
              <a:t>/35</a:t>
            </a:r>
            <a:endParaRPr lang="zh-CN" altLang="en-US" dirty="0"/>
          </a:p>
        </p:txBody>
      </p:sp>
    </p:spTree>
    <p:extLst>
      <p:ext uri="{BB962C8B-B14F-4D97-AF65-F5344CB8AC3E}">
        <p14:creationId xmlns:p14="http://schemas.microsoft.com/office/powerpoint/2010/main" val="1722294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5.1">
    <p:spTree>
      <p:nvGrpSpPr>
        <p:cNvPr id="1" name=""/>
        <p:cNvGrpSpPr/>
        <p:nvPr/>
      </p:nvGrpSpPr>
      <p:grpSpPr>
        <a:xfrm>
          <a:off x="0" y="0"/>
          <a:ext cx="0" cy="0"/>
          <a:chOff x="0" y="0"/>
          <a:chExt cx="0" cy="0"/>
        </a:xfrm>
      </p:grpSpPr>
      <p:sp>
        <p:nvSpPr>
          <p:cNvPr id="3" name="日期占位符 2">
            <a:extLst>
              <a:ext uri="{FF2B5EF4-FFF2-40B4-BE49-F238E27FC236}">
                <a16:creationId xmlns:a16="http://schemas.microsoft.com/office/drawing/2014/main" id="{4285AD98-69D5-439C-ADC1-743F29D80180}"/>
              </a:ext>
            </a:extLst>
          </p:cNvPr>
          <p:cNvSpPr>
            <a:spLocks noGrp="1"/>
          </p:cNvSpPr>
          <p:nvPr>
            <p:ph type="dt" sz="half" idx="10"/>
          </p:nvPr>
        </p:nvSpPr>
        <p:spPr/>
        <p:txBody>
          <a:bodyPr/>
          <a:lstStyle/>
          <a:p>
            <a:fld id="{DCD94343-ED55-4FA7-B417-E98FA1161210}" type="datetime1">
              <a:rPr lang="zh-CN" altLang="en-US" smtClean="0"/>
              <a:t>2023/5/2</a:t>
            </a:fld>
            <a:endParaRPr lang="zh-CN" altLang="en-US"/>
          </a:p>
        </p:txBody>
      </p:sp>
      <p:sp>
        <p:nvSpPr>
          <p:cNvPr id="4" name="页脚占位符 3">
            <a:extLst>
              <a:ext uri="{FF2B5EF4-FFF2-40B4-BE49-F238E27FC236}">
                <a16:creationId xmlns:a16="http://schemas.microsoft.com/office/drawing/2014/main" id="{FB2D1354-29A7-4643-B6C1-32382E1D649B}"/>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9CAEB037-461D-429F-8082-F720791BAD75}"/>
              </a:ext>
            </a:extLst>
          </p:cNvPr>
          <p:cNvSpPr>
            <a:spLocks noGrp="1"/>
          </p:cNvSpPr>
          <p:nvPr>
            <p:ph type="sldNum" sz="quarter" idx="12"/>
          </p:nvPr>
        </p:nvSpPr>
        <p:spPr/>
        <p:txBody>
          <a:bodyPr/>
          <a:lstStyle>
            <a:lvl1pPr>
              <a:defRPr/>
            </a:lvl1pPr>
          </a:lstStyle>
          <a:p>
            <a:fld id="{2FA56C3F-F0F5-411B-954C-A2CFDC009DCE}" type="slidenum">
              <a:rPr lang="zh-CN" altLang="en-US" smtClean="0">
                <a:solidFill>
                  <a:prstClr val="black">
                    <a:tint val="75000"/>
                  </a:prstClr>
                </a:solidFill>
              </a:rPr>
              <a:pPr/>
              <a:t>‹#›</a:t>
            </a:fld>
            <a:r>
              <a:rPr lang="en-US" altLang="zh-CN" dirty="0">
                <a:solidFill>
                  <a:prstClr val="black">
                    <a:tint val="75000"/>
                  </a:prstClr>
                </a:solidFill>
              </a:rPr>
              <a:t>/ 35</a:t>
            </a:r>
            <a:endParaRPr lang="zh-CN" altLang="en-US" dirty="0"/>
          </a:p>
        </p:txBody>
      </p:sp>
      <p:sp>
        <p:nvSpPr>
          <p:cNvPr id="6" name="Rectangle 3">
            <a:extLst>
              <a:ext uri="{FF2B5EF4-FFF2-40B4-BE49-F238E27FC236}">
                <a16:creationId xmlns:a16="http://schemas.microsoft.com/office/drawing/2014/main" id="{EE822506-8548-47C9-96B3-F599735D7169}"/>
              </a:ext>
            </a:extLst>
          </p:cNvPr>
          <p:cNvSpPr txBox="1">
            <a:spLocks noChangeArrowheads="1"/>
          </p:cNvSpPr>
          <p:nvPr userDrawn="1"/>
        </p:nvSpPr>
        <p:spPr>
          <a:xfrm>
            <a:off x="-3595" y="102505"/>
            <a:ext cx="7145235" cy="387798"/>
          </a:xfrm>
          <a:prstGeom prst="rect">
            <a:avLst/>
          </a:prstGeom>
          <a:extLst>
            <a:ext uri="{909E8E84-426E-40DD-AFC4-6F175D3DCCD1}">
              <a14:hiddenFill xmlns:a14="http://schemas.microsoft.com/office/drawing/2010/main">
                <a:gradFill rotWithShape="0">
                  <a:gsLst>
                    <a:gs pos="0">
                      <a:srgbClr val="0066FF"/>
                    </a:gs>
                    <a:gs pos="100000">
                      <a:srgbClr val="0066FF">
                        <a:gamma/>
                        <a:shade val="46275"/>
                        <a:invGamma/>
                      </a:srgbClr>
                    </a:gs>
                  </a:gsLst>
                  <a:path path="shape">
                    <a:fillToRect l="50000" t="50000" r="50000" b="50000"/>
                  </a:path>
                </a:gradFill>
              </a14:hiddenFill>
            </a:ext>
            <a:ext uri="{91240B29-F687-4F45-9708-019B960494DF}">
              <a14:hiddenLine xmlns:a14="http://schemas.microsoft.com/office/drawing/2010/main" w="9525" cap="flat" cmpd="sng">
                <a:solidFill>
                  <a:srgbClr val="0066FF"/>
                </a:solidFill>
                <a:prstDash val="solid"/>
                <a:miter lim="800000"/>
                <a:headEnd/>
                <a:tailEnd/>
              </a14:hiddenLine>
            </a:ext>
          </a:extLst>
        </p:spPr>
        <p:txBody>
          <a:bodyPr wrap="square" tIns="0" bIns="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ct val="50000"/>
              </a:spcBef>
              <a:defRPr/>
            </a:pPr>
            <a:r>
              <a:rPr lang="en-US" altLang="zh-CN" sz="2800" b="1" dirty="0">
                <a:solidFill>
                  <a:srgbClr val="002060"/>
                </a:solidFill>
                <a:effectLst>
                  <a:outerShdw blurRad="38100" dist="38100" dir="2700000" algn="tl">
                    <a:srgbClr val="C0C0C0"/>
                  </a:outerShdw>
                </a:effectLst>
                <a:latin typeface="微软雅黑" pitchFamily="34" charset="-122"/>
                <a:ea typeface="微软雅黑" pitchFamily="34" charset="-122"/>
              </a:rPr>
              <a:t>5.1 </a:t>
            </a:r>
            <a:r>
              <a:rPr lang="zh-CN" altLang="en-US" sz="2800" b="1" dirty="0">
                <a:solidFill>
                  <a:srgbClr val="002060"/>
                </a:solidFill>
                <a:effectLst>
                  <a:outerShdw blurRad="38100" dist="38100" dir="2700000" algn="tl">
                    <a:srgbClr val="C0C0C0"/>
                  </a:outerShdw>
                </a:effectLst>
                <a:latin typeface="微软雅黑" pitchFamily="34" charset="-122"/>
                <a:ea typeface="微软雅黑" pitchFamily="34" charset="-122"/>
              </a:rPr>
              <a:t>指针的概念</a:t>
            </a:r>
          </a:p>
        </p:txBody>
      </p:sp>
      <p:sp>
        <p:nvSpPr>
          <p:cNvPr id="2" name="标题 1">
            <a:extLst>
              <a:ext uri="{FF2B5EF4-FFF2-40B4-BE49-F238E27FC236}">
                <a16:creationId xmlns:a16="http://schemas.microsoft.com/office/drawing/2014/main" id="{5B0AB0B9-A5D4-4721-8A93-18DF97452C02}"/>
              </a:ext>
            </a:extLst>
          </p:cNvPr>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20085477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2">
    <p:spTree>
      <p:nvGrpSpPr>
        <p:cNvPr id="1" name=""/>
        <p:cNvGrpSpPr/>
        <p:nvPr/>
      </p:nvGrpSpPr>
      <p:grpSpPr>
        <a:xfrm>
          <a:off x="0" y="0"/>
          <a:ext cx="0" cy="0"/>
          <a:chOff x="0" y="0"/>
          <a:chExt cx="0" cy="0"/>
        </a:xfrm>
      </p:grpSpPr>
      <p:sp>
        <p:nvSpPr>
          <p:cNvPr id="3" name="日期占位符 2">
            <a:extLst>
              <a:ext uri="{FF2B5EF4-FFF2-40B4-BE49-F238E27FC236}">
                <a16:creationId xmlns:a16="http://schemas.microsoft.com/office/drawing/2014/main" id="{4285AD98-69D5-439C-ADC1-743F29D80180}"/>
              </a:ext>
            </a:extLst>
          </p:cNvPr>
          <p:cNvSpPr>
            <a:spLocks noGrp="1"/>
          </p:cNvSpPr>
          <p:nvPr>
            <p:ph type="dt" sz="half" idx="10"/>
          </p:nvPr>
        </p:nvSpPr>
        <p:spPr/>
        <p:txBody>
          <a:bodyPr/>
          <a:lstStyle/>
          <a:p>
            <a:fld id="{73E013D7-2AF6-4FAC-8163-51F38D7A7B1E}" type="datetime1">
              <a:rPr lang="zh-CN" altLang="en-US" smtClean="0"/>
              <a:t>2023/5/2</a:t>
            </a:fld>
            <a:endParaRPr lang="zh-CN" altLang="en-US"/>
          </a:p>
        </p:txBody>
      </p:sp>
      <p:sp>
        <p:nvSpPr>
          <p:cNvPr id="4" name="页脚占位符 3">
            <a:extLst>
              <a:ext uri="{FF2B5EF4-FFF2-40B4-BE49-F238E27FC236}">
                <a16:creationId xmlns:a16="http://schemas.microsoft.com/office/drawing/2014/main" id="{FB2D1354-29A7-4643-B6C1-32382E1D649B}"/>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9CAEB037-461D-429F-8082-F720791BAD75}"/>
              </a:ext>
            </a:extLst>
          </p:cNvPr>
          <p:cNvSpPr>
            <a:spLocks noGrp="1"/>
          </p:cNvSpPr>
          <p:nvPr>
            <p:ph type="sldNum" sz="quarter" idx="12"/>
          </p:nvPr>
        </p:nvSpPr>
        <p:spPr/>
        <p:txBody>
          <a:bodyPr/>
          <a:lstStyle>
            <a:lvl1pPr>
              <a:defRPr/>
            </a:lvl1pPr>
          </a:lstStyle>
          <a:p>
            <a:fld id="{2FA56C3F-F0F5-411B-954C-A2CFDC009DCE}" type="slidenum">
              <a:rPr lang="zh-CN" altLang="en-US" smtClean="0">
                <a:solidFill>
                  <a:prstClr val="black">
                    <a:tint val="75000"/>
                  </a:prstClr>
                </a:solidFill>
              </a:rPr>
              <a:pPr/>
              <a:t>‹#›</a:t>
            </a:fld>
            <a:r>
              <a:rPr lang="en-US" altLang="zh-CN" dirty="0">
                <a:solidFill>
                  <a:prstClr val="black">
                    <a:tint val="75000"/>
                  </a:prstClr>
                </a:solidFill>
              </a:rPr>
              <a:t>/ 35</a:t>
            </a:r>
            <a:endParaRPr lang="zh-CN" altLang="en-US" dirty="0"/>
          </a:p>
        </p:txBody>
      </p:sp>
      <p:sp>
        <p:nvSpPr>
          <p:cNvPr id="6" name="Rectangle 3">
            <a:extLst>
              <a:ext uri="{FF2B5EF4-FFF2-40B4-BE49-F238E27FC236}">
                <a16:creationId xmlns:a16="http://schemas.microsoft.com/office/drawing/2014/main" id="{EE822506-8548-47C9-96B3-F599735D7169}"/>
              </a:ext>
            </a:extLst>
          </p:cNvPr>
          <p:cNvSpPr txBox="1">
            <a:spLocks noChangeArrowheads="1"/>
          </p:cNvSpPr>
          <p:nvPr userDrawn="1"/>
        </p:nvSpPr>
        <p:spPr>
          <a:xfrm>
            <a:off x="4873" y="102503"/>
            <a:ext cx="7145235" cy="387798"/>
          </a:xfrm>
          <a:prstGeom prst="rect">
            <a:avLst/>
          </a:prstGeom>
          <a:extLst>
            <a:ext uri="{909E8E84-426E-40DD-AFC4-6F175D3DCCD1}">
              <a14:hiddenFill xmlns:a14="http://schemas.microsoft.com/office/drawing/2010/main">
                <a:gradFill rotWithShape="0">
                  <a:gsLst>
                    <a:gs pos="0">
                      <a:srgbClr val="0066FF"/>
                    </a:gs>
                    <a:gs pos="100000">
                      <a:srgbClr val="0066FF">
                        <a:gamma/>
                        <a:shade val="46275"/>
                        <a:invGamma/>
                      </a:srgbClr>
                    </a:gs>
                  </a:gsLst>
                  <a:path path="shape">
                    <a:fillToRect l="50000" t="50000" r="50000" b="50000"/>
                  </a:path>
                </a:gradFill>
              </a14:hiddenFill>
            </a:ext>
            <a:ext uri="{91240B29-F687-4F45-9708-019B960494DF}">
              <a14:hiddenLine xmlns:a14="http://schemas.microsoft.com/office/drawing/2010/main" w="9525" cap="flat" cmpd="sng">
                <a:solidFill>
                  <a:srgbClr val="0066FF"/>
                </a:solidFill>
                <a:prstDash val="solid"/>
                <a:miter lim="800000"/>
                <a:headEnd/>
                <a:tailEnd/>
              </a14:hiddenLine>
            </a:ext>
          </a:extLst>
        </p:spPr>
        <p:txBody>
          <a:bodyPr wrap="square" tIns="0" bIns="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ct val="50000"/>
              </a:spcBef>
              <a:defRPr/>
            </a:pPr>
            <a:r>
              <a:rPr lang="en-US" altLang="zh-CN" sz="2800" b="1" dirty="0">
                <a:solidFill>
                  <a:srgbClr val="002060"/>
                </a:solidFill>
                <a:effectLst>
                  <a:outerShdw blurRad="38100" dist="38100" dir="2700000" algn="tl">
                    <a:srgbClr val="C0C0C0"/>
                  </a:outerShdw>
                </a:effectLst>
                <a:latin typeface="微软雅黑" pitchFamily="34" charset="-122"/>
                <a:ea typeface="微软雅黑" pitchFamily="34" charset="-122"/>
              </a:rPr>
              <a:t>5.2 </a:t>
            </a:r>
            <a:r>
              <a:rPr lang="zh-CN" altLang="en-US" sz="2800" b="1" dirty="0">
                <a:solidFill>
                  <a:srgbClr val="002060"/>
                </a:solidFill>
                <a:effectLst>
                  <a:outerShdw blurRad="38100" dist="38100" dir="2700000" algn="tl">
                    <a:srgbClr val="C0C0C0"/>
                  </a:outerShdw>
                </a:effectLst>
                <a:latin typeface="微软雅黑" pitchFamily="34" charset="-122"/>
                <a:ea typeface="微软雅黑" pitchFamily="34" charset="-122"/>
              </a:rPr>
              <a:t>指针与数组</a:t>
            </a:r>
          </a:p>
        </p:txBody>
      </p:sp>
    </p:spTree>
    <p:extLst>
      <p:ext uri="{BB962C8B-B14F-4D97-AF65-F5344CB8AC3E}">
        <p14:creationId xmlns:p14="http://schemas.microsoft.com/office/powerpoint/2010/main" val="5195658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5.3">
    <p:spTree>
      <p:nvGrpSpPr>
        <p:cNvPr id="1" name=""/>
        <p:cNvGrpSpPr/>
        <p:nvPr/>
      </p:nvGrpSpPr>
      <p:grpSpPr>
        <a:xfrm>
          <a:off x="0" y="0"/>
          <a:ext cx="0" cy="0"/>
          <a:chOff x="0" y="0"/>
          <a:chExt cx="0" cy="0"/>
        </a:xfrm>
      </p:grpSpPr>
      <p:sp>
        <p:nvSpPr>
          <p:cNvPr id="3" name="日期占位符 2">
            <a:extLst>
              <a:ext uri="{FF2B5EF4-FFF2-40B4-BE49-F238E27FC236}">
                <a16:creationId xmlns:a16="http://schemas.microsoft.com/office/drawing/2014/main" id="{4285AD98-69D5-439C-ADC1-743F29D80180}"/>
              </a:ext>
            </a:extLst>
          </p:cNvPr>
          <p:cNvSpPr>
            <a:spLocks noGrp="1"/>
          </p:cNvSpPr>
          <p:nvPr>
            <p:ph type="dt" sz="half" idx="10"/>
          </p:nvPr>
        </p:nvSpPr>
        <p:spPr/>
        <p:txBody>
          <a:bodyPr/>
          <a:lstStyle/>
          <a:p>
            <a:fld id="{939009E4-E396-4F2E-9DF7-2D1FF2C16B84}" type="datetime1">
              <a:rPr lang="zh-CN" altLang="en-US" smtClean="0"/>
              <a:t>2023/5/2</a:t>
            </a:fld>
            <a:endParaRPr lang="zh-CN" altLang="en-US"/>
          </a:p>
        </p:txBody>
      </p:sp>
      <p:sp>
        <p:nvSpPr>
          <p:cNvPr id="4" name="页脚占位符 3">
            <a:extLst>
              <a:ext uri="{FF2B5EF4-FFF2-40B4-BE49-F238E27FC236}">
                <a16:creationId xmlns:a16="http://schemas.microsoft.com/office/drawing/2014/main" id="{FB2D1354-29A7-4643-B6C1-32382E1D649B}"/>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9CAEB037-461D-429F-8082-F720791BAD75}"/>
              </a:ext>
            </a:extLst>
          </p:cNvPr>
          <p:cNvSpPr>
            <a:spLocks noGrp="1"/>
          </p:cNvSpPr>
          <p:nvPr>
            <p:ph type="sldNum" sz="quarter" idx="12"/>
          </p:nvPr>
        </p:nvSpPr>
        <p:spPr/>
        <p:txBody>
          <a:bodyPr/>
          <a:lstStyle>
            <a:lvl1pPr>
              <a:defRPr/>
            </a:lvl1pPr>
          </a:lstStyle>
          <a:p>
            <a:fld id="{2FA56C3F-F0F5-411B-954C-A2CFDC009DCE}" type="slidenum">
              <a:rPr lang="zh-CN" altLang="en-US" smtClean="0">
                <a:solidFill>
                  <a:prstClr val="black">
                    <a:tint val="75000"/>
                  </a:prstClr>
                </a:solidFill>
              </a:rPr>
              <a:pPr/>
              <a:t>‹#›</a:t>
            </a:fld>
            <a:r>
              <a:rPr lang="en-US" altLang="zh-CN" dirty="0">
                <a:solidFill>
                  <a:prstClr val="black">
                    <a:tint val="75000"/>
                  </a:prstClr>
                </a:solidFill>
              </a:rPr>
              <a:t>/ 35</a:t>
            </a:r>
            <a:endParaRPr lang="zh-CN" altLang="en-US" dirty="0"/>
          </a:p>
        </p:txBody>
      </p:sp>
      <p:sp>
        <p:nvSpPr>
          <p:cNvPr id="6" name="Rectangle 3">
            <a:extLst>
              <a:ext uri="{FF2B5EF4-FFF2-40B4-BE49-F238E27FC236}">
                <a16:creationId xmlns:a16="http://schemas.microsoft.com/office/drawing/2014/main" id="{EE822506-8548-47C9-96B3-F599735D7169}"/>
              </a:ext>
            </a:extLst>
          </p:cNvPr>
          <p:cNvSpPr txBox="1">
            <a:spLocks noChangeArrowheads="1"/>
          </p:cNvSpPr>
          <p:nvPr userDrawn="1"/>
        </p:nvSpPr>
        <p:spPr>
          <a:xfrm>
            <a:off x="-3595" y="102501"/>
            <a:ext cx="7145235" cy="387798"/>
          </a:xfrm>
          <a:prstGeom prst="rect">
            <a:avLst/>
          </a:prstGeom>
          <a:extLst>
            <a:ext uri="{909E8E84-426E-40DD-AFC4-6F175D3DCCD1}">
              <a14:hiddenFill xmlns:a14="http://schemas.microsoft.com/office/drawing/2010/main">
                <a:gradFill rotWithShape="0">
                  <a:gsLst>
                    <a:gs pos="0">
                      <a:srgbClr val="0066FF"/>
                    </a:gs>
                    <a:gs pos="100000">
                      <a:srgbClr val="0066FF">
                        <a:gamma/>
                        <a:shade val="46275"/>
                        <a:invGamma/>
                      </a:srgbClr>
                    </a:gs>
                  </a:gsLst>
                  <a:path path="shape">
                    <a:fillToRect l="50000" t="50000" r="50000" b="50000"/>
                  </a:path>
                </a:gradFill>
              </a14:hiddenFill>
            </a:ext>
            <a:ext uri="{91240B29-F687-4F45-9708-019B960494DF}">
              <a14:hiddenLine xmlns:a14="http://schemas.microsoft.com/office/drawing/2010/main" w="9525" cap="flat" cmpd="sng">
                <a:solidFill>
                  <a:srgbClr val="0066FF"/>
                </a:solidFill>
                <a:prstDash val="solid"/>
                <a:miter lim="800000"/>
                <a:headEnd/>
                <a:tailEnd/>
              </a14:hiddenLine>
            </a:ext>
          </a:extLst>
        </p:spPr>
        <p:txBody>
          <a:bodyPr wrap="square" tIns="0" bIns="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ct val="50000"/>
              </a:spcBef>
              <a:defRPr/>
            </a:pPr>
            <a:r>
              <a:rPr lang="en-US" altLang="zh-CN" sz="2800" b="1" dirty="0">
                <a:solidFill>
                  <a:srgbClr val="002060"/>
                </a:solidFill>
                <a:effectLst>
                  <a:outerShdw blurRad="38100" dist="38100" dir="2700000" algn="tl">
                    <a:srgbClr val="C0C0C0"/>
                  </a:outerShdw>
                </a:effectLst>
                <a:latin typeface="微软雅黑" pitchFamily="34" charset="-122"/>
                <a:ea typeface="微软雅黑" pitchFamily="34" charset="-122"/>
              </a:rPr>
              <a:t>5.3 </a:t>
            </a:r>
            <a:r>
              <a:rPr lang="zh-CN" altLang="en-US" sz="2800" b="1" dirty="0">
                <a:solidFill>
                  <a:srgbClr val="002060"/>
                </a:solidFill>
                <a:effectLst>
                  <a:outerShdw blurRad="38100" dist="38100" dir="2700000" algn="tl">
                    <a:srgbClr val="C0C0C0"/>
                  </a:outerShdw>
                </a:effectLst>
                <a:latin typeface="微软雅黑" pitchFamily="34" charset="-122"/>
                <a:ea typeface="微软雅黑" pitchFamily="34" charset="-122"/>
              </a:rPr>
              <a:t>指针与字符串</a:t>
            </a:r>
          </a:p>
        </p:txBody>
      </p:sp>
    </p:spTree>
    <p:extLst>
      <p:ext uri="{BB962C8B-B14F-4D97-AF65-F5344CB8AC3E}">
        <p14:creationId xmlns:p14="http://schemas.microsoft.com/office/powerpoint/2010/main" val="24283296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4">
    <p:spTree>
      <p:nvGrpSpPr>
        <p:cNvPr id="1" name=""/>
        <p:cNvGrpSpPr/>
        <p:nvPr/>
      </p:nvGrpSpPr>
      <p:grpSpPr>
        <a:xfrm>
          <a:off x="0" y="0"/>
          <a:ext cx="0" cy="0"/>
          <a:chOff x="0" y="0"/>
          <a:chExt cx="0" cy="0"/>
        </a:xfrm>
      </p:grpSpPr>
      <p:sp>
        <p:nvSpPr>
          <p:cNvPr id="3" name="日期占位符 2">
            <a:extLst>
              <a:ext uri="{FF2B5EF4-FFF2-40B4-BE49-F238E27FC236}">
                <a16:creationId xmlns:a16="http://schemas.microsoft.com/office/drawing/2014/main" id="{4285AD98-69D5-439C-ADC1-743F29D80180}"/>
              </a:ext>
            </a:extLst>
          </p:cNvPr>
          <p:cNvSpPr>
            <a:spLocks noGrp="1"/>
          </p:cNvSpPr>
          <p:nvPr>
            <p:ph type="dt" sz="half" idx="10"/>
          </p:nvPr>
        </p:nvSpPr>
        <p:spPr/>
        <p:txBody>
          <a:bodyPr/>
          <a:lstStyle/>
          <a:p>
            <a:fld id="{4DE832EA-1642-4992-95E1-310E20054A23}" type="datetime1">
              <a:rPr lang="zh-CN" altLang="en-US" smtClean="0"/>
              <a:t>2023/5/2</a:t>
            </a:fld>
            <a:endParaRPr lang="zh-CN" altLang="en-US"/>
          </a:p>
        </p:txBody>
      </p:sp>
      <p:sp>
        <p:nvSpPr>
          <p:cNvPr id="4" name="页脚占位符 3">
            <a:extLst>
              <a:ext uri="{FF2B5EF4-FFF2-40B4-BE49-F238E27FC236}">
                <a16:creationId xmlns:a16="http://schemas.microsoft.com/office/drawing/2014/main" id="{FB2D1354-29A7-4643-B6C1-32382E1D649B}"/>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9CAEB037-461D-429F-8082-F720791BAD75}"/>
              </a:ext>
            </a:extLst>
          </p:cNvPr>
          <p:cNvSpPr>
            <a:spLocks noGrp="1"/>
          </p:cNvSpPr>
          <p:nvPr>
            <p:ph type="sldNum" sz="quarter" idx="12"/>
          </p:nvPr>
        </p:nvSpPr>
        <p:spPr/>
        <p:txBody>
          <a:bodyPr/>
          <a:lstStyle>
            <a:lvl1pPr>
              <a:defRPr/>
            </a:lvl1pPr>
          </a:lstStyle>
          <a:p>
            <a:fld id="{2FA56C3F-F0F5-411B-954C-A2CFDC009DCE}" type="slidenum">
              <a:rPr lang="zh-CN" altLang="en-US" smtClean="0">
                <a:solidFill>
                  <a:prstClr val="black">
                    <a:tint val="75000"/>
                  </a:prstClr>
                </a:solidFill>
              </a:rPr>
              <a:pPr/>
              <a:t>‹#›</a:t>
            </a:fld>
            <a:r>
              <a:rPr lang="en-US" altLang="zh-CN" dirty="0">
                <a:solidFill>
                  <a:prstClr val="black">
                    <a:tint val="75000"/>
                  </a:prstClr>
                </a:solidFill>
              </a:rPr>
              <a:t>/ 35</a:t>
            </a:r>
            <a:endParaRPr lang="zh-CN" altLang="en-US" dirty="0"/>
          </a:p>
        </p:txBody>
      </p:sp>
      <p:sp>
        <p:nvSpPr>
          <p:cNvPr id="6" name="Rectangle 3">
            <a:extLst>
              <a:ext uri="{FF2B5EF4-FFF2-40B4-BE49-F238E27FC236}">
                <a16:creationId xmlns:a16="http://schemas.microsoft.com/office/drawing/2014/main" id="{EE822506-8548-47C9-96B3-F599735D7169}"/>
              </a:ext>
            </a:extLst>
          </p:cNvPr>
          <p:cNvSpPr txBox="1">
            <a:spLocks noChangeArrowheads="1"/>
          </p:cNvSpPr>
          <p:nvPr userDrawn="1"/>
        </p:nvSpPr>
        <p:spPr>
          <a:xfrm>
            <a:off x="640" y="98270"/>
            <a:ext cx="7145235" cy="387798"/>
          </a:xfrm>
          <a:prstGeom prst="rect">
            <a:avLst/>
          </a:prstGeom>
          <a:extLst>
            <a:ext uri="{909E8E84-426E-40DD-AFC4-6F175D3DCCD1}">
              <a14:hiddenFill xmlns:a14="http://schemas.microsoft.com/office/drawing/2010/main">
                <a:gradFill rotWithShape="0">
                  <a:gsLst>
                    <a:gs pos="0">
                      <a:srgbClr val="0066FF"/>
                    </a:gs>
                    <a:gs pos="100000">
                      <a:srgbClr val="0066FF">
                        <a:gamma/>
                        <a:shade val="46275"/>
                        <a:invGamma/>
                      </a:srgbClr>
                    </a:gs>
                  </a:gsLst>
                  <a:path path="shape">
                    <a:fillToRect l="50000" t="50000" r="50000" b="50000"/>
                  </a:path>
                </a:gradFill>
              </a14:hiddenFill>
            </a:ext>
            <a:ext uri="{91240B29-F687-4F45-9708-019B960494DF}">
              <a14:hiddenLine xmlns:a14="http://schemas.microsoft.com/office/drawing/2010/main" w="9525" cap="flat" cmpd="sng">
                <a:solidFill>
                  <a:srgbClr val="0066FF"/>
                </a:solidFill>
                <a:prstDash val="solid"/>
                <a:miter lim="800000"/>
                <a:headEnd/>
                <a:tailEnd/>
              </a14:hiddenLine>
            </a:ext>
          </a:extLst>
        </p:spPr>
        <p:txBody>
          <a:bodyPr wrap="square" tIns="0" bIns="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ct val="50000"/>
              </a:spcBef>
              <a:defRPr/>
            </a:pPr>
            <a:r>
              <a:rPr lang="en-US" altLang="zh-CN" sz="2800" b="1" dirty="0">
                <a:solidFill>
                  <a:srgbClr val="002060"/>
                </a:solidFill>
                <a:effectLst>
                  <a:outerShdw blurRad="38100" dist="38100" dir="2700000" algn="tl">
                    <a:srgbClr val="C0C0C0"/>
                  </a:outerShdw>
                </a:effectLst>
                <a:latin typeface="微软雅黑" pitchFamily="34" charset="-122"/>
                <a:ea typeface="微软雅黑" pitchFamily="34" charset="-122"/>
              </a:rPr>
              <a:t>5.4 </a:t>
            </a:r>
            <a:r>
              <a:rPr lang="zh-CN" altLang="en-US" sz="2800" b="1" dirty="0">
                <a:solidFill>
                  <a:srgbClr val="002060"/>
                </a:solidFill>
                <a:effectLst>
                  <a:outerShdw blurRad="38100" dist="38100" dir="2700000" algn="tl">
                    <a:srgbClr val="C0C0C0"/>
                  </a:outerShdw>
                </a:effectLst>
                <a:latin typeface="微软雅黑" pitchFamily="34" charset="-122"/>
                <a:ea typeface="微软雅黑" pitchFamily="34" charset="-122"/>
              </a:rPr>
              <a:t>指针数组</a:t>
            </a:r>
          </a:p>
        </p:txBody>
      </p:sp>
    </p:spTree>
    <p:extLst>
      <p:ext uri="{BB962C8B-B14F-4D97-AF65-F5344CB8AC3E}">
        <p14:creationId xmlns:p14="http://schemas.microsoft.com/office/powerpoint/2010/main" val="42178146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5">
    <p:spTree>
      <p:nvGrpSpPr>
        <p:cNvPr id="1" name=""/>
        <p:cNvGrpSpPr/>
        <p:nvPr/>
      </p:nvGrpSpPr>
      <p:grpSpPr>
        <a:xfrm>
          <a:off x="0" y="0"/>
          <a:ext cx="0" cy="0"/>
          <a:chOff x="0" y="0"/>
          <a:chExt cx="0" cy="0"/>
        </a:xfrm>
      </p:grpSpPr>
      <p:sp>
        <p:nvSpPr>
          <p:cNvPr id="3" name="日期占位符 2">
            <a:extLst>
              <a:ext uri="{FF2B5EF4-FFF2-40B4-BE49-F238E27FC236}">
                <a16:creationId xmlns:a16="http://schemas.microsoft.com/office/drawing/2014/main" id="{4285AD98-69D5-439C-ADC1-743F29D80180}"/>
              </a:ext>
            </a:extLst>
          </p:cNvPr>
          <p:cNvSpPr>
            <a:spLocks noGrp="1"/>
          </p:cNvSpPr>
          <p:nvPr>
            <p:ph type="dt" sz="half" idx="10"/>
          </p:nvPr>
        </p:nvSpPr>
        <p:spPr/>
        <p:txBody>
          <a:bodyPr/>
          <a:lstStyle/>
          <a:p>
            <a:fld id="{6BACEF04-5322-4DF0-8E95-CEF108428169}" type="datetime1">
              <a:rPr lang="zh-CN" altLang="en-US" smtClean="0"/>
              <a:t>2023/5/2</a:t>
            </a:fld>
            <a:endParaRPr lang="zh-CN" altLang="en-US"/>
          </a:p>
        </p:txBody>
      </p:sp>
      <p:sp>
        <p:nvSpPr>
          <p:cNvPr id="4" name="页脚占位符 3">
            <a:extLst>
              <a:ext uri="{FF2B5EF4-FFF2-40B4-BE49-F238E27FC236}">
                <a16:creationId xmlns:a16="http://schemas.microsoft.com/office/drawing/2014/main" id="{FB2D1354-29A7-4643-B6C1-32382E1D649B}"/>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9CAEB037-461D-429F-8082-F720791BAD75}"/>
              </a:ext>
            </a:extLst>
          </p:cNvPr>
          <p:cNvSpPr>
            <a:spLocks noGrp="1"/>
          </p:cNvSpPr>
          <p:nvPr>
            <p:ph type="sldNum" sz="quarter" idx="12"/>
          </p:nvPr>
        </p:nvSpPr>
        <p:spPr/>
        <p:txBody>
          <a:bodyPr/>
          <a:lstStyle>
            <a:lvl1pPr>
              <a:defRPr/>
            </a:lvl1pPr>
          </a:lstStyle>
          <a:p>
            <a:fld id="{2FA56C3F-F0F5-411B-954C-A2CFDC009DCE}" type="slidenum">
              <a:rPr lang="zh-CN" altLang="en-US" smtClean="0">
                <a:solidFill>
                  <a:prstClr val="black">
                    <a:tint val="75000"/>
                  </a:prstClr>
                </a:solidFill>
              </a:rPr>
              <a:pPr/>
              <a:t>‹#›</a:t>
            </a:fld>
            <a:r>
              <a:rPr lang="en-US" altLang="zh-CN" dirty="0">
                <a:solidFill>
                  <a:prstClr val="black">
                    <a:tint val="75000"/>
                  </a:prstClr>
                </a:solidFill>
              </a:rPr>
              <a:t>/35</a:t>
            </a:r>
            <a:endParaRPr lang="zh-CN" altLang="en-US" dirty="0"/>
          </a:p>
        </p:txBody>
      </p:sp>
      <p:sp>
        <p:nvSpPr>
          <p:cNvPr id="6" name="Rectangle 3">
            <a:extLst>
              <a:ext uri="{FF2B5EF4-FFF2-40B4-BE49-F238E27FC236}">
                <a16:creationId xmlns:a16="http://schemas.microsoft.com/office/drawing/2014/main" id="{EE822506-8548-47C9-96B3-F599735D7169}"/>
              </a:ext>
            </a:extLst>
          </p:cNvPr>
          <p:cNvSpPr txBox="1">
            <a:spLocks noChangeArrowheads="1"/>
          </p:cNvSpPr>
          <p:nvPr userDrawn="1"/>
        </p:nvSpPr>
        <p:spPr>
          <a:xfrm>
            <a:off x="-3595" y="102504"/>
            <a:ext cx="7145235" cy="387798"/>
          </a:xfrm>
          <a:prstGeom prst="rect">
            <a:avLst/>
          </a:prstGeom>
          <a:extLst>
            <a:ext uri="{909E8E84-426E-40DD-AFC4-6F175D3DCCD1}">
              <a14:hiddenFill xmlns:a14="http://schemas.microsoft.com/office/drawing/2010/main">
                <a:gradFill rotWithShape="0">
                  <a:gsLst>
                    <a:gs pos="0">
                      <a:srgbClr val="0066FF"/>
                    </a:gs>
                    <a:gs pos="100000">
                      <a:srgbClr val="0066FF">
                        <a:gamma/>
                        <a:shade val="46275"/>
                        <a:invGamma/>
                      </a:srgbClr>
                    </a:gs>
                  </a:gsLst>
                  <a:path path="shape">
                    <a:fillToRect l="50000" t="50000" r="50000" b="50000"/>
                  </a:path>
                </a:gradFill>
              </a14:hiddenFill>
            </a:ext>
            <a:ext uri="{91240B29-F687-4F45-9708-019B960494DF}">
              <a14:hiddenLine xmlns:a14="http://schemas.microsoft.com/office/drawing/2010/main" w="9525" cap="flat" cmpd="sng">
                <a:solidFill>
                  <a:srgbClr val="0066FF"/>
                </a:solidFill>
                <a:prstDash val="solid"/>
                <a:miter lim="800000"/>
                <a:headEnd/>
                <a:tailEnd/>
              </a14:hiddenLine>
            </a:ext>
          </a:extLst>
        </p:spPr>
        <p:txBody>
          <a:bodyPr wrap="square" tIns="0" bIns="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ct val="50000"/>
              </a:spcBef>
              <a:defRPr/>
            </a:pPr>
            <a:r>
              <a:rPr lang="en-US" altLang="zh-CN" sz="2800" b="1" dirty="0">
                <a:solidFill>
                  <a:srgbClr val="002060"/>
                </a:solidFill>
                <a:effectLst>
                  <a:outerShdw blurRad="38100" dist="38100" dir="2700000" algn="tl">
                    <a:srgbClr val="C0C0C0"/>
                  </a:outerShdw>
                </a:effectLst>
                <a:latin typeface="微软雅黑" pitchFamily="34" charset="-122"/>
                <a:ea typeface="微软雅黑" pitchFamily="34" charset="-122"/>
              </a:rPr>
              <a:t>5.5 </a:t>
            </a:r>
            <a:r>
              <a:rPr lang="zh-CN" altLang="en-US" sz="2800" b="1" dirty="0">
                <a:solidFill>
                  <a:srgbClr val="002060"/>
                </a:solidFill>
                <a:effectLst>
                  <a:outerShdw blurRad="38100" dist="38100" dir="2700000" algn="tl">
                    <a:srgbClr val="C0C0C0"/>
                  </a:outerShdw>
                </a:effectLst>
                <a:latin typeface="微软雅黑" pitchFamily="34" charset="-122"/>
                <a:ea typeface="微软雅黑" pitchFamily="34" charset="-122"/>
              </a:rPr>
              <a:t>案例：括号匹配问题</a:t>
            </a:r>
          </a:p>
        </p:txBody>
      </p:sp>
    </p:spTree>
    <p:extLst>
      <p:ext uri="{BB962C8B-B14F-4D97-AF65-F5344CB8AC3E}">
        <p14:creationId xmlns:p14="http://schemas.microsoft.com/office/powerpoint/2010/main" val="32698440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E474AD4-ABEC-4485-9109-4AE1AAB0B761}"/>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4583F6B7-5C12-4E4E-9073-580CA6A41A6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935D7BC1-B809-427C-9F08-510A046694FF}"/>
              </a:ext>
            </a:extLst>
          </p:cNvPr>
          <p:cNvSpPr>
            <a:spLocks noGrp="1"/>
          </p:cNvSpPr>
          <p:nvPr>
            <p:ph type="dt" sz="half" idx="10"/>
          </p:nvPr>
        </p:nvSpPr>
        <p:spPr/>
        <p:txBody>
          <a:bodyPr/>
          <a:lstStyle/>
          <a:p>
            <a:fld id="{A7A1D5A6-683A-4036-876B-82BBC2861F7D}" type="datetime1">
              <a:rPr lang="zh-CN" altLang="en-US" smtClean="0"/>
              <a:t>2023/5/2</a:t>
            </a:fld>
            <a:endParaRPr lang="zh-CN" altLang="en-US"/>
          </a:p>
        </p:txBody>
      </p:sp>
      <p:sp>
        <p:nvSpPr>
          <p:cNvPr id="5" name="页脚占位符 4">
            <a:extLst>
              <a:ext uri="{FF2B5EF4-FFF2-40B4-BE49-F238E27FC236}">
                <a16:creationId xmlns:a16="http://schemas.microsoft.com/office/drawing/2014/main" id="{9D4B585E-11DE-411B-9226-2007BA3357CD}"/>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461E87E3-3726-463C-BE2B-B558CD0AC492}"/>
              </a:ext>
            </a:extLst>
          </p:cNvPr>
          <p:cNvSpPr>
            <a:spLocks noGrp="1"/>
          </p:cNvSpPr>
          <p:nvPr>
            <p:ph type="sldNum" sz="quarter" idx="12"/>
          </p:nvPr>
        </p:nvSpPr>
        <p:spPr/>
        <p:txBody>
          <a:bodyPr/>
          <a:lstStyle>
            <a:lvl1pPr>
              <a:defRPr/>
            </a:lvl1pPr>
          </a:lstStyle>
          <a:p>
            <a:r>
              <a:rPr lang="zh-CN" altLang="en-US" dirty="0"/>
              <a:t>第</a:t>
            </a:r>
            <a:fld id="{2FA56C3F-F0F5-411B-954C-A2CFDC009DCE}" type="slidenum">
              <a:rPr lang="zh-CN" altLang="en-US" smtClean="0">
                <a:solidFill>
                  <a:prstClr val="black">
                    <a:tint val="75000"/>
                  </a:prstClr>
                </a:solidFill>
              </a:rPr>
              <a:pPr/>
              <a:t>‹#›</a:t>
            </a:fld>
            <a:r>
              <a:rPr lang="zh-CN" altLang="en-US" dirty="0"/>
              <a:t>页，共</a:t>
            </a:r>
            <a:r>
              <a:rPr lang="en-US" altLang="zh-CN" dirty="0"/>
              <a:t>30</a:t>
            </a:r>
            <a:r>
              <a:rPr lang="zh-CN" altLang="en-US" dirty="0"/>
              <a:t>页</a:t>
            </a:r>
          </a:p>
        </p:txBody>
      </p:sp>
    </p:spTree>
    <p:extLst>
      <p:ext uri="{BB962C8B-B14F-4D97-AF65-F5344CB8AC3E}">
        <p14:creationId xmlns:p14="http://schemas.microsoft.com/office/powerpoint/2010/main" val="1609907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DEB9E2-C450-47A8-A070-C84B3E169459}"/>
              </a:ext>
            </a:extLst>
          </p:cNvPr>
          <p:cNvSpPr>
            <a:spLocks noGrp="1"/>
          </p:cNvSpPr>
          <p:nvPr>
            <p:ph type="title"/>
          </p:nvPr>
        </p:nvSpPr>
        <p:spPr>
          <a:xfrm>
            <a:off x="838200" y="838200"/>
            <a:ext cx="10515600" cy="852488"/>
          </a:xfrm>
        </p:spPr>
        <p:txBody>
          <a:bodyPr/>
          <a:lstStyle/>
          <a:p>
            <a:r>
              <a:rPr lang="zh-CN" altLang="en-US" dirty="0"/>
              <a:t>单击此处编辑母版标题样式</a:t>
            </a:r>
          </a:p>
        </p:txBody>
      </p:sp>
      <p:sp>
        <p:nvSpPr>
          <p:cNvPr id="3" name="内容占位符 2">
            <a:extLst>
              <a:ext uri="{FF2B5EF4-FFF2-40B4-BE49-F238E27FC236}">
                <a16:creationId xmlns:a16="http://schemas.microsoft.com/office/drawing/2014/main" id="{8FB6C178-61D5-475A-92D0-6FE43A90907E}"/>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3287448E-A19A-4D08-9F63-676999401ACB}"/>
              </a:ext>
            </a:extLst>
          </p:cNvPr>
          <p:cNvSpPr>
            <a:spLocks noGrp="1"/>
          </p:cNvSpPr>
          <p:nvPr>
            <p:ph type="dt" sz="half" idx="10"/>
          </p:nvPr>
        </p:nvSpPr>
        <p:spPr/>
        <p:txBody>
          <a:bodyPr/>
          <a:lstStyle/>
          <a:p>
            <a:fld id="{BC774289-03BD-474D-AF3E-CD1748F6B22E}" type="datetime1">
              <a:rPr lang="zh-CN" altLang="en-US" smtClean="0"/>
              <a:t>2023/5/2</a:t>
            </a:fld>
            <a:endParaRPr lang="zh-CN" altLang="en-US"/>
          </a:p>
        </p:txBody>
      </p:sp>
      <p:sp>
        <p:nvSpPr>
          <p:cNvPr id="5" name="页脚占位符 4">
            <a:extLst>
              <a:ext uri="{FF2B5EF4-FFF2-40B4-BE49-F238E27FC236}">
                <a16:creationId xmlns:a16="http://schemas.microsoft.com/office/drawing/2014/main" id="{2BC7C253-9065-4B49-AC33-40A8A2CD35B9}"/>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17F778CF-3F9A-4D9C-AEFB-1138D1787388}"/>
              </a:ext>
            </a:extLst>
          </p:cNvPr>
          <p:cNvSpPr>
            <a:spLocks noGrp="1"/>
          </p:cNvSpPr>
          <p:nvPr>
            <p:ph type="sldNum" sz="quarter" idx="12"/>
          </p:nvPr>
        </p:nvSpPr>
        <p:spPr/>
        <p:txBody>
          <a:bodyPr/>
          <a:lstStyle>
            <a:lvl1pPr>
              <a:defRPr/>
            </a:lvl1pPr>
          </a:lstStyle>
          <a:p>
            <a:r>
              <a:rPr lang="zh-CN" altLang="en-US" dirty="0"/>
              <a:t>第</a:t>
            </a:r>
            <a:fld id="{2FA56C3F-F0F5-411B-954C-A2CFDC009DCE}" type="slidenum">
              <a:rPr lang="zh-CN" altLang="en-US" smtClean="0"/>
              <a:pPr/>
              <a:t>‹#›</a:t>
            </a:fld>
            <a:r>
              <a:rPr lang="zh-CN" altLang="en-US" dirty="0"/>
              <a:t>页，共</a:t>
            </a:r>
            <a:r>
              <a:rPr lang="en-US" altLang="zh-CN" dirty="0"/>
              <a:t>30</a:t>
            </a:r>
            <a:r>
              <a:rPr lang="zh-CN" altLang="en-US" dirty="0"/>
              <a:t>页</a:t>
            </a:r>
          </a:p>
        </p:txBody>
      </p:sp>
    </p:spTree>
    <p:extLst>
      <p:ext uri="{BB962C8B-B14F-4D97-AF65-F5344CB8AC3E}">
        <p14:creationId xmlns:p14="http://schemas.microsoft.com/office/powerpoint/2010/main" val="25025933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4B1310-1A44-48D4-892F-24533F54071B}"/>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C12CA674-3E89-404D-AA3A-E868A1B05C7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145BBCEA-3375-4D2D-B9E1-379CB790B898}"/>
              </a:ext>
            </a:extLst>
          </p:cNvPr>
          <p:cNvSpPr>
            <a:spLocks noGrp="1"/>
          </p:cNvSpPr>
          <p:nvPr>
            <p:ph type="dt" sz="half" idx="10"/>
          </p:nvPr>
        </p:nvSpPr>
        <p:spPr/>
        <p:txBody>
          <a:bodyPr/>
          <a:lstStyle/>
          <a:p>
            <a:fld id="{9A541E0C-BEEA-499E-B863-89A684245628}" type="datetime1">
              <a:rPr lang="zh-CN" altLang="en-US" smtClean="0"/>
              <a:t>2023/5/2</a:t>
            </a:fld>
            <a:endParaRPr lang="zh-CN" altLang="en-US"/>
          </a:p>
        </p:txBody>
      </p:sp>
      <p:sp>
        <p:nvSpPr>
          <p:cNvPr id="5" name="页脚占位符 4">
            <a:extLst>
              <a:ext uri="{FF2B5EF4-FFF2-40B4-BE49-F238E27FC236}">
                <a16:creationId xmlns:a16="http://schemas.microsoft.com/office/drawing/2014/main" id="{75C48294-AC7E-42E0-8D1E-1C99992363A0}"/>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0B0EBAF8-F76E-411F-9A2A-9733F2A8F6F4}"/>
              </a:ext>
            </a:extLst>
          </p:cNvPr>
          <p:cNvSpPr>
            <a:spLocks noGrp="1"/>
          </p:cNvSpPr>
          <p:nvPr>
            <p:ph type="sldNum" sz="quarter" idx="12"/>
          </p:nvPr>
        </p:nvSpPr>
        <p:spPr/>
        <p:txBody>
          <a:bodyPr/>
          <a:lstStyle/>
          <a:p>
            <a:fld id="{2FA56C3F-F0F5-411B-954C-A2CFDC009DCE}" type="slidenum">
              <a:rPr lang="zh-CN" altLang="en-US" smtClean="0"/>
              <a:t>‹#›</a:t>
            </a:fld>
            <a:endParaRPr lang="zh-CN" altLang="en-US"/>
          </a:p>
        </p:txBody>
      </p:sp>
    </p:spTree>
    <p:extLst>
      <p:ext uri="{BB962C8B-B14F-4D97-AF65-F5344CB8AC3E}">
        <p14:creationId xmlns:p14="http://schemas.microsoft.com/office/powerpoint/2010/main" val="11648820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ABAC20-CA2A-4C18-8402-5BA5228319E8}"/>
              </a:ext>
            </a:extLst>
          </p:cNvPr>
          <p:cNvSpPr>
            <a:spLocks noGrp="1"/>
          </p:cNvSpPr>
          <p:nvPr>
            <p:ph type="title"/>
          </p:nvPr>
        </p:nvSpPr>
        <p:spPr>
          <a:xfrm>
            <a:off x="838200" y="838200"/>
            <a:ext cx="10515600" cy="852488"/>
          </a:xfrm>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FA492BEE-0382-41FD-9A45-E74EA7E63300}"/>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BBB555AA-23E9-4B88-B631-DFC927C3BF76}"/>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6A7E48C7-F411-4AB4-A507-487EE21106E3}"/>
              </a:ext>
            </a:extLst>
          </p:cNvPr>
          <p:cNvSpPr>
            <a:spLocks noGrp="1"/>
          </p:cNvSpPr>
          <p:nvPr>
            <p:ph type="dt" sz="half" idx="10"/>
          </p:nvPr>
        </p:nvSpPr>
        <p:spPr/>
        <p:txBody>
          <a:bodyPr/>
          <a:lstStyle/>
          <a:p>
            <a:fld id="{9A719BBE-8304-414C-873C-5C7FC2358096}" type="datetime1">
              <a:rPr lang="zh-CN" altLang="en-US" smtClean="0"/>
              <a:t>2023/5/2</a:t>
            </a:fld>
            <a:endParaRPr lang="zh-CN" altLang="en-US"/>
          </a:p>
        </p:txBody>
      </p:sp>
      <p:sp>
        <p:nvSpPr>
          <p:cNvPr id="6" name="页脚占位符 5">
            <a:extLst>
              <a:ext uri="{FF2B5EF4-FFF2-40B4-BE49-F238E27FC236}">
                <a16:creationId xmlns:a16="http://schemas.microsoft.com/office/drawing/2014/main" id="{81D71B4C-5F2B-4E30-8242-5CEFAA0EB7CA}"/>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902D771C-A0E3-44B3-B5E2-B88352CEB0C7}"/>
              </a:ext>
            </a:extLst>
          </p:cNvPr>
          <p:cNvSpPr>
            <a:spLocks noGrp="1"/>
          </p:cNvSpPr>
          <p:nvPr>
            <p:ph type="sldNum" sz="quarter" idx="12"/>
          </p:nvPr>
        </p:nvSpPr>
        <p:spPr/>
        <p:txBody>
          <a:bodyPr/>
          <a:lstStyle/>
          <a:p>
            <a:fld id="{2FA56C3F-F0F5-411B-954C-A2CFDC009DCE}" type="slidenum">
              <a:rPr lang="zh-CN" altLang="en-US" smtClean="0"/>
              <a:t>‹#›</a:t>
            </a:fld>
            <a:endParaRPr lang="zh-CN" altLang="en-US"/>
          </a:p>
        </p:txBody>
      </p:sp>
    </p:spTree>
    <p:extLst>
      <p:ext uri="{BB962C8B-B14F-4D97-AF65-F5344CB8AC3E}">
        <p14:creationId xmlns:p14="http://schemas.microsoft.com/office/powerpoint/2010/main" val="20100013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1BF824-47E5-4895-AC55-60DAEF4E0A28}"/>
              </a:ext>
            </a:extLst>
          </p:cNvPr>
          <p:cNvSpPr>
            <a:spLocks noGrp="1"/>
          </p:cNvSpPr>
          <p:nvPr>
            <p:ph type="title"/>
          </p:nvPr>
        </p:nvSpPr>
        <p:spPr>
          <a:xfrm>
            <a:off x="839788" y="800100"/>
            <a:ext cx="10515600" cy="823912"/>
          </a:xfrm>
        </p:spPr>
        <p:txBody>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4E075336-BDB4-47C1-A61C-8B723885C8B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5D30ED25-EC93-42FC-BF5E-F0792C724A7A}"/>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BD861F66-EBC8-4197-B543-F620403FAA4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2AE16E24-B549-438C-8C81-41A92A02326B}"/>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4311A5AA-4A79-45C7-9D86-A03ECF8FA025}"/>
              </a:ext>
            </a:extLst>
          </p:cNvPr>
          <p:cNvSpPr>
            <a:spLocks noGrp="1"/>
          </p:cNvSpPr>
          <p:nvPr>
            <p:ph type="dt" sz="half" idx="10"/>
          </p:nvPr>
        </p:nvSpPr>
        <p:spPr/>
        <p:txBody>
          <a:bodyPr/>
          <a:lstStyle/>
          <a:p>
            <a:fld id="{A9308BD7-57CE-494F-8FAB-D8310F92EEF6}" type="datetime1">
              <a:rPr lang="zh-CN" altLang="en-US" smtClean="0"/>
              <a:t>2023/5/2</a:t>
            </a:fld>
            <a:endParaRPr lang="zh-CN" altLang="en-US"/>
          </a:p>
        </p:txBody>
      </p:sp>
      <p:sp>
        <p:nvSpPr>
          <p:cNvPr id="8" name="页脚占位符 7">
            <a:extLst>
              <a:ext uri="{FF2B5EF4-FFF2-40B4-BE49-F238E27FC236}">
                <a16:creationId xmlns:a16="http://schemas.microsoft.com/office/drawing/2014/main" id="{122F7098-7947-4E53-A9AC-CC953797BBCB}"/>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a:extLst>
              <a:ext uri="{FF2B5EF4-FFF2-40B4-BE49-F238E27FC236}">
                <a16:creationId xmlns:a16="http://schemas.microsoft.com/office/drawing/2014/main" id="{BCFCE883-2C8A-4773-B3DD-76F5761120A3}"/>
              </a:ext>
            </a:extLst>
          </p:cNvPr>
          <p:cNvSpPr>
            <a:spLocks noGrp="1"/>
          </p:cNvSpPr>
          <p:nvPr>
            <p:ph type="sldNum" sz="quarter" idx="12"/>
          </p:nvPr>
        </p:nvSpPr>
        <p:spPr/>
        <p:txBody>
          <a:bodyPr/>
          <a:lstStyle/>
          <a:p>
            <a:fld id="{2FA56C3F-F0F5-411B-954C-A2CFDC009DCE}" type="slidenum">
              <a:rPr lang="zh-CN" altLang="en-US" smtClean="0"/>
              <a:t>‹#›</a:t>
            </a:fld>
            <a:endParaRPr lang="zh-CN" altLang="en-US"/>
          </a:p>
        </p:txBody>
      </p:sp>
    </p:spTree>
    <p:extLst>
      <p:ext uri="{BB962C8B-B14F-4D97-AF65-F5344CB8AC3E}">
        <p14:creationId xmlns:p14="http://schemas.microsoft.com/office/powerpoint/2010/main" val="3998115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81F315-15CF-4F24-B2C6-0B5210ED2800}"/>
              </a:ext>
            </a:extLst>
          </p:cNvPr>
          <p:cNvSpPr>
            <a:spLocks noGrp="1"/>
          </p:cNvSpPr>
          <p:nvPr>
            <p:ph type="title"/>
          </p:nvPr>
        </p:nvSpPr>
        <p:spPr>
          <a:xfrm>
            <a:off x="838200" y="819150"/>
            <a:ext cx="10515600" cy="871538"/>
          </a:xfrm>
        </p:spPr>
        <p:txBody>
          <a:bodyPr/>
          <a:lstStyle/>
          <a:p>
            <a:r>
              <a:rPr lang="zh-CN" altLang="en-US" dirty="0"/>
              <a:t>单击此处编辑母版标题样式</a:t>
            </a:r>
          </a:p>
        </p:txBody>
      </p:sp>
      <p:sp>
        <p:nvSpPr>
          <p:cNvPr id="3" name="日期占位符 2">
            <a:extLst>
              <a:ext uri="{FF2B5EF4-FFF2-40B4-BE49-F238E27FC236}">
                <a16:creationId xmlns:a16="http://schemas.microsoft.com/office/drawing/2014/main" id="{CA58A7ED-2843-4FFB-9319-3B46B0CCFF20}"/>
              </a:ext>
            </a:extLst>
          </p:cNvPr>
          <p:cNvSpPr>
            <a:spLocks noGrp="1"/>
          </p:cNvSpPr>
          <p:nvPr>
            <p:ph type="dt" sz="half" idx="10"/>
          </p:nvPr>
        </p:nvSpPr>
        <p:spPr/>
        <p:txBody>
          <a:bodyPr/>
          <a:lstStyle/>
          <a:p>
            <a:fld id="{33396D8A-3BE3-4AFA-A485-667249039D86}" type="datetime1">
              <a:rPr lang="zh-CN" altLang="en-US" smtClean="0"/>
              <a:t>2023/5/2</a:t>
            </a:fld>
            <a:endParaRPr lang="zh-CN" altLang="en-US"/>
          </a:p>
        </p:txBody>
      </p:sp>
      <p:sp>
        <p:nvSpPr>
          <p:cNvPr id="4" name="页脚占位符 3">
            <a:extLst>
              <a:ext uri="{FF2B5EF4-FFF2-40B4-BE49-F238E27FC236}">
                <a16:creationId xmlns:a16="http://schemas.microsoft.com/office/drawing/2014/main" id="{4EF55942-357E-4A3E-A232-70DACE9B1FE6}"/>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a:extLst>
              <a:ext uri="{FF2B5EF4-FFF2-40B4-BE49-F238E27FC236}">
                <a16:creationId xmlns:a16="http://schemas.microsoft.com/office/drawing/2014/main" id="{B6FB4F34-C7D5-43BB-AED7-6EC34FE60FE6}"/>
              </a:ext>
            </a:extLst>
          </p:cNvPr>
          <p:cNvSpPr>
            <a:spLocks noGrp="1"/>
          </p:cNvSpPr>
          <p:nvPr>
            <p:ph type="sldNum" sz="quarter" idx="12"/>
          </p:nvPr>
        </p:nvSpPr>
        <p:spPr/>
        <p:txBody>
          <a:bodyPr/>
          <a:lstStyle/>
          <a:p>
            <a:fld id="{2FA56C3F-F0F5-411B-954C-A2CFDC009DCE}" type="slidenum">
              <a:rPr lang="zh-CN" altLang="en-US" smtClean="0"/>
              <a:t>‹#›</a:t>
            </a:fld>
            <a:endParaRPr lang="zh-CN" altLang="en-US"/>
          </a:p>
        </p:txBody>
      </p:sp>
    </p:spTree>
    <p:extLst>
      <p:ext uri="{BB962C8B-B14F-4D97-AF65-F5344CB8AC3E}">
        <p14:creationId xmlns:p14="http://schemas.microsoft.com/office/powerpoint/2010/main" val="42535094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DCDAFB-415E-4AC6-9360-019C0E5704CE}"/>
              </a:ext>
            </a:extLst>
          </p:cNvPr>
          <p:cNvSpPr>
            <a:spLocks noGrp="1"/>
          </p:cNvSpPr>
          <p:nvPr>
            <p:ph type="title"/>
          </p:nvPr>
        </p:nvSpPr>
        <p:spPr>
          <a:xfrm>
            <a:off x="839788" y="847724"/>
            <a:ext cx="3932237" cy="1209675"/>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ECE44F90-2B3F-428E-969E-57B07A694D15}"/>
              </a:ext>
            </a:extLst>
          </p:cNvPr>
          <p:cNvSpPr>
            <a:spLocks noGrp="1"/>
          </p:cNvSpPr>
          <p:nvPr>
            <p:ph idx="1"/>
          </p:nvPr>
        </p:nvSpPr>
        <p:spPr>
          <a:xfrm>
            <a:off x="5183188" y="847725"/>
            <a:ext cx="6172200" cy="5013326"/>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37D96DF2-0BD2-45EC-9813-593930721D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0B66C782-FD0C-48A3-956A-80A343DB0159}"/>
              </a:ext>
            </a:extLst>
          </p:cNvPr>
          <p:cNvSpPr>
            <a:spLocks noGrp="1"/>
          </p:cNvSpPr>
          <p:nvPr>
            <p:ph type="dt" sz="half" idx="10"/>
          </p:nvPr>
        </p:nvSpPr>
        <p:spPr/>
        <p:txBody>
          <a:bodyPr/>
          <a:lstStyle/>
          <a:p>
            <a:fld id="{CD6C0529-3E35-453B-A27C-80B331FA59F6}" type="datetime1">
              <a:rPr lang="zh-CN" altLang="en-US" smtClean="0"/>
              <a:t>2023/5/2</a:t>
            </a:fld>
            <a:endParaRPr lang="zh-CN" altLang="en-US"/>
          </a:p>
        </p:txBody>
      </p:sp>
      <p:sp>
        <p:nvSpPr>
          <p:cNvPr id="6" name="页脚占位符 5">
            <a:extLst>
              <a:ext uri="{FF2B5EF4-FFF2-40B4-BE49-F238E27FC236}">
                <a16:creationId xmlns:a16="http://schemas.microsoft.com/office/drawing/2014/main" id="{474B88A7-4A15-42F8-8937-61508769786B}"/>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46908464-7DBC-45AC-8201-DE0C2DBB7456}"/>
              </a:ext>
            </a:extLst>
          </p:cNvPr>
          <p:cNvSpPr>
            <a:spLocks noGrp="1"/>
          </p:cNvSpPr>
          <p:nvPr>
            <p:ph type="sldNum" sz="quarter" idx="12"/>
          </p:nvPr>
        </p:nvSpPr>
        <p:spPr/>
        <p:txBody>
          <a:bodyPr/>
          <a:lstStyle/>
          <a:p>
            <a:fld id="{2FA56C3F-F0F5-411B-954C-A2CFDC009DCE}" type="slidenum">
              <a:rPr lang="zh-CN" altLang="en-US" smtClean="0"/>
              <a:t>‹#›</a:t>
            </a:fld>
            <a:endParaRPr lang="zh-CN" altLang="en-US"/>
          </a:p>
        </p:txBody>
      </p:sp>
    </p:spTree>
    <p:extLst>
      <p:ext uri="{BB962C8B-B14F-4D97-AF65-F5344CB8AC3E}">
        <p14:creationId xmlns:p14="http://schemas.microsoft.com/office/powerpoint/2010/main" val="7441418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1959B7-240A-440C-A694-FAA58C73D33F}"/>
              </a:ext>
            </a:extLst>
          </p:cNvPr>
          <p:cNvSpPr>
            <a:spLocks noGrp="1"/>
          </p:cNvSpPr>
          <p:nvPr>
            <p:ph type="title"/>
          </p:nvPr>
        </p:nvSpPr>
        <p:spPr>
          <a:xfrm>
            <a:off x="839788" y="987424"/>
            <a:ext cx="3932237" cy="1069975"/>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63E7A531-93E7-47E5-8D8A-7E4689D137B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BC67025A-5FF7-4210-9C63-3B4C50AF97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980836E2-F1D0-4D62-B64E-9BAA3610E4B9}"/>
              </a:ext>
            </a:extLst>
          </p:cNvPr>
          <p:cNvSpPr>
            <a:spLocks noGrp="1"/>
          </p:cNvSpPr>
          <p:nvPr>
            <p:ph type="dt" sz="half" idx="10"/>
          </p:nvPr>
        </p:nvSpPr>
        <p:spPr/>
        <p:txBody>
          <a:bodyPr/>
          <a:lstStyle/>
          <a:p>
            <a:fld id="{EA02F71A-BB17-454E-B47E-9F9FCBEA0B9C}" type="datetime1">
              <a:rPr lang="zh-CN" altLang="en-US" smtClean="0"/>
              <a:t>2023/5/2</a:t>
            </a:fld>
            <a:endParaRPr lang="zh-CN" altLang="en-US"/>
          </a:p>
        </p:txBody>
      </p:sp>
      <p:sp>
        <p:nvSpPr>
          <p:cNvPr id="6" name="页脚占位符 5">
            <a:extLst>
              <a:ext uri="{FF2B5EF4-FFF2-40B4-BE49-F238E27FC236}">
                <a16:creationId xmlns:a16="http://schemas.microsoft.com/office/drawing/2014/main" id="{A1A5121E-A953-4F21-A73A-64F892D894EF}"/>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C5B3BC5F-3C5E-452A-AF6C-E40B0A85C37D}"/>
              </a:ext>
            </a:extLst>
          </p:cNvPr>
          <p:cNvSpPr>
            <a:spLocks noGrp="1"/>
          </p:cNvSpPr>
          <p:nvPr>
            <p:ph type="sldNum" sz="quarter" idx="12"/>
          </p:nvPr>
        </p:nvSpPr>
        <p:spPr/>
        <p:txBody>
          <a:bodyPr/>
          <a:lstStyle/>
          <a:p>
            <a:fld id="{2FA56C3F-F0F5-411B-954C-A2CFDC009DCE}" type="slidenum">
              <a:rPr lang="zh-CN" altLang="en-US" smtClean="0"/>
              <a:t>‹#›</a:t>
            </a:fld>
            <a:endParaRPr lang="zh-CN" altLang="en-US"/>
          </a:p>
        </p:txBody>
      </p:sp>
    </p:spTree>
    <p:extLst>
      <p:ext uri="{BB962C8B-B14F-4D97-AF65-F5344CB8AC3E}">
        <p14:creationId xmlns:p14="http://schemas.microsoft.com/office/powerpoint/2010/main" val="19571740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D3359D-6FC8-48ED-8BCF-54450B4D13DB}"/>
              </a:ext>
            </a:extLst>
          </p:cNvPr>
          <p:cNvSpPr>
            <a:spLocks noGrp="1"/>
          </p:cNvSpPr>
          <p:nvPr>
            <p:ph type="title"/>
          </p:nvPr>
        </p:nvSpPr>
        <p:spPr>
          <a:xfrm>
            <a:off x="838200" y="819150"/>
            <a:ext cx="10515600" cy="871538"/>
          </a:xfrm>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000C3A34-15A1-46D5-8CD5-71A387CD5FF6}"/>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2EB48492-6DB5-4CF1-8F9D-5A9CFCC67E5D}"/>
              </a:ext>
            </a:extLst>
          </p:cNvPr>
          <p:cNvSpPr>
            <a:spLocks noGrp="1"/>
          </p:cNvSpPr>
          <p:nvPr>
            <p:ph type="dt" sz="half" idx="10"/>
          </p:nvPr>
        </p:nvSpPr>
        <p:spPr/>
        <p:txBody>
          <a:bodyPr/>
          <a:lstStyle/>
          <a:p>
            <a:fld id="{E8C67E8D-A8C0-4DC1-86AE-43D71F449263}" type="datetime1">
              <a:rPr lang="zh-CN" altLang="en-US" smtClean="0"/>
              <a:t>2023/5/2</a:t>
            </a:fld>
            <a:endParaRPr lang="zh-CN" altLang="en-US"/>
          </a:p>
        </p:txBody>
      </p:sp>
      <p:sp>
        <p:nvSpPr>
          <p:cNvPr id="5" name="页脚占位符 4">
            <a:extLst>
              <a:ext uri="{FF2B5EF4-FFF2-40B4-BE49-F238E27FC236}">
                <a16:creationId xmlns:a16="http://schemas.microsoft.com/office/drawing/2014/main" id="{8357DAC6-B655-4BF5-A955-6D622CBF7FC2}"/>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94002F96-4A72-4DD2-B3E9-B893B84887FE}"/>
              </a:ext>
            </a:extLst>
          </p:cNvPr>
          <p:cNvSpPr>
            <a:spLocks noGrp="1"/>
          </p:cNvSpPr>
          <p:nvPr>
            <p:ph type="sldNum" sz="quarter" idx="12"/>
          </p:nvPr>
        </p:nvSpPr>
        <p:spPr/>
        <p:txBody>
          <a:bodyPr/>
          <a:lstStyle/>
          <a:p>
            <a:fld id="{2FA56C3F-F0F5-411B-954C-A2CFDC009DCE}" type="slidenum">
              <a:rPr lang="zh-CN" altLang="en-US" smtClean="0"/>
              <a:t>‹#›</a:t>
            </a:fld>
            <a:endParaRPr lang="zh-CN" altLang="en-US"/>
          </a:p>
        </p:txBody>
      </p:sp>
    </p:spTree>
    <p:extLst>
      <p:ext uri="{BB962C8B-B14F-4D97-AF65-F5344CB8AC3E}">
        <p14:creationId xmlns:p14="http://schemas.microsoft.com/office/powerpoint/2010/main" val="31682475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51AEE16-01E3-43EC-BC25-37934156E45C}"/>
              </a:ext>
            </a:extLst>
          </p:cNvPr>
          <p:cNvSpPr>
            <a:spLocks noGrp="1"/>
          </p:cNvSpPr>
          <p:nvPr>
            <p:ph type="title" orient="vert"/>
          </p:nvPr>
        </p:nvSpPr>
        <p:spPr>
          <a:xfrm>
            <a:off x="8724900" y="836245"/>
            <a:ext cx="2628900" cy="534071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8F88E6E2-76C5-4659-8E75-14D8BFF92885}"/>
              </a:ext>
            </a:extLst>
          </p:cNvPr>
          <p:cNvSpPr>
            <a:spLocks noGrp="1"/>
          </p:cNvSpPr>
          <p:nvPr>
            <p:ph type="body" orient="vert" idx="1"/>
          </p:nvPr>
        </p:nvSpPr>
        <p:spPr>
          <a:xfrm>
            <a:off x="838200" y="836245"/>
            <a:ext cx="7734300" cy="5340717"/>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182BD946-8A09-4235-8744-79EC63664F93}"/>
              </a:ext>
            </a:extLst>
          </p:cNvPr>
          <p:cNvSpPr>
            <a:spLocks noGrp="1"/>
          </p:cNvSpPr>
          <p:nvPr>
            <p:ph type="dt" sz="half" idx="10"/>
          </p:nvPr>
        </p:nvSpPr>
        <p:spPr/>
        <p:txBody>
          <a:bodyPr/>
          <a:lstStyle/>
          <a:p>
            <a:fld id="{C865D97A-9C13-42FE-93D3-48EEF3AECDAE}" type="datetime1">
              <a:rPr lang="zh-CN" altLang="en-US" smtClean="0"/>
              <a:t>2023/5/2</a:t>
            </a:fld>
            <a:endParaRPr lang="zh-CN" altLang="en-US"/>
          </a:p>
        </p:txBody>
      </p:sp>
      <p:sp>
        <p:nvSpPr>
          <p:cNvPr id="5" name="页脚占位符 4">
            <a:extLst>
              <a:ext uri="{FF2B5EF4-FFF2-40B4-BE49-F238E27FC236}">
                <a16:creationId xmlns:a16="http://schemas.microsoft.com/office/drawing/2014/main" id="{D73F3E54-4815-4109-B7F2-744E4C44363D}"/>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78D44857-0F28-459B-BA4E-04E04401D7C0}"/>
              </a:ext>
            </a:extLst>
          </p:cNvPr>
          <p:cNvSpPr>
            <a:spLocks noGrp="1"/>
          </p:cNvSpPr>
          <p:nvPr>
            <p:ph type="sldNum" sz="quarter" idx="12"/>
          </p:nvPr>
        </p:nvSpPr>
        <p:spPr/>
        <p:txBody>
          <a:bodyPr/>
          <a:lstStyle/>
          <a:p>
            <a:fld id="{2FA56C3F-F0F5-411B-954C-A2CFDC009DCE}" type="slidenum">
              <a:rPr lang="zh-CN" altLang="en-US" smtClean="0"/>
              <a:t>‹#›</a:t>
            </a:fld>
            <a:endParaRPr lang="zh-CN" altLang="en-US" dirty="0"/>
          </a:p>
        </p:txBody>
      </p:sp>
    </p:spTree>
    <p:extLst>
      <p:ext uri="{BB962C8B-B14F-4D97-AF65-F5344CB8AC3E}">
        <p14:creationId xmlns:p14="http://schemas.microsoft.com/office/powerpoint/2010/main" val="13863605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grpSp>
        <p:nvGrpSpPr>
          <p:cNvPr id="11" name="组合 10">
            <a:extLst>
              <a:ext uri="{FF2B5EF4-FFF2-40B4-BE49-F238E27FC236}">
                <a16:creationId xmlns:a16="http://schemas.microsoft.com/office/drawing/2014/main" id="{46A57981-622F-4C85-AAC3-86D82916A7C7}"/>
              </a:ext>
            </a:extLst>
          </p:cNvPr>
          <p:cNvGrpSpPr/>
          <p:nvPr userDrawn="1"/>
        </p:nvGrpSpPr>
        <p:grpSpPr>
          <a:xfrm>
            <a:off x="0" y="1354137"/>
            <a:ext cx="12191999" cy="2904016"/>
            <a:chOff x="1856581" y="1077913"/>
            <a:chExt cx="9145588" cy="2799223"/>
          </a:xfrm>
        </p:grpSpPr>
        <p:grpSp>
          <p:nvGrpSpPr>
            <p:cNvPr id="9" name="组合 8">
              <a:extLst>
                <a:ext uri="{FF2B5EF4-FFF2-40B4-BE49-F238E27FC236}">
                  <a16:creationId xmlns:a16="http://schemas.microsoft.com/office/drawing/2014/main" id="{B5F3B009-7F7D-4A6B-90A7-EAC230DAC673}"/>
                </a:ext>
              </a:extLst>
            </p:cNvPr>
            <p:cNvGrpSpPr/>
            <p:nvPr userDrawn="1"/>
          </p:nvGrpSpPr>
          <p:grpSpPr>
            <a:xfrm>
              <a:off x="1856581" y="1077913"/>
              <a:ext cx="9145588" cy="2798762"/>
              <a:chOff x="0" y="1487488"/>
              <a:chExt cx="9145588" cy="2798762"/>
            </a:xfrm>
          </p:grpSpPr>
          <p:sp>
            <p:nvSpPr>
              <p:cNvPr id="6" name="矩形 4">
                <a:extLst>
                  <a:ext uri="{FF2B5EF4-FFF2-40B4-BE49-F238E27FC236}">
                    <a16:creationId xmlns:a16="http://schemas.microsoft.com/office/drawing/2014/main" id="{3A9F79D7-EE70-44C6-87A7-3A5349DBDB96}"/>
                  </a:ext>
                </a:extLst>
              </p:cNvPr>
              <p:cNvSpPr>
                <a:spLocks noChangeArrowheads="1"/>
              </p:cNvSpPr>
              <p:nvPr userDrawn="1"/>
            </p:nvSpPr>
            <p:spPr bwMode="auto">
              <a:xfrm>
                <a:off x="1588" y="1625600"/>
                <a:ext cx="9144000" cy="2484438"/>
              </a:xfrm>
              <a:prstGeom prst="rect">
                <a:avLst/>
              </a:prstGeom>
              <a:solidFill>
                <a:srgbClr val="0070C0"/>
              </a:solidFill>
              <a:ln w="25400">
                <a:solidFill>
                  <a:srgbClr val="0070C0"/>
                </a:solidFill>
                <a:miter lim="800000"/>
                <a:headEnd/>
                <a:tailEnd/>
              </a:ln>
            </p:spPr>
            <p:txBody>
              <a:bodyPr anchor="ctr"/>
              <a:lstStyle/>
              <a:p>
                <a:pPr algn="ctr" fontAlgn="base">
                  <a:spcBef>
                    <a:spcPct val="0"/>
                  </a:spcBef>
                  <a:spcAft>
                    <a:spcPct val="0"/>
                  </a:spcAft>
                  <a:buFont typeface="Arial" pitchFamily="34" charset="0"/>
                  <a:buNone/>
                </a:pPr>
                <a:endParaRPr lang="zh-CN" altLang="en-US">
                  <a:solidFill>
                    <a:srgbClr val="FFFFFF"/>
                  </a:solidFill>
                  <a:latin typeface="宋体" pitchFamily="2" charset="-122"/>
                  <a:ea typeface="宋体" pitchFamily="2" charset="-122"/>
                  <a:sym typeface="宋体" pitchFamily="2" charset="-122"/>
                </a:endParaRPr>
              </a:p>
            </p:txBody>
          </p:sp>
          <p:sp>
            <p:nvSpPr>
              <p:cNvPr id="7" name="矩形 5">
                <a:extLst>
                  <a:ext uri="{FF2B5EF4-FFF2-40B4-BE49-F238E27FC236}">
                    <a16:creationId xmlns:a16="http://schemas.microsoft.com/office/drawing/2014/main" id="{EBB45569-6700-4093-9D14-557B47137CDE}"/>
                  </a:ext>
                </a:extLst>
              </p:cNvPr>
              <p:cNvSpPr>
                <a:spLocks noChangeArrowheads="1"/>
              </p:cNvSpPr>
              <p:nvPr userDrawn="1"/>
            </p:nvSpPr>
            <p:spPr bwMode="auto">
              <a:xfrm>
                <a:off x="0" y="4232275"/>
                <a:ext cx="9144000" cy="53975"/>
              </a:xfrm>
              <a:prstGeom prst="rect">
                <a:avLst/>
              </a:prstGeom>
              <a:solidFill>
                <a:srgbClr val="0070C0"/>
              </a:solidFill>
              <a:ln w="25400">
                <a:solidFill>
                  <a:srgbClr val="0070C0"/>
                </a:solidFill>
                <a:miter lim="800000"/>
                <a:headEnd/>
                <a:tailEnd/>
              </a:ln>
            </p:spPr>
            <p:txBody>
              <a:bodyPr anchor="ctr"/>
              <a:lstStyle/>
              <a:p>
                <a:pPr algn="ctr" fontAlgn="base">
                  <a:spcBef>
                    <a:spcPct val="0"/>
                  </a:spcBef>
                  <a:spcAft>
                    <a:spcPct val="0"/>
                  </a:spcAft>
                  <a:buFont typeface="Arial" pitchFamily="34" charset="0"/>
                  <a:buNone/>
                </a:pPr>
                <a:endParaRPr lang="zh-CN" altLang="en-US">
                  <a:solidFill>
                    <a:srgbClr val="FFFFFF"/>
                  </a:solidFill>
                  <a:latin typeface="宋体" pitchFamily="2" charset="-122"/>
                  <a:ea typeface="宋体" pitchFamily="2" charset="-122"/>
                  <a:sym typeface="宋体" pitchFamily="2" charset="-122"/>
                </a:endParaRPr>
              </a:p>
            </p:txBody>
          </p:sp>
          <p:sp>
            <p:nvSpPr>
              <p:cNvPr id="8" name="矩形 6">
                <a:extLst>
                  <a:ext uri="{FF2B5EF4-FFF2-40B4-BE49-F238E27FC236}">
                    <a16:creationId xmlns:a16="http://schemas.microsoft.com/office/drawing/2014/main" id="{EAA0AD1C-D43A-4CDC-9212-0D5DC7E6024E}"/>
                  </a:ext>
                </a:extLst>
              </p:cNvPr>
              <p:cNvSpPr>
                <a:spLocks noChangeArrowheads="1"/>
              </p:cNvSpPr>
              <p:nvPr userDrawn="1"/>
            </p:nvSpPr>
            <p:spPr bwMode="auto">
              <a:xfrm>
                <a:off x="0" y="1487488"/>
                <a:ext cx="9144000" cy="53975"/>
              </a:xfrm>
              <a:prstGeom prst="rect">
                <a:avLst/>
              </a:prstGeom>
              <a:solidFill>
                <a:srgbClr val="0070C0"/>
              </a:solidFill>
              <a:ln w="25400">
                <a:solidFill>
                  <a:srgbClr val="0070C0"/>
                </a:solidFill>
                <a:miter lim="800000"/>
                <a:headEnd/>
                <a:tailEnd/>
              </a:ln>
            </p:spPr>
            <p:txBody>
              <a:bodyPr anchor="ctr"/>
              <a:lstStyle/>
              <a:p>
                <a:pPr algn="ctr" fontAlgn="base">
                  <a:spcBef>
                    <a:spcPct val="0"/>
                  </a:spcBef>
                  <a:spcAft>
                    <a:spcPct val="0"/>
                  </a:spcAft>
                  <a:buFont typeface="Arial" pitchFamily="34" charset="0"/>
                  <a:buNone/>
                </a:pPr>
                <a:endParaRPr lang="zh-CN" altLang="en-US">
                  <a:solidFill>
                    <a:srgbClr val="FFFFFF"/>
                  </a:solidFill>
                  <a:latin typeface="宋体" pitchFamily="2" charset="-122"/>
                  <a:ea typeface="宋体" pitchFamily="2" charset="-122"/>
                  <a:sym typeface="宋体" pitchFamily="2" charset="-122"/>
                </a:endParaRPr>
              </a:p>
            </p:txBody>
          </p:sp>
        </p:grpSp>
        <p:sp>
          <p:nvSpPr>
            <p:cNvPr id="10" name="WordArt 8">
              <a:extLst>
                <a:ext uri="{FF2B5EF4-FFF2-40B4-BE49-F238E27FC236}">
                  <a16:creationId xmlns:a16="http://schemas.microsoft.com/office/drawing/2014/main" id="{CB95522C-BFEF-4FEE-99E2-3D87100C4D60}"/>
                </a:ext>
              </a:extLst>
            </p:cNvPr>
            <p:cNvSpPr>
              <a:spLocks noChangeArrowheads="1" noChangeShapeType="1" noTextEdit="1"/>
            </p:cNvSpPr>
            <p:nvPr userDrawn="1"/>
          </p:nvSpPr>
          <p:spPr bwMode="auto">
            <a:xfrm>
              <a:off x="2581568" y="2508711"/>
              <a:ext cx="7848600" cy="1368425"/>
            </a:xfrm>
            <a:prstGeom prst="rect">
              <a:avLst/>
            </a:prstGeom>
          </p:spPr>
          <p:txBody>
            <a:bodyPr spcFirstLastPara="1" wrap="none" fromWordArt="1">
              <a:prstTxWarp prst="textArchUp">
                <a:avLst>
                  <a:gd name="adj" fmla="val 10800000"/>
                </a:avLst>
              </a:prstTxWarp>
            </a:bodyPr>
            <a:lstStyle/>
            <a:p>
              <a:pPr algn="ctr" fontAlgn="base">
                <a:spcBef>
                  <a:spcPct val="0"/>
                </a:spcBef>
                <a:spcAft>
                  <a:spcPct val="0"/>
                </a:spcAft>
                <a:buFont typeface="Arial" pitchFamily="34" charset="0"/>
                <a:buNone/>
                <a:defRPr/>
              </a:pPr>
              <a:r>
                <a:rPr lang="en-US" altLang="zh-CN" sz="3600" kern="10" dirty="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80000"/>
                      </a:srgbClr>
                    </a:outerShdw>
                  </a:effectLst>
                  <a:latin typeface="华文行楷"/>
                  <a:ea typeface="华文行楷"/>
                </a:rPr>
                <a:t>C</a:t>
              </a:r>
              <a:r>
                <a:rPr lang="zh-CN" altLang="en-US" sz="3600" kern="10" dirty="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80000"/>
                      </a:srgbClr>
                    </a:outerShdw>
                  </a:effectLst>
                  <a:latin typeface="华文行楷"/>
                  <a:ea typeface="华文行楷"/>
                </a:rPr>
                <a:t>语言程序设计</a:t>
              </a:r>
            </a:p>
          </p:txBody>
        </p:sp>
      </p:grpSp>
      <p:grpSp>
        <p:nvGrpSpPr>
          <p:cNvPr id="12" name="组合 11">
            <a:extLst>
              <a:ext uri="{FF2B5EF4-FFF2-40B4-BE49-F238E27FC236}">
                <a16:creationId xmlns:a16="http://schemas.microsoft.com/office/drawing/2014/main" id="{57101706-0246-4D72-A2BC-98A80CFACEB4}"/>
              </a:ext>
            </a:extLst>
          </p:cNvPr>
          <p:cNvGrpSpPr/>
          <p:nvPr userDrawn="1"/>
        </p:nvGrpSpPr>
        <p:grpSpPr>
          <a:xfrm>
            <a:off x="-1" y="4685984"/>
            <a:ext cx="12192001" cy="1315043"/>
            <a:chOff x="1637409" y="5066644"/>
            <a:chExt cx="6737987" cy="1315043"/>
          </a:xfrm>
        </p:grpSpPr>
        <p:sp>
          <p:nvSpPr>
            <p:cNvPr id="13" name="TextBox 8">
              <a:extLst>
                <a:ext uri="{FF2B5EF4-FFF2-40B4-BE49-F238E27FC236}">
                  <a16:creationId xmlns:a16="http://schemas.microsoft.com/office/drawing/2014/main" id="{99BD6CD0-C9AC-44D9-B12D-81931EEEE37F}"/>
                </a:ext>
              </a:extLst>
            </p:cNvPr>
            <p:cNvSpPr txBox="1"/>
            <p:nvPr/>
          </p:nvSpPr>
          <p:spPr>
            <a:xfrm>
              <a:off x="1637409" y="5066644"/>
              <a:ext cx="6736816" cy="523220"/>
            </a:xfrm>
            <a:prstGeom prst="rect">
              <a:avLst/>
            </a:prstGeom>
            <a:noFill/>
          </p:spPr>
          <p:txBody>
            <a:bodyPr wrap="square" rtlCol="0">
              <a:spAutoFit/>
            </a:bodyPr>
            <a:lstStyle/>
            <a:p>
              <a:pPr algn="ctr" fontAlgn="base">
                <a:spcBef>
                  <a:spcPct val="0"/>
                </a:spcBef>
                <a:spcAft>
                  <a:spcPct val="0"/>
                </a:spcAft>
                <a:buFont typeface="Arial" pitchFamily="34" charset="0"/>
                <a:buNone/>
              </a:pPr>
              <a:r>
                <a:rPr lang="zh-CN" altLang="en-US" sz="2800" b="1" dirty="0">
                  <a:solidFill>
                    <a:srgbClr val="0000FF"/>
                  </a:solidFill>
                  <a:latin typeface="Arial" pitchFamily="34" charset="0"/>
                  <a:ea typeface="宋体" pitchFamily="2" charset="-122"/>
                </a:rPr>
                <a:t>主讲：吴锦桥</a:t>
              </a:r>
            </a:p>
          </p:txBody>
        </p:sp>
        <p:sp>
          <p:nvSpPr>
            <p:cNvPr id="14" name="TextBox 9">
              <a:extLst>
                <a:ext uri="{FF2B5EF4-FFF2-40B4-BE49-F238E27FC236}">
                  <a16:creationId xmlns:a16="http://schemas.microsoft.com/office/drawing/2014/main" id="{E2549B70-5E95-4C4F-A488-F377B7D57E38}"/>
                </a:ext>
              </a:extLst>
            </p:cNvPr>
            <p:cNvSpPr txBox="1"/>
            <p:nvPr/>
          </p:nvSpPr>
          <p:spPr>
            <a:xfrm>
              <a:off x="1638581" y="5858467"/>
              <a:ext cx="6736815" cy="523220"/>
            </a:xfrm>
            <a:prstGeom prst="rect">
              <a:avLst/>
            </a:prstGeom>
            <a:noFill/>
          </p:spPr>
          <p:txBody>
            <a:bodyPr wrap="square" rtlCol="0">
              <a:spAutoFit/>
            </a:bodyPr>
            <a:lstStyle/>
            <a:p>
              <a:pPr algn="ctr" fontAlgn="base">
                <a:spcBef>
                  <a:spcPct val="0"/>
                </a:spcBef>
                <a:spcAft>
                  <a:spcPct val="0"/>
                </a:spcAft>
                <a:buFont typeface="Arial" pitchFamily="34" charset="0"/>
                <a:buNone/>
              </a:pPr>
              <a:r>
                <a:rPr lang="zh-CN" altLang="en-US" sz="2800" dirty="0">
                  <a:solidFill>
                    <a:srgbClr val="000000"/>
                  </a:solidFill>
                  <a:latin typeface="华文中宋" pitchFamily="2" charset="-122"/>
                  <a:ea typeface="华文中宋" pitchFamily="2" charset="-122"/>
                </a:rPr>
                <a:t>西北农林科技大学 信息工程学院</a:t>
              </a:r>
            </a:p>
          </p:txBody>
        </p:sp>
      </p:grpSp>
      <p:grpSp>
        <p:nvGrpSpPr>
          <p:cNvPr id="2" name="组合 1">
            <a:extLst>
              <a:ext uri="{FF2B5EF4-FFF2-40B4-BE49-F238E27FC236}">
                <a16:creationId xmlns:a16="http://schemas.microsoft.com/office/drawing/2014/main" id="{AAD9F945-ED18-412B-ADFB-CA000B285FB1}"/>
              </a:ext>
            </a:extLst>
          </p:cNvPr>
          <p:cNvGrpSpPr/>
          <p:nvPr userDrawn="1"/>
        </p:nvGrpSpPr>
        <p:grpSpPr>
          <a:xfrm>
            <a:off x="0" y="6567544"/>
            <a:ext cx="12192000" cy="290456"/>
            <a:chOff x="0" y="6567544"/>
            <a:chExt cx="12192000" cy="290456"/>
          </a:xfrm>
        </p:grpSpPr>
        <p:sp>
          <p:nvSpPr>
            <p:cNvPr id="15" name="梯形 14">
              <a:extLst>
                <a:ext uri="{FF2B5EF4-FFF2-40B4-BE49-F238E27FC236}">
                  <a16:creationId xmlns:a16="http://schemas.microsoft.com/office/drawing/2014/main" id="{D7F3770B-929D-4134-ABD8-02B82F6E9969}"/>
                </a:ext>
              </a:extLst>
            </p:cNvPr>
            <p:cNvSpPr/>
            <p:nvPr userDrawn="1"/>
          </p:nvSpPr>
          <p:spPr>
            <a:xfrm>
              <a:off x="3058085" y="6567544"/>
              <a:ext cx="6279777" cy="290456"/>
            </a:xfrm>
            <a:prstGeom prst="trapezoid">
              <a:avLst/>
            </a:prstGeom>
            <a:solidFill>
              <a:srgbClr val="00A3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16" name="矩形 15">
              <a:extLst>
                <a:ext uri="{FF2B5EF4-FFF2-40B4-BE49-F238E27FC236}">
                  <a16:creationId xmlns:a16="http://schemas.microsoft.com/office/drawing/2014/main" id="{C928126A-0445-4067-A91E-6E9403A4BC26}"/>
                </a:ext>
              </a:extLst>
            </p:cNvPr>
            <p:cNvSpPr/>
            <p:nvPr userDrawn="1"/>
          </p:nvSpPr>
          <p:spPr>
            <a:xfrm>
              <a:off x="0" y="6669741"/>
              <a:ext cx="12192000" cy="188259"/>
            </a:xfrm>
            <a:prstGeom prst="rect">
              <a:avLst/>
            </a:prstGeom>
            <a:solidFill>
              <a:srgbClr val="056AC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a:ea typeface="等线" panose="02010600030101010101" pitchFamily="2" charset="-122"/>
                <a:cs typeface="+mn-cs"/>
              </a:endParaRPr>
            </a:p>
          </p:txBody>
        </p:sp>
      </p:grpSp>
      <p:sp>
        <p:nvSpPr>
          <p:cNvPr id="17" name="矩形 16">
            <a:extLst>
              <a:ext uri="{FF2B5EF4-FFF2-40B4-BE49-F238E27FC236}">
                <a16:creationId xmlns:a16="http://schemas.microsoft.com/office/drawing/2014/main" id="{1DA33834-D47B-4A39-AFBF-0707B98EF227}"/>
              </a:ext>
            </a:extLst>
          </p:cNvPr>
          <p:cNvSpPr/>
          <p:nvPr userDrawn="1"/>
        </p:nvSpPr>
        <p:spPr>
          <a:xfrm>
            <a:off x="0" y="0"/>
            <a:ext cx="12192000" cy="51099"/>
          </a:xfrm>
          <a:prstGeom prst="rect">
            <a:avLst/>
          </a:prstGeom>
          <a:solidFill>
            <a:srgbClr val="00A3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73147134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章目录">
    <p:spTree>
      <p:nvGrpSpPr>
        <p:cNvPr id="1" name=""/>
        <p:cNvGrpSpPr/>
        <p:nvPr/>
      </p:nvGrpSpPr>
      <p:grpSpPr>
        <a:xfrm>
          <a:off x="0" y="0"/>
          <a:ext cx="0" cy="0"/>
          <a:chOff x="0" y="0"/>
          <a:chExt cx="0" cy="0"/>
        </a:xfrm>
      </p:grpSpPr>
      <p:sp>
        <p:nvSpPr>
          <p:cNvPr id="70" name="矩形 69">
            <a:extLst>
              <a:ext uri="{FF2B5EF4-FFF2-40B4-BE49-F238E27FC236}">
                <a16:creationId xmlns:a16="http://schemas.microsoft.com/office/drawing/2014/main" id="{5D6C1642-EF57-4FCF-B70B-9EB19917F44C}"/>
              </a:ext>
            </a:extLst>
          </p:cNvPr>
          <p:cNvSpPr/>
          <p:nvPr userDrawn="1"/>
        </p:nvSpPr>
        <p:spPr>
          <a:xfrm>
            <a:off x="7476565" y="40018"/>
            <a:ext cx="4715435" cy="6858000"/>
          </a:xfrm>
          <a:prstGeom prst="rect">
            <a:avLst/>
          </a:prstGeom>
          <a:gradFill>
            <a:gsLst>
              <a:gs pos="100000">
                <a:srgbClr val="00B0F0">
                  <a:alpha val="0"/>
                </a:srgbClr>
              </a:gs>
              <a:gs pos="0">
                <a:srgbClr val="00B0F0">
                  <a:alpha val="30000"/>
                </a:srgbClr>
              </a:gs>
            </a:gsLst>
            <a:lin ang="108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69" name="矩形 68">
            <a:extLst>
              <a:ext uri="{FF2B5EF4-FFF2-40B4-BE49-F238E27FC236}">
                <a16:creationId xmlns:a16="http://schemas.microsoft.com/office/drawing/2014/main" id="{A406FEC5-3B86-47F4-9DE8-AD14B42FD340}"/>
              </a:ext>
            </a:extLst>
          </p:cNvPr>
          <p:cNvSpPr/>
          <p:nvPr userDrawn="1"/>
        </p:nvSpPr>
        <p:spPr>
          <a:xfrm rot="10800000">
            <a:off x="1867" y="0"/>
            <a:ext cx="4715435" cy="6858000"/>
          </a:xfrm>
          <a:prstGeom prst="rect">
            <a:avLst/>
          </a:prstGeom>
          <a:gradFill>
            <a:gsLst>
              <a:gs pos="100000">
                <a:srgbClr val="00B0F0">
                  <a:alpha val="0"/>
                </a:srgbClr>
              </a:gs>
              <a:gs pos="0">
                <a:srgbClr val="00B0F0">
                  <a:alpha val="30000"/>
                </a:srgbClr>
              </a:gs>
            </a:gsLst>
            <a:lin ang="108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10" name="Freeform 9">
            <a:extLst>
              <a:ext uri="{FF2B5EF4-FFF2-40B4-BE49-F238E27FC236}">
                <a16:creationId xmlns:a16="http://schemas.microsoft.com/office/drawing/2014/main" id="{D46F347A-A251-4B8B-B4C7-ED6BAEA25E8A}"/>
              </a:ext>
            </a:extLst>
          </p:cNvPr>
          <p:cNvSpPr>
            <a:spLocks noEditPoints="1"/>
          </p:cNvSpPr>
          <p:nvPr userDrawn="1"/>
        </p:nvSpPr>
        <p:spPr bwMode="auto">
          <a:xfrm>
            <a:off x="4318000" y="990600"/>
            <a:ext cx="115888" cy="4679950"/>
          </a:xfrm>
          <a:custGeom>
            <a:avLst/>
            <a:gdLst>
              <a:gd name="T0" fmla="*/ 0 w 153"/>
              <a:gd name="T1" fmla="*/ 0 h 6522"/>
              <a:gd name="T2" fmla="*/ 2147483647 w 153"/>
              <a:gd name="T3" fmla="*/ 0 h 6522"/>
              <a:gd name="T4" fmla="*/ 2147483647 w 153"/>
              <a:gd name="T5" fmla="*/ 2147483647 h 6522"/>
              <a:gd name="T6" fmla="*/ 0 w 153"/>
              <a:gd name="T7" fmla="*/ 2147483647 h 6522"/>
              <a:gd name="T8" fmla="*/ 0 w 153"/>
              <a:gd name="T9" fmla="*/ 0 h 6522"/>
              <a:gd name="T10" fmla="*/ 2147483647 w 153"/>
              <a:gd name="T11" fmla="*/ 0 h 6522"/>
              <a:gd name="T12" fmla="*/ 2147483647 w 153"/>
              <a:gd name="T13" fmla="*/ 0 h 6522"/>
              <a:gd name="T14" fmla="*/ 2147483647 w 153"/>
              <a:gd name="T15" fmla="*/ 2147483647 h 6522"/>
              <a:gd name="T16" fmla="*/ 2147483647 w 153"/>
              <a:gd name="T17" fmla="*/ 2147483647 h 6522"/>
              <a:gd name="T18" fmla="*/ 2147483647 w 153"/>
              <a:gd name="T19" fmla="*/ 0 h 652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53" h="6522">
                <a:moveTo>
                  <a:pt x="0" y="0"/>
                </a:moveTo>
                <a:lnTo>
                  <a:pt x="61" y="0"/>
                </a:lnTo>
                <a:lnTo>
                  <a:pt x="61" y="6522"/>
                </a:lnTo>
                <a:lnTo>
                  <a:pt x="0" y="6522"/>
                </a:lnTo>
                <a:lnTo>
                  <a:pt x="0" y="0"/>
                </a:lnTo>
                <a:close/>
                <a:moveTo>
                  <a:pt x="131" y="0"/>
                </a:moveTo>
                <a:lnTo>
                  <a:pt x="153" y="0"/>
                </a:lnTo>
                <a:lnTo>
                  <a:pt x="153" y="6522"/>
                </a:lnTo>
                <a:lnTo>
                  <a:pt x="131" y="6522"/>
                </a:lnTo>
                <a:lnTo>
                  <a:pt x="131" y="0"/>
                </a:lnTo>
                <a:close/>
              </a:path>
            </a:pathLst>
          </a:custGeom>
          <a:solidFill>
            <a:srgbClr val="2E2C2C"/>
          </a:solidFill>
          <a:ln w="9525">
            <a:noFill/>
            <a:round/>
          </a:ln>
        </p:spPr>
        <p:txBody>
          <a:bodyPr/>
          <a:lstStyle/>
          <a:p>
            <a:pPr>
              <a:defRPr/>
            </a:pPr>
            <a:endParaRPr lang="zh-CN" altLang="en-US" kern="0">
              <a:solidFill>
                <a:sysClr val="windowText" lastClr="000000"/>
              </a:solidFill>
              <a:latin typeface="Arial" pitchFamily="34" charset="0"/>
              <a:ea typeface="宋体" pitchFamily="2" charset="-122"/>
            </a:endParaRPr>
          </a:p>
        </p:txBody>
      </p:sp>
      <p:sp>
        <p:nvSpPr>
          <p:cNvPr id="13" name="Oval 16">
            <a:extLst>
              <a:ext uri="{FF2B5EF4-FFF2-40B4-BE49-F238E27FC236}">
                <a16:creationId xmlns:a16="http://schemas.microsoft.com/office/drawing/2014/main" id="{F942DE91-6A52-4F3E-B751-25D294D1789E}"/>
              </a:ext>
            </a:extLst>
          </p:cNvPr>
          <p:cNvSpPr>
            <a:spLocks noChangeArrowheads="1"/>
          </p:cNvSpPr>
          <p:nvPr userDrawn="1"/>
        </p:nvSpPr>
        <p:spPr bwMode="auto">
          <a:xfrm>
            <a:off x="6627052" y="930536"/>
            <a:ext cx="503236" cy="504825"/>
          </a:xfrm>
          <a:prstGeom prst="ellipse">
            <a:avLst/>
          </a:prstGeom>
          <a:solidFill>
            <a:srgbClr val="FFFFFF"/>
          </a:solidFill>
          <a:ln w="9525">
            <a:noFill/>
            <a:round/>
          </a:ln>
        </p:spPr>
        <p:txBody>
          <a:bodyPr/>
          <a:lstStyle/>
          <a:p>
            <a:pPr>
              <a:defRPr/>
            </a:pPr>
            <a:endParaRPr lang="zh-CN" altLang="en-US" sz="2800" kern="0">
              <a:solidFill>
                <a:sysClr val="windowText" lastClr="000000"/>
              </a:solidFill>
              <a:latin typeface="Arial" pitchFamily="34" charset="0"/>
              <a:ea typeface="宋体" pitchFamily="2" charset="-122"/>
            </a:endParaRPr>
          </a:p>
        </p:txBody>
      </p:sp>
      <p:sp>
        <p:nvSpPr>
          <p:cNvPr id="23" name="Rectangle 2">
            <a:extLst>
              <a:ext uri="{FF2B5EF4-FFF2-40B4-BE49-F238E27FC236}">
                <a16:creationId xmlns:a16="http://schemas.microsoft.com/office/drawing/2014/main" id="{866AD108-1623-41DA-B8B2-0EF3D74F8E58}"/>
              </a:ext>
            </a:extLst>
          </p:cNvPr>
          <p:cNvSpPr txBox="1">
            <a:spLocks noChangeArrowheads="1"/>
          </p:cNvSpPr>
          <p:nvPr userDrawn="1"/>
        </p:nvSpPr>
        <p:spPr>
          <a:xfrm>
            <a:off x="1904390" y="3558216"/>
            <a:ext cx="2131218" cy="470859"/>
          </a:xfrm>
          <a:prstGeom prst="rect">
            <a:avLst/>
          </a:prstGeom>
        </p:spPr>
        <p:txBody>
          <a:bodyPr/>
          <a:lstStyle>
            <a:lvl1pPr marL="227013" indent="-227013" algn="l" rtl="0" eaLnBrk="1" fontAlgn="base" hangingPunct="1">
              <a:lnSpc>
                <a:spcPct val="90000"/>
              </a:lnSpc>
              <a:spcBef>
                <a:spcPts val="1000"/>
              </a:spcBef>
              <a:spcAft>
                <a:spcPct val="0"/>
              </a:spcAft>
              <a:buFont typeface="Arial" pitchFamily="34" charset="0"/>
              <a:buChar char="•"/>
              <a:defRPr sz="2800">
                <a:solidFill>
                  <a:schemeClr val="tx1"/>
                </a:solidFill>
                <a:latin typeface="+mn-lt"/>
                <a:ea typeface="+mn-ea"/>
                <a:cs typeface="+mn-cs"/>
                <a:sym typeface="Calibri" pitchFamily="34" charset="0"/>
              </a:defRPr>
            </a:lvl1pPr>
            <a:lvl2pPr marL="684213" indent="-227013" algn="l" rtl="0" eaLnBrk="1" fontAlgn="base" hangingPunct="1">
              <a:lnSpc>
                <a:spcPct val="90000"/>
              </a:lnSpc>
              <a:spcBef>
                <a:spcPts val="500"/>
              </a:spcBef>
              <a:spcAft>
                <a:spcPct val="0"/>
              </a:spcAft>
              <a:buFont typeface="Arial" pitchFamily="34" charset="0"/>
              <a:buChar char="•"/>
              <a:defRPr sz="2400">
                <a:solidFill>
                  <a:schemeClr val="tx1"/>
                </a:solidFill>
                <a:latin typeface="+mn-lt"/>
                <a:ea typeface="+mn-ea"/>
                <a:sym typeface="Calibri" pitchFamily="34" charset="0"/>
              </a:defRPr>
            </a:lvl2pPr>
            <a:lvl3pPr marL="1141413" indent="-227013" algn="l" rtl="0" eaLnBrk="1" fontAlgn="base" hangingPunct="1">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3pPr>
            <a:lvl4pPr marL="1598613" indent="-227013" algn="l" rtl="0" eaLnBrk="1" fontAlgn="base" hangingPunct="1">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4pPr>
            <a:lvl5pPr marL="2055813" indent="-227013" algn="l" rtl="0" eaLnBrk="1" fontAlgn="base" hangingPunct="1">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5pPr>
            <a:lvl6pPr marL="2514600" indent="-228600" algn="l" rtl="0" eaLnBrk="1" fontAlgn="base" hangingPunct="1">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eaLnBrk="1" fontAlgn="base" hangingPunct="1">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eaLnBrk="1" fontAlgn="base" hangingPunct="1">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eaLnBrk="1" fontAlgn="base" hangingPunct="1">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lnSpc>
                <a:spcPct val="80000"/>
              </a:lnSpc>
              <a:buFont typeface="Arial" pitchFamily="34" charset="0"/>
              <a:buNone/>
              <a:defRPr/>
            </a:pPr>
            <a:r>
              <a:rPr lang="zh-CN" altLang="en-US" sz="3200" b="1" dirty="0">
                <a:solidFill>
                  <a:srgbClr val="000000"/>
                </a:solidFill>
                <a:latin typeface="Calibri"/>
                <a:ea typeface="宋体"/>
              </a:rPr>
              <a:t>第</a:t>
            </a:r>
            <a:r>
              <a:rPr lang="en-US" altLang="zh-CN" sz="3200" b="1" dirty="0">
                <a:solidFill>
                  <a:srgbClr val="000000"/>
                </a:solidFill>
                <a:latin typeface="Calibri"/>
                <a:ea typeface="宋体"/>
              </a:rPr>
              <a:t>5</a:t>
            </a:r>
            <a:r>
              <a:rPr lang="zh-CN" altLang="en-US" sz="3200" b="1" dirty="0">
                <a:solidFill>
                  <a:srgbClr val="000000"/>
                </a:solidFill>
                <a:latin typeface="Calibri"/>
                <a:ea typeface="宋体"/>
              </a:rPr>
              <a:t>章 指针</a:t>
            </a:r>
            <a:endParaRPr lang="en-US" altLang="zh-CN" sz="3200" b="1" dirty="0">
              <a:solidFill>
                <a:srgbClr val="3366FF"/>
              </a:solidFill>
              <a:latin typeface="隶书" pitchFamily="49" charset="-122"/>
              <a:ea typeface="隶书" pitchFamily="49" charset="-122"/>
            </a:endParaRPr>
          </a:p>
        </p:txBody>
      </p:sp>
      <p:grpSp>
        <p:nvGrpSpPr>
          <p:cNvPr id="38" name="组合 37">
            <a:extLst>
              <a:ext uri="{FF2B5EF4-FFF2-40B4-BE49-F238E27FC236}">
                <a16:creationId xmlns:a16="http://schemas.microsoft.com/office/drawing/2014/main" id="{29832B8B-E77D-459B-A122-A63E215FEC28}"/>
              </a:ext>
            </a:extLst>
          </p:cNvPr>
          <p:cNvGrpSpPr/>
          <p:nvPr userDrawn="1"/>
        </p:nvGrpSpPr>
        <p:grpSpPr>
          <a:xfrm>
            <a:off x="4503375" y="977212"/>
            <a:ext cx="5634004" cy="623887"/>
            <a:chOff x="4577557" y="1037605"/>
            <a:chExt cx="5634004" cy="623887"/>
          </a:xfrm>
        </p:grpSpPr>
        <p:sp>
          <p:nvSpPr>
            <p:cNvPr id="39" name="Freeform 10">
              <a:extLst>
                <a:ext uri="{FF2B5EF4-FFF2-40B4-BE49-F238E27FC236}">
                  <a16:creationId xmlns:a16="http://schemas.microsoft.com/office/drawing/2014/main" id="{D94ABC20-F180-44D3-B7BA-04431E5E5C0F}"/>
                </a:ext>
              </a:extLst>
            </p:cNvPr>
            <p:cNvSpPr/>
            <p:nvPr userDrawn="1"/>
          </p:nvSpPr>
          <p:spPr bwMode="auto">
            <a:xfrm>
              <a:off x="4591049" y="1037605"/>
              <a:ext cx="5620512" cy="623887"/>
            </a:xfrm>
            <a:custGeom>
              <a:avLst/>
              <a:gdLst>
                <a:gd name="T0" fmla="*/ 2147483647 w 6425"/>
                <a:gd name="T1" fmla="*/ 0 h 911"/>
                <a:gd name="T2" fmla="*/ 2147483647 w 6425"/>
                <a:gd name="T3" fmla="*/ 0 h 911"/>
                <a:gd name="T4" fmla="*/ 2147483647 w 6425"/>
                <a:gd name="T5" fmla="*/ 2147483647 h 911"/>
                <a:gd name="T6" fmla="*/ 2147483647 w 6425"/>
                <a:gd name="T7" fmla="*/ 2147483647 h 911"/>
                <a:gd name="T8" fmla="*/ 2147483647 w 6425"/>
                <a:gd name="T9" fmla="*/ 2147483647 h 911"/>
                <a:gd name="T10" fmla="*/ 2147483647 w 6425"/>
                <a:gd name="T11" fmla="*/ 2147483647 h 911"/>
                <a:gd name="T12" fmla="*/ 0 w 6425"/>
                <a:gd name="T13" fmla="*/ 2147483647 h 911"/>
                <a:gd name="T14" fmla="*/ 0 w 6425"/>
                <a:gd name="T15" fmla="*/ 2147483647 h 911"/>
                <a:gd name="T16" fmla="*/ 2147483647 w 6425"/>
                <a:gd name="T17" fmla="*/ 0 h 9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425" h="911">
                  <a:moveTo>
                    <a:pt x="93" y="0"/>
                  </a:moveTo>
                  <a:lnTo>
                    <a:pt x="6331" y="0"/>
                  </a:lnTo>
                  <a:cubicBezTo>
                    <a:pt x="6383" y="0"/>
                    <a:pt x="6425" y="42"/>
                    <a:pt x="6425" y="93"/>
                  </a:cubicBezTo>
                  <a:lnTo>
                    <a:pt x="6425" y="818"/>
                  </a:lnTo>
                  <a:cubicBezTo>
                    <a:pt x="6425" y="869"/>
                    <a:pt x="6383" y="911"/>
                    <a:pt x="6331" y="911"/>
                  </a:cubicBezTo>
                  <a:lnTo>
                    <a:pt x="93" y="911"/>
                  </a:lnTo>
                  <a:cubicBezTo>
                    <a:pt x="42" y="911"/>
                    <a:pt x="0" y="869"/>
                    <a:pt x="0" y="818"/>
                  </a:cubicBezTo>
                  <a:lnTo>
                    <a:pt x="0" y="93"/>
                  </a:lnTo>
                  <a:cubicBezTo>
                    <a:pt x="0" y="42"/>
                    <a:pt x="42" y="0"/>
                    <a:pt x="93" y="0"/>
                  </a:cubicBezTo>
                  <a:close/>
                </a:path>
              </a:pathLst>
            </a:custGeom>
            <a:solidFill>
              <a:srgbClr val="024C89"/>
            </a:solidFill>
            <a:ln w="9525">
              <a:noFill/>
              <a:round/>
            </a:ln>
          </p:spPr>
          <p:txBody>
            <a:bodyPr/>
            <a:lstStyle/>
            <a:p>
              <a:pPr>
                <a:defRPr/>
              </a:pPr>
              <a:r>
                <a:rPr lang="zh-CN" altLang="en-US" sz="3200" kern="0" dirty="0">
                  <a:solidFill>
                    <a:srgbClr val="FFFFFF"/>
                  </a:solidFill>
                  <a:latin typeface="Arial" pitchFamily="34" charset="0"/>
                  <a:ea typeface="宋体" pitchFamily="2" charset="-122"/>
                </a:rPr>
                <a:t>     指针的概念</a:t>
              </a:r>
            </a:p>
            <a:p>
              <a:pPr>
                <a:defRPr/>
              </a:pPr>
              <a:endParaRPr lang="zh-CN" altLang="en-US" sz="3200" kern="0" dirty="0">
                <a:solidFill>
                  <a:srgbClr val="FFFFFF"/>
                </a:solidFill>
                <a:latin typeface="Arial" pitchFamily="34" charset="0"/>
                <a:ea typeface="宋体" pitchFamily="2" charset="-122"/>
              </a:endParaRPr>
            </a:p>
          </p:txBody>
        </p:sp>
        <p:grpSp>
          <p:nvGrpSpPr>
            <p:cNvPr id="40" name="组合 58">
              <a:extLst>
                <a:ext uri="{FF2B5EF4-FFF2-40B4-BE49-F238E27FC236}">
                  <a16:creationId xmlns:a16="http://schemas.microsoft.com/office/drawing/2014/main" id="{A5C29670-9CA9-4E79-9EEC-B9217AF473A9}"/>
                </a:ext>
              </a:extLst>
            </p:cNvPr>
            <p:cNvGrpSpPr>
              <a:grpSpLocks/>
            </p:cNvGrpSpPr>
            <p:nvPr userDrawn="1"/>
          </p:nvGrpSpPr>
          <p:grpSpPr bwMode="auto">
            <a:xfrm>
              <a:off x="4577557" y="1096709"/>
              <a:ext cx="646112" cy="504825"/>
              <a:chOff x="-80820" y="27858"/>
              <a:chExt cx="756178" cy="590582"/>
            </a:xfrm>
          </p:grpSpPr>
          <p:sp>
            <p:nvSpPr>
              <p:cNvPr id="41" name="Oval 16">
                <a:extLst>
                  <a:ext uri="{FF2B5EF4-FFF2-40B4-BE49-F238E27FC236}">
                    <a16:creationId xmlns:a16="http://schemas.microsoft.com/office/drawing/2014/main" id="{DC967EB6-C997-4E3D-8C9C-A7CCAA06A70E}"/>
                  </a:ext>
                </a:extLst>
              </p:cNvPr>
              <p:cNvSpPr>
                <a:spLocks noChangeArrowheads="1"/>
              </p:cNvSpPr>
              <p:nvPr/>
            </p:nvSpPr>
            <p:spPr bwMode="auto">
              <a:xfrm>
                <a:off x="0" y="27858"/>
                <a:ext cx="588963" cy="590582"/>
              </a:xfrm>
              <a:prstGeom prst="ellipse">
                <a:avLst/>
              </a:prstGeom>
              <a:solidFill>
                <a:srgbClr val="FFFFFF"/>
              </a:solidFill>
              <a:ln w="9525">
                <a:noFill/>
                <a:round/>
              </a:ln>
            </p:spPr>
            <p:txBody>
              <a:bodyPr/>
              <a:lstStyle/>
              <a:p>
                <a:pPr>
                  <a:defRPr/>
                </a:pPr>
                <a:endParaRPr lang="zh-CN" altLang="en-US" sz="2800" kern="0">
                  <a:solidFill>
                    <a:sysClr val="windowText" lastClr="000000"/>
                  </a:solidFill>
                  <a:latin typeface="Arial" pitchFamily="34" charset="0"/>
                  <a:ea typeface="宋体" pitchFamily="2" charset="-122"/>
                </a:endParaRPr>
              </a:p>
            </p:txBody>
          </p:sp>
          <p:sp>
            <p:nvSpPr>
              <p:cNvPr id="42" name="TextBox 60">
                <a:extLst>
                  <a:ext uri="{FF2B5EF4-FFF2-40B4-BE49-F238E27FC236}">
                    <a16:creationId xmlns:a16="http://schemas.microsoft.com/office/drawing/2014/main" id="{AE26040D-EBCE-413F-93C8-3B0DFEDFD5C6}"/>
                  </a:ext>
                </a:extLst>
              </p:cNvPr>
              <p:cNvSpPr txBox="1">
                <a:spLocks noChangeArrowheads="1"/>
              </p:cNvSpPr>
              <p:nvPr/>
            </p:nvSpPr>
            <p:spPr bwMode="auto">
              <a:xfrm>
                <a:off x="-80820" y="36909"/>
                <a:ext cx="756178" cy="540089"/>
              </a:xfrm>
              <a:prstGeom prst="rect">
                <a:avLst/>
              </a:prstGeom>
              <a:noFill/>
              <a:ln w="9525">
                <a:noFill/>
                <a:miter lim="800000"/>
              </a:ln>
            </p:spPr>
            <p:txBody>
              <a:bodyPr wrap="square">
                <a:spAutoFit/>
              </a:bodyPr>
              <a:lstStyle/>
              <a:p>
                <a:pPr>
                  <a:defRPr/>
                </a:pPr>
                <a:r>
                  <a:rPr lang="en-US" altLang="zh-CN" sz="2400" b="1" kern="0" dirty="0">
                    <a:solidFill>
                      <a:sysClr val="windowText" lastClr="000000"/>
                    </a:solidFill>
                    <a:latin typeface="微软雅黑" panose="020B0503020204020204" pitchFamily="34" charset="-122"/>
                    <a:ea typeface="微软雅黑" panose="020B0503020204020204" pitchFamily="34" charset="-122"/>
                  </a:rPr>
                  <a:t>5.1</a:t>
                </a:r>
                <a:endParaRPr lang="zh-CN" altLang="en-US" sz="2400" b="1" kern="0" dirty="0">
                  <a:solidFill>
                    <a:sysClr val="windowText" lastClr="000000"/>
                  </a:solidFill>
                  <a:latin typeface="微软雅黑" panose="020B0503020204020204" pitchFamily="34" charset="-122"/>
                  <a:ea typeface="微软雅黑" panose="020B0503020204020204" pitchFamily="34" charset="-122"/>
                </a:endParaRPr>
              </a:p>
            </p:txBody>
          </p:sp>
        </p:grpSp>
      </p:grpSp>
      <p:grpSp>
        <p:nvGrpSpPr>
          <p:cNvPr id="43" name="组合 42">
            <a:extLst>
              <a:ext uri="{FF2B5EF4-FFF2-40B4-BE49-F238E27FC236}">
                <a16:creationId xmlns:a16="http://schemas.microsoft.com/office/drawing/2014/main" id="{59D3DAC6-3986-43E5-AEAF-A1BB0DEACD75}"/>
              </a:ext>
            </a:extLst>
          </p:cNvPr>
          <p:cNvGrpSpPr/>
          <p:nvPr userDrawn="1"/>
        </p:nvGrpSpPr>
        <p:grpSpPr>
          <a:xfrm>
            <a:off x="4514895" y="3027390"/>
            <a:ext cx="5634004" cy="623887"/>
            <a:chOff x="4577557" y="1037605"/>
            <a:chExt cx="5634004" cy="623887"/>
          </a:xfrm>
        </p:grpSpPr>
        <p:sp>
          <p:nvSpPr>
            <p:cNvPr id="44" name="Freeform 10">
              <a:extLst>
                <a:ext uri="{FF2B5EF4-FFF2-40B4-BE49-F238E27FC236}">
                  <a16:creationId xmlns:a16="http://schemas.microsoft.com/office/drawing/2014/main" id="{E73125C3-7C2A-4C40-BE23-CB648477AC7F}"/>
                </a:ext>
              </a:extLst>
            </p:cNvPr>
            <p:cNvSpPr/>
            <p:nvPr userDrawn="1"/>
          </p:nvSpPr>
          <p:spPr bwMode="auto">
            <a:xfrm>
              <a:off x="4591049" y="1037605"/>
              <a:ext cx="5620512" cy="623887"/>
            </a:xfrm>
            <a:custGeom>
              <a:avLst/>
              <a:gdLst>
                <a:gd name="T0" fmla="*/ 2147483647 w 6425"/>
                <a:gd name="T1" fmla="*/ 0 h 911"/>
                <a:gd name="T2" fmla="*/ 2147483647 w 6425"/>
                <a:gd name="T3" fmla="*/ 0 h 911"/>
                <a:gd name="T4" fmla="*/ 2147483647 w 6425"/>
                <a:gd name="T5" fmla="*/ 2147483647 h 911"/>
                <a:gd name="T6" fmla="*/ 2147483647 w 6425"/>
                <a:gd name="T7" fmla="*/ 2147483647 h 911"/>
                <a:gd name="T8" fmla="*/ 2147483647 w 6425"/>
                <a:gd name="T9" fmla="*/ 2147483647 h 911"/>
                <a:gd name="T10" fmla="*/ 2147483647 w 6425"/>
                <a:gd name="T11" fmla="*/ 2147483647 h 911"/>
                <a:gd name="T12" fmla="*/ 0 w 6425"/>
                <a:gd name="T13" fmla="*/ 2147483647 h 911"/>
                <a:gd name="T14" fmla="*/ 0 w 6425"/>
                <a:gd name="T15" fmla="*/ 2147483647 h 911"/>
                <a:gd name="T16" fmla="*/ 2147483647 w 6425"/>
                <a:gd name="T17" fmla="*/ 0 h 9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425" h="911">
                  <a:moveTo>
                    <a:pt x="93" y="0"/>
                  </a:moveTo>
                  <a:lnTo>
                    <a:pt x="6331" y="0"/>
                  </a:lnTo>
                  <a:cubicBezTo>
                    <a:pt x="6383" y="0"/>
                    <a:pt x="6425" y="42"/>
                    <a:pt x="6425" y="93"/>
                  </a:cubicBezTo>
                  <a:lnTo>
                    <a:pt x="6425" y="818"/>
                  </a:lnTo>
                  <a:cubicBezTo>
                    <a:pt x="6425" y="869"/>
                    <a:pt x="6383" y="911"/>
                    <a:pt x="6331" y="911"/>
                  </a:cubicBezTo>
                  <a:lnTo>
                    <a:pt x="93" y="911"/>
                  </a:lnTo>
                  <a:cubicBezTo>
                    <a:pt x="42" y="911"/>
                    <a:pt x="0" y="869"/>
                    <a:pt x="0" y="818"/>
                  </a:cubicBezTo>
                  <a:lnTo>
                    <a:pt x="0" y="93"/>
                  </a:lnTo>
                  <a:cubicBezTo>
                    <a:pt x="0" y="42"/>
                    <a:pt x="42" y="0"/>
                    <a:pt x="93" y="0"/>
                  </a:cubicBezTo>
                  <a:close/>
                </a:path>
              </a:pathLst>
            </a:custGeom>
            <a:solidFill>
              <a:srgbClr val="024C89"/>
            </a:solidFill>
            <a:ln w="9525">
              <a:noFill/>
              <a:round/>
            </a:ln>
          </p:spPr>
          <p:txBody>
            <a:bodyPr/>
            <a:lstStyle/>
            <a:p>
              <a:pPr>
                <a:defRPr/>
              </a:pPr>
              <a:r>
                <a:rPr lang="zh-CN" altLang="en-US" sz="3200" kern="0" dirty="0">
                  <a:solidFill>
                    <a:srgbClr val="FFFFFF"/>
                  </a:solidFill>
                  <a:latin typeface="Arial" pitchFamily="34" charset="0"/>
                  <a:ea typeface="宋体" pitchFamily="2" charset="-122"/>
                </a:rPr>
                <a:t>     指针与字符串</a:t>
              </a:r>
            </a:p>
            <a:p>
              <a:pPr>
                <a:defRPr/>
              </a:pPr>
              <a:endParaRPr lang="zh-CN" altLang="en-US" sz="3200" kern="0" dirty="0">
                <a:solidFill>
                  <a:srgbClr val="FFFFFF"/>
                </a:solidFill>
                <a:latin typeface="Arial" pitchFamily="34" charset="0"/>
                <a:ea typeface="宋体" pitchFamily="2" charset="-122"/>
              </a:endParaRPr>
            </a:p>
          </p:txBody>
        </p:sp>
        <p:grpSp>
          <p:nvGrpSpPr>
            <p:cNvPr id="45" name="组合 58">
              <a:extLst>
                <a:ext uri="{FF2B5EF4-FFF2-40B4-BE49-F238E27FC236}">
                  <a16:creationId xmlns:a16="http://schemas.microsoft.com/office/drawing/2014/main" id="{59003EA9-49AB-4922-BA31-6D62EF448EA3}"/>
                </a:ext>
              </a:extLst>
            </p:cNvPr>
            <p:cNvGrpSpPr>
              <a:grpSpLocks/>
            </p:cNvGrpSpPr>
            <p:nvPr userDrawn="1"/>
          </p:nvGrpSpPr>
          <p:grpSpPr bwMode="auto">
            <a:xfrm>
              <a:off x="4577557" y="1096709"/>
              <a:ext cx="646112" cy="504825"/>
              <a:chOff x="-80820" y="27858"/>
              <a:chExt cx="756178" cy="590582"/>
            </a:xfrm>
          </p:grpSpPr>
          <p:sp>
            <p:nvSpPr>
              <p:cNvPr id="46" name="Oval 16">
                <a:extLst>
                  <a:ext uri="{FF2B5EF4-FFF2-40B4-BE49-F238E27FC236}">
                    <a16:creationId xmlns:a16="http://schemas.microsoft.com/office/drawing/2014/main" id="{65B5D404-033B-4504-B22E-F52048E9DFDD}"/>
                  </a:ext>
                </a:extLst>
              </p:cNvPr>
              <p:cNvSpPr>
                <a:spLocks noChangeArrowheads="1"/>
              </p:cNvSpPr>
              <p:nvPr/>
            </p:nvSpPr>
            <p:spPr bwMode="auto">
              <a:xfrm>
                <a:off x="0" y="27858"/>
                <a:ext cx="588963" cy="590582"/>
              </a:xfrm>
              <a:prstGeom prst="ellipse">
                <a:avLst/>
              </a:prstGeom>
              <a:solidFill>
                <a:srgbClr val="FFFFFF"/>
              </a:solidFill>
              <a:ln w="9525">
                <a:noFill/>
                <a:round/>
              </a:ln>
            </p:spPr>
            <p:txBody>
              <a:bodyPr/>
              <a:lstStyle/>
              <a:p>
                <a:pPr>
                  <a:defRPr/>
                </a:pPr>
                <a:endParaRPr lang="zh-CN" altLang="en-US" sz="2800" kern="0">
                  <a:solidFill>
                    <a:sysClr val="windowText" lastClr="000000"/>
                  </a:solidFill>
                  <a:latin typeface="Arial" pitchFamily="34" charset="0"/>
                  <a:ea typeface="宋体" pitchFamily="2" charset="-122"/>
                </a:endParaRPr>
              </a:p>
            </p:txBody>
          </p:sp>
          <p:sp>
            <p:nvSpPr>
              <p:cNvPr id="47" name="TextBox 60">
                <a:extLst>
                  <a:ext uri="{FF2B5EF4-FFF2-40B4-BE49-F238E27FC236}">
                    <a16:creationId xmlns:a16="http://schemas.microsoft.com/office/drawing/2014/main" id="{3BE31F55-8A87-41CD-8BF1-A60F8DBF2637}"/>
                  </a:ext>
                </a:extLst>
              </p:cNvPr>
              <p:cNvSpPr txBox="1">
                <a:spLocks noChangeArrowheads="1"/>
              </p:cNvSpPr>
              <p:nvPr/>
            </p:nvSpPr>
            <p:spPr bwMode="auto">
              <a:xfrm>
                <a:off x="-80820" y="36909"/>
                <a:ext cx="756178" cy="540089"/>
              </a:xfrm>
              <a:prstGeom prst="rect">
                <a:avLst/>
              </a:prstGeom>
              <a:noFill/>
              <a:ln w="9525">
                <a:noFill/>
                <a:miter lim="800000"/>
              </a:ln>
            </p:spPr>
            <p:txBody>
              <a:bodyPr wrap="square">
                <a:spAutoFit/>
              </a:bodyPr>
              <a:lstStyle/>
              <a:p>
                <a:pPr>
                  <a:defRPr/>
                </a:pPr>
                <a:r>
                  <a:rPr lang="en-US" altLang="zh-CN" sz="2400" b="1" kern="0" dirty="0">
                    <a:solidFill>
                      <a:sysClr val="windowText" lastClr="000000"/>
                    </a:solidFill>
                    <a:latin typeface="微软雅黑" panose="020B0503020204020204" pitchFamily="34" charset="-122"/>
                    <a:ea typeface="微软雅黑" panose="020B0503020204020204" pitchFamily="34" charset="-122"/>
                  </a:rPr>
                  <a:t>5.3</a:t>
                </a:r>
                <a:endParaRPr lang="zh-CN" altLang="en-US" sz="2400" b="1" kern="0" dirty="0">
                  <a:solidFill>
                    <a:sysClr val="windowText" lastClr="000000"/>
                  </a:solidFill>
                  <a:latin typeface="微软雅黑" panose="020B0503020204020204" pitchFamily="34" charset="-122"/>
                  <a:ea typeface="微软雅黑" panose="020B0503020204020204" pitchFamily="34" charset="-122"/>
                </a:endParaRPr>
              </a:p>
            </p:txBody>
          </p:sp>
        </p:grpSp>
      </p:grpSp>
      <p:grpSp>
        <p:nvGrpSpPr>
          <p:cNvPr id="48" name="组合 47">
            <a:extLst>
              <a:ext uri="{FF2B5EF4-FFF2-40B4-BE49-F238E27FC236}">
                <a16:creationId xmlns:a16="http://schemas.microsoft.com/office/drawing/2014/main" id="{F792780C-9CE0-42EC-B045-F8CBE82ABF40}"/>
              </a:ext>
            </a:extLst>
          </p:cNvPr>
          <p:cNvGrpSpPr/>
          <p:nvPr userDrawn="1"/>
        </p:nvGrpSpPr>
        <p:grpSpPr>
          <a:xfrm>
            <a:off x="4523613" y="2010142"/>
            <a:ext cx="5620512" cy="623887"/>
            <a:chOff x="4557319" y="1009525"/>
            <a:chExt cx="5620512" cy="623887"/>
          </a:xfrm>
        </p:grpSpPr>
        <p:sp>
          <p:nvSpPr>
            <p:cNvPr id="49" name="Freeform 10">
              <a:extLst>
                <a:ext uri="{FF2B5EF4-FFF2-40B4-BE49-F238E27FC236}">
                  <a16:creationId xmlns:a16="http://schemas.microsoft.com/office/drawing/2014/main" id="{04A00366-013D-4D06-BA40-3B2FB9036D5A}"/>
                </a:ext>
              </a:extLst>
            </p:cNvPr>
            <p:cNvSpPr/>
            <p:nvPr userDrawn="1"/>
          </p:nvSpPr>
          <p:spPr bwMode="auto">
            <a:xfrm>
              <a:off x="4557319" y="1009525"/>
              <a:ext cx="5620512" cy="623887"/>
            </a:xfrm>
            <a:custGeom>
              <a:avLst/>
              <a:gdLst>
                <a:gd name="T0" fmla="*/ 2147483647 w 6425"/>
                <a:gd name="T1" fmla="*/ 0 h 911"/>
                <a:gd name="T2" fmla="*/ 2147483647 w 6425"/>
                <a:gd name="T3" fmla="*/ 0 h 911"/>
                <a:gd name="T4" fmla="*/ 2147483647 w 6425"/>
                <a:gd name="T5" fmla="*/ 2147483647 h 911"/>
                <a:gd name="T6" fmla="*/ 2147483647 w 6425"/>
                <a:gd name="T7" fmla="*/ 2147483647 h 911"/>
                <a:gd name="T8" fmla="*/ 2147483647 w 6425"/>
                <a:gd name="T9" fmla="*/ 2147483647 h 911"/>
                <a:gd name="T10" fmla="*/ 2147483647 w 6425"/>
                <a:gd name="T11" fmla="*/ 2147483647 h 911"/>
                <a:gd name="T12" fmla="*/ 0 w 6425"/>
                <a:gd name="T13" fmla="*/ 2147483647 h 911"/>
                <a:gd name="T14" fmla="*/ 0 w 6425"/>
                <a:gd name="T15" fmla="*/ 2147483647 h 911"/>
                <a:gd name="T16" fmla="*/ 2147483647 w 6425"/>
                <a:gd name="T17" fmla="*/ 0 h 9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425" h="911">
                  <a:moveTo>
                    <a:pt x="93" y="0"/>
                  </a:moveTo>
                  <a:lnTo>
                    <a:pt x="6331" y="0"/>
                  </a:lnTo>
                  <a:cubicBezTo>
                    <a:pt x="6383" y="0"/>
                    <a:pt x="6425" y="42"/>
                    <a:pt x="6425" y="93"/>
                  </a:cubicBezTo>
                  <a:lnTo>
                    <a:pt x="6425" y="818"/>
                  </a:lnTo>
                  <a:cubicBezTo>
                    <a:pt x="6425" y="869"/>
                    <a:pt x="6383" y="911"/>
                    <a:pt x="6331" y="911"/>
                  </a:cubicBezTo>
                  <a:lnTo>
                    <a:pt x="93" y="911"/>
                  </a:lnTo>
                  <a:cubicBezTo>
                    <a:pt x="42" y="911"/>
                    <a:pt x="0" y="869"/>
                    <a:pt x="0" y="818"/>
                  </a:cubicBezTo>
                  <a:lnTo>
                    <a:pt x="0" y="93"/>
                  </a:lnTo>
                  <a:cubicBezTo>
                    <a:pt x="0" y="42"/>
                    <a:pt x="42" y="0"/>
                    <a:pt x="93" y="0"/>
                  </a:cubicBezTo>
                  <a:close/>
                </a:path>
              </a:pathLst>
            </a:custGeom>
            <a:solidFill>
              <a:srgbClr val="024C89"/>
            </a:solidFill>
            <a:ln w="9525">
              <a:noFill/>
              <a:round/>
            </a:ln>
          </p:spPr>
          <p:txBody>
            <a:bodyPr/>
            <a:lstStyle/>
            <a:p>
              <a:pPr>
                <a:defRPr/>
              </a:pPr>
              <a:r>
                <a:rPr lang="zh-CN" altLang="en-US" sz="3200" kern="0" dirty="0">
                  <a:solidFill>
                    <a:srgbClr val="FFFFFF"/>
                  </a:solidFill>
                  <a:latin typeface="Arial" pitchFamily="34" charset="0"/>
                  <a:ea typeface="宋体" pitchFamily="2" charset="-122"/>
                </a:rPr>
                <a:t>     指针与数组</a:t>
              </a:r>
            </a:p>
            <a:p>
              <a:pPr>
                <a:defRPr/>
              </a:pPr>
              <a:endParaRPr lang="zh-CN" altLang="en-US" sz="3200" kern="0" dirty="0">
                <a:solidFill>
                  <a:srgbClr val="FFFFFF"/>
                </a:solidFill>
                <a:latin typeface="Arial" pitchFamily="34" charset="0"/>
                <a:ea typeface="宋体" pitchFamily="2" charset="-122"/>
              </a:endParaRPr>
            </a:p>
          </p:txBody>
        </p:sp>
        <p:grpSp>
          <p:nvGrpSpPr>
            <p:cNvPr id="50" name="组合 58">
              <a:extLst>
                <a:ext uri="{FF2B5EF4-FFF2-40B4-BE49-F238E27FC236}">
                  <a16:creationId xmlns:a16="http://schemas.microsoft.com/office/drawing/2014/main" id="{53161A28-6C61-43A6-8EA4-15607B719860}"/>
                </a:ext>
              </a:extLst>
            </p:cNvPr>
            <p:cNvGrpSpPr>
              <a:grpSpLocks/>
            </p:cNvGrpSpPr>
            <p:nvPr userDrawn="1"/>
          </p:nvGrpSpPr>
          <p:grpSpPr bwMode="auto">
            <a:xfrm>
              <a:off x="4577557" y="1096709"/>
              <a:ext cx="646112" cy="504825"/>
              <a:chOff x="-80820" y="27858"/>
              <a:chExt cx="756178" cy="590582"/>
            </a:xfrm>
          </p:grpSpPr>
          <p:sp>
            <p:nvSpPr>
              <p:cNvPr id="51" name="Oval 16">
                <a:extLst>
                  <a:ext uri="{FF2B5EF4-FFF2-40B4-BE49-F238E27FC236}">
                    <a16:creationId xmlns:a16="http://schemas.microsoft.com/office/drawing/2014/main" id="{DD29CE8A-EBF4-4208-98EE-994EE4B36E54}"/>
                  </a:ext>
                </a:extLst>
              </p:cNvPr>
              <p:cNvSpPr>
                <a:spLocks noChangeArrowheads="1"/>
              </p:cNvSpPr>
              <p:nvPr/>
            </p:nvSpPr>
            <p:spPr bwMode="auto">
              <a:xfrm>
                <a:off x="0" y="27858"/>
                <a:ext cx="588963" cy="590582"/>
              </a:xfrm>
              <a:prstGeom prst="ellipse">
                <a:avLst/>
              </a:prstGeom>
              <a:solidFill>
                <a:srgbClr val="FFFFFF"/>
              </a:solidFill>
              <a:ln w="9525">
                <a:noFill/>
                <a:round/>
              </a:ln>
            </p:spPr>
            <p:txBody>
              <a:bodyPr/>
              <a:lstStyle/>
              <a:p>
                <a:pPr>
                  <a:defRPr/>
                </a:pPr>
                <a:endParaRPr lang="zh-CN" altLang="en-US" sz="2800" kern="0">
                  <a:solidFill>
                    <a:sysClr val="windowText" lastClr="000000"/>
                  </a:solidFill>
                  <a:latin typeface="Arial" pitchFamily="34" charset="0"/>
                  <a:ea typeface="宋体" pitchFamily="2" charset="-122"/>
                </a:endParaRPr>
              </a:p>
            </p:txBody>
          </p:sp>
          <p:sp>
            <p:nvSpPr>
              <p:cNvPr id="52" name="TextBox 60">
                <a:extLst>
                  <a:ext uri="{FF2B5EF4-FFF2-40B4-BE49-F238E27FC236}">
                    <a16:creationId xmlns:a16="http://schemas.microsoft.com/office/drawing/2014/main" id="{A26075A2-4977-4D86-8EFD-B0504A3442B1}"/>
                  </a:ext>
                </a:extLst>
              </p:cNvPr>
              <p:cNvSpPr txBox="1">
                <a:spLocks noChangeArrowheads="1"/>
              </p:cNvSpPr>
              <p:nvPr/>
            </p:nvSpPr>
            <p:spPr bwMode="auto">
              <a:xfrm>
                <a:off x="-80820" y="36909"/>
                <a:ext cx="756178" cy="540089"/>
              </a:xfrm>
              <a:prstGeom prst="rect">
                <a:avLst/>
              </a:prstGeom>
              <a:noFill/>
              <a:ln w="9525">
                <a:noFill/>
                <a:miter lim="800000"/>
              </a:ln>
            </p:spPr>
            <p:txBody>
              <a:bodyPr wrap="square">
                <a:spAutoFit/>
              </a:bodyPr>
              <a:lstStyle/>
              <a:p>
                <a:pPr>
                  <a:defRPr/>
                </a:pPr>
                <a:r>
                  <a:rPr lang="en-US" altLang="zh-CN" sz="2400" b="1" kern="0" dirty="0">
                    <a:solidFill>
                      <a:sysClr val="windowText" lastClr="000000"/>
                    </a:solidFill>
                    <a:latin typeface="微软雅黑" panose="020B0503020204020204" pitchFamily="34" charset="-122"/>
                    <a:ea typeface="微软雅黑" panose="020B0503020204020204" pitchFamily="34" charset="-122"/>
                  </a:rPr>
                  <a:t>5.2</a:t>
                </a:r>
                <a:endParaRPr lang="zh-CN" altLang="en-US" sz="2400" b="1" kern="0" dirty="0">
                  <a:solidFill>
                    <a:sysClr val="windowText" lastClr="000000"/>
                  </a:solidFill>
                  <a:latin typeface="微软雅黑" panose="020B0503020204020204" pitchFamily="34" charset="-122"/>
                  <a:ea typeface="微软雅黑" panose="020B0503020204020204" pitchFamily="34" charset="-122"/>
                </a:endParaRPr>
              </a:p>
            </p:txBody>
          </p:sp>
        </p:grpSp>
      </p:grpSp>
      <p:grpSp>
        <p:nvGrpSpPr>
          <p:cNvPr id="53" name="组合 52">
            <a:extLst>
              <a:ext uri="{FF2B5EF4-FFF2-40B4-BE49-F238E27FC236}">
                <a16:creationId xmlns:a16="http://schemas.microsoft.com/office/drawing/2014/main" id="{A24F53E3-60E3-4124-8888-4E808956FB44}"/>
              </a:ext>
            </a:extLst>
          </p:cNvPr>
          <p:cNvGrpSpPr/>
          <p:nvPr userDrawn="1"/>
        </p:nvGrpSpPr>
        <p:grpSpPr>
          <a:xfrm>
            <a:off x="4514895" y="4051297"/>
            <a:ext cx="5634004" cy="623887"/>
            <a:chOff x="4577557" y="1037605"/>
            <a:chExt cx="5634004" cy="623887"/>
          </a:xfrm>
        </p:grpSpPr>
        <p:sp>
          <p:nvSpPr>
            <p:cNvPr id="54" name="Freeform 10">
              <a:extLst>
                <a:ext uri="{FF2B5EF4-FFF2-40B4-BE49-F238E27FC236}">
                  <a16:creationId xmlns:a16="http://schemas.microsoft.com/office/drawing/2014/main" id="{4732B8E0-0DFF-4E96-A5BF-481059C4052C}"/>
                </a:ext>
              </a:extLst>
            </p:cNvPr>
            <p:cNvSpPr/>
            <p:nvPr userDrawn="1"/>
          </p:nvSpPr>
          <p:spPr bwMode="auto">
            <a:xfrm>
              <a:off x="4591049" y="1037605"/>
              <a:ext cx="5620512" cy="623887"/>
            </a:xfrm>
            <a:custGeom>
              <a:avLst/>
              <a:gdLst>
                <a:gd name="T0" fmla="*/ 2147483647 w 6425"/>
                <a:gd name="T1" fmla="*/ 0 h 911"/>
                <a:gd name="T2" fmla="*/ 2147483647 w 6425"/>
                <a:gd name="T3" fmla="*/ 0 h 911"/>
                <a:gd name="T4" fmla="*/ 2147483647 w 6425"/>
                <a:gd name="T5" fmla="*/ 2147483647 h 911"/>
                <a:gd name="T6" fmla="*/ 2147483647 w 6425"/>
                <a:gd name="T7" fmla="*/ 2147483647 h 911"/>
                <a:gd name="T8" fmla="*/ 2147483647 w 6425"/>
                <a:gd name="T9" fmla="*/ 2147483647 h 911"/>
                <a:gd name="T10" fmla="*/ 2147483647 w 6425"/>
                <a:gd name="T11" fmla="*/ 2147483647 h 911"/>
                <a:gd name="T12" fmla="*/ 0 w 6425"/>
                <a:gd name="T13" fmla="*/ 2147483647 h 911"/>
                <a:gd name="T14" fmla="*/ 0 w 6425"/>
                <a:gd name="T15" fmla="*/ 2147483647 h 911"/>
                <a:gd name="T16" fmla="*/ 2147483647 w 6425"/>
                <a:gd name="T17" fmla="*/ 0 h 9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425" h="911">
                  <a:moveTo>
                    <a:pt x="93" y="0"/>
                  </a:moveTo>
                  <a:lnTo>
                    <a:pt x="6331" y="0"/>
                  </a:lnTo>
                  <a:cubicBezTo>
                    <a:pt x="6383" y="0"/>
                    <a:pt x="6425" y="42"/>
                    <a:pt x="6425" y="93"/>
                  </a:cubicBezTo>
                  <a:lnTo>
                    <a:pt x="6425" y="818"/>
                  </a:lnTo>
                  <a:cubicBezTo>
                    <a:pt x="6425" y="869"/>
                    <a:pt x="6383" y="911"/>
                    <a:pt x="6331" y="911"/>
                  </a:cubicBezTo>
                  <a:lnTo>
                    <a:pt x="93" y="911"/>
                  </a:lnTo>
                  <a:cubicBezTo>
                    <a:pt x="42" y="911"/>
                    <a:pt x="0" y="869"/>
                    <a:pt x="0" y="818"/>
                  </a:cubicBezTo>
                  <a:lnTo>
                    <a:pt x="0" y="93"/>
                  </a:lnTo>
                  <a:cubicBezTo>
                    <a:pt x="0" y="42"/>
                    <a:pt x="42" y="0"/>
                    <a:pt x="93" y="0"/>
                  </a:cubicBezTo>
                  <a:close/>
                </a:path>
              </a:pathLst>
            </a:custGeom>
            <a:solidFill>
              <a:srgbClr val="024C89"/>
            </a:solidFill>
            <a:ln w="9525">
              <a:noFill/>
              <a:round/>
            </a:ln>
          </p:spPr>
          <p:txBody>
            <a:bodyPr/>
            <a:lstStyle/>
            <a:p>
              <a:pPr>
                <a:defRPr/>
              </a:pPr>
              <a:r>
                <a:rPr lang="zh-CN" altLang="en-US" sz="3200" kern="0" dirty="0">
                  <a:solidFill>
                    <a:srgbClr val="FFFFFF"/>
                  </a:solidFill>
                  <a:latin typeface="Arial" pitchFamily="34" charset="0"/>
                  <a:ea typeface="宋体" pitchFamily="2" charset="-122"/>
                </a:rPr>
                <a:t>     指针数组</a:t>
              </a:r>
            </a:p>
            <a:p>
              <a:pPr>
                <a:defRPr/>
              </a:pPr>
              <a:endParaRPr lang="zh-CN" altLang="en-US" sz="3200" kern="0" dirty="0">
                <a:solidFill>
                  <a:srgbClr val="FFFFFF"/>
                </a:solidFill>
                <a:latin typeface="Arial" pitchFamily="34" charset="0"/>
                <a:ea typeface="宋体" pitchFamily="2" charset="-122"/>
              </a:endParaRPr>
            </a:p>
          </p:txBody>
        </p:sp>
        <p:grpSp>
          <p:nvGrpSpPr>
            <p:cNvPr id="55" name="组合 58">
              <a:extLst>
                <a:ext uri="{FF2B5EF4-FFF2-40B4-BE49-F238E27FC236}">
                  <a16:creationId xmlns:a16="http://schemas.microsoft.com/office/drawing/2014/main" id="{90E9BF9A-F17B-43B4-B1E4-6BDE9FA46879}"/>
                </a:ext>
              </a:extLst>
            </p:cNvPr>
            <p:cNvGrpSpPr>
              <a:grpSpLocks/>
            </p:cNvGrpSpPr>
            <p:nvPr userDrawn="1"/>
          </p:nvGrpSpPr>
          <p:grpSpPr bwMode="auto">
            <a:xfrm>
              <a:off x="4577557" y="1096709"/>
              <a:ext cx="646112" cy="504825"/>
              <a:chOff x="-80820" y="27858"/>
              <a:chExt cx="756178" cy="590582"/>
            </a:xfrm>
          </p:grpSpPr>
          <p:sp>
            <p:nvSpPr>
              <p:cNvPr id="56" name="Oval 16">
                <a:extLst>
                  <a:ext uri="{FF2B5EF4-FFF2-40B4-BE49-F238E27FC236}">
                    <a16:creationId xmlns:a16="http://schemas.microsoft.com/office/drawing/2014/main" id="{33397C70-D582-4664-BFFF-3A46DC4F37CB}"/>
                  </a:ext>
                </a:extLst>
              </p:cNvPr>
              <p:cNvSpPr>
                <a:spLocks noChangeArrowheads="1"/>
              </p:cNvSpPr>
              <p:nvPr/>
            </p:nvSpPr>
            <p:spPr bwMode="auto">
              <a:xfrm>
                <a:off x="0" y="27858"/>
                <a:ext cx="588963" cy="590582"/>
              </a:xfrm>
              <a:prstGeom prst="ellipse">
                <a:avLst/>
              </a:prstGeom>
              <a:solidFill>
                <a:srgbClr val="FFFFFF"/>
              </a:solidFill>
              <a:ln w="9525">
                <a:noFill/>
                <a:round/>
              </a:ln>
            </p:spPr>
            <p:txBody>
              <a:bodyPr/>
              <a:lstStyle/>
              <a:p>
                <a:pPr>
                  <a:defRPr/>
                </a:pPr>
                <a:endParaRPr lang="zh-CN" altLang="en-US" sz="2800" kern="0">
                  <a:solidFill>
                    <a:sysClr val="windowText" lastClr="000000"/>
                  </a:solidFill>
                  <a:latin typeface="Arial" pitchFamily="34" charset="0"/>
                  <a:ea typeface="宋体" pitchFamily="2" charset="-122"/>
                </a:endParaRPr>
              </a:p>
            </p:txBody>
          </p:sp>
          <p:sp>
            <p:nvSpPr>
              <p:cNvPr id="57" name="TextBox 60">
                <a:extLst>
                  <a:ext uri="{FF2B5EF4-FFF2-40B4-BE49-F238E27FC236}">
                    <a16:creationId xmlns:a16="http://schemas.microsoft.com/office/drawing/2014/main" id="{2591B598-5DF4-4F50-AE0E-A00FD6763E34}"/>
                  </a:ext>
                </a:extLst>
              </p:cNvPr>
              <p:cNvSpPr txBox="1">
                <a:spLocks noChangeArrowheads="1"/>
              </p:cNvSpPr>
              <p:nvPr/>
            </p:nvSpPr>
            <p:spPr bwMode="auto">
              <a:xfrm>
                <a:off x="-80820" y="36909"/>
                <a:ext cx="756178" cy="540089"/>
              </a:xfrm>
              <a:prstGeom prst="rect">
                <a:avLst/>
              </a:prstGeom>
              <a:noFill/>
              <a:ln w="9525">
                <a:noFill/>
                <a:miter lim="800000"/>
              </a:ln>
            </p:spPr>
            <p:txBody>
              <a:bodyPr wrap="square">
                <a:spAutoFit/>
              </a:bodyPr>
              <a:lstStyle/>
              <a:p>
                <a:pPr>
                  <a:defRPr/>
                </a:pPr>
                <a:r>
                  <a:rPr lang="en-US" altLang="zh-CN" sz="2400" b="1" kern="0" dirty="0">
                    <a:solidFill>
                      <a:sysClr val="windowText" lastClr="000000"/>
                    </a:solidFill>
                    <a:latin typeface="微软雅黑" panose="020B0503020204020204" pitchFamily="34" charset="-122"/>
                    <a:ea typeface="微软雅黑" panose="020B0503020204020204" pitchFamily="34" charset="-122"/>
                  </a:rPr>
                  <a:t>5.4</a:t>
                </a:r>
                <a:endParaRPr lang="zh-CN" altLang="en-US" sz="2400" b="1" kern="0" dirty="0">
                  <a:solidFill>
                    <a:sysClr val="windowText" lastClr="000000"/>
                  </a:solidFill>
                  <a:latin typeface="微软雅黑" panose="020B0503020204020204" pitchFamily="34" charset="-122"/>
                  <a:ea typeface="微软雅黑" panose="020B0503020204020204" pitchFamily="34" charset="-122"/>
                </a:endParaRPr>
              </a:p>
            </p:txBody>
          </p:sp>
        </p:grpSp>
      </p:grpSp>
      <p:grpSp>
        <p:nvGrpSpPr>
          <p:cNvPr id="58" name="组合 57">
            <a:extLst>
              <a:ext uri="{FF2B5EF4-FFF2-40B4-BE49-F238E27FC236}">
                <a16:creationId xmlns:a16="http://schemas.microsoft.com/office/drawing/2014/main" id="{9ED3FD84-10C2-4DD1-976E-9E4B2CFFA669}"/>
              </a:ext>
            </a:extLst>
          </p:cNvPr>
          <p:cNvGrpSpPr/>
          <p:nvPr userDrawn="1"/>
        </p:nvGrpSpPr>
        <p:grpSpPr>
          <a:xfrm>
            <a:off x="4514895" y="5046663"/>
            <a:ext cx="5634004" cy="623887"/>
            <a:chOff x="4577557" y="1037605"/>
            <a:chExt cx="5634004" cy="623887"/>
          </a:xfrm>
        </p:grpSpPr>
        <p:sp>
          <p:nvSpPr>
            <p:cNvPr id="59" name="Freeform 10">
              <a:extLst>
                <a:ext uri="{FF2B5EF4-FFF2-40B4-BE49-F238E27FC236}">
                  <a16:creationId xmlns:a16="http://schemas.microsoft.com/office/drawing/2014/main" id="{A5D2941C-3666-4674-A44F-5ED8322DEBA6}"/>
                </a:ext>
              </a:extLst>
            </p:cNvPr>
            <p:cNvSpPr/>
            <p:nvPr userDrawn="1"/>
          </p:nvSpPr>
          <p:spPr bwMode="auto">
            <a:xfrm>
              <a:off x="4591049" y="1037605"/>
              <a:ext cx="5620512" cy="623887"/>
            </a:xfrm>
            <a:custGeom>
              <a:avLst/>
              <a:gdLst>
                <a:gd name="T0" fmla="*/ 2147483647 w 6425"/>
                <a:gd name="T1" fmla="*/ 0 h 911"/>
                <a:gd name="T2" fmla="*/ 2147483647 w 6425"/>
                <a:gd name="T3" fmla="*/ 0 h 911"/>
                <a:gd name="T4" fmla="*/ 2147483647 w 6425"/>
                <a:gd name="T5" fmla="*/ 2147483647 h 911"/>
                <a:gd name="T6" fmla="*/ 2147483647 w 6425"/>
                <a:gd name="T7" fmla="*/ 2147483647 h 911"/>
                <a:gd name="T8" fmla="*/ 2147483647 w 6425"/>
                <a:gd name="T9" fmla="*/ 2147483647 h 911"/>
                <a:gd name="T10" fmla="*/ 2147483647 w 6425"/>
                <a:gd name="T11" fmla="*/ 2147483647 h 911"/>
                <a:gd name="T12" fmla="*/ 0 w 6425"/>
                <a:gd name="T13" fmla="*/ 2147483647 h 911"/>
                <a:gd name="T14" fmla="*/ 0 w 6425"/>
                <a:gd name="T15" fmla="*/ 2147483647 h 911"/>
                <a:gd name="T16" fmla="*/ 2147483647 w 6425"/>
                <a:gd name="T17" fmla="*/ 0 h 9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425" h="911">
                  <a:moveTo>
                    <a:pt x="93" y="0"/>
                  </a:moveTo>
                  <a:lnTo>
                    <a:pt x="6331" y="0"/>
                  </a:lnTo>
                  <a:cubicBezTo>
                    <a:pt x="6383" y="0"/>
                    <a:pt x="6425" y="42"/>
                    <a:pt x="6425" y="93"/>
                  </a:cubicBezTo>
                  <a:lnTo>
                    <a:pt x="6425" y="818"/>
                  </a:lnTo>
                  <a:cubicBezTo>
                    <a:pt x="6425" y="869"/>
                    <a:pt x="6383" y="911"/>
                    <a:pt x="6331" y="911"/>
                  </a:cubicBezTo>
                  <a:lnTo>
                    <a:pt x="93" y="911"/>
                  </a:lnTo>
                  <a:cubicBezTo>
                    <a:pt x="42" y="911"/>
                    <a:pt x="0" y="869"/>
                    <a:pt x="0" y="818"/>
                  </a:cubicBezTo>
                  <a:lnTo>
                    <a:pt x="0" y="93"/>
                  </a:lnTo>
                  <a:cubicBezTo>
                    <a:pt x="0" y="42"/>
                    <a:pt x="42" y="0"/>
                    <a:pt x="93" y="0"/>
                  </a:cubicBezTo>
                  <a:close/>
                </a:path>
              </a:pathLst>
            </a:custGeom>
            <a:solidFill>
              <a:srgbClr val="024C89"/>
            </a:solidFill>
            <a:ln w="9525">
              <a:noFill/>
              <a:round/>
            </a:ln>
          </p:spPr>
          <p:txBody>
            <a:bodyPr/>
            <a:lstStyle/>
            <a:p>
              <a:pPr>
                <a:defRPr/>
              </a:pPr>
              <a:r>
                <a:rPr lang="zh-CN" altLang="en-US" sz="3200" kern="0" dirty="0">
                  <a:solidFill>
                    <a:srgbClr val="FFFFFF"/>
                  </a:solidFill>
                  <a:latin typeface="Arial" pitchFamily="34" charset="0"/>
                  <a:ea typeface="宋体" pitchFamily="2" charset="-122"/>
                </a:rPr>
                <a:t>     案例：括号匹配问题</a:t>
              </a:r>
            </a:p>
            <a:p>
              <a:pPr>
                <a:defRPr/>
              </a:pPr>
              <a:endParaRPr lang="zh-CN" altLang="en-US" sz="3200" kern="0" dirty="0">
                <a:solidFill>
                  <a:srgbClr val="FFFFFF"/>
                </a:solidFill>
                <a:latin typeface="Arial" pitchFamily="34" charset="0"/>
                <a:ea typeface="宋体" pitchFamily="2" charset="-122"/>
              </a:endParaRPr>
            </a:p>
          </p:txBody>
        </p:sp>
        <p:grpSp>
          <p:nvGrpSpPr>
            <p:cNvPr id="60" name="组合 58">
              <a:extLst>
                <a:ext uri="{FF2B5EF4-FFF2-40B4-BE49-F238E27FC236}">
                  <a16:creationId xmlns:a16="http://schemas.microsoft.com/office/drawing/2014/main" id="{D7A5A2D9-F643-4267-88EA-AF1A1B351A5C}"/>
                </a:ext>
              </a:extLst>
            </p:cNvPr>
            <p:cNvGrpSpPr>
              <a:grpSpLocks/>
            </p:cNvGrpSpPr>
            <p:nvPr userDrawn="1"/>
          </p:nvGrpSpPr>
          <p:grpSpPr bwMode="auto">
            <a:xfrm>
              <a:off x="4577557" y="1096709"/>
              <a:ext cx="646112" cy="504825"/>
              <a:chOff x="-80820" y="27858"/>
              <a:chExt cx="756178" cy="590582"/>
            </a:xfrm>
          </p:grpSpPr>
          <p:sp>
            <p:nvSpPr>
              <p:cNvPr id="61" name="Oval 16">
                <a:extLst>
                  <a:ext uri="{FF2B5EF4-FFF2-40B4-BE49-F238E27FC236}">
                    <a16:creationId xmlns:a16="http://schemas.microsoft.com/office/drawing/2014/main" id="{77CC0453-D257-4869-B188-605400751F37}"/>
                  </a:ext>
                </a:extLst>
              </p:cNvPr>
              <p:cNvSpPr>
                <a:spLocks noChangeArrowheads="1"/>
              </p:cNvSpPr>
              <p:nvPr/>
            </p:nvSpPr>
            <p:spPr bwMode="auto">
              <a:xfrm>
                <a:off x="0" y="27858"/>
                <a:ext cx="588963" cy="590582"/>
              </a:xfrm>
              <a:prstGeom prst="ellipse">
                <a:avLst/>
              </a:prstGeom>
              <a:solidFill>
                <a:srgbClr val="FFFFFF"/>
              </a:solidFill>
              <a:ln w="9525">
                <a:noFill/>
                <a:round/>
              </a:ln>
            </p:spPr>
            <p:txBody>
              <a:bodyPr/>
              <a:lstStyle/>
              <a:p>
                <a:pPr>
                  <a:defRPr/>
                </a:pPr>
                <a:endParaRPr lang="zh-CN" altLang="en-US" sz="2800" kern="0">
                  <a:solidFill>
                    <a:sysClr val="windowText" lastClr="000000"/>
                  </a:solidFill>
                  <a:latin typeface="Arial" pitchFamily="34" charset="0"/>
                  <a:ea typeface="宋体" pitchFamily="2" charset="-122"/>
                </a:endParaRPr>
              </a:p>
            </p:txBody>
          </p:sp>
          <p:sp>
            <p:nvSpPr>
              <p:cNvPr id="62" name="TextBox 60">
                <a:extLst>
                  <a:ext uri="{FF2B5EF4-FFF2-40B4-BE49-F238E27FC236}">
                    <a16:creationId xmlns:a16="http://schemas.microsoft.com/office/drawing/2014/main" id="{4F7D6541-09B4-4488-8E7D-ED9C1929956A}"/>
                  </a:ext>
                </a:extLst>
              </p:cNvPr>
              <p:cNvSpPr txBox="1">
                <a:spLocks noChangeArrowheads="1"/>
              </p:cNvSpPr>
              <p:nvPr/>
            </p:nvSpPr>
            <p:spPr bwMode="auto">
              <a:xfrm>
                <a:off x="-80820" y="36909"/>
                <a:ext cx="756178" cy="540089"/>
              </a:xfrm>
              <a:prstGeom prst="rect">
                <a:avLst/>
              </a:prstGeom>
              <a:noFill/>
              <a:ln w="9525">
                <a:noFill/>
                <a:miter lim="800000"/>
              </a:ln>
            </p:spPr>
            <p:txBody>
              <a:bodyPr wrap="square">
                <a:spAutoFit/>
              </a:bodyPr>
              <a:lstStyle/>
              <a:p>
                <a:pPr>
                  <a:defRPr/>
                </a:pPr>
                <a:r>
                  <a:rPr lang="en-US" altLang="zh-CN" sz="2400" b="1" kern="0" dirty="0">
                    <a:solidFill>
                      <a:sysClr val="windowText" lastClr="000000"/>
                    </a:solidFill>
                    <a:latin typeface="微软雅黑" panose="020B0503020204020204" pitchFamily="34" charset="-122"/>
                    <a:ea typeface="微软雅黑" panose="020B0503020204020204" pitchFamily="34" charset="-122"/>
                  </a:rPr>
                  <a:t>5.5</a:t>
                </a:r>
                <a:endParaRPr lang="zh-CN" altLang="en-US" sz="2400" b="1" kern="0" dirty="0">
                  <a:solidFill>
                    <a:sysClr val="windowText" lastClr="000000"/>
                  </a:solidFill>
                  <a:latin typeface="微软雅黑" panose="020B0503020204020204" pitchFamily="34" charset="-122"/>
                  <a:ea typeface="微软雅黑" panose="020B0503020204020204" pitchFamily="34" charset="-122"/>
                </a:endParaRPr>
              </a:p>
            </p:txBody>
          </p:sp>
        </p:grpSp>
      </p:grpSp>
      <p:grpSp>
        <p:nvGrpSpPr>
          <p:cNvPr id="68" name="组合 67">
            <a:extLst>
              <a:ext uri="{FF2B5EF4-FFF2-40B4-BE49-F238E27FC236}">
                <a16:creationId xmlns:a16="http://schemas.microsoft.com/office/drawing/2014/main" id="{90E7AC5B-1CE7-461E-A939-4AD980DF3D78}"/>
              </a:ext>
            </a:extLst>
          </p:cNvPr>
          <p:cNvGrpSpPr/>
          <p:nvPr userDrawn="1"/>
        </p:nvGrpSpPr>
        <p:grpSpPr>
          <a:xfrm>
            <a:off x="1812726" y="977212"/>
            <a:ext cx="2239963" cy="1047750"/>
            <a:chOff x="988824" y="2510466"/>
            <a:chExt cx="2239963" cy="1047750"/>
          </a:xfrm>
        </p:grpSpPr>
        <p:sp>
          <p:nvSpPr>
            <p:cNvPr id="8" name="Freeform 7">
              <a:extLst>
                <a:ext uri="{FF2B5EF4-FFF2-40B4-BE49-F238E27FC236}">
                  <a16:creationId xmlns:a16="http://schemas.microsoft.com/office/drawing/2014/main" id="{C460FAA0-5572-4ED6-AC94-D5D65C2A05C3}"/>
                </a:ext>
              </a:extLst>
            </p:cNvPr>
            <p:cNvSpPr>
              <a:spLocks noEditPoints="1"/>
            </p:cNvSpPr>
            <p:nvPr userDrawn="1"/>
          </p:nvSpPr>
          <p:spPr bwMode="auto">
            <a:xfrm>
              <a:off x="2077849" y="3331203"/>
              <a:ext cx="1147763" cy="227013"/>
            </a:xfrm>
            <a:custGeom>
              <a:avLst/>
              <a:gdLst>
                <a:gd name="T0" fmla="*/ 2147483647 w 2195"/>
                <a:gd name="T1" fmla="*/ 2147483647 h 445"/>
                <a:gd name="T2" fmla="*/ 2147483647 w 2195"/>
                <a:gd name="T3" fmla="*/ 2147483647 h 445"/>
                <a:gd name="T4" fmla="*/ 2147483647 w 2195"/>
                <a:gd name="T5" fmla="*/ 2147483647 h 445"/>
                <a:gd name="T6" fmla="*/ 2147483647 w 2195"/>
                <a:gd name="T7" fmla="*/ 2147483647 h 445"/>
                <a:gd name="T8" fmla="*/ 2147483647 w 2195"/>
                <a:gd name="T9" fmla="*/ 2147483647 h 445"/>
                <a:gd name="T10" fmla="*/ 2147483647 w 2195"/>
                <a:gd name="T11" fmla="*/ 2147483647 h 445"/>
                <a:gd name="T12" fmla="*/ 2147483647 w 2195"/>
                <a:gd name="T13" fmla="*/ 2147483647 h 445"/>
                <a:gd name="T14" fmla="*/ 2147483647 w 2195"/>
                <a:gd name="T15" fmla="*/ 2147483647 h 445"/>
                <a:gd name="T16" fmla="*/ 2147483647 w 2195"/>
                <a:gd name="T17" fmla="*/ 2147483647 h 445"/>
                <a:gd name="T18" fmla="*/ 2147483647 w 2195"/>
                <a:gd name="T19" fmla="*/ 2147483647 h 445"/>
                <a:gd name="T20" fmla="*/ 2147483647 w 2195"/>
                <a:gd name="T21" fmla="*/ 2147483647 h 445"/>
                <a:gd name="T22" fmla="*/ 2147483647 w 2195"/>
                <a:gd name="T23" fmla="*/ 2147483647 h 445"/>
                <a:gd name="T24" fmla="*/ 2147483647 w 2195"/>
                <a:gd name="T25" fmla="*/ 2147483647 h 445"/>
                <a:gd name="T26" fmla="*/ 2147483647 w 2195"/>
                <a:gd name="T27" fmla="*/ 2147483647 h 445"/>
                <a:gd name="T28" fmla="*/ 2147483647 w 2195"/>
                <a:gd name="T29" fmla="*/ 2147483647 h 445"/>
                <a:gd name="T30" fmla="*/ 2147483647 w 2195"/>
                <a:gd name="T31" fmla="*/ 2147483647 h 445"/>
                <a:gd name="T32" fmla="*/ 2147483647 w 2195"/>
                <a:gd name="T33" fmla="*/ 2147483647 h 445"/>
                <a:gd name="T34" fmla="*/ 2147483647 w 2195"/>
                <a:gd name="T35" fmla="*/ 2147483647 h 445"/>
                <a:gd name="T36" fmla="*/ 2147483647 w 2195"/>
                <a:gd name="T37" fmla="*/ 2147483647 h 445"/>
                <a:gd name="T38" fmla="*/ 2147483647 w 2195"/>
                <a:gd name="T39" fmla="*/ 2147483647 h 445"/>
                <a:gd name="T40" fmla="*/ 2147483647 w 2195"/>
                <a:gd name="T41" fmla="*/ 2147483647 h 445"/>
                <a:gd name="T42" fmla="*/ 2147483647 w 2195"/>
                <a:gd name="T43" fmla="*/ 2147483647 h 445"/>
                <a:gd name="T44" fmla="*/ 2147483647 w 2195"/>
                <a:gd name="T45" fmla="*/ 2147483647 h 445"/>
                <a:gd name="T46" fmla="*/ 2147483647 w 2195"/>
                <a:gd name="T47" fmla="*/ 2147483647 h 445"/>
                <a:gd name="T48" fmla="*/ 2147483647 w 2195"/>
                <a:gd name="T49" fmla="*/ 2147483647 h 445"/>
                <a:gd name="T50" fmla="*/ 2147483647 w 2195"/>
                <a:gd name="T51" fmla="*/ 2147483647 h 445"/>
                <a:gd name="T52" fmla="*/ 2147483647 w 2195"/>
                <a:gd name="T53" fmla="*/ 2147483647 h 445"/>
                <a:gd name="T54" fmla="*/ 2147483647 w 2195"/>
                <a:gd name="T55" fmla="*/ 2147483647 h 445"/>
                <a:gd name="T56" fmla="*/ 2147483647 w 2195"/>
                <a:gd name="T57" fmla="*/ 2147483647 h 445"/>
                <a:gd name="T58" fmla="*/ 2147483647 w 2195"/>
                <a:gd name="T59" fmla="*/ 2147483647 h 445"/>
                <a:gd name="T60" fmla="*/ 2147483647 w 2195"/>
                <a:gd name="T61" fmla="*/ 2147483647 h 445"/>
                <a:gd name="T62" fmla="*/ 2147483647 w 2195"/>
                <a:gd name="T63" fmla="*/ 2147483647 h 445"/>
                <a:gd name="T64" fmla="*/ 2147483647 w 2195"/>
                <a:gd name="T65" fmla="*/ 2147483647 h 445"/>
                <a:gd name="T66" fmla="*/ 2147483647 w 2195"/>
                <a:gd name="T67" fmla="*/ 2147483647 h 445"/>
                <a:gd name="T68" fmla="*/ 2147483647 w 2195"/>
                <a:gd name="T69" fmla="*/ 2147483647 h 445"/>
                <a:gd name="T70" fmla="*/ 2147483647 w 2195"/>
                <a:gd name="T71" fmla="*/ 2147483647 h 445"/>
                <a:gd name="T72" fmla="*/ 2147483647 w 2195"/>
                <a:gd name="T73" fmla="*/ 2147483647 h 445"/>
                <a:gd name="T74" fmla="*/ 2147483647 w 2195"/>
                <a:gd name="T75" fmla="*/ 2147483647 h 445"/>
                <a:gd name="T76" fmla="*/ 2147483647 w 2195"/>
                <a:gd name="T77" fmla="*/ 2147483647 h 445"/>
                <a:gd name="T78" fmla="*/ 2147483647 w 2195"/>
                <a:gd name="T79" fmla="*/ 2147483647 h 445"/>
                <a:gd name="T80" fmla="*/ 2147483647 w 2195"/>
                <a:gd name="T81" fmla="*/ 2147483647 h 445"/>
                <a:gd name="T82" fmla="*/ 2147483647 w 2195"/>
                <a:gd name="T83" fmla="*/ 2147483647 h 445"/>
                <a:gd name="T84" fmla="*/ 2147483647 w 2195"/>
                <a:gd name="T85" fmla="*/ 2147483647 h 445"/>
                <a:gd name="T86" fmla="*/ 2147483647 w 2195"/>
                <a:gd name="T87" fmla="*/ 2147483647 h 445"/>
                <a:gd name="T88" fmla="*/ 2147483647 w 2195"/>
                <a:gd name="T89" fmla="*/ 2147483647 h 445"/>
                <a:gd name="T90" fmla="*/ 2147483647 w 2195"/>
                <a:gd name="T91" fmla="*/ 2147483647 h 445"/>
                <a:gd name="T92" fmla="*/ 2147483647 w 2195"/>
                <a:gd name="T93" fmla="*/ 2147483647 h 445"/>
                <a:gd name="T94" fmla="*/ 2147483647 w 2195"/>
                <a:gd name="T95" fmla="*/ 2147483647 h 445"/>
                <a:gd name="T96" fmla="*/ 2147483647 w 2195"/>
                <a:gd name="T97" fmla="*/ 2147483647 h 445"/>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2195" h="445">
                  <a:moveTo>
                    <a:pt x="154" y="142"/>
                  </a:moveTo>
                  <a:cubicBezTo>
                    <a:pt x="86" y="144"/>
                    <a:pt x="51" y="189"/>
                    <a:pt x="49" y="278"/>
                  </a:cubicBezTo>
                  <a:cubicBezTo>
                    <a:pt x="51" y="361"/>
                    <a:pt x="86" y="405"/>
                    <a:pt x="154" y="407"/>
                  </a:cubicBezTo>
                  <a:cubicBezTo>
                    <a:pt x="218" y="405"/>
                    <a:pt x="251" y="361"/>
                    <a:pt x="252" y="276"/>
                  </a:cubicBezTo>
                  <a:cubicBezTo>
                    <a:pt x="248" y="193"/>
                    <a:pt x="215" y="148"/>
                    <a:pt x="154" y="142"/>
                  </a:cubicBezTo>
                  <a:close/>
                  <a:moveTo>
                    <a:pt x="152" y="443"/>
                  </a:moveTo>
                  <a:cubicBezTo>
                    <a:pt x="55" y="437"/>
                    <a:pt x="5" y="383"/>
                    <a:pt x="0" y="280"/>
                  </a:cubicBezTo>
                  <a:cubicBezTo>
                    <a:pt x="3" y="166"/>
                    <a:pt x="55" y="107"/>
                    <a:pt x="156" y="105"/>
                  </a:cubicBezTo>
                  <a:cubicBezTo>
                    <a:pt x="250" y="109"/>
                    <a:pt x="299" y="165"/>
                    <a:pt x="303" y="274"/>
                  </a:cubicBezTo>
                  <a:cubicBezTo>
                    <a:pt x="302" y="385"/>
                    <a:pt x="251" y="442"/>
                    <a:pt x="152" y="443"/>
                  </a:cubicBezTo>
                  <a:close/>
                  <a:moveTo>
                    <a:pt x="665" y="227"/>
                  </a:moveTo>
                  <a:lnTo>
                    <a:pt x="665" y="434"/>
                  </a:lnTo>
                  <a:lnTo>
                    <a:pt x="618" y="434"/>
                  </a:lnTo>
                  <a:lnTo>
                    <a:pt x="618" y="234"/>
                  </a:lnTo>
                  <a:cubicBezTo>
                    <a:pt x="616" y="174"/>
                    <a:pt x="591" y="144"/>
                    <a:pt x="542" y="142"/>
                  </a:cubicBezTo>
                  <a:cubicBezTo>
                    <a:pt x="484" y="150"/>
                    <a:pt x="452" y="181"/>
                    <a:pt x="446" y="236"/>
                  </a:cubicBezTo>
                  <a:lnTo>
                    <a:pt x="446" y="434"/>
                  </a:lnTo>
                  <a:lnTo>
                    <a:pt x="400" y="436"/>
                  </a:lnTo>
                  <a:lnTo>
                    <a:pt x="400" y="111"/>
                  </a:lnTo>
                  <a:lnTo>
                    <a:pt x="446" y="111"/>
                  </a:lnTo>
                  <a:lnTo>
                    <a:pt x="446" y="160"/>
                  </a:lnTo>
                  <a:cubicBezTo>
                    <a:pt x="472" y="123"/>
                    <a:pt x="507" y="104"/>
                    <a:pt x="553" y="102"/>
                  </a:cubicBezTo>
                  <a:cubicBezTo>
                    <a:pt x="628" y="102"/>
                    <a:pt x="665" y="144"/>
                    <a:pt x="665" y="227"/>
                  </a:cubicBezTo>
                  <a:close/>
                  <a:moveTo>
                    <a:pt x="897" y="407"/>
                  </a:moveTo>
                  <a:lnTo>
                    <a:pt x="906" y="432"/>
                  </a:lnTo>
                  <a:cubicBezTo>
                    <a:pt x="891" y="438"/>
                    <a:pt x="875" y="441"/>
                    <a:pt x="857" y="441"/>
                  </a:cubicBezTo>
                  <a:cubicBezTo>
                    <a:pt x="811" y="442"/>
                    <a:pt x="788" y="419"/>
                    <a:pt x="790" y="370"/>
                  </a:cubicBezTo>
                  <a:lnTo>
                    <a:pt x="790" y="151"/>
                  </a:lnTo>
                  <a:lnTo>
                    <a:pt x="745" y="151"/>
                  </a:lnTo>
                  <a:lnTo>
                    <a:pt x="745" y="111"/>
                  </a:lnTo>
                  <a:lnTo>
                    <a:pt x="790" y="111"/>
                  </a:lnTo>
                  <a:lnTo>
                    <a:pt x="790" y="24"/>
                  </a:lnTo>
                  <a:lnTo>
                    <a:pt x="837" y="0"/>
                  </a:lnTo>
                  <a:lnTo>
                    <a:pt x="837" y="111"/>
                  </a:lnTo>
                  <a:lnTo>
                    <a:pt x="897" y="111"/>
                  </a:lnTo>
                  <a:lnTo>
                    <a:pt x="897" y="151"/>
                  </a:lnTo>
                  <a:lnTo>
                    <a:pt x="837" y="151"/>
                  </a:lnTo>
                  <a:lnTo>
                    <a:pt x="837" y="370"/>
                  </a:lnTo>
                  <a:cubicBezTo>
                    <a:pt x="835" y="398"/>
                    <a:pt x="847" y="411"/>
                    <a:pt x="872" y="410"/>
                  </a:cubicBezTo>
                  <a:cubicBezTo>
                    <a:pt x="881" y="410"/>
                    <a:pt x="890" y="409"/>
                    <a:pt x="897" y="407"/>
                  </a:cubicBezTo>
                  <a:close/>
                  <a:moveTo>
                    <a:pt x="1020" y="249"/>
                  </a:moveTo>
                  <a:lnTo>
                    <a:pt x="1214" y="249"/>
                  </a:lnTo>
                  <a:cubicBezTo>
                    <a:pt x="1211" y="184"/>
                    <a:pt x="1179" y="150"/>
                    <a:pt x="1118" y="147"/>
                  </a:cubicBezTo>
                  <a:cubicBezTo>
                    <a:pt x="1057" y="153"/>
                    <a:pt x="1024" y="187"/>
                    <a:pt x="1020" y="249"/>
                  </a:cubicBezTo>
                  <a:close/>
                  <a:moveTo>
                    <a:pt x="1214" y="334"/>
                  </a:moveTo>
                  <a:lnTo>
                    <a:pt x="1263" y="347"/>
                  </a:lnTo>
                  <a:cubicBezTo>
                    <a:pt x="1245" y="413"/>
                    <a:pt x="1198" y="445"/>
                    <a:pt x="1120" y="443"/>
                  </a:cubicBezTo>
                  <a:cubicBezTo>
                    <a:pt x="1021" y="439"/>
                    <a:pt x="969" y="384"/>
                    <a:pt x="966" y="278"/>
                  </a:cubicBezTo>
                  <a:cubicBezTo>
                    <a:pt x="971" y="167"/>
                    <a:pt x="1021" y="109"/>
                    <a:pt x="1118" y="105"/>
                  </a:cubicBezTo>
                  <a:cubicBezTo>
                    <a:pt x="1213" y="107"/>
                    <a:pt x="1262" y="165"/>
                    <a:pt x="1265" y="278"/>
                  </a:cubicBezTo>
                  <a:cubicBezTo>
                    <a:pt x="1265" y="284"/>
                    <a:pt x="1265" y="288"/>
                    <a:pt x="1265" y="289"/>
                  </a:cubicBezTo>
                  <a:lnTo>
                    <a:pt x="1018" y="289"/>
                  </a:lnTo>
                  <a:cubicBezTo>
                    <a:pt x="1021" y="362"/>
                    <a:pt x="1054" y="401"/>
                    <a:pt x="1118" y="405"/>
                  </a:cubicBezTo>
                  <a:cubicBezTo>
                    <a:pt x="1169" y="405"/>
                    <a:pt x="1200" y="382"/>
                    <a:pt x="1214" y="334"/>
                  </a:cubicBezTo>
                  <a:close/>
                  <a:moveTo>
                    <a:pt x="1626" y="227"/>
                  </a:moveTo>
                  <a:lnTo>
                    <a:pt x="1626" y="434"/>
                  </a:lnTo>
                  <a:lnTo>
                    <a:pt x="1580" y="434"/>
                  </a:lnTo>
                  <a:lnTo>
                    <a:pt x="1580" y="234"/>
                  </a:lnTo>
                  <a:cubicBezTo>
                    <a:pt x="1578" y="174"/>
                    <a:pt x="1553" y="144"/>
                    <a:pt x="1504" y="142"/>
                  </a:cubicBezTo>
                  <a:cubicBezTo>
                    <a:pt x="1446" y="150"/>
                    <a:pt x="1414" y="181"/>
                    <a:pt x="1408" y="236"/>
                  </a:cubicBezTo>
                  <a:lnTo>
                    <a:pt x="1408" y="434"/>
                  </a:lnTo>
                  <a:lnTo>
                    <a:pt x="1361" y="436"/>
                  </a:lnTo>
                  <a:lnTo>
                    <a:pt x="1361" y="111"/>
                  </a:lnTo>
                  <a:lnTo>
                    <a:pt x="1408" y="111"/>
                  </a:lnTo>
                  <a:lnTo>
                    <a:pt x="1408" y="160"/>
                  </a:lnTo>
                  <a:cubicBezTo>
                    <a:pt x="1433" y="123"/>
                    <a:pt x="1469" y="104"/>
                    <a:pt x="1515" y="102"/>
                  </a:cubicBezTo>
                  <a:cubicBezTo>
                    <a:pt x="1589" y="102"/>
                    <a:pt x="1626" y="144"/>
                    <a:pt x="1626" y="227"/>
                  </a:cubicBezTo>
                  <a:close/>
                  <a:moveTo>
                    <a:pt x="1859" y="407"/>
                  </a:moveTo>
                  <a:lnTo>
                    <a:pt x="1868" y="432"/>
                  </a:lnTo>
                  <a:cubicBezTo>
                    <a:pt x="1853" y="438"/>
                    <a:pt x="1836" y="441"/>
                    <a:pt x="1818" y="441"/>
                  </a:cubicBezTo>
                  <a:cubicBezTo>
                    <a:pt x="1772" y="442"/>
                    <a:pt x="1750" y="419"/>
                    <a:pt x="1752" y="370"/>
                  </a:cubicBezTo>
                  <a:lnTo>
                    <a:pt x="1752" y="151"/>
                  </a:lnTo>
                  <a:lnTo>
                    <a:pt x="1707" y="151"/>
                  </a:lnTo>
                  <a:lnTo>
                    <a:pt x="1707" y="111"/>
                  </a:lnTo>
                  <a:lnTo>
                    <a:pt x="1752" y="111"/>
                  </a:lnTo>
                  <a:lnTo>
                    <a:pt x="1752" y="24"/>
                  </a:lnTo>
                  <a:lnTo>
                    <a:pt x="1798" y="0"/>
                  </a:lnTo>
                  <a:lnTo>
                    <a:pt x="1798" y="111"/>
                  </a:lnTo>
                  <a:lnTo>
                    <a:pt x="1859" y="111"/>
                  </a:lnTo>
                  <a:lnTo>
                    <a:pt x="1859" y="151"/>
                  </a:lnTo>
                  <a:lnTo>
                    <a:pt x="1798" y="151"/>
                  </a:lnTo>
                  <a:lnTo>
                    <a:pt x="1798" y="370"/>
                  </a:lnTo>
                  <a:cubicBezTo>
                    <a:pt x="1797" y="398"/>
                    <a:pt x="1809" y="411"/>
                    <a:pt x="1834" y="410"/>
                  </a:cubicBezTo>
                  <a:cubicBezTo>
                    <a:pt x="1843" y="410"/>
                    <a:pt x="1851" y="409"/>
                    <a:pt x="1859" y="407"/>
                  </a:cubicBezTo>
                  <a:close/>
                  <a:moveTo>
                    <a:pt x="2131" y="203"/>
                  </a:moveTo>
                  <a:lnTo>
                    <a:pt x="2180" y="189"/>
                  </a:lnTo>
                  <a:cubicBezTo>
                    <a:pt x="2167" y="133"/>
                    <a:pt x="2125" y="104"/>
                    <a:pt x="2055" y="102"/>
                  </a:cubicBezTo>
                  <a:cubicBezTo>
                    <a:pt x="1982" y="105"/>
                    <a:pt x="1943" y="136"/>
                    <a:pt x="1937" y="194"/>
                  </a:cubicBezTo>
                  <a:cubicBezTo>
                    <a:pt x="1934" y="249"/>
                    <a:pt x="1976" y="281"/>
                    <a:pt x="2062" y="292"/>
                  </a:cubicBezTo>
                  <a:cubicBezTo>
                    <a:pt x="2118" y="302"/>
                    <a:pt x="2146" y="322"/>
                    <a:pt x="2144" y="352"/>
                  </a:cubicBezTo>
                  <a:cubicBezTo>
                    <a:pt x="2143" y="387"/>
                    <a:pt x="2115" y="406"/>
                    <a:pt x="2062" y="407"/>
                  </a:cubicBezTo>
                  <a:cubicBezTo>
                    <a:pt x="2013" y="409"/>
                    <a:pt x="1982" y="384"/>
                    <a:pt x="1970" y="334"/>
                  </a:cubicBezTo>
                  <a:lnTo>
                    <a:pt x="1924" y="347"/>
                  </a:lnTo>
                  <a:cubicBezTo>
                    <a:pt x="1941" y="413"/>
                    <a:pt x="1988" y="445"/>
                    <a:pt x="2062" y="443"/>
                  </a:cubicBezTo>
                  <a:cubicBezTo>
                    <a:pt x="2148" y="442"/>
                    <a:pt x="2192" y="410"/>
                    <a:pt x="2193" y="350"/>
                  </a:cubicBezTo>
                  <a:cubicBezTo>
                    <a:pt x="2195" y="298"/>
                    <a:pt x="2155" y="265"/>
                    <a:pt x="2075" y="252"/>
                  </a:cubicBezTo>
                  <a:cubicBezTo>
                    <a:pt x="2014" y="241"/>
                    <a:pt x="1985" y="222"/>
                    <a:pt x="1986" y="194"/>
                  </a:cubicBezTo>
                  <a:cubicBezTo>
                    <a:pt x="1990" y="162"/>
                    <a:pt x="2014" y="146"/>
                    <a:pt x="2057" y="145"/>
                  </a:cubicBezTo>
                  <a:cubicBezTo>
                    <a:pt x="2097" y="145"/>
                    <a:pt x="2122" y="164"/>
                    <a:pt x="2131" y="203"/>
                  </a:cubicBezTo>
                  <a:close/>
                </a:path>
              </a:pathLst>
            </a:custGeom>
            <a:solidFill>
              <a:srgbClr val="4D4D4D"/>
            </a:solidFill>
            <a:ln w="9525">
              <a:noFill/>
              <a:round/>
            </a:ln>
          </p:spPr>
          <p:txBody>
            <a:bodyPr/>
            <a:lstStyle/>
            <a:p>
              <a:pPr>
                <a:defRPr/>
              </a:pPr>
              <a:endParaRPr lang="zh-CN" altLang="en-US" kern="0">
                <a:solidFill>
                  <a:sysClr val="windowText" lastClr="000000"/>
                </a:solidFill>
                <a:latin typeface="Arial" pitchFamily="34" charset="0"/>
                <a:ea typeface="宋体" pitchFamily="2" charset="-122"/>
              </a:endParaRPr>
            </a:p>
          </p:txBody>
        </p:sp>
        <p:sp>
          <p:nvSpPr>
            <p:cNvPr id="9" name="Freeform 8">
              <a:extLst>
                <a:ext uri="{FF2B5EF4-FFF2-40B4-BE49-F238E27FC236}">
                  <a16:creationId xmlns:a16="http://schemas.microsoft.com/office/drawing/2014/main" id="{7AB2CA1C-0244-4212-8B4F-BFADD4B021D8}"/>
                </a:ext>
              </a:extLst>
            </p:cNvPr>
            <p:cNvSpPr>
              <a:spLocks noEditPoints="1"/>
            </p:cNvSpPr>
            <p:nvPr userDrawn="1"/>
          </p:nvSpPr>
          <p:spPr bwMode="auto">
            <a:xfrm>
              <a:off x="2125474" y="2626353"/>
              <a:ext cx="1103313" cy="501650"/>
            </a:xfrm>
            <a:custGeom>
              <a:avLst/>
              <a:gdLst>
                <a:gd name="T0" fmla="*/ 2147483647 w 2109"/>
                <a:gd name="T1" fmla="*/ 0 h 986"/>
                <a:gd name="T2" fmla="*/ 2147483647 w 2109"/>
                <a:gd name="T3" fmla="*/ 2147483647 h 986"/>
                <a:gd name="T4" fmla="*/ 2147483647 w 2109"/>
                <a:gd name="T5" fmla="*/ 2147483647 h 986"/>
                <a:gd name="T6" fmla="*/ 0 w 2109"/>
                <a:gd name="T7" fmla="*/ 2147483647 h 986"/>
                <a:gd name="T8" fmla="*/ 2147483647 w 2109"/>
                <a:gd name="T9" fmla="*/ 2147483647 h 986"/>
                <a:gd name="T10" fmla="*/ 2147483647 w 2109"/>
                <a:gd name="T11" fmla="*/ 2147483647 h 986"/>
                <a:gd name="T12" fmla="*/ 2147483647 w 2109"/>
                <a:gd name="T13" fmla="*/ 2147483647 h 986"/>
                <a:gd name="T14" fmla="*/ 2147483647 w 2109"/>
                <a:gd name="T15" fmla="*/ 2147483647 h 986"/>
                <a:gd name="T16" fmla="*/ 2147483647 w 2109"/>
                <a:gd name="T17" fmla="*/ 2147483647 h 986"/>
                <a:gd name="T18" fmla="*/ 2147483647 w 2109"/>
                <a:gd name="T19" fmla="*/ 2147483647 h 986"/>
                <a:gd name="T20" fmla="*/ 2147483647 w 2109"/>
                <a:gd name="T21" fmla="*/ 2147483647 h 986"/>
                <a:gd name="T22" fmla="*/ 2147483647 w 2109"/>
                <a:gd name="T23" fmla="*/ 2147483647 h 986"/>
                <a:gd name="T24" fmla="*/ 2147483647 w 2109"/>
                <a:gd name="T25" fmla="*/ 2147483647 h 986"/>
                <a:gd name="T26" fmla="*/ 2147483647 w 2109"/>
                <a:gd name="T27" fmla="*/ 2147483647 h 986"/>
                <a:gd name="T28" fmla="*/ 2147483647 w 2109"/>
                <a:gd name="T29" fmla="*/ 2147483647 h 986"/>
                <a:gd name="T30" fmla="*/ 2147483647 w 2109"/>
                <a:gd name="T31" fmla="*/ 2147483647 h 986"/>
                <a:gd name="T32" fmla="*/ 2147483647 w 2109"/>
                <a:gd name="T33" fmla="*/ 2147483647 h 986"/>
                <a:gd name="T34" fmla="*/ 2147483647 w 2109"/>
                <a:gd name="T35" fmla="*/ 2147483647 h 986"/>
                <a:gd name="T36" fmla="*/ 2147483647 w 2109"/>
                <a:gd name="T37" fmla="*/ 2147483647 h 986"/>
                <a:gd name="T38" fmla="*/ 2147483647 w 2109"/>
                <a:gd name="T39" fmla="*/ 2147483647 h 986"/>
                <a:gd name="T40" fmla="*/ 2147483647 w 2109"/>
                <a:gd name="T41" fmla="*/ 2147483647 h 986"/>
                <a:gd name="T42" fmla="*/ 2147483647 w 2109"/>
                <a:gd name="T43" fmla="*/ 2147483647 h 986"/>
                <a:gd name="T44" fmla="*/ 2147483647 w 2109"/>
                <a:gd name="T45" fmla="*/ 2147483647 h 986"/>
                <a:gd name="T46" fmla="*/ 2147483647 w 2109"/>
                <a:gd name="T47" fmla="*/ 2147483647 h 986"/>
                <a:gd name="T48" fmla="*/ 2147483647 w 2109"/>
                <a:gd name="T49" fmla="*/ 2147483647 h 986"/>
                <a:gd name="T50" fmla="*/ 2147483647 w 2109"/>
                <a:gd name="T51" fmla="*/ 2147483647 h 986"/>
                <a:gd name="T52" fmla="*/ 2147483647 w 2109"/>
                <a:gd name="T53" fmla="*/ 2147483647 h 986"/>
                <a:gd name="T54" fmla="*/ 2147483647 w 2109"/>
                <a:gd name="T55" fmla="*/ 2147483647 h 986"/>
                <a:gd name="T56" fmla="*/ 2147483647 w 2109"/>
                <a:gd name="T57" fmla="*/ 2147483647 h 986"/>
                <a:gd name="T58" fmla="*/ 2147483647 w 2109"/>
                <a:gd name="T59" fmla="*/ 2147483647 h 986"/>
                <a:gd name="T60" fmla="*/ 2147483647 w 2109"/>
                <a:gd name="T61" fmla="*/ 2147483647 h 986"/>
                <a:gd name="T62" fmla="*/ 2147483647 w 2109"/>
                <a:gd name="T63" fmla="*/ 2147483647 h 986"/>
                <a:gd name="T64" fmla="*/ 2147483647 w 2109"/>
                <a:gd name="T65" fmla="*/ 2147483647 h 986"/>
                <a:gd name="T66" fmla="*/ 2147483647 w 2109"/>
                <a:gd name="T67" fmla="*/ 2147483647 h 98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2109" h="986">
                  <a:moveTo>
                    <a:pt x="0" y="0"/>
                  </a:moveTo>
                  <a:lnTo>
                    <a:pt x="764" y="0"/>
                  </a:lnTo>
                  <a:lnTo>
                    <a:pt x="764" y="986"/>
                  </a:lnTo>
                  <a:lnTo>
                    <a:pt x="676" y="986"/>
                  </a:lnTo>
                  <a:lnTo>
                    <a:pt x="676" y="902"/>
                  </a:lnTo>
                  <a:lnTo>
                    <a:pt x="84" y="902"/>
                  </a:lnTo>
                  <a:lnTo>
                    <a:pt x="84" y="986"/>
                  </a:lnTo>
                  <a:lnTo>
                    <a:pt x="0" y="986"/>
                  </a:lnTo>
                  <a:lnTo>
                    <a:pt x="0" y="0"/>
                  </a:lnTo>
                  <a:close/>
                  <a:moveTo>
                    <a:pt x="84" y="80"/>
                  </a:moveTo>
                  <a:lnTo>
                    <a:pt x="84" y="279"/>
                  </a:lnTo>
                  <a:lnTo>
                    <a:pt x="676" y="279"/>
                  </a:lnTo>
                  <a:lnTo>
                    <a:pt x="676" y="80"/>
                  </a:lnTo>
                  <a:lnTo>
                    <a:pt x="84" y="80"/>
                  </a:lnTo>
                  <a:close/>
                  <a:moveTo>
                    <a:pt x="84" y="628"/>
                  </a:moveTo>
                  <a:lnTo>
                    <a:pt x="84" y="831"/>
                  </a:lnTo>
                  <a:lnTo>
                    <a:pt x="676" y="831"/>
                  </a:lnTo>
                  <a:lnTo>
                    <a:pt x="676" y="628"/>
                  </a:lnTo>
                  <a:lnTo>
                    <a:pt x="84" y="628"/>
                  </a:lnTo>
                  <a:close/>
                  <a:moveTo>
                    <a:pt x="84" y="354"/>
                  </a:moveTo>
                  <a:lnTo>
                    <a:pt x="84" y="557"/>
                  </a:lnTo>
                  <a:lnTo>
                    <a:pt x="676" y="557"/>
                  </a:lnTo>
                  <a:lnTo>
                    <a:pt x="676" y="354"/>
                  </a:lnTo>
                  <a:lnTo>
                    <a:pt x="84" y="354"/>
                  </a:lnTo>
                  <a:close/>
                  <a:moveTo>
                    <a:pt x="1963" y="482"/>
                  </a:moveTo>
                  <a:lnTo>
                    <a:pt x="2021" y="553"/>
                  </a:lnTo>
                  <a:cubicBezTo>
                    <a:pt x="2000" y="568"/>
                    <a:pt x="1958" y="594"/>
                    <a:pt x="1893" y="632"/>
                  </a:cubicBezTo>
                  <a:cubicBezTo>
                    <a:pt x="1849" y="659"/>
                    <a:pt x="1815" y="679"/>
                    <a:pt x="1791" y="694"/>
                  </a:cubicBezTo>
                  <a:cubicBezTo>
                    <a:pt x="1859" y="753"/>
                    <a:pt x="1965" y="800"/>
                    <a:pt x="2109" y="836"/>
                  </a:cubicBezTo>
                  <a:cubicBezTo>
                    <a:pt x="2089" y="856"/>
                    <a:pt x="2070" y="883"/>
                    <a:pt x="2052" y="915"/>
                  </a:cubicBezTo>
                  <a:cubicBezTo>
                    <a:pt x="1849" y="856"/>
                    <a:pt x="1704" y="756"/>
                    <a:pt x="1619" y="615"/>
                  </a:cubicBezTo>
                  <a:lnTo>
                    <a:pt x="1619" y="818"/>
                  </a:lnTo>
                  <a:cubicBezTo>
                    <a:pt x="1624" y="924"/>
                    <a:pt x="1573" y="976"/>
                    <a:pt x="1464" y="973"/>
                  </a:cubicBezTo>
                  <a:cubicBezTo>
                    <a:pt x="1423" y="973"/>
                    <a:pt x="1381" y="973"/>
                    <a:pt x="1340" y="973"/>
                  </a:cubicBezTo>
                  <a:cubicBezTo>
                    <a:pt x="1337" y="937"/>
                    <a:pt x="1331" y="908"/>
                    <a:pt x="1322" y="884"/>
                  </a:cubicBezTo>
                  <a:cubicBezTo>
                    <a:pt x="1358" y="887"/>
                    <a:pt x="1403" y="889"/>
                    <a:pt x="1459" y="889"/>
                  </a:cubicBezTo>
                  <a:cubicBezTo>
                    <a:pt x="1515" y="892"/>
                    <a:pt x="1542" y="867"/>
                    <a:pt x="1539" y="814"/>
                  </a:cubicBezTo>
                  <a:lnTo>
                    <a:pt x="1539" y="447"/>
                  </a:lnTo>
                  <a:lnTo>
                    <a:pt x="1057" y="447"/>
                  </a:lnTo>
                  <a:lnTo>
                    <a:pt x="1057" y="376"/>
                  </a:lnTo>
                  <a:lnTo>
                    <a:pt x="1849" y="376"/>
                  </a:lnTo>
                  <a:lnTo>
                    <a:pt x="1849" y="261"/>
                  </a:lnTo>
                  <a:lnTo>
                    <a:pt x="1190" y="261"/>
                  </a:lnTo>
                  <a:lnTo>
                    <a:pt x="1190" y="190"/>
                  </a:lnTo>
                  <a:lnTo>
                    <a:pt x="1849" y="190"/>
                  </a:lnTo>
                  <a:lnTo>
                    <a:pt x="1849" y="75"/>
                  </a:lnTo>
                  <a:lnTo>
                    <a:pt x="1172" y="75"/>
                  </a:lnTo>
                  <a:lnTo>
                    <a:pt x="1172" y="5"/>
                  </a:lnTo>
                  <a:lnTo>
                    <a:pt x="1932" y="5"/>
                  </a:lnTo>
                  <a:lnTo>
                    <a:pt x="1932" y="376"/>
                  </a:lnTo>
                  <a:lnTo>
                    <a:pt x="2101" y="376"/>
                  </a:lnTo>
                  <a:lnTo>
                    <a:pt x="2101" y="447"/>
                  </a:lnTo>
                  <a:lnTo>
                    <a:pt x="1619" y="447"/>
                  </a:lnTo>
                  <a:lnTo>
                    <a:pt x="1619" y="482"/>
                  </a:lnTo>
                  <a:cubicBezTo>
                    <a:pt x="1654" y="544"/>
                    <a:pt x="1692" y="597"/>
                    <a:pt x="1733" y="641"/>
                  </a:cubicBezTo>
                  <a:cubicBezTo>
                    <a:pt x="1822" y="582"/>
                    <a:pt x="1899" y="529"/>
                    <a:pt x="1963" y="482"/>
                  </a:cubicBezTo>
                  <a:close/>
                  <a:moveTo>
                    <a:pt x="1044" y="814"/>
                  </a:moveTo>
                  <a:cubicBezTo>
                    <a:pt x="1168" y="772"/>
                    <a:pt x="1318" y="716"/>
                    <a:pt x="1495" y="646"/>
                  </a:cubicBezTo>
                  <a:cubicBezTo>
                    <a:pt x="1501" y="672"/>
                    <a:pt x="1507" y="699"/>
                    <a:pt x="1513" y="725"/>
                  </a:cubicBezTo>
                  <a:cubicBezTo>
                    <a:pt x="1351" y="784"/>
                    <a:pt x="1205" y="839"/>
                    <a:pt x="1075" y="889"/>
                  </a:cubicBezTo>
                  <a:lnTo>
                    <a:pt x="1044" y="814"/>
                  </a:lnTo>
                  <a:close/>
                  <a:moveTo>
                    <a:pt x="1190" y="473"/>
                  </a:moveTo>
                  <a:cubicBezTo>
                    <a:pt x="1202" y="482"/>
                    <a:pt x="1218" y="492"/>
                    <a:pt x="1238" y="504"/>
                  </a:cubicBezTo>
                  <a:cubicBezTo>
                    <a:pt x="1303" y="545"/>
                    <a:pt x="1356" y="581"/>
                    <a:pt x="1398" y="610"/>
                  </a:cubicBezTo>
                  <a:lnTo>
                    <a:pt x="1349" y="681"/>
                  </a:lnTo>
                  <a:cubicBezTo>
                    <a:pt x="1317" y="658"/>
                    <a:pt x="1272" y="627"/>
                    <a:pt x="1216" y="588"/>
                  </a:cubicBezTo>
                  <a:cubicBezTo>
                    <a:pt x="1184" y="565"/>
                    <a:pt x="1159" y="547"/>
                    <a:pt x="1141" y="535"/>
                  </a:cubicBezTo>
                  <a:lnTo>
                    <a:pt x="1190" y="473"/>
                  </a:lnTo>
                  <a:close/>
                </a:path>
              </a:pathLst>
            </a:custGeom>
            <a:solidFill>
              <a:srgbClr val="4D4D4D"/>
            </a:solidFill>
            <a:ln w="9525">
              <a:noFill/>
              <a:round/>
            </a:ln>
          </p:spPr>
          <p:txBody>
            <a:bodyPr/>
            <a:lstStyle/>
            <a:p>
              <a:pPr>
                <a:defRPr/>
              </a:pPr>
              <a:endParaRPr lang="zh-CN" altLang="en-US" kern="0" dirty="0">
                <a:solidFill>
                  <a:sysClr val="windowText" lastClr="000000"/>
                </a:solidFill>
                <a:latin typeface="Arial" pitchFamily="34" charset="0"/>
                <a:ea typeface="宋体" pitchFamily="2" charset="-122"/>
              </a:endParaRPr>
            </a:p>
          </p:txBody>
        </p:sp>
        <p:sp>
          <p:nvSpPr>
            <p:cNvPr id="6" name="Rectangle 5">
              <a:extLst>
                <a:ext uri="{FF2B5EF4-FFF2-40B4-BE49-F238E27FC236}">
                  <a16:creationId xmlns:a16="http://schemas.microsoft.com/office/drawing/2014/main" id="{A6CF91E4-2DF6-43CC-853C-8A66141190CC}"/>
                </a:ext>
              </a:extLst>
            </p:cNvPr>
            <p:cNvSpPr>
              <a:spLocks noChangeArrowheads="1"/>
            </p:cNvSpPr>
            <p:nvPr userDrawn="1"/>
          </p:nvSpPr>
          <p:spPr bwMode="auto">
            <a:xfrm>
              <a:off x="988824" y="2510466"/>
              <a:ext cx="973394" cy="1047750"/>
            </a:xfrm>
            <a:prstGeom prst="rect">
              <a:avLst/>
            </a:prstGeom>
            <a:solidFill>
              <a:srgbClr val="024C89"/>
            </a:solidFill>
            <a:ln w="9525">
              <a:noFill/>
              <a:miter lim="800000"/>
            </a:ln>
          </p:spPr>
          <p:txBody>
            <a:bodyPr/>
            <a:lstStyle/>
            <a:p>
              <a:pPr>
                <a:defRPr/>
              </a:pPr>
              <a:endParaRPr lang="zh-CN" altLang="en-US" kern="0">
                <a:solidFill>
                  <a:sysClr val="windowText" lastClr="000000"/>
                </a:solidFill>
                <a:latin typeface="Arial" pitchFamily="34" charset="0"/>
                <a:ea typeface="宋体" pitchFamily="2" charset="-122"/>
              </a:endParaRPr>
            </a:p>
          </p:txBody>
        </p:sp>
        <p:sp>
          <p:nvSpPr>
            <p:cNvPr id="7" name="Freeform 6">
              <a:extLst>
                <a:ext uri="{FF2B5EF4-FFF2-40B4-BE49-F238E27FC236}">
                  <a16:creationId xmlns:a16="http://schemas.microsoft.com/office/drawing/2014/main" id="{B9D7DEB2-CFBF-4E7F-8A3C-E9CF23E7D7CF}"/>
                </a:ext>
              </a:extLst>
            </p:cNvPr>
            <p:cNvSpPr/>
            <p:nvPr userDrawn="1"/>
          </p:nvSpPr>
          <p:spPr bwMode="auto">
            <a:xfrm>
              <a:off x="1149559" y="2675367"/>
              <a:ext cx="614363" cy="749300"/>
            </a:xfrm>
            <a:custGeom>
              <a:avLst/>
              <a:gdLst>
                <a:gd name="T0" fmla="*/ 2147483647 w 1173"/>
                <a:gd name="T1" fmla="*/ 2147483647 h 1472"/>
                <a:gd name="T2" fmla="*/ 2147483647 w 1173"/>
                <a:gd name="T3" fmla="*/ 2147483647 h 1472"/>
                <a:gd name="T4" fmla="*/ 2147483647 w 1173"/>
                <a:gd name="T5" fmla="*/ 2147483647 h 1472"/>
                <a:gd name="T6" fmla="*/ 2147483647 w 1173"/>
                <a:gd name="T7" fmla="*/ 2147483647 h 1472"/>
                <a:gd name="T8" fmla="*/ 2147483647 w 1173"/>
                <a:gd name="T9" fmla="*/ 2147483647 h 1472"/>
                <a:gd name="T10" fmla="*/ 2147483647 w 1173"/>
                <a:gd name="T11" fmla="*/ 2147483647 h 1472"/>
                <a:gd name="T12" fmla="*/ 0 w 1173"/>
                <a:gd name="T13" fmla="*/ 2147483647 h 1472"/>
                <a:gd name="T14" fmla="*/ 2147483647 w 1173"/>
                <a:gd name="T15" fmla="*/ 2147483647 h 1472"/>
                <a:gd name="T16" fmla="*/ 2147483647 w 1173"/>
                <a:gd name="T17" fmla="*/ 2147483647 h 1472"/>
                <a:gd name="T18" fmla="*/ 2147483647 w 1173"/>
                <a:gd name="T19" fmla="*/ 2147483647 h 1472"/>
                <a:gd name="T20" fmla="*/ 2147483647 w 1173"/>
                <a:gd name="T21" fmla="*/ 2147483647 h 1472"/>
                <a:gd name="T22" fmla="*/ 2147483647 w 1173"/>
                <a:gd name="T23" fmla="*/ 2147483647 h 1472"/>
                <a:gd name="T24" fmla="*/ 2147483647 w 1173"/>
                <a:gd name="T25" fmla="*/ 2147483647 h 1472"/>
                <a:gd name="T26" fmla="*/ 2147483647 w 1173"/>
                <a:gd name="T27" fmla="*/ 2147483647 h 1472"/>
                <a:gd name="T28" fmla="*/ 2147483647 w 1173"/>
                <a:gd name="T29" fmla="*/ 2147483647 h 147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173" h="1472">
                  <a:moveTo>
                    <a:pt x="1131" y="535"/>
                  </a:moveTo>
                  <a:lnTo>
                    <a:pt x="1095" y="47"/>
                  </a:lnTo>
                  <a:cubicBezTo>
                    <a:pt x="1090" y="47"/>
                    <a:pt x="1081" y="49"/>
                    <a:pt x="1067" y="54"/>
                  </a:cubicBezTo>
                  <a:cubicBezTo>
                    <a:pt x="1043" y="64"/>
                    <a:pt x="1022" y="68"/>
                    <a:pt x="1003" y="68"/>
                  </a:cubicBezTo>
                  <a:cubicBezTo>
                    <a:pt x="975" y="68"/>
                    <a:pt x="947" y="64"/>
                    <a:pt x="919" y="54"/>
                  </a:cubicBezTo>
                  <a:cubicBezTo>
                    <a:pt x="810" y="17"/>
                    <a:pt x="714" y="0"/>
                    <a:pt x="629" y="5"/>
                  </a:cubicBezTo>
                  <a:cubicBezTo>
                    <a:pt x="214" y="24"/>
                    <a:pt x="5" y="278"/>
                    <a:pt x="0" y="768"/>
                  </a:cubicBezTo>
                  <a:cubicBezTo>
                    <a:pt x="5" y="1225"/>
                    <a:pt x="219" y="1458"/>
                    <a:pt x="643" y="1467"/>
                  </a:cubicBezTo>
                  <a:cubicBezTo>
                    <a:pt x="912" y="1472"/>
                    <a:pt x="1088" y="1345"/>
                    <a:pt x="1173" y="1086"/>
                  </a:cubicBezTo>
                  <a:lnTo>
                    <a:pt x="1088" y="1036"/>
                  </a:lnTo>
                  <a:cubicBezTo>
                    <a:pt x="999" y="1258"/>
                    <a:pt x="867" y="1369"/>
                    <a:pt x="692" y="1369"/>
                  </a:cubicBezTo>
                  <a:cubicBezTo>
                    <a:pt x="424" y="1359"/>
                    <a:pt x="290" y="1145"/>
                    <a:pt x="290" y="725"/>
                  </a:cubicBezTo>
                  <a:cubicBezTo>
                    <a:pt x="290" y="316"/>
                    <a:pt x="408" y="108"/>
                    <a:pt x="643" y="104"/>
                  </a:cubicBezTo>
                  <a:cubicBezTo>
                    <a:pt x="827" y="94"/>
                    <a:pt x="961" y="250"/>
                    <a:pt x="1046" y="570"/>
                  </a:cubicBezTo>
                  <a:lnTo>
                    <a:pt x="1131" y="535"/>
                  </a:lnTo>
                  <a:close/>
                </a:path>
              </a:pathLst>
            </a:custGeom>
            <a:solidFill>
              <a:srgbClr val="FFFFFF"/>
            </a:solidFill>
            <a:ln w="9525">
              <a:noFill/>
              <a:round/>
            </a:ln>
          </p:spPr>
          <p:txBody>
            <a:bodyPr/>
            <a:lstStyle/>
            <a:p>
              <a:pPr>
                <a:defRPr/>
              </a:pPr>
              <a:endParaRPr lang="zh-CN" altLang="en-US" kern="0">
                <a:solidFill>
                  <a:sysClr val="windowText" lastClr="000000"/>
                </a:solidFill>
                <a:latin typeface="Arial" pitchFamily="34" charset="0"/>
                <a:ea typeface="宋体" pitchFamily="2" charset="-122"/>
              </a:endParaRPr>
            </a:p>
          </p:txBody>
        </p:sp>
      </p:grpSp>
      <p:grpSp>
        <p:nvGrpSpPr>
          <p:cNvPr id="76" name="组合 75">
            <a:extLst>
              <a:ext uri="{FF2B5EF4-FFF2-40B4-BE49-F238E27FC236}">
                <a16:creationId xmlns:a16="http://schemas.microsoft.com/office/drawing/2014/main" id="{79128F3D-440D-4735-B280-F8F3A95DBEF0}"/>
              </a:ext>
            </a:extLst>
          </p:cNvPr>
          <p:cNvGrpSpPr/>
          <p:nvPr userDrawn="1"/>
        </p:nvGrpSpPr>
        <p:grpSpPr>
          <a:xfrm>
            <a:off x="0" y="40018"/>
            <a:ext cx="12192000" cy="769441"/>
            <a:chOff x="0" y="40018"/>
            <a:chExt cx="12192000" cy="769441"/>
          </a:xfrm>
        </p:grpSpPr>
        <p:pic>
          <p:nvPicPr>
            <p:cNvPr id="77" name="图片 76">
              <a:extLst>
                <a:ext uri="{FF2B5EF4-FFF2-40B4-BE49-F238E27FC236}">
                  <a16:creationId xmlns:a16="http://schemas.microsoft.com/office/drawing/2014/main" id="{F7046826-E3C2-4516-8838-F6024486E91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34974" b="35069"/>
            <a:stretch>
              <a:fillRect/>
            </a:stretch>
          </p:blipFill>
          <p:spPr>
            <a:xfrm>
              <a:off x="9699602" y="171936"/>
              <a:ext cx="2336093" cy="505610"/>
            </a:xfrm>
            <a:prstGeom prst="rect">
              <a:avLst/>
            </a:prstGeom>
          </p:spPr>
        </p:pic>
        <p:sp>
          <p:nvSpPr>
            <p:cNvPr id="78" name="文本框 77">
              <a:extLst>
                <a:ext uri="{FF2B5EF4-FFF2-40B4-BE49-F238E27FC236}">
                  <a16:creationId xmlns:a16="http://schemas.microsoft.com/office/drawing/2014/main" id="{0E74CD5A-9833-45E4-9F7F-2C7811B867BE}"/>
                </a:ext>
              </a:extLst>
            </p:cNvPr>
            <p:cNvSpPr txBox="1"/>
            <p:nvPr userDrawn="1"/>
          </p:nvSpPr>
          <p:spPr>
            <a:xfrm>
              <a:off x="156305" y="40018"/>
              <a:ext cx="390766" cy="769441"/>
            </a:xfrm>
            <a:prstGeom prst="rect">
              <a:avLst/>
            </a:prstGeom>
            <a:noFill/>
          </p:spPr>
          <p:txBody>
            <a:bodyPr wrap="square" rtlCol="0">
              <a:spAutoFit/>
            </a:bodyPr>
            <a:lstStyle/>
            <a:p>
              <a:pPr algn="ctr"/>
              <a:r>
                <a:rPr lang="en-US" altLang="zh-CN" sz="4400" b="1" dirty="0">
                  <a:solidFill>
                    <a:schemeClr val="accent1">
                      <a:lumMod val="60000"/>
                      <a:lumOff val="40000"/>
                    </a:schemeClr>
                  </a:solidFill>
                </a:rPr>
                <a:t>C</a:t>
              </a:r>
              <a:endParaRPr lang="zh-CN" altLang="en-US" sz="800" dirty="0"/>
            </a:p>
          </p:txBody>
        </p:sp>
        <p:sp>
          <p:nvSpPr>
            <p:cNvPr id="79" name="文本框 78">
              <a:extLst>
                <a:ext uri="{FF2B5EF4-FFF2-40B4-BE49-F238E27FC236}">
                  <a16:creationId xmlns:a16="http://schemas.microsoft.com/office/drawing/2014/main" id="{B7D8D081-8C72-41AC-BA3C-DA4104B63229}"/>
                </a:ext>
              </a:extLst>
            </p:cNvPr>
            <p:cNvSpPr txBox="1"/>
            <p:nvPr userDrawn="1"/>
          </p:nvSpPr>
          <p:spPr>
            <a:xfrm>
              <a:off x="242277" y="270851"/>
              <a:ext cx="1320800" cy="307777"/>
            </a:xfrm>
            <a:prstGeom prst="rect">
              <a:avLst/>
            </a:prstGeom>
            <a:noFill/>
          </p:spPr>
          <p:txBody>
            <a:bodyPr wrap="square" rtlCol="0">
              <a:spAutoFit/>
            </a:bodyPr>
            <a:lstStyle/>
            <a:p>
              <a:r>
                <a:rPr lang="en-US" altLang="zh-CN" sz="1400" b="1" dirty="0">
                  <a:solidFill>
                    <a:schemeClr val="accent1">
                      <a:lumMod val="60000"/>
                      <a:lumOff val="40000"/>
                    </a:schemeClr>
                  </a:solidFill>
                </a:rPr>
                <a:t>Programming</a:t>
              </a:r>
              <a:endParaRPr lang="zh-CN" altLang="en-US" sz="1400" dirty="0"/>
            </a:p>
          </p:txBody>
        </p:sp>
        <p:grpSp>
          <p:nvGrpSpPr>
            <p:cNvPr id="80" name="组合 79">
              <a:extLst>
                <a:ext uri="{FF2B5EF4-FFF2-40B4-BE49-F238E27FC236}">
                  <a16:creationId xmlns:a16="http://schemas.microsoft.com/office/drawing/2014/main" id="{277687D0-C680-4AA6-AE98-5639F0C50311}"/>
                </a:ext>
              </a:extLst>
            </p:cNvPr>
            <p:cNvGrpSpPr/>
            <p:nvPr userDrawn="1"/>
          </p:nvGrpSpPr>
          <p:grpSpPr>
            <a:xfrm>
              <a:off x="0" y="140358"/>
              <a:ext cx="12192000" cy="573208"/>
              <a:chOff x="-750454" y="3752299"/>
              <a:chExt cx="12201236" cy="573208"/>
            </a:xfrm>
          </p:grpSpPr>
          <p:sp>
            <p:nvSpPr>
              <p:cNvPr id="81" name="平行四边形 80">
                <a:extLst>
                  <a:ext uri="{FF2B5EF4-FFF2-40B4-BE49-F238E27FC236}">
                    <a16:creationId xmlns:a16="http://schemas.microsoft.com/office/drawing/2014/main" id="{999CB817-D56E-488F-9D87-F9D19470D6AE}"/>
                  </a:ext>
                </a:extLst>
              </p:cNvPr>
              <p:cNvSpPr/>
              <p:nvPr userDrawn="1"/>
            </p:nvSpPr>
            <p:spPr>
              <a:xfrm>
                <a:off x="7860146" y="3753689"/>
                <a:ext cx="828964" cy="571818"/>
              </a:xfrm>
              <a:prstGeom prst="parallelogram">
                <a:avLst>
                  <a:gd name="adj" fmla="val 100414"/>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平行四边形 81">
                <a:extLst>
                  <a:ext uri="{FF2B5EF4-FFF2-40B4-BE49-F238E27FC236}">
                    <a16:creationId xmlns:a16="http://schemas.microsoft.com/office/drawing/2014/main" id="{352F10E6-4A02-4A03-A65F-57545BCD6B65}"/>
                  </a:ext>
                </a:extLst>
              </p:cNvPr>
              <p:cNvSpPr/>
              <p:nvPr userDrawn="1"/>
            </p:nvSpPr>
            <p:spPr>
              <a:xfrm>
                <a:off x="8191518" y="3752299"/>
                <a:ext cx="828964" cy="571818"/>
              </a:xfrm>
              <a:prstGeom prst="parallelogram">
                <a:avLst>
                  <a:gd name="adj" fmla="val 100414"/>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矩形 82">
                <a:extLst>
                  <a:ext uri="{FF2B5EF4-FFF2-40B4-BE49-F238E27FC236}">
                    <a16:creationId xmlns:a16="http://schemas.microsoft.com/office/drawing/2014/main" id="{075B0E75-A6C6-4B7F-A0F1-380D72D98050}"/>
                  </a:ext>
                </a:extLst>
              </p:cNvPr>
              <p:cNvSpPr/>
              <p:nvPr userDrawn="1"/>
            </p:nvSpPr>
            <p:spPr>
              <a:xfrm flipV="1">
                <a:off x="-750454" y="4289506"/>
                <a:ext cx="8856000" cy="36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矩形 83">
                <a:extLst>
                  <a:ext uri="{FF2B5EF4-FFF2-40B4-BE49-F238E27FC236}">
                    <a16:creationId xmlns:a16="http://schemas.microsoft.com/office/drawing/2014/main" id="{4632218C-DACA-4F71-8571-397435439B21}"/>
                  </a:ext>
                </a:extLst>
              </p:cNvPr>
              <p:cNvSpPr/>
              <p:nvPr userDrawn="1"/>
            </p:nvSpPr>
            <p:spPr>
              <a:xfrm flipV="1">
                <a:off x="8750782" y="3753688"/>
                <a:ext cx="2700000" cy="36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364983575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5BC089EC-55AC-4306-ABB4-631B2FCECEE5}"/>
              </a:ext>
            </a:extLst>
          </p:cNvPr>
          <p:cNvSpPr>
            <a:spLocks noChangeArrowheads="1"/>
          </p:cNvSpPr>
          <p:nvPr userDrawn="1"/>
        </p:nvSpPr>
        <p:spPr bwMode="auto">
          <a:xfrm>
            <a:off x="2650274" y="1556659"/>
            <a:ext cx="6891452" cy="2816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spcBef>
                <a:spcPts val="1800"/>
              </a:spcBef>
            </a:pPr>
            <a:r>
              <a:rPr lang="en-US" altLang="zh-CN" sz="5400" b="1" dirty="0">
                <a:solidFill>
                  <a:srgbClr val="FF0000"/>
                </a:solidFill>
                <a:latin typeface="微软雅黑" pitchFamily="34" charset="-122"/>
                <a:ea typeface="微软雅黑" pitchFamily="34" charset="-122"/>
              </a:rPr>
              <a:t>Question</a:t>
            </a:r>
            <a:r>
              <a:rPr lang="zh-CN" altLang="en-US" sz="5400" b="1" dirty="0">
                <a:solidFill>
                  <a:srgbClr val="FF0000"/>
                </a:solidFill>
                <a:latin typeface="微软雅黑" pitchFamily="34" charset="-122"/>
                <a:ea typeface="微软雅黑" pitchFamily="34" charset="-122"/>
              </a:rPr>
              <a:t>？</a:t>
            </a:r>
            <a:endParaRPr lang="en-US" altLang="zh-CN" sz="5400" b="1" dirty="0">
              <a:solidFill>
                <a:srgbClr val="FF0000"/>
              </a:solidFill>
              <a:latin typeface="微软雅黑" pitchFamily="34" charset="-122"/>
              <a:ea typeface="微软雅黑" pitchFamily="34" charset="-122"/>
            </a:endParaRPr>
          </a:p>
          <a:p>
            <a:pPr algn="just">
              <a:spcBef>
                <a:spcPts val="1800"/>
              </a:spcBef>
            </a:pPr>
            <a:r>
              <a:rPr lang="zh-CN" altLang="en-US" sz="5400" b="1" dirty="0">
                <a:solidFill>
                  <a:srgbClr val="FF0000"/>
                </a:solidFill>
                <a:latin typeface="微软雅黑" pitchFamily="34" charset="-122"/>
                <a:ea typeface="微软雅黑" pitchFamily="34" charset="-122"/>
              </a:rPr>
              <a:t>请在班级</a:t>
            </a:r>
            <a:r>
              <a:rPr lang="en-US" altLang="zh-CN" sz="5400" b="1" dirty="0">
                <a:solidFill>
                  <a:srgbClr val="FF0000"/>
                </a:solidFill>
                <a:latin typeface="微软雅黑" pitchFamily="34" charset="-122"/>
                <a:ea typeface="微软雅黑" pitchFamily="34" charset="-122"/>
              </a:rPr>
              <a:t>QQ</a:t>
            </a:r>
            <a:r>
              <a:rPr lang="zh-CN" altLang="en-US" sz="5400" b="1" dirty="0">
                <a:solidFill>
                  <a:srgbClr val="FF0000"/>
                </a:solidFill>
                <a:latin typeface="微软雅黑" pitchFamily="34" charset="-122"/>
                <a:ea typeface="微软雅黑" pitchFamily="34" charset="-122"/>
              </a:rPr>
              <a:t>群或在上机过程中进行提问吧！</a:t>
            </a:r>
            <a:endParaRPr lang="en-US" altLang="zh-CN" sz="5400" b="1" dirty="0">
              <a:solidFill>
                <a:srgbClr val="FF0000"/>
              </a:solidFill>
              <a:latin typeface="微软雅黑" pitchFamily="34" charset="-122"/>
              <a:ea typeface="微软雅黑" pitchFamily="34" charset="-122"/>
            </a:endParaRPr>
          </a:p>
        </p:txBody>
      </p:sp>
      <p:grpSp>
        <p:nvGrpSpPr>
          <p:cNvPr id="4" name="组合 3">
            <a:extLst>
              <a:ext uri="{FF2B5EF4-FFF2-40B4-BE49-F238E27FC236}">
                <a16:creationId xmlns:a16="http://schemas.microsoft.com/office/drawing/2014/main" id="{78A572C4-B2D1-490F-99D9-054A5FA5FCD6}"/>
              </a:ext>
            </a:extLst>
          </p:cNvPr>
          <p:cNvGrpSpPr/>
          <p:nvPr userDrawn="1"/>
        </p:nvGrpSpPr>
        <p:grpSpPr>
          <a:xfrm>
            <a:off x="0" y="40018"/>
            <a:ext cx="12192000" cy="769441"/>
            <a:chOff x="0" y="40018"/>
            <a:chExt cx="12192000" cy="769441"/>
          </a:xfrm>
        </p:grpSpPr>
        <p:pic>
          <p:nvPicPr>
            <p:cNvPr id="5" name="图片 4">
              <a:extLst>
                <a:ext uri="{FF2B5EF4-FFF2-40B4-BE49-F238E27FC236}">
                  <a16:creationId xmlns:a16="http://schemas.microsoft.com/office/drawing/2014/main" id="{52404D27-433D-4218-8491-72B29BA071A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34974" b="35069"/>
            <a:stretch>
              <a:fillRect/>
            </a:stretch>
          </p:blipFill>
          <p:spPr>
            <a:xfrm>
              <a:off x="9699602" y="171936"/>
              <a:ext cx="2336093" cy="505610"/>
            </a:xfrm>
            <a:prstGeom prst="rect">
              <a:avLst/>
            </a:prstGeom>
          </p:spPr>
        </p:pic>
        <p:sp>
          <p:nvSpPr>
            <p:cNvPr id="6" name="文本框 5">
              <a:extLst>
                <a:ext uri="{FF2B5EF4-FFF2-40B4-BE49-F238E27FC236}">
                  <a16:creationId xmlns:a16="http://schemas.microsoft.com/office/drawing/2014/main" id="{06202126-DDD4-4338-BB92-B0FB20218310}"/>
                </a:ext>
              </a:extLst>
            </p:cNvPr>
            <p:cNvSpPr txBox="1"/>
            <p:nvPr userDrawn="1"/>
          </p:nvSpPr>
          <p:spPr>
            <a:xfrm>
              <a:off x="156305" y="40018"/>
              <a:ext cx="390766" cy="769441"/>
            </a:xfrm>
            <a:prstGeom prst="rect">
              <a:avLst/>
            </a:prstGeom>
            <a:noFill/>
          </p:spPr>
          <p:txBody>
            <a:bodyPr wrap="square" rtlCol="0">
              <a:spAutoFit/>
            </a:bodyPr>
            <a:lstStyle/>
            <a:p>
              <a:pPr algn="ctr"/>
              <a:r>
                <a:rPr lang="en-US" altLang="zh-CN" sz="4400" b="1" dirty="0">
                  <a:solidFill>
                    <a:schemeClr val="accent1">
                      <a:lumMod val="60000"/>
                      <a:lumOff val="40000"/>
                    </a:schemeClr>
                  </a:solidFill>
                </a:rPr>
                <a:t>C</a:t>
              </a:r>
              <a:endParaRPr lang="zh-CN" altLang="en-US" sz="800" dirty="0"/>
            </a:p>
          </p:txBody>
        </p:sp>
        <p:sp>
          <p:nvSpPr>
            <p:cNvPr id="7" name="文本框 6">
              <a:extLst>
                <a:ext uri="{FF2B5EF4-FFF2-40B4-BE49-F238E27FC236}">
                  <a16:creationId xmlns:a16="http://schemas.microsoft.com/office/drawing/2014/main" id="{6EBC7994-DE28-4614-BBB3-1258C611821D}"/>
                </a:ext>
              </a:extLst>
            </p:cNvPr>
            <p:cNvSpPr txBox="1"/>
            <p:nvPr userDrawn="1"/>
          </p:nvSpPr>
          <p:spPr>
            <a:xfrm>
              <a:off x="242277" y="270851"/>
              <a:ext cx="1320800" cy="307777"/>
            </a:xfrm>
            <a:prstGeom prst="rect">
              <a:avLst/>
            </a:prstGeom>
            <a:noFill/>
          </p:spPr>
          <p:txBody>
            <a:bodyPr wrap="square" rtlCol="0">
              <a:spAutoFit/>
            </a:bodyPr>
            <a:lstStyle/>
            <a:p>
              <a:r>
                <a:rPr lang="en-US" altLang="zh-CN" sz="1400" b="1" dirty="0">
                  <a:solidFill>
                    <a:schemeClr val="accent1">
                      <a:lumMod val="60000"/>
                      <a:lumOff val="40000"/>
                    </a:schemeClr>
                  </a:solidFill>
                </a:rPr>
                <a:t>Programming</a:t>
              </a:r>
              <a:endParaRPr lang="zh-CN" altLang="en-US" sz="1400" dirty="0"/>
            </a:p>
          </p:txBody>
        </p:sp>
        <p:grpSp>
          <p:nvGrpSpPr>
            <p:cNvPr id="8" name="组合 7">
              <a:extLst>
                <a:ext uri="{FF2B5EF4-FFF2-40B4-BE49-F238E27FC236}">
                  <a16:creationId xmlns:a16="http://schemas.microsoft.com/office/drawing/2014/main" id="{79DE37F0-6BDA-4DC2-9F0F-06B7C60DCC0F}"/>
                </a:ext>
              </a:extLst>
            </p:cNvPr>
            <p:cNvGrpSpPr/>
            <p:nvPr userDrawn="1"/>
          </p:nvGrpSpPr>
          <p:grpSpPr>
            <a:xfrm>
              <a:off x="0" y="140358"/>
              <a:ext cx="12192000" cy="573208"/>
              <a:chOff x="-750454" y="3752299"/>
              <a:chExt cx="12201236" cy="573208"/>
            </a:xfrm>
          </p:grpSpPr>
          <p:sp>
            <p:nvSpPr>
              <p:cNvPr id="9" name="平行四边形 8">
                <a:extLst>
                  <a:ext uri="{FF2B5EF4-FFF2-40B4-BE49-F238E27FC236}">
                    <a16:creationId xmlns:a16="http://schemas.microsoft.com/office/drawing/2014/main" id="{8FDA44E1-7425-41B0-ACE1-F3183CE75CBE}"/>
                  </a:ext>
                </a:extLst>
              </p:cNvPr>
              <p:cNvSpPr/>
              <p:nvPr userDrawn="1"/>
            </p:nvSpPr>
            <p:spPr>
              <a:xfrm>
                <a:off x="7860146" y="3753689"/>
                <a:ext cx="828964" cy="571818"/>
              </a:xfrm>
              <a:prstGeom prst="parallelogram">
                <a:avLst>
                  <a:gd name="adj" fmla="val 100414"/>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平行四边形 9">
                <a:extLst>
                  <a:ext uri="{FF2B5EF4-FFF2-40B4-BE49-F238E27FC236}">
                    <a16:creationId xmlns:a16="http://schemas.microsoft.com/office/drawing/2014/main" id="{D92A7CFB-5C2D-4471-9617-5814B155CB7F}"/>
                  </a:ext>
                </a:extLst>
              </p:cNvPr>
              <p:cNvSpPr/>
              <p:nvPr userDrawn="1"/>
            </p:nvSpPr>
            <p:spPr>
              <a:xfrm>
                <a:off x="8191518" y="3752299"/>
                <a:ext cx="828964" cy="571818"/>
              </a:xfrm>
              <a:prstGeom prst="parallelogram">
                <a:avLst>
                  <a:gd name="adj" fmla="val 100414"/>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DDD1E91A-2138-4239-8CDD-3DAEEDA7E6A5}"/>
                  </a:ext>
                </a:extLst>
              </p:cNvPr>
              <p:cNvSpPr/>
              <p:nvPr userDrawn="1"/>
            </p:nvSpPr>
            <p:spPr>
              <a:xfrm flipV="1">
                <a:off x="-750454" y="4289506"/>
                <a:ext cx="8856000" cy="36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02538672-7F3C-4866-B5C4-959756C63A35}"/>
                  </a:ext>
                </a:extLst>
              </p:cNvPr>
              <p:cNvSpPr/>
              <p:nvPr userDrawn="1"/>
            </p:nvSpPr>
            <p:spPr>
              <a:xfrm flipV="1">
                <a:off x="8750782" y="3753688"/>
                <a:ext cx="2700000" cy="36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2832127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slideLayout" Target="../slideLayouts/slideLayout18.xml"/><Relationship Id="rId1" Type="http://schemas.openxmlformats.org/officeDocument/2006/relationships/slideLayout" Target="../slideLayouts/slideLayout17.xml"/><Relationship Id="rId5" Type="http://schemas.openxmlformats.org/officeDocument/2006/relationships/image" Target="../media/image1.png"/><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8">
            <a:lum/>
          </a:blip>
          <a:srcRect/>
          <a:stretch>
            <a:fillRect t="-2000" b="-2000"/>
          </a:stretch>
        </a:blipFill>
        <a:effectLst/>
      </p:bgPr>
    </p:bg>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AA906814-CB77-42CE-8722-740E4FA37C6F}"/>
              </a:ext>
            </a:extLst>
          </p:cNvPr>
          <p:cNvSpPr/>
          <p:nvPr userDrawn="1"/>
        </p:nvSpPr>
        <p:spPr>
          <a:xfrm rot="5400000">
            <a:off x="5731669" y="397669"/>
            <a:ext cx="728662" cy="12192001"/>
          </a:xfrm>
          <a:prstGeom prst="rect">
            <a:avLst/>
          </a:prstGeom>
          <a:gradFill>
            <a:gsLst>
              <a:gs pos="100000">
                <a:srgbClr val="00A3FF">
                  <a:alpha val="0"/>
                </a:srgbClr>
              </a:gs>
              <a:gs pos="0">
                <a:srgbClr val="00A3FF">
                  <a:alpha val="30000"/>
                </a:srgbClr>
              </a:gs>
            </a:gsLst>
            <a:lin ang="108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等线"/>
              <a:ea typeface="等线" panose="02010600030101010101" pitchFamily="2" charset="-122"/>
              <a:cs typeface="+mn-cs"/>
            </a:endParaRPr>
          </a:p>
        </p:txBody>
      </p:sp>
      <p:sp>
        <p:nvSpPr>
          <p:cNvPr id="2" name="标题占位符 1">
            <a:extLst>
              <a:ext uri="{FF2B5EF4-FFF2-40B4-BE49-F238E27FC236}">
                <a16:creationId xmlns:a16="http://schemas.microsoft.com/office/drawing/2014/main" id="{2EDEA523-30CE-4428-B8A6-CB0C805CD447}"/>
              </a:ext>
            </a:extLst>
          </p:cNvPr>
          <p:cNvSpPr>
            <a:spLocks noGrp="1"/>
          </p:cNvSpPr>
          <p:nvPr>
            <p:ph type="title"/>
          </p:nvPr>
        </p:nvSpPr>
        <p:spPr>
          <a:xfrm>
            <a:off x="838200" y="809458"/>
            <a:ext cx="10515600" cy="881229"/>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9C40EFF2-3741-4E9F-9032-7BBA076E8B6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a:extLst>
              <a:ext uri="{FF2B5EF4-FFF2-40B4-BE49-F238E27FC236}">
                <a16:creationId xmlns:a16="http://schemas.microsoft.com/office/drawing/2014/main" id="{AC8001F3-2526-4AFF-AFF5-E4CAF95025E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E437DD-E84C-4F68-86F2-26AE75C8CB7F}" type="datetime1">
              <a:rPr lang="zh-CN" altLang="en-US" smtClean="0"/>
              <a:t>2023/5/2</a:t>
            </a:fld>
            <a:endParaRPr lang="zh-CN" altLang="en-US"/>
          </a:p>
        </p:txBody>
      </p:sp>
      <p:sp>
        <p:nvSpPr>
          <p:cNvPr id="9" name="页脚占位符 8">
            <a:extLst>
              <a:ext uri="{FF2B5EF4-FFF2-40B4-BE49-F238E27FC236}">
                <a16:creationId xmlns:a16="http://schemas.microsoft.com/office/drawing/2014/main" id="{87446182-0BAA-4592-A192-58B1F27662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12" name="矩形 11">
            <a:extLst>
              <a:ext uri="{FF2B5EF4-FFF2-40B4-BE49-F238E27FC236}">
                <a16:creationId xmlns:a16="http://schemas.microsoft.com/office/drawing/2014/main" id="{5ACF6331-42CF-49B5-93BA-B5EACB963342}"/>
              </a:ext>
            </a:extLst>
          </p:cNvPr>
          <p:cNvSpPr/>
          <p:nvPr userDrawn="1"/>
        </p:nvSpPr>
        <p:spPr>
          <a:xfrm rot="16200000">
            <a:off x="5645524" y="-5645523"/>
            <a:ext cx="900954" cy="12192001"/>
          </a:xfrm>
          <a:prstGeom prst="rect">
            <a:avLst/>
          </a:prstGeom>
          <a:gradFill>
            <a:gsLst>
              <a:gs pos="100000">
                <a:srgbClr val="00A3FF">
                  <a:alpha val="0"/>
                </a:srgbClr>
              </a:gs>
              <a:gs pos="0">
                <a:srgbClr val="00A3FF">
                  <a:alpha val="30000"/>
                </a:srgbClr>
              </a:gs>
            </a:gsLst>
            <a:lin ang="108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等线"/>
              <a:ea typeface="等线" panose="02010600030101010101" pitchFamily="2" charset="-122"/>
              <a:cs typeface="+mn-cs"/>
            </a:endParaRPr>
          </a:p>
        </p:txBody>
      </p:sp>
      <p:pic>
        <p:nvPicPr>
          <p:cNvPr id="7" name="图片 6">
            <a:extLst>
              <a:ext uri="{FF2B5EF4-FFF2-40B4-BE49-F238E27FC236}">
                <a16:creationId xmlns:a16="http://schemas.microsoft.com/office/drawing/2014/main" id="{991EA361-28EE-45BA-A8A0-3F4170BADBDF}"/>
              </a:ext>
            </a:extLst>
          </p:cNvPr>
          <p:cNvPicPr>
            <a:picLocks noChangeAspect="1"/>
          </p:cNvPicPr>
          <p:nvPr userDrawn="1"/>
        </p:nvPicPr>
        <p:blipFill rotWithShape="1">
          <a:blip r:embed="rId19" cstate="print">
            <a:extLst>
              <a:ext uri="{28A0092B-C50C-407E-A947-70E740481C1C}">
                <a14:useLocalDpi xmlns:a14="http://schemas.microsoft.com/office/drawing/2010/main" val="0"/>
              </a:ext>
            </a:extLst>
          </a:blip>
          <a:srcRect t="34974" b="35069"/>
          <a:stretch>
            <a:fillRect/>
          </a:stretch>
        </p:blipFill>
        <p:spPr>
          <a:xfrm>
            <a:off x="9855179" y="57631"/>
            <a:ext cx="2336093" cy="505610"/>
          </a:xfrm>
          <a:prstGeom prst="rect">
            <a:avLst/>
          </a:prstGeom>
        </p:spPr>
      </p:pic>
      <p:grpSp>
        <p:nvGrpSpPr>
          <p:cNvPr id="8" name="组合 7">
            <a:extLst>
              <a:ext uri="{FF2B5EF4-FFF2-40B4-BE49-F238E27FC236}">
                <a16:creationId xmlns:a16="http://schemas.microsoft.com/office/drawing/2014/main" id="{360550CF-5A5D-47B3-B03B-2FEFB8B51D5E}"/>
              </a:ext>
            </a:extLst>
          </p:cNvPr>
          <p:cNvGrpSpPr/>
          <p:nvPr userDrawn="1"/>
        </p:nvGrpSpPr>
        <p:grpSpPr>
          <a:xfrm>
            <a:off x="7928358" y="-129504"/>
            <a:ext cx="1406772" cy="769441"/>
            <a:chOff x="156305" y="40018"/>
            <a:chExt cx="1406772" cy="769441"/>
          </a:xfrm>
        </p:grpSpPr>
        <p:sp>
          <p:nvSpPr>
            <p:cNvPr id="10" name="文本框 9">
              <a:extLst>
                <a:ext uri="{FF2B5EF4-FFF2-40B4-BE49-F238E27FC236}">
                  <a16:creationId xmlns:a16="http://schemas.microsoft.com/office/drawing/2014/main" id="{C5EE19C7-A1F4-46A3-92CF-BFD9C4E79590}"/>
                </a:ext>
              </a:extLst>
            </p:cNvPr>
            <p:cNvSpPr txBox="1"/>
            <p:nvPr userDrawn="1"/>
          </p:nvSpPr>
          <p:spPr>
            <a:xfrm>
              <a:off x="156305" y="40018"/>
              <a:ext cx="390766" cy="769441"/>
            </a:xfrm>
            <a:prstGeom prst="rect">
              <a:avLst/>
            </a:prstGeom>
            <a:noFill/>
          </p:spPr>
          <p:txBody>
            <a:bodyPr wrap="square" rtlCol="0">
              <a:spAutoFit/>
            </a:bodyPr>
            <a:lstStyle/>
            <a:p>
              <a:pPr algn="ctr"/>
              <a:r>
                <a:rPr lang="en-US" altLang="zh-CN" sz="4400" b="1" dirty="0">
                  <a:solidFill>
                    <a:schemeClr val="accent1">
                      <a:lumMod val="60000"/>
                      <a:lumOff val="40000"/>
                    </a:schemeClr>
                  </a:solidFill>
                </a:rPr>
                <a:t>C</a:t>
              </a:r>
              <a:endParaRPr lang="zh-CN" altLang="en-US" sz="800" dirty="0"/>
            </a:p>
          </p:txBody>
        </p:sp>
        <p:sp>
          <p:nvSpPr>
            <p:cNvPr id="11" name="文本框 10">
              <a:extLst>
                <a:ext uri="{FF2B5EF4-FFF2-40B4-BE49-F238E27FC236}">
                  <a16:creationId xmlns:a16="http://schemas.microsoft.com/office/drawing/2014/main" id="{03C31597-CB30-47B3-A5E3-96B442662F67}"/>
                </a:ext>
              </a:extLst>
            </p:cNvPr>
            <p:cNvSpPr txBox="1"/>
            <p:nvPr userDrawn="1"/>
          </p:nvSpPr>
          <p:spPr>
            <a:xfrm>
              <a:off x="242277" y="270851"/>
              <a:ext cx="1320800" cy="307777"/>
            </a:xfrm>
            <a:prstGeom prst="rect">
              <a:avLst/>
            </a:prstGeom>
            <a:noFill/>
          </p:spPr>
          <p:txBody>
            <a:bodyPr wrap="square" rtlCol="0">
              <a:spAutoFit/>
            </a:bodyPr>
            <a:lstStyle/>
            <a:p>
              <a:r>
                <a:rPr lang="en-US" altLang="zh-CN" sz="1400" b="1" dirty="0">
                  <a:solidFill>
                    <a:schemeClr val="accent1">
                      <a:lumMod val="60000"/>
                      <a:lumOff val="40000"/>
                    </a:schemeClr>
                  </a:solidFill>
                </a:rPr>
                <a:t>Programming</a:t>
              </a:r>
              <a:endParaRPr lang="zh-CN" altLang="en-US" sz="1400" dirty="0"/>
            </a:p>
          </p:txBody>
        </p:sp>
      </p:grpSp>
      <p:grpSp>
        <p:nvGrpSpPr>
          <p:cNvPr id="21" name="组合 20">
            <a:extLst>
              <a:ext uri="{FF2B5EF4-FFF2-40B4-BE49-F238E27FC236}">
                <a16:creationId xmlns:a16="http://schemas.microsoft.com/office/drawing/2014/main" id="{377E9160-0818-4167-A9C5-1B3144D9006A}"/>
              </a:ext>
            </a:extLst>
          </p:cNvPr>
          <p:cNvGrpSpPr/>
          <p:nvPr userDrawn="1"/>
        </p:nvGrpSpPr>
        <p:grpSpPr>
          <a:xfrm>
            <a:off x="0" y="-1130"/>
            <a:ext cx="12192000" cy="573408"/>
            <a:chOff x="-750454" y="3752099"/>
            <a:chExt cx="12201236" cy="573408"/>
          </a:xfrm>
        </p:grpSpPr>
        <p:sp>
          <p:nvSpPr>
            <p:cNvPr id="17" name="平行四边形 16">
              <a:extLst>
                <a:ext uri="{FF2B5EF4-FFF2-40B4-BE49-F238E27FC236}">
                  <a16:creationId xmlns:a16="http://schemas.microsoft.com/office/drawing/2014/main" id="{E5C0772E-2BDB-46E3-BBF3-98B56199E3AA}"/>
                </a:ext>
              </a:extLst>
            </p:cNvPr>
            <p:cNvSpPr/>
            <p:nvPr userDrawn="1"/>
          </p:nvSpPr>
          <p:spPr>
            <a:xfrm>
              <a:off x="8263686" y="3753689"/>
              <a:ext cx="828964" cy="571818"/>
            </a:xfrm>
            <a:prstGeom prst="parallelogram">
              <a:avLst>
                <a:gd name="adj" fmla="val 100414"/>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平行四边形 17">
              <a:extLst>
                <a:ext uri="{FF2B5EF4-FFF2-40B4-BE49-F238E27FC236}">
                  <a16:creationId xmlns:a16="http://schemas.microsoft.com/office/drawing/2014/main" id="{9DD3C377-F1A7-48D3-AE26-705C40158D01}"/>
                </a:ext>
              </a:extLst>
            </p:cNvPr>
            <p:cNvSpPr/>
            <p:nvPr userDrawn="1"/>
          </p:nvSpPr>
          <p:spPr>
            <a:xfrm>
              <a:off x="8599828" y="3752299"/>
              <a:ext cx="828964" cy="571818"/>
            </a:xfrm>
            <a:prstGeom prst="parallelogram">
              <a:avLst>
                <a:gd name="adj" fmla="val 100414"/>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a:extLst>
                <a:ext uri="{FF2B5EF4-FFF2-40B4-BE49-F238E27FC236}">
                  <a16:creationId xmlns:a16="http://schemas.microsoft.com/office/drawing/2014/main" id="{FD5F80F0-A7FB-45D8-A02F-17A28AEF4443}"/>
                </a:ext>
              </a:extLst>
            </p:cNvPr>
            <p:cNvSpPr/>
            <p:nvPr userDrawn="1"/>
          </p:nvSpPr>
          <p:spPr>
            <a:xfrm flipV="1">
              <a:off x="-750454" y="4278389"/>
              <a:ext cx="9273258"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a:extLst>
                <a:ext uri="{FF2B5EF4-FFF2-40B4-BE49-F238E27FC236}">
                  <a16:creationId xmlns:a16="http://schemas.microsoft.com/office/drawing/2014/main" id="{30C81418-DA7F-4965-A6CC-440B3B40C695}"/>
                </a:ext>
              </a:extLst>
            </p:cNvPr>
            <p:cNvSpPr/>
            <p:nvPr userDrawn="1"/>
          </p:nvSpPr>
          <p:spPr>
            <a:xfrm flipV="1">
              <a:off x="9183392" y="3752099"/>
              <a:ext cx="226739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灯片编号占位符 5">
            <a:extLst>
              <a:ext uri="{FF2B5EF4-FFF2-40B4-BE49-F238E27FC236}">
                <a16:creationId xmlns:a16="http://schemas.microsoft.com/office/drawing/2014/main" id="{3558F14C-64CB-4F88-AFF8-AB0B4D90A2A7}"/>
              </a:ext>
            </a:extLst>
          </p:cNvPr>
          <p:cNvSpPr>
            <a:spLocks noGrp="1"/>
          </p:cNvSpPr>
          <p:nvPr userDrawn="1">
            <p:ph type="sldNum" sz="quarter" idx="4"/>
          </p:nvPr>
        </p:nvSpPr>
        <p:spPr>
          <a:xfrm>
            <a:off x="9448800" y="6499225"/>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FA56C3F-F0F5-411B-954C-A2CFDC009DCE}" type="slidenum">
              <a:rPr lang="zh-CN" altLang="en-US" smtClean="0">
                <a:solidFill>
                  <a:prstClr val="black">
                    <a:tint val="75000"/>
                  </a:prstClr>
                </a:solidFill>
              </a:rPr>
              <a:pPr/>
              <a:t>‹#›</a:t>
            </a:fld>
            <a:r>
              <a:rPr lang="en-US" altLang="zh-CN" dirty="0">
                <a:solidFill>
                  <a:prstClr val="black">
                    <a:tint val="75000"/>
                  </a:prstClr>
                </a:solidFill>
              </a:rPr>
              <a:t>/20</a:t>
            </a:r>
            <a:endParaRPr lang="zh-CN" altLang="en-US" dirty="0"/>
          </a:p>
        </p:txBody>
      </p:sp>
    </p:spTree>
    <p:extLst>
      <p:ext uri="{BB962C8B-B14F-4D97-AF65-F5344CB8AC3E}">
        <p14:creationId xmlns:p14="http://schemas.microsoft.com/office/powerpoint/2010/main" val="171009755"/>
      </p:ext>
    </p:extLst>
  </p:cSld>
  <p:clrMap bg1="lt1" tx1="dk1" bg2="lt2" tx2="dk2" accent1="accent1" accent2="accent2" accent3="accent3" accent4="accent4" accent5="accent5" accent6="accent6" hlink="hlink" folHlink="folHlink"/>
  <p:sldLayoutIdLst>
    <p:sldLayoutId id="2147483655" r:id="rId1"/>
    <p:sldLayoutId id="2147483660" r:id="rId2"/>
    <p:sldLayoutId id="2147483702" r:id="rId3"/>
    <p:sldLayoutId id="2147483703" r:id="rId4"/>
    <p:sldLayoutId id="2147483704" r:id="rId5"/>
    <p:sldLayoutId id="2147483705" r:id="rId6"/>
    <p:sldLayoutId id="2147483649" r:id="rId7"/>
    <p:sldLayoutId id="2147483650" r:id="rId8"/>
    <p:sldLayoutId id="2147483651" r:id="rId9"/>
    <p:sldLayoutId id="2147483652" r:id="rId10"/>
    <p:sldLayoutId id="2147483653" r:id="rId11"/>
    <p:sldLayoutId id="2147483654" r:id="rId12"/>
    <p:sldLayoutId id="2147483656" r:id="rId13"/>
    <p:sldLayoutId id="2147483657" r:id="rId14"/>
    <p:sldLayoutId id="2147483658" r:id="rId15"/>
    <p:sldLayoutId id="2147483659" r:id="rId16"/>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5">
            <a:lum/>
          </a:blip>
          <a:srcRect/>
          <a:stretch>
            <a:fillRect t="-2000" b="-2000"/>
          </a:stretch>
        </a:blipFill>
        <a:effectLst/>
      </p:bgPr>
    </p:bg>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5ACF6331-42CF-49B5-93BA-B5EACB963342}"/>
              </a:ext>
            </a:extLst>
          </p:cNvPr>
          <p:cNvSpPr/>
          <p:nvPr userDrawn="1"/>
        </p:nvSpPr>
        <p:spPr>
          <a:xfrm rot="16200000">
            <a:off x="5645523" y="-5645523"/>
            <a:ext cx="900954" cy="12192001"/>
          </a:xfrm>
          <a:prstGeom prst="rect">
            <a:avLst/>
          </a:prstGeom>
          <a:gradFill>
            <a:gsLst>
              <a:gs pos="100000">
                <a:srgbClr val="00A3FF">
                  <a:alpha val="0"/>
                </a:srgbClr>
              </a:gs>
              <a:gs pos="0">
                <a:srgbClr val="00A3FF">
                  <a:alpha val="30000"/>
                </a:srgbClr>
              </a:gs>
            </a:gsLst>
            <a:lin ang="108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等线"/>
              <a:ea typeface="等线" panose="02010600030101010101" pitchFamily="2" charset="-122"/>
              <a:cs typeface="+mn-cs"/>
            </a:endParaRPr>
          </a:p>
        </p:txBody>
      </p:sp>
      <p:sp>
        <p:nvSpPr>
          <p:cNvPr id="13" name="矩形 12">
            <a:extLst>
              <a:ext uri="{FF2B5EF4-FFF2-40B4-BE49-F238E27FC236}">
                <a16:creationId xmlns:a16="http://schemas.microsoft.com/office/drawing/2014/main" id="{AA906814-CB77-42CE-8722-740E4FA37C6F}"/>
              </a:ext>
            </a:extLst>
          </p:cNvPr>
          <p:cNvSpPr/>
          <p:nvPr userDrawn="1"/>
        </p:nvSpPr>
        <p:spPr>
          <a:xfrm rot="5400000">
            <a:off x="5731669" y="406904"/>
            <a:ext cx="728662" cy="12192001"/>
          </a:xfrm>
          <a:prstGeom prst="rect">
            <a:avLst/>
          </a:prstGeom>
          <a:gradFill>
            <a:gsLst>
              <a:gs pos="100000">
                <a:srgbClr val="00A3FF">
                  <a:alpha val="0"/>
                </a:srgbClr>
              </a:gs>
              <a:gs pos="0">
                <a:srgbClr val="00A3FF">
                  <a:alpha val="30000"/>
                </a:srgbClr>
              </a:gs>
            </a:gsLst>
            <a:lin ang="108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73082670"/>
      </p:ext>
    </p:extLst>
  </p:cSld>
  <p:clrMap bg1="lt1" tx1="dk1" bg2="lt2" tx2="dk2" accent1="accent1" accent2="accent2" accent3="accent3" accent4="accent4" accent5="accent5" accent6="accent6" hlink="hlink" folHlink="folHlink"/>
  <p:sldLayoutIdLst>
    <p:sldLayoutId id="2147483675" r:id="rId1"/>
    <p:sldLayoutId id="2147483700" r:id="rId2"/>
    <p:sldLayoutId id="2147483701" r:id="rId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microsoft.com/office/2007/relationships/hdphoto" Target="../media/hdphoto2.wdp"/></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905256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864990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3F049088-6C0C-4157-B9AA-A5BC110259D1}"/>
              </a:ext>
            </a:extLst>
          </p:cNvPr>
          <p:cNvSpPr txBox="1"/>
          <p:nvPr/>
        </p:nvSpPr>
        <p:spPr>
          <a:xfrm>
            <a:off x="2511696" y="-59479"/>
            <a:ext cx="4768993"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内存地址</a:t>
            </a:r>
            <a:endParaRPr lang="zh-CN" altLang="en-US" sz="3200" b="1" dirty="0">
              <a:solidFill>
                <a:srgbClr val="200AC4"/>
              </a:solidFill>
              <a:ea typeface="隶书" pitchFamily="49" charset="-122"/>
            </a:endParaRPr>
          </a:p>
        </p:txBody>
      </p:sp>
      <p:sp>
        <p:nvSpPr>
          <p:cNvPr id="4" name="Text Box 3">
            <a:extLst>
              <a:ext uri="{FF2B5EF4-FFF2-40B4-BE49-F238E27FC236}">
                <a16:creationId xmlns:a16="http://schemas.microsoft.com/office/drawing/2014/main" id="{888EB63E-03FE-46C5-90F8-A51442CCEA01}"/>
              </a:ext>
            </a:extLst>
          </p:cNvPr>
          <p:cNvSpPr txBox="1">
            <a:spLocks noChangeArrowheads="1"/>
          </p:cNvSpPr>
          <p:nvPr/>
        </p:nvSpPr>
        <p:spPr bwMode="auto">
          <a:xfrm>
            <a:off x="176090" y="571798"/>
            <a:ext cx="12015910"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zh-CN" altLang="en-US" sz="2800" b="1" dirty="0">
                <a:solidFill>
                  <a:srgbClr val="FF0066"/>
                </a:solidFill>
                <a:latin typeface="+mn-ea"/>
                <a:ea typeface="+mn-ea"/>
              </a:rPr>
              <a:t>内存</a:t>
            </a:r>
            <a:r>
              <a:rPr lang="zh-CN" altLang="en-US" sz="2800" b="1" dirty="0">
                <a:latin typeface="+mn-ea"/>
                <a:ea typeface="+mn-ea"/>
              </a:rPr>
              <a:t>存放了计算机正在运行的程序本身和程序正在使用的数据。内存的基本</a:t>
            </a:r>
            <a:r>
              <a:rPr lang="zh-CN" altLang="en-US" sz="2800" b="1" dirty="0">
                <a:solidFill>
                  <a:srgbClr val="00B0F0"/>
                </a:solidFill>
                <a:latin typeface="+mn-ea"/>
                <a:ea typeface="+mn-ea"/>
              </a:rPr>
              <a:t>存储单元</a:t>
            </a:r>
            <a:r>
              <a:rPr lang="zh-CN" altLang="en-US" sz="2800" b="1" dirty="0">
                <a:latin typeface="+mn-ea"/>
                <a:ea typeface="+mn-ea"/>
              </a:rPr>
              <a:t>为字节</a:t>
            </a:r>
            <a:r>
              <a:rPr lang="en-US" altLang="zh-CN" sz="2800" b="1" dirty="0">
                <a:latin typeface="+mn-ea"/>
                <a:ea typeface="+mn-ea"/>
              </a:rPr>
              <a:t>(Byte)</a:t>
            </a:r>
            <a:r>
              <a:rPr lang="zh-CN" altLang="en-US" sz="2800" b="1" dirty="0">
                <a:latin typeface="+mn-ea"/>
                <a:ea typeface="+mn-ea"/>
              </a:rPr>
              <a:t>。为了访问不同存储单元中的数据，</a:t>
            </a:r>
            <a:r>
              <a:rPr lang="en-US" altLang="zh-CN" sz="2800" b="1" dirty="0">
                <a:latin typeface="+mn-ea"/>
                <a:ea typeface="+mn-ea"/>
              </a:rPr>
              <a:t>CPU</a:t>
            </a:r>
            <a:r>
              <a:rPr lang="zh-CN" altLang="en-US" sz="2800" b="1" dirty="0">
                <a:latin typeface="+mn-ea"/>
                <a:ea typeface="+mn-ea"/>
              </a:rPr>
              <a:t>给每个存储单元进行了编号，该编号即称为该内存单元的</a:t>
            </a:r>
            <a:r>
              <a:rPr lang="zh-CN" altLang="en-US" sz="2800" b="1" dirty="0">
                <a:solidFill>
                  <a:srgbClr val="FF0000"/>
                </a:solidFill>
                <a:latin typeface="+mn-ea"/>
                <a:ea typeface="+mn-ea"/>
              </a:rPr>
              <a:t>地址</a:t>
            </a:r>
            <a:r>
              <a:rPr lang="zh-CN" altLang="en-US" sz="2800" b="1" dirty="0">
                <a:latin typeface="+mn-ea"/>
                <a:ea typeface="+mn-ea"/>
              </a:rPr>
              <a:t>。</a:t>
            </a:r>
            <a:endParaRPr lang="zh-CN" altLang="en-US" dirty="0">
              <a:latin typeface="+mn-ea"/>
              <a:ea typeface="+mn-ea"/>
            </a:endParaRPr>
          </a:p>
        </p:txBody>
      </p:sp>
      <p:sp>
        <p:nvSpPr>
          <p:cNvPr id="5" name="Text Box 3">
            <a:extLst>
              <a:ext uri="{FF2B5EF4-FFF2-40B4-BE49-F238E27FC236}">
                <a16:creationId xmlns:a16="http://schemas.microsoft.com/office/drawing/2014/main" id="{F435B5AB-33E1-4466-9CEE-7598736AC6B9}"/>
              </a:ext>
            </a:extLst>
          </p:cNvPr>
          <p:cNvSpPr txBox="1">
            <a:spLocks noChangeArrowheads="1"/>
          </p:cNvSpPr>
          <p:nvPr/>
        </p:nvSpPr>
        <p:spPr bwMode="auto">
          <a:xfrm>
            <a:off x="176090" y="2244103"/>
            <a:ext cx="11839820"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zh-CN" altLang="en-US" sz="2800" b="1" dirty="0">
                <a:latin typeface="+mn-ea"/>
                <a:ea typeface="+mn-ea"/>
              </a:rPr>
              <a:t>当定义变量时，系统依据变量的类型为其分配相应大小的</a:t>
            </a:r>
            <a:r>
              <a:rPr lang="zh-CN" altLang="en-US" sz="2800" b="1" dirty="0">
                <a:solidFill>
                  <a:srgbClr val="FF0000"/>
                </a:solidFill>
                <a:latin typeface="+mn-ea"/>
                <a:ea typeface="+mn-ea"/>
              </a:rPr>
              <a:t>存储空间</a:t>
            </a:r>
            <a:r>
              <a:rPr lang="zh-CN" altLang="en-US" sz="2800" b="1" dirty="0">
                <a:latin typeface="+mn-ea"/>
                <a:ea typeface="+mn-ea"/>
              </a:rPr>
              <a:t>，并将该块存储空间的</a:t>
            </a:r>
            <a:r>
              <a:rPr lang="zh-CN" altLang="en-US" sz="2800" b="1" dirty="0">
                <a:solidFill>
                  <a:srgbClr val="00B0F0"/>
                </a:solidFill>
                <a:latin typeface="+mn-ea"/>
                <a:ea typeface="+mn-ea"/>
              </a:rPr>
              <a:t>起始存储单元地址</a:t>
            </a:r>
            <a:r>
              <a:rPr lang="zh-CN" altLang="en-US" sz="2800" b="1" dirty="0">
                <a:latin typeface="+mn-ea"/>
                <a:ea typeface="+mn-ea"/>
              </a:rPr>
              <a:t>与</a:t>
            </a:r>
            <a:r>
              <a:rPr lang="zh-CN" altLang="en-US" sz="2800" b="1" dirty="0">
                <a:solidFill>
                  <a:srgbClr val="00B0F0"/>
                </a:solidFill>
                <a:latin typeface="+mn-ea"/>
                <a:ea typeface="+mn-ea"/>
              </a:rPr>
              <a:t>变量名</a:t>
            </a:r>
            <a:r>
              <a:rPr lang="zh-CN" altLang="en-US" sz="2800" b="1" dirty="0">
                <a:latin typeface="+mn-ea"/>
                <a:ea typeface="+mn-ea"/>
              </a:rPr>
              <a:t>一一对应。后续访问变量时，就可以由变量名找到该变量对应的存储空间，继而对该存储空间中的数据进行存取操作。</a:t>
            </a:r>
            <a:endParaRPr lang="zh-CN" altLang="en-US" dirty="0">
              <a:latin typeface="+mn-ea"/>
              <a:ea typeface="+mn-ea"/>
            </a:endParaRPr>
          </a:p>
        </p:txBody>
      </p:sp>
      <p:sp>
        <p:nvSpPr>
          <p:cNvPr id="7" name="Rectangle 2">
            <a:extLst>
              <a:ext uri="{FF2B5EF4-FFF2-40B4-BE49-F238E27FC236}">
                <a16:creationId xmlns:a16="http://schemas.microsoft.com/office/drawing/2014/main" id="{6F77E94A-1539-4413-B2C5-D64063991156}"/>
              </a:ext>
            </a:extLst>
          </p:cNvPr>
          <p:cNvSpPr txBox="1">
            <a:spLocks noChangeArrowheads="1"/>
          </p:cNvSpPr>
          <p:nvPr/>
        </p:nvSpPr>
        <p:spPr>
          <a:xfrm>
            <a:off x="2862510" y="3991416"/>
            <a:ext cx="4880165" cy="954107"/>
          </a:xfrm>
          <a:prstGeom prst="rect">
            <a:avLst/>
          </a:prstGeom>
          <a:solidFill>
            <a:schemeClr val="bg2"/>
          </a:solid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0000FF"/>
                </a:solidFill>
              </a:rPr>
              <a:t>int</a:t>
            </a:r>
            <a:r>
              <a:rPr lang="zh-CN" altLang="en-US" b="1" dirty="0">
                <a:solidFill>
                  <a:srgbClr val="0000FF"/>
                </a:solidFill>
              </a:rPr>
              <a:t> </a:t>
            </a:r>
            <a:r>
              <a:rPr lang="en-US" altLang="zh-CN" b="1" dirty="0"/>
              <a:t>a;</a:t>
            </a:r>
          </a:p>
          <a:p>
            <a:pPr marL="0" indent="0">
              <a:lnSpc>
                <a:spcPct val="100000"/>
              </a:lnSpc>
              <a:spcBef>
                <a:spcPct val="0"/>
              </a:spcBef>
              <a:buClr>
                <a:schemeClr val="tx2"/>
              </a:buClr>
              <a:buSzPct val="70000"/>
              <a:buFont typeface="Arial" panose="020B0604020202020204" pitchFamily="34" charset="0"/>
              <a:buNone/>
            </a:pPr>
            <a:r>
              <a:rPr lang="en-US" altLang="zh-CN" b="1" dirty="0"/>
              <a:t>a = 15;</a:t>
            </a:r>
            <a:endParaRPr lang="zh-CN" altLang="en-US" b="1" dirty="0"/>
          </a:p>
        </p:txBody>
      </p:sp>
      <p:sp>
        <p:nvSpPr>
          <p:cNvPr id="8" name="Text Box 3">
            <a:extLst>
              <a:ext uri="{FF2B5EF4-FFF2-40B4-BE49-F238E27FC236}">
                <a16:creationId xmlns:a16="http://schemas.microsoft.com/office/drawing/2014/main" id="{B0511E8A-21A1-4E3B-A084-561A1EE7386C}"/>
              </a:ext>
            </a:extLst>
          </p:cNvPr>
          <p:cNvSpPr txBox="1">
            <a:spLocks noChangeArrowheads="1"/>
          </p:cNvSpPr>
          <p:nvPr/>
        </p:nvSpPr>
        <p:spPr bwMode="auto">
          <a:xfrm>
            <a:off x="176090" y="5250961"/>
            <a:ext cx="1183982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zh-CN" altLang="en-US" sz="2800" b="1" dirty="0">
                <a:latin typeface="+mn-ea"/>
                <a:ea typeface="+mn-ea"/>
              </a:rPr>
              <a:t>由于变量名唯一确定了变量的存储空间，因此后续对变量名的操作其本质上就是对与该变量名对应的存储空间进行操作。</a:t>
            </a:r>
            <a:endParaRPr lang="zh-CN" altLang="en-US" dirty="0">
              <a:latin typeface="+mn-ea"/>
              <a:ea typeface="+mn-ea"/>
            </a:endParaRPr>
          </a:p>
        </p:txBody>
      </p:sp>
      <p:sp>
        <p:nvSpPr>
          <p:cNvPr id="6" name="灯片编号占位符 5">
            <a:extLst>
              <a:ext uri="{FF2B5EF4-FFF2-40B4-BE49-F238E27FC236}">
                <a16:creationId xmlns:a16="http://schemas.microsoft.com/office/drawing/2014/main" id="{7D049347-12F0-4EE6-9D96-02D8A08477CC}"/>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2</a:t>
            </a:fld>
            <a:r>
              <a:rPr lang="en-US" altLang="zh-CN">
                <a:solidFill>
                  <a:prstClr val="black">
                    <a:tint val="75000"/>
                  </a:prstClr>
                </a:solidFill>
              </a:rPr>
              <a:t>/ 35</a:t>
            </a:r>
            <a:endParaRPr lang="zh-CN" altLang="en-US" dirty="0"/>
          </a:p>
        </p:txBody>
      </p:sp>
    </p:spTree>
    <p:extLst>
      <p:ext uri="{BB962C8B-B14F-4D97-AF65-F5344CB8AC3E}">
        <p14:creationId xmlns:p14="http://schemas.microsoft.com/office/powerpoint/2010/main" val="17902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up)">
                                      <p:cBhvr>
                                        <p:cTn id="12" dur="500"/>
                                        <p:tgtEl>
                                          <p:spTgt spid="5"/>
                                        </p:tgtEl>
                                      </p:cBhvr>
                                    </p:animEffect>
                                  </p:childTnLst>
                                </p:cTn>
                              </p:par>
                            </p:childTnLst>
                          </p:cTn>
                        </p:par>
                        <p:par>
                          <p:cTn id="13" fill="hold">
                            <p:stCondLst>
                              <p:cond delay="500"/>
                            </p:stCondLst>
                            <p:childTnLst>
                              <p:par>
                                <p:cTn id="14" presetID="1" presetClass="entr" presetSubtype="0" fill="hold" grpId="0" nodeType="afterEffect">
                                  <p:stCondLst>
                                    <p:cond delay="0"/>
                                  </p:stCondLst>
                                  <p:childTnLst>
                                    <p:set>
                                      <p:cBhvr>
                                        <p:cTn id="15" dur="1" fill="hold">
                                          <p:stCondLst>
                                            <p:cond delay="0"/>
                                          </p:stCondLst>
                                        </p:cTn>
                                        <p:tgtEl>
                                          <p:spTgt spid="7"/>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up)">
                                      <p:cBhvr>
                                        <p:cTn id="2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P spid="5" grpId="0"/>
      <p:bldP spid="7" grpId="0" animBg="1"/>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4D6978F5-3316-43F4-8CB4-3B203EE2C9B2}"/>
              </a:ext>
            </a:extLst>
          </p:cNvPr>
          <p:cNvSpPr txBox="1"/>
          <p:nvPr/>
        </p:nvSpPr>
        <p:spPr>
          <a:xfrm>
            <a:off x="2528629" y="-63711"/>
            <a:ext cx="4768993"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指针变量</a:t>
            </a:r>
            <a:endParaRPr lang="zh-CN" altLang="en-US" sz="3200" b="1" dirty="0">
              <a:solidFill>
                <a:srgbClr val="200AC4"/>
              </a:solidFill>
              <a:ea typeface="隶书" pitchFamily="49" charset="-122"/>
            </a:endParaRPr>
          </a:p>
        </p:txBody>
      </p:sp>
      <p:sp>
        <p:nvSpPr>
          <p:cNvPr id="4" name="Text Box 3">
            <a:extLst>
              <a:ext uri="{FF2B5EF4-FFF2-40B4-BE49-F238E27FC236}">
                <a16:creationId xmlns:a16="http://schemas.microsoft.com/office/drawing/2014/main" id="{E9BDC72F-2D67-439A-823C-3DFDC2AE2026}"/>
              </a:ext>
            </a:extLst>
          </p:cNvPr>
          <p:cNvSpPr txBox="1">
            <a:spLocks noChangeArrowheads="1"/>
          </p:cNvSpPr>
          <p:nvPr/>
        </p:nvSpPr>
        <p:spPr bwMode="auto">
          <a:xfrm>
            <a:off x="9555" y="584480"/>
            <a:ext cx="1183982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zh-CN" altLang="en-US" sz="2800" b="1" dirty="0">
                <a:latin typeface="+mn-ea"/>
                <a:ea typeface="+mn-ea"/>
              </a:rPr>
              <a:t>在很多情况下，我们需要通过使用变量的地址来直接访问变量的存储空间。在</a:t>
            </a:r>
            <a:r>
              <a:rPr lang="en-US" altLang="zh-CN" sz="2800" b="1" dirty="0">
                <a:latin typeface="+mn-ea"/>
                <a:ea typeface="+mn-ea"/>
              </a:rPr>
              <a:t>C</a:t>
            </a:r>
            <a:r>
              <a:rPr lang="zh-CN" altLang="en-US" sz="2800" b="1" dirty="0">
                <a:latin typeface="+mn-ea"/>
                <a:ea typeface="+mn-ea"/>
              </a:rPr>
              <a:t>语言中，将存放地址的变量称为</a:t>
            </a:r>
            <a:r>
              <a:rPr lang="zh-CN" altLang="en-US" sz="2800" b="1" dirty="0">
                <a:solidFill>
                  <a:srgbClr val="FF0000"/>
                </a:solidFill>
                <a:latin typeface="+mn-ea"/>
                <a:ea typeface="+mn-ea"/>
              </a:rPr>
              <a:t>指针变量</a:t>
            </a:r>
            <a:r>
              <a:rPr lang="zh-CN" altLang="en-US" sz="2800" b="1" dirty="0">
                <a:latin typeface="+mn-ea"/>
                <a:ea typeface="+mn-ea"/>
              </a:rPr>
              <a:t>。例如：</a:t>
            </a:r>
            <a:endParaRPr lang="zh-CN" altLang="en-US" dirty="0">
              <a:latin typeface="+mn-ea"/>
              <a:ea typeface="+mn-ea"/>
            </a:endParaRPr>
          </a:p>
        </p:txBody>
      </p:sp>
      <p:sp>
        <p:nvSpPr>
          <p:cNvPr id="5" name="Rectangle 2">
            <a:extLst>
              <a:ext uri="{FF2B5EF4-FFF2-40B4-BE49-F238E27FC236}">
                <a16:creationId xmlns:a16="http://schemas.microsoft.com/office/drawing/2014/main" id="{CA2FB532-A552-4A4D-B2AC-BE8BFB84332F}"/>
              </a:ext>
            </a:extLst>
          </p:cNvPr>
          <p:cNvSpPr txBox="1">
            <a:spLocks noChangeArrowheads="1"/>
          </p:cNvSpPr>
          <p:nvPr/>
        </p:nvSpPr>
        <p:spPr>
          <a:xfrm>
            <a:off x="1961896" y="1812205"/>
            <a:ext cx="8594844" cy="2352248"/>
          </a:xfrm>
          <a:prstGeom prst="rect">
            <a:avLst/>
          </a:prstGeom>
          <a:solidFill>
            <a:schemeClr val="bg2"/>
          </a:solid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0000FF"/>
                </a:solidFill>
              </a:rPr>
              <a:t>int</a:t>
            </a:r>
            <a:r>
              <a:rPr lang="zh-CN" altLang="en-US" b="1" dirty="0">
                <a:solidFill>
                  <a:srgbClr val="0000FF"/>
                </a:solidFill>
              </a:rPr>
              <a:t> </a:t>
            </a:r>
            <a:r>
              <a:rPr lang="en-US" altLang="zh-CN" b="1" dirty="0"/>
              <a:t>a = 0;</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0000FF"/>
                </a:solidFill>
              </a:rPr>
              <a:t>int</a:t>
            </a:r>
            <a:r>
              <a:rPr lang="en-US" altLang="zh-CN" b="1" dirty="0"/>
              <a:t> </a:t>
            </a:r>
            <a:r>
              <a:rPr lang="en-US" altLang="zh-CN" b="1" dirty="0">
                <a:solidFill>
                  <a:srgbClr val="FF0000"/>
                </a:solidFill>
              </a:rPr>
              <a:t>*</a:t>
            </a:r>
            <a:r>
              <a:rPr lang="en-US" altLang="zh-CN" b="1" dirty="0"/>
              <a:t>p = </a:t>
            </a:r>
            <a:r>
              <a:rPr lang="en-US" altLang="zh-CN" b="1" dirty="0">
                <a:solidFill>
                  <a:srgbClr val="FF0000"/>
                </a:solidFill>
              </a:rPr>
              <a:t>&amp;</a:t>
            </a:r>
            <a:r>
              <a:rPr lang="en-US" altLang="zh-CN" b="1" dirty="0"/>
              <a:t>a;  </a:t>
            </a:r>
            <a:r>
              <a:rPr lang="en-US" altLang="zh-CN" b="1" dirty="0">
                <a:solidFill>
                  <a:srgbClr val="00B050"/>
                </a:solidFill>
              </a:rPr>
              <a:t>//</a:t>
            </a:r>
            <a:r>
              <a:rPr lang="zh-CN" altLang="en-US" sz="2400" b="1" dirty="0">
                <a:solidFill>
                  <a:srgbClr val="00B050"/>
                </a:solidFill>
                <a:latin typeface="华文隶书" panose="02010800040101010101" pitchFamily="2" charset="-122"/>
                <a:ea typeface="华文隶书" panose="02010800040101010101" pitchFamily="2" charset="-122"/>
              </a:rPr>
              <a:t>定义指针变量</a:t>
            </a:r>
            <a:r>
              <a:rPr lang="en-US" altLang="zh-CN" sz="2400" b="1" dirty="0">
                <a:solidFill>
                  <a:srgbClr val="00B050"/>
                </a:solidFill>
                <a:latin typeface="+mn-ea"/>
              </a:rPr>
              <a:t>p</a:t>
            </a:r>
            <a:r>
              <a:rPr lang="zh-CN" altLang="en-US" sz="2400" b="1" dirty="0">
                <a:solidFill>
                  <a:srgbClr val="00B050"/>
                </a:solidFill>
                <a:latin typeface="华文隶书" panose="02010800040101010101" pitchFamily="2" charset="-122"/>
                <a:ea typeface="华文隶书" panose="02010800040101010101" pitchFamily="2" charset="-122"/>
              </a:rPr>
              <a:t>用来存储变量</a:t>
            </a:r>
            <a:r>
              <a:rPr lang="en-US" altLang="zh-CN" sz="2400" b="1" dirty="0">
                <a:solidFill>
                  <a:srgbClr val="00B050"/>
                </a:solidFill>
                <a:latin typeface="+mn-ea"/>
              </a:rPr>
              <a:t>a</a:t>
            </a:r>
            <a:r>
              <a:rPr lang="zh-CN" altLang="en-US" sz="2400" b="1" dirty="0">
                <a:solidFill>
                  <a:srgbClr val="00B050"/>
                </a:solidFill>
                <a:latin typeface="华文隶书" panose="02010800040101010101" pitchFamily="2" charset="-122"/>
                <a:ea typeface="华文隶书" panose="02010800040101010101" pitchFamily="2" charset="-122"/>
              </a:rPr>
              <a:t>的地址</a:t>
            </a:r>
            <a:endParaRPr lang="en-US" altLang="zh-CN" sz="2400" b="1" dirty="0">
              <a:solidFill>
                <a:srgbClr val="00B050"/>
              </a:solidFill>
              <a:latin typeface="华文隶书" panose="02010800040101010101" pitchFamily="2" charset="-122"/>
              <a:ea typeface="华文隶书" panose="02010800040101010101" pitchFamily="2" charset="-122"/>
            </a:endParaRPr>
          </a:p>
          <a:p>
            <a:pPr marL="0" indent="0">
              <a:lnSpc>
                <a:spcPct val="100000"/>
              </a:lnSpc>
              <a:spcBef>
                <a:spcPct val="0"/>
              </a:spcBef>
              <a:buClr>
                <a:schemeClr val="tx2"/>
              </a:buClr>
              <a:buSzPct val="70000"/>
              <a:buFont typeface="Arial" panose="020B0604020202020204" pitchFamily="34" charset="0"/>
              <a:buNone/>
            </a:pPr>
            <a:endParaRPr lang="en-US" altLang="zh-CN" b="1" dirty="0">
              <a:solidFill>
                <a:srgbClr val="00B050"/>
              </a:solidFill>
            </a:endParaRPr>
          </a:p>
          <a:p>
            <a:pPr marL="0" indent="0">
              <a:lnSpc>
                <a:spcPct val="100000"/>
              </a:lnSpc>
              <a:spcBef>
                <a:spcPct val="0"/>
              </a:spcBef>
              <a:buClr>
                <a:schemeClr val="tx2"/>
              </a:buClr>
              <a:buSzPct val="70000"/>
              <a:buFont typeface="Arial" panose="020B0604020202020204" pitchFamily="34" charset="0"/>
              <a:buNone/>
            </a:pPr>
            <a:r>
              <a:rPr lang="en-US" altLang="zh-CN" b="1" dirty="0"/>
              <a:t>a = 20;          </a:t>
            </a:r>
            <a:r>
              <a:rPr lang="en-US" altLang="zh-CN" b="1" dirty="0">
                <a:solidFill>
                  <a:srgbClr val="00B050"/>
                </a:solidFill>
              </a:rPr>
              <a:t>//</a:t>
            </a:r>
            <a:r>
              <a:rPr lang="zh-CN" altLang="en-US" sz="2400" b="1" dirty="0">
                <a:solidFill>
                  <a:srgbClr val="00B050"/>
                </a:solidFill>
                <a:latin typeface="华文隶书" panose="02010800040101010101" pitchFamily="2" charset="-122"/>
                <a:ea typeface="华文隶书" panose="02010800040101010101" pitchFamily="2" charset="-122"/>
              </a:rPr>
              <a:t>通过</a:t>
            </a:r>
            <a:r>
              <a:rPr lang="zh-CN" altLang="en-US" sz="2400" b="1" dirty="0">
                <a:solidFill>
                  <a:srgbClr val="00B0F0"/>
                </a:solidFill>
                <a:latin typeface="华文隶书" panose="02010800040101010101" pitchFamily="2" charset="-122"/>
                <a:ea typeface="华文隶书" panose="02010800040101010101" pitchFamily="2" charset="-122"/>
              </a:rPr>
              <a:t>变量名</a:t>
            </a:r>
            <a:r>
              <a:rPr lang="zh-CN" altLang="en-US" sz="2400" b="1" dirty="0">
                <a:solidFill>
                  <a:srgbClr val="FF0000"/>
                </a:solidFill>
                <a:latin typeface="华文隶书" panose="02010800040101010101" pitchFamily="2" charset="-122"/>
                <a:ea typeface="华文隶书" panose="02010800040101010101" pitchFamily="2" charset="-122"/>
              </a:rPr>
              <a:t>直接访问</a:t>
            </a:r>
            <a:r>
              <a:rPr lang="en-US" altLang="zh-CN" sz="2400" b="1" dirty="0">
                <a:solidFill>
                  <a:srgbClr val="00B050"/>
                </a:solidFill>
                <a:latin typeface="+mn-ea"/>
              </a:rPr>
              <a:t>a</a:t>
            </a:r>
            <a:r>
              <a:rPr lang="zh-CN" altLang="en-US" sz="2400" b="1" dirty="0">
                <a:solidFill>
                  <a:srgbClr val="00B050"/>
                </a:solidFill>
                <a:latin typeface="华文隶书" panose="02010800040101010101" pitchFamily="2" charset="-122"/>
                <a:ea typeface="华文隶书" panose="02010800040101010101" pitchFamily="2" charset="-122"/>
              </a:rPr>
              <a:t>的存储空间</a:t>
            </a:r>
            <a:endParaRPr lang="en-US" altLang="zh-CN" b="1" dirty="0">
              <a:solidFill>
                <a:srgbClr val="00B050"/>
              </a:solidFill>
              <a:latin typeface="华文隶书" panose="02010800040101010101" pitchFamily="2" charset="-122"/>
              <a:ea typeface="华文隶书" panose="02010800040101010101" pitchFamily="2" charset="-122"/>
            </a:endParaRP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r>
              <a:rPr lang="en-US" altLang="zh-CN" b="1" dirty="0"/>
              <a:t>p = 20;        </a:t>
            </a:r>
            <a:r>
              <a:rPr lang="en-US" altLang="zh-CN" b="1" dirty="0">
                <a:solidFill>
                  <a:srgbClr val="00B050"/>
                </a:solidFill>
              </a:rPr>
              <a:t>//</a:t>
            </a:r>
            <a:r>
              <a:rPr lang="zh-CN" altLang="en-US" sz="2400" b="1" dirty="0">
                <a:solidFill>
                  <a:srgbClr val="00B050"/>
                </a:solidFill>
                <a:latin typeface="华文隶书" panose="02010800040101010101" pitchFamily="2" charset="-122"/>
                <a:ea typeface="华文隶书" panose="02010800040101010101" pitchFamily="2" charset="-122"/>
              </a:rPr>
              <a:t>通过</a:t>
            </a:r>
            <a:r>
              <a:rPr lang="zh-CN" altLang="en-US" sz="2400" b="1" dirty="0">
                <a:solidFill>
                  <a:srgbClr val="00B0F0"/>
                </a:solidFill>
                <a:latin typeface="华文隶书" panose="02010800040101010101" pitchFamily="2" charset="-122"/>
                <a:ea typeface="华文隶书" panose="02010800040101010101" pitchFamily="2" charset="-122"/>
              </a:rPr>
              <a:t>指针变量</a:t>
            </a:r>
            <a:r>
              <a:rPr lang="zh-CN" altLang="en-US" sz="2400" b="1" dirty="0">
                <a:solidFill>
                  <a:srgbClr val="FF0000"/>
                </a:solidFill>
                <a:latin typeface="华文隶书" panose="02010800040101010101" pitchFamily="2" charset="-122"/>
                <a:ea typeface="华文隶书" panose="02010800040101010101" pitchFamily="2" charset="-122"/>
              </a:rPr>
              <a:t>间接访问</a:t>
            </a:r>
            <a:r>
              <a:rPr lang="en-US" altLang="zh-CN" sz="2400" b="1" dirty="0">
                <a:solidFill>
                  <a:srgbClr val="00B050"/>
                </a:solidFill>
                <a:latin typeface="+mn-ea"/>
              </a:rPr>
              <a:t>a</a:t>
            </a:r>
            <a:r>
              <a:rPr lang="zh-CN" altLang="en-US" sz="2400" b="1" dirty="0">
                <a:solidFill>
                  <a:srgbClr val="00B050"/>
                </a:solidFill>
                <a:latin typeface="华文隶书" panose="02010800040101010101" pitchFamily="2" charset="-122"/>
                <a:ea typeface="华文隶书" panose="02010800040101010101" pitchFamily="2" charset="-122"/>
              </a:rPr>
              <a:t>的存储空间</a:t>
            </a:r>
            <a:endParaRPr lang="zh-CN" altLang="en-US" b="1" dirty="0">
              <a:solidFill>
                <a:srgbClr val="00B050"/>
              </a:solidFill>
              <a:latin typeface="华文隶书" panose="02010800040101010101" pitchFamily="2" charset="-122"/>
              <a:ea typeface="华文隶书" panose="02010800040101010101" pitchFamily="2" charset="-122"/>
            </a:endParaRPr>
          </a:p>
        </p:txBody>
      </p:sp>
      <p:sp>
        <p:nvSpPr>
          <p:cNvPr id="7" name="Text Box 88">
            <a:extLst>
              <a:ext uri="{FF2B5EF4-FFF2-40B4-BE49-F238E27FC236}">
                <a16:creationId xmlns:a16="http://schemas.microsoft.com/office/drawing/2014/main" id="{1AB38ADB-ABA6-46DF-A358-FCD9622DDCC0}"/>
              </a:ext>
            </a:extLst>
          </p:cNvPr>
          <p:cNvSpPr txBox="1">
            <a:spLocks noChangeArrowheads="1"/>
          </p:cNvSpPr>
          <p:nvPr/>
        </p:nvSpPr>
        <p:spPr bwMode="auto">
          <a:xfrm>
            <a:off x="1961896" y="4446185"/>
            <a:ext cx="8594844" cy="15718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kumimoji="1" lang="zh-CN" altLang="en-US" sz="3200" dirty="0">
                <a:solidFill>
                  <a:srgbClr val="FF3300"/>
                </a:solidFill>
                <a:ea typeface="隶书" pitchFamily="49" charset="-122"/>
              </a:rPr>
              <a:t>思考</a:t>
            </a:r>
            <a:r>
              <a:rPr kumimoji="1" lang="en-US" altLang="zh-CN" sz="3200" dirty="0">
                <a:solidFill>
                  <a:srgbClr val="3333FF"/>
                </a:solidFill>
                <a:ea typeface="隶书" pitchFamily="49" charset="-122"/>
              </a:rPr>
              <a:t>: </a:t>
            </a:r>
          </a:p>
          <a:p>
            <a:r>
              <a:rPr kumimoji="1" lang="zh-CN" altLang="en-US" sz="3200" dirty="0">
                <a:solidFill>
                  <a:srgbClr val="3333FF"/>
                </a:solidFill>
                <a:ea typeface="隶书" pitchFamily="49" charset="-122"/>
              </a:rPr>
              <a:t>什么是指针？</a:t>
            </a:r>
            <a:endParaRPr kumimoji="1" lang="en-US" altLang="zh-CN" sz="3200" dirty="0">
              <a:solidFill>
                <a:srgbClr val="3333FF"/>
              </a:solidFill>
              <a:ea typeface="隶书" pitchFamily="49" charset="-122"/>
            </a:endParaRPr>
          </a:p>
          <a:p>
            <a:r>
              <a:rPr kumimoji="1" lang="zh-CN" altLang="en-US" sz="3200" dirty="0">
                <a:solidFill>
                  <a:srgbClr val="3333FF"/>
                </a:solidFill>
                <a:ea typeface="隶书" pitchFamily="49" charset="-122"/>
              </a:rPr>
              <a:t>什么是指针变量？</a:t>
            </a:r>
          </a:p>
        </p:txBody>
      </p:sp>
      <p:sp>
        <p:nvSpPr>
          <p:cNvPr id="8" name="灯片编号占位符 7">
            <a:extLst>
              <a:ext uri="{FF2B5EF4-FFF2-40B4-BE49-F238E27FC236}">
                <a16:creationId xmlns:a16="http://schemas.microsoft.com/office/drawing/2014/main" id="{A7B4AFA7-C087-4B56-BE72-D7EC6C164AC9}"/>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3</a:t>
            </a:fld>
            <a:r>
              <a:rPr lang="en-US" altLang="zh-CN">
                <a:solidFill>
                  <a:prstClr val="black">
                    <a:tint val="75000"/>
                  </a:prstClr>
                </a:solidFill>
              </a:rPr>
              <a:t>/ 35</a:t>
            </a:r>
            <a:endParaRPr lang="zh-CN" altLang="en-US" dirty="0"/>
          </a:p>
        </p:txBody>
      </p:sp>
    </p:spTree>
    <p:extLst>
      <p:ext uri="{BB962C8B-B14F-4D97-AF65-F5344CB8AC3E}">
        <p14:creationId xmlns:p14="http://schemas.microsoft.com/office/powerpoint/2010/main" val="1336644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1000"/>
                                        <p:tgtEl>
                                          <p:spTgt spid="5"/>
                                        </p:tgtEl>
                                      </p:cBhvr>
                                    </p:animEffect>
                                    <p:anim calcmode="lin" valueType="num">
                                      <p:cBhvr>
                                        <p:cTn id="11" dur="1000" fill="hold"/>
                                        <p:tgtEl>
                                          <p:spTgt spid="5"/>
                                        </p:tgtEl>
                                        <p:attrNameLst>
                                          <p:attrName>ppt_x</p:attrName>
                                        </p:attrNameLst>
                                      </p:cBhvr>
                                      <p:tavLst>
                                        <p:tav tm="0">
                                          <p:val>
                                            <p:strVal val="#ppt_x"/>
                                          </p:val>
                                        </p:tav>
                                        <p:tav tm="100000">
                                          <p:val>
                                            <p:strVal val="#ppt_x"/>
                                          </p:val>
                                        </p:tav>
                                      </p:tavLst>
                                    </p:anim>
                                    <p:anim calcmode="lin" valueType="num">
                                      <p:cBhvr>
                                        <p:cTn id="12"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7">
                                            <p:txEl>
                                              <p:pRg st="0" end="0"/>
                                            </p:txEl>
                                          </p:spTgt>
                                        </p:tgtEl>
                                        <p:attrNameLst>
                                          <p:attrName>style.visibility</p:attrName>
                                        </p:attrNameLst>
                                      </p:cBhvr>
                                      <p:to>
                                        <p:strVal val="visible"/>
                                      </p:to>
                                    </p:set>
                                    <p:animEffect transition="in" filter="box(out)">
                                      <p:cBhvr>
                                        <p:cTn id="17" dur="500"/>
                                        <p:tgtEl>
                                          <p:spTgt spid="7">
                                            <p:txEl>
                                              <p:pRg st="0" end="0"/>
                                            </p:txEl>
                                          </p:spTgt>
                                        </p:tgtEl>
                                      </p:cBhvr>
                                    </p:animEffect>
                                  </p:childTnLst>
                                </p:cTn>
                              </p:par>
                              <p:par>
                                <p:cTn id="18" presetID="4" presetClass="entr" presetSubtype="32" fill="hold" grpId="0" nodeType="withEffect">
                                  <p:stCondLst>
                                    <p:cond delay="0"/>
                                  </p:stCondLst>
                                  <p:childTnLst>
                                    <p:set>
                                      <p:cBhvr>
                                        <p:cTn id="19" dur="1" fill="hold">
                                          <p:stCondLst>
                                            <p:cond delay="0"/>
                                          </p:stCondLst>
                                        </p:cTn>
                                        <p:tgtEl>
                                          <p:spTgt spid="7">
                                            <p:txEl>
                                              <p:pRg st="1" end="1"/>
                                            </p:txEl>
                                          </p:spTgt>
                                        </p:tgtEl>
                                        <p:attrNameLst>
                                          <p:attrName>style.visibility</p:attrName>
                                        </p:attrNameLst>
                                      </p:cBhvr>
                                      <p:to>
                                        <p:strVal val="visible"/>
                                      </p:to>
                                    </p:set>
                                    <p:animEffect transition="in" filter="box(out)">
                                      <p:cBhvr>
                                        <p:cTn id="20" dur="500"/>
                                        <p:tgtEl>
                                          <p:spTgt spid="7">
                                            <p:txEl>
                                              <p:pRg st="1" end="1"/>
                                            </p:txEl>
                                          </p:spTgt>
                                        </p:tgtEl>
                                      </p:cBhvr>
                                    </p:animEffect>
                                  </p:childTnLst>
                                </p:cTn>
                              </p:par>
                              <p:par>
                                <p:cTn id="21" presetID="4" presetClass="entr" presetSubtype="32" fill="hold" grpId="0" nodeType="withEffect">
                                  <p:stCondLst>
                                    <p:cond delay="0"/>
                                  </p:stCondLst>
                                  <p:childTnLst>
                                    <p:set>
                                      <p:cBhvr>
                                        <p:cTn id="22" dur="1" fill="hold">
                                          <p:stCondLst>
                                            <p:cond delay="0"/>
                                          </p:stCondLst>
                                        </p:cTn>
                                        <p:tgtEl>
                                          <p:spTgt spid="7">
                                            <p:txEl>
                                              <p:pRg st="2" end="2"/>
                                            </p:txEl>
                                          </p:spTgt>
                                        </p:tgtEl>
                                        <p:attrNameLst>
                                          <p:attrName>style.visibility</p:attrName>
                                        </p:attrNameLst>
                                      </p:cBhvr>
                                      <p:to>
                                        <p:strVal val="visible"/>
                                      </p:to>
                                    </p:set>
                                    <p:animEffect transition="in" filter="box(out)">
                                      <p:cBhvr>
                                        <p:cTn id="23"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7" grpId="0" uiExpand="1" build="p"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3BD043ED-9A58-40F3-9CA7-4F1AAC4CF9D9}"/>
              </a:ext>
            </a:extLst>
          </p:cNvPr>
          <p:cNvSpPr txBox="1"/>
          <p:nvPr/>
        </p:nvSpPr>
        <p:spPr>
          <a:xfrm>
            <a:off x="2515933" y="-59475"/>
            <a:ext cx="4768993"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指针变量</a:t>
            </a:r>
            <a:endParaRPr lang="zh-CN" altLang="en-US" sz="3200" b="1" dirty="0">
              <a:solidFill>
                <a:srgbClr val="200AC4"/>
              </a:solidFill>
              <a:ea typeface="隶书" pitchFamily="49" charset="-122"/>
            </a:endParaRPr>
          </a:p>
        </p:txBody>
      </p:sp>
      <p:sp>
        <p:nvSpPr>
          <p:cNvPr id="4" name="Line 6">
            <a:extLst>
              <a:ext uri="{FF2B5EF4-FFF2-40B4-BE49-F238E27FC236}">
                <a16:creationId xmlns:a16="http://schemas.microsoft.com/office/drawing/2014/main" id="{02CE8939-37E0-41B4-BFFC-1AC37611CF45}"/>
              </a:ext>
            </a:extLst>
          </p:cNvPr>
          <p:cNvSpPr>
            <a:spLocks noChangeShapeType="1"/>
          </p:cNvSpPr>
          <p:nvPr/>
        </p:nvSpPr>
        <p:spPr bwMode="auto">
          <a:xfrm>
            <a:off x="6903844" y="1778875"/>
            <a:ext cx="0" cy="403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 name="Line 7">
            <a:extLst>
              <a:ext uri="{FF2B5EF4-FFF2-40B4-BE49-F238E27FC236}">
                <a16:creationId xmlns:a16="http://schemas.microsoft.com/office/drawing/2014/main" id="{A0C0A763-6484-42A6-A5A2-EC2DA673DC95}"/>
              </a:ext>
            </a:extLst>
          </p:cNvPr>
          <p:cNvSpPr>
            <a:spLocks noChangeShapeType="1"/>
          </p:cNvSpPr>
          <p:nvPr/>
        </p:nvSpPr>
        <p:spPr bwMode="auto">
          <a:xfrm>
            <a:off x="8351644" y="1778875"/>
            <a:ext cx="0" cy="403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 name="Rectangle 8">
            <a:extLst>
              <a:ext uri="{FF2B5EF4-FFF2-40B4-BE49-F238E27FC236}">
                <a16:creationId xmlns:a16="http://schemas.microsoft.com/office/drawing/2014/main" id="{336038C8-5C92-4791-AC7F-729860025527}"/>
              </a:ext>
            </a:extLst>
          </p:cNvPr>
          <p:cNvSpPr>
            <a:spLocks noChangeArrowheads="1"/>
          </p:cNvSpPr>
          <p:nvPr/>
        </p:nvSpPr>
        <p:spPr bwMode="auto">
          <a:xfrm>
            <a:off x="6903844" y="1931275"/>
            <a:ext cx="1447800" cy="29787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 name="Rectangle 9">
            <a:extLst>
              <a:ext uri="{FF2B5EF4-FFF2-40B4-BE49-F238E27FC236}">
                <a16:creationId xmlns:a16="http://schemas.microsoft.com/office/drawing/2014/main" id="{32254480-952B-4863-B039-54A41BA396BF}"/>
              </a:ext>
            </a:extLst>
          </p:cNvPr>
          <p:cNvSpPr>
            <a:spLocks noChangeArrowheads="1"/>
          </p:cNvSpPr>
          <p:nvPr/>
        </p:nvSpPr>
        <p:spPr bwMode="auto">
          <a:xfrm>
            <a:off x="6903844" y="2231463"/>
            <a:ext cx="1447800" cy="30249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 name="Rectangle 10">
            <a:extLst>
              <a:ext uri="{FF2B5EF4-FFF2-40B4-BE49-F238E27FC236}">
                <a16:creationId xmlns:a16="http://schemas.microsoft.com/office/drawing/2014/main" id="{D7C9195C-AE6F-48EA-9854-A39507033AFE}"/>
              </a:ext>
            </a:extLst>
          </p:cNvPr>
          <p:cNvSpPr>
            <a:spLocks noChangeArrowheads="1"/>
          </p:cNvSpPr>
          <p:nvPr/>
        </p:nvSpPr>
        <p:spPr bwMode="auto">
          <a:xfrm>
            <a:off x="6903844" y="2531651"/>
            <a:ext cx="1447800" cy="3348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 name="Rectangle 11">
            <a:extLst>
              <a:ext uri="{FF2B5EF4-FFF2-40B4-BE49-F238E27FC236}">
                <a16:creationId xmlns:a16="http://schemas.microsoft.com/office/drawing/2014/main" id="{FA13D08D-408C-48F6-A379-7DF15E6A1909}"/>
              </a:ext>
            </a:extLst>
          </p:cNvPr>
          <p:cNvSpPr>
            <a:spLocks noChangeArrowheads="1"/>
          </p:cNvSpPr>
          <p:nvPr/>
        </p:nvSpPr>
        <p:spPr bwMode="auto">
          <a:xfrm>
            <a:off x="6903844" y="2868783"/>
            <a:ext cx="1447800" cy="31172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 name="Text Box 12">
            <a:extLst>
              <a:ext uri="{FF2B5EF4-FFF2-40B4-BE49-F238E27FC236}">
                <a16:creationId xmlns:a16="http://schemas.microsoft.com/office/drawing/2014/main" id="{35ABF434-3F39-407E-BB45-A31F6E33DC8A}"/>
              </a:ext>
            </a:extLst>
          </p:cNvPr>
          <p:cNvSpPr txBox="1">
            <a:spLocks noChangeArrowheads="1"/>
          </p:cNvSpPr>
          <p:nvPr/>
        </p:nvSpPr>
        <p:spPr bwMode="auto">
          <a:xfrm>
            <a:off x="5961724" y="1857387"/>
            <a:ext cx="8835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000" dirty="0">
                <a:solidFill>
                  <a:srgbClr val="0000FF"/>
                </a:solidFill>
              </a:rPr>
              <a:t>2000H</a:t>
            </a:r>
          </a:p>
        </p:txBody>
      </p:sp>
      <p:sp>
        <p:nvSpPr>
          <p:cNvPr id="11" name="Text Box 13">
            <a:extLst>
              <a:ext uri="{FF2B5EF4-FFF2-40B4-BE49-F238E27FC236}">
                <a16:creationId xmlns:a16="http://schemas.microsoft.com/office/drawing/2014/main" id="{350ADFBD-42DA-4A5D-B4FE-83D9ED99A14C}"/>
              </a:ext>
            </a:extLst>
          </p:cNvPr>
          <p:cNvSpPr txBox="1">
            <a:spLocks noChangeArrowheads="1"/>
          </p:cNvSpPr>
          <p:nvPr/>
        </p:nvSpPr>
        <p:spPr bwMode="auto">
          <a:xfrm>
            <a:off x="5961724" y="2206064"/>
            <a:ext cx="8835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000" dirty="0">
                <a:solidFill>
                  <a:srgbClr val="0000FF"/>
                </a:solidFill>
              </a:rPr>
              <a:t>2001H</a:t>
            </a:r>
          </a:p>
        </p:txBody>
      </p:sp>
      <p:sp>
        <p:nvSpPr>
          <p:cNvPr id="12" name="Text Box 14">
            <a:extLst>
              <a:ext uri="{FF2B5EF4-FFF2-40B4-BE49-F238E27FC236}">
                <a16:creationId xmlns:a16="http://schemas.microsoft.com/office/drawing/2014/main" id="{67003B98-76D6-4000-9B4E-EA34239B40D0}"/>
              </a:ext>
            </a:extLst>
          </p:cNvPr>
          <p:cNvSpPr txBox="1">
            <a:spLocks noChangeArrowheads="1"/>
          </p:cNvSpPr>
          <p:nvPr/>
        </p:nvSpPr>
        <p:spPr bwMode="auto">
          <a:xfrm>
            <a:off x="5975289" y="2513179"/>
            <a:ext cx="8835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000" dirty="0">
                <a:solidFill>
                  <a:srgbClr val="0000FF"/>
                </a:solidFill>
              </a:rPr>
              <a:t>2002H</a:t>
            </a:r>
          </a:p>
        </p:txBody>
      </p:sp>
      <p:sp>
        <p:nvSpPr>
          <p:cNvPr id="13" name="Text Box 15">
            <a:extLst>
              <a:ext uri="{FF2B5EF4-FFF2-40B4-BE49-F238E27FC236}">
                <a16:creationId xmlns:a16="http://schemas.microsoft.com/office/drawing/2014/main" id="{374F8381-B33C-4EAD-A3DB-938DACDDDDA7}"/>
              </a:ext>
            </a:extLst>
          </p:cNvPr>
          <p:cNvSpPr txBox="1">
            <a:spLocks noChangeArrowheads="1"/>
          </p:cNvSpPr>
          <p:nvPr/>
        </p:nvSpPr>
        <p:spPr bwMode="auto">
          <a:xfrm>
            <a:off x="5974226" y="2868783"/>
            <a:ext cx="8835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000" dirty="0">
                <a:solidFill>
                  <a:srgbClr val="0000FF"/>
                </a:solidFill>
              </a:rPr>
              <a:t>2003H</a:t>
            </a:r>
          </a:p>
        </p:txBody>
      </p:sp>
      <p:sp>
        <p:nvSpPr>
          <p:cNvPr id="14" name="AutoShape 17">
            <a:extLst>
              <a:ext uri="{FF2B5EF4-FFF2-40B4-BE49-F238E27FC236}">
                <a16:creationId xmlns:a16="http://schemas.microsoft.com/office/drawing/2014/main" id="{DE2AAD22-76E2-44E1-B567-B6091D77AB89}"/>
              </a:ext>
            </a:extLst>
          </p:cNvPr>
          <p:cNvSpPr>
            <a:spLocks/>
          </p:cNvSpPr>
          <p:nvPr/>
        </p:nvSpPr>
        <p:spPr bwMode="auto">
          <a:xfrm>
            <a:off x="8351644" y="1931275"/>
            <a:ext cx="381000" cy="1249235"/>
          </a:xfrm>
          <a:prstGeom prst="rightBracket">
            <a:avLst>
              <a:gd name="adj" fmla="val 0"/>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dirty="0">
                <a:solidFill>
                  <a:srgbClr val="0000FF"/>
                </a:solidFill>
                <a:ea typeface="楷体_GB2312" pitchFamily="49" charset="-122"/>
              </a:rPr>
              <a:t>a</a:t>
            </a:r>
          </a:p>
          <a:p>
            <a:pPr algn="ctr"/>
            <a:r>
              <a:rPr lang="zh-CN" altLang="en-US" sz="1200" b="1" dirty="0">
                <a:solidFill>
                  <a:srgbClr val="0000FF"/>
                </a:solidFill>
                <a:ea typeface="楷体_GB2312" pitchFamily="49" charset="-122"/>
              </a:rPr>
              <a:t>的</a:t>
            </a:r>
          </a:p>
          <a:p>
            <a:pPr algn="ctr"/>
            <a:r>
              <a:rPr lang="zh-CN" altLang="en-US" sz="1200" b="1" dirty="0">
                <a:solidFill>
                  <a:srgbClr val="0000FF"/>
                </a:solidFill>
                <a:ea typeface="楷体_GB2312" pitchFamily="49" charset="-122"/>
              </a:rPr>
              <a:t>存</a:t>
            </a:r>
            <a:endParaRPr lang="en-US" altLang="zh-CN" sz="1200" b="1" dirty="0">
              <a:solidFill>
                <a:srgbClr val="0000FF"/>
              </a:solidFill>
              <a:ea typeface="楷体_GB2312" pitchFamily="49" charset="-122"/>
            </a:endParaRPr>
          </a:p>
          <a:p>
            <a:pPr algn="ctr"/>
            <a:r>
              <a:rPr lang="zh-CN" altLang="en-US" sz="1200" b="1" dirty="0">
                <a:solidFill>
                  <a:srgbClr val="0000FF"/>
                </a:solidFill>
                <a:ea typeface="楷体_GB2312" pitchFamily="49" charset="-122"/>
              </a:rPr>
              <a:t>储</a:t>
            </a:r>
            <a:endParaRPr lang="en-US" altLang="zh-CN" sz="1200" b="1" dirty="0">
              <a:solidFill>
                <a:srgbClr val="0000FF"/>
              </a:solidFill>
              <a:ea typeface="楷体_GB2312" pitchFamily="49" charset="-122"/>
            </a:endParaRPr>
          </a:p>
          <a:p>
            <a:pPr algn="ctr"/>
            <a:r>
              <a:rPr lang="zh-CN" altLang="en-US" sz="1200" b="1" dirty="0">
                <a:solidFill>
                  <a:srgbClr val="0000FF"/>
                </a:solidFill>
                <a:ea typeface="楷体_GB2312" pitchFamily="49" charset="-122"/>
              </a:rPr>
              <a:t>空</a:t>
            </a:r>
            <a:endParaRPr lang="en-US" altLang="zh-CN" sz="1200" b="1" dirty="0">
              <a:solidFill>
                <a:srgbClr val="0000FF"/>
              </a:solidFill>
              <a:ea typeface="楷体_GB2312" pitchFamily="49" charset="-122"/>
            </a:endParaRPr>
          </a:p>
          <a:p>
            <a:pPr algn="ctr"/>
            <a:r>
              <a:rPr lang="zh-CN" altLang="en-US" sz="1200" b="1" dirty="0">
                <a:solidFill>
                  <a:srgbClr val="0000FF"/>
                </a:solidFill>
                <a:ea typeface="楷体_GB2312" pitchFamily="49" charset="-122"/>
              </a:rPr>
              <a:t>间</a:t>
            </a:r>
          </a:p>
        </p:txBody>
      </p:sp>
      <p:sp>
        <p:nvSpPr>
          <p:cNvPr id="15" name="AutoShape 18">
            <a:extLst>
              <a:ext uri="{FF2B5EF4-FFF2-40B4-BE49-F238E27FC236}">
                <a16:creationId xmlns:a16="http://schemas.microsoft.com/office/drawing/2014/main" id="{49182DDC-86D7-4411-B010-CDD47EF8A6BE}"/>
              </a:ext>
            </a:extLst>
          </p:cNvPr>
          <p:cNvSpPr>
            <a:spLocks/>
          </p:cNvSpPr>
          <p:nvPr/>
        </p:nvSpPr>
        <p:spPr bwMode="auto">
          <a:xfrm>
            <a:off x="6703890" y="949016"/>
            <a:ext cx="1939925" cy="457200"/>
          </a:xfrm>
          <a:prstGeom prst="borderCallout2">
            <a:avLst>
              <a:gd name="adj1" fmla="val 49138"/>
              <a:gd name="adj2" fmla="val -269"/>
              <a:gd name="adj3" fmla="val 48951"/>
              <a:gd name="adj4" fmla="val -18028"/>
              <a:gd name="adj5" fmla="val 197234"/>
              <a:gd name="adj6" fmla="val -17742"/>
            </a:avLst>
          </a:prstGeom>
          <a:noFill/>
          <a:ln w="28575">
            <a:solidFill>
              <a:schemeClr val="tx1"/>
            </a:solidFill>
            <a:miter lim="800000"/>
            <a:headEnd type="none" w="sm" len="sm"/>
            <a:tailEnd type="triangle" w="lg" len="med"/>
          </a:ln>
          <a:extLst>
            <a:ext uri="{909E8E84-426E-40DD-AFC4-6F175D3DCCD1}">
              <a14:hiddenFill xmlns:a14="http://schemas.microsoft.com/office/drawing/2010/main">
                <a:solidFill>
                  <a:srgbClr val="FFFFFF"/>
                </a:solidFill>
              </a14:hiddenFill>
            </a:ext>
          </a:extLst>
        </p:spPr>
        <p:txBody>
          <a:bodyPr lIns="90000" tIns="46800" rIns="90000" bIns="46800"/>
          <a:lstStyle/>
          <a:p>
            <a:pPr algn="ctr"/>
            <a:r>
              <a:rPr lang="en-US" altLang="zh-CN" b="1" dirty="0">
                <a:solidFill>
                  <a:srgbClr val="0000FF"/>
                </a:solidFill>
                <a:ea typeface="楷体_GB2312" pitchFamily="49" charset="-122"/>
              </a:rPr>
              <a:t>a</a:t>
            </a:r>
            <a:r>
              <a:rPr lang="zh-CN" altLang="en-US" b="1" dirty="0">
                <a:solidFill>
                  <a:srgbClr val="0000FF"/>
                </a:solidFill>
                <a:ea typeface="楷体_GB2312" pitchFamily="49" charset="-122"/>
              </a:rPr>
              <a:t>的地址</a:t>
            </a:r>
            <a:r>
              <a:rPr lang="en-US" altLang="zh-CN" b="1" dirty="0">
                <a:solidFill>
                  <a:srgbClr val="0000FF"/>
                </a:solidFill>
                <a:ea typeface="楷体_GB2312" pitchFamily="49" charset="-122"/>
              </a:rPr>
              <a:t>&amp;a</a:t>
            </a:r>
          </a:p>
        </p:txBody>
      </p:sp>
      <p:sp>
        <p:nvSpPr>
          <p:cNvPr id="16" name="Rectangle 20">
            <a:extLst>
              <a:ext uri="{FF2B5EF4-FFF2-40B4-BE49-F238E27FC236}">
                <a16:creationId xmlns:a16="http://schemas.microsoft.com/office/drawing/2014/main" id="{93C14FB3-49AC-4A06-92C9-95145749F085}"/>
              </a:ext>
            </a:extLst>
          </p:cNvPr>
          <p:cNvSpPr>
            <a:spLocks noChangeArrowheads="1"/>
          </p:cNvSpPr>
          <p:nvPr/>
        </p:nvSpPr>
        <p:spPr bwMode="auto">
          <a:xfrm>
            <a:off x="6899586" y="3988489"/>
            <a:ext cx="1447800" cy="29787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dirty="0">
                <a:solidFill>
                  <a:srgbClr val="0000FF"/>
                </a:solidFill>
              </a:rPr>
              <a:t>2</a:t>
            </a:r>
          </a:p>
        </p:txBody>
      </p:sp>
      <p:sp>
        <p:nvSpPr>
          <p:cNvPr id="17" name="Rectangle 21">
            <a:extLst>
              <a:ext uri="{FF2B5EF4-FFF2-40B4-BE49-F238E27FC236}">
                <a16:creationId xmlns:a16="http://schemas.microsoft.com/office/drawing/2014/main" id="{EEE47BCA-2577-4464-A172-0E8B71BC9BF1}"/>
              </a:ext>
            </a:extLst>
          </p:cNvPr>
          <p:cNvSpPr>
            <a:spLocks noChangeArrowheads="1"/>
          </p:cNvSpPr>
          <p:nvPr/>
        </p:nvSpPr>
        <p:spPr bwMode="auto">
          <a:xfrm>
            <a:off x="6899586" y="4286362"/>
            <a:ext cx="1447800" cy="30480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dirty="0">
                <a:solidFill>
                  <a:srgbClr val="0000FF"/>
                </a:solidFill>
              </a:rPr>
              <a:t>0</a:t>
            </a:r>
          </a:p>
        </p:txBody>
      </p:sp>
      <p:sp>
        <p:nvSpPr>
          <p:cNvPr id="18" name="Line 24">
            <a:extLst>
              <a:ext uri="{FF2B5EF4-FFF2-40B4-BE49-F238E27FC236}">
                <a16:creationId xmlns:a16="http://schemas.microsoft.com/office/drawing/2014/main" id="{AD0EA787-1B90-4E7A-988A-084605AAA506}"/>
              </a:ext>
            </a:extLst>
          </p:cNvPr>
          <p:cNvSpPr>
            <a:spLocks noChangeShapeType="1"/>
          </p:cNvSpPr>
          <p:nvPr/>
        </p:nvSpPr>
        <p:spPr bwMode="auto">
          <a:xfrm flipH="1" flipV="1">
            <a:off x="5592158" y="4547955"/>
            <a:ext cx="1293097" cy="179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 name="Line 25">
            <a:extLst>
              <a:ext uri="{FF2B5EF4-FFF2-40B4-BE49-F238E27FC236}">
                <a16:creationId xmlns:a16="http://schemas.microsoft.com/office/drawing/2014/main" id="{F055D93F-EB09-4295-A857-056CE3F3798F}"/>
              </a:ext>
            </a:extLst>
          </p:cNvPr>
          <p:cNvSpPr>
            <a:spLocks noChangeShapeType="1"/>
          </p:cNvSpPr>
          <p:nvPr/>
        </p:nvSpPr>
        <p:spPr bwMode="auto">
          <a:xfrm flipV="1">
            <a:off x="5608544" y="2067515"/>
            <a:ext cx="2" cy="249843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Line 26">
            <a:extLst>
              <a:ext uri="{FF2B5EF4-FFF2-40B4-BE49-F238E27FC236}">
                <a16:creationId xmlns:a16="http://schemas.microsoft.com/office/drawing/2014/main" id="{9B815166-35B1-43AF-B386-65ACD50D7238}"/>
              </a:ext>
            </a:extLst>
          </p:cNvPr>
          <p:cNvSpPr>
            <a:spLocks noChangeShapeType="1"/>
          </p:cNvSpPr>
          <p:nvPr/>
        </p:nvSpPr>
        <p:spPr bwMode="auto">
          <a:xfrm>
            <a:off x="5608544" y="2055169"/>
            <a:ext cx="316236" cy="12346"/>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22" name="Group 33">
            <a:extLst>
              <a:ext uri="{FF2B5EF4-FFF2-40B4-BE49-F238E27FC236}">
                <a16:creationId xmlns:a16="http://schemas.microsoft.com/office/drawing/2014/main" id="{1FF86BF6-6690-4F47-B52D-4739A4777FD7}"/>
              </a:ext>
            </a:extLst>
          </p:cNvPr>
          <p:cNvGrpSpPr>
            <a:grpSpLocks/>
          </p:cNvGrpSpPr>
          <p:nvPr/>
        </p:nvGrpSpPr>
        <p:grpSpPr bwMode="auto">
          <a:xfrm>
            <a:off x="7421369" y="1893175"/>
            <a:ext cx="360363" cy="1349375"/>
            <a:chOff x="4790" y="1848"/>
            <a:chExt cx="227" cy="850"/>
          </a:xfrm>
        </p:grpSpPr>
        <p:sp>
          <p:nvSpPr>
            <p:cNvPr id="23" name="Text Box 22">
              <a:extLst>
                <a:ext uri="{FF2B5EF4-FFF2-40B4-BE49-F238E27FC236}">
                  <a16:creationId xmlns:a16="http://schemas.microsoft.com/office/drawing/2014/main" id="{57CBC14D-A34A-473D-8D11-45C7964321F8}"/>
                </a:ext>
              </a:extLst>
            </p:cNvPr>
            <p:cNvSpPr txBox="1">
              <a:spLocks noChangeArrowheads="1"/>
            </p:cNvSpPr>
            <p:nvPr/>
          </p:nvSpPr>
          <p:spPr bwMode="auto">
            <a:xfrm>
              <a:off x="4794" y="1848"/>
              <a:ext cx="22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000" dirty="0">
                  <a:solidFill>
                    <a:srgbClr val="0000FF"/>
                  </a:solidFill>
                </a:rPr>
                <a:t>0</a:t>
              </a:r>
            </a:p>
          </p:txBody>
        </p:sp>
        <p:sp>
          <p:nvSpPr>
            <p:cNvPr id="24" name="Text Box 23">
              <a:extLst>
                <a:ext uri="{FF2B5EF4-FFF2-40B4-BE49-F238E27FC236}">
                  <a16:creationId xmlns:a16="http://schemas.microsoft.com/office/drawing/2014/main" id="{938C79D6-330D-4495-9C7B-95331186D806}"/>
                </a:ext>
              </a:extLst>
            </p:cNvPr>
            <p:cNvSpPr txBox="1">
              <a:spLocks noChangeArrowheads="1"/>
            </p:cNvSpPr>
            <p:nvPr/>
          </p:nvSpPr>
          <p:spPr bwMode="auto">
            <a:xfrm>
              <a:off x="4790" y="2034"/>
              <a:ext cx="22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000" dirty="0">
                  <a:solidFill>
                    <a:srgbClr val="0000FF"/>
                  </a:solidFill>
                </a:rPr>
                <a:t>0</a:t>
              </a:r>
            </a:p>
          </p:txBody>
        </p:sp>
        <p:sp>
          <p:nvSpPr>
            <p:cNvPr id="25" name="Text Box 30">
              <a:extLst>
                <a:ext uri="{FF2B5EF4-FFF2-40B4-BE49-F238E27FC236}">
                  <a16:creationId xmlns:a16="http://schemas.microsoft.com/office/drawing/2014/main" id="{82AEBDF4-C99E-4356-ACDD-185D658B8CC1}"/>
                </a:ext>
              </a:extLst>
            </p:cNvPr>
            <p:cNvSpPr txBox="1">
              <a:spLocks noChangeArrowheads="1"/>
            </p:cNvSpPr>
            <p:nvPr/>
          </p:nvSpPr>
          <p:spPr bwMode="auto">
            <a:xfrm>
              <a:off x="4792" y="2240"/>
              <a:ext cx="22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000" dirty="0">
                  <a:solidFill>
                    <a:srgbClr val="0000FF"/>
                  </a:solidFill>
                </a:rPr>
                <a:t>0</a:t>
              </a:r>
            </a:p>
          </p:txBody>
        </p:sp>
        <p:sp>
          <p:nvSpPr>
            <p:cNvPr id="26" name="Text Box 31">
              <a:extLst>
                <a:ext uri="{FF2B5EF4-FFF2-40B4-BE49-F238E27FC236}">
                  <a16:creationId xmlns:a16="http://schemas.microsoft.com/office/drawing/2014/main" id="{968F9439-7CEC-4A22-A905-160F48DD8F74}"/>
                </a:ext>
              </a:extLst>
            </p:cNvPr>
            <p:cNvSpPr txBox="1">
              <a:spLocks noChangeArrowheads="1"/>
            </p:cNvSpPr>
            <p:nvPr/>
          </p:nvSpPr>
          <p:spPr bwMode="auto">
            <a:xfrm>
              <a:off x="4792" y="2446"/>
              <a:ext cx="22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2000" dirty="0">
                  <a:solidFill>
                    <a:srgbClr val="0000FF"/>
                  </a:solidFill>
                </a:rPr>
                <a:t>0</a:t>
              </a:r>
            </a:p>
          </p:txBody>
        </p:sp>
      </p:grpSp>
      <p:sp>
        <p:nvSpPr>
          <p:cNvPr id="27" name="Rectangle 32">
            <a:extLst>
              <a:ext uri="{FF2B5EF4-FFF2-40B4-BE49-F238E27FC236}">
                <a16:creationId xmlns:a16="http://schemas.microsoft.com/office/drawing/2014/main" id="{32B35643-25DC-4221-8E73-4F30583A9213}"/>
              </a:ext>
            </a:extLst>
          </p:cNvPr>
          <p:cNvSpPr>
            <a:spLocks noChangeArrowheads="1"/>
          </p:cNvSpPr>
          <p:nvPr/>
        </p:nvSpPr>
        <p:spPr bwMode="auto">
          <a:xfrm>
            <a:off x="5967354" y="1915115"/>
            <a:ext cx="850237" cy="279836"/>
          </a:xfrm>
          <a:prstGeom prst="rect">
            <a:avLst/>
          </a:prstGeom>
          <a:noFill/>
          <a:ln w="3810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endParaRPr lang="zh-CN" altLang="en-US"/>
          </a:p>
        </p:txBody>
      </p:sp>
      <p:sp>
        <p:nvSpPr>
          <p:cNvPr id="28" name="Rectangle 21">
            <a:extLst>
              <a:ext uri="{FF2B5EF4-FFF2-40B4-BE49-F238E27FC236}">
                <a16:creationId xmlns:a16="http://schemas.microsoft.com/office/drawing/2014/main" id="{40D2264D-04B9-4654-BFBE-50DED6E3E4E0}"/>
              </a:ext>
            </a:extLst>
          </p:cNvPr>
          <p:cNvSpPr>
            <a:spLocks noChangeArrowheads="1"/>
          </p:cNvSpPr>
          <p:nvPr/>
        </p:nvSpPr>
        <p:spPr bwMode="auto">
          <a:xfrm>
            <a:off x="6904210" y="4591169"/>
            <a:ext cx="1447800" cy="33251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dirty="0">
                <a:solidFill>
                  <a:srgbClr val="0000FF"/>
                </a:solidFill>
              </a:rPr>
              <a:t>0</a:t>
            </a:r>
          </a:p>
        </p:txBody>
      </p:sp>
      <p:sp>
        <p:nvSpPr>
          <p:cNvPr id="29" name="Rectangle 21">
            <a:extLst>
              <a:ext uri="{FF2B5EF4-FFF2-40B4-BE49-F238E27FC236}">
                <a16:creationId xmlns:a16="http://schemas.microsoft.com/office/drawing/2014/main" id="{1E8E2AE6-329E-407E-B51F-45A721E52EB2}"/>
              </a:ext>
            </a:extLst>
          </p:cNvPr>
          <p:cNvSpPr>
            <a:spLocks noChangeArrowheads="1"/>
          </p:cNvSpPr>
          <p:nvPr/>
        </p:nvSpPr>
        <p:spPr bwMode="auto">
          <a:xfrm>
            <a:off x="6904210" y="4923684"/>
            <a:ext cx="1447800" cy="31404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dirty="0">
                <a:solidFill>
                  <a:srgbClr val="0000FF"/>
                </a:solidFill>
              </a:rPr>
              <a:t>0</a:t>
            </a:r>
          </a:p>
        </p:txBody>
      </p:sp>
      <p:sp>
        <p:nvSpPr>
          <p:cNvPr id="30" name="Rectangle 2">
            <a:extLst>
              <a:ext uri="{FF2B5EF4-FFF2-40B4-BE49-F238E27FC236}">
                <a16:creationId xmlns:a16="http://schemas.microsoft.com/office/drawing/2014/main" id="{FA8545D5-2A0F-408C-9258-92811970E565}"/>
              </a:ext>
            </a:extLst>
          </p:cNvPr>
          <p:cNvSpPr txBox="1">
            <a:spLocks noChangeArrowheads="1"/>
          </p:cNvSpPr>
          <p:nvPr/>
        </p:nvSpPr>
        <p:spPr>
          <a:xfrm>
            <a:off x="1101531" y="2566937"/>
            <a:ext cx="3829179" cy="546753"/>
          </a:xfrm>
          <a:prstGeom prst="rect">
            <a:avLst/>
          </a:prstGeom>
          <a:solidFill>
            <a:schemeClr val="bg2"/>
          </a:solid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0000FF"/>
                </a:solidFill>
              </a:rPr>
              <a:t>int</a:t>
            </a:r>
            <a:r>
              <a:rPr lang="zh-CN" altLang="en-US" b="1" dirty="0">
                <a:solidFill>
                  <a:srgbClr val="0000FF"/>
                </a:solidFill>
              </a:rPr>
              <a:t> </a:t>
            </a:r>
            <a:r>
              <a:rPr lang="en-US" altLang="zh-CN" b="1" dirty="0"/>
              <a:t>a = 0</a:t>
            </a:r>
            <a:r>
              <a:rPr lang="zh-CN" altLang="en-US" b="1" dirty="0"/>
              <a:t>；</a:t>
            </a:r>
            <a:endParaRPr lang="en-US" altLang="zh-CN" b="1" dirty="0"/>
          </a:p>
        </p:txBody>
      </p:sp>
      <p:sp>
        <p:nvSpPr>
          <p:cNvPr id="31" name="Rectangle 2">
            <a:extLst>
              <a:ext uri="{FF2B5EF4-FFF2-40B4-BE49-F238E27FC236}">
                <a16:creationId xmlns:a16="http://schemas.microsoft.com/office/drawing/2014/main" id="{EA10C8C4-A16D-4EF1-B359-3A4490D71D4D}"/>
              </a:ext>
            </a:extLst>
          </p:cNvPr>
          <p:cNvSpPr txBox="1">
            <a:spLocks noChangeArrowheads="1"/>
          </p:cNvSpPr>
          <p:nvPr/>
        </p:nvSpPr>
        <p:spPr>
          <a:xfrm>
            <a:off x="1101535" y="3111238"/>
            <a:ext cx="3829169" cy="546753"/>
          </a:xfrm>
          <a:prstGeom prst="rect">
            <a:avLst/>
          </a:prstGeom>
          <a:solidFill>
            <a:schemeClr val="bg2"/>
          </a:solid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0000FF"/>
                </a:solidFill>
              </a:rPr>
              <a:t>int</a:t>
            </a:r>
            <a:r>
              <a:rPr lang="en-US" altLang="zh-CN" b="1" dirty="0"/>
              <a:t> </a:t>
            </a:r>
            <a:r>
              <a:rPr lang="en-US" altLang="zh-CN" b="1" dirty="0">
                <a:solidFill>
                  <a:srgbClr val="FF0000"/>
                </a:solidFill>
              </a:rPr>
              <a:t>*</a:t>
            </a:r>
            <a:r>
              <a:rPr lang="en-US" altLang="zh-CN" b="1" dirty="0"/>
              <a:t>p = </a:t>
            </a:r>
            <a:r>
              <a:rPr lang="en-US" altLang="zh-CN" b="1" dirty="0">
                <a:solidFill>
                  <a:srgbClr val="FF0000"/>
                </a:solidFill>
              </a:rPr>
              <a:t>&amp;</a:t>
            </a:r>
            <a:r>
              <a:rPr lang="en-US" altLang="zh-CN" b="1" dirty="0"/>
              <a:t>a;  </a:t>
            </a:r>
            <a:endParaRPr lang="zh-CN" altLang="en-US" b="1" dirty="0">
              <a:solidFill>
                <a:srgbClr val="00B050"/>
              </a:solidFill>
            </a:endParaRPr>
          </a:p>
        </p:txBody>
      </p:sp>
      <p:sp>
        <p:nvSpPr>
          <p:cNvPr id="32" name="Text Box 3">
            <a:extLst>
              <a:ext uri="{FF2B5EF4-FFF2-40B4-BE49-F238E27FC236}">
                <a16:creationId xmlns:a16="http://schemas.microsoft.com/office/drawing/2014/main" id="{8C176683-A8CC-4579-A603-995F6A9C6E3F}"/>
              </a:ext>
            </a:extLst>
          </p:cNvPr>
          <p:cNvSpPr txBox="1">
            <a:spLocks noChangeArrowheads="1"/>
          </p:cNvSpPr>
          <p:nvPr/>
        </p:nvSpPr>
        <p:spPr bwMode="auto">
          <a:xfrm>
            <a:off x="558493" y="5849978"/>
            <a:ext cx="1183982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zh-CN" altLang="en-US" sz="2800" b="1" dirty="0">
                <a:latin typeface="+mn-ea"/>
                <a:ea typeface="+mn-ea"/>
              </a:rPr>
              <a:t>上述指针变量</a:t>
            </a:r>
            <a:r>
              <a:rPr lang="en-US" altLang="zh-CN" sz="2800" b="1" dirty="0">
                <a:latin typeface="+mn-ea"/>
                <a:ea typeface="+mn-ea"/>
              </a:rPr>
              <a:t>p</a:t>
            </a:r>
            <a:r>
              <a:rPr lang="zh-CN" altLang="en-US" sz="2800" b="1" dirty="0">
                <a:latin typeface="+mn-ea"/>
                <a:ea typeface="+mn-ea"/>
              </a:rPr>
              <a:t>存储了变量</a:t>
            </a:r>
            <a:r>
              <a:rPr lang="en-US" altLang="zh-CN" sz="2800" b="1" dirty="0">
                <a:latin typeface="+mn-ea"/>
                <a:ea typeface="+mn-ea"/>
              </a:rPr>
              <a:t>a</a:t>
            </a:r>
            <a:r>
              <a:rPr lang="zh-CN" altLang="en-US" sz="2800" b="1" dirty="0">
                <a:latin typeface="+mn-ea"/>
                <a:ea typeface="+mn-ea"/>
              </a:rPr>
              <a:t>的地址，我们也可以形象地说</a:t>
            </a:r>
            <a:r>
              <a:rPr lang="en-US" altLang="zh-CN" sz="2800" b="1" dirty="0">
                <a:latin typeface="+mn-ea"/>
                <a:ea typeface="+mn-ea"/>
              </a:rPr>
              <a:t>p</a:t>
            </a:r>
            <a:r>
              <a:rPr lang="zh-CN" altLang="en-US" sz="2800" b="1" dirty="0">
                <a:latin typeface="+mn-ea"/>
                <a:ea typeface="+mn-ea"/>
              </a:rPr>
              <a:t>“</a:t>
            </a:r>
            <a:r>
              <a:rPr lang="zh-CN" altLang="en-US" sz="2800" b="1" dirty="0">
                <a:solidFill>
                  <a:srgbClr val="00B0F0"/>
                </a:solidFill>
                <a:latin typeface="+mn-ea"/>
                <a:ea typeface="+mn-ea"/>
              </a:rPr>
              <a:t>指向</a:t>
            </a:r>
            <a:r>
              <a:rPr lang="zh-CN" altLang="en-US" sz="2800" b="1" dirty="0">
                <a:latin typeface="+mn-ea"/>
                <a:ea typeface="+mn-ea"/>
              </a:rPr>
              <a:t>”了</a:t>
            </a:r>
            <a:r>
              <a:rPr lang="en-US" altLang="zh-CN" sz="2800" b="1" dirty="0">
                <a:latin typeface="+mn-ea"/>
                <a:ea typeface="+mn-ea"/>
              </a:rPr>
              <a:t>a</a:t>
            </a:r>
            <a:r>
              <a:rPr lang="zh-CN" altLang="en-US" sz="2800" b="1" dirty="0">
                <a:latin typeface="+mn-ea"/>
                <a:ea typeface="+mn-ea"/>
              </a:rPr>
              <a:t>。</a:t>
            </a:r>
            <a:endParaRPr lang="zh-CN" altLang="en-US" dirty="0">
              <a:latin typeface="+mn-ea"/>
              <a:ea typeface="+mn-ea"/>
            </a:endParaRPr>
          </a:p>
        </p:txBody>
      </p:sp>
      <p:sp>
        <p:nvSpPr>
          <p:cNvPr id="33" name="AutoShape 17">
            <a:extLst>
              <a:ext uri="{FF2B5EF4-FFF2-40B4-BE49-F238E27FC236}">
                <a16:creationId xmlns:a16="http://schemas.microsoft.com/office/drawing/2014/main" id="{243B5DE4-54FA-4443-9EA8-E54CCE9AF6F4}"/>
              </a:ext>
            </a:extLst>
          </p:cNvPr>
          <p:cNvSpPr>
            <a:spLocks/>
          </p:cNvSpPr>
          <p:nvPr/>
        </p:nvSpPr>
        <p:spPr bwMode="auto">
          <a:xfrm>
            <a:off x="8355903" y="3994481"/>
            <a:ext cx="381000" cy="1243243"/>
          </a:xfrm>
          <a:prstGeom prst="rightBracket">
            <a:avLst>
              <a:gd name="adj" fmla="val 0"/>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dirty="0">
                <a:solidFill>
                  <a:srgbClr val="0000FF"/>
                </a:solidFill>
                <a:ea typeface="楷体_GB2312" pitchFamily="49" charset="-122"/>
              </a:rPr>
              <a:t>p</a:t>
            </a:r>
          </a:p>
          <a:p>
            <a:pPr algn="ctr"/>
            <a:r>
              <a:rPr lang="zh-CN" altLang="en-US" sz="1200" b="1" dirty="0">
                <a:solidFill>
                  <a:srgbClr val="0000FF"/>
                </a:solidFill>
                <a:ea typeface="楷体_GB2312" pitchFamily="49" charset="-122"/>
              </a:rPr>
              <a:t>的</a:t>
            </a:r>
          </a:p>
          <a:p>
            <a:pPr algn="ctr"/>
            <a:r>
              <a:rPr lang="zh-CN" altLang="en-US" sz="1200" b="1" dirty="0">
                <a:solidFill>
                  <a:srgbClr val="0000FF"/>
                </a:solidFill>
                <a:ea typeface="楷体_GB2312" pitchFamily="49" charset="-122"/>
              </a:rPr>
              <a:t>存</a:t>
            </a:r>
            <a:endParaRPr lang="en-US" altLang="zh-CN" sz="1200" b="1" dirty="0">
              <a:solidFill>
                <a:srgbClr val="0000FF"/>
              </a:solidFill>
              <a:ea typeface="楷体_GB2312" pitchFamily="49" charset="-122"/>
            </a:endParaRPr>
          </a:p>
          <a:p>
            <a:pPr algn="ctr"/>
            <a:r>
              <a:rPr lang="zh-CN" altLang="en-US" sz="1200" b="1" dirty="0">
                <a:solidFill>
                  <a:srgbClr val="0000FF"/>
                </a:solidFill>
                <a:ea typeface="楷体_GB2312" pitchFamily="49" charset="-122"/>
              </a:rPr>
              <a:t>储</a:t>
            </a:r>
            <a:endParaRPr lang="en-US" altLang="zh-CN" sz="1200" b="1" dirty="0">
              <a:solidFill>
                <a:srgbClr val="0000FF"/>
              </a:solidFill>
              <a:ea typeface="楷体_GB2312" pitchFamily="49" charset="-122"/>
            </a:endParaRPr>
          </a:p>
          <a:p>
            <a:pPr algn="ctr"/>
            <a:r>
              <a:rPr lang="zh-CN" altLang="en-US" sz="1200" b="1" dirty="0">
                <a:solidFill>
                  <a:srgbClr val="0000FF"/>
                </a:solidFill>
                <a:ea typeface="楷体_GB2312" pitchFamily="49" charset="-122"/>
              </a:rPr>
              <a:t>空</a:t>
            </a:r>
            <a:endParaRPr lang="en-US" altLang="zh-CN" sz="1200" b="1" dirty="0">
              <a:solidFill>
                <a:srgbClr val="0000FF"/>
              </a:solidFill>
              <a:ea typeface="楷体_GB2312" pitchFamily="49" charset="-122"/>
            </a:endParaRPr>
          </a:p>
          <a:p>
            <a:pPr algn="ctr"/>
            <a:r>
              <a:rPr lang="zh-CN" altLang="en-US" sz="1200" b="1" dirty="0">
                <a:solidFill>
                  <a:srgbClr val="0000FF"/>
                </a:solidFill>
                <a:ea typeface="楷体_GB2312" pitchFamily="49" charset="-122"/>
              </a:rPr>
              <a:t>间</a:t>
            </a:r>
          </a:p>
        </p:txBody>
      </p:sp>
      <p:sp>
        <p:nvSpPr>
          <p:cNvPr id="36" name="Rectangle 8">
            <a:extLst>
              <a:ext uri="{FF2B5EF4-FFF2-40B4-BE49-F238E27FC236}">
                <a16:creationId xmlns:a16="http://schemas.microsoft.com/office/drawing/2014/main" id="{99C27AB7-04CD-40B2-9A9A-0DE1F9AE4BCA}"/>
              </a:ext>
            </a:extLst>
          </p:cNvPr>
          <p:cNvSpPr>
            <a:spLocks noChangeArrowheads="1"/>
          </p:cNvSpPr>
          <p:nvPr/>
        </p:nvSpPr>
        <p:spPr bwMode="auto">
          <a:xfrm>
            <a:off x="6903844" y="3988489"/>
            <a:ext cx="1447800" cy="29787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7" name="Rectangle 9">
            <a:extLst>
              <a:ext uri="{FF2B5EF4-FFF2-40B4-BE49-F238E27FC236}">
                <a16:creationId xmlns:a16="http://schemas.microsoft.com/office/drawing/2014/main" id="{BCEA5FE9-64F1-47AA-B4B7-636D1258B474}"/>
              </a:ext>
            </a:extLst>
          </p:cNvPr>
          <p:cNvSpPr>
            <a:spLocks noChangeArrowheads="1"/>
          </p:cNvSpPr>
          <p:nvPr/>
        </p:nvSpPr>
        <p:spPr bwMode="auto">
          <a:xfrm>
            <a:off x="6903844" y="4288677"/>
            <a:ext cx="1447800" cy="30249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8" name="Rectangle 10">
            <a:extLst>
              <a:ext uri="{FF2B5EF4-FFF2-40B4-BE49-F238E27FC236}">
                <a16:creationId xmlns:a16="http://schemas.microsoft.com/office/drawing/2014/main" id="{CB4D8E98-6B2C-47DB-9467-AEF00086C1C8}"/>
              </a:ext>
            </a:extLst>
          </p:cNvPr>
          <p:cNvSpPr>
            <a:spLocks noChangeArrowheads="1"/>
          </p:cNvSpPr>
          <p:nvPr/>
        </p:nvSpPr>
        <p:spPr bwMode="auto">
          <a:xfrm>
            <a:off x="6903844" y="4588865"/>
            <a:ext cx="1447800" cy="3348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9" name="Rectangle 11">
            <a:extLst>
              <a:ext uri="{FF2B5EF4-FFF2-40B4-BE49-F238E27FC236}">
                <a16:creationId xmlns:a16="http://schemas.microsoft.com/office/drawing/2014/main" id="{85DEDCC2-C26C-4840-81A1-64E9EC743B2C}"/>
              </a:ext>
            </a:extLst>
          </p:cNvPr>
          <p:cNvSpPr>
            <a:spLocks noChangeArrowheads="1"/>
          </p:cNvSpPr>
          <p:nvPr/>
        </p:nvSpPr>
        <p:spPr bwMode="auto">
          <a:xfrm>
            <a:off x="6903844" y="4925997"/>
            <a:ext cx="1447800" cy="31172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 name="灯片编号占位符 20">
            <a:extLst>
              <a:ext uri="{FF2B5EF4-FFF2-40B4-BE49-F238E27FC236}">
                <a16:creationId xmlns:a16="http://schemas.microsoft.com/office/drawing/2014/main" id="{7BE1DEEF-628D-41E7-A333-1369A8A0C27E}"/>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4</a:t>
            </a:fld>
            <a:r>
              <a:rPr lang="en-US" altLang="zh-CN">
                <a:solidFill>
                  <a:prstClr val="black">
                    <a:tint val="75000"/>
                  </a:prstClr>
                </a:solidFill>
              </a:rPr>
              <a:t>/ 35</a:t>
            </a:r>
            <a:endParaRPr lang="zh-CN" altLang="en-US" dirty="0"/>
          </a:p>
        </p:txBody>
      </p:sp>
    </p:spTree>
    <p:extLst>
      <p:ext uri="{BB962C8B-B14F-4D97-AF65-F5344CB8AC3E}">
        <p14:creationId xmlns:p14="http://schemas.microsoft.com/office/powerpoint/2010/main" val="3197023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1000"/>
                                        <p:tgtEl>
                                          <p:spTgt spid="30"/>
                                        </p:tgtEl>
                                      </p:cBhvr>
                                    </p:animEffect>
                                    <p:anim calcmode="lin" valueType="num">
                                      <p:cBhvr>
                                        <p:cTn id="8" dur="1000" fill="hold"/>
                                        <p:tgtEl>
                                          <p:spTgt spid="30"/>
                                        </p:tgtEl>
                                        <p:attrNameLst>
                                          <p:attrName>ppt_x</p:attrName>
                                        </p:attrNameLst>
                                      </p:cBhvr>
                                      <p:tavLst>
                                        <p:tav tm="0">
                                          <p:val>
                                            <p:strVal val="#ppt_x"/>
                                          </p:val>
                                        </p:tav>
                                        <p:tav tm="100000">
                                          <p:val>
                                            <p:strVal val="#ppt_x"/>
                                          </p:val>
                                        </p:tav>
                                      </p:tavLst>
                                    </p:anim>
                                    <p:anim calcmode="lin" valueType="num">
                                      <p:cBhvr>
                                        <p:cTn id="9"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499"/>
                                          </p:stCondLst>
                                        </p:cTn>
                                        <p:tgtEl>
                                          <p:spTgt spid="4"/>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499"/>
                                          </p:stCondLst>
                                        </p:cTn>
                                        <p:tgtEl>
                                          <p:spTgt spid="5"/>
                                        </p:tgtEl>
                                        <p:attrNameLst>
                                          <p:attrName>style.visibility</p:attrName>
                                        </p:attrNameLst>
                                      </p:cBhvr>
                                      <p:to>
                                        <p:strVal val="visible"/>
                                      </p:to>
                                    </p:set>
                                  </p:childTnLst>
                                </p:cTn>
                              </p:par>
                            </p:childTnLst>
                          </p:cTn>
                        </p:par>
                        <p:par>
                          <p:cTn id="16" fill="hold">
                            <p:stCondLst>
                              <p:cond delay="500"/>
                            </p:stCondLst>
                            <p:childTnLst>
                              <p:par>
                                <p:cTn id="17" presetID="23" presetClass="entr" presetSubtype="16" fill="hold" grpId="0" nodeType="after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p:cTn id="19" dur="500" fill="hold"/>
                                        <p:tgtEl>
                                          <p:spTgt spid="6"/>
                                        </p:tgtEl>
                                        <p:attrNameLst>
                                          <p:attrName>ppt_w</p:attrName>
                                        </p:attrNameLst>
                                      </p:cBhvr>
                                      <p:tavLst>
                                        <p:tav tm="0">
                                          <p:val>
                                            <p:fltVal val="0"/>
                                          </p:val>
                                        </p:tav>
                                        <p:tav tm="100000">
                                          <p:val>
                                            <p:strVal val="#ppt_w"/>
                                          </p:val>
                                        </p:tav>
                                      </p:tavLst>
                                    </p:anim>
                                    <p:anim calcmode="lin" valueType="num">
                                      <p:cBhvr>
                                        <p:cTn id="20" dur="500" fill="hold"/>
                                        <p:tgtEl>
                                          <p:spTgt spid="6"/>
                                        </p:tgtEl>
                                        <p:attrNameLst>
                                          <p:attrName>ppt_h</p:attrName>
                                        </p:attrNameLst>
                                      </p:cBhvr>
                                      <p:tavLst>
                                        <p:tav tm="0">
                                          <p:val>
                                            <p:fltVal val="0"/>
                                          </p:val>
                                        </p:tav>
                                        <p:tav tm="100000">
                                          <p:val>
                                            <p:strVal val="#ppt_h"/>
                                          </p:val>
                                        </p:tav>
                                      </p:tavLst>
                                    </p:anim>
                                  </p:childTnLst>
                                </p:cTn>
                              </p:par>
                            </p:childTnLst>
                          </p:cTn>
                        </p:par>
                        <p:par>
                          <p:cTn id="21" fill="hold">
                            <p:stCondLst>
                              <p:cond delay="1000"/>
                            </p:stCondLst>
                            <p:childTnLst>
                              <p:par>
                                <p:cTn id="22" presetID="23" presetClass="entr" presetSubtype="16" fill="hold" grpId="0" nodeType="after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p:cTn id="24" dur="500" fill="hold"/>
                                        <p:tgtEl>
                                          <p:spTgt spid="7"/>
                                        </p:tgtEl>
                                        <p:attrNameLst>
                                          <p:attrName>ppt_w</p:attrName>
                                        </p:attrNameLst>
                                      </p:cBhvr>
                                      <p:tavLst>
                                        <p:tav tm="0">
                                          <p:val>
                                            <p:fltVal val="0"/>
                                          </p:val>
                                        </p:tav>
                                        <p:tav tm="100000">
                                          <p:val>
                                            <p:strVal val="#ppt_w"/>
                                          </p:val>
                                        </p:tav>
                                      </p:tavLst>
                                    </p:anim>
                                    <p:anim calcmode="lin" valueType="num">
                                      <p:cBhvr>
                                        <p:cTn id="25" dur="500" fill="hold"/>
                                        <p:tgtEl>
                                          <p:spTgt spid="7"/>
                                        </p:tgtEl>
                                        <p:attrNameLst>
                                          <p:attrName>ppt_h</p:attrName>
                                        </p:attrNameLst>
                                      </p:cBhvr>
                                      <p:tavLst>
                                        <p:tav tm="0">
                                          <p:val>
                                            <p:fltVal val="0"/>
                                          </p:val>
                                        </p:tav>
                                        <p:tav tm="100000">
                                          <p:val>
                                            <p:strVal val="#ppt_h"/>
                                          </p:val>
                                        </p:tav>
                                      </p:tavLst>
                                    </p:anim>
                                  </p:childTnLst>
                                </p:cTn>
                              </p:par>
                            </p:childTnLst>
                          </p:cTn>
                        </p:par>
                        <p:par>
                          <p:cTn id="26" fill="hold">
                            <p:stCondLst>
                              <p:cond delay="1500"/>
                            </p:stCondLst>
                            <p:childTnLst>
                              <p:par>
                                <p:cTn id="27" presetID="23" presetClass="entr" presetSubtype="16"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p:cTn id="29" dur="500" fill="hold"/>
                                        <p:tgtEl>
                                          <p:spTgt spid="8"/>
                                        </p:tgtEl>
                                        <p:attrNameLst>
                                          <p:attrName>ppt_w</p:attrName>
                                        </p:attrNameLst>
                                      </p:cBhvr>
                                      <p:tavLst>
                                        <p:tav tm="0">
                                          <p:val>
                                            <p:fltVal val="0"/>
                                          </p:val>
                                        </p:tav>
                                        <p:tav tm="100000">
                                          <p:val>
                                            <p:strVal val="#ppt_w"/>
                                          </p:val>
                                        </p:tav>
                                      </p:tavLst>
                                    </p:anim>
                                    <p:anim calcmode="lin" valueType="num">
                                      <p:cBhvr>
                                        <p:cTn id="30" dur="500" fill="hold"/>
                                        <p:tgtEl>
                                          <p:spTgt spid="8"/>
                                        </p:tgtEl>
                                        <p:attrNameLst>
                                          <p:attrName>ppt_h</p:attrName>
                                        </p:attrNameLst>
                                      </p:cBhvr>
                                      <p:tavLst>
                                        <p:tav tm="0">
                                          <p:val>
                                            <p:fltVal val="0"/>
                                          </p:val>
                                        </p:tav>
                                        <p:tav tm="100000">
                                          <p:val>
                                            <p:strVal val="#ppt_h"/>
                                          </p:val>
                                        </p:tav>
                                      </p:tavLst>
                                    </p:anim>
                                  </p:childTnLst>
                                </p:cTn>
                              </p:par>
                            </p:childTnLst>
                          </p:cTn>
                        </p:par>
                        <p:par>
                          <p:cTn id="31" fill="hold">
                            <p:stCondLst>
                              <p:cond delay="2000"/>
                            </p:stCondLst>
                            <p:childTnLst>
                              <p:par>
                                <p:cTn id="32" presetID="23" presetClass="entr" presetSubtype="16" fill="hold" grpId="0" nodeType="afterEffect">
                                  <p:stCondLst>
                                    <p:cond delay="0"/>
                                  </p:stCondLst>
                                  <p:childTnLst>
                                    <p:set>
                                      <p:cBhvr>
                                        <p:cTn id="33" dur="1" fill="hold">
                                          <p:stCondLst>
                                            <p:cond delay="0"/>
                                          </p:stCondLst>
                                        </p:cTn>
                                        <p:tgtEl>
                                          <p:spTgt spid="9"/>
                                        </p:tgtEl>
                                        <p:attrNameLst>
                                          <p:attrName>style.visibility</p:attrName>
                                        </p:attrNameLst>
                                      </p:cBhvr>
                                      <p:to>
                                        <p:strVal val="visible"/>
                                      </p:to>
                                    </p:set>
                                    <p:anim calcmode="lin" valueType="num">
                                      <p:cBhvr>
                                        <p:cTn id="34" dur="500" fill="hold"/>
                                        <p:tgtEl>
                                          <p:spTgt spid="9"/>
                                        </p:tgtEl>
                                        <p:attrNameLst>
                                          <p:attrName>ppt_w</p:attrName>
                                        </p:attrNameLst>
                                      </p:cBhvr>
                                      <p:tavLst>
                                        <p:tav tm="0">
                                          <p:val>
                                            <p:fltVal val="0"/>
                                          </p:val>
                                        </p:tav>
                                        <p:tav tm="100000">
                                          <p:val>
                                            <p:strVal val="#ppt_w"/>
                                          </p:val>
                                        </p:tav>
                                      </p:tavLst>
                                    </p:anim>
                                    <p:anim calcmode="lin" valueType="num">
                                      <p:cBhvr>
                                        <p:cTn id="35" dur="500" fill="hold"/>
                                        <p:tgtEl>
                                          <p:spTgt spid="9"/>
                                        </p:tgtEl>
                                        <p:attrNameLst>
                                          <p:attrName>ppt_h</p:attrName>
                                        </p:attrNameLst>
                                      </p:cBhvr>
                                      <p:tavLst>
                                        <p:tav tm="0">
                                          <p:val>
                                            <p:fltVal val="0"/>
                                          </p:val>
                                        </p:tav>
                                        <p:tav tm="100000">
                                          <p:val>
                                            <p:strVal val="#ppt_h"/>
                                          </p:val>
                                        </p:tav>
                                      </p:tavLst>
                                    </p:anim>
                                  </p:childTnLst>
                                </p:cTn>
                              </p:par>
                              <p:par>
                                <p:cTn id="36" presetID="16" presetClass="entr" presetSubtype="42"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barn(outHorizontal)">
                                      <p:cBhvr>
                                        <p:cTn id="38" dur="500"/>
                                        <p:tgtEl>
                                          <p:spTgt spid="14"/>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nodeType="click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wipe(down)">
                                      <p:cBhvr>
                                        <p:cTn id="43" dur="500"/>
                                        <p:tgtEl>
                                          <p:spTgt spid="22"/>
                                        </p:tgtEl>
                                      </p:cBhvr>
                                    </p:animEffect>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31"/>
                                        </p:tgtEl>
                                        <p:attrNameLst>
                                          <p:attrName>style.visibility</p:attrName>
                                        </p:attrNameLst>
                                      </p:cBhvr>
                                      <p:to>
                                        <p:strVal val="visible"/>
                                      </p:to>
                                    </p:set>
                                    <p:animEffect transition="in" filter="fade">
                                      <p:cBhvr>
                                        <p:cTn id="48" dur="1000"/>
                                        <p:tgtEl>
                                          <p:spTgt spid="31"/>
                                        </p:tgtEl>
                                      </p:cBhvr>
                                    </p:animEffect>
                                    <p:anim calcmode="lin" valueType="num">
                                      <p:cBhvr>
                                        <p:cTn id="49" dur="1000" fill="hold"/>
                                        <p:tgtEl>
                                          <p:spTgt spid="31"/>
                                        </p:tgtEl>
                                        <p:attrNameLst>
                                          <p:attrName>ppt_x</p:attrName>
                                        </p:attrNameLst>
                                      </p:cBhvr>
                                      <p:tavLst>
                                        <p:tav tm="0">
                                          <p:val>
                                            <p:strVal val="#ppt_x"/>
                                          </p:val>
                                        </p:tav>
                                        <p:tav tm="100000">
                                          <p:val>
                                            <p:strVal val="#ppt_x"/>
                                          </p:val>
                                        </p:tav>
                                      </p:tavLst>
                                    </p:anim>
                                    <p:anim calcmode="lin" valueType="num">
                                      <p:cBhvr>
                                        <p:cTn id="50"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16" presetClass="entr" presetSubtype="42" fill="hold" grpId="0" nodeType="clickEffect">
                                  <p:stCondLst>
                                    <p:cond delay="0"/>
                                  </p:stCondLst>
                                  <p:childTnLst>
                                    <p:set>
                                      <p:cBhvr>
                                        <p:cTn id="54" dur="1" fill="hold">
                                          <p:stCondLst>
                                            <p:cond delay="0"/>
                                          </p:stCondLst>
                                        </p:cTn>
                                        <p:tgtEl>
                                          <p:spTgt spid="33"/>
                                        </p:tgtEl>
                                        <p:attrNameLst>
                                          <p:attrName>style.visibility</p:attrName>
                                        </p:attrNameLst>
                                      </p:cBhvr>
                                      <p:to>
                                        <p:strVal val="visible"/>
                                      </p:to>
                                    </p:set>
                                    <p:animEffect transition="in" filter="barn(outHorizontal)">
                                      <p:cBhvr>
                                        <p:cTn id="55" dur="500"/>
                                        <p:tgtEl>
                                          <p:spTgt spid="33"/>
                                        </p:tgtEl>
                                      </p:cBhvr>
                                    </p:animEffect>
                                  </p:childTnLst>
                                </p:cTn>
                              </p:par>
                            </p:childTnLst>
                          </p:cTn>
                        </p:par>
                        <p:par>
                          <p:cTn id="56" fill="hold">
                            <p:stCondLst>
                              <p:cond delay="500"/>
                            </p:stCondLst>
                            <p:childTnLst>
                              <p:par>
                                <p:cTn id="57" presetID="23" presetClass="entr" presetSubtype="16" fill="hold" grpId="0" nodeType="afterEffect">
                                  <p:stCondLst>
                                    <p:cond delay="0"/>
                                  </p:stCondLst>
                                  <p:childTnLst>
                                    <p:set>
                                      <p:cBhvr>
                                        <p:cTn id="58" dur="1" fill="hold">
                                          <p:stCondLst>
                                            <p:cond delay="0"/>
                                          </p:stCondLst>
                                        </p:cTn>
                                        <p:tgtEl>
                                          <p:spTgt spid="36"/>
                                        </p:tgtEl>
                                        <p:attrNameLst>
                                          <p:attrName>style.visibility</p:attrName>
                                        </p:attrNameLst>
                                      </p:cBhvr>
                                      <p:to>
                                        <p:strVal val="visible"/>
                                      </p:to>
                                    </p:set>
                                    <p:anim calcmode="lin" valueType="num">
                                      <p:cBhvr>
                                        <p:cTn id="59" dur="500" fill="hold"/>
                                        <p:tgtEl>
                                          <p:spTgt spid="36"/>
                                        </p:tgtEl>
                                        <p:attrNameLst>
                                          <p:attrName>ppt_w</p:attrName>
                                        </p:attrNameLst>
                                      </p:cBhvr>
                                      <p:tavLst>
                                        <p:tav tm="0">
                                          <p:val>
                                            <p:fltVal val="0"/>
                                          </p:val>
                                        </p:tav>
                                        <p:tav tm="100000">
                                          <p:val>
                                            <p:strVal val="#ppt_w"/>
                                          </p:val>
                                        </p:tav>
                                      </p:tavLst>
                                    </p:anim>
                                    <p:anim calcmode="lin" valueType="num">
                                      <p:cBhvr>
                                        <p:cTn id="60" dur="500" fill="hold"/>
                                        <p:tgtEl>
                                          <p:spTgt spid="36"/>
                                        </p:tgtEl>
                                        <p:attrNameLst>
                                          <p:attrName>ppt_h</p:attrName>
                                        </p:attrNameLst>
                                      </p:cBhvr>
                                      <p:tavLst>
                                        <p:tav tm="0">
                                          <p:val>
                                            <p:fltVal val="0"/>
                                          </p:val>
                                        </p:tav>
                                        <p:tav tm="100000">
                                          <p:val>
                                            <p:strVal val="#ppt_h"/>
                                          </p:val>
                                        </p:tav>
                                      </p:tavLst>
                                    </p:anim>
                                  </p:childTnLst>
                                </p:cTn>
                              </p:par>
                            </p:childTnLst>
                          </p:cTn>
                        </p:par>
                        <p:par>
                          <p:cTn id="61" fill="hold">
                            <p:stCondLst>
                              <p:cond delay="1000"/>
                            </p:stCondLst>
                            <p:childTnLst>
                              <p:par>
                                <p:cTn id="62" presetID="23" presetClass="entr" presetSubtype="16" fill="hold" grpId="0" nodeType="afterEffect">
                                  <p:stCondLst>
                                    <p:cond delay="0"/>
                                  </p:stCondLst>
                                  <p:childTnLst>
                                    <p:set>
                                      <p:cBhvr>
                                        <p:cTn id="63" dur="1" fill="hold">
                                          <p:stCondLst>
                                            <p:cond delay="0"/>
                                          </p:stCondLst>
                                        </p:cTn>
                                        <p:tgtEl>
                                          <p:spTgt spid="37"/>
                                        </p:tgtEl>
                                        <p:attrNameLst>
                                          <p:attrName>style.visibility</p:attrName>
                                        </p:attrNameLst>
                                      </p:cBhvr>
                                      <p:to>
                                        <p:strVal val="visible"/>
                                      </p:to>
                                    </p:set>
                                    <p:anim calcmode="lin" valueType="num">
                                      <p:cBhvr>
                                        <p:cTn id="64" dur="500" fill="hold"/>
                                        <p:tgtEl>
                                          <p:spTgt spid="37"/>
                                        </p:tgtEl>
                                        <p:attrNameLst>
                                          <p:attrName>ppt_w</p:attrName>
                                        </p:attrNameLst>
                                      </p:cBhvr>
                                      <p:tavLst>
                                        <p:tav tm="0">
                                          <p:val>
                                            <p:fltVal val="0"/>
                                          </p:val>
                                        </p:tav>
                                        <p:tav tm="100000">
                                          <p:val>
                                            <p:strVal val="#ppt_w"/>
                                          </p:val>
                                        </p:tav>
                                      </p:tavLst>
                                    </p:anim>
                                    <p:anim calcmode="lin" valueType="num">
                                      <p:cBhvr>
                                        <p:cTn id="65" dur="500" fill="hold"/>
                                        <p:tgtEl>
                                          <p:spTgt spid="37"/>
                                        </p:tgtEl>
                                        <p:attrNameLst>
                                          <p:attrName>ppt_h</p:attrName>
                                        </p:attrNameLst>
                                      </p:cBhvr>
                                      <p:tavLst>
                                        <p:tav tm="0">
                                          <p:val>
                                            <p:fltVal val="0"/>
                                          </p:val>
                                        </p:tav>
                                        <p:tav tm="100000">
                                          <p:val>
                                            <p:strVal val="#ppt_h"/>
                                          </p:val>
                                        </p:tav>
                                      </p:tavLst>
                                    </p:anim>
                                  </p:childTnLst>
                                </p:cTn>
                              </p:par>
                            </p:childTnLst>
                          </p:cTn>
                        </p:par>
                        <p:par>
                          <p:cTn id="66" fill="hold">
                            <p:stCondLst>
                              <p:cond delay="1500"/>
                            </p:stCondLst>
                            <p:childTnLst>
                              <p:par>
                                <p:cTn id="67" presetID="23" presetClass="entr" presetSubtype="16" fill="hold" grpId="0" nodeType="afterEffect">
                                  <p:stCondLst>
                                    <p:cond delay="0"/>
                                  </p:stCondLst>
                                  <p:childTnLst>
                                    <p:set>
                                      <p:cBhvr>
                                        <p:cTn id="68" dur="1" fill="hold">
                                          <p:stCondLst>
                                            <p:cond delay="0"/>
                                          </p:stCondLst>
                                        </p:cTn>
                                        <p:tgtEl>
                                          <p:spTgt spid="38"/>
                                        </p:tgtEl>
                                        <p:attrNameLst>
                                          <p:attrName>style.visibility</p:attrName>
                                        </p:attrNameLst>
                                      </p:cBhvr>
                                      <p:to>
                                        <p:strVal val="visible"/>
                                      </p:to>
                                    </p:set>
                                    <p:anim calcmode="lin" valueType="num">
                                      <p:cBhvr>
                                        <p:cTn id="69" dur="500" fill="hold"/>
                                        <p:tgtEl>
                                          <p:spTgt spid="38"/>
                                        </p:tgtEl>
                                        <p:attrNameLst>
                                          <p:attrName>ppt_w</p:attrName>
                                        </p:attrNameLst>
                                      </p:cBhvr>
                                      <p:tavLst>
                                        <p:tav tm="0">
                                          <p:val>
                                            <p:fltVal val="0"/>
                                          </p:val>
                                        </p:tav>
                                        <p:tav tm="100000">
                                          <p:val>
                                            <p:strVal val="#ppt_w"/>
                                          </p:val>
                                        </p:tav>
                                      </p:tavLst>
                                    </p:anim>
                                    <p:anim calcmode="lin" valueType="num">
                                      <p:cBhvr>
                                        <p:cTn id="70" dur="500" fill="hold"/>
                                        <p:tgtEl>
                                          <p:spTgt spid="38"/>
                                        </p:tgtEl>
                                        <p:attrNameLst>
                                          <p:attrName>ppt_h</p:attrName>
                                        </p:attrNameLst>
                                      </p:cBhvr>
                                      <p:tavLst>
                                        <p:tav tm="0">
                                          <p:val>
                                            <p:fltVal val="0"/>
                                          </p:val>
                                        </p:tav>
                                        <p:tav tm="100000">
                                          <p:val>
                                            <p:strVal val="#ppt_h"/>
                                          </p:val>
                                        </p:tav>
                                      </p:tavLst>
                                    </p:anim>
                                  </p:childTnLst>
                                </p:cTn>
                              </p:par>
                            </p:childTnLst>
                          </p:cTn>
                        </p:par>
                        <p:par>
                          <p:cTn id="71" fill="hold">
                            <p:stCondLst>
                              <p:cond delay="2000"/>
                            </p:stCondLst>
                            <p:childTnLst>
                              <p:par>
                                <p:cTn id="72" presetID="23" presetClass="entr" presetSubtype="16" fill="hold" grpId="0" nodeType="afterEffect">
                                  <p:stCondLst>
                                    <p:cond delay="0"/>
                                  </p:stCondLst>
                                  <p:childTnLst>
                                    <p:set>
                                      <p:cBhvr>
                                        <p:cTn id="73" dur="1" fill="hold">
                                          <p:stCondLst>
                                            <p:cond delay="0"/>
                                          </p:stCondLst>
                                        </p:cTn>
                                        <p:tgtEl>
                                          <p:spTgt spid="39"/>
                                        </p:tgtEl>
                                        <p:attrNameLst>
                                          <p:attrName>style.visibility</p:attrName>
                                        </p:attrNameLst>
                                      </p:cBhvr>
                                      <p:to>
                                        <p:strVal val="visible"/>
                                      </p:to>
                                    </p:set>
                                    <p:anim calcmode="lin" valueType="num">
                                      <p:cBhvr>
                                        <p:cTn id="74" dur="500" fill="hold"/>
                                        <p:tgtEl>
                                          <p:spTgt spid="39"/>
                                        </p:tgtEl>
                                        <p:attrNameLst>
                                          <p:attrName>ppt_w</p:attrName>
                                        </p:attrNameLst>
                                      </p:cBhvr>
                                      <p:tavLst>
                                        <p:tav tm="0">
                                          <p:val>
                                            <p:fltVal val="0"/>
                                          </p:val>
                                        </p:tav>
                                        <p:tav tm="100000">
                                          <p:val>
                                            <p:strVal val="#ppt_w"/>
                                          </p:val>
                                        </p:tav>
                                      </p:tavLst>
                                    </p:anim>
                                    <p:anim calcmode="lin" valueType="num">
                                      <p:cBhvr>
                                        <p:cTn id="75" dur="500" fill="hold"/>
                                        <p:tgtEl>
                                          <p:spTgt spid="39"/>
                                        </p:tgtEl>
                                        <p:attrNameLst>
                                          <p:attrName>ppt_h</p:attrName>
                                        </p:attrNameLst>
                                      </p:cBhvr>
                                      <p:tavLst>
                                        <p:tav tm="0">
                                          <p:val>
                                            <p:fltVal val="0"/>
                                          </p:val>
                                        </p:tav>
                                        <p:tav tm="100000">
                                          <p:val>
                                            <p:strVal val="#ppt_h"/>
                                          </p:val>
                                        </p:tav>
                                      </p:tavLst>
                                    </p:anim>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grpId="0" nodeType="clickEffect">
                                  <p:stCondLst>
                                    <p:cond delay="0"/>
                                  </p:stCondLst>
                                  <p:childTnLst>
                                    <p:set>
                                      <p:cBhvr>
                                        <p:cTn id="79" dur="1" fill="hold">
                                          <p:stCondLst>
                                            <p:cond delay="499"/>
                                          </p:stCondLst>
                                        </p:cTn>
                                        <p:tgtEl>
                                          <p:spTgt spid="10"/>
                                        </p:tgtEl>
                                        <p:attrNameLst>
                                          <p:attrName>style.visibility</p:attrName>
                                        </p:attrNameLst>
                                      </p:cBhvr>
                                      <p:to>
                                        <p:strVal val="visible"/>
                                      </p:to>
                                    </p:set>
                                  </p:childTnLst>
                                </p:cTn>
                              </p:par>
                            </p:childTnLst>
                          </p:cTn>
                        </p:par>
                        <p:par>
                          <p:cTn id="80" fill="hold">
                            <p:stCondLst>
                              <p:cond delay="500"/>
                            </p:stCondLst>
                            <p:childTnLst>
                              <p:par>
                                <p:cTn id="81" presetID="1" presetClass="entr" presetSubtype="0" fill="hold" grpId="0" nodeType="afterEffect">
                                  <p:stCondLst>
                                    <p:cond delay="0"/>
                                  </p:stCondLst>
                                  <p:childTnLst>
                                    <p:set>
                                      <p:cBhvr>
                                        <p:cTn id="82" dur="1" fill="hold">
                                          <p:stCondLst>
                                            <p:cond delay="499"/>
                                          </p:stCondLst>
                                        </p:cTn>
                                        <p:tgtEl>
                                          <p:spTgt spid="11"/>
                                        </p:tgtEl>
                                        <p:attrNameLst>
                                          <p:attrName>style.visibility</p:attrName>
                                        </p:attrNameLst>
                                      </p:cBhvr>
                                      <p:to>
                                        <p:strVal val="visible"/>
                                      </p:to>
                                    </p:set>
                                  </p:childTnLst>
                                </p:cTn>
                              </p:par>
                            </p:childTnLst>
                          </p:cTn>
                        </p:par>
                        <p:par>
                          <p:cTn id="83" fill="hold">
                            <p:stCondLst>
                              <p:cond delay="1000"/>
                            </p:stCondLst>
                            <p:childTnLst>
                              <p:par>
                                <p:cTn id="84" presetID="1" presetClass="entr" presetSubtype="0" fill="hold" grpId="0" nodeType="afterEffect">
                                  <p:stCondLst>
                                    <p:cond delay="0"/>
                                  </p:stCondLst>
                                  <p:childTnLst>
                                    <p:set>
                                      <p:cBhvr>
                                        <p:cTn id="85" dur="1" fill="hold">
                                          <p:stCondLst>
                                            <p:cond delay="499"/>
                                          </p:stCondLst>
                                        </p:cTn>
                                        <p:tgtEl>
                                          <p:spTgt spid="12"/>
                                        </p:tgtEl>
                                        <p:attrNameLst>
                                          <p:attrName>style.visibility</p:attrName>
                                        </p:attrNameLst>
                                      </p:cBhvr>
                                      <p:to>
                                        <p:strVal val="visible"/>
                                      </p:to>
                                    </p:set>
                                  </p:childTnLst>
                                </p:cTn>
                              </p:par>
                            </p:childTnLst>
                          </p:cTn>
                        </p:par>
                        <p:par>
                          <p:cTn id="86" fill="hold">
                            <p:stCondLst>
                              <p:cond delay="1500"/>
                            </p:stCondLst>
                            <p:childTnLst>
                              <p:par>
                                <p:cTn id="87" presetID="1" presetClass="entr" presetSubtype="0" fill="hold" grpId="0" nodeType="afterEffect">
                                  <p:stCondLst>
                                    <p:cond delay="0"/>
                                  </p:stCondLst>
                                  <p:childTnLst>
                                    <p:set>
                                      <p:cBhvr>
                                        <p:cTn id="88" dur="1" fill="hold">
                                          <p:stCondLst>
                                            <p:cond delay="499"/>
                                          </p:stCondLst>
                                        </p:cTn>
                                        <p:tgtEl>
                                          <p:spTgt spid="13"/>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22" presetClass="entr" presetSubtype="4" fill="hold" grpId="0" nodeType="clickEffect">
                                  <p:stCondLst>
                                    <p:cond delay="0"/>
                                  </p:stCondLst>
                                  <p:childTnLst>
                                    <p:set>
                                      <p:cBhvr>
                                        <p:cTn id="92" dur="1" fill="hold">
                                          <p:stCondLst>
                                            <p:cond delay="0"/>
                                          </p:stCondLst>
                                        </p:cTn>
                                        <p:tgtEl>
                                          <p:spTgt spid="27"/>
                                        </p:tgtEl>
                                        <p:attrNameLst>
                                          <p:attrName>style.visibility</p:attrName>
                                        </p:attrNameLst>
                                      </p:cBhvr>
                                      <p:to>
                                        <p:strVal val="visible"/>
                                      </p:to>
                                    </p:set>
                                    <p:animEffect transition="in" filter="wipe(down)">
                                      <p:cBhvr>
                                        <p:cTn id="93" dur="500"/>
                                        <p:tgtEl>
                                          <p:spTgt spid="27"/>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4" fill="hold" grpId="0" nodeType="clickEffect">
                                  <p:stCondLst>
                                    <p:cond delay="0"/>
                                  </p:stCondLst>
                                  <p:childTnLst>
                                    <p:set>
                                      <p:cBhvr>
                                        <p:cTn id="97" dur="1" fill="hold">
                                          <p:stCondLst>
                                            <p:cond delay="0"/>
                                          </p:stCondLst>
                                        </p:cTn>
                                        <p:tgtEl>
                                          <p:spTgt spid="15"/>
                                        </p:tgtEl>
                                        <p:attrNameLst>
                                          <p:attrName>style.visibility</p:attrName>
                                        </p:attrNameLst>
                                      </p:cBhvr>
                                      <p:to>
                                        <p:strVal val="visible"/>
                                      </p:to>
                                    </p:set>
                                    <p:animEffect transition="in" filter="wipe(down)">
                                      <p:cBhvr>
                                        <p:cTn id="98" dur="500"/>
                                        <p:tgtEl>
                                          <p:spTgt spid="15"/>
                                        </p:tgtEl>
                                      </p:cBhvr>
                                    </p:animEffect>
                                  </p:childTnLst>
                                </p:cTn>
                              </p:par>
                            </p:childTnLst>
                          </p:cTn>
                        </p:par>
                      </p:childTnLst>
                    </p:cTn>
                  </p:par>
                  <p:par>
                    <p:cTn id="99" fill="hold">
                      <p:stCondLst>
                        <p:cond delay="indefinite"/>
                      </p:stCondLst>
                      <p:childTnLst>
                        <p:par>
                          <p:cTn id="100" fill="hold">
                            <p:stCondLst>
                              <p:cond delay="0"/>
                            </p:stCondLst>
                            <p:childTnLst>
                              <p:par>
                                <p:cTn id="101" presetID="23" presetClass="entr" presetSubtype="16" fill="hold" grpId="0" nodeType="clickEffect">
                                  <p:stCondLst>
                                    <p:cond delay="0"/>
                                  </p:stCondLst>
                                  <p:childTnLst>
                                    <p:set>
                                      <p:cBhvr>
                                        <p:cTn id="102" dur="1" fill="hold">
                                          <p:stCondLst>
                                            <p:cond delay="0"/>
                                          </p:stCondLst>
                                        </p:cTn>
                                        <p:tgtEl>
                                          <p:spTgt spid="16"/>
                                        </p:tgtEl>
                                        <p:attrNameLst>
                                          <p:attrName>style.visibility</p:attrName>
                                        </p:attrNameLst>
                                      </p:cBhvr>
                                      <p:to>
                                        <p:strVal val="visible"/>
                                      </p:to>
                                    </p:set>
                                    <p:anim calcmode="lin" valueType="num">
                                      <p:cBhvr>
                                        <p:cTn id="103" dur="500" fill="hold"/>
                                        <p:tgtEl>
                                          <p:spTgt spid="16"/>
                                        </p:tgtEl>
                                        <p:attrNameLst>
                                          <p:attrName>ppt_w</p:attrName>
                                        </p:attrNameLst>
                                      </p:cBhvr>
                                      <p:tavLst>
                                        <p:tav tm="0">
                                          <p:val>
                                            <p:fltVal val="0"/>
                                          </p:val>
                                        </p:tav>
                                        <p:tav tm="100000">
                                          <p:val>
                                            <p:strVal val="#ppt_w"/>
                                          </p:val>
                                        </p:tav>
                                      </p:tavLst>
                                    </p:anim>
                                    <p:anim calcmode="lin" valueType="num">
                                      <p:cBhvr>
                                        <p:cTn id="104" dur="500" fill="hold"/>
                                        <p:tgtEl>
                                          <p:spTgt spid="16"/>
                                        </p:tgtEl>
                                        <p:attrNameLst>
                                          <p:attrName>ppt_h</p:attrName>
                                        </p:attrNameLst>
                                      </p:cBhvr>
                                      <p:tavLst>
                                        <p:tav tm="0">
                                          <p:val>
                                            <p:fltVal val="0"/>
                                          </p:val>
                                        </p:tav>
                                        <p:tav tm="100000">
                                          <p:val>
                                            <p:strVal val="#ppt_h"/>
                                          </p:val>
                                        </p:tav>
                                      </p:tavLst>
                                    </p:anim>
                                  </p:childTnLst>
                                </p:cTn>
                              </p:par>
                            </p:childTnLst>
                          </p:cTn>
                        </p:par>
                        <p:par>
                          <p:cTn id="105" fill="hold">
                            <p:stCondLst>
                              <p:cond delay="500"/>
                            </p:stCondLst>
                            <p:childTnLst>
                              <p:par>
                                <p:cTn id="106" presetID="23" presetClass="entr" presetSubtype="16" fill="hold" grpId="0" nodeType="afterEffect">
                                  <p:stCondLst>
                                    <p:cond delay="0"/>
                                  </p:stCondLst>
                                  <p:childTnLst>
                                    <p:set>
                                      <p:cBhvr>
                                        <p:cTn id="107" dur="1" fill="hold">
                                          <p:stCondLst>
                                            <p:cond delay="0"/>
                                          </p:stCondLst>
                                        </p:cTn>
                                        <p:tgtEl>
                                          <p:spTgt spid="17"/>
                                        </p:tgtEl>
                                        <p:attrNameLst>
                                          <p:attrName>style.visibility</p:attrName>
                                        </p:attrNameLst>
                                      </p:cBhvr>
                                      <p:to>
                                        <p:strVal val="visible"/>
                                      </p:to>
                                    </p:set>
                                    <p:anim calcmode="lin" valueType="num">
                                      <p:cBhvr>
                                        <p:cTn id="108" dur="500" fill="hold"/>
                                        <p:tgtEl>
                                          <p:spTgt spid="17"/>
                                        </p:tgtEl>
                                        <p:attrNameLst>
                                          <p:attrName>ppt_w</p:attrName>
                                        </p:attrNameLst>
                                      </p:cBhvr>
                                      <p:tavLst>
                                        <p:tav tm="0">
                                          <p:val>
                                            <p:fltVal val="0"/>
                                          </p:val>
                                        </p:tav>
                                        <p:tav tm="100000">
                                          <p:val>
                                            <p:strVal val="#ppt_w"/>
                                          </p:val>
                                        </p:tav>
                                      </p:tavLst>
                                    </p:anim>
                                    <p:anim calcmode="lin" valueType="num">
                                      <p:cBhvr>
                                        <p:cTn id="109" dur="500" fill="hold"/>
                                        <p:tgtEl>
                                          <p:spTgt spid="17"/>
                                        </p:tgtEl>
                                        <p:attrNameLst>
                                          <p:attrName>ppt_h</p:attrName>
                                        </p:attrNameLst>
                                      </p:cBhvr>
                                      <p:tavLst>
                                        <p:tav tm="0">
                                          <p:val>
                                            <p:fltVal val="0"/>
                                          </p:val>
                                        </p:tav>
                                        <p:tav tm="100000">
                                          <p:val>
                                            <p:strVal val="#ppt_h"/>
                                          </p:val>
                                        </p:tav>
                                      </p:tavLst>
                                    </p:anim>
                                  </p:childTnLst>
                                </p:cTn>
                              </p:par>
                            </p:childTnLst>
                          </p:cTn>
                        </p:par>
                        <p:par>
                          <p:cTn id="110" fill="hold">
                            <p:stCondLst>
                              <p:cond delay="1000"/>
                            </p:stCondLst>
                            <p:childTnLst>
                              <p:par>
                                <p:cTn id="111" presetID="23" presetClass="entr" presetSubtype="16" fill="hold" grpId="0" nodeType="afterEffect">
                                  <p:stCondLst>
                                    <p:cond delay="0"/>
                                  </p:stCondLst>
                                  <p:childTnLst>
                                    <p:set>
                                      <p:cBhvr>
                                        <p:cTn id="112" dur="1" fill="hold">
                                          <p:stCondLst>
                                            <p:cond delay="0"/>
                                          </p:stCondLst>
                                        </p:cTn>
                                        <p:tgtEl>
                                          <p:spTgt spid="28"/>
                                        </p:tgtEl>
                                        <p:attrNameLst>
                                          <p:attrName>style.visibility</p:attrName>
                                        </p:attrNameLst>
                                      </p:cBhvr>
                                      <p:to>
                                        <p:strVal val="visible"/>
                                      </p:to>
                                    </p:set>
                                    <p:anim calcmode="lin" valueType="num">
                                      <p:cBhvr>
                                        <p:cTn id="113" dur="500" fill="hold"/>
                                        <p:tgtEl>
                                          <p:spTgt spid="28"/>
                                        </p:tgtEl>
                                        <p:attrNameLst>
                                          <p:attrName>ppt_w</p:attrName>
                                        </p:attrNameLst>
                                      </p:cBhvr>
                                      <p:tavLst>
                                        <p:tav tm="0">
                                          <p:val>
                                            <p:fltVal val="0"/>
                                          </p:val>
                                        </p:tav>
                                        <p:tav tm="100000">
                                          <p:val>
                                            <p:strVal val="#ppt_w"/>
                                          </p:val>
                                        </p:tav>
                                      </p:tavLst>
                                    </p:anim>
                                    <p:anim calcmode="lin" valueType="num">
                                      <p:cBhvr>
                                        <p:cTn id="114" dur="500" fill="hold"/>
                                        <p:tgtEl>
                                          <p:spTgt spid="28"/>
                                        </p:tgtEl>
                                        <p:attrNameLst>
                                          <p:attrName>ppt_h</p:attrName>
                                        </p:attrNameLst>
                                      </p:cBhvr>
                                      <p:tavLst>
                                        <p:tav tm="0">
                                          <p:val>
                                            <p:fltVal val="0"/>
                                          </p:val>
                                        </p:tav>
                                        <p:tav tm="100000">
                                          <p:val>
                                            <p:strVal val="#ppt_h"/>
                                          </p:val>
                                        </p:tav>
                                      </p:tavLst>
                                    </p:anim>
                                  </p:childTnLst>
                                </p:cTn>
                              </p:par>
                            </p:childTnLst>
                          </p:cTn>
                        </p:par>
                        <p:par>
                          <p:cTn id="115" fill="hold">
                            <p:stCondLst>
                              <p:cond delay="1500"/>
                            </p:stCondLst>
                            <p:childTnLst>
                              <p:par>
                                <p:cTn id="116" presetID="23" presetClass="entr" presetSubtype="16" fill="hold" grpId="0" nodeType="afterEffect">
                                  <p:stCondLst>
                                    <p:cond delay="0"/>
                                  </p:stCondLst>
                                  <p:childTnLst>
                                    <p:set>
                                      <p:cBhvr>
                                        <p:cTn id="117" dur="1" fill="hold">
                                          <p:stCondLst>
                                            <p:cond delay="0"/>
                                          </p:stCondLst>
                                        </p:cTn>
                                        <p:tgtEl>
                                          <p:spTgt spid="29"/>
                                        </p:tgtEl>
                                        <p:attrNameLst>
                                          <p:attrName>style.visibility</p:attrName>
                                        </p:attrNameLst>
                                      </p:cBhvr>
                                      <p:to>
                                        <p:strVal val="visible"/>
                                      </p:to>
                                    </p:set>
                                    <p:anim calcmode="lin" valueType="num">
                                      <p:cBhvr>
                                        <p:cTn id="118" dur="500" fill="hold"/>
                                        <p:tgtEl>
                                          <p:spTgt spid="29"/>
                                        </p:tgtEl>
                                        <p:attrNameLst>
                                          <p:attrName>ppt_w</p:attrName>
                                        </p:attrNameLst>
                                      </p:cBhvr>
                                      <p:tavLst>
                                        <p:tav tm="0">
                                          <p:val>
                                            <p:fltVal val="0"/>
                                          </p:val>
                                        </p:tav>
                                        <p:tav tm="100000">
                                          <p:val>
                                            <p:strVal val="#ppt_w"/>
                                          </p:val>
                                        </p:tav>
                                      </p:tavLst>
                                    </p:anim>
                                    <p:anim calcmode="lin" valueType="num">
                                      <p:cBhvr>
                                        <p:cTn id="119" dur="500" fill="hold"/>
                                        <p:tgtEl>
                                          <p:spTgt spid="29"/>
                                        </p:tgtEl>
                                        <p:attrNameLst>
                                          <p:attrName>ppt_h</p:attrName>
                                        </p:attrNameLst>
                                      </p:cBhvr>
                                      <p:tavLst>
                                        <p:tav tm="0">
                                          <p:val>
                                            <p:fltVal val="0"/>
                                          </p:val>
                                        </p:tav>
                                        <p:tav tm="100000">
                                          <p:val>
                                            <p:strVal val="#ppt_h"/>
                                          </p:val>
                                        </p:tav>
                                      </p:tavLst>
                                    </p:anim>
                                  </p:childTnLst>
                                </p:cTn>
                              </p:par>
                            </p:childTnLst>
                          </p:cTn>
                        </p:par>
                      </p:childTnLst>
                    </p:cTn>
                  </p:par>
                  <p:par>
                    <p:cTn id="120" fill="hold">
                      <p:stCondLst>
                        <p:cond delay="indefinite"/>
                      </p:stCondLst>
                      <p:childTnLst>
                        <p:par>
                          <p:cTn id="121" fill="hold">
                            <p:stCondLst>
                              <p:cond delay="0"/>
                            </p:stCondLst>
                            <p:childTnLst>
                              <p:par>
                                <p:cTn id="122" presetID="1" presetClass="entr" presetSubtype="0" fill="hold" grpId="0" nodeType="clickEffect">
                                  <p:stCondLst>
                                    <p:cond delay="0"/>
                                  </p:stCondLst>
                                  <p:iterate type="lt">
                                    <p:tmAbs val="75"/>
                                  </p:iterate>
                                  <p:childTnLst>
                                    <p:set>
                                      <p:cBhvr>
                                        <p:cTn id="123" dur="1" fill="hold">
                                          <p:stCondLst>
                                            <p:cond delay="74"/>
                                          </p:stCondLst>
                                        </p:cTn>
                                        <p:tgtEl>
                                          <p:spTgt spid="32"/>
                                        </p:tgtEl>
                                        <p:attrNameLst>
                                          <p:attrName>style.visibility</p:attrName>
                                        </p:attrNameLst>
                                      </p:cBhvr>
                                      <p:to>
                                        <p:strVal val="visible"/>
                                      </p:to>
                                    </p:set>
                                  </p:childTnLst>
                                </p:cTn>
                              </p:par>
                            </p:childTnLst>
                          </p:cTn>
                        </p:par>
                      </p:childTnLst>
                    </p:cTn>
                  </p:par>
                  <p:par>
                    <p:cTn id="124" fill="hold">
                      <p:stCondLst>
                        <p:cond delay="indefinite"/>
                      </p:stCondLst>
                      <p:childTnLst>
                        <p:par>
                          <p:cTn id="125" fill="hold">
                            <p:stCondLst>
                              <p:cond delay="0"/>
                            </p:stCondLst>
                            <p:childTnLst>
                              <p:par>
                                <p:cTn id="126" presetID="22" presetClass="entr" presetSubtype="2" fill="hold" grpId="0" nodeType="clickEffect">
                                  <p:stCondLst>
                                    <p:cond delay="0"/>
                                  </p:stCondLst>
                                  <p:childTnLst>
                                    <p:set>
                                      <p:cBhvr>
                                        <p:cTn id="127" dur="1" fill="hold">
                                          <p:stCondLst>
                                            <p:cond delay="0"/>
                                          </p:stCondLst>
                                        </p:cTn>
                                        <p:tgtEl>
                                          <p:spTgt spid="18"/>
                                        </p:tgtEl>
                                        <p:attrNameLst>
                                          <p:attrName>style.visibility</p:attrName>
                                        </p:attrNameLst>
                                      </p:cBhvr>
                                      <p:to>
                                        <p:strVal val="visible"/>
                                      </p:to>
                                    </p:set>
                                    <p:animEffect transition="in" filter="wipe(right)">
                                      <p:cBhvr>
                                        <p:cTn id="128" dur="500"/>
                                        <p:tgtEl>
                                          <p:spTgt spid="18"/>
                                        </p:tgtEl>
                                      </p:cBhvr>
                                    </p:animEffect>
                                  </p:childTnLst>
                                </p:cTn>
                              </p:par>
                            </p:childTnLst>
                          </p:cTn>
                        </p:par>
                        <p:par>
                          <p:cTn id="129" fill="hold">
                            <p:stCondLst>
                              <p:cond delay="500"/>
                            </p:stCondLst>
                            <p:childTnLst>
                              <p:par>
                                <p:cTn id="130" presetID="22" presetClass="entr" presetSubtype="4" fill="hold" grpId="0" nodeType="afterEffect">
                                  <p:stCondLst>
                                    <p:cond delay="0"/>
                                  </p:stCondLst>
                                  <p:childTnLst>
                                    <p:set>
                                      <p:cBhvr>
                                        <p:cTn id="131" dur="1" fill="hold">
                                          <p:stCondLst>
                                            <p:cond delay="0"/>
                                          </p:stCondLst>
                                        </p:cTn>
                                        <p:tgtEl>
                                          <p:spTgt spid="19"/>
                                        </p:tgtEl>
                                        <p:attrNameLst>
                                          <p:attrName>style.visibility</p:attrName>
                                        </p:attrNameLst>
                                      </p:cBhvr>
                                      <p:to>
                                        <p:strVal val="visible"/>
                                      </p:to>
                                    </p:set>
                                    <p:animEffect transition="in" filter="wipe(down)">
                                      <p:cBhvr>
                                        <p:cTn id="132" dur="500"/>
                                        <p:tgtEl>
                                          <p:spTgt spid="19"/>
                                        </p:tgtEl>
                                      </p:cBhvr>
                                    </p:animEffect>
                                  </p:childTnLst>
                                </p:cTn>
                              </p:par>
                            </p:childTnLst>
                          </p:cTn>
                        </p:par>
                        <p:par>
                          <p:cTn id="133" fill="hold">
                            <p:stCondLst>
                              <p:cond delay="1000"/>
                            </p:stCondLst>
                            <p:childTnLst>
                              <p:par>
                                <p:cTn id="134" presetID="22" presetClass="entr" presetSubtype="8" fill="hold" grpId="0" nodeType="afterEffect">
                                  <p:stCondLst>
                                    <p:cond delay="0"/>
                                  </p:stCondLst>
                                  <p:childTnLst>
                                    <p:set>
                                      <p:cBhvr>
                                        <p:cTn id="135" dur="1" fill="hold">
                                          <p:stCondLst>
                                            <p:cond delay="0"/>
                                          </p:stCondLst>
                                        </p:cTn>
                                        <p:tgtEl>
                                          <p:spTgt spid="20"/>
                                        </p:tgtEl>
                                        <p:attrNameLst>
                                          <p:attrName>style.visibility</p:attrName>
                                        </p:attrNameLst>
                                      </p:cBhvr>
                                      <p:to>
                                        <p:strVal val="visible"/>
                                      </p:to>
                                    </p:set>
                                    <p:animEffect transition="in" filter="wipe(left)">
                                      <p:cBhvr>
                                        <p:cTn id="136" dur="500"/>
                                        <p:tgtEl>
                                          <p:spTgt spid="20"/>
                                        </p:tgtEl>
                                      </p:cBhvr>
                                    </p:animEffect>
                                  </p:childTnLst>
                                  <p:subTnLst>
                                    <p:audio>
                                      <p:cMediaNode>
                                        <p:cTn display="0" masterRel="sameClick">
                                          <p:stCondLst>
                                            <p:cond evt="begin" delay="0">
                                              <p:tn val="134"/>
                                            </p:cond>
                                          </p:stCondLst>
                                          <p:endCondLst>
                                            <p:cond evt="onStopAudio" delay="0">
                                              <p:tgtEl>
                                                <p:sldTgt/>
                                              </p:tgtEl>
                                            </p:cond>
                                          </p:endCondLst>
                                        </p:cTn>
                                        <p:tgtEl>
                                          <p:sndTgt r:embed="rId2" name="tad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utoUpdateAnimBg="0"/>
      <p:bldP spid="11" grpId="0" autoUpdateAnimBg="0"/>
      <p:bldP spid="12" grpId="0" autoUpdateAnimBg="0"/>
      <p:bldP spid="13" grpId="0" autoUpdateAnimBg="0"/>
      <p:bldP spid="14" grpId="0" animBg="1" autoUpdateAnimBg="0"/>
      <p:bldP spid="15" grpId="0" animBg="1" autoUpdateAnimBg="0"/>
      <p:bldP spid="16" grpId="0" animBg="1" autoUpdateAnimBg="0"/>
      <p:bldP spid="17" grpId="0" animBg="1" autoUpdateAnimBg="0"/>
      <p:bldP spid="18" grpId="0" animBg="1"/>
      <p:bldP spid="19" grpId="0" animBg="1"/>
      <p:bldP spid="20" grpId="0" animBg="1"/>
      <p:bldP spid="27" grpId="0" animBg="1"/>
      <p:bldP spid="28" grpId="0" animBg="1" autoUpdateAnimBg="0"/>
      <p:bldP spid="29" grpId="0" animBg="1" autoUpdateAnimBg="0"/>
      <p:bldP spid="30" grpId="0" animBg="1"/>
      <p:bldP spid="31" grpId="0" animBg="1"/>
      <p:bldP spid="32" grpId="0" autoUpdateAnimBg="0"/>
      <p:bldP spid="33" grpId="0" animBg="1" autoUpdateAnimBg="0"/>
      <p:bldP spid="36" grpId="0" animBg="1"/>
      <p:bldP spid="37" grpId="0" animBg="1"/>
      <p:bldP spid="38" grpId="0" animBg="1"/>
      <p:bldP spid="3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2FB13C17-118D-44D7-9F20-EC846DA46A5D}"/>
              </a:ext>
            </a:extLst>
          </p:cNvPr>
          <p:cNvSpPr txBox="1"/>
          <p:nvPr/>
        </p:nvSpPr>
        <p:spPr>
          <a:xfrm>
            <a:off x="2511696" y="-59477"/>
            <a:ext cx="4768993"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指针变量的定义</a:t>
            </a:r>
            <a:endParaRPr lang="zh-CN" altLang="en-US" sz="3200" b="1" dirty="0">
              <a:solidFill>
                <a:srgbClr val="200AC4"/>
              </a:solidFill>
              <a:ea typeface="隶书" pitchFamily="49" charset="-122"/>
            </a:endParaRPr>
          </a:p>
        </p:txBody>
      </p:sp>
      <p:sp>
        <p:nvSpPr>
          <p:cNvPr id="4" name="矩形 3">
            <a:extLst>
              <a:ext uri="{FF2B5EF4-FFF2-40B4-BE49-F238E27FC236}">
                <a16:creationId xmlns:a16="http://schemas.microsoft.com/office/drawing/2014/main" id="{6F425056-E0D6-4251-B8E9-E3919DA93478}"/>
              </a:ext>
            </a:extLst>
          </p:cNvPr>
          <p:cNvSpPr/>
          <p:nvPr/>
        </p:nvSpPr>
        <p:spPr>
          <a:xfrm>
            <a:off x="9908" y="575461"/>
            <a:ext cx="12158444" cy="461665"/>
          </a:xfrm>
          <a:prstGeom prst="rect">
            <a:avLst/>
          </a:prstGeom>
        </p:spPr>
        <p:txBody>
          <a:bodyPr wrap="square">
            <a:spAutoFit/>
          </a:bodyPr>
          <a:lstStyle/>
          <a:p>
            <a:pPr marL="0" lvl="1"/>
            <a:r>
              <a:rPr lang="zh-CN" altLang="en-US" sz="2400" b="1" dirty="0">
                <a:latin typeface="隶书" pitchFamily="49" charset="-122"/>
              </a:rPr>
              <a:t>指针变量定义的一般格式为：</a:t>
            </a:r>
          </a:p>
        </p:txBody>
      </p:sp>
      <p:sp>
        <p:nvSpPr>
          <p:cNvPr id="5" name="Rectangle 2">
            <a:extLst>
              <a:ext uri="{FF2B5EF4-FFF2-40B4-BE49-F238E27FC236}">
                <a16:creationId xmlns:a16="http://schemas.microsoft.com/office/drawing/2014/main" id="{66E18EFD-D796-476B-9980-2BAFDC76A329}"/>
              </a:ext>
            </a:extLst>
          </p:cNvPr>
          <p:cNvSpPr txBox="1">
            <a:spLocks noChangeArrowheads="1"/>
          </p:cNvSpPr>
          <p:nvPr/>
        </p:nvSpPr>
        <p:spPr>
          <a:xfrm>
            <a:off x="2800794" y="1187727"/>
            <a:ext cx="4880165" cy="614143"/>
          </a:xfrm>
          <a:prstGeom prst="rect">
            <a:avLst/>
          </a:prstGeom>
          <a:solidFill>
            <a:schemeClr val="bg2"/>
          </a:solid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3600"/>
              </a:lnSpc>
              <a:spcBef>
                <a:spcPct val="0"/>
              </a:spcBef>
              <a:buClr>
                <a:schemeClr val="tx2"/>
              </a:buClr>
              <a:buSzPct val="70000"/>
              <a:buFont typeface="Arial" panose="020B0604020202020204" pitchFamily="34" charset="0"/>
              <a:buNone/>
            </a:pPr>
            <a:r>
              <a:rPr lang="zh-CN" altLang="en-US" sz="2400" b="1" dirty="0">
                <a:solidFill>
                  <a:srgbClr val="0000FF"/>
                </a:solidFill>
              </a:rPr>
              <a:t>数据类型 </a:t>
            </a:r>
            <a:r>
              <a:rPr lang="zh-CN" altLang="en-US" sz="2400" b="1" dirty="0">
                <a:solidFill>
                  <a:srgbClr val="FF0000"/>
                </a:solidFill>
              </a:rPr>
              <a:t>*</a:t>
            </a:r>
            <a:r>
              <a:rPr lang="zh-CN" altLang="en-US" sz="2400" b="1" dirty="0">
                <a:latin typeface="华文隶书" panose="02010800040101010101" pitchFamily="2" charset="-122"/>
                <a:ea typeface="华文隶书" panose="02010800040101010101" pitchFamily="2" charset="-122"/>
              </a:rPr>
              <a:t>指针变量名</a:t>
            </a:r>
            <a:r>
              <a:rPr lang="zh-CN" altLang="en-US" sz="2400" b="1" dirty="0"/>
              <a:t>；</a:t>
            </a:r>
          </a:p>
        </p:txBody>
      </p:sp>
      <p:sp>
        <p:nvSpPr>
          <p:cNvPr id="6" name="矩形 5">
            <a:extLst>
              <a:ext uri="{FF2B5EF4-FFF2-40B4-BE49-F238E27FC236}">
                <a16:creationId xmlns:a16="http://schemas.microsoft.com/office/drawing/2014/main" id="{2219D94F-0C37-4894-A9AE-39E3A47755FF}"/>
              </a:ext>
            </a:extLst>
          </p:cNvPr>
          <p:cNvSpPr/>
          <p:nvPr/>
        </p:nvSpPr>
        <p:spPr>
          <a:xfrm>
            <a:off x="1977777" y="1791166"/>
            <a:ext cx="5087923" cy="461665"/>
          </a:xfrm>
          <a:prstGeom prst="rect">
            <a:avLst/>
          </a:prstGeom>
        </p:spPr>
        <p:txBody>
          <a:bodyPr wrap="square">
            <a:spAutoFit/>
          </a:bodyPr>
          <a:lstStyle/>
          <a:p>
            <a:pPr marL="0" lvl="1"/>
            <a:r>
              <a:rPr lang="zh-CN" altLang="en-US" sz="2400" b="1" dirty="0">
                <a:latin typeface="隶书" pitchFamily="49" charset="-122"/>
              </a:rPr>
              <a:t>例如：</a:t>
            </a:r>
          </a:p>
        </p:txBody>
      </p:sp>
      <p:sp>
        <p:nvSpPr>
          <p:cNvPr id="7" name="Rectangle 2">
            <a:extLst>
              <a:ext uri="{FF2B5EF4-FFF2-40B4-BE49-F238E27FC236}">
                <a16:creationId xmlns:a16="http://schemas.microsoft.com/office/drawing/2014/main" id="{450EE5F5-B02C-4761-A83B-34C180569AAD}"/>
              </a:ext>
            </a:extLst>
          </p:cNvPr>
          <p:cNvSpPr txBox="1">
            <a:spLocks noChangeArrowheads="1"/>
          </p:cNvSpPr>
          <p:nvPr/>
        </p:nvSpPr>
        <p:spPr>
          <a:xfrm>
            <a:off x="2800794" y="2291363"/>
            <a:ext cx="2859028" cy="2388020"/>
          </a:xfrm>
          <a:prstGeom prst="rect">
            <a:avLst/>
          </a:prstGeom>
          <a:solidFill>
            <a:schemeClr val="bg2"/>
          </a:solid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0000FF"/>
                </a:solidFill>
              </a:rPr>
              <a:t>int</a:t>
            </a:r>
            <a:r>
              <a:rPr lang="zh-CN" altLang="en-US" b="1" dirty="0">
                <a:solidFill>
                  <a:srgbClr val="0000FF"/>
                </a:solidFill>
              </a:rPr>
              <a:t> </a:t>
            </a:r>
            <a:r>
              <a:rPr lang="zh-CN" altLang="en-US" b="1" dirty="0">
                <a:solidFill>
                  <a:srgbClr val="FF0000"/>
                </a:solidFill>
              </a:rPr>
              <a:t>*</a:t>
            </a:r>
            <a:r>
              <a:rPr lang="en-US" altLang="zh-CN" b="1" dirty="0"/>
              <a:t>pi;</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0000FF"/>
                </a:solidFill>
              </a:rPr>
              <a:t>float</a:t>
            </a:r>
            <a:r>
              <a:rPr lang="en-US" altLang="zh-CN" b="1" dirty="0"/>
              <a:t> </a:t>
            </a:r>
            <a:r>
              <a:rPr lang="en-US" altLang="zh-CN" b="1" dirty="0">
                <a:solidFill>
                  <a:srgbClr val="FF0000"/>
                </a:solidFill>
              </a:rPr>
              <a:t>*</a:t>
            </a:r>
            <a:r>
              <a:rPr lang="en-US" altLang="zh-CN" b="1" dirty="0"/>
              <a:t>pf1, </a:t>
            </a:r>
            <a:r>
              <a:rPr lang="en-US" altLang="zh-CN" b="1" dirty="0">
                <a:solidFill>
                  <a:srgbClr val="FF0000"/>
                </a:solidFill>
              </a:rPr>
              <a:t>*</a:t>
            </a:r>
            <a:r>
              <a:rPr lang="en-US" altLang="zh-CN" b="1" dirty="0"/>
              <a:t>pf2;</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0000FF"/>
                </a:solidFill>
              </a:rPr>
              <a:t>int</a:t>
            </a:r>
            <a:r>
              <a:rPr lang="en-US" altLang="zh-CN" b="1" dirty="0"/>
              <a:t> i = 0;</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0000FF"/>
                </a:solidFill>
              </a:rPr>
              <a:t>float</a:t>
            </a:r>
            <a:r>
              <a:rPr lang="en-US" altLang="zh-CN" b="1" dirty="0"/>
              <a:t> f = 0.0;</a:t>
            </a:r>
          </a:p>
          <a:p>
            <a:pPr marL="0" indent="0">
              <a:lnSpc>
                <a:spcPct val="100000"/>
              </a:lnSpc>
              <a:spcBef>
                <a:spcPct val="0"/>
              </a:spcBef>
              <a:buClr>
                <a:schemeClr val="tx2"/>
              </a:buClr>
              <a:buSzPct val="70000"/>
              <a:buFont typeface="Arial" panose="020B0604020202020204" pitchFamily="34" charset="0"/>
              <a:buNone/>
            </a:pPr>
            <a:endParaRPr lang="en-US" altLang="zh-CN" b="1" dirty="0"/>
          </a:p>
          <a:p>
            <a:pPr marL="0" indent="0">
              <a:lnSpc>
                <a:spcPct val="100000"/>
              </a:lnSpc>
              <a:spcBef>
                <a:spcPct val="0"/>
              </a:spcBef>
              <a:buClr>
                <a:schemeClr val="tx2"/>
              </a:buClr>
              <a:buSzPct val="70000"/>
              <a:buFont typeface="Arial" panose="020B0604020202020204" pitchFamily="34" charset="0"/>
              <a:buNone/>
            </a:pPr>
            <a:endParaRPr lang="zh-CN" altLang="en-US" b="1" dirty="0"/>
          </a:p>
        </p:txBody>
      </p:sp>
      <p:sp>
        <p:nvSpPr>
          <p:cNvPr id="8" name="Text Box 88">
            <a:extLst>
              <a:ext uri="{FF2B5EF4-FFF2-40B4-BE49-F238E27FC236}">
                <a16:creationId xmlns:a16="http://schemas.microsoft.com/office/drawing/2014/main" id="{2EF3BA8E-8E98-4373-8537-2CE46CC34681}"/>
              </a:ext>
            </a:extLst>
          </p:cNvPr>
          <p:cNvSpPr txBox="1">
            <a:spLocks noChangeArrowheads="1"/>
          </p:cNvSpPr>
          <p:nvPr/>
        </p:nvSpPr>
        <p:spPr bwMode="auto">
          <a:xfrm>
            <a:off x="33557" y="4259954"/>
            <a:ext cx="12158444" cy="20027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kumimoji="1" lang="zh-CN" altLang="en-US" sz="2800" dirty="0">
                <a:solidFill>
                  <a:srgbClr val="FF3300"/>
                </a:solidFill>
                <a:ea typeface="隶书" pitchFamily="49" charset="-122"/>
              </a:rPr>
              <a:t>说明</a:t>
            </a:r>
            <a:r>
              <a:rPr kumimoji="1" lang="en-US" altLang="zh-CN" sz="2400" dirty="0">
                <a:solidFill>
                  <a:srgbClr val="3333FF"/>
                </a:solidFill>
                <a:ea typeface="隶书" pitchFamily="49" charset="-122"/>
              </a:rPr>
              <a:t>: </a:t>
            </a:r>
          </a:p>
          <a:p>
            <a:pPr indent="457200"/>
            <a:r>
              <a:rPr kumimoji="1" lang="zh-CN" altLang="en-US" sz="2400" dirty="0">
                <a:solidFill>
                  <a:srgbClr val="3333FF"/>
                </a:solidFill>
                <a:latin typeface="等线" panose="02010600030101010101" pitchFamily="2" charset="-122"/>
                <a:ea typeface="等线" panose="02010600030101010101" pitchFamily="2" charset="-122"/>
              </a:rPr>
              <a:t>① </a:t>
            </a:r>
            <a:r>
              <a:rPr kumimoji="1" lang="zh-CN" altLang="en-US" sz="2400" dirty="0">
                <a:solidFill>
                  <a:srgbClr val="3333FF"/>
                </a:solidFill>
                <a:ea typeface="隶书" pitchFamily="49" charset="-122"/>
              </a:rPr>
              <a:t>数据类型是指针变量所指向对象的数据类型。</a:t>
            </a:r>
            <a:endParaRPr kumimoji="1" lang="en-US" altLang="zh-CN" sz="2400" dirty="0">
              <a:solidFill>
                <a:srgbClr val="3333FF"/>
              </a:solidFill>
              <a:ea typeface="隶书" pitchFamily="49" charset="-122"/>
            </a:endParaRPr>
          </a:p>
          <a:p>
            <a:pPr indent="457200"/>
            <a:r>
              <a:rPr kumimoji="1" lang="zh-CN" altLang="zh-CN" sz="2400" dirty="0">
                <a:solidFill>
                  <a:srgbClr val="3333FF"/>
                </a:solidFill>
                <a:latin typeface="等线" panose="02010600030101010101" pitchFamily="2" charset="-122"/>
                <a:ea typeface="隶书" pitchFamily="49" charset="-122"/>
              </a:rPr>
              <a:t>②</a:t>
            </a:r>
            <a:r>
              <a:rPr kumimoji="1" lang="en-US" altLang="zh-CN" sz="2400" dirty="0">
                <a:solidFill>
                  <a:srgbClr val="3333FF"/>
                </a:solidFill>
                <a:latin typeface="等线" panose="02010600030101010101" pitchFamily="2" charset="-122"/>
                <a:ea typeface="隶书" pitchFamily="49" charset="-122"/>
              </a:rPr>
              <a:t> </a:t>
            </a:r>
            <a:r>
              <a:rPr kumimoji="1" lang="zh-CN" altLang="en-US" sz="2400" dirty="0">
                <a:solidFill>
                  <a:srgbClr val="3333FF"/>
                </a:solidFill>
                <a:latin typeface="等线" panose="02010600030101010101" pitchFamily="2" charset="-122"/>
                <a:ea typeface="隶书" pitchFamily="49" charset="-122"/>
              </a:rPr>
              <a:t>指针变量名前的</a:t>
            </a:r>
            <a:r>
              <a:rPr kumimoji="1" lang="zh-CN" altLang="en-US" sz="2400" dirty="0">
                <a:solidFill>
                  <a:srgbClr val="FF0000"/>
                </a:solidFill>
                <a:latin typeface="等线" panose="02010600030101010101" pitchFamily="2" charset="-122"/>
                <a:ea typeface="隶书" pitchFamily="49" charset="-122"/>
              </a:rPr>
              <a:t>*</a:t>
            </a:r>
            <a:r>
              <a:rPr kumimoji="1" lang="zh-CN" altLang="en-US" sz="2400" dirty="0">
                <a:solidFill>
                  <a:srgbClr val="3333FF"/>
                </a:solidFill>
                <a:latin typeface="等线" panose="02010600030101010101" pitchFamily="2" charset="-122"/>
                <a:ea typeface="隶书" pitchFamily="49" charset="-122"/>
              </a:rPr>
              <a:t>表示定义的变量是指针变量，只是一个标志，用于区别一般变量。</a:t>
            </a:r>
            <a:endParaRPr kumimoji="1" lang="en-US" altLang="zh-CN" sz="2400" dirty="0">
              <a:solidFill>
                <a:srgbClr val="3333FF"/>
              </a:solidFill>
              <a:latin typeface="等线" panose="02010600030101010101" pitchFamily="2" charset="-122"/>
              <a:ea typeface="隶书" pitchFamily="49" charset="-122"/>
            </a:endParaRPr>
          </a:p>
          <a:p>
            <a:pPr indent="457200"/>
            <a:r>
              <a:rPr kumimoji="1" lang="zh-CN" altLang="zh-CN" sz="2400" dirty="0">
                <a:solidFill>
                  <a:srgbClr val="3333FF"/>
                </a:solidFill>
                <a:latin typeface="等线" panose="02010600030101010101" pitchFamily="2" charset="-122"/>
                <a:ea typeface="隶书" pitchFamily="49" charset="-122"/>
              </a:rPr>
              <a:t>③</a:t>
            </a:r>
            <a:r>
              <a:rPr kumimoji="1" lang="en-US" altLang="zh-CN" sz="2400" dirty="0">
                <a:solidFill>
                  <a:srgbClr val="3333FF"/>
                </a:solidFill>
                <a:latin typeface="等线" panose="02010600030101010101" pitchFamily="2" charset="-122"/>
                <a:ea typeface="隶书" pitchFamily="49" charset="-122"/>
              </a:rPr>
              <a:t> </a:t>
            </a:r>
            <a:r>
              <a:rPr kumimoji="1" lang="zh-CN" altLang="en-US" sz="2400" dirty="0">
                <a:solidFill>
                  <a:srgbClr val="3333FF"/>
                </a:solidFill>
                <a:latin typeface="等线" panose="02010600030101010101" pitchFamily="2" charset="-122"/>
                <a:ea typeface="隶书" pitchFamily="49" charset="-122"/>
              </a:rPr>
              <a:t>指针变量名需遵循标识符命名规则。</a:t>
            </a:r>
            <a:endParaRPr kumimoji="1" lang="en-US" altLang="zh-CN" sz="2400" dirty="0">
              <a:solidFill>
                <a:srgbClr val="3333FF"/>
              </a:solidFill>
              <a:latin typeface="等线" panose="02010600030101010101" pitchFamily="2" charset="-122"/>
              <a:ea typeface="隶书" pitchFamily="49" charset="-122"/>
            </a:endParaRPr>
          </a:p>
          <a:p>
            <a:pPr indent="457200"/>
            <a:r>
              <a:rPr kumimoji="1" lang="zh-CN" altLang="zh-CN" sz="2400" dirty="0">
                <a:solidFill>
                  <a:srgbClr val="3333FF"/>
                </a:solidFill>
                <a:latin typeface="等线" panose="02010600030101010101" pitchFamily="2" charset="-122"/>
                <a:ea typeface="隶书" pitchFamily="49" charset="-122"/>
              </a:rPr>
              <a:t>④</a:t>
            </a:r>
            <a:r>
              <a:rPr kumimoji="1" lang="en-US" altLang="zh-CN" sz="2400" dirty="0">
                <a:solidFill>
                  <a:srgbClr val="3333FF"/>
                </a:solidFill>
                <a:latin typeface="等线" panose="02010600030101010101" pitchFamily="2" charset="-122"/>
                <a:ea typeface="隶书" pitchFamily="49" charset="-122"/>
              </a:rPr>
              <a:t> </a:t>
            </a:r>
            <a:r>
              <a:rPr kumimoji="1" lang="zh-CN" altLang="en-US" sz="2400" dirty="0">
                <a:solidFill>
                  <a:srgbClr val="3333FF"/>
                </a:solidFill>
                <a:latin typeface="等线" panose="02010600030101010101" pitchFamily="2" charset="-122"/>
                <a:ea typeface="隶书" pitchFamily="49" charset="-122"/>
              </a:rPr>
              <a:t>指针变量定义后，只能指向定义指针变量时所指定的那种数据类型的对象。</a:t>
            </a:r>
            <a:endParaRPr kumimoji="1" lang="en-US" altLang="zh-CN" sz="2400" dirty="0">
              <a:solidFill>
                <a:srgbClr val="3333FF"/>
              </a:solidFill>
              <a:latin typeface="等线" panose="02010600030101010101" pitchFamily="2" charset="-122"/>
              <a:ea typeface="隶书" pitchFamily="49" charset="-122"/>
            </a:endParaRPr>
          </a:p>
        </p:txBody>
      </p:sp>
      <p:sp>
        <p:nvSpPr>
          <p:cNvPr id="9" name="Rectangle 2">
            <a:extLst>
              <a:ext uri="{FF2B5EF4-FFF2-40B4-BE49-F238E27FC236}">
                <a16:creationId xmlns:a16="http://schemas.microsoft.com/office/drawing/2014/main" id="{CF6152A9-7388-43D9-88E4-0541423D85D3}"/>
              </a:ext>
            </a:extLst>
          </p:cNvPr>
          <p:cNvSpPr txBox="1">
            <a:spLocks noChangeArrowheads="1"/>
          </p:cNvSpPr>
          <p:nvPr/>
        </p:nvSpPr>
        <p:spPr>
          <a:xfrm>
            <a:off x="5909229" y="2291363"/>
            <a:ext cx="2859028" cy="2388020"/>
          </a:xfrm>
          <a:prstGeom prst="rect">
            <a:avLst/>
          </a:prstGeom>
          <a:solidFill>
            <a:schemeClr val="bg2"/>
          </a:solid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Font typeface="Arial" panose="020B0604020202020204" pitchFamily="34" charset="0"/>
              <a:buNone/>
            </a:pPr>
            <a:r>
              <a:rPr lang="en-US" altLang="zh-CN" b="1" dirty="0"/>
              <a:t>pi = &amp;i;</a:t>
            </a:r>
          </a:p>
          <a:p>
            <a:pPr marL="0" indent="0">
              <a:lnSpc>
                <a:spcPct val="100000"/>
              </a:lnSpc>
              <a:spcBef>
                <a:spcPct val="0"/>
              </a:spcBef>
              <a:buClr>
                <a:schemeClr val="tx2"/>
              </a:buClr>
              <a:buSzPct val="70000"/>
              <a:buFont typeface="Arial" panose="020B0604020202020204" pitchFamily="34" charset="0"/>
              <a:buNone/>
            </a:pPr>
            <a:r>
              <a:rPr lang="en-US" altLang="zh-CN" b="1" dirty="0"/>
              <a:t>pf1 = &amp;f;</a:t>
            </a:r>
          </a:p>
          <a:p>
            <a:pPr marL="0" indent="0">
              <a:lnSpc>
                <a:spcPct val="100000"/>
              </a:lnSpc>
              <a:spcBef>
                <a:spcPct val="0"/>
              </a:spcBef>
              <a:buClr>
                <a:schemeClr val="tx2"/>
              </a:buClr>
              <a:buSzPct val="70000"/>
              <a:buFont typeface="Arial" panose="020B0604020202020204" pitchFamily="34" charset="0"/>
              <a:buNone/>
            </a:pPr>
            <a:r>
              <a:rPr lang="en-US" altLang="zh-CN" b="1" dirty="0"/>
              <a:t>pf2 = pf1;</a:t>
            </a:r>
          </a:p>
          <a:p>
            <a:pPr marL="0" indent="0">
              <a:lnSpc>
                <a:spcPct val="100000"/>
              </a:lnSpc>
              <a:spcBef>
                <a:spcPct val="0"/>
              </a:spcBef>
              <a:buClr>
                <a:schemeClr val="tx2"/>
              </a:buClr>
              <a:buSzPct val="70000"/>
              <a:buFont typeface="Arial" panose="020B0604020202020204" pitchFamily="34" charset="0"/>
              <a:buNone/>
            </a:pPr>
            <a:r>
              <a:rPr lang="en-US" altLang="zh-CN" b="1" dirty="0"/>
              <a:t>pi = &amp;f;</a:t>
            </a:r>
          </a:p>
          <a:p>
            <a:pPr marL="0" indent="0">
              <a:lnSpc>
                <a:spcPct val="100000"/>
              </a:lnSpc>
              <a:spcBef>
                <a:spcPct val="0"/>
              </a:spcBef>
              <a:buClr>
                <a:schemeClr val="tx2"/>
              </a:buClr>
              <a:buSzPct val="70000"/>
              <a:buFont typeface="Arial" panose="020B0604020202020204" pitchFamily="34" charset="0"/>
              <a:buNone/>
            </a:pPr>
            <a:r>
              <a:rPr lang="en-US" altLang="zh-CN" b="1" dirty="0"/>
              <a:t>pi = pf1;</a:t>
            </a:r>
            <a:endParaRPr lang="zh-CN" altLang="en-US" b="1" dirty="0"/>
          </a:p>
        </p:txBody>
      </p:sp>
      <p:sp>
        <p:nvSpPr>
          <p:cNvPr id="10" name="灯片编号占位符 9">
            <a:extLst>
              <a:ext uri="{FF2B5EF4-FFF2-40B4-BE49-F238E27FC236}">
                <a16:creationId xmlns:a16="http://schemas.microsoft.com/office/drawing/2014/main" id="{9E9450BB-679F-4D47-A0D3-14C92ADAF18D}"/>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5</a:t>
            </a:fld>
            <a:r>
              <a:rPr lang="en-US" altLang="zh-CN">
                <a:solidFill>
                  <a:prstClr val="black">
                    <a:tint val="75000"/>
                  </a:prstClr>
                </a:solidFill>
              </a:rPr>
              <a:t>/ 35</a:t>
            </a:r>
            <a:endParaRPr lang="zh-CN" altLang="en-US" dirty="0"/>
          </a:p>
        </p:txBody>
      </p:sp>
    </p:spTree>
    <p:extLst>
      <p:ext uri="{BB962C8B-B14F-4D97-AF65-F5344CB8AC3E}">
        <p14:creationId xmlns:p14="http://schemas.microsoft.com/office/powerpoint/2010/main" val="2677099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1000"/>
                                        <p:tgtEl>
                                          <p:spTgt spid="5"/>
                                        </p:tgtEl>
                                      </p:cBhvr>
                                    </p:animEffect>
                                    <p:anim calcmode="lin" valueType="num">
                                      <p:cBhvr>
                                        <p:cTn id="11" dur="1000" fill="hold"/>
                                        <p:tgtEl>
                                          <p:spTgt spid="5"/>
                                        </p:tgtEl>
                                        <p:attrNameLst>
                                          <p:attrName>ppt_x</p:attrName>
                                        </p:attrNameLst>
                                      </p:cBhvr>
                                      <p:tavLst>
                                        <p:tav tm="0">
                                          <p:val>
                                            <p:strVal val="#ppt_x"/>
                                          </p:val>
                                        </p:tav>
                                        <p:tav tm="100000">
                                          <p:val>
                                            <p:strVal val="#ppt_x"/>
                                          </p:val>
                                        </p:tav>
                                      </p:tavLst>
                                    </p:anim>
                                    <p:anim calcmode="lin" valueType="num">
                                      <p:cBhvr>
                                        <p:cTn id="12"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par>
                                <p:cTn id="18" presetID="42"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1000"/>
                                        <p:tgtEl>
                                          <p:spTgt spid="7"/>
                                        </p:tgtEl>
                                      </p:cBhvr>
                                    </p:animEffect>
                                    <p:anim calcmode="lin" valueType="num">
                                      <p:cBhvr>
                                        <p:cTn id="21" dur="1000" fill="hold"/>
                                        <p:tgtEl>
                                          <p:spTgt spid="7"/>
                                        </p:tgtEl>
                                        <p:attrNameLst>
                                          <p:attrName>ppt_x</p:attrName>
                                        </p:attrNameLst>
                                      </p:cBhvr>
                                      <p:tavLst>
                                        <p:tav tm="0">
                                          <p:val>
                                            <p:strVal val="#ppt_x"/>
                                          </p:val>
                                        </p:tav>
                                        <p:tav tm="100000">
                                          <p:val>
                                            <p:strVal val="#ppt_x"/>
                                          </p:val>
                                        </p:tav>
                                      </p:tavLst>
                                    </p:anim>
                                    <p:anim calcmode="lin" valueType="num">
                                      <p:cBhvr>
                                        <p:cTn id="22" dur="1000" fill="hold"/>
                                        <p:tgtEl>
                                          <p:spTgt spid="7"/>
                                        </p:tgtEl>
                                        <p:attrNameLst>
                                          <p:attrName>ppt_y</p:attrName>
                                        </p:attrNameLst>
                                      </p:cBhvr>
                                      <p:tavLst>
                                        <p:tav tm="0">
                                          <p:val>
                                            <p:strVal val="#ppt_y+.1"/>
                                          </p:val>
                                        </p:tav>
                                        <p:tav tm="100000">
                                          <p:val>
                                            <p:strVal val="#ppt_y"/>
                                          </p:val>
                                        </p:tav>
                                      </p:tavLst>
                                    </p:anim>
                                  </p:childTnLst>
                                </p:cTn>
                              </p:par>
                            </p:childTnLst>
                          </p:cTn>
                        </p:par>
                        <p:par>
                          <p:cTn id="23" fill="hold">
                            <p:stCondLst>
                              <p:cond delay="1000"/>
                            </p:stCondLst>
                            <p:childTnLst>
                              <p:par>
                                <p:cTn id="24" presetID="42" presetClass="entr" presetSubtype="0" fill="hold" nodeType="afterEffect">
                                  <p:stCondLst>
                                    <p:cond delay="0"/>
                                  </p:stCondLst>
                                  <p:childTnLst>
                                    <p:set>
                                      <p:cBhvr>
                                        <p:cTn id="25" dur="1" fill="hold">
                                          <p:stCondLst>
                                            <p:cond delay="0"/>
                                          </p:stCondLst>
                                        </p:cTn>
                                        <p:tgtEl>
                                          <p:spTgt spid="7">
                                            <p:txEl>
                                              <p:pRg st="0" end="0"/>
                                            </p:txEl>
                                          </p:spTgt>
                                        </p:tgtEl>
                                        <p:attrNameLst>
                                          <p:attrName>style.visibility</p:attrName>
                                        </p:attrNameLst>
                                      </p:cBhvr>
                                      <p:to>
                                        <p:strVal val="visible"/>
                                      </p:to>
                                    </p:set>
                                    <p:animEffect transition="in" filter="fade">
                                      <p:cBhvr>
                                        <p:cTn id="26" dur="1000"/>
                                        <p:tgtEl>
                                          <p:spTgt spid="7">
                                            <p:txEl>
                                              <p:pRg st="0" end="0"/>
                                            </p:txEl>
                                          </p:spTgt>
                                        </p:tgtEl>
                                      </p:cBhvr>
                                    </p:animEffect>
                                    <p:anim calcmode="lin" valueType="num">
                                      <p:cBhvr>
                                        <p:cTn id="27"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28"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par>
                          <p:cTn id="29" fill="hold">
                            <p:stCondLst>
                              <p:cond delay="2000"/>
                            </p:stCondLst>
                            <p:childTnLst>
                              <p:par>
                                <p:cTn id="30" presetID="42" presetClass="entr" presetSubtype="0" fill="hold" nodeType="afterEffect">
                                  <p:stCondLst>
                                    <p:cond delay="0"/>
                                  </p:stCondLst>
                                  <p:childTnLst>
                                    <p:set>
                                      <p:cBhvr>
                                        <p:cTn id="31" dur="1" fill="hold">
                                          <p:stCondLst>
                                            <p:cond delay="0"/>
                                          </p:stCondLst>
                                        </p:cTn>
                                        <p:tgtEl>
                                          <p:spTgt spid="7">
                                            <p:txEl>
                                              <p:pRg st="1" end="1"/>
                                            </p:txEl>
                                          </p:spTgt>
                                        </p:tgtEl>
                                        <p:attrNameLst>
                                          <p:attrName>style.visibility</p:attrName>
                                        </p:attrNameLst>
                                      </p:cBhvr>
                                      <p:to>
                                        <p:strVal val="visible"/>
                                      </p:to>
                                    </p:set>
                                    <p:animEffect transition="in" filter="fade">
                                      <p:cBhvr>
                                        <p:cTn id="32" dur="1000"/>
                                        <p:tgtEl>
                                          <p:spTgt spid="7">
                                            <p:txEl>
                                              <p:pRg st="1" end="1"/>
                                            </p:txEl>
                                          </p:spTgt>
                                        </p:tgtEl>
                                      </p:cBhvr>
                                    </p:animEffect>
                                    <p:anim calcmode="lin" valueType="num">
                                      <p:cBhvr>
                                        <p:cTn id="33"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34"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par>
                          <p:cTn id="35" fill="hold">
                            <p:stCondLst>
                              <p:cond delay="3000"/>
                            </p:stCondLst>
                            <p:childTnLst>
                              <p:par>
                                <p:cTn id="36" presetID="10" presetClass="entr" presetSubtype="0" fill="hold" grpId="0" nodeType="after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fade">
                                      <p:cBhvr>
                                        <p:cTn id="38" dur="500"/>
                                        <p:tgtEl>
                                          <p:spTgt spid="8"/>
                                        </p:tgtEl>
                                      </p:cBhvr>
                                    </p:animEffect>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7">
                                            <p:txEl>
                                              <p:pRg st="2" end="2"/>
                                            </p:txEl>
                                          </p:spTgt>
                                        </p:tgtEl>
                                        <p:attrNameLst>
                                          <p:attrName>style.visibility</p:attrName>
                                        </p:attrNameLst>
                                      </p:cBhvr>
                                      <p:to>
                                        <p:strVal val="visible"/>
                                      </p:to>
                                    </p:set>
                                    <p:animEffect transition="in" filter="fade">
                                      <p:cBhvr>
                                        <p:cTn id="43" dur="1000"/>
                                        <p:tgtEl>
                                          <p:spTgt spid="7">
                                            <p:txEl>
                                              <p:pRg st="2" end="2"/>
                                            </p:txEl>
                                          </p:spTgt>
                                        </p:tgtEl>
                                      </p:cBhvr>
                                    </p:animEffect>
                                    <p:anim calcmode="lin" valueType="num">
                                      <p:cBhvr>
                                        <p:cTn id="44"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45" dur="1000" fill="hold"/>
                                        <p:tgtEl>
                                          <p:spTgt spid="7">
                                            <p:txEl>
                                              <p:pRg st="2" end="2"/>
                                            </p:txEl>
                                          </p:spTgt>
                                        </p:tgtEl>
                                        <p:attrNameLst>
                                          <p:attrName>ppt_y</p:attrName>
                                        </p:attrNameLst>
                                      </p:cBhvr>
                                      <p:tavLst>
                                        <p:tav tm="0">
                                          <p:val>
                                            <p:strVal val="#ppt_y+.1"/>
                                          </p:val>
                                        </p:tav>
                                        <p:tav tm="100000">
                                          <p:val>
                                            <p:strVal val="#ppt_y"/>
                                          </p:val>
                                        </p:tav>
                                      </p:tavLst>
                                    </p:anim>
                                  </p:childTnLst>
                                </p:cTn>
                              </p:par>
                              <p:par>
                                <p:cTn id="46" presetID="42" presetClass="entr" presetSubtype="0" fill="hold" nodeType="withEffect">
                                  <p:stCondLst>
                                    <p:cond delay="0"/>
                                  </p:stCondLst>
                                  <p:childTnLst>
                                    <p:set>
                                      <p:cBhvr>
                                        <p:cTn id="47" dur="1" fill="hold">
                                          <p:stCondLst>
                                            <p:cond delay="0"/>
                                          </p:stCondLst>
                                        </p:cTn>
                                        <p:tgtEl>
                                          <p:spTgt spid="7">
                                            <p:txEl>
                                              <p:pRg st="3" end="3"/>
                                            </p:txEl>
                                          </p:spTgt>
                                        </p:tgtEl>
                                        <p:attrNameLst>
                                          <p:attrName>style.visibility</p:attrName>
                                        </p:attrNameLst>
                                      </p:cBhvr>
                                      <p:to>
                                        <p:strVal val="visible"/>
                                      </p:to>
                                    </p:set>
                                    <p:animEffect transition="in" filter="fade">
                                      <p:cBhvr>
                                        <p:cTn id="48" dur="1000"/>
                                        <p:tgtEl>
                                          <p:spTgt spid="7">
                                            <p:txEl>
                                              <p:pRg st="3" end="3"/>
                                            </p:txEl>
                                          </p:spTgt>
                                        </p:tgtEl>
                                      </p:cBhvr>
                                    </p:animEffect>
                                    <p:anim calcmode="lin" valueType="num">
                                      <p:cBhvr>
                                        <p:cTn id="49"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50"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par>
                          <p:cTn id="51" fill="hold">
                            <p:stCondLst>
                              <p:cond delay="1000"/>
                            </p:stCondLst>
                            <p:childTnLst>
                              <p:par>
                                <p:cTn id="52" presetID="42" presetClass="entr" presetSubtype="0" fill="hold" grpId="0" nodeType="afterEffect">
                                  <p:stCondLst>
                                    <p:cond delay="0"/>
                                  </p:stCondLst>
                                  <p:childTnLst>
                                    <p:set>
                                      <p:cBhvr>
                                        <p:cTn id="53" dur="1" fill="hold">
                                          <p:stCondLst>
                                            <p:cond delay="0"/>
                                          </p:stCondLst>
                                        </p:cTn>
                                        <p:tgtEl>
                                          <p:spTgt spid="9"/>
                                        </p:tgtEl>
                                        <p:attrNameLst>
                                          <p:attrName>style.visibility</p:attrName>
                                        </p:attrNameLst>
                                      </p:cBhvr>
                                      <p:to>
                                        <p:strVal val="visible"/>
                                      </p:to>
                                    </p:set>
                                    <p:animEffect transition="in" filter="fade">
                                      <p:cBhvr>
                                        <p:cTn id="54" dur="1000"/>
                                        <p:tgtEl>
                                          <p:spTgt spid="9"/>
                                        </p:tgtEl>
                                      </p:cBhvr>
                                    </p:animEffect>
                                    <p:anim calcmode="lin" valueType="num">
                                      <p:cBhvr>
                                        <p:cTn id="55" dur="1000" fill="hold"/>
                                        <p:tgtEl>
                                          <p:spTgt spid="9"/>
                                        </p:tgtEl>
                                        <p:attrNameLst>
                                          <p:attrName>ppt_x</p:attrName>
                                        </p:attrNameLst>
                                      </p:cBhvr>
                                      <p:tavLst>
                                        <p:tav tm="0">
                                          <p:val>
                                            <p:strVal val="#ppt_x"/>
                                          </p:val>
                                        </p:tav>
                                        <p:tav tm="100000">
                                          <p:val>
                                            <p:strVal val="#ppt_x"/>
                                          </p:val>
                                        </p:tav>
                                      </p:tavLst>
                                    </p:anim>
                                    <p:anim calcmode="lin" valueType="num">
                                      <p:cBhvr>
                                        <p:cTn id="5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p:bldP spid="7" grpId="0" animBg="1"/>
      <p:bldP spid="8" grpId="0"/>
      <p:bldP spid="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0B4039ED-AFA2-4C68-A4CA-844A8B7DE01F}"/>
              </a:ext>
            </a:extLst>
          </p:cNvPr>
          <p:cNvSpPr txBox="1"/>
          <p:nvPr/>
        </p:nvSpPr>
        <p:spPr>
          <a:xfrm>
            <a:off x="2511692" y="-59476"/>
            <a:ext cx="4768993"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取地址运算符</a:t>
            </a:r>
            <a:r>
              <a:rPr lang="en-US" altLang="zh-CN" sz="3600" b="1" dirty="0">
                <a:solidFill>
                  <a:srgbClr val="FF0000"/>
                </a:solidFill>
                <a:ea typeface="隶书" pitchFamily="49" charset="-122"/>
              </a:rPr>
              <a:t>&amp;</a:t>
            </a:r>
            <a:endParaRPr lang="zh-CN" altLang="en-US" sz="3200" b="1" dirty="0">
              <a:solidFill>
                <a:srgbClr val="FF0000"/>
              </a:solidFill>
              <a:ea typeface="隶书" pitchFamily="49" charset="-122"/>
            </a:endParaRPr>
          </a:p>
        </p:txBody>
      </p:sp>
      <p:sp>
        <p:nvSpPr>
          <p:cNvPr id="4" name="矩形 3">
            <a:extLst>
              <a:ext uri="{FF2B5EF4-FFF2-40B4-BE49-F238E27FC236}">
                <a16:creationId xmlns:a16="http://schemas.microsoft.com/office/drawing/2014/main" id="{F661C3B6-BBC7-490F-923B-85463803ABD0}"/>
              </a:ext>
            </a:extLst>
          </p:cNvPr>
          <p:cNvSpPr/>
          <p:nvPr/>
        </p:nvSpPr>
        <p:spPr>
          <a:xfrm>
            <a:off x="4591" y="583341"/>
            <a:ext cx="12158444" cy="461665"/>
          </a:xfrm>
          <a:prstGeom prst="rect">
            <a:avLst/>
          </a:prstGeom>
        </p:spPr>
        <p:txBody>
          <a:bodyPr wrap="square">
            <a:spAutoFit/>
          </a:bodyPr>
          <a:lstStyle/>
          <a:p>
            <a:pPr marL="0" lvl="1"/>
            <a:r>
              <a:rPr lang="zh-CN" altLang="en-US" sz="2400" b="1" dirty="0">
                <a:latin typeface="隶书" pitchFamily="49" charset="-122"/>
              </a:rPr>
              <a:t>要获取变量的地址，应使用</a:t>
            </a:r>
            <a:r>
              <a:rPr lang="zh-CN" altLang="en-US" sz="2400" b="1" dirty="0">
                <a:solidFill>
                  <a:srgbClr val="00B0F0"/>
                </a:solidFill>
                <a:latin typeface="隶书" pitchFamily="49" charset="-122"/>
              </a:rPr>
              <a:t>取地址运算符</a:t>
            </a:r>
            <a:r>
              <a:rPr lang="zh-CN" altLang="en-US" sz="2400" b="1" dirty="0">
                <a:latin typeface="隶书" pitchFamily="49" charset="-122"/>
              </a:rPr>
              <a:t>“</a:t>
            </a:r>
            <a:r>
              <a:rPr lang="en-US" altLang="zh-CN" sz="2400" b="1" dirty="0">
                <a:solidFill>
                  <a:srgbClr val="FF0000"/>
                </a:solidFill>
                <a:latin typeface="隶书" pitchFamily="49" charset="-122"/>
              </a:rPr>
              <a:t>&amp;</a:t>
            </a:r>
            <a:r>
              <a:rPr lang="zh-CN" altLang="en-US" sz="2400" b="1" dirty="0">
                <a:latin typeface="隶书" pitchFamily="49" charset="-122"/>
              </a:rPr>
              <a:t>”，例如：</a:t>
            </a:r>
          </a:p>
        </p:txBody>
      </p:sp>
      <p:sp>
        <p:nvSpPr>
          <p:cNvPr id="6" name="Rectangle 2">
            <a:extLst>
              <a:ext uri="{FF2B5EF4-FFF2-40B4-BE49-F238E27FC236}">
                <a16:creationId xmlns:a16="http://schemas.microsoft.com/office/drawing/2014/main" id="{8A35E3CF-AF68-4D57-B029-2EE8E51B6959}"/>
              </a:ext>
            </a:extLst>
          </p:cNvPr>
          <p:cNvSpPr txBox="1">
            <a:spLocks noChangeArrowheads="1"/>
          </p:cNvSpPr>
          <p:nvPr/>
        </p:nvSpPr>
        <p:spPr>
          <a:xfrm>
            <a:off x="1542482" y="1219844"/>
            <a:ext cx="7666063" cy="1112150"/>
          </a:xfrm>
          <a:prstGeom prst="rect">
            <a:avLst/>
          </a:prstGeom>
          <a:solidFill>
            <a:schemeClr val="bg2"/>
          </a:solid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0000FF"/>
                </a:solidFill>
              </a:rPr>
              <a:t>int</a:t>
            </a:r>
            <a:r>
              <a:rPr lang="zh-CN" altLang="en-US" b="1" dirty="0">
                <a:solidFill>
                  <a:srgbClr val="0000FF"/>
                </a:solidFill>
              </a:rPr>
              <a:t> </a:t>
            </a:r>
            <a:r>
              <a:rPr lang="en-US" altLang="zh-CN" b="1" dirty="0"/>
              <a:t>a, </a:t>
            </a:r>
            <a:r>
              <a:rPr lang="zh-CN" altLang="en-US" b="1" dirty="0">
                <a:solidFill>
                  <a:srgbClr val="FF0000"/>
                </a:solidFill>
              </a:rPr>
              <a:t>*</a:t>
            </a:r>
            <a:r>
              <a:rPr lang="en-US" altLang="zh-CN" b="1" dirty="0"/>
              <a:t>p;</a:t>
            </a:r>
          </a:p>
          <a:p>
            <a:pPr marL="0" indent="0">
              <a:lnSpc>
                <a:spcPct val="100000"/>
              </a:lnSpc>
              <a:spcBef>
                <a:spcPct val="0"/>
              </a:spcBef>
              <a:buClr>
                <a:schemeClr val="tx2"/>
              </a:buClr>
              <a:buSzPct val="70000"/>
              <a:buNone/>
            </a:pPr>
            <a:r>
              <a:rPr lang="en-US" altLang="zh-CN" b="1" dirty="0"/>
              <a:t>p = </a:t>
            </a:r>
            <a:r>
              <a:rPr lang="en-US" altLang="zh-CN" b="1" dirty="0">
                <a:solidFill>
                  <a:srgbClr val="FF0000"/>
                </a:solidFill>
              </a:rPr>
              <a:t>&amp;</a:t>
            </a:r>
            <a:r>
              <a:rPr lang="en-US" altLang="zh-CN" b="1" dirty="0"/>
              <a:t>a;</a:t>
            </a:r>
          </a:p>
          <a:p>
            <a:pPr marL="0" indent="0">
              <a:lnSpc>
                <a:spcPct val="100000"/>
              </a:lnSpc>
              <a:spcBef>
                <a:spcPct val="0"/>
              </a:spcBef>
              <a:buClr>
                <a:schemeClr val="tx2"/>
              </a:buClr>
              <a:buSzPct val="70000"/>
              <a:buNone/>
            </a:pPr>
            <a:endParaRPr lang="en-US" altLang="zh-CN" b="1" dirty="0"/>
          </a:p>
          <a:p>
            <a:pPr marL="0" indent="0">
              <a:lnSpc>
                <a:spcPct val="100000"/>
              </a:lnSpc>
              <a:spcBef>
                <a:spcPct val="0"/>
              </a:spcBef>
              <a:buClr>
                <a:schemeClr val="tx2"/>
              </a:buClr>
              <a:buSzPct val="70000"/>
              <a:buNone/>
            </a:pPr>
            <a:endParaRPr lang="en-US" altLang="zh-CN" b="1" dirty="0"/>
          </a:p>
          <a:p>
            <a:pPr marL="0" indent="0">
              <a:lnSpc>
                <a:spcPct val="100000"/>
              </a:lnSpc>
              <a:spcBef>
                <a:spcPct val="0"/>
              </a:spcBef>
              <a:buClr>
                <a:schemeClr val="tx2"/>
              </a:buClr>
              <a:buSzPct val="70000"/>
              <a:buFont typeface="Arial" panose="020B0604020202020204" pitchFamily="34" charset="0"/>
              <a:buNone/>
            </a:pPr>
            <a:endParaRPr lang="zh-CN" altLang="en-US" b="1" dirty="0"/>
          </a:p>
        </p:txBody>
      </p:sp>
      <p:sp>
        <p:nvSpPr>
          <p:cNvPr id="7" name="Text Box 88">
            <a:extLst>
              <a:ext uri="{FF2B5EF4-FFF2-40B4-BE49-F238E27FC236}">
                <a16:creationId xmlns:a16="http://schemas.microsoft.com/office/drawing/2014/main" id="{E18C98C4-9E9D-456D-80F5-AC4F819EBA3D}"/>
              </a:ext>
            </a:extLst>
          </p:cNvPr>
          <p:cNvSpPr txBox="1">
            <a:spLocks noChangeArrowheads="1"/>
          </p:cNvSpPr>
          <p:nvPr/>
        </p:nvSpPr>
        <p:spPr bwMode="auto">
          <a:xfrm>
            <a:off x="33556" y="4171071"/>
            <a:ext cx="12158444" cy="23720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kumimoji="1" lang="zh-CN" altLang="en-US" sz="2800" dirty="0">
                <a:solidFill>
                  <a:srgbClr val="FF3300"/>
                </a:solidFill>
                <a:ea typeface="隶书" pitchFamily="49" charset="-122"/>
              </a:rPr>
              <a:t>注意</a:t>
            </a:r>
            <a:r>
              <a:rPr kumimoji="1" lang="en-US" altLang="zh-CN" sz="2400" dirty="0">
                <a:solidFill>
                  <a:srgbClr val="3333FF"/>
                </a:solidFill>
                <a:ea typeface="隶书" pitchFamily="49" charset="-122"/>
              </a:rPr>
              <a:t>: </a:t>
            </a:r>
          </a:p>
          <a:p>
            <a:pPr indent="457200"/>
            <a:r>
              <a:rPr kumimoji="1" lang="zh-CN" altLang="en-US" sz="2400" dirty="0">
                <a:solidFill>
                  <a:srgbClr val="3333FF"/>
                </a:solidFill>
                <a:latin typeface="等线" panose="02010600030101010101" pitchFamily="2" charset="-122"/>
                <a:ea typeface="等线" panose="02010600030101010101" pitchFamily="2" charset="-122"/>
              </a:rPr>
              <a:t>① </a:t>
            </a:r>
            <a:r>
              <a:rPr kumimoji="1" lang="zh-CN" altLang="en-US" sz="2400" dirty="0">
                <a:solidFill>
                  <a:srgbClr val="3333FF"/>
                </a:solidFill>
                <a:ea typeface="隶书" pitchFamily="49" charset="-122"/>
              </a:rPr>
              <a:t>若指针变量在定义时没有对其进行初始化，那么其值是一个无意义的随机数，即指针变量随机指向一个内存单元，禁止使用没有初始化的指针变量。</a:t>
            </a:r>
            <a:endParaRPr kumimoji="1" lang="en-US" altLang="zh-CN" sz="2400" dirty="0">
              <a:solidFill>
                <a:srgbClr val="3333FF"/>
              </a:solidFill>
              <a:ea typeface="隶书" pitchFamily="49" charset="-122"/>
            </a:endParaRPr>
          </a:p>
          <a:p>
            <a:pPr indent="457200"/>
            <a:r>
              <a:rPr kumimoji="1" lang="zh-CN" altLang="zh-CN" sz="2400" dirty="0">
                <a:solidFill>
                  <a:srgbClr val="3333FF"/>
                </a:solidFill>
                <a:latin typeface="等线" panose="02010600030101010101" pitchFamily="2" charset="-122"/>
                <a:ea typeface="隶书" pitchFamily="49" charset="-122"/>
              </a:rPr>
              <a:t>②</a:t>
            </a:r>
            <a:r>
              <a:rPr kumimoji="1" lang="en-US" altLang="zh-CN" sz="2400" dirty="0">
                <a:solidFill>
                  <a:srgbClr val="3333FF"/>
                </a:solidFill>
                <a:latin typeface="等线" panose="02010600030101010101" pitchFamily="2" charset="-122"/>
                <a:ea typeface="隶书" pitchFamily="49" charset="-122"/>
              </a:rPr>
              <a:t> </a:t>
            </a:r>
            <a:r>
              <a:rPr kumimoji="1" lang="en-US" altLang="zh-CN" sz="2400" b="1" dirty="0">
                <a:solidFill>
                  <a:srgbClr val="00B0F0"/>
                </a:solidFill>
                <a:latin typeface="等线" panose="02010600030101010101" pitchFamily="2" charset="-122"/>
                <a:ea typeface="隶书" pitchFamily="49" charset="-122"/>
              </a:rPr>
              <a:t>NULL</a:t>
            </a:r>
            <a:r>
              <a:rPr kumimoji="1" lang="zh-CN" altLang="en-US" sz="2400" b="1" dirty="0">
                <a:solidFill>
                  <a:srgbClr val="0000FF"/>
                </a:solidFill>
                <a:latin typeface="等线" panose="02010600030101010101" pitchFamily="2" charset="-122"/>
                <a:ea typeface="隶书" pitchFamily="49" charset="-122"/>
              </a:rPr>
              <a:t>常量宏</a:t>
            </a:r>
            <a:r>
              <a:rPr kumimoji="1" lang="zh-CN" altLang="en-US" sz="2400" dirty="0">
                <a:solidFill>
                  <a:srgbClr val="3333FF"/>
                </a:solidFill>
                <a:latin typeface="等线" panose="02010600030101010101" pitchFamily="2" charset="-122"/>
                <a:ea typeface="隶书" pitchFamily="49" charset="-122"/>
              </a:rPr>
              <a:t>定义在</a:t>
            </a:r>
            <a:r>
              <a:rPr kumimoji="1" lang="en-US" altLang="zh-CN" sz="2400" dirty="0">
                <a:solidFill>
                  <a:srgbClr val="3333FF"/>
                </a:solidFill>
                <a:latin typeface="等线" panose="02010600030101010101" pitchFamily="2" charset="-122"/>
                <a:ea typeface="隶书" pitchFamily="49" charset="-122"/>
              </a:rPr>
              <a:t>stdio.h</a:t>
            </a:r>
            <a:r>
              <a:rPr kumimoji="1" lang="zh-CN" altLang="en-US" sz="2400" dirty="0">
                <a:solidFill>
                  <a:srgbClr val="3333FF"/>
                </a:solidFill>
                <a:latin typeface="等线" panose="02010600030101010101" pitchFamily="2" charset="-122"/>
                <a:ea typeface="隶书" pitchFamily="49" charset="-122"/>
              </a:rPr>
              <a:t>文件中，表示</a:t>
            </a:r>
            <a:r>
              <a:rPr kumimoji="1" lang="en-US" altLang="zh-CN" sz="2400" dirty="0">
                <a:solidFill>
                  <a:srgbClr val="3333FF"/>
                </a:solidFill>
                <a:latin typeface="等线" panose="02010600030101010101" pitchFamily="2" charset="-122"/>
                <a:ea typeface="隶书" pitchFamily="49" charset="-122"/>
              </a:rPr>
              <a:t>0</a:t>
            </a:r>
            <a:r>
              <a:rPr kumimoji="1" lang="zh-CN" altLang="en-US" sz="2400" dirty="0">
                <a:solidFill>
                  <a:srgbClr val="3333FF"/>
                </a:solidFill>
                <a:latin typeface="等线" panose="02010600030101010101" pitchFamily="2" charset="-122"/>
                <a:ea typeface="隶书" pitchFamily="49" charset="-122"/>
              </a:rPr>
              <a:t>或</a:t>
            </a:r>
            <a:r>
              <a:rPr kumimoji="1" lang="en-US" altLang="zh-CN" sz="2400" dirty="0">
                <a:solidFill>
                  <a:srgbClr val="3333FF"/>
                </a:solidFill>
                <a:latin typeface="等线" panose="02010600030101010101" pitchFamily="2" charset="-122"/>
                <a:ea typeface="隶书" pitchFamily="49" charset="-122"/>
              </a:rPr>
              <a:t>’\0’</a:t>
            </a:r>
            <a:r>
              <a:rPr kumimoji="1" lang="zh-CN" altLang="en-US" sz="2400" dirty="0">
                <a:solidFill>
                  <a:srgbClr val="3333FF"/>
                </a:solidFill>
                <a:latin typeface="等线" panose="02010600030101010101" pitchFamily="2" charset="-122"/>
                <a:ea typeface="隶书" pitchFamily="49" charset="-122"/>
              </a:rPr>
              <a:t>，即</a:t>
            </a:r>
            <a:r>
              <a:rPr kumimoji="1" lang="zh-CN" altLang="en-US" sz="2400" dirty="0">
                <a:solidFill>
                  <a:srgbClr val="FF0000"/>
                </a:solidFill>
                <a:latin typeface="等线" panose="02010600030101010101" pitchFamily="2" charset="-122"/>
                <a:ea typeface="隶书" pitchFamily="49" charset="-122"/>
              </a:rPr>
              <a:t>空指针</a:t>
            </a:r>
            <a:r>
              <a:rPr kumimoji="1" lang="zh-CN" altLang="en-US" sz="2400" dirty="0">
                <a:solidFill>
                  <a:srgbClr val="3333FF"/>
                </a:solidFill>
                <a:latin typeface="等线" panose="02010600030101010101" pitchFamily="2" charset="-122"/>
                <a:ea typeface="隶书" pitchFamily="49" charset="-122"/>
              </a:rPr>
              <a:t>。</a:t>
            </a:r>
            <a:endParaRPr kumimoji="1" lang="en-US" altLang="zh-CN" sz="2400" dirty="0">
              <a:solidFill>
                <a:srgbClr val="3333FF"/>
              </a:solidFill>
              <a:latin typeface="等线" panose="02010600030101010101" pitchFamily="2" charset="-122"/>
              <a:ea typeface="隶书" pitchFamily="49" charset="-122"/>
            </a:endParaRPr>
          </a:p>
          <a:p>
            <a:pPr indent="457200"/>
            <a:r>
              <a:rPr kumimoji="1" lang="zh-CN" altLang="zh-CN" sz="2400" dirty="0">
                <a:solidFill>
                  <a:srgbClr val="3333FF"/>
                </a:solidFill>
                <a:latin typeface="等线" panose="02010600030101010101" pitchFamily="2" charset="-122"/>
                <a:ea typeface="隶书" pitchFamily="49" charset="-122"/>
              </a:rPr>
              <a:t>③</a:t>
            </a:r>
            <a:r>
              <a:rPr kumimoji="1" lang="en-US" altLang="zh-CN" sz="2400" dirty="0">
                <a:solidFill>
                  <a:srgbClr val="3333FF"/>
                </a:solidFill>
                <a:latin typeface="等线" panose="02010600030101010101" pitchFamily="2" charset="-122"/>
                <a:ea typeface="隶书" pitchFamily="49" charset="-122"/>
              </a:rPr>
              <a:t> </a:t>
            </a:r>
            <a:r>
              <a:rPr kumimoji="1" lang="zh-CN" altLang="en-US" sz="2400" dirty="0">
                <a:solidFill>
                  <a:srgbClr val="3333FF"/>
                </a:solidFill>
                <a:latin typeface="等线" panose="02010600030101010101" pitchFamily="2" charset="-122"/>
                <a:ea typeface="隶书" pitchFamily="49" charset="-122"/>
              </a:rPr>
              <a:t>将指针变量初始化空指针的好处是让指针变量有确定的地址值但又不指向任何内存单元，防止程序出现意外的错误操作。</a:t>
            </a:r>
            <a:endParaRPr kumimoji="1" lang="zh-CN" altLang="en-US" sz="2400" dirty="0">
              <a:solidFill>
                <a:srgbClr val="3333FF"/>
              </a:solidFill>
              <a:ea typeface="隶书" pitchFamily="49" charset="-122"/>
            </a:endParaRPr>
          </a:p>
        </p:txBody>
      </p:sp>
      <p:sp>
        <p:nvSpPr>
          <p:cNvPr id="9" name="矩形 8">
            <a:extLst>
              <a:ext uri="{FF2B5EF4-FFF2-40B4-BE49-F238E27FC236}">
                <a16:creationId xmlns:a16="http://schemas.microsoft.com/office/drawing/2014/main" id="{F1E54605-7D72-4777-AA92-9EB95FF04755}"/>
              </a:ext>
            </a:extLst>
          </p:cNvPr>
          <p:cNvSpPr/>
          <p:nvPr/>
        </p:nvSpPr>
        <p:spPr>
          <a:xfrm>
            <a:off x="0" y="2479102"/>
            <a:ext cx="9660368" cy="461665"/>
          </a:xfrm>
          <a:prstGeom prst="rect">
            <a:avLst/>
          </a:prstGeom>
        </p:spPr>
        <p:txBody>
          <a:bodyPr wrap="square">
            <a:spAutoFit/>
          </a:bodyPr>
          <a:lstStyle/>
          <a:p>
            <a:pPr marL="0" lvl="1"/>
            <a:r>
              <a:rPr lang="zh-CN" altLang="en-US" sz="2400" b="1" dirty="0">
                <a:latin typeface="隶书" pitchFamily="49" charset="-122"/>
              </a:rPr>
              <a:t>上面定义了整形变量</a:t>
            </a:r>
            <a:r>
              <a:rPr lang="en-US" altLang="zh-CN" sz="2400" b="1" dirty="0">
                <a:latin typeface="隶书" pitchFamily="49" charset="-122"/>
              </a:rPr>
              <a:t>a</a:t>
            </a:r>
            <a:r>
              <a:rPr lang="zh-CN" altLang="en-US" sz="2400" b="1" dirty="0">
                <a:latin typeface="隶书" pitchFamily="49" charset="-122"/>
              </a:rPr>
              <a:t>和指针变量</a:t>
            </a:r>
            <a:r>
              <a:rPr lang="en-US" altLang="zh-CN" sz="2400" b="1" dirty="0">
                <a:latin typeface="隶书" pitchFamily="49" charset="-122"/>
              </a:rPr>
              <a:t>p,</a:t>
            </a:r>
            <a:r>
              <a:rPr lang="zh-CN" altLang="en-US" sz="2400" b="1" dirty="0">
                <a:latin typeface="隶书" pitchFamily="49" charset="-122"/>
              </a:rPr>
              <a:t>并为</a:t>
            </a:r>
            <a:r>
              <a:rPr lang="en-US" altLang="zh-CN" sz="2400" b="1" dirty="0">
                <a:latin typeface="隶书" pitchFamily="49" charset="-122"/>
              </a:rPr>
              <a:t>p</a:t>
            </a:r>
            <a:r>
              <a:rPr lang="zh-CN" altLang="en-US" sz="2400" b="1" dirty="0">
                <a:latin typeface="隶书" pitchFamily="49" charset="-122"/>
              </a:rPr>
              <a:t>赋初值</a:t>
            </a:r>
            <a:r>
              <a:rPr lang="en-US" altLang="zh-CN" sz="2400" b="1" dirty="0">
                <a:solidFill>
                  <a:srgbClr val="FF0000"/>
                </a:solidFill>
                <a:latin typeface="隶书" pitchFamily="49" charset="-122"/>
              </a:rPr>
              <a:t>&amp;</a:t>
            </a:r>
            <a:r>
              <a:rPr lang="en-US" altLang="zh-CN" sz="2400" b="1" dirty="0">
                <a:latin typeface="隶书" pitchFamily="49" charset="-122"/>
              </a:rPr>
              <a:t>a</a:t>
            </a:r>
            <a:r>
              <a:rPr lang="zh-CN" altLang="en-US" sz="2400" b="1" dirty="0">
                <a:latin typeface="隶书" pitchFamily="49" charset="-122"/>
              </a:rPr>
              <a:t>，即</a:t>
            </a:r>
            <a:r>
              <a:rPr lang="en-US" altLang="zh-CN" sz="2400" b="1" dirty="0">
                <a:latin typeface="隶书" pitchFamily="49" charset="-122"/>
              </a:rPr>
              <a:t>p</a:t>
            </a:r>
            <a:r>
              <a:rPr lang="zh-CN" altLang="en-US" sz="2400" b="1" dirty="0">
                <a:latin typeface="隶书" pitchFamily="49" charset="-122"/>
              </a:rPr>
              <a:t>指向了</a:t>
            </a:r>
            <a:r>
              <a:rPr lang="en-US" altLang="zh-CN" sz="2400" b="1" dirty="0">
                <a:latin typeface="隶书" pitchFamily="49" charset="-122"/>
              </a:rPr>
              <a:t>a</a:t>
            </a:r>
            <a:r>
              <a:rPr lang="zh-CN" altLang="en-US" sz="2400" b="1" dirty="0">
                <a:latin typeface="隶书" pitchFamily="49" charset="-122"/>
              </a:rPr>
              <a:t>。</a:t>
            </a:r>
          </a:p>
        </p:txBody>
      </p:sp>
      <p:sp>
        <p:nvSpPr>
          <p:cNvPr id="10" name="矩形 9">
            <a:extLst>
              <a:ext uri="{FF2B5EF4-FFF2-40B4-BE49-F238E27FC236}">
                <a16:creationId xmlns:a16="http://schemas.microsoft.com/office/drawing/2014/main" id="{58F919CD-1219-45DD-9FD4-030185EC7618}"/>
              </a:ext>
            </a:extLst>
          </p:cNvPr>
          <p:cNvSpPr/>
          <p:nvPr/>
        </p:nvSpPr>
        <p:spPr>
          <a:xfrm>
            <a:off x="0" y="3020335"/>
            <a:ext cx="10972800" cy="461665"/>
          </a:xfrm>
          <a:prstGeom prst="rect">
            <a:avLst/>
          </a:prstGeom>
        </p:spPr>
        <p:txBody>
          <a:bodyPr wrap="square">
            <a:spAutoFit/>
          </a:bodyPr>
          <a:lstStyle/>
          <a:p>
            <a:pPr marL="0" lvl="1"/>
            <a:r>
              <a:rPr lang="zh-CN" altLang="en-US" sz="2400" b="1" dirty="0">
                <a:latin typeface="隶书" pitchFamily="49" charset="-122"/>
              </a:rPr>
              <a:t>也可以在定义指针变量的同时为指针变量</a:t>
            </a:r>
            <a:r>
              <a:rPr lang="zh-CN" altLang="en-US" sz="2400" b="1" dirty="0">
                <a:solidFill>
                  <a:srgbClr val="00B0F0"/>
                </a:solidFill>
                <a:latin typeface="隶书" pitchFamily="49" charset="-122"/>
              </a:rPr>
              <a:t>赋初值</a:t>
            </a:r>
            <a:r>
              <a:rPr lang="zh-CN" altLang="en-US" sz="2400" b="1" dirty="0">
                <a:latin typeface="隶书" pitchFamily="49" charset="-122"/>
              </a:rPr>
              <a:t>，即为指针变量进行</a:t>
            </a:r>
            <a:r>
              <a:rPr lang="zh-CN" altLang="en-US" sz="2400" b="1" dirty="0">
                <a:solidFill>
                  <a:srgbClr val="00B0F0"/>
                </a:solidFill>
                <a:latin typeface="隶书" pitchFamily="49" charset="-122"/>
              </a:rPr>
              <a:t>初始化</a:t>
            </a:r>
            <a:r>
              <a:rPr lang="zh-CN" altLang="en-US" sz="2400" b="1" dirty="0">
                <a:latin typeface="隶书" pitchFamily="49" charset="-122"/>
              </a:rPr>
              <a:t>。</a:t>
            </a:r>
          </a:p>
        </p:txBody>
      </p:sp>
      <p:sp>
        <p:nvSpPr>
          <p:cNvPr id="11" name="Rectangle 2">
            <a:extLst>
              <a:ext uri="{FF2B5EF4-FFF2-40B4-BE49-F238E27FC236}">
                <a16:creationId xmlns:a16="http://schemas.microsoft.com/office/drawing/2014/main" id="{03174A46-FF81-4EEA-811A-30131C0BF6BC}"/>
              </a:ext>
            </a:extLst>
          </p:cNvPr>
          <p:cNvSpPr txBox="1">
            <a:spLocks noChangeArrowheads="1"/>
          </p:cNvSpPr>
          <p:nvPr/>
        </p:nvSpPr>
        <p:spPr>
          <a:xfrm>
            <a:off x="5375513" y="3665811"/>
            <a:ext cx="3051033" cy="596792"/>
          </a:xfrm>
          <a:prstGeom prst="rect">
            <a:avLst/>
          </a:prstGeom>
          <a:solidFill>
            <a:schemeClr val="bg2"/>
          </a:solid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0000FF"/>
                </a:solidFill>
              </a:rPr>
              <a:t>int</a:t>
            </a:r>
            <a:r>
              <a:rPr lang="zh-CN" altLang="en-US" b="1" dirty="0">
                <a:solidFill>
                  <a:srgbClr val="0000FF"/>
                </a:solidFill>
              </a:rPr>
              <a:t> </a:t>
            </a:r>
            <a:r>
              <a:rPr lang="en-US" altLang="zh-CN" b="1" dirty="0"/>
              <a:t>a, </a:t>
            </a:r>
            <a:r>
              <a:rPr lang="zh-CN" altLang="en-US" b="1" dirty="0">
                <a:solidFill>
                  <a:srgbClr val="FF0000"/>
                </a:solidFill>
              </a:rPr>
              <a:t>*</a:t>
            </a:r>
            <a:r>
              <a:rPr lang="en-US" altLang="zh-CN" b="1" dirty="0"/>
              <a:t>p = </a:t>
            </a:r>
            <a:r>
              <a:rPr lang="en-US" altLang="zh-CN" b="1" dirty="0">
                <a:solidFill>
                  <a:srgbClr val="FF0000"/>
                </a:solidFill>
              </a:rPr>
              <a:t>&amp;</a:t>
            </a:r>
            <a:r>
              <a:rPr lang="en-US" altLang="zh-CN" b="1" dirty="0"/>
              <a:t>a;</a:t>
            </a:r>
          </a:p>
          <a:p>
            <a:pPr marL="0" indent="0">
              <a:lnSpc>
                <a:spcPct val="100000"/>
              </a:lnSpc>
              <a:spcBef>
                <a:spcPct val="0"/>
              </a:spcBef>
              <a:buClr>
                <a:schemeClr val="tx2"/>
              </a:buClr>
              <a:buSzPct val="70000"/>
              <a:buNone/>
            </a:pPr>
            <a:endParaRPr lang="en-US" altLang="zh-CN" b="1" dirty="0"/>
          </a:p>
          <a:p>
            <a:pPr marL="0" indent="0">
              <a:lnSpc>
                <a:spcPct val="100000"/>
              </a:lnSpc>
              <a:spcBef>
                <a:spcPct val="0"/>
              </a:spcBef>
              <a:buClr>
                <a:schemeClr val="tx2"/>
              </a:buClr>
              <a:buSzPct val="70000"/>
              <a:buFont typeface="Arial" panose="020B0604020202020204" pitchFamily="34" charset="0"/>
              <a:buNone/>
            </a:pPr>
            <a:endParaRPr lang="zh-CN" altLang="en-US" b="1" dirty="0"/>
          </a:p>
        </p:txBody>
      </p:sp>
      <p:sp>
        <p:nvSpPr>
          <p:cNvPr id="12" name="Rectangle 2">
            <a:extLst>
              <a:ext uri="{FF2B5EF4-FFF2-40B4-BE49-F238E27FC236}">
                <a16:creationId xmlns:a16="http://schemas.microsoft.com/office/drawing/2014/main" id="{DC130B89-832D-4DAA-BB62-53637984A80A}"/>
              </a:ext>
            </a:extLst>
          </p:cNvPr>
          <p:cNvSpPr txBox="1">
            <a:spLocks noChangeArrowheads="1"/>
          </p:cNvSpPr>
          <p:nvPr/>
        </p:nvSpPr>
        <p:spPr>
          <a:xfrm>
            <a:off x="1542482" y="3659378"/>
            <a:ext cx="3051033" cy="596792"/>
          </a:xfrm>
          <a:prstGeom prst="rect">
            <a:avLst/>
          </a:prstGeom>
          <a:solidFill>
            <a:schemeClr val="bg2"/>
          </a:solid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0000FF"/>
                </a:solidFill>
              </a:rPr>
              <a:t>int</a:t>
            </a:r>
            <a:r>
              <a:rPr lang="zh-CN" altLang="en-US" b="1" dirty="0">
                <a:solidFill>
                  <a:srgbClr val="0000FF"/>
                </a:solidFill>
              </a:rPr>
              <a:t> </a:t>
            </a:r>
            <a:r>
              <a:rPr lang="zh-CN" altLang="en-US" b="1" dirty="0">
                <a:solidFill>
                  <a:srgbClr val="FF0000"/>
                </a:solidFill>
              </a:rPr>
              <a:t>*</a:t>
            </a:r>
            <a:r>
              <a:rPr lang="en-US" altLang="zh-CN" b="1" dirty="0"/>
              <a:t>p = </a:t>
            </a:r>
            <a:r>
              <a:rPr lang="en-US" altLang="zh-CN" b="1" dirty="0">
                <a:solidFill>
                  <a:srgbClr val="00B0F0"/>
                </a:solidFill>
              </a:rPr>
              <a:t>NULL</a:t>
            </a:r>
            <a:r>
              <a:rPr lang="en-US" altLang="zh-CN" b="1" dirty="0"/>
              <a:t>;</a:t>
            </a:r>
          </a:p>
          <a:p>
            <a:pPr marL="0" indent="0">
              <a:lnSpc>
                <a:spcPct val="100000"/>
              </a:lnSpc>
              <a:spcBef>
                <a:spcPct val="0"/>
              </a:spcBef>
              <a:buClr>
                <a:schemeClr val="tx2"/>
              </a:buClr>
              <a:buSzPct val="70000"/>
              <a:buNone/>
            </a:pPr>
            <a:endParaRPr lang="en-US" altLang="zh-CN" b="1" dirty="0"/>
          </a:p>
          <a:p>
            <a:pPr marL="0" indent="0">
              <a:lnSpc>
                <a:spcPct val="100000"/>
              </a:lnSpc>
              <a:spcBef>
                <a:spcPct val="0"/>
              </a:spcBef>
              <a:buClr>
                <a:schemeClr val="tx2"/>
              </a:buClr>
              <a:buSzPct val="70000"/>
              <a:buFont typeface="Arial" panose="020B0604020202020204" pitchFamily="34" charset="0"/>
              <a:buNone/>
            </a:pPr>
            <a:endParaRPr lang="zh-CN" altLang="en-US" b="1" dirty="0"/>
          </a:p>
        </p:txBody>
      </p:sp>
      <p:sp>
        <p:nvSpPr>
          <p:cNvPr id="5" name="灯片编号占位符 4">
            <a:extLst>
              <a:ext uri="{FF2B5EF4-FFF2-40B4-BE49-F238E27FC236}">
                <a16:creationId xmlns:a16="http://schemas.microsoft.com/office/drawing/2014/main" id="{92C074BE-EDB2-43D4-880B-856702EBE313}"/>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6</a:t>
            </a:fld>
            <a:r>
              <a:rPr lang="en-US" altLang="zh-CN">
                <a:solidFill>
                  <a:prstClr val="black">
                    <a:tint val="75000"/>
                  </a:prstClr>
                </a:solidFill>
              </a:rPr>
              <a:t>/ 35</a:t>
            </a:r>
            <a:endParaRPr lang="zh-CN" altLang="en-US" dirty="0"/>
          </a:p>
        </p:txBody>
      </p:sp>
    </p:spTree>
    <p:extLst>
      <p:ext uri="{BB962C8B-B14F-4D97-AF65-F5344CB8AC3E}">
        <p14:creationId xmlns:p14="http://schemas.microsoft.com/office/powerpoint/2010/main" val="3778730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1000"/>
                                        <p:tgtEl>
                                          <p:spTgt spid="6"/>
                                        </p:tgtEl>
                                      </p:cBhvr>
                                    </p:animEffect>
                                    <p:anim calcmode="lin" valueType="num">
                                      <p:cBhvr>
                                        <p:cTn id="12" dur="1000" fill="hold"/>
                                        <p:tgtEl>
                                          <p:spTgt spid="6"/>
                                        </p:tgtEl>
                                        <p:attrNameLst>
                                          <p:attrName>ppt_x</p:attrName>
                                        </p:attrNameLst>
                                      </p:cBhvr>
                                      <p:tavLst>
                                        <p:tav tm="0">
                                          <p:val>
                                            <p:strVal val="#ppt_x"/>
                                          </p:val>
                                        </p:tav>
                                        <p:tav tm="100000">
                                          <p:val>
                                            <p:strVal val="#ppt_x"/>
                                          </p:val>
                                        </p:tav>
                                      </p:tavLst>
                                    </p:anim>
                                    <p:anim calcmode="lin" valueType="num">
                                      <p:cBhvr>
                                        <p:cTn id="13" dur="1000" fill="hold"/>
                                        <p:tgtEl>
                                          <p:spTgt spid="6"/>
                                        </p:tgtEl>
                                        <p:attrNameLst>
                                          <p:attrName>ppt_y</p:attrName>
                                        </p:attrNameLst>
                                      </p:cBhvr>
                                      <p:tavLst>
                                        <p:tav tm="0">
                                          <p:val>
                                            <p:strVal val="#ppt_y+.1"/>
                                          </p:val>
                                        </p:tav>
                                        <p:tav tm="100000">
                                          <p:val>
                                            <p:strVal val="#ppt_y"/>
                                          </p:val>
                                        </p:tav>
                                      </p:tavLst>
                                    </p:anim>
                                  </p:childTnLst>
                                </p:cTn>
                              </p:par>
                            </p:childTnLst>
                          </p:cTn>
                        </p:par>
                        <p:par>
                          <p:cTn id="14" fill="hold">
                            <p:stCondLst>
                              <p:cond delay="1500"/>
                            </p:stCondLst>
                            <p:childTnLst>
                              <p:par>
                                <p:cTn id="15" presetID="10" presetClass="entr" presetSubtype="0" fill="hold" grpId="0" nodeType="after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42"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1000"/>
                                        <p:tgtEl>
                                          <p:spTgt spid="11"/>
                                        </p:tgtEl>
                                      </p:cBhvr>
                                    </p:animEffect>
                                    <p:anim calcmode="lin" valueType="num">
                                      <p:cBhvr>
                                        <p:cTn id="26" dur="1000" fill="hold"/>
                                        <p:tgtEl>
                                          <p:spTgt spid="11"/>
                                        </p:tgtEl>
                                        <p:attrNameLst>
                                          <p:attrName>ppt_x</p:attrName>
                                        </p:attrNameLst>
                                      </p:cBhvr>
                                      <p:tavLst>
                                        <p:tav tm="0">
                                          <p:val>
                                            <p:strVal val="#ppt_x"/>
                                          </p:val>
                                        </p:tav>
                                        <p:tav tm="100000">
                                          <p:val>
                                            <p:strVal val="#ppt_x"/>
                                          </p:val>
                                        </p:tav>
                                      </p:tavLst>
                                    </p:anim>
                                    <p:anim calcmode="lin" valueType="num">
                                      <p:cBhvr>
                                        <p:cTn id="27" dur="1000" fill="hold"/>
                                        <p:tgtEl>
                                          <p:spTgt spid="11"/>
                                        </p:tgtEl>
                                        <p:attrNameLst>
                                          <p:attrName>ppt_y</p:attrName>
                                        </p:attrNameLst>
                                      </p:cBhvr>
                                      <p:tavLst>
                                        <p:tav tm="0">
                                          <p:val>
                                            <p:strVal val="#ppt_y+.1"/>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1000"/>
                                        <p:tgtEl>
                                          <p:spTgt spid="12"/>
                                        </p:tgtEl>
                                      </p:cBhvr>
                                    </p:animEffect>
                                    <p:anim calcmode="lin" valueType="num">
                                      <p:cBhvr>
                                        <p:cTn id="31" dur="1000" fill="hold"/>
                                        <p:tgtEl>
                                          <p:spTgt spid="12"/>
                                        </p:tgtEl>
                                        <p:attrNameLst>
                                          <p:attrName>ppt_x</p:attrName>
                                        </p:attrNameLst>
                                      </p:cBhvr>
                                      <p:tavLst>
                                        <p:tav tm="0">
                                          <p:val>
                                            <p:strVal val="#ppt_x"/>
                                          </p:val>
                                        </p:tav>
                                        <p:tav tm="100000">
                                          <p:val>
                                            <p:strVal val="#ppt_x"/>
                                          </p:val>
                                        </p:tav>
                                      </p:tavLst>
                                    </p:anim>
                                    <p:anim calcmode="lin" valueType="num">
                                      <p:cBhvr>
                                        <p:cTn id="32"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fade">
                                      <p:cBhvr>
                                        <p:cTn id="3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animBg="1"/>
      <p:bldP spid="7" grpId="0"/>
      <p:bldP spid="9" grpId="0"/>
      <p:bldP spid="10" grpId="0"/>
      <p:bldP spid="11" grpId="0" animBg="1"/>
      <p:bldP spid="1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FBC66D63-7DA0-4032-9001-96F8AA19DF8C}"/>
              </a:ext>
            </a:extLst>
          </p:cNvPr>
          <p:cNvSpPr txBox="1"/>
          <p:nvPr/>
        </p:nvSpPr>
        <p:spPr>
          <a:xfrm>
            <a:off x="2520162" y="-59477"/>
            <a:ext cx="4768993"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间接寻址运算符</a:t>
            </a:r>
            <a:r>
              <a:rPr lang="zh-CN" altLang="en-US" sz="3600" b="1" dirty="0">
                <a:solidFill>
                  <a:srgbClr val="FF0000"/>
                </a:solidFill>
                <a:ea typeface="隶书" pitchFamily="49" charset="-122"/>
              </a:rPr>
              <a:t>*</a:t>
            </a:r>
            <a:endParaRPr lang="zh-CN" altLang="en-US" sz="3200" b="1" dirty="0">
              <a:solidFill>
                <a:srgbClr val="FF0000"/>
              </a:solidFill>
              <a:ea typeface="隶书" pitchFamily="49" charset="-122"/>
            </a:endParaRPr>
          </a:p>
        </p:txBody>
      </p:sp>
      <p:sp>
        <p:nvSpPr>
          <p:cNvPr id="4" name="矩形 3">
            <a:extLst>
              <a:ext uri="{FF2B5EF4-FFF2-40B4-BE49-F238E27FC236}">
                <a16:creationId xmlns:a16="http://schemas.microsoft.com/office/drawing/2014/main" id="{CCFF96AC-178B-464F-9B73-0630F223B205}"/>
              </a:ext>
            </a:extLst>
          </p:cNvPr>
          <p:cNvSpPr/>
          <p:nvPr/>
        </p:nvSpPr>
        <p:spPr>
          <a:xfrm>
            <a:off x="4591" y="575460"/>
            <a:ext cx="12158444" cy="830997"/>
          </a:xfrm>
          <a:prstGeom prst="rect">
            <a:avLst/>
          </a:prstGeom>
        </p:spPr>
        <p:txBody>
          <a:bodyPr wrap="square">
            <a:spAutoFit/>
          </a:bodyPr>
          <a:lstStyle/>
          <a:p>
            <a:pPr marL="0" lvl="1"/>
            <a:r>
              <a:rPr lang="zh-CN" altLang="en-US" sz="2400" b="1" dirty="0">
                <a:latin typeface="隶书" pitchFamily="49" charset="-122"/>
              </a:rPr>
              <a:t>一旦指针变量指向了某个变量，后续就可以通过</a:t>
            </a:r>
            <a:r>
              <a:rPr lang="zh-CN" altLang="en-US" sz="2400" b="1" dirty="0">
                <a:solidFill>
                  <a:srgbClr val="0070C0"/>
                </a:solidFill>
                <a:latin typeface="隶书" pitchFamily="49" charset="-122"/>
              </a:rPr>
              <a:t>间接寻址运算符</a:t>
            </a:r>
            <a:r>
              <a:rPr lang="zh-CN" altLang="en-US" sz="2400" b="1" dirty="0">
                <a:solidFill>
                  <a:srgbClr val="FF0000"/>
                </a:solidFill>
                <a:latin typeface="隶书" pitchFamily="49" charset="-122"/>
              </a:rPr>
              <a:t>*</a:t>
            </a:r>
            <a:r>
              <a:rPr lang="zh-CN" altLang="en-US" sz="2400" b="1" dirty="0">
                <a:latin typeface="隶书" pitchFamily="49" charset="-122"/>
              </a:rPr>
              <a:t>对该指针变量指向的对象进行操作。例如：</a:t>
            </a:r>
          </a:p>
        </p:txBody>
      </p:sp>
      <p:sp>
        <p:nvSpPr>
          <p:cNvPr id="5" name="Rectangle 2">
            <a:extLst>
              <a:ext uri="{FF2B5EF4-FFF2-40B4-BE49-F238E27FC236}">
                <a16:creationId xmlns:a16="http://schemas.microsoft.com/office/drawing/2014/main" id="{C234EF22-3197-43A7-B7A0-A95BF1832CF4}"/>
              </a:ext>
            </a:extLst>
          </p:cNvPr>
          <p:cNvSpPr txBox="1">
            <a:spLocks noChangeArrowheads="1"/>
          </p:cNvSpPr>
          <p:nvPr/>
        </p:nvSpPr>
        <p:spPr>
          <a:xfrm>
            <a:off x="2005061" y="1560313"/>
            <a:ext cx="7666063" cy="1398039"/>
          </a:xfrm>
          <a:prstGeom prst="rect">
            <a:avLst/>
          </a:prstGeom>
          <a:solidFill>
            <a:schemeClr val="bg2"/>
          </a:solid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0000FF"/>
                </a:solidFill>
              </a:rPr>
              <a:t>int</a:t>
            </a:r>
            <a:r>
              <a:rPr lang="zh-CN" altLang="en-US" b="1" dirty="0">
                <a:solidFill>
                  <a:srgbClr val="0000FF"/>
                </a:solidFill>
              </a:rPr>
              <a:t> </a:t>
            </a:r>
            <a:r>
              <a:rPr lang="en-US" altLang="zh-CN" b="1" dirty="0"/>
              <a:t>a = 3, b;</a:t>
            </a:r>
          </a:p>
          <a:p>
            <a:pPr marL="0" indent="0">
              <a:lnSpc>
                <a:spcPct val="100000"/>
              </a:lnSpc>
              <a:spcBef>
                <a:spcPct val="0"/>
              </a:spcBef>
              <a:buClr>
                <a:schemeClr val="tx2"/>
              </a:buClr>
              <a:buSzPct val="70000"/>
              <a:buNone/>
            </a:pPr>
            <a:r>
              <a:rPr lang="en-US" altLang="zh-CN" b="1" dirty="0">
                <a:solidFill>
                  <a:srgbClr val="0000FF"/>
                </a:solidFill>
              </a:rPr>
              <a:t>int</a:t>
            </a:r>
            <a:r>
              <a:rPr lang="en-US" altLang="zh-CN" b="1" dirty="0"/>
              <a:t> </a:t>
            </a:r>
            <a:r>
              <a:rPr lang="en-US" altLang="zh-CN" b="1" dirty="0">
                <a:solidFill>
                  <a:srgbClr val="FF0000"/>
                </a:solidFill>
              </a:rPr>
              <a:t>*</a:t>
            </a:r>
            <a:r>
              <a:rPr lang="en-US" altLang="zh-CN" b="1" dirty="0"/>
              <a:t>p = </a:t>
            </a:r>
            <a:r>
              <a:rPr lang="en-US" altLang="zh-CN" b="1" dirty="0">
                <a:solidFill>
                  <a:srgbClr val="FF0000"/>
                </a:solidFill>
              </a:rPr>
              <a:t>&amp;</a:t>
            </a:r>
            <a:r>
              <a:rPr lang="en-US" altLang="zh-CN" b="1" dirty="0"/>
              <a:t>b;</a:t>
            </a:r>
          </a:p>
          <a:p>
            <a:pPr marL="0" indent="0">
              <a:lnSpc>
                <a:spcPct val="100000"/>
              </a:lnSpc>
              <a:spcBef>
                <a:spcPct val="0"/>
              </a:spcBef>
              <a:buClr>
                <a:schemeClr val="tx2"/>
              </a:buClr>
              <a:buSzPct val="70000"/>
              <a:buNone/>
            </a:pPr>
            <a:r>
              <a:rPr lang="en-US" altLang="zh-CN" b="1" dirty="0">
                <a:solidFill>
                  <a:srgbClr val="FF0000"/>
                </a:solidFill>
              </a:rPr>
              <a:t>*</a:t>
            </a:r>
            <a:r>
              <a:rPr lang="en-US" altLang="zh-CN" b="1" dirty="0"/>
              <a:t>p = a;            </a:t>
            </a:r>
            <a:r>
              <a:rPr lang="en-US" altLang="zh-CN" sz="2400" b="1" dirty="0">
                <a:solidFill>
                  <a:srgbClr val="00B050"/>
                </a:solidFill>
              </a:rPr>
              <a:t>//</a:t>
            </a:r>
            <a:r>
              <a:rPr lang="zh-CN" altLang="en-US" sz="2400" b="1" dirty="0">
                <a:solidFill>
                  <a:srgbClr val="00B050"/>
                </a:solidFill>
                <a:latin typeface="华文隶书" panose="02010800040101010101" pitchFamily="2" charset="-122"/>
                <a:ea typeface="华文隶书" panose="02010800040101010101" pitchFamily="2" charset="-122"/>
              </a:rPr>
              <a:t>等价于</a:t>
            </a:r>
            <a:r>
              <a:rPr lang="en-US" altLang="zh-CN" sz="2400" b="1" dirty="0">
                <a:solidFill>
                  <a:srgbClr val="00B050"/>
                </a:solidFill>
                <a:latin typeface="+mn-ea"/>
              </a:rPr>
              <a:t>b</a:t>
            </a:r>
            <a:r>
              <a:rPr lang="en-US" altLang="zh-CN" sz="2400" b="1" dirty="0">
                <a:solidFill>
                  <a:srgbClr val="00B050"/>
                </a:solidFill>
                <a:latin typeface="华文隶书" panose="02010800040101010101" pitchFamily="2" charset="-122"/>
                <a:ea typeface="华文隶书" panose="02010800040101010101" pitchFamily="2" charset="-122"/>
              </a:rPr>
              <a:t>= </a:t>
            </a:r>
            <a:r>
              <a:rPr lang="en-US" altLang="zh-CN" sz="2400" b="1" dirty="0">
                <a:solidFill>
                  <a:srgbClr val="00B050"/>
                </a:solidFill>
                <a:latin typeface="+mn-ea"/>
              </a:rPr>
              <a:t>a</a:t>
            </a:r>
            <a:r>
              <a:rPr lang="en-US" altLang="zh-CN" sz="2400" b="1" dirty="0">
                <a:solidFill>
                  <a:srgbClr val="00B050"/>
                </a:solidFill>
                <a:latin typeface="华文隶书" panose="02010800040101010101" pitchFamily="2" charset="-122"/>
                <a:ea typeface="华文隶书" panose="02010800040101010101" pitchFamily="2" charset="-122"/>
              </a:rPr>
              <a:t>; </a:t>
            </a:r>
          </a:p>
          <a:p>
            <a:pPr marL="0" indent="0">
              <a:lnSpc>
                <a:spcPct val="100000"/>
              </a:lnSpc>
              <a:spcBef>
                <a:spcPct val="0"/>
              </a:spcBef>
              <a:buClr>
                <a:schemeClr val="tx2"/>
              </a:buClr>
              <a:buSzPct val="70000"/>
              <a:buNone/>
            </a:pPr>
            <a:endParaRPr lang="en-US" altLang="zh-CN" sz="2000" b="1" dirty="0"/>
          </a:p>
          <a:p>
            <a:pPr marL="0" indent="0">
              <a:lnSpc>
                <a:spcPct val="100000"/>
              </a:lnSpc>
              <a:spcBef>
                <a:spcPct val="0"/>
              </a:spcBef>
              <a:buClr>
                <a:schemeClr val="tx2"/>
              </a:buClr>
              <a:buSzPct val="70000"/>
              <a:buNone/>
            </a:pPr>
            <a:endParaRPr lang="en-US" altLang="zh-CN" b="1" dirty="0"/>
          </a:p>
          <a:p>
            <a:pPr marL="0" indent="0">
              <a:lnSpc>
                <a:spcPct val="100000"/>
              </a:lnSpc>
              <a:spcBef>
                <a:spcPct val="0"/>
              </a:spcBef>
              <a:buClr>
                <a:schemeClr val="tx2"/>
              </a:buClr>
              <a:buSzPct val="70000"/>
              <a:buFont typeface="Arial" panose="020B0604020202020204" pitchFamily="34" charset="0"/>
              <a:buNone/>
            </a:pPr>
            <a:endParaRPr lang="zh-CN" altLang="en-US" b="1" dirty="0"/>
          </a:p>
        </p:txBody>
      </p:sp>
      <p:grpSp>
        <p:nvGrpSpPr>
          <p:cNvPr id="6" name="组合 5">
            <a:extLst>
              <a:ext uri="{FF2B5EF4-FFF2-40B4-BE49-F238E27FC236}">
                <a16:creationId xmlns:a16="http://schemas.microsoft.com/office/drawing/2014/main" id="{B52F68EB-86F6-4BFA-896F-DC53214A5758}"/>
              </a:ext>
            </a:extLst>
          </p:cNvPr>
          <p:cNvGrpSpPr/>
          <p:nvPr/>
        </p:nvGrpSpPr>
        <p:grpSpPr>
          <a:xfrm>
            <a:off x="180096" y="2958352"/>
            <a:ext cx="12158444" cy="3603167"/>
            <a:chOff x="180096" y="2958352"/>
            <a:chExt cx="12158444" cy="3603167"/>
          </a:xfrm>
        </p:grpSpPr>
        <p:sp>
          <p:nvSpPr>
            <p:cNvPr id="7" name="Text Box 88">
              <a:extLst>
                <a:ext uri="{FF2B5EF4-FFF2-40B4-BE49-F238E27FC236}">
                  <a16:creationId xmlns:a16="http://schemas.microsoft.com/office/drawing/2014/main" id="{64D7AF61-274F-477B-A004-EC7570BBC617}"/>
                </a:ext>
              </a:extLst>
            </p:cNvPr>
            <p:cNvSpPr txBox="1">
              <a:spLocks noChangeArrowheads="1"/>
            </p:cNvSpPr>
            <p:nvPr/>
          </p:nvSpPr>
          <p:spPr bwMode="auto">
            <a:xfrm>
              <a:off x="180096" y="2958352"/>
              <a:ext cx="12158444" cy="3603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kumimoji="1" lang="zh-CN" altLang="en-US" sz="2800" dirty="0">
                  <a:solidFill>
                    <a:srgbClr val="FF3300"/>
                  </a:solidFill>
                  <a:ea typeface="隶书" pitchFamily="49" charset="-122"/>
                </a:rPr>
                <a:t>    注意</a:t>
              </a:r>
              <a:r>
                <a:rPr kumimoji="1" lang="en-US" altLang="zh-CN" sz="2400" dirty="0">
                  <a:solidFill>
                    <a:srgbClr val="3333FF"/>
                  </a:solidFill>
                  <a:ea typeface="隶书" pitchFamily="49" charset="-122"/>
                </a:rPr>
                <a:t>: </a:t>
              </a:r>
            </a:p>
            <a:p>
              <a:r>
                <a:rPr kumimoji="1" lang="en-US" altLang="zh-CN" sz="2400" dirty="0">
                  <a:solidFill>
                    <a:srgbClr val="3333FF"/>
                  </a:solidFill>
                  <a:latin typeface="隶书" pitchFamily="49" charset="-122"/>
                  <a:ea typeface="隶书" pitchFamily="49" charset="-122"/>
                </a:rPr>
                <a:t>   </a:t>
              </a:r>
              <a:r>
                <a:rPr kumimoji="1" lang="zh-CN" altLang="en-US" sz="2400" dirty="0">
                  <a:solidFill>
                    <a:srgbClr val="3333FF"/>
                  </a:solidFill>
                  <a:latin typeface="等线" panose="02010600030101010101" pitchFamily="2" charset="-122"/>
                  <a:ea typeface="等线" panose="02010600030101010101" pitchFamily="2" charset="-122"/>
                </a:rPr>
                <a:t>① </a:t>
              </a:r>
              <a:r>
                <a:rPr kumimoji="1" lang="zh-CN" altLang="en-US" sz="2400" dirty="0">
                  <a:solidFill>
                    <a:srgbClr val="3333FF"/>
                  </a:solidFill>
                  <a:ea typeface="隶书" pitchFamily="49" charset="-122"/>
                </a:rPr>
                <a:t>不能把间接寻址运算符</a:t>
              </a:r>
              <a:r>
                <a:rPr lang="zh-CN" altLang="en-US" sz="2400" b="1" dirty="0">
                  <a:solidFill>
                    <a:srgbClr val="FF0000"/>
                  </a:solidFill>
                  <a:latin typeface="隶书" pitchFamily="49" charset="-122"/>
                </a:rPr>
                <a:t>*</a:t>
              </a:r>
              <a:r>
                <a:rPr kumimoji="1" lang="zh-CN" altLang="en-US" sz="2400" dirty="0">
                  <a:solidFill>
                    <a:srgbClr val="3333FF"/>
                  </a:solidFill>
                  <a:ea typeface="隶书" pitchFamily="49" charset="-122"/>
                </a:rPr>
                <a:t>用于空指针和未初始化的指针变量。</a:t>
              </a:r>
              <a:endParaRPr kumimoji="1" lang="en-US" altLang="zh-CN" sz="2400" dirty="0">
                <a:solidFill>
                  <a:srgbClr val="3333FF"/>
                </a:solidFill>
                <a:ea typeface="隶书" pitchFamily="49" charset="-122"/>
              </a:endParaRPr>
            </a:p>
            <a:p>
              <a:r>
                <a:rPr kumimoji="1" lang="en-US" altLang="zh-CN" sz="3200" dirty="0">
                  <a:solidFill>
                    <a:srgbClr val="3333FF"/>
                  </a:solidFill>
                  <a:latin typeface="隶书" pitchFamily="49" charset="-122"/>
                  <a:ea typeface="隶书" pitchFamily="49" charset="-122"/>
                  <a:sym typeface="Wingdings 2" panose="05020102010507070707" pitchFamily="18" charset="2"/>
                </a:rPr>
                <a:t>  </a:t>
              </a:r>
              <a:r>
                <a:rPr kumimoji="1" lang="zh-CN" altLang="en-US" sz="3200" dirty="0">
                  <a:solidFill>
                    <a:srgbClr val="3333FF"/>
                  </a:solidFill>
                  <a:latin typeface="等线" panose="02010600030101010101" pitchFamily="2" charset="-122"/>
                  <a:ea typeface="等线" panose="02010600030101010101" pitchFamily="2" charset="-122"/>
                </a:rPr>
                <a:t> </a:t>
              </a:r>
              <a:r>
                <a:rPr lang="zh-CN" altLang="en-US" sz="2400" b="1" dirty="0">
                  <a:solidFill>
                    <a:srgbClr val="FF0000"/>
                  </a:solidFill>
                  <a:latin typeface="隶书" panose="02010509060101010101" pitchFamily="49" charset="-122"/>
                  <a:ea typeface="隶书" panose="02010509060101010101" pitchFamily="49" charset="-122"/>
                </a:rPr>
                <a:t>*</a:t>
              </a:r>
              <a:r>
                <a:rPr kumimoji="1" lang="zh-CN" altLang="en-US" sz="2400" dirty="0">
                  <a:solidFill>
                    <a:srgbClr val="3333FF"/>
                  </a:solidFill>
                  <a:ea typeface="隶书" pitchFamily="49" charset="-122"/>
                </a:rPr>
                <a:t>在不同的上下文环境中有不同含义。</a:t>
              </a:r>
              <a:endParaRPr kumimoji="1" lang="en-US" altLang="zh-CN" sz="2400" dirty="0">
                <a:solidFill>
                  <a:srgbClr val="3333FF"/>
                </a:solidFill>
                <a:ea typeface="隶书" pitchFamily="49" charset="-122"/>
              </a:endParaRPr>
            </a:p>
            <a:p>
              <a:endParaRPr kumimoji="1" lang="en-US" altLang="zh-CN" sz="2400" dirty="0">
                <a:solidFill>
                  <a:srgbClr val="3333FF"/>
                </a:solidFill>
                <a:ea typeface="隶书" pitchFamily="49" charset="-122"/>
              </a:endParaRPr>
            </a:p>
            <a:p>
              <a:endParaRPr kumimoji="1" lang="en-US" altLang="zh-CN" sz="2400" dirty="0">
                <a:solidFill>
                  <a:srgbClr val="3333FF"/>
                </a:solidFill>
                <a:ea typeface="隶书" pitchFamily="49" charset="-122"/>
              </a:endParaRPr>
            </a:p>
            <a:p>
              <a:endParaRPr kumimoji="1" lang="en-US" altLang="zh-CN" sz="2400" dirty="0">
                <a:solidFill>
                  <a:srgbClr val="3333FF"/>
                </a:solidFill>
                <a:ea typeface="隶书" pitchFamily="49" charset="-122"/>
              </a:endParaRPr>
            </a:p>
            <a:p>
              <a:endParaRPr kumimoji="1" lang="en-US" altLang="zh-CN" sz="2400" dirty="0">
                <a:solidFill>
                  <a:srgbClr val="3333FF"/>
                </a:solidFill>
                <a:ea typeface="隶书" pitchFamily="49" charset="-122"/>
              </a:endParaRPr>
            </a:p>
            <a:p>
              <a:endParaRPr kumimoji="1" lang="en-US" altLang="zh-CN" sz="2400" dirty="0">
                <a:solidFill>
                  <a:srgbClr val="3333FF"/>
                </a:solidFill>
                <a:ea typeface="隶书" pitchFamily="49" charset="-122"/>
              </a:endParaRPr>
            </a:p>
            <a:p>
              <a:endParaRPr kumimoji="1" lang="zh-CN" altLang="en-US" sz="2400" dirty="0">
                <a:solidFill>
                  <a:srgbClr val="3333FF"/>
                </a:solidFill>
                <a:ea typeface="隶书" pitchFamily="49" charset="-122"/>
              </a:endParaRPr>
            </a:p>
          </p:txBody>
        </p:sp>
        <p:sp>
          <p:nvSpPr>
            <p:cNvPr id="8" name="Rectangle 2">
              <a:extLst>
                <a:ext uri="{FF2B5EF4-FFF2-40B4-BE49-F238E27FC236}">
                  <a16:creationId xmlns:a16="http://schemas.microsoft.com/office/drawing/2014/main" id="{FBB2EA46-3FA7-4D0D-BFB4-3675F19D1078}"/>
                </a:ext>
              </a:extLst>
            </p:cNvPr>
            <p:cNvSpPr txBox="1">
              <a:spLocks noChangeArrowheads="1"/>
            </p:cNvSpPr>
            <p:nvPr/>
          </p:nvSpPr>
          <p:spPr>
            <a:xfrm>
              <a:off x="1045277" y="4356391"/>
              <a:ext cx="11117758" cy="2044409"/>
            </a:xfrm>
            <a:prstGeom prst="rect">
              <a:avLst/>
            </a:prstGeom>
            <a:solidFill>
              <a:schemeClr val="bg2"/>
            </a:solid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0000FF"/>
                  </a:solidFill>
                </a:rPr>
                <a:t>int</a:t>
              </a:r>
              <a:r>
                <a:rPr lang="zh-CN" altLang="en-US" b="1" dirty="0">
                  <a:solidFill>
                    <a:srgbClr val="0000FF"/>
                  </a:solidFill>
                </a:rPr>
                <a:t> </a:t>
              </a:r>
              <a:r>
                <a:rPr lang="en-US" altLang="zh-CN" b="1" dirty="0"/>
                <a:t>a = 10, b = 20, c;</a:t>
              </a:r>
            </a:p>
            <a:p>
              <a:pPr marL="0" indent="0">
                <a:lnSpc>
                  <a:spcPct val="100000"/>
                </a:lnSpc>
                <a:spcBef>
                  <a:spcPct val="0"/>
                </a:spcBef>
                <a:buClr>
                  <a:schemeClr val="tx2"/>
                </a:buClr>
                <a:buSzPct val="70000"/>
                <a:buNone/>
              </a:pPr>
              <a:r>
                <a:rPr lang="en-US" altLang="zh-CN" b="1" dirty="0">
                  <a:solidFill>
                    <a:srgbClr val="0000FF"/>
                  </a:solidFill>
                </a:rPr>
                <a:t>int</a:t>
              </a:r>
              <a:r>
                <a:rPr lang="en-US" altLang="zh-CN" b="1" dirty="0"/>
                <a:t> </a:t>
              </a:r>
              <a:r>
                <a:rPr lang="en-US" altLang="zh-CN" b="1" dirty="0">
                  <a:solidFill>
                    <a:srgbClr val="FF0000"/>
                  </a:solidFill>
                </a:rPr>
                <a:t>*</a:t>
              </a:r>
              <a:r>
                <a:rPr lang="en-US" altLang="zh-CN" b="1" dirty="0"/>
                <a:t>p = </a:t>
              </a:r>
              <a:r>
                <a:rPr lang="en-US" altLang="zh-CN" b="1" dirty="0">
                  <a:solidFill>
                    <a:srgbClr val="FF0000"/>
                  </a:solidFill>
                </a:rPr>
                <a:t>&amp;</a:t>
              </a:r>
              <a:r>
                <a:rPr lang="en-US" altLang="zh-CN" b="1" dirty="0"/>
                <a:t>c;        </a:t>
              </a:r>
              <a:r>
                <a:rPr lang="en-US" altLang="zh-CN" sz="2400" b="1" dirty="0">
                  <a:solidFill>
                    <a:srgbClr val="00B050"/>
                  </a:solidFill>
                </a:rPr>
                <a:t>//</a:t>
              </a:r>
              <a:r>
                <a:rPr lang="zh-CN" altLang="en-US" sz="2400" b="1" dirty="0">
                  <a:solidFill>
                    <a:srgbClr val="00B050"/>
                  </a:solidFill>
                  <a:latin typeface="华文隶书" panose="02010800040101010101" pitchFamily="2" charset="-122"/>
                  <a:ea typeface="华文隶书" panose="02010800040101010101" pitchFamily="2" charset="-122"/>
                </a:rPr>
                <a:t>在定义变量时，变量名前的</a:t>
              </a:r>
              <a:r>
                <a:rPr lang="zh-CN" altLang="en-US" sz="2400" b="1" dirty="0">
                  <a:solidFill>
                    <a:srgbClr val="FF0000"/>
                  </a:solidFill>
                  <a:ea typeface="华文隶书" panose="02010800040101010101" pitchFamily="2" charset="-122"/>
                </a:rPr>
                <a:t>*</a:t>
              </a:r>
              <a:r>
                <a:rPr lang="zh-CN" altLang="en-US" sz="2400" b="1" dirty="0">
                  <a:solidFill>
                    <a:srgbClr val="00B050"/>
                  </a:solidFill>
                  <a:latin typeface="华文隶书" panose="02010800040101010101" pitchFamily="2" charset="-122"/>
                  <a:ea typeface="华文隶书" panose="02010800040101010101" pitchFamily="2" charset="-122"/>
                </a:rPr>
                <a:t>表示定义的是指针变量</a:t>
              </a:r>
              <a:endParaRPr lang="en-US" altLang="zh-CN" b="1" dirty="0">
                <a:solidFill>
                  <a:srgbClr val="00B050"/>
                </a:solidFill>
                <a:latin typeface="华文隶书" panose="02010800040101010101" pitchFamily="2" charset="-122"/>
                <a:ea typeface="华文隶书" panose="02010800040101010101" pitchFamily="2" charset="-122"/>
              </a:endParaRPr>
            </a:p>
            <a:p>
              <a:pPr marL="0" indent="0">
                <a:lnSpc>
                  <a:spcPct val="100000"/>
                </a:lnSpc>
                <a:spcBef>
                  <a:spcPct val="0"/>
                </a:spcBef>
                <a:buClr>
                  <a:schemeClr val="tx2"/>
                </a:buClr>
                <a:buSzPct val="70000"/>
                <a:buNone/>
              </a:pPr>
              <a:r>
                <a:rPr lang="en-US" altLang="zh-CN" b="1" dirty="0"/>
                <a:t>c = a </a:t>
              </a:r>
              <a:r>
                <a:rPr lang="en-US" altLang="zh-CN" b="1" dirty="0">
                  <a:solidFill>
                    <a:srgbClr val="FF0000"/>
                  </a:solidFill>
                </a:rPr>
                <a:t>*</a:t>
              </a:r>
              <a:r>
                <a:rPr lang="en-US" altLang="zh-CN" b="1" dirty="0"/>
                <a:t> b;            </a:t>
              </a:r>
              <a:r>
                <a:rPr lang="en-US" altLang="zh-CN" sz="2400" b="1" dirty="0">
                  <a:solidFill>
                    <a:srgbClr val="00B050"/>
                  </a:solidFill>
                </a:rPr>
                <a:t>//</a:t>
              </a:r>
              <a:r>
                <a:rPr lang="zh-CN" altLang="en-US" sz="2400" b="1" dirty="0">
                  <a:solidFill>
                    <a:srgbClr val="00B050"/>
                  </a:solidFill>
                  <a:latin typeface="华文隶书" panose="02010800040101010101" pitchFamily="2" charset="-122"/>
                  <a:ea typeface="华文隶书" panose="02010800040101010101" pitchFamily="2" charset="-122"/>
                </a:rPr>
                <a:t>两个数值之间的</a:t>
              </a:r>
              <a:r>
                <a:rPr lang="zh-CN" altLang="en-US" sz="2400" b="1" dirty="0">
                  <a:solidFill>
                    <a:srgbClr val="FF0000"/>
                  </a:solidFill>
                  <a:ea typeface="华文隶书" panose="02010800040101010101" pitchFamily="2" charset="-122"/>
                </a:rPr>
                <a:t>*</a:t>
              </a:r>
              <a:r>
                <a:rPr lang="zh-CN" altLang="en-US" sz="2400" b="1" dirty="0">
                  <a:solidFill>
                    <a:srgbClr val="00B050"/>
                  </a:solidFill>
                  <a:latin typeface="华文隶书" panose="02010800040101010101" pitchFamily="2" charset="-122"/>
                  <a:ea typeface="华文隶书" panose="02010800040101010101" pitchFamily="2" charset="-122"/>
                </a:rPr>
                <a:t>表示乘法运算</a:t>
              </a:r>
              <a:r>
                <a:rPr lang="en-US" altLang="zh-CN" sz="2400" b="1" dirty="0">
                  <a:solidFill>
                    <a:srgbClr val="00B050"/>
                  </a:solidFill>
                  <a:latin typeface="华文隶书" panose="02010800040101010101" pitchFamily="2" charset="-122"/>
                  <a:ea typeface="华文隶书" panose="02010800040101010101" pitchFamily="2" charset="-122"/>
                </a:rPr>
                <a:t>; </a:t>
              </a:r>
            </a:p>
            <a:p>
              <a:pPr marL="0" indent="0">
                <a:lnSpc>
                  <a:spcPct val="100000"/>
                </a:lnSpc>
                <a:spcBef>
                  <a:spcPct val="0"/>
                </a:spcBef>
                <a:buClr>
                  <a:schemeClr val="tx2"/>
                </a:buClr>
                <a:buSzPct val="70000"/>
                <a:buNone/>
              </a:pPr>
              <a:r>
                <a:rPr lang="en-US" altLang="zh-CN" sz="2400" b="1" dirty="0"/>
                <a:t>printf(</a:t>
              </a:r>
              <a:r>
                <a:rPr lang="en-US" altLang="zh-CN" sz="2400" b="1" dirty="0">
                  <a:solidFill>
                    <a:srgbClr val="00B050"/>
                  </a:solidFill>
                </a:rPr>
                <a:t>“%d\n”</a:t>
              </a:r>
              <a:r>
                <a:rPr lang="en-US" altLang="zh-CN" sz="2400" b="1" dirty="0"/>
                <a:t>, </a:t>
              </a:r>
              <a:r>
                <a:rPr lang="en-US" altLang="zh-CN" sz="2400" b="1" dirty="0">
                  <a:solidFill>
                    <a:srgbClr val="FF0000"/>
                  </a:solidFill>
                </a:rPr>
                <a:t>*</a:t>
              </a:r>
              <a:r>
                <a:rPr lang="en-US" altLang="zh-CN" sz="2400" b="1" dirty="0"/>
                <a:t>p);  </a:t>
              </a:r>
              <a:r>
                <a:rPr lang="en-US" altLang="zh-CN" sz="2400" b="1" dirty="0">
                  <a:solidFill>
                    <a:srgbClr val="00B050"/>
                  </a:solidFill>
                </a:rPr>
                <a:t>//</a:t>
              </a:r>
              <a:r>
                <a:rPr lang="zh-CN" altLang="en-US" sz="2400" b="1" dirty="0">
                  <a:solidFill>
                    <a:srgbClr val="00B050"/>
                  </a:solidFill>
                  <a:latin typeface="华文隶书" panose="02010800040101010101" pitchFamily="2" charset="-122"/>
                  <a:ea typeface="华文隶书" panose="02010800040101010101" pitchFamily="2" charset="-122"/>
                </a:rPr>
                <a:t>用在指针变量前表示间接寻址运算，等价于指针指向的对象</a:t>
              </a:r>
              <a:endParaRPr lang="en-US" altLang="zh-CN" b="1" dirty="0">
                <a:solidFill>
                  <a:srgbClr val="00B050"/>
                </a:solidFill>
                <a:latin typeface="华文隶书" panose="02010800040101010101" pitchFamily="2" charset="-122"/>
                <a:ea typeface="华文隶书" panose="02010800040101010101" pitchFamily="2" charset="-122"/>
              </a:endParaRPr>
            </a:p>
            <a:p>
              <a:pPr marL="0" indent="0">
                <a:lnSpc>
                  <a:spcPct val="100000"/>
                </a:lnSpc>
                <a:spcBef>
                  <a:spcPct val="0"/>
                </a:spcBef>
                <a:buClr>
                  <a:schemeClr val="tx2"/>
                </a:buClr>
                <a:buSzPct val="70000"/>
                <a:buNone/>
              </a:pPr>
              <a:endParaRPr lang="en-US" altLang="zh-CN" b="1" dirty="0"/>
            </a:p>
            <a:p>
              <a:pPr marL="0" indent="0">
                <a:lnSpc>
                  <a:spcPct val="100000"/>
                </a:lnSpc>
                <a:spcBef>
                  <a:spcPct val="0"/>
                </a:spcBef>
                <a:buClr>
                  <a:schemeClr val="tx2"/>
                </a:buClr>
                <a:buSzPct val="70000"/>
                <a:buNone/>
              </a:pPr>
              <a:endParaRPr lang="en-US" altLang="zh-CN" b="1" dirty="0"/>
            </a:p>
            <a:p>
              <a:pPr marL="0" indent="0">
                <a:lnSpc>
                  <a:spcPct val="100000"/>
                </a:lnSpc>
                <a:spcBef>
                  <a:spcPct val="0"/>
                </a:spcBef>
                <a:buClr>
                  <a:schemeClr val="tx2"/>
                </a:buClr>
                <a:buSzPct val="70000"/>
                <a:buFont typeface="Arial" panose="020B0604020202020204" pitchFamily="34" charset="0"/>
                <a:buNone/>
              </a:pPr>
              <a:endParaRPr lang="zh-CN" altLang="en-US" b="1" dirty="0"/>
            </a:p>
          </p:txBody>
        </p:sp>
        <p:pic>
          <p:nvPicPr>
            <p:cNvPr id="9" name="图片 8">
              <a:extLst>
                <a:ext uri="{FF2B5EF4-FFF2-40B4-BE49-F238E27FC236}">
                  <a16:creationId xmlns:a16="http://schemas.microsoft.com/office/drawing/2014/main" id="{7B546466-9237-45F2-8EA9-17EE00E519F7}"/>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228230" y="3021094"/>
              <a:ext cx="514926" cy="442321"/>
            </a:xfrm>
            <a:prstGeom prst="rect">
              <a:avLst/>
            </a:prstGeom>
          </p:spPr>
        </p:pic>
      </p:grpSp>
      <p:sp>
        <p:nvSpPr>
          <p:cNvPr id="10" name="灯片编号占位符 9">
            <a:extLst>
              <a:ext uri="{FF2B5EF4-FFF2-40B4-BE49-F238E27FC236}">
                <a16:creationId xmlns:a16="http://schemas.microsoft.com/office/drawing/2014/main" id="{4D7AC7BD-AE85-44C1-8A93-1DEEAE485E97}"/>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7</a:t>
            </a:fld>
            <a:r>
              <a:rPr lang="en-US" altLang="zh-CN">
                <a:solidFill>
                  <a:prstClr val="black">
                    <a:tint val="75000"/>
                  </a:prstClr>
                </a:solidFill>
              </a:rPr>
              <a:t>/ 35</a:t>
            </a:r>
            <a:endParaRPr lang="zh-CN" altLang="en-US" dirty="0"/>
          </a:p>
        </p:txBody>
      </p:sp>
    </p:spTree>
    <p:extLst>
      <p:ext uri="{BB962C8B-B14F-4D97-AF65-F5344CB8AC3E}">
        <p14:creationId xmlns:p14="http://schemas.microsoft.com/office/powerpoint/2010/main" val="2822531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1000"/>
                                        <p:tgtEl>
                                          <p:spTgt spid="5"/>
                                        </p:tgtEl>
                                      </p:cBhvr>
                                    </p:animEffect>
                                    <p:anim calcmode="lin" valueType="num">
                                      <p:cBhvr>
                                        <p:cTn id="12" dur="1000" fill="hold"/>
                                        <p:tgtEl>
                                          <p:spTgt spid="5"/>
                                        </p:tgtEl>
                                        <p:attrNameLst>
                                          <p:attrName>ppt_x</p:attrName>
                                        </p:attrNameLst>
                                      </p:cBhvr>
                                      <p:tavLst>
                                        <p:tav tm="0">
                                          <p:val>
                                            <p:strVal val="#ppt_x"/>
                                          </p:val>
                                        </p:tav>
                                        <p:tav tm="100000">
                                          <p:val>
                                            <p:strVal val="#ppt_x"/>
                                          </p:val>
                                        </p:tav>
                                      </p:tavLst>
                                    </p:anim>
                                    <p:anim calcmode="lin" valueType="num">
                                      <p:cBhvr>
                                        <p:cTn id="1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1000"/>
                                        <p:tgtEl>
                                          <p:spTgt spid="6"/>
                                        </p:tgtEl>
                                      </p:cBhvr>
                                    </p:animEffect>
                                    <p:anim calcmode="lin" valueType="num">
                                      <p:cBhvr>
                                        <p:cTn id="19" dur="1000" fill="hold"/>
                                        <p:tgtEl>
                                          <p:spTgt spid="6"/>
                                        </p:tgtEl>
                                        <p:attrNameLst>
                                          <p:attrName>ppt_x</p:attrName>
                                        </p:attrNameLst>
                                      </p:cBhvr>
                                      <p:tavLst>
                                        <p:tav tm="0">
                                          <p:val>
                                            <p:strVal val="#ppt_x"/>
                                          </p:val>
                                        </p:tav>
                                        <p:tav tm="100000">
                                          <p:val>
                                            <p:strVal val="#ppt_x"/>
                                          </p:val>
                                        </p:tav>
                                      </p:tavLst>
                                    </p:anim>
                                    <p:anim calcmode="lin" valueType="num">
                                      <p:cBhvr>
                                        <p:cTn id="2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FBC66D63-7DA0-4032-9001-96F8AA19DF8C}"/>
              </a:ext>
            </a:extLst>
          </p:cNvPr>
          <p:cNvSpPr txBox="1"/>
          <p:nvPr/>
        </p:nvSpPr>
        <p:spPr>
          <a:xfrm>
            <a:off x="2515930" y="-55242"/>
            <a:ext cx="4768993"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指针变量的引用</a:t>
            </a:r>
            <a:endParaRPr lang="zh-CN" altLang="en-US" sz="3200" b="1" dirty="0">
              <a:solidFill>
                <a:srgbClr val="200AC4"/>
              </a:solidFill>
              <a:ea typeface="隶书" pitchFamily="49" charset="-122"/>
            </a:endParaRPr>
          </a:p>
        </p:txBody>
      </p:sp>
      <p:sp>
        <p:nvSpPr>
          <p:cNvPr id="4" name="矩形 3">
            <a:extLst>
              <a:ext uri="{FF2B5EF4-FFF2-40B4-BE49-F238E27FC236}">
                <a16:creationId xmlns:a16="http://schemas.microsoft.com/office/drawing/2014/main" id="{D8478FCC-F270-4341-957C-2A715F3F4464}"/>
              </a:ext>
            </a:extLst>
          </p:cNvPr>
          <p:cNvSpPr/>
          <p:nvPr/>
        </p:nvSpPr>
        <p:spPr>
          <a:xfrm>
            <a:off x="4591" y="583343"/>
            <a:ext cx="12158444" cy="461665"/>
          </a:xfrm>
          <a:prstGeom prst="rect">
            <a:avLst/>
          </a:prstGeom>
        </p:spPr>
        <p:txBody>
          <a:bodyPr wrap="square">
            <a:spAutoFit/>
          </a:bodyPr>
          <a:lstStyle/>
          <a:p>
            <a:pPr marL="0" lvl="1"/>
            <a:r>
              <a:rPr lang="zh-CN" altLang="en-US" sz="2400" b="1" dirty="0">
                <a:latin typeface="隶书" pitchFamily="49" charset="-122"/>
              </a:rPr>
              <a:t>定义了指针变量并让其指向某一存储单元后，就可以使用该指针变量了。例如：</a:t>
            </a:r>
          </a:p>
        </p:txBody>
      </p:sp>
      <p:sp>
        <p:nvSpPr>
          <p:cNvPr id="5" name="Rectangle 2">
            <a:extLst>
              <a:ext uri="{FF2B5EF4-FFF2-40B4-BE49-F238E27FC236}">
                <a16:creationId xmlns:a16="http://schemas.microsoft.com/office/drawing/2014/main" id="{76CFBBF7-6A96-41A8-916F-21A7C3B21D1B}"/>
              </a:ext>
            </a:extLst>
          </p:cNvPr>
          <p:cNvSpPr txBox="1">
            <a:spLocks noChangeArrowheads="1"/>
          </p:cNvSpPr>
          <p:nvPr/>
        </p:nvSpPr>
        <p:spPr>
          <a:xfrm>
            <a:off x="176261" y="1239158"/>
            <a:ext cx="3744508" cy="4832092"/>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Font typeface="Arial" panose="020B0604020202020204" pitchFamily="34" charset="0"/>
              <a:buNone/>
            </a:pPr>
            <a:endParaRPr lang="en-US" altLang="zh-CN" b="1" dirty="0"/>
          </a:p>
          <a:p>
            <a:pPr marL="0" indent="0">
              <a:lnSpc>
                <a:spcPct val="100000"/>
              </a:lnSpc>
              <a:spcBef>
                <a:spcPct val="0"/>
              </a:spcBef>
              <a:buClr>
                <a:schemeClr val="tx2"/>
              </a:buClr>
              <a:buSzPct val="70000"/>
              <a:buFont typeface="Arial" panose="020B0604020202020204" pitchFamily="34" charset="0"/>
              <a:buNone/>
            </a:pPr>
            <a:endParaRPr lang="en-US" altLang="zh-CN" b="1" dirty="0"/>
          </a:p>
          <a:p>
            <a:pPr marL="0" indent="0">
              <a:lnSpc>
                <a:spcPct val="100000"/>
              </a:lnSpc>
              <a:spcBef>
                <a:spcPct val="0"/>
              </a:spcBef>
              <a:buClr>
                <a:schemeClr val="tx2"/>
              </a:buClr>
              <a:buSzPct val="70000"/>
              <a:buNone/>
            </a:pPr>
            <a:endParaRPr lang="en-US" altLang="zh-CN" b="1" dirty="0"/>
          </a:p>
          <a:p>
            <a:pPr marL="0" indent="0">
              <a:lnSpc>
                <a:spcPct val="100000"/>
              </a:lnSpc>
              <a:spcBef>
                <a:spcPct val="0"/>
              </a:spcBef>
              <a:buClr>
                <a:schemeClr val="tx2"/>
              </a:buClr>
              <a:buSzPct val="70000"/>
              <a:buNone/>
            </a:pPr>
            <a:endParaRPr lang="en-US" altLang="zh-CN" b="1" dirty="0"/>
          </a:p>
          <a:p>
            <a:pPr marL="0" indent="0">
              <a:lnSpc>
                <a:spcPct val="100000"/>
              </a:lnSpc>
              <a:spcBef>
                <a:spcPct val="0"/>
              </a:spcBef>
              <a:buClr>
                <a:schemeClr val="tx2"/>
              </a:buClr>
              <a:buSzPct val="70000"/>
              <a:buNone/>
            </a:pPr>
            <a:endParaRPr lang="en-US" altLang="zh-CN" b="1" dirty="0"/>
          </a:p>
          <a:p>
            <a:pPr marL="0" indent="0">
              <a:lnSpc>
                <a:spcPct val="100000"/>
              </a:lnSpc>
              <a:spcBef>
                <a:spcPct val="0"/>
              </a:spcBef>
              <a:buClr>
                <a:schemeClr val="tx2"/>
              </a:buClr>
              <a:buSzPct val="70000"/>
              <a:buNone/>
            </a:pPr>
            <a:endParaRPr lang="en-US" altLang="zh-CN" b="1" dirty="0"/>
          </a:p>
          <a:p>
            <a:pPr marL="0" indent="0">
              <a:lnSpc>
                <a:spcPct val="100000"/>
              </a:lnSpc>
              <a:spcBef>
                <a:spcPct val="0"/>
              </a:spcBef>
              <a:buClr>
                <a:schemeClr val="tx2"/>
              </a:buClr>
              <a:buSzPct val="70000"/>
              <a:buNone/>
            </a:pPr>
            <a:endParaRPr lang="en-US" altLang="zh-CN" b="1" dirty="0"/>
          </a:p>
          <a:p>
            <a:pPr marL="0" indent="0">
              <a:lnSpc>
                <a:spcPct val="100000"/>
              </a:lnSpc>
              <a:spcBef>
                <a:spcPct val="0"/>
              </a:spcBef>
              <a:buClr>
                <a:schemeClr val="tx2"/>
              </a:buClr>
              <a:buSzPct val="70000"/>
              <a:buNone/>
            </a:pPr>
            <a:endParaRPr lang="en-US" altLang="zh-CN" b="1" dirty="0"/>
          </a:p>
          <a:p>
            <a:pPr marL="0" indent="0">
              <a:lnSpc>
                <a:spcPct val="100000"/>
              </a:lnSpc>
              <a:spcBef>
                <a:spcPct val="0"/>
              </a:spcBef>
              <a:buClr>
                <a:schemeClr val="tx2"/>
              </a:buClr>
              <a:buSzPct val="70000"/>
              <a:buNone/>
            </a:pPr>
            <a:endParaRPr lang="en-US" altLang="zh-CN" b="1" dirty="0"/>
          </a:p>
          <a:p>
            <a:pPr marL="0" indent="0">
              <a:lnSpc>
                <a:spcPct val="100000"/>
              </a:lnSpc>
              <a:spcBef>
                <a:spcPct val="0"/>
              </a:spcBef>
              <a:buClr>
                <a:schemeClr val="tx2"/>
              </a:buClr>
              <a:buSzPct val="70000"/>
              <a:buNone/>
            </a:pPr>
            <a:endParaRPr lang="en-US" altLang="zh-CN" b="1" dirty="0"/>
          </a:p>
          <a:p>
            <a:pPr marL="0" indent="0">
              <a:lnSpc>
                <a:spcPct val="100000"/>
              </a:lnSpc>
              <a:spcBef>
                <a:spcPct val="0"/>
              </a:spcBef>
              <a:buClr>
                <a:schemeClr val="tx2"/>
              </a:buClr>
              <a:buSzPct val="70000"/>
              <a:buNone/>
            </a:pPr>
            <a:endParaRPr lang="en-US" altLang="zh-CN" b="1" dirty="0"/>
          </a:p>
        </p:txBody>
      </p:sp>
      <p:grpSp>
        <p:nvGrpSpPr>
          <p:cNvPr id="32" name="组合 31">
            <a:extLst>
              <a:ext uri="{FF2B5EF4-FFF2-40B4-BE49-F238E27FC236}">
                <a16:creationId xmlns:a16="http://schemas.microsoft.com/office/drawing/2014/main" id="{DD806AC2-2B7A-43D2-9B0A-2ED563355256}"/>
              </a:ext>
            </a:extLst>
          </p:cNvPr>
          <p:cNvGrpSpPr/>
          <p:nvPr/>
        </p:nvGrpSpPr>
        <p:grpSpPr>
          <a:xfrm>
            <a:off x="4485656" y="1939318"/>
            <a:ext cx="3858323" cy="2185639"/>
            <a:chOff x="5260400" y="4443969"/>
            <a:chExt cx="3858323" cy="2185639"/>
          </a:xfrm>
        </p:grpSpPr>
        <p:sp>
          <p:nvSpPr>
            <p:cNvPr id="6" name="矩形 5">
              <a:extLst>
                <a:ext uri="{FF2B5EF4-FFF2-40B4-BE49-F238E27FC236}">
                  <a16:creationId xmlns:a16="http://schemas.microsoft.com/office/drawing/2014/main" id="{D8678FB9-7DE7-4BC7-AD9E-2EA9F1F6AD5B}"/>
                </a:ext>
              </a:extLst>
            </p:cNvPr>
            <p:cNvSpPr/>
            <p:nvPr/>
          </p:nvSpPr>
          <p:spPr>
            <a:xfrm>
              <a:off x="5260400" y="4443969"/>
              <a:ext cx="3858323" cy="2185639"/>
            </a:xfrm>
            <a:prstGeom prst="rect">
              <a:avLst/>
            </a:prstGeom>
            <a:ln/>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dirty="0"/>
            </a:p>
          </p:txBody>
        </p:sp>
        <p:grpSp>
          <p:nvGrpSpPr>
            <p:cNvPr id="10" name="组合 9">
              <a:extLst>
                <a:ext uri="{FF2B5EF4-FFF2-40B4-BE49-F238E27FC236}">
                  <a16:creationId xmlns:a16="http://schemas.microsoft.com/office/drawing/2014/main" id="{AEC1AC5E-974D-4782-B5A0-37A68B4F8D0D}"/>
                </a:ext>
              </a:extLst>
            </p:cNvPr>
            <p:cNvGrpSpPr/>
            <p:nvPr/>
          </p:nvGrpSpPr>
          <p:grpSpPr>
            <a:xfrm>
              <a:off x="5309174" y="4807804"/>
              <a:ext cx="1418727" cy="413932"/>
              <a:chOff x="6306837" y="2333728"/>
              <a:chExt cx="1418727" cy="413932"/>
            </a:xfrm>
          </p:grpSpPr>
          <p:sp>
            <p:nvSpPr>
              <p:cNvPr id="7" name="矩形 6">
                <a:extLst>
                  <a:ext uri="{FF2B5EF4-FFF2-40B4-BE49-F238E27FC236}">
                    <a16:creationId xmlns:a16="http://schemas.microsoft.com/office/drawing/2014/main" id="{41D57505-14EF-41E2-A97D-44F9A24F74FF}"/>
                  </a:ext>
                </a:extLst>
              </p:cNvPr>
              <p:cNvSpPr/>
              <p:nvPr/>
            </p:nvSpPr>
            <p:spPr>
              <a:xfrm>
                <a:off x="6628284" y="2359597"/>
                <a:ext cx="1097280" cy="38806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 name="文本框 8">
                <a:extLst>
                  <a:ext uri="{FF2B5EF4-FFF2-40B4-BE49-F238E27FC236}">
                    <a16:creationId xmlns:a16="http://schemas.microsoft.com/office/drawing/2014/main" id="{329FEC39-02BC-4175-8DC6-AAE0CBDDE257}"/>
                  </a:ext>
                </a:extLst>
              </p:cNvPr>
              <p:cNvSpPr txBox="1"/>
              <p:nvPr/>
            </p:nvSpPr>
            <p:spPr>
              <a:xfrm>
                <a:off x="6306837" y="2333728"/>
                <a:ext cx="240867" cy="369332"/>
              </a:xfrm>
              <a:prstGeom prst="rect">
                <a:avLst/>
              </a:prstGeom>
              <a:noFill/>
            </p:spPr>
            <p:txBody>
              <a:bodyPr wrap="square" lIns="0" tIns="0" rIns="0" bIns="0" rtlCol="0" anchor="ctr" anchorCtr="1">
                <a:spAutoFit/>
              </a:bodyPr>
              <a:lstStyle/>
              <a:p>
                <a:r>
                  <a:rPr lang="en-US" altLang="zh-CN" sz="2400" dirty="0"/>
                  <a:t>a</a:t>
                </a:r>
                <a:endParaRPr lang="zh-CN" altLang="en-US" sz="2400" dirty="0"/>
              </a:p>
            </p:txBody>
          </p:sp>
        </p:grpSp>
        <p:grpSp>
          <p:nvGrpSpPr>
            <p:cNvPr id="11" name="组合 10">
              <a:extLst>
                <a:ext uri="{FF2B5EF4-FFF2-40B4-BE49-F238E27FC236}">
                  <a16:creationId xmlns:a16="http://schemas.microsoft.com/office/drawing/2014/main" id="{FF5FA35B-72EA-4B29-844F-84BCDCDB0191}"/>
                </a:ext>
              </a:extLst>
            </p:cNvPr>
            <p:cNvGrpSpPr/>
            <p:nvPr/>
          </p:nvGrpSpPr>
          <p:grpSpPr>
            <a:xfrm>
              <a:off x="5309174" y="5741006"/>
              <a:ext cx="1418727" cy="413932"/>
              <a:chOff x="6306837" y="2333728"/>
              <a:chExt cx="1418727" cy="413932"/>
            </a:xfrm>
          </p:grpSpPr>
          <p:sp>
            <p:nvSpPr>
              <p:cNvPr id="12" name="矩形 11">
                <a:extLst>
                  <a:ext uri="{FF2B5EF4-FFF2-40B4-BE49-F238E27FC236}">
                    <a16:creationId xmlns:a16="http://schemas.microsoft.com/office/drawing/2014/main" id="{EABA0DEB-2AB6-4ED8-86BA-D825A76C1C76}"/>
                  </a:ext>
                </a:extLst>
              </p:cNvPr>
              <p:cNvSpPr/>
              <p:nvPr/>
            </p:nvSpPr>
            <p:spPr>
              <a:xfrm>
                <a:off x="6628284" y="2359597"/>
                <a:ext cx="1097280" cy="38806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3" name="文本框 12">
                <a:extLst>
                  <a:ext uri="{FF2B5EF4-FFF2-40B4-BE49-F238E27FC236}">
                    <a16:creationId xmlns:a16="http://schemas.microsoft.com/office/drawing/2014/main" id="{64A5B072-BE6A-4F8D-8D10-014A9BB94640}"/>
                  </a:ext>
                </a:extLst>
              </p:cNvPr>
              <p:cNvSpPr txBox="1"/>
              <p:nvPr/>
            </p:nvSpPr>
            <p:spPr>
              <a:xfrm>
                <a:off x="6306837" y="2333728"/>
                <a:ext cx="240867" cy="369332"/>
              </a:xfrm>
              <a:prstGeom prst="rect">
                <a:avLst/>
              </a:prstGeom>
              <a:noFill/>
            </p:spPr>
            <p:txBody>
              <a:bodyPr wrap="square" lIns="0" tIns="0" rIns="0" bIns="0" rtlCol="0" anchor="ctr" anchorCtr="1">
                <a:spAutoFit/>
              </a:bodyPr>
              <a:lstStyle/>
              <a:p>
                <a:r>
                  <a:rPr lang="en-US" altLang="zh-CN" sz="2400" dirty="0"/>
                  <a:t>b</a:t>
                </a:r>
                <a:endParaRPr lang="zh-CN" altLang="en-US" sz="2400" dirty="0"/>
              </a:p>
            </p:txBody>
          </p:sp>
        </p:grpSp>
        <p:grpSp>
          <p:nvGrpSpPr>
            <p:cNvPr id="17" name="组合 16">
              <a:extLst>
                <a:ext uri="{FF2B5EF4-FFF2-40B4-BE49-F238E27FC236}">
                  <a16:creationId xmlns:a16="http://schemas.microsoft.com/office/drawing/2014/main" id="{9FECC621-2E5B-41E1-ACAB-B019F8AD6753}"/>
                </a:ext>
              </a:extLst>
            </p:cNvPr>
            <p:cNvGrpSpPr/>
            <p:nvPr/>
          </p:nvGrpSpPr>
          <p:grpSpPr>
            <a:xfrm>
              <a:off x="7540453" y="4807804"/>
              <a:ext cx="1475286" cy="413932"/>
              <a:chOff x="7730768" y="3836377"/>
              <a:chExt cx="1475286" cy="413932"/>
            </a:xfrm>
          </p:grpSpPr>
          <p:sp>
            <p:nvSpPr>
              <p:cNvPr id="15" name="矩形 14">
                <a:extLst>
                  <a:ext uri="{FF2B5EF4-FFF2-40B4-BE49-F238E27FC236}">
                    <a16:creationId xmlns:a16="http://schemas.microsoft.com/office/drawing/2014/main" id="{1B9E252B-0044-4CEF-AA1C-5D791512784A}"/>
                  </a:ext>
                </a:extLst>
              </p:cNvPr>
              <p:cNvSpPr/>
              <p:nvPr/>
            </p:nvSpPr>
            <p:spPr>
              <a:xfrm>
                <a:off x="7730768" y="3862246"/>
                <a:ext cx="1097280" cy="38806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6" name="文本框 15">
                <a:extLst>
                  <a:ext uri="{FF2B5EF4-FFF2-40B4-BE49-F238E27FC236}">
                    <a16:creationId xmlns:a16="http://schemas.microsoft.com/office/drawing/2014/main" id="{2662BB5F-2697-4C7C-A54F-3779E2C8C3E5}"/>
                  </a:ext>
                </a:extLst>
              </p:cNvPr>
              <p:cNvSpPr txBox="1"/>
              <p:nvPr/>
            </p:nvSpPr>
            <p:spPr>
              <a:xfrm>
                <a:off x="8867820" y="3836377"/>
                <a:ext cx="338234" cy="369332"/>
              </a:xfrm>
              <a:prstGeom prst="rect">
                <a:avLst/>
              </a:prstGeom>
              <a:noFill/>
            </p:spPr>
            <p:txBody>
              <a:bodyPr wrap="none" lIns="0" tIns="0" rIns="0" bIns="0" rtlCol="0" anchor="ctr" anchorCtr="1">
                <a:spAutoFit/>
              </a:bodyPr>
              <a:lstStyle/>
              <a:p>
                <a:r>
                  <a:rPr lang="en-US" altLang="zh-CN" sz="2400" dirty="0"/>
                  <a:t>p1</a:t>
                </a:r>
                <a:endParaRPr lang="zh-CN" altLang="en-US" sz="2400" dirty="0"/>
              </a:p>
            </p:txBody>
          </p:sp>
        </p:grpSp>
        <p:grpSp>
          <p:nvGrpSpPr>
            <p:cNvPr id="18" name="组合 17">
              <a:extLst>
                <a:ext uri="{FF2B5EF4-FFF2-40B4-BE49-F238E27FC236}">
                  <a16:creationId xmlns:a16="http://schemas.microsoft.com/office/drawing/2014/main" id="{CA3D8D04-0789-48B4-8F86-1C67E93A0FF1}"/>
                </a:ext>
              </a:extLst>
            </p:cNvPr>
            <p:cNvGrpSpPr/>
            <p:nvPr/>
          </p:nvGrpSpPr>
          <p:grpSpPr>
            <a:xfrm>
              <a:off x="7520204" y="5753940"/>
              <a:ext cx="1475286" cy="413932"/>
              <a:chOff x="7730768" y="3836377"/>
              <a:chExt cx="1475286" cy="413932"/>
            </a:xfrm>
          </p:grpSpPr>
          <p:sp>
            <p:nvSpPr>
              <p:cNvPr id="19" name="矩形 18">
                <a:extLst>
                  <a:ext uri="{FF2B5EF4-FFF2-40B4-BE49-F238E27FC236}">
                    <a16:creationId xmlns:a16="http://schemas.microsoft.com/office/drawing/2014/main" id="{1310E34D-1C1D-4C84-A1A9-46040697A3B9}"/>
                  </a:ext>
                </a:extLst>
              </p:cNvPr>
              <p:cNvSpPr/>
              <p:nvPr/>
            </p:nvSpPr>
            <p:spPr>
              <a:xfrm>
                <a:off x="7730768" y="3862246"/>
                <a:ext cx="1097280" cy="38806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20" name="文本框 19">
                <a:extLst>
                  <a:ext uri="{FF2B5EF4-FFF2-40B4-BE49-F238E27FC236}">
                    <a16:creationId xmlns:a16="http://schemas.microsoft.com/office/drawing/2014/main" id="{921D74C8-8879-4B95-89F5-E95A3CBB6B30}"/>
                  </a:ext>
                </a:extLst>
              </p:cNvPr>
              <p:cNvSpPr txBox="1"/>
              <p:nvPr/>
            </p:nvSpPr>
            <p:spPr>
              <a:xfrm>
                <a:off x="8867820" y="3836377"/>
                <a:ext cx="338234" cy="369332"/>
              </a:xfrm>
              <a:prstGeom prst="rect">
                <a:avLst/>
              </a:prstGeom>
              <a:noFill/>
            </p:spPr>
            <p:txBody>
              <a:bodyPr wrap="none" lIns="0" tIns="0" rIns="0" bIns="0" rtlCol="0" anchor="ctr" anchorCtr="1">
                <a:spAutoFit/>
              </a:bodyPr>
              <a:lstStyle/>
              <a:p>
                <a:r>
                  <a:rPr lang="en-US" altLang="zh-CN" sz="2400" dirty="0"/>
                  <a:t>p2</a:t>
                </a:r>
                <a:endParaRPr lang="zh-CN" altLang="en-US" sz="2400" dirty="0"/>
              </a:p>
            </p:txBody>
          </p:sp>
        </p:grpSp>
        <p:sp>
          <p:nvSpPr>
            <p:cNvPr id="21" name="文本框 20">
              <a:extLst>
                <a:ext uri="{FF2B5EF4-FFF2-40B4-BE49-F238E27FC236}">
                  <a16:creationId xmlns:a16="http://schemas.microsoft.com/office/drawing/2014/main" id="{4F81304F-2499-49ED-8E22-2C22E689ECFE}"/>
                </a:ext>
              </a:extLst>
            </p:cNvPr>
            <p:cNvSpPr txBox="1"/>
            <p:nvPr/>
          </p:nvSpPr>
          <p:spPr>
            <a:xfrm>
              <a:off x="6034667" y="4855976"/>
              <a:ext cx="281010" cy="365760"/>
            </a:xfrm>
            <a:prstGeom prst="rect">
              <a:avLst/>
            </a:prstGeom>
            <a:noFill/>
          </p:spPr>
          <p:txBody>
            <a:bodyPr wrap="square" rtlCol="0">
              <a:spAutoFit/>
            </a:bodyPr>
            <a:lstStyle/>
            <a:p>
              <a:r>
                <a:rPr lang="en-US" altLang="zh-CN" dirty="0"/>
                <a:t>?</a:t>
              </a:r>
              <a:endParaRPr lang="zh-CN" altLang="en-US" dirty="0"/>
            </a:p>
          </p:txBody>
        </p:sp>
        <p:sp>
          <p:nvSpPr>
            <p:cNvPr id="22" name="文本框 21">
              <a:extLst>
                <a:ext uri="{FF2B5EF4-FFF2-40B4-BE49-F238E27FC236}">
                  <a16:creationId xmlns:a16="http://schemas.microsoft.com/office/drawing/2014/main" id="{E54DAF2C-6314-498B-AEED-EF98E4AE0B4B}"/>
                </a:ext>
              </a:extLst>
            </p:cNvPr>
            <p:cNvSpPr txBox="1"/>
            <p:nvPr/>
          </p:nvSpPr>
          <p:spPr>
            <a:xfrm>
              <a:off x="6034667" y="5778026"/>
              <a:ext cx="281010" cy="365760"/>
            </a:xfrm>
            <a:prstGeom prst="rect">
              <a:avLst/>
            </a:prstGeom>
            <a:noFill/>
          </p:spPr>
          <p:txBody>
            <a:bodyPr wrap="square" rtlCol="0">
              <a:spAutoFit/>
            </a:bodyPr>
            <a:lstStyle/>
            <a:p>
              <a:r>
                <a:rPr lang="en-US" altLang="zh-CN" dirty="0"/>
                <a:t>?</a:t>
              </a:r>
              <a:endParaRPr lang="zh-CN" altLang="en-US" dirty="0"/>
            </a:p>
          </p:txBody>
        </p:sp>
        <p:sp>
          <p:nvSpPr>
            <p:cNvPr id="23" name="文本框 22">
              <a:extLst>
                <a:ext uri="{FF2B5EF4-FFF2-40B4-BE49-F238E27FC236}">
                  <a16:creationId xmlns:a16="http://schemas.microsoft.com/office/drawing/2014/main" id="{C1E705A9-81D9-45B8-BBC9-93AAD241D438}"/>
                </a:ext>
              </a:extLst>
            </p:cNvPr>
            <p:cNvSpPr txBox="1"/>
            <p:nvPr/>
          </p:nvSpPr>
          <p:spPr>
            <a:xfrm>
              <a:off x="7948588" y="4844824"/>
              <a:ext cx="281010" cy="365760"/>
            </a:xfrm>
            <a:prstGeom prst="rect">
              <a:avLst/>
            </a:prstGeom>
            <a:noFill/>
          </p:spPr>
          <p:txBody>
            <a:bodyPr wrap="square" rtlCol="0">
              <a:spAutoFit/>
            </a:bodyPr>
            <a:lstStyle/>
            <a:p>
              <a:r>
                <a:rPr lang="en-US" altLang="zh-CN" dirty="0"/>
                <a:t>?</a:t>
              </a:r>
              <a:endParaRPr lang="zh-CN" altLang="en-US" dirty="0"/>
            </a:p>
          </p:txBody>
        </p:sp>
        <p:sp>
          <p:nvSpPr>
            <p:cNvPr id="24" name="文本框 23">
              <a:extLst>
                <a:ext uri="{FF2B5EF4-FFF2-40B4-BE49-F238E27FC236}">
                  <a16:creationId xmlns:a16="http://schemas.microsoft.com/office/drawing/2014/main" id="{A4CABE7D-823D-4016-8B40-4508982C6290}"/>
                </a:ext>
              </a:extLst>
            </p:cNvPr>
            <p:cNvSpPr txBox="1"/>
            <p:nvPr/>
          </p:nvSpPr>
          <p:spPr>
            <a:xfrm>
              <a:off x="7947407" y="5798095"/>
              <a:ext cx="281010" cy="365760"/>
            </a:xfrm>
            <a:prstGeom prst="rect">
              <a:avLst/>
            </a:prstGeom>
            <a:noFill/>
          </p:spPr>
          <p:txBody>
            <a:bodyPr wrap="square" rtlCol="0">
              <a:spAutoFit/>
            </a:bodyPr>
            <a:lstStyle/>
            <a:p>
              <a:r>
                <a:rPr lang="en-US" altLang="zh-CN" dirty="0"/>
                <a:t>?</a:t>
              </a:r>
              <a:endParaRPr lang="zh-CN" altLang="en-US" dirty="0"/>
            </a:p>
          </p:txBody>
        </p:sp>
      </p:grpSp>
      <p:sp>
        <p:nvSpPr>
          <p:cNvPr id="27" name="文本框 26">
            <a:extLst>
              <a:ext uri="{FF2B5EF4-FFF2-40B4-BE49-F238E27FC236}">
                <a16:creationId xmlns:a16="http://schemas.microsoft.com/office/drawing/2014/main" id="{DFF7F0B2-A333-4311-9BFC-D3EA2C32CB84}"/>
              </a:ext>
            </a:extLst>
          </p:cNvPr>
          <p:cNvSpPr txBox="1"/>
          <p:nvPr/>
        </p:nvSpPr>
        <p:spPr>
          <a:xfrm>
            <a:off x="176261" y="1250530"/>
            <a:ext cx="2904107" cy="523220"/>
          </a:xfrm>
          <a:prstGeom prst="rect">
            <a:avLst/>
          </a:prstGeom>
          <a:noFill/>
        </p:spPr>
        <p:txBody>
          <a:bodyPr wrap="square" rtlCol="0">
            <a:spAutoFit/>
          </a:bodyPr>
          <a:lstStyle/>
          <a:p>
            <a:r>
              <a:rPr lang="en-US" altLang="zh-CN" sz="2800" b="1" dirty="0">
                <a:solidFill>
                  <a:srgbClr val="0000FF"/>
                </a:solidFill>
                <a:latin typeface="+mn-ea"/>
              </a:rPr>
              <a:t>int</a:t>
            </a:r>
            <a:r>
              <a:rPr lang="zh-CN" altLang="en-US" sz="2800" b="1" dirty="0">
                <a:solidFill>
                  <a:srgbClr val="0000FF"/>
                </a:solidFill>
                <a:latin typeface="+mn-ea"/>
              </a:rPr>
              <a:t> </a:t>
            </a:r>
            <a:r>
              <a:rPr lang="en-US" altLang="zh-CN" sz="2800" b="1" dirty="0">
                <a:latin typeface="+mn-ea"/>
              </a:rPr>
              <a:t>a, b, </a:t>
            </a:r>
            <a:r>
              <a:rPr lang="en-US" altLang="zh-CN" sz="2800" b="1" dirty="0">
                <a:solidFill>
                  <a:srgbClr val="FF0000"/>
                </a:solidFill>
                <a:latin typeface="+mn-ea"/>
              </a:rPr>
              <a:t>*</a:t>
            </a:r>
            <a:r>
              <a:rPr lang="en-US" altLang="zh-CN" sz="2800" b="1" dirty="0">
                <a:latin typeface="+mn-ea"/>
              </a:rPr>
              <a:t>p1, </a:t>
            </a:r>
            <a:r>
              <a:rPr lang="en-US" altLang="zh-CN" sz="2800" b="1" dirty="0">
                <a:solidFill>
                  <a:srgbClr val="FF0000"/>
                </a:solidFill>
                <a:latin typeface="+mn-ea"/>
              </a:rPr>
              <a:t>*</a:t>
            </a:r>
            <a:r>
              <a:rPr lang="en-US" altLang="zh-CN" sz="2800" b="1" dirty="0">
                <a:latin typeface="+mn-ea"/>
              </a:rPr>
              <a:t>p2;</a:t>
            </a:r>
          </a:p>
        </p:txBody>
      </p:sp>
      <p:sp>
        <p:nvSpPr>
          <p:cNvPr id="28" name="文本框 27">
            <a:extLst>
              <a:ext uri="{FF2B5EF4-FFF2-40B4-BE49-F238E27FC236}">
                <a16:creationId xmlns:a16="http://schemas.microsoft.com/office/drawing/2014/main" id="{ABB0E427-1A9E-4B7D-A4F6-BA0550752BD4}"/>
              </a:ext>
            </a:extLst>
          </p:cNvPr>
          <p:cNvSpPr txBox="1"/>
          <p:nvPr/>
        </p:nvSpPr>
        <p:spPr>
          <a:xfrm>
            <a:off x="185041" y="2103021"/>
            <a:ext cx="2904107" cy="954107"/>
          </a:xfrm>
          <a:prstGeom prst="rect">
            <a:avLst/>
          </a:prstGeom>
          <a:noFill/>
        </p:spPr>
        <p:txBody>
          <a:bodyPr wrap="square" rtlCol="0">
            <a:spAutoFit/>
          </a:bodyPr>
          <a:lstStyle/>
          <a:p>
            <a:pPr>
              <a:spcBef>
                <a:spcPct val="0"/>
              </a:spcBef>
              <a:buClr>
                <a:schemeClr val="tx2"/>
              </a:buClr>
              <a:buSzPct val="70000"/>
            </a:pPr>
            <a:r>
              <a:rPr lang="en-US" altLang="zh-CN" sz="2800" b="1" dirty="0"/>
              <a:t>a = 10;</a:t>
            </a:r>
          </a:p>
          <a:p>
            <a:pPr>
              <a:spcBef>
                <a:spcPct val="0"/>
              </a:spcBef>
              <a:buClr>
                <a:schemeClr val="tx2"/>
              </a:buClr>
              <a:buSzPct val="70000"/>
            </a:pPr>
            <a:r>
              <a:rPr lang="en-US" altLang="zh-CN" sz="2800" b="1" dirty="0"/>
              <a:t>b = 20;</a:t>
            </a:r>
          </a:p>
        </p:txBody>
      </p:sp>
      <p:grpSp>
        <p:nvGrpSpPr>
          <p:cNvPr id="33" name="组合 32">
            <a:extLst>
              <a:ext uri="{FF2B5EF4-FFF2-40B4-BE49-F238E27FC236}">
                <a16:creationId xmlns:a16="http://schemas.microsoft.com/office/drawing/2014/main" id="{F0AE1E3B-37EB-49D6-9F9E-59637101AF85}"/>
              </a:ext>
            </a:extLst>
          </p:cNvPr>
          <p:cNvGrpSpPr/>
          <p:nvPr/>
        </p:nvGrpSpPr>
        <p:grpSpPr>
          <a:xfrm>
            <a:off x="4485656" y="1941104"/>
            <a:ext cx="3858323" cy="2185639"/>
            <a:chOff x="5260400" y="4443969"/>
            <a:chExt cx="3858323" cy="2185639"/>
          </a:xfrm>
        </p:grpSpPr>
        <p:sp>
          <p:nvSpPr>
            <p:cNvPr id="34" name="矩形 33">
              <a:extLst>
                <a:ext uri="{FF2B5EF4-FFF2-40B4-BE49-F238E27FC236}">
                  <a16:creationId xmlns:a16="http://schemas.microsoft.com/office/drawing/2014/main" id="{BBC633EF-7668-42D9-A59A-A008C5222F4F}"/>
                </a:ext>
              </a:extLst>
            </p:cNvPr>
            <p:cNvSpPr/>
            <p:nvPr/>
          </p:nvSpPr>
          <p:spPr>
            <a:xfrm>
              <a:off x="5260400" y="4443969"/>
              <a:ext cx="3858323" cy="2185639"/>
            </a:xfrm>
            <a:prstGeom prst="rect">
              <a:avLst/>
            </a:prstGeom>
            <a:ln/>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dirty="0"/>
            </a:p>
          </p:txBody>
        </p:sp>
        <p:grpSp>
          <p:nvGrpSpPr>
            <p:cNvPr id="35" name="组合 34">
              <a:extLst>
                <a:ext uri="{FF2B5EF4-FFF2-40B4-BE49-F238E27FC236}">
                  <a16:creationId xmlns:a16="http://schemas.microsoft.com/office/drawing/2014/main" id="{A7A5600D-6565-442E-89C1-014E917B4C5B}"/>
                </a:ext>
              </a:extLst>
            </p:cNvPr>
            <p:cNvGrpSpPr/>
            <p:nvPr/>
          </p:nvGrpSpPr>
          <p:grpSpPr>
            <a:xfrm>
              <a:off x="5309174" y="4807804"/>
              <a:ext cx="1418727" cy="413932"/>
              <a:chOff x="6306837" y="2333728"/>
              <a:chExt cx="1418727" cy="413932"/>
            </a:xfrm>
          </p:grpSpPr>
          <p:sp>
            <p:nvSpPr>
              <p:cNvPr id="49" name="矩形 48">
                <a:extLst>
                  <a:ext uri="{FF2B5EF4-FFF2-40B4-BE49-F238E27FC236}">
                    <a16:creationId xmlns:a16="http://schemas.microsoft.com/office/drawing/2014/main" id="{4A2E38C2-CDD9-4090-A35E-5E44EEF72675}"/>
                  </a:ext>
                </a:extLst>
              </p:cNvPr>
              <p:cNvSpPr/>
              <p:nvPr/>
            </p:nvSpPr>
            <p:spPr>
              <a:xfrm>
                <a:off x="6628284" y="2359597"/>
                <a:ext cx="1097280" cy="38806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50" name="文本框 49">
                <a:extLst>
                  <a:ext uri="{FF2B5EF4-FFF2-40B4-BE49-F238E27FC236}">
                    <a16:creationId xmlns:a16="http://schemas.microsoft.com/office/drawing/2014/main" id="{C86ABAB1-F26F-4A63-AF6B-6DD359316617}"/>
                  </a:ext>
                </a:extLst>
              </p:cNvPr>
              <p:cNvSpPr txBox="1"/>
              <p:nvPr/>
            </p:nvSpPr>
            <p:spPr>
              <a:xfrm>
                <a:off x="6306837" y="2333728"/>
                <a:ext cx="240867" cy="369332"/>
              </a:xfrm>
              <a:prstGeom prst="rect">
                <a:avLst/>
              </a:prstGeom>
              <a:noFill/>
            </p:spPr>
            <p:txBody>
              <a:bodyPr wrap="square" lIns="0" tIns="0" rIns="0" bIns="0" rtlCol="0" anchor="ctr" anchorCtr="1">
                <a:spAutoFit/>
              </a:bodyPr>
              <a:lstStyle/>
              <a:p>
                <a:r>
                  <a:rPr lang="en-US" altLang="zh-CN" sz="2400" dirty="0"/>
                  <a:t>a</a:t>
                </a:r>
                <a:endParaRPr lang="zh-CN" altLang="en-US" sz="2400" dirty="0"/>
              </a:p>
            </p:txBody>
          </p:sp>
        </p:grpSp>
        <p:grpSp>
          <p:nvGrpSpPr>
            <p:cNvPr id="36" name="组合 35">
              <a:extLst>
                <a:ext uri="{FF2B5EF4-FFF2-40B4-BE49-F238E27FC236}">
                  <a16:creationId xmlns:a16="http://schemas.microsoft.com/office/drawing/2014/main" id="{3E7D0B1A-A579-4321-AF30-2A63E6515F9C}"/>
                </a:ext>
              </a:extLst>
            </p:cNvPr>
            <p:cNvGrpSpPr/>
            <p:nvPr/>
          </p:nvGrpSpPr>
          <p:grpSpPr>
            <a:xfrm>
              <a:off x="5309174" y="5741006"/>
              <a:ext cx="1418727" cy="413932"/>
              <a:chOff x="6306837" y="2333728"/>
              <a:chExt cx="1418727" cy="413932"/>
            </a:xfrm>
          </p:grpSpPr>
          <p:sp>
            <p:nvSpPr>
              <p:cNvPr id="47" name="矩形 46">
                <a:extLst>
                  <a:ext uri="{FF2B5EF4-FFF2-40B4-BE49-F238E27FC236}">
                    <a16:creationId xmlns:a16="http://schemas.microsoft.com/office/drawing/2014/main" id="{0FFF3654-DB09-48DF-9D07-3D99A597F5DA}"/>
                  </a:ext>
                </a:extLst>
              </p:cNvPr>
              <p:cNvSpPr/>
              <p:nvPr/>
            </p:nvSpPr>
            <p:spPr>
              <a:xfrm>
                <a:off x="6628284" y="2359597"/>
                <a:ext cx="1097280" cy="38806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48" name="文本框 47">
                <a:extLst>
                  <a:ext uri="{FF2B5EF4-FFF2-40B4-BE49-F238E27FC236}">
                    <a16:creationId xmlns:a16="http://schemas.microsoft.com/office/drawing/2014/main" id="{DEFE52B3-82D8-4BEC-8792-408F85B18673}"/>
                  </a:ext>
                </a:extLst>
              </p:cNvPr>
              <p:cNvSpPr txBox="1"/>
              <p:nvPr/>
            </p:nvSpPr>
            <p:spPr>
              <a:xfrm>
                <a:off x="6306837" y="2333728"/>
                <a:ext cx="240867" cy="369332"/>
              </a:xfrm>
              <a:prstGeom prst="rect">
                <a:avLst/>
              </a:prstGeom>
              <a:noFill/>
            </p:spPr>
            <p:txBody>
              <a:bodyPr wrap="square" lIns="0" tIns="0" rIns="0" bIns="0" rtlCol="0" anchor="ctr" anchorCtr="1">
                <a:spAutoFit/>
              </a:bodyPr>
              <a:lstStyle/>
              <a:p>
                <a:r>
                  <a:rPr lang="en-US" altLang="zh-CN" sz="2400" dirty="0"/>
                  <a:t>b</a:t>
                </a:r>
                <a:endParaRPr lang="zh-CN" altLang="en-US" sz="2400" dirty="0"/>
              </a:p>
            </p:txBody>
          </p:sp>
        </p:grpSp>
        <p:grpSp>
          <p:nvGrpSpPr>
            <p:cNvPr id="37" name="组合 36">
              <a:extLst>
                <a:ext uri="{FF2B5EF4-FFF2-40B4-BE49-F238E27FC236}">
                  <a16:creationId xmlns:a16="http://schemas.microsoft.com/office/drawing/2014/main" id="{6A899D67-A8C2-4AD2-84F3-72F16CA4A8A6}"/>
                </a:ext>
              </a:extLst>
            </p:cNvPr>
            <p:cNvGrpSpPr/>
            <p:nvPr/>
          </p:nvGrpSpPr>
          <p:grpSpPr>
            <a:xfrm>
              <a:off x="7540453" y="4807804"/>
              <a:ext cx="1475286" cy="413932"/>
              <a:chOff x="7730768" y="3836377"/>
              <a:chExt cx="1475286" cy="413932"/>
            </a:xfrm>
          </p:grpSpPr>
          <p:sp>
            <p:nvSpPr>
              <p:cNvPr id="45" name="矩形 44">
                <a:extLst>
                  <a:ext uri="{FF2B5EF4-FFF2-40B4-BE49-F238E27FC236}">
                    <a16:creationId xmlns:a16="http://schemas.microsoft.com/office/drawing/2014/main" id="{353D5E4C-D068-4056-B4C8-F19EB1566520}"/>
                  </a:ext>
                </a:extLst>
              </p:cNvPr>
              <p:cNvSpPr/>
              <p:nvPr/>
            </p:nvSpPr>
            <p:spPr>
              <a:xfrm>
                <a:off x="7730768" y="3862246"/>
                <a:ext cx="1097280" cy="38806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46" name="文本框 45">
                <a:extLst>
                  <a:ext uri="{FF2B5EF4-FFF2-40B4-BE49-F238E27FC236}">
                    <a16:creationId xmlns:a16="http://schemas.microsoft.com/office/drawing/2014/main" id="{395A5009-D0F1-4D56-86A6-F27C49882B57}"/>
                  </a:ext>
                </a:extLst>
              </p:cNvPr>
              <p:cNvSpPr txBox="1"/>
              <p:nvPr/>
            </p:nvSpPr>
            <p:spPr>
              <a:xfrm>
                <a:off x="8867820" y="3836377"/>
                <a:ext cx="338234" cy="369332"/>
              </a:xfrm>
              <a:prstGeom prst="rect">
                <a:avLst/>
              </a:prstGeom>
              <a:noFill/>
            </p:spPr>
            <p:txBody>
              <a:bodyPr wrap="none" lIns="0" tIns="0" rIns="0" bIns="0" rtlCol="0" anchor="ctr" anchorCtr="1">
                <a:spAutoFit/>
              </a:bodyPr>
              <a:lstStyle/>
              <a:p>
                <a:r>
                  <a:rPr lang="en-US" altLang="zh-CN" sz="2400" dirty="0"/>
                  <a:t>p1</a:t>
                </a:r>
                <a:endParaRPr lang="zh-CN" altLang="en-US" sz="2400" dirty="0"/>
              </a:p>
            </p:txBody>
          </p:sp>
        </p:grpSp>
        <p:grpSp>
          <p:nvGrpSpPr>
            <p:cNvPr id="38" name="组合 37">
              <a:extLst>
                <a:ext uri="{FF2B5EF4-FFF2-40B4-BE49-F238E27FC236}">
                  <a16:creationId xmlns:a16="http://schemas.microsoft.com/office/drawing/2014/main" id="{D09A5493-2E66-4B38-95CD-641CC6C46D88}"/>
                </a:ext>
              </a:extLst>
            </p:cNvPr>
            <p:cNvGrpSpPr/>
            <p:nvPr/>
          </p:nvGrpSpPr>
          <p:grpSpPr>
            <a:xfrm>
              <a:off x="7520204" y="5753940"/>
              <a:ext cx="1475286" cy="413932"/>
              <a:chOff x="7730768" y="3836377"/>
              <a:chExt cx="1475286" cy="413932"/>
            </a:xfrm>
          </p:grpSpPr>
          <p:sp>
            <p:nvSpPr>
              <p:cNvPr id="43" name="矩形 42">
                <a:extLst>
                  <a:ext uri="{FF2B5EF4-FFF2-40B4-BE49-F238E27FC236}">
                    <a16:creationId xmlns:a16="http://schemas.microsoft.com/office/drawing/2014/main" id="{B968C22C-591D-48F7-9DC1-1C935ECFDB19}"/>
                  </a:ext>
                </a:extLst>
              </p:cNvPr>
              <p:cNvSpPr/>
              <p:nvPr/>
            </p:nvSpPr>
            <p:spPr>
              <a:xfrm>
                <a:off x="7730768" y="3862246"/>
                <a:ext cx="1097280" cy="38806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44" name="文本框 43">
                <a:extLst>
                  <a:ext uri="{FF2B5EF4-FFF2-40B4-BE49-F238E27FC236}">
                    <a16:creationId xmlns:a16="http://schemas.microsoft.com/office/drawing/2014/main" id="{5F0A6301-D4FA-4976-B73D-A2F72F7B9707}"/>
                  </a:ext>
                </a:extLst>
              </p:cNvPr>
              <p:cNvSpPr txBox="1"/>
              <p:nvPr/>
            </p:nvSpPr>
            <p:spPr>
              <a:xfrm>
                <a:off x="8867820" y="3836377"/>
                <a:ext cx="338234" cy="369332"/>
              </a:xfrm>
              <a:prstGeom prst="rect">
                <a:avLst/>
              </a:prstGeom>
              <a:noFill/>
            </p:spPr>
            <p:txBody>
              <a:bodyPr wrap="none" lIns="0" tIns="0" rIns="0" bIns="0" rtlCol="0" anchor="ctr" anchorCtr="1">
                <a:spAutoFit/>
              </a:bodyPr>
              <a:lstStyle/>
              <a:p>
                <a:r>
                  <a:rPr lang="en-US" altLang="zh-CN" sz="2400" dirty="0"/>
                  <a:t>p2</a:t>
                </a:r>
                <a:endParaRPr lang="zh-CN" altLang="en-US" sz="2400" dirty="0"/>
              </a:p>
            </p:txBody>
          </p:sp>
        </p:grpSp>
        <p:sp>
          <p:nvSpPr>
            <p:cNvPr id="39" name="文本框 38">
              <a:extLst>
                <a:ext uri="{FF2B5EF4-FFF2-40B4-BE49-F238E27FC236}">
                  <a16:creationId xmlns:a16="http://schemas.microsoft.com/office/drawing/2014/main" id="{E3CD3E7A-E54A-43FB-B1E7-371868710696}"/>
                </a:ext>
              </a:extLst>
            </p:cNvPr>
            <p:cNvSpPr txBox="1"/>
            <p:nvPr/>
          </p:nvSpPr>
          <p:spPr>
            <a:xfrm>
              <a:off x="5967765" y="4855976"/>
              <a:ext cx="428322" cy="369332"/>
            </a:xfrm>
            <a:prstGeom prst="rect">
              <a:avLst/>
            </a:prstGeom>
            <a:noFill/>
          </p:spPr>
          <p:txBody>
            <a:bodyPr wrap="none" rtlCol="0">
              <a:spAutoFit/>
            </a:bodyPr>
            <a:lstStyle/>
            <a:p>
              <a:r>
                <a:rPr lang="en-US" altLang="zh-CN" dirty="0"/>
                <a:t>10</a:t>
              </a:r>
              <a:endParaRPr lang="zh-CN" altLang="en-US" dirty="0"/>
            </a:p>
          </p:txBody>
        </p:sp>
        <p:sp>
          <p:nvSpPr>
            <p:cNvPr id="40" name="文本框 39">
              <a:extLst>
                <a:ext uri="{FF2B5EF4-FFF2-40B4-BE49-F238E27FC236}">
                  <a16:creationId xmlns:a16="http://schemas.microsoft.com/office/drawing/2014/main" id="{7F3E974C-51A0-4F81-8E55-4C18CC6F947D}"/>
                </a:ext>
              </a:extLst>
            </p:cNvPr>
            <p:cNvSpPr txBox="1"/>
            <p:nvPr/>
          </p:nvSpPr>
          <p:spPr>
            <a:xfrm>
              <a:off x="5967767" y="5778026"/>
              <a:ext cx="428322" cy="369332"/>
            </a:xfrm>
            <a:prstGeom prst="rect">
              <a:avLst/>
            </a:prstGeom>
            <a:noFill/>
          </p:spPr>
          <p:txBody>
            <a:bodyPr wrap="none" rtlCol="0">
              <a:spAutoFit/>
            </a:bodyPr>
            <a:lstStyle/>
            <a:p>
              <a:r>
                <a:rPr lang="en-US" altLang="zh-CN" dirty="0"/>
                <a:t>20</a:t>
              </a:r>
              <a:endParaRPr lang="zh-CN" altLang="en-US" dirty="0"/>
            </a:p>
          </p:txBody>
        </p:sp>
        <p:sp>
          <p:nvSpPr>
            <p:cNvPr id="41" name="文本框 40">
              <a:extLst>
                <a:ext uri="{FF2B5EF4-FFF2-40B4-BE49-F238E27FC236}">
                  <a16:creationId xmlns:a16="http://schemas.microsoft.com/office/drawing/2014/main" id="{41C24A3B-0D0B-4F90-9054-1689D44469E3}"/>
                </a:ext>
              </a:extLst>
            </p:cNvPr>
            <p:cNvSpPr txBox="1"/>
            <p:nvPr/>
          </p:nvSpPr>
          <p:spPr>
            <a:xfrm>
              <a:off x="7948588" y="4844824"/>
              <a:ext cx="281010" cy="365760"/>
            </a:xfrm>
            <a:prstGeom prst="rect">
              <a:avLst/>
            </a:prstGeom>
            <a:noFill/>
          </p:spPr>
          <p:txBody>
            <a:bodyPr wrap="square" rtlCol="0">
              <a:spAutoFit/>
            </a:bodyPr>
            <a:lstStyle/>
            <a:p>
              <a:r>
                <a:rPr lang="en-US" altLang="zh-CN" dirty="0"/>
                <a:t>?</a:t>
              </a:r>
              <a:endParaRPr lang="zh-CN" altLang="en-US" dirty="0"/>
            </a:p>
          </p:txBody>
        </p:sp>
        <p:sp>
          <p:nvSpPr>
            <p:cNvPr id="42" name="文本框 41">
              <a:extLst>
                <a:ext uri="{FF2B5EF4-FFF2-40B4-BE49-F238E27FC236}">
                  <a16:creationId xmlns:a16="http://schemas.microsoft.com/office/drawing/2014/main" id="{5E5D7731-A1A2-4419-8DBF-967A762628F0}"/>
                </a:ext>
              </a:extLst>
            </p:cNvPr>
            <p:cNvSpPr txBox="1"/>
            <p:nvPr/>
          </p:nvSpPr>
          <p:spPr>
            <a:xfrm>
              <a:off x="7947407" y="5798095"/>
              <a:ext cx="281010" cy="365760"/>
            </a:xfrm>
            <a:prstGeom prst="rect">
              <a:avLst/>
            </a:prstGeom>
            <a:noFill/>
          </p:spPr>
          <p:txBody>
            <a:bodyPr wrap="square" rtlCol="0">
              <a:spAutoFit/>
            </a:bodyPr>
            <a:lstStyle/>
            <a:p>
              <a:r>
                <a:rPr lang="en-US" altLang="zh-CN" dirty="0"/>
                <a:t>?</a:t>
              </a:r>
              <a:endParaRPr lang="zh-CN" altLang="en-US" dirty="0"/>
            </a:p>
          </p:txBody>
        </p:sp>
      </p:grpSp>
      <p:sp>
        <p:nvSpPr>
          <p:cNvPr id="51" name="文本框 50">
            <a:extLst>
              <a:ext uri="{FF2B5EF4-FFF2-40B4-BE49-F238E27FC236}">
                <a16:creationId xmlns:a16="http://schemas.microsoft.com/office/drawing/2014/main" id="{160CD158-45B0-4523-9551-E5C7A44E601F}"/>
              </a:ext>
            </a:extLst>
          </p:cNvPr>
          <p:cNvSpPr txBox="1"/>
          <p:nvPr/>
        </p:nvSpPr>
        <p:spPr>
          <a:xfrm>
            <a:off x="178420" y="3360316"/>
            <a:ext cx="2904107" cy="954107"/>
          </a:xfrm>
          <a:prstGeom prst="rect">
            <a:avLst/>
          </a:prstGeom>
          <a:noFill/>
        </p:spPr>
        <p:txBody>
          <a:bodyPr wrap="square" rtlCol="0">
            <a:spAutoFit/>
          </a:bodyPr>
          <a:lstStyle/>
          <a:p>
            <a:pPr>
              <a:spcBef>
                <a:spcPct val="0"/>
              </a:spcBef>
              <a:buClr>
                <a:schemeClr val="tx2"/>
              </a:buClr>
              <a:buSzPct val="70000"/>
            </a:pPr>
            <a:r>
              <a:rPr lang="en-US" altLang="zh-CN" sz="2800" b="1" dirty="0"/>
              <a:t>p1 = </a:t>
            </a:r>
            <a:r>
              <a:rPr lang="en-US" altLang="zh-CN" sz="2800" b="1" dirty="0">
                <a:solidFill>
                  <a:srgbClr val="FF0000"/>
                </a:solidFill>
              </a:rPr>
              <a:t>&amp;</a:t>
            </a:r>
            <a:r>
              <a:rPr lang="en-US" altLang="zh-CN" sz="2800" b="1" dirty="0"/>
              <a:t>a;</a:t>
            </a:r>
          </a:p>
          <a:p>
            <a:pPr>
              <a:spcBef>
                <a:spcPct val="0"/>
              </a:spcBef>
              <a:buClr>
                <a:schemeClr val="tx2"/>
              </a:buClr>
              <a:buSzPct val="70000"/>
            </a:pPr>
            <a:r>
              <a:rPr lang="en-US" altLang="zh-CN" sz="2800" b="1" dirty="0"/>
              <a:t>p2 = </a:t>
            </a:r>
            <a:r>
              <a:rPr lang="en-US" altLang="zh-CN" sz="2800" b="1" dirty="0">
                <a:solidFill>
                  <a:srgbClr val="FF0000"/>
                </a:solidFill>
              </a:rPr>
              <a:t>&amp;</a:t>
            </a:r>
            <a:r>
              <a:rPr lang="en-US" altLang="zh-CN" sz="2800" b="1" dirty="0"/>
              <a:t>b;</a:t>
            </a:r>
          </a:p>
        </p:txBody>
      </p:sp>
      <p:sp>
        <p:nvSpPr>
          <p:cNvPr id="52" name="文本框 51">
            <a:extLst>
              <a:ext uri="{FF2B5EF4-FFF2-40B4-BE49-F238E27FC236}">
                <a16:creationId xmlns:a16="http://schemas.microsoft.com/office/drawing/2014/main" id="{BE66AC0E-1ABD-4F15-B0B8-4794AA6093AD}"/>
              </a:ext>
            </a:extLst>
          </p:cNvPr>
          <p:cNvSpPr txBox="1"/>
          <p:nvPr/>
        </p:nvSpPr>
        <p:spPr>
          <a:xfrm>
            <a:off x="188108" y="4643694"/>
            <a:ext cx="2904107" cy="523220"/>
          </a:xfrm>
          <a:prstGeom prst="rect">
            <a:avLst/>
          </a:prstGeom>
          <a:noFill/>
        </p:spPr>
        <p:txBody>
          <a:bodyPr wrap="square" rtlCol="0">
            <a:spAutoFit/>
          </a:bodyPr>
          <a:lstStyle/>
          <a:p>
            <a:pPr>
              <a:spcBef>
                <a:spcPct val="0"/>
              </a:spcBef>
              <a:buClr>
                <a:schemeClr val="tx2"/>
              </a:buClr>
              <a:buSzPct val="70000"/>
            </a:pPr>
            <a:r>
              <a:rPr lang="en-US" altLang="zh-CN" sz="2800" b="1" dirty="0">
                <a:solidFill>
                  <a:srgbClr val="FF0000"/>
                </a:solidFill>
              </a:rPr>
              <a:t>*</a:t>
            </a:r>
            <a:r>
              <a:rPr lang="en-US" altLang="zh-CN" sz="2800" b="1" dirty="0"/>
              <a:t>p1 = </a:t>
            </a:r>
            <a:r>
              <a:rPr lang="en-US" altLang="zh-CN" sz="2800" b="1" dirty="0">
                <a:solidFill>
                  <a:srgbClr val="FF0000"/>
                </a:solidFill>
              </a:rPr>
              <a:t>*</a:t>
            </a:r>
            <a:r>
              <a:rPr lang="en-US" altLang="zh-CN" sz="2800" b="1" dirty="0"/>
              <a:t>p2;</a:t>
            </a:r>
          </a:p>
        </p:txBody>
      </p:sp>
      <p:sp>
        <p:nvSpPr>
          <p:cNvPr id="53" name="文本框 52">
            <a:extLst>
              <a:ext uri="{FF2B5EF4-FFF2-40B4-BE49-F238E27FC236}">
                <a16:creationId xmlns:a16="http://schemas.microsoft.com/office/drawing/2014/main" id="{A5A9D896-1810-41C7-B778-A49916A8A9C0}"/>
              </a:ext>
            </a:extLst>
          </p:cNvPr>
          <p:cNvSpPr txBox="1"/>
          <p:nvPr/>
        </p:nvSpPr>
        <p:spPr>
          <a:xfrm>
            <a:off x="185105" y="5519178"/>
            <a:ext cx="2904107" cy="523220"/>
          </a:xfrm>
          <a:prstGeom prst="rect">
            <a:avLst/>
          </a:prstGeom>
          <a:noFill/>
        </p:spPr>
        <p:txBody>
          <a:bodyPr wrap="square" rtlCol="0">
            <a:spAutoFit/>
          </a:bodyPr>
          <a:lstStyle/>
          <a:p>
            <a:pPr>
              <a:spcBef>
                <a:spcPct val="0"/>
              </a:spcBef>
              <a:buClr>
                <a:schemeClr val="tx2"/>
              </a:buClr>
              <a:buSzPct val="70000"/>
            </a:pPr>
            <a:r>
              <a:rPr lang="en-US" altLang="zh-CN" sz="2800" b="1" dirty="0"/>
              <a:t>p1 = p2;</a:t>
            </a:r>
          </a:p>
        </p:txBody>
      </p:sp>
      <p:grpSp>
        <p:nvGrpSpPr>
          <p:cNvPr id="100" name="组合 99">
            <a:extLst>
              <a:ext uri="{FF2B5EF4-FFF2-40B4-BE49-F238E27FC236}">
                <a16:creationId xmlns:a16="http://schemas.microsoft.com/office/drawing/2014/main" id="{ADCC8B86-6D8B-48FA-9663-7D02A577828E}"/>
              </a:ext>
            </a:extLst>
          </p:cNvPr>
          <p:cNvGrpSpPr/>
          <p:nvPr/>
        </p:nvGrpSpPr>
        <p:grpSpPr>
          <a:xfrm>
            <a:off x="4485656" y="1947599"/>
            <a:ext cx="3858323" cy="2185639"/>
            <a:chOff x="4942491" y="3999340"/>
            <a:chExt cx="3858323" cy="2185639"/>
          </a:xfrm>
        </p:grpSpPr>
        <p:grpSp>
          <p:nvGrpSpPr>
            <p:cNvPr id="54" name="组合 53">
              <a:extLst>
                <a:ext uri="{FF2B5EF4-FFF2-40B4-BE49-F238E27FC236}">
                  <a16:creationId xmlns:a16="http://schemas.microsoft.com/office/drawing/2014/main" id="{6A3B6919-C46A-49CF-A633-0033552BB0BD}"/>
                </a:ext>
              </a:extLst>
            </p:cNvPr>
            <p:cNvGrpSpPr/>
            <p:nvPr/>
          </p:nvGrpSpPr>
          <p:grpSpPr>
            <a:xfrm>
              <a:off x="4942491" y="3999340"/>
              <a:ext cx="3858323" cy="2185639"/>
              <a:chOff x="5260400" y="4443969"/>
              <a:chExt cx="3858323" cy="2185639"/>
            </a:xfrm>
          </p:grpSpPr>
          <p:sp>
            <p:nvSpPr>
              <p:cNvPr id="55" name="矩形 54">
                <a:extLst>
                  <a:ext uri="{FF2B5EF4-FFF2-40B4-BE49-F238E27FC236}">
                    <a16:creationId xmlns:a16="http://schemas.microsoft.com/office/drawing/2014/main" id="{A41A600E-7EB8-4A0F-A01C-2EF76BFC5F0B}"/>
                  </a:ext>
                </a:extLst>
              </p:cNvPr>
              <p:cNvSpPr/>
              <p:nvPr/>
            </p:nvSpPr>
            <p:spPr>
              <a:xfrm>
                <a:off x="5260400" y="4443969"/>
                <a:ext cx="3858323" cy="2185639"/>
              </a:xfrm>
              <a:prstGeom prst="rect">
                <a:avLst/>
              </a:prstGeom>
              <a:ln/>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dirty="0"/>
              </a:p>
            </p:txBody>
          </p:sp>
          <p:grpSp>
            <p:nvGrpSpPr>
              <p:cNvPr id="56" name="组合 55">
                <a:extLst>
                  <a:ext uri="{FF2B5EF4-FFF2-40B4-BE49-F238E27FC236}">
                    <a16:creationId xmlns:a16="http://schemas.microsoft.com/office/drawing/2014/main" id="{AB69C0D1-882C-423B-8249-E4A81BD9C206}"/>
                  </a:ext>
                </a:extLst>
              </p:cNvPr>
              <p:cNvGrpSpPr/>
              <p:nvPr/>
            </p:nvGrpSpPr>
            <p:grpSpPr>
              <a:xfrm>
                <a:off x="5309174" y="4807804"/>
                <a:ext cx="1418727" cy="413932"/>
                <a:chOff x="6306837" y="2333728"/>
                <a:chExt cx="1418727" cy="413932"/>
              </a:xfrm>
            </p:grpSpPr>
            <p:sp>
              <p:nvSpPr>
                <p:cNvPr id="70" name="矩形 69">
                  <a:extLst>
                    <a:ext uri="{FF2B5EF4-FFF2-40B4-BE49-F238E27FC236}">
                      <a16:creationId xmlns:a16="http://schemas.microsoft.com/office/drawing/2014/main" id="{8DFA391E-FEF5-4DF8-AF5E-B15B3D3DB83B}"/>
                    </a:ext>
                  </a:extLst>
                </p:cNvPr>
                <p:cNvSpPr/>
                <p:nvPr/>
              </p:nvSpPr>
              <p:spPr>
                <a:xfrm>
                  <a:off x="6628284" y="2359597"/>
                  <a:ext cx="1097280" cy="38806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1" name="文本框 70">
                  <a:extLst>
                    <a:ext uri="{FF2B5EF4-FFF2-40B4-BE49-F238E27FC236}">
                      <a16:creationId xmlns:a16="http://schemas.microsoft.com/office/drawing/2014/main" id="{04058D81-39A2-4F59-B277-C87AE4AE27A9}"/>
                    </a:ext>
                  </a:extLst>
                </p:cNvPr>
                <p:cNvSpPr txBox="1"/>
                <p:nvPr/>
              </p:nvSpPr>
              <p:spPr>
                <a:xfrm>
                  <a:off x="6306837" y="2333728"/>
                  <a:ext cx="240867" cy="369332"/>
                </a:xfrm>
                <a:prstGeom prst="rect">
                  <a:avLst/>
                </a:prstGeom>
                <a:noFill/>
              </p:spPr>
              <p:txBody>
                <a:bodyPr wrap="square" lIns="0" tIns="0" rIns="0" bIns="0" rtlCol="0" anchor="ctr" anchorCtr="1">
                  <a:spAutoFit/>
                </a:bodyPr>
                <a:lstStyle/>
                <a:p>
                  <a:r>
                    <a:rPr lang="en-US" altLang="zh-CN" sz="2400" dirty="0"/>
                    <a:t>a</a:t>
                  </a:r>
                  <a:endParaRPr lang="zh-CN" altLang="en-US" sz="2400" dirty="0"/>
                </a:p>
              </p:txBody>
            </p:sp>
          </p:grpSp>
          <p:grpSp>
            <p:nvGrpSpPr>
              <p:cNvPr id="57" name="组合 56">
                <a:extLst>
                  <a:ext uri="{FF2B5EF4-FFF2-40B4-BE49-F238E27FC236}">
                    <a16:creationId xmlns:a16="http://schemas.microsoft.com/office/drawing/2014/main" id="{B7D4B242-9633-48CF-B4DA-682C4B193386}"/>
                  </a:ext>
                </a:extLst>
              </p:cNvPr>
              <p:cNvGrpSpPr/>
              <p:nvPr/>
            </p:nvGrpSpPr>
            <p:grpSpPr>
              <a:xfrm>
                <a:off x="5309174" y="5741006"/>
                <a:ext cx="1418727" cy="413932"/>
                <a:chOff x="6306837" y="2333728"/>
                <a:chExt cx="1418727" cy="413932"/>
              </a:xfrm>
            </p:grpSpPr>
            <p:sp>
              <p:nvSpPr>
                <p:cNvPr id="68" name="矩形 67">
                  <a:extLst>
                    <a:ext uri="{FF2B5EF4-FFF2-40B4-BE49-F238E27FC236}">
                      <a16:creationId xmlns:a16="http://schemas.microsoft.com/office/drawing/2014/main" id="{BDAC8C3E-FD9D-4C6D-8DAF-5BE358798A83}"/>
                    </a:ext>
                  </a:extLst>
                </p:cNvPr>
                <p:cNvSpPr/>
                <p:nvPr/>
              </p:nvSpPr>
              <p:spPr>
                <a:xfrm>
                  <a:off x="6628284" y="2359597"/>
                  <a:ext cx="1097280" cy="38806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9" name="文本框 68">
                  <a:extLst>
                    <a:ext uri="{FF2B5EF4-FFF2-40B4-BE49-F238E27FC236}">
                      <a16:creationId xmlns:a16="http://schemas.microsoft.com/office/drawing/2014/main" id="{AB2228AA-61F0-4E2A-AE01-76A3C87709B4}"/>
                    </a:ext>
                  </a:extLst>
                </p:cNvPr>
                <p:cNvSpPr txBox="1"/>
                <p:nvPr/>
              </p:nvSpPr>
              <p:spPr>
                <a:xfrm>
                  <a:off x="6306837" y="2333728"/>
                  <a:ext cx="240867" cy="369332"/>
                </a:xfrm>
                <a:prstGeom prst="rect">
                  <a:avLst/>
                </a:prstGeom>
                <a:noFill/>
              </p:spPr>
              <p:txBody>
                <a:bodyPr wrap="square" lIns="0" tIns="0" rIns="0" bIns="0" rtlCol="0" anchor="ctr" anchorCtr="1">
                  <a:spAutoFit/>
                </a:bodyPr>
                <a:lstStyle/>
                <a:p>
                  <a:r>
                    <a:rPr lang="en-US" altLang="zh-CN" sz="2400" dirty="0"/>
                    <a:t>b</a:t>
                  </a:r>
                  <a:endParaRPr lang="zh-CN" altLang="en-US" sz="2400" dirty="0"/>
                </a:p>
              </p:txBody>
            </p:sp>
          </p:grpSp>
          <p:grpSp>
            <p:nvGrpSpPr>
              <p:cNvPr id="58" name="组合 57">
                <a:extLst>
                  <a:ext uri="{FF2B5EF4-FFF2-40B4-BE49-F238E27FC236}">
                    <a16:creationId xmlns:a16="http://schemas.microsoft.com/office/drawing/2014/main" id="{C014B4B6-2608-4E80-8095-D26E20164F80}"/>
                  </a:ext>
                </a:extLst>
              </p:cNvPr>
              <p:cNvGrpSpPr/>
              <p:nvPr/>
            </p:nvGrpSpPr>
            <p:grpSpPr>
              <a:xfrm>
                <a:off x="7540453" y="4807804"/>
                <a:ext cx="1475286" cy="413932"/>
                <a:chOff x="7730768" y="3836377"/>
                <a:chExt cx="1475286" cy="413932"/>
              </a:xfrm>
            </p:grpSpPr>
            <p:sp>
              <p:nvSpPr>
                <p:cNvPr id="66" name="矩形 65">
                  <a:extLst>
                    <a:ext uri="{FF2B5EF4-FFF2-40B4-BE49-F238E27FC236}">
                      <a16:creationId xmlns:a16="http://schemas.microsoft.com/office/drawing/2014/main" id="{D15ACC47-1A52-4C67-9A22-0B360DFCF494}"/>
                    </a:ext>
                  </a:extLst>
                </p:cNvPr>
                <p:cNvSpPr/>
                <p:nvPr/>
              </p:nvSpPr>
              <p:spPr>
                <a:xfrm>
                  <a:off x="7730768" y="3862246"/>
                  <a:ext cx="1097280" cy="38806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7" name="文本框 66">
                  <a:extLst>
                    <a:ext uri="{FF2B5EF4-FFF2-40B4-BE49-F238E27FC236}">
                      <a16:creationId xmlns:a16="http://schemas.microsoft.com/office/drawing/2014/main" id="{153BE194-9B48-451E-8C8B-06C1F74AEDBF}"/>
                    </a:ext>
                  </a:extLst>
                </p:cNvPr>
                <p:cNvSpPr txBox="1"/>
                <p:nvPr/>
              </p:nvSpPr>
              <p:spPr>
                <a:xfrm>
                  <a:off x="8867820" y="3836377"/>
                  <a:ext cx="338234" cy="369332"/>
                </a:xfrm>
                <a:prstGeom prst="rect">
                  <a:avLst/>
                </a:prstGeom>
                <a:noFill/>
              </p:spPr>
              <p:txBody>
                <a:bodyPr wrap="none" lIns="0" tIns="0" rIns="0" bIns="0" rtlCol="0" anchor="ctr" anchorCtr="1">
                  <a:spAutoFit/>
                </a:bodyPr>
                <a:lstStyle/>
                <a:p>
                  <a:r>
                    <a:rPr lang="en-US" altLang="zh-CN" sz="2400" dirty="0"/>
                    <a:t>p1</a:t>
                  </a:r>
                  <a:endParaRPr lang="zh-CN" altLang="en-US" sz="2400" dirty="0"/>
                </a:p>
              </p:txBody>
            </p:sp>
          </p:grpSp>
          <p:grpSp>
            <p:nvGrpSpPr>
              <p:cNvPr id="59" name="组合 58">
                <a:extLst>
                  <a:ext uri="{FF2B5EF4-FFF2-40B4-BE49-F238E27FC236}">
                    <a16:creationId xmlns:a16="http://schemas.microsoft.com/office/drawing/2014/main" id="{DD8FCE98-DB7E-4202-AB4D-BA363DBEAB85}"/>
                  </a:ext>
                </a:extLst>
              </p:cNvPr>
              <p:cNvGrpSpPr/>
              <p:nvPr/>
            </p:nvGrpSpPr>
            <p:grpSpPr>
              <a:xfrm>
                <a:off x="7520204" y="5753940"/>
                <a:ext cx="1475286" cy="413932"/>
                <a:chOff x="7730768" y="3836377"/>
                <a:chExt cx="1475286" cy="413932"/>
              </a:xfrm>
            </p:grpSpPr>
            <p:sp>
              <p:nvSpPr>
                <p:cNvPr id="64" name="矩形 63">
                  <a:extLst>
                    <a:ext uri="{FF2B5EF4-FFF2-40B4-BE49-F238E27FC236}">
                      <a16:creationId xmlns:a16="http://schemas.microsoft.com/office/drawing/2014/main" id="{C268B1BA-D92C-487E-B4C4-20369C4C1364}"/>
                    </a:ext>
                  </a:extLst>
                </p:cNvPr>
                <p:cNvSpPr/>
                <p:nvPr/>
              </p:nvSpPr>
              <p:spPr>
                <a:xfrm>
                  <a:off x="7730768" y="3862246"/>
                  <a:ext cx="1097280" cy="38806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5" name="文本框 64">
                  <a:extLst>
                    <a:ext uri="{FF2B5EF4-FFF2-40B4-BE49-F238E27FC236}">
                      <a16:creationId xmlns:a16="http://schemas.microsoft.com/office/drawing/2014/main" id="{5102E7A1-4BEC-490E-A96D-1AD8F80BB647}"/>
                    </a:ext>
                  </a:extLst>
                </p:cNvPr>
                <p:cNvSpPr txBox="1"/>
                <p:nvPr/>
              </p:nvSpPr>
              <p:spPr>
                <a:xfrm>
                  <a:off x="8867820" y="3836377"/>
                  <a:ext cx="338234" cy="369332"/>
                </a:xfrm>
                <a:prstGeom prst="rect">
                  <a:avLst/>
                </a:prstGeom>
                <a:noFill/>
              </p:spPr>
              <p:txBody>
                <a:bodyPr wrap="none" lIns="0" tIns="0" rIns="0" bIns="0" rtlCol="0" anchor="ctr" anchorCtr="1">
                  <a:spAutoFit/>
                </a:bodyPr>
                <a:lstStyle/>
                <a:p>
                  <a:r>
                    <a:rPr lang="en-US" altLang="zh-CN" sz="2400" dirty="0"/>
                    <a:t>p2</a:t>
                  </a:r>
                  <a:endParaRPr lang="zh-CN" altLang="en-US" sz="2400" dirty="0"/>
                </a:p>
              </p:txBody>
            </p:sp>
          </p:grpSp>
          <p:sp>
            <p:nvSpPr>
              <p:cNvPr id="60" name="文本框 59">
                <a:extLst>
                  <a:ext uri="{FF2B5EF4-FFF2-40B4-BE49-F238E27FC236}">
                    <a16:creationId xmlns:a16="http://schemas.microsoft.com/office/drawing/2014/main" id="{F97D174A-D577-4D66-8688-E1772CDEBF51}"/>
                  </a:ext>
                </a:extLst>
              </p:cNvPr>
              <p:cNvSpPr txBox="1"/>
              <p:nvPr/>
            </p:nvSpPr>
            <p:spPr>
              <a:xfrm>
                <a:off x="5967765" y="4855976"/>
                <a:ext cx="428322" cy="369332"/>
              </a:xfrm>
              <a:prstGeom prst="rect">
                <a:avLst/>
              </a:prstGeom>
              <a:noFill/>
            </p:spPr>
            <p:txBody>
              <a:bodyPr wrap="none" rtlCol="0">
                <a:spAutoFit/>
              </a:bodyPr>
              <a:lstStyle/>
              <a:p>
                <a:r>
                  <a:rPr lang="en-US" altLang="zh-CN" dirty="0"/>
                  <a:t>10</a:t>
                </a:r>
                <a:endParaRPr lang="zh-CN" altLang="en-US" dirty="0"/>
              </a:p>
            </p:txBody>
          </p:sp>
          <p:sp>
            <p:nvSpPr>
              <p:cNvPr id="61" name="文本框 60">
                <a:extLst>
                  <a:ext uri="{FF2B5EF4-FFF2-40B4-BE49-F238E27FC236}">
                    <a16:creationId xmlns:a16="http://schemas.microsoft.com/office/drawing/2014/main" id="{1F6F1EB7-5AAA-4891-B257-31E0CFCA8B83}"/>
                  </a:ext>
                </a:extLst>
              </p:cNvPr>
              <p:cNvSpPr txBox="1"/>
              <p:nvPr/>
            </p:nvSpPr>
            <p:spPr>
              <a:xfrm>
                <a:off x="5967767" y="5778026"/>
                <a:ext cx="428322" cy="369332"/>
              </a:xfrm>
              <a:prstGeom prst="rect">
                <a:avLst/>
              </a:prstGeom>
              <a:noFill/>
            </p:spPr>
            <p:txBody>
              <a:bodyPr wrap="none" rtlCol="0">
                <a:spAutoFit/>
              </a:bodyPr>
              <a:lstStyle/>
              <a:p>
                <a:r>
                  <a:rPr lang="en-US" altLang="zh-CN" dirty="0"/>
                  <a:t>20</a:t>
                </a:r>
                <a:endParaRPr lang="zh-CN" altLang="en-US" dirty="0"/>
              </a:p>
            </p:txBody>
          </p:sp>
          <p:sp>
            <p:nvSpPr>
              <p:cNvPr id="62" name="文本框 61">
                <a:extLst>
                  <a:ext uri="{FF2B5EF4-FFF2-40B4-BE49-F238E27FC236}">
                    <a16:creationId xmlns:a16="http://schemas.microsoft.com/office/drawing/2014/main" id="{DED74C0C-A910-42D6-9FEA-4121B2250D26}"/>
                  </a:ext>
                </a:extLst>
              </p:cNvPr>
              <p:cNvSpPr txBox="1"/>
              <p:nvPr/>
            </p:nvSpPr>
            <p:spPr>
              <a:xfrm>
                <a:off x="7877223" y="4844824"/>
                <a:ext cx="473206" cy="369332"/>
              </a:xfrm>
              <a:prstGeom prst="rect">
                <a:avLst/>
              </a:prstGeom>
              <a:noFill/>
            </p:spPr>
            <p:txBody>
              <a:bodyPr wrap="none" rtlCol="0">
                <a:spAutoFit/>
              </a:bodyPr>
              <a:lstStyle/>
              <a:p>
                <a:r>
                  <a:rPr lang="en-US" altLang="zh-CN" dirty="0"/>
                  <a:t>&amp;a</a:t>
                </a:r>
                <a:endParaRPr lang="zh-CN" altLang="en-US" dirty="0"/>
              </a:p>
            </p:txBody>
          </p:sp>
          <p:sp>
            <p:nvSpPr>
              <p:cNvPr id="63" name="文本框 62">
                <a:extLst>
                  <a:ext uri="{FF2B5EF4-FFF2-40B4-BE49-F238E27FC236}">
                    <a16:creationId xmlns:a16="http://schemas.microsoft.com/office/drawing/2014/main" id="{7020754B-32A1-49EF-9471-3C0812C9E462}"/>
                  </a:ext>
                </a:extLst>
              </p:cNvPr>
              <p:cNvSpPr txBox="1"/>
              <p:nvPr/>
            </p:nvSpPr>
            <p:spPr>
              <a:xfrm>
                <a:off x="7876042" y="5798095"/>
                <a:ext cx="490840" cy="369332"/>
              </a:xfrm>
              <a:prstGeom prst="rect">
                <a:avLst/>
              </a:prstGeom>
              <a:noFill/>
            </p:spPr>
            <p:txBody>
              <a:bodyPr wrap="none" rtlCol="0">
                <a:spAutoFit/>
              </a:bodyPr>
              <a:lstStyle/>
              <a:p>
                <a:r>
                  <a:rPr lang="en-US" altLang="zh-CN" dirty="0"/>
                  <a:t>&amp;b</a:t>
                </a:r>
                <a:endParaRPr lang="zh-CN" altLang="en-US" dirty="0"/>
              </a:p>
            </p:txBody>
          </p:sp>
        </p:grpSp>
        <p:cxnSp>
          <p:nvCxnSpPr>
            <p:cNvPr id="73" name="直接箭头连接符 72">
              <a:extLst>
                <a:ext uri="{FF2B5EF4-FFF2-40B4-BE49-F238E27FC236}">
                  <a16:creationId xmlns:a16="http://schemas.microsoft.com/office/drawing/2014/main" id="{757FEC8C-AB4A-443E-82C9-8CFD26C47CDC}"/>
                </a:ext>
              </a:extLst>
            </p:cNvPr>
            <p:cNvCxnSpPr>
              <a:cxnSpLocks/>
              <a:stCxn id="66" idx="1"/>
              <a:endCxn id="70" idx="3"/>
            </p:cNvCxnSpPr>
            <p:nvPr/>
          </p:nvCxnSpPr>
          <p:spPr>
            <a:xfrm flipH="1">
              <a:off x="6409992" y="4583076"/>
              <a:ext cx="812552" cy="0"/>
            </a:xfrm>
            <a:prstGeom prst="straightConnector1">
              <a:avLst/>
            </a:prstGeom>
            <a:ln w="57150">
              <a:tailEnd type="triangle"/>
            </a:ln>
          </p:spPr>
          <p:style>
            <a:lnRef idx="3">
              <a:schemeClr val="accent1"/>
            </a:lnRef>
            <a:fillRef idx="0">
              <a:schemeClr val="accent1"/>
            </a:fillRef>
            <a:effectRef idx="2">
              <a:schemeClr val="accent1"/>
            </a:effectRef>
            <a:fontRef idx="minor">
              <a:schemeClr val="tx1"/>
            </a:fontRef>
          </p:style>
        </p:cxnSp>
        <p:cxnSp>
          <p:nvCxnSpPr>
            <p:cNvPr id="80" name="直接箭头连接符 79">
              <a:extLst>
                <a:ext uri="{FF2B5EF4-FFF2-40B4-BE49-F238E27FC236}">
                  <a16:creationId xmlns:a16="http://schemas.microsoft.com/office/drawing/2014/main" id="{422A4896-4C57-4819-A929-8D400C2FFCE8}"/>
                </a:ext>
              </a:extLst>
            </p:cNvPr>
            <p:cNvCxnSpPr>
              <a:cxnSpLocks/>
            </p:cNvCxnSpPr>
            <p:nvPr/>
          </p:nvCxnSpPr>
          <p:spPr>
            <a:xfrm flipH="1">
              <a:off x="6408210" y="5531600"/>
              <a:ext cx="792303" cy="8921"/>
            </a:xfrm>
            <a:prstGeom prst="straightConnector1">
              <a:avLst/>
            </a:prstGeom>
            <a:ln w="57150">
              <a:tailEnd type="triangle"/>
            </a:ln>
          </p:spPr>
          <p:style>
            <a:lnRef idx="3">
              <a:schemeClr val="accent1"/>
            </a:lnRef>
            <a:fillRef idx="0">
              <a:schemeClr val="accent1"/>
            </a:fillRef>
            <a:effectRef idx="2">
              <a:schemeClr val="accent1"/>
            </a:effectRef>
            <a:fontRef idx="minor">
              <a:schemeClr val="tx1"/>
            </a:fontRef>
          </p:style>
        </p:cxnSp>
      </p:grpSp>
      <p:grpSp>
        <p:nvGrpSpPr>
          <p:cNvPr id="101" name="组合 100">
            <a:extLst>
              <a:ext uri="{FF2B5EF4-FFF2-40B4-BE49-F238E27FC236}">
                <a16:creationId xmlns:a16="http://schemas.microsoft.com/office/drawing/2014/main" id="{7617E07F-6D78-47E8-8479-36598726F975}"/>
              </a:ext>
            </a:extLst>
          </p:cNvPr>
          <p:cNvGrpSpPr/>
          <p:nvPr/>
        </p:nvGrpSpPr>
        <p:grpSpPr>
          <a:xfrm>
            <a:off x="4485574" y="1943813"/>
            <a:ext cx="3858323" cy="2185639"/>
            <a:chOff x="4942491" y="3999340"/>
            <a:chExt cx="3858323" cy="2185639"/>
          </a:xfrm>
        </p:grpSpPr>
        <p:grpSp>
          <p:nvGrpSpPr>
            <p:cNvPr id="102" name="组合 101">
              <a:extLst>
                <a:ext uri="{FF2B5EF4-FFF2-40B4-BE49-F238E27FC236}">
                  <a16:creationId xmlns:a16="http://schemas.microsoft.com/office/drawing/2014/main" id="{4CF23C59-F3D7-4113-A654-6FF72FC9EDB6}"/>
                </a:ext>
              </a:extLst>
            </p:cNvPr>
            <p:cNvGrpSpPr/>
            <p:nvPr/>
          </p:nvGrpSpPr>
          <p:grpSpPr>
            <a:xfrm>
              <a:off x="4942491" y="3999340"/>
              <a:ext cx="3858323" cy="2185639"/>
              <a:chOff x="5260400" y="4443969"/>
              <a:chExt cx="3858323" cy="2185639"/>
            </a:xfrm>
          </p:grpSpPr>
          <p:sp>
            <p:nvSpPr>
              <p:cNvPr id="105" name="矩形 104">
                <a:extLst>
                  <a:ext uri="{FF2B5EF4-FFF2-40B4-BE49-F238E27FC236}">
                    <a16:creationId xmlns:a16="http://schemas.microsoft.com/office/drawing/2014/main" id="{B11906D1-0267-47A0-89F8-6520EE757D09}"/>
                  </a:ext>
                </a:extLst>
              </p:cNvPr>
              <p:cNvSpPr/>
              <p:nvPr/>
            </p:nvSpPr>
            <p:spPr>
              <a:xfrm>
                <a:off x="5260400" y="4443969"/>
                <a:ext cx="3858323" cy="2185639"/>
              </a:xfrm>
              <a:prstGeom prst="rect">
                <a:avLst/>
              </a:prstGeom>
              <a:ln/>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dirty="0"/>
              </a:p>
            </p:txBody>
          </p:sp>
          <p:grpSp>
            <p:nvGrpSpPr>
              <p:cNvPr id="106" name="组合 105">
                <a:extLst>
                  <a:ext uri="{FF2B5EF4-FFF2-40B4-BE49-F238E27FC236}">
                    <a16:creationId xmlns:a16="http://schemas.microsoft.com/office/drawing/2014/main" id="{E4E20DB3-92BF-40CA-869B-3BF7B9FF364E}"/>
                  </a:ext>
                </a:extLst>
              </p:cNvPr>
              <p:cNvGrpSpPr/>
              <p:nvPr/>
            </p:nvGrpSpPr>
            <p:grpSpPr>
              <a:xfrm>
                <a:off x="5309174" y="4807804"/>
                <a:ext cx="1418727" cy="413932"/>
                <a:chOff x="6306837" y="2333728"/>
                <a:chExt cx="1418727" cy="413932"/>
              </a:xfrm>
            </p:grpSpPr>
            <p:sp>
              <p:nvSpPr>
                <p:cNvPr id="120" name="矩形 119">
                  <a:extLst>
                    <a:ext uri="{FF2B5EF4-FFF2-40B4-BE49-F238E27FC236}">
                      <a16:creationId xmlns:a16="http://schemas.microsoft.com/office/drawing/2014/main" id="{799675A0-E564-444D-A7B7-A213ACC0CEC6}"/>
                    </a:ext>
                  </a:extLst>
                </p:cNvPr>
                <p:cNvSpPr/>
                <p:nvPr/>
              </p:nvSpPr>
              <p:spPr>
                <a:xfrm>
                  <a:off x="6628284" y="2359597"/>
                  <a:ext cx="1097280" cy="38806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21" name="文本框 120">
                  <a:extLst>
                    <a:ext uri="{FF2B5EF4-FFF2-40B4-BE49-F238E27FC236}">
                      <a16:creationId xmlns:a16="http://schemas.microsoft.com/office/drawing/2014/main" id="{81E03D46-C895-414B-9B98-AF20EBC63C9A}"/>
                    </a:ext>
                  </a:extLst>
                </p:cNvPr>
                <p:cNvSpPr txBox="1"/>
                <p:nvPr/>
              </p:nvSpPr>
              <p:spPr>
                <a:xfrm>
                  <a:off x="6306837" y="2333728"/>
                  <a:ext cx="240867" cy="369332"/>
                </a:xfrm>
                <a:prstGeom prst="rect">
                  <a:avLst/>
                </a:prstGeom>
                <a:noFill/>
              </p:spPr>
              <p:txBody>
                <a:bodyPr wrap="square" lIns="0" tIns="0" rIns="0" bIns="0" rtlCol="0" anchor="ctr" anchorCtr="1">
                  <a:spAutoFit/>
                </a:bodyPr>
                <a:lstStyle/>
                <a:p>
                  <a:r>
                    <a:rPr lang="en-US" altLang="zh-CN" sz="2400" dirty="0"/>
                    <a:t>a</a:t>
                  </a:r>
                  <a:endParaRPr lang="zh-CN" altLang="en-US" sz="2400" dirty="0"/>
                </a:p>
              </p:txBody>
            </p:sp>
          </p:grpSp>
          <p:grpSp>
            <p:nvGrpSpPr>
              <p:cNvPr id="107" name="组合 106">
                <a:extLst>
                  <a:ext uri="{FF2B5EF4-FFF2-40B4-BE49-F238E27FC236}">
                    <a16:creationId xmlns:a16="http://schemas.microsoft.com/office/drawing/2014/main" id="{7F8141A5-69D9-4360-BEFB-3277B89FBE3A}"/>
                  </a:ext>
                </a:extLst>
              </p:cNvPr>
              <p:cNvGrpSpPr/>
              <p:nvPr/>
            </p:nvGrpSpPr>
            <p:grpSpPr>
              <a:xfrm>
                <a:off x="5309174" y="5741006"/>
                <a:ext cx="1418727" cy="413932"/>
                <a:chOff x="6306837" y="2333728"/>
                <a:chExt cx="1418727" cy="413932"/>
              </a:xfrm>
            </p:grpSpPr>
            <p:sp>
              <p:nvSpPr>
                <p:cNvPr id="118" name="矩形 117">
                  <a:extLst>
                    <a:ext uri="{FF2B5EF4-FFF2-40B4-BE49-F238E27FC236}">
                      <a16:creationId xmlns:a16="http://schemas.microsoft.com/office/drawing/2014/main" id="{D8678B55-D678-438A-84A2-2DC451C28930}"/>
                    </a:ext>
                  </a:extLst>
                </p:cNvPr>
                <p:cNvSpPr/>
                <p:nvPr/>
              </p:nvSpPr>
              <p:spPr>
                <a:xfrm>
                  <a:off x="6628284" y="2359597"/>
                  <a:ext cx="1097280" cy="38806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9" name="文本框 118">
                  <a:extLst>
                    <a:ext uri="{FF2B5EF4-FFF2-40B4-BE49-F238E27FC236}">
                      <a16:creationId xmlns:a16="http://schemas.microsoft.com/office/drawing/2014/main" id="{3E97AFD4-A1EF-4A46-80B4-FAF698AB745B}"/>
                    </a:ext>
                  </a:extLst>
                </p:cNvPr>
                <p:cNvSpPr txBox="1"/>
                <p:nvPr/>
              </p:nvSpPr>
              <p:spPr>
                <a:xfrm>
                  <a:off x="6306837" y="2333728"/>
                  <a:ext cx="240867" cy="369332"/>
                </a:xfrm>
                <a:prstGeom prst="rect">
                  <a:avLst/>
                </a:prstGeom>
                <a:noFill/>
              </p:spPr>
              <p:txBody>
                <a:bodyPr wrap="square" lIns="0" tIns="0" rIns="0" bIns="0" rtlCol="0" anchor="ctr" anchorCtr="1">
                  <a:spAutoFit/>
                </a:bodyPr>
                <a:lstStyle/>
                <a:p>
                  <a:r>
                    <a:rPr lang="en-US" altLang="zh-CN" sz="2400" dirty="0"/>
                    <a:t>b</a:t>
                  </a:r>
                  <a:endParaRPr lang="zh-CN" altLang="en-US" sz="2400" dirty="0"/>
                </a:p>
              </p:txBody>
            </p:sp>
          </p:grpSp>
          <p:grpSp>
            <p:nvGrpSpPr>
              <p:cNvPr id="108" name="组合 107">
                <a:extLst>
                  <a:ext uri="{FF2B5EF4-FFF2-40B4-BE49-F238E27FC236}">
                    <a16:creationId xmlns:a16="http://schemas.microsoft.com/office/drawing/2014/main" id="{89CE8078-04E9-46B8-9E52-56BD76EA5E12}"/>
                  </a:ext>
                </a:extLst>
              </p:cNvPr>
              <p:cNvGrpSpPr/>
              <p:nvPr/>
            </p:nvGrpSpPr>
            <p:grpSpPr>
              <a:xfrm>
                <a:off x="7540453" y="4807804"/>
                <a:ext cx="1475286" cy="413932"/>
                <a:chOff x="7730768" y="3836377"/>
                <a:chExt cx="1475286" cy="413932"/>
              </a:xfrm>
            </p:grpSpPr>
            <p:sp>
              <p:nvSpPr>
                <p:cNvPr id="116" name="矩形 115">
                  <a:extLst>
                    <a:ext uri="{FF2B5EF4-FFF2-40B4-BE49-F238E27FC236}">
                      <a16:creationId xmlns:a16="http://schemas.microsoft.com/office/drawing/2014/main" id="{5FC72C34-F4C5-4A7E-9BE7-09B64329DB84}"/>
                    </a:ext>
                  </a:extLst>
                </p:cNvPr>
                <p:cNvSpPr/>
                <p:nvPr/>
              </p:nvSpPr>
              <p:spPr>
                <a:xfrm>
                  <a:off x="7730768" y="3862246"/>
                  <a:ext cx="1097280" cy="38806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7" name="文本框 116">
                  <a:extLst>
                    <a:ext uri="{FF2B5EF4-FFF2-40B4-BE49-F238E27FC236}">
                      <a16:creationId xmlns:a16="http://schemas.microsoft.com/office/drawing/2014/main" id="{3D5AACB4-8160-4BF5-B108-E6AA6AE466EA}"/>
                    </a:ext>
                  </a:extLst>
                </p:cNvPr>
                <p:cNvSpPr txBox="1"/>
                <p:nvPr/>
              </p:nvSpPr>
              <p:spPr>
                <a:xfrm>
                  <a:off x="8867820" y="3836377"/>
                  <a:ext cx="338234" cy="369332"/>
                </a:xfrm>
                <a:prstGeom prst="rect">
                  <a:avLst/>
                </a:prstGeom>
                <a:noFill/>
              </p:spPr>
              <p:txBody>
                <a:bodyPr wrap="none" lIns="0" tIns="0" rIns="0" bIns="0" rtlCol="0" anchor="ctr" anchorCtr="1">
                  <a:spAutoFit/>
                </a:bodyPr>
                <a:lstStyle/>
                <a:p>
                  <a:r>
                    <a:rPr lang="en-US" altLang="zh-CN" sz="2400" dirty="0"/>
                    <a:t>p1</a:t>
                  </a:r>
                  <a:endParaRPr lang="zh-CN" altLang="en-US" sz="2400" dirty="0"/>
                </a:p>
              </p:txBody>
            </p:sp>
          </p:grpSp>
          <p:grpSp>
            <p:nvGrpSpPr>
              <p:cNvPr id="109" name="组合 108">
                <a:extLst>
                  <a:ext uri="{FF2B5EF4-FFF2-40B4-BE49-F238E27FC236}">
                    <a16:creationId xmlns:a16="http://schemas.microsoft.com/office/drawing/2014/main" id="{28ED1129-1589-4ACD-9148-14D1DB53DD3E}"/>
                  </a:ext>
                </a:extLst>
              </p:cNvPr>
              <p:cNvGrpSpPr/>
              <p:nvPr/>
            </p:nvGrpSpPr>
            <p:grpSpPr>
              <a:xfrm>
                <a:off x="7520204" y="5753940"/>
                <a:ext cx="1475286" cy="413932"/>
                <a:chOff x="7730768" y="3836377"/>
                <a:chExt cx="1475286" cy="413932"/>
              </a:xfrm>
            </p:grpSpPr>
            <p:sp>
              <p:nvSpPr>
                <p:cNvPr id="114" name="矩形 113">
                  <a:extLst>
                    <a:ext uri="{FF2B5EF4-FFF2-40B4-BE49-F238E27FC236}">
                      <a16:creationId xmlns:a16="http://schemas.microsoft.com/office/drawing/2014/main" id="{B4A49F9A-AF3B-475A-AE91-546C5113AF80}"/>
                    </a:ext>
                  </a:extLst>
                </p:cNvPr>
                <p:cNvSpPr/>
                <p:nvPr/>
              </p:nvSpPr>
              <p:spPr>
                <a:xfrm>
                  <a:off x="7730768" y="3862246"/>
                  <a:ext cx="1097280" cy="38806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5" name="文本框 114">
                  <a:extLst>
                    <a:ext uri="{FF2B5EF4-FFF2-40B4-BE49-F238E27FC236}">
                      <a16:creationId xmlns:a16="http://schemas.microsoft.com/office/drawing/2014/main" id="{4B1EC05B-4DD5-4B03-A5A2-81DEBC332DAD}"/>
                    </a:ext>
                  </a:extLst>
                </p:cNvPr>
                <p:cNvSpPr txBox="1"/>
                <p:nvPr/>
              </p:nvSpPr>
              <p:spPr>
                <a:xfrm>
                  <a:off x="8867820" y="3836377"/>
                  <a:ext cx="338234" cy="369332"/>
                </a:xfrm>
                <a:prstGeom prst="rect">
                  <a:avLst/>
                </a:prstGeom>
                <a:noFill/>
              </p:spPr>
              <p:txBody>
                <a:bodyPr wrap="none" lIns="0" tIns="0" rIns="0" bIns="0" rtlCol="0" anchor="ctr" anchorCtr="1">
                  <a:spAutoFit/>
                </a:bodyPr>
                <a:lstStyle/>
                <a:p>
                  <a:r>
                    <a:rPr lang="en-US" altLang="zh-CN" sz="2400" dirty="0"/>
                    <a:t>p2</a:t>
                  </a:r>
                  <a:endParaRPr lang="zh-CN" altLang="en-US" sz="2400" dirty="0"/>
                </a:p>
              </p:txBody>
            </p:sp>
          </p:grpSp>
          <p:sp>
            <p:nvSpPr>
              <p:cNvPr id="110" name="文本框 109">
                <a:extLst>
                  <a:ext uri="{FF2B5EF4-FFF2-40B4-BE49-F238E27FC236}">
                    <a16:creationId xmlns:a16="http://schemas.microsoft.com/office/drawing/2014/main" id="{5FC95CBF-5678-40BC-987A-67853097390F}"/>
                  </a:ext>
                </a:extLst>
              </p:cNvPr>
              <p:cNvSpPr txBox="1"/>
              <p:nvPr/>
            </p:nvSpPr>
            <p:spPr>
              <a:xfrm>
                <a:off x="5967765" y="4855976"/>
                <a:ext cx="428322" cy="369332"/>
              </a:xfrm>
              <a:prstGeom prst="rect">
                <a:avLst/>
              </a:prstGeom>
              <a:noFill/>
            </p:spPr>
            <p:txBody>
              <a:bodyPr wrap="none" rtlCol="0">
                <a:spAutoFit/>
              </a:bodyPr>
              <a:lstStyle/>
              <a:p>
                <a:r>
                  <a:rPr lang="en-US" altLang="zh-CN" dirty="0"/>
                  <a:t>20</a:t>
                </a:r>
                <a:endParaRPr lang="zh-CN" altLang="en-US" dirty="0"/>
              </a:p>
            </p:txBody>
          </p:sp>
          <p:sp>
            <p:nvSpPr>
              <p:cNvPr id="111" name="文本框 110">
                <a:extLst>
                  <a:ext uri="{FF2B5EF4-FFF2-40B4-BE49-F238E27FC236}">
                    <a16:creationId xmlns:a16="http://schemas.microsoft.com/office/drawing/2014/main" id="{9A711351-2CAD-4C83-9F52-3420C7811FF9}"/>
                  </a:ext>
                </a:extLst>
              </p:cNvPr>
              <p:cNvSpPr txBox="1"/>
              <p:nvPr/>
            </p:nvSpPr>
            <p:spPr>
              <a:xfrm>
                <a:off x="5967767" y="5778026"/>
                <a:ext cx="428322" cy="369332"/>
              </a:xfrm>
              <a:prstGeom prst="rect">
                <a:avLst/>
              </a:prstGeom>
              <a:noFill/>
            </p:spPr>
            <p:txBody>
              <a:bodyPr wrap="none" rtlCol="0">
                <a:spAutoFit/>
              </a:bodyPr>
              <a:lstStyle/>
              <a:p>
                <a:r>
                  <a:rPr lang="en-US" altLang="zh-CN" dirty="0"/>
                  <a:t>20</a:t>
                </a:r>
                <a:endParaRPr lang="zh-CN" altLang="en-US" dirty="0"/>
              </a:p>
            </p:txBody>
          </p:sp>
          <p:sp>
            <p:nvSpPr>
              <p:cNvPr id="112" name="文本框 111">
                <a:extLst>
                  <a:ext uri="{FF2B5EF4-FFF2-40B4-BE49-F238E27FC236}">
                    <a16:creationId xmlns:a16="http://schemas.microsoft.com/office/drawing/2014/main" id="{FC3E8A53-0872-47D7-9FD1-B1C8B1502190}"/>
                  </a:ext>
                </a:extLst>
              </p:cNvPr>
              <p:cNvSpPr txBox="1"/>
              <p:nvPr/>
            </p:nvSpPr>
            <p:spPr>
              <a:xfrm>
                <a:off x="7877223" y="4844824"/>
                <a:ext cx="473206" cy="369332"/>
              </a:xfrm>
              <a:prstGeom prst="rect">
                <a:avLst/>
              </a:prstGeom>
              <a:noFill/>
            </p:spPr>
            <p:txBody>
              <a:bodyPr wrap="none" rtlCol="0">
                <a:spAutoFit/>
              </a:bodyPr>
              <a:lstStyle/>
              <a:p>
                <a:r>
                  <a:rPr lang="en-US" altLang="zh-CN" dirty="0"/>
                  <a:t>&amp;a</a:t>
                </a:r>
                <a:endParaRPr lang="zh-CN" altLang="en-US" dirty="0"/>
              </a:p>
            </p:txBody>
          </p:sp>
          <p:sp>
            <p:nvSpPr>
              <p:cNvPr id="113" name="文本框 112">
                <a:extLst>
                  <a:ext uri="{FF2B5EF4-FFF2-40B4-BE49-F238E27FC236}">
                    <a16:creationId xmlns:a16="http://schemas.microsoft.com/office/drawing/2014/main" id="{345AD944-14F4-4C2C-85CB-73890A63802F}"/>
                  </a:ext>
                </a:extLst>
              </p:cNvPr>
              <p:cNvSpPr txBox="1"/>
              <p:nvPr/>
            </p:nvSpPr>
            <p:spPr>
              <a:xfrm>
                <a:off x="7876042" y="5798095"/>
                <a:ext cx="490840" cy="369332"/>
              </a:xfrm>
              <a:prstGeom prst="rect">
                <a:avLst/>
              </a:prstGeom>
              <a:noFill/>
            </p:spPr>
            <p:txBody>
              <a:bodyPr wrap="none" rtlCol="0">
                <a:spAutoFit/>
              </a:bodyPr>
              <a:lstStyle/>
              <a:p>
                <a:r>
                  <a:rPr lang="en-US" altLang="zh-CN" dirty="0"/>
                  <a:t>&amp;b</a:t>
                </a:r>
                <a:endParaRPr lang="zh-CN" altLang="en-US" dirty="0"/>
              </a:p>
            </p:txBody>
          </p:sp>
        </p:grpSp>
        <p:cxnSp>
          <p:nvCxnSpPr>
            <p:cNvPr id="103" name="直接箭头连接符 102">
              <a:extLst>
                <a:ext uri="{FF2B5EF4-FFF2-40B4-BE49-F238E27FC236}">
                  <a16:creationId xmlns:a16="http://schemas.microsoft.com/office/drawing/2014/main" id="{94A3241A-337D-4A10-B6D4-D9F76D279112}"/>
                </a:ext>
              </a:extLst>
            </p:cNvPr>
            <p:cNvCxnSpPr>
              <a:cxnSpLocks/>
              <a:stCxn id="116" idx="1"/>
              <a:endCxn id="120" idx="3"/>
            </p:cNvCxnSpPr>
            <p:nvPr/>
          </p:nvCxnSpPr>
          <p:spPr>
            <a:xfrm flipH="1">
              <a:off x="6409992" y="4583076"/>
              <a:ext cx="812552" cy="0"/>
            </a:xfrm>
            <a:prstGeom prst="straightConnector1">
              <a:avLst/>
            </a:prstGeom>
            <a:ln w="57150">
              <a:tailEnd type="triangle"/>
            </a:ln>
          </p:spPr>
          <p:style>
            <a:lnRef idx="3">
              <a:schemeClr val="accent1"/>
            </a:lnRef>
            <a:fillRef idx="0">
              <a:schemeClr val="accent1"/>
            </a:fillRef>
            <a:effectRef idx="2">
              <a:schemeClr val="accent1"/>
            </a:effectRef>
            <a:fontRef idx="minor">
              <a:schemeClr val="tx1"/>
            </a:fontRef>
          </p:style>
        </p:cxnSp>
        <p:cxnSp>
          <p:nvCxnSpPr>
            <p:cNvPr id="104" name="直接箭头连接符 103">
              <a:extLst>
                <a:ext uri="{FF2B5EF4-FFF2-40B4-BE49-F238E27FC236}">
                  <a16:creationId xmlns:a16="http://schemas.microsoft.com/office/drawing/2014/main" id="{DD28617B-AAEB-46BF-B1C2-7F883433AF3D}"/>
                </a:ext>
              </a:extLst>
            </p:cNvPr>
            <p:cNvCxnSpPr>
              <a:cxnSpLocks/>
            </p:cNvCxnSpPr>
            <p:nvPr/>
          </p:nvCxnSpPr>
          <p:spPr>
            <a:xfrm flipH="1">
              <a:off x="6408210" y="5531600"/>
              <a:ext cx="792303" cy="8921"/>
            </a:xfrm>
            <a:prstGeom prst="straightConnector1">
              <a:avLst/>
            </a:prstGeom>
            <a:ln w="57150">
              <a:tailEnd type="triangle"/>
            </a:ln>
          </p:spPr>
          <p:style>
            <a:lnRef idx="3">
              <a:schemeClr val="accent1"/>
            </a:lnRef>
            <a:fillRef idx="0">
              <a:schemeClr val="accent1"/>
            </a:fillRef>
            <a:effectRef idx="2">
              <a:schemeClr val="accent1"/>
            </a:effectRef>
            <a:fontRef idx="minor">
              <a:schemeClr val="tx1"/>
            </a:fontRef>
          </p:style>
        </p:cxnSp>
      </p:grpSp>
      <p:grpSp>
        <p:nvGrpSpPr>
          <p:cNvPr id="122" name="组合 121">
            <a:extLst>
              <a:ext uri="{FF2B5EF4-FFF2-40B4-BE49-F238E27FC236}">
                <a16:creationId xmlns:a16="http://schemas.microsoft.com/office/drawing/2014/main" id="{36EAFC99-7A8D-48DE-AD66-FE4836F38658}"/>
              </a:ext>
            </a:extLst>
          </p:cNvPr>
          <p:cNvGrpSpPr/>
          <p:nvPr/>
        </p:nvGrpSpPr>
        <p:grpSpPr>
          <a:xfrm>
            <a:off x="4485492" y="1945706"/>
            <a:ext cx="3858323" cy="2185639"/>
            <a:chOff x="4942491" y="3999340"/>
            <a:chExt cx="3858323" cy="2185639"/>
          </a:xfrm>
        </p:grpSpPr>
        <p:grpSp>
          <p:nvGrpSpPr>
            <p:cNvPr id="123" name="组合 122">
              <a:extLst>
                <a:ext uri="{FF2B5EF4-FFF2-40B4-BE49-F238E27FC236}">
                  <a16:creationId xmlns:a16="http://schemas.microsoft.com/office/drawing/2014/main" id="{7F8CE9AE-E881-424B-97CD-634F982CB564}"/>
                </a:ext>
              </a:extLst>
            </p:cNvPr>
            <p:cNvGrpSpPr/>
            <p:nvPr/>
          </p:nvGrpSpPr>
          <p:grpSpPr>
            <a:xfrm>
              <a:off x="4942491" y="3999340"/>
              <a:ext cx="3858323" cy="2185639"/>
              <a:chOff x="5260400" y="4443969"/>
              <a:chExt cx="3858323" cy="2185639"/>
            </a:xfrm>
          </p:grpSpPr>
          <p:sp>
            <p:nvSpPr>
              <p:cNvPr id="126" name="矩形 125">
                <a:extLst>
                  <a:ext uri="{FF2B5EF4-FFF2-40B4-BE49-F238E27FC236}">
                    <a16:creationId xmlns:a16="http://schemas.microsoft.com/office/drawing/2014/main" id="{2E9BA28F-682C-4E4B-9BD4-F748589671DD}"/>
                  </a:ext>
                </a:extLst>
              </p:cNvPr>
              <p:cNvSpPr/>
              <p:nvPr/>
            </p:nvSpPr>
            <p:spPr>
              <a:xfrm>
                <a:off x="5260400" y="4443969"/>
                <a:ext cx="3858323" cy="2185639"/>
              </a:xfrm>
              <a:prstGeom prst="rect">
                <a:avLst/>
              </a:prstGeom>
              <a:ln/>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dirty="0"/>
              </a:p>
            </p:txBody>
          </p:sp>
          <p:grpSp>
            <p:nvGrpSpPr>
              <p:cNvPr id="127" name="组合 126">
                <a:extLst>
                  <a:ext uri="{FF2B5EF4-FFF2-40B4-BE49-F238E27FC236}">
                    <a16:creationId xmlns:a16="http://schemas.microsoft.com/office/drawing/2014/main" id="{1D7CF889-0EDD-41E6-AAC6-0B6E0E2E4D3A}"/>
                  </a:ext>
                </a:extLst>
              </p:cNvPr>
              <p:cNvGrpSpPr/>
              <p:nvPr/>
            </p:nvGrpSpPr>
            <p:grpSpPr>
              <a:xfrm>
                <a:off x="5309174" y="4807804"/>
                <a:ext cx="1418727" cy="413932"/>
                <a:chOff x="6306837" y="2333728"/>
                <a:chExt cx="1418727" cy="413932"/>
              </a:xfrm>
            </p:grpSpPr>
            <p:sp>
              <p:nvSpPr>
                <p:cNvPr id="141" name="矩形 140">
                  <a:extLst>
                    <a:ext uri="{FF2B5EF4-FFF2-40B4-BE49-F238E27FC236}">
                      <a16:creationId xmlns:a16="http://schemas.microsoft.com/office/drawing/2014/main" id="{915C6A18-539A-410E-A428-FFD90EB79584}"/>
                    </a:ext>
                  </a:extLst>
                </p:cNvPr>
                <p:cNvSpPr/>
                <p:nvPr/>
              </p:nvSpPr>
              <p:spPr>
                <a:xfrm>
                  <a:off x="6628284" y="2359597"/>
                  <a:ext cx="1097280" cy="38806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42" name="文本框 141">
                  <a:extLst>
                    <a:ext uri="{FF2B5EF4-FFF2-40B4-BE49-F238E27FC236}">
                      <a16:creationId xmlns:a16="http://schemas.microsoft.com/office/drawing/2014/main" id="{82F90D4C-3900-493A-A5D8-08C13218636E}"/>
                    </a:ext>
                  </a:extLst>
                </p:cNvPr>
                <p:cNvSpPr txBox="1"/>
                <p:nvPr/>
              </p:nvSpPr>
              <p:spPr>
                <a:xfrm>
                  <a:off x="6306837" y="2333728"/>
                  <a:ext cx="240867" cy="369332"/>
                </a:xfrm>
                <a:prstGeom prst="rect">
                  <a:avLst/>
                </a:prstGeom>
                <a:noFill/>
              </p:spPr>
              <p:txBody>
                <a:bodyPr wrap="square" lIns="0" tIns="0" rIns="0" bIns="0" rtlCol="0" anchor="ctr" anchorCtr="1">
                  <a:spAutoFit/>
                </a:bodyPr>
                <a:lstStyle/>
                <a:p>
                  <a:r>
                    <a:rPr lang="en-US" altLang="zh-CN" sz="2400" dirty="0"/>
                    <a:t>a</a:t>
                  </a:r>
                  <a:endParaRPr lang="zh-CN" altLang="en-US" sz="2400" dirty="0"/>
                </a:p>
              </p:txBody>
            </p:sp>
          </p:grpSp>
          <p:grpSp>
            <p:nvGrpSpPr>
              <p:cNvPr id="128" name="组合 127">
                <a:extLst>
                  <a:ext uri="{FF2B5EF4-FFF2-40B4-BE49-F238E27FC236}">
                    <a16:creationId xmlns:a16="http://schemas.microsoft.com/office/drawing/2014/main" id="{C88A3D0F-FE6C-4B26-9C65-6803A5F607A9}"/>
                  </a:ext>
                </a:extLst>
              </p:cNvPr>
              <p:cNvGrpSpPr/>
              <p:nvPr/>
            </p:nvGrpSpPr>
            <p:grpSpPr>
              <a:xfrm>
                <a:off x="5309174" y="5741006"/>
                <a:ext cx="1418727" cy="413932"/>
                <a:chOff x="6306837" y="2333728"/>
                <a:chExt cx="1418727" cy="413932"/>
              </a:xfrm>
            </p:grpSpPr>
            <p:sp>
              <p:nvSpPr>
                <p:cNvPr id="139" name="矩形 138">
                  <a:extLst>
                    <a:ext uri="{FF2B5EF4-FFF2-40B4-BE49-F238E27FC236}">
                      <a16:creationId xmlns:a16="http://schemas.microsoft.com/office/drawing/2014/main" id="{DCA70FCB-81CA-4DDC-961C-6C9CFF18DEEA}"/>
                    </a:ext>
                  </a:extLst>
                </p:cNvPr>
                <p:cNvSpPr/>
                <p:nvPr/>
              </p:nvSpPr>
              <p:spPr>
                <a:xfrm>
                  <a:off x="6628284" y="2359597"/>
                  <a:ext cx="1097280" cy="38806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40" name="文本框 139">
                  <a:extLst>
                    <a:ext uri="{FF2B5EF4-FFF2-40B4-BE49-F238E27FC236}">
                      <a16:creationId xmlns:a16="http://schemas.microsoft.com/office/drawing/2014/main" id="{CE0635EE-41AE-4967-88AF-B61BE3186132}"/>
                    </a:ext>
                  </a:extLst>
                </p:cNvPr>
                <p:cNvSpPr txBox="1"/>
                <p:nvPr/>
              </p:nvSpPr>
              <p:spPr>
                <a:xfrm>
                  <a:off x="6306837" y="2333728"/>
                  <a:ext cx="240867" cy="369332"/>
                </a:xfrm>
                <a:prstGeom prst="rect">
                  <a:avLst/>
                </a:prstGeom>
                <a:noFill/>
              </p:spPr>
              <p:txBody>
                <a:bodyPr wrap="square" lIns="0" tIns="0" rIns="0" bIns="0" rtlCol="0" anchor="ctr" anchorCtr="1">
                  <a:spAutoFit/>
                </a:bodyPr>
                <a:lstStyle/>
                <a:p>
                  <a:r>
                    <a:rPr lang="en-US" altLang="zh-CN" sz="2400" dirty="0"/>
                    <a:t>b</a:t>
                  </a:r>
                  <a:endParaRPr lang="zh-CN" altLang="en-US" sz="2400" dirty="0"/>
                </a:p>
              </p:txBody>
            </p:sp>
          </p:grpSp>
          <p:grpSp>
            <p:nvGrpSpPr>
              <p:cNvPr id="129" name="组合 128">
                <a:extLst>
                  <a:ext uri="{FF2B5EF4-FFF2-40B4-BE49-F238E27FC236}">
                    <a16:creationId xmlns:a16="http://schemas.microsoft.com/office/drawing/2014/main" id="{7ABDFEA8-BF37-4A7E-86C5-3A27B6999A2D}"/>
                  </a:ext>
                </a:extLst>
              </p:cNvPr>
              <p:cNvGrpSpPr/>
              <p:nvPr/>
            </p:nvGrpSpPr>
            <p:grpSpPr>
              <a:xfrm>
                <a:off x="7540453" y="4807804"/>
                <a:ext cx="1475286" cy="413932"/>
                <a:chOff x="7730768" y="3836377"/>
                <a:chExt cx="1475286" cy="413932"/>
              </a:xfrm>
            </p:grpSpPr>
            <p:sp>
              <p:nvSpPr>
                <p:cNvPr id="137" name="矩形 136">
                  <a:extLst>
                    <a:ext uri="{FF2B5EF4-FFF2-40B4-BE49-F238E27FC236}">
                      <a16:creationId xmlns:a16="http://schemas.microsoft.com/office/drawing/2014/main" id="{3087840A-C198-4EA5-B095-1A6D457001AB}"/>
                    </a:ext>
                  </a:extLst>
                </p:cNvPr>
                <p:cNvSpPr/>
                <p:nvPr/>
              </p:nvSpPr>
              <p:spPr>
                <a:xfrm>
                  <a:off x="7730768" y="3862246"/>
                  <a:ext cx="1097280" cy="38806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38" name="文本框 137">
                  <a:extLst>
                    <a:ext uri="{FF2B5EF4-FFF2-40B4-BE49-F238E27FC236}">
                      <a16:creationId xmlns:a16="http://schemas.microsoft.com/office/drawing/2014/main" id="{D68B1385-5D32-4D91-9315-97C852CDAB32}"/>
                    </a:ext>
                  </a:extLst>
                </p:cNvPr>
                <p:cNvSpPr txBox="1"/>
                <p:nvPr/>
              </p:nvSpPr>
              <p:spPr>
                <a:xfrm>
                  <a:off x="8867820" y="3836377"/>
                  <a:ext cx="338234" cy="369332"/>
                </a:xfrm>
                <a:prstGeom prst="rect">
                  <a:avLst/>
                </a:prstGeom>
                <a:noFill/>
              </p:spPr>
              <p:txBody>
                <a:bodyPr wrap="none" lIns="0" tIns="0" rIns="0" bIns="0" rtlCol="0" anchor="ctr" anchorCtr="1">
                  <a:spAutoFit/>
                </a:bodyPr>
                <a:lstStyle/>
                <a:p>
                  <a:r>
                    <a:rPr lang="en-US" altLang="zh-CN" sz="2400" dirty="0"/>
                    <a:t>p1</a:t>
                  </a:r>
                  <a:endParaRPr lang="zh-CN" altLang="en-US" sz="2400" dirty="0"/>
                </a:p>
              </p:txBody>
            </p:sp>
          </p:grpSp>
          <p:grpSp>
            <p:nvGrpSpPr>
              <p:cNvPr id="130" name="组合 129">
                <a:extLst>
                  <a:ext uri="{FF2B5EF4-FFF2-40B4-BE49-F238E27FC236}">
                    <a16:creationId xmlns:a16="http://schemas.microsoft.com/office/drawing/2014/main" id="{72F4EF39-6577-4FFD-A487-8F061C8E5026}"/>
                  </a:ext>
                </a:extLst>
              </p:cNvPr>
              <p:cNvGrpSpPr/>
              <p:nvPr/>
            </p:nvGrpSpPr>
            <p:grpSpPr>
              <a:xfrm>
                <a:off x="7520204" y="5753940"/>
                <a:ext cx="1475286" cy="413932"/>
                <a:chOff x="7730768" y="3836377"/>
                <a:chExt cx="1475286" cy="413932"/>
              </a:xfrm>
            </p:grpSpPr>
            <p:sp>
              <p:nvSpPr>
                <p:cNvPr id="135" name="矩形 134">
                  <a:extLst>
                    <a:ext uri="{FF2B5EF4-FFF2-40B4-BE49-F238E27FC236}">
                      <a16:creationId xmlns:a16="http://schemas.microsoft.com/office/drawing/2014/main" id="{B6C96659-F233-4BE0-BE20-F66859D13153}"/>
                    </a:ext>
                  </a:extLst>
                </p:cNvPr>
                <p:cNvSpPr/>
                <p:nvPr/>
              </p:nvSpPr>
              <p:spPr>
                <a:xfrm>
                  <a:off x="7730768" y="3862246"/>
                  <a:ext cx="1097280" cy="38806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36" name="文本框 135">
                  <a:extLst>
                    <a:ext uri="{FF2B5EF4-FFF2-40B4-BE49-F238E27FC236}">
                      <a16:creationId xmlns:a16="http://schemas.microsoft.com/office/drawing/2014/main" id="{AADA905D-DB8E-4596-903E-037188E02AE5}"/>
                    </a:ext>
                  </a:extLst>
                </p:cNvPr>
                <p:cNvSpPr txBox="1"/>
                <p:nvPr/>
              </p:nvSpPr>
              <p:spPr>
                <a:xfrm>
                  <a:off x="8867820" y="3836377"/>
                  <a:ext cx="338234" cy="369332"/>
                </a:xfrm>
                <a:prstGeom prst="rect">
                  <a:avLst/>
                </a:prstGeom>
                <a:noFill/>
              </p:spPr>
              <p:txBody>
                <a:bodyPr wrap="none" lIns="0" tIns="0" rIns="0" bIns="0" rtlCol="0" anchor="ctr" anchorCtr="1">
                  <a:spAutoFit/>
                </a:bodyPr>
                <a:lstStyle/>
                <a:p>
                  <a:r>
                    <a:rPr lang="en-US" altLang="zh-CN" sz="2400" dirty="0"/>
                    <a:t>p2</a:t>
                  </a:r>
                  <a:endParaRPr lang="zh-CN" altLang="en-US" sz="2400" dirty="0"/>
                </a:p>
              </p:txBody>
            </p:sp>
          </p:grpSp>
          <p:sp>
            <p:nvSpPr>
              <p:cNvPr id="131" name="文本框 130">
                <a:extLst>
                  <a:ext uri="{FF2B5EF4-FFF2-40B4-BE49-F238E27FC236}">
                    <a16:creationId xmlns:a16="http://schemas.microsoft.com/office/drawing/2014/main" id="{F837E472-A5E2-4CA7-B745-0A8F54FFB21F}"/>
                  </a:ext>
                </a:extLst>
              </p:cNvPr>
              <p:cNvSpPr txBox="1"/>
              <p:nvPr/>
            </p:nvSpPr>
            <p:spPr>
              <a:xfrm>
                <a:off x="5967765" y="4855976"/>
                <a:ext cx="428322" cy="369332"/>
              </a:xfrm>
              <a:prstGeom prst="rect">
                <a:avLst/>
              </a:prstGeom>
              <a:noFill/>
            </p:spPr>
            <p:txBody>
              <a:bodyPr wrap="none" rtlCol="0">
                <a:spAutoFit/>
              </a:bodyPr>
              <a:lstStyle/>
              <a:p>
                <a:r>
                  <a:rPr lang="en-US" altLang="zh-CN" dirty="0"/>
                  <a:t>20</a:t>
                </a:r>
                <a:endParaRPr lang="zh-CN" altLang="en-US" dirty="0"/>
              </a:p>
            </p:txBody>
          </p:sp>
          <p:sp>
            <p:nvSpPr>
              <p:cNvPr id="132" name="文本框 131">
                <a:extLst>
                  <a:ext uri="{FF2B5EF4-FFF2-40B4-BE49-F238E27FC236}">
                    <a16:creationId xmlns:a16="http://schemas.microsoft.com/office/drawing/2014/main" id="{20792646-6D02-4838-AB29-02EC755242F8}"/>
                  </a:ext>
                </a:extLst>
              </p:cNvPr>
              <p:cNvSpPr txBox="1"/>
              <p:nvPr/>
            </p:nvSpPr>
            <p:spPr>
              <a:xfrm>
                <a:off x="5967767" y="5778026"/>
                <a:ext cx="428322" cy="369332"/>
              </a:xfrm>
              <a:prstGeom prst="rect">
                <a:avLst/>
              </a:prstGeom>
              <a:noFill/>
            </p:spPr>
            <p:txBody>
              <a:bodyPr wrap="none" rtlCol="0">
                <a:spAutoFit/>
              </a:bodyPr>
              <a:lstStyle/>
              <a:p>
                <a:r>
                  <a:rPr lang="en-US" altLang="zh-CN" dirty="0"/>
                  <a:t>20</a:t>
                </a:r>
                <a:endParaRPr lang="zh-CN" altLang="en-US" dirty="0"/>
              </a:p>
            </p:txBody>
          </p:sp>
          <p:sp>
            <p:nvSpPr>
              <p:cNvPr id="133" name="文本框 132">
                <a:extLst>
                  <a:ext uri="{FF2B5EF4-FFF2-40B4-BE49-F238E27FC236}">
                    <a16:creationId xmlns:a16="http://schemas.microsoft.com/office/drawing/2014/main" id="{58C92E2B-E1C0-4BE1-B616-A079467B8A1E}"/>
                  </a:ext>
                </a:extLst>
              </p:cNvPr>
              <p:cNvSpPr txBox="1"/>
              <p:nvPr/>
            </p:nvSpPr>
            <p:spPr>
              <a:xfrm>
                <a:off x="7877223" y="4844824"/>
                <a:ext cx="473206" cy="369332"/>
              </a:xfrm>
              <a:prstGeom prst="rect">
                <a:avLst/>
              </a:prstGeom>
              <a:noFill/>
            </p:spPr>
            <p:txBody>
              <a:bodyPr wrap="none" rtlCol="0">
                <a:spAutoFit/>
              </a:bodyPr>
              <a:lstStyle/>
              <a:p>
                <a:r>
                  <a:rPr lang="en-US" altLang="zh-CN" dirty="0"/>
                  <a:t>&amp;a</a:t>
                </a:r>
                <a:endParaRPr lang="zh-CN" altLang="en-US" dirty="0"/>
              </a:p>
            </p:txBody>
          </p:sp>
          <p:sp>
            <p:nvSpPr>
              <p:cNvPr id="134" name="文本框 133">
                <a:extLst>
                  <a:ext uri="{FF2B5EF4-FFF2-40B4-BE49-F238E27FC236}">
                    <a16:creationId xmlns:a16="http://schemas.microsoft.com/office/drawing/2014/main" id="{175A5FF0-B40D-4238-BF4B-94FFFD703058}"/>
                  </a:ext>
                </a:extLst>
              </p:cNvPr>
              <p:cNvSpPr txBox="1"/>
              <p:nvPr/>
            </p:nvSpPr>
            <p:spPr>
              <a:xfrm>
                <a:off x="7876042" y="5798095"/>
                <a:ext cx="490840" cy="369332"/>
              </a:xfrm>
              <a:prstGeom prst="rect">
                <a:avLst/>
              </a:prstGeom>
              <a:noFill/>
            </p:spPr>
            <p:txBody>
              <a:bodyPr wrap="none" rtlCol="0">
                <a:spAutoFit/>
              </a:bodyPr>
              <a:lstStyle/>
              <a:p>
                <a:r>
                  <a:rPr lang="en-US" altLang="zh-CN" dirty="0"/>
                  <a:t>&amp;b</a:t>
                </a:r>
                <a:endParaRPr lang="zh-CN" altLang="en-US" dirty="0"/>
              </a:p>
            </p:txBody>
          </p:sp>
        </p:grpSp>
        <p:cxnSp>
          <p:nvCxnSpPr>
            <p:cNvPr id="124" name="直接箭头连接符 123">
              <a:extLst>
                <a:ext uri="{FF2B5EF4-FFF2-40B4-BE49-F238E27FC236}">
                  <a16:creationId xmlns:a16="http://schemas.microsoft.com/office/drawing/2014/main" id="{089E5DF2-A51F-4F23-9205-7009BBCF853E}"/>
                </a:ext>
              </a:extLst>
            </p:cNvPr>
            <p:cNvCxnSpPr>
              <a:cxnSpLocks/>
              <a:stCxn id="137" idx="1"/>
            </p:cNvCxnSpPr>
            <p:nvPr/>
          </p:nvCxnSpPr>
          <p:spPr>
            <a:xfrm flipH="1">
              <a:off x="6435901" y="4583076"/>
              <a:ext cx="786643" cy="897967"/>
            </a:xfrm>
            <a:prstGeom prst="straightConnector1">
              <a:avLst/>
            </a:prstGeom>
            <a:ln w="57150">
              <a:tailEnd type="triangle"/>
            </a:ln>
          </p:spPr>
          <p:style>
            <a:lnRef idx="3">
              <a:schemeClr val="accent1"/>
            </a:lnRef>
            <a:fillRef idx="0">
              <a:schemeClr val="accent1"/>
            </a:fillRef>
            <a:effectRef idx="2">
              <a:schemeClr val="accent1"/>
            </a:effectRef>
            <a:fontRef idx="minor">
              <a:schemeClr val="tx1"/>
            </a:fontRef>
          </p:style>
        </p:cxnSp>
        <p:cxnSp>
          <p:nvCxnSpPr>
            <p:cNvPr id="125" name="直接箭头连接符 124">
              <a:extLst>
                <a:ext uri="{FF2B5EF4-FFF2-40B4-BE49-F238E27FC236}">
                  <a16:creationId xmlns:a16="http://schemas.microsoft.com/office/drawing/2014/main" id="{33CFD06A-F0FA-4B98-BE78-6B9EA2792F03}"/>
                </a:ext>
              </a:extLst>
            </p:cNvPr>
            <p:cNvCxnSpPr>
              <a:cxnSpLocks/>
            </p:cNvCxnSpPr>
            <p:nvPr/>
          </p:nvCxnSpPr>
          <p:spPr>
            <a:xfrm flipH="1">
              <a:off x="6408210" y="5531600"/>
              <a:ext cx="792303" cy="8921"/>
            </a:xfrm>
            <a:prstGeom prst="straightConnector1">
              <a:avLst/>
            </a:prstGeom>
            <a:ln w="57150">
              <a:tailEnd type="triangle"/>
            </a:ln>
          </p:spPr>
          <p:style>
            <a:lnRef idx="3">
              <a:schemeClr val="accent1"/>
            </a:lnRef>
            <a:fillRef idx="0">
              <a:schemeClr val="accent1"/>
            </a:fillRef>
            <a:effectRef idx="2">
              <a:schemeClr val="accent1"/>
            </a:effectRef>
            <a:fontRef idx="minor">
              <a:schemeClr val="tx1"/>
            </a:fontRef>
          </p:style>
        </p:cxnSp>
      </p:grpSp>
      <p:sp>
        <p:nvSpPr>
          <p:cNvPr id="144" name="灯片编号占位符 143">
            <a:extLst>
              <a:ext uri="{FF2B5EF4-FFF2-40B4-BE49-F238E27FC236}">
                <a16:creationId xmlns:a16="http://schemas.microsoft.com/office/drawing/2014/main" id="{D558E5F8-0191-42A3-BAC9-C42203DADC93}"/>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8</a:t>
            </a:fld>
            <a:r>
              <a:rPr lang="en-US" altLang="zh-CN">
                <a:solidFill>
                  <a:prstClr val="black">
                    <a:tint val="75000"/>
                  </a:prstClr>
                </a:solidFill>
              </a:rPr>
              <a:t>/ 35</a:t>
            </a:r>
            <a:endParaRPr lang="zh-CN" altLang="en-US" dirty="0"/>
          </a:p>
        </p:txBody>
      </p:sp>
      <p:sp>
        <p:nvSpPr>
          <p:cNvPr id="14" name="文本框 13">
            <a:extLst>
              <a:ext uri="{FF2B5EF4-FFF2-40B4-BE49-F238E27FC236}">
                <a16:creationId xmlns:a16="http://schemas.microsoft.com/office/drawing/2014/main" id="{5626237C-6B68-454C-A46A-A565C1478647}"/>
              </a:ext>
            </a:extLst>
          </p:cNvPr>
          <p:cNvSpPr txBox="1"/>
          <p:nvPr/>
        </p:nvSpPr>
        <p:spPr>
          <a:xfrm>
            <a:off x="7093498" y="2342989"/>
            <a:ext cx="490840" cy="369332"/>
          </a:xfrm>
          <a:prstGeom prst="rect">
            <a:avLst/>
          </a:prstGeom>
          <a:solidFill>
            <a:schemeClr val="bg1"/>
          </a:solidFill>
        </p:spPr>
        <p:txBody>
          <a:bodyPr wrap="none" rtlCol="0">
            <a:spAutoFit/>
          </a:bodyPr>
          <a:lstStyle/>
          <a:p>
            <a:r>
              <a:rPr lang="en-US" altLang="zh-CN" dirty="0"/>
              <a:t>&amp;b</a:t>
            </a:r>
            <a:endParaRPr lang="zh-CN" altLang="en-US" dirty="0"/>
          </a:p>
        </p:txBody>
      </p:sp>
    </p:spTree>
    <p:extLst>
      <p:ext uri="{BB962C8B-B14F-4D97-AF65-F5344CB8AC3E}">
        <p14:creationId xmlns:p14="http://schemas.microsoft.com/office/powerpoint/2010/main" val="1760002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32"/>
                                        </p:tgtEl>
                                        <p:attrNameLst>
                                          <p:attrName>style.visibility</p:attrName>
                                        </p:attrNameLst>
                                      </p:cBhvr>
                                      <p:to>
                                        <p:strVal val="visible"/>
                                      </p:to>
                                    </p:set>
                                    <p:animEffect transition="in" filter="fade">
                                      <p:cBhvr>
                                        <p:cTn id="11" dur="1000"/>
                                        <p:tgtEl>
                                          <p:spTgt spid="32"/>
                                        </p:tgtEl>
                                      </p:cBhvr>
                                    </p:animEffect>
                                    <p:anim calcmode="lin" valueType="num">
                                      <p:cBhvr>
                                        <p:cTn id="12" dur="1000" fill="hold"/>
                                        <p:tgtEl>
                                          <p:spTgt spid="32"/>
                                        </p:tgtEl>
                                        <p:attrNameLst>
                                          <p:attrName>ppt_x</p:attrName>
                                        </p:attrNameLst>
                                      </p:cBhvr>
                                      <p:tavLst>
                                        <p:tav tm="0">
                                          <p:val>
                                            <p:strVal val="#ppt_x"/>
                                          </p:val>
                                        </p:tav>
                                        <p:tav tm="100000">
                                          <p:val>
                                            <p:strVal val="#ppt_x"/>
                                          </p:val>
                                        </p:tav>
                                      </p:tavLst>
                                    </p:anim>
                                    <p:anim calcmode="lin" valueType="num">
                                      <p:cBhvr>
                                        <p:cTn id="13"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28"/>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xit" presetSubtype="0" fill="hold" nodeType="clickEffect">
                                  <p:stCondLst>
                                    <p:cond delay="0"/>
                                  </p:stCondLst>
                                  <p:childTnLst>
                                    <p:set>
                                      <p:cBhvr>
                                        <p:cTn id="21" dur="1" fill="hold">
                                          <p:stCondLst>
                                            <p:cond delay="9"/>
                                          </p:stCondLst>
                                        </p:cTn>
                                        <p:tgtEl>
                                          <p:spTgt spid="32"/>
                                        </p:tgtEl>
                                        <p:attrNameLst>
                                          <p:attrName>style.visibility</p:attrName>
                                        </p:attrNameLst>
                                      </p:cBhvr>
                                      <p:to>
                                        <p:strVal val="hidden"/>
                                      </p:to>
                                    </p:set>
                                  </p:childTnLst>
                                </p:cTn>
                              </p:par>
                            </p:childTnLst>
                          </p:cTn>
                        </p:par>
                        <p:par>
                          <p:cTn id="22" fill="hold">
                            <p:stCondLst>
                              <p:cond delay="10"/>
                            </p:stCondLst>
                            <p:childTnLst>
                              <p:par>
                                <p:cTn id="23" presetID="1" presetClass="entr" presetSubtype="0" fill="hold" nodeType="afterEffect">
                                  <p:stCondLst>
                                    <p:cond delay="0"/>
                                  </p:stCondLst>
                                  <p:childTnLst>
                                    <p:set>
                                      <p:cBhvr>
                                        <p:cTn id="24" dur="1" fill="hold">
                                          <p:stCondLst>
                                            <p:cond delay="9"/>
                                          </p:stCondLst>
                                        </p:cTn>
                                        <p:tgtEl>
                                          <p:spTgt spid="3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nodeType="clickEffect">
                                  <p:stCondLst>
                                    <p:cond delay="0"/>
                                  </p:stCondLst>
                                  <p:childTnLst>
                                    <p:set>
                                      <p:cBhvr>
                                        <p:cTn id="32" dur="1" fill="hold">
                                          <p:stCondLst>
                                            <p:cond delay="0"/>
                                          </p:stCondLst>
                                        </p:cTn>
                                        <p:tgtEl>
                                          <p:spTgt spid="33"/>
                                        </p:tgtEl>
                                        <p:attrNameLst>
                                          <p:attrName>style.visibility</p:attrName>
                                        </p:attrNameLst>
                                      </p:cBhvr>
                                      <p:to>
                                        <p:strVal val="hidden"/>
                                      </p:to>
                                    </p:set>
                                  </p:childTnLst>
                                </p:cTn>
                              </p:par>
                            </p:childTnLst>
                          </p:cTn>
                        </p:par>
                        <p:par>
                          <p:cTn id="33" fill="hold">
                            <p:stCondLst>
                              <p:cond delay="0"/>
                            </p:stCondLst>
                            <p:childTnLst>
                              <p:par>
                                <p:cTn id="34" presetID="1" presetClass="entr" presetSubtype="0" fill="hold" nodeType="afterEffect">
                                  <p:stCondLst>
                                    <p:cond delay="0"/>
                                  </p:stCondLst>
                                  <p:childTnLst>
                                    <p:set>
                                      <p:cBhvr>
                                        <p:cTn id="35" dur="1" fill="hold">
                                          <p:stCondLst>
                                            <p:cond delay="9"/>
                                          </p:stCondLst>
                                        </p:cTn>
                                        <p:tgtEl>
                                          <p:spTgt spid="100"/>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52"/>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xit" presetSubtype="0" fill="hold" nodeType="clickEffect">
                                  <p:stCondLst>
                                    <p:cond delay="0"/>
                                  </p:stCondLst>
                                  <p:childTnLst>
                                    <p:set>
                                      <p:cBhvr>
                                        <p:cTn id="43" dur="1" fill="hold">
                                          <p:stCondLst>
                                            <p:cond delay="0"/>
                                          </p:stCondLst>
                                        </p:cTn>
                                        <p:tgtEl>
                                          <p:spTgt spid="100"/>
                                        </p:tgtEl>
                                        <p:attrNameLst>
                                          <p:attrName>style.visibility</p:attrName>
                                        </p:attrNameLst>
                                      </p:cBhvr>
                                      <p:to>
                                        <p:strVal val="hidden"/>
                                      </p:to>
                                    </p:set>
                                  </p:childTnLst>
                                </p:cTn>
                              </p:par>
                            </p:childTnLst>
                          </p:cTn>
                        </p:par>
                        <p:par>
                          <p:cTn id="44" fill="hold">
                            <p:stCondLst>
                              <p:cond delay="0"/>
                            </p:stCondLst>
                            <p:childTnLst>
                              <p:par>
                                <p:cTn id="45" presetID="1" presetClass="entr" presetSubtype="0" fill="hold" nodeType="afterEffect">
                                  <p:stCondLst>
                                    <p:cond delay="0"/>
                                  </p:stCondLst>
                                  <p:childTnLst>
                                    <p:set>
                                      <p:cBhvr>
                                        <p:cTn id="46" dur="1" fill="hold">
                                          <p:stCondLst>
                                            <p:cond delay="0"/>
                                          </p:stCondLst>
                                        </p:cTn>
                                        <p:tgtEl>
                                          <p:spTgt spid="10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xit" presetSubtype="0" fill="hold" nodeType="clickEffect">
                                  <p:stCondLst>
                                    <p:cond delay="0"/>
                                  </p:stCondLst>
                                  <p:childTnLst>
                                    <p:set>
                                      <p:cBhvr>
                                        <p:cTn id="54" dur="1" fill="hold">
                                          <p:stCondLst>
                                            <p:cond delay="0"/>
                                          </p:stCondLst>
                                        </p:cTn>
                                        <p:tgtEl>
                                          <p:spTgt spid="101"/>
                                        </p:tgtEl>
                                        <p:attrNameLst>
                                          <p:attrName>style.visibility</p:attrName>
                                        </p:attrNameLst>
                                      </p:cBhvr>
                                      <p:to>
                                        <p:strVal val="hidden"/>
                                      </p:to>
                                    </p:set>
                                  </p:childTnLst>
                                </p:cTn>
                              </p:par>
                            </p:childTnLst>
                          </p:cTn>
                        </p:par>
                        <p:par>
                          <p:cTn id="55" fill="hold">
                            <p:stCondLst>
                              <p:cond delay="0"/>
                            </p:stCondLst>
                            <p:childTnLst>
                              <p:par>
                                <p:cTn id="56" presetID="1" presetClass="entr" presetSubtype="0" fill="hold" nodeType="afterEffect">
                                  <p:stCondLst>
                                    <p:cond delay="0"/>
                                  </p:stCondLst>
                                  <p:childTnLst>
                                    <p:set>
                                      <p:cBhvr>
                                        <p:cTn id="57" dur="1" fill="hold">
                                          <p:stCondLst>
                                            <p:cond delay="0"/>
                                          </p:stCondLst>
                                        </p:cTn>
                                        <p:tgtEl>
                                          <p:spTgt spid="122"/>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P spid="51" grpId="0"/>
      <p:bldP spid="52" grpId="0"/>
      <p:bldP spid="53" grpId="0"/>
      <p:bldP spid="1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599A22F1-A55F-4111-9595-E9D4E8585CF7}"/>
              </a:ext>
            </a:extLst>
          </p:cNvPr>
          <p:cNvSpPr/>
          <p:nvPr/>
        </p:nvSpPr>
        <p:spPr>
          <a:xfrm>
            <a:off x="4591" y="575458"/>
            <a:ext cx="12158444" cy="830997"/>
          </a:xfrm>
          <a:prstGeom prst="rect">
            <a:avLst/>
          </a:prstGeom>
        </p:spPr>
        <p:txBody>
          <a:bodyPr wrap="square">
            <a:spAutoFit/>
          </a:bodyPr>
          <a:lstStyle/>
          <a:p>
            <a:pPr marL="0" lvl="1"/>
            <a:r>
              <a:rPr lang="zh-CN" altLang="en-US" sz="2400" b="1" dirty="0">
                <a:solidFill>
                  <a:srgbClr val="00B0F0"/>
                </a:solidFill>
                <a:latin typeface="隶书" pitchFamily="49" charset="-122"/>
              </a:rPr>
              <a:t>数组名</a:t>
            </a:r>
            <a:r>
              <a:rPr lang="zh-CN" altLang="en-US" sz="2400" b="1" dirty="0">
                <a:latin typeface="隶书" pitchFamily="49" charset="-122"/>
              </a:rPr>
              <a:t>为指向数组首元素的地址</a:t>
            </a:r>
            <a:r>
              <a:rPr lang="en-US" altLang="zh-CN" sz="2400" b="1" dirty="0">
                <a:latin typeface="隶书" pitchFamily="49" charset="-122"/>
              </a:rPr>
              <a:t>(</a:t>
            </a:r>
            <a:r>
              <a:rPr lang="zh-CN" altLang="en-US" sz="2400" b="1" dirty="0">
                <a:solidFill>
                  <a:srgbClr val="00B0F0"/>
                </a:solidFill>
                <a:latin typeface="隶书" pitchFamily="49" charset="-122"/>
              </a:rPr>
              <a:t>地址常量</a:t>
            </a:r>
            <a:r>
              <a:rPr lang="en-US" altLang="zh-CN" sz="2400" b="1" dirty="0">
                <a:latin typeface="隶书" pitchFamily="49" charset="-122"/>
              </a:rPr>
              <a:t>)</a:t>
            </a:r>
            <a:r>
              <a:rPr lang="zh-CN" altLang="en-US" sz="2400" b="1" dirty="0">
                <a:latin typeface="隶书" pitchFamily="49" charset="-122"/>
              </a:rPr>
              <a:t>，数组元素按下标的顺序在内存中连续存储。可以通过指针变量灵活地访问数组中的元素。例如：</a:t>
            </a:r>
          </a:p>
        </p:txBody>
      </p:sp>
      <p:sp>
        <p:nvSpPr>
          <p:cNvPr id="4" name="Rectangle 2">
            <a:extLst>
              <a:ext uri="{FF2B5EF4-FFF2-40B4-BE49-F238E27FC236}">
                <a16:creationId xmlns:a16="http://schemas.microsoft.com/office/drawing/2014/main" id="{ABC5DCC0-A544-4DB1-9BCB-5AD61B0D2C7A}"/>
              </a:ext>
            </a:extLst>
          </p:cNvPr>
          <p:cNvSpPr txBox="1">
            <a:spLocks noChangeArrowheads="1"/>
          </p:cNvSpPr>
          <p:nvPr/>
        </p:nvSpPr>
        <p:spPr>
          <a:xfrm>
            <a:off x="2055861" y="1666147"/>
            <a:ext cx="6383381" cy="1384995"/>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0000FF"/>
                </a:solidFill>
              </a:rPr>
              <a:t>int</a:t>
            </a:r>
            <a:r>
              <a:rPr lang="zh-CN" altLang="en-US" b="1" dirty="0">
                <a:solidFill>
                  <a:srgbClr val="0000FF"/>
                </a:solidFill>
              </a:rPr>
              <a:t> </a:t>
            </a:r>
            <a:r>
              <a:rPr lang="en-US" altLang="zh-CN" b="1" dirty="0"/>
              <a:t>a</a:t>
            </a:r>
            <a:r>
              <a:rPr lang="en-US" altLang="zh-CN" b="1" dirty="0">
                <a:solidFill>
                  <a:srgbClr val="FF0000"/>
                </a:solidFill>
              </a:rPr>
              <a:t>[</a:t>
            </a:r>
            <a:r>
              <a:rPr lang="en-US" altLang="zh-CN" b="1" dirty="0"/>
              <a:t>10</a:t>
            </a:r>
            <a:r>
              <a:rPr lang="en-US" altLang="zh-CN" b="1" dirty="0">
                <a:solidFill>
                  <a:srgbClr val="FF0000"/>
                </a:solidFill>
              </a:rPr>
              <a:t>]</a:t>
            </a:r>
            <a:r>
              <a:rPr lang="en-US" altLang="zh-CN" b="1" dirty="0"/>
              <a:t>;</a:t>
            </a:r>
          </a:p>
          <a:p>
            <a:pPr marL="0" indent="0">
              <a:lnSpc>
                <a:spcPct val="100000"/>
              </a:lnSpc>
              <a:spcBef>
                <a:spcPct val="0"/>
              </a:spcBef>
              <a:buClr>
                <a:schemeClr val="tx2"/>
              </a:buClr>
              <a:buSzPct val="70000"/>
              <a:buNone/>
            </a:pPr>
            <a:r>
              <a:rPr lang="en-US" altLang="zh-CN" b="1" dirty="0">
                <a:solidFill>
                  <a:srgbClr val="0000FF"/>
                </a:solidFill>
              </a:rPr>
              <a:t>int</a:t>
            </a:r>
            <a:r>
              <a:rPr lang="en-US" altLang="zh-CN" b="1" dirty="0"/>
              <a:t> </a:t>
            </a:r>
            <a:r>
              <a:rPr lang="en-US" altLang="zh-CN" b="1" dirty="0">
                <a:solidFill>
                  <a:srgbClr val="FF0000"/>
                </a:solidFill>
              </a:rPr>
              <a:t>*</a:t>
            </a:r>
            <a:r>
              <a:rPr lang="en-US" altLang="zh-CN" b="1" dirty="0"/>
              <a:t>p = </a:t>
            </a:r>
            <a:r>
              <a:rPr lang="en-US" altLang="zh-CN" b="1" dirty="0">
                <a:solidFill>
                  <a:srgbClr val="FF0000"/>
                </a:solidFill>
              </a:rPr>
              <a:t>&amp;</a:t>
            </a:r>
            <a:r>
              <a:rPr lang="en-US" altLang="zh-CN" b="1" dirty="0"/>
              <a:t>a</a:t>
            </a:r>
            <a:r>
              <a:rPr lang="en-US" altLang="zh-CN" b="1" dirty="0">
                <a:solidFill>
                  <a:srgbClr val="FF0000"/>
                </a:solidFill>
              </a:rPr>
              <a:t>[</a:t>
            </a:r>
            <a:r>
              <a:rPr lang="en-US" altLang="zh-CN" b="1" dirty="0"/>
              <a:t>0</a:t>
            </a:r>
            <a:r>
              <a:rPr lang="en-US" altLang="zh-CN" b="1" dirty="0">
                <a:solidFill>
                  <a:srgbClr val="FF0000"/>
                </a:solidFill>
              </a:rPr>
              <a:t>]</a:t>
            </a:r>
            <a:r>
              <a:rPr lang="en-US" altLang="zh-CN" b="1" dirty="0"/>
              <a:t>;</a:t>
            </a:r>
          </a:p>
          <a:p>
            <a:pPr marL="0" indent="0">
              <a:lnSpc>
                <a:spcPct val="100000"/>
              </a:lnSpc>
              <a:spcBef>
                <a:spcPct val="0"/>
              </a:spcBef>
              <a:buClr>
                <a:schemeClr val="tx2"/>
              </a:buClr>
              <a:buSzPct val="70000"/>
              <a:buNone/>
            </a:pPr>
            <a:r>
              <a:rPr lang="en-US" altLang="zh-CN" b="1" dirty="0">
                <a:solidFill>
                  <a:srgbClr val="FF0000"/>
                </a:solidFill>
              </a:rPr>
              <a:t>*</a:t>
            </a:r>
            <a:r>
              <a:rPr lang="en-US" altLang="zh-CN" b="1" dirty="0"/>
              <a:t>p = 1;</a:t>
            </a:r>
            <a:endParaRPr lang="en-US" altLang="zh-CN" b="1" dirty="0">
              <a:solidFill>
                <a:srgbClr val="00B050"/>
              </a:solidFill>
            </a:endParaRPr>
          </a:p>
        </p:txBody>
      </p:sp>
      <p:graphicFrame>
        <p:nvGraphicFramePr>
          <p:cNvPr id="5" name="表格 5">
            <a:extLst>
              <a:ext uri="{FF2B5EF4-FFF2-40B4-BE49-F238E27FC236}">
                <a16:creationId xmlns:a16="http://schemas.microsoft.com/office/drawing/2014/main" id="{73D699B5-DCDC-4BA0-8576-296BCCB280B1}"/>
              </a:ext>
            </a:extLst>
          </p:cNvPr>
          <p:cNvGraphicFramePr>
            <a:graphicFrameLocks noGrp="1"/>
          </p:cNvGraphicFramePr>
          <p:nvPr>
            <p:extLst>
              <p:ext uri="{D42A27DB-BD31-4B8C-83A1-F6EECF244321}">
                <p14:modId xmlns:p14="http://schemas.microsoft.com/office/powerpoint/2010/main" val="2471317142"/>
              </p:ext>
            </p:extLst>
          </p:nvPr>
        </p:nvGraphicFramePr>
        <p:xfrm>
          <a:off x="2055862" y="4410865"/>
          <a:ext cx="7706210" cy="487102"/>
        </p:xfrm>
        <a:graphic>
          <a:graphicData uri="http://schemas.openxmlformats.org/drawingml/2006/table">
            <a:tbl>
              <a:tblPr firstRow="1" bandRow="1">
                <a:noFill/>
                <a:tableStyleId>{5940675A-B579-460E-94D1-54222C63F5DA}</a:tableStyleId>
              </a:tblPr>
              <a:tblGrid>
                <a:gridCol w="770621">
                  <a:extLst>
                    <a:ext uri="{9D8B030D-6E8A-4147-A177-3AD203B41FA5}">
                      <a16:colId xmlns:a16="http://schemas.microsoft.com/office/drawing/2014/main" val="2047929024"/>
                    </a:ext>
                  </a:extLst>
                </a:gridCol>
                <a:gridCol w="770621">
                  <a:extLst>
                    <a:ext uri="{9D8B030D-6E8A-4147-A177-3AD203B41FA5}">
                      <a16:colId xmlns:a16="http://schemas.microsoft.com/office/drawing/2014/main" val="2720648951"/>
                    </a:ext>
                  </a:extLst>
                </a:gridCol>
                <a:gridCol w="770621">
                  <a:extLst>
                    <a:ext uri="{9D8B030D-6E8A-4147-A177-3AD203B41FA5}">
                      <a16:colId xmlns:a16="http://schemas.microsoft.com/office/drawing/2014/main" val="3634192343"/>
                    </a:ext>
                  </a:extLst>
                </a:gridCol>
                <a:gridCol w="770621">
                  <a:extLst>
                    <a:ext uri="{9D8B030D-6E8A-4147-A177-3AD203B41FA5}">
                      <a16:colId xmlns:a16="http://schemas.microsoft.com/office/drawing/2014/main" val="3044103780"/>
                    </a:ext>
                  </a:extLst>
                </a:gridCol>
                <a:gridCol w="770621">
                  <a:extLst>
                    <a:ext uri="{9D8B030D-6E8A-4147-A177-3AD203B41FA5}">
                      <a16:colId xmlns:a16="http://schemas.microsoft.com/office/drawing/2014/main" val="639062456"/>
                    </a:ext>
                  </a:extLst>
                </a:gridCol>
                <a:gridCol w="770621">
                  <a:extLst>
                    <a:ext uri="{9D8B030D-6E8A-4147-A177-3AD203B41FA5}">
                      <a16:colId xmlns:a16="http://schemas.microsoft.com/office/drawing/2014/main" val="2061148105"/>
                    </a:ext>
                  </a:extLst>
                </a:gridCol>
                <a:gridCol w="770621">
                  <a:extLst>
                    <a:ext uri="{9D8B030D-6E8A-4147-A177-3AD203B41FA5}">
                      <a16:colId xmlns:a16="http://schemas.microsoft.com/office/drawing/2014/main" val="1553186169"/>
                    </a:ext>
                  </a:extLst>
                </a:gridCol>
                <a:gridCol w="770621">
                  <a:extLst>
                    <a:ext uri="{9D8B030D-6E8A-4147-A177-3AD203B41FA5}">
                      <a16:colId xmlns:a16="http://schemas.microsoft.com/office/drawing/2014/main" val="604826219"/>
                    </a:ext>
                  </a:extLst>
                </a:gridCol>
                <a:gridCol w="770621">
                  <a:extLst>
                    <a:ext uri="{9D8B030D-6E8A-4147-A177-3AD203B41FA5}">
                      <a16:colId xmlns:a16="http://schemas.microsoft.com/office/drawing/2014/main" val="1768730732"/>
                    </a:ext>
                  </a:extLst>
                </a:gridCol>
                <a:gridCol w="770621">
                  <a:extLst>
                    <a:ext uri="{9D8B030D-6E8A-4147-A177-3AD203B41FA5}">
                      <a16:colId xmlns:a16="http://schemas.microsoft.com/office/drawing/2014/main" val="2958785422"/>
                    </a:ext>
                  </a:extLst>
                </a:gridCol>
              </a:tblGrid>
              <a:tr h="487102">
                <a:tc>
                  <a:txBody>
                    <a:bodyPr/>
                    <a:lstStyle/>
                    <a:p>
                      <a:endParaRPr lang="zh-CN" altLang="en-US"/>
                    </a:p>
                  </a:txBody>
                  <a:tcPr>
                    <a:cell3D prstMaterial="dkEdge">
                      <a:bevel w="50800" prst="hardEdge"/>
                      <a:lightRig rig="flood" dir="t"/>
                    </a:cell3D>
                  </a:tcPr>
                </a:tc>
                <a:tc>
                  <a:txBody>
                    <a:bodyPr/>
                    <a:lstStyle/>
                    <a:p>
                      <a:endParaRPr lang="zh-CN" altLang="en-US"/>
                    </a:p>
                  </a:txBody>
                  <a:tcPr>
                    <a:cell3D prstMaterial="dkEdge">
                      <a:bevel w="50800" prst="hardEdge"/>
                      <a:lightRig rig="flood" dir="t"/>
                    </a:cell3D>
                  </a:tcPr>
                </a:tc>
                <a:tc>
                  <a:txBody>
                    <a:bodyPr/>
                    <a:lstStyle/>
                    <a:p>
                      <a:endParaRPr lang="zh-CN" altLang="en-US" dirty="0"/>
                    </a:p>
                  </a:txBody>
                  <a:tcPr>
                    <a:cell3D prstMaterial="dkEdge">
                      <a:bevel w="50800" prst="hardEdge"/>
                      <a:lightRig rig="flood" dir="t"/>
                    </a:cell3D>
                  </a:tcPr>
                </a:tc>
                <a:tc>
                  <a:txBody>
                    <a:bodyPr/>
                    <a:lstStyle/>
                    <a:p>
                      <a:endParaRPr lang="zh-CN" altLang="en-US"/>
                    </a:p>
                  </a:txBody>
                  <a:tcPr>
                    <a:cell3D prstMaterial="dkEdge">
                      <a:bevel w="50800" prst="hardEdge"/>
                      <a:lightRig rig="flood" dir="t"/>
                    </a:cell3D>
                  </a:tcPr>
                </a:tc>
                <a:tc>
                  <a:txBody>
                    <a:bodyPr/>
                    <a:lstStyle/>
                    <a:p>
                      <a:endParaRPr lang="zh-CN" altLang="en-US" dirty="0"/>
                    </a:p>
                  </a:txBody>
                  <a:tcPr>
                    <a:cell3D prstMaterial="dkEdge">
                      <a:bevel w="50800" prst="hardEdge"/>
                      <a:lightRig rig="flood" dir="t"/>
                    </a:cell3D>
                  </a:tcPr>
                </a:tc>
                <a:tc>
                  <a:txBody>
                    <a:bodyPr/>
                    <a:lstStyle/>
                    <a:p>
                      <a:endParaRPr lang="zh-CN" altLang="en-US"/>
                    </a:p>
                  </a:txBody>
                  <a:tcPr>
                    <a:cell3D prstMaterial="dkEdge">
                      <a:bevel w="50800" prst="hardEdge"/>
                      <a:lightRig rig="flood" dir="t"/>
                    </a:cell3D>
                  </a:tcPr>
                </a:tc>
                <a:tc>
                  <a:txBody>
                    <a:bodyPr/>
                    <a:lstStyle/>
                    <a:p>
                      <a:endParaRPr lang="zh-CN" altLang="en-US"/>
                    </a:p>
                  </a:txBody>
                  <a:tcPr>
                    <a:cell3D prstMaterial="dkEdge">
                      <a:bevel w="50800" prst="hardEdge"/>
                      <a:lightRig rig="flood" dir="t"/>
                    </a:cell3D>
                  </a:tcPr>
                </a:tc>
                <a:tc>
                  <a:txBody>
                    <a:bodyPr/>
                    <a:lstStyle/>
                    <a:p>
                      <a:endParaRPr lang="zh-CN" altLang="en-US"/>
                    </a:p>
                  </a:txBody>
                  <a:tcPr>
                    <a:cell3D prstMaterial="dkEdge">
                      <a:bevel w="50800" prst="hardEdge"/>
                      <a:lightRig rig="flood" dir="t"/>
                    </a:cell3D>
                  </a:tcPr>
                </a:tc>
                <a:tc>
                  <a:txBody>
                    <a:bodyPr/>
                    <a:lstStyle/>
                    <a:p>
                      <a:endParaRPr lang="zh-CN" altLang="en-US"/>
                    </a:p>
                  </a:txBody>
                  <a:tcPr>
                    <a:cell3D prstMaterial="dkEdge">
                      <a:bevel w="50800" prst="hardEdge"/>
                      <a:lightRig rig="flood" dir="t"/>
                    </a:cell3D>
                  </a:tcPr>
                </a:tc>
                <a:tc>
                  <a:txBody>
                    <a:bodyPr/>
                    <a:lstStyle/>
                    <a:p>
                      <a:endParaRPr lang="zh-CN" altLang="en-US" dirty="0"/>
                    </a:p>
                  </a:txBody>
                  <a:tcPr>
                    <a:cell3D prstMaterial="dkEdge">
                      <a:bevel w="50800" prst="hardEdge"/>
                      <a:lightRig rig="flood" dir="t"/>
                    </a:cell3D>
                  </a:tcPr>
                </a:tc>
                <a:extLst>
                  <a:ext uri="{0D108BD9-81ED-4DB2-BD59-A6C34878D82A}">
                    <a16:rowId xmlns:a16="http://schemas.microsoft.com/office/drawing/2014/main" val="3149790749"/>
                  </a:ext>
                </a:extLst>
              </a:tr>
            </a:tbl>
          </a:graphicData>
        </a:graphic>
      </p:graphicFrame>
      <p:cxnSp>
        <p:nvCxnSpPr>
          <p:cNvPr id="8" name="直接箭头连接符 7">
            <a:extLst>
              <a:ext uri="{FF2B5EF4-FFF2-40B4-BE49-F238E27FC236}">
                <a16:creationId xmlns:a16="http://schemas.microsoft.com/office/drawing/2014/main" id="{C6FBE736-161B-4720-AAA4-1910460CBDF0}"/>
              </a:ext>
            </a:extLst>
          </p:cNvPr>
          <p:cNvCxnSpPr>
            <a:cxnSpLocks/>
            <a:stCxn id="6" idx="2"/>
          </p:cNvCxnSpPr>
          <p:nvPr/>
        </p:nvCxnSpPr>
        <p:spPr>
          <a:xfrm>
            <a:off x="2430967" y="3851771"/>
            <a:ext cx="6479" cy="487102"/>
          </a:xfrm>
          <a:prstGeom prst="straightConnector1">
            <a:avLst/>
          </a:prstGeom>
          <a:ln w="28575">
            <a:solidFill>
              <a:srgbClr val="FF0000"/>
            </a:solidFill>
            <a:headEnd type="none" w="lg" len="lg"/>
            <a:tailEnd type="triangle" w="med" len="med"/>
          </a:ln>
        </p:spPr>
        <p:style>
          <a:lnRef idx="1">
            <a:schemeClr val="dk1"/>
          </a:lnRef>
          <a:fillRef idx="0">
            <a:schemeClr val="dk1"/>
          </a:fillRef>
          <a:effectRef idx="0">
            <a:schemeClr val="dk1"/>
          </a:effectRef>
          <a:fontRef idx="minor">
            <a:schemeClr val="tx1"/>
          </a:fontRef>
        </p:style>
      </p:cxnSp>
      <p:grpSp>
        <p:nvGrpSpPr>
          <p:cNvPr id="23" name="组合 22">
            <a:extLst>
              <a:ext uri="{FF2B5EF4-FFF2-40B4-BE49-F238E27FC236}">
                <a16:creationId xmlns:a16="http://schemas.microsoft.com/office/drawing/2014/main" id="{366DA2C4-6617-4B56-800E-C8B78C2848A9}"/>
              </a:ext>
            </a:extLst>
          </p:cNvPr>
          <p:cNvGrpSpPr/>
          <p:nvPr/>
        </p:nvGrpSpPr>
        <p:grpSpPr>
          <a:xfrm>
            <a:off x="1786587" y="3403320"/>
            <a:ext cx="894167" cy="477054"/>
            <a:chOff x="1786587" y="3403320"/>
            <a:chExt cx="894167" cy="477054"/>
          </a:xfrm>
        </p:grpSpPr>
        <p:sp>
          <p:nvSpPr>
            <p:cNvPr id="6" name="矩形 5">
              <a:extLst>
                <a:ext uri="{FF2B5EF4-FFF2-40B4-BE49-F238E27FC236}">
                  <a16:creationId xmlns:a16="http://schemas.microsoft.com/office/drawing/2014/main" id="{B0436CDC-476C-4E6F-BC7F-DABE932B567D}"/>
                </a:ext>
              </a:extLst>
            </p:cNvPr>
            <p:cNvSpPr/>
            <p:nvPr/>
          </p:nvSpPr>
          <p:spPr>
            <a:xfrm>
              <a:off x="2181180" y="3431923"/>
              <a:ext cx="499574" cy="419848"/>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B17D448C-17AC-4EBA-A8DA-E7FC6446C232}"/>
                </a:ext>
              </a:extLst>
            </p:cNvPr>
            <p:cNvSpPr txBox="1"/>
            <p:nvPr/>
          </p:nvSpPr>
          <p:spPr>
            <a:xfrm>
              <a:off x="1786587" y="3403320"/>
              <a:ext cx="401072" cy="477054"/>
            </a:xfrm>
            <a:prstGeom prst="rect">
              <a:avLst/>
            </a:prstGeom>
            <a:noFill/>
          </p:spPr>
          <p:txBody>
            <a:bodyPr wrap="none" tIns="0" rtlCol="0" anchor="ctr" anchorCtr="1">
              <a:spAutoFit/>
            </a:bodyPr>
            <a:lstStyle/>
            <a:p>
              <a:r>
                <a:rPr lang="en-US" altLang="zh-CN" sz="2800" b="1" dirty="0"/>
                <a:t>p</a:t>
              </a:r>
              <a:endParaRPr lang="zh-CN" altLang="en-US" b="1" dirty="0"/>
            </a:p>
          </p:txBody>
        </p:sp>
      </p:grpSp>
      <p:graphicFrame>
        <p:nvGraphicFramePr>
          <p:cNvPr id="15" name="表格 5">
            <a:extLst>
              <a:ext uri="{FF2B5EF4-FFF2-40B4-BE49-F238E27FC236}">
                <a16:creationId xmlns:a16="http://schemas.microsoft.com/office/drawing/2014/main" id="{345CEB36-9035-43ED-A7FE-F99B6F28C8EF}"/>
              </a:ext>
            </a:extLst>
          </p:cNvPr>
          <p:cNvGraphicFramePr>
            <a:graphicFrameLocks noGrp="1"/>
          </p:cNvGraphicFramePr>
          <p:nvPr>
            <p:extLst>
              <p:ext uri="{D42A27DB-BD31-4B8C-83A1-F6EECF244321}">
                <p14:modId xmlns:p14="http://schemas.microsoft.com/office/powerpoint/2010/main" val="1173490257"/>
              </p:ext>
            </p:extLst>
          </p:nvPr>
        </p:nvGraphicFramePr>
        <p:xfrm>
          <a:off x="2055862" y="4895951"/>
          <a:ext cx="7706210" cy="487102"/>
        </p:xfrm>
        <a:graphic>
          <a:graphicData uri="http://schemas.openxmlformats.org/drawingml/2006/table">
            <a:tbl>
              <a:tblPr firstRow="1" bandRow="1">
                <a:noFill/>
                <a:tableStyleId>{5940675A-B579-460E-94D1-54222C63F5DA}</a:tableStyleId>
              </a:tblPr>
              <a:tblGrid>
                <a:gridCol w="770621">
                  <a:extLst>
                    <a:ext uri="{9D8B030D-6E8A-4147-A177-3AD203B41FA5}">
                      <a16:colId xmlns:a16="http://schemas.microsoft.com/office/drawing/2014/main" val="2047929024"/>
                    </a:ext>
                  </a:extLst>
                </a:gridCol>
                <a:gridCol w="770621">
                  <a:extLst>
                    <a:ext uri="{9D8B030D-6E8A-4147-A177-3AD203B41FA5}">
                      <a16:colId xmlns:a16="http://schemas.microsoft.com/office/drawing/2014/main" val="2720648951"/>
                    </a:ext>
                  </a:extLst>
                </a:gridCol>
                <a:gridCol w="770621">
                  <a:extLst>
                    <a:ext uri="{9D8B030D-6E8A-4147-A177-3AD203B41FA5}">
                      <a16:colId xmlns:a16="http://schemas.microsoft.com/office/drawing/2014/main" val="3634192343"/>
                    </a:ext>
                  </a:extLst>
                </a:gridCol>
                <a:gridCol w="770621">
                  <a:extLst>
                    <a:ext uri="{9D8B030D-6E8A-4147-A177-3AD203B41FA5}">
                      <a16:colId xmlns:a16="http://schemas.microsoft.com/office/drawing/2014/main" val="3044103780"/>
                    </a:ext>
                  </a:extLst>
                </a:gridCol>
                <a:gridCol w="770621">
                  <a:extLst>
                    <a:ext uri="{9D8B030D-6E8A-4147-A177-3AD203B41FA5}">
                      <a16:colId xmlns:a16="http://schemas.microsoft.com/office/drawing/2014/main" val="639062456"/>
                    </a:ext>
                  </a:extLst>
                </a:gridCol>
                <a:gridCol w="770621">
                  <a:extLst>
                    <a:ext uri="{9D8B030D-6E8A-4147-A177-3AD203B41FA5}">
                      <a16:colId xmlns:a16="http://schemas.microsoft.com/office/drawing/2014/main" val="2061148105"/>
                    </a:ext>
                  </a:extLst>
                </a:gridCol>
                <a:gridCol w="770621">
                  <a:extLst>
                    <a:ext uri="{9D8B030D-6E8A-4147-A177-3AD203B41FA5}">
                      <a16:colId xmlns:a16="http://schemas.microsoft.com/office/drawing/2014/main" val="1553186169"/>
                    </a:ext>
                  </a:extLst>
                </a:gridCol>
                <a:gridCol w="770621">
                  <a:extLst>
                    <a:ext uri="{9D8B030D-6E8A-4147-A177-3AD203B41FA5}">
                      <a16:colId xmlns:a16="http://schemas.microsoft.com/office/drawing/2014/main" val="604826219"/>
                    </a:ext>
                  </a:extLst>
                </a:gridCol>
                <a:gridCol w="770621">
                  <a:extLst>
                    <a:ext uri="{9D8B030D-6E8A-4147-A177-3AD203B41FA5}">
                      <a16:colId xmlns:a16="http://schemas.microsoft.com/office/drawing/2014/main" val="1768730732"/>
                    </a:ext>
                  </a:extLst>
                </a:gridCol>
                <a:gridCol w="770621">
                  <a:extLst>
                    <a:ext uri="{9D8B030D-6E8A-4147-A177-3AD203B41FA5}">
                      <a16:colId xmlns:a16="http://schemas.microsoft.com/office/drawing/2014/main" val="2958785422"/>
                    </a:ext>
                  </a:extLst>
                </a:gridCol>
              </a:tblGrid>
              <a:tr h="487102">
                <a:tc>
                  <a:txBody>
                    <a:bodyPr/>
                    <a:lstStyle/>
                    <a:p>
                      <a:pPr algn="ctr"/>
                      <a:r>
                        <a:rPr lang="en-US" altLang="zh-CN" b="1" dirty="0"/>
                        <a:t>0</a:t>
                      </a:r>
                      <a:endParaRPr lang="zh-CN" altLang="en-US" b="1"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CN" b="1" dirty="0"/>
                        <a:t>1</a:t>
                      </a:r>
                      <a:endParaRPr lang="zh-CN" altLang="en-US" b="1"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CN" b="1" dirty="0"/>
                        <a:t>2</a:t>
                      </a:r>
                      <a:endParaRPr lang="zh-CN" altLang="en-US" b="1"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CN" b="1" dirty="0"/>
                        <a:t>3</a:t>
                      </a:r>
                      <a:endParaRPr lang="zh-CN" altLang="en-US" b="1"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CN" b="1" dirty="0"/>
                        <a:t>4</a:t>
                      </a:r>
                      <a:endParaRPr lang="zh-CN" altLang="en-US" b="1"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CN" b="1" dirty="0"/>
                        <a:t>5</a:t>
                      </a:r>
                      <a:endParaRPr lang="zh-CN" altLang="en-US" b="1"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CN" b="1" dirty="0"/>
                        <a:t>6</a:t>
                      </a:r>
                      <a:endParaRPr lang="zh-CN" altLang="en-US" b="1"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CN" b="1" dirty="0"/>
                        <a:t>7</a:t>
                      </a:r>
                      <a:endParaRPr lang="zh-CN" altLang="en-US" b="1"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CN" b="1" dirty="0"/>
                        <a:t>8</a:t>
                      </a:r>
                      <a:endParaRPr lang="zh-CN" altLang="en-US" b="1"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CN" b="1" dirty="0"/>
                        <a:t>9</a:t>
                      </a:r>
                      <a:endParaRPr lang="zh-CN" altLang="en-US" b="1"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49790749"/>
                  </a:ext>
                </a:extLst>
              </a:tr>
            </a:tbl>
          </a:graphicData>
        </a:graphic>
      </p:graphicFrame>
      <p:sp>
        <p:nvSpPr>
          <p:cNvPr id="20" name="文本框 19">
            <a:extLst>
              <a:ext uri="{FF2B5EF4-FFF2-40B4-BE49-F238E27FC236}">
                <a16:creationId xmlns:a16="http://schemas.microsoft.com/office/drawing/2014/main" id="{05FB2631-8A4F-4262-9D70-202C8BAA5419}"/>
              </a:ext>
            </a:extLst>
          </p:cNvPr>
          <p:cNvSpPr txBox="1"/>
          <p:nvPr/>
        </p:nvSpPr>
        <p:spPr>
          <a:xfrm>
            <a:off x="1627220" y="4410865"/>
            <a:ext cx="372218" cy="477054"/>
          </a:xfrm>
          <a:prstGeom prst="rect">
            <a:avLst/>
          </a:prstGeom>
          <a:noFill/>
        </p:spPr>
        <p:txBody>
          <a:bodyPr wrap="none" tIns="0" rtlCol="0" anchor="ctr" anchorCtr="1">
            <a:spAutoFit/>
          </a:bodyPr>
          <a:lstStyle/>
          <a:p>
            <a:r>
              <a:rPr lang="en-US" altLang="zh-CN" sz="2800" b="1" dirty="0"/>
              <a:t>a</a:t>
            </a:r>
            <a:endParaRPr lang="zh-CN" altLang="en-US" b="1" dirty="0"/>
          </a:p>
        </p:txBody>
      </p:sp>
      <p:sp>
        <p:nvSpPr>
          <p:cNvPr id="16" name="文本框 15">
            <a:extLst>
              <a:ext uri="{FF2B5EF4-FFF2-40B4-BE49-F238E27FC236}">
                <a16:creationId xmlns:a16="http://schemas.microsoft.com/office/drawing/2014/main" id="{65FDB8EE-9510-4592-9CFF-03CAFB22A719}"/>
              </a:ext>
            </a:extLst>
          </p:cNvPr>
          <p:cNvSpPr txBox="1"/>
          <p:nvPr/>
        </p:nvSpPr>
        <p:spPr>
          <a:xfrm>
            <a:off x="2111003" y="4422576"/>
            <a:ext cx="637849" cy="461665"/>
          </a:xfrm>
          <a:prstGeom prst="rect">
            <a:avLst/>
          </a:prstGeom>
          <a:noFill/>
        </p:spPr>
        <p:txBody>
          <a:bodyPr wrap="square" rtlCol="0">
            <a:spAutoFit/>
          </a:bodyPr>
          <a:lstStyle/>
          <a:p>
            <a:pPr algn="ctr"/>
            <a:r>
              <a:rPr lang="en-US" altLang="zh-CN" sz="2400" dirty="0"/>
              <a:t>1</a:t>
            </a:r>
            <a:endParaRPr lang="zh-CN" altLang="en-US" sz="2400" dirty="0"/>
          </a:p>
        </p:txBody>
      </p:sp>
      <p:sp>
        <p:nvSpPr>
          <p:cNvPr id="24" name="矩形 23">
            <a:extLst>
              <a:ext uri="{FF2B5EF4-FFF2-40B4-BE49-F238E27FC236}">
                <a16:creationId xmlns:a16="http://schemas.microsoft.com/office/drawing/2014/main" id="{C3B7F29A-2ED9-4DD8-BB70-5DAD24550D67}"/>
              </a:ext>
            </a:extLst>
          </p:cNvPr>
          <p:cNvSpPr/>
          <p:nvPr/>
        </p:nvSpPr>
        <p:spPr>
          <a:xfrm>
            <a:off x="16778" y="5283098"/>
            <a:ext cx="12158444" cy="830997"/>
          </a:xfrm>
          <a:prstGeom prst="rect">
            <a:avLst/>
          </a:prstGeom>
        </p:spPr>
        <p:txBody>
          <a:bodyPr wrap="square">
            <a:spAutoFit/>
          </a:bodyPr>
          <a:lstStyle/>
          <a:p>
            <a:pPr marL="0" lvl="1"/>
            <a:r>
              <a:rPr lang="zh-CN" altLang="en-US" sz="2400" b="1" dirty="0">
                <a:latin typeface="隶书" pitchFamily="49" charset="-122"/>
              </a:rPr>
              <a:t>由于数组中的元素在内存中是连续存储的，因此可以通过对</a:t>
            </a:r>
            <a:r>
              <a:rPr lang="zh-CN" altLang="en-US" sz="2400" b="1" dirty="0">
                <a:solidFill>
                  <a:srgbClr val="00B0F0"/>
                </a:solidFill>
                <a:latin typeface="隶书" pitchFamily="49" charset="-122"/>
              </a:rPr>
              <a:t>指针变量的算术运算</a:t>
            </a:r>
            <a:r>
              <a:rPr lang="zh-CN" altLang="en-US" sz="2400" b="1" dirty="0">
                <a:latin typeface="隶书" pitchFamily="49" charset="-122"/>
              </a:rPr>
              <a:t>让</a:t>
            </a:r>
            <a:r>
              <a:rPr lang="en-US" altLang="zh-CN" sz="2400" b="1" dirty="0">
                <a:latin typeface="隶书" pitchFamily="49" charset="-122"/>
              </a:rPr>
              <a:t>p</a:t>
            </a:r>
            <a:r>
              <a:rPr lang="zh-CN" altLang="en-US" sz="2400" b="1" dirty="0">
                <a:latin typeface="隶书" pitchFamily="49" charset="-122"/>
              </a:rPr>
              <a:t>指向数组的其它元素。</a:t>
            </a:r>
          </a:p>
        </p:txBody>
      </p:sp>
      <p:sp>
        <p:nvSpPr>
          <p:cNvPr id="25" name="灯片编号占位符 24">
            <a:extLst>
              <a:ext uri="{FF2B5EF4-FFF2-40B4-BE49-F238E27FC236}">
                <a16:creationId xmlns:a16="http://schemas.microsoft.com/office/drawing/2014/main" id="{294336AD-D503-4475-8EC2-5EFB8419DA17}"/>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9</a:t>
            </a:fld>
            <a:r>
              <a:rPr lang="en-US" altLang="zh-CN">
                <a:solidFill>
                  <a:prstClr val="black">
                    <a:tint val="75000"/>
                  </a:prstClr>
                </a:solidFill>
              </a:rPr>
              <a:t>/ 35</a:t>
            </a:r>
            <a:endParaRPr lang="zh-CN" altLang="en-US" dirty="0"/>
          </a:p>
        </p:txBody>
      </p:sp>
    </p:spTree>
    <p:extLst>
      <p:ext uri="{BB962C8B-B14F-4D97-AF65-F5344CB8AC3E}">
        <p14:creationId xmlns:p14="http://schemas.microsoft.com/office/powerpoint/2010/main" val="1472969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par>
                                <p:cTn id="17" presetID="1" presetClass="entr" presetSubtype="0" fill="hold" grpId="0" nodeType="withEffect">
                                  <p:stCondLst>
                                    <p:cond delay="0"/>
                                  </p:stCondLst>
                                  <p:childTnLst>
                                    <p:set>
                                      <p:cBhvr>
                                        <p:cTn id="18" dur="1" fill="hold">
                                          <p:stCondLst>
                                            <p:cond delay="9"/>
                                          </p:stCondLst>
                                        </p:cTn>
                                        <p:tgtEl>
                                          <p:spTgt spid="20"/>
                                        </p:tgtEl>
                                        <p:attrNameLst>
                                          <p:attrName>style.visibility</p:attrName>
                                        </p:attrNameLst>
                                      </p:cBhvr>
                                      <p:to>
                                        <p:strVal val="visible"/>
                                      </p:to>
                                    </p:set>
                                  </p:childTnLst>
                                </p:cTn>
                              </p:par>
                              <p:par>
                                <p:cTn id="19" presetID="42"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1000"/>
                                        <p:tgtEl>
                                          <p:spTgt spid="15"/>
                                        </p:tgtEl>
                                      </p:cBhvr>
                                    </p:animEffect>
                                    <p:anim calcmode="lin" valueType="num">
                                      <p:cBhvr>
                                        <p:cTn id="22" dur="1000" fill="hold"/>
                                        <p:tgtEl>
                                          <p:spTgt spid="15"/>
                                        </p:tgtEl>
                                        <p:attrNameLst>
                                          <p:attrName>ppt_x</p:attrName>
                                        </p:attrNameLst>
                                      </p:cBhvr>
                                      <p:tavLst>
                                        <p:tav tm="0">
                                          <p:val>
                                            <p:strVal val="#ppt_x"/>
                                          </p:val>
                                        </p:tav>
                                        <p:tav tm="100000">
                                          <p:val>
                                            <p:strVal val="#ppt_x"/>
                                          </p:val>
                                        </p:tav>
                                      </p:tavLst>
                                    </p:anim>
                                    <p:anim calcmode="lin" valueType="num">
                                      <p:cBhvr>
                                        <p:cTn id="23"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childTnLst>
                          </p:cTn>
                        </p:par>
                        <p:par>
                          <p:cTn id="28" fill="hold">
                            <p:stCondLst>
                              <p:cond delay="0"/>
                            </p:stCondLst>
                            <p:childTnLst>
                              <p:par>
                                <p:cTn id="29" presetID="10" presetClass="entr" presetSubtype="0" fill="hold" nodeType="afterEffect">
                                  <p:stCondLst>
                                    <p:cond delay="100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2000"/>
                                        <p:tgtEl>
                                          <p:spTgt spid="8"/>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16"/>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24"/>
                                        </p:tgtEl>
                                        <p:attrNameLst>
                                          <p:attrName>style.visibility</p:attrName>
                                        </p:attrNameLst>
                                      </p:cBhvr>
                                      <p:to>
                                        <p:strVal val="visible"/>
                                      </p:to>
                                    </p:set>
                                    <p:animEffect transition="in" filter="fade">
                                      <p:cBhvr>
                                        <p:cTn id="40" dur="1000"/>
                                        <p:tgtEl>
                                          <p:spTgt spid="24"/>
                                        </p:tgtEl>
                                      </p:cBhvr>
                                    </p:animEffect>
                                    <p:anim calcmode="lin" valueType="num">
                                      <p:cBhvr>
                                        <p:cTn id="41" dur="1000" fill="hold"/>
                                        <p:tgtEl>
                                          <p:spTgt spid="24"/>
                                        </p:tgtEl>
                                        <p:attrNameLst>
                                          <p:attrName>ppt_x</p:attrName>
                                        </p:attrNameLst>
                                      </p:cBhvr>
                                      <p:tavLst>
                                        <p:tav tm="0">
                                          <p:val>
                                            <p:strVal val="#ppt_x"/>
                                          </p:val>
                                        </p:tav>
                                        <p:tav tm="100000">
                                          <p:val>
                                            <p:strVal val="#ppt_x"/>
                                          </p:val>
                                        </p:tav>
                                      </p:tavLst>
                                    </p:anim>
                                    <p:anim calcmode="lin" valueType="num">
                                      <p:cBhvr>
                                        <p:cTn id="42"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0" grpId="0"/>
      <p:bldP spid="16" grpId="0"/>
      <p:bldP spid="2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3A2F4EDE-76E6-4033-B027-61546EFF67C8}"/>
              </a:ext>
            </a:extLst>
          </p:cNvPr>
          <p:cNvSpPr txBox="1"/>
          <p:nvPr/>
        </p:nvSpPr>
        <p:spPr>
          <a:xfrm>
            <a:off x="2515927" y="-55248"/>
            <a:ext cx="4768993"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指针变量的算术运算</a:t>
            </a:r>
            <a:endParaRPr lang="zh-CN" altLang="en-US" sz="3200" b="1" dirty="0">
              <a:solidFill>
                <a:srgbClr val="200AC4"/>
              </a:solidFill>
              <a:ea typeface="隶书" pitchFamily="49" charset="-122"/>
            </a:endParaRPr>
          </a:p>
        </p:txBody>
      </p:sp>
      <p:sp>
        <p:nvSpPr>
          <p:cNvPr id="4" name="矩形 3">
            <a:extLst>
              <a:ext uri="{FF2B5EF4-FFF2-40B4-BE49-F238E27FC236}">
                <a16:creationId xmlns:a16="http://schemas.microsoft.com/office/drawing/2014/main" id="{A83E21D4-246A-40D5-AA75-2E313AC665B4}"/>
              </a:ext>
            </a:extLst>
          </p:cNvPr>
          <p:cNvSpPr/>
          <p:nvPr/>
        </p:nvSpPr>
        <p:spPr>
          <a:xfrm>
            <a:off x="4591" y="576679"/>
            <a:ext cx="12158444" cy="461665"/>
          </a:xfrm>
          <a:prstGeom prst="rect">
            <a:avLst/>
          </a:prstGeom>
        </p:spPr>
        <p:txBody>
          <a:bodyPr wrap="square">
            <a:spAutoFit/>
          </a:bodyPr>
          <a:lstStyle/>
          <a:p>
            <a:pPr marL="0" lvl="1"/>
            <a:r>
              <a:rPr lang="en-US" altLang="zh-CN" sz="2400" b="1" dirty="0">
                <a:solidFill>
                  <a:srgbClr val="00B0F0"/>
                </a:solidFill>
                <a:latin typeface="隶书" pitchFamily="49" charset="-122"/>
              </a:rPr>
              <a:t>1.</a:t>
            </a:r>
            <a:r>
              <a:rPr lang="zh-CN" altLang="en-US" sz="2400" b="1" dirty="0">
                <a:solidFill>
                  <a:srgbClr val="00B0F0"/>
                </a:solidFill>
                <a:latin typeface="隶书" pitchFamily="49" charset="-122"/>
              </a:rPr>
              <a:t>指针变量加减整形常量</a:t>
            </a:r>
            <a:r>
              <a:rPr lang="zh-CN" altLang="en-US" sz="2400" b="1" dirty="0">
                <a:latin typeface="隶书" pitchFamily="49" charset="-122"/>
              </a:rPr>
              <a:t>：</a:t>
            </a:r>
          </a:p>
        </p:txBody>
      </p:sp>
      <p:sp>
        <p:nvSpPr>
          <p:cNvPr id="5" name="Rectangle 2">
            <a:extLst>
              <a:ext uri="{FF2B5EF4-FFF2-40B4-BE49-F238E27FC236}">
                <a16:creationId xmlns:a16="http://schemas.microsoft.com/office/drawing/2014/main" id="{298553FE-C73B-4992-B9BE-393063D6C3B5}"/>
              </a:ext>
            </a:extLst>
          </p:cNvPr>
          <p:cNvSpPr txBox="1">
            <a:spLocks noChangeArrowheads="1"/>
          </p:cNvSpPr>
          <p:nvPr/>
        </p:nvSpPr>
        <p:spPr>
          <a:xfrm>
            <a:off x="2181180" y="1154294"/>
            <a:ext cx="6383381" cy="1815882"/>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0000FF"/>
                </a:solidFill>
              </a:rPr>
              <a:t>int</a:t>
            </a:r>
            <a:r>
              <a:rPr lang="zh-CN" altLang="en-US" b="1" dirty="0">
                <a:solidFill>
                  <a:srgbClr val="0000FF"/>
                </a:solidFill>
              </a:rPr>
              <a:t> </a:t>
            </a:r>
            <a:r>
              <a:rPr lang="en-US" altLang="zh-CN" b="1" dirty="0"/>
              <a:t>a</a:t>
            </a:r>
            <a:r>
              <a:rPr lang="en-US" altLang="zh-CN" b="1" dirty="0">
                <a:solidFill>
                  <a:srgbClr val="FF0000"/>
                </a:solidFill>
              </a:rPr>
              <a:t>[</a:t>
            </a:r>
            <a:r>
              <a:rPr lang="en-US" altLang="zh-CN" b="1"/>
              <a:t>10</a:t>
            </a:r>
            <a:r>
              <a:rPr lang="en-US" altLang="zh-CN" b="1">
                <a:solidFill>
                  <a:srgbClr val="FF0000"/>
                </a:solidFill>
              </a:rPr>
              <a:t>]</a:t>
            </a:r>
            <a:r>
              <a:rPr lang="en-US" altLang="zh-CN" b="1"/>
              <a:t>;</a:t>
            </a:r>
            <a:endParaRPr lang="en-US" altLang="zh-CN" b="1" dirty="0"/>
          </a:p>
          <a:p>
            <a:pPr marL="0" indent="0">
              <a:lnSpc>
                <a:spcPct val="100000"/>
              </a:lnSpc>
              <a:spcBef>
                <a:spcPct val="0"/>
              </a:spcBef>
              <a:buClr>
                <a:schemeClr val="tx2"/>
              </a:buClr>
              <a:buSzPct val="70000"/>
              <a:buNone/>
            </a:pPr>
            <a:r>
              <a:rPr lang="en-US" altLang="zh-CN" b="1" dirty="0">
                <a:solidFill>
                  <a:srgbClr val="0000FF"/>
                </a:solidFill>
              </a:rPr>
              <a:t>int</a:t>
            </a:r>
            <a:r>
              <a:rPr lang="en-US" altLang="zh-CN" b="1" dirty="0"/>
              <a:t> </a:t>
            </a:r>
            <a:r>
              <a:rPr lang="en-US" altLang="zh-CN" b="1" dirty="0">
                <a:solidFill>
                  <a:srgbClr val="FF0000"/>
                </a:solidFill>
              </a:rPr>
              <a:t>*</a:t>
            </a:r>
            <a:r>
              <a:rPr lang="en-US" altLang="zh-CN" b="1" dirty="0"/>
              <a:t>p = a;</a:t>
            </a:r>
          </a:p>
          <a:p>
            <a:pPr marL="0" indent="0">
              <a:lnSpc>
                <a:spcPct val="100000"/>
              </a:lnSpc>
              <a:spcBef>
                <a:spcPct val="0"/>
              </a:spcBef>
              <a:buClr>
                <a:schemeClr val="tx2"/>
              </a:buClr>
              <a:buSzPct val="70000"/>
              <a:buNone/>
            </a:pPr>
            <a:r>
              <a:rPr lang="en-US" altLang="zh-CN" b="1" dirty="0"/>
              <a:t>p = </a:t>
            </a:r>
            <a:r>
              <a:rPr lang="en-US" altLang="zh-CN" b="1" dirty="0">
                <a:solidFill>
                  <a:srgbClr val="00B0F0"/>
                </a:solidFill>
              </a:rPr>
              <a:t>p + n</a:t>
            </a:r>
            <a:r>
              <a:rPr lang="en-US" altLang="zh-CN" b="1" dirty="0"/>
              <a:t>;</a:t>
            </a:r>
          </a:p>
          <a:p>
            <a:pPr marL="0" indent="0">
              <a:lnSpc>
                <a:spcPct val="100000"/>
              </a:lnSpc>
              <a:spcBef>
                <a:spcPct val="0"/>
              </a:spcBef>
              <a:buClr>
                <a:schemeClr val="tx2"/>
              </a:buClr>
              <a:buSzPct val="70000"/>
              <a:buNone/>
            </a:pPr>
            <a:r>
              <a:rPr lang="en-US" altLang="zh-CN" b="1" dirty="0"/>
              <a:t>p = </a:t>
            </a:r>
            <a:r>
              <a:rPr lang="en-US" altLang="zh-CN" b="1" dirty="0">
                <a:solidFill>
                  <a:srgbClr val="00B0F0"/>
                </a:solidFill>
              </a:rPr>
              <a:t>p - n</a:t>
            </a:r>
            <a:r>
              <a:rPr lang="en-US" altLang="zh-CN" b="1" dirty="0"/>
              <a:t>;</a:t>
            </a:r>
          </a:p>
        </p:txBody>
      </p:sp>
      <p:sp>
        <p:nvSpPr>
          <p:cNvPr id="14" name="矩形 13">
            <a:extLst>
              <a:ext uri="{FF2B5EF4-FFF2-40B4-BE49-F238E27FC236}">
                <a16:creationId xmlns:a16="http://schemas.microsoft.com/office/drawing/2014/main" id="{921B5EFB-5B34-4AEE-A5DC-86DD765D6378}"/>
              </a:ext>
            </a:extLst>
          </p:cNvPr>
          <p:cNvSpPr/>
          <p:nvPr/>
        </p:nvSpPr>
        <p:spPr>
          <a:xfrm>
            <a:off x="66410" y="3429000"/>
            <a:ext cx="12158444" cy="461665"/>
          </a:xfrm>
          <a:prstGeom prst="rect">
            <a:avLst/>
          </a:prstGeom>
        </p:spPr>
        <p:txBody>
          <a:bodyPr wrap="square">
            <a:spAutoFit/>
          </a:bodyPr>
          <a:lstStyle/>
          <a:p>
            <a:pPr marL="0" lvl="1"/>
            <a:r>
              <a:rPr lang="en-US" altLang="zh-CN" sz="2400" b="1" dirty="0">
                <a:solidFill>
                  <a:srgbClr val="00B0F0"/>
                </a:solidFill>
                <a:latin typeface="隶书" pitchFamily="49" charset="-122"/>
              </a:rPr>
              <a:t>2.</a:t>
            </a:r>
            <a:r>
              <a:rPr lang="zh-CN" altLang="en-US" sz="2400" b="1" dirty="0">
                <a:solidFill>
                  <a:srgbClr val="00B0F0"/>
                </a:solidFill>
                <a:latin typeface="隶书" pitchFamily="49" charset="-122"/>
              </a:rPr>
              <a:t>两个指针相减</a:t>
            </a:r>
            <a:r>
              <a:rPr lang="zh-CN" altLang="en-US" sz="2400" b="1" dirty="0">
                <a:latin typeface="隶书" pitchFamily="49" charset="-122"/>
              </a:rPr>
              <a:t>：</a:t>
            </a:r>
          </a:p>
        </p:txBody>
      </p:sp>
      <p:sp>
        <p:nvSpPr>
          <p:cNvPr id="15" name="Rectangle 2">
            <a:extLst>
              <a:ext uri="{FF2B5EF4-FFF2-40B4-BE49-F238E27FC236}">
                <a16:creationId xmlns:a16="http://schemas.microsoft.com/office/drawing/2014/main" id="{72DA2C33-EDF4-4DBE-9707-708A4BFA9C02}"/>
              </a:ext>
            </a:extLst>
          </p:cNvPr>
          <p:cNvSpPr txBox="1">
            <a:spLocks noChangeArrowheads="1"/>
          </p:cNvSpPr>
          <p:nvPr/>
        </p:nvSpPr>
        <p:spPr>
          <a:xfrm>
            <a:off x="2104980" y="4107698"/>
            <a:ext cx="6459581" cy="1815882"/>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0000FF"/>
                </a:solidFill>
              </a:rPr>
              <a:t>int</a:t>
            </a:r>
            <a:r>
              <a:rPr lang="zh-CN" altLang="en-US" b="1" dirty="0">
                <a:solidFill>
                  <a:srgbClr val="0000FF"/>
                </a:solidFill>
              </a:rPr>
              <a:t> </a:t>
            </a:r>
            <a:r>
              <a:rPr lang="en-US" altLang="zh-CN" b="1" dirty="0"/>
              <a:t>a</a:t>
            </a:r>
            <a:r>
              <a:rPr lang="en-US" altLang="zh-CN" b="1" dirty="0">
                <a:solidFill>
                  <a:srgbClr val="FF0000"/>
                </a:solidFill>
              </a:rPr>
              <a:t>[</a:t>
            </a:r>
            <a:r>
              <a:rPr lang="en-US" altLang="zh-CN" b="1" dirty="0"/>
              <a:t>10</a:t>
            </a:r>
            <a:r>
              <a:rPr lang="en-US" altLang="zh-CN" b="1" dirty="0">
                <a:solidFill>
                  <a:srgbClr val="FF0000"/>
                </a:solidFill>
              </a:rPr>
              <a:t>] *</a:t>
            </a:r>
            <a:r>
              <a:rPr lang="en-US" altLang="zh-CN" b="1" dirty="0"/>
              <a:t>p1,</a:t>
            </a:r>
            <a:r>
              <a:rPr lang="en-US" altLang="zh-CN" b="1" dirty="0">
                <a:solidFill>
                  <a:srgbClr val="FF0000"/>
                </a:solidFill>
              </a:rPr>
              <a:t> *</a:t>
            </a:r>
            <a:r>
              <a:rPr lang="en-US" altLang="zh-CN" b="1" dirty="0"/>
              <a:t>p2;</a:t>
            </a:r>
          </a:p>
          <a:p>
            <a:pPr marL="0" indent="0">
              <a:lnSpc>
                <a:spcPct val="100000"/>
              </a:lnSpc>
              <a:spcBef>
                <a:spcPct val="0"/>
              </a:spcBef>
              <a:buClr>
                <a:schemeClr val="tx2"/>
              </a:buClr>
              <a:buSzPct val="70000"/>
              <a:buNone/>
            </a:pPr>
            <a:r>
              <a:rPr lang="en-US" altLang="zh-CN" b="1" dirty="0"/>
              <a:t>p1 = </a:t>
            </a:r>
            <a:r>
              <a:rPr lang="en-US" altLang="zh-CN" b="1" dirty="0">
                <a:solidFill>
                  <a:srgbClr val="FF0000"/>
                </a:solidFill>
              </a:rPr>
              <a:t>&amp;</a:t>
            </a:r>
            <a:r>
              <a:rPr lang="en-US" altLang="zh-CN" b="1" dirty="0"/>
              <a:t>a</a:t>
            </a:r>
            <a:r>
              <a:rPr lang="en-US" altLang="zh-CN" b="1" dirty="0">
                <a:solidFill>
                  <a:srgbClr val="FF0000"/>
                </a:solidFill>
              </a:rPr>
              <a:t>[</a:t>
            </a:r>
            <a:r>
              <a:rPr lang="en-US" altLang="zh-CN" b="1" dirty="0"/>
              <a:t>0</a:t>
            </a:r>
            <a:r>
              <a:rPr lang="en-US" altLang="zh-CN" b="1" dirty="0">
                <a:solidFill>
                  <a:srgbClr val="FF0000"/>
                </a:solidFill>
              </a:rPr>
              <a:t>]</a:t>
            </a:r>
            <a:r>
              <a:rPr lang="en-US" altLang="zh-CN" b="1" dirty="0"/>
              <a:t>;</a:t>
            </a:r>
          </a:p>
          <a:p>
            <a:pPr marL="0" indent="0">
              <a:lnSpc>
                <a:spcPct val="100000"/>
              </a:lnSpc>
              <a:spcBef>
                <a:spcPct val="0"/>
              </a:spcBef>
              <a:buClr>
                <a:schemeClr val="tx2"/>
              </a:buClr>
              <a:buSzPct val="70000"/>
              <a:buNone/>
            </a:pPr>
            <a:r>
              <a:rPr lang="en-US" altLang="zh-CN" b="1" dirty="0"/>
              <a:t>p2 = </a:t>
            </a:r>
            <a:r>
              <a:rPr lang="en-US" altLang="zh-CN" b="1" dirty="0">
                <a:solidFill>
                  <a:srgbClr val="FF0000"/>
                </a:solidFill>
              </a:rPr>
              <a:t>&amp;</a:t>
            </a:r>
            <a:r>
              <a:rPr lang="en-US" altLang="zh-CN" b="1" dirty="0"/>
              <a:t>a</a:t>
            </a:r>
            <a:r>
              <a:rPr lang="en-US" altLang="zh-CN" b="1" dirty="0">
                <a:solidFill>
                  <a:srgbClr val="FF0000"/>
                </a:solidFill>
              </a:rPr>
              <a:t>[</a:t>
            </a:r>
            <a:r>
              <a:rPr lang="en-US" altLang="zh-CN" b="1" dirty="0"/>
              <a:t>9</a:t>
            </a:r>
            <a:r>
              <a:rPr lang="en-US" altLang="zh-CN" b="1" dirty="0">
                <a:solidFill>
                  <a:srgbClr val="FF0000"/>
                </a:solidFill>
              </a:rPr>
              <a:t>]</a:t>
            </a:r>
            <a:r>
              <a:rPr lang="en-US" altLang="zh-CN" b="1" dirty="0"/>
              <a:t>;</a:t>
            </a:r>
          </a:p>
          <a:p>
            <a:pPr marL="0" indent="0">
              <a:lnSpc>
                <a:spcPct val="100000"/>
              </a:lnSpc>
              <a:spcBef>
                <a:spcPct val="0"/>
              </a:spcBef>
              <a:buClr>
                <a:schemeClr val="tx2"/>
              </a:buClr>
              <a:buSzPct val="70000"/>
              <a:buNone/>
            </a:pPr>
            <a:r>
              <a:rPr lang="en-US" altLang="zh-CN" b="1" dirty="0"/>
              <a:t>printf(</a:t>
            </a:r>
            <a:r>
              <a:rPr lang="en-US" altLang="zh-CN" b="1" dirty="0">
                <a:solidFill>
                  <a:srgbClr val="00B050"/>
                </a:solidFill>
              </a:rPr>
              <a:t>“%d\n”</a:t>
            </a:r>
            <a:r>
              <a:rPr lang="en-US" altLang="zh-CN" b="1" dirty="0"/>
              <a:t>, </a:t>
            </a:r>
            <a:r>
              <a:rPr lang="en-US" altLang="zh-CN" b="1" dirty="0">
                <a:solidFill>
                  <a:srgbClr val="00B0F0"/>
                </a:solidFill>
              </a:rPr>
              <a:t>p2 - p1</a:t>
            </a:r>
            <a:r>
              <a:rPr lang="en-US" altLang="zh-CN" b="1" dirty="0"/>
              <a:t>);</a:t>
            </a:r>
          </a:p>
        </p:txBody>
      </p:sp>
      <p:sp>
        <p:nvSpPr>
          <p:cNvPr id="16" name="文本框 15">
            <a:extLst>
              <a:ext uri="{FF2B5EF4-FFF2-40B4-BE49-F238E27FC236}">
                <a16:creationId xmlns:a16="http://schemas.microsoft.com/office/drawing/2014/main" id="{6220F03B-EC09-4971-943F-CF370457FF8E}"/>
              </a:ext>
            </a:extLst>
          </p:cNvPr>
          <p:cNvSpPr txBox="1"/>
          <p:nvPr/>
        </p:nvSpPr>
        <p:spPr>
          <a:xfrm>
            <a:off x="4172873" y="2141418"/>
            <a:ext cx="3821880" cy="369332"/>
          </a:xfrm>
          <a:prstGeom prst="rect">
            <a:avLst/>
          </a:prstGeom>
          <a:noFill/>
        </p:spPr>
        <p:txBody>
          <a:bodyPr wrap="none" rtlCol="0">
            <a:spAutoFit/>
          </a:bodyPr>
          <a:lstStyle/>
          <a:p>
            <a:r>
              <a:rPr lang="en-US" altLang="zh-CN" dirty="0">
                <a:solidFill>
                  <a:srgbClr val="00B050"/>
                </a:solidFill>
              </a:rPr>
              <a:t>//</a:t>
            </a:r>
            <a:r>
              <a:rPr lang="zh-CN" altLang="en-US" dirty="0">
                <a:solidFill>
                  <a:srgbClr val="00B050"/>
                </a:solidFill>
              </a:rPr>
              <a:t>使</a:t>
            </a:r>
            <a:r>
              <a:rPr lang="en-US" altLang="zh-CN" dirty="0">
                <a:solidFill>
                  <a:srgbClr val="00B050"/>
                </a:solidFill>
              </a:rPr>
              <a:t>p</a:t>
            </a:r>
            <a:r>
              <a:rPr lang="zh-CN" altLang="en-US" dirty="0">
                <a:solidFill>
                  <a:srgbClr val="00B050"/>
                </a:solidFill>
              </a:rPr>
              <a:t>指向当前元素之后的第</a:t>
            </a:r>
            <a:r>
              <a:rPr lang="en-US" altLang="zh-CN" dirty="0">
                <a:solidFill>
                  <a:srgbClr val="00B050"/>
                </a:solidFill>
              </a:rPr>
              <a:t>n</a:t>
            </a:r>
            <a:r>
              <a:rPr lang="zh-CN" altLang="en-US" dirty="0">
                <a:solidFill>
                  <a:srgbClr val="00B050"/>
                </a:solidFill>
              </a:rPr>
              <a:t>个元素</a:t>
            </a:r>
          </a:p>
        </p:txBody>
      </p:sp>
      <p:sp>
        <p:nvSpPr>
          <p:cNvPr id="17" name="文本框 16">
            <a:extLst>
              <a:ext uri="{FF2B5EF4-FFF2-40B4-BE49-F238E27FC236}">
                <a16:creationId xmlns:a16="http://schemas.microsoft.com/office/drawing/2014/main" id="{14C41F49-CF4C-46F0-B295-78C8820BC187}"/>
              </a:ext>
            </a:extLst>
          </p:cNvPr>
          <p:cNvSpPr txBox="1"/>
          <p:nvPr/>
        </p:nvSpPr>
        <p:spPr>
          <a:xfrm>
            <a:off x="4172873" y="2540327"/>
            <a:ext cx="3914854" cy="369332"/>
          </a:xfrm>
          <a:prstGeom prst="rect">
            <a:avLst/>
          </a:prstGeom>
          <a:noFill/>
        </p:spPr>
        <p:txBody>
          <a:bodyPr wrap="none" rtlCol="0">
            <a:spAutoFit/>
          </a:bodyPr>
          <a:lstStyle/>
          <a:p>
            <a:r>
              <a:rPr lang="en-US" altLang="zh-CN" dirty="0">
                <a:solidFill>
                  <a:srgbClr val="00B050"/>
                </a:solidFill>
              </a:rPr>
              <a:t>//</a:t>
            </a:r>
            <a:r>
              <a:rPr lang="zh-CN" altLang="en-US" dirty="0">
                <a:solidFill>
                  <a:srgbClr val="00B050"/>
                </a:solidFill>
              </a:rPr>
              <a:t>使</a:t>
            </a:r>
            <a:r>
              <a:rPr lang="en-US" altLang="zh-CN" dirty="0">
                <a:solidFill>
                  <a:srgbClr val="00B050"/>
                </a:solidFill>
              </a:rPr>
              <a:t>p</a:t>
            </a:r>
            <a:r>
              <a:rPr lang="zh-CN" altLang="en-US" dirty="0">
                <a:solidFill>
                  <a:srgbClr val="00B050"/>
                </a:solidFill>
              </a:rPr>
              <a:t>指向当前元素之前的第</a:t>
            </a:r>
            <a:r>
              <a:rPr lang="en-US" altLang="zh-CN" dirty="0">
                <a:solidFill>
                  <a:srgbClr val="00B050"/>
                </a:solidFill>
              </a:rPr>
              <a:t>n</a:t>
            </a:r>
            <a:r>
              <a:rPr lang="zh-CN" altLang="en-US" dirty="0">
                <a:solidFill>
                  <a:srgbClr val="00B050"/>
                </a:solidFill>
              </a:rPr>
              <a:t>个元素</a:t>
            </a:r>
          </a:p>
        </p:txBody>
      </p:sp>
      <p:sp>
        <p:nvSpPr>
          <p:cNvPr id="18" name="文本框 17">
            <a:extLst>
              <a:ext uri="{FF2B5EF4-FFF2-40B4-BE49-F238E27FC236}">
                <a16:creationId xmlns:a16="http://schemas.microsoft.com/office/drawing/2014/main" id="{11B6E18A-F245-42E9-AFFF-1DF21020EDDC}"/>
              </a:ext>
            </a:extLst>
          </p:cNvPr>
          <p:cNvSpPr txBox="1"/>
          <p:nvPr/>
        </p:nvSpPr>
        <p:spPr>
          <a:xfrm>
            <a:off x="5829097" y="5505905"/>
            <a:ext cx="2836033" cy="369332"/>
          </a:xfrm>
          <a:prstGeom prst="rect">
            <a:avLst/>
          </a:prstGeom>
          <a:noFill/>
        </p:spPr>
        <p:txBody>
          <a:bodyPr wrap="none" rtlCol="0">
            <a:spAutoFit/>
          </a:bodyPr>
          <a:lstStyle/>
          <a:p>
            <a:r>
              <a:rPr lang="en-US" altLang="zh-CN" dirty="0">
                <a:solidFill>
                  <a:srgbClr val="00B050"/>
                </a:solidFill>
              </a:rPr>
              <a:t>//p1</a:t>
            </a:r>
            <a:r>
              <a:rPr lang="zh-CN" altLang="en-US" dirty="0">
                <a:solidFill>
                  <a:srgbClr val="00B050"/>
                </a:solidFill>
              </a:rPr>
              <a:t>和</a:t>
            </a:r>
            <a:r>
              <a:rPr lang="en-US" altLang="zh-CN" dirty="0">
                <a:solidFill>
                  <a:srgbClr val="00B050"/>
                </a:solidFill>
              </a:rPr>
              <a:t>p2</a:t>
            </a:r>
            <a:r>
              <a:rPr lang="zh-CN" altLang="en-US" dirty="0">
                <a:solidFill>
                  <a:srgbClr val="00B050"/>
                </a:solidFill>
              </a:rPr>
              <a:t>之间相差</a:t>
            </a:r>
            <a:r>
              <a:rPr lang="en-US" altLang="zh-CN" dirty="0">
                <a:solidFill>
                  <a:srgbClr val="00B050"/>
                </a:solidFill>
              </a:rPr>
              <a:t>9</a:t>
            </a:r>
            <a:r>
              <a:rPr lang="zh-CN" altLang="en-US" dirty="0">
                <a:solidFill>
                  <a:srgbClr val="00B050"/>
                </a:solidFill>
              </a:rPr>
              <a:t>个元素</a:t>
            </a:r>
          </a:p>
        </p:txBody>
      </p:sp>
      <p:sp>
        <p:nvSpPr>
          <p:cNvPr id="19" name="灯片编号占位符 18">
            <a:extLst>
              <a:ext uri="{FF2B5EF4-FFF2-40B4-BE49-F238E27FC236}">
                <a16:creationId xmlns:a16="http://schemas.microsoft.com/office/drawing/2014/main" id="{8DF2CF31-5B5E-40A4-B06C-005BF323360E}"/>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10</a:t>
            </a:fld>
            <a:r>
              <a:rPr lang="en-US" altLang="zh-CN">
                <a:solidFill>
                  <a:prstClr val="black">
                    <a:tint val="75000"/>
                  </a:prstClr>
                </a:solidFill>
              </a:rPr>
              <a:t>/ 35</a:t>
            </a:r>
            <a:endParaRPr lang="zh-CN" altLang="en-US" dirty="0"/>
          </a:p>
        </p:txBody>
      </p:sp>
    </p:spTree>
    <p:extLst>
      <p:ext uri="{BB962C8B-B14F-4D97-AF65-F5344CB8AC3E}">
        <p14:creationId xmlns:p14="http://schemas.microsoft.com/office/powerpoint/2010/main" val="2334337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1000"/>
                                        <p:tgtEl>
                                          <p:spTgt spid="14"/>
                                        </p:tgtEl>
                                      </p:cBhvr>
                                    </p:animEffect>
                                    <p:anim calcmode="lin" valueType="num">
                                      <p:cBhvr>
                                        <p:cTn id="18" dur="1000" fill="hold"/>
                                        <p:tgtEl>
                                          <p:spTgt spid="14"/>
                                        </p:tgtEl>
                                        <p:attrNameLst>
                                          <p:attrName>ppt_x</p:attrName>
                                        </p:attrNameLst>
                                      </p:cBhvr>
                                      <p:tavLst>
                                        <p:tav tm="0">
                                          <p:val>
                                            <p:strVal val="#ppt_x"/>
                                          </p:val>
                                        </p:tav>
                                        <p:tav tm="100000">
                                          <p:val>
                                            <p:strVal val="#ppt_x"/>
                                          </p:val>
                                        </p:tav>
                                      </p:tavLst>
                                    </p:anim>
                                    <p:anim calcmode="lin" valueType="num">
                                      <p:cBhvr>
                                        <p:cTn id="19" dur="1000" fill="hold"/>
                                        <p:tgtEl>
                                          <p:spTgt spid="14"/>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1000"/>
                                        <p:tgtEl>
                                          <p:spTgt spid="15"/>
                                        </p:tgtEl>
                                      </p:cBhvr>
                                    </p:animEffect>
                                    <p:anim calcmode="lin" valueType="num">
                                      <p:cBhvr>
                                        <p:cTn id="23" dur="1000" fill="hold"/>
                                        <p:tgtEl>
                                          <p:spTgt spid="15"/>
                                        </p:tgtEl>
                                        <p:attrNameLst>
                                          <p:attrName>ppt_x</p:attrName>
                                        </p:attrNameLst>
                                      </p:cBhvr>
                                      <p:tavLst>
                                        <p:tav tm="0">
                                          <p:val>
                                            <p:strVal val="#ppt_x"/>
                                          </p:val>
                                        </p:tav>
                                        <p:tav tm="100000">
                                          <p:val>
                                            <p:strVal val="#ppt_x"/>
                                          </p:val>
                                        </p:tav>
                                      </p:tavLst>
                                    </p:anim>
                                    <p:anim calcmode="lin" valueType="num">
                                      <p:cBhvr>
                                        <p:cTn id="24"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14" grpId="0"/>
      <p:bldP spid="15" grpId="0" animBg="1"/>
      <p:bldP spid="16" grpId="0"/>
      <p:bldP spid="17" grpId="0"/>
      <p:bldP spid="1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298553FE-C73B-4992-B9BE-393063D6C3B5}"/>
              </a:ext>
            </a:extLst>
          </p:cNvPr>
          <p:cNvSpPr txBox="1">
            <a:spLocks noChangeArrowheads="1"/>
          </p:cNvSpPr>
          <p:nvPr/>
        </p:nvSpPr>
        <p:spPr>
          <a:xfrm>
            <a:off x="182326" y="997727"/>
            <a:ext cx="3239912" cy="4832092"/>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0000FF"/>
                </a:solidFill>
              </a:rPr>
              <a:t>int</a:t>
            </a:r>
            <a:r>
              <a:rPr lang="zh-CN" altLang="en-US" b="1" dirty="0">
                <a:solidFill>
                  <a:srgbClr val="0000FF"/>
                </a:solidFill>
              </a:rPr>
              <a:t> </a:t>
            </a:r>
            <a:r>
              <a:rPr lang="en-US" altLang="zh-CN" b="1" dirty="0"/>
              <a:t>a</a:t>
            </a:r>
            <a:r>
              <a:rPr lang="en-US" altLang="zh-CN" b="1" dirty="0">
                <a:solidFill>
                  <a:srgbClr val="FF0000"/>
                </a:solidFill>
              </a:rPr>
              <a:t>[</a:t>
            </a:r>
            <a:r>
              <a:rPr lang="en-US" altLang="zh-CN" b="1" dirty="0"/>
              <a:t>10</a:t>
            </a:r>
            <a:r>
              <a:rPr lang="en-US" altLang="zh-CN" b="1" dirty="0">
                <a:solidFill>
                  <a:srgbClr val="FF0000"/>
                </a:solidFill>
              </a:rPr>
              <a:t>]</a:t>
            </a:r>
            <a:r>
              <a:rPr lang="en-US" altLang="zh-CN" b="1" dirty="0"/>
              <a:t>, </a:t>
            </a:r>
            <a:r>
              <a:rPr lang="en-US" altLang="zh-CN" b="1" dirty="0">
                <a:solidFill>
                  <a:srgbClr val="FF0000"/>
                </a:solidFill>
              </a:rPr>
              <a:t>*</a:t>
            </a:r>
            <a:r>
              <a:rPr lang="en-US" altLang="zh-CN" b="1" dirty="0"/>
              <a:t>p1, </a:t>
            </a:r>
            <a:r>
              <a:rPr lang="en-US" altLang="zh-CN" b="1" dirty="0">
                <a:solidFill>
                  <a:srgbClr val="FF0000"/>
                </a:solidFill>
              </a:rPr>
              <a:t>*</a:t>
            </a:r>
            <a:r>
              <a:rPr lang="en-US" altLang="zh-CN" b="1" dirty="0"/>
              <a:t>p2;</a:t>
            </a:r>
          </a:p>
          <a:p>
            <a:pPr marL="0" indent="0">
              <a:lnSpc>
                <a:spcPct val="100000"/>
              </a:lnSpc>
              <a:spcBef>
                <a:spcPct val="0"/>
              </a:spcBef>
              <a:buClr>
                <a:schemeClr val="tx2"/>
              </a:buClr>
              <a:buSzPct val="70000"/>
              <a:buFont typeface="Arial" panose="020B0604020202020204" pitchFamily="34" charset="0"/>
              <a:buNone/>
            </a:pPr>
            <a:endParaRPr lang="en-US" altLang="zh-CN" b="1" dirty="0"/>
          </a:p>
          <a:p>
            <a:pPr marL="0" indent="0">
              <a:lnSpc>
                <a:spcPct val="100000"/>
              </a:lnSpc>
              <a:spcBef>
                <a:spcPct val="0"/>
              </a:spcBef>
              <a:buClr>
                <a:schemeClr val="tx2"/>
              </a:buClr>
              <a:buSzPct val="70000"/>
              <a:buNone/>
            </a:pPr>
            <a:r>
              <a:rPr lang="en-US" altLang="zh-CN" b="1" dirty="0"/>
              <a:t>p1 = a;</a:t>
            </a:r>
          </a:p>
          <a:p>
            <a:pPr marL="0" indent="0">
              <a:lnSpc>
                <a:spcPct val="100000"/>
              </a:lnSpc>
              <a:spcBef>
                <a:spcPct val="0"/>
              </a:spcBef>
              <a:buClr>
                <a:schemeClr val="tx2"/>
              </a:buClr>
              <a:buSzPct val="70000"/>
              <a:buNone/>
            </a:pPr>
            <a:r>
              <a:rPr lang="en-US" altLang="zh-CN" b="1" dirty="0"/>
              <a:t>p2 = </a:t>
            </a:r>
            <a:r>
              <a:rPr lang="en-US" altLang="zh-CN" b="1" dirty="0">
                <a:solidFill>
                  <a:srgbClr val="FF0000"/>
                </a:solidFill>
              </a:rPr>
              <a:t>&amp;</a:t>
            </a:r>
            <a:r>
              <a:rPr lang="en-US" altLang="zh-CN" b="1" dirty="0"/>
              <a:t>a</a:t>
            </a:r>
            <a:r>
              <a:rPr lang="en-US" altLang="zh-CN" b="1" dirty="0">
                <a:solidFill>
                  <a:srgbClr val="FF0000"/>
                </a:solidFill>
              </a:rPr>
              <a:t>[</a:t>
            </a:r>
            <a:r>
              <a:rPr lang="en-US" altLang="zh-CN" b="1" dirty="0"/>
              <a:t>9</a:t>
            </a:r>
            <a:r>
              <a:rPr lang="en-US" altLang="zh-CN" b="1" dirty="0">
                <a:solidFill>
                  <a:srgbClr val="FF0000"/>
                </a:solidFill>
              </a:rPr>
              <a:t>]</a:t>
            </a:r>
            <a:r>
              <a:rPr lang="en-US" altLang="zh-CN" b="1" dirty="0"/>
              <a:t>;</a:t>
            </a:r>
          </a:p>
          <a:p>
            <a:pPr marL="0" indent="0">
              <a:lnSpc>
                <a:spcPct val="100000"/>
              </a:lnSpc>
              <a:spcBef>
                <a:spcPct val="0"/>
              </a:spcBef>
              <a:buClr>
                <a:schemeClr val="tx2"/>
              </a:buClr>
              <a:buSzPct val="70000"/>
              <a:buNone/>
            </a:pPr>
            <a:endParaRPr lang="en-US" altLang="zh-CN" b="1" dirty="0">
              <a:solidFill>
                <a:srgbClr val="00B050"/>
              </a:solidFill>
            </a:endParaRPr>
          </a:p>
          <a:p>
            <a:pPr marL="0" indent="0">
              <a:lnSpc>
                <a:spcPct val="100000"/>
              </a:lnSpc>
              <a:spcBef>
                <a:spcPct val="0"/>
              </a:spcBef>
              <a:buClr>
                <a:schemeClr val="tx2"/>
              </a:buClr>
              <a:buSzPct val="70000"/>
              <a:buNone/>
            </a:pPr>
            <a:r>
              <a:rPr lang="en-US" altLang="zh-CN" b="1" dirty="0"/>
              <a:t>p1 += 5;</a:t>
            </a:r>
          </a:p>
          <a:p>
            <a:pPr marL="0" indent="0">
              <a:lnSpc>
                <a:spcPct val="100000"/>
              </a:lnSpc>
              <a:spcBef>
                <a:spcPct val="0"/>
              </a:spcBef>
              <a:buClr>
                <a:schemeClr val="tx2"/>
              </a:buClr>
              <a:buSzPct val="70000"/>
              <a:buNone/>
            </a:pPr>
            <a:endParaRPr lang="en-US" altLang="zh-CN" b="1" dirty="0"/>
          </a:p>
          <a:p>
            <a:pPr marL="0" indent="0">
              <a:lnSpc>
                <a:spcPct val="100000"/>
              </a:lnSpc>
              <a:spcBef>
                <a:spcPct val="0"/>
              </a:spcBef>
              <a:buClr>
                <a:schemeClr val="tx2"/>
              </a:buClr>
              <a:buSzPct val="70000"/>
              <a:buNone/>
            </a:pPr>
            <a:r>
              <a:rPr lang="en-US" altLang="zh-CN" b="1" dirty="0"/>
              <a:t>p2 -= 8;</a:t>
            </a:r>
          </a:p>
          <a:p>
            <a:pPr marL="0" indent="0">
              <a:lnSpc>
                <a:spcPct val="100000"/>
              </a:lnSpc>
              <a:spcBef>
                <a:spcPct val="0"/>
              </a:spcBef>
              <a:buClr>
                <a:schemeClr val="tx2"/>
              </a:buClr>
              <a:buSzPct val="70000"/>
              <a:buNone/>
            </a:pPr>
            <a:endParaRPr lang="en-US" altLang="zh-CN" b="1" dirty="0"/>
          </a:p>
          <a:p>
            <a:pPr marL="0" indent="0">
              <a:lnSpc>
                <a:spcPct val="100000"/>
              </a:lnSpc>
              <a:spcBef>
                <a:spcPct val="0"/>
              </a:spcBef>
              <a:buClr>
                <a:schemeClr val="tx2"/>
              </a:buClr>
              <a:buSzPct val="70000"/>
              <a:buNone/>
            </a:pPr>
            <a:r>
              <a:rPr lang="en-US" altLang="zh-CN" b="1" dirty="0"/>
              <a:t>p1--;</a:t>
            </a:r>
          </a:p>
          <a:p>
            <a:pPr marL="0" indent="0">
              <a:lnSpc>
                <a:spcPct val="100000"/>
              </a:lnSpc>
              <a:spcBef>
                <a:spcPct val="0"/>
              </a:spcBef>
              <a:buClr>
                <a:schemeClr val="tx2"/>
              </a:buClr>
              <a:buSzPct val="70000"/>
              <a:buNone/>
            </a:pPr>
            <a:r>
              <a:rPr lang="en-US" altLang="zh-CN" b="1" dirty="0"/>
              <a:t>p2++;</a:t>
            </a:r>
          </a:p>
        </p:txBody>
      </p:sp>
      <p:cxnSp>
        <p:nvCxnSpPr>
          <p:cNvPr id="7" name="直接箭头连接符 6">
            <a:extLst>
              <a:ext uri="{FF2B5EF4-FFF2-40B4-BE49-F238E27FC236}">
                <a16:creationId xmlns:a16="http://schemas.microsoft.com/office/drawing/2014/main" id="{7E18037E-0BA6-45CF-88A3-5B43DA51212F}"/>
              </a:ext>
            </a:extLst>
          </p:cNvPr>
          <p:cNvCxnSpPr>
            <a:cxnSpLocks/>
          </p:cNvCxnSpPr>
          <p:nvPr/>
        </p:nvCxnSpPr>
        <p:spPr>
          <a:xfrm>
            <a:off x="11586561" y="2879683"/>
            <a:ext cx="6479" cy="487102"/>
          </a:xfrm>
          <a:prstGeom prst="straightConnector1">
            <a:avLst/>
          </a:prstGeom>
          <a:ln w="28575">
            <a:solidFill>
              <a:srgbClr val="FF0000"/>
            </a:solidFill>
            <a:headEnd type="none" w="lg" len="lg"/>
            <a:tailEnd type="triangle" w="med" len="med"/>
          </a:ln>
        </p:spPr>
        <p:style>
          <a:lnRef idx="1">
            <a:schemeClr val="dk1"/>
          </a:lnRef>
          <a:fillRef idx="0">
            <a:schemeClr val="dk1"/>
          </a:fillRef>
          <a:effectRef idx="0">
            <a:schemeClr val="dk1"/>
          </a:effectRef>
          <a:fontRef idx="minor">
            <a:schemeClr val="tx1"/>
          </a:fontRef>
        </p:style>
      </p:cxnSp>
      <p:grpSp>
        <p:nvGrpSpPr>
          <p:cNvPr id="26" name="组合 25">
            <a:extLst>
              <a:ext uri="{FF2B5EF4-FFF2-40B4-BE49-F238E27FC236}">
                <a16:creationId xmlns:a16="http://schemas.microsoft.com/office/drawing/2014/main" id="{7E8AFD67-1D98-45C4-9416-1377C9751D9D}"/>
              </a:ext>
            </a:extLst>
          </p:cNvPr>
          <p:cNvGrpSpPr/>
          <p:nvPr/>
        </p:nvGrpSpPr>
        <p:grpSpPr>
          <a:xfrm>
            <a:off x="5095952" y="2431232"/>
            <a:ext cx="1055029" cy="477054"/>
            <a:chOff x="5095952" y="2431232"/>
            <a:chExt cx="1055029" cy="477054"/>
          </a:xfrm>
        </p:grpSpPr>
        <p:sp>
          <p:nvSpPr>
            <p:cNvPr id="9" name="矩形 8">
              <a:extLst>
                <a:ext uri="{FF2B5EF4-FFF2-40B4-BE49-F238E27FC236}">
                  <a16:creationId xmlns:a16="http://schemas.microsoft.com/office/drawing/2014/main" id="{B7506051-3444-46CA-AD3A-4F27D7DEBBD6}"/>
                </a:ext>
              </a:extLst>
            </p:cNvPr>
            <p:cNvSpPr/>
            <p:nvPr/>
          </p:nvSpPr>
          <p:spPr>
            <a:xfrm>
              <a:off x="5651407" y="2459835"/>
              <a:ext cx="499574" cy="419848"/>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56A27B07-C7C1-4191-9272-04F67FBA57BD}"/>
                </a:ext>
              </a:extLst>
            </p:cNvPr>
            <p:cNvSpPr txBox="1"/>
            <p:nvPr/>
          </p:nvSpPr>
          <p:spPr>
            <a:xfrm>
              <a:off x="5095952" y="2431232"/>
              <a:ext cx="599844" cy="477054"/>
            </a:xfrm>
            <a:prstGeom prst="rect">
              <a:avLst/>
            </a:prstGeom>
            <a:noFill/>
          </p:spPr>
          <p:txBody>
            <a:bodyPr wrap="none" tIns="0" rtlCol="0" anchor="ctr" anchorCtr="1">
              <a:spAutoFit/>
            </a:bodyPr>
            <a:lstStyle/>
            <a:p>
              <a:r>
                <a:rPr lang="en-US" altLang="zh-CN" sz="2800" b="1" dirty="0"/>
                <a:t>p2</a:t>
              </a:r>
              <a:endParaRPr lang="zh-CN" altLang="en-US" b="1" dirty="0"/>
            </a:p>
          </p:txBody>
        </p:sp>
      </p:grpSp>
      <p:graphicFrame>
        <p:nvGraphicFramePr>
          <p:cNvPr id="15" name="表格 14">
            <a:extLst>
              <a:ext uri="{FF2B5EF4-FFF2-40B4-BE49-F238E27FC236}">
                <a16:creationId xmlns:a16="http://schemas.microsoft.com/office/drawing/2014/main" id="{C787098B-EF89-44B3-885C-FF8B210C3D4C}"/>
              </a:ext>
            </a:extLst>
          </p:cNvPr>
          <p:cNvGraphicFramePr>
            <a:graphicFrameLocks noGrp="1"/>
          </p:cNvGraphicFramePr>
          <p:nvPr>
            <p:extLst>
              <p:ext uri="{D42A27DB-BD31-4B8C-83A1-F6EECF244321}">
                <p14:modId xmlns:p14="http://schemas.microsoft.com/office/powerpoint/2010/main" val="2757171791"/>
              </p:ext>
            </p:extLst>
          </p:nvPr>
        </p:nvGraphicFramePr>
        <p:xfrm>
          <a:off x="4303464" y="3389741"/>
          <a:ext cx="7706210" cy="487102"/>
        </p:xfrm>
        <a:graphic>
          <a:graphicData uri="http://schemas.openxmlformats.org/drawingml/2006/table">
            <a:tbl>
              <a:tblPr firstRow="1" bandRow="1">
                <a:noFill/>
                <a:tableStyleId>{5940675A-B579-460E-94D1-54222C63F5DA}</a:tableStyleId>
              </a:tblPr>
              <a:tblGrid>
                <a:gridCol w="770621">
                  <a:extLst>
                    <a:ext uri="{9D8B030D-6E8A-4147-A177-3AD203B41FA5}">
                      <a16:colId xmlns:a16="http://schemas.microsoft.com/office/drawing/2014/main" val="2047929024"/>
                    </a:ext>
                  </a:extLst>
                </a:gridCol>
                <a:gridCol w="770621">
                  <a:extLst>
                    <a:ext uri="{9D8B030D-6E8A-4147-A177-3AD203B41FA5}">
                      <a16:colId xmlns:a16="http://schemas.microsoft.com/office/drawing/2014/main" val="2720648951"/>
                    </a:ext>
                  </a:extLst>
                </a:gridCol>
                <a:gridCol w="770621">
                  <a:extLst>
                    <a:ext uri="{9D8B030D-6E8A-4147-A177-3AD203B41FA5}">
                      <a16:colId xmlns:a16="http://schemas.microsoft.com/office/drawing/2014/main" val="3634192343"/>
                    </a:ext>
                  </a:extLst>
                </a:gridCol>
                <a:gridCol w="770621">
                  <a:extLst>
                    <a:ext uri="{9D8B030D-6E8A-4147-A177-3AD203B41FA5}">
                      <a16:colId xmlns:a16="http://schemas.microsoft.com/office/drawing/2014/main" val="3044103780"/>
                    </a:ext>
                  </a:extLst>
                </a:gridCol>
                <a:gridCol w="770621">
                  <a:extLst>
                    <a:ext uri="{9D8B030D-6E8A-4147-A177-3AD203B41FA5}">
                      <a16:colId xmlns:a16="http://schemas.microsoft.com/office/drawing/2014/main" val="639062456"/>
                    </a:ext>
                  </a:extLst>
                </a:gridCol>
                <a:gridCol w="770621">
                  <a:extLst>
                    <a:ext uri="{9D8B030D-6E8A-4147-A177-3AD203B41FA5}">
                      <a16:colId xmlns:a16="http://schemas.microsoft.com/office/drawing/2014/main" val="2061148105"/>
                    </a:ext>
                  </a:extLst>
                </a:gridCol>
                <a:gridCol w="770621">
                  <a:extLst>
                    <a:ext uri="{9D8B030D-6E8A-4147-A177-3AD203B41FA5}">
                      <a16:colId xmlns:a16="http://schemas.microsoft.com/office/drawing/2014/main" val="1553186169"/>
                    </a:ext>
                  </a:extLst>
                </a:gridCol>
                <a:gridCol w="770621">
                  <a:extLst>
                    <a:ext uri="{9D8B030D-6E8A-4147-A177-3AD203B41FA5}">
                      <a16:colId xmlns:a16="http://schemas.microsoft.com/office/drawing/2014/main" val="604826219"/>
                    </a:ext>
                  </a:extLst>
                </a:gridCol>
                <a:gridCol w="770621">
                  <a:extLst>
                    <a:ext uri="{9D8B030D-6E8A-4147-A177-3AD203B41FA5}">
                      <a16:colId xmlns:a16="http://schemas.microsoft.com/office/drawing/2014/main" val="1768730732"/>
                    </a:ext>
                  </a:extLst>
                </a:gridCol>
                <a:gridCol w="770621">
                  <a:extLst>
                    <a:ext uri="{9D8B030D-6E8A-4147-A177-3AD203B41FA5}">
                      <a16:colId xmlns:a16="http://schemas.microsoft.com/office/drawing/2014/main" val="2958785422"/>
                    </a:ext>
                  </a:extLst>
                </a:gridCol>
              </a:tblGrid>
              <a:tr h="487102">
                <a:tc>
                  <a:txBody>
                    <a:bodyPr/>
                    <a:lstStyle/>
                    <a:p>
                      <a:endParaRPr lang="zh-CN" altLang="en-US" dirty="0"/>
                    </a:p>
                  </a:txBody>
                  <a:tcPr>
                    <a:cell3D prstMaterial="dkEdge">
                      <a:bevel w="50800" prst="hardEdge"/>
                      <a:lightRig rig="flood" dir="t"/>
                    </a:cell3D>
                  </a:tcPr>
                </a:tc>
                <a:tc>
                  <a:txBody>
                    <a:bodyPr/>
                    <a:lstStyle/>
                    <a:p>
                      <a:endParaRPr lang="zh-CN" altLang="en-US" dirty="0"/>
                    </a:p>
                  </a:txBody>
                  <a:tcPr>
                    <a:cell3D prstMaterial="dkEdge">
                      <a:bevel w="50800" prst="hardEdge"/>
                      <a:lightRig rig="flood" dir="t"/>
                    </a:cell3D>
                  </a:tcPr>
                </a:tc>
                <a:tc>
                  <a:txBody>
                    <a:bodyPr/>
                    <a:lstStyle/>
                    <a:p>
                      <a:endParaRPr lang="zh-CN" altLang="en-US" dirty="0"/>
                    </a:p>
                  </a:txBody>
                  <a:tcPr>
                    <a:cell3D prstMaterial="dkEdge">
                      <a:bevel w="50800" prst="hardEdge"/>
                      <a:lightRig rig="flood" dir="t"/>
                    </a:cell3D>
                  </a:tcPr>
                </a:tc>
                <a:tc>
                  <a:txBody>
                    <a:bodyPr/>
                    <a:lstStyle/>
                    <a:p>
                      <a:endParaRPr lang="zh-CN" altLang="en-US"/>
                    </a:p>
                  </a:txBody>
                  <a:tcPr>
                    <a:cell3D prstMaterial="dkEdge">
                      <a:bevel w="50800" prst="hardEdge"/>
                      <a:lightRig rig="flood" dir="t"/>
                    </a:cell3D>
                  </a:tcPr>
                </a:tc>
                <a:tc>
                  <a:txBody>
                    <a:bodyPr/>
                    <a:lstStyle/>
                    <a:p>
                      <a:endParaRPr lang="zh-CN" altLang="en-US" dirty="0"/>
                    </a:p>
                  </a:txBody>
                  <a:tcPr>
                    <a:cell3D prstMaterial="dkEdge">
                      <a:bevel w="50800" prst="hardEdge"/>
                      <a:lightRig rig="flood" dir="t"/>
                    </a:cell3D>
                  </a:tcPr>
                </a:tc>
                <a:tc>
                  <a:txBody>
                    <a:bodyPr/>
                    <a:lstStyle/>
                    <a:p>
                      <a:endParaRPr lang="zh-CN" altLang="en-US" dirty="0"/>
                    </a:p>
                  </a:txBody>
                  <a:tcPr>
                    <a:cell3D prstMaterial="dkEdge">
                      <a:bevel w="50800" prst="hardEdge"/>
                      <a:lightRig rig="flood" dir="t"/>
                    </a:cell3D>
                  </a:tcPr>
                </a:tc>
                <a:tc>
                  <a:txBody>
                    <a:bodyPr/>
                    <a:lstStyle/>
                    <a:p>
                      <a:endParaRPr lang="zh-CN" altLang="en-US"/>
                    </a:p>
                  </a:txBody>
                  <a:tcPr>
                    <a:cell3D prstMaterial="dkEdge">
                      <a:bevel w="50800" prst="hardEdge"/>
                      <a:lightRig rig="flood" dir="t"/>
                    </a:cell3D>
                  </a:tcPr>
                </a:tc>
                <a:tc>
                  <a:txBody>
                    <a:bodyPr/>
                    <a:lstStyle/>
                    <a:p>
                      <a:endParaRPr lang="zh-CN" altLang="en-US"/>
                    </a:p>
                  </a:txBody>
                  <a:tcPr>
                    <a:cell3D prstMaterial="dkEdge">
                      <a:bevel w="50800" prst="hardEdge"/>
                      <a:lightRig rig="flood" dir="t"/>
                    </a:cell3D>
                  </a:tcPr>
                </a:tc>
                <a:tc>
                  <a:txBody>
                    <a:bodyPr/>
                    <a:lstStyle/>
                    <a:p>
                      <a:endParaRPr lang="zh-CN" altLang="en-US"/>
                    </a:p>
                  </a:txBody>
                  <a:tcPr>
                    <a:cell3D prstMaterial="dkEdge">
                      <a:bevel w="50800" prst="hardEdge"/>
                      <a:lightRig rig="flood" dir="t"/>
                    </a:cell3D>
                  </a:tcPr>
                </a:tc>
                <a:tc>
                  <a:txBody>
                    <a:bodyPr/>
                    <a:lstStyle/>
                    <a:p>
                      <a:endParaRPr lang="zh-CN" altLang="en-US" dirty="0"/>
                    </a:p>
                  </a:txBody>
                  <a:tcPr>
                    <a:cell3D prstMaterial="dkEdge">
                      <a:bevel w="50800" prst="hardEdge"/>
                      <a:lightRig rig="flood" dir="t"/>
                    </a:cell3D>
                  </a:tcPr>
                </a:tc>
                <a:extLst>
                  <a:ext uri="{0D108BD9-81ED-4DB2-BD59-A6C34878D82A}">
                    <a16:rowId xmlns:a16="http://schemas.microsoft.com/office/drawing/2014/main" val="3149790749"/>
                  </a:ext>
                </a:extLst>
              </a:tr>
            </a:tbl>
          </a:graphicData>
        </a:graphic>
      </p:graphicFrame>
      <p:graphicFrame>
        <p:nvGraphicFramePr>
          <p:cNvPr id="16" name="表格 5">
            <a:extLst>
              <a:ext uri="{FF2B5EF4-FFF2-40B4-BE49-F238E27FC236}">
                <a16:creationId xmlns:a16="http://schemas.microsoft.com/office/drawing/2014/main" id="{34E2DF15-214F-4E1B-9A27-D3F8306D2512}"/>
              </a:ext>
            </a:extLst>
          </p:cNvPr>
          <p:cNvGraphicFramePr>
            <a:graphicFrameLocks noGrp="1"/>
          </p:cNvGraphicFramePr>
          <p:nvPr>
            <p:extLst>
              <p:ext uri="{D42A27DB-BD31-4B8C-83A1-F6EECF244321}">
                <p14:modId xmlns:p14="http://schemas.microsoft.com/office/powerpoint/2010/main" val="205183953"/>
              </p:ext>
            </p:extLst>
          </p:nvPr>
        </p:nvGraphicFramePr>
        <p:xfrm>
          <a:off x="4303464" y="3874827"/>
          <a:ext cx="7706210" cy="487102"/>
        </p:xfrm>
        <a:graphic>
          <a:graphicData uri="http://schemas.openxmlformats.org/drawingml/2006/table">
            <a:tbl>
              <a:tblPr firstRow="1" bandRow="1">
                <a:noFill/>
                <a:tableStyleId>{5940675A-B579-460E-94D1-54222C63F5DA}</a:tableStyleId>
              </a:tblPr>
              <a:tblGrid>
                <a:gridCol w="770621">
                  <a:extLst>
                    <a:ext uri="{9D8B030D-6E8A-4147-A177-3AD203B41FA5}">
                      <a16:colId xmlns:a16="http://schemas.microsoft.com/office/drawing/2014/main" val="2047929024"/>
                    </a:ext>
                  </a:extLst>
                </a:gridCol>
                <a:gridCol w="770621">
                  <a:extLst>
                    <a:ext uri="{9D8B030D-6E8A-4147-A177-3AD203B41FA5}">
                      <a16:colId xmlns:a16="http://schemas.microsoft.com/office/drawing/2014/main" val="2720648951"/>
                    </a:ext>
                  </a:extLst>
                </a:gridCol>
                <a:gridCol w="770621">
                  <a:extLst>
                    <a:ext uri="{9D8B030D-6E8A-4147-A177-3AD203B41FA5}">
                      <a16:colId xmlns:a16="http://schemas.microsoft.com/office/drawing/2014/main" val="3634192343"/>
                    </a:ext>
                  </a:extLst>
                </a:gridCol>
                <a:gridCol w="770621">
                  <a:extLst>
                    <a:ext uri="{9D8B030D-6E8A-4147-A177-3AD203B41FA5}">
                      <a16:colId xmlns:a16="http://schemas.microsoft.com/office/drawing/2014/main" val="3044103780"/>
                    </a:ext>
                  </a:extLst>
                </a:gridCol>
                <a:gridCol w="770621">
                  <a:extLst>
                    <a:ext uri="{9D8B030D-6E8A-4147-A177-3AD203B41FA5}">
                      <a16:colId xmlns:a16="http://schemas.microsoft.com/office/drawing/2014/main" val="639062456"/>
                    </a:ext>
                  </a:extLst>
                </a:gridCol>
                <a:gridCol w="770621">
                  <a:extLst>
                    <a:ext uri="{9D8B030D-6E8A-4147-A177-3AD203B41FA5}">
                      <a16:colId xmlns:a16="http://schemas.microsoft.com/office/drawing/2014/main" val="2061148105"/>
                    </a:ext>
                  </a:extLst>
                </a:gridCol>
                <a:gridCol w="770621">
                  <a:extLst>
                    <a:ext uri="{9D8B030D-6E8A-4147-A177-3AD203B41FA5}">
                      <a16:colId xmlns:a16="http://schemas.microsoft.com/office/drawing/2014/main" val="1553186169"/>
                    </a:ext>
                  </a:extLst>
                </a:gridCol>
                <a:gridCol w="770621">
                  <a:extLst>
                    <a:ext uri="{9D8B030D-6E8A-4147-A177-3AD203B41FA5}">
                      <a16:colId xmlns:a16="http://schemas.microsoft.com/office/drawing/2014/main" val="604826219"/>
                    </a:ext>
                  </a:extLst>
                </a:gridCol>
                <a:gridCol w="770621">
                  <a:extLst>
                    <a:ext uri="{9D8B030D-6E8A-4147-A177-3AD203B41FA5}">
                      <a16:colId xmlns:a16="http://schemas.microsoft.com/office/drawing/2014/main" val="1768730732"/>
                    </a:ext>
                  </a:extLst>
                </a:gridCol>
                <a:gridCol w="770621">
                  <a:extLst>
                    <a:ext uri="{9D8B030D-6E8A-4147-A177-3AD203B41FA5}">
                      <a16:colId xmlns:a16="http://schemas.microsoft.com/office/drawing/2014/main" val="2958785422"/>
                    </a:ext>
                  </a:extLst>
                </a:gridCol>
              </a:tblGrid>
              <a:tr h="487102">
                <a:tc>
                  <a:txBody>
                    <a:bodyPr/>
                    <a:lstStyle/>
                    <a:p>
                      <a:pPr algn="ctr"/>
                      <a:r>
                        <a:rPr lang="en-US" altLang="zh-CN" b="1" dirty="0"/>
                        <a:t>0</a:t>
                      </a:r>
                      <a:endParaRPr lang="zh-CN" altLang="en-US" b="1"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CN" b="1" dirty="0"/>
                        <a:t>1</a:t>
                      </a:r>
                      <a:endParaRPr lang="zh-CN" altLang="en-US" b="1"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CN" b="1" dirty="0"/>
                        <a:t>2</a:t>
                      </a:r>
                      <a:endParaRPr lang="zh-CN" altLang="en-US" b="1"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CN" b="1" dirty="0"/>
                        <a:t>3</a:t>
                      </a:r>
                      <a:endParaRPr lang="zh-CN" altLang="en-US" b="1"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CN" b="1" dirty="0"/>
                        <a:t>4</a:t>
                      </a:r>
                      <a:endParaRPr lang="zh-CN" altLang="en-US" b="1"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CN" b="1" dirty="0"/>
                        <a:t>5</a:t>
                      </a:r>
                      <a:endParaRPr lang="zh-CN" altLang="en-US" b="1"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CN" b="1" dirty="0"/>
                        <a:t>6</a:t>
                      </a:r>
                      <a:endParaRPr lang="zh-CN" altLang="en-US" b="1"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CN" b="1" dirty="0"/>
                        <a:t>7</a:t>
                      </a:r>
                      <a:endParaRPr lang="zh-CN" altLang="en-US" b="1"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CN" b="1" dirty="0"/>
                        <a:t>8</a:t>
                      </a:r>
                      <a:endParaRPr lang="zh-CN" altLang="en-US" b="1"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CN" b="1" dirty="0"/>
                        <a:t>9</a:t>
                      </a:r>
                      <a:endParaRPr lang="zh-CN" altLang="en-US" b="1"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49790749"/>
                  </a:ext>
                </a:extLst>
              </a:tr>
            </a:tbl>
          </a:graphicData>
        </a:graphic>
      </p:graphicFrame>
      <p:sp>
        <p:nvSpPr>
          <p:cNvPr id="17" name="文本框 16">
            <a:extLst>
              <a:ext uri="{FF2B5EF4-FFF2-40B4-BE49-F238E27FC236}">
                <a16:creationId xmlns:a16="http://schemas.microsoft.com/office/drawing/2014/main" id="{D9894384-E1DE-4367-BACA-2E55279D1D16}"/>
              </a:ext>
            </a:extLst>
          </p:cNvPr>
          <p:cNvSpPr txBox="1"/>
          <p:nvPr/>
        </p:nvSpPr>
        <p:spPr>
          <a:xfrm>
            <a:off x="3874822" y="3389741"/>
            <a:ext cx="372218" cy="477054"/>
          </a:xfrm>
          <a:prstGeom prst="rect">
            <a:avLst/>
          </a:prstGeom>
          <a:noFill/>
        </p:spPr>
        <p:txBody>
          <a:bodyPr wrap="none" tIns="0" rtlCol="0" anchor="ctr" anchorCtr="1">
            <a:spAutoFit/>
          </a:bodyPr>
          <a:lstStyle/>
          <a:p>
            <a:r>
              <a:rPr lang="en-US" altLang="zh-CN" sz="2800" b="1" dirty="0"/>
              <a:t>a</a:t>
            </a:r>
            <a:endParaRPr lang="zh-CN" altLang="en-US" b="1" dirty="0"/>
          </a:p>
        </p:txBody>
      </p:sp>
      <p:cxnSp>
        <p:nvCxnSpPr>
          <p:cNvPr id="19" name="直接箭头连接符 18">
            <a:extLst>
              <a:ext uri="{FF2B5EF4-FFF2-40B4-BE49-F238E27FC236}">
                <a16:creationId xmlns:a16="http://schemas.microsoft.com/office/drawing/2014/main" id="{A762EB07-37FC-49D1-A657-AF874B36AE1E}"/>
              </a:ext>
            </a:extLst>
          </p:cNvPr>
          <p:cNvCxnSpPr>
            <a:cxnSpLocks/>
            <a:stCxn id="21" idx="2"/>
          </p:cNvCxnSpPr>
          <p:nvPr/>
        </p:nvCxnSpPr>
        <p:spPr>
          <a:xfrm>
            <a:off x="4640767" y="2885329"/>
            <a:ext cx="6479" cy="487102"/>
          </a:xfrm>
          <a:prstGeom prst="straightConnector1">
            <a:avLst/>
          </a:prstGeom>
          <a:ln w="28575">
            <a:solidFill>
              <a:srgbClr val="FF0000"/>
            </a:solidFill>
            <a:headEnd type="none" w="lg" len="lg"/>
            <a:tailEnd type="triangle" w="med" len="med"/>
          </a:ln>
        </p:spPr>
        <p:style>
          <a:lnRef idx="1">
            <a:schemeClr val="dk1"/>
          </a:lnRef>
          <a:fillRef idx="0">
            <a:schemeClr val="dk1"/>
          </a:fillRef>
          <a:effectRef idx="0">
            <a:schemeClr val="dk1"/>
          </a:effectRef>
          <a:fontRef idx="minor">
            <a:schemeClr val="tx1"/>
          </a:fontRef>
        </p:style>
      </p:cxnSp>
      <p:grpSp>
        <p:nvGrpSpPr>
          <p:cNvPr id="20" name="组合 19">
            <a:extLst>
              <a:ext uri="{FF2B5EF4-FFF2-40B4-BE49-F238E27FC236}">
                <a16:creationId xmlns:a16="http://schemas.microsoft.com/office/drawing/2014/main" id="{6303E1CD-D173-4B1D-9C2C-1A5A1015921F}"/>
              </a:ext>
            </a:extLst>
          </p:cNvPr>
          <p:cNvGrpSpPr/>
          <p:nvPr/>
        </p:nvGrpSpPr>
        <p:grpSpPr>
          <a:xfrm>
            <a:off x="3835525" y="2436878"/>
            <a:ext cx="1055029" cy="477054"/>
            <a:chOff x="1625725" y="3403320"/>
            <a:chExt cx="1055029" cy="477054"/>
          </a:xfrm>
        </p:grpSpPr>
        <p:sp>
          <p:nvSpPr>
            <p:cNvPr id="21" name="矩形 20">
              <a:extLst>
                <a:ext uri="{FF2B5EF4-FFF2-40B4-BE49-F238E27FC236}">
                  <a16:creationId xmlns:a16="http://schemas.microsoft.com/office/drawing/2014/main" id="{3F6B6D07-0617-48D0-BB59-B74B7BD5E983}"/>
                </a:ext>
              </a:extLst>
            </p:cNvPr>
            <p:cNvSpPr/>
            <p:nvPr/>
          </p:nvSpPr>
          <p:spPr>
            <a:xfrm>
              <a:off x="2181180" y="3431923"/>
              <a:ext cx="499574" cy="419848"/>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5AC8F315-F3A1-42BE-87E6-FF175986CAD1}"/>
                </a:ext>
              </a:extLst>
            </p:cNvPr>
            <p:cNvSpPr txBox="1"/>
            <p:nvPr/>
          </p:nvSpPr>
          <p:spPr>
            <a:xfrm>
              <a:off x="1625725" y="3403320"/>
              <a:ext cx="599844" cy="477054"/>
            </a:xfrm>
            <a:prstGeom prst="rect">
              <a:avLst/>
            </a:prstGeom>
            <a:noFill/>
          </p:spPr>
          <p:txBody>
            <a:bodyPr wrap="none" tIns="0" rtlCol="0" anchor="ctr" anchorCtr="1">
              <a:spAutoFit/>
            </a:bodyPr>
            <a:lstStyle/>
            <a:p>
              <a:r>
                <a:rPr lang="en-US" altLang="zh-CN" sz="2800" b="1" dirty="0"/>
                <a:t>p1</a:t>
              </a:r>
              <a:endParaRPr lang="zh-CN" altLang="en-US" b="1" dirty="0"/>
            </a:p>
          </p:txBody>
        </p:sp>
      </p:grpSp>
      <p:sp>
        <p:nvSpPr>
          <p:cNvPr id="51" name="灯片编号占位符 50">
            <a:extLst>
              <a:ext uri="{FF2B5EF4-FFF2-40B4-BE49-F238E27FC236}">
                <a16:creationId xmlns:a16="http://schemas.microsoft.com/office/drawing/2014/main" id="{ED407EA4-CB18-46CC-9151-3659F9A91BF4}"/>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11</a:t>
            </a:fld>
            <a:r>
              <a:rPr lang="en-US" altLang="zh-CN">
                <a:solidFill>
                  <a:prstClr val="black">
                    <a:tint val="75000"/>
                  </a:prstClr>
                </a:solidFill>
              </a:rPr>
              <a:t>/ 35</a:t>
            </a:r>
            <a:endParaRPr lang="zh-CN" altLang="en-US" dirty="0"/>
          </a:p>
        </p:txBody>
      </p:sp>
      <p:sp>
        <p:nvSpPr>
          <p:cNvPr id="18" name="文本框 17">
            <a:extLst>
              <a:ext uri="{FF2B5EF4-FFF2-40B4-BE49-F238E27FC236}">
                <a16:creationId xmlns:a16="http://schemas.microsoft.com/office/drawing/2014/main" id="{E985C4F7-CF88-41FE-91A4-BD95E606FA8A}"/>
              </a:ext>
            </a:extLst>
          </p:cNvPr>
          <p:cNvSpPr txBox="1"/>
          <p:nvPr/>
        </p:nvSpPr>
        <p:spPr>
          <a:xfrm>
            <a:off x="2515927" y="-55248"/>
            <a:ext cx="4768993"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指针变量的算术运算</a:t>
            </a:r>
            <a:endParaRPr lang="zh-CN" altLang="en-US" sz="3200" b="1" dirty="0">
              <a:solidFill>
                <a:srgbClr val="200AC4"/>
              </a:solidFill>
              <a:ea typeface="隶书" pitchFamily="49" charset="-122"/>
            </a:endParaRPr>
          </a:p>
        </p:txBody>
      </p:sp>
    </p:spTree>
    <p:extLst>
      <p:ext uri="{BB962C8B-B14F-4D97-AF65-F5344CB8AC3E}">
        <p14:creationId xmlns:p14="http://schemas.microsoft.com/office/powerpoint/2010/main" val="2885351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42" presetClass="entr" presetSubtype="0" fill="hold" nodeType="withEffect">
                                  <p:stCondLst>
                                    <p:cond delay="0"/>
                                  </p:stCondLst>
                                  <p:childTnLst>
                                    <p:set>
                                      <p:cBhvr>
                                        <p:cTn id="8" dur="1" fill="hold">
                                          <p:stCondLst>
                                            <p:cond delay="0"/>
                                          </p:stCondLst>
                                        </p:cTn>
                                        <p:tgtEl>
                                          <p:spTgt spid="5">
                                            <p:txEl>
                                              <p:pRg st="0" end="0"/>
                                            </p:txEl>
                                          </p:spTgt>
                                        </p:tgtEl>
                                        <p:attrNameLst>
                                          <p:attrName>style.visibility</p:attrName>
                                        </p:attrNameLst>
                                      </p:cBhvr>
                                      <p:to>
                                        <p:strVal val="visible"/>
                                      </p:to>
                                    </p:set>
                                    <p:animEffect transition="in" filter="fade">
                                      <p:cBhvr>
                                        <p:cTn id="9" dur="1000"/>
                                        <p:tgtEl>
                                          <p:spTgt spid="5">
                                            <p:txEl>
                                              <p:pRg st="0" end="0"/>
                                            </p:txEl>
                                          </p:spTgt>
                                        </p:tgtEl>
                                      </p:cBhvr>
                                    </p:animEffect>
                                    <p:anim calcmode="lin" valueType="num">
                                      <p:cBhvr>
                                        <p:cTn id="10"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11"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42" presetClass="entr" presetSubtype="0" fill="hold" grpId="0" nodeType="click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1000"/>
                                        <p:tgtEl>
                                          <p:spTgt spid="17"/>
                                        </p:tgtEl>
                                      </p:cBhvr>
                                    </p:animEffect>
                                    <p:anim calcmode="lin" valueType="num">
                                      <p:cBhvr>
                                        <p:cTn id="17" dur="1000" fill="hold"/>
                                        <p:tgtEl>
                                          <p:spTgt spid="17"/>
                                        </p:tgtEl>
                                        <p:attrNameLst>
                                          <p:attrName>ppt_x</p:attrName>
                                        </p:attrNameLst>
                                      </p:cBhvr>
                                      <p:tavLst>
                                        <p:tav tm="0">
                                          <p:val>
                                            <p:strVal val="#ppt_x"/>
                                          </p:val>
                                        </p:tav>
                                        <p:tav tm="100000">
                                          <p:val>
                                            <p:strVal val="#ppt_x"/>
                                          </p:val>
                                        </p:tav>
                                      </p:tavLst>
                                    </p:anim>
                                    <p:anim calcmode="lin" valueType="num">
                                      <p:cBhvr>
                                        <p:cTn id="18" dur="1000" fill="hold"/>
                                        <p:tgtEl>
                                          <p:spTgt spid="17"/>
                                        </p:tgtEl>
                                        <p:attrNameLst>
                                          <p:attrName>ppt_y</p:attrName>
                                        </p:attrNameLst>
                                      </p:cBhvr>
                                      <p:tavLst>
                                        <p:tav tm="0">
                                          <p:val>
                                            <p:strVal val="#ppt_y+.1"/>
                                          </p:val>
                                        </p:tav>
                                        <p:tav tm="100000">
                                          <p:val>
                                            <p:strVal val="#ppt_y"/>
                                          </p:val>
                                        </p:tav>
                                      </p:tavLst>
                                    </p:anim>
                                  </p:childTnLst>
                                </p:cTn>
                              </p:par>
                              <p:par>
                                <p:cTn id="19" presetID="42"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1000"/>
                                        <p:tgtEl>
                                          <p:spTgt spid="15"/>
                                        </p:tgtEl>
                                      </p:cBhvr>
                                    </p:animEffect>
                                    <p:anim calcmode="lin" valueType="num">
                                      <p:cBhvr>
                                        <p:cTn id="22" dur="1000" fill="hold"/>
                                        <p:tgtEl>
                                          <p:spTgt spid="15"/>
                                        </p:tgtEl>
                                        <p:attrNameLst>
                                          <p:attrName>ppt_x</p:attrName>
                                        </p:attrNameLst>
                                      </p:cBhvr>
                                      <p:tavLst>
                                        <p:tav tm="0">
                                          <p:val>
                                            <p:strVal val="#ppt_x"/>
                                          </p:val>
                                        </p:tav>
                                        <p:tav tm="100000">
                                          <p:val>
                                            <p:strVal val="#ppt_x"/>
                                          </p:val>
                                        </p:tav>
                                      </p:tavLst>
                                    </p:anim>
                                    <p:anim calcmode="lin" valueType="num">
                                      <p:cBhvr>
                                        <p:cTn id="23" dur="1000" fill="hold"/>
                                        <p:tgtEl>
                                          <p:spTgt spid="15"/>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1000"/>
                                        <p:tgtEl>
                                          <p:spTgt spid="16"/>
                                        </p:tgtEl>
                                      </p:cBhvr>
                                    </p:animEffect>
                                    <p:anim calcmode="lin" valueType="num">
                                      <p:cBhvr>
                                        <p:cTn id="27" dur="1000" fill="hold"/>
                                        <p:tgtEl>
                                          <p:spTgt spid="16"/>
                                        </p:tgtEl>
                                        <p:attrNameLst>
                                          <p:attrName>ppt_x</p:attrName>
                                        </p:attrNameLst>
                                      </p:cBhvr>
                                      <p:tavLst>
                                        <p:tav tm="0">
                                          <p:val>
                                            <p:strVal val="#ppt_x"/>
                                          </p:val>
                                        </p:tav>
                                        <p:tav tm="100000">
                                          <p:val>
                                            <p:strVal val="#ppt_x"/>
                                          </p:val>
                                        </p:tav>
                                      </p:tavLst>
                                    </p:anim>
                                    <p:anim calcmode="lin" valueType="num">
                                      <p:cBhvr>
                                        <p:cTn id="28" dur="1000" fill="hold"/>
                                        <p:tgtEl>
                                          <p:spTgt spid="16"/>
                                        </p:tgtEl>
                                        <p:attrNameLst>
                                          <p:attrName>ppt_y</p:attrName>
                                        </p:attrNameLst>
                                      </p:cBhvr>
                                      <p:tavLst>
                                        <p:tav tm="0">
                                          <p:val>
                                            <p:strVal val="#ppt_y+.1"/>
                                          </p:val>
                                        </p:tav>
                                        <p:tav tm="100000">
                                          <p:val>
                                            <p:strVal val="#ppt_y"/>
                                          </p:val>
                                        </p:tav>
                                      </p:tavLst>
                                    </p:anim>
                                  </p:childTnLst>
                                </p:cTn>
                              </p:par>
                              <p:par>
                                <p:cTn id="29" presetID="47" presetClass="entr" presetSubtype="0" fill="hold" nodeType="with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1000"/>
                                        <p:tgtEl>
                                          <p:spTgt spid="20"/>
                                        </p:tgtEl>
                                      </p:cBhvr>
                                    </p:animEffect>
                                    <p:anim calcmode="lin" valueType="num">
                                      <p:cBhvr>
                                        <p:cTn id="32" dur="1000" fill="hold"/>
                                        <p:tgtEl>
                                          <p:spTgt spid="20"/>
                                        </p:tgtEl>
                                        <p:attrNameLst>
                                          <p:attrName>ppt_x</p:attrName>
                                        </p:attrNameLst>
                                      </p:cBhvr>
                                      <p:tavLst>
                                        <p:tav tm="0">
                                          <p:val>
                                            <p:strVal val="#ppt_x"/>
                                          </p:val>
                                        </p:tav>
                                        <p:tav tm="100000">
                                          <p:val>
                                            <p:strVal val="#ppt_x"/>
                                          </p:val>
                                        </p:tav>
                                      </p:tavLst>
                                    </p:anim>
                                    <p:anim calcmode="lin" valueType="num">
                                      <p:cBhvr>
                                        <p:cTn id="33" dur="1000" fill="hold"/>
                                        <p:tgtEl>
                                          <p:spTgt spid="20"/>
                                        </p:tgtEl>
                                        <p:attrNameLst>
                                          <p:attrName>ppt_y</p:attrName>
                                        </p:attrNameLst>
                                      </p:cBhvr>
                                      <p:tavLst>
                                        <p:tav tm="0">
                                          <p:val>
                                            <p:strVal val="#ppt_y-.1"/>
                                          </p:val>
                                        </p:tav>
                                        <p:tav tm="100000">
                                          <p:val>
                                            <p:strVal val="#ppt_y"/>
                                          </p:val>
                                        </p:tav>
                                      </p:tavLst>
                                    </p:anim>
                                  </p:childTnLst>
                                </p:cTn>
                              </p:par>
                              <p:par>
                                <p:cTn id="34" presetID="47" presetClass="entr" presetSubtype="0" fill="hold" nodeType="withEffect">
                                  <p:stCondLst>
                                    <p:cond delay="0"/>
                                  </p:stCondLst>
                                  <p:childTnLst>
                                    <p:set>
                                      <p:cBhvr>
                                        <p:cTn id="35" dur="1" fill="hold">
                                          <p:stCondLst>
                                            <p:cond delay="0"/>
                                          </p:stCondLst>
                                        </p:cTn>
                                        <p:tgtEl>
                                          <p:spTgt spid="26"/>
                                        </p:tgtEl>
                                        <p:attrNameLst>
                                          <p:attrName>style.visibility</p:attrName>
                                        </p:attrNameLst>
                                      </p:cBhvr>
                                      <p:to>
                                        <p:strVal val="visible"/>
                                      </p:to>
                                    </p:set>
                                    <p:animEffect transition="in" filter="fade">
                                      <p:cBhvr>
                                        <p:cTn id="36" dur="1000"/>
                                        <p:tgtEl>
                                          <p:spTgt spid="26"/>
                                        </p:tgtEl>
                                      </p:cBhvr>
                                    </p:animEffect>
                                    <p:anim calcmode="lin" valueType="num">
                                      <p:cBhvr>
                                        <p:cTn id="37" dur="1000" fill="hold"/>
                                        <p:tgtEl>
                                          <p:spTgt spid="26"/>
                                        </p:tgtEl>
                                        <p:attrNameLst>
                                          <p:attrName>ppt_x</p:attrName>
                                        </p:attrNameLst>
                                      </p:cBhvr>
                                      <p:tavLst>
                                        <p:tav tm="0">
                                          <p:val>
                                            <p:strVal val="#ppt_x"/>
                                          </p:val>
                                        </p:tav>
                                        <p:tav tm="100000">
                                          <p:val>
                                            <p:strVal val="#ppt_x"/>
                                          </p:val>
                                        </p:tav>
                                      </p:tavLst>
                                    </p:anim>
                                    <p:anim calcmode="lin" valueType="num">
                                      <p:cBhvr>
                                        <p:cTn id="38"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5">
                                            <p:txEl>
                                              <p:pRg st="2" end="2"/>
                                            </p:txEl>
                                          </p:spTgt>
                                        </p:tgtEl>
                                        <p:attrNameLst>
                                          <p:attrName>style.visibility</p:attrName>
                                        </p:attrNameLst>
                                      </p:cBhvr>
                                      <p:to>
                                        <p:strVal val="visible"/>
                                      </p:to>
                                    </p:set>
                                    <p:animEffect transition="in" filter="fade">
                                      <p:cBhvr>
                                        <p:cTn id="43" dur="1000"/>
                                        <p:tgtEl>
                                          <p:spTgt spid="5">
                                            <p:txEl>
                                              <p:pRg st="2" end="2"/>
                                            </p:txEl>
                                          </p:spTgt>
                                        </p:tgtEl>
                                      </p:cBhvr>
                                    </p:animEffect>
                                    <p:anim calcmode="lin" valueType="num">
                                      <p:cBhvr>
                                        <p:cTn id="44"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45" dur="1000" fill="hold"/>
                                        <p:tgtEl>
                                          <p:spTgt spid="5">
                                            <p:txEl>
                                              <p:pRg st="2" end="2"/>
                                            </p:txEl>
                                          </p:spTgt>
                                        </p:tgtEl>
                                        <p:attrNameLst>
                                          <p:attrName>ppt_y</p:attrName>
                                        </p:attrNameLst>
                                      </p:cBhvr>
                                      <p:tavLst>
                                        <p:tav tm="0">
                                          <p:val>
                                            <p:strVal val="#ppt_y+.1"/>
                                          </p:val>
                                        </p:tav>
                                        <p:tav tm="100000">
                                          <p:val>
                                            <p:strVal val="#ppt_y"/>
                                          </p:val>
                                        </p:tav>
                                      </p:tavLst>
                                    </p:anim>
                                  </p:childTnLst>
                                </p:cTn>
                              </p:par>
                              <p:par>
                                <p:cTn id="46" presetID="42" presetClass="entr" presetSubtype="0" fill="hold" nodeType="withEffect">
                                  <p:stCondLst>
                                    <p:cond delay="0"/>
                                  </p:stCondLst>
                                  <p:childTnLst>
                                    <p:set>
                                      <p:cBhvr>
                                        <p:cTn id="47" dur="1" fill="hold">
                                          <p:stCondLst>
                                            <p:cond delay="0"/>
                                          </p:stCondLst>
                                        </p:cTn>
                                        <p:tgtEl>
                                          <p:spTgt spid="5">
                                            <p:txEl>
                                              <p:pRg st="3" end="3"/>
                                            </p:txEl>
                                          </p:spTgt>
                                        </p:tgtEl>
                                        <p:attrNameLst>
                                          <p:attrName>style.visibility</p:attrName>
                                        </p:attrNameLst>
                                      </p:cBhvr>
                                      <p:to>
                                        <p:strVal val="visible"/>
                                      </p:to>
                                    </p:set>
                                    <p:animEffect transition="in" filter="fade">
                                      <p:cBhvr>
                                        <p:cTn id="48" dur="1000"/>
                                        <p:tgtEl>
                                          <p:spTgt spid="5">
                                            <p:txEl>
                                              <p:pRg st="3" end="3"/>
                                            </p:txEl>
                                          </p:spTgt>
                                        </p:tgtEl>
                                      </p:cBhvr>
                                    </p:animEffect>
                                    <p:anim calcmode="lin" valueType="num">
                                      <p:cBhvr>
                                        <p:cTn id="49"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50"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2" presetClass="entr" presetSubtype="1" fill="hold" nodeType="click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wipe(up)">
                                      <p:cBhvr>
                                        <p:cTn id="55" dur="500"/>
                                        <p:tgtEl>
                                          <p:spTgt spid="19"/>
                                        </p:tgtEl>
                                      </p:cBhvr>
                                    </p:animEffect>
                                  </p:childTnLst>
                                </p:cTn>
                              </p:par>
                              <p:par>
                                <p:cTn id="56" presetID="42" presetClass="path" presetSubtype="0" accel="50000" decel="50000" fill="hold" nodeType="withEffect">
                                  <p:stCondLst>
                                    <p:cond delay="0"/>
                                  </p:stCondLst>
                                  <p:childTnLst>
                                    <p:animMotion origin="layout" path="M 2.08333E-6 -3.7037E-7 L 0.46549 -0.00139 " pathEditMode="relative" rAng="0" ptsTypes="AA">
                                      <p:cBhvr>
                                        <p:cTn id="57" dur="2000" fill="hold"/>
                                        <p:tgtEl>
                                          <p:spTgt spid="26"/>
                                        </p:tgtEl>
                                        <p:attrNameLst>
                                          <p:attrName>ppt_x</p:attrName>
                                          <p:attrName>ppt_y</p:attrName>
                                        </p:attrNameLst>
                                      </p:cBhvr>
                                      <p:rCtr x="23268" y="-69"/>
                                    </p:animMotion>
                                  </p:childTnLst>
                                </p:cTn>
                              </p:par>
                            </p:childTnLst>
                          </p:cTn>
                        </p:par>
                        <p:par>
                          <p:cTn id="58" fill="hold">
                            <p:stCondLst>
                              <p:cond delay="2000"/>
                            </p:stCondLst>
                            <p:childTnLst>
                              <p:par>
                                <p:cTn id="59" presetID="22" presetClass="entr" presetSubtype="1" fill="hold" nodeType="afterEffect">
                                  <p:stCondLst>
                                    <p:cond delay="0"/>
                                  </p:stCondLst>
                                  <p:childTnLst>
                                    <p:set>
                                      <p:cBhvr>
                                        <p:cTn id="60" dur="1" fill="hold">
                                          <p:stCondLst>
                                            <p:cond delay="0"/>
                                          </p:stCondLst>
                                        </p:cTn>
                                        <p:tgtEl>
                                          <p:spTgt spid="7"/>
                                        </p:tgtEl>
                                        <p:attrNameLst>
                                          <p:attrName>style.visibility</p:attrName>
                                        </p:attrNameLst>
                                      </p:cBhvr>
                                      <p:to>
                                        <p:strVal val="visible"/>
                                      </p:to>
                                    </p:set>
                                    <p:animEffect transition="in" filter="wipe(up)">
                                      <p:cBhvr>
                                        <p:cTn id="61" dur="500"/>
                                        <p:tgtEl>
                                          <p:spTgt spid="7"/>
                                        </p:tgtEl>
                                      </p:cBhvr>
                                    </p:animEffect>
                                  </p:childTnLst>
                                </p:cTn>
                              </p:par>
                            </p:childTnLst>
                          </p:cTn>
                        </p:par>
                      </p:childTnLst>
                    </p:cTn>
                  </p:par>
                  <p:par>
                    <p:cTn id="62" fill="hold">
                      <p:stCondLst>
                        <p:cond delay="indefinite"/>
                      </p:stCondLst>
                      <p:childTnLst>
                        <p:par>
                          <p:cTn id="63" fill="hold">
                            <p:stCondLst>
                              <p:cond delay="0"/>
                            </p:stCondLst>
                            <p:childTnLst>
                              <p:par>
                                <p:cTn id="64" presetID="42" presetClass="entr" presetSubtype="0" fill="hold" nodeType="clickEffect">
                                  <p:stCondLst>
                                    <p:cond delay="0"/>
                                  </p:stCondLst>
                                  <p:childTnLst>
                                    <p:set>
                                      <p:cBhvr>
                                        <p:cTn id="65" dur="1" fill="hold">
                                          <p:stCondLst>
                                            <p:cond delay="0"/>
                                          </p:stCondLst>
                                        </p:cTn>
                                        <p:tgtEl>
                                          <p:spTgt spid="5">
                                            <p:txEl>
                                              <p:pRg st="5" end="5"/>
                                            </p:txEl>
                                          </p:spTgt>
                                        </p:tgtEl>
                                        <p:attrNameLst>
                                          <p:attrName>style.visibility</p:attrName>
                                        </p:attrNameLst>
                                      </p:cBhvr>
                                      <p:to>
                                        <p:strVal val="visible"/>
                                      </p:to>
                                    </p:set>
                                    <p:animEffect transition="in" filter="fade">
                                      <p:cBhvr>
                                        <p:cTn id="66" dur="1000"/>
                                        <p:tgtEl>
                                          <p:spTgt spid="5">
                                            <p:txEl>
                                              <p:pRg st="5" end="5"/>
                                            </p:txEl>
                                          </p:spTgt>
                                        </p:tgtEl>
                                      </p:cBhvr>
                                    </p:animEffect>
                                    <p:anim calcmode="lin" valueType="num">
                                      <p:cBhvr>
                                        <p:cTn id="67"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68" dur="1000" fill="hold"/>
                                        <p:tgtEl>
                                          <p:spTgt spid="5">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42" presetClass="path" presetSubtype="0" accel="50000" decel="50000" fill="hold" nodeType="clickEffect">
                                  <p:stCondLst>
                                    <p:cond delay="0"/>
                                  </p:stCondLst>
                                  <p:childTnLst>
                                    <p:animMotion origin="layout" path="M 0.00391 3.7037E-6 L 0.31784 -0.00186 " pathEditMode="relative" rAng="0" ptsTypes="AA">
                                      <p:cBhvr>
                                        <p:cTn id="72" dur="2000" fill="hold"/>
                                        <p:tgtEl>
                                          <p:spTgt spid="20"/>
                                        </p:tgtEl>
                                        <p:attrNameLst>
                                          <p:attrName>ppt_x</p:attrName>
                                          <p:attrName>ppt_y</p:attrName>
                                        </p:attrNameLst>
                                      </p:cBhvr>
                                      <p:rCtr x="15690" y="-93"/>
                                    </p:animMotion>
                                  </p:childTnLst>
                                </p:cTn>
                              </p:par>
                              <p:par>
                                <p:cTn id="73" presetID="42" presetClass="path" presetSubtype="0" accel="50000" decel="50000" fill="hold" nodeType="withEffect">
                                  <p:stCondLst>
                                    <p:cond delay="0"/>
                                  </p:stCondLst>
                                  <p:childTnLst>
                                    <p:animMotion origin="layout" path="M 0.00273 -5.55112E-17 L 0.31862 -0.00255 " pathEditMode="relative" rAng="0" ptsTypes="AA">
                                      <p:cBhvr>
                                        <p:cTn id="74" dur="2000" fill="hold"/>
                                        <p:tgtEl>
                                          <p:spTgt spid="19"/>
                                        </p:tgtEl>
                                        <p:attrNameLst>
                                          <p:attrName>ppt_x</p:attrName>
                                          <p:attrName>ppt_y</p:attrName>
                                        </p:attrNameLst>
                                      </p:cBhvr>
                                      <p:rCtr x="15794" y="-139"/>
                                    </p:animMotion>
                                  </p:childTnLst>
                                </p:cTn>
                              </p:par>
                            </p:childTnLst>
                          </p:cTn>
                        </p:par>
                      </p:childTnLst>
                    </p:cTn>
                  </p:par>
                  <p:par>
                    <p:cTn id="75" fill="hold">
                      <p:stCondLst>
                        <p:cond delay="indefinite"/>
                      </p:stCondLst>
                      <p:childTnLst>
                        <p:par>
                          <p:cTn id="76" fill="hold">
                            <p:stCondLst>
                              <p:cond delay="0"/>
                            </p:stCondLst>
                            <p:childTnLst>
                              <p:par>
                                <p:cTn id="77" presetID="42" presetClass="entr" presetSubtype="0" fill="hold" nodeType="clickEffect">
                                  <p:stCondLst>
                                    <p:cond delay="0"/>
                                  </p:stCondLst>
                                  <p:childTnLst>
                                    <p:set>
                                      <p:cBhvr>
                                        <p:cTn id="78" dur="1" fill="hold">
                                          <p:stCondLst>
                                            <p:cond delay="0"/>
                                          </p:stCondLst>
                                        </p:cTn>
                                        <p:tgtEl>
                                          <p:spTgt spid="5">
                                            <p:txEl>
                                              <p:pRg st="7" end="7"/>
                                            </p:txEl>
                                          </p:spTgt>
                                        </p:tgtEl>
                                        <p:attrNameLst>
                                          <p:attrName>style.visibility</p:attrName>
                                        </p:attrNameLst>
                                      </p:cBhvr>
                                      <p:to>
                                        <p:strVal val="visible"/>
                                      </p:to>
                                    </p:set>
                                    <p:animEffect transition="in" filter="fade">
                                      <p:cBhvr>
                                        <p:cTn id="79" dur="1000"/>
                                        <p:tgtEl>
                                          <p:spTgt spid="5">
                                            <p:txEl>
                                              <p:pRg st="7" end="7"/>
                                            </p:txEl>
                                          </p:spTgt>
                                        </p:tgtEl>
                                      </p:cBhvr>
                                    </p:animEffect>
                                    <p:anim calcmode="lin" valueType="num">
                                      <p:cBhvr>
                                        <p:cTn id="80" dur="1000" fill="hold"/>
                                        <p:tgtEl>
                                          <p:spTgt spid="5">
                                            <p:txEl>
                                              <p:pRg st="7" end="7"/>
                                            </p:txEl>
                                          </p:spTgt>
                                        </p:tgtEl>
                                        <p:attrNameLst>
                                          <p:attrName>ppt_x</p:attrName>
                                        </p:attrNameLst>
                                      </p:cBhvr>
                                      <p:tavLst>
                                        <p:tav tm="0">
                                          <p:val>
                                            <p:strVal val="#ppt_x"/>
                                          </p:val>
                                        </p:tav>
                                        <p:tav tm="100000">
                                          <p:val>
                                            <p:strVal val="#ppt_x"/>
                                          </p:val>
                                        </p:tav>
                                      </p:tavLst>
                                    </p:anim>
                                    <p:anim calcmode="lin" valueType="num">
                                      <p:cBhvr>
                                        <p:cTn id="81" dur="1000" fill="hold"/>
                                        <p:tgtEl>
                                          <p:spTgt spid="5">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82" fill="hold">
                      <p:stCondLst>
                        <p:cond delay="indefinite"/>
                      </p:stCondLst>
                      <p:childTnLst>
                        <p:par>
                          <p:cTn id="83" fill="hold">
                            <p:stCondLst>
                              <p:cond delay="0"/>
                            </p:stCondLst>
                            <p:childTnLst>
                              <p:par>
                                <p:cTn id="84" presetID="42" presetClass="path" presetSubtype="0" accel="50000" decel="50000" fill="hold" nodeType="clickEffect">
                                  <p:stCondLst>
                                    <p:cond delay="0"/>
                                  </p:stCondLst>
                                  <p:childTnLst>
                                    <p:animMotion origin="layout" path="M 0.46549 -0.00139 L -0.04323 -0.00023 " pathEditMode="relative" rAng="0" ptsTypes="AA">
                                      <p:cBhvr>
                                        <p:cTn id="85" dur="2000" fill="hold"/>
                                        <p:tgtEl>
                                          <p:spTgt spid="26"/>
                                        </p:tgtEl>
                                        <p:attrNameLst>
                                          <p:attrName>ppt_x</p:attrName>
                                          <p:attrName>ppt_y</p:attrName>
                                        </p:attrNameLst>
                                      </p:cBhvr>
                                      <p:rCtr x="-25443" y="46"/>
                                    </p:animMotion>
                                  </p:childTnLst>
                                </p:cTn>
                              </p:par>
                              <p:par>
                                <p:cTn id="86" presetID="42" presetClass="path" presetSubtype="0" accel="50000" decel="50000" fill="hold" nodeType="withEffect">
                                  <p:stCondLst>
                                    <p:cond delay="0"/>
                                  </p:stCondLst>
                                  <p:childTnLst>
                                    <p:animMotion origin="layout" path="M -1.04167E-6 -4.07407E-6 L -0.50742 0.00278 " pathEditMode="relative" rAng="0" ptsTypes="AA">
                                      <p:cBhvr>
                                        <p:cTn id="87" dur="2000" fill="hold"/>
                                        <p:tgtEl>
                                          <p:spTgt spid="7"/>
                                        </p:tgtEl>
                                        <p:attrNameLst>
                                          <p:attrName>ppt_x</p:attrName>
                                          <p:attrName>ppt_y</p:attrName>
                                        </p:attrNameLst>
                                      </p:cBhvr>
                                      <p:rCtr x="-25378" y="139"/>
                                    </p:animMotion>
                                  </p:childTnLst>
                                </p:cTn>
                              </p:par>
                            </p:childTnLst>
                          </p:cTn>
                        </p:par>
                      </p:childTnLst>
                    </p:cTn>
                  </p:par>
                  <p:par>
                    <p:cTn id="88" fill="hold">
                      <p:stCondLst>
                        <p:cond delay="indefinite"/>
                      </p:stCondLst>
                      <p:childTnLst>
                        <p:par>
                          <p:cTn id="89" fill="hold">
                            <p:stCondLst>
                              <p:cond delay="0"/>
                            </p:stCondLst>
                            <p:childTnLst>
                              <p:par>
                                <p:cTn id="90" presetID="42" presetClass="entr" presetSubtype="0" fill="hold" nodeType="clickEffect">
                                  <p:stCondLst>
                                    <p:cond delay="0"/>
                                  </p:stCondLst>
                                  <p:childTnLst>
                                    <p:set>
                                      <p:cBhvr>
                                        <p:cTn id="91" dur="1" fill="hold">
                                          <p:stCondLst>
                                            <p:cond delay="0"/>
                                          </p:stCondLst>
                                        </p:cTn>
                                        <p:tgtEl>
                                          <p:spTgt spid="5">
                                            <p:txEl>
                                              <p:pRg st="9" end="9"/>
                                            </p:txEl>
                                          </p:spTgt>
                                        </p:tgtEl>
                                        <p:attrNameLst>
                                          <p:attrName>style.visibility</p:attrName>
                                        </p:attrNameLst>
                                      </p:cBhvr>
                                      <p:to>
                                        <p:strVal val="visible"/>
                                      </p:to>
                                    </p:set>
                                    <p:animEffect transition="in" filter="fade">
                                      <p:cBhvr>
                                        <p:cTn id="92" dur="1000"/>
                                        <p:tgtEl>
                                          <p:spTgt spid="5">
                                            <p:txEl>
                                              <p:pRg st="9" end="9"/>
                                            </p:txEl>
                                          </p:spTgt>
                                        </p:tgtEl>
                                      </p:cBhvr>
                                    </p:animEffect>
                                    <p:anim calcmode="lin" valueType="num">
                                      <p:cBhvr>
                                        <p:cTn id="93" dur="1000" fill="hold"/>
                                        <p:tgtEl>
                                          <p:spTgt spid="5">
                                            <p:txEl>
                                              <p:pRg st="9" end="9"/>
                                            </p:txEl>
                                          </p:spTgt>
                                        </p:tgtEl>
                                        <p:attrNameLst>
                                          <p:attrName>ppt_x</p:attrName>
                                        </p:attrNameLst>
                                      </p:cBhvr>
                                      <p:tavLst>
                                        <p:tav tm="0">
                                          <p:val>
                                            <p:strVal val="#ppt_x"/>
                                          </p:val>
                                        </p:tav>
                                        <p:tav tm="100000">
                                          <p:val>
                                            <p:strVal val="#ppt_x"/>
                                          </p:val>
                                        </p:tav>
                                      </p:tavLst>
                                    </p:anim>
                                    <p:anim calcmode="lin" valueType="num">
                                      <p:cBhvr>
                                        <p:cTn id="94" dur="1000" fill="hold"/>
                                        <p:tgtEl>
                                          <p:spTgt spid="5">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95" fill="hold">
                      <p:stCondLst>
                        <p:cond delay="indefinite"/>
                      </p:stCondLst>
                      <p:childTnLst>
                        <p:par>
                          <p:cTn id="96" fill="hold">
                            <p:stCondLst>
                              <p:cond delay="0"/>
                            </p:stCondLst>
                            <p:childTnLst>
                              <p:par>
                                <p:cTn id="97" presetID="42" presetClass="path" presetSubtype="0" accel="50000" decel="50000" fill="hold" nodeType="clickEffect">
                                  <p:stCondLst>
                                    <p:cond delay="0"/>
                                  </p:stCondLst>
                                  <p:childTnLst>
                                    <p:animMotion origin="layout" path="M 0.31784 -0.00185 L 0.25573 -0.00186 " pathEditMode="relative" rAng="0" ptsTypes="AA">
                                      <p:cBhvr>
                                        <p:cTn id="98" dur="2000" fill="hold"/>
                                        <p:tgtEl>
                                          <p:spTgt spid="20"/>
                                        </p:tgtEl>
                                        <p:attrNameLst>
                                          <p:attrName>ppt_x</p:attrName>
                                          <p:attrName>ppt_y</p:attrName>
                                        </p:attrNameLst>
                                      </p:cBhvr>
                                      <p:rCtr x="-3177" y="116"/>
                                    </p:animMotion>
                                  </p:childTnLst>
                                </p:cTn>
                              </p:par>
                              <p:par>
                                <p:cTn id="99" presetID="42" presetClass="path" presetSubtype="0" accel="50000" decel="50000" fill="hold" nodeType="withEffect">
                                  <p:stCondLst>
                                    <p:cond delay="0"/>
                                  </p:stCondLst>
                                  <p:childTnLst>
                                    <p:animMotion origin="layout" path="M 0.31862 -0.00254 L 0.25495 -5.55112E-17 " pathEditMode="relative" rAng="0" ptsTypes="AA">
                                      <p:cBhvr>
                                        <p:cTn id="100" dur="2000" fill="hold"/>
                                        <p:tgtEl>
                                          <p:spTgt spid="19"/>
                                        </p:tgtEl>
                                        <p:attrNameLst>
                                          <p:attrName>ppt_x</p:attrName>
                                          <p:attrName>ppt_y</p:attrName>
                                        </p:attrNameLst>
                                      </p:cBhvr>
                                      <p:rCtr x="-3242" y="93"/>
                                    </p:animMotion>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nodeType="clickEffect">
                                  <p:stCondLst>
                                    <p:cond delay="0"/>
                                  </p:stCondLst>
                                  <p:childTnLst>
                                    <p:set>
                                      <p:cBhvr>
                                        <p:cTn id="104" dur="1" fill="hold">
                                          <p:stCondLst>
                                            <p:cond delay="0"/>
                                          </p:stCondLst>
                                        </p:cTn>
                                        <p:tgtEl>
                                          <p:spTgt spid="5">
                                            <p:txEl>
                                              <p:pRg st="10" end="10"/>
                                            </p:txEl>
                                          </p:spTgt>
                                        </p:tgtEl>
                                        <p:attrNameLst>
                                          <p:attrName>style.visibility</p:attrName>
                                        </p:attrNameLst>
                                      </p:cBhvr>
                                      <p:to>
                                        <p:strVal val="visible"/>
                                      </p:to>
                                    </p:set>
                                    <p:animEffect transition="in" filter="fade">
                                      <p:cBhvr>
                                        <p:cTn id="105" dur="1000"/>
                                        <p:tgtEl>
                                          <p:spTgt spid="5">
                                            <p:txEl>
                                              <p:pRg st="10" end="10"/>
                                            </p:txEl>
                                          </p:spTgt>
                                        </p:tgtEl>
                                      </p:cBhvr>
                                    </p:animEffect>
                                    <p:anim calcmode="lin" valueType="num">
                                      <p:cBhvr>
                                        <p:cTn id="106" dur="1000" fill="hold"/>
                                        <p:tgtEl>
                                          <p:spTgt spid="5">
                                            <p:txEl>
                                              <p:pRg st="10" end="10"/>
                                            </p:txEl>
                                          </p:spTgt>
                                        </p:tgtEl>
                                        <p:attrNameLst>
                                          <p:attrName>ppt_x</p:attrName>
                                        </p:attrNameLst>
                                      </p:cBhvr>
                                      <p:tavLst>
                                        <p:tav tm="0">
                                          <p:val>
                                            <p:strVal val="#ppt_x"/>
                                          </p:val>
                                        </p:tav>
                                        <p:tav tm="100000">
                                          <p:val>
                                            <p:strVal val="#ppt_x"/>
                                          </p:val>
                                        </p:tav>
                                      </p:tavLst>
                                    </p:anim>
                                    <p:anim calcmode="lin" valueType="num">
                                      <p:cBhvr>
                                        <p:cTn id="107" dur="1000" fill="hold"/>
                                        <p:tgtEl>
                                          <p:spTgt spid="5">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10" presetID="42" presetClass="path" presetSubtype="0" accel="50000" decel="50000" fill="hold" nodeType="clickEffect">
                                  <p:stCondLst>
                                    <p:cond delay="0"/>
                                  </p:stCondLst>
                                  <p:childTnLst>
                                    <p:animMotion origin="layout" path="M -0.04323 -0.00023 L 0.02357 0.00093 " pathEditMode="relative" rAng="0" ptsTypes="AA">
                                      <p:cBhvr>
                                        <p:cTn id="111" dur="2000" fill="hold"/>
                                        <p:tgtEl>
                                          <p:spTgt spid="26"/>
                                        </p:tgtEl>
                                        <p:attrNameLst>
                                          <p:attrName>ppt_x</p:attrName>
                                          <p:attrName>ppt_y</p:attrName>
                                        </p:attrNameLst>
                                      </p:cBhvr>
                                      <p:rCtr x="3333" y="46"/>
                                    </p:animMotion>
                                  </p:childTnLst>
                                </p:cTn>
                              </p:par>
                              <p:par>
                                <p:cTn id="112" presetID="42" presetClass="path" presetSubtype="0" accel="50000" decel="50000" fill="hold" nodeType="withEffect">
                                  <p:stCondLst>
                                    <p:cond delay="0"/>
                                  </p:stCondLst>
                                  <p:childTnLst>
                                    <p:animMotion origin="layout" path="M -0.50742 0.00278 L -0.44127 0.00139 " pathEditMode="relative" rAng="0" ptsTypes="AA">
                                      <p:cBhvr>
                                        <p:cTn id="113" dur="2000" fill="hold"/>
                                        <p:tgtEl>
                                          <p:spTgt spid="7"/>
                                        </p:tgtEl>
                                        <p:attrNameLst>
                                          <p:attrName>ppt_x</p:attrName>
                                          <p:attrName>ppt_y</p:attrName>
                                        </p:attrNameLst>
                                      </p:cBhvr>
                                      <p:rCtr x="3333" y="-6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3A2F4EDE-76E6-4033-B027-61546EFF67C8}"/>
              </a:ext>
            </a:extLst>
          </p:cNvPr>
          <p:cNvSpPr txBox="1"/>
          <p:nvPr/>
        </p:nvSpPr>
        <p:spPr>
          <a:xfrm>
            <a:off x="2507462" y="-55243"/>
            <a:ext cx="4768993"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指针变量的比较运算</a:t>
            </a:r>
            <a:endParaRPr lang="zh-CN" altLang="en-US" sz="3200" b="1" dirty="0">
              <a:solidFill>
                <a:srgbClr val="200AC4"/>
              </a:solidFill>
              <a:ea typeface="隶书" pitchFamily="49" charset="-122"/>
            </a:endParaRPr>
          </a:p>
        </p:txBody>
      </p:sp>
      <p:sp>
        <p:nvSpPr>
          <p:cNvPr id="4" name="矩形 3">
            <a:extLst>
              <a:ext uri="{FF2B5EF4-FFF2-40B4-BE49-F238E27FC236}">
                <a16:creationId xmlns:a16="http://schemas.microsoft.com/office/drawing/2014/main" id="{868A4A05-ACE6-4FEF-8A86-EB2F23C21EE6}"/>
              </a:ext>
            </a:extLst>
          </p:cNvPr>
          <p:cNvSpPr/>
          <p:nvPr/>
        </p:nvSpPr>
        <p:spPr>
          <a:xfrm>
            <a:off x="4591" y="576676"/>
            <a:ext cx="12158444" cy="954107"/>
          </a:xfrm>
          <a:prstGeom prst="rect">
            <a:avLst/>
          </a:prstGeom>
        </p:spPr>
        <p:txBody>
          <a:bodyPr wrap="square">
            <a:spAutoFit/>
          </a:bodyPr>
          <a:lstStyle/>
          <a:p>
            <a:pPr marL="0" lvl="1"/>
            <a:r>
              <a:rPr lang="zh-CN" altLang="en-US" sz="2400" b="1" dirty="0">
                <a:latin typeface="隶书" pitchFamily="49" charset="-122"/>
              </a:rPr>
              <a:t>对指针变量进行比较运算的结果表示指针变量指向的相对位置关系。当指针变量</a:t>
            </a:r>
            <a:r>
              <a:rPr kumimoji="1" lang="en-US" altLang="zh-CN" sz="2800" dirty="0">
                <a:solidFill>
                  <a:srgbClr val="0070C0"/>
                </a:solidFill>
                <a:latin typeface="Arial" charset="0"/>
                <a:ea typeface="隶书" pitchFamily="49" charset="-122"/>
              </a:rPr>
              <a:t>p</a:t>
            </a:r>
            <a:r>
              <a:rPr lang="zh-CN" altLang="en-US" sz="2400" b="1" dirty="0">
                <a:latin typeface="隶书" pitchFamily="49" charset="-122"/>
              </a:rPr>
              <a:t>和指针变量</a:t>
            </a:r>
            <a:r>
              <a:rPr kumimoji="1" lang="en-US" altLang="zh-CN" sz="2800" dirty="0">
                <a:solidFill>
                  <a:srgbClr val="0070C0"/>
                </a:solidFill>
                <a:latin typeface="Arial" charset="0"/>
                <a:ea typeface="隶书" pitchFamily="49" charset="-122"/>
              </a:rPr>
              <a:t>q</a:t>
            </a:r>
            <a:r>
              <a:rPr lang="zh-CN" altLang="en-US" sz="2400" b="1" dirty="0">
                <a:latin typeface="隶书" pitchFamily="49" charset="-122"/>
              </a:rPr>
              <a:t>分别</a:t>
            </a:r>
            <a:r>
              <a:rPr lang="zh-CN" altLang="en-US" sz="2400" b="1" dirty="0">
                <a:solidFill>
                  <a:srgbClr val="FF0000"/>
                </a:solidFill>
                <a:latin typeface="隶书" pitchFamily="49" charset="-122"/>
              </a:rPr>
              <a:t>指向同一数组中的元素</a:t>
            </a:r>
            <a:r>
              <a:rPr lang="zh-CN" altLang="en-US" sz="2400" b="1" dirty="0">
                <a:latin typeface="隶书" pitchFamily="49" charset="-122"/>
              </a:rPr>
              <a:t>时：</a:t>
            </a:r>
          </a:p>
        </p:txBody>
      </p:sp>
      <p:sp>
        <p:nvSpPr>
          <p:cNvPr id="5" name="Text Box 88">
            <a:extLst>
              <a:ext uri="{FF2B5EF4-FFF2-40B4-BE49-F238E27FC236}">
                <a16:creationId xmlns:a16="http://schemas.microsoft.com/office/drawing/2014/main" id="{70F369C0-6090-4EB7-8CA4-1FF262BAB001}"/>
              </a:ext>
            </a:extLst>
          </p:cNvPr>
          <p:cNvSpPr txBox="1">
            <a:spLocks noChangeArrowheads="1"/>
          </p:cNvSpPr>
          <p:nvPr/>
        </p:nvSpPr>
        <p:spPr bwMode="auto">
          <a:xfrm>
            <a:off x="776816" y="1610715"/>
            <a:ext cx="10638367" cy="2310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kumimoji="1" lang="zh-CN" altLang="en-US" sz="2400" dirty="0">
                <a:latin typeface="等线" panose="02010600030101010101" pitchFamily="2" charset="-122"/>
                <a:ea typeface="等线" panose="02010600030101010101" pitchFamily="2" charset="-122"/>
              </a:rPr>
              <a:t>◆ </a:t>
            </a:r>
            <a:r>
              <a:rPr kumimoji="1" lang="en-US" altLang="zh-CN" sz="2400" dirty="0">
                <a:solidFill>
                  <a:srgbClr val="0070C0"/>
                </a:solidFill>
                <a:ea typeface="隶书" pitchFamily="49" charset="-122"/>
              </a:rPr>
              <a:t>p</a:t>
            </a:r>
            <a:r>
              <a:rPr kumimoji="1" lang="en-US" altLang="zh-CN" sz="2400" dirty="0">
                <a:ea typeface="隶书" pitchFamily="49" charset="-122"/>
              </a:rPr>
              <a:t> </a:t>
            </a:r>
            <a:r>
              <a:rPr kumimoji="1" lang="en-US" altLang="zh-CN" sz="2400" dirty="0">
                <a:solidFill>
                  <a:srgbClr val="FF0000"/>
                </a:solidFill>
                <a:ea typeface="隶书" pitchFamily="49" charset="-122"/>
              </a:rPr>
              <a:t>&lt;</a:t>
            </a:r>
            <a:r>
              <a:rPr kumimoji="1" lang="en-US" altLang="zh-CN" sz="2400" dirty="0">
                <a:ea typeface="隶书" pitchFamily="49" charset="-122"/>
              </a:rPr>
              <a:t> </a:t>
            </a:r>
            <a:r>
              <a:rPr kumimoji="1" lang="en-US" altLang="zh-CN" sz="2400" dirty="0">
                <a:solidFill>
                  <a:srgbClr val="0070C0"/>
                </a:solidFill>
                <a:ea typeface="隶书" pitchFamily="49" charset="-122"/>
              </a:rPr>
              <a:t>q</a:t>
            </a:r>
            <a:r>
              <a:rPr kumimoji="1" lang="en-US" altLang="zh-CN" sz="2400" dirty="0">
                <a:ea typeface="隶书" pitchFamily="49" charset="-122"/>
              </a:rPr>
              <a:t>:</a:t>
            </a:r>
            <a:r>
              <a:rPr kumimoji="1" lang="zh-CN" altLang="en-US" sz="2400" dirty="0">
                <a:ea typeface="隶书" pitchFamily="49" charset="-122"/>
              </a:rPr>
              <a:t>当</a:t>
            </a:r>
            <a:r>
              <a:rPr kumimoji="1" lang="en-US" altLang="zh-CN" sz="2400" dirty="0">
                <a:ea typeface="隶书" pitchFamily="49" charset="-122"/>
              </a:rPr>
              <a:t>p</a:t>
            </a:r>
            <a:r>
              <a:rPr kumimoji="1" lang="zh-CN" altLang="en-US" sz="2400" dirty="0">
                <a:ea typeface="隶书" pitchFamily="49" charset="-122"/>
              </a:rPr>
              <a:t>所指向的元素位于</a:t>
            </a:r>
            <a:r>
              <a:rPr kumimoji="1" lang="en-US" altLang="zh-CN" sz="2400" dirty="0">
                <a:ea typeface="隶书" pitchFamily="49" charset="-122"/>
              </a:rPr>
              <a:t>q</a:t>
            </a:r>
            <a:r>
              <a:rPr kumimoji="1" lang="zh-CN" altLang="en-US" sz="2400" dirty="0">
                <a:ea typeface="隶书" pitchFamily="49" charset="-122"/>
              </a:rPr>
              <a:t>所指向的元素之前时返回真，否则返回假。</a:t>
            </a:r>
            <a:endParaRPr kumimoji="1" lang="en-US" altLang="zh-CN" sz="2400" dirty="0">
              <a:ea typeface="隶书" pitchFamily="49" charset="-122"/>
            </a:endParaRPr>
          </a:p>
          <a:p>
            <a:r>
              <a:rPr kumimoji="1" lang="zh-CN" altLang="en-US" sz="2400" dirty="0">
                <a:latin typeface="等线" panose="02010600030101010101" pitchFamily="2" charset="-122"/>
                <a:ea typeface="等线" panose="02010600030101010101" pitchFamily="2" charset="-122"/>
              </a:rPr>
              <a:t>◆</a:t>
            </a:r>
            <a:r>
              <a:rPr kumimoji="1" lang="en-US" altLang="zh-CN" sz="2400" dirty="0">
                <a:latin typeface="等线" panose="02010600030101010101" pitchFamily="2" charset="-122"/>
                <a:ea typeface="隶书" pitchFamily="49" charset="-122"/>
              </a:rPr>
              <a:t> </a:t>
            </a:r>
            <a:r>
              <a:rPr kumimoji="1" lang="en-US" altLang="zh-CN" sz="2400" dirty="0">
                <a:solidFill>
                  <a:srgbClr val="0070C0"/>
                </a:solidFill>
                <a:ea typeface="隶书" pitchFamily="49" charset="-122"/>
              </a:rPr>
              <a:t>p</a:t>
            </a:r>
            <a:r>
              <a:rPr kumimoji="1" lang="en-US" altLang="zh-CN" sz="2400" dirty="0">
                <a:ea typeface="隶书" pitchFamily="49" charset="-122"/>
              </a:rPr>
              <a:t> </a:t>
            </a:r>
            <a:r>
              <a:rPr kumimoji="1" lang="en-US" altLang="zh-CN" sz="2400" dirty="0">
                <a:solidFill>
                  <a:srgbClr val="FF0000"/>
                </a:solidFill>
                <a:ea typeface="隶书" pitchFamily="49" charset="-122"/>
              </a:rPr>
              <a:t>&gt;</a:t>
            </a:r>
            <a:r>
              <a:rPr kumimoji="1" lang="en-US" altLang="zh-CN" sz="2400" dirty="0">
                <a:ea typeface="隶书" pitchFamily="49" charset="-122"/>
              </a:rPr>
              <a:t> </a:t>
            </a:r>
            <a:r>
              <a:rPr kumimoji="1" lang="en-US" altLang="zh-CN" sz="2400" dirty="0">
                <a:solidFill>
                  <a:srgbClr val="0070C0"/>
                </a:solidFill>
                <a:ea typeface="隶书" pitchFamily="49" charset="-122"/>
              </a:rPr>
              <a:t>q</a:t>
            </a:r>
            <a:r>
              <a:rPr kumimoji="1" lang="en-US" altLang="zh-CN" sz="2400" dirty="0">
                <a:ea typeface="隶书" pitchFamily="49" charset="-122"/>
              </a:rPr>
              <a:t>:</a:t>
            </a:r>
            <a:r>
              <a:rPr kumimoji="1" lang="zh-CN" altLang="en-US" sz="2400" dirty="0">
                <a:ea typeface="隶书" pitchFamily="49" charset="-122"/>
              </a:rPr>
              <a:t>当</a:t>
            </a:r>
            <a:r>
              <a:rPr kumimoji="1" lang="en-US" altLang="zh-CN" sz="2400" dirty="0">
                <a:ea typeface="隶书" pitchFamily="49" charset="-122"/>
              </a:rPr>
              <a:t>p</a:t>
            </a:r>
            <a:r>
              <a:rPr kumimoji="1" lang="zh-CN" altLang="en-US" sz="2400" dirty="0">
                <a:ea typeface="隶书" pitchFamily="49" charset="-122"/>
              </a:rPr>
              <a:t>所指向的元素位于</a:t>
            </a:r>
            <a:r>
              <a:rPr kumimoji="1" lang="en-US" altLang="zh-CN" sz="2400" dirty="0">
                <a:ea typeface="隶书" pitchFamily="49" charset="-122"/>
              </a:rPr>
              <a:t>q</a:t>
            </a:r>
            <a:r>
              <a:rPr kumimoji="1" lang="zh-CN" altLang="en-US" sz="2400" dirty="0">
                <a:ea typeface="隶书" pitchFamily="49" charset="-122"/>
              </a:rPr>
              <a:t>所指向的元素之后时返回真，否则返回假。</a:t>
            </a:r>
            <a:endParaRPr kumimoji="1" lang="en-US" altLang="zh-CN" sz="2400" dirty="0">
              <a:latin typeface="等线" panose="02010600030101010101" pitchFamily="2" charset="-122"/>
              <a:ea typeface="隶书" pitchFamily="49" charset="-122"/>
            </a:endParaRPr>
          </a:p>
          <a:p>
            <a:r>
              <a:rPr kumimoji="1" lang="zh-CN" altLang="en-US" sz="2400" dirty="0">
                <a:latin typeface="等线" panose="02010600030101010101" pitchFamily="2" charset="-122"/>
                <a:ea typeface="等线" panose="02010600030101010101" pitchFamily="2" charset="-122"/>
              </a:rPr>
              <a:t>◆</a:t>
            </a:r>
            <a:r>
              <a:rPr kumimoji="1" lang="en-US" altLang="zh-CN" sz="2400" dirty="0">
                <a:latin typeface="等线" panose="02010600030101010101" pitchFamily="2" charset="-122"/>
                <a:ea typeface="隶书" pitchFamily="49" charset="-122"/>
              </a:rPr>
              <a:t> </a:t>
            </a:r>
            <a:r>
              <a:rPr kumimoji="1" lang="en-US" altLang="zh-CN" sz="2400" dirty="0">
                <a:solidFill>
                  <a:srgbClr val="0070C0"/>
                </a:solidFill>
                <a:ea typeface="隶书" pitchFamily="49" charset="-122"/>
              </a:rPr>
              <a:t>p</a:t>
            </a:r>
            <a:r>
              <a:rPr kumimoji="1" lang="en-US" altLang="zh-CN" sz="2400" dirty="0">
                <a:solidFill>
                  <a:srgbClr val="FF0000"/>
                </a:solidFill>
                <a:ea typeface="隶书" pitchFamily="49" charset="-122"/>
              </a:rPr>
              <a:t>==</a:t>
            </a:r>
            <a:r>
              <a:rPr kumimoji="1" lang="en-US" altLang="zh-CN" sz="2400" dirty="0">
                <a:solidFill>
                  <a:srgbClr val="0070C0"/>
                </a:solidFill>
                <a:ea typeface="隶书" pitchFamily="49" charset="-122"/>
              </a:rPr>
              <a:t>q</a:t>
            </a:r>
            <a:r>
              <a:rPr kumimoji="1" lang="en-US" altLang="zh-CN" sz="2400" dirty="0">
                <a:ea typeface="隶书" pitchFamily="49" charset="-122"/>
              </a:rPr>
              <a:t>:</a:t>
            </a:r>
            <a:r>
              <a:rPr kumimoji="1" lang="zh-CN" altLang="en-US" sz="2400" dirty="0">
                <a:latin typeface="等线" panose="02010600030101010101" pitchFamily="2" charset="-122"/>
                <a:ea typeface="隶书" pitchFamily="49" charset="-122"/>
              </a:rPr>
              <a:t>当</a:t>
            </a:r>
            <a:r>
              <a:rPr kumimoji="1" lang="en-US" altLang="zh-CN" sz="2400" dirty="0">
                <a:ea typeface="隶书" pitchFamily="49" charset="-122"/>
              </a:rPr>
              <a:t>p</a:t>
            </a:r>
            <a:r>
              <a:rPr kumimoji="1" lang="zh-CN" altLang="en-US" sz="2400" dirty="0">
                <a:ea typeface="隶书" pitchFamily="49" charset="-122"/>
              </a:rPr>
              <a:t>和</a:t>
            </a:r>
            <a:r>
              <a:rPr kumimoji="1" lang="en-US" altLang="zh-CN" sz="2400" dirty="0">
                <a:ea typeface="隶书" pitchFamily="49" charset="-122"/>
              </a:rPr>
              <a:t>q</a:t>
            </a:r>
            <a:r>
              <a:rPr kumimoji="1" lang="zh-CN" altLang="en-US" sz="2400" dirty="0">
                <a:ea typeface="隶书" pitchFamily="49" charset="-122"/>
              </a:rPr>
              <a:t>指向同一个元素时返回真，否则返回假。</a:t>
            </a:r>
            <a:endParaRPr kumimoji="1" lang="en-US" altLang="zh-CN" sz="2400" dirty="0">
              <a:ea typeface="隶书" pitchFamily="49" charset="-122"/>
            </a:endParaRPr>
          </a:p>
          <a:p>
            <a:r>
              <a:rPr kumimoji="1" lang="zh-CN" altLang="en-US" sz="2400" dirty="0">
                <a:latin typeface="等线" panose="02010600030101010101" pitchFamily="2" charset="-122"/>
                <a:ea typeface="等线" panose="02010600030101010101" pitchFamily="2" charset="-122"/>
              </a:rPr>
              <a:t>◆</a:t>
            </a:r>
            <a:r>
              <a:rPr kumimoji="1" lang="en-US" altLang="zh-CN" sz="2400" dirty="0">
                <a:latin typeface="等线" panose="02010600030101010101" pitchFamily="2" charset="-122"/>
                <a:ea typeface="隶书" pitchFamily="49" charset="-122"/>
              </a:rPr>
              <a:t> </a:t>
            </a:r>
            <a:r>
              <a:rPr kumimoji="1" lang="en-US" altLang="zh-CN" sz="2400" dirty="0">
                <a:solidFill>
                  <a:srgbClr val="0070C0"/>
                </a:solidFill>
                <a:ea typeface="隶书" pitchFamily="49" charset="-122"/>
              </a:rPr>
              <a:t>p</a:t>
            </a:r>
            <a:r>
              <a:rPr kumimoji="1" lang="en-US" altLang="zh-CN" sz="2400" dirty="0">
                <a:ea typeface="隶书" pitchFamily="49" charset="-122"/>
              </a:rPr>
              <a:t> </a:t>
            </a:r>
            <a:r>
              <a:rPr kumimoji="1" lang="en-US" altLang="zh-CN" sz="2400" dirty="0">
                <a:solidFill>
                  <a:srgbClr val="FF0000"/>
                </a:solidFill>
                <a:ea typeface="隶书" pitchFamily="49" charset="-122"/>
              </a:rPr>
              <a:t>!=</a:t>
            </a:r>
            <a:r>
              <a:rPr kumimoji="1" lang="en-US" altLang="zh-CN" sz="2400" dirty="0">
                <a:solidFill>
                  <a:srgbClr val="0070C0"/>
                </a:solidFill>
                <a:ea typeface="隶书" pitchFamily="49" charset="-122"/>
              </a:rPr>
              <a:t>q</a:t>
            </a:r>
            <a:r>
              <a:rPr kumimoji="1" lang="en-US" altLang="zh-CN" sz="2400" dirty="0">
                <a:ea typeface="隶书" pitchFamily="49" charset="-122"/>
              </a:rPr>
              <a:t>:</a:t>
            </a:r>
            <a:r>
              <a:rPr kumimoji="1" lang="zh-CN" altLang="en-US" sz="2400" dirty="0">
                <a:latin typeface="等线" panose="02010600030101010101" pitchFamily="2" charset="-122"/>
                <a:ea typeface="隶书" pitchFamily="49" charset="-122"/>
              </a:rPr>
              <a:t>当</a:t>
            </a:r>
            <a:r>
              <a:rPr kumimoji="1" lang="en-US" altLang="zh-CN" sz="2400" dirty="0">
                <a:ea typeface="隶书" pitchFamily="49" charset="-122"/>
              </a:rPr>
              <a:t>p</a:t>
            </a:r>
            <a:r>
              <a:rPr kumimoji="1" lang="zh-CN" altLang="en-US" sz="2400" dirty="0">
                <a:ea typeface="隶书" pitchFamily="49" charset="-122"/>
              </a:rPr>
              <a:t>和</a:t>
            </a:r>
            <a:r>
              <a:rPr kumimoji="1" lang="en-US" altLang="zh-CN" sz="2400" dirty="0">
                <a:ea typeface="隶书" pitchFamily="49" charset="-122"/>
              </a:rPr>
              <a:t>q</a:t>
            </a:r>
            <a:r>
              <a:rPr kumimoji="1" lang="zh-CN" altLang="en-US" sz="2400" dirty="0">
                <a:ea typeface="隶书" pitchFamily="49" charset="-122"/>
              </a:rPr>
              <a:t>指向不同的元素时返回真，否则返回假。</a:t>
            </a:r>
            <a:endParaRPr kumimoji="1" lang="en-US" altLang="zh-CN" sz="2400" dirty="0">
              <a:ea typeface="隶书" pitchFamily="49" charset="-122"/>
            </a:endParaRPr>
          </a:p>
          <a:p>
            <a:r>
              <a:rPr kumimoji="1" lang="zh-CN" altLang="en-US" sz="2400" dirty="0">
                <a:latin typeface="等线" panose="02010600030101010101" pitchFamily="2" charset="-122"/>
                <a:ea typeface="等线" panose="02010600030101010101" pitchFamily="2" charset="-122"/>
              </a:rPr>
              <a:t>◆</a:t>
            </a:r>
            <a:r>
              <a:rPr kumimoji="1" lang="en-US" altLang="zh-CN" sz="2400" dirty="0">
                <a:latin typeface="等线" panose="02010600030101010101" pitchFamily="2" charset="-122"/>
                <a:ea typeface="隶书" pitchFamily="49" charset="-122"/>
              </a:rPr>
              <a:t> </a:t>
            </a:r>
            <a:r>
              <a:rPr kumimoji="1" lang="en-US" altLang="zh-CN" sz="2400" dirty="0">
                <a:solidFill>
                  <a:srgbClr val="0070C0"/>
                </a:solidFill>
                <a:ea typeface="隶书" pitchFamily="49" charset="-122"/>
              </a:rPr>
              <a:t>p</a:t>
            </a:r>
            <a:r>
              <a:rPr kumimoji="1" lang="en-US" altLang="zh-CN" sz="2400" dirty="0">
                <a:ea typeface="隶书" pitchFamily="49" charset="-122"/>
              </a:rPr>
              <a:t> </a:t>
            </a:r>
            <a:r>
              <a:rPr kumimoji="1" lang="en-US" altLang="zh-CN" sz="2400" dirty="0">
                <a:solidFill>
                  <a:srgbClr val="FF0000"/>
                </a:solidFill>
                <a:ea typeface="隶书" pitchFamily="49" charset="-122"/>
              </a:rPr>
              <a:t>==</a:t>
            </a:r>
            <a:r>
              <a:rPr kumimoji="1" lang="en-US" altLang="zh-CN" sz="2400" dirty="0">
                <a:solidFill>
                  <a:srgbClr val="0070C0"/>
                </a:solidFill>
                <a:ea typeface="隶书" pitchFamily="49" charset="-122"/>
              </a:rPr>
              <a:t> NULL</a:t>
            </a:r>
            <a:r>
              <a:rPr kumimoji="1" lang="en-US" altLang="zh-CN" sz="2400" dirty="0">
                <a:ea typeface="隶书" pitchFamily="49" charset="-122"/>
              </a:rPr>
              <a:t>:</a:t>
            </a:r>
            <a:r>
              <a:rPr kumimoji="1" lang="zh-CN" altLang="en-US" sz="2400" dirty="0">
                <a:latin typeface="等线" panose="02010600030101010101" pitchFamily="2" charset="-122"/>
                <a:ea typeface="隶书" pitchFamily="49" charset="-122"/>
              </a:rPr>
              <a:t>当</a:t>
            </a:r>
            <a:r>
              <a:rPr kumimoji="1" lang="en-US" altLang="zh-CN" sz="2400" dirty="0">
                <a:ea typeface="隶书" pitchFamily="49" charset="-122"/>
              </a:rPr>
              <a:t>p</a:t>
            </a:r>
            <a:r>
              <a:rPr kumimoji="1" lang="zh-CN" altLang="en-US" sz="2400" dirty="0">
                <a:ea typeface="隶书" pitchFamily="49" charset="-122"/>
              </a:rPr>
              <a:t>为空时</a:t>
            </a:r>
            <a:r>
              <a:rPr kumimoji="1" lang="en-US" altLang="zh-CN" sz="2400" dirty="0">
                <a:ea typeface="隶书" pitchFamily="49" charset="-122"/>
              </a:rPr>
              <a:t>(</a:t>
            </a:r>
            <a:r>
              <a:rPr kumimoji="1" lang="zh-CN" altLang="en-US" sz="2400" dirty="0">
                <a:ea typeface="隶书" pitchFamily="49" charset="-122"/>
              </a:rPr>
              <a:t>即不指向任何元素</a:t>
            </a:r>
            <a:r>
              <a:rPr kumimoji="1" lang="en-US" altLang="zh-CN" sz="2400" dirty="0">
                <a:ea typeface="隶书" pitchFamily="49" charset="-122"/>
              </a:rPr>
              <a:t>)</a:t>
            </a:r>
            <a:r>
              <a:rPr kumimoji="1" lang="zh-CN" altLang="en-US" sz="2400" dirty="0">
                <a:ea typeface="隶书" pitchFamily="49" charset="-122"/>
              </a:rPr>
              <a:t>返回真，否则返回假。</a:t>
            </a:r>
            <a:endParaRPr kumimoji="1" lang="en-US" altLang="zh-CN" sz="2400" dirty="0">
              <a:ea typeface="隶书" pitchFamily="49" charset="-122"/>
            </a:endParaRPr>
          </a:p>
          <a:p>
            <a:r>
              <a:rPr kumimoji="1" lang="zh-CN" altLang="en-US" sz="2400" dirty="0">
                <a:latin typeface="等线" panose="02010600030101010101" pitchFamily="2" charset="-122"/>
                <a:ea typeface="等线" panose="02010600030101010101" pitchFamily="2" charset="-122"/>
              </a:rPr>
              <a:t>◆</a:t>
            </a:r>
            <a:r>
              <a:rPr kumimoji="1" lang="en-US" altLang="zh-CN" sz="2400" dirty="0">
                <a:latin typeface="等线" panose="02010600030101010101" pitchFamily="2" charset="-122"/>
                <a:ea typeface="隶书" pitchFamily="49" charset="-122"/>
              </a:rPr>
              <a:t> </a:t>
            </a:r>
            <a:r>
              <a:rPr kumimoji="1" lang="en-US" altLang="zh-CN" sz="2400" dirty="0">
                <a:solidFill>
                  <a:srgbClr val="0070C0"/>
                </a:solidFill>
                <a:ea typeface="隶书" pitchFamily="49" charset="-122"/>
              </a:rPr>
              <a:t>p</a:t>
            </a:r>
            <a:r>
              <a:rPr kumimoji="1" lang="en-US" altLang="zh-CN" sz="2400" dirty="0">
                <a:ea typeface="隶书" pitchFamily="49" charset="-122"/>
              </a:rPr>
              <a:t> </a:t>
            </a:r>
            <a:r>
              <a:rPr kumimoji="1" lang="en-US" altLang="zh-CN" sz="2400" dirty="0">
                <a:solidFill>
                  <a:srgbClr val="FF0000"/>
                </a:solidFill>
                <a:ea typeface="隶书" pitchFamily="49" charset="-122"/>
              </a:rPr>
              <a:t>!=</a:t>
            </a:r>
            <a:r>
              <a:rPr kumimoji="1" lang="en-US" altLang="zh-CN" sz="2400" dirty="0">
                <a:solidFill>
                  <a:srgbClr val="0070C0"/>
                </a:solidFill>
                <a:ea typeface="隶书" pitchFamily="49" charset="-122"/>
              </a:rPr>
              <a:t>  NULL</a:t>
            </a:r>
            <a:r>
              <a:rPr kumimoji="1" lang="en-US" altLang="zh-CN" sz="2400" dirty="0">
                <a:ea typeface="隶书" pitchFamily="49" charset="-122"/>
              </a:rPr>
              <a:t>:</a:t>
            </a:r>
            <a:r>
              <a:rPr kumimoji="1" lang="zh-CN" altLang="en-US" sz="2400" dirty="0">
                <a:latin typeface="等线" panose="02010600030101010101" pitchFamily="2" charset="-122"/>
                <a:ea typeface="隶书" pitchFamily="49" charset="-122"/>
              </a:rPr>
              <a:t>当</a:t>
            </a:r>
            <a:r>
              <a:rPr kumimoji="1" lang="en-US" altLang="zh-CN" sz="2400" dirty="0">
                <a:ea typeface="隶书" pitchFamily="49" charset="-122"/>
              </a:rPr>
              <a:t>p</a:t>
            </a:r>
            <a:r>
              <a:rPr kumimoji="1" lang="zh-CN" altLang="en-US" sz="2400" dirty="0">
                <a:ea typeface="隶书" pitchFamily="49" charset="-122"/>
              </a:rPr>
              <a:t>不为空时</a:t>
            </a:r>
            <a:r>
              <a:rPr kumimoji="1" lang="en-US" altLang="zh-CN" sz="2400" dirty="0">
                <a:ea typeface="隶书" pitchFamily="49" charset="-122"/>
              </a:rPr>
              <a:t>(</a:t>
            </a:r>
            <a:r>
              <a:rPr kumimoji="1" lang="zh-CN" altLang="en-US" sz="2400" dirty="0">
                <a:ea typeface="隶书" pitchFamily="49" charset="-122"/>
              </a:rPr>
              <a:t>即指向任一元素</a:t>
            </a:r>
            <a:r>
              <a:rPr kumimoji="1" lang="en-US" altLang="zh-CN" sz="2400" dirty="0">
                <a:ea typeface="隶书" pitchFamily="49" charset="-122"/>
              </a:rPr>
              <a:t>)</a:t>
            </a:r>
            <a:r>
              <a:rPr kumimoji="1" lang="zh-CN" altLang="en-US" sz="2400" dirty="0">
                <a:ea typeface="隶书" pitchFamily="49" charset="-122"/>
              </a:rPr>
              <a:t>返回真，否则返回假。</a:t>
            </a:r>
            <a:endParaRPr kumimoji="1" lang="en-US" altLang="zh-CN" sz="2400" dirty="0">
              <a:ea typeface="隶书" pitchFamily="49" charset="-122"/>
            </a:endParaRPr>
          </a:p>
        </p:txBody>
      </p:sp>
      <p:sp>
        <p:nvSpPr>
          <p:cNvPr id="6" name="Rectangle 2">
            <a:extLst>
              <a:ext uri="{FF2B5EF4-FFF2-40B4-BE49-F238E27FC236}">
                <a16:creationId xmlns:a16="http://schemas.microsoft.com/office/drawing/2014/main" id="{C58A6701-5F55-41DE-9060-FEFEBD18A029}"/>
              </a:ext>
            </a:extLst>
          </p:cNvPr>
          <p:cNvSpPr txBox="1">
            <a:spLocks noChangeArrowheads="1"/>
          </p:cNvSpPr>
          <p:nvPr/>
        </p:nvSpPr>
        <p:spPr>
          <a:xfrm>
            <a:off x="1253022" y="4055882"/>
            <a:ext cx="4706453" cy="2246769"/>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0000FF"/>
                </a:solidFill>
              </a:rPr>
              <a:t>int</a:t>
            </a:r>
            <a:r>
              <a:rPr lang="zh-CN" altLang="en-US" b="1" dirty="0">
                <a:solidFill>
                  <a:srgbClr val="0000FF"/>
                </a:solidFill>
              </a:rPr>
              <a:t> </a:t>
            </a:r>
            <a:r>
              <a:rPr lang="en-US" altLang="zh-CN" b="1" dirty="0"/>
              <a:t>a</a:t>
            </a:r>
            <a:r>
              <a:rPr lang="en-US" altLang="zh-CN" b="1" dirty="0">
                <a:solidFill>
                  <a:srgbClr val="FF0000"/>
                </a:solidFill>
              </a:rPr>
              <a:t>[</a:t>
            </a:r>
            <a:r>
              <a:rPr lang="en-US" altLang="zh-CN" b="1" dirty="0"/>
              <a:t>10</a:t>
            </a:r>
            <a:r>
              <a:rPr lang="en-US" altLang="zh-CN" b="1" dirty="0">
                <a:solidFill>
                  <a:srgbClr val="FF0000"/>
                </a:solidFill>
              </a:rPr>
              <a:t>]</a:t>
            </a:r>
            <a:r>
              <a:rPr lang="en-US" altLang="zh-CN" b="1" dirty="0"/>
              <a:t>,</a:t>
            </a:r>
            <a:r>
              <a:rPr lang="en-US" altLang="zh-CN" b="1" dirty="0">
                <a:solidFill>
                  <a:srgbClr val="FF0000"/>
                </a:solidFill>
              </a:rPr>
              <a:t> *</a:t>
            </a:r>
            <a:r>
              <a:rPr lang="en-US" altLang="zh-CN" b="1" dirty="0"/>
              <a:t>p1, </a:t>
            </a:r>
            <a:r>
              <a:rPr lang="en-US" altLang="zh-CN" b="1" dirty="0">
                <a:solidFill>
                  <a:srgbClr val="FF0000"/>
                </a:solidFill>
              </a:rPr>
              <a:t>*</a:t>
            </a:r>
            <a:r>
              <a:rPr lang="en-US" altLang="zh-CN" b="1" dirty="0"/>
              <a:t>p2, </a:t>
            </a:r>
            <a:r>
              <a:rPr lang="en-US" altLang="zh-CN" b="1" dirty="0">
                <a:solidFill>
                  <a:srgbClr val="FF0000"/>
                </a:solidFill>
              </a:rPr>
              <a:t>*</a:t>
            </a:r>
            <a:r>
              <a:rPr lang="en-US" altLang="zh-CN" b="1" dirty="0"/>
              <a:t>q1, </a:t>
            </a:r>
            <a:r>
              <a:rPr lang="en-US" altLang="zh-CN" b="1" dirty="0">
                <a:solidFill>
                  <a:srgbClr val="FF0000"/>
                </a:solidFill>
              </a:rPr>
              <a:t>*</a:t>
            </a:r>
            <a:r>
              <a:rPr lang="en-US" altLang="zh-CN" b="1" dirty="0"/>
              <a:t>q2;</a:t>
            </a:r>
          </a:p>
          <a:p>
            <a:pPr marL="0" indent="0">
              <a:lnSpc>
                <a:spcPct val="100000"/>
              </a:lnSpc>
              <a:spcBef>
                <a:spcPct val="0"/>
              </a:spcBef>
              <a:buClr>
                <a:schemeClr val="tx2"/>
              </a:buClr>
              <a:buSzPct val="70000"/>
              <a:buNone/>
            </a:pPr>
            <a:r>
              <a:rPr lang="en-US" altLang="zh-CN" b="1" dirty="0"/>
              <a:t>p1 = </a:t>
            </a:r>
            <a:r>
              <a:rPr lang="en-US" altLang="zh-CN" b="1" dirty="0">
                <a:solidFill>
                  <a:srgbClr val="FF0000"/>
                </a:solidFill>
              </a:rPr>
              <a:t>&amp;</a:t>
            </a:r>
            <a:r>
              <a:rPr lang="en-US" altLang="zh-CN" b="1" dirty="0"/>
              <a:t>a</a:t>
            </a:r>
            <a:r>
              <a:rPr lang="en-US" altLang="zh-CN" b="1" dirty="0">
                <a:solidFill>
                  <a:srgbClr val="FF0000"/>
                </a:solidFill>
              </a:rPr>
              <a:t>[</a:t>
            </a:r>
            <a:r>
              <a:rPr lang="en-US" altLang="zh-CN" b="1" dirty="0"/>
              <a:t>1</a:t>
            </a:r>
            <a:r>
              <a:rPr lang="en-US" altLang="zh-CN" b="1" dirty="0">
                <a:solidFill>
                  <a:srgbClr val="FF0000"/>
                </a:solidFill>
              </a:rPr>
              <a:t>]</a:t>
            </a:r>
            <a:r>
              <a:rPr lang="en-US" altLang="zh-CN" b="1" dirty="0"/>
              <a:t>;</a:t>
            </a:r>
          </a:p>
          <a:p>
            <a:pPr marL="0" indent="0">
              <a:lnSpc>
                <a:spcPct val="100000"/>
              </a:lnSpc>
              <a:spcBef>
                <a:spcPct val="0"/>
              </a:spcBef>
              <a:buClr>
                <a:schemeClr val="tx2"/>
              </a:buClr>
              <a:buSzPct val="70000"/>
              <a:buNone/>
            </a:pPr>
            <a:r>
              <a:rPr lang="en-US" altLang="zh-CN" b="1" dirty="0"/>
              <a:t>p2 = </a:t>
            </a:r>
            <a:r>
              <a:rPr lang="en-US" altLang="zh-CN" b="1" dirty="0">
                <a:solidFill>
                  <a:srgbClr val="FF0000"/>
                </a:solidFill>
              </a:rPr>
              <a:t>&amp;</a:t>
            </a:r>
            <a:r>
              <a:rPr lang="en-US" altLang="zh-CN" b="1" dirty="0"/>
              <a:t>a</a:t>
            </a:r>
            <a:r>
              <a:rPr lang="en-US" altLang="zh-CN" b="1" dirty="0">
                <a:solidFill>
                  <a:srgbClr val="FF0000"/>
                </a:solidFill>
              </a:rPr>
              <a:t>[</a:t>
            </a:r>
            <a:r>
              <a:rPr lang="en-US" altLang="zh-CN" b="1" dirty="0"/>
              <a:t>8</a:t>
            </a:r>
            <a:r>
              <a:rPr lang="en-US" altLang="zh-CN" b="1" dirty="0">
                <a:solidFill>
                  <a:srgbClr val="FF0000"/>
                </a:solidFill>
              </a:rPr>
              <a:t>]</a:t>
            </a:r>
            <a:r>
              <a:rPr lang="en-US" altLang="zh-CN" b="1" dirty="0"/>
              <a:t>;</a:t>
            </a:r>
          </a:p>
          <a:p>
            <a:pPr marL="0" indent="0">
              <a:lnSpc>
                <a:spcPct val="100000"/>
              </a:lnSpc>
              <a:spcBef>
                <a:spcPct val="0"/>
              </a:spcBef>
              <a:buClr>
                <a:schemeClr val="tx2"/>
              </a:buClr>
              <a:buSzPct val="70000"/>
              <a:buNone/>
            </a:pPr>
            <a:r>
              <a:rPr lang="en-US" altLang="zh-CN" b="1" dirty="0"/>
              <a:t>q1 = </a:t>
            </a:r>
            <a:r>
              <a:rPr lang="en-US" altLang="zh-CN" b="1" dirty="0">
                <a:solidFill>
                  <a:srgbClr val="FF0000"/>
                </a:solidFill>
              </a:rPr>
              <a:t>&amp;</a:t>
            </a:r>
            <a:r>
              <a:rPr lang="en-US" altLang="zh-CN" b="1" dirty="0"/>
              <a:t>a</a:t>
            </a:r>
            <a:r>
              <a:rPr lang="en-US" altLang="zh-CN" b="1" dirty="0">
                <a:solidFill>
                  <a:srgbClr val="FF0000"/>
                </a:solidFill>
              </a:rPr>
              <a:t>[</a:t>
            </a:r>
            <a:r>
              <a:rPr lang="en-US" altLang="zh-CN" b="1" dirty="0"/>
              <a:t>3</a:t>
            </a:r>
            <a:r>
              <a:rPr lang="en-US" altLang="zh-CN" b="1" dirty="0">
                <a:solidFill>
                  <a:srgbClr val="FF0000"/>
                </a:solidFill>
              </a:rPr>
              <a:t>]</a:t>
            </a:r>
            <a:r>
              <a:rPr lang="en-US" altLang="zh-CN" b="1" dirty="0"/>
              <a:t>;</a:t>
            </a:r>
          </a:p>
          <a:p>
            <a:pPr marL="0" indent="0">
              <a:lnSpc>
                <a:spcPct val="100000"/>
              </a:lnSpc>
              <a:spcBef>
                <a:spcPct val="0"/>
              </a:spcBef>
              <a:buClr>
                <a:schemeClr val="tx2"/>
              </a:buClr>
              <a:buSzPct val="70000"/>
              <a:buNone/>
            </a:pPr>
            <a:r>
              <a:rPr lang="en-US" altLang="zh-CN" b="1" dirty="0"/>
              <a:t>q2 = </a:t>
            </a:r>
            <a:r>
              <a:rPr lang="en-US" altLang="zh-CN" b="1" dirty="0">
                <a:solidFill>
                  <a:srgbClr val="FF0000"/>
                </a:solidFill>
              </a:rPr>
              <a:t>&amp;</a:t>
            </a:r>
            <a:r>
              <a:rPr lang="en-US" altLang="zh-CN" b="1" dirty="0"/>
              <a:t>a</a:t>
            </a:r>
            <a:r>
              <a:rPr lang="en-US" altLang="zh-CN" b="1" dirty="0">
                <a:solidFill>
                  <a:srgbClr val="FF0000"/>
                </a:solidFill>
              </a:rPr>
              <a:t>[</a:t>
            </a:r>
            <a:r>
              <a:rPr lang="en-US" altLang="zh-CN" b="1" dirty="0"/>
              <a:t>3</a:t>
            </a:r>
            <a:r>
              <a:rPr lang="en-US" altLang="zh-CN" b="1" dirty="0">
                <a:solidFill>
                  <a:srgbClr val="FF0000"/>
                </a:solidFill>
              </a:rPr>
              <a:t>]</a:t>
            </a:r>
            <a:r>
              <a:rPr lang="en-US" altLang="zh-CN" b="1" dirty="0"/>
              <a:t>;</a:t>
            </a:r>
          </a:p>
        </p:txBody>
      </p:sp>
      <p:sp>
        <p:nvSpPr>
          <p:cNvPr id="7" name="Rectangle 2">
            <a:extLst>
              <a:ext uri="{FF2B5EF4-FFF2-40B4-BE49-F238E27FC236}">
                <a16:creationId xmlns:a16="http://schemas.microsoft.com/office/drawing/2014/main" id="{2ACEDF34-19B2-440B-B20F-86D4519A7947}"/>
              </a:ext>
            </a:extLst>
          </p:cNvPr>
          <p:cNvSpPr txBox="1">
            <a:spLocks noChangeArrowheads="1"/>
          </p:cNvSpPr>
          <p:nvPr/>
        </p:nvSpPr>
        <p:spPr>
          <a:xfrm>
            <a:off x="6113947" y="4386081"/>
            <a:ext cx="4706453" cy="1384995"/>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t>printf(</a:t>
            </a:r>
            <a:r>
              <a:rPr lang="en-US" altLang="zh-CN" b="1" dirty="0">
                <a:solidFill>
                  <a:srgbClr val="00B050"/>
                </a:solidFill>
              </a:rPr>
              <a:t>“%d”</a:t>
            </a:r>
            <a:r>
              <a:rPr lang="en-US" altLang="zh-CN" b="1" dirty="0"/>
              <a:t>, p1</a:t>
            </a:r>
            <a:r>
              <a:rPr lang="en-US" altLang="zh-CN" b="1" dirty="0">
                <a:solidFill>
                  <a:srgbClr val="FF0000"/>
                </a:solidFill>
              </a:rPr>
              <a:t>&lt;</a:t>
            </a:r>
            <a:r>
              <a:rPr lang="en-US" altLang="zh-CN" b="1" dirty="0"/>
              <a:t>p2);</a:t>
            </a:r>
          </a:p>
          <a:p>
            <a:pPr marL="0" indent="0">
              <a:lnSpc>
                <a:spcPct val="100000"/>
              </a:lnSpc>
              <a:spcBef>
                <a:spcPct val="0"/>
              </a:spcBef>
              <a:buClr>
                <a:schemeClr val="tx2"/>
              </a:buClr>
              <a:buSzPct val="70000"/>
              <a:buNone/>
            </a:pPr>
            <a:r>
              <a:rPr lang="en-US" altLang="zh-CN" b="1" dirty="0"/>
              <a:t>printf(</a:t>
            </a:r>
            <a:r>
              <a:rPr lang="en-US" altLang="zh-CN" b="1" dirty="0">
                <a:solidFill>
                  <a:srgbClr val="00B050"/>
                </a:solidFill>
              </a:rPr>
              <a:t>“%d”</a:t>
            </a:r>
            <a:r>
              <a:rPr lang="en-US" altLang="zh-CN" b="1" dirty="0"/>
              <a:t>, p1</a:t>
            </a:r>
            <a:r>
              <a:rPr lang="en-US" altLang="zh-CN" b="1" dirty="0">
                <a:solidFill>
                  <a:srgbClr val="FF0000"/>
                </a:solidFill>
              </a:rPr>
              <a:t>&gt;</a:t>
            </a:r>
            <a:r>
              <a:rPr lang="en-US" altLang="zh-CN" b="1" dirty="0"/>
              <a:t>p2);</a:t>
            </a:r>
          </a:p>
          <a:p>
            <a:pPr marL="0" indent="0">
              <a:lnSpc>
                <a:spcPct val="100000"/>
              </a:lnSpc>
              <a:spcBef>
                <a:spcPct val="0"/>
              </a:spcBef>
              <a:buClr>
                <a:schemeClr val="tx2"/>
              </a:buClr>
              <a:buSzPct val="70000"/>
              <a:buNone/>
            </a:pPr>
            <a:r>
              <a:rPr lang="en-US" altLang="zh-CN" b="1" dirty="0"/>
              <a:t>printf(</a:t>
            </a:r>
            <a:r>
              <a:rPr lang="en-US" altLang="zh-CN" b="1" dirty="0">
                <a:solidFill>
                  <a:srgbClr val="00B050"/>
                </a:solidFill>
              </a:rPr>
              <a:t>“%d”</a:t>
            </a:r>
            <a:r>
              <a:rPr lang="en-US" altLang="zh-CN" b="1" dirty="0"/>
              <a:t>, q1</a:t>
            </a:r>
            <a:r>
              <a:rPr lang="en-US" altLang="zh-CN" b="1" dirty="0">
                <a:solidFill>
                  <a:srgbClr val="FF0000"/>
                </a:solidFill>
              </a:rPr>
              <a:t>==</a:t>
            </a:r>
            <a:r>
              <a:rPr lang="en-US" altLang="zh-CN" b="1" dirty="0"/>
              <a:t>q2);</a:t>
            </a:r>
          </a:p>
        </p:txBody>
      </p:sp>
      <p:sp>
        <p:nvSpPr>
          <p:cNvPr id="8" name="灯片编号占位符 7">
            <a:extLst>
              <a:ext uri="{FF2B5EF4-FFF2-40B4-BE49-F238E27FC236}">
                <a16:creationId xmlns:a16="http://schemas.microsoft.com/office/drawing/2014/main" id="{8526BA7A-73E5-4005-94AD-821790F118A7}"/>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12</a:t>
            </a:fld>
            <a:r>
              <a:rPr lang="en-US" altLang="zh-CN">
                <a:solidFill>
                  <a:prstClr val="black">
                    <a:tint val="75000"/>
                  </a:prstClr>
                </a:solidFill>
              </a:rPr>
              <a:t>/ 35</a:t>
            </a:r>
            <a:endParaRPr lang="zh-CN" altLang="en-US" dirty="0"/>
          </a:p>
        </p:txBody>
      </p:sp>
    </p:spTree>
    <p:extLst>
      <p:ext uri="{BB962C8B-B14F-4D97-AF65-F5344CB8AC3E}">
        <p14:creationId xmlns:p14="http://schemas.microsoft.com/office/powerpoint/2010/main" val="2573269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ppt_x"/>
                                          </p:val>
                                        </p:tav>
                                        <p:tav tm="100000">
                                          <p:val>
                                            <p:strVal val="#ppt_x"/>
                                          </p:val>
                                        </p:tav>
                                      </p:tavLst>
                                    </p:anim>
                                    <p:anim calcmode="lin" valueType="num">
                                      <p:cBhvr additive="base">
                                        <p:cTn id="13" dur="500" fill="hold"/>
                                        <p:tgtEl>
                                          <p:spTgt spid="6"/>
                                        </p:tgtEl>
                                        <p:attrNameLst>
                                          <p:attrName>ppt_y</p:attrName>
                                        </p:attrNameLst>
                                      </p:cBhvr>
                                      <p:tavLst>
                                        <p:tav tm="0">
                                          <p:val>
                                            <p:strVal val="1+#ppt_h/2"/>
                                          </p:val>
                                        </p:tav>
                                        <p:tav tm="100000">
                                          <p:val>
                                            <p:strVal val="#ppt_y"/>
                                          </p:val>
                                        </p:tav>
                                      </p:tavLst>
                                    </p:anim>
                                  </p:childTnLst>
                                </p:cTn>
                              </p:par>
                              <p:par>
                                <p:cTn id="14" presetID="2" presetClass="entr" presetSubtype="4"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additive="base">
                                        <p:cTn id="16" dur="500" fill="hold"/>
                                        <p:tgtEl>
                                          <p:spTgt spid="7"/>
                                        </p:tgtEl>
                                        <p:attrNameLst>
                                          <p:attrName>ppt_x</p:attrName>
                                        </p:attrNameLst>
                                      </p:cBhvr>
                                      <p:tavLst>
                                        <p:tav tm="0">
                                          <p:val>
                                            <p:strVal val="#ppt_x"/>
                                          </p:val>
                                        </p:tav>
                                        <p:tav tm="100000">
                                          <p:val>
                                            <p:strVal val="#ppt_x"/>
                                          </p:val>
                                        </p:tav>
                                      </p:tavLst>
                                    </p:anim>
                                    <p:anim calcmode="lin" valueType="num">
                                      <p:cBhvr additive="base">
                                        <p:cTn id="17"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3A2F4EDE-76E6-4033-B027-61546EFF67C8}"/>
              </a:ext>
            </a:extLst>
          </p:cNvPr>
          <p:cNvSpPr txBox="1"/>
          <p:nvPr/>
        </p:nvSpPr>
        <p:spPr>
          <a:xfrm>
            <a:off x="2507464" y="-51009"/>
            <a:ext cx="4768993"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指针与一维数组</a:t>
            </a:r>
            <a:endParaRPr lang="zh-CN" altLang="en-US" sz="3200" b="1" dirty="0">
              <a:solidFill>
                <a:srgbClr val="200AC4"/>
              </a:solidFill>
              <a:ea typeface="隶书" pitchFamily="49" charset="-122"/>
            </a:endParaRPr>
          </a:p>
        </p:txBody>
      </p:sp>
      <p:sp>
        <p:nvSpPr>
          <p:cNvPr id="4" name="矩形 3">
            <a:extLst>
              <a:ext uri="{FF2B5EF4-FFF2-40B4-BE49-F238E27FC236}">
                <a16:creationId xmlns:a16="http://schemas.microsoft.com/office/drawing/2014/main" id="{4EB80A74-DC5C-40C2-9E79-9FB188C7C799}"/>
              </a:ext>
            </a:extLst>
          </p:cNvPr>
          <p:cNvSpPr/>
          <p:nvPr/>
        </p:nvSpPr>
        <p:spPr>
          <a:xfrm>
            <a:off x="4591" y="576676"/>
            <a:ext cx="12158444" cy="461665"/>
          </a:xfrm>
          <a:prstGeom prst="rect">
            <a:avLst/>
          </a:prstGeom>
        </p:spPr>
        <p:txBody>
          <a:bodyPr wrap="square">
            <a:spAutoFit/>
          </a:bodyPr>
          <a:lstStyle/>
          <a:p>
            <a:pPr marL="0" lvl="1"/>
            <a:r>
              <a:rPr lang="zh-CN" altLang="en-US" sz="2400" b="1" dirty="0">
                <a:solidFill>
                  <a:srgbClr val="00B0F0"/>
                </a:solidFill>
                <a:latin typeface="隶书" pitchFamily="49" charset="-122"/>
              </a:rPr>
              <a:t>数组名</a:t>
            </a:r>
            <a:r>
              <a:rPr lang="zh-CN" altLang="en-US" sz="2400" b="1" dirty="0">
                <a:latin typeface="隶书" pitchFamily="49" charset="-122"/>
              </a:rPr>
              <a:t>代表的是</a:t>
            </a:r>
            <a:r>
              <a:rPr lang="zh-CN" altLang="en-US" sz="2400" b="1" dirty="0">
                <a:solidFill>
                  <a:srgbClr val="00B0F0"/>
                </a:solidFill>
                <a:latin typeface="隶书" pitchFamily="49" charset="-122"/>
              </a:rPr>
              <a:t>数组首元素的地址</a:t>
            </a:r>
            <a:r>
              <a:rPr lang="en-US" altLang="zh-CN" sz="2400" b="1" dirty="0">
                <a:latin typeface="隶书" pitchFamily="49" charset="-122"/>
              </a:rPr>
              <a:t>(</a:t>
            </a:r>
            <a:r>
              <a:rPr lang="zh-CN" altLang="en-US" sz="2400" b="1" dirty="0">
                <a:solidFill>
                  <a:srgbClr val="FF0000"/>
                </a:solidFill>
                <a:latin typeface="隶书" pitchFamily="49" charset="-122"/>
              </a:rPr>
              <a:t>地址常量</a:t>
            </a:r>
            <a:r>
              <a:rPr lang="en-US" altLang="zh-CN" sz="2400" b="1" dirty="0">
                <a:latin typeface="隶书" pitchFamily="49" charset="-122"/>
              </a:rPr>
              <a:t>)</a:t>
            </a:r>
            <a:r>
              <a:rPr lang="zh-CN" altLang="en-US" sz="2400" b="1" dirty="0">
                <a:latin typeface="隶书" pitchFamily="49" charset="-122"/>
              </a:rPr>
              <a:t>，也为整个</a:t>
            </a:r>
            <a:r>
              <a:rPr lang="zh-CN" altLang="en-US" sz="2400" b="1" dirty="0">
                <a:solidFill>
                  <a:srgbClr val="00B0F0"/>
                </a:solidFill>
                <a:latin typeface="隶书" pitchFamily="49" charset="-122"/>
              </a:rPr>
              <a:t>数组的起始地址</a:t>
            </a:r>
            <a:r>
              <a:rPr lang="zh-CN" altLang="en-US" sz="2400" b="1" dirty="0">
                <a:latin typeface="隶书" pitchFamily="49" charset="-122"/>
              </a:rPr>
              <a:t>。</a:t>
            </a:r>
          </a:p>
        </p:txBody>
      </p:sp>
      <p:sp>
        <p:nvSpPr>
          <p:cNvPr id="5" name="矩形 4">
            <a:extLst>
              <a:ext uri="{FF2B5EF4-FFF2-40B4-BE49-F238E27FC236}">
                <a16:creationId xmlns:a16="http://schemas.microsoft.com/office/drawing/2014/main" id="{EF21DFA0-986B-49F8-AE85-A0A372B77AEF}"/>
              </a:ext>
            </a:extLst>
          </p:cNvPr>
          <p:cNvSpPr/>
          <p:nvPr/>
        </p:nvSpPr>
        <p:spPr>
          <a:xfrm>
            <a:off x="135467" y="1195950"/>
            <a:ext cx="3107936" cy="523220"/>
          </a:xfrm>
          <a:prstGeom prst="rect">
            <a:avLst/>
          </a:prstGeom>
        </p:spPr>
        <p:txBody>
          <a:bodyPr wrap="square">
            <a:spAutoFit/>
          </a:bodyPr>
          <a:lstStyle/>
          <a:p>
            <a:pPr marL="0" lvl="1"/>
            <a:r>
              <a:rPr lang="zh-CN" altLang="en-US" sz="2800" b="1" dirty="0">
                <a:latin typeface="隶书" panose="02010509060101010101" pitchFamily="49" charset="-122"/>
                <a:ea typeface="隶书" panose="02010509060101010101" pitchFamily="49" charset="-122"/>
              </a:rPr>
              <a:t>假如有如下定义：</a:t>
            </a:r>
          </a:p>
        </p:txBody>
      </p:sp>
      <p:sp>
        <p:nvSpPr>
          <p:cNvPr id="6" name="Rectangle 2">
            <a:extLst>
              <a:ext uri="{FF2B5EF4-FFF2-40B4-BE49-F238E27FC236}">
                <a16:creationId xmlns:a16="http://schemas.microsoft.com/office/drawing/2014/main" id="{AD65007D-99C1-48BE-85EA-F4A69CF97E1F}"/>
              </a:ext>
            </a:extLst>
          </p:cNvPr>
          <p:cNvSpPr txBox="1">
            <a:spLocks noChangeArrowheads="1"/>
          </p:cNvSpPr>
          <p:nvPr/>
        </p:nvSpPr>
        <p:spPr>
          <a:xfrm>
            <a:off x="257887" y="1776171"/>
            <a:ext cx="4836006" cy="1384995"/>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0000FF"/>
                </a:solidFill>
              </a:rPr>
              <a:t>int</a:t>
            </a:r>
            <a:r>
              <a:rPr lang="zh-CN" altLang="en-US" b="1" dirty="0">
                <a:solidFill>
                  <a:srgbClr val="0000FF"/>
                </a:solidFill>
              </a:rPr>
              <a:t> </a:t>
            </a:r>
            <a:r>
              <a:rPr lang="en-US" altLang="zh-CN" b="1" dirty="0"/>
              <a:t>a</a:t>
            </a:r>
            <a:r>
              <a:rPr lang="en-US" altLang="zh-CN" b="1" dirty="0">
                <a:solidFill>
                  <a:srgbClr val="FF0000"/>
                </a:solidFill>
              </a:rPr>
              <a:t>[</a:t>
            </a:r>
            <a:r>
              <a:rPr lang="en-US" altLang="zh-CN" b="1" dirty="0"/>
              <a:t>5</a:t>
            </a:r>
            <a:r>
              <a:rPr lang="en-US" altLang="zh-CN" b="1" dirty="0">
                <a:solidFill>
                  <a:srgbClr val="FF0000"/>
                </a:solidFill>
              </a:rPr>
              <a:t>]</a:t>
            </a:r>
            <a:r>
              <a:rPr lang="en-US" altLang="zh-CN" b="1" dirty="0"/>
              <a:t> = </a:t>
            </a:r>
            <a:r>
              <a:rPr lang="en-US" altLang="zh-CN" b="1" dirty="0">
                <a:solidFill>
                  <a:srgbClr val="FF0000"/>
                </a:solidFill>
              </a:rPr>
              <a:t>{ </a:t>
            </a:r>
            <a:r>
              <a:rPr lang="en-US" altLang="zh-CN" b="1" dirty="0"/>
              <a:t>6, 3, 12, 4, 5 </a:t>
            </a:r>
            <a:r>
              <a:rPr lang="en-US" altLang="zh-CN" b="1" dirty="0">
                <a:solidFill>
                  <a:srgbClr val="FF0000"/>
                </a:solidFill>
              </a:rPr>
              <a:t>}</a:t>
            </a:r>
            <a:r>
              <a:rPr lang="en-US" altLang="zh-CN" b="1" dirty="0"/>
              <a:t>;</a:t>
            </a:r>
          </a:p>
          <a:p>
            <a:pPr marL="0" indent="0">
              <a:lnSpc>
                <a:spcPct val="100000"/>
              </a:lnSpc>
              <a:spcBef>
                <a:spcPct val="0"/>
              </a:spcBef>
              <a:buClr>
                <a:schemeClr val="tx2"/>
              </a:buClr>
              <a:buSzPct val="70000"/>
              <a:buNone/>
            </a:pPr>
            <a:r>
              <a:rPr lang="en-US" altLang="zh-CN" b="1" dirty="0">
                <a:solidFill>
                  <a:srgbClr val="0000FF"/>
                </a:solidFill>
              </a:rPr>
              <a:t>int</a:t>
            </a:r>
            <a:r>
              <a:rPr lang="en-US" altLang="zh-CN" b="1" dirty="0"/>
              <a:t> </a:t>
            </a:r>
            <a:r>
              <a:rPr lang="en-US" altLang="zh-CN" b="1" dirty="0">
                <a:solidFill>
                  <a:srgbClr val="FF0000"/>
                </a:solidFill>
              </a:rPr>
              <a:t>*</a:t>
            </a:r>
            <a:r>
              <a:rPr lang="en-US" altLang="zh-CN" b="1" dirty="0"/>
              <a:t>p = </a:t>
            </a:r>
            <a:r>
              <a:rPr lang="en-US" altLang="zh-CN" b="1" dirty="0">
                <a:solidFill>
                  <a:srgbClr val="00B0F0"/>
                </a:solidFill>
              </a:rPr>
              <a:t>NULL</a:t>
            </a:r>
            <a:r>
              <a:rPr lang="en-US" altLang="zh-CN" b="1" dirty="0"/>
              <a:t>;</a:t>
            </a:r>
          </a:p>
          <a:p>
            <a:pPr marL="0" indent="0">
              <a:lnSpc>
                <a:spcPct val="100000"/>
              </a:lnSpc>
              <a:spcBef>
                <a:spcPct val="0"/>
              </a:spcBef>
              <a:buClr>
                <a:schemeClr val="tx2"/>
              </a:buClr>
              <a:buSzPct val="70000"/>
              <a:buNone/>
            </a:pPr>
            <a:r>
              <a:rPr lang="en-US" altLang="zh-CN" b="1" dirty="0"/>
              <a:t>p = a;             </a:t>
            </a:r>
            <a:r>
              <a:rPr lang="en-US" altLang="zh-CN" sz="2400" b="1" dirty="0">
                <a:solidFill>
                  <a:srgbClr val="00B050"/>
                </a:solidFill>
              </a:rPr>
              <a:t>//</a:t>
            </a:r>
            <a:r>
              <a:rPr lang="zh-CN" altLang="en-US" sz="2400" b="1" dirty="0">
                <a:solidFill>
                  <a:srgbClr val="00B050"/>
                </a:solidFill>
                <a:latin typeface="华文隶书" panose="02010800040101010101" pitchFamily="2" charset="-122"/>
                <a:ea typeface="华文隶书" panose="02010800040101010101" pitchFamily="2" charset="-122"/>
              </a:rPr>
              <a:t>等价于</a:t>
            </a:r>
            <a:r>
              <a:rPr lang="en-US" altLang="zh-CN" sz="2400" b="1" dirty="0">
                <a:solidFill>
                  <a:srgbClr val="00B050"/>
                </a:solidFill>
              </a:rPr>
              <a:t>p = &amp;a[0]</a:t>
            </a:r>
            <a:endParaRPr lang="en-US" altLang="zh-CN" b="1" dirty="0">
              <a:solidFill>
                <a:srgbClr val="00B050"/>
              </a:solidFill>
            </a:endParaRPr>
          </a:p>
        </p:txBody>
      </p:sp>
      <p:sp>
        <p:nvSpPr>
          <p:cNvPr id="7" name="矩形 6">
            <a:extLst>
              <a:ext uri="{FF2B5EF4-FFF2-40B4-BE49-F238E27FC236}">
                <a16:creationId xmlns:a16="http://schemas.microsoft.com/office/drawing/2014/main" id="{33BC5F57-E97A-4A41-BECC-950DF58A62CC}"/>
              </a:ext>
            </a:extLst>
          </p:cNvPr>
          <p:cNvSpPr/>
          <p:nvPr/>
        </p:nvSpPr>
        <p:spPr>
          <a:xfrm>
            <a:off x="160867" y="3900954"/>
            <a:ext cx="5799665" cy="1815882"/>
          </a:xfrm>
          <a:prstGeom prst="rect">
            <a:avLst/>
          </a:prstGeom>
        </p:spPr>
        <p:txBody>
          <a:bodyPr wrap="square">
            <a:spAutoFit/>
          </a:bodyPr>
          <a:lstStyle/>
          <a:p>
            <a:pPr marL="0" lvl="1"/>
            <a:r>
              <a:rPr lang="zh-CN" altLang="en-US" sz="2800" b="1" dirty="0">
                <a:latin typeface="隶书" panose="02010509060101010101" pitchFamily="49" charset="-122"/>
                <a:ea typeface="隶书" panose="02010509060101010101" pitchFamily="49" charset="-122"/>
              </a:rPr>
              <a:t>指针变量</a:t>
            </a:r>
            <a:r>
              <a:rPr lang="en-US" altLang="zh-CN" sz="2800" b="1" dirty="0">
                <a:latin typeface="隶书" panose="02010509060101010101" pitchFamily="49" charset="-122"/>
                <a:ea typeface="隶书" panose="02010509060101010101" pitchFamily="49" charset="-122"/>
              </a:rPr>
              <a:t>p</a:t>
            </a:r>
            <a:r>
              <a:rPr lang="zh-CN" altLang="en-US" sz="2800" b="1" dirty="0">
                <a:latin typeface="隶书" panose="02010509060101010101" pitchFamily="49" charset="-122"/>
                <a:ea typeface="隶书" panose="02010509060101010101" pitchFamily="49" charset="-122"/>
              </a:rPr>
              <a:t>指向数组</a:t>
            </a:r>
            <a:r>
              <a:rPr lang="en-US" altLang="zh-CN" sz="2800" b="1" dirty="0">
                <a:latin typeface="隶书" panose="02010509060101010101" pitchFamily="49" charset="-122"/>
                <a:ea typeface="隶书" panose="02010509060101010101" pitchFamily="49" charset="-122"/>
              </a:rPr>
              <a:t>a,</a:t>
            </a:r>
            <a:r>
              <a:rPr lang="zh-CN" altLang="en-US" sz="2800" b="1" dirty="0">
                <a:latin typeface="隶书" panose="02010509060101010101" pitchFamily="49" charset="-122"/>
                <a:ea typeface="隶书" panose="02010509060101010101" pitchFamily="49" charset="-122"/>
              </a:rPr>
              <a:t>那么要表示数组元素</a:t>
            </a:r>
            <a:r>
              <a:rPr lang="en-US" altLang="zh-CN" sz="2800" b="1" dirty="0">
                <a:latin typeface="隶书" panose="02010509060101010101" pitchFamily="49" charset="-122"/>
                <a:ea typeface="隶书" panose="02010509060101010101" pitchFamily="49" charset="-122"/>
              </a:rPr>
              <a:t>a</a:t>
            </a:r>
            <a:r>
              <a:rPr lang="en-US" altLang="zh-CN" sz="2800" b="1" dirty="0">
                <a:solidFill>
                  <a:srgbClr val="FF0000"/>
                </a:solidFill>
                <a:latin typeface="隶书" panose="02010509060101010101" pitchFamily="49" charset="-122"/>
                <a:ea typeface="隶书" panose="02010509060101010101" pitchFamily="49" charset="-122"/>
              </a:rPr>
              <a:t>[</a:t>
            </a:r>
            <a:r>
              <a:rPr lang="en-US" altLang="zh-CN" sz="2800" b="1" dirty="0">
                <a:latin typeface="隶书" panose="02010509060101010101" pitchFamily="49" charset="-122"/>
                <a:ea typeface="隶书" panose="02010509060101010101" pitchFamily="49" charset="-122"/>
              </a:rPr>
              <a:t>i</a:t>
            </a:r>
            <a:r>
              <a:rPr lang="en-US" altLang="zh-CN" sz="2800" b="1" dirty="0">
                <a:solidFill>
                  <a:srgbClr val="FF0000"/>
                </a:solidFill>
                <a:latin typeface="隶书" panose="02010509060101010101" pitchFamily="49" charset="-122"/>
                <a:ea typeface="隶书" panose="02010509060101010101" pitchFamily="49" charset="-122"/>
              </a:rPr>
              <a:t>]</a:t>
            </a:r>
            <a:r>
              <a:rPr lang="en-US" altLang="zh-CN" sz="2800" b="1" dirty="0">
                <a:latin typeface="隶书" panose="02010509060101010101" pitchFamily="49" charset="-122"/>
                <a:ea typeface="隶书" panose="02010509060101010101" pitchFamily="49" charset="-122"/>
              </a:rPr>
              <a:t>,</a:t>
            </a:r>
            <a:r>
              <a:rPr lang="zh-CN" altLang="en-US" sz="2800" b="1" dirty="0">
                <a:latin typeface="隶书" panose="02010509060101010101" pitchFamily="49" charset="-122"/>
                <a:ea typeface="隶书" panose="02010509060101010101" pitchFamily="49" charset="-122"/>
              </a:rPr>
              <a:t>可以使用以下两种方式：</a:t>
            </a:r>
            <a:endParaRPr lang="en-US" altLang="zh-CN" sz="2800" b="1" dirty="0">
              <a:latin typeface="隶书" panose="02010509060101010101" pitchFamily="49" charset="-122"/>
              <a:ea typeface="隶书" panose="02010509060101010101" pitchFamily="49" charset="-122"/>
            </a:endParaRPr>
          </a:p>
          <a:p>
            <a:pPr marL="0" lvl="1"/>
            <a:r>
              <a:rPr lang="zh-CN" altLang="zh-CN" sz="2800" b="1" dirty="0">
                <a:latin typeface="隶书" panose="02010509060101010101" pitchFamily="49" charset="-122"/>
                <a:ea typeface="隶书" panose="02010509060101010101" pitchFamily="49" charset="-122"/>
              </a:rPr>
              <a:t>①</a:t>
            </a:r>
            <a:r>
              <a:rPr lang="en-US" altLang="zh-CN" sz="2800" b="1" dirty="0">
                <a:latin typeface="隶书" panose="02010509060101010101" pitchFamily="49" charset="-122"/>
                <a:ea typeface="隶书" panose="02010509060101010101" pitchFamily="49" charset="-122"/>
              </a:rPr>
              <a:t> </a:t>
            </a:r>
            <a:r>
              <a:rPr lang="zh-CN" altLang="en-US" sz="2800" b="1" dirty="0">
                <a:solidFill>
                  <a:srgbClr val="00B0F0"/>
                </a:solidFill>
                <a:latin typeface="隶书" panose="02010509060101010101" pitchFamily="49" charset="-122"/>
                <a:ea typeface="隶书" panose="02010509060101010101" pitchFamily="49" charset="-122"/>
              </a:rPr>
              <a:t>下标表示法</a:t>
            </a:r>
            <a:r>
              <a:rPr lang="zh-CN" altLang="en-US" sz="2800" b="1" dirty="0">
                <a:latin typeface="隶书" panose="02010509060101010101" pitchFamily="49" charset="-122"/>
                <a:ea typeface="隶书" panose="02010509060101010101" pitchFamily="49" charset="-122"/>
              </a:rPr>
              <a:t>：  </a:t>
            </a:r>
            <a:r>
              <a:rPr lang="en-US" altLang="zh-CN" sz="2800" b="1" dirty="0">
                <a:latin typeface="隶书" panose="02010509060101010101" pitchFamily="49" charset="-122"/>
                <a:ea typeface="隶书" panose="02010509060101010101" pitchFamily="49" charset="-122"/>
              </a:rPr>
              <a:t>a</a:t>
            </a:r>
            <a:r>
              <a:rPr lang="en-US" altLang="zh-CN" sz="2800" b="1" dirty="0">
                <a:solidFill>
                  <a:srgbClr val="FF0000"/>
                </a:solidFill>
                <a:latin typeface="隶书" panose="02010509060101010101" pitchFamily="49" charset="-122"/>
                <a:ea typeface="隶书" panose="02010509060101010101" pitchFamily="49" charset="-122"/>
              </a:rPr>
              <a:t>[</a:t>
            </a:r>
            <a:r>
              <a:rPr lang="en-US" altLang="zh-CN" sz="2800" b="1" dirty="0">
                <a:latin typeface="隶书" panose="02010509060101010101" pitchFamily="49" charset="-122"/>
                <a:ea typeface="隶书" panose="02010509060101010101" pitchFamily="49" charset="-122"/>
              </a:rPr>
              <a:t>i</a:t>
            </a:r>
            <a:r>
              <a:rPr lang="en-US" altLang="zh-CN" sz="2800" b="1" dirty="0">
                <a:solidFill>
                  <a:srgbClr val="FF0000"/>
                </a:solidFill>
                <a:latin typeface="隶书" panose="02010509060101010101" pitchFamily="49" charset="-122"/>
                <a:ea typeface="隶书" panose="02010509060101010101" pitchFamily="49" charset="-122"/>
              </a:rPr>
              <a:t>]</a:t>
            </a:r>
            <a:r>
              <a:rPr lang="zh-CN" altLang="en-US" sz="2800" b="1" dirty="0">
                <a:latin typeface="隶书" panose="02010509060101010101" pitchFamily="49" charset="-122"/>
                <a:ea typeface="隶书" panose="02010509060101010101" pitchFamily="49" charset="-122"/>
              </a:rPr>
              <a:t>或</a:t>
            </a:r>
            <a:r>
              <a:rPr lang="en-US" altLang="zh-CN" sz="2800" b="1" dirty="0">
                <a:latin typeface="隶书" panose="02010509060101010101" pitchFamily="49" charset="-122"/>
                <a:ea typeface="隶书" panose="02010509060101010101" pitchFamily="49" charset="-122"/>
              </a:rPr>
              <a:t>p</a:t>
            </a:r>
            <a:r>
              <a:rPr lang="en-US" altLang="zh-CN" sz="2800" b="1" dirty="0">
                <a:solidFill>
                  <a:srgbClr val="FF0000"/>
                </a:solidFill>
                <a:latin typeface="隶书" panose="02010509060101010101" pitchFamily="49" charset="-122"/>
                <a:ea typeface="隶书" panose="02010509060101010101" pitchFamily="49" charset="-122"/>
              </a:rPr>
              <a:t>[</a:t>
            </a:r>
            <a:r>
              <a:rPr lang="en-US" altLang="zh-CN" sz="2800" b="1" dirty="0">
                <a:latin typeface="隶书" panose="02010509060101010101" pitchFamily="49" charset="-122"/>
                <a:ea typeface="隶书" panose="02010509060101010101" pitchFamily="49" charset="-122"/>
              </a:rPr>
              <a:t>i</a:t>
            </a:r>
            <a:r>
              <a:rPr lang="en-US" altLang="zh-CN" sz="2800" b="1" dirty="0">
                <a:solidFill>
                  <a:srgbClr val="FF0000"/>
                </a:solidFill>
                <a:latin typeface="隶书" panose="02010509060101010101" pitchFamily="49" charset="-122"/>
                <a:ea typeface="隶书" panose="02010509060101010101" pitchFamily="49" charset="-122"/>
              </a:rPr>
              <a:t>]</a:t>
            </a:r>
          </a:p>
          <a:p>
            <a:pPr marL="0" lvl="1"/>
            <a:r>
              <a:rPr lang="zh-CN" altLang="zh-CN" sz="2800" b="1" dirty="0">
                <a:latin typeface="隶书" panose="02010509060101010101" pitchFamily="49" charset="-122"/>
                <a:ea typeface="隶书" panose="02010509060101010101" pitchFamily="49" charset="-122"/>
              </a:rPr>
              <a:t>②</a:t>
            </a:r>
            <a:r>
              <a:rPr lang="en-US" altLang="zh-CN" sz="2800" b="1" dirty="0">
                <a:latin typeface="隶书" panose="02010509060101010101" pitchFamily="49" charset="-122"/>
                <a:ea typeface="隶书" panose="02010509060101010101" pitchFamily="49" charset="-122"/>
              </a:rPr>
              <a:t> </a:t>
            </a:r>
            <a:r>
              <a:rPr lang="zh-CN" altLang="en-US" sz="2800" b="1" dirty="0">
                <a:solidFill>
                  <a:srgbClr val="00B0F0"/>
                </a:solidFill>
                <a:latin typeface="隶书" panose="02010509060101010101" pitchFamily="49" charset="-122"/>
                <a:ea typeface="隶书" panose="02010509060101010101" pitchFamily="49" charset="-122"/>
              </a:rPr>
              <a:t>指针表示法</a:t>
            </a:r>
            <a:r>
              <a:rPr lang="zh-CN" altLang="en-US" sz="2800" b="1" dirty="0">
                <a:latin typeface="隶书" panose="02010509060101010101" pitchFamily="49" charset="-122"/>
                <a:ea typeface="隶书" panose="02010509060101010101" pitchFamily="49" charset="-122"/>
              </a:rPr>
              <a:t>：</a:t>
            </a:r>
            <a:r>
              <a:rPr lang="en-US" altLang="zh-CN" sz="2800" b="1" dirty="0"/>
              <a:t> </a:t>
            </a:r>
            <a:r>
              <a:rPr lang="en-US" altLang="zh-CN" sz="2800" b="1" dirty="0">
                <a:solidFill>
                  <a:srgbClr val="FF0000"/>
                </a:solidFill>
              </a:rPr>
              <a:t>*</a:t>
            </a:r>
            <a:r>
              <a:rPr lang="en-US" altLang="zh-CN" sz="2800" b="1" dirty="0">
                <a:solidFill>
                  <a:srgbClr val="FF0000"/>
                </a:solidFill>
                <a:latin typeface="隶书" panose="02010509060101010101" pitchFamily="49" charset="-122"/>
                <a:ea typeface="隶书" panose="02010509060101010101" pitchFamily="49" charset="-122"/>
              </a:rPr>
              <a:t>(</a:t>
            </a:r>
            <a:r>
              <a:rPr lang="en-US" altLang="zh-CN" sz="2800" b="1" dirty="0" err="1">
                <a:latin typeface="隶书" panose="02010509060101010101" pitchFamily="49" charset="-122"/>
                <a:ea typeface="隶书" panose="02010509060101010101" pitchFamily="49" charset="-122"/>
              </a:rPr>
              <a:t>a+i</a:t>
            </a:r>
            <a:r>
              <a:rPr lang="en-US" altLang="zh-CN" sz="2800" b="1" dirty="0">
                <a:solidFill>
                  <a:srgbClr val="FF0000"/>
                </a:solidFill>
                <a:latin typeface="隶书" panose="02010509060101010101" pitchFamily="49" charset="-122"/>
                <a:ea typeface="隶书" panose="02010509060101010101" pitchFamily="49" charset="-122"/>
              </a:rPr>
              <a:t>)</a:t>
            </a:r>
            <a:r>
              <a:rPr lang="zh-CN" altLang="en-US" sz="2800" b="1" dirty="0">
                <a:latin typeface="隶书" panose="02010509060101010101" pitchFamily="49" charset="-122"/>
                <a:ea typeface="隶书" panose="02010509060101010101" pitchFamily="49" charset="-122"/>
              </a:rPr>
              <a:t>或</a:t>
            </a:r>
            <a:r>
              <a:rPr lang="en-US" altLang="zh-CN" sz="2800" b="1" dirty="0">
                <a:solidFill>
                  <a:srgbClr val="FF0000"/>
                </a:solidFill>
              </a:rPr>
              <a:t>*</a:t>
            </a:r>
            <a:r>
              <a:rPr lang="en-US" altLang="zh-CN" sz="2800" b="1" dirty="0">
                <a:solidFill>
                  <a:srgbClr val="FF0000"/>
                </a:solidFill>
                <a:latin typeface="隶书" panose="02010509060101010101" pitchFamily="49" charset="-122"/>
                <a:ea typeface="隶书" panose="02010509060101010101" pitchFamily="49" charset="-122"/>
              </a:rPr>
              <a:t>(</a:t>
            </a:r>
            <a:r>
              <a:rPr lang="en-US" altLang="zh-CN" sz="2800" b="1" dirty="0">
                <a:latin typeface="隶书" panose="02010509060101010101" pitchFamily="49" charset="-122"/>
                <a:ea typeface="隶书" panose="02010509060101010101" pitchFamily="49" charset="-122"/>
              </a:rPr>
              <a:t>p+i</a:t>
            </a:r>
            <a:r>
              <a:rPr lang="en-US" altLang="zh-CN" sz="2800" b="1" dirty="0">
                <a:solidFill>
                  <a:srgbClr val="FF0000"/>
                </a:solidFill>
                <a:latin typeface="隶书" panose="02010509060101010101" pitchFamily="49" charset="-122"/>
                <a:ea typeface="隶书" panose="02010509060101010101" pitchFamily="49" charset="-122"/>
              </a:rPr>
              <a:t>)</a:t>
            </a:r>
            <a:endParaRPr lang="zh-CN" altLang="en-US" sz="2800" b="1" dirty="0">
              <a:solidFill>
                <a:srgbClr val="FF0000"/>
              </a:solidFill>
              <a:latin typeface="隶书" panose="02010509060101010101" pitchFamily="49" charset="-122"/>
              <a:ea typeface="隶书" panose="02010509060101010101" pitchFamily="49" charset="-122"/>
            </a:endParaRPr>
          </a:p>
        </p:txBody>
      </p:sp>
      <p:graphicFrame>
        <p:nvGraphicFramePr>
          <p:cNvPr id="8" name="表格 8">
            <a:extLst>
              <a:ext uri="{FF2B5EF4-FFF2-40B4-BE49-F238E27FC236}">
                <a16:creationId xmlns:a16="http://schemas.microsoft.com/office/drawing/2014/main" id="{A3CD1B22-8206-4F51-9200-E1D34BCE93DE}"/>
              </a:ext>
            </a:extLst>
          </p:cNvPr>
          <p:cNvGraphicFramePr>
            <a:graphicFrameLocks noGrp="1"/>
          </p:cNvGraphicFramePr>
          <p:nvPr>
            <p:extLst>
              <p:ext uri="{D42A27DB-BD31-4B8C-83A1-F6EECF244321}">
                <p14:modId xmlns:p14="http://schemas.microsoft.com/office/powerpoint/2010/main" val="4200879140"/>
              </p:ext>
            </p:extLst>
          </p:nvPr>
        </p:nvGraphicFramePr>
        <p:xfrm>
          <a:off x="7378700" y="1806255"/>
          <a:ext cx="774700" cy="2655935"/>
        </p:xfrm>
        <a:graphic>
          <a:graphicData uri="http://schemas.openxmlformats.org/drawingml/2006/table">
            <a:tbl>
              <a:tblPr firstRow="1" bandRow="1">
                <a:tableStyleId>{5940675A-B579-460E-94D1-54222C63F5DA}</a:tableStyleId>
              </a:tblPr>
              <a:tblGrid>
                <a:gridCol w="774700">
                  <a:extLst>
                    <a:ext uri="{9D8B030D-6E8A-4147-A177-3AD203B41FA5}">
                      <a16:colId xmlns:a16="http://schemas.microsoft.com/office/drawing/2014/main" val="454623864"/>
                    </a:ext>
                  </a:extLst>
                </a:gridCol>
              </a:tblGrid>
              <a:tr h="531187">
                <a:tc>
                  <a:txBody>
                    <a:bodyPr/>
                    <a:lstStyle/>
                    <a:p>
                      <a:pPr algn="ctr"/>
                      <a:r>
                        <a:rPr lang="en-US" altLang="zh-CN" dirty="0"/>
                        <a:t>6</a:t>
                      </a:r>
                      <a:endParaRPr lang="zh-CN" altLang="en-US" dirty="0"/>
                    </a:p>
                  </a:txBody>
                  <a:tcPr anchor="ctr">
                    <a:cell3D prstMaterial="dkEdge">
                      <a:bevel w="50800" prst="hardEdge"/>
                      <a:lightRig rig="flood" dir="t"/>
                    </a:cell3D>
                  </a:tcPr>
                </a:tc>
                <a:extLst>
                  <a:ext uri="{0D108BD9-81ED-4DB2-BD59-A6C34878D82A}">
                    <a16:rowId xmlns:a16="http://schemas.microsoft.com/office/drawing/2014/main" val="1564503848"/>
                  </a:ext>
                </a:extLst>
              </a:tr>
              <a:tr h="531187">
                <a:tc>
                  <a:txBody>
                    <a:bodyPr/>
                    <a:lstStyle/>
                    <a:p>
                      <a:pPr algn="ctr"/>
                      <a:r>
                        <a:rPr lang="en-US" altLang="zh-CN" dirty="0"/>
                        <a:t>3</a:t>
                      </a:r>
                      <a:endParaRPr lang="zh-CN" altLang="en-US" dirty="0"/>
                    </a:p>
                  </a:txBody>
                  <a:tcPr anchor="ctr">
                    <a:cell3D prstMaterial="dkEdge">
                      <a:bevel w="50800" prst="hardEdge"/>
                      <a:lightRig rig="flood" dir="t"/>
                    </a:cell3D>
                  </a:tcPr>
                </a:tc>
                <a:extLst>
                  <a:ext uri="{0D108BD9-81ED-4DB2-BD59-A6C34878D82A}">
                    <a16:rowId xmlns:a16="http://schemas.microsoft.com/office/drawing/2014/main" val="2781195513"/>
                  </a:ext>
                </a:extLst>
              </a:tr>
              <a:tr h="531187">
                <a:tc>
                  <a:txBody>
                    <a:bodyPr/>
                    <a:lstStyle/>
                    <a:p>
                      <a:pPr algn="ctr"/>
                      <a:r>
                        <a:rPr lang="en-US" altLang="zh-CN" dirty="0"/>
                        <a:t>12</a:t>
                      </a:r>
                      <a:endParaRPr lang="zh-CN" altLang="en-US" dirty="0"/>
                    </a:p>
                  </a:txBody>
                  <a:tcPr anchor="ctr">
                    <a:cell3D prstMaterial="dkEdge">
                      <a:bevel w="50800" prst="hardEdge"/>
                      <a:lightRig rig="flood" dir="t"/>
                    </a:cell3D>
                  </a:tcPr>
                </a:tc>
                <a:extLst>
                  <a:ext uri="{0D108BD9-81ED-4DB2-BD59-A6C34878D82A}">
                    <a16:rowId xmlns:a16="http://schemas.microsoft.com/office/drawing/2014/main" val="2057349241"/>
                  </a:ext>
                </a:extLst>
              </a:tr>
              <a:tr h="531187">
                <a:tc>
                  <a:txBody>
                    <a:bodyPr/>
                    <a:lstStyle/>
                    <a:p>
                      <a:pPr algn="ctr"/>
                      <a:r>
                        <a:rPr lang="en-US" altLang="zh-CN" dirty="0"/>
                        <a:t>4</a:t>
                      </a:r>
                      <a:endParaRPr lang="zh-CN" altLang="en-US" dirty="0"/>
                    </a:p>
                  </a:txBody>
                  <a:tcPr anchor="ctr">
                    <a:cell3D prstMaterial="dkEdge">
                      <a:bevel w="50800" prst="hardEdge"/>
                      <a:lightRig rig="flood" dir="t"/>
                    </a:cell3D>
                  </a:tcPr>
                </a:tc>
                <a:extLst>
                  <a:ext uri="{0D108BD9-81ED-4DB2-BD59-A6C34878D82A}">
                    <a16:rowId xmlns:a16="http://schemas.microsoft.com/office/drawing/2014/main" val="1176367626"/>
                  </a:ext>
                </a:extLst>
              </a:tr>
              <a:tr h="531187">
                <a:tc>
                  <a:txBody>
                    <a:bodyPr/>
                    <a:lstStyle/>
                    <a:p>
                      <a:pPr algn="ctr"/>
                      <a:r>
                        <a:rPr lang="en-US" altLang="zh-CN" dirty="0"/>
                        <a:t>5</a:t>
                      </a:r>
                      <a:endParaRPr lang="zh-CN" altLang="en-US" dirty="0"/>
                    </a:p>
                  </a:txBody>
                  <a:tcPr anchor="ctr">
                    <a:cell3D prstMaterial="dkEdge">
                      <a:bevel w="50800" prst="hardEdge"/>
                      <a:lightRig rig="flood" dir="t"/>
                    </a:cell3D>
                  </a:tcPr>
                </a:tc>
                <a:extLst>
                  <a:ext uri="{0D108BD9-81ED-4DB2-BD59-A6C34878D82A}">
                    <a16:rowId xmlns:a16="http://schemas.microsoft.com/office/drawing/2014/main" val="2663178767"/>
                  </a:ext>
                </a:extLst>
              </a:tr>
            </a:tbl>
          </a:graphicData>
        </a:graphic>
      </p:graphicFrame>
      <p:sp>
        <p:nvSpPr>
          <p:cNvPr id="9" name="文本框 8">
            <a:extLst>
              <a:ext uri="{FF2B5EF4-FFF2-40B4-BE49-F238E27FC236}">
                <a16:creationId xmlns:a16="http://schemas.microsoft.com/office/drawing/2014/main" id="{C38949C0-D678-4C3F-8D0D-4F9A64E2EE10}"/>
              </a:ext>
            </a:extLst>
          </p:cNvPr>
          <p:cNvSpPr txBox="1"/>
          <p:nvPr/>
        </p:nvSpPr>
        <p:spPr>
          <a:xfrm>
            <a:off x="7337020" y="1416232"/>
            <a:ext cx="857928" cy="461665"/>
          </a:xfrm>
          <a:prstGeom prst="rect">
            <a:avLst/>
          </a:prstGeom>
          <a:noFill/>
        </p:spPr>
        <p:txBody>
          <a:bodyPr wrap="square" rtlCol="0">
            <a:spAutoFit/>
          </a:bodyPr>
          <a:lstStyle/>
          <a:p>
            <a:pPr algn="ctr"/>
            <a:r>
              <a:rPr lang="zh-CN" altLang="en-US" sz="2000" b="1" dirty="0"/>
              <a:t>数组</a:t>
            </a:r>
            <a:r>
              <a:rPr lang="en-US" altLang="zh-CN" sz="2400" b="1" dirty="0"/>
              <a:t>a</a:t>
            </a:r>
            <a:endParaRPr lang="zh-CN" altLang="en-US" sz="2000" b="1" dirty="0"/>
          </a:p>
        </p:txBody>
      </p:sp>
      <p:graphicFrame>
        <p:nvGraphicFramePr>
          <p:cNvPr id="10" name="表格 8">
            <a:extLst>
              <a:ext uri="{FF2B5EF4-FFF2-40B4-BE49-F238E27FC236}">
                <a16:creationId xmlns:a16="http://schemas.microsoft.com/office/drawing/2014/main" id="{D56EF70E-429C-4EC3-BB64-9B1DE6263D5E}"/>
              </a:ext>
            </a:extLst>
          </p:cNvPr>
          <p:cNvGraphicFramePr>
            <a:graphicFrameLocks noGrp="1"/>
          </p:cNvGraphicFramePr>
          <p:nvPr>
            <p:extLst>
              <p:ext uri="{D42A27DB-BD31-4B8C-83A1-F6EECF244321}">
                <p14:modId xmlns:p14="http://schemas.microsoft.com/office/powerpoint/2010/main" val="3259371014"/>
              </p:ext>
            </p:extLst>
          </p:nvPr>
        </p:nvGraphicFramePr>
        <p:xfrm>
          <a:off x="6382948" y="1806255"/>
          <a:ext cx="774700" cy="2655935"/>
        </p:xfrm>
        <a:graphic>
          <a:graphicData uri="http://schemas.openxmlformats.org/drawingml/2006/table">
            <a:tbl>
              <a:tblPr firstRow="1" bandRow="1">
                <a:tableStyleId>{5940675A-B579-460E-94D1-54222C63F5DA}</a:tableStyleId>
              </a:tblPr>
              <a:tblGrid>
                <a:gridCol w="774700">
                  <a:extLst>
                    <a:ext uri="{9D8B030D-6E8A-4147-A177-3AD203B41FA5}">
                      <a16:colId xmlns:a16="http://schemas.microsoft.com/office/drawing/2014/main" val="454623864"/>
                    </a:ext>
                  </a:extLst>
                </a:gridCol>
              </a:tblGrid>
              <a:tr h="531187">
                <a:tc>
                  <a:txBody>
                    <a:bodyPr/>
                    <a:lstStyle/>
                    <a:p>
                      <a:pPr algn="ctr"/>
                      <a:r>
                        <a:rPr lang="en-US" altLang="zh-CN" sz="2400" dirty="0"/>
                        <a:t>a</a:t>
                      </a:r>
                      <a:endParaRPr lang="zh-CN" altLang="en-US" sz="24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64503848"/>
                  </a:ext>
                </a:extLst>
              </a:tr>
              <a:tr h="531187">
                <a:tc>
                  <a:txBody>
                    <a:bodyPr/>
                    <a:lstStyle/>
                    <a:p>
                      <a:pPr algn="ctr"/>
                      <a:r>
                        <a:rPr lang="en-US" altLang="zh-CN" sz="2400" dirty="0"/>
                        <a:t>a+1</a:t>
                      </a:r>
                      <a:endParaRPr lang="zh-CN" altLang="en-US" sz="24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81195513"/>
                  </a:ext>
                </a:extLst>
              </a:tr>
              <a:tr h="531187">
                <a:tc>
                  <a:txBody>
                    <a:bodyPr/>
                    <a:lstStyle/>
                    <a:p>
                      <a:pPr algn="ctr"/>
                      <a:r>
                        <a:rPr lang="en-US" altLang="zh-CN" sz="2400" dirty="0"/>
                        <a:t>a+2</a:t>
                      </a:r>
                      <a:endParaRPr lang="zh-CN" altLang="en-US" sz="24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57349241"/>
                  </a:ext>
                </a:extLst>
              </a:tr>
              <a:tr h="531187">
                <a:tc>
                  <a:txBody>
                    <a:bodyPr/>
                    <a:lstStyle/>
                    <a:p>
                      <a:pPr algn="ctr"/>
                      <a:r>
                        <a:rPr lang="en-US" altLang="zh-CN" sz="2400" dirty="0"/>
                        <a:t>a+3</a:t>
                      </a:r>
                      <a:endParaRPr lang="zh-CN" altLang="en-US" sz="24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76367626"/>
                  </a:ext>
                </a:extLst>
              </a:tr>
              <a:tr h="531187">
                <a:tc>
                  <a:txBody>
                    <a:bodyPr/>
                    <a:lstStyle/>
                    <a:p>
                      <a:pPr algn="ctr"/>
                      <a:r>
                        <a:rPr lang="en-US" altLang="zh-CN" sz="2400" dirty="0"/>
                        <a:t>a+4</a:t>
                      </a:r>
                      <a:endParaRPr lang="zh-CN" altLang="en-US" sz="24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63178767"/>
                  </a:ext>
                </a:extLst>
              </a:tr>
            </a:tbl>
          </a:graphicData>
        </a:graphic>
      </p:graphicFrame>
      <p:sp>
        <p:nvSpPr>
          <p:cNvPr id="11" name="文本框 10">
            <a:extLst>
              <a:ext uri="{FF2B5EF4-FFF2-40B4-BE49-F238E27FC236}">
                <a16:creationId xmlns:a16="http://schemas.microsoft.com/office/drawing/2014/main" id="{7DEF881C-81D0-4264-AEE2-902EBDBB3BCA}"/>
              </a:ext>
            </a:extLst>
          </p:cNvPr>
          <p:cNvSpPr txBox="1"/>
          <p:nvPr/>
        </p:nvSpPr>
        <p:spPr>
          <a:xfrm>
            <a:off x="6391412" y="1467029"/>
            <a:ext cx="766236" cy="400110"/>
          </a:xfrm>
          <a:prstGeom prst="rect">
            <a:avLst/>
          </a:prstGeom>
          <a:noFill/>
        </p:spPr>
        <p:txBody>
          <a:bodyPr wrap="square" rtlCol="0">
            <a:spAutoFit/>
          </a:bodyPr>
          <a:lstStyle/>
          <a:p>
            <a:pPr algn="ctr"/>
            <a:r>
              <a:rPr lang="zh-CN" altLang="en-US" sz="2000" b="1" dirty="0"/>
              <a:t>地址</a:t>
            </a:r>
            <a:endParaRPr lang="zh-CN" altLang="en-US" b="1" dirty="0"/>
          </a:p>
        </p:txBody>
      </p:sp>
      <p:graphicFrame>
        <p:nvGraphicFramePr>
          <p:cNvPr id="12" name="表格 8">
            <a:extLst>
              <a:ext uri="{FF2B5EF4-FFF2-40B4-BE49-F238E27FC236}">
                <a16:creationId xmlns:a16="http://schemas.microsoft.com/office/drawing/2014/main" id="{247C137C-3AF3-47BE-B67F-2DB73760181F}"/>
              </a:ext>
            </a:extLst>
          </p:cNvPr>
          <p:cNvGraphicFramePr>
            <a:graphicFrameLocks noGrp="1"/>
          </p:cNvGraphicFramePr>
          <p:nvPr>
            <p:extLst>
              <p:ext uri="{D42A27DB-BD31-4B8C-83A1-F6EECF244321}">
                <p14:modId xmlns:p14="http://schemas.microsoft.com/office/powerpoint/2010/main" val="1610735316"/>
              </p:ext>
            </p:extLst>
          </p:nvPr>
        </p:nvGraphicFramePr>
        <p:xfrm>
          <a:off x="8416000" y="1806255"/>
          <a:ext cx="1299499" cy="2655935"/>
        </p:xfrm>
        <a:graphic>
          <a:graphicData uri="http://schemas.openxmlformats.org/drawingml/2006/table">
            <a:tbl>
              <a:tblPr firstRow="1" bandRow="1">
                <a:tableStyleId>{5940675A-B579-460E-94D1-54222C63F5DA}</a:tableStyleId>
              </a:tblPr>
              <a:tblGrid>
                <a:gridCol w="1299499">
                  <a:extLst>
                    <a:ext uri="{9D8B030D-6E8A-4147-A177-3AD203B41FA5}">
                      <a16:colId xmlns:a16="http://schemas.microsoft.com/office/drawing/2014/main" val="454623864"/>
                    </a:ext>
                  </a:extLst>
                </a:gridCol>
              </a:tblGrid>
              <a:tr h="531187">
                <a:tc>
                  <a:txBody>
                    <a:bodyPr/>
                    <a:lstStyle/>
                    <a:p>
                      <a:pPr algn="ctr"/>
                      <a:r>
                        <a:rPr lang="en-US" altLang="zh-CN" sz="2400" dirty="0"/>
                        <a:t>a[0]</a:t>
                      </a:r>
                      <a:endParaRPr lang="zh-CN" altLang="en-US" sz="24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64503848"/>
                  </a:ext>
                </a:extLst>
              </a:tr>
              <a:tr h="531187">
                <a:tc>
                  <a:txBody>
                    <a:bodyPr/>
                    <a:lstStyle/>
                    <a:p>
                      <a:pPr algn="ctr"/>
                      <a:r>
                        <a:rPr lang="en-US" altLang="zh-CN" sz="2400" dirty="0"/>
                        <a:t>a[1]</a:t>
                      </a:r>
                      <a:endParaRPr lang="zh-CN" altLang="en-US" sz="24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81195513"/>
                  </a:ext>
                </a:extLst>
              </a:tr>
              <a:tr h="531187">
                <a:tc>
                  <a:txBody>
                    <a:bodyPr/>
                    <a:lstStyle/>
                    <a:p>
                      <a:pPr algn="ctr"/>
                      <a:r>
                        <a:rPr lang="en-US" altLang="zh-CN" sz="2400" dirty="0"/>
                        <a:t>a[2]</a:t>
                      </a:r>
                      <a:endParaRPr lang="zh-CN" altLang="en-US" sz="24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57349241"/>
                  </a:ext>
                </a:extLst>
              </a:tr>
              <a:tr h="531187">
                <a:tc>
                  <a:txBody>
                    <a:bodyPr/>
                    <a:lstStyle/>
                    <a:p>
                      <a:pPr algn="ctr"/>
                      <a:r>
                        <a:rPr lang="en-US" altLang="zh-CN" sz="2400" dirty="0"/>
                        <a:t>a[3]</a:t>
                      </a:r>
                      <a:endParaRPr lang="zh-CN" altLang="en-US" sz="24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76367626"/>
                  </a:ext>
                </a:extLst>
              </a:tr>
              <a:tr h="531187">
                <a:tc>
                  <a:txBody>
                    <a:bodyPr/>
                    <a:lstStyle/>
                    <a:p>
                      <a:pPr algn="ctr"/>
                      <a:r>
                        <a:rPr lang="en-US" altLang="zh-CN" sz="2400" dirty="0"/>
                        <a:t>a[4]</a:t>
                      </a:r>
                      <a:endParaRPr lang="zh-CN" altLang="en-US" sz="24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63178767"/>
                  </a:ext>
                </a:extLst>
              </a:tr>
            </a:tbl>
          </a:graphicData>
        </a:graphic>
      </p:graphicFrame>
      <p:sp>
        <p:nvSpPr>
          <p:cNvPr id="13" name="文本框 12">
            <a:extLst>
              <a:ext uri="{FF2B5EF4-FFF2-40B4-BE49-F238E27FC236}">
                <a16:creationId xmlns:a16="http://schemas.microsoft.com/office/drawing/2014/main" id="{B6823C55-34CC-48AB-BFBF-327C0976F92F}"/>
              </a:ext>
            </a:extLst>
          </p:cNvPr>
          <p:cNvSpPr txBox="1"/>
          <p:nvPr/>
        </p:nvSpPr>
        <p:spPr>
          <a:xfrm>
            <a:off x="8424465" y="1467029"/>
            <a:ext cx="1291034" cy="400110"/>
          </a:xfrm>
          <a:prstGeom prst="rect">
            <a:avLst/>
          </a:prstGeom>
          <a:noFill/>
        </p:spPr>
        <p:txBody>
          <a:bodyPr wrap="square" rtlCol="0">
            <a:spAutoFit/>
          </a:bodyPr>
          <a:lstStyle/>
          <a:p>
            <a:pPr algn="ctr"/>
            <a:r>
              <a:rPr lang="zh-CN" altLang="en-US" sz="2000" b="1" dirty="0"/>
              <a:t>下标表示</a:t>
            </a:r>
            <a:endParaRPr lang="zh-CN" altLang="en-US" b="1" dirty="0"/>
          </a:p>
        </p:txBody>
      </p:sp>
      <p:graphicFrame>
        <p:nvGraphicFramePr>
          <p:cNvPr id="16" name="表格 8">
            <a:extLst>
              <a:ext uri="{FF2B5EF4-FFF2-40B4-BE49-F238E27FC236}">
                <a16:creationId xmlns:a16="http://schemas.microsoft.com/office/drawing/2014/main" id="{1EE132DD-CA61-4394-A44D-D9EFC74CF316}"/>
              </a:ext>
            </a:extLst>
          </p:cNvPr>
          <p:cNvGraphicFramePr>
            <a:graphicFrameLocks noGrp="1"/>
          </p:cNvGraphicFramePr>
          <p:nvPr>
            <p:extLst>
              <p:ext uri="{D42A27DB-BD31-4B8C-83A1-F6EECF244321}">
                <p14:modId xmlns:p14="http://schemas.microsoft.com/office/powerpoint/2010/main" val="2052806093"/>
              </p:ext>
            </p:extLst>
          </p:nvPr>
        </p:nvGraphicFramePr>
        <p:xfrm>
          <a:off x="9936551" y="1806255"/>
          <a:ext cx="1299499" cy="2655935"/>
        </p:xfrm>
        <a:graphic>
          <a:graphicData uri="http://schemas.openxmlformats.org/drawingml/2006/table">
            <a:tbl>
              <a:tblPr firstRow="1" bandRow="1">
                <a:tableStyleId>{5940675A-B579-460E-94D1-54222C63F5DA}</a:tableStyleId>
              </a:tblPr>
              <a:tblGrid>
                <a:gridCol w="1299499">
                  <a:extLst>
                    <a:ext uri="{9D8B030D-6E8A-4147-A177-3AD203B41FA5}">
                      <a16:colId xmlns:a16="http://schemas.microsoft.com/office/drawing/2014/main" val="454623864"/>
                    </a:ext>
                  </a:extLst>
                </a:gridCol>
              </a:tblGrid>
              <a:tr h="531187">
                <a:tc>
                  <a:txBody>
                    <a:bodyPr/>
                    <a:lstStyle/>
                    <a:p>
                      <a:pPr algn="ctr"/>
                      <a:r>
                        <a:rPr lang="en-US" altLang="zh-CN" sz="2400" dirty="0"/>
                        <a:t>*a</a:t>
                      </a:r>
                      <a:endParaRPr lang="zh-CN" altLang="en-US" sz="24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64503848"/>
                  </a:ext>
                </a:extLst>
              </a:tr>
              <a:tr h="531187">
                <a:tc>
                  <a:txBody>
                    <a:bodyPr/>
                    <a:lstStyle/>
                    <a:p>
                      <a:pPr algn="ctr"/>
                      <a:r>
                        <a:rPr lang="en-US" altLang="zh-CN" sz="2400" dirty="0"/>
                        <a:t>*(a+1)</a:t>
                      </a:r>
                      <a:endParaRPr lang="zh-CN" altLang="en-US" sz="24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81195513"/>
                  </a:ext>
                </a:extLst>
              </a:tr>
              <a:tr h="531187">
                <a:tc>
                  <a:txBody>
                    <a:bodyPr/>
                    <a:lstStyle/>
                    <a:p>
                      <a:pPr algn="ctr"/>
                      <a:r>
                        <a:rPr lang="en-US" altLang="zh-CN" sz="2400" dirty="0"/>
                        <a:t>*(a+2)</a:t>
                      </a:r>
                      <a:endParaRPr lang="zh-CN" altLang="en-US" sz="24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57349241"/>
                  </a:ext>
                </a:extLst>
              </a:tr>
              <a:tr h="531187">
                <a:tc>
                  <a:txBody>
                    <a:bodyPr/>
                    <a:lstStyle/>
                    <a:p>
                      <a:pPr algn="ctr"/>
                      <a:r>
                        <a:rPr lang="en-US" altLang="zh-CN" sz="2400" dirty="0"/>
                        <a:t>*(a+3)</a:t>
                      </a:r>
                      <a:endParaRPr lang="zh-CN" altLang="en-US" sz="24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76367626"/>
                  </a:ext>
                </a:extLst>
              </a:tr>
              <a:tr h="531187">
                <a:tc>
                  <a:txBody>
                    <a:bodyPr/>
                    <a:lstStyle/>
                    <a:p>
                      <a:pPr algn="ctr"/>
                      <a:r>
                        <a:rPr lang="en-US" altLang="zh-CN" sz="2400" dirty="0"/>
                        <a:t>*(a+4)</a:t>
                      </a:r>
                      <a:endParaRPr lang="zh-CN" altLang="en-US" sz="24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63178767"/>
                  </a:ext>
                </a:extLst>
              </a:tr>
            </a:tbl>
          </a:graphicData>
        </a:graphic>
      </p:graphicFrame>
      <p:sp>
        <p:nvSpPr>
          <p:cNvPr id="17" name="文本框 16">
            <a:extLst>
              <a:ext uri="{FF2B5EF4-FFF2-40B4-BE49-F238E27FC236}">
                <a16:creationId xmlns:a16="http://schemas.microsoft.com/office/drawing/2014/main" id="{58BCB0C1-34AF-4354-BEA3-3C0A8ABB6D66}"/>
              </a:ext>
            </a:extLst>
          </p:cNvPr>
          <p:cNvSpPr txBox="1"/>
          <p:nvPr/>
        </p:nvSpPr>
        <p:spPr>
          <a:xfrm>
            <a:off x="9945016" y="1467029"/>
            <a:ext cx="1291034" cy="400110"/>
          </a:xfrm>
          <a:prstGeom prst="rect">
            <a:avLst/>
          </a:prstGeom>
          <a:noFill/>
        </p:spPr>
        <p:txBody>
          <a:bodyPr wrap="square" rtlCol="0">
            <a:spAutoFit/>
          </a:bodyPr>
          <a:lstStyle/>
          <a:p>
            <a:pPr algn="ctr"/>
            <a:r>
              <a:rPr lang="zh-CN" altLang="en-US" sz="2000" b="1" dirty="0"/>
              <a:t>指针表示</a:t>
            </a:r>
            <a:endParaRPr lang="zh-CN" altLang="en-US" b="1" dirty="0"/>
          </a:p>
        </p:txBody>
      </p:sp>
      <p:graphicFrame>
        <p:nvGraphicFramePr>
          <p:cNvPr id="18" name="表格 8">
            <a:extLst>
              <a:ext uri="{FF2B5EF4-FFF2-40B4-BE49-F238E27FC236}">
                <a16:creationId xmlns:a16="http://schemas.microsoft.com/office/drawing/2014/main" id="{3B36789D-C969-4393-B2A6-5AC8A4D5F55D}"/>
              </a:ext>
            </a:extLst>
          </p:cNvPr>
          <p:cNvGraphicFramePr>
            <a:graphicFrameLocks noGrp="1"/>
          </p:cNvGraphicFramePr>
          <p:nvPr>
            <p:extLst>
              <p:ext uri="{D42A27DB-BD31-4B8C-83A1-F6EECF244321}">
                <p14:modId xmlns:p14="http://schemas.microsoft.com/office/powerpoint/2010/main" val="4228283992"/>
              </p:ext>
            </p:extLst>
          </p:nvPr>
        </p:nvGraphicFramePr>
        <p:xfrm>
          <a:off x="6377793" y="1806254"/>
          <a:ext cx="774700" cy="2655935"/>
        </p:xfrm>
        <a:graphic>
          <a:graphicData uri="http://schemas.openxmlformats.org/drawingml/2006/table">
            <a:tbl>
              <a:tblPr firstRow="1" bandRow="1">
                <a:tableStyleId>{5940675A-B579-460E-94D1-54222C63F5DA}</a:tableStyleId>
              </a:tblPr>
              <a:tblGrid>
                <a:gridCol w="774700">
                  <a:extLst>
                    <a:ext uri="{9D8B030D-6E8A-4147-A177-3AD203B41FA5}">
                      <a16:colId xmlns:a16="http://schemas.microsoft.com/office/drawing/2014/main" val="454623864"/>
                    </a:ext>
                  </a:extLst>
                </a:gridCol>
              </a:tblGrid>
              <a:tr h="531187">
                <a:tc>
                  <a:txBody>
                    <a:bodyPr/>
                    <a:lstStyle/>
                    <a:p>
                      <a:pPr algn="ctr"/>
                      <a:r>
                        <a:rPr lang="en-US" altLang="zh-CN" sz="2400" dirty="0"/>
                        <a:t>p</a:t>
                      </a:r>
                      <a:endParaRPr lang="zh-CN" altLang="en-US" sz="24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64503848"/>
                  </a:ext>
                </a:extLst>
              </a:tr>
              <a:tr h="531187">
                <a:tc>
                  <a:txBody>
                    <a:bodyPr/>
                    <a:lstStyle/>
                    <a:p>
                      <a:pPr algn="ctr"/>
                      <a:r>
                        <a:rPr lang="en-US" altLang="zh-CN" sz="2400" dirty="0"/>
                        <a:t>p+1</a:t>
                      </a:r>
                      <a:endParaRPr lang="zh-CN" altLang="en-US" sz="24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81195513"/>
                  </a:ext>
                </a:extLst>
              </a:tr>
              <a:tr h="531187">
                <a:tc>
                  <a:txBody>
                    <a:bodyPr/>
                    <a:lstStyle/>
                    <a:p>
                      <a:pPr algn="ctr"/>
                      <a:r>
                        <a:rPr lang="en-US" altLang="zh-CN" sz="2400" dirty="0"/>
                        <a:t>p+2</a:t>
                      </a:r>
                      <a:endParaRPr lang="zh-CN" altLang="en-US" sz="24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57349241"/>
                  </a:ext>
                </a:extLst>
              </a:tr>
              <a:tr h="531187">
                <a:tc>
                  <a:txBody>
                    <a:bodyPr/>
                    <a:lstStyle/>
                    <a:p>
                      <a:pPr algn="ctr"/>
                      <a:r>
                        <a:rPr lang="en-US" altLang="zh-CN" sz="2400" dirty="0"/>
                        <a:t>p+3</a:t>
                      </a:r>
                      <a:endParaRPr lang="zh-CN" altLang="en-US" sz="24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76367626"/>
                  </a:ext>
                </a:extLst>
              </a:tr>
              <a:tr h="531187">
                <a:tc>
                  <a:txBody>
                    <a:bodyPr/>
                    <a:lstStyle/>
                    <a:p>
                      <a:pPr algn="ctr"/>
                      <a:r>
                        <a:rPr lang="en-US" altLang="zh-CN" sz="2400" dirty="0"/>
                        <a:t>p+4</a:t>
                      </a:r>
                      <a:endParaRPr lang="zh-CN" altLang="en-US" sz="24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63178767"/>
                  </a:ext>
                </a:extLst>
              </a:tr>
            </a:tbl>
          </a:graphicData>
        </a:graphic>
      </p:graphicFrame>
      <p:graphicFrame>
        <p:nvGraphicFramePr>
          <p:cNvPr id="20" name="表格 8">
            <a:extLst>
              <a:ext uri="{FF2B5EF4-FFF2-40B4-BE49-F238E27FC236}">
                <a16:creationId xmlns:a16="http://schemas.microsoft.com/office/drawing/2014/main" id="{996C93DB-67FE-4117-A1F8-F5ABD4FB2C47}"/>
              </a:ext>
            </a:extLst>
          </p:cNvPr>
          <p:cNvGraphicFramePr>
            <a:graphicFrameLocks noGrp="1"/>
          </p:cNvGraphicFramePr>
          <p:nvPr>
            <p:extLst>
              <p:ext uri="{D42A27DB-BD31-4B8C-83A1-F6EECF244321}">
                <p14:modId xmlns:p14="http://schemas.microsoft.com/office/powerpoint/2010/main" val="492784055"/>
              </p:ext>
            </p:extLst>
          </p:nvPr>
        </p:nvGraphicFramePr>
        <p:xfrm>
          <a:off x="8424465" y="1806253"/>
          <a:ext cx="1299499" cy="2655935"/>
        </p:xfrm>
        <a:graphic>
          <a:graphicData uri="http://schemas.openxmlformats.org/drawingml/2006/table">
            <a:tbl>
              <a:tblPr firstRow="1" bandRow="1">
                <a:tableStyleId>{5940675A-B579-460E-94D1-54222C63F5DA}</a:tableStyleId>
              </a:tblPr>
              <a:tblGrid>
                <a:gridCol w="1299499">
                  <a:extLst>
                    <a:ext uri="{9D8B030D-6E8A-4147-A177-3AD203B41FA5}">
                      <a16:colId xmlns:a16="http://schemas.microsoft.com/office/drawing/2014/main" val="454623864"/>
                    </a:ext>
                  </a:extLst>
                </a:gridCol>
              </a:tblGrid>
              <a:tr h="531187">
                <a:tc>
                  <a:txBody>
                    <a:bodyPr/>
                    <a:lstStyle/>
                    <a:p>
                      <a:pPr algn="ctr"/>
                      <a:r>
                        <a:rPr lang="en-US" altLang="zh-CN" sz="2400" dirty="0"/>
                        <a:t>p[0]</a:t>
                      </a:r>
                      <a:endParaRPr lang="zh-CN" altLang="en-US" sz="24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64503848"/>
                  </a:ext>
                </a:extLst>
              </a:tr>
              <a:tr h="531187">
                <a:tc>
                  <a:txBody>
                    <a:bodyPr/>
                    <a:lstStyle/>
                    <a:p>
                      <a:pPr algn="ctr"/>
                      <a:r>
                        <a:rPr lang="en-US" altLang="zh-CN" sz="2400" dirty="0"/>
                        <a:t>p[1]</a:t>
                      </a:r>
                      <a:endParaRPr lang="zh-CN" altLang="en-US" sz="24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81195513"/>
                  </a:ext>
                </a:extLst>
              </a:tr>
              <a:tr h="531187">
                <a:tc>
                  <a:txBody>
                    <a:bodyPr/>
                    <a:lstStyle/>
                    <a:p>
                      <a:pPr algn="ctr"/>
                      <a:r>
                        <a:rPr lang="en-US" altLang="zh-CN" sz="2400" dirty="0"/>
                        <a:t>p[2]</a:t>
                      </a:r>
                      <a:endParaRPr lang="zh-CN" altLang="en-US" sz="24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57349241"/>
                  </a:ext>
                </a:extLst>
              </a:tr>
              <a:tr h="531187">
                <a:tc>
                  <a:txBody>
                    <a:bodyPr/>
                    <a:lstStyle/>
                    <a:p>
                      <a:pPr algn="ctr"/>
                      <a:r>
                        <a:rPr lang="en-US" altLang="zh-CN" sz="2400" dirty="0"/>
                        <a:t>p[3]</a:t>
                      </a:r>
                      <a:endParaRPr lang="zh-CN" altLang="en-US" sz="24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76367626"/>
                  </a:ext>
                </a:extLst>
              </a:tr>
              <a:tr h="531187">
                <a:tc>
                  <a:txBody>
                    <a:bodyPr/>
                    <a:lstStyle/>
                    <a:p>
                      <a:pPr algn="ctr"/>
                      <a:r>
                        <a:rPr lang="en-US" altLang="zh-CN" sz="2400" dirty="0"/>
                        <a:t>p[4]</a:t>
                      </a:r>
                      <a:endParaRPr lang="zh-CN" altLang="en-US" sz="24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63178767"/>
                  </a:ext>
                </a:extLst>
              </a:tr>
            </a:tbl>
          </a:graphicData>
        </a:graphic>
      </p:graphicFrame>
      <p:graphicFrame>
        <p:nvGraphicFramePr>
          <p:cNvPr id="22" name="表格 8">
            <a:extLst>
              <a:ext uri="{FF2B5EF4-FFF2-40B4-BE49-F238E27FC236}">
                <a16:creationId xmlns:a16="http://schemas.microsoft.com/office/drawing/2014/main" id="{6FD15639-410C-497A-9E2F-850890C984CE}"/>
              </a:ext>
            </a:extLst>
          </p:cNvPr>
          <p:cNvGraphicFramePr>
            <a:graphicFrameLocks noGrp="1"/>
          </p:cNvGraphicFramePr>
          <p:nvPr>
            <p:extLst>
              <p:ext uri="{D42A27DB-BD31-4B8C-83A1-F6EECF244321}">
                <p14:modId xmlns:p14="http://schemas.microsoft.com/office/powerpoint/2010/main" val="2692224359"/>
              </p:ext>
            </p:extLst>
          </p:nvPr>
        </p:nvGraphicFramePr>
        <p:xfrm>
          <a:off x="9928086" y="1806252"/>
          <a:ext cx="1299499" cy="2655935"/>
        </p:xfrm>
        <a:graphic>
          <a:graphicData uri="http://schemas.openxmlformats.org/drawingml/2006/table">
            <a:tbl>
              <a:tblPr firstRow="1" bandRow="1">
                <a:tableStyleId>{5940675A-B579-460E-94D1-54222C63F5DA}</a:tableStyleId>
              </a:tblPr>
              <a:tblGrid>
                <a:gridCol w="1299499">
                  <a:extLst>
                    <a:ext uri="{9D8B030D-6E8A-4147-A177-3AD203B41FA5}">
                      <a16:colId xmlns:a16="http://schemas.microsoft.com/office/drawing/2014/main" val="454623864"/>
                    </a:ext>
                  </a:extLst>
                </a:gridCol>
              </a:tblGrid>
              <a:tr h="531187">
                <a:tc>
                  <a:txBody>
                    <a:bodyPr/>
                    <a:lstStyle/>
                    <a:p>
                      <a:pPr algn="ctr"/>
                      <a:r>
                        <a:rPr lang="en-US" altLang="zh-CN" sz="2400" dirty="0"/>
                        <a:t>*p</a:t>
                      </a:r>
                      <a:endParaRPr lang="zh-CN" altLang="en-US" sz="24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64503848"/>
                  </a:ext>
                </a:extLst>
              </a:tr>
              <a:tr h="531187">
                <a:tc>
                  <a:txBody>
                    <a:bodyPr/>
                    <a:lstStyle/>
                    <a:p>
                      <a:pPr algn="ctr"/>
                      <a:r>
                        <a:rPr lang="en-US" altLang="zh-CN" sz="2400" dirty="0"/>
                        <a:t>*(p+1)</a:t>
                      </a:r>
                      <a:endParaRPr lang="zh-CN" altLang="en-US" sz="24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81195513"/>
                  </a:ext>
                </a:extLst>
              </a:tr>
              <a:tr h="531187">
                <a:tc>
                  <a:txBody>
                    <a:bodyPr/>
                    <a:lstStyle/>
                    <a:p>
                      <a:pPr algn="ctr"/>
                      <a:r>
                        <a:rPr lang="en-US" altLang="zh-CN" sz="2400" dirty="0"/>
                        <a:t>*(p+2)</a:t>
                      </a:r>
                      <a:endParaRPr lang="zh-CN" altLang="en-US" sz="24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57349241"/>
                  </a:ext>
                </a:extLst>
              </a:tr>
              <a:tr h="531187">
                <a:tc>
                  <a:txBody>
                    <a:bodyPr/>
                    <a:lstStyle/>
                    <a:p>
                      <a:pPr algn="ctr"/>
                      <a:r>
                        <a:rPr lang="en-US" altLang="zh-CN" sz="2400" dirty="0"/>
                        <a:t>*(p+3)</a:t>
                      </a:r>
                      <a:endParaRPr lang="zh-CN" altLang="en-US" sz="24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76367626"/>
                  </a:ext>
                </a:extLst>
              </a:tr>
              <a:tr h="531187">
                <a:tc>
                  <a:txBody>
                    <a:bodyPr/>
                    <a:lstStyle/>
                    <a:p>
                      <a:pPr algn="ctr"/>
                      <a:r>
                        <a:rPr lang="en-US" altLang="zh-CN" sz="2400" dirty="0"/>
                        <a:t>*(p+4)</a:t>
                      </a:r>
                      <a:endParaRPr lang="zh-CN" altLang="en-US" sz="24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63178767"/>
                  </a:ext>
                </a:extLst>
              </a:tr>
            </a:tbl>
          </a:graphicData>
        </a:graphic>
      </p:graphicFrame>
      <p:sp>
        <p:nvSpPr>
          <p:cNvPr id="24" name="灯片编号占位符 23">
            <a:extLst>
              <a:ext uri="{FF2B5EF4-FFF2-40B4-BE49-F238E27FC236}">
                <a16:creationId xmlns:a16="http://schemas.microsoft.com/office/drawing/2014/main" id="{C0BEAAA7-FF8F-4D09-8ECF-0FC56720F2B7}"/>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13</a:t>
            </a:fld>
            <a:r>
              <a:rPr lang="en-US" altLang="zh-CN">
                <a:solidFill>
                  <a:prstClr val="black">
                    <a:tint val="75000"/>
                  </a:prstClr>
                </a:solidFill>
              </a:rPr>
              <a:t>/ 35</a:t>
            </a:r>
            <a:endParaRPr lang="zh-CN" altLang="en-US" dirty="0"/>
          </a:p>
        </p:txBody>
      </p:sp>
    </p:spTree>
    <p:extLst>
      <p:ext uri="{BB962C8B-B14F-4D97-AF65-F5344CB8AC3E}">
        <p14:creationId xmlns:p14="http://schemas.microsoft.com/office/powerpoint/2010/main" val="2438570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2" presetClass="entr" presetSubtype="8"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0-#ppt_w/2"/>
                                          </p:val>
                                        </p:tav>
                                        <p:tav tm="100000">
                                          <p:val>
                                            <p:strVal val="#ppt_x"/>
                                          </p:val>
                                        </p:tav>
                                      </p:tavLst>
                                    </p:anim>
                                    <p:anim calcmode="lin" valueType="num">
                                      <p:cBhvr additive="base">
                                        <p:cTn id="13" dur="500" fill="hold"/>
                                        <p:tgtEl>
                                          <p:spTgt spid="6"/>
                                        </p:tgtEl>
                                        <p:attrNameLst>
                                          <p:attrName>ppt_y</p:attrName>
                                        </p:attrNameLst>
                                      </p:cBhvr>
                                      <p:tavLst>
                                        <p:tav tm="0">
                                          <p:val>
                                            <p:strVal val="#ppt_y"/>
                                          </p:val>
                                        </p:tav>
                                        <p:tav tm="100000">
                                          <p:val>
                                            <p:strVal val="#ppt_y"/>
                                          </p:val>
                                        </p:tav>
                                      </p:tavLst>
                                    </p:anim>
                                  </p:childTnLst>
                                </p:cTn>
                              </p:par>
                              <p:par>
                                <p:cTn id="14" presetID="42"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1000"/>
                                        <p:tgtEl>
                                          <p:spTgt spid="7"/>
                                        </p:tgtEl>
                                      </p:cBhvr>
                                    </p:animEffect>
                                    <p:anim calcmode="lin" valueType="num">
                                      <p:cBhvr>
                                        <p:cTn id="17" dur="1000" fill="hold"/>
                                        <p:tgtEl>
                                          <p:spTgt spid="7"/>
                                        </p:tgtEl>
                                        <p:attrNameLst>
                                          <p:attrName>ppt_x</p:attrName>
                                        </p:attrNameLst>
                                      </p:cBhvr>
                                      <p:tavLst>
                                        <p:tav tm="0">
                                          <p:val>
                                            <p:strVal val="#ppt_x"/>
                                          </p:val>
                                        </p:tav>
                                        <p:tav tm="100000">
                                          <p:val>
                                            <p:strVal val="#ppt_x"/>
                                          </p:val>
                                        </p:tav>
                                      </p:tavLst>
                                    </p:anim>
                                    <p:anim calcmode="lin" valueType="num">
                                      <p:cBhvr>
                                        <p:cTn id="18"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 calcmode="lin" valueType="num">
                                      <p:cBhvr additive="base">
                                        <p:cTn id="29" dur="500" fill="hold"/>
                                        <p:tgtEl>
                                          <p:spTgt spid="11"/>
                                        </p:tgtEl>
                                        <p:attrNameLst>
                                          <p:attrName>ppt_x</p:attrName>
                                        </p:attrNameLst>
                                      </p:cBhvr>
                                      <p:tavLst>
                                        <p:tav tm="0">
                                          <p:val>
                                            <p:strVal val="0-#ppt_w/2"/>
                                          </p:val>
                                        </p:tav>
                                        <p:tav tm="100000">
                                          <p:val>
                                            <p:strVal val="#ppt_x"/>
                                          </p:val>
                                        </p:tav>
                                      </p:tavLst>
                                    </p:anim>
                                    <p:anim calcmode="lin" valueType="num">
                                      <p:cBhvr additive="base">
                                        <p:cTn id="30" dur="500" fill="hold"/>
                                        <p:tgtEl>
                                          <p:spTgt spid="11"/>
                                        </p:tgtEl>
                                        <p:attrNameLst>
                                          <p:attrName>ppt_y</p:attrName>
                                        </p:attrNameLst>
                                      </p:cBhvr>
                                      <p:tavLst>
                                        <p:tav tm="0">
                                          <p:val>
                                            <p:strVal val="#ppt_y"/>
                                          </p:val>
                                        </p:tav>
                                        <p:tav tm="100000">
                                          <p:val>
                                            <p:strVal val="#ppt_y"/>
                                          </p:val>
                                        </p:tav>
                                      </p:tavLst>
                                    </p:anim>
                                  </p:childTnLst>
                                </p:cTn>
                              </p:par>
                              <p:par>
                                <p:cTn id="31" presetID="2" presetClass="entr" presetSubtype="8" fill="hold" nodeType="withEffect">
                                  <p:stCondLst>
                                    <p:cond delay="0"/>
                                  </p:stCondLst>
                                  <p:childTnLst>
                                    <p:set>
                                      <p:cBhvr>
                                        <p:cTn id="32" dur="1" fill="hold">
                                          <p:stCondLst>
                                            <p:cond delay="0"/>
                                          </p:stCondLst>
                                        </p:cTn>
                                        <p:tgtEl>
                                          <p:spTgt spid="10"/>
                                        </p:tgtEl>
                                        <p:attrNameLst>
                                          <p:attrName>style.visibility</p:attrName>
                                        </p:attrNameLst>
                                      </p:cBhvr>
                                      <p:to>
                                        <p:strVal val="visible"/>
                                      </p:to>
                                    </p:set>
                                    <p:anim calcmode="lin" valueType="num">
                                      <p:cBhvr additive="base">
                                        <p:cTn id="33" dur="500" fill="hold"/>
                                        <p:tgtEl>
                                          <p:spTgt spid="10"/>
                                        </p:tgtEl>
                                        <p:attrNameLst>
                                          <p:attrName>ppt_x</p:attrName>
                                        </p:attrNameLst>
                                      </p:cBhvr>
                                      <p:tavLst>
                                        <p:tav tm="0">
                                          <p:val>
                                            <p:strVal val="0-#ppt_w/2"/>
                                          </p:val>
                                        </p:tav>
                                        <p:tav tm="100000">
                                          <p:val>
                                            <p:strVal val="#ppt_x"/>
                                          </p:val>
                                        </p:tav>
                                      </p:tavLst>
                                    </p:anim>
                                    <p:anim calcmode="lin" valueType="num">
                                      <p:cBhvr additive="base">
                                        <p:cTn id="34"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2"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anim calcmode="lin" valueType="num">
                                      <p:cBhvr additive="base">
                                        <p:cTn id="39" dur="500" fill="hold"/>
                                        <p:tgtEl>
                                          <p:spTgt spid="13"/>
                                        </p:tgtEl>
                                        <p:attrNameLst>
                                          <p:attrName>ppt_x</p:attrName>
                                        </p:attrNameLst>
                                      </p:cBhvr>
                                      <p:tavLst>
                                        <p:tav tm="0">
                                          <p:val>
                                            <p:strVal val="1+#ppt_w/2"/>
                                          </p:val>
                                        </p:tav>
                                        <p:tav tm="100000">
                                          <p:val>
                                            <p:strVal val="#ppt_x"/>
                                          </p:val>
                                        </p:tav>
                                      </p:tavLst>
                                    </p:anim>
                                    <p:anim calcmode="lin" valueType="num">
                                      <p:cBhvr additive="base">
                                        <p:cTn id="40" dur="500" fill="hold"/>
                                        <p:tgtEl>
                                          <p:spTgt spid="13"/>
                                        </p:tgtEl>
                                        <p:attrNameLst>
                                          <p:attrName>ppt_y</p:attrName>
                                        </p:attrNameLst>
                                      </p:cBhvr>
                                      <p:tavLst>
                                        <p:tav tm="0">
                                          <p:val>
                                            <p:strVal val="#ppt_y"/>
                                          </p:val>
                                        </p:tav>
                                        <p:tav tm="100000">
                                          <p:val>
                                            <p:strVal val="#ppt_y"/>
                                          </p:val>
                                        </p:tav>
                                      </p:tavLst>
                                    </p:anim>
                                  </p:childTnLst>
                                </p:cTn>
                              </p:par>
                              <p:par>
                                <p:cTn id="41" presetID="2" presetClass="entr" presetSubtype="2" fill="hold" nodeType="withEffect">
                                  <p:stCondLst>
                                    <p:cond delay="0"/>
                                  </p:stCondLst>
                                  <p:childTnLst>
                                    <p:set>
                                      <p:cBhvr>
                                        <p:cTn id="42" dur="1" fill="hold">
                                          <p:stCondLst>
                                            <p:cond delay="0"/>
                                          </p:stCondLst>
                                        </p:cTn>
                                        <p:tgtEl>
                                          <p:spTgt spid="12"/>
                                        </p:tgtEl>
                                        <p:attrNameLst>
                                          <p:attrName>style.visibility</p:attrName>
                                        </p:attrNameLst>
                                      </p:cBhvr>
                                      <p:to>
                                        <p:strVal val="visible"/>
                                      </p:to>
                                    </p:set>
                                    <p:anim calcmode="lin" valueType="num">
                                      <p:cBhvr additive="base">
                                        <p:cTn id="43" dur="500" fill="hold"/>
                                        <p:tgtEl>
                                          <p:spTgt spid="12"/>
                                        </p:tgtEl>
                                        <p:attrNameLst>
                                          <p:attrName>ppt_x</p:attrName>
                                        </p:attrNameLst>
                                      </p:cBhvr>
                                      <p:tavLst>
                                        <p:tav tm="0">
                                          <p:val>
                                            <p:strVal val="1+#ppt_w/2"/>
                                          </p:val>
                                        </p:tav>
                                        <p:tav tm="100000">
                                          <p:val>
                                            <p:strVal val="#ppt_x"/>
                                          </p:val>
                                        </p:tav>
                                      </p:tavLst>
                                    </p:anim>
                                    <p:anim calcmode="lin" valueType="num">
                                      <p:cBhvr additive="base">
                                        <p:cTn id="44"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 calcmode="lin" valueType="num">
                                      <p:cBhvr additive="base">
                                        <p:cTn id="49" dur="500" fill="hold"/>
                                        <p:tgtEl>
                                          <p:spTgt spid="17"/>
                                        </p:tgtEl>
                                        <p:attrNameLst>
                                          <p:attrName>ppt_x</p:attrName>
                                        </p:attrNameLst>
                                      </p:cBhvr>
                                      <p:tavLst>
                                        <p:tav tm="0">
                                          <p:val>
                                            <p:strVal val="1+#ppt_w/2"/>
                                          </p:val>
                                        </p:tav>
                                        <p:tav tm="100000">
                                          <p:val>
                                            <p:strVal val="#ppt_x"/>
                                          </p:val>
                                        </p:tav>
                                      </p:tavLst>
                                    </p:anim>
                                    <p:anim calcmode="lin" valueType="num">
                                      <p:cBhvr additive="base">
                                        <p:cTn id="50" dur="500" fill="hold"/>
                                        <p:tgtEl>
                                          <p:spTgt spid="17"/>
                                        </p:tgtEl>
                                        <p:attrNameLst>
                                          <p:attrName>ppt_y</p:attrName>
                                        </p:attrNameLst>
                                      </p:cBhvr>
                                      <p:tavLst>
                                        <p:tav tm="0">
                                          <p:val>
                                            <p:strVal val="#ppt_y"/>
                                          </p:val>
                                        </p:tav>
                                        <p:tav tm="100000">
                                          <p:val>
                                            <p:strVal val="#ppt_y"/>
                                          </p:val>
                                        </p:tav>
                                      </p:tavLst>
                                    </p:anim>
                                  </p:childTnLst>
                                </p:cTn>
                              </p:par>
                              <p:par>
                                <p:cTn id="51" presetID="2" presetClass="entr" presetSubtype="2" fill="hold" nodeType="withEffect">
                                  <p:stCondLst>
                                    <p:cond delay="0"/>
                                  </p:stCondLst>
                                  <p:childTnLst>
                                    <p:set>
                                      <p:cBhvr>
                                        <p:cTn id="52" dur="1" fill="hold">
                                          <p:stCondLst>
                                            <p:cond delay="0"/>
                                          </p:stCondLst>
                                        </p:cTn>
                                        <p:tgtEl>
                                          <p:spTgt spid="16"/>
                                        </p:tgtEl>
                                        <p:attrNameLst>
                                          <p:attrName>style.visibility</p:attrName>
                                        </p:attrNameLst>
                                      </p:cBhvr>
                                      <p:to>
                                        <p:strVal val="visible"/>
                                      </p:to>
                                    </p:set>
                                    <p:anim calcmode="lin" valueType="num">
                                      <p:cBhvr additive="base">
                                        <p:cTn id="53" dur="500" fill="hold"/>
                                        <p:tgtEl>
                                          <p:spTgt spid="16"/>
                                        </p:tgtEl>
                                        <p:attrNameLst>
                                          <p:attrName>ppt_x</p:attrName>
                                        </p:attrNameLst>
                                      </p:cBhvr>
                                      <p:tavLst>
                                        <p:tav tm="0">
                                          <p:val>
                                            <p:strVal val="1+#ppt_w/2"/>
                                          </p:val>
                                        </p:tav>
                                        <p:tav tm="100000">
                                          <p:val>
                                            <p:strVal val="#ppt_x"/>
                                          </p:val>
                                        </p:tav>
                                      </p:tavLst>
                                    </p:anim>
                                    <p:anim calcmode="lin" valueType="num">
                                      <p:cBhvr additive="base">
                                        <p:cTn id="54"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8"/>
                                        </p:tgtEl>
                                        <p:attrNameLst>
                                          <p:attrName>style.visibility</p:attrName>
                                        </p:attrNameLst>
                                      </p:cBhvr>
                                      <p:to>
                                        <p:strVal val="visible"/>
                                      </p:to>
                                    </p:set>
                                  </p:childTnLst>
                                </p:cTn>
                              </p:par>
                              <p:par>
                                <p:cTn id="59" presetID="1" presetClass="exit" presetSubtype="0" fill="hold" nodeType="withEffect">
                                  <p:stCondLst>
                                    <p:cond delay="0"/>
                                  </p:stCondLst>
                                  <p:childTnLst>
                                    <p:set>
                                      <p:cBhvr>
                                        <p:cTn id="60" dur="1" fill="hold">
                                          <p:stCondLst>
                                            <p:cond delay="0"/>
                                          </p:stCondLst>
                                        </p:cTn>
                                        <p:tgtEl>
                                          <p:spTgt spid="10"/>
                                        </p:tgtEl>
                                        <p:attrNameLst>
                                          <p:attrName>style.visibility</p:attrName>
                                        </p:attrNameLst>
                                      </p:cBhvr>
                                      <p:to>
                                        <p:strVal val="hidden"/>
                                      </p:to>
                                    </p:set>
                                  </p:childTnLst>
                                </p:cTn>
                              </p:par>
                              <p:par>
                                <p:cTn id="61" presetID="1" presetClass="entr" presetSubtype="0" fill="hold" nodeType="withEffect">
                                  <p:stCondLst>
                                    <p:cond delay="0"/>
                                  </p:stCondLst>
                                  <p:childTnLst>
                                    <p:set>
                                      <p:cBhvr>
                                        <p:cTn id="62" dur="1" fill="hold">
                                          <p:stCondLst>
                                            <p:cond delay="0"/>
                                          </p:stCondLst>
                                        </p:cTn>
                                        <p:tgtEl>
                                          <p:spTgt spid="20"/>
                                        </p:tgtEl>
                                        <p:attrNameLst>
                                          <p:attrName>style.visibility</p:attrName>
                                        </p:attrNameLst>
                                      </p:cBhvr>
                                      <p:to>
                                        <p:strVal val="visible"/>
                                      </p:to>
                                    </p:set>
                                  </p:childTnLst>
                                </p:cTn>
                              </p:par>
                              <p:par>
                                <p:cTn id="63" presetID="1" presetClass="exit" presetSubtype="0" fill="hold" nodeType="withEffect">
                                  <p:stCondLst>
                                    <p:cond delay="0"/>
                                  </p:stCondLst>
                                  <p:childTnLst>
                                    <p:set>
                                      <p:cBhvr>
                                        <p:cTn id="64" dur="1" fill="hold">
                                          <p:stCondLst>
                                            <p:cond delay="0"/>
                                          </p:stCondLst>
                                        </p:cTn>
                                        <p:tgtEl>
                                          <p:spTgt spid="12"/>
                                        </p:tgtEl>
                                        <p:attrNameLst>
                                          <p:attrName>style.visibility</p:attrName>
                                        </p:attrNameLst>
                                      </p:cBhvr>
                                      <p:to>
                                        <p:strVal val="hidden"/>
                                      </p:to>
                                    </p:set>
                                  </p:childTnLst>
                                </p:cTn>
                              </p:par>
                              <p:par>
                                <p:cTn id="65" presetID="1" presetClass="entr" presetSubtype="0" fill="hold" nodeType="withEffect">
                                  <p:stCondLst>
                                    <p:cond delay="0"/>
                                  </p:stCondLst>
                                  <p:childTnLst>
                                    <p:set>
                                      <p:cBhvr>
                                        <p:cTn id="66" dur="1" fill="hold">
                                          <p:stCondLst>
                                            <p:cond delay="0"/>
                                          </p:stCondLst>
                                        </p:cTn>
                                        <p:tgtEl>
                                          <p:spTgt spid="22"/>
                                        </p:tgtEl>
                                        <p:attrNameLst>
                                          <p:attrName>style.visibility</p:attrName>
                                        </p:attrNameLst>
                                      </p:cBhvr>
                                      <p:to>
                                        <p:strVal val="visible"/>
                                      </p:to>
                                    </p:set>
                                  </p:childTnLst>
                                </p:cTn>
                              </p:par>
                              <p:par>
                                <p:cTn id="67" presetID="1" presetClass="exit" presetSubtype="0" fill="hold" nodeType="withEffect">
                                  <p:stCondLst>
                                    <p:cond delay="0"/>
                                  </p:stCondLst>
                                  <p:childTnLst>
                                    <p:set>
                                      <p:cBhvr>
                                        <p:cTn id="68" dur="1" fill="hold">
                                          <p:stCondLst>
                                            <p:cond delay="0"/>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p:bldP spid="9" grpId="0"/>
      <p:bldP spid="11" grpId="0"/>
      <p:bldP spid="13" grpId="0"/>
      <p:bldP spid="1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B00974D2-F9F8-4B89-B739-BA387189EA5A}"/>
              </a:ext>
            </a:extLst>
          </p:cNvPr>
          <p:cNvSpPr/>
          <p:nvPr/>
        </p:nvSpPr>
        <p:spPr>
          <a:xfrm>
            <a:off x="4591" y="584496"/>
            <a:ext cx="12158444" cy="461665"/>
          </a:xfrm>
          <a:prstGeom prst="rect">
            <a:avLst/>
          </a:prstGeom>
        </p:spPr>
        <p:txBody>
          <a:bodyPr wrap="square">
            <a:spAutoFit/>
          </a:bodyPr>
          <a:lstStyle/>
          <a:p>
            <a:pPr marL="0" lvl="1"/>
            <a:r>
              <a:rPr lang="zh-CN" altLang="en-US" sz="2400" b="1" dirty="0">
                <a:latin typeface="隶书" pitchFamily="49" charset="-122"/>
              </a:rPr>
              <a:t>例</a:t>
            </a:r>
            <a:r>
              <a:rPr lang="en-US" altLang="zh-CN" sz="2400" b="1" dirty="0">
                <a:latin typeface="隶书" pitchFamily="49" charset="-122"/>
              </a:rPr>
              <a:t>【</a:t>
            </a:r>
            <a:r>
              <a:rPr lang="en-US" altLang="zh-CN" sz="2400" b="1" dirty="0">
                <a:solidFill>
                  <a:srgbClr val="00B0F0"/>
                </a:solidFill>
                <a:latin typeface="隶书" pitchFamily="49" charset="-122"/>
              </a:rPr>
              <a:t>5-1</a:t>
            </a:r>
            <a:r>
              <a:rPr lang="en-US" altLang="zh-CN" sz="2400" b="1" dirty="0">
                <a:latin typeface="隶书" pitchFamily="49" charset="-122"/>
              </a:rPr>
              <a:t>】</a:t>
            </a:r>
            <a:r>
              <a:rPr lang="zh-CN" altLang="en-US" sz="2400" b="1" dirty="0">
                <a:latin typeface="隶书" pitchFamily="49" charset="-122"/>
              </a:rPr>
              <a:t>通过指针求数组中所有元素的平均值。</a:t>
            </a:r>
          </a:p>
        </p:txBody>
      </p:sp>
      <p:sp>
        <p:nvSpPr>
          <p:cNvPr id="5" name="Rectangle 2">
            <a:extLst>
              <a:ext uri="{FF2B5EF4-FFF2-40B4-BE49-F238E27FC236}">
                <a16:creationId xmlns:a16="http://schemas.microsoft.com/office/drawing/2014/main" id="{2F73FA07-F460-4F80-A995-3703ACB6B89B}"/>
              </a:ext>
            </a:extLst>
          </p:cNvPr>
          <p:cNvSpPr txBox="1">
            <a:spLocks noChangeArrowheads="1"/>
          </p:cNvSpPr>
          <p:nvPr/>
        </p:nvSpPr>
        <p:spPr>
          <a:xfrm>
            <a:off x="403731" y="1261989"/>
            <a:ext cx="6383381" cy="4832092"/>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0000FF"/>
                </a:solidFill>
              </a:rPr>
              <a:t>#include </a:t>
            </a:r>
            <a:r>
              <a:rPr lang="en-US" altLang="zh-CN" b="1" dirty="0"/>
              <a:t>&lt;</a:t>
            </a:r>
            <a:r>
              <a:rPr lang="en-US" altLang="zh-CN" b="1" dirty="0" err="1">
                <a:solidFill>
                  <a:srgbClr val="002060"/>
                </a:solidFill>
              </a:rPr>
              <a:t>stdio.h</a:t>
            </a:r>
            <a:r>
              <a:rPr lang="en-US" altLang="zh-CN" b="1" dirty="0"/>
              <a:t>&gt;</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0000FF"/>
                </a:solidFill>
              </a:rPr>
              <a:t>int </a:t>
            </a:r>
            <a:r>
              <a:rPr lang="en-US" altLang="zh-CN" b="1" dirty="0"/>
              <a:t>main()</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0000FF"/>
                </a:solidFill>
              </a:rPr>
              <a:t>   int </a:t>
            </a:r>
            <a:r>
              <a:rPr lang="en-US" altLang="zh-CN" b="1" dirty="0"/>
              <a:t>a</a:t>
            </a:r>
            <a:r>
              <a:rPr lang="en-US" altLang="zh-CN" b="1" dirty="0">
                <a:solidFill>
                  <a:srgbClr val="FF0000"/>
                </a:solidFill>
              </a:rPr>
              <a:t>[</a:t>
            </a:r>
            <a:r>
              <a:rPr lang="en-US" altLang="zh-CN" b="1" dirty="0">
                <a:solidFill>
                  <a:srgbClr val="0000FF"/>
                </a:solidFill>
              </a:rPr>
              <a:t>10</a:t>
            </a:r>
            <a:r>
              <a:rPr lang="en-US" altLang="zh-CN" b="1" dirty="0">
                <a:solidFill>
                  <a:srgbClr val="FF0000"/>
                </a:solidFill>
              </a:rPr>
              <a:t>]</a:t>
            </a:r>
            <a:r>
              <a:rPr lang="en-US" altLang="zh-CN" b="1" dirty="0"/>
              <a:t>,</a:t>
            </a:r>
            <a:r>
              <a:rPr lang="en-US" altLang="zh-CN" b="1" dirty="0">
                <a:solidFill>
                  <a:srgbClr val="FF0000"/>
                </a:solidFill>
              </a:rPr>
              <a:t> </a:t>
            </a:r>
            <a:r>
              <a:rPr lang="en-US" altLang="zh-CN" b="1" dirty="0"/>
              <a:t>sum = 0;</a:t>
            </a:r>
          </a:p>
          <a:p>
            <a:pPr marL="0" indent="0">
              <a:lnSpc>
                <a:spcPct val="100000"/>
              </a:lnSpc>
              <a:spcBef>
                <a:spcPct val="0"/>
              </a:spcBef>
              <a:buClr>
                <a:schemeClr val="tx2"/>
              </a:buClr>
              <a:buSzPct val="70000"/>
              <a:buFont typeface="Arial" panose="020B0604020202020204" pitchFamily="34" charset="0"/>
              <a:buNone/>
            </a:pPr>
            <a:r>
              <a:rPr lang="en-US" altLang="zh-CN" b="1" dirty="0"/>
              <a:t>   </a:t>
            </a:r>
            <a:r>
              <a:rPr lang="en-US" altLang="zh-CN" b="1" dirty="0">
                <a:solidFill>
                  <a:srgbClr val="0000FF"/>
                </a:solidFill>
              </a:rPr>
              <a:t>for</a:t>
            </a:r>
            <a:r>
              <a:rPr lang="en-US" altLang="zh-CN" b="1" dirty="0"/>
              <a:t>(</a:t>
            </a:r>
            <a:r>
              <a:rPr lang="en-US" altLang="zh-CN" b="1" dirty="0">
                <a:solidFill>
                  <a:srgbClr val="0000FF"/>
                </a:solidFill>
              </a:rPr>
              <a:t>int</a:t>
            </a:r>
            <a:r>
              <a:rPr lang="en-US" altLang="zh-CN" b="1" dirty="0"/>
              <a:t> i = 0; i &lt; 10; i++)</a:t>
            </a:r>
            <a:r>
              <a:rPr lang="en-US" altLang="zh-CN" b="1" dirty="0">
                <a:solidFill>
                  <a:srgbClr val="FF0000"/>
                </a:solidFill>
              </a:rPr>
              <a:t>{</a:t>
            </a:r>
          </a:p>
          <a:p>
            <a:pPr marL="0" indent="0">
              <a:lnSpc>
                <a:spcPct val="100000"/>
              </a:lnSpc>
              <a:spcBef>
                <a:spcPct val="0"/>
              </a:spcBef>
              <a:buClr>
                <a:schemeClr val="tx2"/>
              </a:buClr>
              <a:buSzPct val="70000"/>
              <a:buFont typeface="Arial" panose="020B0604020202020204" pitchFamily="34" charset="0"/>
              <a:buNone/>
            </a:pPr>
            <a:r>
              <a:rPr lang="en-US" altLang="zh-CN" b="1" dirty="0"/>
              <a:t>       scanf(</a:t>
            </a:r>
            <a:r>
              <a:rPr lang="en-US" altLang="zh-CN" b="1" dirty="0">
                <a:solidFill>
                  <a:srgbClr val="00B050"/>
                </a:solidFill>
              </a:rPr>
              <a:t>“%d”</a:t>
            </a:r>
            <a:r>
              <a:rPr lang="en-US" altLang="zh-CN" b="1" dirty="0"/>
              <a:t>,         );</a:t>
            </a:r>
          </a:p>
          <a:p>
            <a:pPr marL="0" indent="0">
              <a:lnSpc>
                <a:spcPct val="100000"/>
              </a:lnSpc>
              <a:spcBef>
                <a:spcPct val="0"/>
              </a:spcBef>
              <a:buClr>
                <a:schemeClr val="tx2"/>
              </a:buClr>
              <a:buSzPct val="70000"/>
              <a:buNone/>
            </a:pPr>
            <a:r>
              <a:rPr lang="en-US" altLang="zh-CN" b="1" dirty="0"/>
              <a:t>       sum +=            ;  </a:t>
            </a:r>
          </a:p>
          <a:p>
            <a:pPr marL="0" indent="0">
              <a:lnSpc>
                <a:spcPct val="100000"/>
              </a:lnSpc>
              <a:spcBef>
                <a:spcPct val="0"/>
              </a:spcBef>
              <a:buClr>
                <a:schemeClr val="tx2"/>
              </a:buClr>
              <a:buSzPct val="70000"/>
              <a:buFont typeface="Arial" panose="020B0604020202020204" pitchFamily="34" charset="0"/>
              <a:buNone/>
            </a:pPr>
            <a:r>
              <a:rPr lang="en-US" altLang="zh-CN" b="1" dirty="0"/>
              <a:t>    </a:t>
            </a:r>
            <a:r>
              <a:rPr lang="en-US" altLang="zh-CN" b="1" dirty="0">
                <a:solidFill>
                  <a:srgbClr val="FF0000"/>
                </a:solidFill>
              </a:rPr>
              <a:t>}</a:t>
            </a:r>
          </a:p>
          <a:p>
            <a:pPr marL="0" indent="0">
              <a:lnSpc>
                <a:spcPct val="100000"/>
              </a:lnSpc>
              <a:spcBef>
                <a:spcPct val="0"/>
              </a:spcBef>
              <a:buClr>
                <a:schemeClr val="tx2"/>
              </a:buClr>
              <a:buSzPct val="70000"/>
              <a:buFont typeface="Arial" panose="020B0604020202020204" pitchFamily="34" charset="0"/>
              <a:buNone/>
            </a:pPr>
            <a:r>
              <a:rPr lang="en-US" altLang="zh-CN" b="1" dirty="0"/>
              <a:t>    </a:t>
            </a:r>
            <a:r>
              <a:rPr lang="en-US" altLang="zh-CN" b="1" dirty="0">
                <a:solidFill>
                  <a:srgbClr val="00B050"/>
                </a:solidFill>
              </a:rPr>
              <a:t>┅</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0000FF"/>
                </a:solidFill>
              </a:rPr>
              <a:t>   return </a:t>
            </a:r>
            <a:r>
              <a:rPr lang="en-US" altLang="zh-CN" b="1" dirty="0"/>
              <a:t>0;</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p>
        </p:txBody>
      </p:sp>
      <p:sp>
        <p:nvSpPr>
          <p:cNvPr id="6" name="矩形 5">
            <a:extLst>
              <a:ext uri="{FF2B5EF4-FFF2-40B4-BE49-F238E27FC236}">
                <a16:creationId xmlns:a16="http://schemas.microsoft.com/office/drawing/2014/main" id="{1189D052-1B8C-47F5-AA95-B191E87F9D6C}"/>
              </a:ext>
            </a:extLst>
          </p:cNvPr>
          <p:cNvSpPr/>
          <p:nvPr/>
        </p:nvSpPr>
        <p:spPr>
          <a:xfrm>
            <a:off x="3027387" y="3461910"/>
            <a:ext cx="732367" cy="40045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12" name="矩形 11">
            <a:extLst>
              <a:ext uri="{FF2B5EF4-FFF2-40B4-BE49-F238E27FC236}">
                <a16:creationId xmlns:a16="http://schemas.microsoft.com/office/drawing/2014/main" id="{A7D57508-FA97-458B-8999-0245934D254B}"/>
              </a:ext>
            </a:extLst>
          </p:cNvPr>
          <p:cNvSpPr/>
          <p:nvPr/>
        </p:nvSpPr>
        <p:spPr>
          <a:xfrm>
            <a:off x="2561718" y="3898873"/>
            <a:ext cx="1007534" cy="40045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8BF89768-C83D-49DA-BE96-F6726781E21D}"/>
              </a:ext>
            </a:extLst>
          </p:cNvPr>
          <p:cNvSpPr txBox="1"/>
          <p:nvPr/>
        </p:nvSpPr>
        <p:spPr>
          <a:xfrm>
            <a:off x="3027386" y="3386565"/>
            <a:ext cx="732367" cy="523220"/>
          </a:xfrm>
          <a:prstGeom prst="rect">
            <a:avLst/>
          </a:prstGeom>
          <a:noFill/>
        </p:spPr>
        <p:txBody>
          <a:bodyPr wrap="square" rtlCol="0">
            <a:spAutoFit/>
          </a:bodyPr>
          <a:lstStyle/>
          <a:p>
            <a:pPr algn="ctr"/>
            <a:r>
              <a:rPr lang="en-US" altLang="zh-CN" sz="2800" b="1" dirty="0"/>
              <a:t>a+i</a:t>
            </a:r>
            <a:endParaRPr lang="zh-CN" altLang="en-US" sz="2800" b="1" dirty="0"/>
          </a:p>
        </p:txBody>
      </p:sp>
      <p:sp>
        <p:nvSpPr>
          <p:cNvPr id="10" name="文本框 9">
            <a:extLst>
              <a:ext uri="{FF2B5EF4-FFF2-40B4-BE49-F238E27FC236}">
                <a16:creationId xmlns:a16="http://schemas.microsoft.com/office/drawing/2014/main" id="{CAFFF946-091A-4899-B0B8-A50B85C7662A}"/>
              </a:ext>
            </a:extLst>
          </p:cNvPr>
          <p:cNvSpPr txBox="1"/>
          <p:nvPr/>
        </p:nvSpPr>
        <p:spPr>
          <a:xfrm>
            <a:off x="2523619" y="3821337"/>
            <a:ext cx="1007534" cy="523220"/>
          </a:xfrm>
          <a:prstGeom prst="rect">
            <a:avLst/>
          </a:prstGeom>
          <a:noFill/>
        </p:spPr>
        <p:txBody>
          <a:bodyPr wrap="square" rtlCol="0">
            <a:spAutoFit/>
          </a:bodyPr>
          <a:lstStyle/>
          <a:p>
            <a:pPr algn="ctr"/>
            <a:r>
              <a:rPr lang="en-US" altLang="zh-CN" sz="2800" b="1" dirty="0">
                <a:solidFill>
                  <a:srgbClr val="FF0000"/>
                </a:solidFill>
              </a:rPr>
              <a:t>*</a:t>
            </a:r>
            <a:r>
              <a:rPr lang="en-US" altLang="zh-CN" sz="2800" b="1" dirty="0"/>
              <a:t>(a+i)</a:t>
            </a:r>
            <a:endParaRPr lang="zh-CN" altLang="en-US" sz="2800" b="1" dirty="0"/>
          </a:p>
        </p:txBody>
      </p:sp>
      <p:sp>
        <p:nvSpPr>
          <p:cNvPr id="14" name="灯片编号占位符 13">
            <a:extLst>
              <a:ext uri="{FF2B5EF4-FFF2-40B4-BE49-F238E27FC236}">
                <a16:creationId xmlns:a16="http://schemas.microsoft.com/office/drawing/2014/main" id="{FC4200F9-A0E9-4C88-96D9-73FACDFCAFB9}"/>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14</a:t>
            </a:fld>
            <a:r>
              <a:rPr lang="en-US" altLang="zh-CN">
                <a:solidFill>
                  <a:prstClr val="black">
                    <a:tint val="75000"/>
                  </a:prstClr>
                </a:solidFill>
              </a:rPr>
              <a:t>/ 35</a:t>
            </a:r>
            <a:endParaRPr lang="zh-CN" altLang="en-US" dirty="0"/>
          </a:p>
        </p:txBody>
      </p:sp>
      <p:sp>
        <p:nvSpPr>
          <p:cNvPr id="11" name="文本框 10">
            <a:extLst>
              <a:ext uri="{FF2B5EF4-FFF2-40B4-BE49-F238E27FC236}">
                <a16:creationId xmlns:a16="http://schemas.microsoft.com/office/drawing/2014/main" id="{96557595-9B71-49CD-BDE2-5C8C35F6C360}"/>
              </a:ext>
            </a:extLst>
          </p:cNvPr>
          <p:cNvSpPr txBox="1"/>
          <p:nvPr/>
        </p:nvSpPr>
        <p:spPr>
          <a:xfrm>
            <a:off x="2507464" y="-51009"/>
            <a:ext cx="4768993"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指针与一维数组</a:t>
            </a:r>
            <a:endParaRPr lang="zh-CN" altLang="en-US" sz="3200" b="1" dirty="0">
              <a:solidFill>
                <a:srgbClr val="200AC4"/>
              </a:solidFill>
              <a:ea typeface="隶书" pitchFamily="49" charset="-122"/>
            </a:endParaRPr>
          </a:p>
        </p:txBody>
      </p:sp>
    </p:spTree>
    <p:extLst>
      <p:ext uri="{BB962C8B-B14F-4D97-AF65-F5344CB8AC3E}">
        <p14:creationId xmlns:p14="http://schemas.microsoft.com/office/powerpoint/2010/main" val="3957508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B00974D2-F9F8-4B89-B739-BA387189EA5A}"/>
              </a:ext>
            </a:extLst>
          </p:cNvPr>
          <p:cNvSpPr/>
          <p:nvPr/>
        </p:nvSpPr>
        <p:spPr>
          <a:xfrm>
            <a:off x="4591" y="584493"/>
            <a:ext cx="12158444" cy="461665"/>
          </a:xfrm>
          <a:prstGeom prst="rect">
            <a:avLst/>
          </a:prstGeom>
        </p:spPr>
        <p:txBody>
          <a:bodyPr wrap="square">
            <a:spAutoFit/>
          </a:bodyPr>
          <a:lstStyle/>
          <a:p>
            <a:pPr marL="0" lvl="1"/>
            <a:r>
              <a:rPr lang="zh-CN" altLang="en-US" sz="2400" b="1" dirty="0">
                <a:latin typeface="隶书" pitchFamily="49" charset="-122"/>
              </a:rPr>
              <a:t>例</a:t>
            </a:r>
            <a:r>
              <a:rPr lang="en-US" altLang="zh-CN" sz="2400" b="1" dirty="0">
                <a:latin typeface="隶书" pitchFamily="49" charset="-122"/>
              </a:rPr>
              <a:t>【</a:t>
            </a:r>
            <a:r>
              <a:rPr lang="en-US" altLang="zh-CN" sz="2400" b="1" dirty="0">
                <a:solidFill>
                  <a:srgbClr val="00B0F0"/>
                </a:solidFill>
                <a:latin typeface="隶书" pitchFamily="49" charset="-122"/>
              </a:rPr>
              <a:t>5-2</a:t>
            </a:r>
            <a:r>
              <a:rPr lang="en-US" altLang="zh-CN" sz="2400" b="1" dirty="0">
                <a:latin typeface="隶书" pitchFamily="49" charset="-122"/>
              </a:rPr>
              <a:t>】</a:t>
            </a:r>
            <a:r>
              <a:rPr lang="zh-CN" altLang="en-US" sz="2400" b="1" dirty="0">
                <a:latin typeface="隶书" pitchFamily="49" charset="-122"/>
              </a:rPr>
              <a:t>用指针求数组中的最大值及其位置。</a:t>
            </a:r>
          </a:p>
        </p:txBody>
      </p:sp>
      <p:sp>
        <p:nvSpPr>
          <p:cNvPr id="5" name="Rectangle 2">
            <a:extLst>
              <a:ext uri="{FF2B5EF4-FFF2-40B4-BE49-F238E27FC236}">
                <a16:creationId xmlns:a16="http://schemas.microsoft.com/office/drawing/2014/main" id="{2F73FA07-F460-4F80-A995-3703ACB6B89B}"/>
              </a:ext>
            </a:extLst>
          </p:cNvPr>
          <p:cNvSpPr txBox="1">
            <a:spLocks noChangeArrowheads="1"/>
          </p:cNvSpPr>
          <p:nvPr/>
        </p:nvSpPr>
        <p:spPr>
          <a:xfrm>
            <a:off x="572521" y="1232039"/>
            <a:ext cx="6383381" cy="5632311"/>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Font typeface="Arial" panose="020B0604020202020204" pitchFamily="34" charset="0"/>
              <a:buNone/>
            </a:pPr>
            <a:r>
              <a:rPr lang="en-US" altLang="zh-CN" sz="2400" b="1" dirty="0">
                <a:solidFill>
                  <a:srgbClr val="0000FF"/>
                </a:solidFill>
              </a:rPr>
              <a:t>#include </a:t>
            </a:r>
            <a:r>
              <a:rPr lang="en-US" altLang="zh-CN" sz="2400" b="1" dirty="0"/>
              <a:t>&lt;</a:t>
            </a:r>
            <a:r>
              <a:rPr lang="en-US" altLang="zh-CN" sz="2400" b="1" dirty="0">
                <a:solidFill>
                  <a:srgbClr val="002060"/>
                </a:solidFill>
              </a:rPr>
              <a:t>stdio.h</a:t>
            </a:r>
            <a:r>
              <a:rPr lang="en-US" altLang="zh-CN" sz="2400" b="1" dirty="0"/>
              <a:t>&gt;</a:t>
            </a:r>
          </a:p>
          <a:p>
            <a:pPr marL="0" indent="0">
              <a:lnSpc>
                <a:spcPct val="100000"/>
              </a:lnSpc>
              <a:spcBef>
                <a:spcPct val="0"/>
              </a:spcBef>
              <a:buClr>
                <a:schemeClr val="tx2"/>
              </a:buClr>
              <a:buSzPct val="70000"/>
              <a:buFont typeface="Arial" panose="020B0604020202020204" pitchFamily="34" charset="0"/>
              <a:buNone/>
            </a:pPr>
            <a:r>
              <a:rPr lang="en-US" altLang="zh-CN" sz="2400" b="1" dirty="0">
                <a:solidFill>
                  <a:srgbClr val="0000FF"/>
                </a:solidFill>
              </a:rPr>
              <a:t>int </a:t>
            </a:r>
            <a:r>
              <a:rPr lang="en-US" altLang="zh-CN" sz="2400" b="1" dirty="0"/>
              <a:t>main()</a:t>
            </a:r>
          </a:p>
          <a:p>
            <a:pPr marL="0" indent="0">
              <a:lnSpc>
                <a:spcPct val="100000"/>
              </a:lnSpc>
              <a:spcBef>
                <a:spcPct val="0"/>
              </a:spcBef>
              <a:buClr>
                <a:schemeClr val="tx2"/>
              </a:buClr>
              <a:buSzPct val="70000"/>
              <a:buFont typeface="Arial" panose="020B0604020202020204" pitchFamily="34" charset="0"/>
              <a:buNone/>
            </a:pPr>
            <a:r>
              <a:rPr lang="en-US" altLang="zh-CN" sz="2400" b="1" dirty="0">
                <a:solidFill>
                  <a:srgbClr val="FF0000"/>
                </a:solidFill>
              </a:rPr>
              <a:t>{</a:t>
            </a:r>
          </a:p>
          <a:p>
            <a:pPr marL="0" indent="0">
              <a:lnSpc>
                <a:spcPct val="100000"/>
              </a:lnSpc>
              <a:spcBef>
                <a:spcPct val="0"/>
              </a:spcBef>
              <a:buClr>
                <a:schemeClr val="tx2"/>
              </a:buClr>
              <a:buSzPct val="70000"/>
              <a:buFont typeface="Arial" panose="020B0604020202020204" pitchFamily="34" charset="0"/>
              <a:buNone/>
            </a:pPr>
            <a:r>
              <a:rPr lang="en-US" altLang="zh-CN" sz="2400" b="1" dirty="0">
                <a:solidFill>
                  <a:srgbClr val="0000FF"/>
                </a:solidFill>
              </a:rPr>
              <a:t>   int </a:t>
            </a:r>
            <a:r>
              <a:rPr lang="en-US" altLang="zh-CN" sz="2400" b="1" dirty="0"/>
              <a:t>a</a:t>
            </a:r>
            <a:r>
              <a:rPr lang="en-US" altLang="zh-CN" sz="2400" b="1" dirty="0">
                <a:solidFill>
                  <a:srgbClr val="FF0000"/>
                </a:solidFill>
              </a:rPr>
              <a:t>[</a:t>
            </a:r>
            <a:r>
              <a:rPr lang="en-US" altLang="zh-CN" sz="2400" b="1" dirty="0"/>
              <a:t>10</a:t>
            </a:r>
            <a:r>
              <a:rPr lang="en-US" altLang="zh-CN" sz="2400" b="1" dirty="0">
                <a:solidFill>
                  <a:srgbClr val="FF0000"/>
                </a:solidFill>
              </a:rPr>
              <a:t>]</a:t>
            </a:r>
            <a:r>
              <a:rPr lang="en-US" altLang="zh-CN" sz="2400" b="1" dirty="0"/>
              <a:t>,</a:t>
            </a:r>
            <a:r>
              <a:rPr lang="en-US" altLang="zh-CN" sz="2400" b="1" dirty="0">
                <a:solidFill>
                  <a:srgbClr val="FF0000"/>
                </a:solidFill>
              </a:rPr>
              <a:t> *</a:t>
            </a:r>
            <a:r>
              <a:rPr lang="en-US" altLang="zh-CN" sz="2400" b="1" dirty="0"/>
              <a:t>p, </a:t>
            </a:r>
            <a:r>
              <a:rPr lang="en-US" altLang="zh-CN" sz="2400" b="1" dirty="0">
                <a:solidFill>
                  <a:srgbClr val="FF0000"/>
                </a:solidFill>
              </a:rPr>
              <a:t>*</a:t>
            </a:r>
            <a:r>
              <a:rPr lang="en-US" altLang="zh-CN" sz="2400" b="1" dirty="0"/>
              <a:t>pMax = a;</a:t>
            </a:r>
          </a:p>
          <a:p>
            <a:pPr marL="0" indent="0">
              <a:lnSpc>
                <a:spcPct val="100000"/>
              </a:lnSpc>
              <a:spcBef>
                <a:spcPct val="0"/>
              </a:spcBef>
              <a:buClr>
                <a:schemeClr val="tx2"/>
              </a:buClr>
              <a:buSzPct val="70000"/>
              <a:buFont typeface="Arial" panose="020B0604020202020204" pitchFamily="34" charset="0"/>
              <a:buNone/>
            </a:pPr>
            <a:r>
              <a:rPr lang="en-US" altLang="zh-CN" sz="2400" b="1" dirty="0"/>
              <a:t>   </a:t>
            </a:r>
            <a:r>
              <a:rPr lang="en-US" altLang="zh-CN" sz="2400" b="1" dirty="0">
                <a:solidFill>
                  <a:srgbClr val="0000FF"/>
                </a:solidFill>
              </a:rPr>
              <a:t>for</a:t>
            </a:r>
            <a:r>
              <a:rPr lang="en-US" altLang="zh-CN" sz="2400" b="1" dirty="0"/>
              <a:t>(p = a</a:t>
            </a:r>
            <a:r>
              <a:rPr lang="en-US" altLang="zh-CN" sz="2400" b="1" dirty="0">
                <a:solidFill>
                  <a:srgbClr val="FF0000"/>
                </a:solidFill>
              </a:rPr>
              <a:t>;</a:t>
            </a:r>
            <a:r>
              <a:rPr lang="en-US" altLang="zh-CN" sz="2400" b="1" dirty="0"/>
              <a:t> p &lt; a+10</a:t>
            </a:r>
            <a:r>
              <a:rPr lang="en-US" altLang="zh-CN" sz="2400" b="1" dirty="0">
                <a:solidFill>
                  <a:srgbClr val="FF0000"/>
                </a:solidFill>
              </a:rPr>
              <a:t>;</a:t>
            </a:r>
            <a:r>
              <a:rPr lang="en-US" altLang="zh-CN" sz="2400" b="1" dirty="0"/>
              <a:t> p++){</a:t>
            </a:r>
          </a:p>
          <a:p>
            <a:pPr marL="0" indent="0">
              <a:lnSpc>
                <a:spcPct val="100000"/>
              </a:lnSpc>
              <a:spcBef>
                <a:spcPct val="0"/>
              </a:spcBef>
              <a:buClr>
                <a:schemeClr val="tx2"/>
              </a:buClr>
              <a:buSzPct val="70000"/>
              <a:buFont typeface="Arial" panose="020B0604020202020204" pitchFamily="34" charset="0"/>
              <a:buNone/>
            </a:pPr>
            <a:r>
              <a:rPr lang="en-US" altLang="zh-CN" sz="2400" b="1" dirty="0"/>
              <a:t>       scanf(</a:t>
            </a:r>
            <a:r>
              <a:rPr lang="en-US" altLang="zh-CN" sz="2400" b="1" dirty="0">
                <a:solidFill>
                  <a:srgbClr val="00B050"/>
                </a:solidFill>
              </a:rPr>
              <a:t>“%d”</a:t>
            </a:r>
            <a:r>
              <a:rPr lang="en-US" altLang="zh-CN" sz="2400" b="1" dirty="0"/>
              <a:t>,       );</a:t>
            </a:r>
          </a:p>
          <a:p>
            <a:pPr marL="0" indent="0">
              <a:lnSpc>
                <a:spcPct val="100000"/>
              </a:lnSpc>
              <a:spcBef>
                <a:spcPct val="0"/>
              </a:spcBef>
              <a:buClr>
                <a:schemeClr val="tx2"/>
              </a:buClr>
              <a:buSzPct val="70000"/>
              <a:buNone/>
            </a:pPr>
            <a:r>
              <a:rPr lang="en-US" altLang="zh-CN" sz="2400" b="1" dirty="0"/>
              <a:t>    }</a:t>
            </a:r>
          </a:p>
          <a:p>
            <a:pPr marL="0" indent="0">
              <a:lnSpc>
                <a:spcPct val="100000"/>
              </a:lnSpc>
              <a:spcBef>
                <a:spcPct val="0"/>
              </a:spcBef>
              <a:buClr>
                <a:schemeClr val="tx2"/>
              </a:buClr>
              <a:buSzPct val="70000"/>
              <a:buFont typeface="Arial" panose="020B0604020202020204" pitchFamily="34" charset="0"/>
              <a:buNone/>
            </a:pPr>
            <a:r>
              <a:rPr lang="en-US" altLang="zh-CN" sz="2400" b="1" dirty="0"/>
              <a:t>    </a:t>
            </a:r>
            <a:r>
              <a:rPr lang="en-US" altLang="zh-CN" sz="2400" b="1" dirty="0">
                <a:solidFill>
                  <a:srgbClr val="00B050"/>
                </a:solidFill>
              </a:rPr>
              <a:t>┅┅</a:t>
            </a:r>
          </a:p>
          <a:p>
            <a:pPr marL="0" indent="0">
              <a:lnSpc>
                <a:spcPct val="100000"/>
              </a:lnSpc>
              <a:spcBef>
                <a:spcPct val="0"/>
              </a:spcBef>
              <a:buClr>
                <a:schemeClr val="tx2"/>
              </a:buClr>
              <a:buSzPct val="70000"/>
              <a:buFont typeface="Arial" panose="020B0604020202020204" pitchFamily="34" charset="0"/>
              <a:buNone/>
            </a:pPr>
            <a:r>
              <a:rPr lang="en-US" altLang="zh-CN" sz="2400" b="1" dirty="0"/>
              <a:t>    </a:t>
            </a:r>
            <a:r>
              <a:rPr lang="en-US" altLang="zh-CN" sz="2400" b="1" dirty="0">
                <a:solidFill>
                  <a:srgbClr val="0000FF"/>
                </a:solidFill>
              </a:rPr>
              <a:t>for</a:t>
            </a:r>
            <a:r>
              <a:rPr lang="en-US" altLang="zh-CN" sz="2400" b="1" dirty="0"/>
              <a:t>(p = a+1</a:t>
            </a:r>
            <a:r>
              <a:rPr lang="en-US" altLang="zh-CN" sz="2400" b="1" dirty="0">
                <a:solidFill>
                  <a:srgbClr val="FF0000"/>
                </a:solidFill>
              </a:rPr>
              <a:t>;</a:t>
            </a:r>
            <a:r>
              <a:rPr lang="en-US" altLang="zh-CN" sz="2400" b="1" dirty="0"/>
              <a:t> p &lt; a+10</a:t>
            </a:r>
            <a:r>
              <a:rPr lang="en-US" altLang="zh-CN" sz="2400" b="1" dirty="0">
                <a:solidFill>
                  <a:srgbClr val="FF0000"/>
                </a:solidFill>
              </a:rPr>
              <a:t>;</a:t>
            </a:r>
            <a:r>
              <a:rPr lang="en-US" altLang="zh-CN" sz="2400" b="1" dirty="0"/>
              <a:t> p++){</a:t>
            </a:r>
          </a:p>
          <a:p>
            <a:pPr marL="0" indent="0">
              <a:lnSpc>
                <a:spcPct val="100000"/>
              </a:lnSpc>
              <a:spcBef>
                <a:spcPct val="0"/>
              </a:spcBef>
              <a:buClr>
                <a:schemeClr val="tx2"/>
              </a:buClr>
              <a:buSzPct val="70000"/>
              <a:buFont typeface="Arial" panose="020B0604020202020204" pitchFamily="34" charset="0"/>
              <a:buNone/>
            </a:pPr>
            <a:r>
              <a:rPr lang="en-US" altLang="zh-CN" sz="2400" b="1" dirty="0"/>
              <a:t>       </a:t>
            </a:r>
            <a:r>
              <a:rPr lang="en-US" altLang="zh-CN" sz="2400" b="1" dirty="0">
                <a:solidFill>
                  <a:srgbClr val="0000FF"/>
                </a:solidFill>
              </a:rPr>
              <a:t>if</a:t>
            </a:r>
            <a:r>
              <a:rPr lang="en-US" altLang="zh-CN" sz="2400" b="1" dirty="0"/>
              <a:t>(</a:t>
            </a:r>
            <a:r>
              <a:rPr lang="en-US" altLang="zh-CN" sz="2400" b="1" dirty="0">
                <a:solidFill>
                  <a:srgbClr val="FF0000"/>
                </a:solidFill>
              </a:rPr>
              <a:t>*</a:t>
            </a:r>
            <a:r>
              <a:rPr lang="en-US" altLang="zh-CN" sz="2400" b="1" dirty="0"/>
              <a:t>p &gt; </a:t>
            </a:r>
            <a:r>
              <a:rPr lang="en-US" altLang="zh-CN" sz="2400" b="1" dirty="0">
                <a:solidFill>
                  <a:srgbClr val="FF0000"/>
                </a:solidFill>
              </a:rPr>
              <a:t>*</a:t>
            </a:r>
            <a:r>
              <a:rPr lang="en-US" altLang="zh-CN" sz="2400" b="1" dirty="0"/>
              <a:t>pMax);</a:t>
            </a:r>
          </a:p>
          <a:p>
            <a:pPr marL="0" indent="0">
              <a:lnSpc>
                <a:spcPct val="100000"/>
              </a:lnSpc>
              <a:spcBef>
                <a:spcPct val="0"/>
              </a:spcBef>
              <a:buClr>
                <a:schemeClr val="tx2"/>
              </a:buClr>
              <a:buSzPct val="70000"/>
              <a:buFont typeface="Arial" panose="020B0604020202020204" pitchFamily="34" charset="0"/>
              <a:buNone/>
            </a:pPr>
            <a:r>
              <a:rPr lang="en-US" altLang="zh-CN" sz="2400" b="1" dirty="0"/>
              <a:t>           pMax = p;</a:t>
            </a:r>
          </a:p>
          <a:p>
            <a:pPr marL="0" indent="0">
              <a:lnSpc>
                <a:spcPct val="100000"/>
              </a:lnSpc>
              <a:spcBef>
                <a:spcPct val="0"/>
              </a:spcBef>
              <a:buClr>
                <a:schemeClr val="tx2"/>
              </a:buClr>
              <a:buSzPct val="70000"/>
              <a:buNone/>
            </a:pPr>
            <a:r>
              <a:rPr lang="en-US" altLang="zh-CN" sz="2400" b="1" dirty="0"/>
              <a:t>    }</a:t>
            </a:r>
          </a:p>
          <a:p>
            <a:pPr marL="0" indent="0">
              <a:lnSpc>
                <a:spcPct val="100000"/>
              </a:lnSpc>
              <a:spcBef>
                <a:spcPct val="0"/>
              </a:spcBef>
              <a:buClr>
                <a:schemeClr val="tx2"/>
              </a:buClr>
              <a:buSzPct val="70000"/>
              <a:buFont typeface="Arial" panose="020B0604020202020204" pitchFamily="34" charset="0"/>
              <a:buNone/>
            </a:pPr>
            <a:r>
              <a:rPr lang="en-US" altLang="zh-CN" sz="2400" b="1" dirty="0"/>
              <a:t>    </a:t>
            </a:r>
            <a:r>
              <a:rPr lang="en-US" altLang="zh-CN" sz="2400" b="1" dirty="0">
                <a:solidFill>
                  <a:srgbClr val="00B050"/>
                </a:solidFill>
              </a:rPr>
              <a:t>┅┅</a:t>
            </a:r>
          </a:p>
          <a:p>
            <a:pPr marL="0" indent="0">
              <a:lnSpc>
                <a:spcPct val="100000"/>
              </a:lnSpc>
              <a:spcBef>
                <a:spcPct val="0"/>
              </a:spcBef>
              <a:buClr>
                <a:schemeClr val="tx2"/>
              </a:buClr>
              <a:buSzPct val="70000"/>
              <a:buFont typeface="Arial" panose="020B0604020202020204" pitchFamily="34" charset="0"/>
              <a:buNone/>
            </a:pPr>
            <a:r>
              <a:rPr lang="en-US" altLang="zh-CN" sz="2400" b="1" dirty="0">
                <a:solidFill>
                  <a:srgbClr val="0000FF"/>
                </a:solidFill>
              </a:rPr>
              <a:t>   return </a:t>
            </a:r>
            <a:r>
              <a:rPr lang="en-US" altLang="zh-CN" sz="2400" b="1" dirty="0"/>
              <a:t>0;</a:t>
            </a:r>
          </a:p>
          <a:p>
            <a:pPr marL="0" indent="0">
              <a:lnSpc>
                <a:spcPct val="100000"/>
              </a:lnSpc>
              <a:spcBef>
                <a:spcPct val="0"/>
              </a:spcBef>
              <a:buClr>
                <a:schemeClr val="tx2"/>
              </a:buClr>
              <a:buSzPct val="70000"/>
              <a:buFont typeface="Arial" panose="020B0604020202020204" pitchFamily="34" charset="0"/>
              <a:buNone/>
            </a:pPr>
            <a:r>
              <a:rPr lang="en-US" altLang="zh-CN" sz="2400" b="1" dirty="0">
                <a:solidFill>
                  <a:srgbClr val="FF0000"/>
                </a:solidFill>
              </a:rPr>
              <a:t>}</a:t>
            </a:r>
          </a:p>
        </p:txBody>
      </p:sp>
      <p:sp>
        <p:nvSpPr>
          <p:cNvPr id="6" name="矩形 5">
            <a:extLst>
              <a:ext uri="{FF2B5EF4-FFF2-40B4-BE49-F238E27FC236}">
                <a16:creationId xmlns:a16="http://schemas.microsoft.com/office/drawing/2014/main" id="{1189D052-1B8C-47F5-AA95-B191E87F9D6C}"/>
              </a:ext>
            </a:extLst>
          </p:cNvPr>
          <p:cNvSpPr/>
          <p:nvPr/>
        </p:nvSpPr>
        <p:spPr>
          <a:xfrm>
            <a:off x="2798242" y="3112360"/>
            <a:ext cx="461423" cy="40045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7" name="文本框 6">
            <a:extLst>
              <a:ext uri="{FF2B5EF4-FFF2-40B4-BE49-F238E27FC236}">
                <a16:creationId xmlns:a16="http://schemas.microsoft.com/office/drawing/2014/main" id="{8BF89768-C83D-49DA-BE96-F6726781E21D}"/>
              </a:ext>
            </a:extLst>
          </p:cNvPr>
          <p:cNvSpPr txBox="1"/>
          <p:nvPr/>
        </p:nvSpPr>
        <p:spPr>
          <a:xfrm>
            <a:off x="2810943" y="2993826"/>
            <a:ext cx="423324" cy="523220"/>
          </a:xfrm>
          <a:prstGeom prst="rect">
            <a:avLst/>
          </a:prstGeom>
          <a:noFill/>
        </p:spPr>
        <p:txBody>
          <a:bodyPr wrap="square" rtlCol="0">
            <a:spAutoFit/>
          </a:bodyPr>
          <a:lstStyle/>
          <a:p>
            <a:pPr algn="ctr"/>
            <a:r>
              <a:rPr lang="en-US" altLang="zh-CN" sz="2800" b="1" dirty="0"/>
              <a:t>p</a:t>
            </a:r>
            <a:endParaRPr lang="zh-CN" altLang="en-US" sz="2800" b="1" dirty="0"/>
          </a:p>
        </p:txBody>
      </p:sp>
      <p:sp>
        <p:nvSpPr>
          <p:cNvPr id="9" name="灯片编号占位符 8">
            <a:extLst>
              <a:ext uri="{FF2B5EF4-FFF2-40B4-BE49-F238E27FC236}">
                <a16:creationId xmlns:a16="http://schemas.microsoft.com/office/drawing/2014/main" id="{39F912E4-E146-4865-B8BD-7BB13CF58720}"/>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15</a:t>
            </a:fld>
            <a:r>
              <a:rPr lang="en-US" altLang="zh-CN">
                <a:solidFill>
                  <a:prstClr val="black">
                    <a:tint val="75000"/>
                  </a:prstClr>
                </a:solidFill>
              </a:rPr>
              <a:t>/ 35</a:t>
            </a:r>
            <a:endParaRPr lang="zh-CN" altLang="en-US" dirty="0"/>
          </a:p>
        </p:txBody>
      </p:sp>
      <p:sp>
        <p:nvSpPr>
          <p:cNvPr id="8" name="文本框 7">
            <a:extLst>
              <a:ext uri="{FF2B5EF4-FFF2-40B4-BE49-F238E27FC236}">
                <a16:creationId xmlns:a16="http://schemas.microsoft.com/office/drawing/2014/main" id="{840270DD-F790-4998-8102-823A0370DA60}"/>
              </a:ext>
            </a:extLst>
          </p:cNvPr>
          <p:cNvSpPr txBox="1"/>
          <p:nvPr/>
        </p:nvSpPr>
        <p:spPr>
          <a:xfrm>
            <a:off x="2507464" y="-51009"/>
            <a:ext cx="4768993"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指针与一维数组</a:t>
            </a:r>
            <a:endParaRPr lang="zh-CN" altLang="en-US" sz="3200" b="1" dirty="0">
              <a:solidFill>
                <a:srgbClr val="200AC4"/>
              </a:solidFill>
              <a:ea typeface="隶书" pitchFamily="49" charset="-122"/>
            </a:endParaRPr>
          </a:p>
        </p:txBody>
      </p:sp>
    </p:spTree>
    <p:extLst>
      <p:ext uri="{BB962C8B-B14F-4D97-AF65-F5344CB8AC3E}">
        <p14:creationId xmlns:p14="http://schemas.microsoft.com/office/powerpoint/2010/main" val="1189632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9AB3D7DC-00F8-406E-96AB-1F6EB0AF612F}"/>
              </a:ext>
            </a:extLst>
          </p:cNvPr>
          <p:cNvSpPr txBox="1"/>
          <p:nvPr/>
        </p:nvSpPr>
        <p:spPr>
          <a:xfrm>
            <a:off x="2507464" y="-59476"/>
            <a:ext cx="4768993"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指针与二维数组</a:t>
            </a:r>
            <a:endParaRPr lang="zh-CN" altLang="en-US" sz="3200" b="1" dirty="0">
              <a:solidFill>
                <a:srgbClr val="200AC4"/>
              </a:solidFill>
              <a:ea typeface="隶书" pitchFamily="49" charset="-122"/>
            </a:endParaRPr>
          </a:p>
        </p:txBody>
      </p:sp>
      <p:sp>
        <p:nvSpPr>
          <p:cNvPr id="4" name="矩形 3">
            <a:extLst>
              <a:ext uri="{FF2B5EF4-FFF2-40B4-BE49-F238E27FC236}">
                <a16:creationId xmlns:a16="http://schemas.microsoft.com/office/drawing/2014/main" id="{58662575-992D-4B90-B64C-887B6CAEA5F9}"/>
              </a:ext>
            </a:extLst>
          </p:cNvPr>
          <p:cNvSpPr/>
          <p:nvPr/>
        </p:nvSpPr>
        <p:spPr>
          <a:xfrm>
            <a:off x="4591" y="584492"/>
            <a:ext cx="12158444" cy="461665"/>
          </a:xfrm>
          <a:prstGeom prst="rect">
            <a:avLst/>
          </a:prstGeom>
        </p:spPr>
        <p:txBody>
          <a:bodyPr wrap="square">
            <a:spAutoFit/>
          </a:bodyPr>
          <a:lstStyle/>
          <a:p>
            <a:pPr marL="0" lvl="1"/>
            <a:r>
              <a:rPr lang="en-US" altLang="zh-CN" sz="2400" b="1" dirty="0">
                <a:latin typeface="隶书" pitchFamily="49" charset="-122"/>
              </a:rPr>
              <a:t>C</a:t>
            </a:r>
            <a:r>
              <a:rPr lang="zh-CN" altLang="en-US" sz="2400" b="1" dirty="0">
                <a:latin typeface="隶书" pitchFamily="49" charset="-122"/>
              </a:rPr>
              <a:t>语言中，二维数组的元素在内存中按</a:t>
            </a:r>
            <a:r>
              <a:rPr lang="zh-CN" altLang="en-US" sz="2400" b="1" dirty="0">
                <a:solidFill>
                  <a:srgbClr val="00B0F0"/>
                </a:solidFill>
                <a:latin typeface="隶书" pitchFamily="49" charset="-122"/>
              </a:rPr>
              <a:t>以行为主序</a:t>
            </a:r>
            <a:r>
              <a:rPr lang="zh-CN" altLang="en-US" sz="2400" b="1" dirty="0">
                <a:latin typeface="隶书" pitchFamily="49" charset="-122"/>
              </a:rPr>
              <a:t>的顺序连续进行存储。</a:t>
            </a:r>
          </a:p>
        </p:txBody>
      </p:sp>
      <p:sp>
        <p:nvSpPr>
          <p:cNvPr id="5" name="矩形 4">
            <a:extLst>
              <a:ext uri="{FF2B5EF4-FFF2-40B4-BE49-F238E27FC236}">
                <a16:creationId xmlns:a16="http://schemas.microsoft.com/office/drawing/2014/main" id="{CABCE8A6-7732-4C84-B748-D581A70D8A67}"/>
              </a:ext>
            </a:extLst>
          </p:cNvPr>
          <p:cNvSpPr/>
          <p:nvPr/>
        </p:nvSpPr>
        <p:spPr>
          <a:xfrm>
            <a:off x="135467" y="1280695"/>
            <a:ext cx="12027568" cy="523220"/>
          </a:xfrm>
          <a:prstGeom prst="rect">
            <a:avLst/>
          </a:prstGeom>
        </p:spPr>
        <p:txBody>
          <a:bodyPr wrap="square">
            <a:spAutoFit/>
          </a:bodyPr>
          <a:lstStyle/>
          <a:p>
            <a:pPr marL="0" lvl="1"/>
            <a:r>
              <a:rPr lang="zh-CN" altLang="en-US" sz="2800" b="1" dirty="0">
                <a:latin typeface="隶书" panose="02010509060101010101" pitchFamily="49" charset="-122"/>
                <a:ea typeface="隶书" panose="02010509060101010101" pitchFamily="49" charset="-122"/>
              </a:rPr>
              <a:t>例如，有如下二维数组：</a:t>
            </a:r>
          </a:p>
        </p:txBody>
      </p:sp>
      <p:sp>
        <p:nvSpPr>
          <p:cNvPr id="6" name="Rectangle 2">
            <a:extLst>
              <a:ext uri="{FF2B5EF4-FFF2-40B4-BE49-F238E27FC236}">
                <a16:creationId xmlns:a16="http://schemas.microsoft.com/office/drawing/2014/main" id="{49791D42-8A0C-4527-A0CF-7A5B6A0F86DD}"/>
              </a:ext>
            </a:extLst>
          </p:cNvPr>
          <p:cNvSpPr txBox="1">
            <a:spLocks noChangeArrowheads="1"/>
          </p:cNvSpPr>
          <p:nvPr/>
        </p:nvSpPr>
        <p:spPr>
          <a:xfrm>
            <a:off x="1297082" y="1977477"/>
            <a:ext cx="9924472" cy="523220"/>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0000FF"/>
                </a:solidFill>
              </a:rPr>
              <a:t>int</a:t>
            </a:r>
            <a:r>
              <a:rPr lang="zh-CN" altLang="en-US" b="1" dirty="0">
                <a:solidFill>
                  <a:srgbClr val="0000FF"/>
                </a:solidFill>
              </a:rPr>
              <a:t> </a:t>
            </a:r>
            <a:r>
              <a:rPr lang="en-US" altLang="zh-CN" b="1" dirty="0"/>
              <a:t>a</a:t>
            </a:r>
            <a:r>
              <a:rPr lang="en-US" altLang="zh-CN" b="1" dirty="0">
                <a:solidFill>
                  <a:srgbClr val="FF0000"/>
                </a:solidFill>
              </a:rPr>
              <a:t>[</a:t>
            </a:r>
            <a:r>
              <a:rPr lang="en-US" altLang="zh-CN" b="1" dirty="0"/>
              <a:t>3</a:t>
            </a:r>
            <a:r>
              <a:rPr lang="en-US" altLang="zh-CN" b="1" dirty="0">
                <a:solidFill>
                  <a:srgbClr val="FF0000"/>
                </a:solidFill>
              </a:rPr>
              <a:t>][</a:t>
            </a:r>
            <a:r>
              <a:rPr lang="en-US" altLang="zh-CN" b="1" dirty="0"/>
              <a:t>4</a:t>
            </a:r>
            <a:r>
              <a:rPr lang="en-US" altLang="zh-CN" b="1" dirty="0">
                <a:solidFill>
                  <a:srgbClr val="FF0000"/>
                </a:solidFill>
              </a:rPr>
              <a:t>]</a:t>
            </a:r>
            <a:r>
              <a:rPr lang="en-US" altLang="zh-CN" b="1" dirty="0"/>
              <a:t> = </a:t>
            </a:r>
            <a:r>
              <a:rPr lang="en-US" altLang="zh-CN" b="1" dirty="0">
                <a:solidFill>
                  <a:srgbClr val="002060"/>
                </a:solidFill>
              </a:rPr>
              <a:t>{</a:t>
            </a:r>
            <a:r>
              <a:rPr lang="en-US" altLang="zh-CN" b="1" dirty="0">
                <a:solidFill>
                  <a:srgbClr val="FF0000"/>
                </a:solidFill>
              </a:rPr>
              <a:t> {</a:t>
            </a:r>
            <a:r>
              <a:rPr lang="en-US" altLang="zh-CN" b="1" dirty="0"/>
              <a:t>11, 2, 37, 41</a:t>
            </a:r>
            <a:r>
              <a:rPr lang="en-US" altLang="zh-CN" b="1" dirty="0">
                <a:solidFill>
                  <a:srgbClr val="FF0000"/>
                </a:solidFill>
              </a:rPr>
              <a:t>}</a:t>
            </a:r>
            <a:r>
              <a:rPr lang="en-US" altLang="zh-CN" b="1" dirty="0"/>
              <a:t>, </a:t>
            </a:r>
            <a:r>
              <a:rPr lang="en-US" altLang="zh-CN" b="1" dirty="0">
                <a:solidFill>
                  <a:srgbClr val="FF0000"/>
                </a:solidFill>
              </a:rPr>
              <a:t>{</a:t>
            </a:r>
            <a:r>
              <a:rPr lang="en-US" altLang="zh-CN" b="1" dirty="0"/>
              <a:t>15, 60, 27, 38</a:t>
            </a:r>
            <a:r>
              <a:rPr lang="en-US" altLang="zh-CN" b="1" dirty="0">
                <a:solidFill>
                  <a:srgbClr val="FF0000"/>
                </a:solidFill>
              </a:rPr>
              <a:t>}</a:t>
            </a:r>
            <a:r>
              <a:rPr lang="en-US" altLang="zh-CN" b="1" dirty="0"/>
              <a:t>, </a:t>
            </a:r>
            <a:r>
              <a:rPr lang="en-US" altLang="zh-CN" b="1" dirty="0">
                <a:solidFill>
                  <a:srgbClr val="FF0000"/>
                </a:solidFill>
              </a:rPr>
              <a:t>{</a:t>
            </a:r>
            <a:r>
              <a:rPr lang="en-US" altLang="zh-CN" b="1" dirty="0"/>
              <a:t>29, 10, 16, 12</a:t>
            </a:r>
            <a:r>
              <a:rPr lang="en-US" altLang="zh-CN" b="1" dirty="0">
                <a:solidFill>
                  <a:srgbClr val="FF0000"/>
                </a:solidFill>
              </a:rPr>
              <a:t>} </a:t>
            </a:r>
            <a:r>
              <a:rPr lang="en-US" altLang="zh-CN" b="1" dirty="0">
                <a:solidFill>
                  <a:srgbClr val="002060"/>
                </a:solidFill>
              </a:rPr>
              <a:t>}</a:t>
            </a:r>
            <a:r>
              <a:rPr lang="en-US" altLang="zh-CN" b="1" dirty="0"/>
              <a:t>;</a:t>
            </a:r>
          </a:p>
        </p:txBody>
      </p:sp>
      <p:graphicFrame>
        <p:nvGraphicFramePr>
          <p:cNvPr id="8" name="表格 8">
            <a:extLst>
              <a:ext uri="{FF2B5EF4-FFF2-40B4-BE49-F238E27FC236}">
                <a16:creationId xmlns:a16="http://schemas.microsoft.com/office/drawing/2014/main" id="{82BFB835-CFA2-45E8-9CEA-3435160BC3B3}"/>
              </a:ext>
            </a:extLst>
          </p:cNvPr>
          <p:cNvGraphicFramePr>
            <a:graphicFrameLocks noGrp="1"/>
          </p:cNvGraphicFramePr>
          <p:nvPr>
            <p:extLst>
              <p:ext uri="{D42A27DB-BD31-4B8C-83A1-F6EECF244321}">
                <p14:modId xmlns:p14="http://schemas.microsoft.com/office/powerpoint/2010/main" val="893468188"/>
              </p:ext>
            </p:extLst>
          </p:nvPr>
        </p:nvGraphicFramePr>
        <p:xfrm>
          <a:off x="1413724" y="3193287"/>
          <a:ext cx="9757836" cy="523220"/>
        </p:xfrm>
        <a:graphic>
          <a:graphicData uri="http://schemas.openxmlformats.org/drawingml/2006/table">
            <a:tbl>
              <a:tblPr firstRow="1" bandRow="1">
                <a:tableStyleId>{5940675A-B579-460E-94D1-54222C63F5DA}</a:tableStyleId>
              </a:tblPr>
              <a:tblGrid>
                <a:gridCol w="813153">
                  <a:extLst>
                    <a:ext uri="{9D8B030D-6E8A-4147-A177-3AD203B41FA5}">
                      <a16:colId xmlns:a16="http://schemas.microsoft.com/office/drawing/2014/main" val="1223738142"/>
                    </a:ext>
                  </a:extLst>
                </a:gridCol>
                <a:gridCol w="813153">
                  <a:extLst>
                    <a:ext uri="{9D8B030D-6E8A-4147-A177-3AD203B41FA5}">
                      <a16:colId xmlns:a16="http://schemas.microsoft.com/office/drawing/2014/main" val="1871545756"/>
                    </a:ext>
                  </a:extLst>
                </a:gridCol>
                <a:gridCol w="813153">
                  <a:extLst>
                    <a:ext uri="{9D8B030D-6E8A-4147-A177-3AD203B41FA5}">
                      <a16:colId xmlns:a16="http://schemas.microsoft.com/office/drawing/2014/main" val="1533026189"/>
                    </a:ext>
                  </a:extLst>
                </a:gridCol>
                <a:gridCol w="813153">
                  <a:extLst>
                    <a:ext uri="{9D8B030D-6E8A-4147-A177-3AD203B41FA5}">
                      <a16:colId xmlns:a16="http://schemas.microsoft.com/office/drawing/2014/main" val="3622013220"/>
                    </a:ext>
                  </a:extLst>
                </a:gridCol>
                <a:gridCol w="813153">
                  <a:extLst>
                    <a:ext uri="{9D8B030D-6E8A-4147-A177-3AD203B41FA5}">
                      <a16:colId xmlns:a16="http://schemas.microsoft.com/office/drawing/2014/main" val="3723713838"/>
                    </a:ext>
                  </a:extLst>
                </a:gridCol>
                <a:gridCol w="813153">
                  <a:extLst>
                    <a:ext uri="{9D8B030D-6E8A-4147-A177-3AD203B41FA5}">
                      <a16:colId xmlns:a16="http://schemas.microsoft.com/office/drawing/2014/main" val="3976968129"/>
                    </a:ext>
                  </a:extLst>
                </a:gridCol>
                <a:gridCol w="813153">
                  <a:extLst>
                    <a:ext uri="{9D8B030D-6E8A-4147-A177-3AD203B41FA5}">
                      <a16:colId xmlns:a16="http://schemas.microsoft.com/office/drawing/2014/main" val="2468651699"/>
                    </a:ext>
                  </a:extLst>
                </a:gridCol>
                <a:gridCol w="813153">
                  <a:extLst>
                    <a:ext uri="{9D8B030D-6E8A-4147-A177-3AD203B41FA5}">
                      <a16:colId xmlns:a16="http://schemas.microsoft.com/office/drawing/2014/main" val="327688890"/>
                    </a:ext>
                  </a:extLst>
                </a:gridCol>
                <a:gridCol w="813153">
                  <a:extLst>
                    <a:ext uri="{9D8B030D-6E8A-4147-A177-3AD203B41FA5}">
                      <a16:colId xmlns:a16="http://schemas.microsoft.com/office/drawing/2014/main" val="2113113554"/>
                    </a:ext>
                  </a:extLst>
                </a:gridCol>
                <a:gridCol w="813153">
                  <a:extLst>
                    <a:ext uri="{9D8B030D-6E8A-4147-A177-3AD203B41FA5}">
                      <a16:colId xmlns:a16="http://schemas.microsoft.com/office/drawing/2014/main" val="781595020"/>
                    </a:ext>
                  </a:extLst>
                </a:gridCol>
                <a:gridCol w="813153">
                  <a:extLst>
                    <a:ext uri="{9D8B030D-6E8A-4147-A177-3AD203B41FA5}">
                      <a16:colId xmlns:a16="http://schemas.microsoft.com/office/drawing/2014/main" val="968202615"/>
                    </a:ext>
                  </a:extLst>
                </a:gridCol>
                <a:gridCol w="813153">
                  <a:extLst>
                    <a:ext uri="{9D8B030D-6E8A-4147-A177-3AD203B41FA5}">
                      <a16:colId xmlns:a16="http://schemas.microsoft.com/office/drawing/2014/main" val="3660351381"/>
                    </a:ext>
                  </a:extLst>
                </a:gridCol>
              </a:tblGrid>
              <a:tr h="523220">
                <a:tc>
                  <a:txBody>
                    <a:bodyPr/>
                    <a:lstStyle/>
                    <a:p>
                      <a:pPr algn="ctr"/>
                      <a:r>
                        <a:rPr lang="en-US" altLang="zh-CN" sz="2400" b="1" dirty="0"/>
                        <a:t>11</a:t>
                      </a:r>
                      <a:endParaRPr lang="zh-CN" altLang="en-US" sz="2400" b="1" dirty="0"/>
                    </a:p>
                  </a:txBody>
                  <a:tcPr anchor="ctr"/>
                </a:tc>
                <a:tc>
                  <a:txBody>
                    <a:bodyPr/>
                    <a:lstStyle/>
                    <a:p>
                      <a:pPr algn="ctr"/>
                      <a:r>
                        <a:rPr lang="en-US" altLang="zh-CN" sz="2400" b="1" dirty="0"/>
                        <a:t>2</a:t>
                      </a:r>
                      <a:endParaRPr lang="zh-CN" altLang="en-US" sz="2400" b="1" dirty="0"/>
                    </a:p>
                  </a:txBody>
                  <a:tcPr anchor="ctr"/>
                </a:tc>
                <a:tc>
                  <a:txBody>
                    <a:bodyPr/>
                    <a:lstStyle/>
                    <a:p>
                      <a:pPr algn="ctr"/>
                      <a:r>
                        <a:rPr lang="en-US" altLang="zh-CN" sz="2400" b="1" dirty="0"/>
                        <a:t>37</a:t>
                      </a:r>
                      <a:endParaRPr lang="zh-CN" altLang="en-US" sz="2400" b="1" dirty="0"/>
                    </a:p>
                  </a:txBody>
                  <a:tcPr anchor="ctr"/>
                </a:tc>
                <a:tc>
                  <a:txBody>
                    <a:bodyPr/>
                    <a:lstStyle/>
                    <a:p>
                      <a:pPr algn="ctr"/>
                      <a:r>
                        <a:rPr lang="en-US" altLang="zh-CN" sz="2400" b="1" dirty="0"/>
                        <a:t>41</a:t>
                      </a:r>
                      <a:endParaRPr lang="zh-CN" altLang="en-US" sz="2400" b="1" dirty="0"/>
                    </a:p>
                  </a:txBody>
                  <a:tcPr anchor="ctr"/>
                </a:tc>
                <a:tc>
                  <a:txBody>
                    <a:bodyPr/>
                    <a:lstStyle/>
                    <a:p>
                      <a:pPr algn="ctr"/>
                      <a:r>
                        <a:rPr lang="en-US" altLang="zh-CN" sz="2400" b="1" dirty="0"/>
                        <a:t>15</a:t>
                      </a:r>
                      <a:endParaRPr lang="zh-CN" altLang="en-US" sz="2400" b="1" dirty="0"/>
                    </a:p>
                  </a:txBody>
                  <a:tcPr anchor="ctr"/>
                </a:tc>
                <a:tc>
                  <a:txBody>
                    <a:bodyPr/>
                    <a:lstStyle/>
                    <a:p>
                      <a:pPr algn="ctr"/>
                      <a:r>
                        <a:rPr lang="en-US" altLang="zh-CN" sz="2400" b="1" dirty="0"/>
                        <a:t>60</a:t>
                      </a:r>
                      <a:endParaRPr lang="zh-CN" altLang="en-US" sz="2400" b="1" dirty="0"/>
                    </a:p>
                  </a:txBody>
                  <a:tcPr anchor="ctr"/>
                </a:tc>
                <a:tc>
                  <a:txBody>
                    <a:bodyPr/>
                    <a:lstStyle/>
                    <a:p>
                      <a:pPr algn="ctr"/>
                      <a:r>
                        <a:rPr lang="en-US" altLang="zh-CN" sz="2400" b="1" dirty="0"/>
                        <a:t>27</a:t>
                      </a:r>
                      <a:endParaRPr lang="zh-CN" altLang="en-US" sz="2400" b="1" dirty="0"/>
                    </a:p>
                  </a:txBody>
                  <a:tcPr anchor="ctr"/>
                </a:tc>
                <a:tc>
                  <a:txBody>
                    <a:bodyPr/>
                    <a:lstStyle/>
                    <a:p>
                      <a:pPr algn="ctr"/>
                      <a:r>
                        <a:rPr lang="en-US" altLang="zh-CN" sz="2400" b="1" dirty="0"/>
                        <a:t>38</a:t>
                      </a:r>
                      <a:endParaRPr lang="zh-CN" altLang="en-US" sz="2400" b="1" dirty="0"/>
                    </a:p>
                  </a:txBody>
                  <a:tcPr anchor="ctr"/>
                </a:tc>
                <a:tc>
                  <a:txBody>
                    <a:bodyPr/>
                    <a:lstStyle/>
                    <a:p>
                      <a:pPr algn="ctr"/>
                      <a:r>
                        <a:rPr lang="en-US" altLang="zh-CN" sz="2400" b="1" dirty="0"/>
                        <a:t>29</a:t>
                      </a:r>
                      <a:endParaRPr lang="zh-CN" altLang="en-US" sz="2400" b="1" dirty="0"/>
                    </a:p>
                  </a:txBody>
                  <a:tcPr anchor="ctr"/>
                </a:tc>
                <a:tc>
                  <a:txBody>
                    <a:bodyPr/>
                    <a:lstStyle/>
                    <a:p>
                      <a:pPr algn="ctr"/>
                      <a:r>
                        <a:rPr lang="en-US" altLang="zh-CN" sz="2400" b="1" dirty="0"/>
                        <a:t>10</a:t>
                      </a:r>
                      <a:endParaRPr lang="zh-CN" altLang="en-US" sz="2400" b="1" dirty="0"/>
                    </a:p>
                  </a:txBody>
                  <a:tcPr anchor="ctr"/>
                </a:tc>
                <a:tc>
                  <a:txBody>
                    <a:bodyPr/>
                    <a:lstStyle/>
                    <a:p>
                      <a:pPr algn="ctr"/>
                      <a:r>
                        <a:rPr lang="en-US" altLang="zh-CN" sz="2400" b="1" dirty="0"/>
                        <a:t>16</a:t>
                      </a:r>
                      <a:endParaRPr lang="zh-CN" altLang="en-US" sz="2400" b="1" dirty="0"/>
                    </a:p>
                  </a:txBody>
                  <a:tcPr anchor="ctr"/>
                </a:tc>
                <a:tc>
                  <a:txBody>
                    <a:bodyPr/>
                    <a:lstStyle/>
                    <a:p>
                      <a:pPr algn="ctr"/>
                      <a:r>
                        <a:rPr lang="en-US" altLang="zh-CN" sz="2400" b="1" dirty="0"/>
                        <a:t>12</a:t>
                      </a:r>
                      <a:endParaRPr lang="zh-CN" altLang="en-US" sz="2400" b="1" dirty="0"/>
                    </a:p>
                  </a:txBody>
                  <a:tcPr anchor="ctr"/>
                </a:tc>
                <a:extLst>
                  <a:ext uri="{0D108BD9-81ED-4DB2-BD59-A6C34878D82A}">
                    <a16:rowId xmlns:a16="http://schemas.microsoft.com/office/drawing/2014/main" val="2132108774"/>
                  </a:ext>
                </a:extLst>
              </a:tr>
            </a:tbl>
          </a:graphicData>
        </a:graphic>
      </p:graphicFrame>
      <p:graphicFrame>
        <p:nvGraphicFramePr>
          <p:cNvPr id="9" name="表格 8">
            <a:extLst>
              <a:ext uri="{FF2B5EF4-FFF2-40B4-BE49-F238E27FC236}">
                <a16:creationId xmlns:a16="http://schemas.microsoft.com/office/drawing/2014/main" id="{76344047-5623-41E8-8184-34E054D20790}"/>
              </a:ext>
            </a:extLst>
          </p:cNvPr>
          <p:cNvGraphicFramePr>
            <a:graphicFrameLocks noGrp="1"/>
          </p:cNvGraphicFramePr>
          <p:nvPr>
            <p:extLst>
              <p:ext uri="{D42A27DB-BD31-4B8C-83A1-F6EECF244321}">
                <p14:modId xmlns:p14="http://schemas.microsoft.com/office/powerpoint/2010/main" val="1583424786"/>
              </p:ext>
            </p:extLst>
          </p:nvPr>
        </p:nvGraphicFramePr>
        <p:xfrm>
          <a:off x="1413726" y="3655813"/>
          <a:ext cx="9757824" cy="396240"/>
        </p:xfrm>
        <a:graphic>
          <a:graphicData uri="http://schemas.openxmlformats.org/drawingml/2006/table">
            <a:tbl>
              <a:tblPr firstRow="1" bandRow="1">
                <a:tableStyleId>{5940675A-B579-460E-94D1-54222C63F5DA}</a:tableStyleId>
              </a:tblPr>
              <a:tblGrid>
                <a:gridCol w="813152">
                  <a:extLst>
                    <a:ext uri="{9D8B030D-6E8A-4147-A177-3AD203B41FA5}">
                      <a16:colId xmlns:a16="http://schemas.microsoft.com/office/drawing/2014/main" val="1223738142"/>
                    </a:ext>
                  </a:extLst>
                </a:gridCol>
                <a:gridCol w="813152">
                  <a:extLst>
                    <a:ext uri="{9D8B030D-6E8A-4147-A177-3AD203B41FA5}">
                      <a16:colId xmlns:a16="http://schemas.microsoft.com/office/drawing/2014/main" val="1871545756"/>
                    </a:ext>
                  </a:extLst>
                </a:gridCol>
                <a:gridCol w="813152">
                  <a:extLst>
                    <a:ext uri="{9D8B030D-6E8A-4147-A177-3AD203B41FA5}">
                      <a16:colId xmlns:a16="http://schemas.microsoft.com/office/drawing/2014/main" val="1533026189"/>
                    </a:ext>
                  </a:extLst>
                </a:gridCol>
                <a:gridCol w="813152">
                  <a:extLst>
                    <a:ext uri="{9D8B030D-6E8A-4147-A177-3AD203B41FA5}">
                      <a16:colId xmlns:a16="http://schemas.microsoft.com/office/drawing/2014/main" val="3622013220"/>
                    </a:ext>
                  </a:extLst>
                </a:gridCol>
                <a:gridCol w="813152">
                  <a:extLst>
                    <a:ext uri="{9D8B030D-6E8A-4147-A177-3AD203B41FA5}">
                      <a16:colId xmlns:a16="http://schemas.microsoft.com/office/drawing/2014/main" val="3723713838"/>
                    </a:ext>
                  </a:extLst>
                </a:gridCol>
                <a:gridCol w="813152">
                  <a:extLst>
                    <a:ext uri="{9D8B030D-6E8A-4147-A177-3AD203B41FA5}">
                      <a16:colId xmlns:a16="http://schemas.microsoft.com/office/drawing/2014/main" val="3976968129"/>
                    </a:ext>
                  </a:extLst>
                </a:gridCol>
                <a:gridCol w="813152">
                  <a:extLst>
                    <a:ext uri="{9D8B030D-6E8A-4147-A177-3AD203B41FA5}">
                      <a16:colId xmlns:a16="http://schemas.microsoft.com/office/drawing/2014/main" val="2468651699"/>
                    </a:ext>
                  </a:extLst>
                </a:gridCol>
                <a:gridCol w="813152">
                  <a:extLst>
                    <a:ext uri="{9D8B030D-6E8A-4147-A177-3AD203B41FA5}">
                      <a16:colId xmlns:a16="http://schemas.microsoft.com/office/drawing/2014/main" val="327688890"/>
                    </a:ext>
                  </a:extLst>
                </a:gridCol>
                <a:gridCol w="813152">
                  <a:extLst>
                    <a:ext uri="{9D8B030D-6E8A-4147-A177-3AD203B41FA5}">
                      <a16:colId xmlns:a16="http://schemas.microsoft.com/office/drawing/2014/main" val="2113113554"/>
                    </a:ext>
                  </a:extLst>
                </a:gridCol>
                <a:gridCol w="813152">
                  <a:extLst>
                    <a:ext uri="{9D8B030D-6E8A-4147-A177-3AD203B41FA5}">
                      <a16:colId xmlns:a16="http://schemas.microsoft.com/office/drawing/2014/main" val="781595020"/>
                    </a:ext>
                  </a:extLst>
                </a:gridCol>
                <a:gridCol w="813152">
                  <a:extLst>
                    <a:ext uri="{9D8B030D-6E8A-4147-A177-3AD203B41FA5}">
                      <a16:colId xmlns:a16="http://schemas.microsoft.com/office/drawing/2014/main" val="1886908449"/>
                    </a:ext>
                  </a:extLst>
                </a:gridCol>
                <a:gridCol w="813152">
                  <a:extLst>
                    <a:ext uri="{9D8B030D-6E8A-4147-A177-3AD203B41FA5}">
                      <a16:colId xmlns:a16="http://schemas.microsoft.com/office/drawing/2014/main" val="462569847"/>
                    </a:ext>
                  </a:extLst>
                </a:gridCol>
              </a:tblGrid>
              <a:tr h="370840">
                <a:tc>
                  <a:txBody>
                    <a:bodyPr/>
                    <a:lstStyle/>
                    <a:p>
                      <a:pPr algn="ctr"/>
                      <a:r>
                        <a:rPr lang="en-US" altLang="zh-CN" sz="2000" dirty="0"/>
                        <a:t>a[</a:t>
                      </a:r>
                      <a:r>
                        <a:rPr lang="en-US" altLang="zh-CN" sz="2000" dirty="0">
                          <a:solidFill>
                            <a:srgbClr val="FF0000"/>
                          </a:solidFill>
                        </a:rPr>
                        <a:t>0</a:t>
                      </a:r>
                      <a:r>
                        <a:rPr lang="en-US" altLang="zh-CN" sz="2000" dirty="0"/>
                        <a:t>][0]</a:t>
                      </a:r>
                      <a:endParaRPr lang="zh-CN" altLang="en-US" sz="20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dirty="0"/>
                        <a:t>a[</a:t>
                      </a:r>
                      <a:r>
                        <a:rPr lang="en-US" altLang="zh-CN" sz="2000" dirty="0">
                          <a:solidFill>
                            <a:srgbClr val="FF0000"/>
                          </a:solidFill>
                        </a:rPr>
                        <a:t>0</a:t>
                      </a:r>
                      <a:r>
                        <a:rPr lang="en-US" altLang="zh-CN" sz="2000" dirty="0"/>
                        <a:t>][1]</a:t>
                      </a:r>
                      <a:endParaRPr lang="zh-CN" altLang="en-US" sz="20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dirty="0"/>
                        <a:t>a[</a:t>
                      </a:r>
                      <a:r>
                        <a:rPr lang="en-US" altLang="zh-CN" sz="2000" dirty="0">
                          <a:solidFill>
                            <a:srgbClr val="FF0000"/>
                          </a:solidFill>
                        </a:rPr>
                        <a:t>0</a:t>
                      </a:r>
                      <a:r>
                        <a:rPr lang="en-US" altLang="zh-CN" sz="2000" dirty="0"/>
                        <a:t>][2]</a:t>
                      </a:r>
                      <a:endParaRPr lang="zh-CN" altLang="en-US" sz="20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dirty="0"/>
                        <a:t>a[</a:t>
                      </a:r>
                      <a:r>
                        <a:rPr lang="en-US" altLang="zh-CN" sz="2000" dirty="0">
                          <a:solidFill>
                            <a:srgbClr val="FF0000"/>
                          </a:solidFill>
                        </a:rPr>
                        <a:t>0</a:t>
                      </a:r>
                      <a:r>
                        <a:rPr lang="en-US" altLang="zh-CN" sz="2000" dirty="0"/>
                        <a:t>][3]</a:t>
                      </a:r>
                      <a:endParaRPr lang="zh-CN" altLang="en-US" sz="20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dirty="0"/>
                        <a:t>a[</a:t>
                      </a:r>
                      <a:r>
                        <a:rPr lang="en-US" altLang="zh-CN" sz="2000" dirty="0">
                          <a:solidFill>
                            <a:srgbClr val="FF0000"/>
                          </a:solidFill>
                        </a:rPr>
                        <a:t>1</a:t>
                      </a:r>
                      <a:r>
                        <a:rPr lang="en-US" altLang="zh-CN" sz="2000" dirty="0"/>
                        <a:t>][0]</a:t>
                      </a:r>
                      <a:endParaRPr lang="zh-CN" altLang="en-US" sz="20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dirty="0"/>
                        <a:t>a[</a:t>
                      </a:r>
                      <a:r>
                        <a:rPr lang="en-US" altLang="zh-CN" sz="2000" dirty="0">
                          <a:solidFill>
                            <a:srgbClr val="FF0000"/>
                          </a:solidFill>
                        </a:rPr>
                        <a:t>1</a:t>
                      </a:r>
                      <a:r>
                        <a:rPr lang="en-US" altLang="zh-CN" sz="2000" dirty="0"/>
                        <a:t>][1]</a:t>
                      </a:r>
                      <a:endParaRPr lang="zh-CN" altLang="en-US" sz="20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dirty="0"/>
                        <a:t>a[</a:t>
                      </a:r>
                      <a:r>
                        <a:rPr lang="en-US" altLang="zh-CN" sz="2000" dirty="0">
                          <a:solidFill>
                            <a:srgbClr val="FF0000"/>
                          </a:solidFill>
                        </a:rPr>
                        <a:t>1</a:t>
                      </a:r>
                      <a:r>
                        <a:rPr lang="en-US" altLang="zh-CN" sz="2000" dirty="0"/>
                        <a:t>][2]</a:t>
                      </a:r>
                      <a:endParaRPr lang="zh-CN" altLang="en-US" sz="20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dirty="0"/>
                        <a:t>a[</a:t>
                      </a:r>
                      <a:r>
                        <a:rPr lang="en-US" altLang="zh-CN" sz="2000" dirty="0">
                          <a:solidFill>
                            <a:srgbClr val="FF0000"/>
                          </a:solidFill>
                        </a:rPr>
                        <a:t>1</a:t>
                      </a:r>
                      <a:r>
                        <a:rPr lang="en-US" altLang="zh-CN" sz="2000" dirty="0"/>
                        <a:t>][3]</a:t>
                      </a:r>
                      <a:endParaRPr lang="zh-CN" altLang="en-US" sz="20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dirty="0"/>
                        <a:t>a[</a:t>
                      </a:r>
                      <a:r>
                        <a:rPr lang="en-US" altLang="zh-CN" sz="2000" dirty="0">
                          <a:solidFill>
                            <a:srgbClr val="FF0000"/>
                          </a:solidFill>
                        </a:rPr>
                        <a:t>2</a:t>
                      </a:r>
                      <a:r>
                        <a:rPr lang="en-US" altLang="zh-CN" sz="2000" dirty="0"/>
                        <a:t>][0]</a:t>
                      </a:r>
                      <a:endParaRPr lang="zh-CN" altLang="en-US" sz="20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dirty="0"/>
                        <a:t>a[</a:t>
                      </a:r>
                      <a:r>
                        <a:rPr lang="en-US" altLang="zh-CN" sz="2000" dirty="0">
                          <a:solidFill>
                            <a:srgbClr val="FF0000"/>
                          </a:solidFill>
                        </a:rPr>
                        <a:t>2</a:t>
                      </a:r>
                      <a:r>
                        <a:rPr lang="en-US" altLang="zh-CN" sz="2000" dirty="0"/>
                        <a:t>][1]</a:t>
                      </a:r>
                      <a:endParaRPr lang="zh-CN" altLang="en-US" sz="20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dirty="0"/>
                        <a:t>a[</a:t>
                      </a:r>
                      <a:r>
                        <a:rPr lang="en-US" altLang="zh-CN" sz="2000" dirty="0">
                          <a:solidFill>
                            <a:srgbClr val="FF0000"/>
                          </a:solidFill>
                        </a:rPr>
                        <a:t>2</a:t>
                      </a:r>
                      <a:r>
                        <a:rPr lang="en-US" altLang="zh-CN" sz="2000" dirty="0"/>
                        <a:t>][2]</a:t>
                      </a:r>
                      <a:endParaRPr lang="zh-CN" altLang="en-US" sz="20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dirty="0"/>
                        <a:t>a[</a:t>
                      </a:r>
                      <a:r>
                        <a:rPr lang="en-US" altLang="zh-CN" sz="2000" dirty="0">
                          <a:solidFill>
                            <a:srgbClr val="FF0000"/>
                          </a:solidFill>
                        </a:rPr>
                        <a:t>2</a:t>
                      </a:r>
                      <a:r>
                        <a:rPr lang="en-US" altLang="zh-CN" sz="2000" dirty="0"/>
                        <a:t>][3]</a:t>
                      </a:r>
                      <a:endParaRPr lang="zh-CN" altLang="en-US" sz="20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32108774"/>
                  </a:ext>
                </a:extLst>
              </a:tr>
            </a:tbl>
          </a:graphicData>
        </a:graphic>
      </p:graphicFrame>
      <p:sp>
        <p:nvSpPr>
          <p:cNvPr id="10" name="文本框 9">
            <a:extLst>
              <a:ext uri="{FF2B5EF4-FFF2-40B4-BE49-F238E27FC236}">
                <a16:creationId xmlns:a16="http://schemas.microsoft.com/office/drawing/2014/main" id="{C4B654D2-6879-44EF-A719-54FD456FBC21}"/>
              </a:ext>
            </a:extLst>
          </p:cNvPr>
          <p:cNvSpPr txBox="1"/>
          <p:nvPr/>
        </p:nvSpPr>
        <p:spPr>
          <a:xfrm>
            <a:off x="981927" y="3162940"/>
            <a:ext cx="491067" cy="523220"/>
          </a:xfrm>
          <a:prstGeom prst="rect">
            <a:avLst/>
          </a:prstGeom>
          <a:noFill/>
        </p:spPr>
        <p:txBody>
          <a:bodyPr wrap="square" rtlCol="0">
            <a:spAutoFit/>
          </a:bodyPr>
          <a:lstStyle/>
          <a:p>
            <a:r>
              <a:rPr lang="en-US" altLang="zh-CN" sz="2800" b="1" dirty="0"/>
              <a:t>a</a:t>
            </a:r>
            <a:endParaRPr lang="zh-CN" altLang="en-US" sz="2800" b="1" dirty="0"/>
          </a:p>
        </p:txBody>
      </p:sp>
      <p:sp>
        <p:nvSpPr>
          <p:cNvPr id="11" name="右大括号 10">
            <a:extLst>
              <a:ext uri="{FF2B5EF4-FFF2-40B4-BE49-F238E27FC236}">
                <a16:creationId xmlns:a16="http://schemas.microsoft.com/office/drawing/2014/main" id="{C2DEECB7-A3D0-4850-9FD8-5E3C6A181622}"/>
              </a:ext>
            </a:extLst>
          </p:cNvPr>
          <p:cNvSpPr/>
          <p:nvPr/>
        </p:nvSpPr>
        <p:spPr>
          <a:xfrm rot="5400000">
            <a:off x="2908040" y="2938717"/>
            <a:ext cx="287972" cy="2523068"/>
          </a:xfrm>
          <a:prstGeom prst="rightBrace">
            <a:avLst>
              <a:gd name="adj1" fmla="val 106608"/>
              <a:gd name="adj2" fmla="val 49329"/>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E983948F-F29F-4804-BCA6-BA360FDECFB4}"/>
              </a:ext>
            </a:extLst>
          </p:cNvPr>
          <p:cNvSpPr txBox="1"/>
          <p:nvPr/>
        </p:nvSpPr>
        <p:spPr>
          <a:xfrm>
            <a:off x="2175540" y="4343276"/>
            <a:ext cx="1795363" cy="430887"/>
          </a:xfrm>
          <a:prstGeom prst="rect">
            <a:avLst/>
          </a:prstGeom>
          <a:noFill/>
        </p:spPr>
        <p:txBody>
          <a:bodyPr wrap="none" lIns="0" tIns="0" rIns="0" bIns="0" rtlCol="0" anchor="ctr" anchorCtr="1">
            <a:spAutoFit/>
          </a:bodyPr>
          <a:lstStyle/>
          <a:p>
            <a:r>
              <a:rPr lang="zh-CN" altLang="en-US" sz="2800" dirty="0">
                <a:latin typeface="隶书" panose="02010509060101010101" pitchFamily="49" charset="-122"/>
                <a:ea typeface="隶书" panose="02010509060101010101" pitchFamily="49" charset="-122"/>
              </a:rPr>
              <a:t>第</a:t>
            </a:r>
            <a:r>
              <a:rPr lang="zh-CN" altLang="en-US" sz="2800" dirty="0">
                <a:solidFill>
                  <a:srgbClr val="FF0000"/>
                </a:solidFill>
                <a:latin typeface="隶书" panose="02010509060101010101" pitchFamily="49" charset="-122"/>
                <a:ea typeface="隶书" panose="02010509060101010101" pitchFamily="49" charset="-122"/>
              </a:rPr>
              <a:t>一</a:t>
            </a:r>
            <a:r>
              <a:rPr lang="zh-CN" altLang="en-US" sz="2800" dirty="0">
                <a:latin typeface="隶书" panose="02010509060101010101" pitchFamily="49" charset="-122"/>
                <a:ea typeface="隶书" panose="02010509060101010101" pitchFamily="49" charset="-122"/>
              </a:rPr>
              <a:t>行元素</a:t>
            </a:r>
          </a:p>
        </p:txBody>
      </p:sp>
      <p:sp>
        <p:nvSpPr>
          <p:cNvPr id="13" name="右大括号 12">
            <a:extLst>
              <a:ext uri="{FF2B5EF4-FFF2-40B4-BE49-F238E27FC236}">
                <a16:creationId xmlns:a16="http://schemas.microsoft.com/office/drawing/2014/main" id="{61C59FBB-0F2C-4446-AF1A-B0501F9B156D}"/>
              </a:ext>
            </a:extLst>
          </p:cNvPr>
          <p:cNvSpPr/>
          <p:nvPr/>
        </p:nvSpPr>
        <p:spPr>
          <a:xfrm rot="5400000">
            <a:off x="6138177" y="2938236"/>
            <a:ext cx="287972" cy="2523068"/>
          </a:xfrm>
          <a:prstGeom prst="rightBrace">
            <a:avLst>
              <a:gd name="adj1" fmla="val 106608"/>
              <a:gd name="adj2" fmla="val 49329"/>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CE6E2A10-486B-42A7-AEC0-4BC383D2330C}"/>
              </a:ext>
            </a:extLst>
          </p:cNvPr>
          <p:cNvSpPr txBox="1"/>
          <p:nvPr/>
        </p:nvSpPr>
        <p:spPr>
          <a:xfrm>
            <a:off x="5405677" y="4342795"/>
            <a:ext cx="1795363" cy="430887"/>
          </a:xfrm>
          <a:prstGeom prst="rect">
            <a:avLst/>
          </a:prstGeom>
          <a:noFill/>
        </p:spPr>
        <p:txBody>
          <a:bodyPr wrap="none" lIns="0" tIns="0" rIns="0" bIns="0" rtlCol="0" anchor="ctr" anchorCtr="1">
            <a:spAutoFit/>
          </a:bodyPr>
          <a:lstStyle/>
          <a:p>
            <a:r>
              <a:rPr lang="zh-CN" altLang="en-US" sz="2800" dirty="0">
                <a:latin typeface="隶书" panose="02010509060101010101" pitchFamily="49" charset="-122"/>
                <a:ea typeface="隶书" panose="02010509060101010101" pitchFamily="49" charset="-122"/>
              </a:rPr>
              <a:t>第</a:t>
            </a:r>
            <a:r>
              <a:rPr lang="zh-CN" altLang="en-US" sz="2800" dirty="0">
                <a:solidFill>
                  <a:srgbClr val="FF0000"/>
                </a:solidFill>
                <a:latin typeface="隶书" panose="02010509060101010101" pitchFamily="49" charset="-122"/>
                <a:ea typeface="隶书" panose="02010509060101010101" pitchFamily="49" charset="-122"/>
              </a:rPr>
              <a:t>二</a:t>
            </a:r>
            <a:r>
              <a:rPr lang="zh-CN" altLang="en-US" sz="2800" dirty="0">
                <a:latin typeface="隶书" panose="02010509060101010101" pitchFamily="49" charset="-122"/>
                <a:ea typeface="隶书" panose="02010509060101010101" pitchFamily="49" charset="-122"/>
              </a:rPr>
              <a:t>行元素</a:t>
            </a:r>
          </a:p>
        </p:txBody>
      </p:sp>
      <p:sp>
        <p:nvSpPr>
          <p:cNvPr id="15" name="右大括号 14">
            <a:extLst>
              <a:ext uri="{FF2B5EF4-FFF2-40B4-BE49-F238E27FC236}">
                <a16:creationId xmlns:a16="http://schemas.microsoft.com/office/drawing/2014/main" id="{48EA1290-ED10-4F6D-A134-EA231142B112}"/>
              </a:ext>
            </a:extLst>
          </p:cNvPr>
          <p:cNvSpPr/>
          <p:nvPr/>
        </p:nvSpPr>
        <p:spPr>
          <a:xfrm rot="5400000">
            <a:off x="9393212" y="2935305"/>
            <a:ext cx="287972" cy="2523068"/>
          </a:xfrm>
          <a:prstGeom prst="rightBrace">
            <a:avLst>
              <a:gd name="adj1" fmla="val 106608"/>
              <a:gd name="adj2" fmla="val 49329"/>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16" name="文本框 15">
            <a:extLst>
              <a:ext uri="{FF2B5EF4-FFF2-40B4-BE49-F238E27FC236}">
                <a16:creationId xmlns:a16="http://schemas.microsoft.com/office/drawing/2014/main" id="{6D4BEF3F-6E7B-4E3A-A905-E70143DD2F97}"/>
              </a:ext>
            </a:extLst>
          </p:cNvPr>
          <p:cNvSpPr txBox="1"/>
          <p:nvPr/>
        </p:nvSpPr>
        <p:spPr>
          <a:xfrm>
            <a:off x="8660712" y="4339864"/>
            <a:ext cx="1795363" cy="430887"/>
          </a:xfrm>
          <a:prstGeom prst="rect">
            <a:avLst/>
          </a:prstGeom>
          <a:noFill/>
        </p:spPr>
        <p:txBody>
          <a:bodyPr wrap="none" lIns="0" tIns="0" rIns="0" bIns="0" rtlCol="0" anchor="ctr" anchorCtr="1">
            <a:spAutoFit/>
          </a:bodyPr>
          <a:lstStyle/>
          <a:p>
            <a:r>
              <a:rPr lang="zh-CN" altLang="en-US" sz="2800" dirty="0">
                <a:latin typeface="隶书" panose="02010509060101010101" pitchFamily="49" charset="-122"/>
                <a:ea typeface="隶书" panose="02010509060101010101" pitchFamily="49" charset="-122"/>
              </a:rPr>
              <a:t>第</a:t>
            </a:r>
            <a:r>
              <a:rPr lang="zh-CN" altLang="en-US" sz="2800" dirty="0">
                <a:solidFill>
                  <a:srgbClr val="FF0000"/>
                </a:solidFill>
                <a:latin typeface="隶书" panose="02010509060101010101" pitchFamily="49" charset="-122"/>
                <a:ea typeface="隶书" panose="02010509060101010101" pitchFamily="49" charset="-122"/>
              </a:rPr>
              <a:t>三</a:t>
            </a:r>
            <a:r>
              <a:rPr lang="zh-CN" altLang="en-US" sz="2800" dirty="0">
                <a:latin typeface="隶书" panose="02010509060101010101" pitchFamily="49" charset="-122"/>
                <a:ea typeface="隶书" panose="02010509060101010101" pitchFamily="49" charset="-122"/>
              </a:rPr>
              <a:t>行元素</a:t>
            </a:r>
          </a:p>
        </p:txBody>
      </p:sp>
      <p:sp>
        <p:nvSpPr>
          <p:cNvPr id="17" name="灯片编号占位符 16">
            <a:extLst>
              <a:ext uri="{FF2B5EF4-FFF2-40B4-BE49-F238E27FC236}">
                <a16:creationId xmlns:a16="http://schemas.microsoft.com/office/drawing/2014/main" id="{DA76F6E0-AF84-46AA-B9C2-4D74D11A45C2}"/>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16</a:t>
            </a:fld>
            <a:r>
              <a:rPr lang="en-US" altLang="zh-CN">
                <a:solidFill>
                  <a:prstClr val="black">
                    <a:tint val="75000"/>
                  </a:prstClr>
                </a:solidFill>
              </a:rPr>
              <a:t>/ 35</a:t>
            </a:r>
            <a:endParaRPr lang="zh-CN" altLang="en-US" dirty="0"/>
          </a:p>
        </p:txBody>
      </p:sp>
    </p:spTree>
    <p:extLst>
      <p:ext uri="{BB962C8B-B14F-4D97-AF65-F5344CB8AC3E}">
        <p14:creationId xmlns:p14="http://schemas.microsoft.com/office/powerpoint/2010/main" val="161403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2" presetClass="entr" presetSubtype="8"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anim calcmode="lin" valueType="num">
                                      <p:cBhvr additive="base">
                                        <p:cTn id="9" dur="500" fill="hold"/>
                                        <p:tgtEl>
                                          <p:spTgt spid="6"/>
                                        </p:tgtEl>
                                        <p:attrNameLst>
                                          <p:attrName>ppt_x</p:attrName>
                                        </p:attrNameLst>
                                      </p:cBhvr>
                                      <p:tavLst>
                                        <p:tav tm="0">
                                          <p:val>
                                            <p:strVal val="0-#ppt_w/2"/>
                                          </p:val>
                                        </p:tav>
                                        <p:tav tm="100000">
                                          <p:val>
                                            <p:strVal val="#ppt_x"/>
                                          </p:val>
                                        </p:tav>
                                      </p:tavLst>
                                    </p:anim>
                                    <p:anim calcmode="lin" valueType="num">
                                      <p:cBhvr additive="base">
                                        <p:cTn id="10"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1000"/>
                                        <p:tgtEl>
                                          <p:spTgt spid="8"/>
                                        </p:tgtEl>
                                      </p:cBhvr>
                                    </p:animEffect>
                                    <p:anim calcmode="lin" valueType="num">
                                      <p:cBhvr>
                                        <p:cTn id="16" dur="1000" fill="hold"/>
                                        <p:tgtEl>
                                          <p:spTgt spid="8"/>
                                        </p:tgtEl>
                                        <p:attrNameLst>
                                          <p:attrName>ppt_x</p:attrName>
                                        </p:attrNameLst>
                                      </p:cBhvr>
                                      <p:tavLst>
                                        <p:tav tm="0">
                                          <p:val>
                                            <p:strVal val="#ppt_x"/>
                                          </p:val>
                                        </p:tav>
                                        <p:tav tm="100000">
                                          <p:val>
                                            <p:strVal val="#ppt_x"/>
                                          </p:val>
                                        </p:tav>
                                      </p:tavLst>
                                    </p:anim>
                                    <p:anim calcmode="lin" valueType="num">
                                      <p:cBhvr>
                                        <p:cTn id="17" dur="1000" fill="hold"/>
                                        <p:tgtEl>
                                          <p:spTgt spid="8"/>
                                        </p:tgtEl>
                                        <p:attrNameLst>
                                          <p:attrName>ppt_y</p:attrName>
                                        </p:attrNameLst>
                                      </p:cBhvr>
                                      <p:tavLst>
                                        <p:tav tm="0">
                                          <p:val>
                                            <p:strVal val="#ppt_y+.1"/>
                                          </p:val>
                                        </p:tav>
                                        <p:tav tm="100000">
                                          <p:val>
                                            <p:strVal val="#ppt_y"/>
                                          </p:val>
                                        </p:tav>
                                      </p:tavLst>
                                    </p:anim>
                                  </p:childTnLst>
                                </p:cTn>
                              </p:par>
                              <p:par>
                                <p:cTn id="18" presetID="42" presetClass="entr" presetSubtype="0" fill="hold"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1000"/>
                                        <p:tgtEl>
                                          <p:spTgt spid="9"/>
                                        </p:tgtEl>
                                      </p:cBhvr>
                                    </p:animEffect>
                                    <p:anim calcmode="lin" valueType="num">
                                      <p:cBhvr>
                                        <p:cTn id="21" dur="1000" fill="hold"/>
                                        <p:tgtEl>
                                          <p:spTgt spid="9"/>
                                        </p:tgtEl>
                                        <p:attrNameLst>
                                          <p:attrName>ppt_x</p:attrName>
                                        </p:attrNameLst>
                                      </p:cBhvr>
                                      <p:tavLst>
                                        <p:tav tm="0">
                                          <p:val>
                                            <p:strVal val="#ppt_x"/>
                                          </p:val>
                                        </p:tav>
                                        <p:tav tm="100000">
                                          <p:val>
                                            <p:strVal val="#ppt_x"/>
                                          </p:val>
                                        </p:tav>
                                      </p:tavLst>
                                    </p:anim>
                                    <p:anim calcmode="lin" valueType="num">
                                      <p:cBhvr>
                                        <p:cTn id="22" dur="1000" fill="hold"/>
                                        <p:tgtEl>
                                          <p:spTgt spid="9"/>
                                        </p:tgtEl>
                                        <p:attrNameLst>
                                          <p:attrName>ppt_y</p:attrName>
                                        </p:attrNameLst>
                                      </p:cBhvr>
                                      <p:tavLst>
                                        <p:tav tm="0">
                                          <p:val>
                                            <p:strVal val="#ppt_y+.1"/>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1000"/>
                                        <p:tgtEl>
                                          <p:spTgt spid="10"/>
                                        </p:tgtEl>
                                      </p:cBhvr>
                                    </p:animEffect>
                                    <p:anim calcmode="lin" valueType="num">
                                      <p:cBhvr>
                                        <p:cTn id="26" dur="1000" fill="hold"/>
                                        <p:tgtEl>
                                          <p:spTgt spid="10"/>
                                        </p:tgtEl>
                                        <p:attrNameLst>
                                          <p:attrName>ppt_x</p:attrName>
                                        </p:attrNameLst>
                                      </p:cBhvr>
                                      <p:tavLst>
                                        <p:tav tm="0">
                                          <p:val>
                                            <p:strVal val="#ppt_x"/>
                                          </p:val>
                                        </p:tav>
                                        <p:tav tm="100000">
                                          <p:val>
                                            <p:strVal val="#ppt_x"/>
                                          </p:val>
                                        </p:tav>
                                      </p:tavLst>
                                    </p:anim>
                                    <p:anim calcmode="lin" valueType="num">
                                      <p:cBhvr>
                                        <p:cTn id="27" dur="1000" fill="hold"/>
                                        <p:tgtEl>
                                          <p:spTgt spid="10"/>
                                        </p:tgtEl>
                                        <p:attrNameLst>
                                          <p:attrName>ppt_y</p:attrName>
                                        </p:attrNameLst>
                                      </p:cBhvr>
                                      <p:tavLst>
                                        <p:tav tm="0">
                                          <p:val>
                                            <p:strVal val="#ppt_y+.1"/>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1000"/>
                                        <p:tgtEl>
                                          <p:spTgt spid="11"/>
                                        </p:tgtEl>
                                      </p:cBhvr>
                                    </p:animEffect>
                                    <p:anim calcmode="lin" valueType="num">
                                      <p:cBhvr>
                                        <p:cTn id="31" dur="1000" fill="hold"/>
                                        <p:tgtEl>
                                          <p:spTgt spid="11"/>
                                        </p:tgtEl>
                                        <p:attrNameLst>
                                          <p:attrName>ppt_x</p:attrName>
                                        </p:attrNameLst>
                                      </p:cBhvr>
                                      <p:tavLst>
                                        <p:tav tm="0">
                                          <p:val>
                                            <p:strVal val="#ppt_x"/>
                                          </p:val>
                                        </p:tav>
                                        <p:tav tm="100000">
                                          <p:val>
                                            <p:strVal val="#ppt_x"/>
                                          </p:val>
                                        </p:tav>
                                      </p:tavLst>
                                    </p:anim>
                                    <p:anim calcmode="lin" valueType="num">
                                      <p:cBhvr>
                                        <p:cTn id="32" dur="1000" fill="hold"/>
                                        <p:tgtEl>
                                          <p:spTgt spid="11"/>
                                        </p:tgtEl>
                                        <p:attrNameLst>
                                          <p:attrName>ppt_y</p:attrName>
                                        </p:attrNameLst>
                                      </p:cBhvr>
                                      <p:tavLst>
                                        <p:tav tm="0">
                                          <p:val>
                                            <p:strVal val="#ppt_y+.1"/>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1000"/>
                                        <p:tgtEl>
                                          <p:spTgt spid="12"/>
                                        </p:tgtEl>
                                      </p:cBhvr>
                                    </p:animEffect>
                                    <p:anim calcmode="lin" valueType="num">
                                      <p:cBhvr>
                                        <p:cTn id="36" dur="1000" fill="hold"/>
                                        <p:tgtEl>
                                          <p:spTgt spid="12"/>
                                        </p:tgtEl>
                                        <p:attrNameLst>
                                          <p:attrName>ppt_x</p:attrName>
                                        </p:attrNameLst>
                                      </p:cBhvr>
                                      <p:tavLst>
                                        <p:tav tm="0">
                                          <p:val>
                                            <p:strVal val="#ppt_x"/>
                                          </p:val>
                                        </p:tav>
                                        <p:tav tm="100000">
                                          <p:val>
                                            <p:strVal val="#ppt_x"/>
                                          </p:val>
                                        </p:tav>
                                      </p:tavLst>
                                    </p:anim>
                                    <p:anim calcmode="lin" valueType="num">
                                      <p:cBhvr>
                                        <p:cTn id="37" dur="1000" fill="hold"/>
                                        <p:tgtEl>
                                          <p:spTgt spid="12"/>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1000"/>
                                        <p:tgtEl>
                                          <p:spTgt spid="13"/>
                                        </p:tgtEl>
                                      </p:cBhvr>
                                    </p:animEffect>
                                    <p:anim calcmode="lin" valueType="num">
                                      <p:cBhvr>
                                        <p:cTn id="41" dur="1000" fill="hold"/>
                                        <p:tgtEl>
                                          <p:spTgt spid="13"/>
                                        </p:tgtEl>
                                        <p:attrNameLst>
                                          <p:attrName>ppt_x</p:attrName>
                                        </p:attrNameLst>
                                      </p:cBhvr>
                                      <p:tavLst>
                                        <p:tav tm="0">
                                          <p:val>
                                            <p:strVal val="#ppt_x"/>
                                          </p:val>
                                        </p:tav>
                                        <p:tav tm="100000">
                                          <p:val>
                                            <p:strVal val="#ppt_x"/>
                                          </p:val>
                                        </p:tav>
                                      </p:tavLst>
                                    </p:anim>
                                    <p:anim calcmode="lin" valueType="num">
                                      <p:cBhvr>
                                        <p:cTn id="42" dur="1000" fill="hold"/>
                                        <p:tgtEl>
                                          <p:spTgt spid="13"/>
                                        </p:tgtEl>
                                        <p:attrNameLst>
                                          <p:attrName>ppt_y</p:attrName>
                                        </p:attrNameLst>
                                      </p:cBhvr>
                                      <p:tavLst>
                                        <p:tav tm="0">
                                          <p:val>
                                            <p:strVal val="#ppt_y+.1"/>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fade">
                                      <p:cBhvr>
                                        <p:cTn id="45" dur="1000"/>
                                        <p:tgtEl>
                                          <p:spTgt spid="14"/>
                                        </p:tgtEl>
                                      </p:cBhvr>
                                    </p:animEffect>
                                    <p:anim calcmode="lin" valueType="num">
                                      <p:cBhvr>
                                        <p:cTn id="46" dur="1000" fill="hold"/>
                                        <p:tgtEl>
                                          <p:spTgt spid="14"/>
                                        </p:tgtEl>
                                        <p:attrNameLst>
                                          <p:attrName>ppt_x</p:attrName>
                                        </p:attrNameLst>
                                      </p:cBhvr>
                                      <p:tavLst>
                                        <p:tav tm="0">
                                          <p:val>
                                            <p:strVal val="#ppt_x"/>
                                          </p:val>
                                        </p:tav>
                                        <p:tav tm="100000">
                                          <p:val>
                                            <p:strVal val="#ppt_x"/>
                                          </p:val>
                                        </p:tav>
                                      </p:tavLst>
                                    </p:anim>
                                    <p:anim calcmode="lin" valueType="num">
                                      <p:cBhvr>
                                        <p:cTn id="47" dur="1000" fill="hold"/>
                                        <p:tgtEl>
                                          <p:spTgt spid="14"/>
                                        </p:tgtEl>
                                        <p:attrNameLst>
                                          <p:attrName>ppt_y</p:attrName>
                                        </p:attrNameLst>
                                      </p:cBhvr>
                                      <p:tavLst>
                                        <p:tav tm="0">
                                          <p:val>
                                            <p:strVal val="#ppt_y+.1"/>
                                          </p:val>
                                        </p:tav>
                                        <p:tav tm="100000">
                                          <p:val>
                                            <p:strVal val="#ppt_y"/>
                                          </p:val>
                                        </p:tav>
                                      </p:tavLst>
                                    </p:anim>
                                  </p:childTnLst>
                                </p:cTn>
                              </p:par>
                              <p:par>
                                <p:cTn id="48" presetID="42" presetClass="entr" presetSubtype="0" fill="hold" grpId="0" nodeType="with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1000"/>
                                        <p:tgtEl>
                                          <p:spTgt spid="15"/>
                                        </p:tgtEl>
                                      </p:cBhvr>
                                    </p:animEffect>
                                    <p:anim calcmode="lin" valueType="num">
                                      <p:cBhvr>
                                        <p:cTn id="51" dur="1000" fill="hold"/>
                                        <p:tgtEl>
                                          <p:spTgt spid="15"/>
                                        </p:tgtEl>
                                        <p:attrNameLst>
                                          <p:attrName>ppt_x</p:attrName>
                                        </p:attrNameLst>
                                      </p:cBhvr>
                                      <p:tavLst>
                                        <p:tav tm="0">
                                          <p:val>
                                            <p:strVal val="#ppt_x"/>
                                          </p:val>
                                        </p:tav>
                                        <p:tav tm="100000">
                                          <p:val>
                                            <p:strVal val="#ppt_x"/>
                                          </p:val>
                                        </p:tav>
                                      </p:tavLst>
                                    </p:anim>
                                    <p:anim calcmode="lin" valueType="num">
                                      <p:cBhvr>
                                        <p:cTn id="52" dur="1000" fill="hold"/>
                                        <p:tgtEl>
                                          <p:spTgt spid="15"/>
                                        </p:tgtEl>
                                        <p:attrNameLst>
                                          <p:attrName>ppt_y</p:attrName>
                                        </p:attrNameLst>
                                      </p:cBhvr>
                                      <p:tavLst>
                                        <p:tav tm="0">
                                          <p:val>
                                            <p:strVal val="#ppt_y+.1"/>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16"/>
                                        </p:tgtEl>
                                        <p:attrNameLst>
                                          <p:attrName>style.visibility</p:attrName>
                                        </p:attrNameLst>
                                      </p:cBhvr>
                                      <p:to>
                                        <p:strVal val="visible"/>
                                      </p:to>
                                    </p:set>
                                    <p:animEffect transition="in" filter="fade">
                                      <p:cBhvr>
                                        <p:cTn id="55" dur="1000"/>
                                        <p:tgtEl>
                                          <p:spTgt spid="16"/>
                                        </p:tgtEl>
                                      </p:cBhvr>
                                    </p:animEffect>
                                    <p:anim calcmode="lin" valueType="num">
                                      <p:cBhvr>
                                        <p:cTn id="56" dur="1000" fill="hold"/>
                                        <p:tgtEl>
                                          <p:spTgt spid="16"/>
                                        </p:tgtEl>
                                        <p:attrNameLst>
                                          <p:attrName>ppt_x</p:attrName>
                                        </p:attrNameLst>
                                      </p:cBhvr>
                                      <p:tavLst>
                                        <p:tav tm="0">
                                          <p:val>
                                            <p:strVal val="#ppt_x"/>
                                          </p:val>
                                        </p:tav>
                                        <p:tav tm="100000">
                                          <p:val>
                                            <p:strVal val="#ppt_x"/>
                                          </p:val>
                                        </p:tav>
                                      </p:tavLst>
                                    </p:anim>
                                    <p:anim calcmode="lin" valueType="num">
                                      <p:cBhvr>
                                        <p:cTn id="57"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10" grpId="0"/>
      <p:bldP spid="11" grpId="0" animBg="1"/>
      <p:bldP spid="12" grpId="0"/>
      <p:bldP spid="13" grpId="0" animBg="1"/>
      <p:bldP spid="14" grpId="0"/>
      <p:bldP spid="15" grpId="0" animBg="1"/>
      <p:bldP spid="1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58662575-992D-4B90-B64C-887B6CAEA5F9}"/>
              </a:ext>
            </a:extLst>
          </p:cNvPr>
          <p:cNvSpPr/>
          <p:nvPr/>
        </p:nvSpPr>
        <p:spPr>
          <a:xfrm>
            <a:off x="4591" y="584495"/>
            <a:ext cx="12158444" cy="1077218"/>
          </a:xfrm>
          <a:prstGeom prst="rect">
            <a:avLst/>
          </a:prstGeom>
        </p:spPr>
        <p:txBody>
          <a:bodyPr wrap="square">
            <a:spAutoFit/>
          </a:bodyPr>
          <a:lstStyle/>
          <a:p>
            <a:pPr marL="0" lvl="1"/>
            <a:r>
              <a:rPr lang="zh-CN" altLang="en-US" sz="3200" b="1" dirty="0">
                <a:latin typeface="隶书" pitchFamily="49" charset="-122"/>
              </a:rPr>
              <a:t>指针变量可以指向一维数组中的元素，也可以指向多维数组中的元素。通过指针访问二维数组中的元素有两种方式：</a:t>
            </a:r>
          </a:p>
        </p:txBody>
      </p:sp>
      <p:sp>
        <p:nvSpPr>
          <p:cNvPr id="5" name="矩形 4">
            <a:extLst>
              <a:ext uri="{FF2B5EF4-FFF2-40B4-BE49-F238E27FC236}">
                <a16:creationId xmlns:a16="http://schemas.microsoft.com/office/drawing/2014/main" id="{CABCE8A6-7732-4C84-B748-D581A70D8A67}"/>
              </a:ext>
            </a:extLst>
          </p:cNvPr>
          <p:cNvSpPr/>
          <p:nvPr/>
        </p:nvSpPr>
        <p:spPr>
          <a:xfrm>
            <a:off x="318347" y="2036753"/>
            <a:ext cx="11709066" cy="1661993"/>
          </a:xfrm>
          <a:prstGeom prst="rect">
            <a:avLst/>
          </a:prstGeom>
        </p:spPr>
        <p:txBody>
          <a:bodyPr wrap="square">
            <a:spAutoFit/>
          </a:bodyPr>
          <a:lstStyle/>
          <a:p>
            <a:pPr marL="0" lvl="1"/>
            <a:r>
              <a:rPr lang="en-US" altLang="zh-CN" sz="2800" b="1" dirty="0">
                <a:solidFill>
                  <a:srgbClr val="00B0F0"/>
                </a:solidFill>
                <a:latin typeface="微软雅黑" panose="020B0503020204020204" pitchFamily="34" charset="-122"/>
                <a:ea typeface="微软雅黑" panose="020B0503020204020204" pitchFamily="34" charset="-122"/>
              </a:rPr>
              <a:t>1. </a:t>
            </a:r>
            <a:r>
              <a:rPr lang="zh-CN" altLang="en-US" sz="2800" b="1" dirty="0">
                <a:solidFill>
                  <a:srgbClr val="00B0F0"/>
                </a:solidFill>
                <a:latin typeface="微软雅黑" panose="020B0503020204020204" pitchFamily="34" charset="-122"/>
                <a:ea typeface="微软雅黑" panose="020B0503020204020204" pitchFamily="34" charset="-122"/>
              </a:rPr>
              <a:t>按二维数组的存储结构访问数组元素</a:t>
            </a:r>
            <a:endParaRPr lang="en-US" altLang="zh-CN" sz="2800" b="1" dirty="0">
              <a:solidFill>
                <a:srgbClr val="00B0F0"/>
              </a:solidFill>
              <a:latin typeface="微软雅黑" panose="020B0503020204020204" pitchFamily="34" charset="-122"/>
              <a:ea typeface="微软雅黑" panose="020B0503020204020204" pitchFamily="34" charset="-122"/>
            </a:endParaRPr>
          </a:p>
          <a:p>
            <a:pPr marL="0" lvl="1">
              <a:spcBef>
                <a:spcPts val="1200"/>
              </a:spcBef>
            </a:pPr>
            <a:r>
              <a:rPr lang="zh-CN" altLang="en-US" sz="3200" b="1" dirty="0">
                <a:latin typeface="隶书" panose="02010509060101010101" pitchFamily="49" charset="-122"/>
                <a:ea typeface="隶书" panose="02010509060101010101" pitchFamily="49" charset="-122"/>
              </a:rPr>
              <a:t>二维数组元素在内存中的存储结构是一维的，因此可将二维数组当成一维数组，通过指针变量进行访问。</a:t>
            </a:r>
            <a:endParaRPr lang="en-US" altLang="zh-CN" sz="3200" b="1" dirty="0">
              <a:latin typeface="隶书" panose="02010509060101010101" pitchFamily="49" charset="-122"/>
              <a:ea typeface="隶书" panose="02010509060101010101" pitchFamily="49" charset="-122"/>
            </a:endParaRPr>
          </a:p>
        </p:txBody>
      </p:sp>
      <p:sp>
        <p:nvSpPr>
          <p:cNvPr id="17" name="矩形 16">
            <a:extLst>
              <a:ext uri="{FF2B5EF4-FFF2-40B4-BE49-F238E27FC236}">
                <a16:creationId xmlns:a16="http://schemas.microsoft.com/office/drawing/2014/main" id="{43507396-805D-473B-A126-94A57DDE92FB}"/>
              </a:ext>
            </a:extLst>
          </p:cNvPr>
          <p:cNvSpPr/>
          <p:nvPr/>
        </p:nvSpPr>
        <p:spPr>
          <a:xfrm>
            <a:off x="318347" y="4029510"/>
            <a:ext cx="11709066" cy="1661993"/>
          </a:xfrm>
          <a:prstGeom prst="rect">
            <a:avLst/>
          </a:prstGeom>
        </p:spPr>
        <p:txBody>
          <a:bodyPr wrap="square">
            <a:spAutoFit/>
          </a:bodyPr>
          <a:lstStyle/>
          <a:p>
            <a:pPr marL="0" lvl="1"/>
            <a:r>
              <a:rPr lang="en-US" altLang="zh-CN" sz="2800" b="1" dirty="0">
                <a:solidFill>
                  <a:srgbClr val="00B0F0"/>
                </a:solidFill>
                <a:latin typeface="微软雅黑" panose="020B0503020204020204" pitchFamily="34" charset="-122"/>
                <a:ea typeface="微软雅黑" panose="020B0503020204020204" pitchFamily="34" charset="-122"/>
              </a:rPr>
              <a:t>2. </a:t>
            </a:r>
            <a:r>
              <a:rPr lang="zh-CN" altLang="en-US" sz="2800" b="1" dirty="0">
                <a:solidFill>
                  <a:srgbClr val="00B0F0"/>
                </a:solidFill>
                <a:latin typeface="微软雅黑" panose="020B0503020204020204" pitchFamily="34" charset="-122"/>
                <a:ea typeface="微软雅黑" panose="020B0503020204020204" pitchFamily="34" charset="-122"/>
              </a:rPr>
              <a:t>行指针</a:t>
            </a:r>
            <a:endParaRPr lang="en-US" altLang="zh-CN" sz="2800" b="1" dirty="0">
              <a:solidFill>
                <a:srgbClr val="00B0F0"/>
              </a:solidFill>
              <a:latin typeface="微软雅黑" panose="020B0503020204020204" pitchFamily="34" charset="-122"/>
              <a:ea typeface="微软雅黑" panose="020B0503020204020204" pitchFamily="34" charset="-122"/>
            </a:endParaRPr>
          </a:p>
          <a:p>
            <a:pPr marL="0" lvl="1">
              <a:spcBef>
                <a:spcPts val="1200"/>
              </a:spcBef>
            </a:pPr>
            <a:r>
              <a:rPr lang="zh-CN" altLang="en-US" sz="3200" b="1" dirty="0">
                <a:latin typeface="隶书" panose="02010509060101010101" pitchFamily="49" charset="-122"/>
                <a:ea typeface="隶书" panose="02010509060101010101" pitchFamily="49" charset="-122"/>
              </a:rPr>
              <a:t>可以把二维数组看成是由多个一维子数组组成，即二维数组的每一行对应一个一维子数组。</a:t>
            </a:r>
          </a:p>
        </p:txBody>
      </p:sp>
      <p:sp>
        <p:nvSpPr>
          <p:cNvPr id="18" name="灯片编号占位符 17">
            <a:extLst>
              <a:ext uri="{FF2B5EF4-FFF2-40B4-BE49-F238E27FC236}">
                <a16:creationId xmlns:a16="http://schemas.microsoft.com/office/drawing/2014/main" id="{51F065B3-AADE-4A04-9B1F-7B197EA3AFB8}"/>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17</a:t>
            </a:fld>
            <a:r>
              <a:rPr lang="en-US" altLang="zh-CN">
                <a:solidFill>
                  <a:prstClr val="black">
                    <a:tint val="75000"/>
                  </a:prstClr>
                </a:solidFill>
              </a:rPr>
              <a:t>/ 35</a:t>
            </a:r>
            <a:endParaRPr lang="zh-CN" altLang="en-US" dirty="0"/>
          </a:p>
        </p:txBody>
      </p:sp>
      <p:sp>
        <p:nvSpPr>
          <p:cNvPr id="7" name="文本框 6">
            <a:extLst>
              <a:ext uri="{FF2B5EF4-FFF2-40B4-BE49-F238E27FC236}">
                <a16:creationId xmlns:a16="http://schemas.microsoft.com/office/drawing/2014/main" id="{567C17D3-1BAB-42ED-956C-F6A4BC8C93D7}"/>
              </a:ext>
            </a:extLst>
          </p:cNvPr>
          <p:cNvSpPr txBox="1"/>
          <p:nvPr/>
        </p:nvSpPr>
        <p:spPr>
          <a:xfrm>
            <a:off x="2507464" y="-59476"/>
            <a:ext cx="4768993"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指针与二维数组</a:t>
            </a:r>
            <a:endParaRPr lang="zh-CN" altLang="en-US" sz="3200" b="1" dirty="0">
              <a:solidFill>
                <a:srgbClr val="200AC4"/>
              </a:solidFill>
              <a:ea typeface="隶书" pitchFamily="49" charset="-122"/>
            </a:endParaRPr>
          </a:p>
        </p:txBody>
      </p:sp>
    </p:spTree>
    <p:extLst>
      <p:ext uri="{BB962C8B-B14F-4D97-AF65-F5344CB8AC3E}">
        <p14:creationId xmlns:p14="http://schemas.microsoft.com/office/powerpoint/2010/main" val="2255507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grpId="0"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1000"/>
                                        <p:tgtEl>
                                          <p:spTgt spid="17"/>
                                        </p:tgtEl>
                                      </p:cBhvr>
                                    </p:animEffect>
                                    <p:anim calcmode="lin" valueType="num">
                                      <p:cBhvr>
                                        <p:cTn id="15" dur="1000" fill="hold"/>
                                        <p:tgtEl>
                                          <p:spTgt spid="17"/>
                                        </p:tgtEl>
                                        <p:attrNameLst>
                                          <p:attrName>ppt_x</p:attrName>
                                        </p:attrNameLst>
                                      </p:cBhvr>
                                      <p:tavLst>
                                        <p:tav tm="0">
                                          <p:val>
                                            <p:strVal val="#ppt_x"/>
                                          </p:val>
                                        </p:tav>
                                        <p:tav tm="100000">
                                          <p:val>
                                            <p:strVal val="#ppt_x"/>
                                          </p:val>
                                        </p:tav>
                                      </p:tavLst>
                                    </p:anim>
                                    <p:anim calcmode="lin" valueType="num">
                                      <p:cBhvr>
                                        <p:cTn id="16"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CABCE8A6-7732-4C84-B748-D581A70D8A67}"/>
              </a:ext>
            </a:extLst>
          </p:cNvPr>
          <p:cNvSpPr/>
          <p:nvPr/>
        </p:nvSpPr>
        <p:spPr>
          <a:xfrm>
            <a:off x="7197" y="589079"/>
            <a:ext cx="11709066" cy="523220"/>
          </a:xfrm>
          <a:prstGeom prst="rect">
            <a:avLst/>
          </a:prstGeom>
        </p:spPr>
        <p:txBody>
          <a:bodyPr wrap="square">
            <a:spAutoFit/>
          </a:bodyPr>
          <a:lstStyle/>
          <a:p>
            <a:pPr marL="0" lvl="1"/>
            <a:r>
              <a:rPr lang="en-US" altLang="zh-CN" sz="2800" b="1" dirty="0">
                <a:solidFill>
                  <a:srgbClr val="00B0F0"/>
                </a:solidFill>
                <a:latin typeface="微软雅黑" panose="020B0503020204020204" pitchFamily="34" charset="-122"/>
                <a:ea typeface="微软雅黑" panose="020B0503020204020204" pitchFamily="34" charset="-122"/>
              </a:rPr>
              <a:t>1. </a:t>
            </a:r>
            <a:r>
              <a:rPr lang="zh-CN" altLang="en-US" sz="2800" b="1" dirty="0">
                <a:solidFill>
                  <a:srgbClr val="00B0F0"/>
                </a:solidFill>
                <a:latin typeface="微软雅黑" panose="020B0503020204020204" pitchFamily="34" charset="-122"/>
                <a:ea typeface="微软雅黑" panose="020B0503020204020204" pitchFamily="34" charset="-122"/>
              </a:rPr>
              <a:t>按二维数组的存储结构访问数组元素</a:t>
            </a:r>
            <a:endParaRPr lang="en-US" altLang="zh-CN" sz="3200" b="1" dirty="0">
              <a:latin typeface="隶书" panose="02010509060101010101" pitchFamily="49" charset="-122"/>
              <a:ea typeface="隶书" panose="02010509060101010101" pitchFamily="49" charset="-122"/>
            </a:endParaRPr>
          </a:p>
        </p:txBody>
      </p:sp>
      <p:sp>
        <p:nvSpPr>
          <p:cNvPr id="7" name="矩形 6">
            <a:extLst>
              <a:ext uri="{FF2B5EF4-FFF2-40B4-BE49-F238E27FC236}">
                <a16:creationId xmlns:a16="http://schemas.microsoft.com/office/drawing/2014/main" id="{5C2A2FC3-6255-4662-8D67-B425AB6E633F}"/>
              </a:ext>
            </a:extLst>
          </p:cNvPr>
          <p:cNvSpPr/>
          <p:nvPr/>
        </p:nvSpPr>
        <p:spPr>
          <a:xfrm>
            <a:off x="16777" y="1167007"/>
            <a:ext cx="12175223" cy="461665"/>
          </a:xfrm>
          <a:prstGeom prst="rect">
            <a:avLst/>
          </a:prstGeom>
        </p:spPr>
        <p:txBody>
          <a:bodyPr wrap="square">
            <a:spAutoFit/>
          </a:bodyPr>
          <a:lstStyle/>
          <a:p>
            <a:pPr marL="0" lvl="1"/>
            <a:r>
              <a:rPr lang="zh-CN" altLang="en-US" sz="2400" b="1" dirty="0">
                <a:latin typeface="隶书" pitchFamily="49" charset="-122"/>
              </a:rPr>
              <a:t>例</a:t>
            </a:r>
            <a:r>
              <a:rPr lang="en-US" altLang="zh-CN" sz="2400" b="1" dirty="0">
                <a:latin typeface="隶书" pitchFamily="49" charset="-122"/>
              </a:rPr>
              <a:t>【</a:t>
            </a:r>
            <a:r>
              <a:rPr lang="en-US" altLang="zh-CN" sz="2400" b="1" dirty="0">
                <a:solidFill>
                  <a:srgbClr val="00B0F0"/>
                </a:solidFill>
                <a:latin typeface="隶书" pitchFamily="49" charset="-122"/>
              </a:rPr>
              <a:t>5-3</a:t>
            </a:r>
            <a:r>
              <a:rPr lang="en-US" altLang="zh-CN" sz="2400" b="1" dirty="0">
                <a:latin typeface="隶书" pitchFamily="49" charset="-122"/>
              </a:rPr>
              <a:t>】</a:t>
            </a:r>
            <a:r>
              <a:rPr lang="zh-CN" altLang="en-US" sz="2400" b="1" dirty="0">
                <a:latin typeface="隶书" pitchFamily="49" charset="-122"/>
              </a:rPr>
              <a:t>定义一个二行四列的整型数组，从键盘输入数据，用指针求所有元素之和。</a:t>
            </a:r>
          </a:p>
        </p:txBody>
      </p:sp>
      <p:sp>
        <p:nvSpPr>
          <p:cNvPr id="8" name="Rectangle 2">
            <a:extLst>
              <a:ext uri="{FF2B5EF4-FFF2-40B4-BE49-F238E27FC236}">
                <a16:creationId xmlns:a16="http://schemas.microsoft.com/office/drawing/2014/main" id="{03BFA985-0715-4F7D-A3BA-B75272E551C6}"/>
              </a:ext>
            </a:extLst>
          </p:cNvPr>
          <p:cNvSpPr txBox="1">
            <a:spLocks noChangeArrowheads="1"/>
          </p:cNvSpPr>
          <p:nvPr/>
        </p:nvSpPr>
        <p:spPr>
          <a:xfrm>
            <a:off x="584708" y="1759844"/>
            <a:ext cx="7403592" cy="5078313"/>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Font typeface="Arial" panose="020B0604020202020204" pitchFamily="34" charset="0"/>
              <a:buNone/>
            </a:pPr>
            <a:r>
              <a:rPr lang="en-US" altLang="zh-CN" sz="2400" b="1" dirty="0">
                <a:solidFill>
                  <a:srgbClr val="0000FF"/>
                </a:solidFill>
              </a:rPr>
              <a:t>int </a:t>
            </a:r>
            <a:r>
              <a:rPr lang="en-US" altLang="zh-CN" sz="2400" b="1" dirty="0"/>
              <a:t>main()</a:t>
            </a:r>
          </a:p>
          <a:p>
            <a:pPr marL="0" indent="0">
              <a:lnSpc>
                <a:spcPct val="100000"/>
              </a:lnSpc>
              <a:spcBef>
                <a:spcPct val="0"/>
              </a:spcBef>
              <a:buClr>
                <a:schemeClr val="tx2"/>
              </a:buClr>
              <a:buSzPct val="70000"/>
              <a:buFont typeface="Arial" panose="020B0604020202020204" pitchFamily="34" charset="0"/>
              <a:buNone/>
            </a:pPr>
            <a:r>
              <a:rPr lang="en-US" altLang="zh-CN" sz="2400" b="1" dirty="0">
                <a:solidFill>
                  <a:srgbClr val="FF0000"/>
                </a:solidFill>
              </a:rPr>
              <a:t>{</a:t>
            </a:r>
          </a:p>
          <a:p>
            <a:pPr marL="0" indent="0">
              <a:lnSpc>
                <a:spcPct val="100000"/>
              </a:lnSpc>
              <a:spcBef>
                <a:spcPct val="0"/>
              </a:spcBef>
              <a:buClr>
                <a:schemeClr val="tx2"/>
              </a:buClr>
              <a:buSzPct val="70000"/>
              <a:buFont typeface="Arial" panose="020B0604020202020204" pitchFamily="34" charset="0"/>
              <a:buNone/>
            </a:pPr>
            <a:r>
              <a:rPr lang="en-US" altLang="zh-CN" sz="2400" b="1" dirty="0">
                <a:solidFill>
                  <a:srgbClr val="0000FF"/>
                </a:solidFill>
              </a:rPr>
              <a:t>   int </a:t>
            </a:r>
            <a:r>
              <a:rPr lang="en-US" altLang="zh-CN" sz="2400" b="1" dirty="0"/>
              <a:t>a</a:t>
            </a:r>
            <a:r>
              <a:rPr lang="en-US" altLang="zh-CN" sz="2400" b="1" dirty="0">
                <a:solidFill>
                  <a:srgbClr val="FF0000"/>
                </a:solidFill>
              </a:rPr>
              <a:t>[</a:t>
            </a:r>
            <a:r>
              <a:rPr lang="en-US" altLang="zh-CN" sz="2400" b="1" dirty="0"/>
              <a:t>2</a:t>
            </a:r>
            <a:r>
              <a:rPr lang="en-US" altLang="zh-CN" sz="2400" b="1" dirty="0">
                <a:solidFill>
                  <a:srgbClr val="FF0000"/>
                </a:solidFill>
              </a:rPr>
              <a:t>][</a:t>
            </a:r>
            <a:r>
              <a:rPr lang="en-US" altLang="zh-CN" sz="2400" b="1" dirty="0"/>
              <a:t>4</a:t>
            </a:r>
            <a:r>
              <a:rPr lang="en-US" altLang="zh-CN" sz="2400" b="1" dirty="0">
                <a:solidFill>
                  <a:srgbClr val="FF0000"/>
                </a:solidFill>
              </a:rPr>
              <a:t>]</a:t>
            </a:r>
            <a:r>
              <a:rPr lang="en-US" altLang="zh-CN" sz="2400" b="1" dirty="0"/>
              <a:t>,</a:t>
            </a:r>
            <a:r>
              <a:rPr lang="en-US" altLang="zh-CN" sz="2400" b="1" dirty="0">
                <a:solidFill>
                  <a:srgbClr val="FF0000"/>
                </a:solidFill>
              </a:rPr>
              <a:t> *</a:t>
            </a:r>
            <a:r>
              <a:rPr lang="en-US" altLang="zh-CN" sz="2400" b="1" dirty="0"/>
              <a:t>p = </a:t>
            </a:r>
            <a:r>
              <a:rPr lang="en-US" altLang="zh-CN" sz="2400" b="1" dirty="0">
                <a:solidFill>
                  <a:srgbClr val="FF0000"/>
                </a:solidFill>
              </a:rPr>
              <a:t>&amp;</a:t>
            </a:r>
            <a:r>
              <a:rPr lang="en-US" altLang="zh-CN" sz="2400" b="1" dirty="0"/>
              <a:t>a</a:t>
            </a:r>
            <a:r>
              <a:rPr lang="en-US" altLang="zh-CN" sz="2400" b="1" dirty="0">
                <a:solidFill>
                  <a:srgbClr val="FF0000"/>
                </a:solidFill>
              </a:rPr>
              <a:t>[</a:t>
            </a:r>
            <a:r>
              <a:rPr lang="en-US" altLang="zh-CN" sz="2400" b="1" dirty="0"/>
              <a:t>0</a:t>
            </a:r>
            <a:r>
              <a:rPr lang="en-US" altLang="zh-CN" sz="2400" b="1" dirty="0">
                <a:solidFill>
                  <a:srgbClr val="FF0000"/>
                </a:solidFill>
              </a:rPr>
              <a:t>][</a:t>
            </a:r>
            <a:r>
              <a:rPr lang="en-US" altLang="zh-CN" sz="2400" b="1" dirty="0"/>
              <a:t>0</a:t>
            </a:r>
            <a:r>
              <a:rPr lang="en-US" altLang="zh-CN" sz="2400" b="1" dirty="0">
                <a:solidFill>
                  <a:srgbClr val="FF0000"/>
                </a:solidFill>
              </a:rPr>
              <a:t>]</a:t>
            </a:r>
            <a:r>
              <a:rPr lang="en-US" altLang="zh-CN" sz="2400" b="1" dirty="0"/>
              <a:t>, sum = 0;</a:t>
            </a:r>
          </a:p>
          <a:p>
            <a:pPr marL="0" indent="0">
              <a:lnSpc>
                <a:spcPct val="100000"/>
              </a:lnSpc>
              <a:spcBef>
                <a:spcPct val="0"/>
              </a:spcBef>
              <a:buClr>
                <a:schemeClr val="tx2"/>
              </a:buClr>
              <a:buSzPct val="70000"/>
              <a:buFont typeface="Arial" panose="020B0604020202020204" pitchFamily="34" charset="0"/>
              <a:buNone/>
            </a:pPr>
            <a:endParaRPr lang="en-US" altLang="zh-CN" sz="2400" b="1" dirty="0"/>
          </a:p>
          <a:p>
            <a:pPr marL="0" indent="0">
              <a:lnSpc>
                <a:spcPct val="100000"/>
              </a:lnSpc>
              <a:spcBef>
                <a:spcPct val="0"/>
              </a:spcBef>
              <a:buClr>
                <a:schemeClr val="tx2"/>
              </a:buClr>
              <a:buSzPct val="70000"/>
              <a:buFont typeface="Arial" panose="020B0604020202020204" pitchFamily="34" charset="0"/>
              <a:buNone/>
            </a:pPr>
            <a:r>
              <a:rPr lang="en-US" altLang="zh-CN" sz="2400" b="1" dirty="0"/>
              <a:t>   </a:t>
            </a:r>
            <a:r>
              <a:rPr lang="en-US" altLang="zh-CN" sz="2400" b="1" dirty="0">
                <a:solidFill>
                  <a:srgbClr val="0000FF"/>
                </a:solidFill>
              </a:rPr>
              <a:t>for</a:t>
            </a:r>
            <a:r>
              <a:rPr lang="en-US" altLang="zh-CN" sz="2400" b="1" dirty="0"/>
              <a:t>(</a:t>
            </a:r>
            <a:r>
              <a:rPr lang="en-US" altLang="zh-CN" sz="2400" b="1" dirty="0">
                <a:solidFill>
                  <a:srgbClr val="0000FF"/>
                </a:solidFill>
              </a:rPr>
              <a:t>int</a:t>
            </a:r>
            <a:r>
              <a:rPr lang="en-US" altLang="zh-CN" sz="2400" b="1" dirty="0"/>
              <a:t> i = 0</a:t>
            </a:r>
            <a:r>
              <a:rPr lang="en-US" altLang="zh-CN" sz="2400" b="1" dirty="0">
                <a:solidFill>
                  <a:srgbClr val="FF0000"/>
                </a:solidFill>
              </a:rPr>
              <a:t>;</a:t>
            </a:r>
            <a:r>
              <a:rPr lang="en-US" altLang="zh-CN" sz="2400" b="1" dirty="0"/>
              <a:t> i &lt; 2</a:t>
            </a:r>
            <a:r>
              <a:rPr lang="en-US" altLang="zh-CN" sz="2400" b="1" dirty="0">
                <a:solidFill>
                  <a:srgbClr val="FF0000"/>
                </a:solidFill>
              </a:rPr>
              <a:t>;</a:t>
            </a:r>
            <a:r>
              <a:rPr lang="en-US" altLang="zh-CN" sz="2400" b="1" dirty="0"/>
              <a:t> i++){</a:t>
            </a:r>
          </a:p>
          <a:p>
            <a:pPr marL="0" indent="0">
              <a:lnSpc>
                <a:spcPct val="100000"/>
              </a:lnSpc>
              <a:spcBef>
                <a:spcPct val="0"/>
              </a:spcBef>
              <a:buClr>
                <a:schemeClr val="tx2"/>
              </a:buClr>
              <a:buSzPct val="70000"/>
              <a:buNone/>
            </a:pPr>
            <a:r>
              <a:rPr lang="en-US" altLang="zh-CN" sz="2400" b="1" dirty="0"/>
              <a:t>       </a:t>
            </a:r>
            <a:r>
              <a:rPr lang="en-US" altLang="zh-CN" sz="2400" b="1" dirty="0">
                <a:solidFill>
                  <a:srgbClr val="0000FF"/>
                </a:solidFill>
              </a:rPr>
              <a:t>for</a:t>
            </a:r>
            <a:r>
              <a:rPr lang="en-US" altLang="zh-CN" sz="2400" b="1" dirty="0"/>
              <a:t>(</a:t>
            </a:r>
            <a:r>
              <a:rPr lang="en-US" altLang="zh-CN" sz="2400" b="1" dirty="0">
                <a:solidFill>
                  <a:srgbClr val="0000FF"/>
                </a:solidFill>
              </a:rPr>
              <a:t>int</a:t>
            </a:r>
            <a:r>
              <a:rPr lang="en-US" altLang="zh-CN" sz="2400" b="1" dirty="0"/>
              <a:t> j = 0</a:t>
            </a:r>
            <a:r>
              <a:rPr lang="en-US" altLang="zh-CN" sz="2400" b="1" dirty="0">
                <a:solidFill>
                  <a:srgbClr val="FF0000"/>
                </a:solidFill>
              </a:rPr>
              <a:t>;</a:t>
            </a:r>
            <a:r>
              <a:rPr lang="en-US" altLang="zh-CN" sz="2400" b="1" dirty="0"/>
              <a:t> j &lt; 4</a:t>
            </a:r>
            <a:r>
              <a:rPr lang="en-US" altLang="zh-CN" sz="2400" b="1" dirty="0">
                <a:solidFill>
                  <a:srgbClr val="FF0000"/>
                </a:solidFill>
              </a:rPr>
              <a:t>;</a:t>
            </a:r>
            <a:r>
              <a:rPr lang="en-US" altLang="zh-CN" sz="2400" b="1" dirty="0"/>
              <a:t> j++){</a:t>
            </a:r>
          </a:p>
          <a:p>
            <a:pPr marL="0" indent="0">
              <a:lnSpc>
                <a:spcPct val="100000"/>
              </a:lnSpc>
              <a:spcBef>
                <a:spcPct val="0"/>
              </a:spcBef>
              <a:buClr>
                <a:schemeClr val="tx2"/>
              </a:buClr>
              <a:buSzPct val="70000"/>
              <a:buNone/>
            </a:pPr>
            <a:r>
              <a:rPr lang="en-US" altLang="zh-CN" sz="2400" b="1" dirty="0"/>
              <a:t>           scanf(</a:t>
            </a:r>
            <a:r>
              <a:rPr lang="en-US" altLang="zh-CN" sz="2400" b="1" dirty="0">
                <a:solidFill>
                  <a:srgbClr val="00B050"/>
                </a:solidFill>
              </a:rPr>
              <a:t>“%d”</a:t>
            </a:r>
            <a:r>
              <a:rPr lang="en-US" altLang="zh-CN" sz="2400" b="1" dirty="0"/>
              <a:t>, p);</a:t>
            </a:r>
          </a:p>
          <a:p>
            <a:pPr marL="0" indent="0">
              <a:lnSpc>
                <a:spcPct val="100000"/>
              </a:lnSpc>
              <a:spcBef>
                <a:spcPct val="0"/>
              </a:spcBef>
              <a:buClr>
                <a:schemeClr val="tx2"/>
              </a:buClr>
              <a:buSzPct val="70000"/>
              <a:buNone/>
            </a:pPr>
            <a:r>
              <a:rPr lang="en-US" altLang="zh-CN" sz="2400" b="1" dirty="0"/>
              <a:t>           sum += </a:t>
            </a:r>
            <a:r>
              <a:rPr lang="en-US" altLang="zh-CN" sz="2400" b="1" dirty="0">
                <a:solidFill>
                  <a:srgbClr val="FF0000"/>
                </a:solidFill>
              </a:rPr>
              <a:t>*</a:t>
            </a:r>
            <a:r>
              <a:rPr lang="en-US" altLang="zh-CN" sz="2400" b="1" dirty="0"/>
              <a:t>p;</a:t>
            </a:r>
          </a:p>
          <a:p>
            <a:pPr marL="0" indent="0">
              <a:lnSpc>
                <a:spcPct val="100000"/>
              </a:lnSpc>
              <a:spcBef>
                <a:spcPct val="0"/>
              </a:spcBef>
              <a:buClr>
                <a:schemeClr val="tx2"/>
              </a:buClr>
              <a:buSzPct val="70000"/>
              <a:buNone/>
            </a:pPr>
            <a:r>
              <a:rPr lang="en-US" altLang="zh-CN" sz="2400" b="1" dirty="0"/>
              <a:t>           p++;</a:t>
            </a:r>
          </a:p>
          <a:p>
            <a:pPr marL="0" indent="0">
              <a:lnSpc>
                <a:spcPct val="100000"/>
              </a:lnSpc>
              <a:spcBef>
                <a:spcPct val="0"/>
              </a:spcBef>
              <a:buClr>
                <a:schemeClr val="tx2"/>
              </a:buClr>
              <a:buSzPct val="70000"/>
              <a:buNone/>
            </a:pPr>
            <a:r>
              <a:rPr lang="en-US" altLang="zh-CN" sz="2400" b="1" dirty="0"/>
              <a:t>       }</a:t>
            </a:r>
          </a:p>
          <a:p>
            <a:pPr marL="0" indent="0">
              <a:lnSpc>
                <a:spcPct val="100000"/>
              </a:lnSpc>
              <a:spcBef>
                <a:spcPct val="0"/>
              </a:spcBef>
              <a:buClr>
                <a:schemeClr val="tx2"/>
              </a:buClr>
              <a:buSzPct val="70000"/>
              <a:buNone/>
            </a:pPr>
            <a:r>
              <a:rPr lang="en-US" altLang="zh-CN" sz="2400" b="1" dirty="0"/>
              <a:t>    }</a:t>
            </a:r>
          </a:p>
          <a:p>
            <a:pPr marL="0" indent="0">
              <a:lnSpc>
                <a:spcPct val="150000"/>
              </a:lnSpc>
              <a:spcBef>
                <a:spcPct val="0"/>
              </a:spcBef>
              <a:buClr>
                <a:schemeClr val="tx2"/>
              </a:buClr>
              <a:buSzPct val="70000"/>
              <a:buFont typeface="Arial" panose="020B0604020202020204" pitchFamily="34" charset="0"/>
              <a:buNone/>
            </a:pPr>
            <a:r>
              <a:rPr lang="en-US" altLang="zh-CN" sz="2400" b="1" dirty="0"/>
              <a:t>    </a:t>
            </a:r>
            <a:r>
              <a:rPr lang="en-US" altLang="zh-CN" sz="2400" b="1" dirty="0">
                <a:solidFill>
                  <a:srgbClr val="00B050"/>
                </a:solidFill>
              </a:rPr>
              <a:t>……</a:t>
            </a:r>
          </a:p>
          <a:p>
            <a:pPr marL="0" indent="0">
              <a:lnSpc>
                <a:spcPct val="100000"/>
              </a:lnSpc>
              <a:spcBef>
                <a:spcPct val="0"/>
              </a:spcBef>
              <a:buClr>
                <a:schemeClr val="tx2"/>
              </a:buClr>
              <a:buSzPct val="70000"/>
              <a:buFont typeface="Arial" panose="020B0604020202020204" pitchFamily="34" charset="0"/>
              <a:buNone/>
            </a:pPr>
            <a:r>
              <a:rPr lang="en-US" altLang="zh-CN" sz="2400" b="1" dirty="0">
                <a:solidFill>
                  <a:srgbClr val="FF0000"/>
                </a:solidFill>
              </a:rPr>
              <a:t>}</a:t>
            </a:r>
          </a:p>
        </p:txBody>
      </p:sp>
      <p:sp>
        <p:nvSpPr>
          <p:cNvPr id="6" name="灯片编号占位符 5">
            <a:extLst>
              <a:ext uri="{FF2B5EF4-FFF2-40B4-BE49-F238E27FC236}">
                <a16:creationId xmlns:a16="http://schemas.microsoft.com/office/drawing/2014/main" id="{35B7A20A-8113-45E9-BFE6-31E86C6FDB07}"/>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18</a:t>
            </a:fld>
            <a:r>
              <a:rPr lang="en-US" altLang="zh-CN">
                <a:solidFill>
                  <a:prstClr val="black">
                    <a:tint val="75000"/>
                  </a:prstClr>
                </a:solidFill>
              </a:rPr>
              <a:t>/ 35</a:t>
            </a:r>
            <a:endParaRPr lang="zh-CN" altLang="en-US" dirty="0"/>
          </a:p>
        </p:txBody>
      </p:sp>
      <p:sp>
        <p:nvSpPr>
          <p:cNvPr id="9" name="文本框 8">
            <a:extLst>
              <a:ext uri="{FF2B5EF4-FFF2-40B4-BE49-F238E27FC236}">
                <a16:creationId xmlns:a16="http://schemas.microsoft.com/office/drawing/2014/main" id="{C9E3A7DE-DAA2-4DAF-BAB9-BBA9CCC3000B}"/>
              </a:ext>
            </a:extLst>
          </p:cNvPr>
          <p:cNvSpPr txBox="1"/>
          <p:nvPr/>
        </p:nvSpPr>
        <p:spPr>
          <a:xfrm>
            <a:off x="2507464" y="-59476"/>
            <a:ext cx="4768993"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指针与二维数组</a:t>
            </a:r>
            <a:endParaRPr lang="zh-CN" altLang="en-US" sz="3200" b="1" dirty="0">
              <a:solidFill>
                <a:srgbClr val="200AC4"/>
              </a:solidFill>
              <a:ea typeface="隶书" pitchFamily="49" charset="-122"/>
            </a:endParaRPr>
          </a:p>
        </p:txBody>
      </p:sp>
    </p:spTree>
    <p:extLst>
      <p:ext uri="{BB962C8B-B14F-4D97-AF65-F5344CB8AC3E}">
        <p14:creationId xmlns:p14="http://schemas.microsoft.com/office/powerpoint/2010/main" val="3127524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CABCE8A6-7732-4C84-B748-D581A70D8A67}"/>
              </a:ext>
            </a:extLst>
          </p:cNvPr>
          <p:cNvSpPr/>
          <p:nvPr/>
        </p:nvSpPr>
        <p:spPr>
          <a:xfrm>
            <a:off x="7197" y="581267"/>
            <a:ext cx="11709066" cy="523220"/>
          </a:xfrm>
          <a:prstGeom prst="rect">
            <a:avLst/>
          </a:prstGeom>
        </p:spPr>
        <p:txBody>
          <a:bodyPr wrap="square">
            <a:spAutoFit/>
          </a:bodyPr>
          <a:lstStyle/>
          <a:p>
            <a:pPr marL="0" lvl="1"/>
            <a:r>
              <a:rPr lang="en-US" altLang="zh-CN" sz="2800" b="1" dirty="0">
                <a:solidFill>
                  <a:srgbClr val="00B0F0"/>
                </a:solidFill>
                <a:latin typeface="微软雅黑" panose="020B0503020204020204" pitchFamily="34" charset="-122"/>
                <a:ea typeface="微软雅黑" panose="020B0503020204020204" pitchFamily="34" charset="-122"/>
              </a:rPr>
              <a:t>1. </a:t>
            </a:r>
            <a:r>
              <a:rPr lang="zh-CN" altLang="en-US" sz="2800" b="1" dirty="0">
                <a:solidFill>
                  <a:srgbClr val="00B0F0"/>
                </a:solidFill>
                <a:latin typeface="微软雅黑" panose="020B0503020204020204" pitchFamily="34" charset="-122"/>
                <a:ea typeface="微软雅黑" panose="020B0503020204020204" pitchFamily="34" charset="-122"/>
              </a:rPr>
              <a:t>按二维数组的存储结构访问数组元素</a:t>
            </a:r>
            <a:endParaRPr lang="en-US" altLang="zh-CN" sz="3200" b="1" dirty="0">
              <a:latin typeface="隶书" panose="02010509060101010101" pitchFamily="49" charset="-122"/>
              <a:ea typeface="隶书" panose="02010509060101010101" pitchFamily="49" charset="-122"/>
            </a:endParaRPr>
          </a:p>
        </p:txBody>
      </p:sp>
      <p:grpSp>
        <p:nvGrpSpPr>
          <p:cNvPr id="6" name="组合 5">
            <a:extLst>
              <a:ext uri="{FF2B5EF4-FFF2-40B4-BE49-F238E27FC236}">
                <a16:creationId xmlns:a16="http://schemas.microsoft.com/office/drawing/2014/main" id="{B2D3E39E-EB5E-4EBC-8A14-1D7935BC523A}"/>
              </a:ext>
            </a:extLst>
          </p:cNvPr>
          <p:cNvGrpSpPr/>
          <p:nvPr/>
        </p:nvGrpSpPr>
        <p:grpSpPr>
          <a:xfrm>
            <a:off x="16777" y="1232478"/>
            <a:ext cx="12175223" cy="487023"/>
            <a:chOff x="16777" y="1232478"/>
            <a:chExt cx="12175223" cy="487023"/>
          </a:xfrm>
        </p:grpSpPr>
        <p:sp>
          <p:nvSpPr>
            <p:cNvPr id="7" name="矩形 6">
              <a:extLst>
                <a:ext uri="{FF2B5EF4-FFF2-40B4-BE49-F238E27FC236}">
                  <a16:creationId xmlns:a16="http://schemas.microsoft.com/office/drawing/2014/main" id="{5C2A2FC3-6255-4662-8D67-B425AB6E633F}"/>
                </a:ext>
              </a:extLst>
            </p:cNvPr>
            <p:cNvSpPr/>
            <p:nvPr/>
          </p:nvSpPr>
          <p:spPr>
            <a:xfrm>
              <a:off x="16777" y="1245157"/>
              <a:ext cx="12175223" cy="461665"/>
            </a:xfrm>
            <a:prstGeom prst="rect">
              <a:avLst/>
            </a:prstGeom>
          </p:spPr>
          <p:txBody>
            <a:bodyPr wrap="square">
              <a:spAutoFit/>
            </a:bodyPr>
            <a:lstStyle/>
            <a:p>
              <a:pPr marL="0" lvl="1"/>
              <a:r>
                <a:rPr lang="zh-CN" altLang="en-US" sz="2400" b="1" dirty="0">
                  <a:latin typeface="隶书" pitchFamily="49" charset="-122"/>
                </a:rPr>
                <a:t>   如何不使用指针变量</a:t>
              </a:r>
              <a:r>
                <a:rPr lang="en-US" altLang="zh-CN" sz="2400" b="1" dirty="0">
                  <a:latin typeface="隶书" pitchFamily="49" charset="-122"/>
                </a:rPr>
                <a:t>p</a:t>
              </a:r>
              <a:r>
                <a:rPr lang="zh-CN" altLang="en-US" sz="2400" b="1" dirty="0">
                  <a:latin typeface="隶书" pitchFamily="49" charset="-122"/>
                </a:rPr>
                <a:t>使用元素的地址来访问二维数组中的元素呢？</a:t>
              </a:r>
            </a:p>
          </p:txBody>
        </p:sp>
        <p:pic>
          <p:nvPicPr>
            <p:cNvPr id="9" name="图片 8">
              <a:extLst>
                <a:ext uri="{FF2B5EF4-FFF2-40B4-BE49-F238E27FC236}">
                  <a16:creationId xmlns:a16="http://schemas.microsoft.com/office/drawing/2014/main" id="{BF6012DB-2F14-4D79-98F7-2242997FDFA9}"/>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Lst>
            </a:blip>
            <a:stretch>
              <a:fillRect/>
            </a:stretch>
          </p:blipFill>
          <p:spPr>
            <a:xfrm>
              <a:off x="23696" y="1232478"/>
              <a:ext cx="487023" cy="487023"/>
            </a:xfrm>
            <a:prstGeom prst="rect">
              <a:avLst/>
            </a:prstGeom>
          </p:spPr>
        </p:pic>
      </p:grpSp>
      <p:sp>
        <p:nvSpPr>
          <p:cNvPr id="11" name="矩形 10">
            <a:extLst>
              <a:ext uri="{FF2B5EF4-FFF2-40B4-BE49-F238E27FC236}">
                <a16:creationId xmlns:a16="http://schemas.microsoft.com/office/drawing/2014/main" id="{2CD31BB5-3703-47D5-B7EC-5273DF5AD4C1}"/>
              </a:ext>
            </a:extLst>
          </p:cNvPr>
          <p:cNvSpPr/>
          <p:nvPr/>
        </p:nvSpPr>
        <p:spPr>
          <a:xfrm>
            <a:off x="198966" y="1817193"/>
            <a:ext cx="11769514" cy="954107"/>
          </a:xfrm>
          <a:prstGeom prst="rect">
            <a:avLst/>
          </a:prstGeom>
        </p:spPr>
        <p:txBody>
          <a:bodyPr wrap="square">
            <a:spAutoFit/>
          </a:bodyPr>
          <a:lstStyle/>
          <a:p>
            <a:pPr marL="0" lvl="1"/>
            <a:r>
              <a:rPr lang="zh-CN" altLang="en-US" sz="2800" b="1" dirty="0">
                <a:latin typeface="隶书" panose="02010509060101010101" pitchFamily="49" charset="-122"/>
                <a:ea typeface="隶书" panose="02010509060101010101" pitchFamily="49" charset="-122"/>
              </a:rPr>
              <a:t>假定义了二维数组</a:t>
            </a:r>
            <a:r>
              <a:rPr lang="en-US" altLang="zh-CN" sz="2800" b="1" dirty="0">
                <a:latin typeface="+mn-ea"/>
              </a:rPr>
              <a:t>a</a:t>
            </a:r>
            <a:r>
              <a:rPr lang="en-US" altLang="zh-CN" sz="2800" b="1" dirty="0">
                <a:solidFill>
                  <a:srgbClr val="FF0000"/>
                </a:solidFill>
                <a:latin typeface="+mn-ea"/>
              </a:rPr>
              <a:t>[</a:t>
            </a:r>
            <a:r>
              <a:rPr lang="en-US" altLang="zh-CN" sz="2800" b="1" dirty="0">
                <a:solidFill>
                  <a:srgbClr val="00B0F0"/>
                </a:solidFill>
                <a:latin typeface="+mn-ea"/>
              </a:rPr>
              <a:t>M</a:t>
            </a:r>
            <a:r>
              <a:rPr lang="en-US" altLang="zh-CN" sz="2800" b="1" dirty="0">
                <a:solidFill>
                  <a:srgbClr val="FF0000"/>
                </a:solidFill>
                <a:latin typeface="+mn-ea"/>
              </a:rPr>
              <a:t>][</a:t>
            </a:r>
            <a:r>
              <a:rPr lang="en-US" altLang="zh-CN" sz="2800" b="1" dirty="0">
                <a:solidFill>
                  <a:srgbClr val="00B0F0"/>
                </a:solidFill>
                <a:latin typeface="+mn-ea"/>
              </a:rPr>
              <a:t>N</a:t>
            </a:r>
            <a:r>
              <a:rPr lang="en-US" altLang="zh-CN" sz="2800" b="1" dirty="0">
                <a:solidFill>
                  <a:srgbClr val="FF0000"/>
                </a:solidFill>
                <a:latin typeface="+mn-ea"/>
              </a:rPr>
              <a:t>]</a:t>
            </a:r>
            <a:r>
              <a:rPr lang="en-US" altLang="zh-CN" sz="2800" b="1" dirty="0">
                <a:latin typeface="+mn-ea"/>
              </a:rPr>
              <a:t> </a:t>
            </a:r>
            <a:r>
              <a:rPr lang="en-US" altLang="zh-CN" sz="2800" b="1" dirty="0">
                <a:latin typeface="隶书" panose="02010509060101010101" pitchFamily="49" charset="-122"/>
                <a:ea typeface="隶书" panose="02010509060101010101" pitchFamily="49" charset="-122"/>
              </a:rPr>
              <a:t>,</a:t>
            </a:r>
            <a:r>
              <a:rPr lang="zh-CN" altLang="en-US" sz="2800" b="1" dirty="0">
                <a:latin typeface="隶书" panose="02010509060101010101" pitchFamily="49" charset="-122"/>
                <a:ea typeface="隶书" panose="02010509060101010101" pitchFamily="49" charset="-122"/>
              </a:rPr>
              <a:t>按照二维数组元素的存储规律，可得到数组元素</a:t>
            </a:r>
            <a:r>
              <a:rPr lang="en-US" altLang="zh-CN" sz="2800" b="1" dirty="0">
                <a:latin typeface="+mn-ea"/>
              </a:rPr>
              <a:t>a</a:t>
            </a:r>
            <a:r>
              <a:rPr lang="en-US" altLang="zh-CN" sz="2800" b="1" dirty="0">
                <a:solidFill>
                  <a:srgbClr val="FF0000"/>
                </a:solidFill>
                <a:latin typeface="+mn-ea"/>
              </a:rPr>
              <a:t>[</a:t>
            </a:r>
            <a:r>
              <a:rPr lang="en-US" altLang="zh-CN" sz="2800" b="1" dirty="0">
                <a:solidFill>
                  <a:srgbClr val="00B050"/>
                </a:solidFill>
                <a:latin typeface="+mn-ea"/>
              </a:rPr>
              <a:t>i</a:t>
            </a:r>
            <a:r>
              <a:rPr lang="en-US" altLang="zh-CN" sz="2800" b="1" dirty="0">
                <a:solidFill>
                  <a:srgbClr val="FF0000"/>
                </a:solidFill>
                <a:latin typeface="+mn-ea"/>
              </a:rPr>
              <a:t>][</a:t>
            </a:r>
            <a:r>
              <a:rPr lang="en-US" altLang="zh-CN" sz="2800" b="1" dirty="0">
                <a:solidFill>
                  <a:srgbClr val="00B050"/>
                </a:solidFill>
                <a:latin typeface="+mn-ea"/>
              </a:rPr>
              <a:t>j</a:t>
            </a:r>
            <a:r>
              <a:rPr lang="en-US" altLang="zh-CN" sz="2800" b="1" dirty="0">
                <a:solidFill>
                  <a:srgbClr val="FF0000"/>
                </a:solidFill>
                <a:latin typeface="+mn-ea"/>
              </a:rPr>
              <a:t>]</a:t>
            </a:r>
            <a:r>
              <a:rPr lang="zh-CN" altLang="en-US" sz="2800" b="1" dirty="0">
                <a:latin typeface="隶书" panose="02010509060101010101" pitchFamily="49" charset="-122"/>
                <a:ea typeface="隶书" panose="02010509060101010101" pitchFamily="49" charset="-122"/>
              </a:rPr>
              <a:t>相对于数组起始地址的地址偏移量为：</a:t>
            </a:r>
          </a:p>
        </p:txBody>
      </p:sp>
      <p:sp>
        <p:nvSpPr>
          <p:cNvPr id="12" name="Rectangle 2">
            <a:extLst>
              <a:ext uri="{FF2B5EF4-FFF2-40B4-BE49-F238E27FC236}">
                <a16:creationId xmlns:a16="http://schemas.microsoft.com/office/drawing/2014/main" id="{DDA400D5-9F96-4E14-94A9-21584A25616E}"/>
              </a:ext>
            </a:extLst>
          </p:cNvPr>
          <p:cNvSpPr txBox="1">
            <a:spLocks noChangeArrowheads="1"/>
          </p:cNvSpPr>
          <p:nvPr/>
        </p:nvSpPr>
        <p:spPr>
          <a:xfrm>
            <a:off x="4143837" y="2905780"/>
            <a:ext cx="3435786" cy="523220"/>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&amp;</a:t>
            </a:r>
            <a:r>
              <a:rPr lang="en-US" altLang="zh-CN" b="1" dirty="0"/>
              <a:t>a</a:t>
            </a:r>
            <a:r>
              <a:rPr lang="en-US" altLang="zh-CN" b="1" dirty="0">
                <a:solidFill>
                  <a:srgbClr val="FF0000"/>
                </a:solidFill>
              </a:rPr>
              <a:t>[</a:t>
            </a:r>
            <a:r>
              <a:rPr lang="en-US" altLang="zh-CN" b="1" dirty="0"/>
              <a:t>0</a:t>
            </a:r>
            <a:r>
              <a:rPr lang="en-US" altLang="zh-CN" b="1" dirty="0">
                <a:solidFill>
                  <a:srgbClr val="FF0000"/>
                </a:solidFill>
              </a:rPr>
              <a:t>][</a:t>
            </a:r>
            <a:r>
              <a:rPr lang="en-US" altLang="zh-CN" b="1" dirty="0"/>
              <a:t>0</a:t>
            </a:r>
            <a:r>
              <a:rPr lang="en-US" altLang="zh-CN" b="1" dirty="0">
                <a:solidFill>
                  <a:srgbClr val="FF0000"/>
                </a:solidFill>
              </a:rPr>
              <a:t>] </a:t>
            </a:r>
            <a:r>
              <a:rPr lang="en-US" altLang="zh-CN" b="1" dirty="0"/>
              <a:t>+</a:t>
            </a:r>
            <a:r>
              <a:rPr lang="en-US" altLang="zh-CN" b="1" dirty="0">
                <a:solidFill>
                  <a:srgbClr val="FF0000"/>
                </a:solidFill>
              </a:rPr>
              <a:t> </a:t>
            </a:r>
            <a:r>
              <a:rPr lang="en-US" altLang="zh-CN" b="1" dirty="0">
                <a:solidFill>
                  <a:srgbClr val="00B050"/>
                </a:solidFill>
              </a:rPr>
              <a:t>i</a:t>
            </a:r>
            <a:r>
              <a:rPr lang="en-US" altLang="zh-CN" b="1" dirty="0"/>
              <a:t> * </a:t>
            </a:r>
            <a:r>
              <a:rPr lang="en-US" altLang="zh-CN" b="1" dirty="0">
                <a:solidFill>
                  <a:srgbClr val="00B0F0"/>
                </a:solidFill>
              </a:rPr>
              <a:t>N</a:t>
            </a:r>
            <a:r>
              <a:rPr lang="en-US" altLang="zh-CN" b="1" dirty="0"/>
              <a:t> + </a:t>
            </a:r>
            <a:r>
              <a:rPr lang="en-US" altLang="zh-CN" b="1" dirty="0">
                <a:solidFill>
                  <a:srgbClr val="00B050"/>
                </a:solidFill>
              </a:rPr>
              <a:t>j</a:t>
            </a:r>
          </a:p>
        </p:txBody>
      </p:sp>
      <p:sp>
        <p:nvSpPr>
          <p:cNvPr id="13" name="矩形 12">
            <a:extLst>
              <a:ext uri="{FF2B5EF4-FFF2-40B4-BE49-F238E27FC236}">
                <a16:creationId xmlns:a16="http://schemas.microsoft.com/office/drawing/2014/main" id="{BAE9FC45-D2AE-4DAD-B84A-0CF14229E95A}"/>
              </a:ext>
            </a:extLst>
          </p:cNvPr>
          <p:cNvSpPr/>
          <p:nvPr/>
        </p:nvSpPr>
        <p:spPr>
          <a:xfrm>
            <a:off x="286003" y="3625319"/>
            <a:ext cx="4941317" cy="523220"/>
          </a:xfrm>
          <a:prstGeom prst="rect">
            <a:avLst/>
          </a:prstGeom>
        </p:spPr>
        <p:txBody>
          <a:bodyPr wrap="square">
            <a:spAutoFit/>
          </a:bodyPr>
          <a:lstStyle/>
          <a:p>
            <a:pPr marL="0" lvl="1"/>
            <a:r>
              <a:rPr lang="zh-CN" altLang="en-US" sz="2800" b="1" dirty="0">
                <a:latin typeface="隶书" panose="02010509060101010101" pitchFamily="49" charset="-122"/>
                <a:ea typeface="隶书" panose="02010509060101010101" pitchFamily="49" charset="-122"/>
              </a:rPr>
              <a:t>假如有如下定义：</a:t>
            </a:r>
          </a:p>
        </p:txBody>
      </p:sp>
      <p:sp>
        <p:nvSpPr>
          <p:cNvPr id="14" name="Rectangle 2">
            <a:extLst>
              <a:ext uri="{FF2B5EF4-FFF2-40B4-BE49-F238E27FC236}">
                <a16:creationId xmlns:a16="http://schemas.microsoft.com/office/drawing/2014/main" id="{D9B468DE-40AE-4565-9553-9BA0905F093F}"/>
              </a:ext>
            </a:extLst>
          </p:cNvPr>
          <p:cNvSpPr txBox="1">
            <a:spLocks noChangeArrowheads="1"/>
          </p:cNvSpPr>
          <p:nvPr/>
        </p:nvSpPr>
        <p:spPr>
          <a:xfrm>
            <a:off x="304800" y="4157606"/>
            <a:ext cx="4922604" cy="1384995"/>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0000FF"/>
                </a:solidFill>
              </a:rPr>
              <a:t>int</a:t>
            </a:r>
            <a:r>
              <a:rPr lang="zh-CN" altLang="en-US" b="1" dirty="0">
                <a:solidFill>
                  <a:srgbClr val="0000FF"/>
                </a:solidFill>
              </a:rPr>
              <a:t> </a:t>
            </a:r>
            <a:r>
              <a:rPr lang="en-US" altLang="zh-CN" b="1" dirty="0"/>
              <a:t>a</a:t>
            </a:r>
            <a:r>
              <a:rPr lang="en-US" altLang="zh-CN" b="1" dirty="0">
                <a:solidFill>
                  <a:srgbClr val="FF0000"/>
                </a:solidFill>
              </a:rPr>
              <a:t>[</a:t>
            </a:r>
            <a:r>
              <a:rPr lang="en-US" altLang="zh-CN" b="1" dirty="0">
                <a:solidFill>
                  <a:srgbClr val="00B0F0"/>
                </a:solidFill>
              </a:rPr>
              <a:t>3</a:t>
            </a:r>
            <a:r>
              <a:rPr lang="en-US" altLang="zh-CN" b="1" dirty="0">
                <a:solidFill>
                  <a:srgbClr val="FF0000"/>
                </a:solidFill>
              </a:rPr>
              <a:t>][</a:t>
            </a:r>
            <a:r>
              <a:rPr lang="en-US" altLang="zh-CN" b="1" dirty="0">
                <a:solidFill>
                  <a:srgbClr val="00B0F0"/>
                </a:solidFill>
              </a:rPr>
              <a:t>4</a:t>
            </a:r>
            <a:r>
              <a:rPr lang="en-US" altLang="zh-CN" b="1" dirty="0">
                <a:solidFill>
                  <a:srgbClr val="FF0000"/>
                </a:solidFill>
              </a:rPr>
              <a:t>]</a:t>
            </a:r>
            <a:r>
              <a:rPr lang="en-US" altLang="zh-CN" b="1" dirty="0"/>
              <a:t>; </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0000FF"/>
                </a:solidFill>
              </a:rPr>
              <a:t>int</a:t>
            </a:r>
            <a:r>
              <a:rPr lang="en-US" altLang="zh-CN" b="1" dirty="0">
                <a:solidFill>
                  <a:srgbClr val="FF0000"/>
                </a:solidFill>
              </a:rPr>
              <a:t> *</a:t>
            </a:r>
            <a:r>
              <a:rPr lang="en-US" altLang="zh-CN" b="1" dirty="0"/>
              <a:t>p;</a:t>
            </a:r>
          </a:p>
          <a:p>
            <a:pPr marL="0" indent="0">
              <a:lnSpc>
                <a:spcPct val="100000"/>
              </a:lnSpc>
              <a:spcBef>
                <a:spcPct val="0"/>
              </a:spcBef>
              <a:buClr>
                <a:schemeClr val="tx2"/>
              </a:buClr>
              <a:buSzPct val="70000"/>
              <a:buNone/>
            </a:pPr>
            <a:r>
              <a:rPr lang="en-US" altLang="zh-CN" b="1" dirty="0"/>
              <a:t>p = </a:t>
            </a:r>
            <a:r>
              <a:rPr lang="en-US" altLang="zh-CN" b="1" dirty="0">
                <a:solidFill>
                  <a:srgbClr val="FF0000"/>
                </a:solidFill>
              </a:rPr>
              <a:t>&amp;</a:t>
            </a:r>
            <a:r>
              <a:rPr lang="en-US" altLang="zh-CN" b="1" dirty="0"/>
              <a:t>a</a:t>
            </a:r>
            <a:r>
              <a:rPr lang="en-US" altLang="zh-CN" b="1" dirty="0">
                <a:solidFill>
                  <a:srgbClr val="FF0000"/>
                </a:solidFill>
              </a:rPr>
              <a:t>[</a:t>
            </a:r>
            <a:r>
              <a:rPr lang="en-US" altLang="zh-CN" b="1" dirty="0"/>
              <a:t>0</a:t>
            </a:r>
            <a:r>
              <a:rPr lang="en-US" altLang="zh-CN" b="1" dirty="0">
                <a:solidFill>
                  <a:srgbClr val="FF0000"/>
                </a:solidFill>
              </a:rPr>
              <a:t>][</a:t>
            </a:r>
            <a:r>
              <a:rPr lang="en-US" altLang="zh-CN" b="1" dirty="0"/>
              <a:t>0</a:t>
            </a:r>
            <a:r>
              <a:rPr lang="en-US" altLang="zh-CN" b="1" dirty="0">
                <a:solidFill>
                  <a:srgbClr val="FF0000"/>
                </a:solidFill>
              </a:rPr>
              <a:t>]</a:t>
            </a:r>
            <a:r>
              <a:rPr lang="en-US" altLang="zh-CN" b="1" dirty="0"/>
              <a:t>;</a:t>
            </a:r>
          </a:p>
        </p:txBody>
      </p:sp>
      <p:sp>
        <p:nvSpPr>
          <p:cNvPr id="15" name="矩形 14">
            <a:extLst>
              <a:ext uri="{FF2B5EF4-FFF2-40B4-BE49-F238E27FC236}">
                <a16:creationId xmlns:a16="http://schemas.microsoft.com/office/drawing/2014/main" id="{1D2A547A-CBAA-4D22-B12D-7C55780F329D}"/>
              </a:ext>
            </a:extLst>
          </p:cNvPr>
          <p:cNvSpPr/>
          <p:nvPr/>
        </p:nvSpPr>
        <p:spPr>
          <a:xfrm>
            <a:off x="5542519" y="3610079"/>
            <a:ext cx="5643641" cy="523220"/>
          </a:xfrm>
          <a:prstGeom prst="rect">
            <a:avLst/>
          </a:prstGeom>
        </p:spPr>
        <p:txBody>
          <a:bodyPr wrap="square">
            <a:spAutoFit/>
          </a:bodyPr>
          <a:lstStyle/>
          <a:p>
            <a:pPr marL="0" lvl="1"/>
            <a:r>
              <a:rPr lang="zh-CN" altLang="en-US" sz="2800" b="1" dirty="0">
                <a:latin typeface="隶书" panose="02010509060101010101" pitchFamily="49" charset="-122"/>
                <a:ea typeface="隶书" panose="02010509060101010101" pitchFamily="49" charset="-122"/>
              </a:rPr>
              <a:t>则数组元素有如下三种表示方式：</a:t>
            </a:r>
          </a:p>
        </p:txBody>
      </p:sp>
      <p:sp>
        <p:nvSpPr>
          <p:cNvPr id="16" name="Rectangle 2">
            <a:extLst>
              <a:ext uri="{FF2B5EF4-FFF2-40B4-BE49-F238E27FC236}">
                <a16:creationId xmlns:a16="http://schemas.microsoft.com/office/drawing/2014/main" id="{BE7A47B6-7E8A-4957-874B-A03D1726E463}"/>
              </a:ext>
            </a:extLst>
          </p:cNvPr>
          <p:cNvSpPr txBox="1">
            <a:spLocks noChangeArrowheads="1"/>
          </p:cNvSpPr>
          <p:nvPr/>
        </p:nvSpPr>
        <p:spPr>
          <a:xfrm>
            <a:off x="5542518" y="4157606"/>
            <a:ext cx="4836006" cy="1384995"/>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FF0000"/>
                </a:solidFill>
              </a:rPr>
              <a:t>*</a:t>
            </a:r>
            <a:r>
              <a:rPr lang="en-US" altLang="zh-CN" b="1" dirty="0"/>
              <a:t>(</a:t>
            </a:r>
            <a:r>
              <a:rPr lang="en-US" altLang="zh-CN" b="1" dirty="0">
                <a:solidFill>
                  <a:srgbClr val="FF0000"/>
                </a:solidFill>
              </a:rPr>
              <a:t>&amp;</a:t>
            </a:r>
            <a:r>
              <a:rPr lang="en-US" altLang="zh-CN" b="1" dirty="0"/>
              <a:t>a</a:t>
            </a:r>
            <a:r>
              <a:rPr lang="en-US" altLang="zh-CN" b="1" dirty="0">
                <a:solidFill>
                  <a:srgbClr val="FF0000"/>
                </a:solidFill>
              </a:rPr>
              <a:t>[</a:t>
            </a:r>
            <a:r>
              <a:rPr lang="en-US" altLang="zh-CN" b="1" dirty="0"/>
              <a:t>0</a:t>
            </a:r>
            <a:r>
              <a:rPr lang="en-US" altLang="zh-CN" b="1" dirty="0">
                <a:solidFill>
                  <a:srgbClr val="FF0000"/>
                </a:solidFill>
              </a:rPr>
              <a:t>][</a:t>
            </a:r>
            <a:r>
              <a:rPr lang="en-US" altLang="zh-CN" b="1" dirty="0"/>
              <a:t>0</a:t>
            </a:r>
            <a:r>
              <a:rPr lang="en-US" altLang="zh-CN" b="1" dirty="0">
                <a:solidFill>
                  <a:srgbClr val="FF0000"/>
                </a:solidFill>
              </a:rPr>
              <a:t>] </a:t>
            </a:r>
            <a:r>
              <a:rPr lang="en-US" altLang="zh-CN" b="1" dirty="0"/>
              <a:t>+ </a:t>
            </a:r>
            <a:r>
              <a:rPr lang="en-US" altLang="zh-CN" b="1" dirty="0">
                <a:solidFill>
                  <a:srgbClr val="00B0F0"/>
                </a:solidFill>
              </a:rPr>
              <a:t>4</a:t>
            </a:r>
            <a:r>
              <a:rPr lang="en-US" altLang="zh-CN" b="1" dirty="0"/>
              <a:t>*</a:t>
            </a:r>
            <a:r>
              <a:rPr lang="en-US" altLang="zh-CN" b="1" dirty="0">
                <a:solidFill>
                  <a:srgbClr val="00B050"/>
                </a:solidFill>
              </a:rPr>
              <a:t>i</a:t>
            </a:r>
            <a:r>
              <a:rPr lang="en-US" altLang="zh-CN" b="1" dirty="0"/>
              <a:t> + </a:t>
            </a:r>
            <a:r>
              <a:rPr lang="en-US" altLang="zh-CN" b="1" dirty="0">
                <a:solidFill>
                  <a:srgbClr val="00B050"/>
                </a:solidFill>
              </a:rPr>
              <a:t>j</a:t>
            </a:r>
            <a:r>
              <a:rPr lang="en-US" altLang="zh-CN" b="1" dirty="0"/>
              <a:t>)</a:t>
            </a:r>
          </a:p>
          <a:p>
            <a:pPr marL="0" indent="0">
              <a:lnSpc>
                <a:spcPct val="100000"/>
              </a:lnSpc>
              <a:spcBef>
                <a:spcPct val="0"/>
              </a:spcBef>
              <a:buClr>
                <a:schemeClr val="tx2"/>
              </a:buClr>
              <a:buSzPct val="70000"/>
              <a:buNone/>
            </a:pPr>
            <a:r>
              <a:rPr lang="en-US" altLang="zh-CN" b="1" dirty="0">
                <a:solidFill>
                  <a:srgbClr val="FF0000"/>
                </a:solidFill>
              </a:rPr>
              <a:t>*</a:t>
            </a:r>
            <a:r>
              <a:rPr lang="en-US" altLang="zh-CN" b="1" dirty="0"/>
              <a:t>(p+ 4*i + j)</a:t>
            </a:r>
          </a:p>
          <a:p>
            <a:pPr marL="0" indent="0">
              <a:lnSpc>
                <a:spcPct val="100000"/>
              </a:lnSpc>
              <a:spcBef>
                <a:spcPct val="0"/>
              </a:spcBef>
              <a:buClr>
                <a:schemeClr val="tx2"/>
              </a:buClr>
              <a:buSzPct val="70000"/>
              <a:buNone/>
            </a:pPr>
            <a:r>
              <a:rPr lang="en-US" altLang="zh-CN" b="1" dirty="0"/>
              <a:t>p</a:t>
            </a:r>
            <a:r>
              <a:rPr lang="en-US" altLang="zh-CN" b="1" dirty="0">
                <a:solidFill>
                  <a:srgbClr val="FF0000"/>
                </a:solidFill>
              </a:rPr>
              <a:t>[</a:t>
            </a:r>
            <a:r>
              <a:rPr lang="en-US" altLang="zh-CN" b="1" dirty="0"/>
              <a:t>4*i + j</a:t>
            </a:r>
            <a:r>
              <a:rPr lang="en-US" altLang="zh-CN" b="1" dirty="0">
                <a:solidFill>
                  <a:srgbClr val="FF0000"/>
                </a:solidFill>
              </a:rPr>
              <a:t>]</a:t>
            </a:r>
            <a:endParaRPr lang="en-US" altLang="zh-CN" b="1" dirty="0"/>
          </a:p>
        </p:txBody>
      </p:sp>
      <p:sp>
        <p:nvSpPr>
          <p:cNvPr id="17" name="灯片编号占位符 16">
            <a:extLst>
              <a:ext uri="{FF2B5EF4-FFF2-40B4-BE49-F238E27FC236}">
                <a16:creationId xmlns:a16="http://schemas.microsoft.com/office/drawing/2014/main" id="{78783923-B98E-4241-A1CE-A82C21BABEBA}"/>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19</a:t>
            </a:fld>
            <a:r>
              <a:rPr lang="en-US" altLang="zh-CN">
                <a:solidFill>
                  <a:prstClr val="black">
                    <a:tint val="75000"/>
                  </a:prstClr>
                </a:solidFill>
              </a:rPr>
              <a:t>/ 35</a:t>
            </a:r>
            <a:endParaRPr lang="zh-CN" altLang="en-US" dirty="0"/>
          </a:p>
        </p:txBody>
      </p:sp>
      <p:sp>
        <p:nvSpPr>
          <p:cNvPr id="18" name="文本框 17">
            <a:extLst>
              <a:ext uri="{FF2B5EF4-FFF2-40B4-BE49-F238E27FC236}">
                <a16:creationId xmlns:a16="http://schemas.microsoft.com/office/drawing/2014/main" id="{E6C4A876-1D5C-40FB-BB6C-ED7C8629EF32}"/>
              </a:ext>
            </a:extLst>
          </p:cNvPr>
          <p:cNvSpPr txBox="1"/>
          <p:nvPr/>
        </p:nvSpPr>
        <p:spPr>
          <a:xfrm>
            <a:off x="2507464" y="-59476"/>
            <a:ext cx="4768993"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指针与二维数组</a:t>
            </a:r>
            <a:endParaRPr lang="zh-CN" altLang="en-US" sz="3200" b="1" dirty="0">
              <a:solidFill>
                <a:srgbClr val="200AC4"/>
              </a:solidFill>
              <a:ea typeface="隶书" pitchFamily="49" charset="-122"/>
            </a:endParaRPr>
          </a:p>
        </p:txBody>
      </p:sp>
    </p:spTree>
    <p:extLst>
      <p:ext uri="{BB962C8B-B14F-4D97-AF65-F5344CB8AC3E}">
        <p14:creationId xmlns:p14="http://schemas.microsoft.com/office/powerpoint/2010/main" val="93083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 presetClass="entr" presetSubtype="4" fill="hold" grpId="0" nodeType="after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7"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1000"/>
                                        <p:tgtEl>
                                          <p:spTgt spid="13"/>
                                        </p:tgtEl>
                                      </p:cBhvr>
                                    </p:animEffect>
                                    <p:anim calcmode="lin" valueType="num">
                                      <p:cBhvr>
                                        <p:cTn id="20" dur="1000" fill="hold"/>
                                        <p:tgtEl>
                                          <p:spTgt spid="13"/>
                                        </p:tgtEl>
                                        <p:attrNameLst>
                                          <p:attrName>ppt_x</p:attrName>
                                        </p:attrNameLst>
                                      </p:cBhvr>
                                      <p:tavLst>
                                        <p:tav tm="0">
                                          <p:val>
                                            <p:strVal val="#ppt_x"/>
                                          </p:val>
                                        </p:tav>
                                        <p:tav tm="100000">
                                          <p:val>
                                            <p:strVal val="#ppt_x"/>
                                          </p:val>
                                        </p:tav>
                                      </p:tavLst>
                                    </p:anim>
                                    <p:anim calcmode="lin" valueType="num">
                                      <p:cBhvr>
                                        <p:cTn id="21" dur="1000" fill="hold"/>
                                        <p:tgtEl>
                                          <p:spTgt spid="13"/>
                                        </p:tgtEl>
                                        <p:attrNameLst>
                                          <p:attrName>ppt_y</p:attrName>
                                        </p:attrNameLst>
                                      </p:cBhvr>
                                      <p:tavLst>
                                        <p:tav tm="0">
                                          <p:val>
                                            <p:strVal val="#ppt_y-.1"/>
                                          </p:val>
                                        </p:tav>
                                        <p:tav tm="100000">
                                          <p:val>
                                            <p:strVal val="#ppt_y"/>
                                          </p:val>
                                        </p:tav>
                                      </p:tavLst>
                                    </p:anim>
                                  </p:childTnLst>
                                </p:cTn>
                              </p:par>
                              <p:par>
                                <p:cTn id="22" presetID="2" presetClass="entr" presetSubtype="8"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 calcmode="lin" valueType="num">
                                      <p:cBhvr additive="base">
                                        <p:cTn id="24" dur="500" fill="hold"/>
                                        <p:tgtEl>
                                          <p:spTgt spid="14"/>
                                        </p:tgtEl>
                                        <p:attrNameLst>
                                          <p:attrName>ppt_x</p:attrName>
                                        </p:attrNameLst>
                                      </p:cBhvr>
                                      <p:tavLst>
                                        <p:tav tm="0">
                                          <p:val>
                                            <p:strVal val="0-#ppt_w/2"/>
                                          </p:val>
                                        </p:tav>
                                        <p:tav tm="100000">
                                          <p:val>
                                            <p:strVal val="#ppt_x"/>
                                          </p:val>
                                        </p:tav>
                                      </p:tavLst>
                                    </p:anim>
                                    <p:anim calcmode="lin" valueType="num">
                                      <p:cBhvr additive="base">
                                        <p:cTn id="25"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47" presetClass="entr" presetSubtype="0" fill="hold" grpId="0" nodeType="click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1000"/>
                                        <p:tgtEl>
                                          <p:spTgt spid="15"/>
                                        </p:tgtEl>
                                      </p:cBhvr>
                                    </p:animEffect>
                                    <p:anim calcmode="lin" valueType="num">
                                      <p:cBhvr>
                                        <p:cTn id="31" dur="1000" fill="hold"/>
                                        <p:tgtEl>
                                          <p:spTgt spid="15"/>
                                        </p:tgtEl>
                                        <p:attrNameLst>
                                          <p:attrName>ppt_x</p:attrName>
                                        </p:attrNameLst>
                                      </p:cBhvr>
                                      <p:tavLst>
                                        <p:tav tm="0">
                                          <p:val>
                                            <p:strVal val="#ppt_x"/>
                                          </p:val>
                                        </p:tav>
                                        <p:tav tm="100000">
                                          <p:val>
                                            <p:strVal val="#ppt_x"/>
                                          </p:val>
                                        </p:tav>
                                      </p:tavLst>
                                    </p:anim>
                                    <p:anim calcmode="lin" valueType="num">
                                      <p:cBhvr>
                                        <p:cTn id="32" dur="1000" fill="hold"/>
                                        <p:tgtEl>
                                          <p:spTgt spid="15"/>
                                        </p:tgtEl>
                                        <p:attrNameLst>
                                          <p:attrName>ppt_y</p:attrName>
                                        </p:attrNameLst>
                                      </p:cBhvr>
                                      <p:tavLst>
                                        <p:tav tm="0">
                                          <p:val>
                                            <p:strVal val="#ppt_y-.1"/>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 calcmode="lin" valueType="num">
                                      <p:cBhvr additive="base">
                                        <p:cTn id="35" dur="500" fill="hold"/>
                                        <p:tgtEl>
                                          <p:spTgt spid="16"/>
                                        </p:tgtEl>
                                        <p:attrNameLst>
                                          <p:attrName>ppt_x</p:attrName>
                                        </p:attrNameLst>
                                      </p:cBhvr>
                                      <p:tavLst>
                                        <p:tav tm="0">
                                          <p:val>
                                            <p:strVal val="1+#ppt_w/2"/>
                                          </p:val>
                                        </p:tav>
                                        <p:tav tm="100000">
                                          <p:val>
                                            <p:strVal val="#ppt_x"/>
                                          </p:val>
                                        </p:tav>
                                      </p:tavLst>
                                    </p:anim>
                                    <p:anim calcmode="lin" valueType="num">
                                      <p:cBhvr additive="base">
                                        <p:cTn id="36" dur="500" fill="hold"/>
                                        <p:tgtEl>
                                          <p:spTgt spid="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animBg="1"/>
      <p:bldP spid="13" grpId="0"/>
      <p:bldP spid="14" grpId="0" animBg="1"/>
      <p:bldP spid="15" grpId="0"/>
      <p:bldP spid="1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CABCE8A6-7732-4C84-B748-D581A70D8A67}"/>
              </a:ext>
            </a:extLst>
          </p:cNvPr>
          <p:cNvSpPr/>
          <p:nvPr/>
        </p:nvSpPr>
        <p:spPr>
          <a:xfrm>
            <a:off x="7197" y="581261"/>
            <a:ext cx="11709066" cy="523220"/>
          </a:xfrm>
          <a:prstGeom prst="rect">
            <a:avLst/>
          </a:prstGeom>
        </p:spPr>
        <p:txBody>
          <a:bodyPr wrap="square">
            <a:spAutoFit/>
          </a:bodyPr>
          <a:lstStyle/>
          <a:p>
            <a:pPr marL="0" lvl="1"/>
            <a:r>
              <a:rPr lang="en-US" altLang="zh-CN" sz="2800" b="1" dirty="0">
                <a:solidFill>
                  <a:srgbClr val="00B0F0"/>
                </a:solidFill>
                <a:latin typeface="微软雅黑" panose="020B0503020204020204" pitchFamily="34" charset="-122"/>
                <a:ea typeface="微软雅黑" panose="020B0503020204020204" pitchFamily="34" charset="-122"/>
              </a:rPr>
              <a:t>1. </a:t>
            </a:r>
            <a:r>
              <a:rPr lang="zh-CN" altLang="en-US" sz="2800" b="1" dirty="0">
                <a:solidFill>
                  <a:srgbClr val="00B0F0"/>
                </a:solidFill>
                <a:latin typeface="微软雅黑" panose="020B0503020204020204" pitchFamily="34" charset="-122"/>
                <a:ea typeface="微软雅黑" panose="020B0503020204020204" pitchFamily="34" charset="-122"/>
              </a:rPr>
              <a:t>按二维数组的存储结构访问数组元素</a:t>
            </a:r>
            <a:endParaRPr lang="en-US" altLang="zh-CN" sz="3200" b="1" dirty="0">
              <a:latin typeface="隶书" panose="02010509060101010101" pitchFamily="49" charset="-122"/>
              <a:ea typeface="隶书" panose="02010509060101010101" pitchFamily="49" charset="-122"/>
            </a:endParaRPr>
          </a:p>
        </p:txBody>
      </p:sp>
      <p:sp>
        <p:nvSpPr>
          <p:cNvPr id="7" name="矩形 6">
            <a:extLst>
              <a:ext uri="{FF2B5EF4-FFF2-40B4-BE49-F238E27FC236}">
                <a16:creationId xmlns:a16="http://schemas.microsoft.com/office/drawing/2014/main" id="{5C2A2FC3-6255-4662-8D67-B425AB6E633F}"/>
              </a:ext>
            </a:extLst>
          </p:cNvPr>
          <p:cNvSpPr/>
          <p:nvPr/>
        </p:nvSpPr>
        <p:spPr>
          <a:xfrm>
            <a:off x="16777" y="1245157"/>
            <a:ext cx="12175223" cy="461665"/>
          </a:xfrm>
          <a:prstGeom prst="rect">
            <a:avLst/>
          </a:prstGeom>
        </p:spPr>
        <p:txBody>
          <a:bodyPr wrap="square">
            <a:spAutoFit/>
          </a:bodyPr>
          <a:lstStyle/>
          <a:p>
            <a:pPr marL="0" lvl="1"/>
            <a:r>
              <a:rPr lang="zh-CN" altLang="en-US" sz="2400" b="1" dirty="0">
                <a:latin typeface="隶书" pitchFamily="49" charset="-122"/>
              </a:rPr>
              <a:t>例</a:t>
            </a:r>
            <a:r>
              <a:rPr lang="en-US" altLang="zh-CN" sz="2400" b="1" dirty="0">
                <a:latin typeface="隶书" pitchFamily="49" charset="-122"/>
              </a:rPr>
              <a:t>【</a:t>
            </a:r>
            <a:r>
              <a:rPr lang="en-US" altLang="zh-CN" sz="2400" b="1" dirty="0">
                <a:solidFill>
                  <a:srgbClr val="00B0F0"/>
                </a:solidFill>
                <a:latin typeface="隶书" pitchFamily="49" charset="-122"/>
              </a:rPr>
              <a:t>5-4</a:t>
            </a:r>
            <a:r>
              <a:rPr lang="en-US" altLang="zh-CN" sz="2400" b="1" dirty="0">
                <a:latin typeface="隶书" pitchFamily="49" charset="-122"/>
              </a:rPr>
              <a:t>】</a:t>
            </a:r>
            <a:r>
              <a:rPr lang="zh-CN" altLang="en-US" sz="2400" b="1" dirty="0">
                <a:latin typeface="隶书" pitchFamily="49" charset="-122"/>
              </a:rPr>
              <a:t>定义一个三行四列的整型数组，从键盘输入数据，用指针求最小值及其位置。</a:t>
            </a:r>
          </a:p>
        </p:txBody>
      </p:sp>
      <p:sp>
        <p:nvSpPr>
          <p:cNvPr id="8" name="Rectangle 2">
            <a:extLst>
              <a:ext uri="{FF2B5EF4-FFF2-40B4-BE49-F238E27FC236}">
                <a16:creationId xmlns:a16="http://schemas.microsoft.com/office/drawing/2014/main" id="{03BFA985-0715-4F7D-A3BA-B75272E551C6}"/>
              </a:ext>
            </a:extLst>
          </p:cNvPr>
          <p:cNvSpPr txBox="1">
            <a:spLocks noChangeArrowheads="1"/>
          </p:cNvSpPr>
          <p:nvPr/>
        </p:nvSpPr>
        <p:spPr>
          <a:xfrm>
            <a:off x="157988" y="1748057"/>
            <a:ext cx="4858512" cy="4524315"/>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Font typeface="Arial" panose="020B0604020202020204" pitchFamily="34" charset="0"/>
              <a:buNone/>
            </a:pPr>
            <a:r>
              <a:rPr lang="en-US" altLang="zh-CN" sz="2400" b="1" dirty="0">
                <a:solidFill>
                  <a:srgbClr val="0000FF"/>
                </a:solidFill>
              </a:rPr>
              <a:t>int </a:t>
            </a:r>
            <a:r>
              <a:rPr lang="en-US" altLang="zh-CN" sz="2400" b="1" dirty="0"/>
              <a:t>main()</a:t>
            </a:r>
          </a:p>
          <a:p>
            <a:pPr marL="0" indent="0">
              <a:lnSpc>
                <a:spcPct val="100000"/>
              </a:lnSpc>
              <a:spcBef>
                <a:spcPct val="0"/>
              </a:spcBef>
              <a:buClr>
                <a:schemeClr val="tx2"/>
              </a:buClr>
              <a:buSzPct val="70000"/>
              <a:buFont typeface="Arial" panose="020B0604020202020204" pitchFamily="34" charset="0"/>
              <a:buNone/>
            </a:pPr>
            <a:r>
              <a:rPr lang="en-US" altLang="zh-CN" sz="2400" b="1" dirty="0">
                <a:solidFill>
                  <a:srgbClr val="FF0000"/>
                </a:solidFill>
              </a:rPr>
              <a:t>{</a:t>
            </a:r>
          </a:p>
          <a:p>
            <a:pPr marL="0" indent="0">
              <a:lnSpc>
                <a:spcPct val="100000"/>
              </a:lnSpc>
              <a:spcBef>
                <a:spcPct val="0"/>
              </a:spcBef>
              <a:buClr>
                <a:schemeClr val="tx2"/>
              </a:buClr>
              <a:buSzPct val="70000"/>
              <a:buFont typeface="Arial" panose="020B0604020202020204" pitchFamily="34" charset="0"/>
              <a:buNone/>
            </a:pPr>
            <a:r>
              <a:rPr lang="en-US" altLang="zh-CN" sz="2400" b="1" dirty="0">
                <a:solidFill>
                  <a:srgbClr val="0000FF"/>
                </a:solidFill>
              </a:rPr>
              <a:t>   int </a:t>
            </a:r>
            <a:r>
              <a:rPr lang="en-US" altLang="zh-CN" sz="2400" b="1" dirty="0"/>
              <a:t>a</a:t>
            </a:r>
            <a:r>
              <a:rPr lang="en-US" altLang="zh-CN" sz="2400" b="1" dirty="0">
                <a:solidFill>
                  <a:srgbClr val="FF0000"/>
                </a:solidFill>
              </a:rPr>
              <a:t>[</a:t>
            </a:r>
            <a:r>
              <a:rPr lang="en-US" altLang="zh-CN" sz="2400" b="1" dirty="0"/>
              <a:t>3</a:t>
            </a:r>
            <a:r>
              <a:rPr lang="en-US" altLang="zh-CN" sz="2400" b="1" dirty="0">
                <a:solidFill>
                  <a:srgbClr val="FF0000"/>
                </a:solidFill>
              </a:rPr>
              <a:t>][</a:t>
            </a:r>
            <a:r>
              <a:rPr lang="en-US" altLang="zh-CN" sz="2400" b="1" dirty="0"/>
              <a:t>4</a:t>
            </a:r>
            <a:r>
              <a:rPr lang="en-US" altLang="zh-CN" sz="2400" b="1" dirty="0">
                <a:solidFill>
                  <a:srgbClr val="FF0000"/>
                </a:solidFill>
              </a:rPr>
              <a:t>]</a:t>
            </a:r>
            <a:r>
              <a:rPr lang="en-US" altLang="zh-CN" sz="2400" b="1" dirty="0"/>
              <a:t>;</a:t>
            </a:r>
          </a:p>
          <a:p>
            <a:pPr marL="0" indent="0">
              <a:lnSpc>
                <a:spcPct val="100000"/>
              </a:lnSpc>
              <a:spcBef>
                <a:spcPct val="0"/>
              </a:spcBef>
              <a:buClr>
                <a:schemeClr val="tx2"/>
              </a:buClr>
              <a:buSzPct val="70000"/>
              <a:buFont typeface="Arial" panose="020B0604020202020204" pitchFamily="34" charset="0"/>
              <a:buNone/>
            </a:pPr>
            <a:r>
              <a:rPr lang="en-US" altLang="zh-CN" sz="2400" b="1" dirty="0">
                <a:solidFill>
                  <a:srgbClr val="FF0000"/>
                </a:solidFill>
              </a:rPr>
              <a:t>   </a:t>
            </a:r>
            <a:r>
              <a:rPr lang="en-US" altLang="zh-CN" sz="2400" b="1" dirty="0">
                <a:solidFill>
                  <a:srgbClr val="0000FF"/>
                </a:solidFill>
              </a:rPr>
              <a:t>int</a:t>
            </a:r>
            <a:r>
              <a:rPr lang="en-US" altLang="zh-CN" sz="2400" b="1" dirty="0">
                <a:solidFill>
                  <a:srgbClr val="FF0000"/>
                </a:solidFill>
              </a:rPr>
              <a:t> *</a:t>
            </a:r>
            <a:r>
              <a:rPr lang="en-US" altLang="zh-CN" sz="2400" b="1" dirty="0"/>
              <a:t>p = </a:t>
            </a:r>
            <a:r>
              <a:rPr lang="en-US" altLang="zh-CN" sz="2400" b="1" dirty="0">
                <a:solidFill>
                  <a:srgbClr val="FF0000"/>
                </a:solidFill>
              </a:rPr>
              <a:t>&amp;</a:t>
            </a:r>
            <a:r>
              <a:rPr lang="en-US" altLang="zh-CN" sz="2400" b="1" dirty="0"/>
              <a:t>a</a:t>
            </a:r>
            <a:r>
              <a:rPr lang="en-US" altLang="zh-CN" sz="2400" b="1" dirty="0">
                <a:solidFill>
                  <a:srgbClr val="FF0000"/>
                </a:solidFill>
              </a:rPr>
              <a:t>[</a:t>
            </a:r>
            <a:r>
              <a:rPr lang="en-US" altLang="zh-CN" sz="2400" b="1" dirty="0"/>
              <a:t>0</a:t>
            </a:r>
            <a:r>
              <a:rPr lang="en-US" altLang="zh-CN" sz="2400" b="1" dirty="0">
                <a:solidFill>
                  <a:srgbClr val="FF0000"/>
                </a:solidFill>
              </a:rPr>
              <a:t>][</a:t>
            </a:r>
            <a:r>
              <a:rPr lang="en-US" altLang="zh-CN" sz="2400" b="1" dirty="0"/>
              <a:t>0</a:t>
            </a:r>
            <a:r>
              <a:rPr lang="en-US" altLang="zh-CN" sz="2400" b="1" dirty="0">
                <a:solidFill>
                  <a:srgbClr val="FF0000"/>
                </a:solidFill>
              </a:rPr>
              <a:t>]</a:t>
            </a:r>
            <a:r>
              <a:rPr lang="en-US" altLang="zh-CN" sz="2400" b="1" dirty="0"/>
              <a:t>; </a:t>
            </a:r>
          </a:p>
          <a:p>
            <a:pPr marL="0" indent="0">
              <a:lnSpc>
                <a:spcPct val="100000"/>
              </a:lnSpc>
              <a:spcBef>
                <a:spcPct val="0"/>
              </a:spcBef>
              <a:buClr>
                <a:schemeClr val="tx2"/>
              </a:buClr>
              <a:buSzPct val="70000"/>
              <a:buFont typeface="Arial" panose="020B0604020202020204" pitchFamily="34" charset="0"/>
              <a:buNone/>
            </a:pPr>
            <a:r>
              <a:rPr lang="en-US" altLang="zh-CN" sz="2400" b="1" dirty="0"/>
              <a:t>   </a:t>
            </a:r>
            <a:r>
              <a:rPr lang="en-US" altLang="zh-CN" sz="2400" b="1" dirty="0">
                <a:solidFill>
                  <a:srgbClr val="0000FF"/>
                </a:solidFill>
              </a:rPr>
              <a:t>int</a:t>
            </a:r>
            <a:r>
              <a:rPr lang="en-US" altLang="zh-CN" sz="2400" b="1" dirty="0"/>
              <a:t> </a:t>
            </a:r>
            <a:r>
              <a:rPr lang="en-US" altLang="zh-CN" sz="2400" b="1" dirty="0">
                <a:solidFill>
                  <a:srgbClr val="FF0000"/>
                </a:solidFill>
              </a:rPr>
              <a:t>*</a:t>
            </a:r>
            <a:r>
              <a:rPr lang="en-US" altLang="zh-CN" sz="2400" b="1" dirty="0"/>
              <a:t>pMin = p;</a:t>
            </a:r>
          </a:p>
          <a:p>
            <a:pPr marL="0" indent="0">
              <a:lnSpc>
                <a:spcPct val="100000"/>
              </a:lnSpc>
              <a:spcBef>
                <a:spcPct val="0"/>
              </a:spcBef>
              <a:buClr>
                <a:schemeClr val="tx2"/>
              </a:buClr>
              <a:buSzPct val="70000"/>
              <a:buFont typeface="Arial" panose="020B0604020202020204" pitchFamily="34" charset="0"/>
              <a:buNone/>
            </a:pPr>
            <a:endParaRPr lang="en-US" altLang="zh-CN" sz="2400" b="1" dirty="0"/>
          </a:p>
          <a:p>
            <a:pPr marL="0" indent="0">
              <a:lnSpc>
                <a:spcPct val="100000"/>
              </a:lnSpc>
              <a:spcBef>
                <a:spcPct val="0"/>
              </a:spcBef>
              <a:buClr>
                <a:schemeClr val="tx2"/>
              </a:buClr>
              <a:buSzPct val="70000"/>
              <a:buFont typeface="Arial" panose="020B0604020202020204" pitchFamily="34" charset="0"/>
              <a:buNone/>
            </a:pPr>
            <a:r>
              <a:rPr lang="en-US" altLang="zh-CN" sz="2400" b="1" dirty="0"/>
              <a:t>   </a:t>
            </a:r>
            <a:r>
              <a:rPr lang="en-US" altLang="zh-CN" sz="2400" b="1" dirty="0">
                <a:solidFill>
                  <a:srgbClr val="0000FF"/>
                </a:solidFill>
              </a:rPr>
              <a:t>for</a:t>
            </a:r>
            <a:r>
              <a:rPr lang="en-US" altLang="zh-CN" sz="2400" b="1" dirty="0"/>
              <a:t>(</a:t>
            </a:r>
            <a:r>
              <a:rPr lang="en-US" altLang="zh-CN" sz="2400" b="1" dirty="0">
                <a:solidFill>
                  <a:srgbClr val="0000FF"/>
                </a:solidFill>
              </a:rPr>
              <a:t>int</a:t>
            </a:r>
            <a:r>
              <a:rPr lang="en-US" altLang="zh-CN" sz="2400" b="1" dirty="0"/>
              <a:t> i = 0</a:t>
            </a:r>
            <a:r>
              <a:rPr lang="en-US" altLang="zh-CN" sz="2400" b="1" dirty="0">
                <a:solidFill>
                  <a:srgbClr val="FF0000"/>
                </a:solidFill>
              </a:rPr>
              <a:t>;</a:t>
            </a:r>
            <a:r>
              <a:rPr lang="en-US" altLang="zh-CN" sz="2400" b="1" dirty="0"/>
              <a:t> i &lt; 3</a:t>
            </a:r>
            <a:r>
              <a:rPr lang="en-US" altLang="zh-CN" sz="2400" b="1" dirty="0">
                <a:solidFill>
                  <a:srgbClr val="FF0000"/>
                </a:solidFill>
              </a:rPr>
              <a:t>;</a:t>
            </a:r>
            <a:r>
              <a:rPr lang="en-US" altLang="zh-CN" sz="2400" b="1" dirty="0"/>
              <a:t> i++){</a:t>
            </a:r>
          </a:p>
          <a:p>
            <a:pPr marL="0" indent="0">
              <a:lnSpc>
                <a:spcPct val="100000"/>
              </a:lnSpc>
              <a:spcBef>
                <a:spcPct val="0"/>
              </a:spcBef>
              <a:buClr>
                <a:schemeClr val="tx2"/>
              </a:buClr>
              <a:buSzPct val="70000"/>
              <a:buNone/>
            </a:pPr>
            <a:r>
              <a:rPr lang="en-US" altLang="zh-CN" sz="2400" b="1" dirty="0"/>
              <a:t>       </a:t>
            </a:r>
            <a:r>
              <a:rPr lang="en-US" altLang="zh-CN" sz="2400" b="1" dirty="0">
                <a:solidFill>
                  <a:srgbClr val="0000FF"/>
                </a:solidFill>
              </a:rPr>
              <a:t>for</a:t>
            </a:r>
            <a:r>
              <a:rPr lang="en-US" altLang="zh-CN" sz="2400" b="1" dirty="0"/>
              <a:t>(</a:t>
            </a:r>
            <a:r>
              <a:rPr lang="en-US" altLang="zh-CN" sz="2400" b="1" dirty="0">
                <a:solidFill>
                  <a:srgbClr val="0000FF"/>
                </a:solidFill>
              </a:rPr>
              <a:t>int</a:t>
            </a:r>
            <a:r>
              <a:rPr lang="en-US" altLang="zh-CN" sz="2400" b="1" dirty="0"/>
              <a:t> j = 0</a:t>
            </a:r>
            <a:r>
              <a:rPr lang="en-US" altLang="zh-CN" sz="2400" b="1" dirty="0">
                <a:solidFill>
                  <a:srgbClr val="FF0000"/>
                </a:solidFill>
              </a:rPr>
              <a:t>;</a:t>
            </a:r>
            <a:r>
              <a:rPr lang="en-US" altLang="zh-CN" sz="2400" b="1" dirty="0"/>
              <a:t> j &lt; 4</a:t>
            </a:r>
            <a:r>
              <a:rPr lang="en-US" altLang="zh-CN" sz="2400" b="1" dirty="0">
                <a:solidFill>
                  <a:srgbClr val="FF0000"/>
                </a:solidFill>
              </a:rPr>
              <a:t>;</a:t>
            </a:r>
            <a:r>
              <a:rPr lang="en-US" altLang="zh-CN" sz="2400" b="1" dirty="0"/>
              <a:t> j++){</a:t>
            </a:r>
          </a:p>
          <a:p>
            <a:pPr marL="0" indent="0">
              <a:lnSpc>
                <a:spcPct val="100000"/>
              </a:lnSpc>
              <a:spcBef>
                <a:spcPct val="0"/>
              </a:spcBef>
              <a:buClr>
                <a:schemeClr val="tx2"/>
              </a:buClr>
              <a:buSzPct val="70000"/>
              <a:buNone/>
            </a:pPr>
            <a:r>
              <a:rPr lang="en-US" altLang="zh-CN" sz="2400" b="1" dirty="0"/>
              <a:t>           scanf(</a:t>
            </a:r>
            <a:r>
              <a:rPr lang="en-US" altLang="zh-CN" sz="2400" b="1" dirty="0">
                <a:solidFill>
                  <a:srgbClr val="00B050"/>
                </a:solidFill>
              </a:rPr>
              <a:t>“%d”</a:t>
            </a:r>
            <a:r>
              <a:rPr lang="en-US" altLang="zh-CN" sz="2400" b="1" dirty="0"/>
              <a:t>, </a:t>
            </a:r>
            <a:r>
              <a:rPr lang="en-US" altLang="zh-CN" sz="2400" b="1" dirty="0">
                <a:highlight>
                  <a:srgbClr val="00FF00"/>
                </a:highlight>
              </a:rPr>
              <a:t>p+ 4*i + j</a:t>
            </a:r>
            <a:r>
              <a:rPr lang="en-US" altLang="zh-CN" sz="2400" b="1" dirty="0"/>
              <a:t>);</a:t>
            </a:r>
          </a:p>
          <a:p>
            <a:pPr marL="0" indent="0">
              <a:lnSpc>
                <a:spcPct val="100000"/>
              </a:lnSpc>
              <a:spcBef>
                <a:spcPct val="0"/>
              </a:spcBef>
              <a:buClr>
                <a:schemeClr val="tx2"/>
              </a:buClr>
              <a:buSzPct val="70000"/>
              <a:buNone/>
            </a:pPr>
            <a:r>
              <a:rPr lang="en-US" altLang="zh-CN" sz="2400" b="1" dirty="0"/>
              <a:t>        }</a:t>
            </a:r>
          </a:p>
          <a:p>
            <a:pPr marL="0" indent="0">
              <a:lnSpc>
                <a:spcPct val="100000"/>
              </a:lnSpc>
              <a:spcBef>
                <a:spcPct val="0"/>
              </a:spcBef>
              <a:buClr>
                <a:schemeClr val="tx2"/>
              </a:buClr>
              <a:buSzPct val="70000"/>
              <a:buNone/>
            </a:pPr>
            <a:r>
              <a:rPr lang="en-US" altLang="zh-CN" sz="2400" b="1" dirty="0"/>
              <a:t>    }</a:t>
            </a:r>
          </a:p>
          <a:p>
            <a:pPr marL="0" indent="0">
              <a:lnSpc>
                <a:spcPct val="100000"/>
              </a:lnSpc>
              <a:spcBef>
                <a:spcPct val="0"/>
              </a:spcBef>
              <a:buClr>
                <a:schemeClr val="tx2"/>
              </a:buClr>
              <a:buSzPct val="70000"/>
              <a:buFont typeface="Arial" panose="020B0604020202020204" pitchFamily="34" charset="0"/>
              <a:buNone/>
            </a:pPr>
            <a:r>
              <a:rPr lang="en-US" altLang="zh-CN" sz="2400" b="1" dirty="0"/>
              <a:t>    </a:t>
            </a:r>
            <a:r>
              <a:rPr lang="en-US" altLang="zh-CN" sz="2400" b="1" dirty="0">
                <a:solidFill>
                  <a:srgbClr val="00B050"/>
                </a:solidFill>
              </a:rPr>
              <a:t>……</a:t>
            </a:r>
          </a:p>
        </p:txBody>
      </p:sp>
      <p:sp>
        <p:nvSpPr>
          <p:cNvPr id="9" name="Rectangle 2">
            <a:extLst>
              <a:ext uri="{FF2B5EF4-FFF2-40B4-BE49-F238E27FC236}">
                <a16:creationId xmlns:a16="http://schemas.microsoft.com/office/drawing/2014/main" id="{68B90686-BA8C-4F80-BD35-3F41131F4218}"/>
              </a:ext>
            </a:extLst>
          </p:cNvPr>
          <p:cNvSpPr txBox="1">
            <a:spLocks noChangeArrowheads="1"/>
          </p:cNvSpPr>
          <p:nvPr/>
        </p:nvSpPr>
        <p:spPr>
          <a:xfrm>
            <a:off x="5422900" y="2329975"/>
            <a:ext cx="6708140" cy="4524315"/>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Font typeface="Arial" panose="020B0604020202020204" pitchFamily="34" charset="0"/>
              <a:buNone/>
            </a:pPr>
            <a:r>
              <a:rPr lang="en-US" altLang="zh-CN" sz="2400" b="1" dirty="0"/>
              <a:t>   </a:t>
            </a:r>
            <a:r>
              <a:rPr lang="en-US" altLang="zh-CN" sz="2400" b="1" dirty="0">
                <a:solidFill>
                  <a:srgbClr val="00B050"/>
                </a:solidFill>
              </a:rPr>
              <a:t>……</a:t>
            </a:r>
          </a:p>
          <a:p>
            <a:pPr marL="0" indent="0">
              <a:lnSpc>
                <a:spcPct val="100000"/>
              </a:lnSpc>
              <a:spcBef>
                <a:spcPct val="0"/>
              </a:spcBef>
              <a:buClr>
                <a:schemeClr val="tx2"/>
              </a:buClr>
              <a:buSzPct val="70000"/>
              <a:buFont typeface="Arial" panose="020B0604020202020204" pitchFamily="34" charset="0"/>
              <a:buNone/>
            </a:pPr>
            <a:r>
              <a:rPr lang="en-US" altLang="zh-CN" sz="2400" b="1" dirty="0"/>
              <a:t>   </a:t>
            </a:r>
            <a:r>
              <a:rPr lang="en-US" altLang="zh-CN" sz="2400" b="1" dirty="0">
                <a:solidFill>
                  <a:srgbClr val="0000FF"/>
                </a:solidFill>
              </a:rPr>
              <a:t>for</a:t>
            </a:r>
            <a:r>
              <a:rPr lang="en-US" altLang="zh-CN" sz="2400" b="1" dirty="0"/>
              <a:t>(</a:t>
            </a:r>
            <a:r>
              <a:rPr lang="en-US" altLang="zh-CN" sz="2400" b="1" dirty="0">
                <a:solidFill>
                  <a:srgbClr val="0000FF"/>
                </a:solidFill>
              </a:rPr>
              <a:t>int</a:t>
            </a:r>
            <a:r>
              <a:rPr lang="en-US" altLang="zh-CN" sz="2400" b="1" dirty="0"/>
              <a:t> i = 0</a:t>
            </a:r>
            <a:r>
              <a:rPr lang="en-US" altLang="zh-CN" sz="2400" b="1" dirty="0">
                <a:solidFill>
                  <a:srgbClr val="FF0000"/>
                </a:solidFill>
              </a:rPr>
              <a:t>;</a:t>
            </a:r>
            <a:r>
              <a:rPr lang="en-US" altLang="zh-CN" sz="2400" b="1" dirty="0"/>
              <a:t> i &lt; 3</a:t>
            </a:r>
            <a:r>
              <a:rPr lang="en-US" altLang="zh-CN" sz="2400" b="1" dirty="0">
                <a:solidFill>
                  <a:srgbClr val="FF0000"/>
                </a:solidFill>
              </a:rPr>
              <a:t>;</a:t>
            </a:r>
            <a:r>
              <a:rPr lang="en-US" altLang="zh-CN" sz="2400" b="1" dirty="0"/>
              <a:t> i++){</a:t>
            </a:r>
          </a:p>
          <a:p>
            <a:pPr marL="0" indent="0">
              <a:lnSpc>
                <a:spcPct val="100000"/>
              </a:lnSpc>
              <a:spcBef>
                <a:spcPct val="0"/>
              </a:spcBef>
              <a:buClr>
                <a:schemeClr val="tx2"/>
              </a:buClr>
              <a:buSzPct val="70000"/>
              <a:buNone/>
            </a:pPr>
            <a:r>
              <a:rPr lang="en-US" altLang="zh-CN" sz="2400" b="1" dirty="0"/>
              <a:t>       </a:t>
            </a:r>
            <a:r>
              <a:rPr lang="en-US" altLang="zh-CN" sz="2400" b="1" dirty="0">
                <a:solidFill>
                  <a:srgbClr val="0000FF"/>
                </a:solidFill>
              </a:rPr>
              <a:t>for</a:t>
            </a:r>
            <a:r>
              <a:rPr lang="en-US" altLang="zh-CN" sz="2400" b="1" dirty="0"/>
              <a:t>(</a:t>
            </a:r>
            <a:r>
              <a:rPr lang="en-US" altLang="zh-CN" sz="2400" b="1" dirty="0">
                <a:solidFill>
                  <a:srgbClr val="0000FF"/>
                </a:solidFill>
              </a:rPr>
              <a:t>int</a:t>
            </a:r>
            <a:r>
              <a:rPr lang="en-US" altLang="zh-CN" sz="2400" b="1" dirty="0"/>
              <a:t> j = 0</a:t>
            </a:r>
            <a:r>
              <a:rPr lang="en-US" altLang="zh-CN" sz="2400" b="1" dirty="0">
                <a:solidFill>
                  <a:srgbClr val="FF0000"/>
                </a:solidFill>
              </a:rPr>
              <a:t>;</a:t>
            </a:r>
            <a:r>
              <a:rPr lang="en-US" altLang="zh-CN" sz="2400" b="1" dirty="0"/>
              <a:t> j &lt; 4</a:t>
            </a:r>
            <a:r>
              <a:rPr lang="en-US" altLang="zh-CN" sz="2400" b="1" dirty="0">
                <a:solidFill>
                  <a:srgbClr val="FF0000"/>
                </a:solidFill>
              </a:rPr>
              <a:t>;</a:t>
            </a:r>
            <a:r>
              <a:rPr lang="en-US" altLang="zh-CN" sz="2400" b="1" dirty="0"/>
              <a:t> j++){</a:t>
            </a:r>
          </a:p>
          <a:p>
            <a:pPr marL="0" indent="0">
              <a:lnSpc>
                <a:spcPct val="100000"/>
              </a:lnSpc>
              <a:spcBef>
                <a:spcPct val="0"/>
              </a:spcBef>
              <a:buClr>
                <a:schemeClr val="tx2"/>
              </a:buClr>
              <a:buSzPct val="70000"/>
              <a:buNone/>
            </a:pPr>
            <a:r>
              <a:rPr lang="en-US" altLang="zh-CN" sz="2400" b="1" dirty="0"/>
              <a:t>        </a:t>
            </a:r>
            <a:r>
              <a:rPr lang="en-US" altLang="zh-CN" sz="2400" b="1" dirty="0">
                <a:solidFill>
                  <a:srgbClr val="0000FF"/>
                </a:solidFill>
              </a:rPr>
              <a:t>if</a:t>
            </a:r>
            <a:r>
              <a:rPr lang="en-US" altLang="zh-CN" sz="2400" b="1" dirty="0"/>
              <a:t>( </a:t>
            </a:r>
            <a:r>
              <a:rPr lang="en-US" altLang="zh-CN" sz="2400" b="1" dirty="0">
                <a:solidFill>
                  <a:srgbClr val="FF0000"/>
                </a:solidFill>
              </a:rPr>
              <a:t>*</a:t>
            </a:r>
            <a:r>
              <a:rPr lang="en-US" altLang="zh-CN" sz="2400" b="1" dirty="0">
                <a:solidFill>
                  <a:srgbClr val="00B0F0"/>
                </a:solidFill>
              </a:rPr>
              <a:t>(</a:t>
            </a:r>
            <a:r>
              <a:rPr lang="en-US" altLang="zh-CN" sz="2400" b="1" dirty="0">
                <a:highlight>
                  <a:srgbClr val="00FF00"/>
                </a:highlight>
              </a:rPr>
              <a:t>p+ 4*i + j</a:t>
            </a:r>
            <a:r>
              <a:rPr lang="en-US" altLang="zh-CN" sz="2400" b="1" dirty="0">
                <a:solidFill>
                  <a:srgbClr val="00B0F0"/>
                </a:solidFill>
              </a:rPr>
              <a:t>)</a:t>
            </a:r>
            <a:r>
              <a:rPr lang="en-US" altLang="zh-CN" sz="2400" b="1" dirty="0"/>
              <a:t> &lt; </a:t>
            </a:r>
            <a:r>
              <a:rPr lang="en-US" altLang="zh-CN" sz="2400" b="1" dirty="0">
                <a:solidFill>
                  <a:srgbClr val="FF0000"/>
                </a:solidFill>
              </a:rPr>
              <a:t>*</a:t>
            </a:r>
            <a:r>
              <a:rPr lang="en-US" altLang="zh-CN" sz="2400" b="1" dirty="0"/>
              <a:t>pMin )</a:t>
            </a:r>
          </a:p>
          <a:p>
            <a:pPr marL="0" indent="0">
              <a:lnSpc>
                <a:spcPct val="100000"/>
              </a:lnSpc>
              <a:spcBef>
                <a:spcPct val="0"/>
              </a:spcBef>
              <a:buClr>
                <a:schemeClr val="tx2"/>
              </a:buClr>
              <a:buSzPct val="70000"/>
              <a:buNone/>
            </a:pPr>
            <a:r>
              <a:rPr lang="en-US" altLang="zh-CN" sz="2400" b="1" dirty="0"/>
              <a:t>            pMin = </a:t>
            </a:r>
            <a:r>
              <a:rPr lang="en-US" altLang="zh-CN" sz="2400" b="1" dirty="0">
                <a:highlight>
                  <a:srgbClr val="00FF00"/>
                </a:highlight>
              </a:rPr>
              <a:t>p+ 4*i + j</a:t>
            </a:r>
            <a:r>
              <a:rPr lang="en-US" altLang="zh-CN" sz="2400" b="1" dirty="0"/>
              <a:t>;</a:t>
            </a:r>
          </a:p>
          <a:p>
            <a:pPr marL="0" indent="0">
              <a:lnSpc>
                <a:spcPct val="100000"/>
              </a:lnSpc>
              <a:spcBef>
                <a:spcPct val="0"/>
              </a:spcBef>
              <a:buClr>
                <a:schemeClr val="tx2"/>
              </a:buClr>
              <a:buSzPct val="70000"/>
              <a:buNone/>
            </a:pPr>
            <a:r>
              <a:rPr lang="en-US" altLang="zh-CN" sz="2400" b="1" dirty="0"/>
              <a:t>        }</a:t>
            </a:r>
          </a:p>
          <a:p>
            <a:pPr marL="0" indent="0">
              <a:lnSpc>
                <a:spcPct val="100000"/>
              </a:lnSpc>
              <a:spcBef>
                <a:spcPct val="0"/>
              </a:spcBef>
              <a:buClr>
                <a:schemeClr val="tx2"/>
              </a:buClr>
              <a:buSzPct val="70000"/>
              <a:buNone/>
            </a:pPr>
            <a:r>
              <a:rPr lang="en-US" altLang="zh-CN" sz="2400" b="1" dirty="0"/>
              <a:t>    }</a:t>
            </a:r>
          </a:p>
          <a:p>
            <a:pPr marL="0" indent="0">
              <a:lnSpc>
                <a:spcPct val="100000"/>
              </a:lnSpc>
              <a:spcBef>
                <a:spcPct val="0"/>
              </a:spcBef>
              <a:buClr>
                <a:schemeClr val="tx2"/>
              </a:buClr>
              <a:buSzPct val="70000"/>
              <a:buNone/>
            </a:pPr>
            <a:r>
              <a:rPr lang="en-US" altLang="zh-CN" sz="2400" b="1" dirty="0"/>
              <a:t>    printf( </a:t>
            </a:r>
            <a:r>
              <a:rPr lang="en-US" altLang="zh-CN" sz="2400" b="1" dirty="0">
                <a:solidFill>
                  <a:srgbClr val="00B050"/>
                </a:solidFill>
              </a:rPr>
              <a:t>“%d ”</a:t>
            </a:r>
            <a:r>
              <a:rPr lang="en-US" altLang="zh-CN" sz="2400" b="1" dirty="0"/>
              <a:t>, </a:t>
            </a:r>
            <a:r>
              <a:rPr lang="en-US" altLang="zh-CN" sz="2400" b="1" dirty="0">
                <a:solidFill>
                  <a:srgbClr val="FF0000"/>
                </a:solidFill>
              </a:rPr>
              <a:t>*</a:t>
            </a:r>
            <a:r>
              <a:rPr lang="en-US" altLang="zh-CN" sz="2400" b="1" dirty="0"/>
              <a:t>pMin );</a:t>
            </a:r>
          </a:p>
          <a:p>
            <a:pPr marL="0" indent="0">
              <a:lnSpc>
                <a:spcPct val="100000"/>
              </a:lnSpc>
              <a:spcBef>
                <a:spcPct val="0"/>
              </a:spcBef>
              <a:buClr>
                <a:schemeClr val="tx2"/>
              </a:buClr>
              <a:buSzPct val="70000"/>
              <a:buNone/>
            </a:pPr>
            <a:r>
              <a:rPr lang="en-US" altLang="zh-CN" sz="2400" b="1" dirty="0"/>
              <a:t>    printf( </a:t>
            </a:r>
            <a:r>
              <a:rPr lang="en-US" altLang="zh-CN" sz="2400" b="1" dirty="0">
                <a:solidFill>
                  <a:srgbClr val="00B050"/>
                </a:solidFill>
              </a:rPr>
              <a:t>“Row:%d”</a:t>
            </a:r>
            <a:r>
              <a:rPr lang="en-US" altLang="zh-CN" sz="2400" b="1" dirty="0"/>
              <a:t>,  </a:t>
            </a:r>
            <a:r>
              <a:rPr lang="en-US" altLang="zh-CN" sz="2400" b="1" dirty="0">
                <a:solidFill>
                  <a:srgbClr val="00B0F0"/>
                </a:solidFill>
              </a:rPr>
              <a:t>(</a:t>
            </a:r>
            <a:r>
              <a:rPr lang="en-US" altLang="zh-CN" sz="2400" b="1" dirty="0"/>
              <a:t>pMin - &amp;a</a:t>
            </a:r>
            <a:r>
              <a:rPr lang="en-US" altLang="zh-CN" sz="2400" b="1" dirty="0">
                <a:solidFill>
                  <a:srgbClr val="FF0000"/>
                </a:solidFill>
              </a:rPr>
              <a:t>[</a:t>
            </a:r>
            <a:r>
              <a:rPr lang="en-US" altLang="zh-CN" sz="2400" b="1" dirty="0"/>
              <a:t>0</a:t>
            </a:r>
            <a:r>
              <a:rPr lang="en-US" altLang="zh-CN" sz="2400" b="1" dirty="0">
                <a:solidFill>
                  <a:srgbClr val="FF0000"/>
                </a:solidFill>
              </a:rPr>
              <a:t>][</a:t>
            </a:r>
            <a:r>
              <a:rPr lang="en-US" altLang="zh-CN" sz="2400" b="1" dirty="0"/>
              <a:t>0</a:t>
            </a:r>
            <a:r>
              <a:rPr lang="en-US" altLang="zh-CN" sz="2400" b="1" dirty="0">
                <a:solidFill>
                  <a:srgbClr val="FF0000"/>
                </a:solidFill>
              </a:rPr>
              <a:t>]</a:t>
            </a:r>
            <a:r>
              <a:rPr lang="en-US" altLang="zh-CN" sz="2400" b="1" dirty="0">
                <a:solidFill>
                  <a:srgbClr val="00B0F0"/>
                </a:solidFill>
              </a:rPr>
              <a:t>)</a:t>
            </a:r>
            <a:r>
              <a:rPr lang="en-US" altLang="zh-CN" sz="2400" b="1" dirty="0"/>
              <a:t> / 4 );</a:t>
            </a:r>
          </a:p>
          <a:p>
            <a:pPr marL="0" indent="0">
              <a:lnSpc>
                <a:spcPct val="100000"/>
              </a:lnSpc>
              <a:spcBef>
                <a:spcPct val="0"/>
              </a:spcBef>
              <a:buClr>
                <a:schemeClr val="tx2"/>
              </a:buClr>
              <a:buSzPct val="70000"/>
              <a:buNone/>
            </a:pPr>
            <a:r>
              <a:rPr lang="en-US" altLang="zh-CN" sz="2400" b="1" dirty="0"/>
              <a:t>    printf( </a:t>
            </a:r>
            <a:r>
              <a:rPr lang="en-US" altLang="zh-CN" sz="2400" b="1" dirty="0">
                <a:solidFill>
                  <a:srgbClr val="00B050"/>
                </a:solidFill>
              </a:rPr>
              <a:t>“  Col:%d”</a:t>
            </a:r>
            <a:r>
              <a:rPr lang="en-US" altLang="zh-CN" sz="2400" b="1" dirty="0"/>
              <a:t>,  </a:t>
            </a:r>
            <a:r>
              <a:rPr lang="en-US" altLang="zh-CN" sz="2400" b="1" dirty="0">
                <a:solidFill>
                  <a:srgbClr val="00B0F0"/>
                </a:solidFill>
              </a:rPr>
              <a:t>(</a:t>
            </a:r>
            <a:r>
              <a:rPr lang="en-US" altLang="zh-CN" sz="2400" b="1" dirty="0"/>
              <a:t>pMin - &amp;a</a:t>
            </a:r>
            <a:r>
              <a:rPr lang="en-US" altLang="zh-CN" sz="2400" b="1" dirty="0">
                <a:solidFill>
                  <a:srgbClr val="FF0000"/>
                </a:solidFill>
              </a:rPr>
              <a:t>[</a:t>
            </a:r>
            <a:r>
              <a:rPr lang="en-US" altLang="zh-CN" sz="2400" b="1" dirty="0"/>
              <a:t>0</a:t>
            </a:r>
            <a:r>
              <a:rPr lang="en-US" altLang="zh-CN" sz="2400" b="1" dirty="0">
                <a:solidFill>
                  <a:srgbClr val="FF0000"/>
                </a:solidFill>
              </a:rPr>
              <a:t>][</a:t>
            </a:r>
            <a:r>
              <a:rPr lang="en-US" altLang="zh-CN" sz="2400" b="1" dirty="0"/>
              <a:t>0</a:t>
            </a:r>
            <a:r>
              <a:rPr lang="en-US" altLang="zh-CN" sz="2400" b="1" dirty="0">
                <a:solidFill>
                  <a:srgbClr val="FF0000"/>
                </a:solidFill>
              </a:rPr>
              <a:t>]</a:t>
            </a:r>
            <a:r>
              <a:rPr lang="en-US" altLang="zh-CN" sz="2400" b="1" dirty="0">
                <a:solidFill>
                  <a:srgbClr val="00B0F0"/>
                </a:solidFill>
              </a:rPr>
              <a:t>)</a:t>
            </a:r>
            <a:r>
              <a:rPr lang="en-US" altLang="zh-CN" sz="2400" b="1" dirty="0"/>
              <a:t> % 4 );</a:t>
            </a:r>
          </a:p>
          <a:p>
            <a:pPr marL="0" indent="0">
              <a:lnSpc>
                <a:spcPct val="100000"/>
              </a:lnSpc>
              <a:spcBef>
                <a:spcPct val="0"/>
              </a:spcBef>
              <a:buClr>
                <a:schemeClr val="tx2"/>
              </a:buClr>
              <a:buSzPct val="70000"/>
              <a:buFont typeface="Arial" panose="020B0604020202020204" pitchFamily="34" charset="0"/>
              <a:buNone/>
            </a:pPr>
            <a:r>
              <a:rPr lang="en-US" altLang="zh-CN" sz="2400" b="1" dirty="0"/>
              <a:t>    </a:t>
            </a:r>
            <a:r>
              <a:rPr lang="en-US" altLang="zh-CN" sz="2400" b="1" dirty="0">
                <a:solidFill>
                  <a:srgbClr val="00B050"/>
                </a:solidFill>
              </a:rPr>
              <a:t>……</a:t>
            </a:r>
          </a:p>
          <a:p>
            <a:pPr marL="0" indent="0">
              <a:lnSpc>
                <a:spcPct val="100000"/>
              </a:lnSpc>
              <a:spcBef>
                <a:spcPct val="0"/>
              </a:spcBef>
              <a:buClr>
                <a:schemeClr val="tx2"/>
              </a:buClr>
              <a:buSzPct val="70000"/>
              <a:buFont typeface="Arial" panose="020B0604020202020204" pitchFamily="34" charset="0"/>
              <a:buNone/>
            </a:pPr>
            <a:r>
              <a:rPr lang="en-US" altLang="zh-CN" sz="2400" b="1" dirty="0">
                <a:solidFill>
                  <a:srgbClr val="FF0000"/>
                </a:solidFill>
              </a:rPr>
              <a:t>}</a:t>
            </a:r>
          </a:p>
        </p:txBody>
      </p:sp>
      <p:sp>
        <p:nvSpPr>
          <p:cNvPr id="4" name="灯片编号占位符 3">
            <a:extLst>
              <a:ext uri="{FF2B5EF4-FFF2-40B4-BE49-F238E27FC236}">
                <a16:creationId xmlns:a16="http://schemas.microsoft.com/office/drawing/2014/main" id="{987074A0-51CF-44BE-B332-ADC74AB0F2C0}"/>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20</a:t>
            </a:fld>
            <a:r>
              <a:rPr lang="en-US" altLang="zh-CN" dirty="0">
                <a:solidFill>
                  <a:prstClr val="black">
                    <a:tint val="75000"/>
                  </a:prstClr>
                </a:solidFill>
              </a:rPr>
              <a:t>/ 35</a:t>
            </a:r>
            <a:endParaRPr lang="zh-CN" altLang="en-US" dirty="0"/>
          </a:p>
        </p:txBody>
      </p:sp>
      <p:sp>
        <p:nvSpPr>
          <p:cNvPr id="10" name="文本框 9">
            <a:extLst>
              <a:ext uri="{FF2B5EF4-FFF2-40B4-BE49-F238E27FC236}">
                <a16:creationId xmlns:a16="http://schemas.microsoft.com/office/drawing/2014/main" id="{0933ECBB-04CF-4F21-BA46-BA1C6D038D05}"/>
              </a:ext>
            </a:extLst>
          </p:cNvPr>
          <p:cNvSpPr txBox="1"/>
          <p:nvPr/>
        </p:nvSpPr>
        <p:spPr>
          <a:xfrm>
            <a:off x="2507464" y="-59476"/>
            <a:ext cx="4768993"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指针与二维数组</a:t>
            </a:r>
            <a:endParaRPr lang="zh-CN" altLang="en-US" sz="3200" b="1" dirty="0">
              <a:solidFill>
                <a:srgbClr val="200AC4"/>
              </a:solidFill>
              <a:ea typeface="隶书" pitchFamily="49" charset="-122"/>
            </a:endParaRPr>
          </a:p>
        </p:txBody>
      </p:sp>
    </p:spTree>
    <p:extLst>
      <p:ext uri="{BB962C8B-B14F-4D97-AF65-F5344CB8AC3E}">
        <p14:creationId xmlns:p14="http://schemas.microsoft.com/office/powerpoint/2010/main" val="2331557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a:extLst>
              <a:ext uri="{FF2B5EF4-FFF2-40B4-BE49-F238E27FC236}">
                <a16:creationId xmlns:a16="http://schemas.microsoft.com/office/drawing/2014/main" id="{43507396-805D-473B-A126-94A57DDE92FB}"/>
              </a:ext>
            </a:extLst>
          </p:cNvPr>
          <p:cNvSpPr/>
          <p:nvPr/>
        </p:nvSpPr>
        <p:spPr>
          <a:xfrm>
            <a:off x="847" y="580799"/>
            <a:ext cx="11709066" cy="523220"/>
          </a:xfrm>
          <a:prstGeom prst="rect">
            <a:avLst/>
          </a:prstGeom>
        </p:spPr>
        <p:txBody>
          <a:bodyPr wrap="square">
            <a:spAutoFit/>
          </a:bodyPr>
          <a:lstStyle/>
          <a:p>
            <a:pPr marL="0" lvl="1"/>
            <a:r>
              <a:rPr lang="en-US" altLang="zh-CN" sz="2800" b="1" dirty="0">
                <a:solidFill>
                  <a:srgbClr val="00B0F0"/>
                </a:solidFill>
                <a:latin typeface="微软雅黑" panose="020B0503020204020204" pitchFamily="34" charset="-122"/>
                <a:ea typeface="微软雅黑" panose="020B0503020204020204" pitchFamily="34" charset="-122"/>
              </a:rPr>
              <a:t>2. </a:t>
            </a:r>
            <a:r>
              <a:rPr lang="zh-CN" altLang="en-US" sz="2800" b="1" dirty="0">
                <a:solidFill>
                  <a:srgbClr val="00B0F0"/>
                </a:solidFill>
                <a:latin typeface="微软雅黑" panose="020B0503020204020204" pitchFamily="34" charset="-122"/>
                <a:ea typeface="微软雅黑" panose="020B0503020204020204" pitchFamily="34" charset="-122"/>
              </a:rPr>
              <a:t>行指针</a:t>
            </a:r>
            <a:endParaRPr lang="en-US" altLang="zh-CN" sz="2800" b="1" dirty="0">
              <a:solidFill>
                <a:srgbClr val="00B0F0"/>
              </a:solidFill>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032BC780-C445-4D57-B2DA-8560CF984304}"/>
              </a:ext>
            </a:extLst>
          </p:cNvPr>
          <p:cNvSpPr/>
          <p:nvPr/>
        </p:nvSpPr>
        <p:spPr>
          <a:xfrm>
            <a:off x="0" y="1158775"/>
            <a:ext cx="12027568" cy="523220"/>
          </a:xfrm>
          <a:prstGeom prst="rect">
            <a:avLst/>
          </a:prstGeom>
        </p:spPr>
        <p:txBody>
          <a:bodyPr wrap="square">
            <a:spAutoFit/>
          </a:bodyPr>
          <a:lstStyle/>
          <a:p>
            <a:pPr marL="0" lvl="1"/>
            <a:r>
              <a:rPr lang="zh-CN" altLang="en-US" sz="2800" b="1" dirty="0">
                <a:latin typeface="隶书" panose="02010509060101010101" pitchFamily="49" charset="-122"/>
                <a:ea typeface="隶书" panose="02010509060101010101" pitchFamily="49" charset="-122"/>
              </a:rPr>
              <a:t>对于如下二维数组：</a:t>
            </a:r>
          </a:p>
        </p:txBody>
      </p:sp>
      <p:sp>
        <p:nvSpPr>
          <p:cNvPr id="7" name="Rectangle 2">
            <a:extLst>
              <a:ext uri="{FF2B5EF4-FFF2-40B4-BE49-F238E27FC236}">
                <a16:creationId xmlns:a16="http://schemas.microsoft.com/office/drawing/2014/main" id="{29C217E6-B47E-4580-A165-CA1954557292}"/>
              </a:ext>
            </a:extLst>
          </p:cNvPr>
          <p:cNvSpPr txBox="1">
            <a:spLocks noChangeArrowheads="1"/>
          </p:cNvSpPr>
          <p:nvPr/>
        </p:nvSpPr>
        <p:spPr>
          <a:xfrm>
            <a:off x="1161615" y="1794597"/>
            <a:ext cx="9924472" cy="523220"/>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0000FF"/>
                </a:solidFill>
              </a:rPr>
              <a:t>int</a:t>
            </a:r>
            <a:r>
              <a:rPr lang="zh-CN" altLang="en-US" b="1" dirty="0">
                <a:solidFill>
                  <a:srgbClr val="0000FF"/>
                </a:solidFill>
              </a:rPr>
              <a:t> </a:t>
            </a:r>
            <a:r>
              <a:rPr lang="en-US" altLang="zh-CN" b="1" dirty="0"/>
              <a:t>a</a:t>
            </a:r>
            <a:r>
              <a:rPr lang="en-US" altLang="zh-CN" b="1" dirty="0">
                <a:solidFill>
                  <a:srgbClr val="FF0000"/>
                </a:solidFill>
              </a:rPr>
              <a:t>[</a:t>
            </a:r>
            <a:r>
              <a:rPr lang="en-US" altLang="zh-CN" b="1" dirty="0"/>
              <a:t>3</a:t>
            </a:r>
            <a:r>
              <a:rPr lang="en-US" altLang="zh-CN" b="1" dirty="0">
                <a:solidFill>
                  <a:srgbClr val="FF0000"/>
                </a:solidFill>
              </a:rPr>
              <a:t>][</a:t>
            </a:r>
            <a:r>
              <a:rPr lang="en-US" altLang="zh-CN" b="1" dirty="0"/>
              <a:t>4</a:t>
            </a:r>
            <a:r>
              <a:rPr lang="en-US" altLang="zh-CN" b="1" dirty="0">
                <a:solidFill>
                  <a:srgbClr val="FF0000"/>
                </a:solidFill>
              </a:rPr>
              <a:t>]</a:t>
            </a:r>
            <a:r>
              <a:rPr lang="en-US" altLang="zh-CN" b="1" dirty="0"/>
              <a:t> = </a:t>
            </a:r>
            <a:r>
              <a:rPr lang="en-US" altLang="zh-CN" b="1" dirty="0">
                <a:solidFill>
                  <a:srgbClr val="002060"/>
                </a:solidFill>
              </a:rPr>
              <a:t>{</a:t>
            </a:r>
            <a:r>
              <a:rPr lang="en-US" altLang="zh-CN" b="1" dirty="0">
                <a:solidFill>
                  <a:srgbClr val="FF0000"/>
                </a:solidFill>
              </a:rPr>
              <a:t> {</a:t>
            </a:r>
            <a:r>
              <a:rPr lang="en-US" altLang="zh-CN" b="1" dirty="0"/>
              <a:t>11, 2, 37, 41</a:t>
            </a:r>
            <a:r>
              <a:rPr lang="en-US" altLang="zh-CN" b="1" dirty="0">
                <a:solidFill>
                  <a:srgbClr val="FF0000"/>
                </a:solidFill>
              </a:rPr>
              <a:t>}</a:t>
            </a:r>
            <a:r>
              <a:rPr lang="en-US" altLang="zh-CN" b="1" dirty="0"/>
              <a:t>, </a:t>
            </a:r>
            <a:r>
              <a:rPr lang="en-US" altLang="zh-CN" b="1" dirty="0">
                <a:solidFill>
                  <a:srgbClr val="FF0000"/>
                </a:solidFill>
              </a:rPr>
              <a:t>{</a:t>
            </a:r>
            <a:r>
              <a:rPr lang="en-US" altLang="zh-CN" b="1" dirty="0"/>
              <a:t>15, 60, 27, 38</a:t>
            </a:r>
            <a:r>
              <a:rPr lang="en-US" altLang="zh-CN" b="1" dirty="0">
                <a:solidFill>
                  <a:srgbClr val="FF0000"/>
                </a:solidFill>
              </a:rPr>
              <a:t>}</a:t>
            </a:r>
            <a:r>
              <a:rPr lang="en-US" altLang="zh-CN" b="1" dirty="0"/>
              <a:t>, </a:t>
            </a:r>
            <a:r>
              <a:rPr lang="en-US" altLang="zh-CN" b="1" dirty="0">
                <a:solidFill>
                  <a:srgbClr val="FF0000"/>
                </a:solidFill>
              </a:rPr>
              <a:t>{</a:t>
            </a:r>
            <a:r>
              <a:rPr lang="en-US" altLang="zh-CN" b="1" dirty="0"/>
              <a:t>29, 10, 16, 12</a:t>
            </a:r>
            <a:r>
              <a:rPr lang="en-US" altLang="zh-CN" b="1" dirty="0">
                <a:solidFill>
                  <a:srgbClr val="FF0000"/>
                </a:solidFill>
              </a:rPr>
              <a:t>} </a:t>
            </a:r>
            <a:r>
              <a:rPr lang="en-US" altLang="zh-CN" b="1" dirty="0">
                <a:solidFill>
                  <a:srgbClr val="002060"/>
                </a:solidFill>
              </a:rPr>
              <a:t>}</a:t>
            </a:r>
            <a:r>
              <a:rPr lang="en-US" altLang="zh-CN" b="1" dirty="0"/>
              <a:t>;</a:t>
            </a:r>
          </a:p>
        </p:txBody>
      </p:sp>
      <p:sp>
        <p:nvSpPr>
          <p:cNvPr id="8" name="矩形 7">
            <a:extLst>
              <a:ext uri="{FF2B5EF4-FFF2-40B4-BE49-F238E27FC236}">
                <a16:creationId xmlns:a16="http://schemas.microsoft.com/office/drawing/2014/main" id="{C224D9DE-4288-4FDF-94AC-EC7042D00653}"/>
              </a:ext>
            </a:extLst>
          </p:cNvPr>
          <p:cNvSpPr/>
          <p:nvPr/>
        </p:nvSpPr>
        <p:spPr>
          <a:xfrm>
            <a:off x="0" y="2430419"/>
            <a:ext cx="12192000" cy="1815882"/>
          </a:xfrm>
          <a:prstGeom prst="rect">
            <a:avLst/>
          </a:prstGeom>
        </p:spPr>
        <p:txBody>
          <a:bodyPr wrap="square">
            <a:spAutoFit/>
          </a:bodyPr>
          <a:lstStyle/>
          <a:p>
            <a:pPr marL="0" lvl="1"/>
            <a:r>
              <a:rPr lang="en-US" altLang="zh-CN" sz="2800" b="1" dirty="0">
                <a:solidFill>
                  <a:srgbClr val="0000FF"/>
                </a:solidFill>
              </a:rPr>
              <a:t>int </a:t>
            </a:r>
            <a:r>
              <a:rPr lang="en-US" altLang="zh-CN" sz="2800" b="1" dirty="0"/>
              <a:t>a</a:t>
            </a:r>
            <a:r>
              <a:rPr lang="en-US" altLang="zh-CN" sz="2800" b="1" dirty="0">
                <a:solidFill>
                  <a:srgbClr val="FF0000"/>
                </a:solidFill>
              </a:rPr>
              <a:t>[</a:t>
            </a:r>
            <a:r>
              <a:rPr lang="en-US" altLang="zh-CN" sz="2800" b="1" dirty="0"/>
              <a:t>3</a:t>
            </a:r>
            <a:r>
              <a:rPr lang="en-US" altLang="zh-CN" sz="2800" b="1" dirty="0">
                <a:solidFill>
                  <a:srgbClr val="FF0000"/>
                </a:solidFill>
              </a:rPr>
              <a:t>]</a:t>
            </a:r>
            <a:r>
              <a:rPr lang="en-US" altLang="zh-CN" sz="2800" b="1" dirty="0">
                <a:solidFill>
                  <a:srgbClr val="0000FF"/>
                </a:solidFill>
              </a:rPr>
              <a:t> [4] </a:t>
            </a:r>
            <a:r>
              <a:rPr lang="en-US" altLang="zh-CN" sz="2800" b="1" dirty="0">
                <a:latin typeface="隶书" panose="02010509060101010101" pitchFamily="49" charset="-122"/>
                <a:ea typeface="隶书" panose="02010509060101010101" pitchFamily="49" charset="-122"/>
              </a:rPr>
              <a:t>:</a:t>
            </a:r>
            <a:r>
              <a:rPr lang="zh-CN" altLang="en-US" sz="2800" b="1" dirty="0">
                <a:latin typeface="隶书" panose="02010509060101010101" pitchFamily="49" charset="-122"/>
                <a:ea typeface="隶书" panose="02010509060101010101" pitchFamily="49" charset="-122"/>
              </a:rPr>
              <a:t>数组</a:t>
            </a:r>
            <a:r>
              <a:rPr lang="en-US" altLang="zh-CN" sz="2800" b="1" dirty="0">
                <a:latin typeface="隶书" panose="02010509060101010101" pitchFamily="49" charset="-122"/>
                <a:ea typeface="隶书" panose="02010509060101010101" pitchFamily="49" charset="-122"/>
              </a:rPr>
              <a:t>a</a:t>
            </a:r>
            <a:r>
              <a:rPr lang="zh-CN" altLang="en-US" sz="2800" b="1" dirty="0">
                <a:latin typeface="隶书" panose="02010509060101010101" pitchFamily="49" charset="-122"/>
                <a:ea typeface="隶书" panose="02010509060101010101" pitchFamily="49" charset="-122"/>
              </a:rPr>
              <a:t>为长度等于</a:t>
            </a:r>
            <a:r>
              <a:rPr lang="en-US" altLang="zh-CN" sz="2800" b="1" dirty="0">
                <a:latin typeface="隶书" panose="02010509060101010101" pitchFamily="49" charset="-122"/>
                <a:ea typeface="隶书" panose="02010509060101010101" pitchFamily="49" charset="-122"/>
              </a:rPr>
              <a:t>3</a:t>
            </a:r>
            <a:r>
              <a:rPr lang="zh-CN" altLang="en-US" sz="2800" b="1" dirty="0">
                <a:latin typeface="隶书" panose="02010509060101010101" pitchFamily="49" charset="-122"/>
                <a:ea typeface="隶书" panose="02010509060101010101" pitchFamily="49" charset="-122"/>
              </a:rPr>
              <a:t>的一维数组。包含有</a:t>
            </a:r>
            <a:r>
              <a:rPr lang="en-US" altLang="zh-CN" sz="2800" b="1" dirty="0">
                <a:latin typeface="隶书" panose="02010509060101010101" pitchFamily="49" charset="-122"/>
                <a:ea typeface="隶书" panose="02010509060101010101" pitchFamily="49" charset="-122"/>
              </a:rPr>
              <a:t>3</a:t>
            </a:r>
            <a:r>
              <a:rPr lang="zh-CN" altLang="en-US" sz="2800" b="1" dirty="0">
                <a:latin typeface="隶书" panose="02010509060101010101" pitchFamily="49" charset="-122"/>
                <a:ea typeface="隶书" panose="02010509060101010101" pitchFamily="49" charset="-122"/>
              </a:rPr>
              <a:t>个元素</a:t>
            </a:r>
            <a:r>
              <a:rPr lang="en-US" altLang="zh-CN" sz="2800" b="1" dirty="0">
                <a:latin typeface="隶书" panose="02010509060101010101" pitchFamily="49" charset="-122"/>
                <a:ea typeface="隶书" panose="02010509060101010101" pitchFamily="49" charset="-122"/>
              </a:rPr>
              <a:t>a[0]</a:t>
            </a:r>
            <a:r>
              <a:rPr lang="zh-CN" altLang="en-US" sz="2800" b="1" dirty="0">
                <a:latin typeface="隶书" panose="02010509060101010101" pitchFamily="49" charset="-122"/>
                <a:ea typeface="隶书" panose="02010509060101010101" pitchFamily="49" charset="-122"/>
              </a:rPr>
              <a:t>、</a:t>
            </a:r>
            <a:r>
              <a:rPr lang="en-US" altLang="zh-CN" sz="2800" b="1" dirty="0">
                <a:latin typeface="隶书" panose="02010509060101010101" pitchFamily="49" charset="-122"/>
                <a:ea typeface="隶书" panose="02010509060101010101" pitchFamily="49" charset="-122"/>
              </a:rPr>
              <a:t>a[1]</a:t>
            </a:r>
            <a:r>
              <a:rPr lang="zh-CN" altLang="en-US" sz="2800" b="1" dirty="0">
                <a:latin typeface="隶书" panose="02010509060101010101" pitchFamily="49" charset="-122"/>
                <a:ea typeface="隶书" panose="02010509060101010101" pitchFamily="49" charset="-122"/>
              </a:rPr>
              <a:t>、</a:t>
            </a:r>
            <a:r>
              <a:rPr lang="en-US" altLang="zh-CN" sz="2800" b="1" dirty="0">
                <a:latin typeface="隶书" panose="02010509060101010101" pitchFamily="49" charset="-122"/>
                <a:ea typeface="隶书" panose="02010509060101010101" pitchFamily="49" charset="-122"/>
              </a:rPr>
              <a:t>a[2]</a:t>
            </a:r>
            <a:r>
              <a:rPr lang="zh-CN" altLang="en-US" sz="2800" b="1" dirty="0">
                <a:latin typeface="隶书" panose="02010509060101010101" pitchFamily="49" charset="-122"/>
                <a:ea typeface="隶书" panose="02010509060101010101" pitchFamily="49" charset="-122"/>
              </a:rPr>
              <a:t>。数组名</a:t>
            </a:r>
            <a:r>
              <a:rPr lang="en-US" altLang="zh-CN" sz="2800" b="1" dirty="0">
                <a:latin typeface="隶书" panose="02010509060101010101" pitchFamily="49" charset="-122"/>
                <a:ea typeface="隶书" panose="02010509060101010101" pitchFamily="49" charset="-122"/>
              </a:rPr>
              <a:t>a</a:t>
            </a:r>
            <a:r>
              <a:rPr lang="zh-CN" altLang="en-US" sz="2800" b="1" dirty="0">
                <a:latin typeface="隶书" panose="02010509060101010101" pitchFamily="49" charset="-122"/>
                <a:ea typeface="隶书" panose="02010509060101010101" pitchFamily="49" charset="-122"/>
              </a:rPr>
              <a:t>为指针常量，其值为其首元素</a:t>
            </a:r>
            <a:r>
              <a:rPr lang="en-US" altLang="zh-CN" sz="2800" b="1" dirty="0">
                <a:latin typeface="隶书" panose="02010509060101010101" pitchFamily="49" charset="-122"/>
                <a:ea typeface="隶书" panose="02010509060101010101" pitchFamily="49" charset="-122"/>
              </a:rPr>
              <a:t>a[0]</a:t>
            </a:r>
            <a:r>
              <a:rPr lang="zh-CN" altLang="en-US" sz="2800" b="1" dirty="0">
                <a:latin typeface="隶书" panose="02010509060101010101" pitchFamily="49" charset="-122"/>
                <a:ea typeface="隶书" panose="02010509060101010101" pitchFamily="49" charset="-122"/>
              </a:rPr>
              <a:t>的地址，</a:t>
            </a:r>
            <a:r>
              <a:rPr lang="en-US" altLang="zh-CN" sz="2800" b="1" dirty="0">
                <a:latin typeface="隶书" panose="02010509060101010101" pitchFamily="49" charset="-122"/>
                <a:ea typeface="隶书" panose="02010509060101010101" pitchFamily="49" charset="-122"/>
              </a:rPr>
              <a:t>a+1</a:t>
            </a:r>
            <a:r>
              <a:rPr lang="zh-CN" altLang="en-US" sz="2800" b="1" dirty="0">
                <a:latin typeface="隶书" panose="02010509060101010101" pitchFamily="49" charset="-122"/>
                <a:ea typeface="隶书" panose="02010509060101010101" pitchFamily="49" charset="-122"/>
              </a:rPr>
              <a:t>为元素</a:t>
            </a:r>
            <a:r>
              <a:rPr lang="en-US" altLang="zh-CN" sz="2800" b="1" dirty="0">
                <a:latin typeface="隶书" panose="02010509060101010101" pitchFamily="49" charset="-122"/>
                <a:ea typeface="隶书" panose="02010509060101010101" pitchFamily="49" charset="-122"/>
              </a:rPr>
              <a:t>a[1]</a:t>
            </a:r>
            <a:r>
              <a:rPr lang="zh-CN" altLang="en-US" sz="2800" b="1" dirty="0">
                <a:latin typeface="隶书" panose="02010509060101010101" pitchFamily="49" charset="-122"/>
                <a:ea typeface="隶书" panose="02010509060101010101" pitchFamily="49" charset="-122"/>
              </a:rPr>
              <a:t>的地址。而在二维数组中，</a:t>
            </a:r>
            <a:r>
              <a:rPr lang="en-US" altLang="zh-CN" sz="2800" b="1" dirty="0">
                <a:latin typeface="隶书" panose="02010509060101010101" pitchFamily="49" charset="-122"/>
                <a:ea typeface="隶书" panose="02010509060101010101" pitchFamily="49" charset="-122"/>
              </a:rPr>
              <a:t>a[0]</a:t>
            </a:r>
            <a:r>
              <a:rPr lang="zh-CN" altLang="en-US" sz="2800" b="1" dirty="0">
                <a:latin typeface="隶书" panose="02010509060101010101" pitchFamily="49" charset="-122"/>
                <a:ea typeface="隶书" panose="02010509060101010101" pitchFamily="49" charset="-122"/>
              </a:rPr>
              <a:t>表示第一行，</a:t>
            </a:r>
            <a:r>
              <a:rPr lang="en-US" altLang="zh-CN" sz="2800" b="1" dirty="0">
                <a:latin typeface="隶书" panose="02010509060101010101" pitchFamily="49" charset="-122"/>
                <a:ea typeface="隶书" panose="02010509060101010101" pitchFamily="49" charset="-122"/>
              </a:rPr>
              <a:t>a[1]</a:t>
            </a:r>
            <a:r>
              <a:rPr lang="zh-CN" altLang="en-US" sz="2800" b="1" dirty="0">
                <a:latin typeface="隶书" panose="02010509060101010101" pitchFamily="49" charset="-122"/>
                <a:ea typeface="隶书" panose="02010509060101010101" pitchFamily="49" charset="-122"/>
              </a:rPr>
              <a:t>表示第二行，以此类推。因此将</a:t>
            </a:r>
            <a:r>
              <a:rPr lang="en-US" altLang="zh-CN" sz="2800" b="1" dirty="0">
                <a:latin typeface="隶书" panose="02010509060101010101" pitchFamily="49" charset="-122"/>
                <a:ea typeface="隶书" panose="02010509060101010101" pitchFamily="49" charset="-122"/>
              </a:rPr>
              <a:t>a[0]</a:t>
            </a:r>
            <a:r>
              <a:rPr lang="zh-CN" altLang="en-US" sz="2800" b="1" dirty="0">
                <a:latin typeface="隶书" panose="02010509060101010101" pitchFamily="49" charset="-122"/>
                <a:ea typeface="隶书" panose="02010509060101010101" pitchFamily="49" charset="-122"/>
              </a:rPr>
              <a:t>、</a:t>
            </a:r>
            <a:r>
              <a:rPr lang="en-US" altLang="zh-CN" sz="2800" b="1" dirty="0">
                <a:latin typeface="隶书" panose="02010509060101010101" pitchFamily="49" charset="-122"/>
                <a:ea typeface="隶书" panose="02010509060101010101" pitchFamily="49" charset="-122"/>
              </a:rPr>
              <a:t>a[1]</a:t>
            </a:r>
            <a:r>
              <a:rPr lang="zh-CN" altLang="en-US" sz="2800" b="1" dirty="0">
                <a:latin typeface="隶书" panose="02010509060101010101" pitchFamily="49" charset="-122"/>
                <a:ea typeface="隶书" panose="02010509060101010101" pitchFamily="49" charset="-122"/>
              </a:rPr>
              <a:t>、</a:t>
            </a:r>
            <a:r>
              <a:rPr lang="en-US" altLang="zh-CN" sz="2800" b="1" dirty="0">
                <a:latin typeface="隶书" panose="02010509060101010101" pitchFamily="49" charset="-122"/>
                <a:ea typeface="隶书" panose="02010509060101010101" pitchFamily="49" charset="-122"/>
              </a:rPr>
              <a:t>… </a:t>
            </a:r>
            <a:r>
              <a:rPr lang="zh-CN" altLang="en-US" sz="2800" b="1" dirty="0">
                <a:latin typeface="隶书" panose="02010509060101010101" pitchFamily="49" charset="-122"/>
                <a:ea typeface="隶书" panose="02010509060101010101" pitchFamily="49" charset="-122"/>
              </a:rPr>
              <a:t>的地址</a:t>
            </a:r>
            <a:r>
              <a:rPr lang="en-US" altLang="zh-CN" sz="2800" b="1" dirty="0">
                <a:latin typeface="隶书" panose="02010509060101010101" pitchFamily="49" charset="-122"/>
                <a:ea typeface="隶书" panose="02010509060101010101" pitchFamily="49" charset="-122"/>
              </a:rPr>
              <a:t>(</a:t>
            </a:r>
            <a:r>
              <a:rPr lang="zh-CN" altLang="en-US" sz="2800" b="1" dirty="0">
                <a:latin typeface="隶书" panose="02010509060101010101" pitchFamily="49" charset="-122"/>
                <a:ea typeface="隶书" panose="02010509060101010101" pitchFamily="49" charset="-122"/>
              </a:rPr>
              <a:t>即</a:t>
            </a:r>
            <a:r>
              <a:rPr lang="en-US" altLang="zh-CN" sz="2800" b="1" dirty="0">
                <a:solidFill>
                  <a:srgbClr val="00B0F0"/>
                </a:solidFill>
                <a:latin typeface="隶书" panose="02010509060101010101" pitchFamily="49" charset="-122"/>
                <a:ea typeface="隶书" panose="02010509060101010101" pitchFamily="49" charset="-122"/>
              </a:rPr>
              <a:t>a</a:t>
            </a:r>
            <a:r>
              <a:rPr lang="zh-CN" altLang="en-US" sz="2800" b="1" dirty="0">
                <a:latin typeface="隶书" panose="02010509060101010101" pitchFamily="49" charset="-122"/>
                <a:ea typeface="隶书" panose="02010509060101010101" pitchFamily="49" charset="-122"/>
              </a:rPr>
              <a:t>、</a:t>
            </a:r>
            <a:r>
              <a:rPr lang="en-US" altLang="zh-CN" sz="2800" b="1" dirty="0">
                <a:solidFill>
                  <a:srgbClr val="00B0F0"/>
                </a:solidFill>
                <a:latin typeface="隶书" panose="02010509060101010101" pitchFamily="49" charset="-122"/>
                <a:ea typeface="隶书" panose="02010509060101010101" pitchFamily="49" charset="-122"/>
              </a:rPr>
              <a:t>a+1</a:t>
            </a:r>
            <a:r>
              <a:rPr lang="zh-CN" altLang="en-US" sz="2800" b="1" dirty="0">
                <a:latin typeface="隶书" panose="02010509060101010101" pitchFamily="49" charset="-122"/>
                <a:ea typeface="隶书" panose="02010509060101010101" pitchFamily="49" charset="-122"/>
              </a:rPr>
              <a:t>、</a:t>
            </a:r>
            <a:r>
              <a:rPr lang="en-US" altLang="zh-CN" sz="2800" b="1" dirty="0">
                <a:latin typeface="隶书" panose="02010509060101010101" pitchFamily="49" charset="-122"/>
                <a:ea typeface="隶书" panose="02010509060101010101" pitchFamily="49" charset="-122"/>
              </a:rPr>
              <a:t>…)</a:t>
            </a:r>
            <a:r>
              <a:rPr lang="zh-CN" altLang="en-US" sz="2800" b="1" dirty="0">
                <a:latin typeface="隶书" panose="02010509060101010101" pitchFamily="49" charset="-122"/>
                <a:ea typeface="隶书" panose="02010509060101010101" pitchFamily="49" charset="-122"/>
              </a:rPr>
              <a:t> 称为“</a:t>
            </a:r>
            <a:r>
              <a:rPr lang="zh-CN" altLang="en-US" sz="2800" b="1" dirty="0">
                <a:solidFill>
                  <a:srgbClr val="00B0F0"/>
                </a:solidFill>
                <a:latin typeface="隶书" panose="02010509060101010101" pitchFamily="49" charset="-122"/>
                <a:ea typeface="隶书" panose="02010509060101010101" pitchFamily="49" charset="-122"/>
              </a:rPr>
              <a:t>行指针</a:t>
            </a:r>
            <a:r>
              <a:rPr lang="zh-CN" altLang="en-US" sz="2800" b="1" dirty="0">
                <a:latin typeface="隶书" panose="02010509060101010101" pitchFamily="49" charset="-122"/>
                <a:ea typeface="隶书" panose="02010509060101010101" pitchFamily="49" charset="-122"/>
              </a:rPr>
              <a:t>”。</a:t>
            </a:r>
            <a:endParaRPr lang="en-US" altLang="zh-CN" sz="2800" b="1" dirty="0">
              <a:latin typeface="隶书" panose="02010509060101010101" pitchFamily="49" charset="-122"/>
              <a:ea typeface="隶书" panose="02010509060101010101" pitchFamily="49" charset="-122"/>
            </a:endParaRPr>
          </a:p>
        </p:txBody>
      </p:sp>
      <p:sp>
        <p:nvSpPr>
          <p:cNvPr id="9" name="矩形 8">
            <a:extLst>
              <a:ext uri="{FF2B5EF4-FFF2-40B4-BE49-F238E27FC236}">
                <a16:creationId xmlns:a16="http://schemas.microsoft.com/office/drawing/2014/main" id="{B8C2A01C-42A3-4FFE-92F6-E45C72EDD05A}"/>
              </a:ext>
            </a:extLst>
          </p:cNvPr>
          <p:cNvSpPr/>
          <p:nvPr/>
        </p:nvSpPr>
        <p:spPr>
          <a:xfrm>
            <a:off x="0" y="4446640"/>
            <a:ext cx="12192000" cy="1384995"/>
          </a:xfrm>
          <a:prstGeom prst="rect">
            <a:avLst/>
          </a:prstGeom>
        </p:spPr>
        <p:txBody>
          <a:bodyPr wrap="square">
            <a:spAutoFit/>
          </a:bodyPr>
          <a:lstStyle/>
          <a:p>
            <a:pPr marL="0" lvl="1"/>
            <a:r>
              <a:rPr lang="en-US" altLang="zh-CN" sz="2800" b="1" dirty="0">
                <a:solidFill>
                  <a:srgbClr val="0000FF"/>
                </a:solidFill>
              </a:rPr>
              <a:t>int </a:t>
            </a:r>
            <a:r>
              <a:rPr lang="en-US" altLang="zh-CN" sz="2800" b="1" dirty="0"/>
              <a:t>a[3]</a:t>
            </a:r>
            <a:r>
              <a:rPr lang="en-US" altLang="zh-CN" sz="2800" b="1" dirty="0">
                <a:solidFill>
                  <a:srgbClr val="FF0000"/>
                </a:solidFill>
              </a:rPr>
              <a:t> [</a:t>
            </a:r>
            <a:r>
              <a:rPr lang="en-US" altLang="zh-CN" sz="2800" b="1" dirty="0"/>
              <a:t>4</a:t>
            </a:r>
            <a:r>
              <a:rPr lang="en-US" altLang="zh-CN" sz="2800" b="1" dirty="0">
                <a:solidFill>
                  <a:srgbClr val="FF0000"/>
                </a:solidFill>
              </a:rPr>
              <a:t>]</a:t>
            </a:r>
            <a:r>
              <a:rPr lang="en-US" altLang="zh-CN" sz="2800" b="1" dirty="0">
                <a:solidFill>
                  <a:srgbClr val="0000FF"/>
                </a:solidFill>
              </a:rPr>
              <a:t> </a:t>
            </a:r>
            <a:r>
              <a:rPr lang="en-US" altLang="zh-CN" sz="2800" b="1" dirty="0">
                <a:latin typeface="隶书" panose="02010509060101010101" pitchFamily="49" charset="-122"/>
                <a:ea typeface="隶书" panose="02010509060101010101" pitchFamily="49" charset="-122"/>
              </a:rPr>
              <a:t>:</a:t>
            </a:r>
            <a:r>
              <a:rPr lang="zh-CN" altLang="en-US" sz="2800" b="1" dirty="0">
                <a:latin typeface="隶书" panose="02010509060101010101" pitchFamily="49" charset="-122"/>
                <a:ea typeface="隶书" panose="02010509060101010101" pitchFamily="49" charset="-122"/>
              </a:rPr>
              <a:t>数组</a:t>
            </a:r>
            <a:r>
              <a:rPr lang="en-US" altLang="zh-CN" sz="2800" b="1" dirty="0">
                <a:latin typeface="隶书" panose="02010509060101010101" pitchFamily="49" charset="-122"/>
                <a:ea typeface="隶书" panose="02010509060101010101" pitchFamily="49" charset="-122"/>
              </a:rPr>
              <a:t>a[i](i=1,2,3)</a:t>
            </a:r>
            <a:r>
              <a:rPr lang="zh-CN" altLang="en-US" sz="2800" b="1" dirty="0">
                <a:latin typeface="隶书" panose="02010509060101010101" pitchFamily="49" charset="-122"/>
                <a:ea typeface="隶书" panose="02010509060101010101" pitchFamily="49" charset="-122"/>
              </a:rPr>
              <a:t>为长度等于</a:t>
            </a:r>
            <a:r>
              <a:rPr lang="en-US" altLang="zh-CN" sz="2800" b="1" dirty="0">
                <a:latin typeface="隶书" panose="02010509060101010101" pitchFamily="49" charset="-122"/>
                <a:ea typeface="隶书" panose="02010509060101010101" pitchFamily="49" charset="-122"/>
              </a:rPr>
              <a:t>4</a:t>
            </a:r>
            <a:r>
              <a:rPr lang="zh-CN" altLang="en-US" sz="2800" b="1" dirty="0">
                <a:latin typeface="隶书" panose="02010509060101010101" pitchFamily="49" charset="-122"/>
                <a:ea typeface="隶书" panose="02010509060101010101" pitchFamily="49" charset="-122"/>
              </a:rPr>
              <a:t>的一维数组。</a:t>
            </a:r>
            <a:r>
              <a:rPr lang="en-US" altLang="zh-CN" sz="2800" b="1" dirty="0">
                <a:latin typeface="隶书" panose="02010509060101010101" pitchFamily="49" charset="-122"/>
                <a:ea typeface="隶书" panose="02010509060101010101" pitchFamily="49" charset="-122"/>
              </a:rPr>
              <a:t>a[i]</a:t>
            </a:r>
            <a:r>
              <a:rPr lang="zh-CN" altLang="en-US" sz="2800" b="1" dirty="0">
                <a:latin typeface="隶书" panose="02010509060101010101" pitchFamily="49" charset="-122"/>
                <a:ea typeface="隶书" panose="02010509060101010101" pitchFamily="49" charset="-122"/>
              </a:rPr>
              <a:t>为数组名，其值为其首元素</a:t>
            </a:r>
            <a:r>
              <a:rPr lang="en-US" altLang="zh-CN" sz="2800" b="1" dirty="0">
                <a:latin typeface="隶书" panose="02010509060101010101" pitchFamily="49" charset="-122"/>
                <a:ea typeface="隶书" panose="02010509060101010101" pitchFamily="49" charset="-122"/>
              </a:rPr>
              <a:t>a[i]</a:t>
            </a:r>
            <a:r>
              <a:rPr lang="en-US" altLang="zh-CN" sz="2800" b="1" dirty="0">
                <a:solidFill>
                  <a:srgbClr val="FF0000"/>
                </a:solidFill>
                <a:latin typeface="隶书" panose="02010509060101010101" pitchFamily="49" charset="-122"/>
                <a:ea typeface="隶书" panose="02010509060101010101" pitchFamily="49" charset="-122"/>
              </a:rPr>
              <a:t>[</a:t>
            </a:r>
            <a:r>
              <a:rPr lang="en-US" altLang="zh-CN" sz="2800" b="1" dirty="0">
                <a:latin typeface="隶书" panose="02010509060101010101" pitchFamily="49" charset="-122"/>
                <a:ea typeface="隶书" panose="02010509060101010101" pitchFamily="49" charset="-122"/>
              </a:rPr>
              <a:t>0</a:t>
            </a:r>
            <a:r>
              <a:rPr lang="en-US" altLang="zh-CN" sz="2800" b="1" dirty="0">
                <a:solidFill>
                  <a:srgbClr val="FF0000"/>
                </a:solidFill>
                <a:latin typeface="隶书" panose="02010509060101010101" pitchFamily="49" charset="-122"/>
                <a:ea typeface="隶书" panose="02010509060101010101" pitchFamily="49" charset="-122"/>
              </a:rPr>
              <a:t>]</a:t>
            </a:r>
            <a:r>
              <a:rPr lang="zh-CN" altLang="en-US" sz="2800" b="1" dirty="0">
                <a:latin typeface="隶书" panose="02010509060101010101" pitchFamily="49" charset="-122"/>
                <a:ea typeface="隶书" panose="02010509060101010101" pitchFamily="49" charset="-122"/>
              </a:rPr>
              <a:t>的地址，即二维数组</a:t>
            </a:r>
            <a:r>
              <a:rPr lang="en-US" altLang="zh-CN" sz="2800" b="1" dirty="0">
                <a:latin typeface="隶书" panose="02010509060101010101" pitchFamily="49" charset="-122"/>
                <a:ea typeface="隶书" panose="02010509060101010101" pitchFamily="49" charset="-122"/>
              </a:rPr>
              <a:t>a</a:t>
            </a:r>
            <a:r>
              <a:rPr lang="zh-CN" altLang="en-US" sz="2800" b="1" dirty="0">
                <a:latin typeface="隶书" panose="02010509060101010101" pitchFamily="49" charset="-122"/>
                <a:ea typeface="隶书" panose="02010509060101010101" pitchFamily="49" charset="-122"/>
              </a:rPr>
              <a:t>中</a:t>
            </a:r>
            <a:r>
              <a:rPr lang="zh-CN" altLang="en-US" sz="2800" b="1" dirty="0">
                <a:solidFill>
                  <a:srgbClr val="00B0F0"/>
                </a:solidFill>
                <a:latin typeface="隶书" panose="02010509060101010101" pitchFamily="49" charset="-122"/>
                <a:ea typeface="隶书" panose="02010509060101010101" pitchFamily="49" charset="-122"/>
              </a:rPr>
              <a:t>每一行的首列地址</a:t>
            </a:r>
            <a:r>
              <a:rPr lang="zh-CN" altLang="en-US" sz="2800" b="1" dirty="0">
                <a:latin typeface="隶书" panose="02010509060101010101" pitchFamily="49" charset="-122"/>
                <a:ea typeface="隶书" panose="02010509060101010101" pitchFamily="49" charset="-122"/>
              </a:rPr>
              <a:t>，所以又将</a:t>
            </a:r>
            <a:r>
              <a:rPr lang="en-US" altLang="zh-CN" sz="2800" b="1" dirty="0">
                <a:latin typeface="隶书" panose="02010509060101010101" pitchFamily="49" charset="-122"/>
                <a:ea typeface="隶书" panose="02010509060101010101" pitchFamily="49" charset="-122"/>
              </a:rPr>
              <a:t>a[i]</a:t>
            </a:r>
            <a:r>
              <a:rPr lang="zh-CN" altLang="en-US" sz="2800" b="1" dirty="0">
                <a:latin typeface="隶书" panose="02010509060101010101" pitchFamily="49" charset="-122"/>
                <a:ea typeface="隶书" panose="02010509060101010101" pitchFamily="49" charset="-122"/>
              </a:rPr>
              <a:t>称为“</a:t>
            </a:r>
            <a:r>
              <a:rPr lang="zh-CN" altLang="en-US" sz="2800" b="1" dirty="0">
                <a:solidFill>
                  <a:srgbClr val="00B0F0"/>
                </a:solidFill>
                <a:latin typeface="隶书" panose="02010509060101010101" pitchFamily="49" charset="-122"/>
                <a:ea typeface="隶书" panose="02010509060101010101" pitchFamily="49" charset="-122"/>
              </a:rPr>
              <a:t>列指针</a:t>
            </a:r>
            <a:r>
              <a:rPr lang="zh-CN" altLang="en-US" sz="2800" b="1" dirty="0">
                <a:latin typeface="隶书" panose="02010509060101010101" pitchFamily="49" charset="-122"/>
                <a:ea typeface="隶书" panose="02010509060101010101" pitchFamily="49" charset="-122"/>
              </a:rPr>
              <a:t>”。</a:t>
            </a:r>
          </a:p>
        </p:txBody>
      </p:sp>
      <p:sp>
        <p:nvSpPr>
          <p:cNvPr id="4" name="灯片编号占位符 3">
            <a:extLst>
              <a:ext uri="{FF2B5EF4-FFF2-40B4-BE49-F238E27FC236}">
                <a16:creationId xmlns:a16="http://schemas.microsoft.com/office/drawing/2014/main" id="{F06B0A0E-5703-4D9D-9ADF-8B9658ED090A}"/>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21</a:t>
            </a:fld>
            <a:r>
              <a:rPr lang="en-US" altLang="zh-CN">
                <a:solidFill>
                  <a:prstClr val="black">
                    <a:tint val="75000"/>
                  </a:prstClr>
                </a:solidFill>
              </a:rPr>
              <a:t>/ 35</a:t>
            </a:r>
            <a:endParaRPr lang="zh-CN" altLang="en-US" dirty="0"/>
          </a:p>
        </p:txBody>
      </p:sp>
      <p:sp>
        <p:nvSpPr>
          <p:cNvPr id="10" name="文本框 9">
            <a:extLst>
              <a:ext uri="{FF2B5EF4-FFF2-40B4-BE49-F238E27FC236}">
                <a16:creationId xmlns:a16="http://schemas.microsoft.com/office/drawing/2014/main" id="{2DA5D47C-27D8-419F-9BFE-0690ADD04F17}"/>
              </a:ext>
            </a:extLst>
          </p:cNvPr>
          <p:cNvSpPr txBox="1"/>
          <p:nvPr/>
        </p:nvSpPr>
        <p:spPr>
          <a:xfrm>
            <a:off x="2507464" y="-59476"/>
            <a:ext cx="4768993"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指针与二维数组</a:t>
            </a:r>
            <a:endParaRPr lang="zh-CN" altLang="en-US" sz="3200" b="1" dirty="0">
              <a:solidFill>
                <a:srgbClr val="200AC4"/>
              </a:solidFill>
              <a:ea typeface="隶书" pitchFamily="49" charset="-122"/>
            </a:endParaRPr>
          </a:p>
        </p:txBody>
      </p:sp>
    </p:spTree>
    <p:extLst>
      <p:ext uri="{BB962C8B-B14F-4D97-AF65-F5344CB8AC3E}">
        <p14:creationId xmlns:p14="http://schemas.microsoft.com/office/powerpoint/2010/main" val="4283513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2" presetClass="entr" presetSubtype="8"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0-#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7"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1000"/>
                                        <p:tgtEl>
                                          <p:spTgt spid="8"/>
                                        </p:tgtEl>
                                      </p:cBhvr>
                                    </p:animEffect>
                                    <p:anim calcmode="lin" valueType="num">
                                      <p:cBhvr>
                                        <p:cTn id="19" dur="1000" fill="hold"/>
                                        <p:tgtEl>
                                          <p:spTgt spid="8"/>
                                        </p:tgtEl>
                                        <p:attrNameLst>
                                          <p:attrName>ppt_x</p:attrName>
                                        </p:attrNameLst>
                                      </p:cBhvr>
                                      <p:tavLst>
                                        <p:tav tm="0">
                                          <p:val>
                                            <p:strVal val="#ppt_x"/>
                                          </p:val>
                                        </p:tav>
                                        <p:tav tm="100000">
                                          <p:val>
                                            <p:strVal val="#ppt_x"/>
                                          </p:val>
                                        </p:tav>
                                      </p:tavLst>
                                    </p:anim>
                                    <p:anim calcmode="lin" valueType="num">
                                      <p:cBhvr>
                                        <p:cTn id="20"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7"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1000"/>
                                        <p:tgtEl>
                                          <p:spTgt spid="9"/>
                                        </p:tgtEl>
                                      </p:cBhvr>
                                    </p:animEffect>
                                    <p:anim calcmode="lin" valueType="num">
                                      <p:cBhvr>
                                        <p:cTn id="26" dur="1000" fill="hold"/>
                                        <p:tgtEl>
                                          <p:spTgt spid="9"/>
                                        </p:tgtEl>
                                        <p:attrNameLst>
                                          <p:attrName>ppt_x</p:attrName>
                                        </p:attrNameLst>
                                      </p:cBhvr>
                                      <p:tavLst>
                                        <p:tav tm="0">
                                          <p:val>
                                            <p:strVal val="#ppt_x"/>
                                          </p:val>
                                        </p:tav>
                                        <p:tav tm="100000">
                                          <p:val>
                                            <p:strVal val="#ppt_x"/>
                                          </p:val>
                                        </p:tav>
                                      </p:tavLst>
                                    </p:anim>
                                    <p:anim calcmode="lin" valueType="num">
                                      <p:cBhvr>
                                        <p:cTn id="27"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8" grpId="0"/>
      <p:bldP spid="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4">
            <a:extLst>
              <a:ext uri="{FF2B5EF4-FFF2-40B4-BE49-F238E27FC236}">
                <a16:creationId xmlns:a16="http://schemas.microsoft.com/office/drawing/2014/main" id="{0D6768A4-F054-4CA6-8805-4D89582A72C2}"/>
              </a:ext>
            </a:extLst>
          </p:cNvPr>
          <p:cNvGraphicFramePr>
            <a:graphicFrameLocks noGrp="1"/>
          </p:cNvGraphicFramePr>
          <p:nvPr>
            <p:extLst>
              <p:ext uri="{D42A27DB-BD31-4B8C-83A1-F6EECF244321}">
                <p14:modId xmlns:p14="http://schemas.microsoft.com/office/powerpoint/2010/main" val="3263758054"/>
              </p:ext>
            </p:extLst>
          </p:nvPr>
        </p:nvGraphicFramePr>
        <p:xfrm>
          <a:off x="6767882" y="1126068"/>
          <a:ext cx="797560" cy="1469812"/>
        </p:xfrm>
        <a:graphic>
          <a:graphicData uri="http://schemas.openxmlformats.org/drawingml/2006/table">
            <a:tbl>
              <a:tblPr firstRow="1" bandRow="1">
                <a:tableStyleId>{5940675A-B579-460E-94D1-54222C63F5DA}</a:tableStyleId>
              </a:tblPr>
              <a:tblGrid>
                <a:gridCol w="797560">
                  <a:extLst>
                    <a:ext uri="{9D8B030D-6E8A-4147-A177-3AD203B41FA5}">
                      <a16:colId xmlns:a16="http://schemas.microsoft.com/office/drawing/2014/main" val="3578835451"/>
                    </a:ext>
                  </a:extLst>
                </a:gridCol>
              </a:tblGrid>
              <a:tr h="367453">
                <a:tc>
                  <a:txBody>
                    <a:bodyPr/>
                    <a:lstStyle/>
                    <a:p>
                      <a:pPr algn="ctr"/>
                      <a:endParaRPr lang="zh-CN" altLang="en-US" dirty="0"/>
                    </a:p>
                  </a:txBody>
                  <a:tcPr anchor="ctr"/>
                </a:tc>
                <a:extLst>
                  <a:ext uri="{0D108BD9-81ED-4DB2-BD59-A6C34878D82A}">
                    <a16:rowId xmlns:a16="http://schemas.microsoft.com/office/drawing/2014/main" val="1771072365"/>
                  </a:ext>
                </a:extLst>
              </a:tr>
              <a:tr h="367453">
                <a:tc>
                  <a:txBody>
                    <a:bodyPr/>
                    <a:lstStyle/>
                    <a:p>
                      <a:pPr algn="ctr"/>
                      <a:endParaRPr lang="zh-CN" altLang="en-US" dirty="0"/>
                    </a:p>
                  </a:txBody>
                  <a:tcPr anchor="ctr"/>
                </a:tc>
                <a:extLst>
                  <a:ext uri="{0D108BD9-81ED-4DB2-BD59-A6C34878D82A}">
                    <a16:rowId xmlns:a16="http://schemas.microsoft.com/office/drawing/2014/main" val="174738251"/>
                  </a:ext>
                </a:extLst>
              </a:tr>
              <a:tr h="367453">
                <a:tc>
                  <a:txBody>
                    <a:bodyPr/>
                    <a:lstStyle/>
                    <a:p>
                      <a:pPr algn="ctr"/>
                      <a:endParaRPr lang="zh-CN" altLang="en-US" dirty="0"/>
                    </a:p>
                  </a:txBody>
                  <a:tcPr anchor="ctr"/>
                </a:tc>
                <a:extLst>
                  <a:ext uri="{0D108BD9-81ED-4DB2-BD59-A6C34878D82A}">
                    <a16:rowId xmlns:a16="http://schemas.microsoft.com/office/drawing/2014/main" val="3192871294"/>
                  </a:ext>
                </a:extLst>
              </a:tr>
              <a:tr h="367453">
                <a:tc>
                  <a:txBody>
                    <a:bodyPr/>
                    <a:lstStyle/>
                    <a:p>
                      <a:pPr algn="ctr"/>
                      <a:endParaRPr lang="zh-CN" altLang="en-US" dirty="0"/>
                    </a:p>
                  </a:txBody>
                  <a:tcPr anchor="ctr"/>
                </a:tc>
                <a:extLst>
                  <a:ext uri="{0D108BD9-81ED-4DB2-BD59-A6C34878D82A}">
                    <a16:rowId xmlns:a16="http://schemas.microsoft.com/office/drawing/2014/main" val="635761353"/>
                  </a:ext>
                </a:extLst>
              </a:tr>
            </a:tbl>
          </a:graphicData>
        </a:graphic>
      </p:graphicFrame>
      <p:graphicFrame>
        <p:nvGraphicFramePr>
          <p:cNvPr id="5" name="表格 4">
            <a:extLst>
              <a:ext uri="{FF2B5EF4-FFF2-40B4-BE49-F238E27FC236}">
                <a16:creationId xmlns:a16="http://schemas.microsoft.com/office/drawing/2014/main" id="{35FFFD8C-3B78-44FE-9691-76ED35FCEDED}"/>
              </a:ext>
            </a:extLst>
          </p:cNvPr>
          <p:cNvGraphicFramePr>
            <a:graphicFrameLocks noGrp="1"/>
          </p:cNvGraphicFramePr>
          <p:nvPr>
            <p:extLst>
              <p:ext uri="{D42A27DB-BD31-4B8C-83A1-F6EECF244321}">
                <p14:modId xmlns:p14="http://schemas.microsoft.com/office/powerpoint/2010/main" val="1198540033"/>
              </p:ext>
            </p:extLst>
          </p:nvPr>
        </p:nvGraphicFramePr>
        <p:xfrm>
          <a:off x="4656533" y="2555238"/>
          <a:ext cx="797560" cy="1910079"/>
        </p:xfrm>
        <a:graphic>
          <a:graphicData uri="http://schemas.openxmlformats.org/drawingml/2006/table">
            <a:tbl>
              <a:tblPr firstRow="1" bandRow="1">
                <a:tableStyleId>{5940675A-B579-460E-94D1-54222C63F5DA}</a:tableStyleId>
              </a:tblPr>
              <a:tblGrid>
                <a:gridCol w="797560">
                  <a:extLst>
                    <a:ext uri="{9D8B030D-6E8A-4147-A177-3AD203B41FA5}">
                      <a16:colId xmlns:a16="http://schemas.microsoft.com/office/drawing/2014/main" val="3578835451"/>
                    </a:ext>
                  </a:extLst>
                </a:gridCol>
              </a:tblGrid>
              <a:tr h="636693">
                <a:tc>
                  <a:txBody>
                    <a:bodyPr/>
                    <a:lstStyle/>
                    <a:p>
                      <a:pPr algn="ctr"/>
                      <a:r>
                        <a:rPr lang="en-US" altLang="zh-CN" sz="2400" b="1" dirty="0">
                          <a:latin typeface="+mn-ea"/>
                          <a:ea typeface="+mn-ea"/>
                        </a:rPr>
                        <a:t>a[0]</a:t>
                      </a:r>
                      <a:endParaRPr lang="zh-CN" altLang="en-US" sz="2400" b="1" dirty="0">
                        <a:latin typeface="+mn-ea"/>
                        <a:ea typeface="+mn-ea"/>
                      </a:endParaRPr>
                    </a:p>
                  </a:txBody>
                  <a:tcPr anchor="ctr"/>
                </a:tc>
                <a:extLst>
                  <a:ext uri="{0D108BD9-81ED-4DB2-BD59-A6C34878D82A}">
                    <a16:rowId xmlns:a16="http://schemas.microsoft.com/office/drawing/2014/main" val="1771072365"/>
                  </a:ext>
                </a:extLst>
              </a:tr>
              <a:tr h="636693">
                <a:tc>
                  <a:txBody>
                    <a:bodyPr/>
                    <a:lstStyle/>
                    <a:p>
                      <a:pPr algn="ctr"/>
                      <a:r>
                        <a:rPr lang="en-US" altLang="zh-CN" sz="2400" b="1" dirty="0">
                          <a:latin typeface="+mn-ea"/>
                          <a:ea typeface="+mn-ea"/>
                        </a:rPr>
                        <a:t>a[1]</a:t>
                      </a:r>
                      <a:endParaRPr lang="zh-CN" altLang="en-US" sz="2400" b="1" dirty="0">
                        <a:latin typeface="+mn-ea"/>
                        <a:ea typeface="+mn-ea"/>
                      </a:endParaRPr>
                    </a:p>
                  </a:txBody>
                  <a:tcPr anchor="ctr"/>
                </a:tc>
                <a:extLst>
                  <a:ext uri="{0D108BD9-81ED-4DB2-BD59-A6C34878D82A}">
                    <a16:rowId xmlns:a16="http://schemas.microsoft.com/office/drawing/2014/main" val="2959456695"/>
                  </a:ext>
                </a:extLst>
              </a:tr>
              <a:tr h="636693">
                <a:tc>
                  <a:txBody>
                    <a:bodyPr/>
                    <a:lstStyle/>
                    <a:p>
                      <a:pPr algn="ctr"/>
                      <a:r>
                        <a:rPr lang="en-US" altLang="zh-CN" sz="2400" b="1" dirty="0">
                          <a:latin typeface="+mn-ea"/>
                          <a:ea typeface="+mn-ea"/>
                        </a:rPr>
                        <a:t>a[2]</a:t>
                      </a:r>
                      <a:endParaRPr lang="zh-CN" altLang="en-US" sz="2400" b="1" dirty="0">
                        <a:latin typeface="+mn-ea"/>
                        <a:ea typeface="+mn-ea"/>
                      </a:endParaRPr>
                    </a:p>
                  </a:txBody>
                  <a:tcPr anchor="ctr"/>
                </a:tc>
                <a:extLst>
                  <a:ext uri="{0D108BD9-81ED-4DB2-BD59-A6C34878D82A}">
                    <a16:rowId xmlns:a16="http://schemas.microsoft.com/office/drawing/2014/main" val="3755377334"/>
                  </a:ext>
                </a:extLst>
              </a:tr>
            </a:tbl>
          </a:graphicData>
        </a:graphic>
      </p:graphicFrame>
      <p:graphicFrame>
        <p:nvGraphicFramePr>
          <p:cNvPr id="9" name="表格 4">
            <a:extLst>
              <a:ext uri="{FF2B5EF4-FFF2-40B4-BE49-F238E27FC236}">
                <a16:creationId xmlns:a16="http://schemas.microsoft.com/office/drawing/2014/main" id="{5727A9B3-BB9F-4182-97E7-29A70E540E8A}"/>
              </a:ext>
            </a:extLst>
          </p:cNvPr>
          <p:cNvGraphicFramePr>
            <a:graphicFrameLocks noGrp="1"/>
          </p:cNvGraphicFramePr>
          <p:nvPr>
            <p:extLst>
              <p:ext uri="{D42A27DB-BD31-4B8C-83A1-F6EECF244321}">
                <p14:modId xmlns:p14="http://schemas.microsoft.com/office/powerpoint/2010/main" val="1552288478"/>
              </p:ext>
            </p:extLst>
          </p:nvPr>
        </p:nvGraphicFramePr>
        <p:xfrm>
          <a:off x="7723176" y="1122897"/>
          <a:ext cx="877264" cy="1469812"/>
        </p:xfrm>
        <a:graphic>
          <a:graphicData uri="http://schemas.openxmlformats.org/drawingml/2006/table">
            <a:tbl>
              <a:tblPr firstRow="1" bandRow="1">
                <a:tableStyleId>{5940675A-B579-460E-94D1-54222C63F5DA}</a:tableStyleId>
              </a:tblPr>
              <a:tblGrid>
                <a:gridCol w="877264">
                  <a:extLst>
                    <a:ext uri="{9D8B030D-6E8A-4147-A177-3AD203B41FA5}">
                      <a16:colId xmlns:a16="http://schemas.microsoft.com/office/drawing/2014/main" val="3578835451"/>
                    </a:ext>
                  </a:extLst>
                </a:gridCol>
              </a:tblGrid>
              <a:tr h="367453">
                <a:tc>
                  <a:txBody>
                    <a:bodyPr/>
                    <a:lstStyle/>
                    <a:p>
                      <a:pPr algn="ctr"/>
                      <a:r>
                        <a:rPr lang="en-US" altLang="zh-CN" sz="2000" b="1" dirty="0"/>
                        <a:t>a[0]</a:t>
                      </a:r>
                      <a:r>
                        <a:rPr lang="en-US" altLang="zh-CN" sz="2000" b="1" dirty="0">
                          <a:solidFill>
                            <a:srgbClr val="FF0000"/>
                          </a:solidFill>
                        </a:rPr>
                        <a:t>[</a:t>
                      </a:r>
                      <a:r>
                        <a:rPr lang="en-US" altLang="zh-CN" sz="2000" b="1" dirty="0"/>
                        <a:t>0</a:t>
                      </a:r>
                      <a:r>
                        <a:rPr lang="en-US" altLang="zh-CN" sz="2000" b="1" dirty="0">
                          <a:solidFill>
                            <a:srgbClr val="FF0000"/>
                          </a:solidFill>
                        </a:rPr>
                        <a:t>]</a:t>
                      </a:r>
                      <a:endParaRPr lang="zh-CN" altLang="en-US" sz="2000" b="1" dirty="0">
                        <a:solidFill>
                          <a:srgbClr val="FF0000"/>
                        </a:solidFill>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71072365"/>
                  </a:ext>
                </a:extLst>
              </a:tr>
              <a:tr h="36745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1" dirty="0"/>
                        <a:t>a[0]</a:t>
                      </a:r>
                      <a:r>
                        <a:rPr lang="en-US" altLang="zh-CN" sz="2000" b="1" dirty="0">
                          <a:solidFill>
                            <a:srgbClr val="FF0000"/>
                          </a:solidFill>
                        </a:rPr>
                        <a:t>[</a:t>
                      </a:r>
                      <a:r>
                        <a:rPr lang="en-US" altLang="zh-CN" sz="2000" b="1" dirty="0"/>
                        <a:t>1</a:t>
                      </a:r>
                      <a:r>
                        <a:rPr lang="en-US" altLang="zh-CN" sz="2000" b="1" kern="1200" dirty="0">
                          <a:solidFill>
                            <a:srgbClr val="FF0000"/>
                          </a:solidFill>
                          <a:latin typeface="+mn-lt"/>
                          <a:ea typeface="+mn-ea"/>
                          <a:cs typeface="+mn-cs"/>
                        </a:rPr>
                        <a:t>]</a:t>
                      </a:r>
                      <a:endParaRPr lang="zh-CN" altLang="en-US" sz="2000" b="1" kern="1200" dirty="0">
                        <a:solidFill>
                          <a:srgbClr val="FF0000"/>
                        </a:solidFill>
                        <a:latin typeface="+mn-lt"/>
                        <a:ea typeface="+mn-ea"/>
                        <a:cs typeface="+mn-cs"/>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4738251"/>
                  </a:ext>
                </a:extLst>
              </a:tr>
              <a:tr h="367453">
                <a:tc>
                  <a:txBody>
                    <a:bodyPr/>
                    <a:lstStyle/>
                    <a:p>
                      <a:pPr algn="ctr"/>
                      <a:r>
                        <a:rPr lang="en-US" altLang="zh-CN" sz="2000" b="1" dirty="0"/>
                        <a:t>a[0]</a:t>
                      </a:r>
                      <a:r>
                        <a:rPr lang="en-US" altLang="zh-CN" sz="2000" b="1" kern="1200" dirty="0">
                          <a:solidFill>
                            <a:srgbClr val="FF0000"/>
                          </a:solidFill>
                          <a:latin typeface="+mn-lt"/>
                          <a:ea typeface="+mn-ea"/>
                          <a:cs typeface="+mn-cs"/>
                        </a:rPr>
                        <a:t>[</a:t>
                      </a:r>
                      <a:r>
                        <a:rPr lang="en-US" altLang="zh-CN" sz="2000" b="1" dirty="0"/>
                        <a:t>2</a:t>
                      </a:r>
                      <a:r>
                        <a:rPr lang="en-US" altLang="zh-CN" sz="2000" b="1" kern="1200" dirty="0">
                          <a:solidFill>
                            <a:srgbClr val="FF0000"/>
                          </a:solidFill>
                          <a:latin typeface="+mn-lt"/>
                          <a:ea typeface="+mn-ea"/>
                          <a:cs typeface="+mn-cs"/>
                        </a:rPr>
                        <a:t>]</a:t>
                      </a:r>
                      <a:endParaRPr lang="zh-CN" altLang="en-US" sz="2000" b="1" kern="1200" dirty="0">
                        <a:solidFill>
                          <a:srgbClr val="FF0000"/>
                        </a:solidFill>
                        <a:latin typeface="+mn-lt"/>
                        <a:ea typeface="+mn-ea"/>
                        <a:cs typeface="+mn-cs"/>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192871294"/>
                  </a:ext>
                </a:extLst>
              </a:tr>
              <a:tr h="367453">
                <a:tc>
                  <a:txBody>
                    <a:bodyPr/>
                    <a:lstStyle/>
                    <a:p>
                      <a:pPr algn="ctr"/>
                      <a:r>
                        <a:rPr lang="en-US" altLang="zh-CN" sz="2000" b="1" dirty="0"/>
                        <a:t>a[0]</a:t>
                      </a:r>
                      <a:r>
                        <a:rPr lang="en-US" altLang="zh-CN" sz="2000" b="1" kern="1200" dirty="0">
                          <a:solidFill>
                            <a:srgbClr val="FF0000"/>
                          </a:solidFill>
                          <a:latin typeface="+mn-lt"/>
                          <a:ea typeface="+mn-ea"/>
                          <a:cs typeface="+mn-cs"/>
                        </a:rPr>
                        <a:t>[</a:t>
                      </a:r>
                      <a:r>
                        <a:rPr lang="en-US" altLang="zh-CN" sz="2000" b="1" dirty="0"/>
                        <a:t>3</a:t>
                      </a:r>
                      <a:r>
                        <a:rPr lang="en-US" altLang="zh-CN" sz="2000" b="1" kern="1200" dirty="0">
                          <a:solidFill>
                            <a:srgbClr val="FF0000"/>
                          </a:solidFill>
                          <a:latin typeface="+mn-lt"/>
                          <a:ea typeface="+mn-ea"/>
                          <a:cs typeface="+mn-cs"/>
                        </a:rPr>
                        <a:t>]</a:t>
                      </a:r>
                      <a:endParaRPr lang="zh-CN" altLang="en-US" sz="2000" b="1" kern="1200" dirty="0">
                        <a:solidFill>
                          <a:srgbClr val="FF0000"/>
                        </a:solidFill>
                        <a:latin typeface="+mn-lt"/>
                        <a:ea typeface="+mn-ea"/>
                        <a:cs typeface="+mn-cs"/>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35761353"/>
                  </a:ext>
                </a:extLst>
              </a:tr>
            </a:tbl>
          </a:graphicData>
        </a:graphic>
      </p:graphicFrame>
      <p:graphicFrame>
        <p:nvGraphicFramePr>
          <p:cNvPr id="10" name="表格 4">
            <a:extLst>
              <a:ext uri="{FF2B5EF4-FFF2-40B4-BE49-F238E27FC236}">
                <a16:creationId xmlns:a16="http://schemas.microsoft.com/office/drawing/2014/main" id="{08691732-FA21-410D-9A92-28DF945462A0}"/>
              </a:ext>
            </a:extLst>
          </p:cNvPr>
          <p:cNvGraphicFramePr>
            <a:graphicFrameLocks noGrp="1"/>
          </p:cNvGraphicFramePr>
          <p:nvPr>
            <p:extLst>
              <p:ext uri="{D42A27DB-BD31-4B8C-83A1-F6EECF244321}">
                <p14:modId xmlns:p14="http://schemas.microsoft.com/office/powerpoint/2010/main" val="3454201984"/>
              </p:ext>
            </p:extLst>
          </p:nvPr>
        </p:nvGraphicFramePr>
        <p:xfrm>
          <a:off x="6767880" y="3058530"/>
          <a:ext cx="797560" cy="1469812"/>
        </p:xfrm>
        <a:graphic>
          <a:graphicData uri="http://schemas.openxmlformats.org/drawingml/2006/table">
            <a:tbl>
              <a:tblPr firstRow="1" bandRow="1">
                <a:tableStyleId>{5940675A-B579-460E-94D1-54222C63F5DA}</a:tableStyleId>
              </a:tblPr>
              <a:tblGrid>
                <a:gridCol w="797560">
                  <a:extLst>
                    <a:ext uri="{9D8B030D-6E8A-4147-A177-3AD203B41FA5}">
                      <a16:colId xmlns:a16="http://schemas.microsoft.com/office/drawing/2014/main" val="3578835451"/>
                    </a:ext>
                  </a:extLst>
                </a:gridCol>
              </a:tblGrid>
              <a:tr h="367453">
                <a:tc>
                  <a:txBody>
                    <a:bodyPr/>
                    <a:lstStyle/>
                    <a:p>
                      <a:pPr algn="ctr"/>
                      <a:endParaRPr lang="zh-CN" altLang="en-US" dirty="0"/>
                    </a:p>
                  </a:txBody>
                  <a:tcPr anchor="ctr"/>
                </a:tc>
                <a:extLst>
                  <a:ext uri="{0D108BD9-81ED-4DB2-BD59-A6C34878D82A}">
                    <a16:rowId xmlns:a16="http://schemas.microsoft.com/office/drawing/2014/main" val="1771072365"/>
                  </a:ext>
                </a:extLst>
              </a:tr>
              <a:tr h="367453">
                <a:tc>
                  <a:txBody>
                    <a:bodyPr/>
                    <a:lstStyle/>
                    <a:p>
                      <a:pPr algn="ctr"/>
                      <a:endParaRPr lang="zh-CN" altLang="en-US" dirty="0"/>
                    </a:p>
                  </a:txBody>
                  <a:tcPr anchor="ctr"/>
                </a:tc>
                <a:extLst>
                  <a:ext uri="{0D108BD9-81ED-4DB2-BD59-A6C34878D82A}">
                    <a16:rowId xmlns:a16="http://schemas.microsoft.com/office/drawing/2014/main" val="174738251"/>
                  </a:ext>
                </a:extLst>
              </a:tr>
              <a:tr h="367453">
                <a:tc>
                  <a:txBody>
                    <a:bodyPr/>
                    <a:lstStyle/>
                    <a:p>
                      <a:pPr algn="ctr"/>
                      <a:endParaRPr lang="zh-CN" altLang="en-US" dirty="0"/>
                    </a:p>
                  </a:txBody>
                  <a:tcPr anchor="ctr"/>
                </a:tc>
                <a:extLst>
                  <a:ext uri="{0D108BD9-81ED-4DB2-BD59-A6C34878D82A}">
                    <a16:rowId xmlns:a16="http://schemas.microsoft.com/office/drawing/2014/main" val="3192871294"/>
                  </a:ext>
                </a:extLst>
              </a:tr>
              <a:tr h="367453">
                <a:tc>
                  <a:txBody>
                    <a:bodyPr/>
                    <a:lstStyle/>
                    <a:p>
                      <a:pPr algn="ctr"/>
                      <a:endParaRPr lang="zh-CN" altLang="en-US" dirty="0"/>
                    </a:p>
                  </a:txBody>
                  <a:tcPr anchor="ctr"/>
                </a:tc>
                <a:extLst>
                  <a:ext uri="{0D108BD9-81ED-4DB2-BD59-A6C34878D82A}">
                    <a16:rowId xmlns:a16="http://schemas.microsoft.com/office/drawing/2014/main" val="635761353"/>
                  </a:ext>
                </a:extLst>
              </a:tr>
            </a:tbl>
          </a:graphicData>
        </a:graphic>
      </p:graphicFrame>
      <p:graphicFrame>
        <p:nvGraphicFramePr>
          <p:cNvPr id="11" name="表格 4">
            <a:extLst>
              <a:ext uri="{FF2B5EF4-FFF2-40B4-BE49-F238E27FC236}">
                <a16:creationId xmlns:a16="http://schemas.microsoft.com/office/drawing/2014/main" id="{3C07F96A-8B50-4922-A759-CE2DCFDCD8FA}"/>
              </a:ext>
            </a:extLst>
          </p:cNvPr>
          <p:cNvGraphicFramePr>
            <a:graphicFrameLocks noGrp="1"/>
          </p:cNvGraphicFramePr>
          <p:nvPr>
            <p:extLst>
              <p:ext uri="{D42A27DB-BD31-4B8C-83A1-F6EECF244321}">
                <p14:modId xmlns:p14="http://schemas.microsoft.com/office/powerpoint/2010/main" val="1773224586"/>
              </p:ext>
            </p:extLst>
          </p:nvPr>
        </p:nvGraphicFramePr>
        <p:xfrm>
          <a:off x="6767882" y="4990248"/>
          <a:ext cx="797560" cy="1469812"/>
        </p:xfrm>
        <a:graphic>
          <a:graphicData uri="http://schemas.openxmlformats.org/drawingml/2006/table">
            <a:tbl>
              <a:tblPr firstRow="1" bandRow="1">
                <a:tableStyleId>{5940675A-B579-460E-94D1-54222C63F5DA}</a:tableStyleId>
              </a:tblPr>
              <a:tblGrid>
                <a:gridCol w="797560">
                  <a:extLst>
                    <a:ext uri="{9D8B030D-6E8A-4147-A177-3AD203B41FA5}">
                      <a16:colId xmlns:a16="http://schemas.microsoft.com/office/drawing/2014/main" val="3578835451"/>
                    </a:ext>
                  </a:extLst>
                </a:gridCol>
              </a:tblGrid>
              <a:tr h="367453">
                <a:tc>
                  <a:txBody>
                    <a:bodyPr/>
                    <a:lstStyle/>
                    <a:p>
                      <a:pPr algn="ctr"/>
                      <a:endParaRPr lang="zh-CN" altLang="en-US" dirty="0"/>
                    </a:p>
                  </a:txBody>
                  <a:tcPr anchor="ctr"/>
                </a:tc>
                <a:extLst>
                  <a:ext uri="{0D108BD9-81ED-4DB2-BD59-A6C34878D82A}">
                    <a16:rowId xmlns:a16="http://schemas.microsoft.com/office/drawing/2014/main" val="1771072365"/>
                  </a:ext>
                </a:extLst>
              </a:tr>
              <a:tr h="367453">
                <a:tc>
                  <a:txBody>
                    <a:bodyPr/>
                    <a:lstStyle/>
                    <a:p>
                      <a:pPr algn="ctr"/>
                      <a:endParaRPr lang="zh-CN" altLang="en-US" dirty="0"/>
                    </a:p>
                  </a:txBody>
                  <a:tcPr anchor="ctr"/>
                </a:tc>
                <a:extLst>
                  <a:ext uri="{0D108BD9-81ED-4DB2-BD59-A6C34878D82A}">
                    <a16:rowId xmlns:a16="http://schemas.microsoft.com/office/drawing/2014/main" val="174738251"/>
                  </a:ext>
                </a:extLst>
              </a:tr>
              <a:tr h="367453">
                <a:tc>
                  <a:txBody>
                    <a:bodyPr/>
                    <a:lstStyle/>
                    <a:p>
                      <a:pPr algn="ctr"/>
                      <a:endParaRPr lang="zh-CN" altLang="en-US" dirty="0"/>
                    </a:p>
                  </a:txBody>
                  <a:tcPr anchor="ctr"/>
                </a:tc>
                <a:extLst>
                  <a:ext uri="{0D108BD9-81ED-4DB2-BD59-A6C34878D82A}">
                    <a16:rowId xmlns:a16="http://schemas.microsoft.com/office/drawing/2014/main" val="3192871294"/>
                  </a:ext>
                </a:extLst>
              </a:tr>
              <a:tr h="367453">
                <a:tc>
                  <a:txBody>
                    <a:bodyPr/>
                    <a:lstStyle/>
                    <a:p>
                      <a:pPr algn="ctr"/>
                      <a:endParaRPr lang="zh-CN" altLang="en-US" dirty="0"/>
                    </a:p>
                  </a:txBody>
                  <a:tcPr anchor="ctr"/>
                </a:tc>
                <a:extLst>
                  <a:ext uri="{0D108BD9-81ED-4DB2-BD59-A6C34878D82A}">
                    <a16:rowId xmlns:a16="http://schemas.microsoft.com/office/drawing/2014/main" val="635761353"/>
                  </a:ext>
                </a:extLst>
              </a:tr>
            </a:tbl>
          </a:graphicData>
        </a:graphic>
      </p:graphicFrame>
      <p:grpSp>
        <p:nvGrpSpPr>
          <p:cNvPr id="7" name="组合 6">
            <a:extLst>
              <a:ext uri="{FF2B5EF4-FFF2-40B4-BE49-F238E27FC236}">
                <a16:creationId xmlns:a16="http://schemas.microsoft.com/office/drawing/2014/main" id="{26F90449-0170-4E79-BAB6-DB8A1915F676}"/>
              </a:ext>
            </a:extLst>
          </p:cNvPr>
          <p:cNvGrpSpPr/>
          <p:nvPr/>
        </p:nvGrpSpPr>
        <p:grpSpPr>
          <a:xfrm>
            <a:off x="5318862" y="1310646"/>
            <a:ext cx="1449019" cy="3896354"/>
            <a:chOff x="5318862" y="1310646"/>
            <a:chExt cx="1449019" cy="3896354"/>
          </a:xfrm>
        </p:grpSpPr>
        <p:cxnSp>
          <p:nvCxnSpPr>
            <p:cNvPr id="14" name="连接符: 曲线 13">
              <a:extLst>
                <a:ext uri="{FF2B5EF4-FFF2-40B4-BE49-F238E27FC236}">
                  <a16:creationId xmlns:a16="http://schemas.microsoft.com/office/drawing/2014/main" id="{F1DED099-3723-4FC1-9AFF-59C85D4A0CD3}"/>
                </a:ext>
              </a:extLst>
            </p:cNvPr>
            <p:cNvCxnSpPr>
              <a:cxnSpLocks/>
            </p:cNvCxnSpPr>
            <p:nvPr/>
          </p:nvCxnSpPr>
          <p:spPr>
            <a:xfrm flipV="1">
              <a:off x="5318862" y="1310646"/>
              <a:ext cx="1449019" cy="1445256"/>
            </a:xfrm>
            <a:prstGeom prst="curvedConnector3">
              <a:avLst>
                <a:gd name="adj1" fmla="val 50000"/>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6" name="连接符: 曲线 25">
              <a:extLst>
                <a:ext uri="{FF2B5EF4-FFF2-40B4-BE49-F238E27FC236}">
                  <a16:creationId xmlns:a16="http://schemas.microsoft.com/office/drawing/2014/main" id="{D37BC1B5-4A5B-4B6A-9852-FDA50434D07B}"/>
                </a:ext>
              </a:extLst>
            </p:cNvPr>
            <p:cNvCxnSpPr>
              <a:cxnSpLocks/>
            </p:cNvCxnSpPr>
            <p:nvPr/>
          </p:nvCxnSpPr>
          <p:spPr>
            <a:xfrm flipV="1">
              <a:off x="5318864" y="3276600"/>
              <a:ext cx="1449016" cy="284480"/>
            </a:xfrm>
            <a:prstGeom prst="curvedConnector3">
              <a:avLst>
                <a:gd name="adj1" fmla="val 50000"/>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9" name="连接符: 曲线 28">
              <a:extLst>
                <a:ext uri="{FF2B5EF4-FFF2-40B4-BE49-F238E27FC236}">
                  <a16:creationId xmlns:a16="http://schemas.microsoft.com/office/drawing/2014/main" id="{981025C7-E22C-4645-AAB3-6E0E096DAAF3}"/>
                </a:ext>
              </a:extLst>
            </p:cNvPr>
            <p:cNvCxnSpPr>
              <a:cxnSpLocks/>
            </p:cNvCxnSpPr>
            <p:nvPr/>
          </p:nvCxnSpPr>
          <p:spPr>
            <a:xfrm>
              <a:off x="5318862" y="4201160"/>
              <a:ext cx="1449018" cy="1005840"/>
            </a:xfrm>
            <a:prstGeom prst="curvedConnector3">
              <a:avLst>
                <a:gd name="adj1" fmla="val 50000"/>
              </a:avLst>
            </a:prstGeom>
            <a:ln w="28575">
              <a:tailEnd type="triangle"/>
            </a:ln>
          </p:spPr>
          <p:style>
            <a:lnRef idx="1">
              <a:schemeClr val="accent1"/>
            </a:lnRef>
            <a:fillRef idx="0">
              <a:schemeClr val="accent1"/>
            </a:fillRef>
            <a:effectRef idx="0">
              <a:schemeClr val="accent1"/>
            </a:effectRef>
            <a:fontRef idx="minor">
              <a:schemeClr val="tx1"/>
            </a:fontRef>
          </p:style>
        </p:cxnSp>
      </p:grpSp>
      <p:sp>
        <p:nvSpPr>
          <p:cNvPr id="32" name="文本框 31">
            <a:extLst>
              <a:ext uri="{FF2B5EF4-FFF2-40B4-BE49-F238E27FC236}">
                <a16:creationId xmlns:a16="http://schemas.microsoft.com/office/drawing/2014/main" id="{AF6B78A6-29D8-4D8F-A1CC-848822386BEB}"/>
              </a:ext>
            </a:extLst>
          </p:cNvPr>
          <p:cNvSpPr txBox="1"/>
          <p:nvPr/>
        </p:nvSpPr>
        <p:spPr>
          <a:xfrm>
            <a:off x="6898157" y="731061"/>
            <a:ext cx="537006" cy="369332"/>
          </a:xfrm>
          <a:prstGeom prst="rect">
            <a:avLst/>
          </a:prstGeom>
          <a:noFill/>
        </p:spPr>
        <p:txBody>
          <a:bodyPr wrap="none" lIns="0" tIns="0" rIns="0" bIns="0" rtlCol="0">
            <a:spAutoFit/>
          </a:bodyPr>
          <a:lstStyle/>
          <a:p>
            <a:r>
              <a:rPr lang="en-US" altLang="zh-CN" sz="2400" b="1" dirty="0">
                <a:latin typeface="+mn-ea"/>
                <a:ea typeface="+mn-ea"/>
              </a:rPr>
              <a:t>a[0]</a:t>
            </a:r>
            <a:endParaRPr lang="zh-CN" altLang="en-US" sz="2400" b="1" dirty="0">
              <a:latin typeface="+mn-ea"/>
              <a:ea typeface="+mn-ea"/>
            </a:endParaRPr>
          </a:p>
        </p:txBody>
      </p:sp>
      <p:sp>
        <p:nvSpPr>
          <p:cNvPr id="33" name="文本框 32">
            <a:extLst>
              <a:ext uri="{FF2B5EF4-FFF2-40B4-BE49-F238E27FC236}">
                <a16:creationId xmlns:a16="http://schemas.microsoft.com/office/drawing/2014/main" id="{679845E9-1D8A-42AB-9CB4-F53D1EDB7F8E}"/>
              </a:ext>
            </a:extLst>
          </p:cNvPr>
          <p:cNvSpPr txBox="1"/>
          <p:nvPr/>
        </p:nvSpPr>
        <p:spPr>
          <a:xfrm>
            <a:off x="6893205" y="2663151"/>
            <a:ext cx="537006" cy="369332"/>
          </a:xfrm>
          <a:prstGeom prst="rect">
            <a:avLst/>
          </a:prstGeom>
          <a:noFill/>
        </p:spPr>
        <p:txBody>
          <a:bodyPr wrap="none" lIns="0" tIns="0" rIns="0" bIns="0" rtlCol="0">
            <a:spAutoFit/>
          </a:bodyPr>
          <a:lstStyle/>
          <a:p>
            <a:r>
              <a:rPr lang="en-US" altLang="zh-CN" sz="2400" b="1" dirty="0">
                <a:latin typeface="+mn-ea"/>
                <a:ea typeface="+mn-ea"/>
              </a:rPr>
              <a:t>a[1]</a:t>
            </a:r>
            <a:endParaRPr lang="zh-CN" altLang="en-US" sz="2400" b="1" dirty="0">
              <a:latin typeface="+mn-ea"/>
              <a:ea typeface="+mn-ea"/>
            </a:endParaRPr>
          </a:p>
        </p:txBody>
      </p:sp>
      <p:sp>
        <p:nvSpPr>
          <p:cNvPr id="34" name="文本框 33">
            <a:extLst>
              <a:ext uri="{FF2B5EF4-FFF2-40B4-BE49-F238E27FC236}">
                <a16:creationId xmlns:a16="http://schemas.microsoft.com/office/drawing/2014/main" id="{AE8D396B-F89F-45DE-9138-B9BADFF29133}"/>
              </a:ext>
            </a:extLst>
          </p:cNvPr>
          <p:cNvSpPr txBox="1"/>
          <p:nvPr/>
        </p:nvSpPr>
        <p:spPr>
          <a:xfrm>
            <a:off x="6893205" y="4606448"/>
            <a:ext cx="537006" cy="369332"/>
          </a:xfrm>
          <a:prstGeom prst="rect">
            <a:avLst/>
          </a:prstGeom>
          <a:noFill/>
        </p:spPr>
        <p:txBody>
          <a:bodyPr wrap="none" lIns="0" tIns="0" rIns="0" bIns="0" rtlCol="0">
            <a:spAutoFit/>
          </a:bodyPr>
          <a:lstStyle/>
          <a:p>
            <a:r>
              <a:rPr lang="en-US" altLang="zh-CN" sz="2400" b="1" dirty="0">
                <a:latin typeface="+mn-ea"/>
                <a:ea typeface="+mn-ea"/>
              </a:rPr>
              <a:t>a[2]</a:t>
            </a:r>
            <a:endParaRPr lang="zh-CN" altLang="en-US" sz="2400" b="1" dirty="0">
              <a:latin typeface="+mn-ea"/>
              <a:ea typeface="+mn-ea"/>
            </a:endParaRPr>
          </a:p>
        </p:txBody>
      </p:sp>
      <p:sp>
        <p:nvSpPr>
          <p:cNvPr id="47" name="文本框 46">
            <a:extLst>
              <a:ext uri="{FF2B5EF4-FFF2-40B4-BE49-F238E27FC236}">
                <a16:creationId xmlns:a16="http://schemas.microsoft.com/office/drawing/2014/main" id="{90B6BAAE-2901-4469-993A-E0D20406E2B5}"/>
              </a:ext>
            </a:extLst>
          </p:cNvPr>
          <p:cNvSpPr txBox="1"/>
          <p:nvPr/>
        </p:nvSpPr>
        <p:spPr>
          <a:xfrm>
            <a:off x="4975163" y="2192791"/>
            <a:ext cx="160300" cy="369332"/>
          </a:xfrm>
          <a:prstGeom prst="rect">
            <a:avLst/>
          </a:prstGeom>
          <a:noFill/>
        </p:spPr>
        <p:txBody>
          <a:bodyPr wrap="none" lIns="0" tIns="0" rIns="0" bIns="0" rtlCol="0">
            <a:spAutoFit/>
          </a:bodyPr>
          <a:lstStyle/>
          <a:p>
            <a:r>
              <a:rPr lang="en-US" altLang="zh-CN" sz="2400" b="1" dirty="0">
                <a:latin typeface="+mn-ea"/>
                <a:ea typeface="+mn-ea"/>
              </a:rPr>
              <a:t>a</a:t>
            </a:r>
            <a:endParaRPr lang="zh-CN" altLang="en-US" sz="2400" b="1" dirty="0">
              <a:latin typeface="+mn-ea"/>
              <a:ea typeface="+mn-ea"/>
            </a:endParaRPr>
          </a:p>
        </p:txBody>
      </p:sp>
      <p:grpSp>
        <p:nvGrpSpPr>
          <p:cNvPr id="2" name="组合 1">
            <a:extLst>
              <a:ext uri="{FF2B5EF4-FFF2-40B4-BE49-F238E27FC236}">
                <a16:creationId xmlns:a16="http://schemas.microsoft.com/office/drawing/2014/main" id="{6FDEE423-64C8-4CC5-8BE5-77692EAC788A}"/>
              </a:ext>
            </a:extLst>
          </p:cNvPr>
          <p:cNvGrpSpPr/>
          <p:nvPr/>
        </p:nvGrpSpPr>
        <p:grpSpPr>
          <a:xfrm>
            <a:off x="3124636" y="2663151"/>
            <a:ext cx="545021" cy="1722675"/>
            <a:chOff x="3124636" y="2663151"/>
            <a:chExt cx="545021" cy="1722675"/>
          </a:xfrm>
        </p:grpSpPr>
        <p:sp>
          <p:nvSpPr>
            <p:cNvPr id="48" name="文本框 47">
              <a:extLst>
                <a:ext uri="{FF2B5EF4-FFF2-40B4-BE49-F238E27FC236}">
                  <a16:creationId xmlns:a16="http://schemas.microsoft.com/office/drawing/2014/main" id="{055E96B3-DF0E-42B0-B7E9-A9710ED809ED}"/>
                </a:ext>
              </a:extLst>
            </p:cNvPr>
            <p:cNvSpPr txBox="1"/>
            <p:nvPr/>
          </p:nvSpPr>
          <p:spPr>
            <a:xfrm>
              <a:off x="3293826" y="2663151"/>
              <a:ext cx="160300" cy="369332"/>
            </a:xfrm>
            <a:prstGeom prst="rect">
              <a:avLst/>
            </a:prstGeom>
            <a:noFill/>
          </p:spPr>
          <p:txBody>
            <a:bodyPr wrap="none" lIns="0" tIns="0" rIns="0" bIns="0" rtlCol="0">
              <a:spAutoFit/>
            </a:bodyPr>
            <a:lstStyle/>
            <a:p>
              <a:r>
                <a:rPr lang="en-US" altLang="zh-CN" sz="2400" b="1" dirty="0">
                  <a:latin typeface="+mn-ea"/>
                  <a:ea typeface="+mn-ea"/>
                </a:rPr>
                <a:t>a</a:t>
              </a:r>
              <a:endParaRPr lang="zh-CN" altLang="en-US" sz="2400" b="1" dirty="0">
                <a:latin typeface="+mn-ea"/>
                <a:ea typeface="+mn-ea"/>
              </a:endParaRPr>
            </a:p>
          </p:txBody>
        </p:sp>
        <p:sp>
          <p:nvSpPr>
            <p:cNvPr id="49" name="文本框 48">
              <a:extLst>
                <a:ext uri="{FF2B5EF4-FFF2-40B4-BE49-F238E27FC236}">
                  <a16:creationId xmlns:a16="http://schemas.microsoft.com/office/drawing/2014/main" id="{19E2493D-D474-47E8-A414-6E097266EE04}"/>
                </a:ext>
              </a:extLst>
            </p:cNvPr>
            <p:cNvSpPr txBox="1"/>
            <p:nvPr/>
          </p:nvSpPr>
          <p:spPr>
            <a:xfrm>
              <a:off x="3124636" y="3339822"/>
              <a:ext cx="545021" cy="369332"/>
            </a:xfrm>
            <a:prstGeom prst="rect">
              <a:avLst/>
            </a:prstGeom>
            <a:noFill/>
          </p:spPr>
          <p:txBody>
            <a:bodyPr wrap="none" lIns="0" tIns="0" rIns="0" bIns="0" rtlCol="0">
              <a:spAutoFit/>
            </a:bodyPr>
            <a:lstStyle/>
            <a:p>
              <a:r>
                <a:rPr lang="en-US" altLang="zh-CN" sz="2400" b="1" dirty="0">
                  <a:latin typeface="+mn-ea"/>
                  <a:ea typeface="+mn-ea"/>
                </a:rPr>
                <a:t>a+1</a:t>
              </a:r>
              <a:endParaRPr lang="zh-CN" altLang="en-US" sz="2400" b="1" dirty="0">
                <a:latin typeface="+mn-ea"/>
                <a:ea typeface="+mn-ea"/>
              </a:endParaRPr>
            </a:p>
          </p:txBody>
        </p:sp>
        <p:sp>
          <p:nvSpPr>
            <p:cNvPr id="50" name="文本框 49">
              <a:extLst>
                <a:ext uri="{FF2B5EF4-FFF2-40B4-BE49-F238E27FC236}">
                  <a16:creationId xmlns:a16="http://schemas.microsoft.com/office/drawing/2014/main" id="{125003DA-E04E-4C7A-B5B1-600110D53D22}"/>
                </a:ext>
              </a:extLst>
            </p:cNvPr>
            <p:cNvSpPr txBox="1"/>
            <p:nvPr/>
          </p:nvSpPr>
          <p:spPr>
            <a:xfrm>
              <a:off x="3124636" y="4016494"/>
              <a:ext cx="545021" cy="369332"/>
            </a:xfrm>
            <a:prstGeom prst="rect">
              <a:avLst/>
            </a:prstGeom>
            <a:noFill/>
          </p:spPr>
          <p:txBody>
            <a:bodyPr wrap="none" lIns="0" tIns="0" rIns="0" bIns="0" rtlCol="0">
              <a:spAutoFit/>
            </a:bodyPr>
            <a:lstStyle/>
            <a:p>
              <a:r>
                <a:rPr lang="en-US" altLang="zh-CN" sz="2400" b="1" dirty="0">
                  <a:latin typeface="+mn-ea"/>
                  <a:ea typeface="+mn-ea"/>
                </a:rPr>
                <a:t>a+2</a:t>
              </a:r>
              <a:endParaRPr lang="zh-CN" altLang="en-US" sz="2400" b="1" dirty="0">
                <a:latin typeface="+mn-ea"/>
                <a:ea typeface="+mn-ea"/>
              </a:endParaRPr>
            </a:p>
          </p:txBody>
        </p:sp>
      </p:grpSp>
      <p:grpSp>
        <p:nvGrpSpPr>
          <p:cNvPr id="6" name="组合 5">
            <a:extLst>
              <a:ext uri="{FF2B5EF4-FFF2-40B4-BE49-F238E27FC236}">
                <a16:creationId xmlns:a16="http://schemas.microsoft.com/office/drawing/2014/main" id="{938EAFBB-F5C9-48A5-BDDF-E85FD2DC29E9}"/>
              </a:ext>
            </a:extLst>
          </p:cNvPr>
          <p:cNvGrpSpPr/>
          <p:nvPr/>
        </p:nvGrpSpPr>
        <p:grpSpPr>
          <a:xfrm>
            <a:off x="3692886" y="2897505"/>
            <a:ext cx="963647" cy="1310005"/>
            <a:chOff x="3692886" y="2897505"/>
            <a:chExt cx="963647" cy="1310005"/>
          </a:xfrm>
        </p:grpSpPr>
        <p:cxnSp>
          <p:nvCxnSpPr>
            <p:cNvPr id="51" name="连接符: 曲线 50">
              <a:extLst>
                <a:ext uri="{FF2B5EF4-FFF2-40B4-BE49-F238E27FC236}">
                  <a16:creationId xmlns:a16="http://schemas.microsoft.com/office/drawing/2014/main" id="{27C2BC9F-B6B9-4906-ADC3-698E7A5A9446}"/>
                </a:ext>
              </a:extLst>
            </p:cNvPr>
            <p:cNvCxnSpPr>
              <a:cxnSpLocks/>
            </p:cNvCxnSpPr>
            <p:nvPr/>
          </p:nvCxnSpPr>
          <p:spPr>
            <a:xfrm>
              <a:off x="3692886" y="2897505"/>
              <a:ext cx="963647" cy="12700"/>
            </a:xfrm>
            <a:prstGeom prst="curvedConnector3">
              <a:avLst>
                <a:gd name="adj1" fmla="val 50000"/>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4" name="连接符: 曲线 53">
              <a:extLst>
                <a:ext uri="{FF2B5EF4-FFF2-40B4-BE49-F238E27FC236}">
                  <a16:creationId xmlns:a16="http://schemas.microsoft.com/office/drawing/2014/main" id="{E9F112F2-8D19-4F5F-B7BD-9757DB659D6D}"/>
                </a:ext>
              </a:extLst>
            </p:cNvPr>
            <p:cNvCxnSpPr>
              <a:cxnSpLocks/>
            </p:cNvCxnSpPr>
            <p:nvPr/>
          </p:nvCxnSpPr>
          <p:spPr>
            <a:xfrm>
              <a:off x="3735459" y="3530838"/>
              <a:ext cx="921074" cy="12700"/>
            </a:xfrm>
            <a:prstGeom prst="curvedConnector3">
              <a:avLst>
                <a:gd name="adj1" fmla="val 50000"/>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6" name="连接符: 曲线 55">
              <a:extLst>
                <a:ext uri="{FF2B5EF4-FFF2-40B4-BE49-F238E27FC236}">
                  <a16:creationId xmlns:a16="http://schemas.microsoft.com/office/drawing/2014/main" id="{12CC4187-6749-45FD-9A02-4CF30B53048B}"/>
                </a:ext>
              </a:extLst>
            </p:cNvPr>
            <p:cNvCxnSpPr>
              <a:cxnSpLocks/>
            </p:cNvCxnSpPr>
            <p:nvPr/>
          </p:nvCxnSpPr>
          <p:spPr>
            <a:xfrm>
              <a:off x="3735459" y="4201160"/>
              <a:ext cx="911504" cy="6350"/>
            </a:xfrm>
            <a:prstGeom prst="curvedConnector3">
              <a:avLst>
                <a:gd name="adj1" fmla="val 50000"/>
              </a:avLst>
            </a:prstGeom>
            <a:ln w="28575">
              <a:tailEnd type="triangle"/>
            </a:ln>
          </p:spPr>
          <p:style>
            <a:lnRef idx="1">
              <a:schemeClr val="accent1"/>
            </a:lnRef>
            <a:fillRef idx="0">
              <a:schemeClr val="accent1"/>
            </a:fillRef>
            <a:effectRef idx="0">
              <a:schemeClr val="accent1"/>
            </a:effectRef>
            <a:fontRef idx="minor">
              <a:schemeClr val="tx1"/>
            </a:fontRef>
          </p:style>
        </p:cxnSp>
      </p:grpSp>
      <p:sp>
        <p:nvSpPr>
          <p:cNvPr id="60" name="Rectangle 2">
            <a:extLst>
              <a:ext uri="{FF2B5EF4-FFF2-40B4-BE49-F238E27FC236}">
                <a16:creationId xmlns:a16="http://schemas.microsoft.com/office/drawing/2014/main" id="{B0706EC8-E2C6-499B-83E9-48C9C8CF81ED}"/>
              </a:ext>
            </a:extLst>
          </p:cNvPr>
          <p:cNvSpPr txBox="1">
            <a:spLocks noChangeArrowheads="1"/>
          </p:cNvSpPr>
          <p:nvPr/>
        </p:nvSpPr>
        <p:spPr>
          <a:xfrm>
            <a:off x="65399" y="782346"/>
            <a:ext cx="1961521" cy="523220"/>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0000FF"/>
                </a:solidFill>
              </a:rPr>
              <a:t>int</a:t>
            </a:r>
            <a:r>
              <a:rPr lang="zh-CN" altLang="en-US" b="1" dirty="0">
                <a:solidFill>
                  <a:srgbClr val="0000FF"/>
                </a:solidFill>
              </a:rPr>
              <a:t> </a:t>
            </a:r>
            <a:r>
              <a:rPr lang="en-US" altLang="zh-CN" b="1" dirty="0"/>
              <a:t>a</a:t>
            </a:r>
            <a:r>
              <a:rPr lang="en-US" altLang="zh-CN" b="1" dirty="0">
                <a:solidFill>
                  <a:srgbClr val="FF0000"/>
                </a:solidFill>
              </a:rPr>
              <a:t>[</a:t>
            </a:r>
            <a:r>
              <a:rPr lang="en-US" altLang="zh-CN" b="1" dirty="0"/>
              <a:t>3</a:t>
            </a:r>
            <a:r>
              <a:rPr lang="en-US" altLang="zh-CN" b="1" dirty="0">
                <a:solidFill>
                  <a:srgbClr val="FF0000"/>
                </a:solidFill>
              </a:rPr>
              <a:t>][</a:t>
            </a:r>
            <a:r>
              <a:rPr lang="en-US" altLang="zh-CN" b="1" dirty="0"/>
              <a:t>4</a:t>
            </a:r>
            <a:r>
              <a:rPr lang="en-US" altLang="zh-CN" b="1" dirty="0">
                <a:solidFill>
                  <a:srgbClr val="FF0000"/>
                </a:solidFill>
              </a:rPr>
              <a:t>]</a:t>
            </a:r>
            <a:r>
              <a:rPr lang="en-US" altLang="zh-CN" b="1" dirty="0"/>
              <a:t>; </a:t>
            </a:r>
          </a:p>
        </p:txBody>
      </p:sp>
      <p:sp>
        <p:nvSpPr>
          <p:cNvPr id="61" name="文本框 60">
            <a:extLst>
              <a:ext uri="{FF2B5EF4-FFF2-40B4-BE49-F238E27FC236}">
                <a16:creationId xmlns:a16="http://schemas.microsoft.com/office/drawing/2014/main" id="{B95A3B84-8CFD-4A9C-8D56-6B45D0737A7E}"/>
              </a:ext>
            </a:extLst>
          </p:cNvPr>
          <p:cNvSpPr txBox="1"/>
          <p:nvPr/>
        </p:nvSpPr>
        <p:spPr>
          <a:xfrm>
            <a:off x="2809719" y="1617147"/>
            <a:ext cx="1128514" cy="738664"/>
          </a:xfrm>
          <a:prstGeom prst="rect">
            <a:avLst/>
          </a:prstGeom>
          <a:noFill/>
        </p:spPr>
        <p:txBody>
          <a:bodyPr wrap="none" lIns="0" tIns="0" rIns="0" bIns="0" rtlCol="0">
            <a:spAutoFit/>
          </a:bodyPr>
          <a:lstStyle/>
          <a:p>
            <a:pPr algn="ctr"/>
            <a:r>
              <a:rPr lang="zh-CN" altLang="en-US" sz="2400" b="1" dirty="0">
                <a:latin typeface="+mn-ea"/>
                <a:ea typeface="+mn-ea"/>
              </a:rPr>
              <a:t>数组名</a:t>
            </a:r>
            <a:endParaRPr lang="en-US" altLang="zh-CN" sz="2400" b="1" dirty="0">
              <a:latin typeface="+mn-ea"/>
              <a:ea typeface="+mn-ea"/>
            </a:endParaRPr>
          </a:p>
          <a:p>
            <a:r>
              <a:rPr lang="en-US" altLang="zh-CN" sz="2400" b="1" dirty="0">
                <a:latin typeface="+mn-ea"/>
              </a:rPr>
              <a:t>(</a:t>
            </a:r>
            <a:r>
              <a:rPr lang="zh-CN" altLang="en-US" sz="2400" b="1" dirty="0">
                <a:latin typeface="+mn-ea"/>
              </a:rPr>
              <a:t>行指针</a:t>
            </a:r>
            <a:r>
              <a:rPr lang="en-US" altLang="zh-CN" sz="2400" b="1" dirty="0">
                <a:latin typeface="+mn-ea"/>
              </a:rPr>
              <a:t>)</a:t>
            </a:r>
            <a:endParaRPr lang="zh-CN" altLang="en-US" sz="2400" b="1" dirty="0">
              <a:latin typeface="+mn-ea"/>
              <a:ea typeface="+mn-ea"/>
            </a:endParaRPr>
          </a:p>
        </p:txBody>
      </p:sp>
      <p:sp>
        <p:nvSpPr>
          <p:cNvPr id="62" name="文本框 61">
            <a:extLst>
              <a:ext uri="{FF2B5EF4-FFF2-40B4-BE49-F238E27FC236}">
                <a16:creationId xmlns:a16="http://schemas.microsoft.com/office/drawing/2014/main" id="{A04724D4-B3D9-4667-AB83-1F736FED5737}"/>
              </a:ext>
            </a:extLst>
          </p:cNvPr>
          <p:cNvSpPr txBox="1"/>
          <p:nvPr/>
        </p:nvSpPr>
        <p:spPr>
          <a:xfrm>
            <a:off x="4439760" y="1223092"/>
            <a:ext cx="1231106" cy="738664"/>
          </a:xfrm>
          <a:prstGeom prst="rect">
            <a:avLst/>
          </a:prstGeom>
          <a:noFill/>
        </p:spPr>
        <p:txBody>
          <a:bodyPr wrap="none" lIns="0" tIns="0" rIns="0" bIns="0" rtlCol="0">
            <a:spAutoFit/>
          </a:bodyPr>
          <a:lstStyle/>
          <a:p>
            <a:pPr algn="ctr"/>
            <a:r>
              <a:rPr lang="zh-CN" altLang="en-US" sz="2400" b="1" dirty="0">
                <a:latin typeface="+mn-ea"/>
              </a:rPr>
              <a:t>一维</a:t>
            </a:r>
            <a:r>
              <a:rPr lang="zh-CN" altLang="en-US" sz="2400" b="1" dirty="0">
                <a:latin typeface="+mn-ea"/>
                <a:ea typeface="+mn-ea"/>
              </a:rPr>
              <a:t>数组</a:t>
            </a:r>
            <a:endParaRPr lang="en-US" altLang="zh-CN" sz="2400" b="1" dirty="0">
              <a:latin typeface="+mn-ea"/>
              <a:ea typeface="+mn-ea"/>
            </a:endParaRPr>
          </a:p>
          <a:p>
            <a:pPr algn="ctr"/>
            <a:r>
              <a:rPr lang="en-US" altLang="zh-CN" sz="2400" b="1" dirty="0">
                <a:latin typeface="+mn-ea"/>
              </a:rPr>
              <a:t>(</a:t>
            </a:r>
            <a:r>
              <a:rPr lang="zh-CN" altLang="en-US" sz="2400" b="1" dirty="0">
                <a:latin typeface="+mn-ea"/>
              </a:rPr>
              <a:t>列指针</a:t>
            </a:r>
            <a:r>
              <a:rPr lang="en-US" altLang="zh-CN" sz="2400" b="1" dirty="0">
                <a:latin typeface="+mn-ea"/>
              </a:rPr>
              <a:t>)</a:t>
            </a:r>
            <a:endParaRPr lang="zh-CN" altLang="en-US" sz="2400" b="1" dirty="0">
              <a:latin typeface="+mn-ea"/>
              <a:ea typeface="+mn-ea"/>
            </a:endParaRPr>
          </a:p>
        </p:txBody>
      </p:sp>
      <p:sp>
        <p:nvSpPr>
          <p:cNvPr id="63" name="文本框 62">
            <a:extLst>
              <a:ext uri="{FF2B5EF4-FFF2-40B4-BE49-F238E27FC236}">
                <a16:creationId xmlns:a16="http://schemas.microsoft.com/office/drawing/2014/main" id="{41C24093-B28A-4B23-B45E-C2F1A966240E}"/>
              </a:ext>
            </a:extLst>
          </p:cNvPr>
          <p:cNvSpPr txBox="1"/>
          <p:nvPr/>
        </p:nvSpPr>
        <p:spPr>
          <a:xfrm>
            <a:off x="7854032" y="718667"/>
            <a:ext cx="615553" cy="369332"/>
          </a:xfrm>
          <a:prstGeom prst="rect">
            <a:avLst/>
          </a:prstGeom>
          <a:noFill/>
        </p:spPr>
        <p:txBody>
          <a:bodyPr wrap="none" lIns="0" tIns="0" rIns="0" bIns="0" rtlCol="0">
            <a:spAutoFit/>
          </a:bodyPr>
          <a:lstStyle/>
          <a:p>
            <a:pPr algn="ctr"/>
            <a:r>
              <a:rPr lang="zh-CN" altLang="en-US" sz="2400" b="1" dirty="0">
                <a:latin typeface="+mn-ea"/>
              </a:rPr>
              <a:t>元素</a:t>
            </a:r>
            <a:endParaRPr lang="en-US" altLang="zh-CN" sz="2400" b="1" dirty="0">
              <a:latin typeface="+mn-ea"/>
              <a:ea typeface="+mn-ea"/>
            </a:endParaRPr>
          </a:p>
        </p:txBody>
      </p:sp>
      <p:graphicFrame>
        <p:nvGraphicFramePr>
          <p:cNvPr id="64" name="表格 4">
            <a:extLst>
              <a:ext uri="{FF2B5EF4-FFF2-40B4-BE49-F238E27FC236}">
                <a16:creationId xmlns:a16="http://schemas.microsoft.com/office/drawing/2014/main" id="{28F8A277-1319-4A7F-A386-E0621729DF44}"/>
              </a:ext>
            </a:extLst>
          </p:cNvPr>
          <p:cNvGraphicFramePr>
            <a:graphicFrameLocks noGrp="1"/>
          </p:cNvGraphicFramePr>
          <p:nvPr>
            <p:extLst>
              <p:ext uri="{D42A27DB-BD31-4B8C-83A1-F6EECF244321}">
                <p14:modId xmlns:p14="http://schemas.microsoft.com/office/powerpoint/2010/main" val="254334109"/>
              </p:ext>
            </p:extLst>
          </p:nvPr>
        </p:nvGraphicFramePr>
        <p:xfrm>
          <a:off x="7723176" y="3058530"/>
          <a:ext cx="877264" cy="1469812"/>
        </p:xfrm>
        <a:graphic>
          <a:graphicData uri="http://schemas.openxmlformats.org/drawingml/2006/table">
            <a:tbl>
              <a:tblPr firstRow="1" bandRow="1">
                <a:tableStyleId>{5940675A-B579-460E-94D1-54222C63F5DA}</a:tableStyleId>
              </a:tblPr>
              <a:tblGrid>
                <a:gridCol w="877264">
                  <a:extLst>
                    <a:ext uri="{9D8B030D-6E8A-4147-A177-3AD203B41FA5}">
                      <a16:colId xmlns:a16="http://schemas.microsoft.com/office/drawing/2014/main" val="3578835451"/>
                    </a:ext>
                  </a:extLst>
                </a:gridCol>
              </a:tblGrid>
              <a:tr h="367453">
                <a:tc>
                  <a:txBody>
                    <a:bodyPr/>
                    <a:lstStyle/>
                    <a:p>
                      <a:pPr algn="ctr"/>
                      <a:r>
                        <a:rPr lang="en-US" altLang="zh-CN" sz="2000" b="1" dirty="0"/>
                        <a:t>a[1]</a:t>
                      </a:r>
                      <a:r>
                        <a:rPr lang="en-US" altLang="zh-CN" sz="2000" b="1" kern="1200" dirty="0">
                          <a:solidFill>
                            <a:srgbClr val="FF0000"/>
                          </a:solidFill>
                          <a:latin typeface="+mn-lt"/>
                          <a:ea typeface="+mn-ea"/>
                          <a:cs typeface="+mn-cs"/>
                        </a:rPr>
                        <a:t>[</a:t>
                      </a:r>
                      <a:r>
                        <a:rPr lang="en-US" altLang="zh-CN" sz="2000" b="1" dirty="0"/>
                        <a:t>0</a:t>
                      </a:r>
                      <a:r>
                        <a:rPr lang="en-US" altLang="zh-CN" sz="2000" b="1" kern="1200" dirty="0">
                          <a:solidFill>
                            <a:srgbClr val="FF0000"/>
                          </a:solidFill>
                          <a:latin typeface="+mn-lt"/>
                          <a:ea typeface="+mn-ea"/>
                          <a:cs typeface="+mn-cs"/>
                        </a:rPr>
                        <a:t>]</a:t>
                      </a:r>
                      <a:endParaRPr lang="zh-CN" altLang="en-US" sz="2000" b="1" kern="1200" dirty="0">
                        <a:solidFill>
                          <a:srgbClr val="FF0000"/>
                        </a:solidFill>
                        <a:latin typeface="+mn-lt"/>
                        <a:ea typeface="+mn-ea"/>
                        <a:cs typeface="+mn-cs"/>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71072365"/>
                  </a:ext>
                </a:extLst>
              </a:tr>
              <a:tr h="36745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1" dirty="0"/>
                        <a:t>a[1]</a:t>
                      </a:r>
                      <a:r>
                        <a:rPr lang="en-US" altLang="zh-CN" sz="2000" b="1" kern="1200" dirty="0">
                          <a:solidFill>
                            <a:srgbClr val="FF0000"/>
                          </a:solidFill>
                          <a:latin typeface="+mn-lt"/>
                          <a:ea typeface="+mn-ea"/>
                          <a:cs typeface="+mn-cs"/>
                        </a:rPr>
                        <a:t>[</a:t>
                      </a:r>
                      <a:r>
                        <a:rPr lang="en-US" altLang="zh-CN" sz="2000" b="1" dirty="0"/>
                        <a:t>1</a:t>
                      </a:r>
                      <a:r>
                        <a:rPr lang="en-US" altLang="zh-CN" sz="2000" b="1" kern="1200" dirty="0">
                          <a:solidFill>
                            <a:srgbClr val="FF0000"/>
                          </a:solidFill>
                          <a:latin typeface="+mn-lt"/>
                          <a:ea typeface="+mn-ea"/>
                          <a:cs typeface="+mn-cs"/>
                        </a:rPr>
                        <a:t>]</a:t>
                      </a:r>
                      <a:endParaRPr lang="zh-CN" altLang="en-US" sz="2000" b="1" kern="1200" dirty="0">
                        <a:solidFill>
                          <a:srgbClr val="FF0000"/>
                        </a:solidFill>
                        <a:latin typeface="+mn-lt"/>
                        <a:ea typeface="+mn-ea"/>
                        <a:cs typeface="+mn-cs"/>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4738251"/>
                  </a:ext>
                </a:extLst>
              </a:tr>
              <a:tr h="367453">
                <a:tc>
                  <a:txBody>
                    <a:bodyPr/>
                    <a:lstStyle/>
                    <a:p>
                      <a:pPr algn="ctr"/>
                      <a:r>
                        <a:rPr lang="en-US" altLang="zh-CN" sz="2000" b="1" dirty="0"/>
                        <a:t>a[1]</a:t>
                      </a:r>
                      <a:r>
                        <a:rPr lang="en-US" altLang="zh-CN" sz="2000" b="1" kern="1200" dirty="0">
                          <a:solidFill>
                            <a:srgbClr val="FF0000"/>
                          </a:solidFill>
                          <a:latin typeface="+mn-lt"/>
                          <a:ea typeface="+mn-ea"/>
                          <a:cs typeface="+mn-cs"/>
                        </a:rPr>
                        <a:t>[</a:t>
                      </a:r>
                      <a:r>
                        <a:rPr lang="en-US" altLang="zh-CN" sz="2000" b="1" dirty="0"/>
                        <a:t>2</a:t>
                      </a:r>
                      <a:r>
                        <a:rPr lang="en-US" altLang="zh-CN" sz="2000" b="1" kern="1200" dirty="0">
                          <a:solidFill>
                            <a:srgbClr val="FF0000"/>
                          </a:solidFill>
                          <a:latin typeface="+mn-lt"/>
                          <a:ea typeface="+mn-ea"/>
                          <a:cs typeface="+mn-cs"/>
                        </a:rPr>
                        <a:t>]</a:t>
                      </a:r>
                      <a:endParaRPr lang="zh-CN" altLang="en-US" sz="2000" b="1" kern="1200" dirty="0">
                        <a:solidFill>
                          <a:srgbClr val="FF0000"/>
                        </a:solidFill>
                        <a:latin typeface="+mn-lt"/>
                        <a:ea typeface="+mn-ea"/>
                        <a:cs typeface="+mn-cs"/>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192871294"/>
                  </a:ext>
                </a:extLst>
              </a:tr>
              <a:tr h="367453">
                <a:tc>
                  <a:txBody>
                    <a:bodyPr/>
                    <a:lstStyle/>
                    <a:p>
                      <a:pPr algn="ctr"/>
                      <a:r>
                        <a:rPr lang="en-US" altLang="zh-CN" sz="2000" b="1" dirty="0"/>
                        <a:t>a[1]</a:t>
                      </a:r>
                      <a:r>
                        <a:rPr lang="en-US" altLang="zh-CN" sz="2000" b="1" kern="1200" dirty="0">
                          <a:solidFill>
                            <a:srgbClr val="FF0000"/>
                          </a:solidFill>
                          <a:latin typeface="+mn-lt"/>
                          <a:ea typeface="+mn-ea"/>
                          <a:cs typeface="+mn-cs"/>
                        </a:rPr>
                        <a:t>[</a:t>
                      </a:r>
                      <a:r>
                        <a:rPr lang="en-US" altLang="zh-CN" sz="2000" b="1" dirty="0"/>
                        <a:t>3</a:t>
                      </a:r>
                      <a:r>
                        <a:rPr lang="en-US" altLang="zh-CN" sz="2000" b="1" kern="1200" dirty="0">
                          <a:solidFill>
                            <a:srgbClr val="FF0000"/>
                          </a:solidFill>
                          <a:latin typeface="+mn-lt"/>
                          <a:ea typeface="+mn-ea"/>
                          <a:cs typeface="+mn-cs"/>
                        </a:rPr>
                        <a:t>]</a:t>
                      </a:r>
                      <a:endParaRPr lang="zh-CN" altLang="en-US" sz="2000" b="1" kern="1200" dirty="0">
                        <a:solidFill>
                          <a:srgbClr val="FF0000"/>
                        </a:solidFill>
                        <a:latin typeface="+mn-lt"/>
                        <a:ea typeface="+mn-ea"/>
                        <a:cs typeface="+mn-cs"/>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35761353"/>
                  </a:ext>
                </a:extLst>
              </a:tr>
            </a:tbl>
          </a:graphicData>
        </a:graphic>
      </p:graphicFrame>
      <p:sp>
        <p:nvSpPr>
          <p:cNvPr id="66" name="Rectangle 2">
            <a:extLst>
              <a:ext uri="{FF2B5EF4-FFF2-40B4-BE49-F238E27FC236}">
                <a16:creationId xmlns:a16="http://schemas.microsoft.com/office/drawing/2014/main" id="{A939CFD5-414A-4509-A767-1047FC91EC19}"/>
              </a:ext>
            </a:extLst>
          </p:cNvPr>
          <p:cNvSpPr txBox="1">
            <a:spLocks noChangeArrowheads="1"/>
          </p:cNvSpPr>
          <p:nvPr/>
        </p:nvSpPr>
        <p:spPr>
          <a:xfrm>
            <a:off x="2593097" y="4727796"/>
            <a:ext cx="1561757" cy="523220"/>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0000FF"/>
                </a:solidFill>
              </a:rPr>
              <a:t>int</a:t>
            </a:r>
            <a:r>
              <a:rPr lang="zh-CN" altLang="en-US" b="1" dirty="0">
                <a:solidFill>
                  <a:srgbClr val="0000FF"/>
                </a:solidFill>
              </a:rPr>
              <a:t> </a:t>
            </a:r>
            <a:r>
              <a:rPr lang="en-US" altLang="zh-CN" b="1" dirty="0"/>
              <a:t>(</a:t>
            </a:r>
            <a:r>
              <a:rPr lang="en-US" altLang="zh-CN" b="1" dirty="0">
                <a:solidFill>
                  <a:srgbClr val="FF0000"/>
                </a:solidFill>
              </a:rPr>
              <a:t>*</a:t>
            </a:r>
            <a:r>
              <a:rPr lang="en-US" altLang="zh-CN" b="1" dirty="0"/>
              <a:t>)</a:t>
            </a:r>
            <a:r>
              <a:rPr lang="en-US" altLang="zh-CN" b="1" dirty="0">
                <a:solidFill>
                  <a:srgbClr val="FF0000"/>
                </a:solidFill>
              </a:rPr>
              <a:t>[</a:t>
            </a:r>
            <a:r>
              <a:rPr lang="en-US" altLang="zh-CN" b="1" dirty="0"/>
              <a:t>4</a:t>
            </a:r>
            <a:r>
              <a:rPr lang="en-US" altLang="zh-CN" b="1" dirty="0">
                <a:solidFill>
                  <a:srgbClr val="FF0000"/>
                </a:solidFill>
              </a:rPr>
              <a:t>]</a:t>
            </a:r>
            <a:r>
              <a:rPr lang="en-US" altLang="zh-CN" b="1" dirty="0"/>
              <a:t> </a:t>
            </a:r>
          </a:p>
        </p:txBody>
      </p:sp>
      <p:sp>
        <p:nvSpPr>
          <p:cNvPr id="67" name="Rectangle 2">
            <a:extLst>
              <a:ext uri="{FF2B5EF4-FFF2-40B4-BE49-F238E27FC236}">
                <a16:creationId xmlns:a16="http://schemas.microsoft.com/office/drawing/2014/main" id="{047D62D7-501D-4A2A-AE6B-47BF9C29B62D}"/>
              </a:ext>
            </a:extLst>
          </p:cNvPr>
          <p:cNvSpPr txBox="1">
            <a:spLocks noChangeArrowheads="1"/>
          </p:cNvSpPr>
          <p:nvPr/>
        </p:nvSpPr>
        <p:spPr>
          <a:xfrm>
            <a:off x="4646963" y="4728638"/>
            <a:ext cx="797561" cy="523220"/>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0000FF"/>
                </a:solidFill>
              </a:rPr>
              <a:t>int</a:t>
            </a:r>
            <a:r>
              <a:rPr lang="en-US" altLang="zh-CN" b="1" dirty="0">
                <a:solidFill>
                  <a:srgbClr val="FF0000"/>
                </a:solidFill>
              </a:rPr>
              <a:t>*</a:t>
            </a:r>
            <a:r>
              <a:rPr lang="en-US" altLang="zh-CN" b="1" dirty="0"/>
              <a:t> </a:t>
            </a:r>
          </a:p>
        </p:txBody>
      </p:sp>
      <p:grpSp>
        <p:nvGrpSpPr>
          <p:cNvPr id="8" name="组合 7">
            <a:extLst>
              <a:ext uri="{FF2B5EF4-FFF2-40B4-BE49-F238E27FC236}">
                <a16:creationId xmlns:a16="http://schemas.microsoft.com/office/drawing/2014/main" id="{85618054-14AE-4303-97E0-C118542AC220}"/>
              </a:ext>
            </a:extLst>
          </p:cNvPr>
          <p:cNvGrpSpPr/>
          <p:nvPr/>
        </p:nvGrpSpPr>
        <p:grpSpPr>
          <a:xfrm>
            <a:off x="209444" y="2377457"/>
            <a:ext cx="2286821" cy="2246769"/>
            <a:chOff x="209444" y="2377457"/>
            <a:chExt cx="2286821" cy="2246769"/>
          </a:xfrm>
        </p:grpSpPr>
        <p:sp>
          <p:nvSpPr>
            <p:cNvPr id="68" name="Rectangle 2">
              <a:extLst>
                <a:ext uri="{FF2B5EF4-FFF2-40B4-BE49-F238E27FC236}">
                  <a16:creationId xmlns:a16="http://schemas.microsoft.com/office/drawing/2014/main" id="{A9ED29EC-E84B-4F81-A1BC-F1FC2FE85C60}"/>
                </a:ext>
              </a:extLst>
            </p:cNvPr>
            <p:cNvSpPr txBox="1">
              <a:spLocks noChangeArrowheads="1"/>
            </p:cNvSpPr>
            <p:nvPr/>
          </p:nvSpPr>
          <p:spPr>
            <a:xfrm>
              <a:off x="209444" y="2377457"/>
              <a:ext cx="2286821" cy="2246769"/>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Font typeface="Arial" panose="020B0604020202020204" pitchFamily="34" charset="0"/>
                <a:buNone/>
              </a:pPr>
              <a:r>
                <a:rPr lang="en-US" altLang="zh-CN" b="1" dirty="0"/>
                <a:t>a</a:t>
              </a:r>
            </a:p>
            <a:p>
              <a:pPr marL="0" indent="0">
                <a:lnSpc>
                  <a:spcPct val="100000"/>
                </a:lnSpc>
                <a:spcBef>
                  <a:spcPct val="0"/>
                </a:spcBef>
                <a:buClr>
                  <a:schemeClr val="tx2"/>
                </a:buClr>
                <a:buSzPct val="70000"/>
                <a:buFont typeface="Arial" panose="020B0604020202020204" pitchFamily="34" charset="0"/>
                <a:buNone/>
              </a:pPr>
              <a:r>
                <a:rPr lang="en-US" altLang="zh-CN" b="1" dirty="0" err="1"/>
                <a:t>a+i</a:t>
              </a:r>
              <a:endParaRPr lang="en-US" altLang="zh-CN" b="1" dirty="0"/>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r>
                <a:rPr lang="en-US" altLang="zh-CN" b="1" dirty="0"/>
                <a:t>a      a</a:t>
              </a:r>
              <a:r>
                <a:rPr lang="en-US" altLang="zh-CN" b="1" dirty="0">
                  <a:solidFill>
                    <a:srgbClr val="FF0000"/>
                  </a:solidFill>
                </a:rPr>
                <a:t>[</a:t>
              </a:r>
              <a:r>
                <a:rPr lang="en-US" altLang="zh-CN" b="1" dirty="0"/>
                <a:t>0</a:t>
              </a:r>
              <a:r>
                <a:rPr lang="en-US" altLang="zh-CN" b="1" dirty="0">
                  <a:solidFill>
                    <a:srgbClr val="FF0000"/>
                  </a:solidFill>
                </a:rPr>
                <a:t>]</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r>
                <a:rPr lang="en-US" altLang="zh-CN" b="1" dirty="0"/>
                <a:t>(</a:t>
              </a:r>
              <a:r>
                <a:rPr lang="en-US" altLang="zh-CN" b="1" dirty="0" err="1"/>
                <a:t>a+i</a:t>
              </a:r>
              <a:r>
                <a:rPr lang="en-US" altLang="zh-CN" b="1" dirty="0"/>
                <a:t>)      a</a:t>
              </a:r>
              <a:r>
                <a:rPr lang="en-US" altLang="zh-CN" b="1" dirty="0">
                  <a:solidFill>
                    <a:srgbClr val="FF0000"/>
                  </a:solidFill>
                </a:rPr>
                <a:t>[</a:t>
              </a:r>
              <a:r>
                <a:rPr lang="en-US" altLang="zh-CN" b="1" dirty="0"/>
                <a:t>i</a:t>
              </a:r>
              <a:r>
                <a:rPr lang="en-US" altLang="zh-CN" b="1" dirty="0">
                  <a:solidFill>
                    <a:srgbClr val="FF0000"/>
                  </a:solidFill>
                </a:rPr>
                <a:t>]</a:t>
              </a:r>
              <a:r>
                <a:rPr lang="en-US" altLang="zh-CN" b="1" dirty="0"/>
                <a:t> </a:t>
              </a:r>
            </a:p>
            <a:p>
              <a:pPr marL="0" indent="0">
                <a:lnSpc>
                  <a:spcPct val="100000"/>
                </a:lnSpc>
                <a:spcBef>
                  <a:spcPct val="0"/>
                </a:spcBef>
                <a:buClr>
                  <a:schemeClr val="tx2"/>
                </a:buClr>
                <a:buSzPct val="70000"/>
                <a:buNone/>
              </a:pPr>
              <a:r>
                <a:rPr lang="en-US" altLang="zh-CN" b="1" dirty="0">
                  <a:solidFill>
                    <a:srgbClr val="FF0000"/>
                  </a:solidFill>
                </a:rPr>
                <a:t>*</a:t>
              </a:r>
              <a:r>
                <a:rPr lang="en-US" altLang="zh-CN" b="1" dirty="0"/>
                <a:t>(</a:t>
              </a:r>
              <a:r>
                <a:rPr lang="en-US" altLang="zh-CN" b="1" dirty="0" err="1"/>
                <a:t>a+i</a:t>
              </a:r>
              <a:r>
                <a:rPr lang="en-US" altLang="zh-CN" b="1" dirty="0"/>
                <a:t>)+j</a:t>
              </a:r>
            </a:p>
          </p:txBody>
        </p:sp>
        <p:sp>
          <p:nvSpPr>
            <p:cNvPr id="70" name="箭头: 左右 69">
              <a:extLst>
                <a:ext uri="{FF2B5EF4-FFF2-40B4-BE49-F238E27FC236}">
                  <a16:creationId xmlns:a16="http://schemas.microsoft.com/office/drawing/2014/main" id="{1AB90A6F-26C6-4DB7-878E-D997D56A3E49}"/>
                </a:ext>
              </a:extLst>
            </p:cNvPr>
            <p:cNvSpPr/>
            <p:nvPr/>
          </p:nvSpPr>
          <p:spPr>
            <a:xfrm>
              <a:off x="707605" y="3422641"/>
              <a:ext cx="464188" cy="197366"/>
            </a:xfrm>
            <a:prstGeom prst="lef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箭头: 左右 71">
              <a:extLst>
                <a:ext uri="{FF2B5EF4-FFF2-40B4-BE49-F238E27FC236}">
                  <a16:creationId xmlns:a16="http://schemas.microsoft.com/office/drawing/2014/main" id="{08DF9D3D-0603-4E60-972A-83E00F81CF2A}"/>
                </a:ext>
              </a:extLst>
            </p:cNvPr>
            <p:cNvSpPr/>
            <p:nvPr/>
          </p:nvSpPr>
          <p:spPr>
            <a:xfrm>
              <a:off x="1276565" y="3849361"/>
              <a:ext cx="482600" cy="197366"/>
            </a:xfrm>
            <a:prstGeom prst="lef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3" name="Rectangle 2">
            <a:extLst>
              <a:ext uri="{FF2B5EF4-FFF2-40B4-BE49-F238E27FC236}">
                <a16:creationId xmlns:a16="http://schemas.microsoft.com/office/drawing/2014/main" id="{083E2B95-B680-4BC4-85E9-531BEBEF9B89}"/>
              </a:ext>
            </a:extLst>
          </p:cNvPr>
          <p:cNvSpPr txBox="1">
            <a:spLocks noChangeArrowheads="1"/>
          </p:cNvSpPr>
          <p:nvPr/>
        </p:nvSpPr>
        <p:spPr>
          <a:xfrm>
            <a:off x="9197574" y="2295455"/>
            <a:ext cx="2286821" cy="2246769"/>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Font typeface="Arial" panose="020B0604020202020204" pitchFamily="34" charset="0"/>
              <a:buNone/>
            </a:pPr>
            <a:r>
              <a:rPr lang="en-US" altLang="zh-CN" b="1" dirty="0" err="1"/>
              <a:t>a+i</a:t>
            </a:r>
            <a:endParaRPr lang="en-US" altLang="zh-CN" b="1" dirty="0"/>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&amp;</a:t>
            </a:r>
            <a:r>
              <a:rPr lang="en-US" altLang="zh-CN" b="1" dirty="0"/>
              <a:t>a</a:t>
            </a:r>
            <a:r>
              <a:rPr lang="en-US" altLang="zh-CN" b="1" dirty="0">
                <a:solidFill>
                  <a:srgbClr val="FF0000"/>
                </a:solidFill>
              </a:rPr>
              <a:t>[</a:t>
            </a:r>
            <a:r>
              <a:rPr lang="en-US" altLang="zh-CN" b="1" dirty="0"/>
              <a:t>i</a:t>
            </a:r>
            <a:r>
              <a:rPr lang="en-US" altLang="zh-CN" b="1" dirty="0">
                <a:solidFill>
                  <a:srgbClr val="FF0000"/>
                </a:solidFill>
              </a:rPr>
              <a:t>]</a:t>
            </a:r>
          </a:p>
          <a:p>
            <a:pPr marL="0" indent="0">
              <a:lnSpc>
                <a:spcPct val="100000"/>
              </a:lnSpc>
              <a:spcBef>
                <a:spcPct val="0"/>
              </a:spcBef>
              <a:buClr>
                <a:schemeClr val="tx2"/>
              </a:buClr>
              <a:buSzPct val="70000"/>
              <a:buNone/>
            </a:pPr>
            <a:r>
              <a:rPr lang="en-US" altLang="zh-CN" b="1" dirty="0"/>
              <a:t>a</a:t>
            </a:r>
            <a:r>
              <a:rPr lang="en-US" altLang="zh-CN" b="1" dirty="0">
                <a:solidFill>
                  <a:srgbClr val="FF0000"/>
                </a:solidFill>
              </a:rPr>
              <a:t>[</a:t>
            </a:r>
            <a:r>
              <a:rPr lang="en-US" altLang="zh-CN" b="1" dirty="0"/>
              <a:t>i</a:t>
            </a:r>
            <a:r>
              <a:rPr lang="en-US" altLang="zh-CN" b="1" dirty="0">
                <a:solidFill>
                  <a:srgbClr val="FF0000"/>
                </a:solidFill>
              </a:rPr>
              <a:t>]</a:t>
            </a:r>
            <a:r>
              <a:rPr lang="en-US" altLang="zh-CN" b="1" dirty="0"/>
              <a:t> </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r>
              <a:rPr lang="en-US" altLang="zh-CN" b="1" dirty="0"/>
              <a:t>(</a:t>
            </a:r>
            <a:r>
              <a:rPr lang="en-US" altLang="zh-CN" b="1" dirty="0" err="1"/>
              <a:t>a+i</a:t>
            </a:r>
            <a:r>
              <a:rPr lang="en-US" altLang="zh-CN" b="1" dirty="0"/>
              <a:t>) </a:t>
            </a:r>
            <a:r>
              <a:rPr lang="en-US" altLang="zh-CN" b="1" dirty="0">
                <a:solidFill>
                  <a:srgbClr val="FF0000"/>
                </a:solidFill>
              </a:rPr>
              <a:t>&amp;</a:t>
            </a:r>
            <a:r>
              <a:rPr lang="en-US" altLang="zh-CN" b="1" dirty="0"/>
              <a:t>a</a:t>
            </a:r>
            <a:r>
              <a:rPr lang="en-US" altLang="zh-CN" b="1" dirty="0">
                <a:solidFill>
                  <a:srgbClr val="FF0000"/>
                </a:solidFill>
              </a:rPr>
              <a:t>[</a:t>
            </a:r>
            <a:r>
              <a:rPr lang="en-US" altLang="zh-CN" b="1" dirty="0"/>
              <a:t>i</a:t>
            </a:r>
            <a:r>
              <a:rPr lang="en-US" altLang="zh-CN" b="1" dirty="0">
                <a:solidFill>
                  <a:srgbClr val="FF0000"/>
                </a:solidFill>
              </a:rPr>
              <a:t>][</a:t>
            </a:r>
            <a:r>
              <a:rPr lang="en-US" altLang="zh-CN" b="1" dirty="0"/>
              <a:t>0</a:t>
            </a:r>
            <a:r>
              <a:rPr lang="en-US" altLang="zh-CN" b="1" dirty="0">
                <a:solidFill>
                  <a:srgbClr val="FF0000"/>
                </a:solidFill>
              </a:rPr>
              <a:t>]</a:t>
            </a:r>
          </a:p>
        </p:txBody>
      </p:sp>
      <p:grpSp>
        <p:nvGrpSpPr>
          <p:cNvPr id="75" name="组合 74">
            <a:extLst>
              <a:ext uri="{FF2B5EF4-FFF2-40B4-BE49-F238E27FC236}">
                <a16:creationId xmlns:a16="http://schemas.microsoft.com/office/drawing/2014/main" id="{5E212DFC-639E-437A-8401-4B1C87F9B29A}"/>
              </a:ext>
            </a:extLst>
          </p:cNvPr>
          <p:cNvGrpSpPr/>
          <p:nvPr/>
        </p:nvGrpSpPr>
        <p:grpSpPr>
          <a:xfrm>
            <a:off x="18616" y="5708420"/>
            <a:ext cx="12259744" cy="584775"/>
            <a:chOff x="-67744" y="1245157"/>
            <a:chExt cx="12259744" cy="584775"/>
          </a:xfrm>
        </p:grpSpPr>
        <p:sp>
          <p:nvSpPr>
            <p:cNvPr id="76" name="矩形 75">
              <a:extLst>
                <a:ext uri="{FF2B5EF4-FFF2-40B4-BE49-F238E27FC236}">
                  <a16:creationId xmlns:a16="http://schemas.microsoft.com/office/drawing/2014/main" id="{B1B959DC-83D2-4FD9-9E75-2ADF47544CB4}"/>
                </a:ext>
              </a:extLst>
            </p:cNvPr>
            <p:cNvSpPr/>
            <p:nvPr/>
          </p:nvSpPr>
          <p:spPr>
            <a:xfrm>
              <a:off x="16777" y="1245157"/>
              <a:ext cx="12175223" cy="584775"/>
            </a:xfrm>
            <a:prstGeom prst="rect">
              <a:avLst/>
            </a:prstGeom>
          </p:spPr>
          <p:txBody>
            <a:bodyPr wrap="square">
              <a:spAutoFit/>
            </a:bodyPr>
            <a:lstStyle/>
            <a:p>
              <a:pPr marL="0" lvl="1"/>
              <a:r>
                <a:rPr lang="zh-CN" altLang="en-US" sz="2400" b="1" dirty="0">
                  <a:latin typeface="隶书" pitchFamily="49" charset="-122"/>
                </a:rPr>
                <a:t>  </a:t>
              </a:r>
              <a:r>
                <a:rPr lang="zh-CN" altLang="en-US" sz="2800" b="1" dirty="0">
                  <a:solidFill>
                    <a:srgbClr val="0000FF"/>
                  </a:solidFill>
                  <a:latin typeface="华文隶书" panose="02010800040101010101" pitchFamily="2" charset="-122"/>
                  <a:ea typeface="华文隶书" panose="02010800040101010101" pitchFamily="2" charset="-122"/>
                </a:rPr>
                <a:t>表示元素</a:t>
              </a:r>
              <a:r>
                <a:rPr lang="en-US" altLang="zh-CN" sz="3200" b="1" dirty="0">
                  <a:solidFill>
                    <a:srgbClr val="0000FF"/>
                  </a:solidFill>
                  <a:latin typeface="+mn-ea"/>
                </a:rPr>
                <a:t>a[i][j]</a:t>
              </a:r>
              <a:r>
                <a:rPr lang="zh-CN" altLang="en-US" sz="2800" b="1" dirty="0">
                  <a:solidFill>
                    <a:srgbClr val="0000FF"/>
                  </a:solidFill>
                  <a:latin typeface="华文隶书" panose="02010800040101010101" pitchFamily="2" charset="-122"/>
                  <a:ea typeface="华文隶书" panose="02010800040101010101" pitchFamily="2" charset="-122"/>
                </a:rPr>
                <a:t>的地址都有哪几种方式？</a:t>
              </a:r>
              <a:endParaRPr lang="zh-CN" altLang="en-US" sz="2400" b="1" dirty="0">
                <a:solidFill>
                  <a:srgbClr val="0000FF"/>
                </a:solidFill>
                <a:latin typeface="华文隶书" panose="02010800040101010101" pitchFamily="2" charset="-122"/>
                <a:ea typeface="华文隶书" panose="02010800040101010101" pitchFamily="2" charset="-122"/>
              </a:endParaRPr>
            </a:p>
          </p:txBody>
        </p:sp>
        <p:pic>
          <p:nvPicPr>
            <p:cNvPr id="77" name="图片 76">
              <a:extLst>
                <a:ext uri="{FF2B5EF4-FFF2-40B4-BE49-F238E27FC236}">
                  <a16:creationId xmlns:a16="http://schemas.microsoft.com/office/drawing/2014/main" id="{B66B1B06-758A-44DD-BE48-0CAF334A23EF}"/>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Lst>
            </a:blip>
            <a:stretch>
              <a:fillRect/>
            </a:stretch>
          </p:blipFill>
          <p:spPr>
            <a:xfrm>
              <a:off x="-67744" y="1308678"/>
              <a:ext cx="487023" cy="487023"/>
            </a:xfrm>
            <a:prstGeom prst="rect">
              <a:avLst/>
            </a:prstGeom>
          </p:spPr>
        </p:pic>
      </p:grpSp>
      <p:sp>
        <p:nvSpPr>
          <p:cNvPr id="78" name="灯片编号占位符 77">
            <a:extLst>
              <a:ext uri="{FF2B5EF4-FFF2-40B4-BE49-F238E27FC236}">
                <a16:creationId xmlns:a16="http://schemas.microsoft.com/office/drawing/2014/main" id="{664CC903-1153-43ED-9B09-71E7049838FB}"/>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22</a:t>
            </a:fld>
            <a:r>
              <a:rPr lang="en-US" altLang="zh-CN">
                <a:solidFill>
                  <a:prstClr val="black">
                    <a:tint val="75000"/>
                  </a:prstClr>
                </a:solidFill>
              </a:rPr>
              <a:t>/ 35</a:t>
            </a:r>
            <a:endParaRPr lang="zh-CN" altLang="en-US" dirty="0"/>
          </a:p>
        </p:txBody>
      </p:sp>
      <p:sp>
        <p:nvSpPr>
          <p:cNvPr id="41" name="文本框 40">
            <a:extLst>
              <a:ext uri="{FF2B5EF4-FFF2-40B4-BE49-F238E27FC236}">
                <a16:creationId xmlns:a16="http://schemas.microsoft.com/office/drawing/2014/main" id="{66196BBC-39BA-420E-B943-F04EBF99FC69}"/>
              </a:ext>
            </a:extLst>
          </p:cNvPr>
          <p:cNvSpPr txBox="1"/>
          <p:nvPr/>
        </p:nvSpPr>
        <p:spPr>
          <a:xfrm>
            <a:off x="2507464" y="-59476"/>
            <a:ext cx="4768993"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指针与二维数组</a:t>
            </a:r>
            <a:endParaRPr lang="zh-CN" altLang="en-US" sz="3200" b="1" dirty="0">
              <a:solidFill>
                <a:srgbClr val="200AC4"/>
              </a:solidFill>
              <a:ea typeface="隶书" pitchFamily="49" charset="-122"/>
            </a:endParaRPr>
          </a:p>
        </p:txBody>
      </p:sp>
      <p:graphicFrame>
        <p:nvGraphicFramePr>
          <p:cNvPr id="65" name="表格 4">
            <a:extLst>
              <a:ext uri="{FF2B5EF4-FFF2-40B4-BE49-F238E27FC236}">
                <a16:creationId xmlns:a16="http://schemas.microsoft.com/office/drawing/2014/main" id="{C25F3018-8089-4E34-82A1-88F59E078A96}"/>
              </a:ext>
            </a:extLst>
          </p:cNvPr>
          <p:cNvGraphicFramePr>
            <a:graphicFrameLocks noGrp="1"/>
          </p:cNvGraphicFramePr>
          <p:nvPr>
            <p:extLst>
              <p:ext uri="{D42A27DB-BD31-4B8C-83A1-F6EECF244321}">
                <p14:modId xmlns:p14="http://schemas.microsoft.com/office/powerpoint/2010/main" val="3288406302"/>
              </p:ext>
            </p:extLst>
          </p:nvPr>
        </p:nvGraphicFramePr>
        <p:xfrm>
          <a:off x="7723176" y="4990248"/>
          <a:ext cx="877264" cy="1469812"/>
        </p:xfrm>
        <a:graphic>
          <a:graphicData uri="http://schemas.openxmlformats.org/drawingml/2006/table">
            <a:tbl>
              <a:tblPr firstRow="1" bandRow="1">
                <a:tableStyleId>{5940675A-B579-460E-94D1-54222C63F5DA}</a:tableStyleId>
              </a:tblPr>
              <a:tblGrid>
                <a:gridCol w="877264">
                  <a:extLst>
                    <a:ext uri="{9D8B030D-6E8A-4147-A177-3AD203B41FA5}">
                      <a16:colId xmlns:a16="http://schemas.microsoft.com/office/drawing/2014/main" val="3578835451"/>
                    </a:ext>
                  </a:extLst>
                </a:gridCol>
              </a:tblGrid>
              <a:tr h="367453">
                <a:tc>
                  <a:txBody>
                    <a:bodyPr/>
                    <a:lstStyle/>
                    <a:p>
                      <a:pPr algn="ctr"/>
                      <a:r>
                        <a:rPr lang="en-US" altLang="zh-CN" sz="2000" b="1" dirty="0"/>
                        <a:t>a[2]</a:t>
                      </a:r>
                      <a:r>
                        <a:rPr lang="en-US" altLang="zh-CN" sz="2000" b="1" kern="1200" dirty="0">
                          <a:solidFill>
                            <a:srgbClr val="FF0000"/>
                          </a:solidFill>
                          <a:latin typeface="+mn-lt"/>
                          <a:ea typeface="+mn-ea"/>
                          <a:cs typeface="+mn-cs"/>
                        </a:rPr>
                        <a:t>[</a:t>
                      </a:r>
                      <a:r>
                        <a:rPr lang="en-US" altLang="zh-CN" sz="2000" b="1" dirty="0"/>
                        <a:t>0</a:t>
                      </a:r>
                      <a:r>
                        <a:rPr lang="en-US" altLang="zh-CN" sz="2000" b="1" kern="1200" dirty="0">
                          <a:solidFill>
                            <a:srgbClr val="FF0000"/>
                          </a:solidFill>
                          <a:latin typeface="+mn-lt"/>
                          <a:ea typeface="+mn-ea"/>
                          <a:cs typeface="+mn-cs"/>
                        </a:rPr>
                        <a:t>]</a:t>
                      </a:r>
                      <a:endParaRPr lang="zh-CN" altLang="en-US" sz="2000" b="1" kern="1200" dirty="0">
                        <a:solidFill>
                          <a:srgbClr val="FF0000"/>
                        </a:solidFill>
                        <a:latin typeface="+mn-lt"/>
                        <a:ea typeface="+mn-ea"/>
                        <a:cs typeface="+mn-cs"/>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71072365"/>
                  </a:ext>
                </a:extLst>
              </a:tr>
              <a:tr h="36745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1" dirty="0"/>
                        <a:t>a[2]</a:t>
                      </a:r>
                      <a:r>
                        <a:rPr lang="en-US" altLang="zh-CN" sz="2000" b="1" kern="1200" dirty="0">
                          <a:solidFill>
                            <a:srgbClr val="FF0000"/>
                          </a:solidFill>
                          <a:latin typeface="+mn-lt"/>
                          <a:ea typeface="+mn-ea"/>
                          <a:cs typeface="+mn-cs"/>
                        </a:rPr>
                        <a:t>[</a:t>
                      </a:r>
                      <a:r>
                        <a:rPr lang="en-US" altLang="zh-CN" sz="2000" b="1" dirty="0"/>
                        <a:t>1</a:t>
                      </a:r>
                      <a:r>
                        <a:rPr lang="en-US" altLang="zh-CN" sz="2000" b="1" kern="1200" dirty="0">
                          <a:solidFill>
                            <a:srgbClr val="FF0000"/>
                          </a:solidFill>
                          <a:latin typeface="+mn-lt"/>
                          <a:ea typeface="+mn-ea"/>
                          <a:cs typeface="+mn-cs"/>
                        </a:rPr>
                        <a:t>]</a:t>
                      </a:r>
                      <a:endParaRPr lang="zh-CN" altLang="en-US" sz="2000" b="1" kern="1200" dirty="0">
                        <a:solidFill>
                          <a:srgbClr val="FF0000"/>
                        </a:solidFill>
                        <a:latin typeface="+mn-lt"/>
                        <a:ea typeface="+mn-ea"/>
                        <a:cs typeface="+mn-cs"/>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4738251"/>
                  </a:ext>
                </a:extLst>
              </a:tr>
              <a:tr h="367453">
                <a:tc>
                  <a:txBody>
                    <a:bodyPr/>
                    <a:lstStyle/>
                    <a:p>
                      <a:pPr algn="ctr"/>
                      <a:r>
                        <a:rPr lang="en-US" altLang="zh-CN" sz="2000" b="1" dirty="0"/>
                        <a:t>a[2]</a:t>
                      </a:r>
                      <a:r>
                        <a:rPr lang="en-US" altLang="zh-CN" sz="2000" b="1" kern="1200" dirty="0">
                          <a:solidFill>
                            <a:srgbClr val="FF0000"/>
                          </a:solidFill>
                          <a:latin typeface="+mn-lt"/>
                          <a:ea typeface="+mn-ea"/>
                          <a:cs typeface="+mn-cs"/>
                        </a:rPr>
                        <a:t>[</a:t>
                      </a:r>
                      <a:r>
                        <a:rPr lang="en-US" altLang="zh-CN" sz="2000" b="1" dirty="0"/>
                        <a:t>2</a:t>
                      </a:r>
                      <a:r>
                        <a:rPr lang="en-US" altLang="zh-CN" sz="2000" b="1" kern="1200" dirty="0">
                          <a:solidFill>
                            <a:srgbClr val="FF0000"/>
                          </a:solidFill>
                          <a:latin typeface="+mn-lt"/>
                          <a:ea typeface="+mn-ea"/>
                          <a:cs typeface="+mn-cs"/>
                        </a:rPr>
                        <a:t>]</a:t>
                      </a:r>
                      <a:endParaRPr lang="zh-CN" altLang="en-US" sz="2000" b="1" kern="1200" dirty="0">
                        <a:solidFill>
                          <a:srgbClr val="FF0000"/>
                        </a:solidFill>
                        <a:latin typeface="+mn-lt"/>
                        <a:ea typeface="+mn-ea"/>
                        <a:cs typeface="+mn-cs"/>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192871294"/>
                  </a:ext>
                </a:extLst>
              </a:tr>
              <a:tr h="367453">
                <a:tc>
                  <a:txBody>
                    <a:bodyPr/>
                    <a:lstStyle/>
                    <a:p>
                      <a:pPr algn="ctr"/>
                      <a:r>
                        <a:rPr lang="en-US" altLang="zh-CN" sz="2000" b="1" dirty="0"/>
                        <a:t>a[2]</a:t>
                      </a:r>
                      <a:r>
                        <a:rPr lang="en-US" altLang="zh-CN" sz="2000" b="1" dirty="0">
                          <a:solidFill>
                            <a:srgbClr val="FF0000"/>
                          </a:solidFill>
                        </a:rPr>
                        <a:t>[</a:t>
                      </a:r>
                      <a:r>
                        <a:rPr lang="en-US" altLang="zh-CN" sz="2000" b="1" dirty="0"/>
                        <a:t>3</a:t>
                      </a:r>
                      <a:r>
                        <a:rPr lang="en-US" altLang="zh-CN" sz="2000" b="1" dirty="0">
                          <a:solidFill>
                            <a:srgbClr val="FF0000"/>
                          </a:solidFill>
                        </a:rPr>
                        <a:t>]</a:t>
                      </a:r>
                      <a:endParaRPr lang="zh-CN" altLang="en-US" sz="2000" b="1" dirty="0">
                        <a:solidFill>
                          <a:srgbClr val="FF0000"/>
                        </a:solidFill>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35761353"/>
                  </a:ext>
                </a:extLst>
              </a:tr>
            </a:tbl>
          </a:graphicData>
        </a:graphic>
      </p:graphicFrame>
    </p:spTree>
    <p:extLst>
      <p:ext uri="{BB962C8B-B14F-4D97-AF65-F5344CB8AC3E}">
        <p14:creationId xmlns:p14="http://schemas.microsoft.com/office/powerpoint/2010/main" val="2488148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60"/>
                                        </p:tgtEl>
                                        <p:attrNameLst>
                                          <p:attrName>style.visibility</p:attrName>
                                        </p:attrNameLst>
                                      </p:cBhvr>
                                      <p:to>
                                        <p:strVal val="visible"/>
                                      </p:to>
                                    </p:set>
                                    <p:anim calcmode="lin" valueType="num">
                                      <p:cBhvr additive="base">
                                        <p:cTn id="7" dur="500" fill="hold"/>
                                        <p:tgtEl>
                                          <p:spTgt spid="60"/>
                                        </p:tgtEl>
                                        <p:attrNameLst>
                                          <p:attrName>ppt_x</p:attrName>
                                        </p:attrNameLst>
                                      </p:cBhvr>
                                      <p:tavLst>
                                        <p:tav tm="0">
                                          <p:val>
                                            <p:strVal val="0-#ppt_w/2"/>
                                          </p:val>
                                        </p:tav>
                                        <p:tav tm="100000">
                                          <p:val>
                                            <p:strVal val="#ppt_x"/>
                                          </p:val>
                                        </p:tav>
                                      </p:tavLst>
                                    </p:anim>
                                    <p:anim calcmode="lin" valueType="num">
                                      <p:cBhvr additive="base">
                                        <p:cTn id="8" dur="500" fill="hold"/>
                                        <p:tgtEl>
                                          <p:spTgt spid="6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wipe(left)">
                                      <p:cBhvr>
                                        <p:cTn id="23" dur="5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wipe(left)">
                                      <p:cBhvr>
                                        <p:cTn id="28" dur="500"/>
                                        <p:tgtEl>
                                          <p:spTgt spid="7"/>
                                        </p:tgtEl>
                                      </p:cBhvr>
                                    </p:animEffect>
                                  </p:childTnLst>
                                </p:cTn>
                              </p:par>
                            </p:childTnLst>
                          </p:cTn>
                        </p:par>
                        <p:par>
                          <p:cTn id="29" fill="hold">
                            <p:stCondLst>
                              <p:cond delay="500"/>
                            </p:stCondLst>
                            <p:childTnLst>
                              <p:par>
                                <p:cTn id="30" presetID="1" presetClass="entr" presetSubtype="0" fill="hold" grpId="0" nodeType="afterEffect">
                                  <p:stCondLst>
                                    <p:cond delay="0"/>
                                  </p:stCondLst>
                                  <p:childTnLst>
                                    <p:set>
                                      <p:cBhvr>
                                        <p:cTn id="31" dur="1" fill="hold">
                                          <p:stCondLst>
                                            <p:cond delay="0"/>
                                          </p:stCondLst>
                                        </p:cTn>
                                        <p:tgtEl>
                                          <p:spTgt spid="32"/>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4"/>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33"/>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10"/>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34"/>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11"/>
                                        </p:tgtEl>
                                        <p:attrNameLst>
                                          <p:attrName>style.visibility</p:attrName>
                                        </p:attrNameLst>
                                      </p:cBhvr>
                                      <p:to>
                                        <p:strVal val="visible"/>
                                      </p:to>
                                    </p:set>
                                  </p:childTnLst>
                                </p:cTn>
                              </p:par>
                            </p:childTnLst>
                          </p:cTn>
                        </p:par>
                        <p:par>
                          <p:cTn id="42" fill="hold">
                            <p:stCondLst>
                              <p:cond delay="500"/>
                            </p:stCondLst>
                            <p:childTnLst>
                              <p:par>
                                <p:cTn id="43" presetID="1" presetClass="entr" presetSubtype="0" fill="hold" nodeType="afterEffect">
                                  <p:stCondLst>
                                    <p:cond delay="0"/>
                                  </p:stCondLst>
                                  <p:childTnLst>
                                    <p:set>
                                      <p:cBhvr>
                                        <p:cTn id="44" dur="1" fill="hold">
                                          <p:stCondLst>
                                            <p:cond delay="0"/>
                                          </p:stCondLst>
                                        </p:cTn>
                                        <p:tgtEl>
                                          <p:spTgt spid="9"/>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64"/>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6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47" presetClass="entr" presetSubtype="0" fill="hold" grpId="0" nodeType="clickEffect">
                                  <p:stCondLst>
                                    <p:cond delay="0"/>
                                  </p:stCondLst>
                                  <p:childTnLst>
                                    <p:set>
                                      <p:cBhvr>
                                        <p:cTn id="52" dur="1" fill="hold">
                                          <p:stCondLst>
                                            <p:cond delay="0"/>
                                          </p:stCondLst>
                                        </p:cTn>
                                        <p:tgtEl>
                                          <p:spTgt spid="61"/>
                                        </p:tgtEl>
                                        <p:attrNameLst>
                                          <p:attrName>style.visibility</p:attrName>
                                        </p:attrNameLst>
                                      </p:cBhvr>
                                      <p:to>
                                        <p:strVal val="visible"/>
                                      </p:to>
                                    </p:set>
                                    <p:animEffect transition="in" filter="fade">
                                      <p:cBhvr>
                                        <p:cTn id="53" dur="1000"/>
                                        <p:tgtEl>
                                          <p:spTgt spid="61"/>
                                        </p:tgtEl>
                                      </p:cBhvr>
                                    </p:animEffect>
                                    <p:anim calcmode="lin" valueType="num">
                                      <p:cBhvr>
                                        <p:cTn id="54" dur="1000" fill="hold"/>
                                        <p:tgtEl>
                                          <p:spTgt spid="61"/>
                                        </p:tgtEl>
                                        <p:attrNameLst>
                                          <p:attrName>ppt_x</p:attrName>
                                        </p:attrNameLst>
                                      </p:cBhvr>
                                      <p:tavLst>
                                        <p:tav tm="0">
                                          <p:val>
                                            <p:strVal val="#ppt_x"/>
                                          </p:val>
                                        </p:tav>
                                        <p:tav tm="100000">
                                          <p:val>
                                            <p:strVal val="#ppt_x"/>
                                          </p:val>
                                        </p:tav>
                                      </p:tavLst>
                                    </p:anim>
                                    <p:anim calcmode="lin" valueType="num">
                                      <p:cBhvr>
                                        <p:cTn id="55" dur="1000" fill="hold"/>
                                        <p:tgtEl>
                                          <p:spTgt spid="61"/>
                                        </p:tgtEl>
                                        <p:attrNameLst>
                                          <p:attrName>ppt_y</p:attrName>
                                        </p:attrNameLst>
                                      </p:cBhvr>
                                      <p:tavLst>
                                        <p:tav tm="0">
                                          <p:val>
                                            <p:strVal val="#ppt_y-.1"/>
                                          </p:val>
                                        </p:tav>
                                        <p:tav tm="100000">
                                          <p:val>
                                            <p:strVal val="#ppt_y"/>
                                          </p:val>
                                        </p:tav>
                                      </p:tavLst>
                                    </p:anim>
                                  </p:childTnLst>
                                </p:cTn>
                              </p:par>
                              <p:par>
                                <p:cTn id="56" presetID="47" presetClass="entr" presetSubtype="0" fill="hold" grpId="0" nodeType="withEffect">
                                  <p:stCondLst>
                                    <p:cond delay="0"/>
                                  </p:stCondLst>
                                  <p:childTnLst>
                                    <p:set>
                                      <p:cBhvr>
                                        <p:cTn id="57" dur="1" fill="hold">
                                          <p:stCondLst>
                                            <p:cond delay="0"/>
                                          </p:stCondLst>
                                        </p:cTn>
                                        <p:tgtEl>
                                          <p:spTgt spid="62"/>
                                        </p:tgtEl>
                                        <p:attrNameLst>
                                          <p:attrName>style.visibility</p:attrName>
                                        </p:attrNameLst>
                                      </p:cBhvr>
                                      <p:to>
                                        <p:strVal val="visible"/>
                                      </p:to>
                                    </p:set>
                                    <p:animEffect transition="in" filter="fade">
                                      <p:cBhvr>
                                        <p:cTn id="58" dur="1000"/>
                                        <p:tgtEl>
                                          <p:spTgt spid="62"/>
                                        </p:tgtEl>
                                      </p:cBhvr>
                                    </p:animEffect>
                                    <p:anim calcmode="lin" valueType="num">
                                      <p:cBhvr>
                                        <p:cTn id="59" dur="1000" fill="hold"/>
                                        <p:tgtEl>
                                          <p:spTgt spid="62"/>
                                        </p:tgtEl>
                                        <p:attrNameLst>
                                          <p:attrName>ppt_x</p:attrName>
                                        </p:attrNameLst>
                                      </p:cBhvr>
                                      <p:tavLst>
                                        <p:tav tm="0">
                                          <p:val>
                                            <p:strVal val="#ppt_x"/>
                                          </p:val>
                                        </p:tav>
                                        <p:tav tm="100000">
                                          <p:val>
                                            <p:strVal val="#ppt_x"/>
                                          </p:val>
                                        </p:tav>
                                      </p:tavLst>
                                    </p:anim>
                                    <p:anim calcmode="lin" valueType="num">
                                      <p:cBhvr>
                                        <p:cTn id="60" dur="1000" fill="hold"/>
                                        <p:tgtEl>
                                          <p:spTgt spid="62"/>
                                        </p:tgtEl>
                                        <p:attrNameLst>
                                          <p:attrName>ppt_y</p:attrName>
                                        </p:attrNameLst>
                                      </p:cBhvr>
                                      <p:tavLst>
                                        <p:tav tm="0">
                                          <p:val>
                                            <p:strVal val="#ppt_y-.1"/>
                                          </p:val>
                                        </p:tav>
                                        <p:tav tm="100000">
                                          <p:val>
                                            <p:strVal val="#ppt_y"/>
                                          </p:val>
                                        </p:tav>
                                      </p:tavLst>
                                    </p:anim>
                                  </p:childTnLst>
                                </p:cTn>
                              </p:par>
                              <p:par>
                                <p:cTn id="61" presetID="47" presetClass="entr" presetSubtype="0" fill="hold" grpId="0" nodeType="withEffect">
                                  <p:stCondLst>
                                    <p:cond delay="0"/>
                                  </p:stCondLst>
                                  <p:childTnLst>
                                    <p:set>
                                      <p:cBhvr>
                                        <p:cTn id="62" dur="1" fill="hold">
                                          <p:stCondLst>
                                            <p:cond delay="0"/>
                                          </p:stCondLst>
                                        </p:cTn>
                                        <p:tgtEl>
                                          <p:spTgt spid="63"/>
                                        </p:tgtEl>
                                        <p:attrNameLst>
                                          <p:attrName>style.visibility</p:attrName>
                                        </p:attrNameLst>
                                      </p:cBhvr>
                                      <p:to>
                                        <p:strVal val="visible"/>
                                      </p:to>
                                    </p:set>
                                    <p:animEffect transition="in" filter="fade">
                                      <p:cBhvr>
                                        <p:cTn id="63" dur="1000"/>
                                        <p:tgtEl>
                                          <p:spTgt spid="63"/>
                                        </p:tgtEl>
                                      </p:cBhvr>
                                    </p:animEffect>
                                    <p:anim calcmode="lin" valueType="num">
                                      <p:cBhvr>
                                        <p:cTn id="64" dur="1000" fill="hold"/>
                                        <p:tgtEl>
                                          <p:spTgt spid="63"/>
                                        </p:tgtEl>
                                        <p:attrNameLst>
                                          <p:attrName>ppt_x</p:attrName>
                                        </p:attrNameLst>
                                      </p:cBhvr>
                                      <p:tavLst>
                                        <p:tav tm="0">
                                          <p:val>
                                            <p:strVal val="#ppt_x"/>
                                          </p:val>
                                        </p:tav>
                                        <p:tav tm="100000">
                                          <p:val>
                                            <p:strVal val="#ppt_x"/>
                                          </p:val>
                                        </p:tav>
                                      </p:tavLst>
                                    </p:anim>
                                    <p:anim calcmode="lin" valueType="num">
                                      <p:cBhvr>
                                        <p:cTn id="65" dur="1000" fill="hold"/>
                                        <p:tgtEl>
                                          <p:spTgt spid="63"/>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67"/>
                                        </p:tgtEl>
                                        <p:attrNameLst>
                                          <p:attrName>style.visibility</p:attrName>
                                        </p:attrNameLst>
                                      </p:cBhvr>
                                      <p:to>
                                        <p:strVal val="visible"/>
                                      </p:to>
                                    </p:set>
                                    <p:animEffect transition="in" filter="fade">
                                      <p:cBhvr>
                                        <p:cTn id="70" dur="1000"/>
                                        <p:tgtEl>
                                          <p:spTgt spid="67"/>
                                        </p:tgtEl>
                                      </p:cBhvr>
                                    </p:animEffect>
                                    <p:anim calcmode="lin" valueType="num">
                                      <p:cBhvr>
                                        <p:cTn id="71" dur="1000" fill="hold"/>
                                        <p:tgtEl>
                                          <p:spTgt spid="67"/>
                                        </p:tgtEl>
                                        <p:attrNameLst>
                                          <p:attrName>ppt_x</p:attrName>
                                        </p:attrNameLst>
                                      </p:cBhvr>
                                      <p:tavLst>
                                        <p:tav tm="0">
                                          <p:val>
                                            <p:strVal val="#ppt_x"/>
                                          </p:val>
                                        </p:tav>
                                        <p:tav tm="100000">
                                          <p:val>
                                            <p:strVal val="#ppt_x"/>
                                          </p:val>
                                        </p:tav>
                                      </p:tavLst>
                                    </p:anim>
                                    <p:anim calcmode="lin" valueType="num">
                                      <p:cBhvr>
                                        <p:cTn id="72" dur="1000" fill="hold"/>
                                        <p:tgtEl>
                                          <p:spTgt spid="67"/>
                                        </p:tgtEl>
                                        <p:attrNameLst>
                                          <p:attrName>ppt_y</p:attrName>
                                        </p:attrNameLst>
                                      </p:cBhvr>
                                      <p:tavLst>
                                        <p:tav tm="0">
                                          <p:val>
                                            <p:strVal val="#ppt_y+.1"/>
                                          </p:val>
                                        </p:tav>
                                        <p:tav tm="100000">
                                          <p:val>
                                            <p:strVal val="#ppt_y"/>
                                          </p:val>
                                        </p:tav>
                                      </p:tavLst>
                                    </p:anim>
                                  </p:childTnLst>
                                </p:cTn>
                              </p:par>
                              <p:par>
                                <p:cTn id="73" presetID="42" presetClass="entr" presetSubtype="0" fill="hold" grpId="0" nodeType="withEffect">
                                  <p:stCondLst>
                                    <p:cond delay="0"/>
                                  </p:stCondLst>
                                  <p:childTnLst>
                                    <p:set>
                                      <p:cBhvr>
                                        <p:cTn id="74" dur="1" fill="hold">
                                          <p:stCondLst>
                                            <p:cond delay="0"/>
                                          </p:stCondLst>
                                        </p:cTn>
                                        <p:tgtEl>
                                          <p:spTgt spid="66"/>
                                        </p:tgtEl>
                                        <p:attrNameLst>
                                          <p:attrName>style.visibility</p:attrName>
                                        </p:attrNameLst>
                                      </p:cBhvr>
                                      <p:to>
                                        <p:strVal val="visible"/>
                                      </p:to>
                                    </p:set>
                                    <p:animEffect transition="in" filter="fade">
                                      <p:cBhvr>
                                        <p:cTn id="75" dur="1000"/>
                                        <p:tgtEl>
                                          <p:spTgt spid="66"/>
                                        </p:tgtEl>
                                      </p:cBhvr>
                                    </p:animEffect>
                                    <p:anim calcmode="lin" valueType="num">
                                      <p:cBhvr>
                                        <p:cTn id="76" dur="1000" fill="hold"/>
                                        <p:tgtEl>
                                          <p:spTgt spid="66"/>
                                        </p:tgtEl>
                                        <p:attrNameLst>
                                          <p:attrName>ppt_x</p:attrName>
                                        </p:attrNameLst>
                                      </p:cBhvr>
                                      <p:tavLst>
                                        <p:tav tm="0">
                                          <p:val>
                                            <p:strVal val="#ppt_x"/>
                                          </p:val>
                                        </p:tav>
                                        <p:tav tm="100000">
                                          <p:val>
                                            <p:strVal val="#ppt_x"/>
                                          </p:val>
                                        </p:tav>
                                      </p:tavLst>
                                    </p:anim>
                                    <p:anim calcmode="lin" valueType="num">
                                      <p:cBhvr>
                                        <p:cTn id="77" dur="1000" fill="hold"/>
                                        <p:tgtEl>
                                          <p:spTgt spid="66"/>
                                        </p:tgtEl>
                                        <p:attrNameLst>
                                          <p:attrName>ppt_y</p:attrName>
                                        </p:attrNameLst>
                                      </p:cBhvr>
                                      <p:tavLst>
                                        <p:tav tm="0">
                                          <p:val>
                                            <p:strVal val="#ppt_y+.1"/>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2" presetClass="entr" presetSubtype="8" fill="hold" nodeType="clickEffect">
                                  <p:stCondLst>
                                    <p:cond delay="0"/>
                                  </p:stCondLst>
                                  <p:childTnLst>
                                    <p:set>
                                      <p:cBhvr>
                                        <p:cTn id="81" dur="1" fill="hold">
                                          <p:stCondLst>
                                            <p:cond delay="0"/>
                                          </p:stCondLst>
                                        </p:cTn>
                                        <p:tgtEl>
                                          <p:spTgt spid="8"/>
                                        </p:tgtEl>
                                        <p:attrNameLst>
                                          <p:attrName>style.visibility</p:attrName>
                                        </p:attrNameLst>
                                      </p:cBhvr>
                                      <p:to>
                                        <p:strVal val="visible"/>
                                      </p:to>
                                    </p:set>
                                    <p:anim calcmode="lin" valueType="num">
                                      <p:cBhvr additive="base">
                                        <p:cTn id="82" dur="500" fill="hold"/>
                                        <p:tgtEl>
                                          <p:spTgt spid="8"/>
                                        </p:tgtEl>
                                        <p:attrNameLst>
                                          <p:attrName>ppt_x</p:attrName>
                                        </p:attrNameLst>
                                      </p:cBhvr>
                                      <p:tavLst>
                                        <p:tav tm="0">
                                          <p:val>
                                            <p:strVal val="0-#ppt_w/2"/>
                                          </p:val>
                                        </p:tav>
                                        <p:tav tm="100000">
                                          <p:val>
                                            <p:strVal val="#ppt_x"/>
                                          </p:val>
                                        </p:tav>
                                      </p:tavLst>
                                    </p:anim>
                                    <p:anim calcmode="lin" valueType="num">
                                      <p:cBhvr additive="base">
                                        <p:cTn id="83"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84" fill="hold">
                      <p:stCondLst>
                        <p:cond delay="indefinite"/>
                      </p:stCondLst>
                      <p:childTnLst>
                        <p:par>
                          <p:cTn id="85" fill="hold">
                            <p:stCondLst>
                              <p:cond delay="0"/>
                            </p:stCondLst>
                            <p:childTnLst>
                              <p:par>
                                <p:cTn id="86" presetID="2" presetClass="entr" presetSubtype="2" fill="hold" grpId="0" nodeType="clickEffect">
                                  <p:stCondLst>
                                    <p:cond delay="0"/>
                                  </p:stCondLst>
                                  <p:childTnLst>
                                    <p:set>
                                      <p:cBhvr>
                                        <p:cTn id="87" dur="1" fill="hold">
                                          <p:stCondLst>
                                            <p:cond delay="0"/>
                                          </p:stCondLst>
                                        </p:cTn>
                                        <p:tgtEl>
                                          <p:spTgt spid="73"/>
                                        </p:tgtEl>
                                        <p:attrNameLst>
                                          <p:attrName>style.visibility</p:attrName>
                                        </p:attrNameLst>
                                      </p:cBhvr>
                                      <p:to>
                                        <p:strVal val="visible"/>
                                      </p:to>
                                    </p:set>
                                    <p:anim calcmode="lin" valueType="num">
                                      <p:cBhvr additive="base">
                                        <p:cTn id="88" dur="500" fill="hold"/>
                                        <p:tgtEl>
                                          <p:spTgt spid="73"/>
                                        </p:tgtEl>
                                        <p:attrNameLst>
                                          <p:attrName>ppt_x</p:attrName>
                                        </p:attrNameLst>
                                      </p:cBhvr>
                                      <p:tavLst>
                                        <p:tav tm="0">
                                          <p:val>
                                            <p:strVal val="1+#ppt_w/2"/>
                                          </p:val>
                                        </p:tav>
                                        <p:tav tm="100000">
                                          <p:val>
                                            <p:strVal val="#ppt_x"/>
                                          </p:val>
                                        </p:tav>
                                      </p:tavLst>
                                    </p:anim>
                                    <p:anim calcmode="lin" valueType="num">
                                      <p:cBhvr additive="base">
                                        <p:cTn id="89" dur="500" fill="hold"/>
                                        <p:tgtEl>
                                          <p:spTgt spid="73"/>
                                        </p:tgtEl>
                                        <p:attrNameLst>
                                          <p:attrName>ppt_y</p:attrName>
                                        </p:attrNameLst>
                                      </p:cBhvr>
                                      <p:tavLst>
                                        <p:tav tm="0">
                                          <p:val>
                                            <p:strVal val="#ppt_y"/>
                                          </p:val>
                                        </p:tav>
                                        <p:tav tm="100000">
                                          <p:val>
                                            <p:strVal val="#ppt_y"/>
                                          </p:val>
                                        </p:tav>
                                      </p:tavLst>
                                    </p:anim>
                                  </p:childTnLst>
                                </p:cTn>
                              </p:par>
                            </p:childTnLst>
                          </p:cTn>
                        </p:par>
                      </p:childTnLst>
                    </p:cTn>
                  </p:par>
                  <p:par>
                    <p:cTn id="90" fill="hold">
                      <p:stCondLst>
                        <p:cond delay="indefinite"/>
                      </p:stCondLst>
                      <p:childTnLst>
                        <p:par>
                          <p:cTn id="91" fill="hold">
                            <p:stCondLst>
                              <p:cond delay="0"/>
                            </p:stCondLst>
                            <p:childTnLst>
                              <p:par>
                                <p:cTn id="92" presetID="42" presetClass="entr" presetSubtype="0" fill="hold" nodeType="clickEffect">
                                  <p:stCondLst>
                                    <p:cond delay="0"/>
                                  </p:stCondLst>
                                  <p:childTnLst>
                                    <p:set>
                                      <p:cBhvr>
                                        <p:cTn id="93" dur="1" fill="hold">
                                          <p:stCondLst>
                                            <p:cond delay="0"/>
                                          </p:stCondLst>
                                        </p:cTn>
                                        <p:tgtEl>
                                          <p:spTgt spid="75"/>
                                        </p:tgtEl>
                                        <p:attrNameLst>
                                          <p:attrName>style.visibility</p:attrName>
                                        </p:attrNameLst>
                                      </p:cBhvr>
                                      <p:to>
                                        <p:strVal val="visible"/>
                                      </p:to>
                                    </p:set>
                                    <p:animEffect transition="in" filter="fade">
                                      <p:cBhvr>
                                        <p:cTn id="94" dur="1000"/>
                                        <p:tgtEl>
                                          <p:spTgt spid="75"/>
                                        </p:tgtEl>
                                      </p:cBhvr>
                                    </p:animEffect>
                                    <p:anim calcmode="lin" valueType="num">
                                      <p:cBhvr>
                                        <p:cTn id="95" dur="1000" fill="hold"/>
                                        <p:tgtEl>
                                          <p:spTgt spid="75"/>
                                        </p:tgtEl>
                                        <p:attrNameLst>
                                          <p:attrName>ppt_x</p:attrName>
                                        </p:attrNameLst>
                                      </p:cBhvr>
                                      <p:tavLst>
                                        <p:tav tm="0">
                                          <p:val>
                                            <p:strVal val="#ppt_x"/>
                                          </p:val>
                                        </p:tav>
                                        <p:tav tm="100000">
                                          <p:val>
                                            <p:strVal val="#ppt_x"/>
                                          </p:val>
                                        </p:tav>
                                      </p:tavLst>
                                    </p:anim>
                                    <p:anim calcmode="lin" valueType="num">
                                      <p:cBhvr>
                                        <p:cTn id="96" dur="1000" fill="hold"/>
                                        <p:tgtEl>
                                          <p:spTgt spid="7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3" grpId="0"/>
      <p:bldP spid="34" grpId="0"/>
      <p:bldP spid="47" grpId="0"/>
      <p:bldP spid="60" grpId="0" animBg="1"/>
      <p:bldP spid="61" grpId="0"/>
      <p:bldP spid="62" grpId="0"/>
      <p:bldP spid="63" grpId="0"/>
      <p:bldP spid="66" grpId="0" animBg="1"/>
      <p:bldP spid="67" grpId="0" animBg="1"/>
      <p:bldP spid="7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2794AD43-9791-4443-8FEE-9CC9EFBCF834}"/>
              </a:ext>
            </a:extLst>
          </p:cNvPr>
          <p:cNvSpPr/>
          <p:nvPr/>
        </p:nvSpPr>
        <p:spPr>
          <a:xfrm>
            <a:off x="4591" y="583341"/>
            <a:ext cx="12158444" cy="954107"/>
          </a:xfrm>
          <a:prstGeom prst="rect">
            <a:avLst/>
          </a:prstGeom>
        </p:spPr>
        <p:txBody>
          <a:bodyPr wrap="square">
            <a:spAutoFit/>
          </a:bodyPr>
          <a:lstStyle/>
          <a:p>
            <a:pPr marL="0" lvl="1"/>
            <a:r>
              <a:rPr lang="zh-CN" altLang="en-US" sz="2800" b="1" dirty="0">
                <a:latin typeface="隶书" pitchFamily="49" charset="-122"/>
              </a:rPr>
              <a:t>在</a:t>
            </a:r>
            <a:r>
              <a:rPr lang="en-US" altLang="zh-CN" sz="2800" b="1" dirty="0">
                <a:latin typeface="隶书" pitchFamily="49" charset="-122"/>
              </a:rPr>
              <a:t>C</a:t>
            </a:r>
            <a:r>
              <a:rPr lang="zh-CN" altLang="en-US" sz="2800" b="1" dirty="0">
                <a:latin typeface="隶书" pitchFamily="49" charset="-122"/>
              </a:rPr>
              <a:t>语言中，可以定义一个指向一维数组的指针变量</a:t>
            </a:r>
            <a:r>
              <a:rPr lang="en-US" altLang="zh-CN" sz="2800" b="1" dirty="0">
                <a:latin typeface="隶书" pitchFamily="49" charset="-122"/>
              </a:rPr>
              <a:t>(</a:t>
            </a:r>
            <a:r>
              <a:rPr lang="zh-CN" altLang="en-US" sz="2800" b="1" dirty="0">
                <a:latin typeface="隶书" pitchFamily="49" charset="-122"/>
              </a:rPr>
              <a:t>又称为</a:t>
            </a:r>
            <a:r>
              <a:rPr lang="zh-CN" altLang="en-US" sz="2800" b="1" dirty="0">
                <a:solidFill>
                  <a:srgbClr val="00B0F0"/>
                </a:solidFill>
                <a:latin typeface="隶书" pitchFamily="49" charset="-122"/>
              </a:rPr>
              <a:t>数组指针变量</a:t>
            </a:r>
            <a:r>
              <a:rPr lang="zh-CN" altLang="en-US" sz="2800" b="1" dirty="0">
                <a:latin typeface="隶书" pitchFamily="49" charset="-122"/>
              </a:rPr>
              <a:t>或</a:t>
            </a:r>
            <a:r>
              <a:rPr lang="zh-CN" altLang="en-US" sz="2800" b="1" dirty="0">
                <a:solidFill>
                  <a:srgbClr val="00B0F0"/>
                </a:solidFill>
                <a:latin typeface="隶书" pitchFamily="49" charset="-122"/>
              </a:rPr>
              <a:t>行指针变量</a:t>
            </a:r>
            <a:r>
              <a:rPr lang="en-US" altLang="zh-CN" sz="2800" b="1" dirty="0">
                <a:latin typeface="隶书" pitchFamily="49" charset="-122"/>
              </a:rPr>
              <a:t>)</a:t>
            </a:r>
            <a:r>
              <a:rPr lang="zh-CN" altLang="en-US" sz="2800" b="1" dirty="0">
                <a:latin typeface="隶书" pitchFamily="49" charset="-122"/>
              </a:rPr>
              <a:t>。</a:t>
            </a:r>
          </a:p>
        </p:txBody>
      </p:sp>
      <p:sp>
        <p:nvSpPr>
          <p:cNvPr id="5" name="矩形 4">
            <a:extLst>
              <a:ext uri="{FF2B5EF4-FFF2-40B4-BE49-F238E27FC236}">
                <a16:creationId xmlns:a16="http://schemas.microsoft.com/office/drawing/2014/main" id="{D5162109-C5F6-44F6-8D2E-63BE2EAB9E0C}"/>
              </a:ext>
            </a:extLst>
          </p:cNvPr>
          <p:cNvSpPr/>
          <p:nvPr/>
        </p:nvSpPr>
        <p:spPr>
          <a:xfrm>
            <a:off x="135467" y="3183467"/>
            <a:ext cx="12027568" cy="1384995"/>
          </a:xfrm>
          <a:prstGeom prst="rect">
            <a:avLst/>
          </a:prstGeom>
        </p:spPr>
        <p:txBody>
          <a:bodyPr wrap="square">
            <a:spAutoFit/>
          </a:bodyPr>
          <a:lstStyle/>
          <a:p>
            <a:pPr marL="0" lvl="1"/>
            <a:r>
              <a:rPr lang="zh-CN" altLang="en-US" sz="2800" b="1" dirty="0">
                <a:latin typeface="隶书" panose="02010509060101010101" pitchFamily="49" charset="-122"/>
                <a:ea typeface="隶书" panose="02010509060101010101" pitchFamily="49" charset="-122"/>
              </a:rPr>
              <a:t>其中，“</a:t>
            </a:r>
            <a:r>
              <a:rPr lang="zh-CN" altLang="en-US" sz="2800" b="1" dirty="0">
                <a:solidFill>
                  <a:srgbClr val="0000FF"/>
                </a:solidFill>
              </a:rPr>
              <a:t>数据类型</a:t>
            </a:r>
            <a:r>
              <a:rPr lang="zh-CN" altLang="en-US" sz="2800" b="1" dirty="0">
                <a:latin typeface="隶书" panose="02010509060101010101" pitchFamily="49" charset="-122"/>
                <a:ea typeface="隶书" panose="02010509060101010101" pitchFamily="49" charset="-122"/>
              </a:rPr>
              <a:t>”为指针变量指向的一维数组元素的类型。“</a:t>
            </a:r>
            <a:r>
              <a:rPr lang="en-US" altLang="zh-CN" sz="2800" b="1" dirty="0">
                <a:solidFill>
                  <a:srgbClr val="00B0F0"/>
                </a:solidFill>
              </a:rPr>
              <a:t>(</a:t>
            </a:r>
            <a:r>
              <a:rPr lang="en-US" altLang="zh-CN" sz="2800" b="1" dirty="0">
                <a:solidFill>
                  <a:srgbClr val="FF0000"/>
                </a:solidFill>
              </a:rPr>
              <a:t>*</a:t>
            </a:r>
            <a:r>
              <a:rPr lang="zh-CN" altLang="en-US" sz="2800" b="1" dirty="0">
                <a:latin typeface="华文隶书" panose="02010800040101010101" pitchFamily="2" charset="-122"/>
                <a:ea typeface="华文隶书" panose="02010800040101010101" pitchFamily="2" charset="-122"/>
              </a:rPr>
              <a:t>指针变量名</a:t>
            </a:r>
            <a:r>
              <a:rPr lang="en-US" altLang="zh-CN" sz="2800" b="1" dirty="0">
                <a:solidFill>
                  <a:srgbClr val="00B0F0"/>
                </a:solidFill>
              </a:rPr>
              <a:t>)</a:t>
            </a:r>
            <a:r>
              <a:rPr lang="zh-CN" altLang="en-US" sz="2800" b="1" dirty="0">
                <a:latin typeface="隶书" panose="02010509060101010101" pitchFamily="49" charset="-122"/>
                <a:ea typeface="隶书" panose="02010509060101010101" pitchFamily="49" charset="-122"/>
              </a:rPr>
              <a:t>”表示定义的变量为指针变量，括号不能省略，“</a:t>
            </a:r>
            <a:r>
              <a:rPr lang="en-US" altLang="zh-CN" sz="2800" b="1" dirty="0"/>
              <a:t>N</a:t>
            </a:r>
            <a:r>
              <a:rPr lang="zh-CN" altLang="en-US" sz="2800" b="1" dirty="0">
                <a:latin typeface="隶书" panose="02010509060101010101" pitchFamily="49" charset="-122"/>
                <a:ea typeface="隶书" panose="02010509060101010101" pitchFamily="49" charset="-122"/>
              </a:rPr>
              <a:t>”为指针变量指向的一维数组的长度。例如：</a:t>
            </a:r>
          </a:p>
        </p:txBody>
      </p:sp>
      <p:sp>
        <p:nvSpPr>
          <p:cNvPr id="6" name="Rectangle 2">
            <a:extLst>
              <a:ext uri="{FF2B5EF4-FFF2-40B4-BE49-F238E27FC236}">
                <a16:creationId xmlns:a16="http://schemas.microsoft.com/office/drawing/2014/main" id="{230BB5BB-896E-4C59-BE7B-27BD52432671}"/>
              </a:ext>
            </a:extLst>
          </p:cNvPr>
          <p:cNvSpPr txBox="1">
            <a:spLocks noChangeArrowheads="1"/>
          </p:cNvSpPr>
          <p:nvPr/>
        </p:nvSpPr>
        <p:spPr>
          <a:xfrm>
            <a:off x="1121577" y="4871780"/>
            <a:ext cx="9924472" cy="1384995"/>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0000FF"/>
                </a:solidFill>
              </a:rPr>
              <a:t>int</a:t>
            </a:r>
            <a:r>
              <a:rPr lang="zh-CN" altLang="en-US" b="1" dirty="0">
                <a:solidFill>
                  <a:srgbClr val="0000FF"/>
                </a:solidFill>
              </a:rPr>
              <a:t> </a:t>
            </a:r>
            <a:r>
              <a:rPr lang="en-US" altLang="zh-CN" b="1" dirty="0">
                <a:solidFill>
                  <a:srgbClr val="00B0F0"/>
                </a:solidFill>
              </a:rPr>
              <a:t>(</a:t>
            </a:r>
            <a:r>
              <a:rPr lang="en-US" altLang="zh-CN" b="1" dirty="0">
                <a:solidFill>
                  <a:srgbClr val="FF0000"/>
                </a:solidFill>
              </a:rPr>
              <a:t>*</a:t>
            </a:r>
            <a:r>
              <a:rPr lang="en-US" altLang="zh-CN" b="1" dirty="0"/>
              <a:t>p</a:t>
            </a:r>
            <a:r>
              <a:rPr lang="en-US" altLang="zh-CN" b="1" dirty="0">
                <a:solidFill>
                  <a:srgbClr val="00B0F0"/>
                </a:solidFill>
              </a:rPr>
              <a:t>)</a:t>
            </a:r>
            <a:r>
              <a:rPr lang="en-US" altLang="zh-CN" b="1" dirty="0">
                <a:solidFill>
                  <a:srgbClr val="FF0000"/>
                </a:solidFill>
              </a:rPr>
              <a:t>[</a:t>
            </a:r>
            <a:r>
              <a:rPr lang="en-US" altLang="zh-CN" b="1" dirty="0"/>
              <a:t>4</a:t>
            </a:r>
            <a:r>
              <a:rPr lang="en-US" altLang="zh-CN" b="1" dirty="0">
                <a:solidFill>
                  <a:srgbClr val="FF0000"/>
                </a:solidFill>
              </a:rPr>
              <a:t>]</a:t>
            </a:r>
            <a:r>
              <a:rPr lang="en-US" altLang="zh-CN" b="1" dirty="0"/>
              <a:t>, a</a:t>
            </a:r>
            <a:r>
              <a:rPr lang="en-US" altLang="zh-CN" b="1" dirty="0">
                <a:solidFill>
                  <a:srgbClr val="FF0000"/>
                </a:solidFill>
              </a:rPr>
              <a:t>[</a:t>
            </a:r>
            <a:r>
              <a:rPr lang="en-US" altLang="zh-CN" b="1" dirty="0"/>
              <a:t>3</a:t>
            </a:r>
            <a:r>
              <a:rPr lang="en-US" altLang="zh-CN" b="1" dirty="0">
                <a:solidFill>
                  <a:srgbClr val="FF0000"/>
                </a:solidFill>
              </a:rPr>
              <a:t>][</a:t>
            </a:r>
            <a:r>
              <a:rPr lang="en-US" altLang="zh-CN" b="1" dirty="0"/>
              <a:t>4</a:t>
            </a:r>
            <a:r>
              <a:rPr lang="en-US" altLang="zh-CN" b="1" dirty="0">
                <a:solidFill>
                  <a:srgbClr val="FF0000"/>
                </a:solidFill>
              </a:rPr>
              <a:t>]</a:t>
            </a:r>
            <a:r>
              <a:rPr lang="en-US" altLang="zh-CN" b="1" dirty="0"/>
              <a:t>;</a:t>
            </a:r>
          </a:p>
          <a:p>
            <a:pPr marL="0" indent="0">
              <a:lnSpc>
                <a:spcPct val="100000"/>
              </a:lnSpc>
              <a:spcBef>
                <a:spcPct val="0"/>
              </a:spcBef>
              <a:buClr>
                <a:schemeClr val="tx2"/>
              </a:buClr>
              <a:buSzPct val="70000"/>
              <a:buFont typeface="Arial" panose="020B0604020202020204" pitchFamily="34" charset="0"/>
              <a:buNone/>
            </a:pPr>
            <a:r>
              <a:rPr lang="en-US" altLang="zh-CN" b="1" dirty="0"/>
              <a:t>p = a;</a:t>
            </a:r>
          </a:p>
          <a:p>
            <a:pPr marL="0" indent="0">
              <a:lnSpc>
                <a:spcPct val="100000"/>
              </a:lnSpc>
              <a:spcBef>
                <a:spcPct val="0"/>
              </a:spcBef>
              <a:buClr>
                <a:schemeClr val="tx2"/>
              </a:buClr>
              <a:buSzPct val="70000"/>
              <a:buFont typeface="Arial" panose="020B0604020202020204" pitchFamily="34" charset="0"/>
              <a:buNone/>
            </a:pPr>
            <a:r>
              <a:rPr lang="en-US" altLang="zh-CN" b="1" dirty="0"/>
              <a:t>p = a + 2;</a:t>
            </a:r>
          </a:p>
        </p:txBody>
      </p:sp>
      <p:sp>
        <p:nvSpPr>
          <p:cNvPr id="7" name="Rectangle 2">
            <a:extLst>
              <a:ext uri="{FF2B5EF4-FFF2-40B4-BE49-F238E27FC236}">
                <a16:creationId xmlns:a16="http://schemas.microsoft.com/office/drawing/2014/main" id="{E4578063-9FE1-4E48-A048-56E8D3B7BE0D}"/>
              </a:ext>
            </a:extLst>
          </p:cNvPr>
          <p:cNvSpPr txBox="1">
            <a:spLocks noChangeArrowheads="1"/>
          </p:cNvSpPr>
          <p:nvPr/>
        </p:nvSpPr>
        <p:spPr>
          <a:xfrm>
            <a:off x="2846482" y="2160131"/>
            <a:ext cx="5042758" cy="523220"/>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ct val="0"/>
              </a:spcBef>
              <a:buClr>
                <a:schemeClr val="tx2"/>
              </a:buClr>
              <a:buSzPct val="70000"/>
              <a:buFont typeface="Arial" panose="020B0604020202020204" pitchFamily="34" charset="0"/>
              <a:buNone/>
            </a:pPr>
            <a:r>
              <a:rPr lang="zh-CN" altLang="en-US" b="1" dirty="0">
                <a:solidFill>
                  <a:srgbClr val="0000FF"/>
                </a:solidFill>
              </a:rPr>
              <a:t>数据类型 </a:t>
            </a:r>
            <a:r>
              <a:rPr lang="en-US" altLang="zh-CN" b="1" dirty="0">
                <a:solidFill>
                  <a:srgbClr val="00B0F0"/>
                </a:solidFill>
              </a:rPr>
              <a:t>(</a:t>
            </a:r>
            <a:r>
              <a:rPr lang="en-US" altLang="zh-CN" b="1" dirty="0">
                <a:solidFill>
                  <a:srgbClr val="FF0000"/>
                </a:solidFill>
              </a:rPr>
              <a:t>*</a:t>
            </a:r>
            <a:r>
              <a:rPr lang="zh-CN" altLang="en-US" b="1" dirty="0">
                <a:latin typeface="华文隶书" panose="02010800040101010101" pitchFamily="2" charset="-122"/>
                <a:ea typeface="华文隶书" panose="02010800040101010101" pitchFamily="2" charset="-122"/>
              </a:rPr>
              <a:t>指针变量名</a:t>
            </a:r>
            <a:r>
              <a:rPr lang="en-US" altLang="zh-CN" b="1" dirty="0">
                <a:solidFill>
                  <a:srgbClr val="00B0F0"/>
                </a:solidFill>
              </a:rPr>
              <a:t>)</a:t>
            </a:r>
            <a:r>
              <a:rPr lang="en-US" altLang="zh-CN" b="1" dirty="0">
                <a:solidFill>
                  <a:srgbClr val="FF0000"/>
                </a:solidFill>
              </a:rPr>
              <a:t>[</a:t>
            </a:r>
            <a:r>
              <a:rPr lang="en-US" altLang="zh-CN" b="1" dirty="0"/>
              <a:t>N</a:t>
            </a:r>
            <a:r>
              <a:rPr lang="en-US" altLang="zh-CN" b="1" dirty="0">
                <a:solidFill>
                  <a:srgbClr val="FF0000"/>
                </a:solidFill>
              </a:rPr>
              <a:t>]</a:t>
            </a:r>
            <a:r>
              <a:rPr lang="en-US" altLang="zh-CN" b="1" dirty="0"/>
              <a:t>;</a:t>
            </a:r>
          </a:p>
        </p:txBody>
      </p:sp>
      <p:sp>
        <p:nvSpPr>
          <p:cNvPr id="8" name="矩形 7">
            <a:extLst>
              <a:ext uri="{FF2B5EF4-FFF2-40B4-BE49-F238E27FC236}">
                <a16:creationId xmlns:a16="http://schemas.microsoft.com/office/drawing/2014/main" id="{00E54FF2-6DD9-418F-8535-AF0A47524EAB}"/>
              </a:ext>
            </a:extLst>
          </p:cNvPr>
          <p:cNvSpPr/>
          <p:nvPr/>
        </p:nvSpPr>
        <p:spPr>
          <a:xfrm>
            <a:off x="135467" y="1632278"/>
            <a:ext cx="12027568" cy="523220"/>
          </a:xfrm>
          <a:prstGeom prst="rect">
            <a:avLst/>
          </a:prstGeom>
        </p:spPr>
        <p:txBody>
          <a:bodyPr wrap="square">
            <a:spAutoFit/>
          </a:bodyPr>
          <a:lstStyle/>
          <a:p>
            <a:pPr marL="0" lvl="1"/>
            <a:r>
              <a:rPr lang="zh-CN" altLang="en-US" sz="2800" b="1" dirty="0">
                <a:latin typeface="隶书" panose="02010509060101010101" pitchFamily="49" charset="-122"/>
                <a:ea typeface="隶书" panose="02010509060101010101" pitchFamily="49" charset="-122"/>
              </a:rPr>
              <a:t>定义格式如下：</a:t>
            </a:r>
          </a:p>
        </p:txBody>
      </p:sp>
      <p:sp>
        <p:nvSpPr>
          <p:cNvPr id="9" name="灯片编号占位符 8">
            <a:extLst>
              <a:ext uri="{FF2B5EF4-FFF2-40B4-BE49-F238E27FC236}">
                <a16:creationId xmlns:a16="http://schemas.microsoft.com/office/drawing/2014/main" id="{33A0ECA0-8743-4985-AC69-4FC51A90866A}"/>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23</a:t>
            </a:fld>
            <a:r>
              <a:rPr lang="en-US" altLang="zh-CN">
                <a:solidFill>
                  <a:prstClr val="black">
                    <a:tint val="75000"/>
                  </a:prstClr>
                </a:solidFill>
              </a:rPr>
              <a:t>/ 35</a:t>
            </a:r>
            <a:endParaRPr lang="zh-CN" altLang="en-US" dirty="0"/>
          </a:p>
        </p:txBody>
      </p:sp>
      <p:sp>
        <p:nvSpPr>
          <p:cNvPr id="10" name="文本框 9">
            <a:extLst>
              <a:ext uri="{FF2B5EF4-FFF2-40B4-BE49-F238E27FC236}">
                <a16:creationId xmlns:a16="http://schemas.microsoft.com/office/drawing/2014/main" id="{00A531AF-C8AE-44A0-B60B-F566D37CFE8E}"/>
              </a:ext>
            </a:extLst>
          </p:cNvPr>
          <p:cNvSpPr txBox="1"/>
          <p:nvPr/>
        </p:nvSpPr>
        <p:spPr>
          <a:xfrm>
            <a:off x="2507464" y="-59476"/>
            <a:ext cx="4768993"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指针与二维数组</a:t>
            </a:r>
            <a:endParaRPr lang="zh-CN" altLang="en-US" sz="3200" b="1" dirty="0">
              <a:solidFill>
                <a:srgbClr val="200AC4"/>
              </a:solidFill>
              <a:ea typeface="隶书" pitchFamily="49" charset="-122"/>
            </a:endParaRPr>
          </a:p>
        </p:txBody>
      </p:sp>
    </p:spTree>
    <p:extLst>
      <p:ext uri="{BB962C8B-B14F-4D97-AF65-F5344CB8AC3E}">
        <p14:creationId xmlns:p14="http://schemas.microsoft.com/office/powerpoint/2010/main" val="97824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par>
                                <p:cTn id="15" presetID="2" presetClass="entr" presetSubtype="8"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0-#ppt_w/2"/>
                                          </p:val>
                                        </p:tav>
                                        <p:tav tm="100000">
                                          <p:val>
                                            <p:strVal val="#ppt_x"/>
                                          </p:val>
                                        </p:tav>
                                      </p:tavLst>
                                    </p:anim>
                                    <p:anim calcmode="lin" valueType="num">
                                      <p:cBhvr additive="base">
                                        <p:cTn id="18" dur="500" fill="hold"/>
                                        <p:tgtEl>
                                          <p:spTgt spid="6"/>
                                        </p:tgtEl>
                                        <p:attrNameLst>
                                          <p:attrName>ppt_y</p:attrName>
                                        </p:attrNameLst>
                                      </p:cBhvr>
                                      <p:tavLst>
                                        <p:tav tm="0">
                                          <p:val>
                                            <p:strVal val="#ppt_y"/>
                                          </p:val>
                                        </p:tav>
                                        <p:tav tm="100000">
                                          <p:val>
                                            <p:strVal val="#ppt_y"/>
                                          </p:val>
                                        </p:tav>
                                      </p:tavLst>
                                    </p:anim>
                                  </p:childTnLst>
                                </p:cTn>
                              </p:par>
                              <p:par>
                                <p:cTn id="19" presetID="2" presetClass="entr" presetSubtype="8"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0-#ppt_w/2"/>
                                          </p:val>
                                        </p:tav>
                                        <p:tav tm="100000">
                                          <p:val>
                                            <p:strVal val="#ppt_x"/>
                                          </p:val>
                                        </p:tav>
                                      </p:tavLst>
                                    </p:anim>
                                    <p:anim calcmode="lin" valueType="num">
                                      <p:cBhvr additive="base">
                                        <p:cTn id="22"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animBg="1"/>
      <p:bldP spid="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D448AF8D-0506-47FC-A5F8-0B68CFD90403}"/>
              </a:ext>
            </a:extLst>
          </p:cNvPr>
          <p:cNvSpPr/>
          <p:nvPr/>
        </p:nvSpPr>
        <p:spPr>
          <a:xfrm>
            <a:off x="4591" y="583341"/>
            <a:ext cx="12158444" cy="461665"/>
          </a:xfrm>
          <a:prstGeom prst="rect">
            <a:avLst/>
          </a:prstGeom>
        </p:spPr>
        <p:txBody>
          <a:bodyPr wrap="square">
            <a:spAutoFit/>
          </a:bodyPr>
          <a:lstStyle/>
          <a:p>
            <a:pPr marL="0" lvl="1"/>
            <a:r>
              <a:rPr lang="zh-CN" altLang="en-US" sz="2400" b="1" dirty="0">
                <a:latin typeface="隶书" pitchFamily="49" charset="-122"/>
              </a:rPr>
              <a:t>例</a:t>
            </a:r>
            <a:r>
              <a:rPr lang="en-US" altLang="zh-CN" sz="2400" b="1" dirty="0">
                <a:latin typeface="隶书" pitchFamily="49" charset="-122"/>
              </a:rPr>
              <a:t>【</a:t>
            </a:r>
            <a:r>
              <a:rPr lang="en-US" altLang="zh-CN" sz="2400" b="1" dirty="0">
                <a:solidFill>
                  <a:srgbClr val="00B0F0"/>
                </a:solidFill>
                <a:latin typeface="隶书" pitchFamily="49" charset="-122"/>
              </a:rPr>
              <a:t>5-5</a:t>
            </a:r>
            <a:r>
              <a:rPr lang="en-US" altLang="zh-CN" sz="2400" b="1" dirty="0">
                <a:latin typeface="隶书" pitchFamily="49" charset="-122"/>
              </a:rPr>
              <a:t>】</a:t>
            </a:r>
            <a:r>
              <a:rPr lang="zh-CN" altLang="en-US" sz="2400" b="1" dirty="0">
                <a:latin typeface="隶书" pitchFamily="49" charset="-122"/>
              </a:rPr>
              <a:t>定义一个三行四列的二维数组，输入数据，用指针求数组中所有元素的均值。</a:t>
            </a:r>
          </a:p>
        </p:txBody>
      </p:sp>
      <p:sp>
        <p:nvSpPr>
          <p:cNvPr id="6" name="Rectangle 2">
            <a:extLst>
              <a:ext uri="{FF2B5EF4-FFF2-40B4-BE49-F238E27FC236}">
                <a16:creationId xmlns:a16="http://schemas.microsoft.com/office/drawing/2014/main" id="{1AFC2F22-19C7-4D1F-AF81-00954538EB14}"/>
              </a:ext>
            </a:extLst>
          </p:cNvPr>
          <p:cNvSpPr txBox="1">
            <a:spLocks noChangeArrowheads="1"/>
          </p:cNvSpPr>
          <p:nvPr/>
        </p:nvSpPr>
        <p:spPr>
          <a:xfrm>
            <a:off x="592841" y="1225689"/>
            <a:ext cx="5995919" cy="5632311"/>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Font typeface="Arial" panose="020B0604020202020204" pitchFamily="34" charset="0"/>
              <a:buNone/>
            </a:pPr>
            <a:r>
              <a:rPr lang="en-US" altLang="zh-CN" sz="2400" b="1" dirty="0">
                <a:solidFill>
                  <a:srgbClr val="0000FF"/>
                </a:solidFill>
              </a:rPr>
              <a:t>#include </a:t>
            </a:r>
            <a:r>
              <a:rPr lang="en-US" altLang="zh-CN" sz="2400" b="1" dirty="0"/>
              <a:t>&lt;</a:t>
            </a:r>
            <a:r>
              <a:rPr lang="en-US" altLang="zh-CN" sz="2400" b="1" dirty="0" err="1">
                <a:solidFill>
                  <a:srgbClr val="002060"/>
                </a:solidFill>
              </a:rPr>
              <a:t>stdio.h</a:t>
            </a:r>
            <a:r>
              <a:rPr lang="en-US" altLang="zh-CN" sz="2400" b="1" dirty="0"/>
              <a:t>&gt;</a:t>
            </a:r>
          </a:p>
          <a:p>
            <a:pPr marL="0" indent="0">
              <a:lnSpc>
                <a:spcPct val="100000"/>
              </a:lnSpc>
              <a:spcBef>
                <a:spcPct val="0"/>
              </a:spcBef>
              <a:buClr>
                <a:schemeClr val="tx2"/>
              </a:buClr>
              <a:buSzPct val="70000"/>
              <a:buFont typeface="Arial" panose="020B0604020202020204" pitchFamily="34" charset="0"/>
              <a:buNone/>
            </a:pPr>
            <a:r>
              <a:rPr lang="en-US" altLang="zh-CN" sz="2400" b="1" dirty="0">
                <a:solidFill>
                  <a:srgbClr val="0000FF"/>
                </a:solidFill>
              </a:rPr>
              <a:t>int </a:t>
            </a:r>
            <a:r>
              <a:rPr lang="en-US" altLang="zh-CN" sz="2400" b="1" dirty="0"/>
              <a:t>main()</a:t>
            </a:r>
          </a:p>
          <a:p>
            <a:pPr marL="0" indent="0">
              <a:lnSpc>
                <a:spcPct val="100000"/>
              </a:lnSpc>
              <a:spcBef>
                <a:spcPct val="0"/>
              </a:spcBef>
              <a:buClr>
                <a:schemeClr val="tx2"/>
              </a:buClr>
              <a:buSzPct val="70000"/>
              <a:buFont typeface="Arial" panose="020B0604020202020204" pitchFamily="34" charset="0"/>
              <a:buNone/>
            </a:pPr>
            <a:r>
              <a:rPr lang="en-US" altLang="zh-CN" sz="2400" b="1" dirty="0">
                <a:solidFill>
                  <a:srgbClr val="FF0000"/>
                </a:solidFill>
              </a:rPr>
              <a:t>{</a:t>
            </a:r>
          </a:p>
          <a:p>
            <a:pPr marL="0" indent="0">
              <a:lnSpc>
                <a:spcPct val="100000"/>
              </a:lnSpc>
              <a:spcBef>
                <a:spcPct val="0"/>
              </a:spcBef>
              <a:buClr>
                <a:schemeClr val="tx2"/>
              </a:buClr>
              <a:buSzPct val="70000"/>
              <a:buFont typeface="Arial" panose="020B0604020202020204" pitchFamily="34" charset="0"/>
              <a:buNone/>
            </a:pPr>
            <a:r>
              <a:rPr lang="en-US" altLang="zh-CN" sz="2400" b="1" dirty="0">
                <a:solidFill>
                  <a:srgbClr val="0000FF"/>
                </a:solidFill>
              </a:rPr>
              <a:t>   float </a:t>
            </a:r>
            <a:r>
              <a:rPr lang="en-US" altLang="zh-CN" sz="2400" b="1" dirty="0"/>
              <a:t>a</a:t>
            </a:r>
            <a:r>
              <a:rPr lang="en-US" altLang="zh-CN" sz="2400" b="1" dirty="0">
                <a:solidFill>
                  <a:srgbClr val="FF0000"/>
                </a:solidFill>
              </a:rPr>
              <a:t>[</a:t>
            </a:r>
            <a:r>
              <a:rPr lang="en-US" altLang="zh-CN" sz="2400" b="1" dirty="0"/>
              <a:t>3</a:t>
            </a:r>
            <a:r>
              <a:rPr lang="en-US" altLang="zh-CN" sz="2400" b="1" dirty="0">
                <a:solidFill>
                  <a:srgbClr val="FF0000"/>
                </a:solidFill>
              </a:rPr>
              <a:t>][</a:t>
            </a:r>
            <a:r>
              <a:rPr lang="en-US" altLang="zh-CN" sz="2400" b="1" dirty="0"/>
              <a:t>4</a:t>
            </a:r>
            <a:r>
              <a:rPr lang="en-US" altLang="zh-CN" sz="2400" b="1" dirty="0">
                <a:solidFill>
                  <a:srgbClr val="FF0000"/>
                </a:solidFill>
              </a:rPr>
              <a:t>], </a:t>
            </a:r>
            <a:r>
              <a:rPr lang="en-US" altLang="zh-CN" sz="2400" b="1" dirty="0"/>
              <a:t>sum = 0.0f;</a:t>
            </a:r>
          </a:p>
          <a:p>
            <a:pPr marL="0" indent="0">
              <a:lnSpc>
                <a:spcPct val="100000"/>
              </a:lnSpc>
              <a:spcBef>
                <a:spcPct val="0"/>
              </a:spcBef>
              <a:buClr>
                <a:schemeClr val="tx2"/>
              </a:buClr>
              <a:buSzPct val="70000"/>
              <a:buFont typeface="Arial" panose="020B0604020202020204" pitchFamily="34" charset="0"/>
              <a:buNone/>
            </a:pPr>
            <a:r>
              <a:rPr lang="en-US" altLang="zh-CN" sz="2400" b="1" dirty="0"/>
              <a:t>   </a:t>
            </a:r>
            <a:r>
              <a:rPr lang="en-US" altLang="zh-CN" sz="2400" b="1" dirty="0">
                <a:solidFill>
                  <a:srgbClr val="0000FF"/>
                </a:solidFill>
              </a:rPr>
              <a:t>float</a:t>
            </a:r>
            <a:r>
              <a:rPr lang="en-US" altLang="zh-CN" sz="2400" b="1" dirty="0"/>
              <a:t> </a:t>
            </a:r>
            <a:r>
              <a:rPr lang="en-US" altLang="zh-CN" sz="2400" b="1" dirty="0">
                <a:solidFill>
                  <a:srgbClr val="00B0F0"/>
                </a:solidFill>
              </a:rPr>
              <a:t>(</a:t>
            </a:r>
            <a:r>
              <a:rPr lang="en-US" altLang="zh-CN" sz="2400" b="1" dirty="0">
                <a:solidFill>
                  <a:srgbClr val="FF0000"/>
                </a:solidFill>
              </a:rPr>
              <a:t>*</a:t>
            </a:r>
            <a:r>
              <a:rPr lang="en-US" altLang="zh-CN" sz="2400" b="1" dirty="0"/>
              <a:t>p</a:t>
            </a:r>
            <a:r>
              <a:rPr lang="en-US" altLang="zh-CN" sz="2400" b="1" dirty="0">
                <a:solidFill>
                  <a:srgbClr val="00B0F0"/>
                </a:solidFill>
              </a:rPr>
              <a:t>)</a:t>
            </a:r>
            <a:r>
              <a:rPr lang="en-US" altLang="zh-CN" sz="2400" b="1" dirty="0">
                <a:solidFill>
                  <a:srgbClr val="FF0000"/>
                </a:solidFill>
              </a:rPr>
              <a:t>[</a:t>
            </a:r>
            <a:r>
              <a:rPr lang="en-US" altLang="zh-CN" sz="2400" b="1" dirty="0"/>
              <a:t>4</a:t>
            </a:r>
            <a:r>
              <a:rPr lang="en-US" altLang="zh-CN" sz="2400" b="1" dirty="0">
                <a:solidFill>
                  <a:srgbClr val="FF0000"/>
                </a:solidFill>
              </a:rPr>
              <a:t>]</a:t>
            </a:r>
            <a:r>
              <a:rPr lang="en-US" altLang="zh-CN" sz="2400" b="1" dirty="0"/>
              <a:t>;</a:t>
            </a:r>
          </a:p>
          <a:p>
            <a:pPr marL="0" indent="0">
              <a:lnSpc>
                <a:spcPct val="100000"/>
              </a:lnSpc>
              <a:spcBef>
                <a:spcPct val="0"/>
              </a:spcBef>
              <a:buClr>
                <a:schemeClr val="tx2"/>
              </a:buClr>
              <a:buSzPct val="70000"/>
              <a:buFont typeface="Arial" panose="020B0604020202020204" pitchFamily="34" charset="0"/>
              <a:buNone/>
            </a:pPr>
            <a:r>
              <a:rPr lang="en-US" altLang="zh-CN" sz="2400" b="1" dirty="0"/>
              <a:t>   p = a;</a:t>
            </a:r>
          </a:p>
          <a:p>
            <a:pPr marL="0" indent="0">
              <a:lnSpc>
                <a:spcPct val="100000"/>
              </a:lnSpc>
              <a:spcBef>
                <a:spcPct val="0"/>
              </a:spcBef>
              <a:buClr>
                <a:schemeClr val="tx2"/>
              </a:buClr>
              <a:buSzPct val="70000"/>
              <a:buFont typeface="Arial" panose="020B0604020202020204" pitchFamily="34" charset="0"/>
              <a:buNone/>
            </a:pPr>
            <a:r>
              <a:rPr lang="en-US" altLang="zh-CN" sz="2400" b="1" dirty="0"/>
              <a:t>   </a:t>
            </a:r>
            <a:r>
              <a:rPr lang="en-US" altLang="zh-CN" sz="2400" b="1" dirty="0">
                <a:solidFill>
                  <a:srgbClr val="0000FF"/>
                </a:solidFill>
              </a:rPr>
              <a:t>for</a:t>
            </a:r>
            <a:r>
              <a:rPr lang="en-US" altLang="zh-CN" sz="2400" b="1" dirty="0"/>
              <a:t>(</a:t>
            </a:r>
            <a:r>
              <a:rPr lang="en-US" altLang="zh-CN" sz="2400" b="1" dirty="0">
                <a:solidFill>
                  <a:srgbClr val="0000FF"/>
                </a:solidFill>
              </a:rPr>
              <a:t>int</a:t>
            </a:r>
            <a:r>
              <a:rPr lang="en-US" altLang="zh-CN" sz="2400" b="1" dirty="0"/>
              <a:t> i = 0</a:t>
            </a:r>
            <a:r>
              <a:rPr lang="en-US" altLang="zh-CN" sz="2400" b="1" dirty="0">
                <a:solidFill>
                  <a:srgbClr val="FF0000"/>
                </a:solidFill>
              </a:rPr>
              <a:t>;</a:t>
            </a:r>
            <a:r>
              <a:rPr lang="en-US" altLang="zh-CN" sz="2400" b="1" dirty="0"/>
              <a:t> i &lt; 3</a:t>
            </a:r>
            <a:r>
              <a:rPr lang="en-US" altLang="zh-CN" sz="2400" b="1" dirty="0">
                <a:solidFill>
                  <a:srgbClr val="FF0000"/>
                </a:solidFill>
              </a:rPr>
              <a:t>;</a:t>
            </a:r>
            <a:r>
              <a:rPr lang="en-US" altLang="zh-CN" sz="2400" b="1" dirty="0"/>
              <a:t> i++){</a:t>
            </a:r>
          </a:p>
          <a:p>
            <a:pPr marL="0" indent="0">
              <a:lnSpc>
                <a:spcPct val="100000"/>
              </a:lnSpc>
              <a:spcBef>
                <a:spcPct val="0"/>
              </a:spcBef>
              <a:buClr>
                <a:schemeClr val="tx2"/>
              </a:buClr>
              <a:buSzPct val="70000"/>
              <a:buNone/>
            </a:pPr>
            <a:r>
              <a:rPr lang="en-US" altLang="zh-CN" sz="2400" b="1" dirty="0"/>
              <a:t>       </a:t>
            </a:r>
            <a:r>
              <a:rPr lang="en-US" altLang="zh-CN" sz="2400" b="1" dirty="0">
                <a:solidFill>
                  <a:srgbClr val="0000FF"/>
                </a:solidFill>
              </a:rPr>
              <a:t>for</a:t>
            </a:r>
            <a:r>
              <a:rPr lang="en-US" altLang="zh-CN" sz="2400" b="1" dirty="0"/>
              <a:t>(</a:t>
            </a:r>
            <a:r>
              <a:rPr lang="en-US" altLang="zh-CN" sz="2400" b="1" dirty="0">
                <a:solidFill>
                  <a:srgbClr val="0000FF"/>
                </a:solidFill>
              </a:rPr>
              <a:t>int</a:t>
            </a:r>
            <a:r>
              <a:rPr lang="en-US" altLang="zh-CN" sz="2400" b="1" dirty="0"/>
              <a:t> j = 0</a:t>
            </a:r>
            <a:r>
              <a:rPr lang="en-US" altLang="zh-CN" sz="2400" b="1" dirty="0">
                <a:solidFill>
                  <a:srgbClr val="FF0000"/>
                </a:solidFill>
              </a:rPr>
              <a:t>;</a:t>
            </a:r>
            <a:r>
              <a:rPr lang="en-US" altLang="zh-CN" sz="2400" b="1" dirty="0"/>
              <a:t> j &lt; 4</a:t>
            </a:r>
            <a:r>
              <a:rPr lang="en-US" altLang="zh-CN" sz="2400" b="1" dirty="0">
                <a:solidFill>
                  <a:srgbClr val="FF0000"/>
                </a:solidFill>
              </a:rPr>
              <a:t>;</a:t>
            </a:r>
            <a:r>
              <a:rPr lang="en-US" altLang="zh-CN" sz="2400" b="1" dirty="0"/>
              <a:t> j++){</a:t>
            </a:r>
          </a:p>
          <a:p>
            <a:pPr marL="0" indent="0">
              <a:lnSpc>
                <a:spcPct val="100000"/>
              </a:lnSpc>
              <a:spcBef>
                <a:spcPct val="0"/>
              </a:spcBef>
              <a:buClr>
                <a:schemeClr val="tx2"/>
              </a:buClr>
              <a:buSzPct val="70000"/>
              <a:buNone/>
            </a:pPr>
            <a:r>
              <a:rPr lang="en-US" altLang="zh-CN" sz="2400" b="1" dirty="0"/>
              <a:t>           scanf(</a:t>
            </a:r>
            <a:r>
              <a:rPr lang="en-US" altLang="zh-CN" sz="2400" b="1" dirty="0">
                <a:solidFill>
                  <a:srgbClr val="00B050"/>
                </a:solidFill>
              </a:rPr>
              <a:t>“%f”</a:t>
            </a:r>
            <a:r>
              <a:rPr lang="en-US" altLang="zh-CN" sz="2400" b="1" dirty="0"/>
              <a:t>, </a:t>
            </a:r>
            <a:r>
              <a:rPr lang="en-US" altLang="zh-CN" sz="2400" b="1" dirty="0">
                <a:solidFill>
                  <a:srgbClr val="FF0000"/>
                </a:solidFill>
              </a:rPr>
              <a:t>*</a:t>
            </a:r>
            <a:r>
              <a:rPr lang="en-US" altLang="zh-CN" sz="2400" b="1" dirty="0"/>
              <a:t>(p+i) + j);</a:t>
            </a:r>
          </a:p>
          <a:p>
            <a:pPr marL="0" indent="0">
              <a:lnSpc>
                <a:spcPct val="100000"/>
              </a:lnSpc>
              <a:spcBef>
                <a:spcPct val="0"/>
              </a:spcBef>
              <a:buClr>
                <a:schemeClr val="tx2"/>
              </a:buClr>
              <a:buSzPct val="70000"/>
              <a:buNone/>
            </a:pPr>
            <a:r>
              <a:rPr lang="en-US" altLang="zh-CN" sz="2400" b="1" dirty="0"/>
              <a:t>           sum += </a:t>
            </a:r>
            <a:r>
              <a:rPr lang="en-US" altLang="zh-CN" sz="2400" b="1" dirty="0">
                <a:solidFill>
                  <a:srgbClr val="FF0000"/>
                </a:solidFill>
              </a:rPr>
              <a:t>*</a:t>
            </a:r>
            <a:r>
              <a:rPr lang="en-US" altLang="zh-CN" sz="2400" b="1" dirty="0"/>
              <a:t>(</a:t>
            </a:r>
            <a:r>
              <a:rPr lang="en-US" altLang="zh-CN" sz="2400" b="1" dirty="0">
                <a:solidFill>
                  <a:srgbClr val="FF0000"/>
                </a:solidFill>
              </a:rPr>
              <a:t>*</a:t>
            </a:r>
            <a:r>
              <a:rPr lang="en-US" altLang="zh-CN" sz="2400" b="1" dirty="0"/>
              <a:t>(p+i) + j);</a:t>
            </a:r>
          </a:p>
          <a:p>
            <a:pPr marL="0" indent="0">
              <a:lnSpc>
                <a:spcPct val="100000"/>
              </a:lnSpc>
              <a:spcBef>
                <a:spcPct val="0"/>
              </a:spcBef>
              <a:buClr>
                <a:schemeClr val="tx2"/>
              </a:buClr>
              <a:buSzPct val="70000"/>
              <a:buNone/>
            </a:pPr>
            <a:r>
              <a:rPr lang="en-US" altLang="zh-CN" sz="2400" b="1" dirty="0"/>
              <a:t>        }</a:t>
            </a:r>
          </a:p>
          <a:p>
            <a:pPr marL="0" indent="0">
              <a:lnSpc>
                <a:spcPct val="100000"/>
              </a:lnSpc>
              <a:spcBef>
                <a:spcPct val="0"/>
              </a:spcBef>
              <a:buClr>
                <a:schemeClr val="tx2"/>
              </a:buClr>
              <a:buSzPct val="70000"/>
              <a:buNone/>
            </a:pPr>
            <a:r>
              <a:rPr lang="en-US" altLang="zh-CN" sz="2400" b="1" dirty="0"/>
              <a:t>    }</a:t>
            </a:r>
          </a:p>
          <a:p>
            <a:pPr marL="0" indent="0">
              <a:lnSpc>
                <a:spcPct val="100000"/>
              </a:lnSpc>
              <a:spcBef>
                <a:spcPct val="0"/>
              </a:spcBef>
              <a:buClr>
                <a:schemeClr val="tx2"/>
              </a:buClr>
              <a:buSzPct val="70000"/>
              <a:buFont typeface="Arial" panose="020B0604020202020204" pitchFamily="34" charset="0"/>
              <a:buNone/>
            </a:pPr>
            <a:r>
              <a:rPr lang="en-US" altLang="zh-CN" sz="2400" b="1" dirty="0"/>
              <a:t>   </a:t>
            </a:r>
            <a:r>
              <a:rPr lang="en-US" altLang="zh-CN" sz="2400" b="1" dirty="0">
                <a:solidFill>
                  <a:srgbClr val="00B050"/>
                </a:solidFill>
              </a:rPr>
              <a:t>┅┅</a:t>
            </a:r>
          </a:p>
          <a:p>
            <a:pPr marL="0" indent="0">
              <a:lnSpc>
                <a:spcPct val="100000"/>
              </a:lnSpc>
              <a:spcBef>
                <a:spcPct val="0"/>
              </a:spcBef>
              <a:buClr>
                <a:schemeClr val="tx2"/>
              </a:buClr>
              <a:buSzPct val="70000"/>
              <a:buFont typeface="Arial" panose="020B0604020202020204" pitchFamily="34" charset="0"/>
              <a:buNone/>
            </a:pPr>
            <a:r>
              <a:rPr lang="en-US" altLang="zh-CN" sz="2400" b="1" dirty="0">
                <a:solidFill>
                  <a:srgbClr val="0000FF"/>
                </a:solidFill>
              </a:rPr>
              <a:t>   return </a:t>
            </a:r>
            <a:r>
              <a:rPr lang="en-US" altLang="zh-CN" sz="2400" b="1" dirty="0"/>
              <a:t>0;</a:t>
            </a:r>
          </a:p>
          <a:p>
            <a:pPr marL="0" indent="0">
              <a:lnSpc>
                <a:spcPct val="100000"/>
              </a:lnSpc>
              <a:spcBef>
                <a:spcPct val="0"/>
              </a:spcBef>
              <a:buClr>
                <a:schemeClr val="tx2"/>
              </a:buClr>
              <a:buSzPct val="70000"/>
              <a:buFont typeface="Arial" panose="020B0604020202020204" pitchFamily="34" charset="0"/>
              <a:buNone/>
            </a:pPr>
            <a:r>
              <a:rPr lang="en-US" altLang="zh-CN" sz="2400" b="1" dirty="0">
                <a:solidFill>
                  <a:srgbClr val="FF0000"/>
                </a:solidFill>
              </a:rPr>
              <a:t>}</a:t>
            </a:r>
            <a:endParaRPr lang="en-US" altLang="zh-CN" sz="2400" b="1" dirty="0"/>
          </a:p>
        </p:txBody>
      </p:sp>
      <p:sp>
        <p:nvSpPr>
          <p:cNvPr id="10" name="灯片编号占位符 9">
            <a:extLst>
              <a:ext uri="{FF2B5EF4-FFF2-40B4-BE49-F238E27FC236}">
                <a16:creationId xmlns:a16="http://schemas.microsoft.com/office/drawing/2014/main" id="{8C26E43B-387F-4F9B-B435-934B05A8532C}"/>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24</a:t>
            </a:fld>
            <a:r>
              <a:rPr lang="en-US" altLang="zh-CN">
                <a:solidFill>
                  <a:prstClr val="black">
                    <a:tint val="75000"/>
                  </a:prstClr>
                </a:solidFill>
              </a:rPr>
              <a:t>/ 35</a:t>
            </a:r>
            <a:endParaRPr lang="zh-CN" altLang="en-US" dirty="0"/>
          </a:p>
        </p:txBody>
      </p:sp>
      <p:sp>
        <p:nvSpPr>
          <p:cNvPr id="7" name="文本框 6">
            <a:extLst>
              <a:ext uri="{FF2B5EF4-FFF2-40B4-BE49-F238E27FC236}">
                <a16:creationId xmlns:a16="http://schemas.microsoft.com/office/drawing/2014/main" id="{25BFA378-A8D7-42F0-BC9F-4F64014EAE91}"/>
              </a:ext>
            </a:extLst>
          </p:cNvPr>
          <p:cNvSpPr txBox="1"/>
          <p:nvPr/>
        </p:nvSpPr>
        <p:spPr>
          <a:xfrm>
            <a:off x="2507464" y="-59476"/>
            <a:ext cx="4768993"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指针与二维数组</a:t>
            </a:r>
            <a:endParaRPr lang="zh-CN" altLang="en-US" sz="3200" b="1" dirty="0">
              <a:solidFill>
                <a:srgbClr val="200AC4"/>
              </a:solidFill>
              <a:ea typeface="隶书" pitchFamily="49" charset="-122"/>
            </a:endParaRPr>
          </a:p>
        </p:txBody>
      </p:sp>
    </p:spTree>
    <p:extLst>
      <p:ext uri="{BB962C8B-B14F-4D97-AF65-F5344CB8AC3E}">
        <p14:creationId xmlns:p14="http://schemas.microsoft.com/office/powerpoint/2010/main" val="2500189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B00974D2-F9F8-4B89-B739-BA387189EA5A}"/>
              </a:ext>
            </a:extLst>
          </p:cNvPr>
          <p:cNvSpPr/>
          <p:nvPr/>
        </p:nvSpPr>
        <p:spPr>
          <a:xfrm>
            <a:off x="4591" y="576674"/>
            <a:ext cx="12158444" cy="461665"/>
          </a:xfrm>
          <a:prstGeom prst="rect">
            <a:avLst/>
          </a:prstGeom>
        </p:spPr>
        <p:txBody>
          <a:bodyPr wrap="square">
            <a:spAutoFit/>
          </a:bodyPr>
          <a:lstStyle/>
          <a:p>
            <a:pPr marL="0" lvl="1"/>
            <a:r>
              <a:rPr lang="zh-CN" altLang="en-US" sz="2400" b="1" dirty="0">
                <a:latin typeface="隶书" pitchFamily="49" charset="-122"/>
              </a:rPr>
              <a:t>例</a:t>
            </a:r>
            <a:r>
              <a:rPr lang="en-US" altLang="zh-CN" sz="2400" b="1" dirty="0">
                <a:latin typeface="隶书" pitchFamily="49" charset="-122"/>
              </a:rPr>
              <a:t>【</a:t>
            </a:r>
            <a:r>
              <a:rPr lang="en-US" altLang="zh-CN" sz="2400" b="1" dirty="0">
                <a:solidFill>
                  <a:srgbClr val="00B0F0"/>
                </a:solidFill>
                <a:latin typeface="隶书" pitchFamily="49" charset="-122"/>
              </a:rPr>
              <a:t>5-6</a:t>
            </a:r>
            <a:r>
              <a:rPr lang="en-US" altLang="zh-CN" sz="2400" b="1" dirty="0">
                <a:latin typeface="隶书" pitchFamily="49" charset="-122"/>
              </a:rPr>
              <a:t>】</a:t>
            </a:r>
            <a:r>
              <a:rPr lang="zh-CN" altLang="en-US" sz="2400" b="1" dirty="0">
                <a:latin typeface="隶书" pitchFamily="49" charset="-122"/>
              </a:rPr>
              <a:t>输入一个四行四列的矩阵，判断其是否为对称矩阵。</a:t>
            </a:r>
          </a:p>
        </p:txBody>
      </p:sp>
      <p:sp>
        <p:nvSpPr>
          <p:cNvPr id="9" name="Rectangle 2">
            <a:extLst>
              <a:ext uri="{FF2B5EF4-FFF2-40B4-BE49-F238E27FC236}">
                <a16:creationId xmlns:a16="http://schemas.microsoft.com/office/drawing/2014/main" id="{63C94C27-C5B0-43D9-A11F-4A8366A03C0B}"/>
              </a:ext>
            </a:extLst>
          </p:cNvPr>
          <p:cNvSpPr txBox="1">
            <a:spLocks noChangeArrowheads="1"/>
          </p:cNvSpPr>
          <p:nvPr/>
        </p:nvSpPr>
        <p:spPr>
          <a:xfrm>
            <a:off x="97028" y="1250217"/>
            <a:ext cx="5871972" cy="4339650"/>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Font typeface="Arial" panose="020B0604020202020204" pitchFamily="34" charset="0"/>
              <a:buNone/>
            </a:pPr>
            <a:r>
              <a:rPr lang="en-US" altLang="zh-CN" sz="2400" b="1" dirty="0">
                <a:solidFill>
                  <a:srgbClr val="0000FF"/>
                </a:solidFill>
              </a:rPr>
              <a:t>int </a:t>
            </a:r>
            <a:r>
              <a:rPr lang="en-US" altLang="zh-CN" sz="2400" b="1" dirty="0"/>
              <a:t>main()</a:t>
            </a:r>
          </a:p>
          <a:p>
            <a:pPr marL="0" indent="0">
              <a:lnSpc>
                <a:spcPct val="100000"/>
              </a:lnSpc>
              <a:spcBef>
                <a:spcPct val="0"/>
              </a:spcBef>
              <a:buClr>
                <a:schemeClr val="tx2"/>
              </a:buClr>
              <a:buSzPct val="70000"/>
              <a:buFont typeface="Arial" panose="020B0604020202020204" pitchFamily="34" charset="0"/>
              <a:buNone/>
            </a:pPr>
            <a:r>
              <a:rPr lang="en-US" altLang="zh-CN" sz="2400" b="1" dirty="0">
                <a:solidFill>
                  <a:srgbClr val="FF0000"/>
                </a:solidFill>
              </a:rPr>
              <a:t>{</a:t>
            </a:r>
          </a:p>
          <a:p>
            <a:pPr marL="0" indent="0">
              <a:lnSpc>
                <a:spcPct val="100000"/>
              </a:lnSpc>
              <a:spcBef>
                <a:spcPct val="0"/>
              </a:spcBef>
              <a:buClr>
                <a:schemeClr val="tx2"/>
              </a:buClr>
              <a:buSzPct val="70000"/>
              <a:buFont typeface="Arial" panose="020B0604020202020204" pitchFamily="34" charset="0"/>
              <a:buNone/>
            </a:pPr>
            <a:r>
              <a:rPr lang="en-US" altLang="zh-CN" sz="2400" b="1" dirty="0">
                <a:solidFill>
                  <a:srgbClr val="0000FF"/>
                </a:solidFill>
              </a:rPr>
              <a:t>   int </a:t>
            </a:r>
            <a:r>
              <a:rPr lang="en-US" altLang="zh-CN" sz="2400" b="1" dirty="0"/>
              <a:t>a</a:t>
            </a:r>
            <a:r>
              <a:rPr lang="en-US" altLang="zh-CN" sz="2400" b="1" dirty="0">
                <a:solidFill>
                  <a:srgbClr val="FF0000"/>
                </a:solidFill>
              </a:rPr>
              <a:t>[</a:t>
            </a:r>
            <a:r>
              <a:rPr lang="en-US" altLang="zh-CN" sz="2400" b="1" dirty="0"/>
              <a:t>4</a:t>
            </a:r>
            <a:r>
              <a:rPr lang="en-US" altLang="zh-CN" sz="2400" b="1" dirty="0">
                <a:solidFill>
                  <a:srgbClr val="FF0000"/>
                </a:solidFill>
              </a:rPr>
              <a:t>][</a:t>
            </a:r>
            <a:r>
              <a:rPr lang="en-US" altLang="zh-CN" sz="2400" b="1" dirty="0"/>
              <a:t>4</a:t>
            </a:r>
            <a:r>
              <a:rPr lang="en-US" altLang="zh-CN" sz="2400" b="1" dirty="0">
                <a:solidFill>
                  <a:srgbClr val="FF0000"/>
                </a:solidFill>
              </a:rPr>
              <a:t>]</a:t>
            </a:r>
            <a:r>
              <a:rPr lang="en-US" altLang="zh-CN" sz="2400" b="1" dirty="0"/>
              <a:t>;</a:t>
            </a:r>
          </a:p>
          <a:p>
            <a:pPr marL="0" indent="0">
              <a:lnSpc>
                <a:spcPct val="100000"/>
              </a:lnSpc>
              <a:spcBef>
                <a:spcPct val="0"/>
              </a:spcBef>
              <a:buClr>
                <a:schemeClr val="tx2"/>
              </a:buClr>
              <a:buSzPct val="70000"/>
              <a:buFont typeface="Arial" panose="020B0604020202020204" pitchFamily="34" charset="0"/>
              <a:buNone/>
            </a:pPr>
            <a:r>
              <a:rPr lang="en-US" altLang="zh-CN" sz="2400" b="1" dirty="0">
                <a:solidFill>
                  <a:srgbClr val="FF0000"/>
                </a:solidFill>
              </a:rPr>
              <a:t>   </a:t>
            </a:r>
            <a:r>
              <a:rPr lang="en-US" altLang="zh-CN" sz="2400" b="1" dirty="0">
                <a:solidFill>
                  <a:srgbClr val="0000FF"/>
                </a:solidFill>
              </a:rPr>
              <a:t>int</a:t>
            </a:r>
            <a:r>
              <a:rPr lang="en-US" altLang="zh-CN" sz="2400" b="1" dirty="0">
                <a:solidFill>
                  <a:srgbClr val="FF0000"/>
                </a:solidFill>
              </a:rPr>
              <a:t> </a:t>
            </a:r>
            <a:r>
              <a:rPr lang="en-US" altLang="zh-CN" sz="2400" b="1" dirty="0">
                <a:solidFill>
                  <a:srgbClr val="00B0F0"/>
                </a:solidFill>
              </a:rPr>
              <a:t>(</a:t>
            </a:r>
            <a:r>
              <a:rPr lang="en-US" altLang="zh-CN" sz="2400" b="1" dirty="0">
                <a:solidFill>
                  <a:srgbClr val="FF0000"/>
                </a:solidFill>
              </a:rPr>
              <a:t>*</a:t>
            </a:r>
            <a:r>
              <a:rPr lang="en-US" altLang="zh-CN" sz="2400" b="1" dirty="0"/>
              <a:t>p</a:t>
            </a:r>
            <a:r>
              <a:rPr lang="en-US" altLang="zh-CN" sz="2400" b="1" dirty="0">
                <a:solidFill>
                  <a:srgbClr val="00B0F0"/>
                </a:solidFill>
              </a:rPr>
              <a:t>)</a:t>
            </a:r>
            <a:r>
              <a:rPr lang="en-US" altLang="zh-CN" sz="2400" b="1" dirty="0">
                <a:solidFill>
                  <a:srgbClr val="FF0000"/>
                </a:solidFill>
              </a:rPr>
              <a:t>[</a:t>
            </a:r>
            <a:r>
              <a:rPr lang="en-US" altLang="zh-CN" sz="2400" b="1" dirty="0"/>
              <a:t>4</a:t>
            </a:r>
            <a:r>
              <a:rPr lang="en-US" altLang="zh-CN" sz="2400" b="1" dirty="0">
                <a:solidFill>
                  <a:srgbClr val="FF0000"/>
                </a:solidFill>
              </a:rPr>
              <a:t>]</a:t>
            </a:r>
            <a:r>
              <a:rPr lang="en-US" altLang="zh-CN" sz="2400" b="1" dirty="0"/>
              <a:t>; </a:t>
            </a:r>
          </a:p>
          <a:p>
            <a:pPr marL="0" indent="0">
              <a:lnSpc>
                <a:spcPct val="150000"/>
              </a:lnSpc>
              <a:spcBef>
                <a:spcPct val="0"/>
              </a:spcBef>
              <a:buClr>
                <a:schemeClr val="tx2"/>
              </a:buClr>
              <a:buSzPct val="70000"/>
              <a:buFont typeface="Arial" panose="020B0604020202020204" pitchFamily="34" charset="0"/>
              <a:buNone/>
            </a:pPr>
            <a:r>
              <a:rPr lang="en-US" altLang="zh-CN" sz="2400" b="1" dirty="0"/>
              <a:t>   p = a;</a:t>
            </a:r>
          </a:p>
          <a:p>
            <a:pPr marL="0" indent="0">
              <a:lnSpc>
                <a:spcPct val="100000"/>
              </a:lnSpc>
              <a:spcBef>
                <a:spcPct val="0"/>
              </a:spcBef>
              <a:buClr>
                <a:schemeClr val="tx2"/>
              </a:buClr>
              <a:buSzPct val="70000"/>
              <a:buFont typeface="Arial" panose="020B0604020202020204" pitchFamily="34" charset="0"/>
              <a:buNone/>
            </a:pPr>
            <a:r>
              <a:rPr lang="en-US" altLang="zh-CN" sz="2400" b="1" dirty="0"/>
              <a:t>   </a:t>
            </a:r>
            <a:r>
              <a:rPr lang="en-US" altLang="zh-CN" sz="2400" b="1" dirty="0">
                <a:solidFill>
                  <a:srgbClr val="0000FF"/>
                </a:solidFill>
              </a:rPr>
              <a:t>for</a:t>
            </a:r>
            <a:r>
              <a:rPr lang="en-US" altLang="zh-CN" sz="2400" b="1" dirty="0"/>
              <a:t>(</a:t>
            </a:r>
            <a:r>
              <a:rPr lang="en-US" altLang="zh-CN" sz="2400" b="1" dirty="0">
                <a:solidFill>
                  <a:srgbClr val="0000FF"/>
                </a:solidFill>
              </a:rPr>
              <a:t>int</a:t>
            </a:r>
            <a:r>
              <a:rPr lang="en-US" altLang="zh-CN" sz="2400" b="1" dirty="0"/>
              <a:t> i = 0</a:t>
            </a:r>
            <a:r>
              <a:rPr lang="en-US" altLang="zh-CN" sz="2400" b="1" dirty="0">
                <a:solidFill>
                  <a:srgbClr val="FF0000"/>
                </a:solidFill>
              </a:rPr>
              <a:t>;</a:t>
            </a:r>
            <a:r>
              <a:rPr lang="en-US" altLang="zh-CN" sz="2400" b="1" dirty="0"/>
              <a:t> i &lt; 4</a:t>
            </a:r>
            <a:r>
              <a:rPr lang="en-US" altLang="zh-CN" sz="2400" b="1" dirty="0">
                <a:solidFill>
                  <a:srgbClr val="FF0000"/>
                </a:solidFill>
              </a:rPr>
              <a:t>;</a:t>
            </a:r>
            <a:r>
              <a:rPr lang="en-US" altLang="zh-CN" sz="2400" b="1" dirty="0"/>
              <a:t> i++){</a:t>
            </a:r>
          </a:p>
          <a:p>
            <a:pPr marL="0" indent="0">
              <a:lnSpc>
                <a:spcPct val="100000"/>
              </a:lnSpc>
              <a:spcBef>
                <a:spcPct val="0"/>
              </a:spcBef>
              <a:buClr>
                <a:schemeClr val="tx2"/>
              </a:buClr>
              <a:buSzPct val="70000"/>
              <a:buNone/>
            </a:pPr>
            <a:r>
              <a:rPr lang="en-US" altLang="zh-CN" sz="2400" b="1" dirty="0"/>
              <a:t>       </a:t>
            </a:r>
            <a:r>
              <a:rPr lang="en-US" altLang="zh-CN" sz="2400" b="1" dirty="0">
                <a:solidFill>
                  <a:srgbClr val="0000FF"/>
                </a:solidFill>
              </a:rPr>
              <a:t>for</a:t>
            </a:r>
            <a:r>
              <a:rPr lang="en-US" altLang="zh-CN" sz="2400" b="1" dirty="0"/>
              <a:t>(</a:t>
            </a:r>
            <a:r>
              <a:rPr lang="en-US" altLang="zh-CN" sz="2400" b="1" dirty="0">
                <a:solidFill>
                  <a:srgbClr val="0000FF"/>
                </a:solidFill>
              </a:rPr>
              <a:t>int</a:t>
            </a:r>
            <a:r>
              <a:rPr lang="en-US" altLang="zh-CN" sz="2400" b="1" dirty="0"/>
              <a:t> j = 0</a:t>
            </a:r>
            <a:r>
              <a:rPr lang="en-US" altLang="zh-CN" sz="2400" b="1" dirty="0">
                <a:solidFill>
                  <a:srgbClr val="FF0000"/>
                </a:solidFill>
              </a:rPr>
              <a:t>;</a:t>
            </a:r>
            <a:r>
              <a:rPr lang="en-US" altLang="zh-CN" sz="2400" b="1" dirty="0"/>
              <a:t> j &lt; 4</a:t>
            </a:r>
            <a:r>
              <a:rPr lang="en-US" altLang="zh-CN" sz="2400" b="1" dirty="0">
                <a:solidFill>
                  <a:srgbClr val="FF0000"/>
                </a:solidFill>
              </a:rPr>
              <a:t>;</a:t>
            </a:r>
            <a:r>
              <a:rPr lang="en-US" altLang="zh-CN" sz="2400" b="1" dirty="0"/>
              <a:t> j++){</a:t>
            </a:r>
          </a:p>
          <a:p>
            <a:pPr marL="0" indent="0">
              <a:lnSpc>
                <a:spcPct val="100000"/>
              </a:lnSpc>
              <a:spcBef>
                <a:spcPct val="0"/>
              </a:spcBef>
              <a:buClr>
                <a:schemeClr val="tx2"/>
              </a:buClr>
              <a:buSzPct val="70000"/>
              <a:buNone/>
            </a:pPr>
            <a:r>
              <a:rPr lang="en-US" altLang="zh-CN" sz="2400" b="1" dirty="0"/>
              <a:t>           scanf(</a:t>
            </a:r>
            <a:r>
              <a:rPr lang="en-US" altLang="zh-CN" sz="2400" b="1" dirty="0">
                <a:solidFill>
                  <a:srgbClr val="00B050"/>
                </a:solidFill>
              </a:rPr>
              <a:t>“%d”</a:t>
            </a:r>
            <a:r>
              <a:rPr lang="en-US" altLang="zh-CN" sz="2400" b="1" dirty="0"/>
              <a:t>, </a:t>
            </a:r>
            <a:r>
              <a:rPr lang="en-US" altLang="zh-CN" sz="2400" b="1" dirty="0">
                <a:solidFill>
                  <a:srgbClr val="FF0000"/>
                </a:solidFill>
              </a:rPr>
              <a:t>*</a:t>
            </a:r>
            <a:r>
              <a:rPr lang="en-US" altLang="zh-CN" sz="2400" b="1" dirty="0"/>
              <a:t>(p+i) + j);</a:t>
            </a:r>
          </a:p>
          <a:p>
            <a:pPr marL="0" indent="0">
              <a:lnSpc>
                <a:spcPct val="100000"/>
              </a:lnSpc>
              <a:spcBef>
                <a:spcPct val="0"/>
              </a:spcBef>
              <a:buClr>
                <a:schemeClr val="tx2"/>
              </a:buClr>
              <a:buSzPct val="70000"/>
              <a:buNone/>
            </a:pPr>
            <a:r>
              <a:rPr lang="en-US" altLang="zh-CN" sz="2400" b="1" dirty="0"/>
              <a:t>        }</a:t>
            </a:r>
          </a:p>
          <a:p>
            <a:pPr marL="0" indent="0">
              <a:lnSpc>
                <a:spcPct val="100000"/>
              </a:lnSpc>
              <a:spcBef>
                <a:spcPct val="0"/>
              </a:spcBef>
              <a:buClr>
                <a:schemeClr val="tx2"/>
              </a:buClr>
              <a:buSzPct val="70000"/>
              <a:buNone/>
            </a:pPr>
            <a:r>
              <a:rPr lang="en-US" altLang="zh-CN" sz="2400" b="1" dirty="0"/>
              <a:t>    }</a:t>
            </a:r>
          </a:p>
          <a:p>
            <a:pPr marL="0" indent="0">
              <a:lnSpc>
                <a:spcPct val="100000"/>
              </a:lnSpc>
              <a:spcBef>
                <a:spcPct val="0"/>
              </a:spcBef>
              <a:buClr>
                <a:schemeClr val="tx2"/>
              </a:buClr>
              <a:buSzPct val="70000"/>
              <a:buFont typeface="Arial" panose="020B0604020202020204" pitchFamily="34" charset="0"/>
              <a:buNone/>
            </a:pPr>
            <a:r>
              <a:rPr lang="en-US" altLang="zh-CN" sz="2400" b="1" dirty="0"/>
              <a:t>    </a:t>
            </a:r>
            <a:r>
              <a:rPr lang="en-US" altLang="zh-CN" sz="2400" b="1" dirty="0">
                <a:solidFill>
                  <a:srgbClr val="00B050"/>
                </a:solidFill>
              </a:rPr>
              <a:t>……</a:t>
            </a:r>
          </a:p>
        </p:txBody>
      </p:sp>
      <p:sp>
        <p:nvSpPr>
          <p:cNvPr id="10" name="Rectangle 2">
            <a:extLst>
              <a:ext uri="{FF2B5EF4-FFF2-40B4-BE49-F238E27FC236}">
                <a16:creationId xmlns:a16="http://schemas.microsoft.com/office/drawing/2014/main" id="{723CB32D-4BBA-4565-BE49-8A4C91ADAF42}"/>
              </a:ext>
            </a:extLst>
          </p:cNvPr>
          <p:cNvSpPr txBox="1">
            <a:spLocks noChangeArrowheads="1"/>
          </p:cNvSpPr>
          <p:nvPr/>
        </p:nvSpPr>
        <p:spPr>
          <a:xfrm>
            <a:off x="6156960" y="3061495"/>
            <a:ext cx="6014720" cy="3416320"/>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Font typeface="Arial" panose="020B0604020202020204" pitchFamily="34" charset="0"/>
              <a:buNone/>
            </a:pPr>
            <a:r>
              <a:rPr lang="en-US" altLang="zh-CN" sz="2400" b="1" dirty="0"/>
              <a:t>   </a:t>
            </a:r>
            <a:r>
              <a:rPr lang="en-US" altLang="zh-CN" sz="2400" b="1" dirty="0">
                <a:solidFill>
                  <a:srgbClr val="00B050"/>
                </a:solidFill>
              </a:rPr>
              <a:t>……</a:t>
            </a:r>
          </a:p>
          <a:p>
            <a:pPr marL="0" indent="0">
              <a:lnSpc>
                <a:spcPct val="100000"/>
              </a:lnSpc>
              <a:spcBef>
                <a:spcPct val="0"/>
              </a:spcBef>
              <a:buClr>
                <a:schemeClr val="tx2"/>
              </a:buClr>
              <a:buSzPct val="70000"/>
              <a:buFont typeface="Arial" panose="020B0604020202020204" pitchFamily="34" charset="0"/>
              <a:buNone/>
            </a:pPr>
            <a:r>
              <a:rPr lang="en-US" altLang="zh-CN" sz="2400" b="1" dirty="0"/>
              <a:t>   </a:t>
            </a:r>
            <a:r>
              <a:rPr lang="en-US" altLang="zh-CN" sz="2400" b="1" dirty="0">
                <a:solidFill>
                  <a:srgbClr val="0000FF"/>
                </a:solidFill>
              </a:rPr>
              <a:t>for</a:t>
            </a:r>
            <a:r>
              <a:rPr lang="en-US" altLang="zh-CN" sz="2400" b="1" dirty="0"/>
              <a:t>(</a:t>
            </a:r>
            <a:r>
              <a:rPr lang="en-US" altLang="zh-CN" sz="2400" b="1" dirty="0">
                <a:solidFill>
                  <a:srgbClr val="0000FF"/>
                </a:solidFill>
              </a:rPr>
              <a:t>int</a:t>
            </a:r>
            <a:r>
              <a:rPr lang="en-US" altLang="zh-CN" sz="2400" b="1" dirty="0"/>
              <a:t> i = 0</a:t>
            </a:r>
            <a:r>
              <a:rPr lang="en-US" altLang="zh-CN" sz="2400" b="1" dirty="0">
                <a:solidFill>
                  <a:srgbClr val="FF0000"/>
                </a:solidFill>
              </a:rPr>
              <a:t>;</a:t>
            </a:r>
            <a:r>
              <a:rPr lang="en-US" altLang="zh-CN" sz="2400" b="1" dirty="0"/>
              <a:t> i &lt; 4</a:t>
            </a:r>
            <a:r>
              <a:rPr lang="en-US" altLang="zh-CN" sz="2400" b="1" dirty="0">
                <a:solidFill>
                  <a:srgbClr val="FF0000"/>
                </a:solidFill>
              </a:rPr>
              <a:t>;</a:t>
            </a:r>
            <a:r>
              <a:rPr lang="en-US" altLang="zh-CN" sz="2400" b="1" dirty="0"/>
              <a:t> i++){</a:t>
            </a:r>
          </a:p>
          <a:p>
            <a:pPr marL="0" indent="0">
              <a:lnSpc>
                <a:spcPct val="100000"/>
              </a:lnSpc>
              <a:spcBef>
                <a:spcPct val="0"/>
              </a:spcBef>
              <a:buClr>
                <a:schemeClr val="tx2"/>
              </a:buClr>
              <a:buSzPct val="70000"/>
              <a:buNone/>
            </a:pPr>
            <a:r>
              <a:rPr lang="en-US" altLang="zh-CN" sz="2400" b="1" dirty="0"/>
              <a:t>       </a:t>
            </a:r>
            <a:r>
              <a:rPr lang="en-US" altLang="zh-CN" sz="2400" b="1" dirty="0">
                <a:solidFill>
                  <a:srgbClr val="0000FF"/>
                </a:solidFill>
              </a:rPr>
              <a:t>for</a:t>
            </a:r>
            <a:r>
              <a:rPr lang="en-US" altLang="zh-CN" sz="2400" b="1" dirty="0"/>
              <a:t>(</a:t>
            </a:r>
            <a:r>
              <a:rPr lang="en-US" altLang="zh-CN" sz="2400" b="1" dirty="0">
                <a:solidFill>
                  <a:srgbClr val="0000FF"/>
                </a:solidFill>
              </a:rPr>
              <a:t>int</a:t>
            </a:r>
            <a:r>
              <a:rPr lang="en-US" altLang="zh-CN" sz="2400" b="1" dirty="0"/>
              <a:t> j = 0</a:t>
            </a:r>
            <a:r>
              <a:rPr lang="en-US" altLang="zh-CN" sz="2400" b="1" dirty="0">
                <a:solidFill>
                  <a:srgbClr val="FF0000"/>
                </a:solidFill>
              </a:rPr>
              <a:t>;</a:t>
            </a:r>
            <a:r>
              <a:rPr lang="en-US" altLang="zh-CN" sz="2400" b="1" dirty="0"/>
              <a:t> j &lt; 4</a:t>
            </a:r>
            <a:r>
              <a:rPr lang="en-US" altLang="zh-CN" sz="2400" b="1" dirty="0">
                <a:solidFill>
                  <a:srgbClr val="FF0000"/>
                </a:solidFill>
              </a:rPr>
              <a:t>;</a:t>
            </a:r>
            <a:r>
              <a:rPr lang="en-US" altLang="zh-CN" sz="2400" b="1" dirty="0"/>
              <a:t> j++){</a:t>
            </a:r>
          </a:p>
          <a:p>
            <a:pPr marL="0" indent="0">
              <a:lnSpc>
                <a:spcPct val="100000"/>
              </a:lnSpc>
              <a:spcBef>
                <a:spcPct val="0"/>
              </a:spcBef>
              <a:buClr>
                <a:schemeClr val="tx2"/>
              </a:buClr>
              <a:buSzPct val="70000"/>
              <a:buNone/>
            </a:pPr>
            <a:r>
              <a:rPr lang="en-US" altLang="zh-CN" sz="2400" b="1" dirty="0"/>
              <a:t>            </a:t>
            </a:r>
            <a:r>
              <a:rPr lang="en-US" altLang="zh-CN" sz="2400" b="1" dirty="0">
                <a:solidFill>
                  <a:srgbClr val="0000FF"/>
                </a:solidFill>
              </a:rPr>
              <a:t>if</a:t>
            </a:r>
            <a:r>
              <a:rPr lang="en-US" altLang="zh-CN" sz="2400" b="1" dirty="0"/>
              <a:t>( </a:t>
            </a:r>
            <a:r>
              <a:rPr lang="en-US" altLang="zh-CN" sz="2400" b="1" dirty="0">
                <a:solidFill>
                  <a:srgbClr val="FFC000"/>
                </a:solidFill>
              </a:rPr>
              <a:t>*(</a:t>
            </a:r>
            <a:r>
              <a:rPr lang="en-US" altLang="zh-CN" sz="2400" b="1" dirty="0">
                <a:solidFill>
                  <a:srgbClr val="FF0000"/>
                </a:solidFill>
              </a:rPr>
              <a:t>*</a:t>
            </a:r>
            <a:r>
              <a:rPr lang="en-US" altLang="zh-CN" sz="2400" b="1" dirty="0">
                <a:solidFill>
                  <a:srgbClr val="0070C0"/>
                </a:solidFill>
              </a:rPr>
              <a:t>(</a:t>
            </a:r>
            <a:r>
              <a:rPr lang="en-US" altLang="zh-CN" sz="2400" b="1" dirty="0"/>
              <a:t>p+i</a:t>
            </a:r>
            <a:r>
              <a:rPr lang="en-US" altLang="zh-CN" sz="2400" b="1" dirty="0">
                <a:solidFill>
                  <a:srgbClr val="0070C0"/>
                </a:solidFill>
              </a:rPr>
              <a:t>)</a:t>
            </a:r>
            <a:r>
              <a:rPr lang="en-US" altLang="zh-CN" sz="2400" b="1" dirty="0"/>
              <a:t> + j</a:t>
            </a:r>
            <a:r>
              <a:rPr lang="en-US" altLang="zh-CN" sz="2400" b="1" dirty="0">
                <a:solidFill>
                  <a:srgbClr val="FFC000"/>
                </a:solidFill>
              </a:rPr>
              <a:t>)</a:t>
            </a:r>
            <a:r>
              <a:rPr lang="en-US" altLang="zh-CN" sz="2400" b="1" dirty="0"/>
              <a:t> != </a:t>
            </a:r>
            <a:r>
              <a:rPr lang="en-US" altLang="zh-CN" sz="2400" b="1" dirty="0">
                <a:solidFill>
                  <a:srgbClr val="FFC000"/>
                </a:solidFill>
              </a:rPr>
              <a:t>*(</a:t>
            </a:r>
            <a:r>
              <a:rPr lang="en-US" altLang="zh-CN" sz="2400" b="1" dirty="0">
                <a:solidFill>
                  <a:srgbClr val="FF0000"/>
                </a:solidFill>
              </a:rPr>
              <a:t>*</a:t>
            </a:r>
            <a:r>
              <a:rPr lang="en-US" altLang="zh-CN" sz="2400" b="1" dirty="0">
                <a:solidFill>
                  <a:srgbClr val="0070C0"/>
                </a:solidFill>
              </a:rPr>
              <a:t>(</a:t>
            </a:r>
            <a:r>
              <a:rPr lang="en-US" altLang="zh-CN" sz="2400" b="1" dirty="0"/>
              <a:t>p+j</a:t>
            </a:r>
            <a:r>
              <a:rPr lang="en-US" altLang="zh-CN" sz="2400" b="1" dirty="0">
                <a:solidFill>
                  <a:srgbClr val="0070C0"/>
                </a:solidFill>
              </a:rPr>
              <a:t>)</a:t>
            </a:r>
            <a:r>
              <a:rPr lang="en-US" altLang="zh-CN" sz="2400" b="1" dirty="0"/>
              <a:t> + i</a:t>
            </a:r>
            <a:r>
              <a:rPr lang="en-US" altLang="zh-CN" sz="2400" b="1" dirty="0">
                <a:solidFill>
                  <a:srgbClr val="FFC000"/>
                </a:solidFill>
              </a:rPr>
              <a:t>)</a:t>
            </a:r>
            <a:r>
              <a:rPr lang="en-US" altLang="zh-CN" sz="2400" b="1" dirty="0"/>
              <a:t> )</a:t>
            </a:r>
          </a:p>
          <a:p>
            <a:pPr marL="0" indent="0">
              <a:lnSpc>
                <a:spcPct val="100000"/>
              </a:lnSpc>
              <a:spcBef>
                <a:spcPct val="0"/>
              </a:spcBef>
              <a:buClr>
                <a:schemeClr val="tx2"/>
              </a:buClr>
              <a:buSzPct val="70000"/>
              <a:buNone/>
            </a:pPr>
            <a:r>
              <a:rPr lang="en-US" altLang="zh-CN" sz="2400" b="1" dirty="0"/>
              <a:t>                </a:t>
            </a:r>
            <a:r>
              <a:rPr lang="en-US" altLang="zh-CN" sz="2400" b="1" dirty="0">
                <a:solidFill>
                  <a:srgbClr val="00B050"/>
                </a:solidFill>
              </a:rPr>
              <a:t>……</a:t>
            </a:r>
            <a:r>
              <a:rPr lang="en-US" altLang="zh-CN" sz="2400" b="1" dirty="0"/>
              <a:t>       </a:t>
            </a:r>
          </a:p>
          <a:p>
            <a:pPr marL="0" indent="0">
              <a:lnSpc>
                <a:spcPct val="100000"/>
              </a:lnSpc>
              <a:spcBef>
                <a:spcPct val="0"/>
              </a:spcBef>
              <a:buClr>
                <a:schemeClr val="tx2"/>
              </a:buClr>
              <a:buSzPct val="70000"/>
              <a:buNone/>
            </a:pPr>
            <a:r>
              <a:rPr lang="en-US" altLang="zh-CN" sz="2400" b="1" dirty="0"/>
              <a:t>        }</a:t>
            </a:r>
          </a:p>
          <a:p>
            <a:pPr marL="0" indent="0">
              <a:lnSpc>
                <a:spcPct val="100000"/>
              </a:lnSpc>
              <a:spcBef>
                <a:spcPct val="0"/>
              </a:spcBef>
              <a:buClr>
                <a:schemeClr val="tx2"/>
              </a:buClr>
              <a:buSzPct val="70000"/>
              <a:buNone/>
            </a:pPr>
            <a:r>
              <a:rPr lang="en-US" altLang="zh-CN" sz="2400" b="1" dirty="0"/>
              <a:t>    }</a:t>
            </a:r>
          </a:p>
          <a:p>
            <a:pPr marL="0" indent="0">
              <a:lnSpc>
                <a:spcPct val="100000"/>
              </a:lnSpc>
              <a:spcBef>
                <a:spcPct val="0"/>
              </a:spcBef>
              <a:buClr>
                <a:schemeClr val="tx2"/>
              </a:buClr>
              <a:buSzPct val="70000"/>
              <a:buNone/>
            </a:pPr>
            <a:r>
              <a:rPr lang="en-US" altLang="zh-CN" sz="2400" b="1" dirty="0"/>
              <a:t>    </a:t>
            </a:r>
            <a:r>
              <a:rPr lang="en-US" altLang="zh-CN" sz="2400" b="1" dirty="0">
                <a:solidFill>
                  <a:srgbClr val="00B050"/>
                </a:solidFill>
              </a:rPr>
              <a:t>……</a:t>
            </a:r>
          </a:p>
          <a:p>
            <a:pPr marL="0" indent="0">
              <a:lnSpc>
                <a:spcPct val="100000"/>
              </a:lnSpc>
              <a:spcBef>
                <a:spcPct val="0"/>
              </a:spcBef>
              <a:buClr>
                <a:schemeClr val="tx2"/>
              </a:buClr>
              <a:buSzPct val="70000"/>
              <a:buFont typeface="Arial" panose="020B0604020202020204" pitchFamily="34" charset="0"/>
              <a:buNone/>
            </a:pPr>
            <a:r>
              <a:rPr lang="en-US" altLang="zh-CN" sz="2400" b="1" dirty="0">
                <a:solidFill>
                  <a:srgbClr val="FF0000"/>
                </a:solidFill>
              </a:rPr>
              <a:t>}</a:t>
            </a:r>
          </a:p>
        </p:txBody>
      </p:sp>
      <p:sp>
        <p:nvSpPr>
          <p:cNvPr id="11" name="灯片编号占位符 10">
            <a:extLst>
              <a:ext uri="{FF2B5EF4-FFF2-40B4-BE49-F238E27FC236}">
                <a16:creationId xmlns:a16="http://schemas.microsoft.com/office/drawing/2014/main" id="{EF96F1DD-81EA-4740-96B3-0989E39206FB}"/>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25</a:t>
            </a:fld>
            <a:r>
              <a:rPr lang="en-US" altLang="zh-CN">
                <a:solidFill>
                  <a:prstClr val="black">
                    <a:tint val="75000"/>
                  </a:prstClr>
                </a:solidFill>
              </a:rPr>
              <a:t>/ 35</a:t>
            </a:r>
            <a:endParaRPr lang="zh-CN" altLang="en-US" dirty="0"/>
          </a:p>
        </p:txBody>
      </p:sp>
      <p:sp>
        <p:nvSpPr>
          <p:cNvPr id="7" name="文本框 6">
            <a:extLst>
              <a:ext uri="{FF2B5EF4-FFF2-40B4-BE49-F238E27FC236}">
                <a16:creationId xmlns:a16="http://schemas.microsoft.com/office/drawing/2014/main" id="{7D5990E2-26FA-4D58-BEF0-36EC7861D041}"/>
              </a:ext>
            </a:extLst>
          </p:cNvPr>
          <p:cNvSpPr txBox="1"/>
          <p:nvPr/>
        </p:nvSpPr>
        <p:spPr>
          <a:xfrm>
            <a:off x="2507464" y="-59476"/>
            <a:ext cx="4768993"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指针与二维数组</a:t>
            </a:r>
            <a:endParaRPr lang="zh-CN" altLang="en-US" sz="3200" b="1" dirty="0">
              <a:solidFill>
                <a:srgbClr val="200AC4"/>
              </a:solidFill>
              <a:ea typeface="隶书" pitchFamily="49" charset="-122"/>
            </a:endParaRPr>
          </a:p>
        </p:txBody>
      </p:sp>
    </p:spTree>
    <p:extLst>
      <p:ext uri="{BB962C8B-B14F-4D97-AF65-F5344CB8AC3E}">
        <p14:creationId xmlns:p14="http://schemas.microsoft.com/office/powerpoint/2010/main" val="3971616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anim calcmode="lin" valueType="num">
                                      <p:cBhvr>
                                        <p:cTn id="13" dur="1000" fill="hold"/>
                                        <p:tgtEl>
                                          <p:spTgt spid="10"/>
                                        </p:tgtEl>
                                        <p:attrNameLst>
                                          <p:attrName>ppt_x</p:attrName>
                                        </p:attrNameLst>
                                      </p:cBhvr>
                                      <p:tavLst>
                                        <p:tav tm="0">
                                          <p:val>
                                            <p:strVal val="#ppt_x"/>
                                          </p:val>
                                        </p:tav>
                                        <p:tav tm="100000">
                                          <p:val>
                                            <p:strVal val="#ppt_x"/>
                                          </p:val>
                                        </p:tav>
                                      </p:tavLst>
                                    </p:anim>
                                    <p:anim calcmode="lin" valueType="num">
                                      <p:cBhvr>
                                        <p:cTn id="1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0198C49F-ACDC-42AF-825F-35B7D85E7619}"/>
              </a:ext>
            </a:extLst>
          </p:cNvPr>
          <p:cNvSpPr txBox="1"/>
          <p:nvPr/>
        </p:nvSpPr>
        <p:spPr>
          <a:xfrm>
            <a:off x="2842870" y="-56008"/>
            <a:ext cx="4768993"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字符指针与字符串</a:t>
            </a:r>
            <a:endParaRPr lang="zh-CN" altLang="en-US" sz="3200" b="1" dirty="0">
              <a:solidFill>
                <a:srgbClr val="200AC4"/>
              </a:solidFill>
              <a:ea typeface="隶书" pitchFamily="49" charset="-122"/>
            </a:endParaRPr>
          </a:p>
        </p:txBody>
      </p:sp>
      <p:sp>
        <p:nvSpPr>
          <p:cNvPr id="8" name="矩形 7">
            <a:extLst>
              <a:ext uri="{FF2B5EF4-FFF2-40B4-BE49-F238E27FC236}">
                <a16:creationId xmlns:a16="http://schemas.microsoft.com/office/drawing/2014/main" id="{4FB842C9-358E-4418-8FE0-2CF032D6DB7C}"/>
              </a:ext>
            </a:extLst>
          </p:cNvPr>
          <p:cNvSpPr/>
          <p:nvPr/>
        </p:nvSpPr>
        <p:spPr>
          <a:xfrm>
            <a:off x="4591" y="585094"/>
            <a:ext cx="12158444" cy="461665"/>
          </a:xfrm>
          <a:prstGeom prst="rect">
            <a:avLst/>
          </a:prstGeom>
        </p:spPr>
        <p:txBody>
          <a:bodyPr wrap="square">
            <a:spAutoFit/>
          </a:bodyPr>
          <a:lstStyle/>
          <a:p>
            <a:pPr marL="0" lvl="1"/>
            <a:r>
              <a:rPr lang="zh-CN" altLang="en-US" sz="2400" b="1" dirty="0">
                <a:solidFill>
                  <a:srgbClr val="FF0000"/>
                </a:solidFill>
                <a:latin typeface="隶书" pitchFamily="49" charset="-122"/>
              </a:rPr>
              <a:t>字符指针变量</a:t>
            </a:r>
            <a:r>
              <a:rPr lang="zh-CN" altLang="en-US" sz="2400" b="1" dirty="0">
                <a:latin typeface="隶书" pitchFamily="49" charset="-122"/>
              </a:rPr>
              <a:t>既可以指向</a:t>
            </a:r>
            <a:r>
              <a:rPr lang="zh-CN" altLang="en-US" sz="2400" b="1" dirty="0">
                <a:solidFill>
                  <a:srgbClr val="00B0F0"/>
                </a:solidFill>
                <a:latin typeface="隶书" pitchFamily="49" charset="-122"/>
              </a:rPr>
              <a:t>字符变量</a:t>
            </a:r>
            <a:r>
              <a:rPr lang="zh-CN" altLang="en-US" sz="2400" b="1" dirty="0">
                <a:latin typeface="隶书" pitchFamily="49" charset="-122"/>
              </a:rPr>
              <a:t>，又可以指向</a:t>
            </a:r>
            <a:r>
              <a:rPr lang="zh-CN" altLang="en-US" sz="2400" b="1" dirty="0">
                <a:solidFill>
                  <a:srgbClr val="00B0F0"/>
                </a:solidFill>
                <a:latin typeface="隶书" pitchFamily="49" charset="-122"/>
              </a:rPr>
              <a:t>字符数组</a:t>
            </a:r>
            <a:r>
              <a:rPr lang="zh-CN" altLang="en-US" sz="2400" b="1" dirty="0">
                <a:latin typeface="隶书" pitchFamily="49" charset="-122"/>
              </a:rPr>
              <a:t>，还可以指向</a:t>
            </a:r>
            <a:r>
              <a:rPr lang="zh-CN" altLang="en-US" sz="2400" b="1" dirty="0">
                <a:solidFill>
                  <a:srgbClr val="00B0F0"/>
                </a:solidFill>
                <a:latin typeface="隶书" pitchFamily="49" charset="-122"/>
              </a:rPr>
              <a:t>字符串常量</a:t>
            </a:r>
            <a:r>
              <a:rPr lang="zh-CN" altLang="en-US" sz="2400" b="1" dirty="0">
                <a:latin typeface="隶书" pitchFamily="49" charset="-122"/>
              </a:rPr>
              <a:t>。</a:t>
            </a:r>
          </a:p>
        </p:txBody>
      </p:sp>
      <p:sp>
        <p:nvSpPr>
          <p:cNvPr id="9" name="Rectangle 2">
            <a:extLst>
              <a:ext uri="{FF2B5EF4-FFF2-40B4-BE49-F238E27FC236}">
                <a16:creationId xmlns:a16="http://schemas.microsoft.com/office/drawing/2014/main" id="{FEA8907D-0975-4A32-8F95-5C63C784F773}"/>
              </a:ext>
            </a:extLst>
          </p:cNvPr>
          <p:cNvSpPr txBox="1">
            <a:spLocks noChangeArrowheads="1"/>
          </p:cNvSpPr>
          <p:nvPr/>
        </p:nvSpPr>
        <p:spPr>
          <a:xfrm>
            <a:off x="3353287" y="2023415"/>
            <a:ext cx="5152659" cy="2246769"/>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0000FF"/>
                </a:solidFill>
              </a:rPr>
              <a:t>char</a:t>
            </a:r>
            <a:r>
              <a:rPr lang="zh-CN" altLang="en-US" b="1" dirty="0">
                <a:solidFill>
                  <a:srgbClr val="0000FF"/>
                </a:solidFill>
              </a:rPr>
              <a:t> </a:t>
            </a:r>
            <a:r>
              <a:rPr lang="en-US" altLang="zh-CN" b="1" dirty="0">
                <a:solidFill>
                  <a:srgbClr val="FF0000"/>
                </a:solidFill>
              </a:rPr>
              <a:t>*</a:t>
            </a:r>
            <a:r>
              <a:rPr lang="en-US" altLang="zh-CN" b="1" dirty="0"/>
              <a:t>p = </a:t>
            </a:r>
            <a:r>
              <a:rPr lang="en-US" altLang="zh-CN" b="1" dirty="0">
                <a:solidFill>
                  <a:srgbClr val="00B050"/>
                </a:solidFill>
              </a:rPr>
              <a:t>“</a:t>
            </a:r>
            <a:r>
              <a:rPr lang="en-US" altLang="zh-CN" b="1" dirty="0">
                <a:solidFill>
                  <a:srgbClr val="00B050"/>
                </a:solidFill>
                <a:latin typeface="Century" panose="02040604050505020304" pitchFamily="18" charset="0"/>
              </a:rPr>
              <a:t>I</a:t>
            </a:r>
            <a:r>
              <a:rPr lang="en-US" altLang="zh-CN" b="1" dirty="0">
                <a:solidFill>
                  <a:srgbClr val="00B050"/>
                </a:solidFill>
              </a:rPr>
              <a:t> am a student.”</a:t>
            </a:r>
            <a:r>
              <a:rPr lang="en-US" altLang="zh-CN" b="1" dirty="0"/>
              <a:t>;</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0000FF"/>
                </a:solidFill>
              </a:rPr>
              <a:t>while</a:t>
            </a:r>
            <a:r>
              <a:rPr lang="en-US" altLang="zh-CN" b="1" dirty="0"/>
              <a:t>(</a:t>
            </a:r>
            <a:r>
              <a:rPr lang="en-US" altLang="zh-CN" b="1" dirty="0">
                <a:solidFill>
                  <a:srgbClr val="FF0000"/>
                </a:solidFill>
              </a:rPr>
              <a:t>*</a:t>
            </a:r>
            <a:r>
              <a:rPr lang="en-US" altLang="zh-CN" b="1" dirty="0"/>
              <a:t>p != </a:t>
            </a:r>
            <a:r>
              <a:rPr lang="en-US" altLang="zh-CN" b="1" dirty="0">
                <a:solidFill>
                  <a:srgbClr val="00B050"/>
                </a:solidFill>
              </a:rPr>
              <a:t>‘\0’</a:t>
            </a:r>
            <a:r>
              <a:rPr lang="en-US" altLang="zh-CN" b="1" dirty="0"/>
              <a:t>){</a:t>
            </a:r>
          </a:p>
          <a:p>
            <a:pPr marL="0" indent="0">
              <a:lnSpc>
                <a:spcPct val="100000"/>
              </a:lnSpc>
              <a:spcBef>
                <a:spcPct val="0"/>
              </a:spcBef>
              <a:buClr>
                <a:schemeClr val="tx2"/>
              </a:buClr>
              <a:buSzPct val="70000"/>
              <a:buFont typeface="Arial" panose="020B0604020202020204" pitchFamily="34" charset="0"/>
              <a:buNone/>
            </a:pPr>
            <a:r>
              <a:rPr lang="en-US" altLang="zh-CN" b="1" dirty="0"/>
              <a:t>     </a:t>
            </a:r>
            <a:r>
              <a:rPr lang="en-US" altLang="zh-CN" b="1" dirty="0">
                <a:solidFill>
                  <a:srgbClr val="00B050"/>
                </a:solidFill>
              </a:rPr>
              <a:t>……</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00B050"/>
                </a:solidFill>
              </a:rPr>
              <a:t>     </a:t>
            </a:r>
            <a:r>
              <a:rPr lang="en-US" altLang="zh-CN" b="1" dirty="0"/>
              <a:t>p++;</a:t>
            </a:r>
          </a:p>
          <a:p>
            <a:pPr marL="0" indent="0">
              <a:lnSpc>
                <a:spcPct val="100000"/>
              </a:lnSpc>
              <a:spcBef>
                <a:spcPct val="0"/>
              </a:spcBef>
              <a:buClr>
                <a:schemeClr val="tx2"/>
              </a:buClr>
              <a:buSzPct val="70000"/>
              <a:buFont typeface="Arial" panose="020B0604020202020204" pitchFamily="34" charset="0"/>
              <a:buNone/>
            </a:pPr>
            <a:r>
              <a:rPr lang="en-US" altLang="zh-CN" b="1" dirty="0"/>
              <a:t>}</a:t>
            </a:r>
          </a:p>
        </p:txBody>
      </p:sp>
      <p:sp>
        <p:nvSpPr>
          <p:cNvPr id="20" name="矩形 19">
            <a:extLst>
              <a:ext uri="{FF2B5EF4-FFF2-40B4-BE49-F238E27FC236}">
                <a16:creationId xmlns:a16="http://schemas.microsoft.com/office/drawing/2014/main" id="{F0802B0F-9992-4AF6-81CE-58B7D995DDE6}"/>
              </a:ext>
            </a:extLst>
          </p:cNvPr>
          <p:cNvSpPr/>
          <p:nvPr/>
        </p:nvSpPr>
        <p:spPr>
          <a:xfrm>
            <a:off x="70029" y="1284244"/>
            <a:ext cx="12027568" cy="523220"/>
          </a:xfrm>
          <a:prstGeom prst="rect">
            <a:avLst/>
          </a:prstGeom>
        </p:spPr>
        <p:txBody>
          <a:bodyPr wrap="square">
            <a:spAutoFit/>
          </a:bodyPr>
          <a:lstStyle/>
          <a:p>
            <a:pPr marL="0" lvl="1"/>
            <a:r>
              <a:rPr lang="zh-CN" altLang="en-US" sz="2800" b="1" dirty="0">
                <a:latin typeface="隶书" panose="02010509060101010101" pitchFamily="49" charset="-122"/>
                <a:ea typeface="隶书" panose="02010509060101010101" pitchFamily="49" charset="-122"/>
              </a:rPr>
              <a:t>在处理字符串时，可以通过字符指针变量方便地对字符串进行操作：</a:t>
            </a:r>
          </a:p>
        </p:txBody>
      </p:sp>
      <p:graphicFrame>
        <p:nvGraphicFramePr>
          <p:cNvPr id="21" name="表格 5">
            <a:extLst>
              <a:ext uri="{FF2B5EF4-FFF2-40B4-BE49-F238E27FC236}">
                <a16:creationId xmlns:a16="http://schemas.microsoft.com/office/drawing/2014/main" id="{60EE0FB8-E87F-4257-8D57-50BDE1002B3D}"/>
              </a:ext>
            </a:extLst>
          </p:cNvPr>
          <p:cNvGraphicFramePr>
            <a:graphicFrameLocks noGrp="1"/>
          </p:cNvGraphicFramePr>
          <p:nvPr>
            <p:extLst>
              <p:ext uri="{D42A27DB-BD31-4B8C-83A1-F6EECF244321}">
                <p14:modId xmlns:p14="http://schemas.microsoft.com/office/powerpoint/2010/main" val="886005085"/>
              </p:ext>
            </p:extLst>
          </p:nvPr>
        </p:nvGraphicFramePr>
        <p:xfrm>
          <a:off x="1507222" y="5260000"/>
          <a:ext cx="9049024" cy="487102"/>
        </p:xfrm>
        <a:graphic>
          <a:graphicData uri="http://schemas.openxmlformats.org/drawingml/2006/table">
            <a:tbl>
              <a:tblPr firstRow="1" bandRow="1">
                <a:noFill/>
                <a:tableStyleId>{5940675A-B579-460E-94D1-54222C63F5DA}</a:tableStyleId>
              </a:tblPr>
              <a:tblGrid>
                <a:gridCol w="565564">
                  <a:extLst>
                    <a:ext uri="{9D8B030D-6E8A-4147-A177-3AD203B41FA5}">
                      <a16:colId xmlns:a16="http://schemas.microsoft.com/office/drawing/2014/main" val="2047929024"/>
                    </a:ext>
                  </a:extLst>
                </a:gridCol>
                <a:gridCol w="565564">
                  <a:extLst>
                    <a:ext uri="{9D8B030D-6E8A-4147-A177-3AD203B41FA5}">
                      <a16:colId xmlns:a16="http://schemas.microsoft.com/office/drawing/2014/main" val="2720648951"/>
                    </a:ext>
                  </a:extLst>
                </a:gridCol>
                <a:gridCol w="565564">
                  <a:extLst>
                    <a:ext uri="{9D8B030D-6E8A-4147-A177-3AD203B41FA5}">
                      <a16:colId xmlns:a16="http://schemas.microsoft.com/office/drawing/2014/main" val="3634192343"/>
                    </a:ext>
                  </a:extLst>
                </a:gridCol>
                <a:gridCol w="565564">
                  <a:extLst>
                    <a:ext uri="{9D8B030D-6E8A-4147-A177-3AD203B41FA5}">
                      <a16:colId xmlns:a16="http://schemas.microsoft.com/office/drawing/2014/main" val="3044103780"/>
                    </a:ext>
                  </a:extLst>
                </a:gridCol>
                <a:gridCol w="565564">
                  <a:extLst>
                    <a:ext uri="{9D8B030D-6E8A-4147-A177-3AD203B41FA5}">
                      <a16:colId xmlns:a16="http://schemas.microsoft.com/office/drawing/2014/main" val="639062456"/>
                    </a:ext>
                  </a:extLst>
                </a:gridCol>
                <a:gridCol w="565564">
                  <a:extLst>
                    <a:ext uri="{9D8B030D-6E8A-4147-A177-3AD203B41FA5}">
                      <a16:colId xmlns:a16="http://schemas.microsoft.com/office/drawing/2014/main" val="2061148105"/>
                    </a:ext>
                  </a:extLst>
                </a:gridCol>
                <a:gridCol w="565564">
                  <a:extLst>
                    <a:ext uri="{9D8B030D-6E8A-4147-A177-3AD203B41FA5}">
                      <a16:colId xmlns:a16="http://schemas.microsoft.com/office/drawing/2014/main" val="1553186169"/>
                    </a:ext>
                  </a:extLst>
                </a:gridCol>
                <a:gridCol w="565564">
                  <a:extLst>
                    <a:ext uri="{9D8B030D-6E8A-4147-A177-3AD203B41FA5}">
                      <a16:colId xmlns:a16="http://schemas.microsoft.com/office/drawing/2014/main" val="604826219"/>
                    </a:ext>
                  </a:extLst>
                </a:gridCol>
                <a:gridCol w="565564">
                  <a:extLst>
                    <a:ext uri="{9D8B030D-6E8A-4147-A177-3AD203B41FA5}">
                      <a16:colId xmlns:a16="http://schemas.microsoft.com/office/drawing/2014/main" val="1768730732"/>
                    </a:ext>
                  </a:extLst>
                </a:gridCol>
                <a:gridCol w="565564">
                  <a:extLst>
                    <a:ext uri="{9D8B030D-6E8A-4147-A177-3AD203B41FA5}">
                      <a16:colId xmlns:a16="http://schemas.microsoft.com/office/drawing/2014/main" val="2958785422"/>
                    </a:ext>
                  </a:extLst>
                </a:gridCol>
                <a:gridCol w="565564">
                  <a:extLst>
                    <a:ext uri="{9D8B030D-6E8A-4147-A177-3AD203B41FA5}">
                      <a16:colId xmlns:a16="http://schemas.microsoft.com/office/drawing/2014/main" val="965434715"/>
                    </a:ext>
                  </a:extLst>
                </a:gridCol>
                <a:gridCol w="565564">
                  <a:extLst>
                    <a:ext uri="{9D8B030D-6E8A-4147-A177-3AD203B41FA5}">
                      <a16:colId xmlns:a16="http://schemas.microsoft.com/office/drawing/2014/main" val="4071540795"/>
                    </a:ext>
                  </a:extLst>
                </a:gridCol>
                <a:gridCol w="565564">
                  <a:extLst>
                    <a:ext uri="{9D8B030D-6E8A-4147-A177-3AD203B41FA5}">
                      <a16:colId xmlns:a16="http://schemas.microsoft.com/office/drawing/2014/main" val="762208633"/>
                    </a:ext>
                  </a:extLst>
                </a:gridCol>
                <a:gridCol w="565564">
                  <a:extLst>
                    <a:ext uri="{9D8B030D-6E8A-4147-A177-3AD203B41FA5}">
                      <a16:colId xmlns:a16="http://schemas.microsoft.com/office/drawing/2014/main" val="2615065319"/>
                    </a:ext>
                  </a:extLst>
                </a:gridCol>
                <a:gridCol w="565564">
                  <a:extLst>
                    <a:ext uri="{9D8B030D-6E8A-4147-A177-3AD203B41FA5}">
                      <a16:colId xmlns:a16="http://schemas.microsoft.com/office/drawing/2014/main" val="429546748"/>
                    </a:ext>
                  </a:extLst>
                </a:gridCol>
                <a:gridCol w="565564">
                  <a:extLst>
                    <a:ext uri="{9D8B030D-6E8A-4147-A177-3AD203B41FA5}">
                      <a16:colId xmlns:a16="http://schemas.microsoft.com/office/drawing/2014/main" val="2565898048"/>
                    </a:ext>
                  </a:extLst>
                </a:gridCol>
              </a:tblGrid>
              <a:tr h="487102">
                <a:tc>
                  <a:txBody>
                    <a:bodyPr/>
                    <a:lstStyle/>
                    <a:p>
                      <a:pPr algn="ctr"/>
                      <a:r>
                        <a:rPr lang="en-US" altLang="zh-CN" sz="2400" b="0" kern="1200" dirty="0">
                          <a:solidFill>
                            <a:schemeClr val="tx1"/>
                          </a:solidFill>
                          <a:latin typeface="Century" panose="02040604050505020304" pitchFamily="18" charset="0"/>
                          <a:ea typeface="+mn-ea"/>
                          <a:cs typeface="+mn-cs"/>
                        </a:rPr>
                        <a:t>I</a:t>
                      </a:r>
                      <a:endParaRPr lang="zh-CN" altLang="en-US" sz="2400" b="0" kern="1200" dirty="0">
                        <a:solidFill>
                          <a:schemeClr val="tx1"/>
                        </a:solidFill>
                        <a:latin typeface="Century" panose="02040604050505020304" pitchFamily="18" charset="0"/>
                        <a:ea typeface="+mn-ea"/>
                        <a:cs typeface="+mn-cs"/>
                      </a:endParaRPr>
                    </a:p>
                  </a:txBody>
                  <a:tcPr anchor="ctr">
                    <a:cell3D prstMaterial="dkEdge">
                      <a:bevel w="50800" prst="hardEdge"/>
                      <a:lightRig rig="flood" dir="t"/>
                    </a:cell3D>
                  </a:tcPr>
                </a:tc>
                <a:tc>
                  <a:txBody>
                    <a:bodyPr/>
                    <a:lstStyle/>
                    <a:p>
                      <a:pPr algn="ctr"/>
                      <a:endParaRPr lang="zh-CN" altLang="en-US" dirty="0"/>
                    </a:p>
                  </a:txBody>
                  <a:tcPr anchor="ctr">
                    <a:cell3D prstMaterial="dkEdge">
                      <a:bevel w="50800" prst="hardEdge"/>
                      <a:lightRig rig="flood" dir="t"/>
                    </a:cell3D>
                  </a:tcPr>
                </a:tc>
                <a:tc>
                  <a:txBody>
                    <a:bodyPr/>
                    <a:lstStyle/>
                    <a:p>
                      <a:pPr marL="0" algn="ctr" defTabSz="914400" rtl="0" eaLnBrk="1" latinLnBrk="0" hangingPunct="1"/>
                      <a:r>
                        <a:rPr lang="en-US" altLang="zh-CN" sz="2400" b="0" kern="1200" dirty="0">
                          <a:solidFill>
                            <a:schemeClr val="tx1"/>
                          </a:solidFill>
                          <a:latin typeface="Century" panose="02040604050505020304" pitchFamily="18" charset="0"/>
                          <a:ea typeface="+mn-ea"/>
                          <a:cs typeface="+mn-cs"/>
                        </a:rPr>
                        <a:t>a</a:t>
                      </a:r>
                      <a:endParaRPr lang="zh-CN" altLang="en-US" sz="2400" b="0" kern="1200" dirty="0">
                        <a:solidFill>
                          <a:schemeClr val="tx1"/>
                        </a:solidFill>
                        <a:latin typeface="Century" panose="02040604050505020304" pitchFamily="18" charset="0"/>
                        <a:ea typeface="+mn-ea"/>
                        <a:cs typeface="+mn-cs"/>
                      </a:endParaRPr>
                    </a:p>
                  </a:txBody>
                  <a:tcPr anchor="ctr">
                    <a:cell3D prstMaterial="dkEdge">
                      <a:bevel w="50800" prst="hardEdge"/>
                      <a:lightRig rig="flood" dir="t"/>
                    </a:cell3D>
                  </a:tcPr>
                </a:tc>
                <a:tc>
                  <a:txBody>
                    <a:bodyPr/>
                    <a:lstStyle/>
                    <a:p>
                      <a:pPr marL="0" algn="ctr" defTabSz="914400" rtl="0" eaLnBrk="1" latinLnBrk="0" hangingPunct="1"/>
                      <a:r>
                        <a:rPr lang="en-US" altLang="zh-CN" sz="2400" b="0" kern="1200" dirty="0">
                          <a:solidFill>
                            <a:schemeClr val="tx1"/>
                          </a:solidFill>
                          <a:latin typeface="Century" panose="02040604050505020304" pitchFamily="18" charset="0"/>
                          <a:ea typeface="+mn-ea"/>
                          <a:cs typeface="+mn-cs"/>
                        </a:rPr>
                        <a:t>m</a:t>
                      </a:r>
                      <a:endParaRPr lang="zh-CN" altLang="en-US" sz="2400" b="0" kern="1200" dirty="0">
                        <a:solidFill>
                          <a:schemeClr val="tx1"/>
                        </a:solidFill>
                        <a:latin typeface="Century" panose="02040604050505020304" pitchFamily="18" charset="0"/>
                        <a:ea typeface="+mn-ea"/>
                        <a:cs typeface="+mn-cs"/>
                      </a:endParaRPr>
                    </a:p>
                  </a:txBody>
                  <a:tcPr anchor="ctr">
                    <a:cell3D prstMaterial="dkEdge">
                      <a:bevel w="50800" prst="hardEdge"/>
                      <a:lightRig rig="flood" dir="t"/>
                    </a:cell3D>
                  </a:tcPr>
                </a:tc>
                <a:tc>
                  <a:txBody>
                    <a:bodyPr/>
                    <a:lstStyle/>
                    <a:p>
                      <a:pPr algn="ctr"/>
                      <a:endParaRPr lang="zh-CN" altLang="en-US" dirty="0"/>
                    </a:p>
                  </a:txBody>
                  <a:tcPr anchor="ctr">
                    <a:cell3D prstMaterial="dkEdge">
                      <a:bevel w="50800" prst="hardEdge"/>
                      <a:lightRig rig="flood" dir="t"/>
                    </a:cell3D>
                  </a:tcPr>
                </a:tc>
                <a:tc>
                  <a:txBody>
                    <a:bodyPr/>
                    <a:lstStyle/>
                    <a:p>
                      <a:pPr marL="0" algn="ctr" defTabSz="914400" rtl="0" eaLnBrk="1" latinLnBrk="0" hangingPunct="1"/>
                      <a:r>
                        <a:rPr lang="en-US" altLang="zh-CN" sz="2400" b="0" kern="1200" dirty="0">
                          <a:solidFill>
                            <a:schemeClr val="tx1"/>
                          </a:solidFill>
                          <a:latin typeface="Century" panose="02040604050505020304" pitchFamily="18" charset="0"/>
                          <a:ea typeface="+mn-ea"/>
                          <a:cs typeface="+mn-cs"/>
                        </a:rPr>
                        <a:t>a</a:t>
                      </a:r>
                      <a:endParaRPr lang="zh-CN" altLang="en-US" sz="2400" b="0" kern="1200" dirty="0">
                        <a:solidFill>
                          <a:schemeClr val="tx1"/>
                        </a:solidFill>
                        <a:latin typeface="Century" panose="02040604050505020304" pitchFamily="18" charset="0"/>
                        <a:ea typeface="+mn-ea"/>
                        <a:cs typeface="+mn-cs"/>
                      </a:endParaRPr>
                    </a:p>
                  </a:txBody>
                  <a:tcPr anchor="ctr">
                    <a:cell3D prstMaterial="dkEdge">
                      <a:bevel w="50800" prst="hardEdge"/>
                      <a:lightRig rig="flood" dir="t"/>
                    </a:cell3D>
                  </a:tcPr>
                </a:tc>
                <a:tc>
                  <a:txBody>
                    <a:bodyPr/>
                    <a:lstStyle/>
                    <a:p>
                      <a:pPr marL="0" algn="ctr" defTabSz="914400" rtl="0" eaLnBrk="1" latinLnBrk="0" hangingPunct="1"/>
                      <a:endParaRPr lang="zh-CN" altLang="en-US" sz="2400" b="0" kern="1200" dirty="0">
                        <a:solidFill>
                          <a:schemeClr val="tx1"/>
                        </a:solidFill>
                        <a:latin typeface="Century" panose="02040604050505020304" pitchFamily="18" charset="0"/>
                        <a:ea typeface="+mn-ea"/>
                        <a:cs typeface="+mn-cs"/>
                      </a:endParaRPr>
                    </a:p>
                  </a:txBody>
                  <a:tcPr anchor="ctr">
                    <a:cell3D prstMaterial="dkEdge">
                      <a:bevel w="50800" prst="hardEdge"/>
                      <a:lightRig rig="flood" dir="t"/>
                    </a:cell3D>
                  </a:tcPr>
                </a:tc>
                <a:tc>
                  <a:txBody>
                    <a:bodyPr/>
                    <a:lstStyle/>
                    <a:p>
                      <a:pPr marL="0" algn="ctr" defTabSz="914400" rtl="0" eaLnBrk="1" latinLnBrk="0" hangingPunct="1"/>
                      <a:r>
                        <a:rPr lang="en-US" altLang="zh-CN" sz="2400" b="0" kern="1200" dirty="0">
                          <a:solidFill>
                            <a:schemeClr val="tx1"/>
                          </a:solidFill>
                          <a:latin typeface="Century" panose="02040604050505020304" pitchFamily="18" charset="0"/>
                          <a:ea typeface="+mn-ea"/>
                          <a:cs typeface="+mn-cs"/>
                        </a:rPr>
                        <a:t>s</a:t>
                      </a:r>
                      <a:endParaRPr lang="zh-CN" altLang="en-US" sz="2400" b="0" kern="1200" dirty="0">
                        <a:solidFill>
                          <a:schemeClr val="tx1"/>
                        </a:solidFill>
                        <a:latin typeface="Century" panose="02040604050505020304" pitchFamily="18" charset="0"/>
                        <a:ea typeface="+mn-ea"/>
                        <a:cs typeface="+mn-cs"/>
                      </a:endParaRPr>
                    </a:p>
                  </a:txBody>
                  <a:tcPr anchor="ctr">
                    <a:cell3D prstMaterial="dkEdge">
                      <a:bevel w="50800" prst="hardEdge"/>
                      <a:lightRig rig="flood" dir="t"/>
                    </a:cell3D>
                  </a:tcPr>
                </a:tc>
                <a:tc>
                  <a:txBody>
                    <a:bodyPr/>
                    <a:lstStyle/>
                    <a:p>
                      <a:pPr marL="0" algn="ctr" defTabSz="914400" rtl="0" eaLnBrk="1" latinLnBrk="0" hangingPunct="1"/>
                      <a:r>
                        <a:rPr lang="en-US" altLang="zh-CN" sz="2400" b="0" kern="1200" dirty="0">
                          <a:solidFill>
                            <a:schemeClr val="tx1"/>
                          </a:solidFill>
                          <a:latin typeface="Century" panose="02040604050505020304" pitchFamily="18" charset="0"/>
                          <a:ea typeface="+mn-ea"/>
                          <a:cs typeface="+mn-cs"/>
                        </a:rPr>
                        <a:t>t</a:t>
                      </a:r>
                      <a:endParaRPr lang="zh-CN" altLang="en-US" sz="2400" b="0" kern="1200" dirty="0">
                        <a:solidFill>
                          <a:schemeClr val="tx1"/>
                        </a:solidFill>
                        <a:latin typeface="Century" panose="02040604050505020304" pitchFamily="18" charset="0"/>
                        <a:ea typeface="+mn-ea"/>
                        <a:cs typeface="+mn-cs"/>
                      </a:endParaRPr>
                    </a:p>
                  </a:txBody>
                  <a:tcPr anchor="ctr">
                    <a:cell3D prstMaterial="dkEdge">
                      <a:bevel w="50800" prst="hardEdge"/>
                      <a:lightRig rig="flood" dir="t"/>
                    </a:cell3D>
                  </a:tcPr>
                </a:tc>
                <a:tc>
                  <a:txBody>
                    <a:bodyPr/>
                    <a:lstStyle/>
                    <a:p>
                      <a:pPr marL="0" algn="ctr" defTabSz="914400" rtl="0" eaLnBrk="1" latinLnBrk="0" hangingPunct="1"/>
                      <a:r>
                        <a:rPr lang="en-US" altLang="zh-CN" sz="2400" b="0" kern="1200" dirty="0">
                          <a:solidFill>
                            <a:schemeClr val="tx1"/>
                          </a:solidFill>
                          <a:latin typeface="Century" panose="02040604050505020304" pitchFamily="18" charset="0"/>
                          <a:ea typeface="+mn-ea"/>
                          <a:cs typeface="+mn-cs"/>
                        </a:rPr>
                        <a:t>u</a:t>
                      </a:r>
                      <a:endParaRPr lang="zh-CN" altLang="en-US" sz="2400" b="0" kern="1200" dirty="0">
                        <a:solidFill>
                          <a:schemeClr val="tx1"/>
                        </a:solidFill>
                        <a:latin typeface="Century" panose="02040604050505020304" pitchFamily="18" charset="0"/>
                        <a:ea typeface="+mn-ea"/>
                        <a:cs typeface="+mn-cs"/>
                      </a:endParaRPr>
                    </a:p>
                  </a:txBody>
                  <a:tcPr anchor="ctr">
                    <a:cell3D prstMaterial="dkEdge">
                      <a:bevel w="50800" prst="hardEdge"/>
                      <a:lightRig rig="flood" dir="t"/>
                    </a:cell3D>
                  </a:tcPr>
                </a:tc>
                <a:tc>
                  <a:txBody>
                    <a:bodyPr/>
                    <a:lstStyle/>
                    <a:p>
                      <a:pPr marL="0" algn="ctr" defTabSz="914400" rtl="0" eaLnBrk="1" latinLnBrk="0" hangingPunct="1"/>
                      <a:r>
                        <a:rPr lang="en-US" altLang="zh-CN" sz="2400" b="0" kern="1200" dirty="0">
                          <a:solidFill>
                            <a:schemeClr val="tx1"/>
                          </a:solidFill>
                          <a:latin typeface="Century" panose="02040604050505020304" pitchFamily="18" charset="0"/>
                          <a:ea typeface="+mn-ea"/>
                          <a:cs typeface="+mn-cs"/>
                        </a:rPr>
                        <a:t>d</a:t>
                      </a:r>
                      <a:endParaRPr lang="zh-CN" altLang="en-US" sz="2400" b="0" kern="1200" dirty="0">
                        <a:solidFill>
                          <a:schemeClr val="tx1"/>
                        </a:solidFill>
                        <a:latin typeface="Century" panose="02040604050505020304" pitchFamily="18" charset="0"/>
                        <a:ea typeface="+mn-ea"/>
                        <a:cs typeface="+mn-cs"/>
                      </a:endParaRPr>
                    </a:p>
                  </a:txBody>
                  <a:tcPr anchor="ctr">
                    <a:cell3D prstMaterial="dkEdge">
                      <a:bevel w="50800" prst="hardEdge"/>
                      <a:lightRig rig="flood" dir="t"/>
                    </a:cell3D>
                  </a:tcPr>
                </a:tc>
                <a:tc>
                  <a:txBody>
                    <a:bodyPr/>
                    <a:lstStyle/>
                    <a:p>
                      <a:pPr marL="0" algn="ctr" defTabSz="914400" rtl="0" eaLnBrk="1" latinLnBrk="0" hangingPunct="1"/>
                      <a:r>
                        <a:rPr lang="en-US" altLang="zh-CN" sz="2400" b="0" kern="1200" dirty="0">
                          <a:solidFill>
                            <a:schemeClr val="tx1"/>
                          </a:solidFill>
                          <a:latin typeface="Century" panose="02040604050505020304" pitchFamily="18" charset="0"/>
                          <a:ea typeface="+mn-ea"/>
                          <a:cs typeface="+mn-cs"/>
                        </a:rPr>
                        <a:t>e</a:t>
                      </a:r>
                      <a:endParaRPr lang="zh-CN" altLang="en-US" sz="2400" b="0" kern="1200" dirty="0">
                        <a:solidFill>
                          <a:schemeClr val="tx1"/>
                        </a:solidFill>
                        <a:latin typeface="Century" panose="02040604050505020304" pitchFamily="18" charset="0"/>
                        <a:ea typeface="+mn-ea"/>
                        <a:cs typeface="+mn-cs"/>
                      </a:endParaRPr>
                    </a:p>
                  </a:txBody>
                  <a:tcPr anchor="ctr">
                    <a:cell3D prstMaterial="dkEdge">
                      <a:bevel w="50800" prst="hardEdge"/>
                      <a:lightRig rig="flood" dir="t"/>
                    </a:cell3D>
                  </a:tcPr>
                </a:tc>
                <a:tc>
                  <a:txBody>
                    <a:bodyPr/>
                    <a:lstStyle/>
                    <a:p>
                      <a:pPr marL="0" algn="ctr" defTabSz="914400" rtl="0" eaLnBrk="1" latinLnBrk="0" hangingPunct="1"/>
                      <a:r>
                        <a:rPr lang="en-US" altLang="zh-CN" sz="2400" b="0" kern="1200" dirty="0">
                          <a:solidFill>
                            <a:schemeClr val="tx1"/>
                          </a:solidFill>
                          <a:latin typeface="Century" panose="02040604050505020304" pitchFamily="18" charset="0"/>
                          <a:ea typeface="+mn-ea"/>
                          <a:cs typeface="+mn-cs"/>
                        </a:rPr>
                        <a:t>n</a:t>
                      </a:r>
                      <a:endParaRPr lang="zh-CN" altLang="en-US" sz="2400" b="0" kern="1200" dirty="0">
                        <a:solidFill>
                          <a:schemeClr val="tx1"/>
                        </a:solidFill>
                        <a:latin typeface="Century" panose="02040604050505020304" pitchFamily="18" charset="0"/>
                        <a:ea typeface="+mn-ea"/>
                        <a:cs typeface="+mn-cs"/>
                      </a:endParaRPr>
                    </a:p>
                  </a:txBody>
                  <a:tcPr anchor="ctr">
                    <a:cell3D prstMaterial="dkEdge">
                      <a:bevel w="50800" prst="hardEdge"/>
                      <a:lightRig rig="flood" dir="t"/>
                    </a:cell3D>
                  </a:tcPr>
                </a:tc>
                <a:tc>
                  <a:txBody>
                    <a:bodyPr/>
                    <a:lstStyle/>
                    <a:p>
                      <a:pPr marL="0" algn="ctr" defTabSz="914400" rtl="0" eaLnBrk="1" latinLnBrk="0" hangingPunct="1"/>
                      <a:r>
                        <a:rPr lang="en-US" altLang="zh-CN" sz="2400" b="0" kern="1200" dirty="0">
                          <a:solidFill>
                            <a:schemeClr val="tx1"/>
                          </a:solidFill>
                          <a:latin typeface="Century" panose="02040604050505020304" pitchFamily="18" charset="0"/>
                          <a:ea typeface="+mn-ea"/>
                          <a:cs typeface="+mn-cs"/>
                        </a:rPr>
                        <a:t>t</a:t>
                      </a:r>
                      <a:endParaRPr lang="zh-CN" altLang="en-US" sz="2400" b="0" kern="1200" dirty="0">
                        <a:solidFill>
                          <a:schemeClr val="tx1"/>
                        </a:solidFill>
                        <a:latin typeface="Century" panose="02040604050505020304" pitchFamily="18" charset="0"/>
                        <a:ea typeface="+mn-ea"/>
                        <a:cs typeface="+mn-cs"/>
                      </a:endParaRPr>
                    </a:p>
                  </a:txBody>
                  <a:tcPr anchor="ctr">
                    <a:cell3D prstMaterial="dkEdge">
                      <a:bevel w="50800" prst="hardEdge"/>
                      <a:lightRig rig="flood" dir="t"/>
                    </a:cell3D>
                  </a:tcPr>
                </a:tc>
                <a:tc>
                  <a:txBody>
                    <a:bodyPr/>
                    <a:lstStyle/>
                    <a:p>
                      <a:pPr marL="0" algn="ctr" defTabSz="914400" rtl="0" eaLnBrk="1" latinLnBrk="0" hangingPunct="1"/>
                      <a:r>
                        <a:rPr lang="en-US" altLang="zh-CN" sz="2400" b="0" kern="1200" dirty="0">
                          <a:solidFill>
                            <a:schemeClr val="tx1"/>
                          </a:solidFill>
                          <a:latin typeface="Century" panose="02040604050505020304" pitchFamily="18" charset="0"/>
                          <a:ea typeface="+mn-ea"/>
                          <a:cs typeface="+mn-cs"/>
                        </a:rPr>
                        <a:t>.</a:t>
                      </a:r>
                      <a:endParaRPr lang="zh-CN" altLang="en-US" sz="2400" b="0" kern="1200" dirty="0">
                        <a:solidFill>
                          <a:schemeClr val="tx1"/>
                        </a:solidFill>
                        <a:latin typeface="Century" panose="02040604050505020304" pitchFamily="18" charset="0"/>
                        <a:ea typeface="+mn-ea"/>
                        <a:cs typeface="+mn-cs"/>
                      </a:endParaRPr>
                    </a:p>
                  </a:txBody>
                  <a:tcPr anchor="ctr">
                    <a:cell3D prstMaterial="dkEdge">
                      <a:bevel w="50800" prst="hardEdge"/>
                      <a:lightRig rig="flood" dir="t"/>
                    </a:cell3D>
                  </a:tcPr>
                </a:tc>
                <a:tc>
                  <a:txBody>
                    <a:bodyPr/>
                    <a:lstStyle/>
                    <a:p>
                      <a:pPr marL="0" algn="ctr" defTabSz="914400" rtl="0" eaLnBrk="1" latinLnBrk="0" hangingPunct="1"/>
                      <a:r>
                        <a:rPr lang="en-US" altLang="zh-CN" sz="2400" b="0" kern="1200" dirty="0">
                          <a:solidFill>
                            <a:schemeClr val="tx1"/>
                          </a:solidFill>
                          <a:latin typeface="Century" panose="02040604050505020304" pitchFamily="18" charset="0"/>
                          <a:ea typeface="+mn-ea"/>
                          <a:cs typeface="+mn-cs"/>
                        </a:rPr>
                        <a:t>\0</a:t>
                      </a:r>
                      <a:endParaRPr lang="zh-CN" altLang="en-US" sz="2400" b="0" kern="1200" dirty="0">
                        <a:solidFill>
                          <a:schemeClr val="tx1"/>
                        </a:solidFill>
                        <a:latin typeface="Century" panose="02040604050505020304" pitchFamily="18" charset="0"/>
                        <a:ea typeface="+mn-ea"/>
                        <a:cs typeface="+mn-cs"/>
                      </a:endParaRPr>
                    </a:p>
                  </a:txBody>
                  <a:tcPr anchor="ctr">
                    <a:cell3D prstMaterial="dkEdge">
                      <a:bevel w="50800" prst="hardEdge"/>
                      <a:lightRig rig="flood" dir="t"/>
                    </a:cell3D>
                  </a:tcPr>
                </a:tc>
                <a:extLst>
                  <a:ext uri="{0D108BD9-81ED-4DB2-BD59-A6C34878D82A}">
                    <a16:rowId xmlns:a16="http://schemas.microsoft.com/office/drawing/2014/main" val="3149790749"/>
                  </a:ext>
                </a:extLst>
              </a:tr>
            </a:tbl>
          </a:graphicData>
        </a:graphic>
      </p:graphicFrame>
      <p:cxnSp>
        <p:nvCxnSpPr>
          <p:cNvPr id="22" name="直接箭头连接符 21">
            <a:extLst>
              <a:ext uri="{FF2B5EF4-FFF2-40B4-BE49-F238E27FC236}">
                <a16:creationId xmlns:a16="http://schemas.microsoft.com/office/drawing/2014/main" id="{911775D2-10C0-4822-B3F0-52B85260CE43}"/>
              </a:ext>
            </a:extLst>
          </p:cNvPr>
          <p:cNvCxnSpPr>
            <a:cxnSpLocks/>
            <a:stCxn id="24" idx="2"/>
          </p:cNvCxnSpPr>
          <p:nvPr/>
        </p:nvCxnSpPr>
        <p:spPr>
          <a:xfrm>
            <a:off x="1729927" y="4756786"/>
            <a:ext cx="6479" cy="487102"/>
          </a:xfrm>
          <a:prstGeom prst="straightConnector1">
            <a:avLst/>
          </a:prstGeom>
          <a:ln w="28575">
            <a:solidFill>
              <a:srgbClr val="FF0000"/>
            </a:solidFill>
            <a:headEnd type="none" w="lg" len="lg"/>
            <a:tailEnd type="triangle" w="med" len="med"/>
          </a:ln>
        </p:spPr>
        <p:style>
          <a:lnRef idx="1">
            <a:schemeClr val="dk1"/>
          </a:lnRef>
          <a:fillRef idx="0">
            <a:schemeClr val="dk1"/>
          </a:fillRef>
          <a:effectRef idx="0">
            <a:schemeClr val="dk1"/>
          </a:effectRef>
          <a:fontRef idx="minor">
            <a:schemeClr val="tx1"/>
          </a:fontRef>
        </p:style>
      </p:cxnSp>
      <p:grpSp>
        <p:nvGrpSpPr>
          <p:cNvPr id="23" name="组合 22">
            <a:extLst>
              <a:ext uri="{FF2B5EF4-FFF2-40B4-BE49-F238E27FC236}">
                <a16:creationId xmlns:a16="http://schemas.microsoft.com/office/drawing/2014/main" id="{E9416479-F466-46B9-A148-3E40F8A1F29A}"/>
              </a:ext>
            </a:extLst>
          </p:cNvPr>
          <p:cNvGrpSpPr/>
          <p:nvPr/>
        </p:nvGrpSpPr>
        <p:grpSpPr>
          <a:xfrm>
            <a:off x="1085547" y="4308335"/>
            <a:ext cx="894167" cy="477054"/>
            <a:chOff x="1786587" y="3403320"/>
            <a:chExt cx="894167" cy="477054"/>
          </a:xfrm>
        </p:grpSpPr>
        <p:sp>
          <p:nvSpPr>
            <p:cNvPr id="24" name="矩形 23">
              <a:extLst>
                <a:ext uri="{FF2B5EF4-FFF2-40B4-BE49-F238E27FC236}">
                  <a16:creationId xmlns:a16="http://schemas.microsoft.com/office/drawing/2014/main" id="{FE7F1295-DB54-4BFA-AD5C-2C6469ACE0C9}"/>
                </a:ext>
              </a:extLst>
            </p:cNvPr>
            <p:cNvSpPr/>
            <p:nvPr/>
          </p:nvSpPr>
          <p:spPr>
            <a:xfrm>
              <a:off x="2181180" y="3431923"/>
              <a:ext cx="499574" cy="419848"/>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a:extLst>
                <a:ext uri="{FF2B5EF4-FFF2-40B4-BE49-F238E27FC236}">
                  <a16:creationId xmlns:a16="http://schemas.microsoft.com/office/drawing/2014/main" id="{188A6276-9A43-46C7-A963-BF0D997A3753}"/>
                </a:ext>
              </a:extLst>
            </p:cNvPr>
            <p:cNvSpPr txBox="1"/>
            <p:nvPr/>
          </p:nvSpPr>
          <p:spPr>
            <a:xfrm>
              <a:off x="1786587" y="3403320"/>
              <a:ext cx="401072" cy="477054"/>
            </a:xfrm>
            <a:prstGeom prst="rect">
              <a:avLst/>
            </a:prstGeom>
            <a:noFill/>
          </p:spPr>
          <p:txBody>
            <a:bodyPr wrap="none" tIns="0" rtlCol="0" anchor="ctr" anchorCtr="1">
              <a:spAutoFit/>
            </a:bodyPr>
            <a:lstStyle/>
            <a:p>
              <a:r>
                <a:rPr lang="en-US" altLang="zh-CN" sz="2800" b="1" dirty="0"/>
                <a:t>p</a:t>
              </a:r>
              <a:endParaRPr lang="zh-CN" altLang="en-US" b="1" dirty="0"/>
            </a:p>
          </p:txBody>
        </p:sp>
      </p:grpSp>
      <p:sp>
        <p:nvSpPr>
          <p:cNvPr id="27" name="灯片编号占位符 26">
            <a:extLst>
              <a:ext uri="{FF2B5EF4-FFF2-40B4-BE49-F238E27FC236}">
                <a16:creationId xmlns:a16="http://schemas.microsoft.com/office/drawing/2014/main" id="{E1111E8F-C6F2-4ED7-84EA-DF72A31B527C}"/>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26</a:t>
            </a:fld>
            <a:r>
              <a:rPr lang="en-US" altLang="zh-CN">
                <a:solidFill>
                  <a:prstClr val="black">
                    <a:tint val="75000"/>
                  </a:prstClr>
                </a:solidFill>
              </a:rPr>
              <a:t>/ 35</a:t>
            </a:r>
            <a:endParaRPr lang="zh-CN" altLang="en-US" dirty="0"/>
          </a:p>
        </p:txBody>
      </p:sp>
    </p:spTree>
    <p:extLst>
      <p:ext uri="{BB962C8B-B14F-4D97-AF65-F5344CB8AC3E}">
        <p14:creationId xmlns:p14="http://schemas.microsoft.com/office/powerpoint/2010/main" val="3848382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47"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1000"/>
                                        <p:tgtEl>
                                          <p:spTgt spid="20"/>
                                        </p:tgtEl>
                                      </p:cBhvr>
                                    </p:animEffect>
                                    <p:anim calcmode="lin" valueType="num">
                                      <p:cBhvr>
                                        <p:cTn id="13" dur="1000" fill="hold"/>
                                        <p:tgtEl>
                                          <p:spTgt spid="20"/>
                                        </p:tgtEl>
                                        <p:attrNameLst>
                                          <p:attrName>ppt_x</p:attrName>
                                        </p:attrNameLst>
                                      </p:cBhvr>
                                      <p:tavLst>
                                        <p:tav tm="0">
                                          <p:val>
                                            <p:strVal val="#ppt_x"/>
                                          </p:val>
                                        </p:tav>
                                        <p:tav tm="100000">
                                          <p:val>
                                            <p:strVal val="#ppt_x"/>
                                          </p:val>
                                        </p:tav>
                                      </p:tavLst>
                                    </p:anim>
                                    <p:anim calcmode="lin" valueType="num">
                                      <p:cBhvr>
                                        <p:cTn id="14" dur="1000" fill="hold"/>
                                        <p:tgtEl>
                                          <p:spTgt spid="20"/>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1000"/>
                                        <p:tgtEl>
                                          <p:spTgt spid="9"/>
                                        </p:tgtEl>
                                      </p:cBhvr>
                                    </p:animEffect>
                                    <p:anim calcmode="lin" valueType="num">
                                      <p:cBhvr>
                                        <p:cTn id="18" dur="1000" fill="hold"/>
                                        <p:tgtEl>
                                          <p:spTgt spid="9"/>
                                        </p:tgtEl>
                                        <p:attrNameLst>
                                          <p:attrName>ppt_x</p:attrName>
                                        </p:attrNameLst>
                                      </p:cBhvr>
                                      <p:tavLst>
                                        <p:tav tm="0">
                                          <p:val>
                                            <p:strVal val="#ppt_x"/>
                                          </p:val>
                                        </p:tav>
                                        <p:tav tm="100000">
                                          <p:val>
                                            <p:strVal val="#ppt_x"/>
                                          </p:val>
                                        </p:tav>
                                      </p:tavLst>
                                    </p:anim>
                                    <p:anim calcmode="lin" valueType="num">
                                      <p:cBhvr>
                                        <p:cTn id="1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21"/>
                                        </p:tgtEl>
                                        <p:attrNameLst>
                                          <p:attrName>style.visibility</p:attrName>
                                        </p:attrNameLst>
                                      </p:cBhvr>
                                      <p:to>
                                        <p:strVal val="visible"/>
                                      </p:to>
                                    </p:set>
                                    <p:animEffect transition="in" filter="fade">
                                      <p:cBhvr>
                                        <p:cTn id="24" dur="1000"/>
                                        <p:tgtEl>
                                          <p:spTgt spid="21"/>
                                        </p:tgtEl>
                                      </p:cBhvr>
                                    </p:animEffect>
                                    <p:anim calcmode="lin" valueType="num">
                                      <p:cBhvr>
                                        <p:cTn id="25" dur="1000" fill="hold"/>
                                        <p:tgtEl>
                                          <p:spTgt spid="21"/>
                                        </p:tgtEl>
                                        <p:attrNameLst>
                                          <p:attrName>ppt_x</p:attrName>
                                        </p:attrNameLst>
                                      </p:cBhvr>
                                      <p:tavLst>
                                        <p:tav tm="0">
                                          <p:val>
                                            <p:strVal val="#ppt_x"/>
                                          </p:val>
                                        </p:tav>
                                        <p:tav tm="100000">
                                          <p:val>
                                            <p:strVal val="#ppt_x"/>
                                          </p:val>
                                        </p:tav>
                                      </p:tavLst>
                                    </p:anim>
                                    <p:anim calcmode="lin" valueType="num">
                                      <p:cBhvr>
                                        <p:cTn id="26" dur="1000" fill="hold"/>
                                        <p:tgtEl>
                                          <p:spTgt spid="21"/>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23"/>
                                        </p:tgtEl>
                                        <p:attrNameLst>
                                          <p:attrName>style.visibility</p:attrName>
                                        </p:attrNameLst>
                                      </p:cBhvr>
                                      <p:to>
                                        <p:strVal val="visible"/>
                                      </p:to>
                                    </p:set>
                                    <p:animEffect transition="in" filter="fade">
                                      <p:cBhvr>
                                        <p:cTn id="29" dur="1000"/>
                                        <p:tgtEl>
                                          <p:spTgt spid="23"/>
                                        </p:tgtEl>
                                      </p:cBhvr>
                                    </p:animEffect>
                                    <p:anim calcmode="lin" valueType="num">
                                      <p:cBhvr>
                                        <p:cTn id="30" dur="1000" fill="hold"/>
                                        <p:tgtEl>
                                          <p:spTgt spid="23"/>
                                        </p:tgtEl>
                                        <p:attrNameLst>
                                          <p:attrName>ppt_x</p:attrName>
                                        </p:attrNameLst>
                                      </p:cBhvr>
                                      <p:tavLst>
                                        <p:tav tm="0">
                                          <p:val>
                                            <p:strVal val="#ppt_x"/>
                                          </p:val>
                                        </p:tav>
                                        <p:tav tm="100000">
                                          <p:val>
                                            <p:strVal val="#ppt_x"/>
                                          </p:val>
                                        </p:tav>
                                      </p:tavLst>
                                    </p:anim>
                                    <p:anim calcmode="lin" valueType="num">
                                      <p:cBhvr>
                                        <p:cTn id="31" dur="1000" fill="hold"/>
                                        <p:tgtEl>
                                          <p:spTgt spid="23"/>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1000"/>
                                        <p:tgtEl>
                                          <p:spTgt spid="22"/>
                                        </p:tgtEl>
                                      </p:cBhvr>
                                    </p:animEffect>
                                    <p:anim calcmode="lin" valueType="num">
                                      <p:cBhvr>
                                        <p:cTn id="35" dur="1000" fill="hold"/>
                                        <p:tgtEl>
                                          <p:spTgt spid="22"/>
                                        </p:tgtEl>
                                        <p:attrNameLst>
                                          <p:attrName>ppt_x</p:attrName>
                                        </p:attrNameLst>
                                      </p:cBhvr>
                                      <p:tavLst>
                                        <p:tav tm="0">
                                          <p:val>
                                            <p:strVal val="#ppt_x"/>
                                          </p:val>
                                        </p:tav>
                                        <p:tav tm="100000">
                                          <p:val>
                                            <p:strVal val="#ppt_x"/>
                                          </p:val>
                                        </p:tav>
                                      </p:tavLst>
                                    </p:anim>
                                    <p:anim calcmode="lin" valueType="num">
                                      <p:cBhvr>
                                        <p:cTn id="36"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P spid="20"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930BBEAD-3411-4D85-8123-E736FBE0A10F}"/>
              </a:ext>
            </a:extLst>
          </p:cNvPr>
          <p:cNvGrpSpPr/>
          <p:nvPr/>
        </p:nvGrpSpPr>
        <p:grpSpPr>
          <a:xfrm>
            <a:off x="0" y="657112"/>
            <a:ext cx="12158444" cy="6065379"/>
            <a:chOff x="180096" y="2958352"/>
            <a:chExt cx="12158444" cy="6065379"/>
          </a:xfrm>
        </p:grpSpPr>
        <p:sp>
          <p:nvSpPr>
            <p:cNvPr id="4" name="Text Box 88">
              <a:extLst>
                <a:ext uri="{FF2B5EF4-FFF2-40B4-BE49-F238E27FC236}">
                  <a16:creationId xmlns:a16="http://schemas.microsoft.com/office/drawing/2014/main" id="{F63E8677-DF55-4518-B46D-E151CF3E52FE}"/>
                </a:ext>
              </a:extLst>
            </p:cNvPr>
            <p:cNvSpPr txBox="1">
              <a:spLocks noChangeArrowheads="1"/>
            </p:cNvSpPr>
            <p:nvPr/>
          </p:nvSpPr>
          <p:spPr bwMode="auto">
            <a:xfrm>
              <a:off x="180096" y="2958352"/>
              <a:ext cx="12158444" cy="6065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kumimoji="1" lang="zh-CN" altLang="en-US" sz="2800" dirty="0">
                  <a:solidFill>
                    <a:srgbClr val="FF3300"/>
                  </a:solidFill>
                  <a:ea typeface="隶书" pitchFamily="49" charset="-122"/>
                </a:rPr>
                <a:t>    警告</a:t>
              </a:r>
              <a:r>
                <a:rPr kumimoji="1" lang="en-US" altLang="zh-CN" sz="2400" dirty="0">
                  <a:solidFill>
                    <a:srgbClr val="3333FF"/>
                  </a:solidFill>
                  <a:ea typeface="隶书" pitchFamily="49" charset="-122"/>
                </a:rPr>
                <a:t>: </a:t>
              </a:r>
            </a:p>
            <a:p>
              <a:r>
                <a:rPr kumimoji="1" lang="en-US" altLang="zh-CN" sz="2400" dirty="0">
                  <a:solidFill>
                    <a:srgbClr val="3333FF"/>
                  </a:solidFill>
                  <a:latin typeface="隶书" pitchFamily="49" charset="-122"/>
                  <a:ea typeface="隶书" pitchFamily="49" charset="-122"/>
                </a:rPr>
                <a:t>   </a:t>
              </a:r>
              <a:r>
                <a:rPr kumimoji="1" lang="zh-CN" altLang="en-US" sz="2400" dirty="0">
                  <a:solidFill>
                    <a:srgbClr val="3333FF"/>
                  </a:solidFill>
                  <a:latin typeface="等线" panose="02010600030101010101" pitchFamily="2" charset="-122"/>
                  <a:ea typeface="等线" panose="02010600030101010101" pitchFamily="2" charset="-122"/>
                </a:rPr>
                <a:t>① </a:t>
              </a:r>
              <a:r>
                <a:rPr kumimoji="1" lang="zh-CN" altLang="en-US" sz="2400" dirty="0">
                  <a:solidFill>
                    <a:srgbClr val="3333FF"/>
                  </a:solidFill>
                  <a:ea typeface="隶书" pitchFamily="49" charset="-122"/>
                </a:rPr>
                <a:t>字符数组可以用字符串常量进行初始化，但不能把字符串常量赋值给字符数组。</a:t>
              </a:r>
              <a:endParaRPr kumimoji="1" lang="en-US" altLang="zh-CN" sz="2400" dirty="0">
                <a:solidFill>
                  <a:srgbClr val="3333FF"/>
                </a:solidFill>
                <a:ea typeface="隶书" pitchFamily="49" charset="-122"/>
              </a:endParaRPr>
            </a:p>
            <a:p>
              <a:endParaRPr kumimoji="1" lang="en-US" altLang="zh-CN" sz="2400" dirty="0">
                <a:solidFill>
                  <a:srgbClr val="3333FF"/>
                </a:solidFill>
                <a:ea typeface="隶书" pitchFamily="49" charset="-122"/>
              </a:endParaRPr>
            </a:p>
            <a:p>
              <a:endParaRPr kumimoji="1" lang="en-US" altLang="zh-CN" sz="2400" dirty="0">
                <a:solidFill>
                  <a:srgbClr val="3333FF"/>
                </a:solidFill>
                <a:ea typeface="隶书" pitchFamily="49" charset="-122"/>
              </a:endParaRPr>
            </a:p>
            <a:p>
              <a:endParaRPr kumimoji="1" lang="en-US" altLang="zh-CN" sz="2400" dirty="0">
                <a:solidFill>
                  <a:srgbClr val="3333FF"/>
                </a:solidFill>
                <a:ea typeface="隶书" pitchFamily="49" charset="-122"/>
              </a:endParaRPr>
            </a:p>
            <a:p>
              <a:endParaRPr kumimoji="1" lang="en-US" altLang="zh-CN" sz="2400" dirty="0">
                <a:solidFill>
                  <a:srgbClr val="3333FF"/>
                </a:solidFill>
                <a:ea typeface="隶书" pitchFamily="49" charset="-122"/>
              </a:endParaRPr>
            </a:p>
            <a:p>
              <a:endParaRPr kumimoji="1" lang="en-US" altLang="zh-CN" sz="2400" dirty="0">
                <a:solidFill>
                  <a:srgbClr val="3333FF"/>
                </a:solidFill>
                <a:ea typeface="隶书" pitchFamily="49" charset="-122"/>
              </a:endParaRPr>
            </a:p>
            <a:p>
              <a:r>
                <a:rPr kumimoji="1" lang="en-US" altLang="zh-CN" sz="2400" dirty="0">
                  <a:solidFill>
                    <a:srgbClr val="3333FF"/>
                  </a:solidFill>
                  <a:latin typeface="等线" panose="02010600030101010101" pitchFamily="2" charset="-122"/>
                  <a:ea typeface="等线" panose="02010600030101010101" pitchFamily="2" charset="-122"/>
                </a:rPr>
                <a:t>    </a:t>
              </a:r>
            </a:p>
            <a:p>
              <a:r>
                <a:rPr kumimoji="1" lang="en-US" altLang="zh-CN" sz="2400" dirty="0">
                  <a:solidFill>
                    <a:srgbClr val="3333FF"/>
                  </a:solidFill>
                  <a:latin typeface="等线" panose="02010600030101010101" pitchFamily="2" charset="-122"/>
                  <a:ea typeface="等线" panose="02010600030101010101" pitchFamily="2" charset="-122"/>
                </a:rPr>
                <a:t>     ② </a:t>
              </a:r>
              <a:r>
                <a:rPr kumimoji="1" lang="zh-CN" altLang="en-US" sz="2400" dirty="0">
                  <a:solidFill>
                    <a:srgbClr val="3333FF"/>
                  </a:solidFill>
                  <a:ea typeface="隶书" pitchFamily="49" charset="-122"/>
                </a:rPr>
                <a:t>字符指针变量指向字符串常量时，不能通过该字符指针变量对其进行修改。</a:t>
              </a:r>
              <a:endParaRPr kumimoji="1" lang="en-US" altLang="zh-CN" sz="2400" dirty="0">
                <a:solidFill>
                  <a:srgbClr val="3333FF"/>
                </a:solidFill>
                <a:ea typeface="隶书" pitchFamily="49" charset="-122"/>
              </a:endParaRPr>
            </a:p>
            <a:p>
              <a:endParaRPr kumimoji="1" lang="en-US" altLang="zh-CN" sz="2400" dirty="0">
                <a:solidFill>
                  <a:srgbClr val="3333FF"/>
                </a:solidFill>
                <a:ea typeface="隶书" pitchFamily="49" charset="-122"/>
              </a:endParaRPr>
            </a:p>
            <a:p>
              <a:endParaRPr kumimoji="1" lang="en-US" altLang="zh-CN" sz="2400" dirty="0">
                <a:solidFill>
                  <a:srgbClr val="3333FF"/>
                </a:solidFill>
                <a:ea typeface="隶书" pitchFamily="49" charset="-122"/>
              </a:endParaRPr>
            </a:p>
            <a:p>
              <a:endParaRPr kumimoji="1" lang="en-US" altLang="zh-CN" sz="2400" dirty="0">
                <a:solidFill>
                  <a:srgbClr val="3333FF"/>
                </a:solidFill>
                <a:ea typeface="隶书" pitchFamily="49" charset="-122"/>
              </a:endParaRPr>
            </a:p>
            <a:p>
              <a:r>
                <a:rPr kumimoji="1" lang="en-US" altLang="zh-CN" sz="2400" dirty="0">
                  <a:solidFill>
                    <a:srgbClr val="3333FF"/>
                  </a:solidFill>
                  <a:ea typeface="隶书" pitchFamily="49" charset="-122"/>
                </a:rPr>
                <a:t>     </a:t>
              </a:r>
            </a:p>
            <a:p>
              <a:endParaRPr kumimoji="1" lang="en-US" altLang="zh-CN" sz="2400" dirty="0">
                <a:solidFill>
                  <a:srgbClr val="3333FF"/>
                </a:solidFill>
                <a:ea typeface="隶书" pitchFamily="49" charset="-122"/>
              </a:endParaRPr>
            </a:p>
            <a:p>
              <a:endParaRPr kumimoji="1" lang="en-US" altLang="zh-CN" sz="2400" dirty="0">
                <a:solidFill>
                  <a:srgbClr val="3333FF"/>
                </a:solidFill>
                <a:ea typeface="隶书" pitchFamily="49" charset="-122"/>
              </a:endParaRPr>
            </a:p>
            <a:p>
              <a:r>
                <a:rPr kumimoji="1" lang="en-US" altLang="zh-CN" sz="2400" dirty="0">
                  <a:solidFill>
                    <a:srgbClr val="3333FF"/>
                  </a:solidFill>
                  <a:ea typeface="隶书" pitchFamily="49" charset="-122"/>
                  <a:sym typeface="Wingdings 2" panose="05020102010507070707" pitchFamily="18" charset="2"/>
                </a:rPr>
                <a:t>  </a:t>
              </a:r>
              <a:r>
                <a:rPr kumimoji="1" lang="zh-CN" altLang="en-US" sz="2400" dirty="0">
                  <a:solidFill>
                    <a:srgbClr val="3333FF"/>
                  </a:solidFill>
                  <a:ea typeface="隶书" pitchFamily="49" charset="-122"/>
                </a:rPr>
                <a:t> </a:t>
              </a:r>
              <a:endParaRPr kumimoji="1" lang="en-US" altLang="zh-CN" sz="2400" dirty="0">
                <a:solidFill>
                  <a:srgbClr val="3333FF"/>
                </a:solidFill>
                <a:ea typeface="隶书" pitchFamily="49" charset="-122"/>
              </a:endParaRPr>
            </a:p>
          </p:txBody>
        </p:sp>
        <p:sp>
          <p:nvSpPr>
            <p:cNvPr id="5" name="Rectangle 2">
              <a:extLst>
                <a:ext uri="{FF2B5EF4-FFF2-40B4-BE49-F238E27FC236}">
                  <a16:creationId xmlns:a16="http://schemas.microsoft.com/office/drawing/2014/main" id="{3FE80DCF-C2A9-4687-A583-758B147B8993}"/>
                </a:ext>
              </a:extLst>
            </p:cNvPr>
            <p:cNvSpPr txBox="1">
              <a:spLocks noChangeArrowheads="1"/>
            </p:cNvSpPr>
            <p:nvPr/>
          </p:nvSpPr>
          <p:spPr>
            <a:xfrm>
              <a:off x="1136717" y="3852378"/>
              <a:ext cx="11117758" cy="1815882"/>
            </a:xfrm>
            <a:prstGeom prst="rect">
              <a:avLst/>
            </a:prstGeom>
            <a:solidFill>
              <a:schemeClr val="bg2"/>
            </a:solidFill>
          </p:spPr>
          <p:txBody>
            <a:bodyPr>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0000FF"/>
                  </a:solidFill>
                </a:rPr>
                <a:t>char</a:t>
              </a:r>
              <a:r>
                <a:rPr lang="zh-CN" altLang="en-US" b="1" dirty="0">
                  <a:solidFill>
                    <a:srgbClr val="0000FF"/>
                  </a:solidFill>
                </a:rPr>
                <a:t> </a:t>
              </a:r>
              <a:r>
                <a:rPr lang="en-US" altLang="zh-CN" b="1" dirty="0"/>
                <a:t>str1</a:t>
              </a:r>
              <a:r>
                <a:rPr lang="en-US" altLang="zh-CN" b="1" dirty="0">
                  <a:solidFill>
                    <a:srgbClr val="FF0000"/>
                  </a:solidFill>
                </a:rPr>
                <a:t>[</a:t>
              </a:r>
              <a:r>
                <a:rPr lang="en-US" altLang="zh-CN" b="1" dirty="0"/>
                <a:t>15</a:t>
              </a:r>
              <a:r>
                <a:rPr lang="en-US" altLang="zh-CN" b="1" dirty="0">
                  <a:solidFill>
                    <a:srgbClr val="FF0000"/>
                  </a:solidFill>
                </a:rPr>
                <a:t>]</a:t>
              </a:r>
              <a:r>
                <a:rPr lang="en-US" altLang="zh-CN" b="1" dirty="0"/>
                <a:t> = </a:t>
              </a:r>
              <a:r>
                <a:rPr lang="en-US" altLang="zh-CN" b="1" dirty="0">
                  <a:solidFill>
                    <a:srgbClr val="00B050"/>
                  </a:solidFill>
                </a:rPr>
                <a:t>“good!”</a:t>
              </a:r>
              <a:r>
                <a:rPr lang="en-US" altLang="zh-CN" b="1" dirty="0"/>
                <a:t>;   </a:t>
              </a:r>
              <a:r>
                <a:rPr kumimoji="0" lang="en-US" altLang="zh-CN" sz="2400" b="1" i="0" u="none" strike="noStrike" kern="1200" cap="none" spc="0" normalizeH="0" baseline="0" noProof="0" dirty="0">
                  <a:ln>
                    <a:noFill/>
                  </a:ln>
                  <a:solidFill>
                    <a:srgbClr val="FF0000"/>
                  </a:solidFill>
                  <a:effectLst/>
                  <a:uLnTx/>
                  <a:uFillTx/>
                  <a:latin typeface="华文隶书" panose="02010800040101010101" pitchFamily="2" charset="-122"/>
                  <a:ea typeface="华文隶书" panose="02010800040101010101" pitchFamily="2" charset="-122"/>
                  <a:cs typeface="+mn-cs"/>
                </a:rPr>
                <a:t>//</a:t>
              </a:r>
              <a:r>
                <a:rPr kumimoji="0" lang="zh-CN" altLang="en-US" sz="2400" b="1" i="0" u="none" strike="noStrike" kern="1200" cap="none" spc="0" normalizeH="0" baseline="0" noProof="0" dirty="0">
                  <a:ln>
                    <a:noFill/>
                  </a:ln>
                  <a:solidFill>
                    <a:srgbClr val="FF0000"/>
                  </a:solidFill>
                  <a:effectLst/>
                  <a:uLnTx/>
                  <a:uFillTx/>
                  <a:latin typeface="华文隶书" panose="02010800040101010101" pitchFamily="2" charset="-122"/>
                  <a:ea typeface="华文隶书" panose="02010800040101010101" pitchFamily="2" charset="-122"/>
                  <a:cs typeface="+mn-cs"/>
                </a:rPr>
                <a:t>正确</a:t>
              </a:r>
              <a:endParaRPr lang="en-US" altLang="zh-CN" b="1" dirty="0"/>
            </a:p>
            <a:p>
              <a:pPr marL="0" indent="0">
                <a:lnSpc>
                  <a:spcPct val="100000"/>
                </a:lnSpc>
                <a:spcBef>
                  <a:spcPct val="0"/>
                </a:spcBef>
                <a:buClr>
                  <a:schemeClr val="tx2"/>
                </a:buClr>
                <a:buSzPct val="70000"/>
                <a:buNone/>
              </a:pPr>
              <a:r>
                <a:rPr lang="en-US" altLang="zh-CN" b="1" dirty="0">
                  <a:solidFill>
                    <a:srgbClr val="0000FF"/>
                  </a:solidFill>
                </a:rPr>
                <a:t>char</a:t>
              </a:r>
              <a:r>
                <a:rPr lang="zh-CN" altLang="en-US" b="1" dirty="0">
                  <a:solidFill>
                    <a:srgbClr val="0000FF"/>
                  </a:solidFill>
                </a:rPr>
                <a:t> </a:t>
              </a:r>
              <a:r>
                <a:rPr lang="en-US" altLang="zh-CN" b="1" dirty="0"/>
                <a:t>str2</a:t>
              </a:r>
              <a:r>
                <a:rPr lang="en-US" altLang="zh-CN" b="1" dirty="0">
                  <a:solidFill>
                    <a:srgbClr val="FF0000"/>
                  </a:solidFill>
                </a:rPr>
                <a:t>[</a:t>
              </a:r>
              <a:r>
                <a:rPr lang="en-US" altLang="zh-CN" b="1" dirty="0"/>
                <a:t>15</a:t>
              </a:r>
              <a:r>
                <a:rPr lang="en-US" altLang="zh-CN" b="1" dirty="0">
                  <a:solidFill>
                    <a:srgbClr val="FF0000"/>
                  </a:solidFill>
                </a:rPr>
                <a:t>]</a:t>
              </a:r>
              <a:r>
                <a:rPr lang="en-US" altLang="zh-CN" b="1" dirty="0"/>
                <a:t>;</a:t>
              </a:r>
            </a:p>
            <a:p>
              <a:pPr marL="0" indent="0">
                <a:lnSpc>
                  <a:spcPct val="100000"/>
                </a:lnSpc>
                <a:spcBef>
                  <a:spcPct val="0"/>
                </a:spcBef>
                <a:buClr>
                  <a:schemeClr val="tx2"/>
                </a:buClr>
                <a:buSzPct val="70000"/>
                <a:buNone/>
              </a:pPr>
              <a:r>
                <a:rPr lang="en-US" altLang="zh-CN" b="1" dirty="0"/>
                <a:t>str2 = </a:t>
              </a:r>
              <a:r>
                <a:rPr lang="en-US" altLang="zh-CN" b="1" dirty="0">
                  <a:solidFill>
                    <a:srgbClr val="00B050"/>
                  </a:solidFill>
                </a:rPr>
                <a:t>“good!”</a:t>
              </a:r>
              <a:r>
                <a:rPr lang="en-US" altLang="zh-CN" b="1" dirty="0"/>
                <a:t>;                 </a:t>
              </a:r>
              <a:r>
                <a:rPr lang="en-US" altLang="zh-CN" sz="2400" b="1" dirty="0">
                  <a:solidFill>
                    <a:srgbClr val="FF0000"/>
                  </a:solidFill>
                  <a:latin typeface="华文隶书" panose="02010800040101010101" pitchFamily="2" charset="-122"/>
                  <a:ea typeface="华文隶书" panose="02010800040101010101" pitchFamily="2" charset="-122"/>
                </a:rPr>
                <a:t>//</a:t>
              </a:r>
              <a:r>
                <a:rPr lang="zh-CN" altLang="en-US" sz="2400" b="1" dirty="0">
                  <a:solidFill>
                    <a:srgbClr val="FF0000"/>
                  </a:solidFill>
                  <a:latin typeface="华文隶书" panose="02010800040101010101" pitchFamily="2" charset="-122"/>
                  <a:ea typeface="华文隶书" panose="02010800040101010101" pitchFamily="2" charset="-122"/>
                </a:rPr>
                <a:t>错误</a:t>
              </a:r>
              <a:endParaRPr lang="en-US" altLang="zh-CN" sz="2400" b="1" dirty="0">
                <a:solidFill>
                  <a:srgbClr val="FF0000"/>
                </a:solidFill>
                <a:latin typeface="华文隶书" panose="02010800040101010101" pitchFamily="2" charset="-122"/>
                <a:ea typeface="华文隶书" panose="02010800040101010101" pitchFamily="2" charset="-122"/>
              </a:endParaRPr>
            </a:p>
            <a:p>
              <a:pPr marL="0" indent="0">
                <a:lnSpc>
                  <a:spcPct val="100000"/>
                </a:lnSpc>
                <a:spcBef>
                  <a:spcPct val="0"/>
                </a:spcBef>
                <a:buClr>
                  <a:schemeClr val="tx2"/>
                </a:buClr>
                <a:buSzPct val="70000"/>
                <a:buNone/>
              </a:pPr>
              <a:r>
                <a:rPr lang="en-US" altLang="zh-CN" b="1" dirty="0"/>
                <a:t>strcpy(str2, </a:t>
              </a:r>
              <a:r>
                <a:rPr lang="en-US" altLang="zh-CN" b="1" dirty="0">
                  <a:solidFill>
                    <a:srgbClr val="00B050"/>
                  </a:solidFill>
                </a:rPr>
                <a:t>“good!”</a:t>
              </a:r>
              <a:r>
                <a:rPr lang="en-US" altLang="zh-CN" b="1" dirty="0"/>
                <a:t>);       </a:t>
              </a:r>
              <a:r>
                <a:rPr lang="en-US" altLang="zh-CN" sz="2400" b="1" dirty="0">
                  <a:solidFill>
                    <a:srgbClr val="FF0000"/>
                  </a:solidFill>
                  <a:latin typeface="华文隶书" panose="02010800040101010101" pitchFamily="2" charset="-122"/>
                  <a:ea typeface="华文隶书" panose="02010800040101010101" pitchFamily="2" charset="-122"/>
                </a:rPr>
                <a:t>//</a:t>
              </a:r>
              <a:r>
                <a:rPr lang="zh-CN" altLang="en-US" sz="2400" b="1" dirty="0">
                  <a:solidFill>
                    <a:srgbClr val="FF0000"/>
                  </a:solidFill>
                  <a:latin typeface="华文隶书" panose="02010800040101010101" pitchFamily="2" charset="-122"/>
                  <a:ea typeface="华文隶书" panose="02010800040101010101" pitchFamily="2" charset="-122"/>
                </a:rPr>
                <a:t>正确</a:t>
              </a:r>
              <a:endParaRPr lang="en-US" altLang="zh-CN" sz="2400" b="1" dirty="0">
                <a:solidFill>
                  <a:srgbClr val="FF0000"/>
                </a:solidFill>
                <a:latin typeface="华文隶书" panose="02010800040101010101" pitchFamily="2" charset="-122"/>
                <a:ea typeface="华文隶书" panose="02010800040101010101" pitchFamily="2" charset="-122"/>
              </a:endParaRPr>
            </a:p>
          </p:txBody>
        </p:sp>
        <p:pic>
          <p:nvPicPr>
            <p:cNvPr id="6" name="图片 5">
              <a:extLst>
                <a:ext uri="{FF2B5EF4-FFF2-40B4-BE49-F238E27FC236}">
                  <a16:creationId xmlns:a16="http://schemas.microsoft.com/office/drawing/2014/main" id="{AB7B9AC0-0A34-48B9-B94D-EC29E87227BE}"/>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228230" y="3021094"/>
              <a:ext cx="514926" cy="442321"/>
            </a:xfrm>
            <a:prstGeom prst="rect">
              <a:avLst/>
            </a:prstGeom>
          </p:spPr>
        </p:pic>
        <p:sp>
          <p:nvSpPr>
            <p:cNvPr id="9" name="Rectangle 2">
              <a:extLst>
                <a:ext uri="{FF2B5EF4-FFF2-40B4-BE49-F238E27FC236}">
                  <a16:creationId xmlns:a16="http://schemas.microsoft.com/office/drawing/2014/main" id="{B47CD236-F724-4887-8FA2-2FC2077F3F4B}"/>
                </a:ext>
              </a:extLst>
            </p:cNvPr>
            <p:cNvSpPr txBox="1">
              <a:spLocks noChangeArrowheads="1"/>
            </p:cNvSpPr>
            <p:nvPr/>
          </p:nvSpPr>
          <p:spPr>
            <a:xfrm>
              <a:off x="1136717" y="6439425"/>
              <a:ext cx="11117758" cy="1815882"/>
            </a:xfrm>
            <a:prstGeom prst="rect">
              <a:avLst/>
            </a:prstGeom>
            <a:solidFill>
              <a:schemeClr val="bg2"/>
            </a:solidFill>
          </p:spPr>
          <p:txBody>
            <a:bodyPr>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0000FF"/>
                  </a:solidFill>
                </a:rPr>
                <a:t>char</a:t>
              </a:r>
              <a:r>
                <a:rPr lang="zh-CN" altLang="en-US" b="1" dirty="0">
                  <a:solidFill>
                    <a:srgbClr val="0000FF"/>
                  </a:solidFill>
                </a:rPr>
                <a:t> </a:t>
              </a:r>
              <a:r>
                <a:rPr lang="en-US" altLang="zh-CN" b="1" dirty="0"/>
                <a:t>str</a:t>
              </a:r>
              <a:r>
                <a:rPr lang="en-US" altLang="zh-CN" b="1" dirty="0">
                  <a:solidFill>
                    <a:srgbClr val="FF0000"/>
                  </a:solidFill>
                </a:rPr>
                <a:t>[ ]</a:t>
              </a:r>
              <a:r>
                <a:rPr lang="en-US" altLang="zh-CN" b="1" dirty="0"/>
                <a:t> = </a:t>
              </a:r>
              <a:r>
                <a:rPr lang="en-US" altLang="zh-CN" b="1" dirty="0">
                  <a:solidFill>
                    <a:srgbClr val="00B050"/>
                  </a:solidFill>
                </a:rPr>
                <a:t>“Hello!”</a:t>
              </a:r>
              <a:r>
                <a:rPr lang="en-US" altLang="zh-CN" b="1" dirty="0"/>
                <a:t>;   </a:t>
              </a:r>
            </a:p>
            <a:p>
              <a:pPr marL="0" indent="0">
                <a:lnSpc>
                  <a:spcPct val="100000"/>
                </a:lnSpc>
                <a:spcBef>
                  <a:spcPct val="0"/>
                </a:spcBef>
                <a:buClr>
                  <a:schemeClr val="tx2"/>
                </a:buClr>
                <a:buSzPct val="70000"/>
                <a:buNone/>
              </a:pPr>
              <a:r>
                <a:rPr lang="en-US" altLang="zh-CN" b="1" dirty="0">
                  <a:solidFill>
                    <a:srgbClr val="0000FF"/>
                  </a:solidFill>
                </a:rPr>
                <a:t>char</a:t>
              </a:r>
              <a:r>
                <a:rPr lang="zh-CN" altLang="en-US" b="1" dirty="0">
                  <a:solidFill>
                    <a:srgbClr val="0000FF"/>
                  </a:solidFill>
                </a:rPr>
                <a:t> </a:t>
              </a:r>
              <a:r>
                <a:rPr lang="en-US" altLang="zh-CN" b="1" dirty="0">
                  <a:solidFill>
                    <a:srgbClr val="FF0000"/>
                  </a:solidFill>
                </a:rPr>
                <a:t>*</a:t>
              </a:r>
              <a:r>
                <a:rPr lang="en-US" altLang="zh-CN" b="1" dirty="0"/>
                <a:t>p</a:t>
              </a:r>
              <a:r>
                <a:rPr lang="en-US" altLang="zh-CN" b="1" dirty="0">
                  <a:solidFill>
                    <a:srgbClr val="0000FF"/>
                  </a:solidFill>
                </a:rPr>
                <a:t> = </a:t>
              </a:r>
              <a:r>
                <a:rPr lang="en-US" altLang="zh-CN" b="1" dirty="0">
                  <a:solidFill>
                    <a:srgbClr val="00B050"/>
                  </a:solidFill>
                </a:rPr>
                <a:t>“Hello!”</a:t>
              </a:r>
              <a:r>
                <a:rPr lang="en-US" altLang="zh-CN" b="1" dirty="0"/>
                <a:t>;</a:t>
              </a:r>
            </a:p>
            <a:p>
              <a:pPr marL="0" indent="0">
                <a:lnSpc>
                  <a:spcPct val="100000"/>
                </a:lnSpc>
                <a:spcBef>
                  <a:spcPct val="0"/>
                </a:spcBef>
                <a:buClr>
                  <a:schemeClr val="tx2"/>
                </a:buClr>
                <a:buSzPct val="70000"/>
                <a:buNone/>
              </a:pPr>
              <a:r>
                <a:rPr lang="en-US" altLang="zh-CN" b="1" dirty="0"/>
                <a:t>str[0] = </a:t>
              </a:r>
              <a:r>
                <a:rPr lang="en-US" altLang="zh-CN" b="1" dirty="0">
                  <a:solidFill>
                    <a:srgbClr val="00B050"/>
                  </a:solidFill>
                </a:rPr>
                <a:t>’h’</a:t>
              </a:r>
              <a:r>
                <a:rPr lang="en-US" altLang="zh-CN" b="1" dirty="0"/>
                <a:t>;       </a:t>
              </a:r>
              <a:r>
                <a:rPr lang="en-US" altLang="zh-CN" sz="2400" b="1" dirty="0">
                  <a:solidFill>
                    <a:srgbClr val="FF0000"/>
                  </a:solidFill>
                  <a:latin typeface="华文隶书" panose="02010800040101010101" pitchFamily="2" charset="-122"/>
                  <a:ea typeface="华文隶书" panose="02010800040101010101" pitchFamily="2" charset="-122"/>
                </a:rPr>
                <a:t>//</a:t>
              </a:r>
              <a:r>
                <a:rPr lang="zh-CN" altLang="en-US" sz="2400" b="1" dirty="0">
                  <a:solidFill>
                    <a:srgbClr val="FF0000"/>
                  </a:solidFill>
                  <a:latin typeface="华文隶书" panose="02010800040101010101" pitchFamily="2" charset="-122"/>
                  <a:ea typeface="华文隶书" panose="02010800040101010101" pitchFamily="2" charset="-122"/>
                </a:rPr>
                <a:t>正确</a:t>
              </a:r>
              <a:endParaRPr lang="en-US" altLang="zh-CN" sz="2400" b="1" dirty="0">
                <a:solidFill>
                  <a:srgbClr val="FF0000"/>
                </a:solidFill>
                <a:latin typeface="华文隶书" panose="02010800040101010101" pitchFamily="2" charset="-122"/>
                <a:ea typeface="华文隶书" panose="02010800040101010101" pitchFamily="2" charset="-122"/>
              </a:endParaRPr>
            </a:p>
            <a:p>
              <a:pPr marL="0" indent="0">
                <a:lnSpc>
                  <a:spcPct val="100000"/>
                </a:lnSpc>
                <a:spcBef>
                  <a:spcPct val="0"/>
                </a:spcBef>
                <a:buClr>
                  <a:schemeClr val="tx2"/>
                </a:buClr>
                <a:buSzPct val="70000"/>
                <a:buNone/>
              </a:pPr>
              <a:r>
                <a:rPr lang="en-US" altLang="zh-CN" b="1" dirty="0"/>
                <a:t>  p[0] = </a:t>
              </a:r>
              <a:r>
                <a:rPr lang="en-US" altLang="zh-CN" b="1" dirty="0">
                  <a:solidFill>
                    <a:srgbClr val="00B050"/>
                  </a:solidFill>
                </a:rPr>
                <a:t>’h’</a:t>
              </a:r>
              <a:r>
                <a:rPr lang="en-US" altLang="zh-CN" b="1" dirty="0"/>
                <a:t>;       </a:t>
              </a:r>
              <a:r>
                <a:rPr lang="en-US" altLang="zh-CN" sz="2400" b="1" dirty="0">
                  <a:solidFill>
                    <a:srgbClr val="FF0000"/>
                  </a:solidFill>
                  <a:latin typeface="华文隶书" panose="02010800040101010101" pitchFamily="2" charset="-122"/>
                  <a:ea typeface="华文隶书" panose="02010800040101010101" pitchFamily="2" charset="-122"/>
                </a:rPr>
                <a:t>//</a:t>
              </a:r>
              <a:r>
                <a:rPr lang="zh-CN" altLang="en-US" sz="2400" b="1" dirty="0">
                  <a:solidFill>
                    <a:srgbClr val="FF0000"/>
                  </a:solidFill>
                  <a:latin typeface="华文隶书" panose="02010800040101010101" pitchFamily="2" charset="-122"/>
                  <a:ea typeface="华文隶书" panose="02010800040101010101" pitchFamily="2" charset="-122"/>
                </a:rPr>
                <a:t>错误</a:t>
              </a:r>
              <a:endParaRPr lang="en-US" altLang="zh-CN" sz="2400" b="1" dirty="0">
                <a:solidFill>
                  <a:srgbClr val="FF0000"/>
                </a:solidFill>
                <a:latin typeface="华文隶书" panose="02010800040101010101" pitchFamily="2" charset="-122"/>
                <a:ea typeface="华文隶书" panose="02010800040101010101" pitchFamily="2" charset="-122"/>
              </a:endParaRPr>
            </a:p>
          </p:txBody>
        </p:sp>
      </p:grpSp>
      <p:sp>
        <p:nvSpPr>
          <p:cNvPr id="10" name="灯片编号占位符 9">
            <a:extLst>
              <a:ext uri="{FF2B5EF4-FFF2-40B4-BE49-F238E27FC236}">
                <a16:creationId xmlns:a16="http://schemas.microsoft.com/office/drawing/2014/main" id="{96066F0B-6C22-4C95-B636-DC2A03BFE9CC}"/>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27</a:t>
            </a:fld>
            <a:r>
              <a:rPr lang="en-US" altLang="zh-CN">
                <a:solidFill>
                  <a:prstClr val="black">
                    <a:tint val="75000"/>
                  </a:prstClr>
                </a:solidFill>
              </a:rPr>
              <a:t>/ 35</a:t>
            </a:r>
            <a:endParaRPr lang="zh-CN" altLang="en-US" dirty="0"/>
          </a:p>
        </p:txBody>
      </p:sp>
      <p:sp>
        <p:nvSpPr>
          <p:cNvPr id="11" name="文本框 10">
            <a:extLst>
              <a:ext uri="{FF2B5EF4-FFF2-40B4-BE49-F238E27FC236}">
                <a16:creationId xmlns:a16="http://schemas.microsoft.com/office/drawing/2014/main" id="{1FCD14F9-10E4-4957-95F8-ADD87511857F}"/>
              </a:ext>
            </a:extLst>
          </p:cNvPr>
          <p:cNvSpPr txBox="1"/>
          <p:nvPr/>
        </p:nvSpPr>
        <p:spPr>
          <a:xfrm>
            <a:off x="2842870" y="-56008"/>
            <a:ext cx="4768993"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字符指针与字符串</a:t>
            </a:r>
            <a:endParaRPr lang="zh-CN" altLang="en-US" sz="3200" b="1" dirty="0">
              <a:solidFill>
                <a:srgbClr val="200AC4"/>
              </a:solidFill>
              <a:ea typeface="隶书" pitchFamily="49" charset="-122"/>
            </a:endParaRPr>
          </a:p>
        </p:txBody>
      </p:sp>
    </p:spTree>
    <p:extLst>
      <p:ext uri="{BB962C8B-B14F-4D97-AF65-F5344CB8AC3E}">
        <p14:creationId xmlns:p14="http://schemas.microsoft.com/office/powerpoint/2010/main" val="19189256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930BBEAD-3411-4D85-8123-E736FBE0A10F}"/>
              </a:ext>
            </a:extLst>
          </p:cNvPr>
          <p:cNvGrpSpPr/>
          <p:nvPr/>
        </p:nvGrpSpPr>
        <p:grpSpPr>
          <a:xfrm>
            <a:off x="0" y="657112"/>
            <a:ext cx="12158444" cy="4588052"/>
            <a:chOff x="180096" y="2958352"/>
            <a:chExt cx="12158444" cy="4588052"/>
          </a:xfrm>
        </p:grpSpPr>
        <p:sp>
          <p:nvSpPr>
            <p:cNvPr id="4" name="Text Box 88">
              <a:extLst>
                <a:ext uri="{FF2B5EF4-FFF2-40B4-BE49-F238E27FC236}">
                  <a16:creationId xmlns:a16="http://schemas.microsoft.com/office/drawing/2014/main" id="{F63E8677-DF55-4518-B46D-E151CF3E52FE}"/>
                </a:ext>
              </a:extLst>
            </p:cNvPr>
            <p:cNvSpPr txBox="1">
              <a:spLocks noChangeArrowheads="1"/>
            </p:cNvSpPr>
            <p:nvPr/>
          </p:nvSpPr>
          <p:spPr bwMode="auto">
            <a:xfrm>
              <a:off x="180096" y="2958352"/>
              <a:ext cx="12158444" cy="45880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kumimoji="1" lang="zh-CN" altLang="en-US" sz="2800" dirty="0">
                  <a:solidFill>
                    <a:srgbClr val="FF3300"/>
                  </a:solidFill>
                  <a:ea typeface="隶书" pitchFamily="49" charset="-122"/>
                </a:rPr>
                <a:t>    警告</a:t>
              </a:r>
              <a:r>
                <a:rPr kumimoji="1" lang="en-US" altLang="zh-CN" sz="2400" dirty="0">
                  <a:solidFill>
                    <a:srgbClr val="3333FF"/>
                  </a:solidFill>
                  <a:ea typeface="隶书" pitchFamily="49" charset="-122"/>
                </a:rPr>
                <a:t>: </a:t>
              </a:r>
            </a:p>
            <a:p>
              <a:r>
                <a:rPr kumimoji="1" lang="en-US" altLang="zh-CN" sz="2400" dirty="0">
                  <a:solidFill>
                    <a:srgbClr val="3333FF"/>
                  </a:solidFill>
                  <a:latin typeface="隶书" pitchFamily="49" charset="-122"/>
                  <a:ea typeface="隶书" pitchFamily="49" charset="-122"/>
                </a:rPr>
                <a:t>   </a:t>
              </a:r>
              <a:r>
                <a:rPr kumimoji="1" lang="zh-CN" altLang="en-US" sz="2400" dirty="0">
                  <a:solidFill>
                    <a:srgbClr val="3333FF"/>
                  </a:solidFill>
                  <a:latin typeface="等线" panose="02010600030101010101" pitchFamily="2" charset="-122"/>
                  <a:ea typeface="等线" panose="02010600030101010101" pitchFamily="2" charset="-122"/>
                </a:rPr>
                <a:t>③ </a:t>
              </a:r>
              <a:r>
                <a:rPr kumimoji="1" lang="zh-CN" altLang="en-US" sz="2400" dirty="0">
                  <a:solidFill>
                    <a:srgbClr val="3333FF"/>
                  </a:solidFill>
                  <a:ea typeface="隶书" pitchFamily="49" charset="-122"/>
                </a:rPr>
                <a:t>用字符指针变量接收从键盘输入的字符串时，必须先开辟空间。</a:t>
              </a:r>
              <a:endParaRPr kumimoji="1" lang="en-US" altLang="zh-CN" sz="2400" dirty="0">
                <a:solidFill>
                  <a:srgbClr val="3333FF"/>
                </a:solidFill>
                <a:ea typeface="隶书" pitchFamily="49" charset="-122"/>
              </a:endParaRPr>
            </a:p>
            <a:p>
              <a:endParaRPr kumimoji="1" lang="en-US" altLang="zh-CN" sz="2400" dirty="0">
                <a:solidFill>
                  <a:srgbClr val="3333FF"/>
                </a:solidFill>
                <a:ea typeface="隶书" pitchFamily="49" charset="-122"/>
              </a:endParaRPr>
            </a:p>
            <a:p>
              <a:endParaRPr kumimoji="1" lang="en-US" altLang="zh-CN" sz="2400" dirty="0">
                <a:solidFill>
                  <a:srgbClr val="3333FF"/>
                </a:solidFill>
                <a:ea typeface="隶书" pitchFamily="49" charset="-122"/>
              </a:endParaRPr>
            </a:p>
            <a:p>
              <a:endParaRPr kumimoji="1" lang="en-US" altLang="zh-CN" sz="2400" dirty="0">
                <a:solidFill>
                  <a:srgbClr val="3333FF"/>
                </a:solidFill>
                <a:ea typeface="隶书" pitchFamily="49" charset="-122"/>
              </a:endParaRPr>
            </a:p>
            <a:p>
              <a:endParaRPr kumimoji="1" lang="en-US" altLang="zh-CN" sz="2400" dirty="0">
                <a:solidFill>
                  <a:srgbClr val="3333FF"/>
                </a:solidFill>
                <a:ea typeface="隶书" pitchFamily="49" charset="-122"/>
              </a:endParaRPr>
            </a:p>
            <a:p>
              <a:endParaRPr kumimoji="1" lang="en-US" altLang="zh-CN" sz="2400" dirty="0">
                <a:solidFill>
                  <a:srgbClr val="3333FF"/>
                </a:solidFill>
                <a:ea typeface="隶书" pitchFamily="49" charset="-122"/>
              </a:endParaRPr>
            </a:p>
            <a:p>
              <a:endParaRPr kumimoji="1" lang="en-US" altLang="zh-CN" sz="2400" dirty="0">
                <a:solidFill>
                  <a:srgbClr val="3333FF"/>
                </a:solidFill>
                <a:ea typeface="隶书" pitchFamily="49" charset="-122"/>
              </a:endParaRPr>
            </a:p>
            <a:p>
              <a:r>
                <a:rPr kumimoji="1" lang="en-US" altLang="zh-CN" sz="2400" dirty="0">
                  <a:solidFill>
                    <a:srgbClr val="3333FF"/>
                  </a:solidFill>
                  <a:ea typeface="隶书" pitchFamily="49" charset="-122"/>
                </a:rPr>
                <a:t>     </a:t>
              </a:r>
            </a:p>
            <a:p>
              <a:endParaRPr kumimoji="1" lang="en-US" altLang="zh-CN" sz="2400" dirty="0">
                <a:solidFill>
                  <a:srgbClr val="3333FF"/>
                </a:solidFill>
                <a:ea typeface="隶书" pitchFamily="49" charset="-122"/>
              </a:endParaRPr>
            </a:p>
            <a:p>
              <a:endParaRPr kumimoji="1" lang="en-US" altLang="zh-CN" sz="2400" dirty="0">
                <a:solidFill>
                  <a:srgbClr val="3333FF"/>
                </a:solidFill>
                <a:ea typeface="隶书" pitchFamily="49" charset="-122"/>
              </a:endParaRPr>
            </a:p>
            <a:p>
              <a:r>
                <a:rPr kumimoji="1" lang="en-US" altLang="zh-CN" sz="2400" dirty="0">
                  <a:solidFill>
                    <a:srgbClr val="3333FF"/>
                  </a:solidFill>
                  <a:ea typeface="隶书" pitchFamily="49" charset="-122"/>
                  <a:sym typeface="Wingdings 2" panose="05020102010507070707" pitchFamily="18" charset="2"/>
                </a:rPr>
                <a:t>  </a:t>
              </a:r>
              <a:r>
                <a:rPr kumimoji="1" lang="zh-CN" altLang="en-US" sz="2400" dirty="0">
                  <a:solidFill>
                    <a:srgbClr val="3333FF"/>
                  </a:solidFill>
                  <a:ea typeface="隶书" pitchFamily="49" charset="-122"/>
                </a:rPr>
                <a:t> </a:t>
              </a:r>
              <a:endParaRPr kumimoji="1" lang="en-US" altLang="zh-CN" sz="2400" dirty="0">
                <a:solidFill>
                  <a:srgbClr val="3333FF"/>
                </a:solidFill>
                <a:ea typeface="隶书" pitchFamily="49" charset="-122"/>
              </a:endParaRPr>
            </a:p>
          </p:txBody>
        </p:sp>
        <p:sp>
          <p:nvSpPr>
            <p:cNvPr id="5" name="Rectangle 2">
              <a:extLst>
                <a:ext uri="{FF2B5EF4-FFF2-40B4-BE49-F238E27FC236}">
                  <a16:creationId xmlns:a16="http://schemas.microsoft.com/office/drawing/2014/main" id="{3FE80DCF-C2A9-4687-A583-758B147B8993}"/>
                </a:ext>
              </a:extLst>
            </p:cNvPr>
            <p:cNvSpPr txBox="1">
              <a:spLocks noChangeArrowheads="1"/>
            </p:cNvSpPr>
            <p:nvPr/>
          </p:nvSpPr>
          <p:spPr>
            <a:xfrm>
              <a:off x="1136717" y="3948898"/>
              <a:ext cx="11117758" cy="954107"/>
            </a:xfrm>
            <a:prstGeom prst="rect">
              <a:avLst/>
            </a:prstGeom>
            <a:solidFill>
              <a:schemeClr val="bg2"/>
            </a:solidFill>
          </p:spPr>
          <p:txBody>
            <a:bodyPr>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0000FF"/>
                  </a:solidFill>
                </a:rPr>
                <a:t>char</a:t>
              </a:r>
              <a:r>
                <a:rPr lang="zh-CN" altLang="en-US" b="1" dirty="0">
                  <a:solidFill>
                    <a:srgbClr val="0000FF"/>
                  </a:solidFill>
                </a:rPr>
                <a:t> </a:t>
              </a:r>
              <a:r>
                <a:rPr lang="en-US" altLang="zh-CN" b="1" dirty="0">
                  <a:solidFill>
                    <a:srgbClr val="FF0000"/>
                  </a:solidFill>
                </a:rPr>
                <a:t>*</a:t>
              </a:r>
              <a:r>
                <a:rPr lang="en-US" altLang="zh-CN" b="1" dirty="0"/>
                <a:t>str;   </a:t>
              </a:r>
              <a:endParaRPr lang="en-US" altLang="zh-CN" sz="2400" b="1" dirty="0">
                <a:solidFill>
                  <a:srgbClr val="FF0000"/>
                </a:solidFill>
                <a:latin typeface="华文隶书" panose="02010800040101010101" pitchFamily="2" charset="-122"/>
                <a:ea typeface="华文隶书" panose="02010800040101010101" pitchFamily="2" charset="-122"/>
              </a:endParaRPr>
            </a:p>
            <a:p>
              <a:pPr marL="0" indent="0">
                <a:lnSpc>
                  <a:spcPct val="100000"/>
                </a:lnSpc>
                <a:spcBef>
                  <a:spcPct val="0"/>
                </a:spcBef>
                <a:buClr>
                  <a:schemeClr val="tx2"/>
                </a:buClr>
                <a:buSzPct val="70000"/>
                <a:buNone/>
              </a:pPr>
              <a:r>
                <a:rPr lang="en-US" altLang="zh-CN" b="1" dirty="0"/>
                <a:t>scanf(</a:t>
              </a:r>
              <a:r>
                <a:rPr lang="en-US" altLang="zh-CN" b="1" dirty="0">
                  <a:solidFill>
                    <a:srgbClr val="00B050"/>
                  </a:solidFill>
                </a:rPr>
                <a:t>“%s”</a:t>
              </a:r>
              <a:r>
                <a:rPr lang="en-US" altLang="zh-CN" b="1" dirty="0"/>
                <a:t>, str);       </a:t>
              </a:r>
              <a:r>
                <a:rPr lang="en-US" altLang="zh-CN" sz="2400" b="1" dirty="0">
                  <a:solidFill>
                    <a:srgbClr val="FF0000"/>
                  </a:solidFill>
                  <a:latin typeface="华文隶书" panose="02010800040101010101" pitchFamily="2" charset="-122"/>
                  <a:ea typeface="华文隶书" panose="02010800040101010101" pitchFamily="2" charset="-122"/>
                </a:rPr>
                <a:t>//</a:t>
              </a:r>
              <a:r>
                <a:rPr lang="zh-CN" altLang="en-US" sz="2400" b="1" dirty="0">
                  <a:solidFill>
                    <a:srgbClr val="FF0000"/>
                  </a:solidFill>
                  <a:latin typeface="华文隶书" panose="02010800040101010101" pitchFamily="2" charset="-122"/>
                  <a:ea typeface="华文隶书" panose="02010800040101010101" pitchFamily="2" charset="-122"/>
                </a:rPr>
                <a:t>错误</a:t>
              </a:r>
              <a:endParaRPr lang="en-US" altLang="zh-CN" sz="2400" b="1" dirty="0">
                <a:solidFill>
                  <a:srgbClr val="FF0000"/>
                </a:solidFill>
                <a:latin typeface="华文隶书" panose="02010800040101010101" pitchFamily="2" charset="-122"/>
                <a:ea typeface="华文隶书" panose="02010800040101010101" pitchFamily="2" charset="-122"/>
              </a:endParaRPr>
            </a:p>
          </p:txBody>
        </p:sp>
        <p:pic>
          <p:nvPicPr>
            <p:cNvPr id="6" name="图片 5">
              <a:extLst>
                <a:ext uri="{FF2B5EF4-FFF2-40B4-BE49-F238E27FC236}">
                  <a16:creationId xmlns:a16="http://schemas.microsoft.com/office/drawing/2014/main" id="{AB7B9AC0-0A34-48B9-B94D-EC29E87227BE}"/>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228230" y="3021094"/>
              <a:ext cx="514926" cy="442321"/>
            </a:xfrm>
            <a:prstGeom prst="rect">
              <a:avLst/>
            </a:prstGeom>
          </p:spPr>
        </p:pic>
        <p:sp>
          <p:nvSpPr>
            <p:cNvPr id="9" name="Rectangle 2">
              <a:extLst>
                <a:ext uri="{FF2B5EF4-FFF2-40B4-BE49-F238E27FC236}">
                  <a16:creationId xmlns:a16="http://schemas.microsoft.com/office/drawing/2014/main" id="{B47CD236-F724-4887-8FA2-2FC2077F3F4B}"/>
                </a:ext>
              </a:extLst>
            </p:cNvPr>
            <p:cNvSpPr txBox="1">
              <a:spLocks noChangeArrowheads="1"/>
            </p:cNvSpPr>
            <p:nvPr/>
          </p:nvSpPr>
          <p:spPr>
            <a:xfrm>
              <a:off x="1136717" y="5162765"/>
              <a:ext cx="11117758" cy="2246769"/>
            </a:xfrm>
            <a:prstGeom prst="rect">
              <a:avLst/>
            </a:prstGeom>
            <a:solidFill>
              <a:schemeClr val="bg2"/>
            </a:solidFill>
          </p:spPr>
          <p:txBody>
            <a:bodyPr>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0000FF"/>
                  </a:solidFill>
                </a:rPr>
                <a:t>char</a:t>
              </a:r>
              <a:r>
                <a:rPr lang="zh-CN" altLang="en-US" b="1" dirty="0">
                  <a:solidFill>
                    <a:srgbClr val="0000FF"/>
                  </a:solidFill>
                </a:rPr>
                <a:t> </a:t>
              </a:r>
              <a:r>
                <a:rPr lang="en-US" altLang="zh-CN" b="1" dirty="0"/>
                <a:t>str</a:t>
              </a:r>
              <a:r>
                <a:rPr lang="en-US" altLang="zh-CN" b="1" dirty="0">
                  <a:solidFill>
                    <a:srgbClr val="FF0000"/>
                  </a:solidFill>
                </a:rPr>
                <a:t>[</a:t>
              </a:r>
              <a:r>
                <a:rPr lang="en-US" altLang="zh-CN" b="1" dirty="0"/>
                <a:t>10</a:t>
              </a:r>
              <a:r>
                <a:rPr lang="en-US" altLang="zh-CN" b="1" dirty="0">
                  <a:solidFill>
                    <a:srgbClr val="FF0000"/>
                  </a:solidFill>
                </a:rPr>
                <a:t>]</a:t>
              </a:r>
              <a:r>
                <a:rPr lang="en-US" altLang="zh-CN" b="1" dirty="0"/>
                <a:t>;   </a:t>
              </a:r>
            </a:p>
            <a:p>
              <a:pPr marL="0" indent="0">
                <a:lnSpc>
                  <a:spcPct val="100000"/>
                </a:lnSpc>
                <a:spcBef>
                  <a:spcPct val="0"/>
                </a:spcBef>
                <a:buClr>
                  <a:schemeClr val="tx2"/>
                </a:buClr>
                <a:buSzPct val="70000"/>
                <a:buNone/>
              </a:pPr>
              <a:r>
                <a:rPr lang="en-US" altLang="zh-CN" b="1" dirty="0">
                  <a:solidFill>
                    <a:srgbClr val="0000FF"/>
                  </a:solidFill>
                </a:rPr>
                <a:t>char</a:t>
              </a:r>
              <a:r>
                <a:rPr lang="zh-CN" altLang="en-US" b="1" dirty="0">
                  <a:solidFill>
                    <a:srgbClr val="0000FF"/>
                  </a:solidFill>
                </a:rPr>
                <a:t> </a:t>
              </a:r>
              <a:r>
                <a:rPr lang="en-US" altLang="zh-CN" b="1" dirty="0">
                  <a:solidFill>
                    <a:srgbClr val="FF0000"/>
                  </a:solidFill>
                </a:rPr>
                <a:t>*</a:t>
              </a:r>
              <a:r>
                <a:rPr lang="en-US" altLang="zh-CN" b="1" dirty="0"/>
                <a:t>p;</a:t>
              </a:r>
            </a:p>
            <a:p>
              <a:pPr marL="0" indent="0">
                <a:lnSpc>
                  <a:spcPct val="100000"/>
                </a:lnSpc>
                <a:spcBef>
                  <a:spcPct val="0"/>
                </a:spcBef>
                <a:buClr>
                  <a:schemeClr val="tx2"/>
                </a:buClr>
                <a:buSzPct val="70000"/>
                <a:buNone/>
              </a:pPr>
              <a:r>
                <a:rPr lang="en-US" altLang="zh-CN" b="1" dirty="0"/>
                <a:t>p = str;</a:t>
              </a:r>
            </a:p>
            <a:p>
              <a:pPr marL="0" indent="0">
                <a:lnSpc>
                  <a:spcPct val="100000"/>
                </a:lnSpc>
                <a:spcBef>
                  <a:spcPct val="0"/>
                </a:spcBef>
                <a:buClr>
                  <a:schemeClr val="tx2"/>
                </a:buClr>
                <a:buSzPct val="70000"/>
                <a:buNone/>
              </a:pPr>
              <a:r>
                <a:rPr lang="en-US" altLang="zh-CN" b="1" dirty="0"/>
                <a:t>scanf(</a:t>
              </a:r>
              <a:r>
                <a:rPr lang="en-US" altLang="zh-CN" b="1" dirty="0">
                  <a:solidFill>
                    <a:srgbClr val="00B050"/>
                  </a:solidFill>
                </a:rPr>
                <a:t>“%s”</a:t>
              </a:r>
              <a:r>
                <a:rPr lang="en-US" altLang="zh-CN" b="1" dirty="0"/>
                <a:t>, str); </a:t>
              </a:r>
              <a:r>
                <a:rPr lang="en-US" altLang="zh-CN" sz="2400" b="1" dirty="0">
                  <a:solidFill>
                    <a:srgbClr val="FF0000"/>
                  </a:solidFill>
                  <a:latin typeface="华文隶书" panose="02010800040101010101" pitchFamily="2" charset="-122"/>
                  <a:ea typeface="华文隶书" panose="02010800040101010101" pitchFamily="2" charset="-122"/>
                </a:rPr>
                <a:t>//</a:t>
              </a:r>
              <a:r>
                <a:rPr lang="zh-CN" altLang="en-US" sz="2400" b="1" dirty="0">
                  <a:solidFill>
                    <a:srgbClr val="FF0000"/>
                  </a:solidFill>
                  <a:latin typeface="华文隶书" panose="02010800040101010101" pitchFamily="2" charset="-122"/>
                  <a:ea typeface="华文隶书" panose="02010800040101010101" pitchFamily="2" charset="-122"/>
                </a:rPr>
                <a:t>正确</a:t>
              </a:r>
              <a:endParaRPr lang="en-US" altLang="zh-CN" sz="2400" b="1" dirty="0">
                <a:solidFill>
                  <a:srgbClr val="FF0000"/>
                </a:solidFill>
                <a:latin typeface="华文隶书" panose="02010800040101010101" pitchFamily="2" charset="-122"/>
                <a:ea typeface="华文隶书" panose="02010800040101010101" pitchFamily="2" charset="-122"/>
              </a:endParaRPr>
            </a:p>
            <a:p>
              <a:pPr marL="0" indent="0">
                <a:lnSpc>
                  <a:spcPct val="100000"/>
                </a:lnSpc>
                <a:spcBef>
                  <a:spcPct val="0"/>
                </a:spcBef>
                <a:buClr>
                  <a:schemeClr val="tx2"/>
                </a:buClr>
                <a:buSzPct val="70000"/>
                <a:buNone/>
              </a:pPr>
              <a:r>
                <a:rPr lang="en-US" altLang="zh-CN" b="1" dirty="0"/>
                <a:t>scanf(</a:t>
              </a:r>
              <a:r>
                <a:rPr lang="en-US" altLang="zh-CN" b="1" dirty="0">
                  <a:solidFill>
                    <a:srgbClr val="00B050"/>
                  </a:solidFill>
                </a:rPr>
                <a:t>“%s”</a:t>
              </a:r>
              <a:r>
                <a:rPr lang="en-US" altLang="zh-CN" b="1" dirty="0"/>
                <a:t>, p);   </a:t>
              </a:r>
              <a:r>
                <a:rPr lang="en-US" altLang="zh-CN" sz="2400" b="1" dirty="0">
                  <a:solidFill>
                    <a:srgbClr val="FF0000"/>
                  </a:solidFill>
                  <a:latin typeface="华文隶书" panose="02010800040101010101" pitchFamily="2" charset="-122"/>
                  <a:ea typeface="华文隶书" panose="02010800040101010101" pitchFamily="2" charset="-122"/>
                </a:rPr>
                <a:t>//</a:t>
              </a:r>
              <a:r>
                <a:rPr lang="zh-CN" altLang="en-US" sz="2400" b="1" dirty="0">
                  <a:solidFill>
                    <a:srgbClr val="FF0000"/>
                  </a:solidFill>
                  <a:latin typeface="华文隶书" panose="02010800040101010101" pitchFamily="2" charset="-122"/>
                  <a:ea typeface="华文隶书" panose="02010800040101010101" pitchFamily="2" charset="-122"/>
                </a:rPr>
                <a:t>正确</a:t>
              </a:r>
              <a:endParaRPr lang="en-US" altLang="zh-CN" sz="2400" b="1" dirty="0">
                <a:solidFill>
                  <a:srgbClr val="FF0000"/>
                </a:solidFill>
                <a:latin typeface="华文隶书" panose="02010800040101010101" pitchFamily="2" charset="-122"/>
                <a:ea typeface="华文隶书" panose="02010800040101010101" pitchFamily="2" charset="-122"/>
              </a:endParaRPr>
            </a:p>
          </p:txBody>
        </p:sp>
      </p:grpSp>
      <p:sp>
        <p:nvSpPr>
          <p:cNvPr id="7" name="灯片编号占位符 6">
            <a:extLst>
              <a:ext uri="{FF2B5EF4-FFF2-40B4-BE49-F238E27FC236}">
                <a16:creationId xmlns:a16="http://schemas.microsoft.com/office/drawing/2014/main" id="{837A4AB6-094E-465A-BE4B-FB3C83B46E96}"/>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28</a:t>
            </a:fld>
            <a:r>
              <a:rPr lang="en-US" altLang="zh-CN">
                <a:solidFill>
                  <a:prstClr val="black">
                    <a:tint val="75000"/>
                  </a:prstClr>
                </a:solidFill>
              </a:rPr>
              <a:t>/ 35</a:t>
            </a:r>
            <a:endParaRPr lang="zh-CN" altLang="en-US" dirty="0"/>
          </a:p>
        </p:txBody>
      </p:sp>
      <p:sp>
        <p:nvSpPr>
          <p:cNvPr id="10" name="文本框 9">
            <a:extLst>
              <a:ext uri="{FF2B5EF4-FFF2-40B4-BE49-F238E27FC236}">
                <a16:creationId xmlns:a16="http://schemas.microsoft.com/office/drawing/2014/main" id="{894B14D7-3C30-4828-BC2F-D38F1FA0FC0A}"/>
              </a:ext>
            </a:extLst>
          </p:cNvPr>
          <p:cNvSpPr txBox="1"/>
          <p:nvPr/>
        </p:nvSpPr>
        <p:spPr>
          <a:xfrm>
            <a:off x="2842870" y="-56008"/>
            <a:ext cx="4768993"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字符指针与字符串</a:t>
            </a:r>
            <a:endParaRPr lang="zh-CN" altLang="en-US" sz="3200" b="1" dirty="0">
              <a:solidFill>
                <a:srgbClr val="200AC4"/>
              </a:solidFill>
              <a:ea typeface="隶书" pitchFamily="49" charset="-122"/>
            </a:endParaRPr>
          </a:p>
        </p:txBody>
      </p:sp>
    </p:spTree>
    <p:extLst>
      <p:ext uri="{BB962C8B-B14F-4D97-AF65-F5344CB8AC3E}">
        <p14:creationId xmlns:p14="http://schemas.microsoft.com/office/powerpoint/2010/main" val="517396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4FB842C9-358E-4418-8FE0-2CF032D6DB7C}"/>
              </a:ext>
            </a:extLst>
          </p:cNvPr>
          <p:cNvSpPr/>
          <p:nvPr/>
        </p:nvSpPr>
        <p:spPr>
          <a:xfrm>
            <a:off x="4591" y="578637"/>
            <a:ext cx="12158444" cy="830997"/>
          </a:xfrm>
          <a:prstGeom prst="rect">
            <a:avLst/>
          </a:prstGeom>
        </p:spPr>
        <p:txBody>
          <a:bodyPr wrap="square">
            <a:spAutoFit/>
          </a:bodyPr>
          <a:lstStyle/>
          <a:p>
            <a:pPr marL="0" lvl="1"/>
            <a:r>
              <a:rPr lang="zh-CN" altLang="en-US" sz="2400" b="1" dirty="0">
                <a:solidFill>
                  <a:srgbClr val="00B0F0"/>
                </a:solidFill>
                <a:latin typeface="隶书" pitchFamily="49" charset="-122"/>
              </a:rPr>
              <a:t>字符串</a:t>
            </a:r>
            <a:r>
              <a:rPr lang="zh-CN" altLang="en-US" sz="2400" b="1" dirty="0">
                <a:latin typeface="隶书" pitchFamily="49" charset="-122"/>
              </a:rPr>
              <a:t>存储在</a:t>
            </a:r>
            <a:r>
              <a:rPr lang="zh-CN" altLang="en-US" sz="2400" b="1" dirty="0">
                <a:solidFill>
                  <a:srgbClr val="00B0F0"/>
                </a:solidFill>
                <a:latin typeface="隶书" pitchFamily="49" charset="-122"/>
              </a:rPr>
              <a:t>字符数组</a:t>
            </a:r>
            <a:r>
              <a:rPr lang="zh-CN" altLang="en-US" sz="2400" b="1" dirty="0">
                <a:latin typeface="隶书" pitchFamily="49" charset="-122"/>
              </a:rPr>
              <a:t>中时，既可以用</a:t>
            </a:r>
            <a:r>
              <a:rPr lang="zh-CN" altLang="en-US" sz="2400" b="1" dirty="0">
                <a:solidFill>
                  <a:srgbClr val="00B0F0"/>
                </a:solidFill>
                <a:latin typeface="隶书" pitchFamily="49" charset="-122"/>
              </a:rPr>
              <a:t>数组名</a:t>
            </a:r>
            <a:r>
              <a:rPr lang="zh-CN" altLang="en-US" sz="2400" b="1" dirty="0">
                <a:latin typeface="隶书" pitchFamily="49" charset="-122"/>
              </a:rPr>
              <a:t>，也可以用指向该字符数组的</a:t>
            </a:r>
            <a:r>
              <a:rPr lang="zh-CN" altLang="en-US" sz="2400" b="1" dirty="0">
                <a:solidFill>
                  <a:srgbClr val="00B0F0"/>
                </a:solidFill>
                <a:latin typeface="隶书" pitchFamily="49" charset="-122"/>
              </a:rPr>
              <a:t>字符指针变量</a:t>
            </a:r>
            <a:r>
              <a:rPr lang="zh-CN" altLang="en-US" sz="2400" b="1" dirty="0">
                <a:latin typeface="隶书" pitchFamily="49" charset="-122"/>
              </a:rPr>
              <a:t>对字符串进行操作。</a:t>
            </a:r>
          </a:p>
        </p:txBody>
      </p:sp>
      <p:sp>
        <p:nvSpPr>
          <p:cNvPr id="12" name="矩形 11">
            <a:extLst>
              <a:ext uri="{FF2B5EF4-FFF2-40B4-BE49-F238E27FC236}">
                <a16:creationId xmlns:a16="http://schemas.microsoft.com/office/drawing/2014/main" id="{5B734961-4BD0-4084-B6C9-EBE59455242F}"/>
              </a:ext>
            </a:extLst>
          </p:cNvPr>
          <p:cNvSpPr/>
          <p:nvPr/>
        </p:nvSpPr>
        <p:spPr>
          <a:xfrm>
            <a:off x="28965" y="1519992"/>
            <a:ext cx="12158444" cy="461665"/>
          </a:xfrm>
          <a:prstGeom prst="rect">
            <a:avLst/>
          </a:prstGeom>
        </p:spPr>
        <p:txBody>
          <a:bodyPr wrap="square">
            <a:spAutoFit/>
          </a:bodyPr>
          <a:lstStyle/>
          <a:p>
            <a:pPr marL="0" lvl="1"/>
            <a:r>
              <a:rPr lang="zh-CN" altLang="en-US" sz="2400" b="1" dirty="0">
                <a:latin typeface="隶书" pitchFamily="49" charset="-122"/>
              </a:rPr>
              <a:t>例</a:t>
            </a:r>
            <a:r>
              <a:rPr lang="en-US" altLang="zh-CN" sz="2400" b="1" dirty="0">
                <a:latin typeface="隶书" pitchFamily="49" charset="-122"/>
              </a:rPr>
              <a:t>【</a:t>
            </a:r>
            <a:r>
              <a:rPr lang="en-US" altLang="zh-CN" sz="2400" b="1" dirty="0">
                <a:solidFill>
                  <a:srgbClr val="00B0F0"/>
                </a:solidFill>
                <a:latin typeface="隶书" pitchFamily="49" charset="-122"/>
              </a:rPr>
              <a:t>5-8</a:t>
            </a:r>
            <a:r>
              <a:rPr lang="en-US" altLang="zh-CN" sz="2400" b="1" dirty="0">
                <a:latin typeface="隶书" pitchFamily="49" charset="-122"/>
              </a:rPr>
              <a:t>】</a:t>
            </a:r>
            <a:r>
              <a:rPr lang="zh-CN" altLang="en-US" sz="2400" b="1" dirty="0">
                <a:latin typeface="隶书" pitchFamily="49" charset="-122"/>
              </a:rPr>
              <a:t>从键盘输入一串字符，统计其中数字字符的个数。</a:t>
            </a:r>
          </a:p>
        </p:txBody>
      </p:sp>
      <p:sp>
        <p:nvSpPr>
          <p:cNvPr id="13" name="Rectangle 2">
            <a:extLst>
              <a:ext uri="{FF2B5EF4-FFF2-40B4-BE49-F238E27FC236}">
                <a16:creationId xmlns:a16="http://schemas.microsoft.com/office/drawing/2014/main" id="{F9F86994-68CD-4346-89E8-12A61DF0ECA9}"/>
              </a:ext>
            </a:extLst>
          </p:cNvPr>
          <p:cNvSpPr txBox="1">
            <a:spLocks noChangeArrowheads="1"/>
          </p:cNvSpPr>
          <p:nvPr/>
        </p:nvSpPr>
        <p:spPr>
          <a:xfrm>
            <a:off x="1503162" y="2047777"/>
            <a:ext cx="5871972" cy="4524315"/>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Font typeface="Arial" panose="020B0604020202020204" pitchFamily="34" charset="0"/>
              <a:buNone/>
            </a:pPr>
            <a:r>
              <a:rPr lang="en-US" altLang="zh-CN" sz="2400" b="1" dirty="0">
                <a:solidFill>
                  <a:srgbClr val="0000FF"/>
                </a:solidFill>
              </a:rPr>
              <a:t>int </a:t>
            </a:r>
            <a:r>
              <a:rPr lang="en-US" altLang="zh-CN" sz="2400" b="1" dirty="0"/>
              <a:t>main()</a:t>
            </a:r>
          </a:p>
          <a:p>
            <a:pPr marL="0" indent="0">
              <a:lnSpc>
                <a:spcPct val="100000"/>
              </a:lnSpc>
              <a:spcBef>
                <a:spcPct val="0"/>
              </a:spcBef>
              <a:buClr>
                <a:schemeClr val="tx2"/>
              </a:buClr>
              <a:buSzPct val="70000"/>
              <a:buFont typeface="Arial" panose="020B0604020202020204" pitchFamily="34" charset="0"/>
              <a:buNone/>
            </a:pPr>
            <a:r>
              <a:rPr lang="en-US" altLang="zh-CN" sz="2400" b="1" dirty="0">
                <a:solidFill>
                  <a:srgbClr val="FF0000"/>
                </a:solidFill>
              </a:rPr>
              <a:t>{</a:t>
            </a:r>
          </a:p>
          <a:p>
            <a:pPr marL="0" indent="0">
              <a:lnSpc>
                <a:spcPct val="100000"/>
              </a:lnSpc>
              <a:spcBef>
                <a:spcPct val="0"/>
              </a:spcBef>
              <a:buClr>
                <a:schemeClr val="tx2"/>
              </a:buClr>
              <a:buSzPct val="70000"/>
              <a:buFont typeface="Arial" panose="020B0604020202020204" pitchFamily="34" charset="0"/>
              <a:buNone/>
            </a:pPr>
            <a:r>
              <a:rPr lang="en-US" altLang="zh-CN" sz="2400" b="1" dirty="0">
                <a:solidFill>
                  <a:srgbClr val="0000FF"/>
                </a:solidFill>
              </a:rPr>
              <a:t>   char </a:t>
            </a:r>
            <a:r>
              <a:rPr lang="en-US" altLang="zh-CN" sz="2400" b="1" dirty="0"/>
              <a:t>str</a:t>
            </a:r>
            <a:r>
              <a:rPr lang="en-US" altLang="zh-CN" sz="2400" b="1" dirty="0">
                <a:solidFill>
                  <a:srgbClr val="FF0000"/>
                </a:solidFill>
              </a:rPr>
              <a:t>[</a:t>
            </a:r>
            <a:r>
              <a:rPr lang="en-US" altLang="zh-CN" sz="2400" b="1" dirty="0"/>
              <a:t>100</a:t>
            </a:r>
            <a:r>
              <a:rPr lang="en-US" altLang="zh-CN" sz="2400" b="1" dirty="0">
                <a:solidFill>
                  <a:srgbClr val="FF0000"/>
                </a:solidFill>
              </a:rPr>
              <a:t>]</a:t>
            </a:r>
            <a:r>
              <a:rPr lang="en-US" altLang="zh-CN" sz="2400" b="1" dirty="0"/>
              <a:t>;</a:t>
            </a:r>
          </a:p>
          <a:p>
            <a:pPr marL="0" indent="0">
              <a:lnSpc>
                <a:spcPct val="100000"/>
              </a:lnSpc>
              <a:spcBef>
                <a:spcPct val="0"/>
              </a:spcBef>
              <a:buClr>
                <a:schemeClr val="tx2"/>
              </a:buClr>
              <a:buSzPct val="70000"/>
              <a:buFont typeface="Arial" panose="020B0604020202020204" pitchFamily="34" charset="0"/>
              <a:buNone/>
            </a:pPr>
            <a:r>
              <a:rPr lang="en-US" altLang="zh-CN" sz="2400" b="1" dirty="0">
                <a:solidFill>
                  <a:srgbClr val="FF0000"/>
                </a:solidFill>
              </a:rPr>
              <a:t>   </a:t>
            </a:r>
            <a:r>
              <a:rPr lang="en-US" altLang="zh-CN" sz="2400" b="1" dirty="0">
                <a:solidFill>
                  <a:srgbClr val="0000FF"/>
                </a:solidFill>
              </a:rPr>
              <a:t>char</a:t>
            </a:r>
            <a:r>
              <a:rPr lang="en-US" altLang="zh-CN" sz="2400" b="1" dirty="0">
                <a:solidFill>
                  <a:srgbClr val="FF0000"/>
                </a:solidFill>
              </a:rPr>
              <a:t> *</a:t>
            </a:r>
            <a:r>
              <a:rPr lang="en-US" altLang="zh-CN" sz="2400" b="1" dirty="0"/>
              <a:t>p</a:t>
            </a:r>
            <a:r>
              <a:rPr lang="en-US" altLang="zh-CN" sz="2400" b="1" dirty="0">
                <a:solidFill>
                  <a:srgbClr val="00B0F0"/>
                </a:solidFill>
              </a:rPr>
              <a:t> </a:t>
            </a:r>
            <a:r>
              <a:rPr lang="en-US" altLang="zh-CN" sz="2400" b="1" dirty="0"/>
              <a:t>= str; </a:t>
            </a:r>
          </a:p>
          <a:p>
            <a:pPr marL="0" indent="0">
              <a:lnSpc>
                <a:spcPct val="100000"/>
              </a:lnSpc>
              <a:spcBef>
                <a:spcPct val="0"/>
              </a:spcBef>
              <a:buClr>
                <a:schemeClr val="tx2"/>
              </a:buClr>
              <a:buSzPct val="70000"/>
              <a:buNone/>
            </a:pPr>
            <a:r>
              <a:rPr lang="en-US" altLang="zh-CN" sz="2400" b="1" dirty="0"/>
              <a:t>   gets(str);</a:t>
            </a:r>
          </a:p>
          <a:p>
            <a:pPr marL="0" indent="0">
              <a:lnSpc>
                <a:spcPct val="100000"/>
              </a:lnSpc>
              <a:spcBef>
                <a:spcPct val="0"/>
              </a:spcBef>
              <a:buClr>
                <a:schemeClr val="tx2"/>
              </a:buClr>
              <a:buSzPct val="70000"/>
              <a:buFont typeface="Arial" panose="020B0604020202020204" pitchFamily="34" charset="0"/>
              <a:buNone/>
            </a:pPr>
            <a:r>
              <a:rPr lang="en-US" altLang="zh-CN" sz="2400" b="1" dirty="0"/>
              <a:t>   </a:t>
            </a:r>
            <a:r>
              <a:rPr lang="en-US" altLang="zh-CN" sz="2400" b="1" dirty="0">
                <a:solidFill>
                  <a:srgbClr val="0000FF"/>
                </a:solidFill>
              </a:rPr>
              <a:t>while</a:t>
            </a:r>
            <a:r>
              <a:rPr lang="en-US" altLang="zh-CN" sz="2400" b="1" dirty="0"/>
              <a:t>(</a:t>
            </a:r>
            <a:r>
              <a:rPr lang="en-US" altLang="zh-CN" sz="2400" b="1" dirty="0">
                <a:solidFill>
                  <a:srgbClr val="FF0000"/>
                </a:solidFill>
              </a:rPr>
              <a:t>*</a:t>
            </a:r>
            <a:r>
              <a:rPr lang="en-US" altLang="zh-CN" sz="2400" b="1" dirty="0"/>
              <a:t>p</a:t>
            </a:r>
            <a:r>
              <a:rPr lang="en-US" altLang="zh-CN" sz="2400" b="1" dirty="0">
                <a:solidFill>
                  <a:srgbClr val="0000FF"/>
                </a:solidFill>
              </a:rPr>
              <a:t> </a:t>
            </a:r>
            <a:r>
              <a:rPr lang="en-US" altLang="zh-CN" sz="2400" b="1" dirty="0"/>
              <a:t>!=</a:t>
            </a:r>
            <a:r>
              <a:rPr lang="en-US" altLang="zh-CN" sz="2400" b="1" dirty="0">
                <a:solidFill>
                  <a:srgbClr val="0000FF"/>
                </a:solidFill>
              </a:rPr>
              <a:t> </a:t>
            </a:r>
            <a:r>
              <a:rPr lang="en-US" altLang="zh-CN" sz="2400" b="1" dirty="0">
                <a:solidFill>
                  <a:srgbClr val="00B050"/>
                </a:solidFill>
              </a:rPr>
              <a:t>‘\0’</a:t>
            </a:r>
            <a:r>
              <a:rPr lang="en-US" altLang="zh-CN" sz="2400" b="1" dirty="0"/>
              <a:t>){</a:t>
            </a:r>
          </a:p>
          <a:p>
            <a:pPr marL="0" indent="0">
              <a:lnSpc>
                <a:spcPct val="100000"/>
              </a:lnSpc>
              <a:spcBef>
                <a:spcPct val="0"/>
              </a:spcBef>
              <a:buClr>
                <a:schemeClr val="tx2"/>
              </a:buClr>
              <a:buSzPct val="70000"/>
              <a:buFont typeface="Arial" panose="020B0604020202020204" pitchFamily="34" charset="0"/>
              <a:buNone/>
            </a:pPr>
            <a:r>
              <a:rPr lang="en-US" altLang="zh-CN" sz="2400" b="1" dirty="0"/>
              <a:t>       </a:t>
            </a:r>
            <a:r>
              <a:rPr lang="en-US" altLang="zh-CN" sz="2400" b="1" dirty="0">
                <a:solidFill>
                  <a:srgbClr val="0000FF"/>
                </a:solidFill>
              </a:rPr>
              <a:t>if</a:t>
            </a:r>
            <a:r>
              <a:rPr lang="en-US" altLang="zh-CN" sz="2400" b="1" dirty="0"/>
              <a:t>(</a:t>
            </a:r>
            <a:r>
              <a:rPr lang="en-US" altLang="zh-CN" sz="2400" b="1" dirty="0">
                <a:solidFill>
                  <a:srgbClr val="FF0000"/>
                </a:solidFill>
              </a:rPr>
              <a:t>*</a:t>
            </a:r>
            <a:r>
              <a:rPr lang="en-US" altLang="zh-CN" sz="2400" b="1" dirty="0"/>
              <a:t>p &gt;= </a:t>
            </a:r>
            <a:r>
              <a:rPr lang="en-US" altLang="zh-CN" sz="2400" b="1" dirty="0">
                <a:solidFill>
                  <a:srgbClr val="00B050"/>
                </a:solidFill>
              </a:rPr>
              <a:t>‘0’</a:t>
            </a:r>
            <a:r>
              <a:rPr lang="en-US" altLang="zh-CN" sz="2400" b="1" dirty="0"/>
              <a:t> &amp;&amp; </a:t>
            </a:r>
            <a:r>
              <a:rPr lang="en-US" altLang="zh-CN" sz="2400" b="1" dirty="0">
                <a:solidFill>
                  <a:srgbClr val="FF0000"/>
                </a:solidFill>
              </a:rPr>
              <a:t>*</a:t>
            </a:r>
            <a:r>
              <a:rPr lang="en-US" altLang="zh-CN" sz="2400" b="1" dirty="0"/>
              <a:t>p &lt;= </a:t>
            </a:r>
            <a:r>
              <a:rPr lang="en-US" altLang="zh-CN" sz="2400" b="1" dirty="0">
                <a:solidFill>
                  <a:srgbClr val="00B050"/>
                </a:solidFill>
              </a:rPr>
              <a:t>‘9’</a:t>
            </a:r>
            <a:r>
              <a:rPr lang="en-US" altLang="zh-CN" sz="2400" b="1" dirty="0"/>
              <a:t> )</a:t>
            </a:r>
          </a:p>
          <a:p>
            <a:pPr marL="0" indent="0">
              <a:lnSpc>
                <a:spcPct val="100000"/>
              </a:lnSpc>
              <a:spcBef>
                <a:spcPct val="0"/>
              </a:spcBef>
              <a:buClr>
                <a:schemeClr val="tx2"/>
              </a:buClr>
              <a:buSzPct val="70000"/>
              <a:buFont typeface="Arial" panose="020B0604020202020204" pitchFamily="34" charset="0"/>
              <a:buNone/>
            </a:pPr>
            <a:r>
              <a:rPr lang="en-US" altLang="zh-CN" sz="2400" b="1" dirty="0"/>
              <a:t>           </a:t>
            </a:r>
            <a:r>
              <a:rPr lang="en-US" altLang="zh-CN" sz="2400" b="1" dirty="0">
                <a:solidFill>
                  <a:srgbClr val="00B050"/>
                </a:solidFill>
              </a:rPr>
              <a:t>……</a:t>
            </a:r>
          </a:p>
          <a:p>
            <a:pPr marL="0" indent="0">
              <a:lnSpc>
                <a:spcPct val="100000"/>
              </a:lnSpc>
              <a:spcBef>
                <a:spcPct val="0"/>
              </a:spcBef>
              <a:buClr>
                <a:schemeClr val="tx2"/>
              </a:buClr>
              <a:buSzPct val="70000"/>
              <a:buFont typeface="Arial" panose="020B0604020202020204" pitchFamily="34" charset="0"/>
              <a:buNone/>
            </a:pPr>
            <a:r>
              <a:rPr lang="en-US" altLang="zh-CN" sz="2400" b="1" dirty="0">
                <a:solidFill>
                  <a:srgbClr val="00B050"/>
                </a:solidFill>
              </a:rPr>
              <a:t>       </a:t>
            </a:r>
            <a:r>
              <a:rPr lang="en-US" altLang="zh-CN" sz="2400" b="1" dirty="0"/>
              <a:t>p++;</a:t>
            </a:r>
          </a:p>
          <a:p>
            <a:pPr marL="0" indent="0">
              <a:lnSpc>
                <a:spcPct val="100000"/>
              </a:lnSpc>
              <a:spcBef>
                <a:spcPct val="0"/>
              </a:spcBef>
              <a:buClr>
                <a:schemeClr val="tx2"/>
              </a:buClr>
              <a:buSzPct val="70000"/>
              <a:buNone/>
            </a:pPr>
            <a:r>
              <a:rPr lang="en-US" altLang="zh-CN" sz="2400" b="1" dirty="0"/>
              <a:t>   }</a:t>
            </a:r>
          </a:p>
          <a:p>
            <a:pPr marL="0" indent="0">
              <a:lnSpc>
                <a:spcPct val="100000"/>
              </a:lnSpc>
              <a:spcBef>
                <a:spcPct val="0"/>
              </a:spcBef>
              <a:buClr>
                <a:schemeClr val="tx2"/>
              </a:buClr>
              <a:buSzPct val="70000"/>
              <a:buFont typeface="Arial" panose="020B0604020202020204" pitchFamily="34" charset="0"/>
              <a:buNone/>
            </a:pPr>
            <a:r>
              <a:rPr lang="en-US" altLang="zh-CN" sz="2400" b="1" dirty="0"/>
              <a:t>   </a:t>
            </a:r>
            <a:r>
              <a:rPr lang="en-US" altLang="zh-CN" sz="2400" b="1" dirty="0">
                <a:solidFill>
                  <a:srgbClr val="00B050"/>
                </a:solidFill>
              </a:rPr>
              <a:t>┅┅</a:t>
            </a:r>
          </a:p>
          <a:p>
            <a:pPr marL="0" indent="0">
              <a:lnSpc>
                <a:spcPct val="100000"/>
              </a:lnSpc>
              <a:spcBef>
                <a:spcPct val="0"/>
              </a:spcBef>
              <a:buClr>
                <a:schemeClr val="tx2"/>
              </a:buClr>
              <a:buSzPct val="70000"/>
              <a:buFont typeface="Arial" panose="020B0604020202020204" pitchFamily="34" charset="0"/>
              <a:buNone/>
            </a:pPr>
            <a:r>
              <a:rPr lang="en-US" altLang="zh-CN" sz="2400" b="1" dirty="0">
                <a:solidFill>
                  <a:srgbClr val="FF0000"/>
                </a:solidFill>
              </a:rPr>
              <a:t>}</a:t>
            </a:r>
          </a:p>
        </p:txBody>
      </p:sp>
      <p:sp>
        <p:nvSpPr>
          <p:cNvPr id="4" name="灯片编号占位符 3">
            <a:extLst>
              <a:ext uri="{FF2B5EF4-FFF2-40B4-BE49-F238E27FC236}">
                <a16:creationId xmlns:a16="http://schemas.microsoft.com/office/drawing/2014/main" id="{45431C92-CAEE-485B-99C0-8BEDE60A3BB7}"/>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29</a:t>
            </a:fld>
            <a:r>
              <a:rPr lang="en-US" altLang="zh-CN">
                <a:solidFill>
                  <a:prstClr val="black">
                    <a:tint val="75000"/>
                  </a:prstClr>
                </a:solidFill>
              </a:rPr>
              <a:t>/ 35</a:t>
            </a:r>
            <a:endParaRPr lang="zh-CN" altLang="en-US" dirty="0"/>
          </a:p>
        </p:txBody>
      </p:sp>
      <p:sp>
        <p:nvSpPr>
          <p:cNvPr id="7" name="文本框 6">
            <a:extLst>
              <a:ext uri="{FF2B5EF4-FFF2-40B4-BE49-F238E27FC236}">
                <a16:creationId xmlns:a16="http://schemas.microsoft.com/office/drawing/2014/main" id="{2D16472F-FBD5-4687-A78D-1FF9128AFA85}"/>
              </a:ext>
            </a:extLst>
          </p:cNvPr>
          <p:cNvSpPr txBox="1"/>
          <p:nvPr/>
        </p:nvSpPr>
        <p:spPr>
          <a:xfrm>
            <a:off x="2842870" y="-56008"/>
            <a:ext cx="4768993"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字符指针与字符串</a:t>
            </a:r>
            <a:endParaRPr lang="zh-CN" altLang="en-US" sz="3200" b="1" dirty="0">
              <a:solidFill>
                <a:srgbClr val="200AC4"/>
              </a:solidFill>
              <a:ea typeface="隶书" pitchFamily="49" charset="-122"/>
            </a:endParaRPr>
          </a:p>
        </p:txBody>
      </p:sp>
    </p:spTree>
    <p:extLst>
      <p:ext uri="{BB962C8B-B14F-4D97-AF65-F5344CB8AC3E}">
        <p14:creationId xmlns:p14="http://schemas.microsoft.com/office/powerpoint/2010/main" val="2586094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anim calcmode="lin" valueType="num">
                                      <p:cBhvr>
                                        <p:cTn id="13" dur="1000" fill="hold"/>
                                        <p:tgtEl>
                                          <p:spTgt spid="12"/>
                                        </p:tgtEl>
                                        <p:attrNameLst>
                                          <p:attrName>ppt_x</p:attrName>
                                        </p:attrNameLst>
                                      </p:cBhvr>
                                      <p:tavLst>
                                        <p:tav tm="0">
                                          <p:val>
                                            <p:strVal val="#ppt_x"/>
                                          </p:val>
                                        </p:tav>
                                        <p:tav tm="100000">
                                          <p:val>
                                            <p:strVal val="#ppt_x"/>
                                          </p:val>
                                        </p:tav>
                                      </p:tavLst>
                                    </p:anim>
                                    <p:anim calcmode="lin" valueType="num">
                                      <p:cBhvr>
                                        <p:cTn id="14"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1000"/>
                                        <p:tgtEl>
                                          <p:spTgt spid="13"/>
                                        </p:tgtEl>
                                      </p:cBhvr>
                                    </p:animEffect>
                                    <p:anim calcmode="lin" valueType="num">
                                      <p:cBhvr>
                                        <p:cTn id="20" dur="1000" fill="hold"/>
                                        <p:tgtEl>
                                          <p:spTgt spid="13"/>
                                        </p:tgtEl>
                                        <p:attrNameLst>
                                          <p:attrName>ppt_x</p:attrName>
                                        </p:attrNameLst>
                                      </p:cBhvr>
                                      <p:tavLst>
                                        <p:tav tm="0">
                                          <p:val>
                                            <p:strVal val="#ppt_x"/>
                                          </p:val>
                                        </p:tav>
                                        <p:tav tm="100000">
                                          <p:val>
                                            <p:strVal val="#ppt_x"/>
                                          </p:val>
                                        </p:tav>
                                      </p:tavLst>
                                    </p:anim>
                                    <p:anim calcmode="lin" valueType="num">
                                      <p:cBhvr>
                                        <p:cTn id="21"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2" grpId="0"/>
      <p:bldP spid="13"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2C836D8D-6BB8-4C10-ADC2-8ED1ACBD1075}"/>
              </a:ext>
            </a:extLst>
          </p:cNvPr>
          <p:cNvSpPr txBox="1"/>
          <p:nvPr/>
        </p:nvSpPr>
        <p:spPr>
          <a:xfrm>
            <a:off x="2141112" y="-58942"/>
            <a:ext cx="4987824"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指针数组的定义</a:t>
            </a:r>
            <a:endParaRPr lang="zh-CN" altLang="en-US" sz="3200" b="1" dirty="0">
              <a:solidFill>
                <a:srgbClr val="200AC4"/>
              </a:solidFill>
              <a:ea typeface="隶书" pitchFamily="49" charset="-122"/>
            </a:endParaRPr>
          </a:p>
        </p:txBody>
      </p:sp>
      <p:sp>
        <p:nvSpPr>
          <p:cNvPr id="4" name="矩形 3">
            <a:extLst>
              <a:ext uri="{FF2B5EF4-FFF2-40B4-BE49-F238E27FC236}">
                <a16:creationId xmlns:a16="http://schemas.microsoft.com/office/drawing/2014/main" id="{C3D0F857-FE05-4850-BE8F-1A0B7AD6F70C}"/>
              </a:ext>
            </a:extLst>
          </p:cNvPr>
          <p:cNvSpPr/>
          <p:nvPr/>
        </p:nvSpPr>
        <p:spPr>
          <a:xfrm>
            <a:off x="4591" y="584492"/>
            <a:ext cx="12158444" cy="523220"/>
          </a:xfrm>
          <a:prstGeom prst="rect">
            <a:avLst/>
          </a:prstGeom>
        </p:spPr>
        <p:txBody>
          <a:bodyPr wrap="square">
            <a:spAutoFit/>
          </a:bodyPr>
          <a:lstStyle/>
          <a:p>
            <a:pPr marL="0" lvl="1"/>
            <a:r>
              <a:rPr lang="zh-CN" altLang="en-US" sz="2800" b="1" dirty="0">
                <a:latin typeface="隶书" pitchFamily="49" charset="-122"/>
              </a:rPr>
              <a:t>当需要存储多个地址时，可以使用</a:t>
            </a:r>
            <a:r>
              <a:rPr lang="zh-CN" altLang="en-US" sz="2800" b="1" dirty="0">
                <a:solidFill>
                  <a:srgbClr val="00B0F0"/>
                </a:solidFill>
                <a:latin typeface="隶书" pitchFamily="49" charset="-122"/>
              </a:rPr>
              <a:t>指针数组</a:t>
            </a:r>
            <a:r>
              <a:rPr lang="zh-CN" altLang="en-US" sz="2800" b="1" dirty="0">
                <a:latin typeface="隶书" pitchFamily="49" charset="-122"/>
              </a:rPr>
              <a:t>。</a:t>
            </a:r>
          </a:p>
        </p:txBody>
      </p:sp>
      <p:sp>
        <p:nvSpPr>
          <p:cNvPr id="5" name="矩形 4">
            <a:extLst>
              <a:ext uri="{FF2B5EF4-FFF2-40B4-BE49-F238E27FC236}">
                <a16:creationId xmlns:a16="http://schemas.microsoft.com/office/drawing/2014/main" id="{4767472E-8CD4-42B0-AFDD-7F2322CAE860}"/>
              </a:ext>
            </a:extLst>
          </p:cNvPr>
          <p:cNvSpPr/>
          <p:nvPr/>
        </p:nvSpPr>
        <p:spPr>
          <a:xfrm>
            <a:off x="82216" y="4050862"/>
            <a:ext cx="12027568" cy="954107"/>
          </a:xfrm>
          <a:prstGeom prst="rect">
            <a:avLst/>
          </a:prstGeom>
        </p:spPr>
        <p:txBody>
          <a:bodyPr wrap="square">
            <a:spAutoFit/>
          </a:bodyPr>
          <a:lstStyle/>
          <a:p>
            <a:pPr marL="0" lvl="1"/>
            <a:r>
              <a:rPr lang="zh-CN" altLang="en-US" sz="2800" b="1" dirty="0">
                <a:latin typeface="隶书" panose="02010509060101010101" pitchFamily="49" charset="-122"/>
                <a:ea typeface="隶书" panose="02010509060101010101" pitchFamily="49" charset="-122"/>
              </a:rPr>
              <a:t>变量</a:t>
            </a:r>
            <a:r>
              <a:rPr lang="en-US" altLang="zh-CN" sz="2800" b="1" dirty="0"/>
              <a:t>p</a:t>
            </a:r>
            <a:r>
              <a:rPr lang="zh-CN" altLang="en-US" sz="2800" b="1" dirty="0">
                <a:latin typeface="隶书" panose="02010509060101010101" pitchFamily="49" charset="-122"/>
                <a:ea typeface="隶书" panose="02010509060101010101" pitchFamily="49" charset="-122"/>
              </a:rPr>
              <a:t>为</a:t>
            </a:r>
            <a:r>
              <a:rPr lang="en-US" altLang="zh-CN" sz="2800" b="1" dirty="0">
                <a:solidFill>
                  <a:srgbClr val="0000FF"/>
                </a:solidFill>
              </a:rPr>
              <a:t>int</a:t>
            </a:r>
            <a:r>
              <a:rPr lang="zh-CN" altLang="en-US" sz="2800" b="1" dirty="0">
                <a:latin typeface="隶书" panose="02010509060101010101" pitchFamily="49" charset="-122"/>
                <a:ea typeface="隶书" panose="02010509060101010101" pitchFamily="49" charset="-122"/>
              </a:rPr>
              <a:t>类型的指针数组，包含</a:t>
            </a:r>
            <a:r>
              <a:rPr lang="en-US" altLang="zh-CN" sz="2800" b="1" dirty="0">
                <a:latin typeface="隶书" panose="02010509060101010101" pitchFamily="49" charset="-122"/>
                <a:ea typeface="隶书" panose="02010509060101010101" pitchFamily="49" charset="-122"/>
              </a:rPr>
              <a:t>4</a:t>
            </a:r>
            <a:r>
              <a:rPr lang="zh-CN" altLang="en-US" sz="2800" b="1" dirty="0">
                <a:latin typeface="隶书" panose="02010509060101010101" pitchFamily="49" charset="-122"/>
                <a:ea typeface="隶书" panose="02010509060101010101" pitchFamily="49" charset="-122"/>
              </a:rPr>
              <a:t>个元素</a:t>
            </a:r>
            <a:r>
              <a:rPr lang="en-US" altLang="zh-CN" sz="2800" b="1" dirty="0"/>
              <a:t>p</a:t>
            </a:r>
            <a:r>
              <a:rPr lang="en-US" altLang="zh-CN" sz="2800" b="1" dirty="0">
                <a:solidFill>
                  <a:srgbClr val="FF0000"/>
                </a:solidFill>
              </a:rPr>
              <a:t>[</a:t>
            </a:r>
            <a:r>
              <a:rPr lang="en-US" altLang="zh-CN" sz="2800" b="1" dirty="0"/>
              <a:t>0</a:t>
            </a:r>
            <a:r>
              <a:rPr lang="en-US" altLang="zh-CN" sz="2800" b="1" dirty="0">
                <a:solidFill>
                  <a:srgbClr val="FF0000"/>
                </a:solidFill>
              </a:rPr>
              <a:t>]</a:t>
            </a:r>
            <a:r>
              <a:rPr lang="zh-CN" altLang="en-US" sz="2800" b="1" dirty="0">
                <a:latin typeface="隶书" panose="02010509060101010101" pitchFamily="49" charset="-122"/>
                <a:ea typeface="隶书" panose="02010509060101010101" pitchFamily="49" charset="-122"/>
              </a:rPr>
              <a:t>、</a:t>
            </a:r>
            <a:r>
              <a:rPr lang="en-US" altLang="zh-CN" sz="2800" b="1" dirty="0"/>
              <a:t>p</a:t>
            </a:r>
            <a:r>
              <a:rPr lang="en-US" altLang="zh-CN" sz="2800" b="1" dirty="0">
                <a:solidFill>
                  <a:srgbClr val="FF0000"/>
                </a:solidFill>
              </a:rPr>
              <a:t>[</a:t>
            </a:r>
            <a:r>
              <a:rPr lang="en-US" altLang="zh-CN" sz="2800" b="1" dirty="0"/>
              <a:t>1</a:t>
            </a:r>
            <a:r>
              <a:rPr lang="en-US" altLang="zh-CN" sz="2800" b="1" dirty="0">
                <a:solidFill>
                  <a:srgbClr val="FF0000"/>
                </a:solidFill>
              </a:rPr>
              <a:t>]</a:t>
            </a:r>
            <a:r>
              <a:rPr lang="zh-CN" altLang="en-US" sz="2800" b="1" dirty="0">
                <a:latin typeface="隶书" panose="02010509060101010101" pitchFamily="49" charset="-122"/>
                <a:ea typeface="隶书" panose="02010509060101010101" pitchFamily="49" charset="-122"/>
              </a:rPr>
              <a:t>、</a:t>
            </a:r>
            <a:r>
              <a:rPr lang="en-US" altLang="zh-CN" sz="2800" b="1" dirty="0"/>
              <a:t>p</a:t>
            </a:r>
            <a:r>
              <a:rPr lang="en-US" altLang="zh-CN" sz="2800" b="1" dirty="0">
                <a:solidFill>
                  <a:srgbClr val="FF0000"/>
                </a:solidFill>
              </a:rPr>
              <a:t>[</a:t>
            </a:r>
            <a:r>
              <a:rPr lang="en-US" altLang="zh-CN" sz="2800" b="1" dirty="0"/>
              <a:t>2</a:t>
            </a:r>
            <a:r>
              <a:rPr lang="en-US" altLang="zh-CN" sz="2800" b="1" dirty="0">
                <a:solidFill>
                  <a:srgbClr val="FF0000"/>
                </a:solidFill>
              </a:rPr>
              <a:t>]</a:t>
            </a:r>
            <a:r>
              <a:rPr lang="zh-CN" altLang="en-US" sz="2800" b="1" dirty="0">
                <a:latin typeface="隶书" panose="02010509060101010101" pitchFamily="49" charset="-122"/>
                <a:ea typeface="隶书" panose="02010509060101010101" pitchFamily="49" charset="-122"/>
              </a:rPr>
              <a:t>、</a:t>
            </a:r>
            <a:r>
              <a:rPr lang="en-US" altLang="zh-CN" sz="2800" b="1" dirty="0"/>
              <a:t>p</a:t>
            </a:r>
            <a:r>
              <a:rPr lang="en-US" altLang="zh-CN" sz="2800" b="1" dirty="0">
                <a:solidFill>
                  <a:srgbClr val="FF0000"/>
                </a:solidFill>
              </a:rPr>
              <a:t>[</a:t>
            </a:r>
            <a:r>
              <a:rPr lang="en-US" altLang="zh-CN" sz="2800" b="1" dirty="0"/>
              <a:t>3</a:t>
            </a:r>
            <a:r>
              <a:rPr lang="en-US" altLang="zh-CN" sz="2800" b="1" dirty="0">
                <a:solidFill>
                  <a:srgbClr val="FF0000"/>
                </a:solidFill>
              </a:rPr>
              <a:t>]</a:t>
            </a:r>
            <a:r>
              <a:rPr lang="zh-CN" altLang="en-US" sz="2800" b="1" dirty="0">
                <a:latin typeface="隶书" panose="02010509060101010101" pitchFamily="49" charset="-122"/>
                <a:ea typeface="隶书" panose="02010509060101010101" pitchFamily="49" charset="-122"/>
              </a:rPr>
              <a:t>，每个元素为一个整型指针。</a:t>
            </a:r>
          </a:p>
        </p:txBody>
      </p:sp>
      <p:sp>
        <p:nvSpPr>
          <p:cNvPr id="7" name="Rectangle 2">
            <a:extLst>
              <a:ext uri="{FF2B5EF4-FFF2-40B4-BE49-F238E27FC236}">
                <a16:creationId xmlns:a16="http://schemas.microsoft.com/office/drawing/2014/main" id="{65C74D5A-0082-42D9-8B29-3B00C93AB452}"/>
              </a:ext>
            </a:extLst>
          </p:cNvPr>
          <p:cNvSpPr txBox="1">
            <a:spLocks noChangeArrowheads="1"/>
          </p:cNvSpPr>
          <p:nvPr/>
        </p:nvSpPr>
        <p:spPr>
          <a:xfrm>
            <a:off x="3242722" y="1965038"/>
            <a:ext cx="5042758" cy="523220"/>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Font typeface="Arial" panose="020B0604020202020204" pitchFamily="34" charset="0"/>
              <a:buNone/>
            </a:pPr>
            <a:r>
              <a:rPr lang="zh-CN" altLang="en-US" b="1" dirty="0">
                <a:solidFill>
                  <a:srgbClr val="0000FF"/>
                </a:solidFill>
              </a:rPr>
              <a:t>数据类型</a:t>
            </a:r>
            <a:r>
              <a:rPr lang="en-US" altLang="zh-CN" b="1" dirty="0">
                <a:solidFill>
                  <a:srgbClr val="FF0000"/>
                </a:solidFill>
              </a:rPr>
              <a:t>*  </a:t>
            </a:r>
            <a:r>
              <a:rPr lang="zh-CN" altLang="en-US" b="1" dirty="0">
                <a:latin typeface="华文隶书" panose="02010800040101010101" pitchFamily="2" charset="-122"/>
                <a:ea typeface="华文隶书" panose="02010800040101010101" pitchFamily="2" charset="-122"/>
              </a:rPr>
              <a:t>数组名</a:t>
            </a:r>
            <a:r>
              <a:rPr lang="en-US" altLang="zh-CN" b="1" dirty="0">
                <a:solidFill>
                  <a:srgbClr val="FF0000"/>
                </a:solidFill>
              </a:rPr>
              <a:t>[</a:t>
            </a:r>
            <a:r>
              <a:rPr lang="zh-CN" altLang="en-US" sz="2400" b="1" dirty="0">
                <a:latin typeface="宋体" panose="02010600030101010101" pitchFamily="2" charset="-122"/>
                <a:ea typeface="宋体" panose="02010600030101010101" pitchFamily="2" charset="-122"/>
              </a:rPr>
              <a:t>数组长度</a:t>
            </a:r>
            <a:r>
              <a:rPr lang="en-US" altLang="zh-CN" b="1" dirty="0">
                <a:solidFill>
                  <a:srgbClr val="FF0000"/>
                </a:solidFill>
              </a:rPr>
              <a:t>]</a:t>
            </a:r>
            <a:r>
              <a:rPr lang="en-US" altLang="zh-CN" b="1" dirty="0"/>
              <a:t>;</a:t>
            </a:r>
          </a:p>
        </p:txBody>
      </p:sp>
      <p:sp>
        <p:nvSpPr>
          <p:cNvPr id="8" name="矩形 7">
            <a:extLst>
              <a:ext uri="{FF2B5EF4-FFF2-40B4-BE49-F238E27FC236}">
                <a16:creationId xmlns:a16="http://schemas.microsoft.com/office/drawing/2014/main" id="{6AD68858-4D25-460C-BBF0-50F621A5A049}"/>
              </a:ext>
            </a:extLst>
          </p:cNvPr>
          <p:cNvSpPr/>
          <p:nvPr/>
        </p:nvSpPr>
        <p:spPr>
          <a:xfrm>
            <a:off x="82216" y="1233369"/>
            <a:ext cx="12027568" cy="523220"/>
          </a:xfrm>
          <a:prstGeom prst="rect">
            <a:avLst/>
          </a:prstGeom>
        </p:spPr>
        <p:txBody>
          <a:bodyPr wrap="square">
            <a:spAutoFit/>
          </a:bodyPr>
          <a:lstStyle/>
          <a:p>
            <a:pPr marL="0" lvl="1"/>
            <a:r>
              <a:rPr lang="zh-CN" altLang="en-US" sz="2800" b="1" dirty="0">
                <a:latin typeface="隶书" panose="02010509060101010101" pitchFamily="49" charset="-122"/>
                <a:ea typeface="隶书" panose="02010509060101010101" pitchFamily="49" charset="-122"/>
              </a:rPr>
              <a:t>指针数组的定义格式如下：</a:t>
            </a:r>
          </a:p>
        </p:txBody>
      </p:sp>
      <p:sp>
        <p:nvSpPr>
          <p:cNvPr id="9" name="矩形 8">
            <a:extLst>
              <a:ext uri="{FF2B5EF4-FFF2-40B4-BE49-F238E27FC236}">
                <a16:creationId xmlns:a16="http://schemas.microsoft.com/office/drawing/2014/main" id="{BB671696-BCB6-4607-ACB0-4E3BA102E532}"/>
              </a:ext>
            </a:extLst>
          </p:cNvPr>
          <p:cNvSpPr/>
          <p:nvPr/>
        </p:nvSpPr>
        <p:spPr>
          <a:xfrm>
            <a:off x="2317416" y="2488258"/>
            <a:ext cx="6013784" cy="523220"/>
          </a:xfrm>
          <a:prstGeom prst="rect">
            <a:avLst/>
          </a:prstGeom>
        </p:spPr>
        <p:txBody>
          <a:bodyPr wrap="square">
            <a:spAutoFit/>
          </a:bodyPr>
          <a:lstStyle/>
          <a:p>
            <a:pPr marL="0" lvl="1"/>
            <a:r>
              <a:rPr lang="zh-CN" altLang="en-US" sz="2800" b="1" dirty="0">
                <a:latin typeface="隶书" panose="02010509060101010101" pitchFamily="49" charset="-122"/>
                <a:ea typeface="隶书" panose="02010509060101010101" pitchFamily="49" charset="-122"/>
              </a:rPr>
              <a:t>例如：</a:t>
            </a:r>
          </a:p>
        </p:txBody>
      </p:sp>
      <p:sp>
        <p:nvSpPr>
          <p:cNvPr id="10" name="Rectangle 2">
            <a:extLst>
              <a:ext uri="{FF2B5EF4-FFF2-40B4-BE49-F238E27FC236}">
                <a16:creationId xmlns:a16="http://schemas.microsoft.com/office/drawing/2014/main" id="{23BC5E4F-F699-4035-A473-00206F8B960F}"/>
              </a:ext>
            </a:extLst>
          </p:cNvPr>
          <p:cNvSpPr txBox="1">
            <a:spLocks noChangeArrowheads="1"/>
          </p:cNvSpPr>
          <p:nvPr/>
        </p:nvSpPr>
        <p:spPr>
          <a:xfrm>
            <a:off x="3242722" y="3177401"/>
            <a:ext cx="5042758" cy="523220"/>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0000FF"/>
                </a:solidFill>
              </a:rPr>
              <a:t>int</a:t>
            </a:r>
            <a:r>
              <a:rPr lang="zh-CN" altLang="en-US" b="1" dirty="0">
                <a:solidFill>
                  <a:srgbClr val="0000FF"/>
                </a:solidFill>
              </a:rPr>
              <a:t> </a:t>
            </a:r>
            <a:r>
              <a:rPr lang="en-US" altLang="zh-CN" b="1" dirty="0">
                <a:solidFill>
                  <a:srgbClr val="FF0000"/>
                </a:solidFill>
              </a:rPr>
              <a:t>*</a:t>
            </a:r>
            <a:r>
              <a:rPr lang="en-US" altLang="zh-CN" b="1" dirty="0"/>
              <a:t>p</a:t>
            </a:r>
            <a:r>
              <a:rPr lang="en-US" altLang="zh-CN" b="1" dirty="0">
                <a:solidFill>
                  <a:srgbClr val="FF0000"/>
                </a:solidFill>
              </a:rPr>
              <a:t>[</a:t>
            </a:r>
            <a:r>
              <a:rPr lang="en-US" altLang="zh-CN" b="1" dirty="0"/>
              <a:t>4</a:t>
            </a:r>
            <a:r>
              <a:rPr lang="en-US" altLang="zh-CN" b="1" dirty="0">
                <a:solidFill>
                  <a:srgbClr val="FF0000"/>
                </a:solidFill>
              </a:rPr>
              <a:t>]</a:t>
            </a:r>
            <a:r>
              <a:rPr lang="en-US" altLang="zh-CN" b="1" dirty="0"/>
              <a:t>;</a:t>
            </a:r>
          </a:p>
        </p:txBody>
      </p:sp>
      <p:graphicFrame>
        <p:nvGraphicFramePr>
          <p:cNvPr id="11" name="表格 11">
            <a:extLst>
              <a:ext uri="{FF2B5EF4-FFF2-40B4-BE49-F238E27FC236}">
                <a16:creationId xmlns:a16="http://schemas.microsoft.com/office/drawing/2014/main" id="{661AD48B-9150-48A0-B6A4-83D8ED9F86D0}"/>
              </a:ext>
            </a:extLst>
          </p:cNvPr>
          <p:cNvGraphicFramePr>
            <a:graphicFrameLocks noGrp="1"/>
          </p:cNvGraphicFramePr>
          <p:nvPr>
            <p:extLst>
              <p:ext uri="{D42A27DB-BD31-4B8C-83A1-F6EECF244321}">
                <p14:modId xmlns:p14="http://schemas.microsoft.com/office/powerpoint/2010/main" val="4080943586"/>
              </p:ext>
            </p:extLst>
          </p:nvPr>
        </p:nvGraphicFramePr>
        <p:xfrm>
          <a:off x="3706935" y="5133521"/>
          <a:ext cx="4114332" cy="491110"/>
        </p:xfrm>
        <a:graphic>
          <a:graphicData uri="http://schemas.openxmlformats.org/drawingml/2006/table">
            <a:tbl>
              <a:tblPr firstRow="1" bandRow="1">
                <a:tableStyleId>{5940675A-B579-460E-94D1-54222C63F5DA}</a:tableStyleId>
              </a:tblPr>
              <a:tblGrid>
                <a:gridCol w="1028583">
                  <a:extLst>
                    <a:ext uri="{9D8B030D-6E8A-4147-A177-3AD203B41FA5}">
                      <a16:colId xmlns:a16="http://schemas.microsoft.com/office/drawing/2014/main" val="921517397"/>
                    </a:ext>
                  </a:extLst>
                </a:gridCol>
                <a:gridCol w="1028583">
                  <a:extLst>
                    <a:ext uri="{9D8B030D-6E8A-4147-A177-3AD203B41FA5}">
                      <a16:colId xmlns:a16="http://schemas.microsoft.com/office/drawing/2014/main" val="837060974"/>
                    </a:ext>
                  </a:extLst>
                </a:gridCol>
                <a:gridCol w="1028583">
                  <a:extLst>
                    <a:ext uri="{9D8B030D-6E8A-4147-A177-3AD203B41FA5}">
                      <a16:colId xmlns:a16="http://schemas.microsoft.com/office/drawing/2014/main" val="2639858149"/>
                    </a:ext>
                  </a:extLst>
                </a:gridCol>
                <a:gridCol w="1028583">
                  <a:extLst>
                    <a:ext uri="{9D8B030D-6E8A-4147-A177-3AD203B41FA5}">
                      <a16:colId xmlns:a16="http://schemas.microsoft.com/office/drawing/2014/main" val="2560608439"/>
                    </a:ext>
                  </a:extLst>
                </a:gridCol>
              </a:tblGrid>
              <a:tr h="491110">
                <a:tc>
                  <a:txBody>
                    <a:bodyPr/>
                    <a:lstStyle/>
                    <a:p>
                      <a:pPr algn="ctr"/>
                      <a:endParaRPr lang="zh-CN" altLang="en-US" dirty="0"/>
                    </a:p>
                  </a:txBody>
                  <a:tcPr anchor="ctr">
                    <a:cell3D prstMaterial="dkEdge">
                      <a:bevel w="50800" prst="hardEdge"/>
                      <a:lightRig rig="flood" dir="t"/>
                    </a:cell3D>
                  </a:tcPr>
                </a:tc>
                <a:tc>
                  <a:txBody>
                    <a:bodyPr/>
                    <a:lstStyle/>
                    <a:p>
                      <a:pPr algn="ctr"/>
                      <a:endParaRPr lang="zh-CN" altLang="en-US" dirty="0"/>
                    </a:p>
                  </a:txBody>
                  <a:tcPr anchor="ctr">
                    <a:cell3D prstMaterial="dkEdge">
                      <a:bevel w="50800" prst="hardEdge"/>
                      <a:lightRig rig="flood" dir="t"/>
                    </a:cell3D>
                  </a:tcPr>
                </a:tc>
                <a:tc>
                  <a:txBody>
                    <a:bodyPr/>
                    <a:lstStyle/>
                    <a:p>
                      <a:pPr algn="ctr"/>
                      <a:endParaRPr lang="zh-CN" altLang="en-US" dirty="0"/>
                    </a:p>
                  </a:txBody>
                  <a:tcPr anchor="ctr">
                    <a:cell3D prstMaterial="dkEdge">
                      <a:bevel w="50800" prst="hardEdge"/>
                      <a:lightRig rig="flood" dir="t"/>
                    </a:cell3D>
                  </a:tcPr>
                </a:tc>
                <a:tc>
                  <a:txBody>
                    <a:bodyPr/>
                    <a:lstStyle/>
                    <a:p>
                      <a:pPr algn="ctr"/>
                      <a:endParaRPr lang="zh-CN" altLang="en-US" dirty="0"/>
                    </a:p>
                  </a:txBody>
                  <a:tcPr anchor="ctr">
                    <a:cell3D prstMaterial="dkEdge">
                      <a:bevel w="50800" prst="hardEdge"/>
                      <a:lightRig rig="flood" dir="t"/>
                    </a:cell3D>
                  </a:tcPr>
                </a:tc>
                <a:extLst>
                  <a:ext uri="{0D108BD9-81ED-4DB2-BD59-A6C34878D82A}">
                    <a16:rowId xmlns:a16="http://schemas.microsoft.com/office/drawing/2014/main" val="1912508742"/>
                  </a:ext>
                </a:extLst>
              </a:tr>
            </a:tbl>
          </a:graphicData>
        </a:graphic>
      </p:graphicFrame>
      <p:sp>
        <p:nvSpPr>
          <p:cNvPr id="12" name="文本框 11">
            <a:extLst>
              <a:ext uri="{FF2B5EF4-FFF2-40B4-BE49-F238E27FC236}">
                <a16:creationId xmlns:a16="http://schemas.microsoft.com/office/drawing/2014/main" id="{75471E3E-BE89-4872-AE5E-61391A00828D}"/>
              </a:ext>
            </a:extLst>
          </p:cNvPr>
          <p:cNvSpPr txBox="1"/>
          <p:nvPr/>
        </p:nvSpPr>
        <p:spPr>
          <a:xfrm>
            <a:off x="3242722" y="5044141"/>
            <a:ext cx="513080" cy="523220"/>
          </a:xfrm>
          <a:prstGeom prst="rect">
            <a:avLst/>
          </a:prstGeom>
          <a:noFill/>
        </p:spPr>
        <p:txBody>
          <a:bodyPr wrap="square" rtlCol="0">
            <a:spAutoFit/>
          </a:bodyPr>
          <a:lstStyle/>
          <a:p>
            <a:r>
              <a:rPr lang="en-US" altLang="zh-CN" sz="2800" b="1" dirty="0"/>
              <a:t>p</a:t>
            </a:r>
            <a:endParaRPr lang="zh-CN" altLang="en-US" sz="2800" b="1" dirty="0"/>
          </a:p>
        </p:txBody>
      </p:sp>
      <p:cxnSp>
        <p:nvCxnSpPr>
          <p:cNvPr id="13" name="直接箭头连接符 12">
            <a:extLst>
              <a:ext uri="{FF2B5EF4-FFF2-40B4-BE49-F238E27FC236}">
                <a16:creationId xmlns:a16="http://schemas.microsoft.com/office/drawing/2014/main" id="{F7DD245C-D2E2-4F8C-AE6A-FD0DCEBE17A0}"/>
              </a:ext>
            </a:extLst>
          </p:cNvPr>
          <p:cNvCxnSpPr>
            <a:cxnSpLocks/>
          </p:cNvCxnSpPr>
          <p:nvPr/>
        </p:nvCxnSpPr>
        <p:spPr>
          <a:xfrm>
            <a:off x="4223254" y="5375842"/>
            <a:ext cx="6479" cy="487102"/>
          </a:xfrm>
          <a:prstGeom prst="straightConnector1">
            <a:avLst/>
          </a:prstGeom>
          <a:ln w="28575">
            <a:solidFill>
              <a:srgbClr val="FF0000"/>
            </a:solidFill>
            <a:headEnd type="none" w="lg" len="lg"/>
            <a:tailEnd type="triangle" w="med" len="med"/>
          </a:ln>
        </p:spPr>
        <p:style>
          <a:lnRef idx="1">
            <a:schemeClr val="dk1"/>
          </a:lnRef>
          <a:fillRef idx="0">
            <a:schemeClr val="dk1"/>
          </a:fillRef>
          <a:effectRef idx="0">
            <a:schemeClr val="dk1"/>
          </a:effectRef>
          <a:fontRef idx="minor">
            <a:schemeClr val="tx1"/>
          </a:fontRef>
        </p:style>
      </p:cxnSp>
      <p:cxnSp>
        <p:nvCxnSpPr>
          <p:cNvPr id="14" name="直接箭头连接符 13">
            <a:extLst>
              <a:ext uri="{FF2B5EF4-FFF2-40B4-BE49-F238E27FC236}">
                <a16:creationId xmlns:a16="http://schemas.microsoft.com/office/drawing/2014/main" id="{8B4A4915-7627-4AC6-84F6-07F79E113D32}"/>
              </a:ext>
            </a:extLst>
          </p:cNvPr>
          <p:cNvCxnSpPr>
            <a:cxnSpLocks/>
          </p:cNvCxnSpPr>
          <p:nvPr/>
        </p:nvCxnSpPr>
        <p:spPr>
          <a:xfrm>
            <a:off x="5244776" y="5381080"/>
            <a:ext cx="6479" cy="487102"/>
          </a:xfrm>
          <a:prstGeom prst="straightConnector1">
            <a:avLst/>
          </a:prstGeom>
          <a:ln w="28575">
            <a:solidFill>
              <a:srgbClr val="FF0000"/>
            </a:solidFill>
            <a:headEnd type="none" w="lg" len="lg"/>
            <a:tailEnd type="triangle" w="med" len="med"/>
          </a:ln>
        </p:spPr>
        <p:style>
          <a:lnRef idx="1">
            <a:schemeClr val="dk1"/>
          </a:lnRef>
          <a:fillRef idx="0">
            <a:schemeClr val="dk1"/>
          </a:fillRef>
          <a:effectRef idx="0">
            <a:schemeClr val="dk1"/>
          </a:effectRef>
          <a:fontRef idx="minor">
            <a:schemeClr val="tx1"/>
          </a:fontRef>
        </p:style>
      </p:cxnSp>
      <p:cxnSp>
        <p:nvCxnSpPr>
          <p:cNvPr id="15" name="直接箭头连接符 14">
            <a:extLst>
              <a:ext uri="{FF2B5EF4-FFF2-40B4-BE49-F238E27FC236}">
                <a16:creationId xmlns:a16="http://schemas.microsoft.com/office/drawing/2014/main" id="{FCD7FDAA-88D5-43F1-BA56-C66026C8120A}"/>
              </a:ext>
            </a:extLst>
          </p:cNvPr>
          <p:cNvCxnSpPr>
            <a:cxnSpLocks/>
          </p:cNvCxnSpPr>
          <p:nvPr/>
        </p:nvCxnSpPr>
        <p:spPr>
          <a:xfrm>
            <a:off x="6269537" y="5381080"/>
            <a:ext cx="6479" cy="487102"/>
          </a:xfrm>
          <a:prstGeom prst="straightConnector1">
            <a:avLst/>
          </a:prstGeom>
          <a:ln w="28575">
            <a:solidFill>
              <a:srgbClr val="FF0000"/>
            </a:solidFill>
            <a:headEnd type="none" w="lg" len="lg"/>
            <a:tailEnd type="triangle" w="med" len="med"/>
          </a:ln>
        </p:spPr>
        <p:style>
          <a:lnRef idx="1">
            <a:schemeClr val="dk1"/>
          </a:lnRef>
          <a:fillRef idx="0">
            <a:schemeClr val="dk1"/>
          </a:fillRef>
          <a:effectRef idx="0">
            <a:schemeClr val="dk1"/>
          </a:effectRef>
          <a:fontRef idx="minor">
            <a:schemeClr val="tx1"/>
          </a:fontRef>
        </p:style>
      </p:cxnSp>
      <p:cxnSp>
        <p:nvCxnSpPr>
          <p:cNvPr id="16" name="直接箭头连接符 15">
            <a:extLst>
              <a:ext uri="{FF2B5EF4-FFF2-40B4-BE49-F238E27FC236}">
                <a16:creationId xmlns:a16="http://schemas.microsoft.com/office/drawing/2014/main" id="{B138E691-92D9-40AA-BCAF-B327B53EA3ED}"/>
              </a:ext>
            </a:extLst>
          </p:cNvPr>
          <p:cNvCxnSpPr>
            <a:cxnSpLocks/>
          </p:cNvCxnSpPr>
          <p:nvPr/>
        </p:nvCxnSpPr>
        <p:spPr>
          <a:xfrm>
            <a:off x="7294298" y="5375842"/>
            <a:ext cx="6479" cy="487102"/>
          </a:xfrm>
          <a:prstGeom prst="straightConnector1">
            <a:avLst/>
          </a:prstGeom>
          <a:ln w="28575">
            <a:solidFill>
              <a:srgbClr val="FF0000"/>
            </a:solidFill>
            <a:headEnd type="none" w="lg" len="lg"/>
            <a:tailEnd type="triangle" w="med" len="med"/>
          </a:ln>
        </p:spPr>
        <p:style>
          <a:lnRef idx="1">
            <a:schemeClr val="dk1"/>
          </a:lnRef>
          <a:fillRef idx="0">
            <a:schemeClr val="dk1"/>
          </a:fillRef>
          <a:effectRef idx="0">
            <a:schemeClr val="dk1"/>
          </a:effectRef>
          <a:fontRef idx="minor">
            <a:schemeClr val="tx1"/>
          </a:fontRef>
        </p:style>
      </p:cxnSp>
      <p:sp>
        <p:nvSpPr>
          <p:cNvPr id="17" name="灯片编号占位符 16">
            <a:extLst>
              <a:ext uri="{FF2B5EF4-FFF2-40B4-BE49-F238E27FC236}">
                <a16:creationId xmlns:a16="http://schemas.microsoft.com/office/drawing/2014/main" id="{220EBB62-ADA1-4C72-8222-739EE34021AA}"/>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30</a:t>
            </a:fld>
            <a:r>
              <a:rPr lang="en-US" altLang="zh-CN">
                <a:solidFill>
                  <a:prstClr val="black">
                    <a:tint val="75000"/>
                  </a:prstClr>
                </a:solidFill>
              </a:rPr>
              <a:t>/ 35</a:t>
            </a:r>
            <a:endParaRPr lang="zh-CN" altLang="en-US" dirty="0"/>
          </a:p>
        </p:txBody>
      </p:sp>
    </p:spTree>
    <p:extLst>
      <p:ext uri="{BB962C8B-B14F-4D97-AF65-F5344CB8AC3E}">
        <p14:creationId xmlns:p14="http://schemas.microsoft.com/office/powerpoint/2010/main" val="2740319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2" presetClass="entr" presetSubtype="8"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0-#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7" presetClass="entr" presetSubtype="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1000"/>
                                        <p:tgtEl>
                                          <p:spTgt spid="9"/>
                                        </p:tgtEl>
                                      </p:cBhvr>
                                    </p:animEffect>
                                    <p:anim calcmode="lin" valueType="num">
                                      <p:cBhvr>
                                        <p:cTn id="19" dur="1000" fill="hold"/>
                                        <p:tgtEl>
                                          <p:spTgt spid="9"/>
                                        </p:tgtEl>
                                        <p:attrNameLst>
                                          <p:attrName>ppt_x</p:attrName>
                                        </p:attrNameLst>
                                      </p:cBhvr>
                                      <p:tavLst>
                                        <p:tav tm="0">
                                          <p:val>
                                            <p:strVal val="#ppt_x"/>
                                          </p:val>
                                        </p:tav>
                                        <p:tav tm="100000">
                                          <p:val>
                                            <p:strVal val="#ppt_x"/>
                                          </p:val>
                                        </p:tav>
                                      </p:tavLst>
                                    </p:anim>
                                    <p:anim calcmode="lin" valueType="num">
                                      <p:cBhvr>
                                        <p:cTn id="20" dur="1000" fill="hold"/>
                                        <p:tgtEl>
                                          <p:spTgt spid="9"/>
                                        </p:tgtEl>
                                        <p:attrNameLst>
                                          <p:attrName>ppt_y</p:attrName>
                                        </p:attrNameLst>
                                      </p:cBhvr>
                                      <p:tavLst>
                                        <p:tav tm="0">
                                          <p:val>
                                            <p:strVal val="#ppt_y-.1"/>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500" fill="hold"/>
                                        <p:tgtEl>
                                          <p:spTgt spid="10"/>
                                        </p:tgtEl>
                                        <p:attrNameLst>
                                          <p:attrName>ppt_x</p:attrName>
                                        </p:attrNameLst>
                                      </p:cBhvr>
                                      <p:tavLst>
                                        <p:tav tm="0">
                                          <p:val>
                                            <p:strVal val="0-#ppt_w/2"/>
                                          </p:val>
                                        </p:tav>
                                        <p:tav tm="100000">
                                          <p:val>
                                            <p:strVal val="#ppt_x"/>
                                          </p:val>
                                        </p:tav>
                                      </p:tavLst>
                                    </p:anim>
                                    <p:anim calcmode="lin" valueType="num">
                                      <p:cBhvr additive="base">
                                        <p:cTn id="24" dur="500" fill="hold"/>
                                        <p:tgtEl>
                                          <p:spTgt spid="10"/>
                                        </p:tgtEl>
                                        <p:attrNameLst>
                                          <p:attrName>ppt_y</p:attrName>
                                        </p:attrNameLst>
                                      </p:cBhvr>
                                      <p:tavLst>
                                        <p:tav tm="0">
                                          <p:val>
                                            <p:strVal val="#ppt_y"/>
                                          </p:val>
                                        </p:tav>
                                        <p:tav tm="100000">
                                          <p:val>
                                            <p:strVal val="#ppt_y"/>
                                          </p:val>
                                        </p:tav>
                                      </p:tavLst>
                                    </p:anim>
                                  </p:childTnLst>
                                </p:cTn>
                              </p:par>
                              <p:par>
                                <p:cTn id="25" presetID="47" presetClass="entr" presetSubtype="0" fill="hold" grpId="0" nodeType="with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1000"/>
                                        <p:tgtEl>
                                          <p:spTgt spid="5"/>
                                        </p:tgtEl>
                                      </p:cBhvr>
                                    </p:animEffect>
                                    <p:anim calcmode="lin" valueType="num">
                                      <p:cBhvr>
                                        <p:cTn id="28" dur="1000" fill="hold"/>
                                        <p:tgtEl>
                                          <p:spTgt spid="5"/>
                                        </p:tgtEl>
                                        <p:attrNameLst>
                                          <p:attrName>ppt_x</p:attrName>
                                        </p:attrNameLst>
                                      </p:cBhvr>
                                      <p:tavLst>
                                        <p:tav tm="0">
                                          <p:val>
                                            <p:strVal val="#ppt_x"/>
                                          </p:val>
                                        </p:tav>
                                        <p:tav tm="100000">
                                          <p:val>
                                            <p:strVal val="#ppt_x"/>
                                          </p:val>
                                        </p:tav>
                                      </p:tavLst>
                                    </p:anim>
                                    <p:anim calcmode="lin" valueType="num">
                                      <p:cBhvr>
                                        <p:cTn id="2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1000"/>
                                        <p:tgtEl>
                                          <p:spTgt spid="13"/>
                                        </p:tgtEl>
                                      </p:cBhvr>
                                    </p:animEffect>
                                    <p:anim calcmode="lin" valueType="num">
                                      <p:cBhvr>
                                        <p:cTn id="35" dur="1000" fill="hold"/>
                                        <p:tgtEl>
                                          <p:spTgt spid="13"/>
                                        </p:tgtEl>
                                        <p:attrNameLst>
                                          <p:attrName>ppt_x</p:attrName>
                                        </p:attrNameLst>
                                      </p:cBhvr>
                                      <p:tavLst>
                                        <p:tav tm="0">
                                          <p:val>
                                            <p:strVal val="#ppt_x"/>
                                          </p:val>
                                        </p:tav>
                                        <p:tav tm="100000">
                                          <p:val>
                                            <p:strVal val="#ppt_x"/>
                                          </p:val>
                                        </p:tav>
                                      </p:tavLst>
                                    </p:anim>
                                    <p:anim calcmode="lin" valueType="num">
                                      <p:cBhvr>
                                        <p:cTn id="36" dur="1000" fill="hold"/>
                                        <p:tgtEl>
                                          <p:spTgt spid="13"/>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1000"/>
                                        <p:tgtEl>
                                          <p:spTgt spid="14"/>
                                        </p:tgtEl>
                                      </p:cBhvr>
                                    </p:animEffect>
                                    <p:anim calcmode="lin" valueType="num">
                                      <p:cBhvr>
                                        <p:cTn id="40" dur="1000" fill="hold"/>
                                        <p:tgtEl>
                                          <p:spTgt spid="14"/>
                                        </p:tgtEl>
                                        <p:attrNameLst>
                                          <p:attrName>ppt_x</p:attrName>
                                        </p:attrNameLst>
                                      </p:cBhvr>
                                      <p:tavLst>
                                        <p:tav tm="0">
                                          <p:val>
                                            <p:strVal val="#ppt_x"/>
                                          </p:val>
                                        </p:tav>
                                        <p:tav tm="100000">
                                          <p:val>
                                            <p:strVal val="#ppt_x"/>
                                          </p:val>
                                        </p:tav>
                                      </p:tavLst>
                                    </p:anim>
                                    <p:anim calcmode="lin" valueType="num">
                                      <p:cBhvr>
                                        <p:cTn id="41" dur="1000" fill="hold"/>
                                        <p:tgtEl>
                                          <p:spTgt spid="14"/>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1000"/>
                                        <p:tgtEl>
                                          <p:spTgt spid="15"/>
                                        </p:tgtEl>
                                      </p:cBhvr>
                                    </p:animEffect>
                                    <p:anim calcmode="lin" valueType="num">
                                      <p:cBhvr>
                                        <p:cTn id="45" dur="1000" fill="hold"/>
                                        <p:tgtEl>
                                          <p:spTgt spid="15"/>
                                        </p:tgtEl>
                                        <p:attrNameLst>
                                          <p:attrName>ppt_x</p:attrName>
                                        </p:attrNameLst>
                                      </p:cBhvr>
                                      <p:tavLst>
                                        <p:tav tm="0">
                                          <p:val>
                                            <p:strVal val="#ppt_x"/>
                                          </p:val>
                                        </p:tav>
                                        <p:tav tm="100000">
                                          <p:val>
                                            <p:strVal val="#ppt_x"/>
                                          </p:val>
                                        </p:tav>
                                      </p:tavLst>
                                    </p:anim>
                                    <p:anim calcmode="lin" valueType="num">
                                      <p:cBhvr>
                                        <p:cTn id="46" dur="1000" fill="hold"/>
                                        <p:tgtEl>
                                          <p:spTgt spid="15"/>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1000"/>
                                        <p:tgtEl>
                                          <p:spTgt spid="16"/>
                                        </p:tgtEl>
                                      </p:cBhvr>
                                    </p:animEffect>
                                    <p:anim calcmode="lin" valueType="num">
                                      <p:cBhvr>
                                        <p:cTn id="50" dur="1000" fill="hold"/>
                                        <p:tgtEl>
                                          <p:spTgt spid="16"/>
                                        </p:tgtEl>
                                        <p:attrNameLst>
                                          <p:attrName>ppt_x</p:attrName>
                                        </p:attrNameLst>
                                      </p:cBhvr>
                                      <p:tavLst>
                                        <p:tav tm="0">
                                          <p:val>
                                            <p:strVal val="#ppt_x"/>
                                          </p:val>
                                        </p:tav>
                                        <p:tav tm="100000">
                                          <p:val>
                                            <p:strVal val="#ppt_x"/>
                                          </p:val>
                                        </p:tav>
                                      </p:tavLst>
                                    </p:anim>
                                    <p:anim calcmode="lin" valueType="num">
                                      <p:cBhvr>
                                        <p:cTn id="51" dur="1000" fill="hold"/>
                                        <p:tgtEl>
                                          <p:spTgt spid="16"/>
                                        </p:tgtEl>
                                        <p:attrNameLst>
                                          <p:attrName>ppt_y</p:attrName>
                                        </p:attrNameLst>
                                      </p:cBhvr>
                                      <p:tavLst>
                                        <p:tav tm="0">
                                          <p:val>
                                            <p:strVal val="#ppt_y+.1"/>
                                          </p:val>
                                        </p:tav>
                                        <p:tav tm="100000">
                                          <p:val>
                                            <p:strVal val="#ppt_y"/>
                                          </p:val>
                                        </p:tav>
                                      </p:tavLst>
                                    </p:anim>
                                  </p:childTnLst>
                                </p:cTn>
                              </p:par>
                              <p:par>
                                <p:cTn id="52" presetID="42" presetClass="entr" presetSubtype="0" fill="hold" nodeType="withEffect">
                                  <p:stCondLst>
                                    <p:cond delay="0"/>
                                  </p:stCondLst>
                                  <p:childTnLst>
                                    <p:set>
                                      <p:cBhvr>
                                        <p:cTn id="53" dur="1" fill="hold">
                                          <p:stCondLst>
                                            <p:cond delay="0"/>
                                          </p:stCondLst>
                                        </p:cTn>
                                        <p:tgtEl>
                                          <p:spTgt spid="11"/>
                                        </p:tgtEl>
                                        <p:attrNameLst>
                                          <p:attrName>style.visibility</p:attrName>
                                        </p:attrNameLst>
                                      </p:cBhvr>
                                      <p:to>
                                        <p:strVal val="visible"/>
                                      </p:to>
                                    </p:set>
                                    <p:animEffect transition="in" filter="fade">
                                      <p:cBhvr>
                                        <p:cTn id="54" dur="1000"/>
                                        <p:tgtEl>
                                          <p:spTgt spid="11"/>
                                        </p:tgtEl>
                                      </p:cBhvr>
                                    </p:animEffect>
                                    <p:anim calcmode="lin" valueType="num">
                                      <p:cBhvr>
                                        <p:cTn id="55" dur="1000" fill="hold"/>
                                        <p:tgtEl>
                                          <p:spTgt spid="11"/>
                                        </p:tgtEl>
                                        <p:attrNameLst>
                                          <p:attrName>ppt_x</p:attrName>
                                        </p:attrNameLst>
                                      </p:cBhvr>
                                      <p:tavLst>
                                        <p:tav tm="0">
                                          <p:val>
                                            <p:strVal val="#ppt_x"/>
                                          </p:val>
                                        </p:tav>
                                        <p:tav tm="100000">
                                          <p:val>
                                            <p:strVal val="#ppt_x"/>
                                          </p:val>
                                        </p:tav>
                                      </p:tavLst>
                                    </p:anim>
                                    <p:anim calcmode="lin" valueType="num">
                                      <p:cBhvr>
                                        <p:cTn id="56" dur="1000" fill="hold"/>
                                        <p:tgtEl>
                                          <p:spTgt spid="11"/>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12"/>
                                        </p:tgtEl>
                                        <p:attrNameLst>
                                          <p:attrName>style.visibility</p:attrName>
                                        </p:attrNameLst>
                                      </p:cBhvr>
                                      <p:to>
                                        <p:strVal val="visible"/>
                                      </p:to>
                                    </p:set>
                                    <p:animEffect transition="in" filter="fade">
                                      <p:cBhvr>
                                        <p:cTn id="59" dur="1000"/>
                                        <p:tgtEl>
                                          <p:spTgt spid="12"/>
                                        </p:tgtEl>
                                      </p:cBhvr>
                                    </p:animEffect>
                                    <p:anim calcmode="lin" valueType="num">
                                      <p:cBhvr>
                                        <p:cTn id="60" dur="1000" fill="hold"/>
                                        <p:tgtEl>
                                          <p:spTgt spid="12"/>
                                        </p:tgtEl>
                                        <p:attrNameLst>
                                          <p:attrName>ppt_x</p:attrName>
                                        </p:attrNameLst>
                                      </p:cBhvr>
                                      <p:tavLst>
                                        <p:tav tm="0">
                                          <p:val>
                                            <p:strVal val="#ppt_x"/>
                                          </p:val>
                                        </p:tav>
                                        <p:tav tm="100000">
                                          <p:val>
                                            <p:strVal val="#ppt_x"/>
                                          </p:val>
                                        </p:tav>
                                      </p:tavLst>
                                    </p:anim>
                                    <p:anim calcmode="lin" valueType="num">
                                      <p:cBhvr>
                                        <p:cTn id="61"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animBg="1"/>
      <p:bldP spid="8" grpId="0"/>
      <p:bldP spid="9" grpId="0"/>
      <p:bldP spid="10" grpId="0" animBg="1"/>
      <p:bldP spid="1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CABCE8A6-7732-4C84-B748-D581A70D8A67}"/>
              </a:ext>
            </a:extLst>
          </p:cNvPr>
          <p:cNvSpPr/>
          <p:nvPr/>
        </p:nvSpPr>
        <p:spPr>
          <a:xfrm>
            <a:off x="7197" y="589078"/>
            <a:ext cx="11709066" cy="523220"/>
          </a:xfrm>
          <a:prstGeom prst="rect">
            <a:avLst/>
          </a:prstGeom>
        </p:spPr>
        <p:txBody>
          <a:bodyPr wrap="square">
            <a:spAutoFit/>
          </a:bodyPr>
          <a:lstStyle/>
          <a:p>
            <a:pPr marL="0" lvl="1"/>
            <a:r>
              <a:rPr lang="en-US" altLang="zh-CN" sz="2800" b="1" dirty="0">
                <a:solidFill>
                  <a:srgbClr val="00B0F0"/>
                </a:solidFill>
                <a:latin typeface="微软雅黑" panose="020B0503020204020204" pitchFamily="34" charset="-122"/>
                <a:ea typeface="微软雅黑" panose="020B0503020204020204" pitchFamily="34" charset="-122"/>
              </a:rPr>
              <a:t>1. </a:t>
            </a:r>
            <a:r>
              <a:rPr lang="zh-CN" altLang="en-US" sz="2800" b="1" dirty="0">
                <a:solidFill>
                  <a:srgbClr val="00B0F0"/>
                </a:solidFill>
                <a:latin typeface="微软雅黑" panose="020B0503020204020204" pitchFamily="34" charset="-122"/>
                <a:ea typeface="微软雅黑" panose="020B0503020204020204" pitchFamily="34" charset="-122"/>
              </a:rPr>
              <a:t>指针数组指向二维数组列指针</a:t>
            </a:r>
            <a:endParaRPr lang="en-US" altLang="zh-CN" sz="3200" b="1" dirty="0">
              <a:latin typeface="隶书" panose="02010509060101010101" pitchFamily="49" charset="-122"/>
              <a:ea typeface="隶书" panose="02010509060101010101" pitchFamily="49" charset="-122"/>
            </a:endParaRPr>
          </a:p>
        </p:txBody>
      </p:sp>
      <p:sp>
        <p:nvSpPr>
          <p:cNvPr id="7" name="矩形 6">
            <a:extLst>
              <a:ext uri="{FF2B5EF4-FFF2-40B4-BE49-F238E27FC236}">
                <a16:creationId xmlns:a16="http://schemas.microsoft.com/office/drawing/2014/main" id="{5C2A2FC3-6255-4662-8D67-B425AB6E633F}"/>
              </a:ext>
            </a:extLst>
          </p:cNvPr>
          <p:cNvSpPr/>
          <p:nvPr/>
        </p:nvSpPr>
        <p:spPr>
          <a:xfrm>
            <a:off x="16777" y="1166327"/>
            <a:ext cx="12175223" cy="461665"/>
          </a:xfrm>
          <a:prstGeom prst="rect">
            <a:avLst/>
          </a:prstGeom>
        </p:spPr>
        <p:txBody>
          <a:bodyPr wrap="square">
            <a:spAutoFit/>
          </a:bodyPr>
          <a:lstStyle/>
          <a:p>
            <a:pPr marL="0" lvl="1"/>
            <a:r>
              <a:rPr lang="zh-CN" altLang="en-US" sz="2400" b="1" dirty="0">
                <a:latin typeface="隶书" pitchFamily="49" charset="-122"/>
              </a:rPr>
              <a:t>例</a:t>
            </a:r>
            <a:r>
              <a:rPr lang="en-US" altLang="zh-CN" sz="2400" b="1" dirty="0">
                <a:latin typeface="隶书" pitchFamily="49" charset="-122"/>
              </a:rPr>
              <a:t>【</a:t>
            </a:r>
            <a:r>
              <a:rPr lang="en-US" altLang="zh-CN" sz="2400" b="1" dirty="0">
                <a:solidFill>
                  <a:srgbClr val="00B0F0"/>
                </a:solidFill>
                <a:latin typeface="隶书" pitchFamily="49" charset="-122"/>
              </a:rPr>
              <a:t>5-9</a:t>
            </a:r>
            <a:r>
              <a:rPr lang="en-US" altLang="zh-CN" sz="2400" b="1" dirty="0">
                <a:latin typeface="隶书" pitchFamily="49" charset="-122"/>
              </a:rPr>
              <a:t>】</a:t>
            </a:r>
            <a:r>
              <a:rPr lang="zh-CN" altLang="en-US" sz="2400" b="1" dirty="0">
                <a:latin typeface="隶书" pitchFamily="49" charset="-122"/>
              </a:rPr>
              <a:t>利用指针数组输出二维数组中的元素。</a:t>
            </a:r>
          </a:p>
        </p:txBody>
      </p:sp>
      <p:sp>
        <p:nvSpPr>
          <p:cNvPr id="8" name="Rectangle 2">
            <a:extLst>
              <a:ext uri="{FF2B5EF4-FFF2-40B4-BE49-F238E27FC236}">
                <a16:creationId xmlns:a16="http://schemas.microsoft.com/office/drawing/2014/main" id="{03BFA985-0715-4F7D-A3BA-B75272E551C6}"/>
              </a:ext>
            </a:extLst>
          </p:cNvPr>
          <p:cNvSpPr txBox="1">
            <a:spLocks noChangeArrowheads="1"/>
          </p:cNvSpPr>
          <p:nvPr/>
        </p:nvSpPr>
        <p:spPr>
          <a:xfrm>
            <a:off x="168512" y="1768377"/>
            <a:ext cx="6288167" cy="4893647"/>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Font typeface="Arial" panose="020B0604020202020204" pitchFamily="34" charset="0"/>
              <a:buNone/>
            </a:pPr>
            <a:r>
              <a:rPr lang="en-US" altLang="zh-CN" sz="2400" b="1" dirty="0">
                <a:solidFill>
                  <a:srgbClr val="0000FF"/>
                </a:solidFill>
              </a:rPr>
              <a:t>int </a:t>
            </a:r>
            <a:r>
              <a:rPr lang="en-US" altLang="zh-CN" sz="2400" b="1" dirty="0"/>
              <a:t>main()</a:t>
            </a:r>
          </a:p>
          <a:p>
            <a:pPr marL="0" indent="0">
              <a:lnSpc>
                <a:spcPct val="100000"/>
              </a:lnSpc>
              <a:spcBef>
                <a:spcPct val="0"/>
              </a:spcBef>
              <a:buClr>
                <a:schemeClr val="tx2"/>
              </a:buClr>
              <a:buSzPct val="70000"/>
              <a:buFont typeface="Arial" panose="020B0604020202020204" pitchFamily="34" charset="0"/>
              <a:buNone/>
            </a:pPr>
            <a:r>
              <a:rPr lang="en-US" altLang="zh-CN" sz="2400" b="1" dirty="0">
                <a:solidFill>
                  <a:srgbClr val="FF0000"/>
                </a:solidFill>
              </a:rPr>
              <a:t>{</a:t>
            </a:r>
          </a:p>
          <a:p>
            <a:pPr marL="0" indent="0">
              <a:lnSpc>
                <a:spcPct val="100000"/>
              </a:lnSpc>
              <a:spcBef>
                <a:spcPct val="0"/>
              </a:spcBef>
              <a:buClr>
                <a:schemeClr val="tx2"/>
              </a:buClr>
              <a:buSzPct val="70000"/>
              <a:buNone/>
            </a:pPr>
            <a:r>
              <a:rPr lang="en-US" altLang="zh-CN" sz="2400" b="1" dirty="0">
                <a:solidFill>
                  <a:srgbClr val="0000FF"/>
                </a:solidFill>
              </a:rPr>
              <a:t>   int </a:t>
            </a:r>
            <a:r>
              <a:rPr lang="en-US" altLang="zh-CN" sz="2400" b="1" dirty="0">
                <a:solidFill>
                  <a:srgbClr val="FF0000"/>
                </a:solidFill>
              </a:rPr>
              <a:t>*</a:t>
            </a:r>
            <a:r>
              <a:rPr lang="en-US" altLang="zh-CN" sz="2400" b="1" dirty="0"/>
              <a:t>p</a:t>
            </a:r>
            <a:r>
              <a:rPr lang="en-US" altLang="zh-CN" sz="2400" b="1" dirty="0">
                <a:solidFill>
                  <a:srgbClr val="FF0000"/>
                </a:solidFill>
              </a:rPr>
              <a:t>[</a:t>
            </a:r>
            <a:r>
              <a:rPr lang="en-US" altLang="zh-CN" sz="2400" b="1" dirty="0"/>
              <a:t>3</a:t>
            </a:r>
            <a:r>
              <a:rPr lang="en-US" altLang="zh-CN" sz="2400" b="1" dirty="0">
                <a:solidFill>
                  <a:srgbClr val="FF0000"/>
                </a:solidFill>
              </a:rPr>
              <a:t>]</a:t>
            </a:r>
            <a:r>
              <a:rPr lang="en-US" altLang="zh-CN" sz="2400" b="1" dirty="0"/>
              <a:t>,</a:t>
            </a:r>
            <a:r>
              <a:rPr lang="en-US" altLang="zh-CN" sz="2400" b="1" dirty="0">
                <a:solidFill>
                  <a:srgbClr val="0000FF"/>
                </a:solidFill>
              </a:rPr>
              <a:t> </a:t>
            </a:r>
            <a:r>
              <a:rPr lang="en-US" altLang="zh-CN" sz="2400" b="1" dirty="0"/>
              <a:t>a</a:t>
            </a:r>
            <a:r>
              <a:rPr lang="en-US" altLang="zh-CN" sz="2400" b="1" dirty="0">
                <a:solidFill>
                  <a:srgbClr val="FF0000"/>
                </a:solidFill>
              </a:rPr>
              <a:t>[</a:t>
            </a:r>
            <a:r>
              <a:rPr lang="en-US" altLang="zh-CN" sz="2400" b="1" dirty="0"/>
              <a:t>3</a:t>
            </a:r>
            <a:r>
              <a:rPr lang="en-US" altLang="zh-CN" sz="2400" b="1" dirty="0">
                <a:solidFill>
                  <a:srgbClr val="FF0000"/>
                </a:solidFill>
              </a:rPr>
              <a:t>][</a:t>
            </a:r>
            <a:r>
              <a:rPr lang="en-US" altLang="zh-CN" sz="2400" b="1" dirty="0"/>
              <a:t>4</a:t>
            </a:r>
            <a:r>
              <a:rPr lang="en-US" altLang="zh-CN" sz="2400" b="1" dirty="0">
                <a:solidFill>
                  <a:srgbClr val="FF0000"/>
                </a:solidFill>
              </a:rPr>
              <a:t>] </a:t>
            </a:r>
            <a:r>
              <a:rPr lang="en-US" altLang="zh-CN" sz="2400" b="1" dirty="0"/>
              <a:t>= {{1},{2},{3},{4}};</a:t>
            </a:r>
          </a:p>
          <a:p>
            <a:pPr marL="0" indent="0">
              <a:lnSpc>
                <a:spcPct val="100000"/>
              </a:lnSpc>
              <a:spcBef>
                <a:spcPct val="0"/>
              </a:spcBef>
              <a:buClr>
                <a:schemeClr val="tx2"/>
              </a:buClr>
              <a:buSzPct val="70000"/>
              <a:buNone/>
            </a:pPr>
            <a:r>
              <a:rPr lang="en-US" altLang="zh-CN" sz="2400" b="1" dirty="0"/>
              <a:t>   p</a:t>
            </a:r>
            <a:r>
              <a:rPr lang="en-US" altLang="zh-CN" sz="2400" b="1" dirty="0">
                <a:solidFill>
                  <a:srgbClr val="FF0000"/>
                </a:solidFill>
              </a:rPr>
              <a:t>[</a:t>
            </a:r>
            <a:r>
              <a:rPr lang="en-US" altLang="zh-CN" sz="2400" b="1" dirty="0"/>
              <a:t>0</a:t>
            </a:r>
            <a:r>
              <a:rPr lang="en-US" altLang="zh-CN" sz="2400" b="1" dirty="0">
                <a:solidFill>
                  <a:srgbClr val="FF0000"/>
                </a:solidFill>
              </a:rPr>
              <a:t>]</a:t>
            </a:r>
            <a:r>
              <a:rPr lang="en-US" altLang="zh-CN" sz="2400" b="1" dirty="0"/>
              <a:t> = a</a:t>
            </a:r>
            <a:r>
              <a:rPr lang="en-US" altLang="zh-CN" sz="2400" b="1" dirty="0">
                <a:solidFill>
                  <a:srgbClr val="FF0000"/>
                </a:solidFill>
              </a:rPr>
              <a:t>[</a:t>
            </a:r>
            <a:r>
              <a:rPr lang="en-US" altLang="zh-CN" sz="2400" b="1" dirty="0"/>
              <a:t>0</a:t>
            </a:r>
            <a:r>
              <a:rPr lang="en-US" altLang="zh-CN" sz="2400" b="1" dirty="0">
                <a:solidFill>
                  <a:srgbClr val="FF0000"/>
                </a:solidFill>
              </a:rPr>
              <a:t>]</a:t>
            </a:r>
            <a:r>
              <a:rPr lang="en-US" altLang="zh-CN" sz="2400" b="1" dirty="0"/>
              <a:t>;</a:t>
            </a:r>
          </a:p>
          <a:p>
            <a:pPr marL="0" indent="0">
              <a:lnSpc>
                <a:spcPct val="100000"/>
              </a:lnSpc>
              <a:spcBef>
                <a:spcPct val="0"/>
              </a:spcBef>
              <a:buClr>
                <a:schemeClr val="tx2"/>
              </a:buClr>
              <a:buSzPct val="70000"/>
              <a:buNone/>
            </a:pPr>
            <a:r>
              <a:rPr lang="en-US" altLang="zh-CN" sz="2400" b="1" dirty="0"/>
              <a:t>   p</a:t>
            </a:r>
            <a:r>
              <a:rPr lang="en-US" altLang="zh-CN" sz="2400" b="1" dirty="0">
                <a:solidFill>
                  <a:srgbClr val="FF0000"/>
                </a:solidFill>
              </a:rPr>
              <a:t>[</a:t>
            </a:r>
            <a:r>
              <a:rPr lang="en-US" altLang="zh-CN" sz="2400" b="1" dirty="0"/>
              <a:t>1</a:t>
            </a:r>
            <a:r>
              <a:rPr lang="en-US" altLang="zh-CN" sz="2400" b="1" dirty="0">
                <a:solidFill>
                  <a:srgbClr val="FF0000"/>
                </a:solidFill>
              </a:rPr>
              <a:t>]</a:t>
            </a:r>
            <a:r>
              <a:rPr lang="en-US" altLang="zh-CN" sz="2400" b="1" dirty="0"/>
              <a:t> = a</a:t>
            </a:r>
            <a:r>
              <a:rPr lang="en-US" altLang="zh-CN" sz="2400" b="1" dirty="0">
                <a:solidFill>
                  <a:srgbClr val="FF0000"/>
                </a:solidFill>
              </a:rPr>
              <a:t>[</a:t>
            </a:r>
            <a:r>
              <a:rPr lang="en-US" altLang="zh-CN" sz="2400" b="1" dirty="0"/>
              <a:t>1</a:t>
            </a:r>
            <a:r>
              <a:rPr lang="en-US" altLang="zh-CN" sz="2400" b="1" dirty="0">
                <a:solidFill>
                  <a:srgbClr val="FF0000"/>
                </a:solidFill>
              </a:rPr>
              <a:t>]</a:t>
            </a:r>
            <a:r>
              <a:rPr lang="en-US" altLang="zh-CN" sz="2400" b="1" dirty="0"/>
              <a:t>;</a:t>
            </a:r>
          </a:p>
          <a:p>
            <a:pPr marL="0" indent="0">
              <a:lnSpc>
                <a:spcPct val="100000"/>
              </a:lnSpc>
              <a:spcBef>
                <a:spcPct val="0"/>
              </a:spcBef>
              <a:buClr>
                <a:schemeClr val="tx2"/>
              </a:buClr>
              <a:buSzPct val="70000"/>
              <a:buNone/>
            </a:pPr>
            <a:r>
              <a:rPr lang="en-US" altLang="zh-CN" sz="2400" b="1" dirty="0"/>
              <a:t>   p</a:t>
            </a:r>
            <a:r>
              <a:rPr lang="en-US" altLang="zh-CN" sz="2400" b="1" dirty="0">
                <a:solidFill>
                  <a:srgbClr val="FF0000"/>
                </a:solidFill>
              </a:rPr>
              <a:t>[</a:t>
            </a:r>
            <a:r>
              <a:rPr lang="en-US" altLang="zh-CN" sz="2400" b="1" dirty="0"/>
              <a:t>2</a:t>
            </a:r>
            <a:r>
              <a:rPr lang="en-US" altLang="zh-CN" sz="2400" b="1" dirty="0">
                <a:solidFill>
                  <a:srgbClr val="FF0000"/>
                </a:solidFill>
              </a:rPr>
              <a:t>]</a:t>
            </a:r>
            <a:r>
              <a:rPr lang="en-US" altLang="zh-CN" sz="2400" b="1" dirty="0"/>
              <a:t> = a</a:t>
            </a:r>
            <a:r>
              <a:rPr lang="en-US" altLang="zh-CN" sz="2400" b="1" dirty="0">
                <a:solidFill>
                  <a:srgbClr val="FF0000"/>
                </a:solidFill>
              </a:rPr>
              <a:t>[</a:t>
            </a:r>
            <a:r>
              <a:rPr lang="en-US" altLang="zh-CN" sz="2400" b="1" dirty="0"/>
              <a:t>2</a:t>
            </a:r>
            <a:r>
              <a:rPr lang="en-US" altLang="zh-CN" sz="2400" b="1" dirty="0">
                <a:solidFill>
                  <a:srgbClr val="FF0000"/>
                </a:solidFill>
              </a:rPr>
              <a:t>]</a:t>
            </a:r>
            <a:r>
              <a:rPr lang="en-US" altLang="zh-CN" sz="2400" b="1" dirty="0"/>
              <a:t>;</a:t>
            </a:r>
          </a:p>
          <a:p>
            <a:pPr marL="0" indent="0">
              <a:lnSpc>
                <a:spcPct val="100000"/>
              </a:lnSpc>
              <a:spcBef>
                <a:spcPct val="0"/>
              </a:spcBef>
              <a:buClr>
                <a:schemeClr val="tx2"/>
              </a:buClr>
              <a:buSzPct val="70000"/>
              <a:buFont typeface="Arial" panose="020B0604020202020204" pitchFamily="34" charset="0"/>
              <a:buNone/>
            </a:pPr>
            <a:r>
              <a:rPr lang="en-US" altLang="zh-CN" sz="2400" b="1" dirty="0"/>
              <a:t>   </a:t>
            </a:r>
            <a:r>
              <a:rPr lang="en-US" altLang="zh-CN" sz="2400" b="1" dirty="0">
                <a:solidFill>
                  <a:srgbClr val="0000FF"/>
                </a:solidFill>
              </a:rPr>
              <a:t>for</a:t>
            </a:r>
            <a:r>
              <a:rPr lang="en-US" altLang="zh-CN" sz="2400" b="1" dirty="0"/>
              <a:t>(</a:t>
            </a:r>
            <a:r>
              <a:rPr lang="en-US" altLang="zh-CN" sz="2400" b="1" dirty="0">
                <a:solidFill>
                  <a:srgbClr val="0000FF"/>
                </a:solidFill>
              </a:rPr>
              <a:t>int</a:t>
            </a:r>
            <a:r>
              <a:rPr lang="en-US" altLang="zh-CN" sz="2400" b="1" dirty="0"/>
              <a:t> i = 0</a:t>
            </a:r>
            <a:r>
              <a:rPr lang="en-US" altLang="zh-CN" sz="2400" b="1" dirty="0">
                <a:solidFill>
                  <a:srgbClr val="FF0000"/>
                </a:solidFill>
              </a:rPr>
              <a:t>;</a:t>
            </a:r>
            <a:r>
              <a:rPr lang="en-US" altLang="zh-CN" sz="2400" b="1" dirty="0"/>
              <a:t> i &lt; 3</a:t>
            </a:r>
            <a:r>
              <a:rPr lang="en-US" altLang="zh-CN" sz="2400" b="1" dirty="0">
                <a:solidFill>
                  <a:srgbClr val="FF0000"/>
                </a:solidFill>
              </a:rPr>
              <a:t>;</a:t>
            </a:r>
            <a:r>
              <a:rPr lang="en-US" altLang="zh-CN" sz="2400" b="1" dirty="0"/>
              <a:t> i++){</a:t>
            </a:r>
          </a:p>
          <a:p>
            <a:pPr marL="0" indent="0">
              <a:lnSpc>
                <a:spcPct val="100000"/>
              </a:lnSpc>
              <a:spcBef>
                <a:spcPct val="0"/>
              </a:spcBef>
              <a:buClr>
                <a:schemeClr val="tx2"/>
              </a:buClr>
              <a:buSzPct val="70000"/>
              <a:buNone/>
            </a:pPr>
            <a:r>
              <a:rPr lang="en-US" altLang="zh-CN" sz="2400" b="1" dirty="0"/>
              <a:t>       </a:t>
            </a:r>
            <a:r>
              <a:rPr lang="en-US" altLang="zh-CN" sz="2400" b="1" dirty="0">
                <a:solidFill>
                  <a:srgbClr val="0000FF"/>
                </a:solidFill>
              </a:rPr>
              <a:t>for</a:t>
            </a:r>
            <a:r>
              <a:rPr lang="en-US" altLang="zh-CN" sz="2400" b="1" dirty="0"/>
              <a:t>(</a:t>
            </a:r>
            <a:r>
              <a:rPr lang="en-US" altLang="zh-CN" sz="2400" b="1" dirty="0">
                <a:solidFill>
                  <a:srgbClr val="0000FF"/>
                </a:solidFill>
              </a:rPr>
              <a:t>int</a:t>
            </a:r>
            <a:r>
              <a:rPr lang="en-US" altLang="zh-CN" sz="2400" b="1" dirty="0"/>
              <a:t> j = 0</a:t>
            </a:r>
            <a:r>
              <a:rPr lang="en-US" altLang="zh-CN" sz="2400" b="1" dirty="0">
                <a:solidFill>
                  <a:srgbClr val="FF0000"/>
                </a:solidFill>
              </a:rPr>
              <a:t>;</a:t>
            </a:r>
            <a:r>
              <a:rPr lang="en-US" altLang="zh-CN" sz="2400" b="1" dirty="0"/>
              <a:t> j &lt; 4</a:t>
            </a:r>
            <a:r>
              <a:rPr lang="en-US" altLang="zh-CN" sz="2400" b="1" dirty="0">
                <a:solidFill>
                  <a:srgbClr val="FF0000"/>
                </a:solidFill>
              </a:rPr>
              <a:t>;</a:t>
            </a:r>
            <a:r>
              <a:rPr lang="en-US" altLang="zh-CN" sz="2400" b="1" dirty="0"/>
              <a:t> j++){</a:t>
            </a:r>
          </a:p>
          <a:p>
            <a:pPr marL="0" indent="0">
              <a:lnSpc>
                <a:spcPct val="100000"/>
              </a:lnSpc>
              <a:spcBef>
                <a:spcPct val="0"/>
              </a:spcBef>
              <a:buClr>
                <a:schemeClr val="tx2"/>
              </a:buClr>
              <a:buSzPct val="70000"/>
              <a:buNone/>
            </a:pPr>
            <a:r>
              <a:rPr lang="en-US" altLang="zh-CN" sz="2400" b="1" dirty="0"/>
              <a:t>           printf(</a:t>
            </a:r>
            <a:r>
              <a:rPr lang="en-US" altLang="zh-CN" sz="2400" b="1" dirty="0">
                <a:solidFill>
                  <a:srgbClr val="00B050"/>
                </a:solidFill>
              </a:rPr>
              <a:t>“%5d”</a:t>
            </a:r>
            <a:r>
              <a:rPr lang="en-US" altLang="zh-CN" sz="2400" b="1" dirty="0"/>
              <a:t>, </a:t>
            </a:r>
            <a:r>
              <a:rPr lang="en-US" altLang="zh-CN" sz="2400" b="1" dirty="0">
                <a:solidFill>
                  <a:srgbClr val="FF0000"/>
                </a:solidFill>
              </a:rPr>
              <a:t>*</a:t>
            </a:r>
            <a:r>
              <a:rPr lang="en-US" altLang="zh-CN" sz="2400" b="1" dirty="0"/>
              <a:t>(p</a:t>
            </a:r>
            <a:r>
              <a:rPr lang="en-US" altLang="zh-CN" sz="2400" b="1" dirty="0">
                <a:solidFill>
                  <a:srgbClr val="FF0000"/>
                </a:solidFill>
              </a:rPr>
              <a:t>[</a:t>
            </a:r>
            <a:r>
              <a:rPr lang="en-US" altLang="zh-CN" sz="2400" b="1" dirty="0"/>
              <a:t>i</a:t>
            </a:r>
            <a:r>
              <a:rPr lang="en-US" altLang="zh-CN" sz="2400" b="1" dirty="0">
                <a:solidFill>
                  <a:srgbClr val="FF0000"/>
                </a:solidFill>
              </a:rPr>
              <a:t>]</a:t>
            </a:r>
            <a:r>
              <a:rPr lang="en-US" altLang="zh-CN" sz="2400" b="1" dirty="0"/>
              <a:t> + j));</a:t>
            </a:r>
          </a:p>
          <a:p>
            <a:pPr marL="0" indent="0">
              <a:lnSpc>
                <a:spcPct val="100000"/>
              </a:lnSpc>
              <a:spcBef>
                <a:spcPct val="0"/>
              </a:spcBef>
              <a:buClr>
                <a:schemeClr val="tx2"/>
              </a:buClr>
              <a:buSzPct val="70000"/>
              <a:buNone/>
            </a:pPr>
            <a:r>
              <a:rPr lang="en-US" altLang="zh-CN" sz="2400" b="1" dirty="0"/>
              <a:t>        }</a:t>
            </a:r>
          </a:p>
          <a:p>
            <a:pPr marL="0" indent="0">
              <a:lnSpc>
                <a:spcPct val="100000"/>
              </a:lnSpc>
              <a:spcBef>
                <a:spcPct val="0"/>
              </a:spcBef>
              <a:buClr>
                <a:schemeClr val="tx2"/>
              </a:buClr>
              <a:buSzPct val="70000"/>
              <a:buNone/>
            </a:pPr>
            <a:r>
              <a:rPr lang="en-US" altLang="zh-CN" sz="2400" b="1" dirty="0"/>
              <a:t>    }</a:t>
            </a:r>
          </a:p>
          <a:p>
            <a:pPr marL="0" indent="0">
              <a:lnSpc>
                <a:spcPct val="100000"/>
              </a:lnSpc>
              <a:spcBef>
                <a:spcPct val="0"/>
              </a:spcBef>
              <a:buClr>
                <a:schemeClr val="tx2"/>
              </a:buClr>
              <a:buSzPct val="70000"/>
              <a:buFont typeface="Arial" panose="020B0604020202020204" pitchFamily="34" charset="0"/>
              <a:buNone/>
            </a:pPr>
            <a:r>
              <a:rPr lang="en-US" altLang="zh-CN" sz="2400" b="1" dirty="0"/>
              <a:t>    </a:t>
            </a:r>
            <a:r>
              <a:rPr lang="en-US" altLang="zh-CN" sz="2400" b="1" dirty="0">
                <a:solidFill>
                  <a:srgbClr val="00B050"/>
                </a:solidFill>
              </a:rPr>
              <a:t>……</a:t>
            </a:r>
          </a:p>
          <a:p>
            <a:pPr marL="0" indent="0">
              <a:lnSpc>
                <a:spcPct val="100000"/>
              </a:lnSpc>
              <a:spcBef>
                <a:spcPct val="0"/>
              </a:spcBef>
              <a:buClr>
                <a:schemeClr val="tx2"/>
              </a:buClr>
              <a:buSzPct val="70000"/>
              <a:buFont typeface="Arial" panose="020B0604020202020204" pitchFamily="34" charset="0"/>
              <a:buNone/>
            </a:pPr>
            <a:r>
              <a:rPr lang="en-US" altLang="zh-CN" sz="2400" b="1" dirty="0">
                <a:solidFill>
                  <a:srgbClr val="FF0000"/>
                </a:solidFill>
              </a:rPr>
              <a:t>}</a:t>
            </a:r>
          </a:p>
        </p:txBody>
      </p:sp>
      <p:sp>
        <p:nvSpPr>
          <p:cNvPr id="10" name="文本框 9">
            <a:extLst>
              <a:ext uri="{FF2B5EF4-FFF2-40B4-BE49-F238E27FC236}">
                <a16:creationId xmlns:a16="http://schemas.microsoft.com/office/drawing/2014/main" id="{0C46E047-A459-421B-8919-4103A58A0F8B}"/>
              </a:ext>
            </a:extLst>
          </p:cNvPr>
          <p:cNvSpPr txBox="1"/>
          <p:nvPr/>
        </p:nvSpPr>
        <p:spPr>
          <a:xfrm>
            <a:off x="2141114" y="-50475"/>
            <a:ext cx="4987824"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指针数组的应用</a:t>
            </a:r>
            <a:endParaRPr lang="zh-CN" altLang="en-US" sz="3200" b="1" dirty="0">
              <a:solidFill>
                <a:srgbClr val="200AC4"/>
              </a:solidFill>
              <a:ea typeface="隶书" pitchFamily="49" charset="-122"/>
            </a:endParaRPr>
          </a:p>
        </p:txBody>
      </p:sp>
      <p:sp>
        <p:nvSpPr>
          <p:cNvPr id="4" name="灯片编号占位符 3">
            <a:extLst>
              <a:ext uri="{FF2B5EF4-FFF2-40B4-BE49-F238E27FC236}">
                <a16:creationId xmlns:a16="http://schemas.microsoft.com/office/drawing/2014/main" id="{34C0B4E9-8D7C-4590-99A2-A6DACE510154}"/>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31</a:t>
            </a:fld>
            <a:r>
              <a:rPr lang="en-US" altLang="zh-CN">
                <a:solidFill>
                  <a:prstClr val="black">
                    <a:tint val="75000"/>
                  </a:prstClr>
                </a:solidFill>
              </a:rPr>
              <a:t>/ 35</a:t>
            </a:r>
            <a:endParaRPr lang="zh-CN" altLang="en-US" dirty="0"/>
          </a:p>
        </p:txBody>
      </p:sp>
    </p:spTree>
    <p:extLst>
      <p:ext uri="{BB962C8B-B14F-4D97-AF65-F5344CB8AC3E}">
        <p14:creationId xmlns:p14="http://schemas.microsoft.com/office/powerpoint/2010/main" val="1169592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CABCE8A6-7732-4C84-B748-D581A70D8A67}"/>
              </a:ext>
            </a:extLst>
          </p:cNvPr>
          <p:cNvSpPr/>
          <p:nvPr/>
        </p:nvSpPr>
        <p:spPr>
          <a:xfrm>
            <a:off x="7197" y="580045"/>
            <a:ext cx="11709066" cy="523220"/>
          </a:xfrm>
          <a:prstGeom prst="rect">
            <a:avLst/>
          </a:prstGeom>
        </p:spPr>
        <p:txBody>
          <a:bodyPr wrap="square">
            <a:spAutoFit/>
          </a:bodyPr>
          <a:lstStyle/>
          <a:p>
            <a:pPr marL="0" lvl="1"/>
            <a:r>
              <a:rPr lang="en-US" altLang="zh-CN" sz="2800" b="1" dirty="0">
                <a:solidFill>
                  <a:srgbClr val="00B0F0"/>
                </a:solidFill>
                <a:latin typeface="微软雅黑" panose="020B0503020204020204" pitchFamily="34" charset="-122"/>
                <a:ea typeface="微软雅黑" panose="020B0503020204020204" pitchFamily="34" charset="-122"/>
              </a:rPr>
              <a:t>2. </a:t>
            </a:r>
            <a:r>
              <a:rPr lang="zh-CN" altLang="en-US" sz="2800" b="1" dirty="0">
                <a:solidFill>
                  <a:srgbClr val="00B0F0"/>
                </a:solidFill>
                <a:latin typeface="微软雅黑" panose="020B0503020204020204" pitchFamily="34" charset="-122"/>
                <a:ea typeface="微软雅黑" panose="020B0503020204020204" pitchFamily="34" charset="-122"/>
              </a:rPr>
              <a:t>指针数组指向多个字符串常量</a:t>
            </a:r>
            <a:endParaRPr lang="en-US" altLang="zh-CN" sz="3200" b="1" dirty="0">
              <a:latin typeface="隶书" panose="02010509060101010101" pitchFamily="49" charset="-122"/>
              <a:ea typeface="隶书" panose="02010509060101010101" pitchFamily="49" charset="-122"/>
            </a:endParaRPr>
          </a:p>
        </p:txBody>
      </p:sp>
      <p:sp>
        <p:nvSpPr>
          <p:cNvPr id="7" name="矩形 6">
            <a:extLst>
              <a:ext uri="{FF2B5EF4-FFF2-40B4-BE49-F238E27FC236}">
                <a16:creationId xmlns:a16="http://schemas.microsoft.com/office/drawing/2014/main" id="{5C2A2FC3-6255-4662-8D67-B425AB6E633F}"/>
              </a:ext>
            </a:extLst>
          </p:cNvPr>
          <p:cNvSpPr/>
          <p:nvPr/>
        </p:nvSpPr>
        <p:spPr>
          <a:xfrm>
            <a:off x="16777" y="1150561"/>
            <a:ext cx="12175223" cy="461665"/>
          </a:xfrm>
          <a:prstGeom prst="rect">
            <a:avLst/>
          </a:prstGeom>
        </p:spPr>
        <p:txBody>
          <a:bodyPr wrap="square">
            <a:spAutoFit/>
          </a:bodyPr>
          <a:lstStyle/>
          <a:p>
            <a:pPr marL="0" lvl="1"/>
            <a:r>
              <a:rPr lang="zh-CN" altLang="en-US" sz="2400" b="1" dirty="0">
                <a:latin typeface="隶书" pitchFamily="49" charset="-122"/>
              </a:rPr>
              <a:t>例</a:t>
            </a:r>
            <a:r>
              <a:rPr lang="en-US" altLang="zh-CN" sz="2400" b="1" dirty="0">
                <a:latin typeface="隶书" pitchFamily="49" charset="-122"/>
              </a:rPr>
              <a:t>【</a:t>
            </a:r>
            <a:r>
              <a:rPr lang="en-US" altLang="zh-CN" sz="2400" b="1" dirty="0">
                <a:solidFill>
                  <a:srgbClr val="00B0F0"/>
                </a:solidFill>
                <a:latin typeface="隶书" pitchFamily="49" charset="-122"/>
              </a:rPr>
              <a:t>5-10</a:t>
            </a:r>
            <a:r>
              <a:rPr lang="en-US" altLang="zh-CN" sz="2400" b="1" dirty="0">
                <a:latin typeface="隶书" pitchFamily="49" charset="-122"/>
              </a:rPr>
              <a:t>】</a:t>
            </a:r>
            <a:r>
              <a:rPr lang="zh-CN" altLang="en-US" sz="2400" b="1" dirty="0">
                <a:latin typeface="隶书" pitchFamily="49" charset="-122"/>
              </a:rPr>
              <a:t>输入</a:t>
            </a:r>
            <a:r>
              <a:rPr lang="en-US" altLang="zh-CN" sz="2400" b="1" dirty="0">
                <a:latin typeface="隶书" pitchFamily="49" charset="-122"/>
              </a:rPr>
              <a:t>0</a:t>
            </a:r>
            <a:r>
              <a:rPr lang="en-US" altLang="zh-CN" sz="2400" b="1" dirty="0">
                <a:latin typeface="+mn-ea"/>
              </a:rPr>
              <a:t>~</a:t>
            </a:r>
            <a:r>
              <a:rPr lang="en-US" altLang="zh-CN" sz="2400" b="1" dirty="0">
                <a:latin typeface="隶书" pitchFamily="49" charset="-122"/>
              </a:rPr>
              <a:t>6</a:t>
            </a:r>
            <a:r>
              <a:rPr lang="zh-CN" altLang="en-US" sz="2400" b="1" dirty="0">
                <a:latin typeface="隶书" pitchFamily="49" charset="-122"/>
              </a:rPr>
              <a:t>的数字，分别代表周日到周六，输出对应的英文名称。</a:t>
            </a:r>
          </a:p>
        </p:txBody>
      </p:sp>
      <p:sp>
        <p:nvSpPr>
          <p:cNvPr id="8" name="Rectangle 2">
            <a:extLst>
              <a:ext uri="{FF2B5EF4-FFF2-40B4-BE49-F238E27FC236}">
                <a16:creationId xmlns:a16="http://schemas.microsoft.com/office/drawing/2014/main" id="{03BFA985-0715-4F7D-A3BA-B75272E551C6}"/>
              </a:ext>
            </a:extLst>
          </p:cNvPr>
          <p:cNvSpPr txBox="1">
            <a:spLocks noChangeArrowheads="1"/>
          </p:cNvSpPr>
          <p:nvPr/>
        </p:nvSpPr>
        <p:spPr>
          <a:xfrm>
            <a:off x="157988" y="1748057"/>
            <a:ext cx="6806692" cy="3416320"/>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Font typeface="Arial" panose="020B0604020202020204" pitchFamily="34" charset="0"/>
              <a:buNone/>
            </a:pPr>
            <a:r>
              <a:rPr lang="en-US" altLang="zh-CN" sz="2400" b="1" dirty="0">
                <a:solidFill>
                  <a:srgbClr val="0000FF"/>
                </a:solidFill>
              </a:rPr>
              <a:t>int </a:t>
            </a:r>
            <a:r>
              <a:rPr lang="en-US" altLang="zh-CN" sz="2400" b="1" dirty="0"/>
              <a:t>main()</a:t>
            </a:r>
          </a:p>
          <a:p>
            <a:pPr marL="0" indent="0">
              <a:lnSpc>
                <a:spcPct val="100000"/>
              </a:lnSpc>
              <a:spcBef>
                <a:spcPct val="0"/>
              </a:spcBef>
              <a:buClr>
                <a:schemeClr val="tx2"/>
              </a:buClr>
              <a:buSzPct val="70000"/>
              <a:buFont typeface="Arial" panose="020B0604020202020204" pitchFamily="34" charset="0"/>
              <a:buNone/>
            </a:pPr>
            <a:r>
              <a:rPr lang="en-US" altLang="zh-CN" sz="2400" b="1" dirty="0">
                <a:solidFill>
                  <a:srgbClr val="FF0000"/>
                </a:solidFill>
              </a:rPr>
              <a:t>{</a:t>
            </a:r>
          </a:p>
          <a:p>
            <a:pPr marL="0" indent="0">
              <a:lnSpc>
                <a:spcPct val="100000"/>
              </a:lnSpc>
              <a:spcBef>
                <a:spcPct val="0"/>
              </a:spcBef>
              <a:buClr>
                <a:schemeClr val="tx2"/>
              </a:buClr>
              <a:buSzPct val="70000"/>
              <a:buNone/>
            </a:pPr>
            <a:r>
              <a:rPr lang="en-US" altLang="zh-CN" sz="2400" b="1" dirty="0">
                <a:solidFill>
                  <a:srgbClr val="0000FF"/>
                </a:solidFill>
              </a:rPr>
              <a:t>   char </a:t>
            </a:r>
            <a:r>
              <a:rPr lang="en-US" altLang="zh-CN" sz="2400" b="1" dirty="0">
                <a:solidFill>
                  <a:srgbClr val="FF0000"/>
                </a:solidFill>
              </a:rPr>
              <a:t>*</a:t>
            </a:r>
            <a:r>
              <a:rPr lang="en-US" altLang="zh-CN" sz="2400" b="1" dirty="0"/>
              <a:t>strDay</a:t>
            </a:r>
            <a:r>
              <a:rPr lang="en-US" altLang="zh-CN" sz="2400" b="1" dirty="0">
                <a:solidFill>
                  <a:srgbClr val="FF0000"/>
                </a:solidFill>
              </a:rPr>
              <a:t>[</a:t>
            </a:r>
            <a:r>
              <a:rPr lang="en-US" altLang="zh-CN" sz="2400" b="1" dirty="0"/>
              <a:t>7</a:t>
            </a:r>
            <a:r>
              <a:rPr lang="en-US" altLang="zh-CN" sz="2400" b="1" dirty="0">
                <a:solidFill>
                  <a:srgbClr val="FF0000"/>
                </a:solidFill>
              </a:rPr>
              <a:t>] </a:t>
            </a:r>
            <a:r>
              <a:rPr lang="en-US" altLang="zh-CN" sz="2400" b="1" dirty="0"/>
              <a:t>= </a:t>
            </a:r>
            <a:r>
              <a:rPr lang="en-US" altLang="zh-CN" sz="2400" b="1" dirty="0">
                <a:solidFill>
                  <a:srgbClr val="FF0000"/>
                </a:solidFill>
              </a:rPr>
              <a:t>{</a:t>
            </a:r>
            <a:r>
              <a:rPr lang="en-US" altLang="zh-CN" sz="2400" b="1" dirty="0">
                <a:solidFill>
                  <a:srgbClr val="00B050"/>
                </a:solidFill>
              </a:rPr>
              <a:t>“Sunday”</a:t>
            </a:r>
            <a:r>
              <a:rPr lang="en-US" altLang="zh-CN" sz="2400" b="1" dirty="0"/>
              <a:t>, </a:t>
            </a:r>
            <a:r>
              <a:rPr lang="en-US" altLang="zh-CN" sz="2400" b="1" dirty="0">
                <a:solidFill>
                  <a:srgbClr val="00B050"/>
                </a:solidFill>
              </a:rPr>
              <a:t>…</a:t>
            </a:r>
            <a:r>
              <a:rPr lang="en-US" altLang="zh-CN" sz="2400" b="1" dirty="0"/>
              <a:t> , </a:t>
            </a:r>
            <a:r>
              <a:rPr lang="en-US" altLang="zh-CN" sz="2400" b="1" dirty="0">
                <a:solidFill>
                  <a:srgbClr val="00B050"/>
                </a:solidFill>
              </a:rPr>
              <a:t>“Saturday”</a:t>
            </a:r>
            <a:r>
              <a:rPr lang="en-US" altLang="zh-CN" sz="2400" b="1" dirty="0">
                <a:solidFill>
                  <a:srgbClr val="FF0000"/>
                </a:solidFill>
              </a:rPr>
              <a:t>}</a:t>
            </a:r>
            <a:r>
              <a:rPr lang="en-US" altLang="zh-CN" sz="2400" b="1" dirty="0"/>
              <a:t>;</a:t>
            </a:r>
          </a:p>
          <a:p>
            <a:pPr marL="0" indent="0">
              <a:lnSpc>
                <a:spcPct val="100000"/>
              </a:lnSpc>
              <a:spcBef>
                <a:spcPct val="0"/>
              </a:spcBef>
              <a:buClr>
                <a:schemeClr val="tx2"/>
              </a:buClr>
              <a:buSzPct val="70000"/>
              <a:buNone/>
            </a:pPr>
            <a:r>
              <a:rPr lang="en-US" altLang="zh-CN" sz="2400" b="1" dirty="0"/>
              <a:t>   </a:t>
            </a:r>
            <a:r>
              <a:rPr lang="en-US" altLang="zh-CN" sz="2400" b="1" dirty="0">
                <a:solidFill>
                  <a:srgbClr val="0000FF"/>
                </a:solidFill>
              </a:rPr>
              <a:t>int</a:t>
            </a:r>
            <a:r>
              <a:rPr lang="en-US" altLang="zh-CN" sz="2400" b="1" dirty="0"/>
              <a:t> day;</a:t>
            </a:r>
          </a:p>
          <a:p>
            <a:pPr marL="0" indent="0">
              <a:lnSpc>
                <a:spcPct val="100000"/>
              </a:lnSpc>
              <a:spcBef>
                <a:spcPct val="0"/>
              </a:spcBef>
              <a:buClr>
                <a:schemeClr val="tx2"/>
              </a:buClr>
              <a:buSzPct val="70000"/>
              <a:buNone/>
            </a:pPr>
            <a:r>
              <a:rPr lang="en-US" altLang="zh-CN" sz="2400" b="1" dirty="0"/>
              <a:t>   scanf(</a:t>
            </a:r>
            <a:r>
              <a:rPr lang="en-US" altLang="zh-CN" sz="2400" b="1" dirty="0">
                <a:solidFill>
                  <a:srgbClr val="00B050"/>
                </a:solidFill>
              </a:rPr>
              <a:t>“%d”</a:t>
            </a:r>
            <a:r>
              <a:rPr lang="en-US" altLang="zh-CN" sz="2400" b="1" dirty="0"/>
              <a:t>, </a:t>
            </a:r>
            <a:r>
              <a:rPr lang="en-US" altLang="zh-CN" sz="2400" b="1" dirty="0">
                <a:solidFill>
                  <a:srgbClr val="FF0000"/>
                </a:solidFill>
              </a:rPr>
              <a:t>&amp;</a:t>
            </a:r>
            <a:r>
              <a:rPr lang="en-US" altLang="zh-CN" sz="2400" b="1" dirty="0"/>
              <a:t>day);</a:t>
            </a:r>
          </a:p>
          <a:p>
            <a:pPr marL="0" indent="0">
              <a:lnSpc>
                <a:spcPct val="100000"/>
              </a:lnSpc>
              <a:spcBef>
                <a:spcPct val="0"/>
              </a:spcBef>
              <a:buClr>
                <a:schemeClr val="tx2"/>
              </a:buClr>
              <a:buSzPct val="70000"/>
              <a:buNone/>
            </a:pPr>
            <a:r>
              <a:rPr lang="en-US" altLang="zh-CN" sz="2400" b="1" dirty="0"/>
              <a:t>   </a:t>
            </a:r>
            <a:r>
              <a:rPr lang="en-US" altLang="zh-CN" sz="2400" b="1" dirty="0">
                <a:solidFill>
                  <a:srgbClr val="0000FF"/>
                </a:solidFill>
              </a:rPr>
              <a:t>if</a:t>
            </a:r>
            <a:r>
              <a:rPr lang="en-US" altLang="zh-CN" sz="2400" b="1" dirty="0"/>
              <a:t>(day)</a:t>
            </a:r>
          </a:p>
          <a:p>
            <a:pPr marL="0" indent="0">
              <a:lnSpc>
                <a:spcPct val="100000"/>
              </a:lnSpc>
              <a:spcBef>
                <a:spcPct val="0"/>
              </a:spcBef>
              <a:buClr>
                <a:schemeClr val="tx2"/>
              </a:buClr>
              <a:buSzPct val="70000"/>
              <a:buNone/>
            </a:pPr>
            <a:r>
              <a:rPr lang="en-US" altLang="zh-CN" sz="2400" b="1" dirty="0"/>
              <a:t>       puts(strDay</a:t>
            </a:r>
            <a:r>
              <a:rPr lang="en-US" altLang="zh-CN" sz="2400" b="1" dirty="0">
                <a:solidFill>
                  <a:srgbClr val="FF0000"/>
                </a:solidFill>
              </a:rPr>
              <a:t>[</a:t>
            </a:r>
            <a:r>
              <a:rPr lang="en-US" altLang="zh-CN" sz="2400" b="1" dirty="0"/>
              <a:t>day</a:t>
            </a:r>
            <a:r>
              <a:rPr lang="en-US" altLang="zh-CN" sz="2400" b="1" dirty="0">
                <a:solidFill>
                  <a:srgbClr val="FF0000"/>
                </a:solidFill>
              </a:rPr>
              <a:t>]</a:t>
            </a:r>
            <a:r>
              <a:rPr lang="en-US" altLang="zh-CN" sz="2400" b="1" dirty="0"/>
              <a:t>);</a:t>
            </a:r>
          </a:p>
          <a:p>
            <a:pPr marL="0" indent="0">
              <a:lnSpc>
                <a:spcPct val="100000"/>
              </a:lnSpc>
              <a:spcBef>
                <a:spcPct val="0"/>
              </a:spcBef>
              <a:buClr>
                <a:schemeClr val="tx2"/>
              </a:buClr>
              <a:buSzPct val="70000"/>
              <a:buNone/>
            </a:pPr>
            <a:r>
              <a:rPr lang="en-US" altLang="zh-CN" sz="2400" b="1" dirty="0">
                <a:solidFill>
                  <a:srgbClr val="00B050"/>
                </a:solidFill>
              </a:rPr>
              <a:t>   ……</a:t>
            </a:r>
          </a:p>
          <a:p>
            <a:pPr marL="0" indent="0">
              <a:lnSpc>
                <a:spcPct val="100000"/>
              </a:lnSpc>
              <a:spcBef>
                <a:spcPct val="0"/>
              </a:spcBef>
              <a:buClr>
                <a:schemeClr val="tx2"/>
              </a:buClr>
              <a:buSzPct val="70000"/>
              <a:buFont typeface="Arial" panose="020B0604020202020204" pitchFamily="34" charset="0"/>
              <a:buNone/>
            </a:pPr>
            <a:r>
              <a:rPr lang="en-US" altLang="zh-CN" sz="2400" b="1" dirty="0">
                <a:solidFill>
                  <a:srgbClr val="FF0000"/>
                </a:solidFill>
              </a:rPr>
              <a:t>}</a:t>
            </a:r>
          </a:p>
        </p:txBody>
      </p:sp>
      <p:graphicFrame>
        <p:nvGraphicFramePr>
          <p:cNvPr id="3" name="表格 3">
            <a:extLst>
              <a:ext uri="{FF2B5EF4-FFF2-40B4-BE49-F238E27FC236}">
                <a16:creationId xmlns:a16="http://schemas.microsoft.com/office/drawing/2014/main" id="{7946ED1B-FC4A-424A-9F1D-9F3963BBCE5F}"/>
              </a:ext>
            </a:extLst>
          </p:cNvPr>
          <p:cNvGraphicFramePr>
            <a:graphicFrameLocks noGrp="1"/>
          </p:cNvGraphicFramePr>
          <p:nvPr>
            <p:extLst>
              <p:ext uri="{D42A27DB-BD31-4B8C-83A1-F6EECF244321}">
                <p14:modId xmlns:p14="http://schemas.microsoft.com/office/powerpoint/2010/main" val="2140706752"/>
              </p:ext>
            </p:extLst>
          </p:nvPr>
        </p:nvGraphicFramePr>
        <p:xfrm>
          <a:off x="7416800" y="2370299"/>
          <a:ext cx="1026160" cy="2794078"/>
        </p:xfrm>
        <a:graphic>
          <a:graphicData uri="http://schemas.openxmlformats.org/drawingml/2006/table">
            <a:tbl>
              <a:tblPr firstRow="1" bandRow="1">
                <a:tableStyleId>{5940675A-B579-460E-94D1-54222C63F5DA}</a:tableStyleId>
              </a:tblPr>
              <a:tblGrid>
                <a:gridCol w="1026160">
                  <a:extLst>
                    <a:ext uri="{9D8B030D-6E8A-4147-A177-3AD203B41FA5}">
                      <a16:colId xmlns:a16="http://schemas.microsoft.com/office/drawing/2014/main" val="3995037338"/>
                    </a:ext>
                  </a:extLst>
                </a:gridCol>
              </a:tblGrid>
              <a:tr h="399154">
                <a:tc>
                  <a:txBody>
                    <a:bodyPr/>
                    <a:lstStyle/>
                    <a:p>
                      <a:pPr algn="ctr"/>
                      <a:r>
                        <a:rPr lang="en-US" altLang="zh-CN" dirty="0"/>
                        <a:t>strDay[0]</a:t>
                      </a:r>
                      <a:endParaRPr lang="zh-CN" altLang="en-US" dirty="0"/>
                    </a:p>
                  </a:txBody>
                  <a:tcPr/>
                </a:tc>
                <a:extLst>
                  <a:ext uri="{0D108BD9-81ED-4DB2-BD59-A6C34878D82A}">
                    <a16:rowId xmlns:a16="http://schemas.microsoft.com/office/drawing/2014/main" val="2348723549"/>
                  </a:ext>
                </a:extLst>
              </a:tr>
              <a:tr h="399154">
                <a:tc>
                  <a:txBody>
                    <a:bodyPr/>
                    <a:lstStyle/>
                    <a:p>
                      <a:pPr algn="ctr"/>
                      <a:r>
                        <a:rPr lang="en-US" altLang="zh-CN" dirty="0"/>
                        <a:t>strDay[1]</a:t>
                      </a:r>
                      <a:endParaRPr lang="zh-CN" altLang="en-US" dirty="0"/>
                    </a:p>
                  </a:txBody>
                  <a:tcPr/>
                </a:tc>
                <a:extLst>
                  <a:ext uri="{0D108BD9-81ED-4DB2-BD59-A6C34878D82A}">
                    <a16:rowId xmlns:a16="http://schemas.microsoft.com/office/drawing/2014/main" val="2908109240"/>
                  </a:ext>
                </a:extLst>
              </a:tr>
              <a:tr h="399154">
                <a:tc>
                  <a:txBody>
                    <a:bodyPr/>
                    <a:lstStyle/>
                    <a:p>
                      <a:pPr algn="ctr"/>
                      <a:r>
                        <a:rPr lang="en-US" altLang="zh-CN" dirty="0"/>
                        <a:t>strDay[2]</a:t>
                      </a:r>
                      <a:endParaRPr lang="zh-CN" altLang="en-US" dirty="0"/>
                    </a:p>
                  </a:txBody>
                  <a:tcPr/>
                </a:tc>
                <a:extLst>
                  <a:ext uri="{0D108BD9-81ED-4DB2-BD59-A6C34878D82A}">
                    <a16:rowId xmlns:a16="http://schemas.microsoft.com/office/drawing/2014/main" val="76398625"/>
                  </a:ext>
                </a:extLst>
              </a:tr>
              <a:tr h="399154">
                <a:tc>
                  <a:txBody>
                    <a:bodyPr/>
                    <a:lstStyle/>
                    <a:p>
                      <a:pPr algn="ctr"/>
                      <a:r>
                        <a:rPr lang="en-US" altLang="zh-CN" dirty="0"/>
                        <a:t>strDay[3]</a:t>
                      </a:r>
                      <a:endParaRPr lang="zh-CN" altLang="en-US" dirty="0"/>
                    </a:p>
                  </a:txBody>
                  <a:tcPr/>
                </a:tc>
                <a:extLst>
                  <a:ext uri="{0D108BD9-81ED-4DB2-BD59-A6C34878D82A}">
                    <a16:rowId xmlns:a16="http://schemas.microsoft.com/office/drawing/2014/main" val="356243890"/>
                  </a:ext>
                </a:extLst>
              </a:tr>
              <a:tr h="399154">
                <a:tc>
                  <a:txBody>
                    <a:bodyPr/>
                    <a:lstStyle/>
                    <a:p>
                      <a:pPr algn="ctr"/>
                      <a:r>
                        <a:rPr lang="en-US" altLang="zh-CN" dirty="0"/>
                        <a:t>strDay[4]</a:t>
                      </a:r>
                      <a:endParaRPr lang="zh-CN" altLang="en-US" dirty="0"/>
                    </a:p>
                  </a:txBody>
                  <a:tcPr/>
                </a:tc>
                <a:extLst>
                  <a:ext uri="{0D108BD9-81ED-4DB2-BD59-A6C34878D82A}">
                    <a16:rowId xmlns:a16="http://schemas.microsoft.com/office/drawing/2014/main" val="2380404395"/>
                  </a:ext>
                </a:extLst>
              </a:tr>
              <a:tr h="399154">
                <a:tc>
                  <a:txBody>
                    <a:bodyPr/>
                    <a:lstStyle/>
                    <a:p>
                      <a:pPr algn="ctr"/>
                      <a:r>
                        <a:rPr lang="en-US" altLang="zh-CN" dirty="0"/>
                        <a:t>strDay[5]</a:t>
                      </a:r>
                      <a:endParaRPr lang="zh-CN" altLang="en-US" dirty="0"/>
                    </a:p>
                  </a:txBody>
                  <a:tcPr/>
                </a:tc>
                <a:extLst>
                  <a:ext uri="{0D108BD9-81ED-4DB2-BD59-A6C34878D82A}">
                    <a16:rowId xmlns:a16="http://schemas.microsoft.com/office/drawing/2014/main" val="1072156346"/>
                  </a:ext>
                </a:extLst>
              </a:tr>
              <a:tr h="399154">
                <a:tc>
                  <a:txBody>
                    <a:bodyPr/>
                    <a:lstStyle/>
                    <a:p>
                      <a:pPr algn="ctr"/>
                      <a:r>
                        <a:rPr lang="en-US" altLang="zh-CN" dirty="0"/>
                        <a:t>strDay[6]</a:t>
                      </a:r>
                      <a:endParaRPr lang="zh-CN" altLang="en-US" dirty="0"/>
                    </a:p>
                  </a:txBody>
                  <a:tcPr/>
                </a:tc>
                <a:extLst>
                  <a:ext uri="{0D108BD9-81ED-4DB2-BD59-A6C34878D82A}">
                    <a16:rowId xmlns:a16="http://schemas.microsoft.com/office/drawing/2014/main" val="2643392416"/>
                  </a:ext>
                </a:extLst>
              </a:tr>
            </a:tbl>
          </a:graphicData>
        </a:graphic>
      </p:graphicFrame>
      <p:sp>
        <p:nvSpPr>
          <p:cNvPr id="4" name="文本框 3">
            <a:extLst>
              <a:ext uri="{FF2B5EF4-FFF2-40B4-BE49-F238E27FC236}">
                <a16:creationId xmlns:a16="http://schemas.microsoft.com/office/drawing/2014/main" id="{45325E6B-15F2-4B14-9865-E40279A5DFA0}"/>
              </a:ext>
            </a:extLst>
          </p:cNvPr>
          <p:cNvSpPr txBox="1"/>
          <p:nvPr/>
        </p:nvSpPr>
        <p:spPr>
          <a:xfrm>
            <a:off x="7294877" y="1908634"/>
            <a:ext cx="1239520" cy="461665"/>
          </a:xfrm>
          <a:prstGeom prst="rect">
            <a:avLst/>
          </a:prstGeom>
          <a:noFill/>
        </p:spPr>
        <p:txBody>
          <a:bodyPr wrap="square" rtlCol="0">
            <a:spAutoFit/>
          </a:bodyPr>
          <a:lstStyle/>
          <a:p>
            <a:pPr algn="ctr"/>
            <a:r>
              <a:rPr lang="en-US" altLang="zh-CN" sz="2400" b="1" dirty="0"/>
              <a:t>strDay</a:t>
            </a:r>
            <a:endParaRPr lang="zh-CN" altLang="en-US" sz="2400" b="1" dirty="0"/>
          </a:p>
        </p:txBody>
      </p:sp>
      <p:graphicFrame>
        <p:nvGraphicFramePr>
          <p:cNvPr id="6" name="表格 10">
            <a:extLst>
              <a:ext uri="{FF2B5EF4-FFF2-40B4-BE49-F238E27FC236}">
                <a16:creationId xmlns:a16="http://schemas.microsoft.com/office/drawing/2014/main" id="{A8E3F249-D3A0-40B4-88F2-9DB4A613EE23}"/>
              </a:ext>
            </a:extLst>
          </p:cNvPr>
          <p:cNvGraphicFramePr>
            <a:graphicFrameLocks noGrp="1"/>
          </p:cNvGraphicFramePr>
          <p:nvPr>
            <p:extLst>
              <p:ext uri="{D42A27DB-BD31-4B8C-83A1-F6EECF244321}">
                <p14:modId xmlns:p14="http://schemas.microsoft.com/office/powerpoint/2010/main" val="4259097651"/>
              </p:ext>
            </p:extLst>
          </p:nvPr>
        </p:nvGraphicFramePr>
        <p:xfrm>
          <a:off x="9925563" y="1725754"/>
          <a:ext cx="2065020" cy="365760"/>
        </p:xfrm>
        <a:graphic>
          <a:graphicData uri="http://schemas.openxmlformats.org/drawingml/2006/table">
            <a:tbl>
              <a:tblPr firstRow="1" bandRow="1">
                <a:tableStyleId>{5940675A-B579-460E-94D1-54222C63F5DA}</a:tableStyleId>
              </a:tblPr>
              <a:tblGrid>
                <a:gridCol w="437637">
                  <a:extLst>
                    <a:ext uri="{9D8B030D-6E8A-4147-A177-3AD203B41FA5}">
                      <a16:colId xmlns:a16="http://schemas.microsoft.com/office/drawing/2014/main" val="3774901226"/>
                    </a:ext>
                  </a:extLst>
                </a:gridCol>
                <a:gridCol w="416560">
                  <a:extLst>
                    <a:ext uri="{9D8B030D-6E8A-4147-A177-3AD203B41FA5}">
                      <a16:colId xmlns:a16="http://schemas.microsoft.com/office/drawing/2014/main" val="2947382216"/>
                    </a:ext>
                  </a:extLst>
                </a:gridCol>
                <a:gridCol w="817880">
                  <a:extLst>
                    <a:ext uri="{9D8B030D-6E8A-4147-A177-3AD203B41FA5}">
                      <a16:colId xmlns:a16="http://schemas.microsoft.com/office/drawing/2014/main" val="2517148212"/>
                    </a:ext>
                  </a:extLst>
                </a:gridCol>
                <a:gridCol w="392943">
                  <a:extLst>
                    <a:ext uri="{9D8B030D-6E8A-4147-A177-3AD203B41FA5}">
                      <a16:colId xmlns:a16="http://schemas.microsoft.com/office/drawing/2014/main" val="456256773"/>
                    </a:ext>
                  </a:extLst>
                </a:gridCol>
              </a:tblGrid>
              <a:tr h="268781">
                <a:tc>
                  <a:txBody>
                    <a:bodyPr/>
                    <a:lstStyle/>
                    <a:p>
                      <a:pPr algn="ctr"/>
                      <a:r>
                        <a:rPr lang="en-US" altLang="zh-CN" dirty="0"/>
                        <a:t>S</a:t>
                      </a:r>
                      <a:endParaRPr lang="zh-CN" altLang="en-US" dirty="0"/>
                    </a:p>
                  </a:txBody>
                  <a:tcPr anchor="ctr"/>
                </a:tc>
                <a:tc>
                  <a:txBody>
                    <a:bodyPr/>
                    <a:lstStyle/>
                    <a:p>
                      <a:pPr algn="ctr"/>
                      <a:r>
                        <a:rPr lang="en-US" altLang="zh-CN" dirty="0"/>
                        <a:t>u</a:t>
                      </a:r>
                      <a:endParaRPr lang="zh-CN" altLang="en-US" dirty="0"/>
                    </a:p>
                  </a:txBody>
                  <a:tcPr anchor="ctr"/>
                </a:tc>
                <a:tc>
                  <a:txBody>
                    <a:bodyPr/>
                    <a:lstStyle/>
                    <a:p>
                      <a:pPr algn="ctr"/>
                      <a:r>
                        <a:rPr lang="en-US" altLang="zh-CN" dirty="0"/>
                        <a:t>……</a:t>
                      </a:r>
                      <a:endParaRPr lang="zh-CN" altLang="en-US" dirty="0"/>
                    </a:p>
                  </a:txBody>
                  <a:tcPr anchor="ctr"/>
                </a:tc>
                <a:tc>
                  <a:txBody>
                    <a:bodyPr/>
                    <a:lstStyle/>
                    <a:p>
                      <a:pPr algn="ctr"/>
                      <a:r>
                        <a:rPr lang="en-US" altLang="zh-CN" dirty="0"/>
                        <a:t>\0</a:t>
                      </a:r>
                      <a:endParaRPr lang="zh-CN" altLang="en-US" dirty="0"/>
                    </a:p>
                  </a:txBody>
                  <a:tcPr anchor="ctr"/>
                </a:tc>
                <a:extLst>
                  <a:ext uri="{0D108BD9-81ED-4DB2-BD59-A6C34878D82A}">
                    <a16:rowId xmlns:a16="http://schemas.microsoft.com/office/drawing/2014/main" val="414728478"/>
                  </a:ext>
                </a:extLst>
              </a:tr>
            </a:tbl>
          </a:graphicData>
        </a:graphic>
      </p:graphicFrame>
      <p:graphicFrame>
        <p:nvGraphicFramePr>
          <p:cNvPr id="11" name="表格 10">
            <a:extLst>
              <a:ext uri="{FF2B5EF4-FFF2-40B4-BE49-F238E27FC236}">
                <a16:creationId xmlns:a16="http://schemas.microsoft.com/office/drawing/2014/main" id="{BDC27E38-5C96-411C-A522-7C62C19BEA20}"/>
              </a:ext>
            </a:extLst>
          </p:cNvPr>
          <p:cNvGraphicFramePr>
            <a:graphicFrameLocks noGrp="1"/>
          </p:cNvGraphicFramePr>
          <p:nvPr>
            <p:extLst>
              <p:ext uri="{D42A27DB-BD31-4B8C-83A1-F6EECF244321}">
                <p14:modId xmlns:p14="http://schemas.microsoft.com/office/powerpoint/2010/main" val="2526127777"/>
              </p:ext>
            </p:extLst>
          </p:nvPr>
        </p:nvGraphicFramePr>
        <p:xfrm>
          <a:off x="9925563" y="2316598"/>
          <a:ext cx="2065020" cy="365760"/>
        </p:xfrm>
        <a:graphic>
          <a:graphicData uri="http://schemas.openxmlformats.org/drawingml/2006/table">
            <a:tbl>
              <a:tblPr firstRow="1" bandRow="1">
                <a:tableStyleId>{5940675A-B579-460E-94D1-54222C63F5DA}</a:tableStyleId>
              </a:tblPr>
              <a:tblGrid>
                <a:gridCol w="437637">
                  <a:extLst>
                    <a:ext uri="{9D8B030D-6E8A-4147-A177-3AD203B41FA5}">
                      <a16:colId xmlns:a16="http://schemas.microsoft.com/office/drawing/2014/main" val="3774901226"/>
                    </a:ext>
                  </a:extLst>
                </a:gridCol>
                <a:gridCol w="416560">
                  <a:extLst>
                    <a:ext uri="{9D8B030D-6E8A-4147-A177-3AD203B41FA5}">
                      <a16:colId xmlns:a16="http://schemas.microsoft.com/office/drawing/2014/main" val="2947382216"/>
                    </a:ext>
                  </a:extLst>
                </a:gridCol>
                <a:gridCol w="817880">
                  <a:extLst>
                    <a:ext uri="{9D8B030D-6E8A-4147-A177-3AD203B41FA5}">
                      <a16:colId xmlns:a16="http://schemas.microsoft.com/office/drawing/2014/main" val="2517148212"/>
                    </a:ext>
                  </a:extLst>
                </a:gridCol>
                <a:gridCol w="392943">
                  <a:extLst>
                    <a:ext uri="{9D8B030D-6E8A-4147-A177-3AD203B41FA5}">
                      <a16:colId xmlns:a16="http://schemas.microsoft.com/office/drawing/2014/main" val="456256773"/>
                    </a:ext>
                  </a:extLst>
                </a:gridCol>
              </a:tblGrid>
              <a:tr h="268781">
                <a:tc>
                  <a:txBody>
                    <a:bodyPr/>
                    <a:lstStyle/>
                    <a:p>
                      <a:pPr algn="ctr"/>
                      <a:r>
                        <a:rPr lang="en-US" altLang="zh-CN" dirty="0"/>
                        <a:t>M</a:t>
                      </a:r>
                      <a:endParaRPr lang="zh-CN" altLang="en-US" dirty="0"/>
                    </a:p>
                  </a:txBody>
                  <a:tcPr anchor="ctr"/>
                </a:tc>
                <a:tc>
                  <a:txBody>
                    <a:bodyPr/>
                    <a:lstStyle/>
                    <a:p>
                      <a:pPr algn="ctr"/>
                      <a:r>
                        <a:rPr lang="en-US" altLang="zh-CN" dirty="0"/>
                        <a:t>o</a:t>
                      </a:r>
                      <a:endParaRPr lang="zh-CN" altLang="en-US" dirty="0"/>
                    </a:p>
                  </a:txBody>
                  <a:tcPr anchor="ctr"/>
                </a:tc>
                <a:tc>
                  <a:txBody>
                    <a:bodyPr/>
                    <a:lstStyle/>
                    <a:p>
                      <a:pPr algn="ctr"/>
                      <a:r>
                        <a:rPr lang="en-US" altLang="zh-CN" dirty="0"/>
                        <a:t>……</a:t>
                      </a:r>
                      <a:endParaRPr lang="zh-CN" altLang="en-US" dirty="0"/>
                    </a:p>
                  </a:txBody>
                  <a:tcPr anchor="ctr"/>
                </a:tc>
                <a:tc>
                  <a:txBody>
                    <a:bodyPr/>
                    <a:lstStyle/>
                    <a:p>
                      <a:pPr algn="ctr"/>
                      <a:r>
                        <a:rPr lang="en-US" altLang="zh-CN" dirty="0"/>
                        <a:t>\0</a:t>
                      </a:r>
                      <a:endParaRPr lang="zh-CN" altLang="en-US" dirty="0"/>
                    </a:p>
                  </a:txBody>
                  <a:tcPr anchor="ctr"/>
                </a:tc>
                <a:extLst>
                  <a:ext uri="{0D108BD9-81ED-4DB2-BD59-A6C34878D82A}">
                    <a16:rowId xmlns:a16="http://schemas.microsoft.com/office/drawing/2014/main" val="414728478"/>
                  </a:ext>
                </a:extLst>
              </a:tr>
            </a:tbl>
          </a:graphicData>
        </a:graphic>
      </p:graphicFrame>
      <p:graphicFrame>
        <p:nvGraphicFramePr>
          <p:cNvPr id="12" name="表格 11">
            <a:extLst>
              <a:ext uri="{FF2B5EF4-FFF2-40B4-BE49-F238E27FC236}">
                <a16:creationId xmlns:a16="http://schemas.microsoft.com/office/drawing/2014/main" id="{65672769-5559-413D-AC3C-9C0D84B7D6B6}"/>
              </a:ext>
            </a:extLst>
          </p:cNvPr>
          <p:cNvGraphicFramePr>
            <a:graphicFrameLocks noGrp="1"/>
          </p:cNvGraphicFramePr>
          <p:nvPr>
            <p:extLst>
              <p:ext uri="{D42A27DB-BD31-4B8C-83A1-F6EECF244321}">
                <p14:modId xmlns:p14="http://schemas.microsoft.com/office/powerpoint/2010/main" val="1023221448"/>
              </p:ext>
            </p:extLst>
          </p:nvPr>
        </p:nvGraphicFramePr>
        <p:xfrm>
          <a:off x="9925563" y="2952350"/>
          <a:ext cx="2065020" cy="365760"/>
        </p:xfrm>
        <a:graphic>
          <a:graphicData uri="http://schemas.openxmlformats.org/drawingml/2006/table">
            <a:tbl>
              <a:tblPr firstRow="1" bandRow="1">
                <a:tableStyleId>{5940675A-B579-460E-94D1-54222C63F5DA}</a:tableStyleId>
              </a:tblPr>
              <a:tblGrid>
                <a:gridCol w="437637">
                  <a:extLst>
                    <a:ext uri="{9D8B030D-6E8A-4147-A177-3AD203B41FA5}">
                      <a16:colId xmlns:a16="http://schemas.microsoft.com/office/drawing/2014/main" val="3774901226"/>
                    </a:ext>
                  </a:extLst>
                </a:gridCol>
                <a:gridCol w="416560">
                  <a:extLst>
                    <a:ext uri="{9D8B030D-6E8A-4147-A177-3AD203B41FA5}">
                      <a16:colId xmlns:a16="http://schemas.microsoft.com/office/drawing/2014/main" val="2947382216"/>
                    </a:ext>
                  </a:extLst>
                </a:gridCol>
                <a:gridCol w="817880">
                  <a:extLst>
                    <a:ext uri="{9D8B030D-6E8A-4147-A177-3AD203B41FA5}">
                      <a16:colId xmlns:a16="http://schemas.microsoft.com/office/drawing/2014/main" val="2517148212"/>
                    </a:ext>
                  </a:extLst>
                </a:gridCol>
                <a:gridCol w="392943">
                  <a:extLst>
                    <a:ext uri="{9D8B030D-6E8A-4147-A177-3AD203B41FA5}">
                      <a16:colId xmlns:a16="http://schemas.microsoft.com/office/drawing/2014/main" val="456256773"/>
                    </a:ext>
                  </a:extLst>
                </a:gridCol>
              </a:tblGrid>
              <a:tr h="268781">
                <a:tc>
                  <a:txBody>
                    <a:bodyPr/>
                    <a:lstStyle/>
                    <a:p>
                      <a:pPr algn="ctr"/>
                      <a:r>
                        <a:rPr lang="en-US" altLang="zh-CN" dirty="0"/>
                        <a:t>T</a:t>
                      </a:r>
                      <a:endParaRPr lang="zh-CN" altLang="en-US" dirty="0"/>
                    </a:p>
                  </a:txBody>
                  <a:tcPr anchor="ctr"/>
                </a:tc>
                <a:tc>
                  <a:txBody>
                    <a:bodyPr/>
                    <a:lstStyle/>
                    <a:p>
                      <a:pPr algn="ctr"/>
                      <a:r>
                        <a:rPr lang="en-US" altLang="zh-CN" dirty="0"/>
                        <a:t>u</a:t>
                      </a:r>
                      <a:endParaRPr lang="zh-CN" altLang="en-US" dirty="0"/>
                    </a:p>
                  </a:txBody>
                  <a:tcPr anchor="ctr"/>
                </a:tc>
                <a:tc>
                  <a:txBody>
                    <a:bodyPr/>
                    <a:lstStyle/>
                    <a:p>
                      <a:pPr algn="ctr"/>
                      <a:r>
                        <a:rPr lang="en-US" altLang="zh-CN" dirty="0"/>
                        <a:t>……</a:t>
                      </a:r>
                      <a:endParaRPr lang="zh-CN" altLang="en-US" dirty="0"/>
                    </a:p>
                  </a:txBody>
                  <a:tcPr anchor="ctr"/>
                </a:tc>
                <a:tc>
                  <a:txBody>
                    <a:bodyPr/>
                    <a:lstStyle/>
                    <a:p>
                      <a:pPr algn="ctr"/>
                      <a:r>
                        <a:rPr lang="en-US" altLang="zh-CN" dirty="0"/>
                        <a:t>\0</a:t>
                      </a:r>
                      <a:endParaRPr lang="zh-CN" altLang="en-US" dirty="0"/>
                    </a:p>
                  </a:txBody>
                  <a:tcPr anchor="ctr"/>
                </a:tc>
                <a:extLst>
                  <a:ext uri="{0D108BD9-81ED-4DB2-BD59-A6C34878D82A}">
                    <a16:rowId xmlns:a16="http://schemas.microsoft.com/office/drawing/2014/main" val="414728478"/>
                  </a:ext>
                </a:extLst>
              </a:tr>
            </a:tbl>
          </a:graphicData>
        </a:graphic>
      </p:graphicFrame>
      <p:graphicFrame>
        <p:nvGraphicFramePr>
          <p:cNvPr id="13" name="表格 12">
            <a:extLst>
              <a:ext uri="{FF2B5EF4-FFF2-40B4-BE49-F238E27FC236}">
                <a16:creationId xmlns:a16="http://schemas.microsoft.com/office/drawing/2014/main" id="{861190A9-F9FA-4294-AA47-F2B1EFA3DCD5}"/>
              </a:ext>
            </a:extLst>
          </p:cNvPr>
          <p:cNvGraphicFramePr>
            <a:graphicFrameLocks noGrp="1"/>
          </p:cNvGraphicFramePr>
          <p:nvPr>
            <p:extLst>
              <p:ext uri="{D42A27DB-BD31-4B8C-83A1-F6EECF244321}">
                <p14:modId xmlns:p14="http://schemas.microsoft.com/office/powerpoint/2010/main" val="623020630"/>
              </p:ext>
            </p:extLst>
          </p:nvPr>
        </p:nvGraphicFramePr>
        <p:xfrm>
          <a:off x="9925563" y="3591974"/>
          <a:ext cx="2065020" cy="365760"/>
        </p:xfrm>
        <a:graphic>
          <a:graphicData uri="http://schemas.openxmlformats.org/drawingml/2006/table">
            <a:tbl>
              <a:tblPr firstRow="1" bandRow="1">
                <a:tableStyleId>{5940675A-B579-460E-94D1-54222C63F5DA}</a:tableStyleId>
              </a:tblPr>
              <a:tblGrid>
                <a:gridCol w="437637">
                  <a:extLst>
                    <a:ext uri="{9D8B030D-6E8A-4147-A177-3AD203B41FA5}">
                      <a16:colId xmlns:a16="http://schemas.microsoft.com/office/drawing/2014/main" val="3774901226"/>
                    </a:ext>
                  </a:extLst>
                </a:gridCol>
                <a:gridCol w="416560">
                  <a:extLst>
                    <a:ext uri="{9D8B030D-6E8A-4147-A177-3AD203B41FA5}">
                      <a16:colId xmlns:a16="http://schemas.microsoft.com/office/drawing/2014/main" val="2947382216"/>
                    </a:ext>
                  </a:extLst>
                </a:gridCol>
                <a:gridCol w="817880">
                  <a:extLst>
                    <a:ext uri="{9D8B030D-6E8A-4147-A177-3AD203B41FA5}">
                      <a16:colId xmlns:a16="http://schemas.microsoft.com/office/drawing/2014/main" val="2517148212"/>
                    </a:ext>
                  </a:extLst>
                </a:gridCol>
                <a:gridCol w="392943">
                  <a:extLst>
                    <a:ext uri="{9D8B030D-6E8A-4147-A177-3AD203B41FA5}">
                      <a16:colId xmlns:a16="http://schemas.microsoft.com/office/drawing/2014/main" val="456256773"/>
                    </a:ext>
                  </a:extLst>
                </a:gridCol>
              </a:tblGrid>
              <a:tr h="268781">
                <a:tc>
                  <a:txBody>
                    <a:bodyPr/>
                    <a:lstStyle/>
                    <a:p>
                      <a:pPr algn="ctr"/>
                      <a:r>
                        <a:rPr lang="en-US" altLang="zh-CN" dirty="0"/>
                        <a:t>W</a:t>
                      </a:r>
                      <a:endParaRPr lang="zh-CN" altLang="en-US" dirty="0"/>
                    </a:p>
                  </a:txBody>
                  <a:tcPr anchor="ctr"/>
                </a:tc>
                <a:tc>
                  <a:txBody>
                    <a:bodyPr/>
                    <a:lstStyle/>
                    <a:p>
                      <a:pPr algn="ctr"/>
                      <a:r>
                        <a:rPr lang="en-US" altLang="zh-CN" dirty="0"/>
                        <a:t>e</a:t>
                      </a:r>
                      <a:endParaRPr lang="zh-CN" altLang="en-US" dirty="0"/>
                    </a:p>
                  </a:txBody>
                  <a:tcPr anchor="ctr"/>
                </a:tc>
                <a:tc>
                  <a:txBody>
                    <a:bodyPr/>
                    <a:lstStyle/>
                    <a:p>
                      <a:pPr algn="ctr"/>
                      <a:r>
                        <a:rPr lang="en-US" altLang="zh-CN" dirty="0"/>
                        <a:t>……</a:t>
                      </a:r>
                      <a:endParaRPr lang="zh-CN" altLang="en-US" dirty="0"/>
                    </a:p>
                  </a:txBody>
                  <a:tcPr anchor="ctr"/>
                </a:tc>
                <a:tc>
                  <a:txBody>
                    <a:bodyPr/>
                    <a:lstStyle/>
                    <a:p>
                      <a:pPr algn="ctr"/>
                      <a:r>
                        <a:rPr lang="en-US" altLang="zh-CN" dirty="0"/>
                        <a:t>\0</a:t>
                      </a:r>
                      <a:endParaRPr lang="zh-CN" altLang="en-US" dirty="0"/>
                    </a:p>
                  </a:txBody>
                  <a:tcPr anchor="ctr"/>
                </a:tc>
                <a:extLst>
                  <a:ext uri="{0D108BD9-81ED-4DB2-BD59-A6C34878D82A}">
                    <a16:rowId xmlns:a16="http://schemas.microsoft.com/office/drawing/2014/main" val="414728478"/>
                  </a:ext>
                </a:extLst>
              </a:tr>
            </a:tbl>
          </a:graphicData>
        </a:graphic>
      </p:graphicFrame>
      <p:graphicFrame>
        <p:nvGraphicFramePr>
          <p:cNvPr id="14" name="表格 13">
            <a:extLst>
              <a:ext uri="{FF2B5EF4-FFF2-40B4-BE49-F238E27FC236}">
                <a16:creationId xmlns:a16="http://schemas.microsoft.com/office/drawing/2014/main" id="{0C8DE591-7818-46B7-853C-6E2786BA466F}"/>
              </a:ext>
            </a:extLst>
          </p:cNvPr>
          <p:cNvGraphicFramePr>
            <a:graphicFrameLocks noGrp="1"/>
          </p:cNvGraphicFramePr>
          <p:nvPr>
            <p:extLst>
              <p:ext uri="{D42A27DB-BD31-4B8C-83A1-F6EECF244321}">
                <p14:modId xmlns:p14="http://schemas.microsoft.com/office/powerpoint/2010/main" val="3778765861"/>
              </p:ext>
            </p:extLst>
          </p:nvPr>
        </p:nvGraphicFramePr>
        <p:xfrm>
          <a:off x="9925563" y="4208912"/>
          <a:ext cx="2065020" cy="365760"/>
        </p:xfrm>
        <a:graphic>
          <a:graphicData uri="http://schemas.openxmlformats.org/drawingml/2006/table">
            <a:tbl>
              <a:tblPr firstRow="1" bandRow="1">
                <a:tableStyleId>{5940675A-B579-460E-94D1-54222C63F5DA}</a:tableStyleId>
              </a:tblPr>
              <a:tblGrid>
                <a:gridCol w="437637">
                  <a:extLst>
                    <a:ext uri="{9D8B030D-6E8A-4147-A177-3AD203B41FA5}">
                      <a16:colId xmlns:a16="http://schemas.microsoft.com/office/drawing/2014/main" val="3774901226"/>
                    </a:ext>
                  </a:extLst>
                </a:gridCol>
                <a:gridCol w="416560">
                  <a:extLst>
                    <a:ext uri="{9D8B030D-6E8A-4147-A177-3AD203B41FA5}">
                      <a16:colId xmlns:a16="http://schemas.microsoft.com/office/drawing/2014/main" val="2947382216"/>
                    </a:ext>
                  </a:extLst>
                </a:gridCol>
                <a:gridCol w="817880">
                  <a:extLst>
                    <a:ext uri="{9D8B030D-6E8A-4147-A177-3AD203B41FA5}">
                      <a16:colId xmlns:a16="http://schemas.microsoft.com/office/drawing/2014/main" val="2517148212"/>
                    </a:ext>
                  </a:extLst>
                </a:gridCol>
                <a:gridCol w="392943">
                  <a:extLst>
                    <a:ext uri="{9D8B030D-6E8A-4147-A177-3AD203B41FA5}">
                      <a16:colId xmlns:a16="http://schemas.microsoft.com/office/drawing/2014/main" val="456256773"/>
                    </a:ext>
                  </a:extLst>
                </a:gridCol>
              </a:tblGrid>
              <a:tr h="268781">
                <a:tc>
                  <a:txBody>
                    <a:bodyPr/>
                    <a:lstStyle/>
                    <a:p>
                      <a:pPr algn="ctr"/>
                      <a:r>
                        <a:rPr lang="en-US" altLang="zh-CN" dirty="0"/>
                        <a:t>T</a:t>
                      </a:r>
                      <a:endParaRPr lang="zh-CN" altLang="en-US" dirty="0"/>
                    </a:p>
                  </a:txBody>
                  <a:tcPr anchor="ctr"/>
                </a:tc>
                <a:tc>
                  <a:txBody>
                    <a:bodyPr/>
                    <a:lstStyle/>
                    <a:p>
                      <a:pPr algn="ctr"/>
                      <a:r>
                        <a:rPr lang="en-US" altLang="zh-CN" dirty="0"/>
                        <a:t>h</a:t>
                      </a:r>
                      <a:endParaRPr lang="zh-CN" altLang="en-US" dirty="0"/>
                    </a:p>
                  </a:txBody>
                  <a:tcPr anchor="ctr"/>
                </a:tc>
                <a:tc>
                  <a:txBody>
                    <a:bodyPr/>
                    <a:lstStyle/>
                    <a:p>
                      <a:pPr algn="ctr"/>
                      <a:r>
                        <a:rPr lang="en-US" altLang="zh-CN" dirty="0"/>
                        <a:t>……</a:t>
                      </a:r>
                      <a:endParaRPr lang="zh-CN" altLang="en-US" dirty="0"/>
                    </a:p>
                  </a:txBody>
                  <a:tcPr anchor="ctr"/>
                </a:tc>
                <a:tc>
                  <a:txBody>
                    <a:bodyPr/>
                    <a:lstStyle/>
                    <a:p>
                      <a:pPr algn="ctr"/>
                      <a:r>
                        <a:rPr lang="en-US" altLang="zh-CN" dirty="0"/>
                        <a:t>\0</a:t>
                      </a:r>
                      <a:endParaRPr lang="zh-CN" altLang="en-US" dirty="0"/>
                    </a:p>
                  </a:txBody>
                  <a:tcPr anchor="ctr"/>
                </a:tc>
                <a:extLst>
                  <a:ext uri="{0D108BD9-81ED-4DB2-BD59-A6C34878D82A}">
                    <a16:rowId xmlns:a16="http://schemas.microsoft.com/office/drawing/2014/main" val="414728478"/>
                  </a:ext>
                </a:extLst>
              </a:tr>
            </a:tbl>
          </a:graphicData>
        </a:graphic>
      </p:graphicFrame>
      <p:graphicFrame>
        <p:nvGraphicFramePr>
          <p:cNvPr id="15" name="表格 14">
            <a:extLst>
              <a:ext uri="{FF2B5EF4-FFF2-40B4-BE49-F238E27FC236}">
                <a16:creationId xmlns:a16="http://schemas.microsoft.com/office/drawing/2014/main" id="{BFA17264-6F45-4559-9388-2E13DF004C8F}"/>
              </a:ext>
            </a:extLst>
          </p:cNvPr>
          <p:cNvGraphicFramePr>
            <a:graphicFrameLocks noGrp="1"/>
          </p:cNvGraphicFramePr>
          <p:nvPr>
            <p:extLst>
              <p:ext uri="{D42A27DB-BD31-4B8C-83A1-F6EECF244321}">
                <p14:modId xmlns:p14="http://schemas.microsoft.com/office/powerpoint/2010/main" val="1149938656"/>
              </p:ext>
            </p:extLst>
          </p:nvPr>
        </p:nvGraphicFramePr>
        <p:xfrm>
          <a:off x="9925563" y="4845964"/>
          <a:ext cx="2065020" cy="365760"/>
        </p:xfrm>
        <a:graphic>
          <a:graphicData uri="http://schemas.openxmlformats.org/drawingml/2006/table">
            <a:tbl>
              <a:tblPr firstRow="1" bandRow="1">
                <a:tableStyleId>{5940675A-B579-460E-94D1-54222C63F5DA}</a:tableStyleId>
              </a:tblPr>
              <a:tblGrid>
                <a:gridCol w="437637">
                  <a:extLst>
                    <a:ext uri="{9D8B030D-6E8A-4147-A177-3AD203B41FA5}">
                      <a16:colId xmlns:a16="http://schemas.microsoft.com/office/drawing/2014/main" val="3774901226"/>
                    </a:ext>
                  </a:extLst>
                </a:gridCol>
                <a:gridCol w="416560">
                  <a:extLst>
                    <a:ext uri="{9D8B030D-6E8A-4147-A177-3AD203B41FA5}">
                      <a16:colId xmlns:a16="http://schemas.microsoft.com/office/drawing/2014/main" val="2947382216"/>
                    </a:ext>
                  </a:extLst>
                </a:gridCol>
                <a:gridCol w="817880">
                  <a:extLst>
                    <a:ext uri="{9D8B030D-6E8A-4147-A177-3AD203B41FA5}">
                      <a16:colId xmlns:a16="http://schemas.microsoft.com/office/drawing/2014/main" val="2517148212"/>
                    </a:ext>
                  </a:extLst>
                </a:gridCol>
                <a:gridCol w="392943">
                  <a:extLst>
                    <a:ext uri="{9D8B030D-6E8A-4147-A177-3AD203B41FA5}">
                      <a16:colId xmlns:a16="http://schemas.microsoft.com/office/drawing/2014/main" val="456256773"/>
                    </a:ext>
                  </a:extLst>
                </a:gridCol>
              </a:tblGrid>
              <a:tr h="268781">
                <a:tc>
                  <a:txBody>
                    <a:bodyPr/>
                    <a:lstStyle/>
                    <a:p>
                      <a:pPr algn="ctr"/>
                      <a:r>
                        <a:rPr lang="en-US" altLang="zh-CN" dirty="0"/>
                        <a:t>F</a:t>
                      </a:r>
                      <a:endParaRPr lang="zh-CN" altLang="en-US" dirty="0"/>
                    </a:p>
                  </a:txBody>
                  <a:tcPr anchor="ctr"/>
                </a:tc>
                <a:tc>
                  <a:txBody>
                    <a:bodyPr/>
                    <a:lstStyle/>
                    <a:p>
                      <a:pPr algn="ctr"/>
                      <a:r>
                        <a:rPr lang="en-US" altLang="zh-CN" dirty="0"/>
                        <a:t>r</a:t>
                      </a:r>
                      <a:endParaRPr lang="zh-CN" altLang="en-US" dirty="0"/>
                    </a:p>
                  </a:txBody>
                  <a:tcPr anchor="ctr"/>
                </a:tc>
                <a:tc>
                  <a:txBody>
                    <a:bodyPr/>
                    <a:lstStyle/>
                    <a:p>
                      <a:pPr algn="ctr"/>
                      <a:r>
                        <a:rPr lang="en-US" altLang="zh-CN" dirty="0"/>
                        <a:t>……</a:t>
                      </a:r>
                      <a:endParaRPr lang="zh-CN" altLang="en-US" dirty="0"/>
                    </a:p>
                  </a:txBody>
                  <a:tcPr anchor="ctr"/>
                </a:tc>
                <a:tc>
                  <a:txBody>
                    <a:bodyPr/>
                    <a:lstStyle/>
                    <a:p>
                      <a:pPr algn="ctr"/>
                      <a:r>
                        <a:rPr lang="en-US" altLang="zh-CN" dirty="0"/>
                        <a:t>\0</a:t>
                      </a:r>
                      <a:endParaRPr lang="zh-CN" altLang="en-US" dirty="0"/>
                    </a:p>
                  </a:txBody>
                  <a:tcPr anchor="ctr"/>
                </a:tc>
                <a:extLst>
                  <a:ext uri="{0D108BD9-81ED-4DB2-BD59-A6C34878D82A}">
                    <a16:rowId xmlns:a16="http://schemas.microsoft.com/office/drawing/2014/main" val="414728478"/>
                  </a:ext>
                </a:extLst>
              </a:tr>
            </a:tbl>
          </a:graphicData>
        </a:graphic>
      </p:graphicFrame>
      <p:graphicFrame>
        <p:nvGraphicFramePr>
          <p:cNvPr id="16" name="表格 15">
            <a:extLst>
              <a:ext uri="{FF2B5EF4-FFF2-40B4-BE49-F238E27FC236}">
                <a16:creationId xmlns:a16="http://schemas.microsoft.com/office/drawing/2014/main" id="{E58ADF3D-1E4D-41F6-AD0A-AE4E6EADE6FD}"/>
              </a:ext>
            </a:extLst>
          </p:cNvPr>
          <p:cNvGraphicFramePr>
            <a:graphicFrameLocks noGrp="1"/>
          </p:cNvGraphicFramePr>
          <p:nvPr>
            <p:extLst>
              <p:ext uri="{D42A27DB-BD31-4B8C-83A1-F6EECF244321}">
                <p14:modId xmlns:p14="http://schemas.microsoft.com/office/powerpoint/2010/main" val="3623580848"/>
              </p:ext>
            </p:extLst>
          </p:nvPr>
        </p:nvGraphicFramePr>
        <p:xfrm>
          <a:off x="9925563" y="5486969"/>
          <a:ext cx="2065020" cy="365760"/>
        </p:xfrm>
        <a:graphic>
          <a:graphicData uri="http://schemas.openxmlformats.org/drawingml/2006/table">
            <a:tbl>
              <a:tblPr firstRow="1" bandRow="1">
                <a:tableStyleId>{5940675A-B579-460E-94D1-54222C63F5DA}</a:tableStyleId>
              </a:tblPr>
              <a:tblGrid>
                <a:gridCol w="437637">
                  <a:extLst>
                    <a:ext uri="{9D8B030D-6E8A-4147-A177-3AD203B41FA5}">
                      <a16:colId xmlns:a16="http://schemas.microsoft.com/office/drawing/2014/main" val="3774901226"/>
                    </a:ext>
                  </a:extLst>
                </a:gridCol>
                <a:gridCol w="416560">
                  <a:extLst>
                    <a:ext uri="{9D8B030D-6E8A-4147-A177-3AD203B41FA5}">
                      <a16:colId xmlns:a16="http://schemas.microsoft.com/office/drawing/2014/main" val="2947382216"/>
                    </a:ext>
                  </a:extLst>
                </a:gridCol>
                <a:gridCol w="817880">
                  <a:extLst>
                    <a:ext uri="{9D8B030D-6E8A-4147-A177-3AD203B41FA5}">
                      <a16:colId xmlns:a16="http://schemas.microsoft.com/office/drawing/2014/main" val="2517148212"/>
                    </a:ext>
                  </a:extLst>
                </a:gridCol>
                <a:gridCol w="392943">
                  <a:extLst>
                    <a:ext uri="{9D8B030D-6E8A-4147-A177-3AD203B41FA5}">
                      <a16:colId xmlns:a16="http://schemas.microsoft.com/office/drawing/2014/main" val="456256773"/>
                    </a:ext>
                  </a:extLst>
                </a:gridCol>
              </a:tblGrid>
              <a:tr h="268781">
                <a:tc>
                  <a:txBody>
                    <a:bodyPr/>
                    <a:lstStyle/>
                    <a:p>
                      <a:pPr algn="ctr"/>
                      <a:r>
                        <a:rPr lang="en-US" altLang="zh-CN" dirty="0"/>
                        <a:t>S</a:t>
                      </a:r>
                      <a:endParaRPr lang="zh-CN" altLang="en-US" dirty="0"/>
                    </a:p>
                  </a:txBody>
                  <a:tcPr anchor="ctr"/>
                </a:tc>
                <a:tc>
                  <a:txBody>
                    <a:bodyPr/>
                    <a:lstStyle/>
                    <a:p>
                      <a:pPr algn="ctr"/>
                      <a:r>
                        <a:rPr lang="en-US" altLang="zh-CN" dirty="0"/>
                        <a:t>a</a:t>
                      </a:r>
                      <a:endParaRPr lang="zh-CN" altLang="en-US" dirty="0"/>
                    </a:p>
                  </a:txBody>
                  <a:tcPr anchor="ctr"/>
                </a:tc>
                <a:tc>
                  <a:txBody>
                    <a:bodyPr/>
                    <a:lstStyle/>
                    <a:p>
                      <a:pPr algn="ctr"/>
                      <a:r>
                        <a:rPr lang="en-US" altLang="zh-CN" dirty="0"/>
                        <a:t>……</a:t>
                      </a:r>
                      <a:endParaRPr lang="zh-CN" altLang="en-US" dirty="0"/>
                    </a:p>
                  </a:txBody>
                  <a:tcPr anchor="ctr"/>
                </a:tc>
                <a:tc>
                  <a:txBody>
                    <a:bodyPr/>
                    <a:lstStyle/>
                    <a:p>
                      <a:pPr algn="ctr"/>
                      <a:r>
                        <a:rPr lang="en-US" altLang="zh-CN" dirty="0"/>
                        <a:t>\0</a:t>
                      </a:r>
                      <a:endParaRPr lang="zh-CN" altLang="en-US" dirty="0"/>
                    </a:p>
                  </a:txBody>
                  <a:tcPr anchor="ctr"/>
                </a:tc>
                <a:extLst>
                  <a:ext uri="{0D108BD9-81ED-4DB2-BD59-A6C34878D82A}">
                    <a16:rowId xmlns:a16="http://schemas.microsoft.com/office/drawing/2014/main" val="414728478"/>
                  </a:ext>
                </a:extLst>
              </a:tr>
            </a:tbl>
          </a:graphicData>
        </a:graphic>
      </p:graphicFrame>
      <p:cxnSp>
        <p:nvCxnSpPr>
          <p:cNvPr id="18" name="连接符: 曲线 17">
            <a:extLst>
              <a:ext uri="{FF2B5EF4-FFF2-40B4-BE49-F238E27FC236}">
                <a16:creationId xmlns:a16="http://schemas.microsoft.com/office/drawing/2014/main" id="{13F07912-24D4-49C6-8EBF-EF4404CC3155}"/>
              </a:ext>
            </a:extLst>
          </p:cNvPr>
          <p:cNvCxnSpPr>
            <a:cxnSpLocks/>
            <a:endCxn id="6" idx="1"/>
          </p:cNvCxnSpPr>
          <p:nvPr/>
        </p:nvCxnSpPr>
        <p:spPr>
          <a:xfrm flipV="1">
            <a:off x="8437880" y="1908634"/>
            <a:ext cx="1487683" cy="687246"/>
          </a:xfrm>
          <a:prstGeom prst="curvedConnector3">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9" name="连接符: 曲线 18">
            <a:extLst>
              <a:ext uri="{FF2B5EF4-FFF2-40B4-BE49-F238E27FC236}">
                <a16:creationId xmlns:a16="http://schemas.microsoft.com/office/drawing/2014/main" id="{6C1990BF-BAB4-4B4A-B55C-3C543D9FB2C2}"/>
              </a:ext>
            </a:extLst>
          </p:cNvPr>
          <p:cNvCxnSpPr>
            <a:cxnSpLocks/>
            <a:endCxn id="11" idx="1"/>
          </p:cNvCxnSpPr>
          <p:nvPr/>
        </p:nvCxnSpPr>
        <p:spPr>
          <a:xfrm flipV="1">
            <a:off x="8442960" y="2499478"/>
            <a:ext cx="1482603" cy="501008"/>
          </a:xfrm>
          <a:prstGeom prst="curvedConnector3">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1" name="连接符: 曲线 20">
            <a:extLst>
              <a:ext uri="{FF2B5EF4-FFF2-40B4-BE49-F238E27FC236}">
                <a16:creationId xmlns:a16="http://schemas.microsoft.com/office/drawing/2014/main" id="{669DB0FC-7847-421B-9DAB-6CBB52455412}"/>
              </a:ext>
            </a:extLst>
          </p:cNvPr>
          <p:cNvCxnSpPr>
            <a:cxnSpLocks/>
            <a:endCxn id="12" idx="1"/>
          </p:cNvCxnSpPr>
          <p:nvPr/>
        </p:nvCxnSpPr>
        <p:spPr>
          <a:xfrm flipV="1">
            <a:off x="8442960" y="3135230"/>
            <a:ext cx="1482603" cy="262456"/>
          </a:xfrm>
          <a:prstGeom prst="curvedConnector3">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3" name="连接符: 曲线 22">
            <a:extLst>
              <a:ext uri="{FF2B5EF4-FFF2-40B4-BE49-F238E27FC236}">
                <a16:creationId xmlns:a16="http://schemas.microsoft.com/office/drawing/2014/main" id="{E5035099-16C6-489F-A743-C77ED68CB622}"/>
              </a:ext>
            </a:extLst>
          </p:cNvPr>
          <p:cNvCxnSpPr>
            <a:cxnSpLocks/>
            <a:endCxn id="13" idx="1"/>
          </p:cNvCxnSpPr>
          <p:nvPr/>
        </p:nvCxnSpPr>
        <p:spPr>
          <a:xfrm>
            <a:off x="8442960" y="3772586"/>
            <a:ext cx="1482603" cy="2268"/>
          </a:xfrm>
          <a:prstGeom prst="curvedConnector3">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5" name="连接符: 曲线 24">
            <a:extLst>
              <a:ext uri="{FF2B5EF4-FFF2-40B4-BE49-F238E27FC236}">
                <a16:creationId xmlns:a16="http://schemas.microsoft.com/office/drawing/2014/main" id="{2E0E6DFD-0FEF-49A1-A7EF-C7D45E8ABA7B}"/>
              </a:ext>
            </a:extLst>
          </p:cNvPr>
          <p:cNvCxnSpPr>
            <a:cxnSpLocks/>
            <a:endCxn id="14" idx="1"/>
          </p:cNvCxnSpPr>
          <p:nvPr/>
        </p:nvCxnSpPr>
        <p:spPr>
          <a:xfrm>
            <a:off x="8442959" y="4173288"/>
            <a:ext cx="1482604" cy="218504"/>
          </a:xfrm>
          <a:prstGeom prst="curvedConnector3">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7" name="连接符: 曲线 26">
            <a:extLst>
              <a:ext uri="{FF2B5EF4-FFF2-40B4-BE49-F238E27FC236}">
                <a16:creationId xmlns:a16="http://schemas.microsoft.com/office/drawing/2014/main" id="{34F371BF-6C34-4E19-B335-6FA1F24D7955}"/>
              </a:ext>
            </a:extLst>
          </p:cNvPr>
          <p:cNvCxnSpPr>
            <a:cxnSpLocks/>
            <a:endCxn id="15" idx="1"/>
          </p:cNvCxnSpPr>
          <p:nvPr/>
        </p:nvCxnSpPr>
        <p:spPr>
          <a:xfrm>
            <a:off x="8444607" y="4580912"/>
            <a:ext cx="1480956" cy="447932"/>
          </a:xfrm>
          <a:prstGeom prst="curvedConnector3">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9" name="连接符: 曲线 28">
            <a:extLst>
              <a:ext uri="{FF2B5EF4-FFF2-40B4-BE49-F238E27FC236}">
                <a16:creationId xmlns:a16="http://schemas.microsoft.com/office/drawing/2014/main" id="{2FF4413D-5FE8-4851-B5F4-C287BF4D194F}"/>
              </a:ext>
            </a:extLst>
          </p:cNvPr>
          <p:cNvCxnSpPr>
            <a:cxnSpLocks/>
            <a:endCxn id="16" idx="1"/>
          </p:cNvCxnSpPr>
          <p:nvPr/>
        </p:nvCxnSpPr>
        <p:spPr>
          <a:xfrm>
            <a:off x="8443783" y="4976035"/>
            <a:ext cx="1481780" cy="693814"/>
          </a:xfrm>
          <a:prstGeom prst="curvedConnector3">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2" name="灯片编号占位符 31">
            <a:extLst>
              <a:ext uri="{FF2B5EF4-FFF2-40B4-BE49-F238E27FC236}">
                <a16:creationId xmlns:a16="http://schemas.microsoft.com/office/drawing/2014/main" id="{2BD9F571-503A-4247-882D-F659A5E9A90D}"/>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32</a:t>
            </a:fld>
            <a:r>
              <a:rPr lang="en-US" altLang="zh-CN">
                <a:solidFill>
                  <a:prstClr val="black">
                    <a:tint val="75000"/>
                  </a:prstClr>
                </a:solidFill>
              </a:rPr>
              <a:t>/ 35</a:t>
            </a:r>
            <a:endParaRPr lang="zh-CN" altLang="en-US" dirty="0"/>
          </a:p>
        </p:txBody>
      </p:sp>
      <p:sp>
        <p:nvSpPr>
          <p:cNvPr id="24" name="文本框 23">
            <a:extLst>
              <a:ext uri="{FF2B5EF4-FFF2-40B4-BE49-F238E27FC236}">
                <a16:creationId xmlns:a16="http://schemas.microsoft.com/office/drawing/2014/main" id="{254D597B-907E-4C57-B289-80CFBF1A5870}"/>
              </a:ext>
            </a:extLst>
          </p:cNvPr>
          <p:cNvSpPr txBox="1"/>
          <p:nvPr/>
        </p:nvSpPr>
        <p:spPr>
          <a:xfrm>
            <a:off x="2141114" y="-50475"/>
            <a:ext cx="4987824"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指针数组的应用</a:t>
            </a:r>
            <a:endParaRPr lang="zh-CN" altLang="en-US" sz="3200" b="1" dirty="0">
              <a:solidFill>
                <a:srgbClr val="200AC4"/>
              </a:solidFill>
              <a:ea typeface="隶书" pitchFamily="49" charset="-122"/>
            </a:endParaRPr>
          </a:p>
        </p:txBody>
      </p:sp>
    </p:spTree>
    <p:extLst>
      <p:ext uri="{BB962C8B-B14F-4D97-AF65-F5344CB8AC3E}">
        <p14:creationId xmlns:p14="http://schemas.microsoft.com/office/powerpoint/2010/main" val="2633742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2" fill="hold" nodeType="clickEffect">
                                  <p:stCondLst>
                                    <p:cond delay="0"/>
                                  </p:stCondLst>
                                  <p:childTnLst>
                                    <p:set>
                                      <p:cBhvr>
                                        <p:cTn id="27" dur="1" fill="hold">
                                          <p:stCondLst>
                                            <p:cond delay="0"/>
                                          </p:stCondLst>
                                        </p:cTn>
                                        <p:tgtEl>
                                          <p:spTgt spid="3"/>
                                        </p:tgtEl>
                                        <p:attrNameLst>
                                          <p:attrName>style.visibility</p:attrName>
                                        </p:attrNameLst>
                                      </p:cBhvr>
                                      <p:to>
                                        <p:strVal val="visible"/>
                                      </p:to>
                                    </p:set>
                                    <p:anim calcmode="lin" valueType="num">
                                      <p:cBhvr additive="base">
                                        <p:cTn id="28" dur="500" fill="hold"/>
                                        <p:tgtEl>
                                          <p:spTgt spid="3"/>
                                        </p:tgtEl>
                                        <p:attrNameLst>
                                          <p:attrName>ppt_x</p:attrName>
                                        </p:attrNameLst>
                                      </p:cBhvr>
                                      <p:tavLst>
                                        <p:tav tm="0">
                                          <p:val>
                                            <p:strVal val="1+#ppt_w/2"/>
                                          </p:val>
                                        </p:tav>
                                        <p:tav tm="100000">
                                          <p:val>
                                            <p:strVal val="#ppt_x"/>
                                          </p:val>
                                        </p:tav>
                                      </p:tavLst>
                                    </p:anim>
                                    <p:anim calcmode="lin" valueType="num">
                                      <p:cBhvr additive="base">
                                        <p:cTn id="29" dur="500" fill="hold"/>
                                        <p:tgtEl>
                                          <p:spTgt spid="3"/>
                                        </p:tgtEl>
                                        <p:attrNameLst>
                                          <p:attrName>ppt_y</p:attrName>
                                        </p:attrNameLst>
                                      </p:cBhvr>
                                      <p:tavLst>
                                        <p:tav tm="0">
                                          <p:val>
                                            <p:strVal val="#ppt_y"/>
                                          </p:val>
                                        </p:tav>
                                        <p:tav tm="100000">
                                          <p:val>
                                            <p:strVal val="#ppt_y"/>
                                          </p:val>
                                        </p:tav>
                                      </p:tavLst>
                                    </p:anim>
                                  </p:childTnLst>
                                </p:cTn>
                              </p:par>
                              <p:par>
                                <p:cTn id="30" presetID="2" presetClass="entr" presetSubtype="2" fill="hold" grpId="0" nodeType="withEffect">
                                  <p:stCondLst>
                                    <p:cond delay="0"/>
                                  </p:stCondLst>
                                  <p:childTnLst>
                                    <p:set>
                                      <p:cBhvr>
                                        <p:cTn id="31" dur="1" fill="hold">
                                          <p:stCondLst>
                                            <p:cond delay="0"/>
                                          </p:stCondLst>
                                        </p:cTn>
                                        <p:tgtEl>
                                          <p:spTgt spid="4"/>
                                        </p:tgtEl>
                                        <p:attrNameLst>
                                          <p:attrName>style.visibility</p:attrName>
                                        </p:attrNameLst>
                                      </p:cBhvr>
                                      <p:to>
                                        <p:strVal val="visible"/>
                                      </p:to>
                                    </p:set>
                                    <p:anim calcmode="lin" valueType="num">
                                      <p:cBhvr additive="base">
                                        <p:cTn id="32" dur="500" fill="hold"/>
                                        <p:tgtEl>
                                          <p:spTgt spid="4"/>
                                        </p:tgtEl>
                                        <p:attrNameLst>
                                          <p:attrName>ppt_x</p:attrName>
                                        </p:attrNameLst>
                                      </p:cBhvr>
                                      <p:tavLst>
                                        <p:tav tm="0">
                                          <p:val>
                                            <p:strVal val="1+#ppt_w/2"/>
                                          </p:val>
                                        </p:tav>
                                        <p:tav tm="100000">
                                          <p:val>
                                            <p:strVal val="#ppt_x"/>
                                          </p:val>
                                        </p:tav>
                                      </p:tavLst>
                                    </p:anim>
                                    <p:anim calcmode="lin" valueType="num">
                                      <p:cBhvr additive="base">
                                        <p:cTn id="33" dur="500" fill="hold"/>
                                        <p:tgtEl>
                                          <p:spTgt spid="4"/>
                                        </p:tgtEl>
                                        <p:attrNameLst>
                                          <p:attrName>ppt_y</p:attrName>
                                        </p:attrNameLst>
                                      </p:cBhvr>
                                      <p:tavLst>
                                        <p:tav tm="0">
                                          <p:val>
                                            <p:strVal val="#ppt_y"/>
                                          </p:val>
                                        </p:tav>
                                        <p:tav tm="100000">
                                          <p:val>
                                            <p:strVal val="#ppt_y"/>
                                          </p:val>
                                        </p:tav>
                                      </p:tavLst>
                                    </p:anim>
                                  </p:childTnLst>
                                </p:cTn>
                              </p:par>
                              <p:par>
                                <p:cTn id="34" presetID="2" presetClass="entr" presetSubtype="2" fill="hold" nodeType="withEffect">
                                  <p:stCondLst>
                                    <p:cond delay="0"/>
                                  </p:stCondLst>
                                  <p:childTnLst>
                                    <p:set>
                                      <p:cBhvr>
                                        <p:cTn id="35" dur="1" fill="hold">
                                          <p:stCondLst>
                                            <p:cond delay="0"/>
                                          </p:stCondLst>
                                        </p:cTn>
                                        <p:tgtEl>
                                          <p:spTgt spid="6"/>
                                        </p:tgtEl>
                                        <p:attrNameLst>
                                          <p:attrName>style.visibility</p:attrName>
                                        </p:attrNameLst>
                                      </p:cBhvr>
                                      <p:to>
                                        <p:strVal val="visible"/>
                                      </p:to>
                                    </p:set>
                                    <p:anim calcmode="lin" valueType="num">
                                      <p:cBhvr additive="base">
                                        <p:cTn id="36" dur="500" fill="hold"/>
                                        <p:tgtEl>
                                          <p:spTgt spid="6"/>
                                        </p:tgtEl>
                                        <p:attrNameLst>
                                          <p:attrName>ppt_x</p:attrName>
                                        </p:attrNameLst>
                                      </p:cBhvr>
                                      <p:tavLst>
                                        <p:tav tm="0">
                                          <p:val>
                                            <p:strVal val="1+#ppt_w/2"/>
                                          </p:val>
                                        </p:tav>
                                        <p:tav tm="100000">
                                          <p:val>
                                            <p:strVal val="#ppt_x"/>
                                          </p:val>
                                        </p:tav>
                                      </p:tavLst>
                                    </p:anim>
                                    <p:anim calcmode="lin" valueType="num">
                                      <p:cBhvr additive="base">
                                        <p:cTn id="37" dur="500" fill="hold"/>
                                        <p:tgtEl>
                                          <p:spTgt spid="6"/>
                                        </p:tgtEl>
                                        <p:attrNameLst>
                                          <p:attrName>ppt_y</p:attrName>
                                        </p:attrNameLst>
                                      </p:cBhvr>
                                      <p:tavLst>
                                        <p:tav tm="0">
                                          <p:val>
                                            <p:strVal val="#ppt_y"/>
                                          </p:val>
                                        </p:tav>
                                        <p:tav tm="100000">
                                          <p:val>
                                            <p:strVal val="#ppt_y"/>
                                          </p:val>
                                        </p:tav>
                                      </p:tavLst>
                                    </p:anim>
                                  </p:childTnLst>
                                </p:cTn>
                              </p:par>
                              <p:par>
                                <p:cTn id="38" presetID="2" presetClass="entr" presetSubtype="2" fill="hold" nodeType="withEffect">
                                  <p:stCondLst>
                                    <p:cond delay="0"/>
                                  </p:stCondLst>
                                  <p:childTnLst>
                                    <p:set>
                                      <p:cBhvr>
                                        <p:cTn id="39" dur="1" fill="hold">
                                          <p:stCondLst>
                                            <p:cond delay="0"/>
                                          </p:stCondLst>
                                        </p:cTn>
                                        <p:tgtEl>
                                          <p:spTgt spid="11"/>
                                        </p:tgtEl>
                                        <p:attrNameLst>
                                          <p:attrName>style.visibility</p:attrName>
                                        </p:attrNameLst>
                                      </p:cBhvr>
                                      <p:to>
                                        <p:strVal val="visible"/>
                                      </p:to>
                                    </p:set>
                                    <p:anim calcmode="lin" valueType="num">
                                      <p:cBhvr additive="base">
                                        <p:cTn id="40" dur="500" fill="hold"/>
                                        <p:tgtEl>
                                          <p:spTgt spid="11"/>
                                        </p:tgtEl>
                                        <p:attrNameLst>
                                          <p:attrName>ppt_x</p:attrName>
                                        </p:attrNameLst>
                                      </p:cBhvr>
                                      <p:tavLst>
                                        <p:tav tm="0">
                                          <p:val>
                                            <p:strVal val="1+#ppt_w/2"/>
                                          </p:val>
                                        </p:tav>
                                        <p:tav tm="100000">
                                          <p:val>
                                            <p:strVal val="#ppt_x"/>
                                          </p:val>
                                        </p:tav>
                                      </p:tavLst>
                                    </p:anim>
                                    <p:anim calcmode="lin" valueType="num">
                                      <p:cBhvr additive="base">
                                        <p:cTn id="41" dur="500" fill="hold"/>
                                        <p:tgtEl>
                                          <p:spTgt spid="11"/>
                                        </p:tgtEl>
                                        <p:attrNameLst>
                                          <p:attrName>ppt_y</p:attrName>
                                        </p:attrNameLst>
                                      </p:cBhvr>
                                      <p:tavLst>
                                        <p:tav tm="0">
                                          <p:val>
                                            <p:strVal val="#ppt_y"/>
                                          </p:val>
                                        </p:tav>
                                        <p:tav tm="100000">
                                          <p:val>
                                            <p:strVal val="#ppt_y"/>
                                          </p:val>
                                        </p:tav>
                                      </p:tavLst>
                                    </p:anim>
                                  </p:childTnLst>
                                </p:cTn>
                              </p:par>
                              <p:par>
                                <p:cTn id="42" presetID="2" presetClass="entr" presetSubtype="2" fill="hold" nodeType="withEffect">
                                  <p:stCondLst>
                                    <p:cond delay="0"/>
                                  </p:stCondLst>
                                  <p:childTnLst>
                                    <p:set>
                                      <p:cBhvr>
                                        <p:cTn id="43" dur="1" fill="hold">
                                          <p:stCondLst>
                                            <p:cond delay="0"/>
                                          </p:stCondLst>
                                        </p:cTn>
                                        <p:tgtEl>
                                          <p:spTgt spid="12"/>
                                        </p:tgtEl>
                                        <p:attrNameLst>
                                          <p:attrName>style.visibility</p:attrName>
                                        </p:attrNameLst>
                                      </p:cBhvr>
                                      <p:to>
                                        <p:strVal val="visible"/>
                                      </p:to>
                                    </p:set>
                                    <p:anim calcmode="lin" valueType="num">
                                      <p:cBhvr additive="base">
                                        <p:cTn id="44" dur="500" fill="hold"/>
                                        <p:tgtEl>
                                          <p:spTgt spid="12"/>
                                        </p:tgtEl>
                                        <p:attrNameLst>
                                          <p:attrName>ppt_x</p:attrName>
                                        </p:attrNameLst>
                                      </p:cBhvr>
                                      <p:tavLst>
                                        <p:tav tm="0">
                                          <p:val>
                                            <p:strVal val="1+#ppt_w/2"/>
                                          </p:val>
                                        </p:tav>
                                        <p:tav tm="100000">
                                          <p:val>
                                            <p:strVal val="#ppt_x"/>
                                          </p:val>
                                        </p:tav>
                                      </p:tavLst>
                                    </p:anim>
                                    <p:anim calcmode="lin" valueType="num">
                                      <p:cBhvr additive="base">
                                        <p:cTn id="45" dur="500" fill="hold"/>
                                        <p:tgtEl>
                                          <p:spTgt spid="12"/>
                                        </p:tgtEl>
                                        <p:attrNameLst>
                                          <p:attrName>ppt_y</p:attrName>
                                        </p:attrNameLst>
                                      </p:cBhvr>
                                      <p:tavLst>
                                        <p:tav tm="0">
                                          <p:val>
                                            <p:strVal val="#ppt_y"/>
                                          </p:val>
                                        </p:tav>
                                        <p:tav tm="100000">
                                          <p:val>
                                            <p:strVal val="#ppt_y"/>
                                          </p:val>
                                        </p:tav>
                                      </p:tavLst>
                                    </p:anim>
                                  </p:childTnLst>
                                </p:cTn>
                              </p:par>
                              <p:par>
                                <p:cTn id="46" presetID="2" presetClass="entr" presetSubtype="2" fill="hold" nodeType="withEffect">
                                  <p:stCondLst>
                                    <p:cond delay="0"/>
                                  </p:stCondLst>
                                  <p:childTnLst>
                                    <p:set>
                                      <p:cBhvr>
                                        <p:cTn id="47" dur="1" fill="hold">
                                          <p:stCondLst>
                                            <p:cond delay="0"/>
                                          </p:stCondLst>
                                        </p:cTn>
                                        <p:tgtEl>
                                          <p:spTgt spid="13"/>
                                        </p:tgtEl>
                                        <p:attrNameLst>
                                          <p:attrName>style.visibility</p:attrName>
                                        </p:attrNameLst>
                                      </p:cBhvr>
                                      <p:to>
                                        <p:strVal val="visible"/>
                                      </p:to>
                                    </p:set>
                                    <p:anim calcmode="lin" valueType="num">
                                      <p:cBhvr additive="base">
                                        <p:cTn id="48" dur="500" fill="hold"/>
                                        <p:tgtEl>
                                          <p:spTgt spid="13"/>
                                        </p:tgtEl>
                                        <p:attrNameLst>
                                          <p:attrName>ppt_x</p:attrName>
                                        </p:attrNameLst>
                                      </p:cBhvr>
                                      <p:tavLst>
                                        <p:tav tm="0">
                                          <p:val>
                                            <p:strVal val="1+#ppt_w/2"/>
                                          </p:val>
                                        </p:tav>
                                        <p:tav tm="100000">
                                          <p:val>
                                            <p:strVal val="#ppt_x"/>
                                          </p:val>
                                        </p:tav>
                                      </p:tavLst>
                                    </p:anim>
                                    <p:anim calcmode="lin" valueType="num">
                                      <p:cBhvr additive="base">
                                        <p:cTn id="49" dur="500" fill="hold"/>
                                        <p:tgtEl>
                                          <p:spTgt spid="13"/>
                                        </p:tgtEl>
                                        <p:attrNameLst>
                                          <p:attrName>ppt_y</p:attrName>
                                        </p:attrNameLst>
                                      </p:cBhvr>
                                      <p:tavLst>
                                        <p:tav tm="0">
                                          <p:val>
                                            <p:strVal val="#ppt_y"/>
                                          </p:val>
                                        </p:tav>
                                        <p:tav tm="100000">
                                          <p:val>
                                            <p:strVal val="#ppt_y"/>
                                          </p:val>
                                        </p:tav>
                                      </p:tavLst>
                                    </p:anim>
                                  </p:childTnLst>
                                </p:cTn>
                              </p:par>
                              <p:par>
                                <p:cTn id="50" presetID="2" presetClass="entr" presetSubtype="2" fill="hold" nodeType="withEffect">
                                  <p:stCondLst>
                                    <p:cond delay="0"/>
                                  </p:stCondLst>
                                  <p:childTnLst>
                                    <p:set>
                                      <p:cBhvr>
                                        <p:cTn id="51" dur="1" fill="hold">
                                          <p:stCondLst>
                                            <p:cond delay="0"/>
                                          </p:stCondLst>
                                        </p:cTn>
                                        <p:tgtEl>
                                          <p:spTgt spid="14"/>
                                        </p:tgtEl>
                                        <p:attrNameLst>
                                          <p:attrName>style.visibility</p:attrName>
                                        </p:attrNameLst>
                                      </p:cBhvr>
                                      <p:to>
                                        <p:strVal val="visible"/>
                                      </p:to>
                                    </p:set>
                                    <p:anim calcmode="lin" valueType="num">
                                      <p:cBhvr additive="base">
                                        <p:cTn id="52" dur="500" fill="hold"/>
                                        <p:tgtEl>
                                          <p:spTgt spid="14"/>
                                        </p:tgtEl>
                                        <p:attrNameLst>
                                          <p:attrName>ppt_x</p:attrName>
                                        </p:attrNameLst>
                                      </p:cBhvr>
                                      <p:tavLst>
                                        <p:tav tm="0">
                                          <p:val>
                                            <p:strVal val="1+#ppt_w/2"/>
                                          </p:val>
                                        </p:tav>
                                        <p:tav tm="100000">
                                          <p:val>
                                            <p:strVal val="#ppt_x"/>
                                          </p:val>
                                        </p:tav>
                                      </p:tavLst>
                                    </p:anim>
                                    <p:anim calcmode="lin" valueType="num">
                                      <p:cBhvr additive="base">
                                        <p:cTn id="53" dur="500" fill="hold"/>
                                        <p:tgtEl>
                                          <p:spTgt spid="14"/>
                                        </p:tgtEl>
                                        <p:attrNameLst>
                                          <p:attrName>ppt_y</p:attrName>
                                        </p:attrNameLst>
                                      </p:cBhvr>
                                      <p:tavLst>
                                        <p:tav tm="0">
                                          <p:val>
                                            <p:strVal val="#ppt_y"/>
                                          </p:val>
                                        </p:tav>
                                        <p:tav tm="100000">
                                          <p:val>
                                            <p:strVal val="#ppt_y"/>
                                          </p:val>
                                        </p:tav>
                                      </p:tavLst>
                                    </p:anim>
                                  </p:childTnLst>
                                </p:cTn>
                              </p:par>
                              <p:par>
                                <p:cTn id="54" presetID="2" presetClass="entr" presetSubtype="2" fill="hold" nodeType="withEffect">
                                  <p:stCondLst>
                                    <p:cond delay="0"/>
                                  </p:stCondLst>
                                  <p:childTnLst>
                                    <p:set>
                                      <p:cBhvr>
                                        <p:cTn id="55" dur="1" fill="hold">
                                          <p:stCondLst>
                                            <p:cond delay="0"/>
                                          </p:stCondLst>
                                        </p:cTn>
                                        <p:tgtEl>
                                          <p:spTgt spid="15"/>
                                        </p:tgtEl>
                                        <p:attrNameLst>
                                          <p:attrName>style.visibility</p:attrName>
                                        </p:attrNameLst>
                                      </p:cBhvr>
                                      <p:to>
                                        <p:strVal val="visible"/>
                                      </p:to>
                                    </p:set>
                                    <p:anim calcmode="lin" valueType="num">
                                      <p:cBhvr additive="base">
                                        <p:cTn id="56" dur="500" fill="hold"/>
                                        <p:tgtEl>
                                          <p:spTgt spid="15"/>
                                        </p:tgtEl>
                                        <p:attrNameLst>
                                          <p:attrName>ppt_x</p:attrName>
                                        </p:attrNameLst>
                                      </p:cBhvr>
                                      <p:tavLst>
                                        <p:tav tm="0">
                                          <p:val>
                                            <p:strVal val="1+#ppt_w/2"/>
                                          </p:val>
                                        </p:tav>
                                        <p:tav tm="100000">
                                          <p:val>
                                            <p:strVal val="#ppt_x"/>
                                          </p:val>
                                        </p:tav>
                                      </p:tavLst>
                                    </p:anim>
                                    <p:anim calcmode="lin" valueType="num">
                                      <p:cBhvr additive="base">
                                        <p:cTn id="57" dur="500" fill="hold"/>
                                        <p:tgtEl>
                                          <p:spTgt spid="15"/>
                                        </p:tgtEl>
                                        <p:attrNameLst>
                                          <p:attrName>ppt_y</p:attrName>
                                        </p:attrNameLst>
                                      </p:cBhvr>
                                      <p:tavLst>
                                        <p:tav tm="0">
                                          <p:val>
                                            <p:strVal val="#ppt_y"/>
                                          </p:val>
                                        </p:tav>
                                        <p:tav tm="100000">
                                          <p:val>
                                            <p:strVal val="#ppt_y"/>
                                          </p:val>
                                        </p:tav>
                                      </p:tavLst>
                                    </p:anim>
                                  </p:childTnLst>
                                </p:cTn>
                              </p:par>
                              <p:par>
                                <p:cTn id="58" presetID="2" presetClass="entr" presetSubtype="2" fill="hold" nodeType="withEffect">
                                  <p:stCondLst>
                                    <p:cond delay="0"/>
                                  </p:stCondLst>
                                  <p:childTnLst>
                                    <p:set>
                                      <p:cBhvr>
                                        <p:cTn id="59" dur="1" fill="hold">
                                          <p:stCondLst>
                                            <p:cond delay="0"/>
                                          </p:stCondLst>
                                        </p:cTn>
                                        <p:tgtEl>
                                          <p:spTgt spid="16"/>
                                        </p:tgtEl>
                                        <p:attrNameLst>
                                          <p:attrName>style.visibility</p:attrName>
                                        </p:attrNameLst>
                                      </p:cBhvr>
                                      <p:to>
                                        <p:strVal val="visible"/>
                                      </p:to>
                                    </p:set>
                                    <p:anim calcmode="lin" valueType="num">
                                      <p:cBhvr additive="base">
                                        <p:cTn id="60" dur="500" fill="hold"/>
                                        <p:tgtEl>
                                          <p:spTgt spid="16"/>
                                        </p:tgtEl>
                                        <p:attrNameLst>
                                          <p:attrName>ppt_x</p:attrName>
                                        </p:attrNameLst>
                                      </p:cBhvr>
                                      <p:tavLst>
                                        <p:tav tm="0">
                                          <p:val>
                                            <p:strVal val="1+#ppt_w/2"/>
                                          </p:val>
                                        </p:tav>
                                        <p:tav tm="100000">
                                          <p:val>
                                            <p:strVal val="#ppt_x"/>
                                          </p:val>
                                        </p:tav>
                                      </p:tavLst>
                                    </p:anim>
                                    <p:anim calcmode="lin" valueType="num">
                                      <p:cBhvr additive="base">
                                        <p:cTn id="61" dur="500" fill="hold"/>
                                        <p:tgtEl>
                                          <p:spTgt spid="16"/>
                                        </p:tgtEl>
                                        <p:attrNameLst>
                                          <p:attrName>ppt_y</p:attrName>
                                        </p:attrNameLst>
                                      </p:cBhvr>
                                      <p:tavLst>
                                        <p:tav tm="0">
                                          <p:val>
                                            <p:strVal val="#ppt_y"/>
                                          </p:val>
                                        </p:tav>
                                        <p:tav tm="100000">
                                          <p:val>
                                            <p:strVal val="#ppt_y"/>
                                          </p:val>
                                        </p:tav>
                                      </p:tavLst>
                                    </p:anim>
                                  </p:childTnLst>
                                </p:cTn>
                              </p:par>
                              <p:par>
                                <p:cTn id="62" presetID="2" presetClass="entr" presetSubtype="2" fill="hold" nodeType="withEffect">
                                  <p:stCondLst>
                                    <p:cond delay="0"/>
                                  </p:stCondLst>
                                  <p:childTnLst>
                                    <p:set>
                                      <p:cBhvr>
                                        <p:cTn id="63" dur="1" fill="hold">
                                          <p:stCondLst>
                                            <p:cond delay="0"/>
                                          </p:stCondLst>
                                        </p:cTn>
                                        <p:tgtEl>
                                          <p:spTgt spid="18"/>
                                        </p:tgtEl>
                                        <p:attrNameLst>
                                          <p:attrName>style.visibility</p:attrName>
                                        </p:attrNameLst>
                                      </p:cBhvr>
                                      <p:to>
                                        <p:strVal val="visible"/>
                                      </p:to>
                                    </p:set>
                                    <p:anim calcmode="lin" valueType="num">
                                      <p:cBhvr additive="base">
                                        <p:cTn id="64" dur="500" fill="hold"/>
                                        <p:tgtEl>
                                          <p:spTgt spid="18"/>
                                        </p:tgtEl>
                                        <p:attrNameLst>
                                          <p:attrName>ppt_x</p:attrName>
                                        </p:attrNameLst>
                                      </p:cBhvr>
                                      <p:tavLst>
                                        <p:tav tm="0">
                                          <p:val>
                                            <p:strVal val="1+#ppt_w/2"/>
                                          </p:val>
                                        </p:tav>
                                        <p:tav tm="100000">
                                          <p:val>
                                            <p:strVal val="#ppt_x"/>
                                          </p:val>
                                        </p:tav>
                                      </p:tavLst>
                                    </p:anim>
                                    <p:anim calcmode="lin" valueType="num">
                                      <p:cBhvr additive="base">
                                        <p:cTn id="65" dur="500" fill="hold"/>
                                        <p:tgtEl>
                                          <p:spTgt spid="18"/>
                                        </p:tgtEl>
                                        <p:attrNameLst>
                                          <p:attrName>ppt_y</p:attrName>
                                        </p:attrNameLst>
                                      </p:cBhvr>
                                      <p:tavLst>
                                        <p:tav tm="0">
                                          <p:val>
                                            <p:strVal val="#ppt_y"/>
                                          </p:val>
                                        </p:tav>
                                        <p:tav tm="100000">
                                          <p:val>
                                            <p:strVal val="#ppt_y"/>
                                          </p:val>
                                        </p:tav>
                                      </p:tavLst>
                                    </p:anim>
                                  </p:childTnLst>
                                </p:cTn>
                              </p:par>
                              <p:par>
                                <p:cTn id="66" presetID="2" presetClass="entr" presetSubtype="2" fill="hold" nodeType="withEffect">
                                  <p:stCondLst>
                                    <p:cond delay="0"/>
                                  </p:stCondLst>
                                  <p:childTnLst>
                                    <p:set>
                                      <p:cBhvr>
                                        <p:cTn id="67" dur="1" fill="hold">
                                          <p:stCondLst>
                                            <p:cond delay="0"/>
                                          </p:stCondLst>
                                        </p:cTn>
                                        <p:tgtEl>
                                          <p:spTgt spid="19"/>
                                        </p:tgtEl>
                                        <p:attrNameLst>
                                          <p:attrName>style.visibility</p:attrName>
                                        </p:attrNameLst>
                                      </p:cBhvr>
                                      <p:to>
                                        <p:strVal val="visible"/>
                                      </p:to>
                                    </p:set>
                                    <p:anim calcmode="lin" valueType="num">
                                      <p:cBhvr additive="base">
                                        <p:cTn id="68" dur="500" fill="hold"/>
                                        <p:tgtEl>
                                          <p:spTgt spid="19"/>
                                        </p:tgtEl>
                                        <p:attrNameLst>
                                          <p:attrName>ppt_x</p:attrName>
                                        </p:attrNameLst>
                                      </p:cBhvr>
                                      <p:tavLst>
                                        <p:tav tm="0">
                                          <p:val>
                                            <p:strVal val="1+#ppt_w/2"/>
                                          </p:val>
                                        </p:tav>
                                        <p:tav tm="100000">
                                          <p:val>
                                            <p:strVal val="#ppt_x"/>
                                          </p:val>
                                        </p:tav>
                                      </p:tavLst>
                                    </p:anim>
                                    <p:anim calcmode="lin" valueType="num">
                                      <p:cBhvr additive="base">
                                        <p:cTn id="69" dur="500" fill="hold"/>
                                        <p:tgtEl>
                                          <p:spTgt spid="19"/>
                                        </p:tgtEl>
                                        <p:attrNameLst>
                                          <p:attrName>ppt_y</p:attrName>
                                        </p:attrNameLst>
                                      </p:cBhvr>
                                      <p:tavLst>
                                        <p:tav tm="0">
                                          <p:val>
                                            <p:strVal val="#ppt_y"/>
                                          </p:val>
                                        </p:tav>
                                        <p:tav tm="100000">
                                          <p:val>
                                            <p:strVal val="#ppt_y"/>
                                          </p:val>
                                        </p:tav>
                                      </p:tavLst>
                                    </p:anim>
                                  </p:childTnLst>
                                </p:cTn>
                              </p:par>
                              <p:par>
                                <p:cTn id="70" presetID="2" presetClass="entr" presetSubtype="2" fill="hold" nodeType="withEffect">
                                  <p:stCondLst>
                                    <p:cond delay="0"/>
                                  </p:stCondLst>
                                  <p:childTnLst>
                                    <p:set>
                                      <p:cBhvr>
                                        <p:cTn id="71" dur="1" fill="hold">
                                          <p:stCondLst>
                                            <p:cond delay="0"/>
                                          </p:stCondLst>
                                        </p:cTn>
                                        <p:tgtEl>
                                          <p:spTgt spid="21"/>
                                        </p:tgtEl>
                                        <p:attrNameLst>
                                          <p:attrName>style.visibility</p:attrName>
                                        </p:attrNameLst>
                                      </p:cBhvr>
                                      <p:to>
                                        <p:strVal val="visible"/>
                                      </p:to>
                                    </p:set>
                                    <p:anim calcmode="lin" valueType="num">
                                      <p:cBhvr additive="base">
                                        <p:cTn id="72" dur="500" fill="hold"/>
                                        <p:tgtEl>
                                          <p:spTgt spid="21"/>
                                        </p:tgtEl>
                                        <p:attrNameLst>
                                          <p:attrName>ppt_x</p:attrName>
                                        </p:attrNameLst>
                                      </p:cBhvr>
                                      <p:tavLst>
                                        <p:tav tm="0">
                                          <p:val>
                                            <p:strVal val="1+#ppt_w/2"/>
                                          </p:val>
                                        </p:tav>
                                        <p:tav tm="100000">
                                          <p:val>
                                            <p:strVal val="#ppt_x"/>
                                          </p:val>
                                        </p:tav>
                                      </p:tavLst>
                                    </p:anim>
                                    <p:anim calcmode="lin" valueType="num">
                                      <p:cBhvr additive="base">
                                        <p:cTn id="73" dur="500" fill="hold"/>
                                        <p:tgtEl>
                                          <p:spTgt spid="21"/>
                                        </p:tgtEl>
                                        <p:attrNameLst>
                                          <p:attrName>ppt_y</p:attrName>
                                        </p:attrNameLst>
                                      </p:cBhvr>
                                      <p:tavLst>
                                        <p:tav tm="0">
                                          <p:val>
                                            <p:strVal val="#ppt_y"/>
                                          </p:val>
                                        </p:tav>
                                        <p:tav tm="100000">
                                          <p:val>
                                            <p:strVal val="#ppt_y"/>
                                          </p:val>
                                        </p:tav>
                                      </p:tavLst>
                                    </p:anim>
                                  </p:childTnLst>
                                </p:cTn>
                              </p:par>
                              <p:par>
                                <p:cTn id="74" presetID="2" presetClass="entr" presetSubtype="2" fill="hold" nodeType="withEffect">
                                  <p:stCondLst>
                                    <p:cond delay="0"/>
                                  </p:stCondLst>
                                  <p:childTnLst>
                                    <p:set>
                                      <p:cBhvr>
                                        <p:cTn id="75" dur="1" fill="hold">
                                          <p:stCondLst>
                                            <p:cond delay="0"/>
                                          </p:stCondLst>
                                        </p:cTn>
                                        <p:tgtEl>
                                          <p:spTgt spid="23"/>
                                        </p:tgtEl>
                                        <p:attrNameLst>
                                          <p:attrName>style.visibility</p:attrName>
                                        </p:attrNameLst>
                                      </p:cBhvr>
                                      <p:to>
                                        <p:strVal val="visible"/>
                                      </p:to>
                                    </p:set>
                                    <p:anim calcmode="lin" valueType="num">
                                      <p:cBhvr additive="base">
                                        <p:cTn id="76" dur="500" fill="hold"/>
                                        <p:tgtEl>
                                          <p:spTgt spid="23"/>
                                        </p:tgtEl>
                                        <p:attrNameLst>
                                          <p:attrName>ppt_x</p:attrName>
                                        </p:attrNameLst>
                                      </p:cBhvr>
                                      <p:tavLst>
                                        <p:tav tm="0">
                                          <p:val>
                                            <p:strVal val="1+#ppt_w/2"/>
                                          </p:val>
                                        </p:tav>
                                        <p:tav tm="100000">
                                          <p:val>
                                            <p:strVal val="#ppt_x"/>
                                          </p:val>
                                        </p:tav>
                                      </p:tavLst>
                                    </p:anim>
                                    <p:anim calcmode="lin" valueType="num">
                                      <p:cBhvr additive="base">
                                        <p:cTn id="77" dur="500" fill="hold"/>
                                        <p:tgtEl>
                                          <p:spTgt spid="23"/>
                                        </p:tgtEl>
                                        <p:attrNameLst>
                                          <p:attrName>ppt_y</p:attrName>
                                        </p:attrNameLst>
                                      </p:cBhvr>
                                      <p:tavLst>
                                        <p:tav tm="0">
                                          <p:val>
                                            <p:strVal val="#ppt_y"/>
                                          </p:val>
                                        </p:tav>
                                        <p:tav tm="100000">
                                          <p:val>
                                            <p:strVal val="#ppt_y"/>
                                          </p:val>
                                        </p:tav>
                                      </p:tavLst>
                                    </p:anim>
                                  </p:childTnLst>
                                </p:cTn>
                              </p:par>
                              <p:par>
                                <p:cTn id="78" presetID="2" presetClass="entr" presetSubtype="2" fill="hold" nodeType="withEffect">
                                  <p:stCondLst>
                                    <p:cond delay="0"/>
                                  </p:stCondLst>
                                  <p:childTnLst>
                                    <p:set>
                                      <p:cBhvr>
                                        <p:cTn id="79" dur="1" fill="hold">
                                          <p:stCondLst>
                                            <p:cond delay="0"/>
                                          </p:stCondLst>
                                        </p:cTn>
                                        <p:tgtEl>
                                          <p:spTgt spid="25"/>
                                        </p:tgtEl>
                                        <p:attrNameLst>
                                          <p:attrName>style.visibility</p:attrName>
                                        </p:attrNameLst>
                                      </p:cBhvr>
                                      <p:to>
                                        <p:strVal val="visible"/>
                                      </p:to>
                                    </p:set>
                                    <p:anim calcmode="lin" valueType="num">
                                      <p:cBhvr additive="base">
                                        <p:cTn id="80" dur="500" fill="hold"/>
                                        <p:tgtEl>
                                          <p:spTgt spid="25"/>
                                        </p:tgtEl>
                                        <p:attrNameLst>
                                          <p:attrName>ppt_x</p:attrName>
                                        </p:attrNameLst>
                                      </p:cBhvr>
                                      <p:tavLst>
                                        <p:tav tm="0">
                                          <p:val>
                                            <p:strVal val="1+#ppt_w/2"/>
                                          </p:val>
                                        </p:tav>
                                        <p:tav tm="100000">
                                          <p:val>
                                            <p:strVal val="#ppt_x"/>
                                          </p:val>
                                        </p:tav>
                                      </p:tavLst>
                                    </p:anim>
                                    <p:anim calcmode="lin" valueType="num">
                                      <p:cBhvr additive="base">
                                        <p:cTn id="81" dur="500" fill="hold"/>
                                        <p:tgtEl>
                                          <p:spTgt spid="25"/>
                                        </p:tgtEl>
                                        <p:attrNameLst>
                                          <p:attrName>ppt_y</p:attrName>
                                        </p:attrNameLst>
                                      </p:cBhvr>
                                      <p:tavLst>
                                        <p:tav tm="0">
                                          <p:val>
                                            <p:strVal val="#ppt_y"/>
                                          </p:val>
                                        </p:tav>
                                        <p:tav tm="100000">
                                          <p:val>
                                            <p:strVal val="#ppt_y"/>
                                          </p:val>
                                        </p:tav>
                                      </p:tavLst>
                                    </p:anim>
                                  </p:childTnLst>
                                </p:cTn>
                              </p:par>
                              <p:par>
                                <p:cTn id="82" presetID="2" presetClass="entr" presetSubtype="2" fill="hold" nodeType="withEffect">
                                  <p:stCondLst>
                                    <p:cond delay="0"/>
                                  </p:stCondLst>
                                  <p:childTnLst>
                                    <p:set>
                                      <p:cBhvr>
                                        <p:cTn id="83" dur="1" fill="hold">
                                          <p:stCondLst>
                                            <p:cond delay="0"/>
                                          </p:stCondLst>
                                        </p:cTn>
                                        <p:tgtEl>
                                          <p:spTgt spid="27"/>
                                        </p:tgtEl>
                                        <p:attrNameLst>
                                          <p:attrName>style.visibility</p:attrName>
                                        </p:attrNameLst>
                                      </p:cBhvr>
                                      <p:to>
                                        <p:strVal val="visible"/>
                                      </p:to>
                                    </p:set>
                                    <p:anim calcmode="lin" valueType="num">
                                      <p:cBhvr additive="base">
                                        <p:cTn id="84" dur="500" fill="hold"/>
                                        <p:tgtEl>
                                          <p:spTgt spid="27"/>
                                        </p:tgtEl>
                                        <p:attrNameLst>
                                          <p:attrName>ppt_x</p:attrName>
                                        </p:attrNameLst>
                                      </p:cBhvr>
                                      <p:tavLst>
                                        <p:tav tm="0">
                                          <p:val>
                                            <p:strVal val="1+#ppt_w/2"/>
                                          </p:val>
                                        </p:tav>
                                        <p:tav tm="100000">
                                          <p:val>
                                            <p:strVal val="#ppt_x"/>
                                          </p:val>
                                        </p:tav>
                                      </p:tavLst>
                                    </p:anim>
                                    <p:anim calcmode="lin" valueType="num">
                                      <p:cBhvr additive="base">
                                        <p:cTn id="85" dur="500" fill="hold"/>
                                        <p:tgtEl>
                                          <p:spTgt spid="27"/>
                                        </p:tgtEl>
                                        <p:attrNameLst>
                                          <p:attrName>ppt_y</p:attrName>
                                        </p:attrNameLst>
                                      </p:cBhvr>
                                      <p:tavLst>
                                        <p:tav tm="0">
                                          <p:val>
                                            <p:strVal val="#ppt_y"/>
                                          </p:val>
                                        </p:tav>
                                        <p:tav tm="100000">
                                          <p:val>
                                            <p:strVal val="#ppt_y"/>
                                          </p:val>
                                        </p:tav>
                                      </p:tavLst>
                                    </p:anim>
                                  </p:childTnLst>
                                </p:cTn>
                              </p:par>
                              <p:par>
                                <p:cTn id="86" presetID="2" presetClass="entr" presetSubtype="2" fill="hold" nodeType="withEffect">
                                  <p:stCondLst>
                                    <p:cond delay="0"/>
                                  </p:stCondLst>
                                  <p:childTnLst>
                                    <p:set>
                                      <p:cBhvr>
                                        <p:cTn id="87" dur="1" fill="hold">
                                          <p:stCondLst>
                                            <p:cond delay="0"/>
                                          </p:stCondLst>
                                        </p:cTn>
                                        <p:tgtEl>
                                          <p:spTgt spid="29"/>
                                        </p:tgtEl>
                                        <p:attrNameLst>
                                          <p:attrName>style.visibility</p:attrName>
                                        </p:attrNameLst>
                                      </p:cBhvr>
                                      <p:to>
                                        <p:strVal val="visible"/>
                                      </p:to>
                                    </p:set>
                                    <p:anim calcmode="lin" valueType="num">
                                      <p:cBhvr additive="base">
                                        <p:cTn id="88" dur="500" fill="hold"/>
                                        <p:tgtEl>
                                          <p:spTgt spid="29"/>
                                        </p:tgtEl>
                                        <p:attrNameLst>
                                          <p:attrName>ppt_x</p:attrName>
                                        </p:attrNameLst>
                                      </p:cBhvr>
                                      <p:tavLst>
                                        <p:tav tm="0">
                                          <p:val>
                                            <p:strVal val="1+#ppt_w/2"/>
                                          </p:val>
                                        </p:tav>
                                        <p:tav tm="100000">
                                          <p:val>
                                            <p:strVal val="#ppt_x"/>
                                          </p:val>
                                        </p:tav>
                                      </p:tavLst>
                                    </p:anim>
                                    <p:anim calcmode="lin" valueType="num">
                                      <p:cBhvr additive="base">
                                        <p:cTn id="89" dur="500" fill="hold"/>
                                        <p:tgtEl>
                                          <p:spTgt spid="2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animBg="1"/>
      <p:bldP spid="4"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CABCE8A6-7732-4C84-B748-D581A70D8A67}"/>
              </a:ext>
            </a:extLst>
          </p:cNvPr>
          <p:cNvSpPr/>
          <p:nvPr/>
        </p:nvSpPr>
        <p:spPr>
          <a:xfrm>
            <a:off x="7197" y="589079"/>
            <a:ext cx="11709066" cy="523220"/>
          </a:xfrm>
          <a:prstGeom prst="rect">
            <a:avLst/>
          </a:prstGeom>
        </p:spPr>
        <p:txBody>
          <a:bodyPr wrap="square">
            <a:spAutoFit/>
          </a:bodyPr>
          <a:lstStyle/>
          <a:p>
            <a:pPr marL="0" lvl="1"/>
            <a:r>
              <a:rPr lang="en-US" altLang="zh-CN" sz="2800" b="1" dirty="0">
                <a:solidFill>
                  <a:srgbClr val="00B0F0"/>
                </a:solidFill>
                <a:latin typeface="微软雅黑" panose="020B0503020204020204" pitchFamily="34" charset="-122"/>
                <a:ea typeface="微软雅黑" panose="020B0503020204020204" pitchFamily="34" charset="-122"/>
              </a:rPr>
              <a:t>3. </a:t>
            </a:r>
            <a:r>
              <a:rPr lang="zh-CN" altLang="en-US" sz="2800" b="1" dirty="0">
                <a:solidFill>
                  <a:srgbClr val="00B0F0"/>
                </a:solidFill>
                <a:latin typeface="微软雅黑" panose="020B0503020204020204" pitchFamily="34" charset="-122"/>
                <a:ea typeface="微软雅黑" panose="020B0503020204020204" pitchFamily="34" charset="-122"/>
              </a:rPr>
              <a:t>指针数组进行字符串排序（高效率）</a:t>
            </a:r>
            <a:endParaRPr lang="en-US" altLang="zh-CN" sz="3200" b="1" dirty="0">
              <a:latin typeface="隶书" panose="02010509060101010101" pitchFamily="49" charset="-122"/>
              <a:ea typeface="隶书" panose="02010509060101010101" pitchFamily="49" charset="-122"/>
            </a:endParaRPr>
          </a:p>
        </p:txBody>
      </p:sp>
      <p:sp>
        <p:nvSpPr>
          <p:cNvPr id="7" name="矩形 6">
            <a:extLst>
              <a:ext uri="{FF2B5EF4-FFF2-40B4-BE49-F238E27FC236}">
                <a16:creationId xmlns:a16="http://schemas.microsoft.com/office/drawing/2014/main" id="{5C2A2FC3-6255-4662-8D67-B425AB6E633F}"/>
              </a:ext>
            </a:extLst>
          </p:cNvPr>
          <p:cNvSpPr/>
          <p:nvPr/>
        </p:nvSpPr>
        <p:spPr>
          <a:xfrm>
            <a:off x="16777" y="1134797"/>
            <a:ext cx="12175223" cy="461665"/>
          </a:xfrm>
          <a:prstGeom prst="rect">
            <a:avLst/>
          </a:prstGeom>
        </p:spPr>
        <p:txBody>
          <a:bodyPr wrap="square">
            <a:spAutoFit/>
          </a:bodyPr>
          <a:lstStyle/>
          <a:p>
            <a:pPr marL="0" lvl="1"/>
            <a:r>
              <a:rPr lang="zh-CN" altLang="en-US" sz="2400" b="1" dirty="0">
                <a:latin typeface="隶书" pitchFamily="49" charset="-122"/>
              </a:rPr>
              <a:t>例</a:t>
            </a:r>
            <a:r>
              <a:rPr lang="en-US" altLang="zh-CN" sz="2400" b="1" dirty="0">
                <a:latin typeface="隶书" pitchFamily="49" charset="-122"/>
              </a:rPr>
              <a:t>【</a:t>
            </a:r>
            <a:r>
              <a:rPr lang="en-US" altLang="zh-CN" sz="2400" b="1" dirty="0">
                <a:solidFill>
                  <a:srgbClr val="00B0F0"/>
                </a:solidFill>
                <a:latin typeface="隶书" pitchFamily="49" charset="-122"/>
              </a:rPr>
              <a:t>5-11</a:t>
            </a:r>
            <a:r>
              <a:rPr lang="en-US" altLang="zh-CN" sz="2400" b="1" dirty="0">
                <a:latin typeface="隶书" pitchFamily="49" charset="-122"/>
              </a:rPr>
              <a:t>】</a:t>
            </a:r>
            <a:r>
              <a:rPr lang="zh-CN" altLang="en-US" sz="2400" b="1" dirty="0">
                <a:latin typeface="隶书" pitchFamily="49" charset="-122"/>
              </a:rPr>
              <a:t>输入</a:t>
            </a:r>
            <a:r>
              <a:rPr lang="en-US" altLang="zh-CN" sz="2400" b="1" dirty="0">
                <a:latin typeface="隶书" pitchFamily="49" charset="-122"/>
              </a:rPr>
              <a:t>10</a:t>
            </a:r>
            <a:r>
              <a:rPr lang="zh-CN" altLang="en-US" sz="2400" b="1" dirty="0">
                <a:latin typeface="隶书" pitchFamily="49" charset="-122"/>
              </a:rPr>
              <a:t>个学生的姓名，按从小到大的顺序排序后输出。</a:t>
            </a:r>
          </a:p>
        </p:txBody>
      </p:sp>
      <p:sp>
        <p:nvSpPr>
          <p:cNvPr id="8" name="Rectangle 2">
            <a:extLst>
              <a:ext uri="{FF2B5EF4-FFF2-40B4-BE49-F238E27FC236}">
                <a16:creationId xmlns:a16="http://schemas.microsoft.com/office/drawing/2014/main" id="{03BFA985-0715-4F7D-A3BA-B75272E551C6}"/>
              </a:ext>
            </a:extLst>
          </p:cNvPr>
          <p:cNvSpPr txBox="1">
            <a:spLocks noChangeArrowheads="1"/>
          </p:cNvSpPr>
          <p:nvPr/>
        </p:nvSpPr>
        <p:spPr>
          <a:xfrm>
            <a:off x="157988" y="1700759"/>
            <a:ext cx="5871972" cy="3046988"/>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Font typeface="Arial" panose="020B0604020202020204" pitchFamily="34" charset="0"/>
              <a:buNone/>
            </a:pPr>
            <a:r>
              <a:rPr lang="en-US" altLang="zh-CN" sz="2400" b="1" dirty="0">
                <a:solidFill>
                  <a:srgbClr val="0000FF"/>
                </a:solidFill>
              </a:rPr>
              <a:t>int </a:t>
            </a:r>
            <a:r>
              <a:rPr lang="en-US" altLang="zh-CN" sz="2400" b="1" dirty="0"/>
              <a:t>main()</a:t>
            </a:r>
          </a:p>
          <a:p>
            <a:pPr marL="0" indent="0">
              <a:lnSpc>
                <a:spcPct val="100000"/>
              </a:lnSpc>
              <a:spcBef>
                <a:spcPct val="0"/>
              </a:spcBef>
              <a:buClr>
                <a:schemeClr val="tx2"/>
              </a:buClr>
              <a:buSzPct val="70000"/>
              <a:buFont typeface="Arial" panose="020B0604020202020204" pitchFamily="34" charset="0"/>
              <a:buNone/>
            </a:pPr>
            <a:r>
              <a:rPr lang="en-US" altLang="zh-CN" sz="2400" b="1" dirty="0">
                <a:solidFill>
                  <a:srgbClr val="FF0000"/>
                </a:solidFill>
              </a:rPr>
              <a:t>{</a:t>
            </a:r>
          </a:p>
          <a:p>
            <a:pPr marL="0" indent="0">
              <a:lnSpc>
                <a:spcPct val="100000"/>
              </a:lnSpc>
              <a:spcBef>
                <a:spcPct val="0"/>
              </a:spcBef>
              <a:buClr>
                <a:schemeClr val="tx2"/>
              </a:buClr>
              <a:buSzPct val="70000"/>
              <a:buNone/>
            </a:pPr>
            <a:r>
              <a:rPr lang="en-US" altLang="zh-CN" sz="2400" b="1" dirty="0">
                <a:solidFill>
                  <a:srgbClr val="0000FF"/>
                </a:solidFill>
              </a:rPr>
              <a:t>   char </a:t>
            </a:r>
            <a:r>
              <a:rPr lang="en-US" altLang="zh-CN" sz="2400" b="1" dirty="0"/>
              <a:t>name</a:t>
            </a:r>
            <a:r>
              <a:rPr lang="en-US" altLang="zh-CN" sz="2400" b="1" dirty="0">
                <a:solidFill>
                  <a:srgbClr val="FF0000"/>
                </a:solidFill>
              </a:rPr>
              <a:t>[</a:t>
            </a:r>
            <a:r>
              <a:rPr lang="en-US" altLang="zh-CN" sz="2400" b="1" dirty="0"/>
              <a:t>10</a:t>
            </a:r>
            <a:r>
              <a:rPr lang="en-US" altLang="zh-CN" sz="2400" b="1" dirty="0">
                <a:solidFill>
                  <a:srgbClr val="FF0000"/>
                </a:solidFill>
              </a:rPr>
              <a:t>][</a:t>
            </a:r>
            <a:r>
              <a:rPr lang="en-US" altLang="zh-CN" sz="2400" b="1" dirty="0"/>
              <a:t>15</a:t>
            </a:r>
            <a:r>
              <a:rPr lang="en-US" altLang="zh-CN" sz="2400" b="1" dirty="0">
                <a:solidFill>
                  <a:srgbClr val="FF0000"/>
                </a:solidFill>
              </a:rPr>
              <a:t>], *</a:t>
            </a:r>
            <a:r>
              <a:rPr lang="en-US" altLang="zh-CN" sz="2400" b="1" dirty="0"/>
              <a:t>p</a:t>
            </a:r>
            <a:r>
              <a:rPr lang="en-US" altLang="zh-CN" sz="2400" b="1" dirty="0">
                <a:solidFill>
                  <a:srgbClr val="FF0000"/>
                </a:solidFill>
              </a:rPr>
              <a:t>[</a:t>
            </a:r>
            <a:r>
              <a:rPr lang="en-US" altLang="zh-CN" sz="2400" b="1" dirty="0"/>
              <a:t>10</a:t>
            </a:r>
            <a:r>
              <a:rPr lang="en-US" altLang="zh-CN" sz="2400" b="1" dirty="0">
                <a:solidFill>
                  <a:srgbClr val="FF0000"/>
                </a:solidFill>
              </a:rPr>
              <a:t>]</a:t>
            </a:r>
            <a:r>
              <a:rPr lang="en-US" altLang="zh-CN" sz="2400" b="1" dirty="0"/>
              <a:t>;</a:t>
            </a:r>
          </a:p>
          <a:p>
            <a:pPr marL="0" indent="0">
              <a:lnSpc>
                <a:spcPct val="100000"/>
              </a:lnSpc>
              <a:spcBef>
                <a:spcPct val="0"/>
              </a:spcBef>
              <a:buClr>
                <a:schemeClr val="tx2"/>
              </a:buClr>
              <a:buSzPct val="70000"/>
              <a:buNone/>
            </a:pPr>
            <a:r>
              <a:rPr lang="en-US" altLang="zh-CN" sz="2400" b="1" dirty="0">
                <a:solidFill>
                  <a:srgbClr val="0000FF"/>
                </a:solidFill>
              </a:rPr>
              <a:t>   for</a:t>
            </a:r>
            <a:r>
              <a:rPr lang="en-US" altLang="zh-CN" sz="2400" b="1" dirty="0"/>
              <a:t>(</a:t>
            </a:r>
            <a:r>
              <a:rPr lang="en-US" altLang="zh-CN" sz="2400" b="1" dirty="0">
                <a:solidFill>
                  <a:srgbClr val="0000FF"/>
                </a:solidFill>
              </a:rPr>
              <a:t>int</a:t>
            </a:r>
            <a:r>
              <a:rPr lang="en-US" altLang="zh-CN" sz="2400" b="1" dirty="0"/>
              <a:t> i = 0</a:t>
            </a:r>
            <a:r>
              <a:rPr lang="en-US" altLang="zh-CN" sz="2400" b="1" dirty="0">
                <a:solidFill>
                  <a:srgbClr val="FF0000"/>
                </a:solidFill>
              </a:rPr>
              <a:t>;</a:t>
            </a:r>
            <a:r>
              <a:rPr lang="en-US" altLang="zh-CN" sz="2400" b="1" dirty="0"/>
              <a:t> i &lt; 10</a:t>
            </a:r>
            <a:r>
              <a:rPr lang="en-US" altLang="zh-CN" sz="2400" b="1" dirty="0">
                <a:solidFill>
                  <a:srgbClr val="FF0000"/>
                </a:solidFill>
              </a:rPr>
              <a:t>;</a:t>
            </a:r>
            <a:r>
              <a:rPr lang="en-US" altLang="zh-CN" sz="2400" b="1" dirty="0"/>
              <a:t> i++){</a:t>
            </a:r>
          </a:p>
          <a:p>
            <a:pPr marL="0" indent="0">
              <a:lnSpc>
                <a:spcPct val="100000"/>
              </a:lnSpc>
              <a:spcBef>
                <a:spcPct val="0"/>
              </a:spcBef>
              <a:buClr>
                <a:schemeClr val="tx2"/>
              </a:buClr>
              <a:buSzPct val="70000"/>
              <a:buNone/>
            </a:pPr>
            <a:r>
              <a:rPr lang="en-US" altLang="zh-CN" sz="2400" b="1" dirty="0"/>
              <a:t>       gets(name</a:t>
            </a:r>
            <a:r>
              <a:rPr lang="en-US" altLang="zh-CN" sz="2400" b="1" dirty="0">
                <a:solidFill>
                  <a:srgbClr val="FF0000"/>
                </a:solidFill>
              </a:rPr>
              <a:t>[</a:t>
            </a:r>
            <a:r>
              <a:rPr lang="en-US" altLang="zh-CN" sz="2400" b="1" dirty="0"/>
              <a:t>i</a:t>
            </a:r>
            <a:r>
              <a:rPr lang="en-US" altLang="zh-CN" sz="2400" b="1" dirty="0">
                <a:solidFill>
                  <a:srgbClr val="FF0000"/>
                </a:solidFill>
              </a:rPr>
              <a:t>]</a:t>
            </a:r>
            <a:r>
              <a:rPr lang="en-US" altLang="zh-CN" sz="2400" b="1" dirty="0"/>
              <a:t>); </a:t>
            </a:r>
          </a:p>
          <a:p>
            <a:pPr marL="0" indent="0">
              <a:lnSpc>
                <a:spcPct val="100000"/>
              </a:lnSpc>
              <a:spcBef>
                <a:spcPct val="0"/>
              </a:spcBef>
              <a:buClr>
                <a:schemeClr val="tx2"/>
              </a:buClr>
              <a:buSzPct val="70000"/>
              <a:buNone/>
            </a:pPr>
            <a:r>
              <a:rPr lang="en-US" altLang="zh-CN" sz="2400" b="1" dirty="0"/>
              <a:t>       p</a:t>
            </a:r>
            <a:r>
              <a:rPr lang="en-US" altLang="zh-CN" sz="2400" b="1" dirty="0">
                <a:solidFill>
                  <a:srgbClr val="FF0000"/>
                </a:solidFill>
              </a:rPr>
              <a:t>[</a:t>
            </a:r>
            <a:r>
              <a:rPr lang="en-US" altLang="zh-CN" sz="2400" b="1" dirty="0"/>
              <a:t>i</a:t>
            </a:r>
            <a:r>
              <a:rPr lang="en-US" altLang="zh-CN" sz="2400" b="1" dirty="0">
                <a:solidFill>
                  <a:srgbClr val="FF0000"/>
                </a:solidFill>
              </a:rPr>
              <a:t>]</a:t>
            </a:r>
            <a:r>
              <a:rPr lang="en-US" altLang="zh-CN" sz="2400" b="1" dirty="0"/>
              <a:t> = name</a:t>
            </a:r>
            <a:r>
              <a:rPr lang="en-US" altLang="zh-CN" sz="2400" b="1" dirty="0">
                <a:solidFill>
                  <a:srgbClr val="FF0000"/>
                </a:solidFill>
              </a:rPr>
              <a:t>[</a:t>
            </a:r>
            <a:r>
              <a:rPr lang="en-US" altLang="zh-CN" sz="2400" b="1" dirty="0"/>
              <a:t>i</a:t>
            </a:r>
            <a:r>
              <a:rPr lang="en-US" altLang="zh-CN" sz="2400" b="1" dirty="0">
                <a:solidFill>
                  <a:srgbClr val="FF0000"/>
                </a:solidFill>
              </a:rPr>
              <a:t>]</a:t>
            </a:r>
            <a:r>
              <a:rPr lang="en-US" altLang="zh-CN" sz="2400" b="1" dirty="0"/>
              <a:t>;  </a:t>
            </a:r>
          </a:p>
          <a:p>
            <a:pPr marL="0" indent="0">
              <a:lnSpc>
                <a:spcPct val="100000"/>
              </a:lnSpc>
              <a:spcBef>
                <a:spcPct val="0"/>
              </a:spcBef>
              <a:buClr>
                <a:schemeClr val="tx2"/>
              </a:buClr>
              <a:buSzPct val="70000"/>
              <a:buNone/>
            </a:pPr>
            <a:r>
              <a:rPr lang="en-US" altLang="zh-CN" sz="2400" b="1" dirty="0"/>
              <a:t>    }</a:t>
            </a:r>
          </a:p>
          <a:p>
            <a:pPr marL="0" indent="0">
              <a:lnSpc>
                <a:spcPct val="100000"/>
              </a:lnSpc>
              <a:spcBef>
                <a:spcPct val="0"/>
              </a:spcBef>
              <a:buClr>
                <a:schemeClr val="tx2"/>
              </a:buClr>
              <a:buSzPct val="70000"/>
              <a:buFont typeface="Arial" panose="020B0604020202020204" pitchFamily="34" charset="0"/>
              <a:buNone/>
            </a:pPr>
            <a:r>
              <a:rPr lang="en-US" altLang="zh-CN" sz="2400" b="1" dirty="0"/>
              <a:t>    </a:t>
            </a:r>
            <a:r>
              <a:rPr lang="en-US" altLang="zh-CN" sz="2400" b="1" dirty="0">
                <a:solidFill>
                  <a:srgbClr val="00B050"/>
                </a:solidFill>
              </a:rPr>
              <a:t>……</a:t>
            </a:r>
          </a:p>
        </p:txBody>
      </p:sp>
      <p:sp>
        <p:nvSpPr>
          <p:cNvPr id="3" name="灯片编号占位符 2">
            <a:extLst>
              <a:ext uri="{FF2B5EF4-FFF2-40B4-BE49-F238E27FC236}">
                <a16:creationId xmlns:a16="http://schemas.microsoft.com/office/drawing/2014/main" id="{F6D9310D-241B-4BF5-9A1A-DEBFFE014E65}"/>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33</a:t>
            </a:fld>
            <a:r>
              <a:rPr lang="en-US" altLang="zh-CN">
                <a:solidFill>
                  <a:prstClr val="black">
                    <a:tint val="75000"/>
                  </a:prstClr>
                </a:solidFill>
              </a:rPr>
              <a:t>/ 35</a:t>
            </a:r>
            <a:endParaRPr lang="zh-CN" altLang="en-US" dirty="0"/>
          </a:p>
        </p:txBody>
      </p:sp>
      <p:sp>
        <p:nvSpPr>
          <p:cNvPr id="9" name="Rectangle 2">
            <a:extLst>
              <a:ext uri="{FF2B5EF4-FFF2-40B4-BE49-F238E27FC236}">
                <a16:creationId xmlns:a16="http://schemas.microsoft.com/office/drawing/2014/main" id="{68B90686-BA8C-4F80-BD35-3F41131F4218}"/>
              </a:ext>
            </a:extLst>
          </p:cNvPr>
          <p:cNvSpPr txBox="1">
            <a:spLocks noChangeArrowheads="1"/>
          </p:cNvSpPr>
          <p:nvPr/>
        </p:nvSpPr>
        <p:spPr>
          <a:xfrm>
            <a:off x="6170507" y="1677191"/>
            <a:ext cx="6014720" cy="5175776"/>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Font typeface="Arial" panose="020B0604020202020204" pitchFamily="34" charset="0"/>
              <a:buNone/>
            </a:pPr>
            <a:r>
              <a:rPr lang="en-US" altLang="zh-CN" sz="2400" b="1" dirty="0">
                <a:solidFill>
                  <a:srgbClr val="0000FF"/>
                </a:solidFill>
              </a:rPr>
              <a:t>  for</a:t>
            </a:r>
            <a:r>
              <a:rPr lang="en-US" altLang="zh-CN" sz="2400" b="1" dirty="0"/>
              <a:t>(</a:t>
            </a:r>
            <a:r>
              <a:rPr lang="en-US" altLang="zh-CN" sz="2400" b="1" dirty="0">
                <a:solidFill>
                  <a:srgbClr val="0000FF"/>
                </a:solidFill>
              </a:rPr>
              <a:t>int</a:t>
            </a:r>
            <a:r>
              <a:rPr lang="en-US" altLang="zh-CN" sz="2400" b="1" dirty="0"/>
              <a:t> i = 0</a:t>
            </a:r>
            <a:r>
              <a:rPr lang="en-US" altLang="zh-CN" sz="2400" b="1" dirty="0">
                <a:solidFill>
                  <a:srgbClr val="FF0000"/>
                </a:solidFill>
              </a:rPr>
              <a:t>;</a:t>
            </a:r>
            <a:r>
              <a:rPr lang="en-US" altLang="zh-CN" sz="2400" b="1" dirty="0"/>
              <a:t> i &lt; 9</a:t>
            </a:r>
            <a:r>
              <a:rPr lang="en-US" altLang="zh-CN" sz="2400" b="1" dirty="0">
                <a:solidFill>
                  <a:srgbClr val="FF0000"/>
                </a:solidFill>
              </a:rPr>
              <a:t>;</a:t>
            </a:r>
            <a:r>
              <a:rPr lang="en-US" altLang="zh-CN" sz="2400" b="1" dirty="0"/>
              <a:t> i++)</a:t>
            </a:r>
            <a:r>
              <a:rPr lang="en-US" altLang="zh-CN" sz="2400" b="1" dirty="0">
                <a:solidFill>
                  <a:schemeClr val="accent2"/>
                </a:solidFill>
              </a:rPr>
              <a:t>{</a:t>
            </a:r>
          </a:p>
          <a:p>
            <a:pPr marL="0" indent="0">
              <a:lnSpc>
                <a:spcPct val="100000"/>
              </a:lnSpc>
              <a:spcBef>
                <a:spcPct val="0"/>
              </a:spcBef>
              <a:buClr>
                <a:schemeClr val="tx2"/>
              </a:buClr>
              <a:buSzPct val="70000"/>
              <a:buFont typeface="Arial" panose="020B0604020202020204" pitchFamily="34" charset="0"/>
              <a:buNone/>
            </a:pPr>
            <a:r>
              <a:rPr lang="en-US" altLang="zh-CN" sz="2400" b="1" dirty="0"/>
              <a:t>       </a:t>
            </a:r>
            <a:r>
              <a:rPr lang="en-US" altLang="zh-CN" sz="2400" b="1" dirty="0">
                <a:solidFill>
                  <a:srgbClr val="0000FF"/>
                </a:solidFill>
              </a:rPr>
              <a:t>int</a:t>
            </a:r>
            <a:r>
              <a:rPr lang="en-US" altLang="zh-CN" sz="2400" b="1" dirty="0"/>
              <a:t> k = i;</a:t>
            </a:r>
          </a:p>
          <a:p>
            <a:pPr marL="0" indent="0">
              <a:lnSpc>
                <a:spcPct val="100000"/>
              </a:lnSpc>
              <a:spcBef>
                <a:spcPct val="0"/>
              </a:spcBef>
              <a:buClr>
                <a:schemeClr val="tx2"/>
              </a:buClr>
              <a:buSzPct val="70000"/>
              <a:buNone/>
            </a:pPr>
            <a:r>
              <a:rPr lang="en-US" altLang="zh-CN" sz="2400" b="1" dirty="0"/>
              <a:t>       </a:t>
            </a:r>
            <a:r>
              <a:rPr lang="en-US" altLang="zh-CN" sz="2400" b="1" dirty="0">
                <a:solidFill>
                  <a:srgbClr val="0000FF"/>
                </a:solidFill>
              </a:rPr>
              <a:t>for</a:t>
            </a:r>
            <a:r>
              <a:rPr lang="en-US" altLang="zh-CN" sz="2400" b="1" dirty="0"/>
              <a:t>(</a:t>
            </a:r>
            <a:r>
              <a:rPr lang="en-US" altLang="zh-CN" sz="2400" b="1" dirty="0">
                <a:solidFill>
                  <a:srgbClr val="0000FF"/>
                </a:solidFill>
              </a:rPr>
              <a:t>int</a:t>
            </a:r>
            <a:r>
              <a:rPr lang="en-US" altLang="zh-CN" sz="2400" b="1" dirty="0"/>
              <a:t> j = i+1</a:t>
            </a:r>
            <a:r>
              <a:rPr lang="en-US" altLang="zh-CN" sz="2400" b="1" dirty="0">
                <a:solidFill>
                  <a:srgbClr val="FF0000"/>
                </a:solidFill>
              </a:rPr>
              <a:t>;</a:t>
            </a:r>
            <a:r>
              <a:rPr lang="en-US" altLang="zh-CN" sz="2400" b="1" dirty="0"/>
              <a:t> j &lt; 10</a:t>
            </a:r>
            <a:r>
              <a:rPr lang="en-US" altLang="zh-CN" sz="2400" b="1" dirty="0">
                <a:solidFill>
                  <a:srgbClr val="FF0000"/>
                </a:solidFill>
              </a:rPr>
              <a:t>;</a:t>
            </a:r>
            <a:r>
              <a:rPr lang="en-US" altLang="zh-CN" sz="2400" b="1" dirty="0"/>
              <a:t> j++)</a:t>
            </a:r>
            <a:r>
              <a:rPr lang="en-US" altLang="zh-CN" sz="2400" b="1" dirty="0">
                <a:solidFill>
                  <a:srgbClr val="7030A0"/>
                </a:solidFill>
              </a:rPr>
              <a:t>{</a:t>
            </a:r>
          </a:p>
          <a:p>
            <a:pPr marL="0" indent="0">
              <a:lnSpc>
                <a:spcPct val="100000"/>
              </a:lnSpc>
              <a:spcBef>
                <a:spcPct val="0"/>
              </a:spcBef>
              <a:buClr>
                <a:schemeClr val="tx2"/>
              </a:buClr>
              <a:buSzPct val="70000"/>
              <a:buNone/>
            </a:pPr>
            <a:r>
              <a:rPr lang="en-US" altLang="zh-CN" sz="2400" b="1" dirty="0"/>
              <a:t>          </a:t>
            </a:r>
            <a:r>
              <a:rPr lang="en-US" altLang="zh-CN" sz="2400" b="1" dirty="0">
                <a:solidFill>
                  <a:srgbClr val="0000FF"/>
                </a:solidFill>
              </a:rPr>
              <a:t>if</a:t>
            </a:r>
            <a:r>
              <a:rPr lang="en-US" altLang="zh-CN" sz="2400" b="1" dirty="0"/>
              <a:t>( strcmp(p</a:t>
            </a:r>
            <a:r>
              <a:rPr lang="en-US" altLang="zh-CN" sz="2400" b="1" dirty="0">
                <a:solidFill>
                  <a:srgbClr val="FF0000"/>
                </a:solidFill>
              </a:rPr>
              <a:t>[</a:t>
            </a:r>
            <a:r>
              <a:rPr lang="en-US" altLang="zh-CN" sz="2400" b="1" dirty="0"/>
              <a:t>j</a:t>
            </a:r>
            <a:r>
              <a:rPr lang="en-US" altLang="zh-CN" sz="2400" b="1" dirty="0">
                <a:solidFill>
                  <a:srgbClr val="FF0000"/>
                </a:solidFill>
              </a:rPr>
              <a:t>]</a:t>
            </a:r>
            <a:r>
              <a:rPr lang="en-US" altLang="zh-CN" sz="2400" b="1" dirty="0"/>
              <a:t>,</a:t>
            </a:r>
            <a:r>
              <a:rPr lang="en-US" altLang="zh-CN" sz="2400" b="1" dirty="0">
                <a:solidFill>
                  <a:srgbClr val="FF0000"/>
                </a:solidFill>
              </a:rPr>
              <a:t> </a:t>
            </a:r>
            <a:r>
              <a:rPr lang="en-US" altLang="zh-CN" sz="2400" b="1" dirty="0"/>
              <a:t>p</a:t>
            </a:r>
            <a:r>
              <a:rPr lang="en-US" altLang="zh-CN" sz="2400" b="1" dirty="0">
                <a:solidFill>
                  <a:srgbClr val="FF0000"/>
                </a:solidFill>
              </a:rPr>
              <a:t>[</a:t>
            </a:r>
            <a:r>
              <a:rPr lang="en-US" altLang="zh-CN" sz="2400" b="1" dirty="0"/>
              <a:t>k</a:t>
            </a:r>
            <a:r>
              <a:rPr lang="en-US" altLang="zh-CN" sz="2400" b="1" dirty="0">
                <a:solidFill>
                  <a:srgbClr val="FF0000"/>
                </a:solidFill>
              </a:rPr>
              <a:t>]</a:t>
            </a:r>
            <a:r>
              <a:rPr lang="en-US" altLang="zh-CN" sz="2400" b="1" dirty="0"/>
              <a:t>)</a:t>
            </a:r>
            <a:r>
              <a:rPr lang="en-US" altLang="zh-CN" sz="2400" b="1" dirty="0">
                <a:solidFill>
                  <a:srgbClr val="FF0000"/>
                </a:solidFill>
              </a:rPr>
              <a:t> </a:t>
            </a:r>
            <a:r>
              <a:rPr lang="en-US" altLang="zh-CN" sz="2400" b="1" dirty="0"/>
              <a:t>&lt;</a:t>
            </a:r>
            <a:r>
              <a:rPr lang="en-US" altLang="zh-CN" sz="2400" b="1" dirty="0">
                <a:solidFill>
                  <a:srgbClr val="FF0000"/>
                </a:solidFill>
              </a:rPr>
              <a:t> </a:t>
            </a:r>
            <a:r>
              <a:rPr lang="en-US" altLang="zh-CN" sz="2400" b="1" dirty="0"/>
              <a:t>0 ) </a:t>
            </a:r>
          </a:p>
          <a:p>
            <a:pPr marL="0" indent="0">
              <a:lnSpc>
                <a:spcPct val="100000"/>
              </a:lnSpc>
              <a:spcBef>
                <a:spcPct val="0"/>
              </a:spcBef>
              <a:buClr>
                <a:schemeClr val="tx2"/>
              </a:buClr>
              <a:buSzPct val="70000"/>
              <a:buNone/>
            </a:pPr>
            <a:r>
              <a:rPr lang="en-US" altLang="zh-CN" sz="2400" b="1" dirty="0"/>
              <a:t>              k = j;</a:t>
            </a:r>
          </a:p>
          <a:p>
            <a:pPr marL="0" indent="0">
              <a:lnSpc>
                <a:spcPct val="100000"/>
              </a:lnSpc>
              <a:spcBef>
                <a:spcPct val="0"/>
              </a:spcBef>
              <a:buClr>
                <a:schemeClr val="tx2"/>
              </a:buClr>
              <a:buSzPct val="70000"/>
              <a:buNone/>
            </a:pPr>
            <a:r>
              <a:rPr lang="en-US" altLang="zh-CN" sz="2400" b="1" dirty="0"/>
              <a:t>       </a:t>
            </a:r>
            <a:r>
              <a:rPr lang="en-US" altLang="zh-CN" sz="2400" b="1" dirty="0">
                <a:solidFill>
                  <a:srgbClr val="7030A0"/>
                </a:solidFill>
              </a:rPr>
              <a:t>}</a:t>
            </a:r>
          </a:p>
          <a:p>
            <a:pPr marL="0" indent="0">
              <a:lnSpc>
                <a:spcPct val="100000"/>
              </a:lnSpc>
              <a:spcBef>
                <a:spcPct val="0"/>
              </a:spcBef>
              <a:buClr>
                <a:schemeClr val="tx2"/>
              </a:buClr>
              <a:buSzPct val="70000"/>
              <a:buNone/>
            </a:pPr>
            <a:r>
              <a:rPr lang="en-US" altLang="zh-CN" sz="2400" b="1" dirty="0"/>
              <a:t>       </a:t>
            </a:r>
            <a:r>
              <a:rPr lang="en-US" altLang="zh-CN" sz="2400" b="1" dirty="0">
                <a:solidFill>
                  <a:srgbClr val="0000FF"/>
                </a:solidFill>
              </a:rPr>
              <a:t>if</a:t>
            </a:r>
            <a:r>
              <a:rPr lang="en-US" altLang="zh-CN" sz="2400" b="1" dirty="0"/>
              <a:t>(k != i)</a:t>
            </a:r>
            <a:r>
              <a:rPr lang="en-US" altLang="zh-CN" sz="2400" b="1" dirty="0">
                <a:solidFill>
                  <a:schemeClr val="accent6"/>
                </a:solidFill>
              </a:rPr>
              <a:t>{</a:t>
            </a:r>
          </a:p>
          <a:p>
            <a:pPr marL="0" indent="0">
              <a:lnSpc>
                <a:spcPct val="100000"/>
              </a:lnSpc>
              <a:spcBef>
                <a:spcPct val="0"/>
              </a:spcBef>
              <a:buClr>
                <a:schemeClr val="tx2"/>
              </a:buClr>
              <a:buSzPct val="70000"/>
              <a:buNone/>
            </a:pPr>
            <a:r>
              <a:rPr lang="en-US" altLang="zh-CN" sz="2400" b="1" dirty="0"/>
              <a:t>          </a:t>
            </a:r>
            <a:r>
              <a:rPr lang="en-US" altLang="zh-CN" sz="2400" b="1" dirty="0">
                <a:solidFill>
                  <a:srgbClr val="0000FF"/>
                </a:solidFill>
              </a:rPr>
              <a:t>char</a:t>
            </a:r>
            <a:r>
              <a:rPr lang="en-US" altLang="zh-CN" sz="2400" b="1" dirty="0"/>
              <a:t> </a:t>
            </a:r>
            <a:r>
              <a:rPr lang="en-US" altLang="zh-CN" sz="2400" b="1" dirty="0">
                <a:solidFill>
                  <a:srgbClr val="FF0000"/>
                </a:solidFill>
              </a:rPr>
              <a:t>*</a:t>
            </a:r>
            <a:r>
              <a:rPr lang="en-US" altLang="zh-CN" sz="2400" b="1" dirty="0"/>
              <a:t>temp = p</a:t>
            </a:r>
            <a:r>
              <a:rPr lang="en-US" altLang="zh-CN" sz="2400" b="1" dirty="0">
                <a:solidFill>
                  <a:srgbClr val="FF0000"/>
                </a:solidFill>
              </a:rPr>
              <a:t>[</a:t>
            </a:r>
            <a:r>
              <a:rPr lang="en-US" altLang="zh-CN" sz="2400" b="1" dirty="0"/>
              <a:t>i</a:t>
            </a:r>
            <a:r>
              <a:rPr lang="en-US" altLang="zh-CN" sz="2400" b="1" dirty="0">
                <a:solidFill>
                  <a:srgbClr val="FF0000"/>
                </a:solidFill>
              </a:rPr>
              <a:t>]</a:t>
            </a:r>
            <a:r>
              <a:rPr lang="en-US" altLang="zh-CN" sz="2400" b="1" dirty="0"/>
              <a:t>;</a:t>
            </a:r>
          </a:p>
          <a:p>
            <a:pPr marL="0" indent="0">
              <a:lnSpc>
                <a:spcPct val="100000"/>
              </a:lnSpc>
              <a:spcBef>
                <a:spcPct val="0"/>
              </a:spcBef>
              <a:buClr>
                <a:schemeClr val="tx2"/>
              </a:buClr>
              <a:buSzPct val="70000"/>
              <a:buNone/>
            </a:pPr>
            <a:r>
              <a:rPr lang="en-US" altLang="zh-CN" sz="2400" b="1" dirty="0"/>
              <a:t>          p</a:t>
            </a:r>
            <a:r>
              <a:rPr lang="en-US" altLang="zh-CN" sz="2400" b="1" dirty="0">
                <a:solidFill>
                  <a:srgbClr val="FF0000"/>
                </a:solidFill>
              </a:rPr>
              <a:t>[</a:t>
            </a:r>
            <a:r>
              <a:rPr lang="en-US" altLang="zh-CN" sz="2400" b="1" dirty="0"/>
              <a:t>i</a:t>
            </a:r>
            <a:r>
              <a:rPr lang="en-US" altLang="zh-CN" sz="2400" b="1" dirty="0">
                <a:solidFill>
                  <a:srgbClr val="FF0000"/>
                </a:solidFill>
              </a:rPr>
              <a:t>]</a:t>
            </a:r>
            <a:r>
              <a:rPr lang="en-US" altLang="zh-CN" sz="2400" b="1" dirty="0"/>
              <a:t> = p</a:t>
            </a:r>
            <a:r>
              <a:rPr lang="en-US" altLang="zh-CN" sz="2400" b="1" dirty="0">
                <a:solidFill>
                  <a:srgbClr val="FF0000"/>
                </a:solidFill>
              </a:rPr>
              <a:t>[</a:t>
            </a:r>
            <a:r>
              <a:rPr lang="en-US" altLang="zh-CN" sz="2400" b="1" dirty="0"/>
              <a:t>k</a:t>
            </a:r>
            <a:r>
              <a:rPr lang="en-US" altLang="zh-CN" sz="2400" b="1" dirty="0">
                <a:solidFill>
                  <a:srgbClr val="FF0000"/>
                </a:solidFill>
              </a:rPr>
              <a:t>]</a:t>
            </a:r>
            <a:r>
              <a:rPr lang="en-US" altLang="zh-CN" sz="2400" b="1" dirty="0"/>
              <a:t>;</a:t>
            </a:r>
          </a:p>
          <a:p>
            <a:pPr marL="0" indent="0">
              <a:lnSpc>
                <a:spcPct val="100000"/>
              </a:lnSpc>
              <a:spcBef>
                <a:spcPct val="0"/>
              </a:spcBef>
              <a:buClr>
                <a:schemeClr val="tx2"/>
              </a:buClr>
              <a:buSzPct val="70000"/>
              <a:buNone/>
            </a:pPr>
            <a:r>
              <a:rPr lang="en-US" altLang="zh-CN" sz="2400" b="1" dirty="0"/>
              <a:t>          p</a:t>
            </a:r>
            <a:r>
              <a:rPr lang="en-US" altLang="zh-CN" sz="2400" b="1" dirty="0">
                <a:solidFill>
                  <a:srgbClr val="FF0000"/>
                </a:solidFill>
              </a:rPr>
              <a:t>[</a:t>
            </a:r>
            <a:r>
              <a:rPr lang="en-US" altLang="zh-CN" sz="2400" b="1" dirty="0"/>
              <a:t>k</a:t>
            </a:r>
            <a:r>
              <a:rPr lang="en-US" altLang="zh-CN" sz="2400" b="1" dirty="0">
                <a:solidFill>
                  <a:srgbClr val="FF0000"/>
                </a:solidFill>
              </a:rPr>
              <a:t>]</a:t>
            </a:r>
            <a:r>
              <a:rPr lang="en-US" altLang="zh-CN" sz="2400" b="1" dirty="0"/>
              <a:t> = temp;</a:t>
            </a:r>
          </a:p>
          <a:p>
            <a:pPr marL="0" indent="0">
              <a:lnSpc>
                <a:spcPct val="100000"/>
              </a:lnSpc>
              <a:spcBef>
                <a:spcPct val="0"/>
              </a:spcBef>
              <a:buClr>
                <a:schemeClr val="tx2"/>
              </a:buClr>
              <a:buSzPct val="70000"/>
              <a:buNone/>
            </a:pPr>
            <a:r>
              <a:rPr lang="en-US" altLang="zh-CN" sz="2400" b="1" dirty="0"/>
              <a:t>       </a:t>
            </a:r>
            <a:r>
              <a:rPr lang="en-US" altLang="zh-CN" sz="2400" b="1" dirty="0">
                <a:solidFill>
                  <a:schemeClr val="accent6"/>
                </a:solidFill>
              </a:rPr>
              <a:t>}</a:t>
            </a:r>
          </a:p>
          <a:p>
            <a:pPr marL="0" indent="0">
              <a:lnSpc>
                <a:spcPct val="100000"/>
              </a:lnSpc>
              <a:spcBef>
                <a:spcPct val="0"/>
              </a:spcBef>
              <a:spcAft>
                <a:spcPts val="1200"/>
              </a:spcAft>
              <a:buClr>
                <a:schemeClr val="tx2"/>
              </a:buClr>
              <a:buSzPct val="70000"/>
              <a:buNone/>
            </a:pPr>
            <a:r>
              <a:rPr lang="en-US" altLang="zh-CN" sz="2400" b="1" dirty="0"/>
              <a:t>    </a:t>
            </a:r>
            <a:r>
              <a:rPr lang="en-US" altLang="zh-CN" sz="2400" b="1" dirty="0">
                <a:solidFill>
                  <a:schemeClr val="accent2"/>
                </a:solidFill>
              </a:rPr>
              <a:t>}</a:t>
            </a:r>
          </a:p>
          <a:p>
            <a:pPr marL="0" indent="0">
              <a:lnSpc>
                <a:spcPts val="1000"/>
              </a:lnSpc>
              <a:spcBef>
                <a:spcPct val="0"/>
              </a:spcBef>
              <a:buClr>
                <a:schemeClr val="tx2"/>
              </a:buClr>
              <a:buSzPct val="70000"/>
              <a:buNone/>
            </a:pPr>
            <a:r>
              <a:rPr lang="en-US" altLang="zh-CN" sz="2400" b="1" dirty="0"/>
              <a:t>    </a:t>
            </a:r>
            <a:r>
              <a:rPr lang="en-US" altLang="zh-CN" sz="2400" b="1" dirty="0">
                <a:solidFill>
                  <a:srgbClr val="00B050"/>
                </a:solidFill>
              </a:rPr>
              <a:t>……</a:t>
            </a:r>
          </a:p>
          <a:p>
            <a:pPr marL="0" indent="0">
              <a:lnSpc>
                <a:spcPct val="100000"/>
              </a:lnSpc>
              <a:spcBef>
                <a:spcPct val="0"/>
              </a:spcBef>
              <a:buClr>
                <a:schemeClr val="tx2"/>
              </a:buClr>
              <a:buSzPct val="70000"/>
              <a:buFont typeface="Arial" panose="020B0604020202020204" pitchFamily="34" charset="0"/>
              <a:buNone/>
            </a:pPr>
            <a:r>
              <a:rPr lang="en-US" altLang="zh-CN" sz="2400" b="1" dirty="0">
                <a:solidFill>
                  <a:srgbClr val="FF0000"/>
                </a:solidFill>
              </a:rPr>
              <a:t>}</a:t>
            </a:r>
          </a:p>
        </p:txBody>
      </p:sp>
      <p:sp>
        <p:nvSpPr>
          <p:cNvPr id="11" name="文本框 10">
            <a:extLst>
              <a:ext uri="{FF2B5EF4-FFF2-40B4-BE49-F238E27FC236}">
                <a16:creationId xmlns:a16="http://schemas.microsoft.com/office/drawing/2014/main" id="{1F24079C-8466-4C31-B600-69452102AC0D}"/>
              </a:ext>
            </a:extLst>
          </p:cNvPr>
          <p:cNvSpPr txBox="1"/>
          <p:nvPr/>
        </p:nvSpPr>
        <p:spPr>
          <a:xfrm>
            <a:off x="2141114" y="-50475"/>
            <a:ext cx="4987824"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指针数组的应用</a:t>
            </a:r>
            <a:endParaRPr lang="zh-CN" altLang="en-US" sz="3200" b="1" dirty="0">
              <a:solidFill>
                <a:srgbClr val="200AC4"/>
              </a:solidFill>
              <a:ea typeface="隶书" pitchFamily="49" charset="-122"/>
            </a:endParaRPr>
          </a:p>
        </p:txBody>
      </p:sp>
    </p:spTree>
    <p:extLst>
      <p:ext uri="{BB962C8B-B14F-4D97-AF65-F5344CB8AC3E}">
        <p14:creationId xmlns:p14="http://schemas.microsoft.com/office/powerpoint/2010/main" val="2252432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1000"/>
                                        <p:tgtEl>
                                          <p:spTgt spid="9"/>
                                        </p:tgtEl>
                                      </p:cBhvr>
                                    </p:animEffect>
                                    <p:anim calcmode="lin" valueType="num">
                                      <p:cBhvr>
                                        <p:cTn id="27" dur="1000" fill="hold"/>
                                        <p:tgtEl>
                                          <p:spTgt spid="9"/>
                                        </p:tgtEl>
                                        <p:attrNameLst>
                                          <p:attrName>ppt_x</p:attrName>
                                        </p:attrNameLst>
                                      </p:cBhvr>
                                      <p:tavLst>
                                        <p:tav tm="0">
                                          <p:val>
                                            <p:strVal val="#ppt_x"/>
                                          </p:val>
                                        </p:tav>
                                        <p:tav tm="100000">
                                          <p:val>
                                            <p:strVal val="#ppt_x"/>
                                          </p:val>
                                        </p:tav>
                                      </p:tavLst>
                                    </p:anim>
                                    <p:anim calcmode="lin" valueType="num">
                                      <p:cBhvr>
                                        <p:cTn id="28"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animBg="1"/>
      <p:bldP spid="9"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4">
            <a:extLst>
              <a:ext uri="{FF2B5EF4-FFF2-40B4-BE49-F238E27FC236}">
                <a16:creationId xmlns:a16="http://schemas.microsoft.com/office/drawing/2014/main" id="{75080D1C-F1C8-44EE-AABD-83E4270CDFA1}"/>
              </a:ext>
            </a:extLst>
          </p:cNvPr>
          <p:cNvGraphicFramePr>
            <a:graphicFrameLocks noGrp="1"/>
          </p:cNvGraphicFramePr>
          <p:nvPr>
            <p:extLst>
              <p:ext uri="{D42A27DB-BD31-4B8C-83A1-F6EECF244321}">
                <p14:modId xmlns:p14="http://schemas.microsoft.com/office/powerpoint/2010/main" val="1597973537"/>
              </p:ext>
            </p:extLst>
          </p:nvPr>
        </p:nvGraphicFramePr>
        <p:xfrm>
          <a:off x="5697584" y="902870"/>
          <a:ext cx="3202578" cy="370840"/>
        </p:xfrm>
        <a:graphic>
          <a:graphicData uri="http://schemas.openxmlformats.org/drawingml/2006/table">
            <a:tbl>
              <a:tblPr firstRow="1" bandRow="1">
                <a:tableStyleId>{5940675A-B579-460E-94D1-54222C63F5DA}</a:tableStyleId>
              </a:tblPr>
              <a:tblGrid>
                <a:gridCol w="533763">
                  <a:extLst>
                    <a:ext uri="{9D8B030D-6E8A-4147-A177-3AD203B41FA5}">
                      <a16:colId xmlns:a16="http://schemas.microsoft.com/office/drawing/2014/main" val="1850754280"/>
                    </a:ext>
                  </a:extLst>
                </a:gridCol>
                <a:gridCol w="533763">
                  <a:extLst>
                    <a:ext uri="{9D8B030D-6E8A-4147-A177-3AD203B41FA5}">
                      <a16:colId xmlns:a16="http://schemas.microsoft.com/office/drawing/2014/main" val="3830515087"/>
                    </a:ext>
                  </a:extLst>
                </a:gridCol>
                <a:gridCol w="1601289">
                  <a:extLst>
                    <a:ext uri="{9D8B030D-6E8A-4147-A177-3AD203B41FA5}">
                      <a16:colId xmlns:a16="http://schemas.microsoft.com/office/drawing/2014/main" val="4206018818"/>
                    </a:ext>
                  </a:extLst>
                </a:gridCol>
                <a:gridCol w="533763">
                  <a:extLst>
                    <a:ext uri="{9D8B030D-6E8A-4147-A177-3AD203B41FA5}">
                      <a16:colId xmlns:a16="http://schemas.microsoft.com/office/drawing/2014/main" val="566917619"/>
                    </a:ext>
                  </a:extLst>
                </a:gridCol>
              </a:tblGrid>
              <a:tr h="370840">
                <a:tc>
                  <a:txBody>
                    <a:bodyPr/>
                    <a:lstStyle/>
                    <a:p>
                      <a:pPr algn="ctr"/>
                      <a:r>
                        <a:rPr lang="en-US" altLang="zh-CN" dirty="0"/>
                        <a:t>L</a:t>
                      </a:r>
                      <a:endParaRPr lang="zh-CN" altLang="en-US" dirty="0"/>
                    </a:p>
                  </a:txBody>
                  <a:tcPr anchor="ctr"/>
                </a:tc>
                <a:tc>
                  <a:txBody>
                    <a:bodyPr/>
                    <a:lstStyle/>
                    <a:p>
                      <a:pPr algn="ctr"/>
                      <a:r>
                        <a:rPr lang="en-US" altLang="zh-CN" dirty="0"/>
                        <a:t>i</a:t>
                      </a:r>
                      <a:endParaRPr lang="zh-CN" altLang="en-US" dirty="0"/>
                    </a:p>
                  </a:txBody>
                  <a:tcPr anchor="ctr"/>
                </a:tc>
                <a:tc>
                  <a:txBody>
                    <a:bodyPr/>
                    <a:lstStyle/>
                    <a:p>
                      <a:pPr algn="ctr"/>
                      <a:r>
                        <a:rPr lang="en-US" altLang="zh-CN" dirty="0"/>
                        <a:t>……</a:t>
                      </a:r>
                      <a:endParaRPr lang="zh-CN" altLang="en-US" dirty="0"/>
                    </a:p>
                  </a:txBody>
                  <a:tcPr anchor="ctr"/>
                </a:tc>
                <a:tc>
                  <a:txBody>
                    <a:bodyPr/>
                    <a:lstStyle/>
                    <a:p>
                      <a:pPr algn="ctr"/>
                      <a:r>
                        <a:rPr lang="en-US" altLang="zh-CN" dirty="0"/>
                        <a:t>\0</a:t>
                      </a:r>
                      <a:endParaRPr lang="zh-CN" altLang="en-US" dirty="0"/>
                    </a:p>
                  </a:txBody>
                  <a:tcPr anchor="ctr"/>
                </a:tc>
                <a:extLst>
                  <a:ext uri="{0D108BD9-81ED-4DB2-BD59-A6C34878D82A}">
                    <a16:rowId xmlns:a16="http://schemas.microsoft.com/office/drawing/2014/main" val="1006405735"/>
                  </a:ext>
                </a:extLst>
              </a:tr>
            </a:tbl>
          </a:graphicData>
        </a:graphic>
      </p:graphicFrame>
      <p:graphicFrame>
        <p:nvGraphicFramePr>
          <p:cNvPr id="5" name="表格 5">
            <a:extLst>
              <a:ext uri="{FF2B5EF4-FFF2-40B4-BE49-F238E27FC236}">
                <a16:creationId xmlns:a16="http://schemas.microsoft.com/office/drawing/2014/main" id="{35DC06FE-8B93-4D60-89C4-A1101F49909D}"/>
              </a:ext>
            </a:extLst>
          </p:cNvPr>
          <p:cNvGraphicFramePr>
            <a:graphicFrameLocks noGrp="1"/>
          </p:cNvGraphicFramePr>
          <p:nvPr>
            <p:extLst>
              <p:ext uri="{D42A27DB-BD31-4B8C-83A1-F6EECF244321}">
                <p14:modId xmlns:p14="http://schemas.microsoft.com/office/powerpoint/2010/main" val="2007156556"/>
              </p:ext>
            </p:extLst>
          </p:nvPr>
        </p:nvGraphicFramePr>
        <p:xfrm>
          <a:off x="2408653" y="1946194"/>
          <a:ext cx="1137920" cy="2321005"/>
        </p:xfrm>
        <a:graphic>
          <a:graphicData uri="http://schemas.openxmlformats.org/drawingml/2006/table">
            <a:tbl>
              <a:tblPr firstRow="1" bandRow="1">
                <a:tableStyleId>{5940675A-B579-460E-94D1-54222C63F5DA}</a:tableStyleId>
              </a:tblPr>
              <a:tblGrid>
                <a:gridCol w="1137920">
                  <a:extLst>
                    <a:ext uri="{9D8B030D-6E8A-4147-A177-3AD203B41FA5}">
                      <a16:colId xmlns:a16="http://schemas.microsoft.com/office/drawing/2014/main" val="2777574009"/>
                    </a:ext>
                  </a:extLst>
                </a:gridCol>
              </a:tblGrid>
              <a:tr h="464201">
                <a:tc>
                  <a:txBody>
                    <a:bodyPr/>
                    <a:lstStyle/>
                    <a:p>
                      <a:pPr algn="ctr"/>
                      <a:r>
                        <a:rPr lang="en-US" altLang="zh-CN" sz="2400" dirty="0">
                          <a:latin typeface="华文隶书" panose="02010800040101010101" pitchFamily="2" charset="-122"/>
                          <a:ea typeface="华文隶书" panose="02010800040101010101" pitchFamily="2" charset="-122"/>
                        </a:rPr>
                        <a:t>name</a:t>
                      </a:r>
                      <a:r>
                        <a:rPr lang="en-US" altLang="zh-CN" sz="2400" dirty="0">
                          <a:latin typeface="+mn-ea"/>
                          <a:ea typeface="+mn-ea"/>
                        </a:rPr>
                        <a:t>[0]</a:t>
                      </a:r>
                      <a:endParaRPr lang="zh-CN" altLang="en-US" sz="2400" dirty="0">
                        <a:latin typeface="+mn-ea"/>
                        <a:ea typeface="+mn-ea"/>
                      </a:endParaRPr>
                    </a:p>
                  </a:txBody>
                  <a:tcPr anchor="ctr"/>
                </a:tc>
                <a:extLst>
                  <a:ext uri="{0D108BD9-81ED-4DB2-BD59-A6C34878D82A}">
                    <a16:rowId xmlns:a16="http://schemas.microsoft.com/office/drawing/2014/main" val="4240652139"/>
                  </a:ext>
                </a:extLst>
              </a:tr>
              <a:tr h="46420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dirty="0">
                          <a:latin typeface="华文隶书" panose="02010800040101010101" pitchFamily="2" charset="-122"/>
                          <a:ea typeface="华文隶书" panose="02010800040101010101" pitchFamily="2" charset="-122"/>
                        </a:rPr>
                        <a:t>name</a:t>
                      </a:r>
                      <a:r>
                        <a:rPr lang="en-US" altLang="zh-CN" sz="2400" dirty="0">
                          <a:latin typeface="+mn-ea"/>
                          <a:ea typeface="+mn-ea"/>
                        </a:rPr>
                        <a:t>[1]</a:t>
                      </a:r>
                      <a:endParaRPr lang="zh-CN" altLang="en-US" sz="2400" dirty="0">
                        <a:latin typeface="+mn-ea"/>
                        <a:ea typeface="+mn-ea"/>
                      </a:endParaRPr>
                    </a:p>
                  </a:txBody>
                  <a:tcPr anchor="ctr"/>
                </a:tc>
                <a:extLst>
                  <a:ext uri="{0D108BD9-81ED-4DB2-BD59-A6C34878D82A}">
                    <a16:rowId xmlns:a16="http://schemas.microsoft.com/office/drawing/2014/main" val="3170313331"/>
                  </a:ext>
                </a:extLst>
              </a:tr>
              <a:tr h="464201">
                <a:tc>
                  <a:txBody>
                    <a:bodyPr/>
                    <a:lstStyle/>
                    <a:p>
                      <a:pPr algn="ctr"/>
                      <a:r>
                        <a:rPr lang="en-US" altLang="zh-CN" sz="2400" dirty="0">
                          <a:latin typeface="华文隶书" panose="02010800040101010101" pitchFamily="2" charset="-122"/>
                          <a:ea typeface="华文隶书" panose="02010800040101010101" pitchFamily="2" charset="-122"/>
                        </a:rPr>
                        <a:t>name</a:t>
                      </a:r>
                      <a:r>
                        <a:rPr lang="en-US" altLang="zh-CN" sz="2400" dirty="0">
                          <a:latin typeface="+mn-ea"/>
                          <a:ea typeface="+mn-ea"/>
                        </a:rPr>
                        <a:t>[2]</a:t>
                      </a:r>
                      <a:endParaRPr lang="zh-CN" altLang="en-US" sz="2400" dirty="0"/>
                    </a:p>
                  </a:txBody>
                  <a:tcPr anchor="ctr"/>
                </a:tc>
                <a:extLst>
                  <a:ext uri="{0D108BD9-81ED-4DB2-BD59-A6C34878D82A}">
                    <a16:rowId xmlns:a16="http://schemas.microsoft.com/office/drawing/2014/main" val="3847019587"/>
                  </a:ext>
                </a:extLst>
              </a:tr>
              <a:tr h="464201">
                <a:tc>
                  <a:txBody>
                    <a:bodyPr/>
                    <a:lstStyle/>
                    <a:p>
                      <a:pPr algn="ctr"/>
                      <a:r>
                        <a:rPr lang="en-US" altLang="zh-CN" sz="2400" dirty="0">
                          <a:latin typeface="华文隶书" panose="02010800040101010101" pitchFamily="2" charset="-122"/>
                          <a:ea typeface="华文隶书" panose="02010800040101010101" pitchFamily="2" charset="-122"/>
                        </a:rPr>
                        <a:t>name</a:t>
                      </a:r>
                      <a:r>
                        <a:rPr lang="en-US" altLang="zh-CN" sz="2400" dirty="0">
                          <a:latin typeface="+mn-ea"/>
                          <a:ea typeface="+mn-ea"/>
                        </a:rPr>
                        <a:t>[3]</a:t>
                      </a:r>
                      <a:endParaRPr lang="zh-CN" altLang="en-US" sz="2400" dirty="0"/>
                    </a:p>
                  </a:txBody>
                  <a:tcPr anchor="ctr"/>
                </a:tc>
                <a:extLst>
                  <a:ext uri="{0D108BD9-81ED-4DB2-BD59-A6C34878D82A}">
                    <a16:rowId xmlns:a16="http://schemas.microsoft.com/office/drawing/2014/main" val="1618638112"/>
                  </a:ext>
                </a:extLst>
              </a:tr>
              <a:tr h="464201">
                <a:tc>
                  <a:txBody>
                    <a:bodyPr/>
                    <a:lstStyle/>
                    <a:p>
                      <a:pPr algn="ctr"/>
                      <a:r>
                        <a:rPr lang="en-US" altLang="zh-CN" sz="2400" dirty="0">
                          <a:latin typeface="华文隶书" panose="02010800040101010101" pitchFamily="2" charset="-122"/>
                          <a:ea typeface="华文隶书" panose="02010800040101010101" pitchFamily="2" charset="-122"/>
                        </a:rPr>
                        <a:t>name</a:t>
                      </a:r>
                      <a:r>
                        <a:rPr lang="en-US" altLang="zh-CN" sz="2400" dirty="0">
                          <a:latin typeface="+mn-ea"/>
                          <a:ea typeface="+mn-ea"/>
                        </a:rPr>
                        <a:t>[4]</a:t>
                      </a:r>
                      <a:endParaRPr lang="zh-CN" altLang="en-US" sz="2400" dirty="0"/>
                    </a:p>
                  </a:txBody>
                  <a:tcPr anchor="ctr"/>
                </a:tc>
                <a:extLst>
                  <a:ext uri="{0D108BD9-81ED-4DB2-BD59-A6C34878D82A}">
                    <a16:rowId xmlns:a16="http://schemas.microsoft.com/office/drawing/2014/main" val="2879917446"/>
                  </a:ext>
                </a:extLst>
              </a:tr>
            </a:tbl>
          </a:graphicData>
        </a:graphic>
      </p:graphicFrame>
      <p:sp>
        <p:nvSpPr>
          <p:cNvPr id="6" name="文本框 5">
            <a:extLst>
              <a:ext uri="{FF2B5EF4-FFF2-40B4-BE49-F238E27FC236}">
                <a16:creationId xmlns:a16="http://schemas.microsoft.com/office/drawing/2014/main" id="{BF0A619D-4E5C-4AE8-9F4C-0097CCDC70F7}"/>
              </a:ext>
            </a:extLst>
          </p:cNvPr>
          <p:cNvSpPr txBox="1"/>
          <p:nvPr/>
        </p:nvSpPr>
        <p:spPr>
          <a:xfrm>
            <a:off x="2408653" y="1280160"/>
            <a:ext cx="1137920" cy="646331"/>
          </a:xfrm>
          <a:prstGeom prst="rect">
            <a:avLst/>
          </a:prstGeom>
          <a:noFill/>
        </p:spPr>
        <p:txBody>
          <a:bodyPr wrap="square" rtlCol="0">
            <a:spAutoFit/>
          </a:bodyPr>
          <a:lstStyle/>
          <a:p>
            <a:pPr algn="ctr"/>
            <a:r>
              <a:rPr lang="en-US" altLang="zh-CN" sz="3600" dirty="0">
                <a:latin typeface="Consolas" panose="020B0609020204030204" pitchFamily="49" charset="0"/>
                <a:ea typeface="华文隶书" panose="02010800040101010101" pitchFamily="2" charset="-122"/>
              </a:rPr>
              <a:t>p</a:t>
            </a:r>
            <a:endParaRPr lang="zh-CN" altLang="en-US" sz="3600" dirty="0">
              <a:latin typeface="Consolas" panose="020B0609020204030204" pitchFamily="49" charset="0"/>
              <a:ea typeface="华文隶书" panose="02010800040101010101" pitchFamily="2" charset="-122"/>
            </a:endParaRPr>
          </a:p>
        </p:txBody>
      </p:sp>
      <p:graphicFrame>
        <p:nvGraphicFramePr>
          <p:cNvPr id="7" name="表格 4">
            <a:extLst>
              <a:ext uri="{FF2B5EF4-FFF2-40B4-BE49-F238E27FC236}">
                <a16:creationId xmlns:a16="http://schemas.microsoft.com/office/drawing/2014/main" id="{A254C10D-A2CA-4659-BF2B-1D96E33333C5}"/>
              </a:ext>
            </a:extLst>
          </p:cNvPr>
          <p:cNvGraphicFramePr>
            <a:graphicFrameLocks noGrp="1"/>
          </p:cNvGraphicFramePr>
          <p:nvPr>
            <p:extLst>
              <p:ext uri="{D42A27DB-BD31-4B8C-83A1-F6EECF244321}">
                <p14:modId xmlns:p14="http://schemas.microsoft.com/office/powerpoint/2010/main" val="1135859367"/>
              </p:ext>
            </p:extLst>
          </p:nvPr>
        </p:nvGraphicFramePr>
        <p:xfrm>
          <a:off x="5702664" y="4870350"/>
          <a:ext cx="3202578" cy="370840"/>
        </p:xfrm>
        <a:graphic>
          <a:graphicData uri="http://schemas.openxmlformats.org/drawingml/2006/table">
            <a:tbl>
              <a:tblPr firstRow="1" bandRow="1">
                <a:tableStyleId>{5940675A-B579-460E-94D1-54222C63F5DA}</a:tableStyleId>
              </a:tblPr>
              <a:tblGrid>
                <a:gridCol w="533763">
                  <a:extLst>
                    <a:ext uri="{9D8B030D-6E8A-4147-A177-3AD203B41FA5}">
                      <a16:colId xmlns:a16="http://schemas.microsoft.com/office/drawing/2014/main" val="1850754280"/>
                    </a:ext>
                  </a:extLst>
                </a:gridCol>
                <a:gridCol w="533763">
                  <a:extLst>
                    <a:ext uri="{9D8B030D-6E8A-4147-A177-3AD203B41FA5}">
                      <a16:colId xmlns:a16="http://schemas.microsoft.com/office/drawing/2014/main" val="3830515087"/>
                    </a:ext>
                  </a:extLst>
                </a:gridCol>
                <a:gridCol w="1601289">
                  <a:extLst>
                    <a:ext uri="{9D8B030D-6E8A-4147-A177-3AD203B41FA5}">
                      <a16:colId xmlns:a16="http://schemas.microsoft.com/office/drawing/2014/main" val="4206018818"/>
                    </a:ext>
                  </a:extLst>
                </a:gridCol>
                <a:gridCol w="533763">
                  <a:extLst>
                    <a:ext uri="{9D8B030D-6E8A-4147-A177-3AD203B41FA5}">
                      <a16:colId xmlns:a16="http://schemas.microsoft.com/office/drawing/2014/main" val="566917619"/>
                    </a:ext>
                  </a:extLst>
                </a:gridCol>
              </a:tblGrid>
              <a:tr h="370840">
                <a:tc>
                  <a:txBody>
                    <a:bodyPr/>
                    <a:lstStyle/>
                    <a:p>
                      <a:pPr algn="ctr"/>
                      <a:r>
                        <a:rPr lang="en-US" altLang="zh-CN" dirty="0"/>
                        <a:t>W</a:t>
                      </a:r>
                      <a:endParaRPr lang="zh-CN" altLang="en-US" dirty="0"/>
                    </a:p>
                  </a:txBody>
                  <a:tcPr anchor="ctr"/>
                </a:tc>
                <a:tc>
                  <a:txBody>
                    <a:bodyPr/>
                    <a:lstStyle/>
                    <a:p>
                      <a:pPr algn="ctr"/>
                      <a:r>
                        <a:rPr lang="en-US" altLang="zh-CN" dirty="0"/>
                        <a:t>a</a:t>
                      </a:r>
                      <a:endParaRPr lang="zh-CN" altLang="en-US" dirty="0"/>
                    </a:p>
                  </a:txBody>
                  <a:tcPr anchor="ctr"/>
                </a:tc>
                <a:tc>
                  <a:txBody>
                    <a:bodyPr/>
                    <a:lstStyle/>
                    <a:p>
                      <a:pPr algn="ctr"/>
                      <a:r>
                        <a:rPr lang="en-US" altLang="zh-CN" dirty="0"/>
                        <a:t>……</a:t>
                      </a:r>
                      <a:endParaRPr lang="zh-CN" altLang="en-US" dirty="0"/>
                    </a:p>
                  </a:txBody>
                  <a:tcPr anchor="ctr"/>
                </a:tc>
                <a:tc>
                  <a:txBody>
                    <a:bodyPr/>
                    <a:lstStyle/>
                    <a:p>
                      <a:pPr algn="ctr"/>
                      <a:r>
                        <a:rPr lang="en-US" altLang="zh-CN" dirty="0"/>
                        <a:t>\0</a:t>
                      </a:r>
                      <a:endParaRPr lang="zh-CN" altLang="en-US" dirty="0"/>
                    </a:p>
                  </a:txBody>
                  <a:tcPr anchor="ctr"/>
                </a:tc>
                <a:extLst>
                  <a:ext uri="{0D108BD9-81ED-4DB2-BD59-A6C34878D82A}">
                    <a16:rowId xmlns:a16="http://schemas.microsoft.com/office/drawing/2014/main" val="1006405735"/>
                  </a:ext>
                </a:extLst>
              </a:tr>
            </a:tbl>
          </a:graphicData>
        </a:graphic>
      </p:graphicFrame>
      <p:graphicFrame>
        <p:nvGraphicFramePr>
          <p:cNvPr id="8" name="表格 4">
            <a:extLst>
              <a:ext uri="{FF2B5EF4-FFF2-40B4-BE49-F238E27FC236}">
                <a16:creationId xmlns:a16="http://schemas.microsoft.com/office/drawing/2014/main" id="{9541C36E-9104-431C-8DE1-DC21AF461893}"/>
              </a:ext>
            </a:extLst>
          </p:cNvPr>
          <p:cNvGraphicFramePr>
            <a:graphicFrameLocks noGrp="1"/>
          </p:cNvGraphicFramePr>
          <p:nvPr>
            <p:extLst>
              <p:ext uri="{D42A27DB-BD31-4B8C-83A1-F6EECF244321}">
                <p14:modId xmlns:p14="http://schemas.microsoft.com/office/powerpoint/2010/main" val="2030805358"/>
              </p:ext>
            </p:extLst>
          </p:nvPr>
        </p:nvGraphicFramePr>
        <p:xfrm>
          <a:off x="5697584" y="3859430"/>
          <a:ext cx="3202578" cy="370840"/>
        </p:xfrm>
        <a:graphic>
          <a:graphicData uri="http://schemas.openxmlformats.org/drawingml/2006/table">
            <a:tbl>
              <a:tblPr firstRow="1" bandRow="1">
                <a:tableStyleId>{5940675A-B579-460E-94D1-54222C63F5DA}</a:tableStyleId>
              </a:tblPr>
              <a:tblGrid>
                <a:gridCol w="533763">
                  <a:extLst>
                    <a:ext uri="{9D8B030D-6E8A-4147-A177-3AD203B41FA5}">
                      <a16:colId xmlns:a16="http://schemas.microsoft.com/office/drawing/2014/main" val="1850754280"/>
                    </a:ext>
                  </a:extLst>
                </a:gridCol>
                <a:gridCol w="533763">
                  <a:extLst>
                    <a:ext uri="{9D8B030D-6E8A-4147-A177-3AD203B41FA5}">
                      <a16:colId xmlns:a16="http://schemas.microsoft.com/office/drawing/2014/main" val="3830515087"/>
                    </a:ext>
                  </a:extLst>
                </a:gridCol>
                <a:gridCol w="1601289">
                  <a:extLst>
                    <a:ext uri="{9D8B030D-6E8A-4147-A177-3AD203B41FA5}">
                      <a16:colId xmlns:a16="http://schemas.microsoft.com/office/drawing/2014/main" val="4206018818"/>
                    </a:ext>
                  </a:extLst>
                </a:gridCol>
                <a:gridCol w="533763">
                  <a:extLst>
                    <a:ext uri="{9D8B030D-6E8A-4147-A177-3AD203B41FA5}">
                      <a16:colId xmlns:a16="http://schemas.microsoft.com/office/drawing/2014/main" val="566917619"/>
                    </a:ext>
                  </a:extLst>
                </a:gridCol>
              </a:tblGrid>
              <a:tr h="370840">
                <a:tc>
                  <a:txBody>
                    <a:bodyPr/>
                    <a:lstStyle/>
                    <a:p>
                      <a:pPr algn="ctr"/>
                      <a:r>
                        <a:rPr lang="en-US" altLang="zh-CN" dirty="0"/>
                        <a:t>C</a:t>
                      </a:r>
                      <a:endParaRPr lang="zh-CN" altLang="en-US" dirty="0"/>
                    </a:p>
                  </a:txBody>
                  <a:tcPr anchor="ctr"/>
                </a:tc>
                <a:tc>
                  <a:txBody>
                    <a:bodyPr/>
                    <a:lstStyle/>
                    <a:p>
                      <a:pPr algn="ctr"/>
                      <a:r>
                        <a:rPr lang="en-US" altLang="zh-CN" dirty="0"/>
                        <a:t>a</a:t>
                      </a:r>
                      <a:endParaRPr lang="zh-CN" altLang="en-US" dirty="0"/>
                    </a:p>
                  </a:txBody>
                  <a:tcPr anchor="ctr"/>
                </a:tc>
                <a:tc>
                  <a:txBody>
                    <a:bodyPr/>
                    <a:lstStyle/>
                    <a:p>
                      <a:pPr algn="ctr"/>
                      <a:r>
                        <a:rPr lang="en-US" altLang="zh-CN" dirty="0"/>
                        <a:t>……</a:t>
                      </a:r>
                      <a:endParaRPr lang="zh-CN" altLang="en-US" dirty="0"/>
                    </a:p>
                  </a:txBody>
                  <a:tcPr anchor="ctr"/>
                </a:tc>
                <a:tc>
                  <a:txBody>
                    <a:bodyPr/>
                    <a:lstStyle/>
                    <a:p>
                      <a:pPr algn="ctr"/>
                      <a:r>
                        <a:rPr lang="en-US" altLang="zh-CN" dirty="0"/>
                        <a:t>\0</a:t>
                      </a:r>
                      <a:endParaRPr lang="zh-CN" altLang="en-US" dirty="0"/>
                    </a:p>
                  </a:txBody>
                  <a:tcPr anchor="ctr"/>
                </a:tc>
                <a:extLst>
                  <a:ext uri="{0D108BD9-81ED-4DB2-BD59-A6C34878D82A}">
                    <a16:rowId xmlns:a16="http://schemas.microsoft.com/office/drawing/2014/main" val="1006405735"/>
                  </a:ext>
                </a:extLst>
              </a:tr>
            </a:tbl>
          </a:graphicData>
        </a:graphic>
      </p:graphicFrame>
      <p:graphicFrame>
        <p:nvGraphicFramePr>
          <p:cNvPr id="9" name="表格 4">
            <a:extLst>
              <a:ext uri="{FF2B5EF4-FFF2-40B4-BE49-F238E27FC236}">
                <a16:creationId xmlns:a16="http://schemas.microsoft.com/office/drawing/2014/main" id="{96E3C54A-651E-4DE7-BA7F-87316313D884}"/>
              </a:ext>
            </a:extLst>
          </p:cNvPr>
          <p:cNvGraphicFramePr>
            <a:graphicFrameLocks noGrp="1"/>
          </p:cNvGraphicFramePr>
          <p:nvPr>
            <p:extLst>
              <p:ext uri="{D42A27DB-BD31-4B8C-83A1-F6EECF244321}">
                <p14:modId xmlns:p14="http://schemas.microsoft.com/office/powerpoint/2010/main" val="734551246"/>
              </p:ext>
            </p:extLst>
          </p:nvPr>
        </p:nvGraphicFramePr>
        <p:xfrm>
          <a:off x="5697584" y="2848510"/>
          <a:ext cx="3202578" cy="370840"/>
        </p:xfrm>
        <a:graphic>
          <a:graphicData uri="http://schemas.openxmlformats.org/drawingml/2006/table">
            <a:tbl>
              <a:tblPr firstRow="1" bandRow="1">
                <a:tableStyleId>{5940675A-B579-460E-94D1-54222C63F5DA}</a:tableStyleId>
              </a:tblPr>
              <a:tblGrid>
                <a:gridCol w="533763">
                  <a:extLst>
                    <a:ext uri="{9D8B030D-6E8A-4147-A177-3AD203B41FA5}">
                      <a16:colId xmlns:a16="http://schemas.microsoft.com/office/drawing/2014/main" val="1850754280"/>
                    </a:ext>
                  </a:extLst>
                </a:gridCol>
                <a:gridCol w="533763">
                  <a:extLst>
                    <a:ext uri="{9D8B030D-6E8A-4147-A177-3AD203B41FA5}">
                      <a16:colId xmlns:a16="http://schemas.microsoft.com/office/drawing/2014/main" val="3830515087"/>
                    </a:ext>
                  </a:extLst>
                </a:gridCol>
                <a:gridCol w="1601289">
                  <a:extLst>
                    <a:ext uri="{9D8B030D-6E8A-4147-A177-3AD203B41FA5}">
                      <a16:colId xmlns:a16="http://schemas.microsoft.com/office/drawing/2014/main" val="4206018818"/>
                    </a:ext>
                  </a:extLst>
                </a:gridCol>
                <a:gridCol w="533763">
                  <a:extLst>
                    <a:ext uri="{9D8B030D-6E8A-4147-A177-3AD203B41FA5}">
                      <a16:colId xmlns:a16="http://schemas.microsoft.com/office/drawing/2014/main" val="566917619"/>
                    </a:ext>
                  </a:extLst>
                </a:gridCol>
              </a:tblGrid>
              <a:tr h="370840">
                <a:tc>
                  <a:txBody>
                    <a:bodyPr/>
                    <a:lstStyle/>
                    <a:p>
                      <a:pPr algn="ctr"/>
                      <a:r>
                        <a:rPr lang="en-US" altLang="zh-CN" dirty="0"/>
                        <a:t>Z</a:t>
                      </a:r>
                      <a:endParaRPr lang="zh-CN" altLang="en-US" dirty="0"/>
                    </a:p>
                  </a:txBody>
                  <a:tcPr anchor="ctr"/>
                </a:tc>
                <a:tc>
                  <a:txBody>
                    <a:bodyPr/>
                    <a:lstStyle/>
                    <a:p>
                      <a:pPr algn="ctr"/>
                      <a:r>
                        <a:rPr lang="en-US" altLang="zh-CN" dirty="0"/>
                        <a:t>h</a:t>
                      </a:r>
                      <a:endParaRPr lang="zh-CN" altLang="en-US" dirty="0"/>
                    </a:p>
                  </a:txBody>
                  <a:tcPr anchor="ctr"/>
                </a:tc>
                <a:tc>
                  <a:txBody>
                    <a:bodyPr/>
                    <a:lstStyle/>
                    <a:p>
                      <a:pPr algn="ctr"/>
                      <a:r>
                        <a:rPr lang="en-US" altLang="zh-CN" dirty="0"/>
                        <a:t>……</a:t>
                      </a:r>
                      <a:endParaRPr lang="zh-CN" altLang="en-US" dirty="0"/>
                    </a:p>
                  </a:txBody>
                  <a:tcPr anchor="ctr"/>
                </a:tc>
                <a:tc>
                  <a:txBody>
                    <a:bodyPr/>
                    <a:lstStyle/>
                    <a:p>
                      <a:pPr algn="ctr"/>
                      <a:r>
                        <a:rPr lang="en-US" altLang="zh-CN" dirty="0"/>
                        <a:t>\0</a:t>
                      </a:r>
                      <a:endParaRPr lang="zh-CN" altLang="en-US" dirty="0"/>
                    </a:p>
                  </a:txBody>
                  <a:tcPr anchor="ctr"/>
                </a:tc>
                <a:extLst>
                  <a:ext uri="{0D108BD9-81ED-4DB2-BD59-A6C34878D82A}">
                    <a16:rowId xmlns:a16="http://schemas.microsoft.com/office/drawing/2014/main" val="1006405735"/>
                  </a:ext>
                </a:extLst>
              </a:tr>
            </a:tbl>
          </a:graphicData>
        </a:graphic>
      </p:graphicFrame>
      <p:graphicFrame>
        <p:nvGraphicFramePr>
          <p:cNvPr id="10" name="表格 4">
            <a:extLst>
              <a:ext uri="{FF2B5EF4-FFF2-40B4-BE49-F238E27FC236}">
                <a16:creationId xmlns:a16="http://schemas.microsoft.com/office/drawing/2014/main" id="{2CE4DB07-9910-482F-9A41-523AB1741A44}"/>
              </a:ext>
            </a:extLst>
          </p:cNvPr>
          <p:cNvGraphicFramePr>
            <a:graphicFrameLocks noGrp="1"/>
          </p:cNvGraphicFramePr>
          <p:nvPr>
            <p:extLst>
              <p:ext uri="{D42A27DB-BD31-4B8C-83A1-F6EECF244321}">
                <p14:modId xmlns:p14="http://schemas.microsoft.com/office/powerpoint/2010/main" val="1588176845"/>
              </p:ext>
            </p:extLst>
          </p:nvPr>
        </p:nvGraphicFramePr>
        <p:xfrm>
          <a:off x="5697584" y="1866700"/>
          <a:ext cx="3202578" cy="370840"/>
        </p:xfrm>
        <a:graphic>
          <a:graphicData uri="http://schemas.openxmlformats.org/drawingml/2006/table">
            <a:tbl>
              <a:tblPr firstRow="1" bandRow="1">
                <a:tableStyleId>{5940675A-B579-460E-94D1-54222C63F5DA}</a:tableStyleId>
              </a:tblPr>
              <a:tblGrid>
                <a:gridCol w="533763">
                  <a:extLst>
                    <a:ext uri="{9D8B030D-6E8A-4147-A177-3AD203B41FA5}">
                      <a16:colId xmlns:a16="http://schemas.microsoft.com/office/drawing/2014/main" val="1850754280"/>
                    </a:ext>
                  </a:extLst>
                </a:gridCol>
                <a:gridCol w="533763">
                  <a:extLst>
                    <a:ext uri="{9D8B030D-6E8A-4147-A177-3AD203B41FA5}">
                      <a16:colId xmlns:a16="http://schemas.microsoft.com/office/drawing/2014/main" val="3830515087"/>
                    </a:ext>
                  </a:extLst>
                </a:gridCol>
                <a:gridCol w="1601289">
                  <a:extLst>
                    <a:ext uri="{9D8B030D-6E8A-4147-A177-3AD203B41FA5}">
                      <a16:colId xmlns:a16="http://schemas.microsoft.com/office/drawing/2014/main" val="4206018818"/>
                    </a:ext>
                  </a:extLst>
                </a:gridCol>
                <a:gridCol w="533763">
                  <a:extLst>
                    <a:ext uri="{9D8B030D-6E8A-4147-A177-3AD203B41FA5}">
                      <a16:colId xmlns:a16="http://schemas.microsoft.com/office/drawing/2014/main" val="566917619"/>
                    </a:ext>
                  </a:extLst>
                </a:gridCol>
              </a:tblGrid>
              <a:tr h="370840">
                <a:tc>
                  <a:txBody>
                    <a:bodyPr/>
                    <a:lstStyle/>
                    <a:p>
                      <a:pPr algn="ctr"/>
                      <a:r>
                        <a:rPr lang="en-US" altLang="zh-CN" dirty="0"/>
                        <a:t>X</a:t>
                      </a:r>
                      <a:endParaRPr lang="zh-CN" altLang="en-US" dirty="0"/>
                    </a:p>
                  </a:txBody>
                  <a:tcPr anchor="ctr"/>
                </a:tc>
                <a:tc>
                  <a:txBody>
                    <a:bodyPr/>
                    <a:lstStyle/>
                    <a:p>
                      <a:pPr algn="ctr"/>
                      <a:r>
                        <a:rPr lang="en-US" altLang="zh-CN" dirty="0"/>
                        <a:t>i</a:t>
                      </a:r>
                      <a:endParaRPr lang="zh-CN" altLang="en-US" dirty="0"/>
                    </a:p>
                  </a:txBody>
                  <a:tcPr anchor="ctr"/>
                </a:tc>
                <a:tc>
                  <a:txBody>
                    <a:bodyPr/>
                    <a:lstStyle/>
                    <a:p>
                      <a:pPr algn="ctr"/>
                      <a:r>
                        <a:rPr lang="en-US" altLang="zh-CN" dirty="0"/>
                        <a:t>……</a:t>
                      </a:r>
                      <a:endParaRPr lang="zh-CN" altLang="en-US" dirty="0"/>
                    </a:p>
                  </a:txBody>
                  <a:tcPr anchor="ctr"/>
                </a:tc>
                <a:tc>
                  <a:txBody>
                    <a:bodyPr/>
                    <a:lstStyle/>
                    <a:p>
                      <a:pPr algn="ctr"/>
                      <a:r>
                        <a:rPr lang="en-US" altLang="zh-CN" dirty="0"/>
                        <a:t>\0</a:t>
                      </a:r>
                      <a:endParaRPr lang="zh-CN" altLang="en-US" dirty="0"/>
                    </a:p>
                  </a:txBody>
                  <a:tcPr anchor="ctr"/>
                </a:tc>
                <a:extLst>
                  <a:ext uri="{0D108BD9-81ED-4DB2-BD59-A6C34878D82A}">
                    <a16:rowId xmlns:a16="http://schemas.microsoft.com/office/drawing/2014/main" val="1006405735"/>
                  </a:ext>
                </a:extLst>
              </a:tr>
            </a:tbl>
          </a:graphicData>
        </a:graphic>
      </p:graphicFrame>
      <p:grpSp>
        <p:nvGrpSpPr>
          <p:cNvPr id="32" name="组合 31">
            <a:extLst>
              <a:ext uri="{FF2B5EF4-FFF2-40B4-BE49-F238E27FC236}">
                <a16:creationId xmlns:a16="http://schemas.microsoft.com/office/drawing/2014/main" id="{19E13C68-4FF4-49AB-8DBB-F7A1B1B33803}"/>
              </a:ext>
            </a:extLst>
          </p:cNvPr>
          <p:cNvGrpSpPr/>
          <p:nvPr/>
        </p:nvGrpSpPr>
        <p:grpSpPr>
          <a:xfrm>
            <a:off x="3523347" y="1088290"/>
            <a:ext cx="2197464" cy="3967480"/>
            <a:chOff x="3505200" y="1088290"/>
            <a:chExt cx="2197464" cy="3967480"/>
          </a:xfrm>
        </p:grpSpPr>
        <p:cxnSp>
          <p:nvCxnSpPr>
            <p:cNvPr id="12" name="连接符: 曲线 11">
              <a:extLst>
                <a:ext uri="{FF2B5EF4-FFF2-40B4-BE49-F238E27FC236}">
                  <a16:creationId xmlns:a16="http://schemas.microsoft.com/office/drawing/2014/main" id="{486C1AD7-D34F-42B0-8397-B4EC67F1E167}"/>
                </a:ext>
              </a:extLst>
            </p:cNvPr>
            <p:cNvCxnSpPr>
              <a:cxnSpLocks/>
              <a:endCxn id="4" idx="1"/>
            </p:cNvCxnSpPr>
            <p:nvPr/>
          </p:nvCxnSpPr>
          <p:spPr>
            <a:xfrm flipV="1">
              <a:off x="3505200" y="1088290"/>
              <a:ext cx="2192384" cy="1085950"/>
            </a:xfrm>
            <a:prstGeom prst="curvedConnector3">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3" name="连接符: 曲线 12">
              <a:extLst>
                <a:ext uri="{FF2B5EF4-FFF2-40B4-BE49-F238E27FC236}">
                  <a16:creationId xmlns:a16="http://schemas.microsoft.com/office/drawing/2014/main" id="{CA3A9174-24E5-4C75-B45F-AD6847BBDA11}"/>
                </a:ext>
              </a:extLst>
            </p:cNvPr>
            <p:cNvCxnSpPr>
              <a:cxnSpLocks/>
              <a:endCxn id="10" idx="1"/>
            </p:cNvCxnSpPr>
            <p:nvPr/>
          </p:nvCxnSpPr>
          <p:spPr>
            <a:xfrm flipV="1">
              <a:off x="3505200" y="2052120"/>
              <a:ext cx="2192384" cy="607160"/>
            </a:xfrm>
            <a:prstGeom prst="curvedConnector3">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5" name="连接符: 曲线 14">
              <a:extLst>
                <a:ext uri="{FF2B5EF4-FFF2-40B4-BE49-F238E27FC236}">
                  <a16:creationId xmlns:a16="http://schemas.microsoft.com/office/drawing/2014/main" id="{CCC15ADB-0FD0-433D-98D7-9B64198F91F5}"/>
                </a:ext>
              </a:extLst>
            </p:cNvPr>
            <p:cNvCxnSpPr>
              <a:cxnSpLocks/>
              <a:endCxn id="9" idx="1"/>
            </p:cNvCxnSpPr>
            <p:nvPr/>
          </p:nvCxnSpPr>
          <p:spPr>
            <a:xfrm flipV="1">
              <a:off x="3505200" y="3033930"/>
              <a:ext cx="2192384" cy="80190"/>
            </a:xfrm>
            <a:prstGeom prst="curvedConnector3">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7" name="连接符: 曲线 16">
              <a:extLst>
                <a:ext uri="{FF2B5EF4-FFF2-40B4-BE49-F238E27FC236}">
                  <a16:creationId xmlns:a16="http://schemas.microsoft.com/office/drawing/2014/main" id="{5B99B81F-E18A-4092-A0AD-E21B9B7BFEA0}"/>
                </a:ext>
              </a:extLst>
            </p:cNvPr>
            <p:cNvCxnSpPr>
              <a:cxnSpLocks/>
              <a:endCxn id="8" idx="1"/>
            </p:cNvCxnSpPr>
            <p:nvPr/>
          </p:nvCxnSpPr>
          <p:spPr>
            <a:xfrm>
              <a:off x="3505200" y="3568960"/>
              <a:ext cx="2192384" cy="475890"/>
            </a:xfrm>
            <a:prstGeom prst="curvedConnector3">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9" name="连接符: 曲线 18">
              <a:extLst>
                <a:ext uri="{FF2B5EF4-FFF2-40B4-BE49-F238E27FC236}">
                  <a16:creationId xmlns:a16="http://schemas.microsoft.com/office/drawing/2014/main" id="{8BE8AB6B-5593-4DD9-BEF3-B6C2B5069262}"/>
                </a:ext>
              </a:extLst>
            </p:cNvPr>
            <p:cNvCxnSpPr>
              <a:cxnSpLocks/>
              <a:endCxn id="7" idx="1"/>
            </p:cNvCxnSpPr>
            <p:nvPr/>
          </p:nvCxnSpPr>
          <p:spPr>
            <a:xfrm>
              <a:off x="3505200" y="4044850"/>
              <a:ext cx="2197464" cy="1010920"/>
            </a:xfrm>
            <a:prstGeom prst="curvedConnector3">
              <a:avLst/>
            </a:prstGeom>
            <a:ln w="28575">
              <a:tailEnd type="triangle"/>
            </a:ln>
          </p:spPr>
          <p:style>
            <a:lnRef idx="1">
              <a:schemeClr val="accent1"/>
            </a:lnRef>
            <a:fillRef idx="0">
              <a:schemeClr val="accent1"/>
            </a:fillRef>
            <a:effectRef idx="0">
              <a:schemeClr val="accent1"/>
            </a:effectRef>
            <a:fontRef idx="minor">
              <a:schemeClr val="tx1"/>
            </a:fontRef>
          </p:style>
        </p:cxnSp>
      </p:grpSp>
      <p:grpSp>
        <p:nvGrpSpPr>
          <p:cNvPr id="55" name="组合 54">
            <a:extLst>
              <a:ext uri="{FF2B5EF4-FFF2-40B4-BE49-F238E27FC236}">
                <a16:creationId xmlns:a16="http://schemas.microsoft.com/office/drawing/2014/main" id="{4B86D7BA-FE61-4B3C-AE7B-EDACBBE0905C}"/>
              </a:ext>
            </a:extLst>
          </p:cNvPr>
          <p:cNvGrpSpPr/>
          <p:nvPr/>
        </p:nvGrpSpPr>
        <p:grpSpPr>
          <a:xfrm>
            <a:off x="3497580" y="1088290"/>
            <a:ext cx="2205084" cy="3967480"/>
            <a:chOff x="3497580" y="1088290"/>
            <a:chExt cx="2205084" cy="3967480"/>
          </a:xfrm>
        </p:grpSpPr>
        <p:cxnSp>
          <p:nvCxnSpPr>
            <p:cNvPr id="33" name="连接符: 曲线 32">
              <a:extLst>
                <a:ext uri="{FF2B5EF4-FFF2-40B4-BE49-F238E27FC236}">
                  <a16:creationId xmlns:a16="http://schemas.microsoft.com/office/drawing/2014/main" id="{24E8DAFE-0B89-47EE-94D7-680E3C423494}"/>
                </a:ext>
              </a:extLst>
            </p:cNvPr>
            <p:cNvCxnSpPr>
              <a:cxnSpLocks/>
              <a:endCxn id="8" idx="1"/>
            </p:cNvCxnSpPr>
            <p:nvPr/>
          </p:nvCxnSpPr>
          <p:spPr>
            <a:xfrm>
              <a:off x="3505200" y="2220830"/>
              <a:ext cx="2192384" cy="1824020"/>
            </a:xfrm>
            <a:prstGeom prst="curvedConnector3">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连接符: 曲线 34">
              <a:extLst>
                <a:ext uri="{FF2B5EF4-FFF2-40B4-BE49-F238E27FC236}">
                  <a16:creationId xmlns:a16="http://schemas.microsoft.com/office/drawing/2014/main" id="{140C868F-5F76-4674-9F9F-CBF8A39D5DB5}"/>
                </a:ext>
              </a:extLst>
            </p:cNvPr>
            <p:cNvCxnSpPr>
              <a:cxnSpLocks/>
              <a:endCxn id="4" idx="1"/>
            </p:cNvCxnSpPr>
            <p:nvPr/>
          </p:nvCxnSpPr>
          <p:spPr>
            <a:xfrm flipV="1">
              <a:off x="3505200" y="1088290"/>
              <a:ext cx="2192384" cy="1551969"/>
            </a:xfrm>
            <a:prstGeom prst="curvedConnector3">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7" name="连接符: 曲线 36">
              <a:extLst>
                <a:ext uri="{FF2B5EF4-FFF2-40B4-BE49-F238E27FC236}">
                  <a16:creationId xmlns:a16="http://schemas.microsoft.com/office/drawing/2014/main" id="{1C65ADFA-F403-4B08-895E-87B92B2BF4CC}"/>
                </a:ext>
              </a:extLst>
            </p:cNvPr>
            <p:cNvCxnSpPr>
              <a:cxnSpLocks/>
              <a:endCxn id="7" idx="1"/>
            </p:cNvCxnSpPr>
            <p:nvPr/>
          </p:nvCxnSpPr>
          <p:spPr>
            <a:xfrm>
              <a:off x="3505200" y="3125250"/>
              <a:ext cx="2197464" cy="1930520"/>
            </a:xfrm>
            <a:prstGeom prst="curvedConnector3">
              <a:avLst/>
            </a:prstGeom>
            <a:ln w="28575">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43" name="连接符: 曲线 42">
              <a:extLst>
                <a:ext uri="{FF2B5EF4-FFF2-40B4-BE49-F238E27FC236}">
                  <a16:creationId xmlns:a16="http://schemas.microsoft.com/office/drawing/2014/main" id="{2CE8CB3A-A093-4CFD-9584-69E7B866C925}"/>
                </a:ext>
              </a:extLst>
            </p:cNvPr>
            <p:cNvCxnSpPr>
              <a:cxnSpLocks/>
              <a:endCxn id="10" idx="1"/>
            </p:cNvCxnSpPr>
            <p:nvPr/>
          </p:nvCxnSpPr>
          <p:spPr>
            <a:xfrm flipV="1">
              <a:off x="3502660" y="2052120"/>
              <a:ext cx="2194924" cy="1557138"/>
            </a:xfrm>
            <a:prstGeom prst="curvedConnector3">
              <a:avLst>
                <a:gd name="adj1" fmla="val 50000"/>
              </a:avLst>
            </a:prstGeom>
            <a:ln w="28575">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45" name="连接符: 曲线 44">
              <a:extLst>
                <a:ext uri="{FF2B5EF4-FFF2-40B4-BE49-F238E27FC236}">
                  <a16:creationId xmlns:a16="http://schemas.microsoft.com/office/drawing/2014/main" id="{B9F2E4FA-B7D4-4409-979C-D411D73E9E9F}"/>
                </a:ext>
              </a:extLst>
            </p:cNvPr>
            <p:cNvCxnSpPr>
              <a:cxnSpLocks/>
              <a:endCxn id="9" idx="1"/>
            </p:cNvCxnSpPr>
            <p:nvPr/>
          </p:nvCxnSpPr>
          <p:spPr>
            <a:xfrm flipV="1">
              <a:off x="3497580" y="3033930"/>
              <a:ext cx="2200004" cy="1025018"/>
            </a:xfrm>
            <a:prstGeom prst="curvedConnector3">
              <a:avLst>
                <a:gd name="adj1" fmla="val 50000"/>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grpSp>
      <p:sp>
        <p:nvSpPr>
          <p:cNvPr id="56" name="灯片编号占位符 55">
            <a:extLst>
              <a:ext uri="{FF2B5EF4-FFF2-40B4-BE49-F238E27FC236}">
                <a16:creationId xmlns:a16="http://schemas.microsoft.com/office/drawing/2014/main" id="{118D258F-1673-40E6-9CB8-87DEA3B171AD}"/>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34</a:t>
            </a:fld>
            <a:r>
              <a:rPr lang="en-US" altLang="zh-CN">
                <a:solidFill>
                  <a:prstClr val="black">
                    <a:tint val="75000"/>
                  </a:prstClr>
                </a:solidFill>
              </a:rPr>
              <a:t>/ 35</a:t>
            </a:r>
            <a:endParaRPr lang="zh-CN" altLang="en-US" dirty="0"/>
          </a:p>
        </p:txBody>
      </p:sp>
      <p:sp>
        <p:nvSpPr>
          <p:cNvPr id="23" name="文本框 22">
            <a:extLst>
              <a:ext uri="{FF2B5EF4-FFF2-40B4-BE49-F238E27FC236}">
                <a16:creationId xmlns:a16="http://schemas.microsoft.com/office/drawing/2014/main" id="{E7E2FB0A-576C-493F-A1FC-F367D9AA48BF}"/>
              </a:ext>
            </a:extLst>
          </p:cNvPr>
          <p:cNvSpPr txBox="1"/>
          <p:nvPr/>
        </p:nvSpPr>
        <p:spPr>
          <a:xfrm>
            <a:off x="2141114" y="-50475"/>
            <a:ext cx="4987824"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指针数组的应用</a:t>
            </a:r>
            <a:endParaRPr lang="zh-CN" altLang="en-US" sz="3200" b="1" dirty="0">
              <a:solidFill>
                <a:srgbClr val="200AC4"/>
              </a:solidFill>
              <a:ea typeface="隶书" pitchFamily="49" charset="-122"/>
            </a:endParaRPr>
          </a:p>
        </p:txBody>
      </p:sp>
    </p:spTree>
    <p:extLst>
      <p:ext uri="{BB962C8B-B14F-4D97-AF65-F5344CB8AC3E}">
        <p14:creationId xmlns:p14="http://schemas.microsoft.com/office/powerpoint/2010/main" val="2545747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wipe(left)">
                                      <p:cBhvr>
                                        <p:cTn id="7" dur="500"/>
                                        <p:tgtEl>
                                          <p:spTgt spid="55"/>
                                        </p:tgtEl>
                                      </p:cBhvr>
                                    </p:animEffect>
                                  </p:childTnLst>
                                </p:cTn>
                              </p:par>
                              <p:par>
                                <p:cTn id="8" presetID="22" presetClass="exit" presetSubtype="4" fill="hold" nodeType="withEffect">
                                  <p:stCondLst>
                                    <p:cond delay="0"/>
                                  </p:stCondLst>
                                  <p:childTnLst>
                                    <p:animEffect transition="out" filter="wipe(down)">
                                      <p:cBhvr>
                                        <p:cTn id="9" dur="500"/>
                                        <p:tgtEl>
                                          <p:spTgt spid="32"/>
                                        </p:tgtEl>
                                      </p:cBhvr>
                                    </p:animEffect>
                                    <p:set>
                                      <p:cBhvr>
                                        <p:cTn id="10" dur="1" fill="hold">
                                          <p:stCondLst>
                                            <p:cond delay="499"/>
                                          </p:stCondLst>
                                        </p:cTn>
                                        <p:tgtEl>
                                          <p:spTgt spid="3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888023927"/>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封面和目录​​">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5042</TotalTime>
  <Words>4626</Words>
  <Application>Microsoft Office PowerPoint</Application>
  <PresentationFormat>宽屏</PresentationFormat>
  <Paragraphs>735</Paragraphs>
  <Slides>36</Slides>
  <Notes>1</Notes>
  <HiddenSlides>0</HiddenSlides>
  <MMClips>0</MMClips>
  <ScaleCrop>false</ScaleCrop>
  <HeadingPairs>
    <vt:vector size="6" baseType="variant">
      <vt:variant>
        <vt:lpstr>已用的字体</vt:lpstr>
      </vt:variant>
      <vt:variant>
        <vt:i4>15</vt:i4>
      </vt:variant>
      <vt:variant>
        <vt:lpstr>主题</vt:lpstr>
      </vt:variant>
      <vt:variant>
        <vt:i4>2</vt:i4>
      </vt:variant>
      <vt:variant>
        <vt:lpstr>幻灯片标题</vt:lpstr>
      </vt:variant>
      <vt:variant>
        <vt:i4>36</vt:i4>
      </vt:variant>
    </vt:vector>
  </HeadingPairs>
  <TitlesOfParts>
    <vt:vector size="53" baseType="lpstr">
      <vt:lpstr>等线</vt:lpstr>
      <vt:lpstr>等线 Light</vt:lpstr>
      <vt:lpstr>华文行楷</vt:lpstr>
      <vt:lpstr>华文隶书</vt:lpstr>
      <vt:lpstr>华文中宋</vt:lpstr>
      <vt:lpstr>楷体_GB2312</vt:lpstr>
      <vt:lpstr>隶书</vt:lpstr>
      <vt:lpstr>宋体</vt:lpstr>
      <vt:lpstr>微软雅黑</vt:lpstr>
      <vt:lpstr>Arial</vt:lpstr>
      <vt:lpstr>Calibri</vt:lpstr>
      <vt:lpstr>Century</vt:lpstr>
      <vt:lpstr>Consolas</vt:lpstr>
      <vt:lpstr>Times New Roman</vt:lpstr>
      <vt:lpstr>Wingdings 2</vt:lpstr>
      <vt:lpstr>Office 主题​​</vt:lpstr>
      <vt:lpstr>封面和目录​​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WJQ</dc:creator>
  <cp:lastModifiedBy>WJQ</cp:lastModifiedBy>
  <cp:revision>196</cp:revision>
  <dcterms:created xsi:type="dcterms:W3CDTF">2022-05-18T03:53:29Z</dcterms:created>
  <dcterms:modified xsi:type="dcterms:W3CDTF">2023-05-02T09:16:13Z</dcterms:modified>
</cp:coreProperties>
</file>