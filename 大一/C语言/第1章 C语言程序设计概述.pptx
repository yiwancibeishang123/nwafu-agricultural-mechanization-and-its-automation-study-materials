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4" r:id="rId2"/>
  </p:sldMasterIdLst>
  <p:notesMasterIdLst>
    <p:notesMasterId r:id="rId21"/>
  </p:notesMasterIdLst>
  <p:sldIdLst>
    <p:sldId id="258" r:id="rId3"/>
    <p:sldId id="259" r:id="rId4"/>
    <p:sldId id="278" r:id="rId5"/>
    <p:sldId id="274" r:id="rId6"/>
    <p:sldId id="277" r:id="rId7"/>
    <p:sldId id="279" r:id="rId8"/>
    <p:sldId id="280" r:id="rId9"/>
    <p:sldId id="281" r:id="rId10"/>
    <p:sldId id="282" r:id="rId11"/>
    <p:sldId id="263" r:id="rId12"/>
    <p:sldId id="264" r:id="rId13"/>
    <p:sldId id="275" r:id="rId14"/>
    <p:sldId id="276" r:id="rId15"/>
    <p:sldId id="268" r:id="rId16"/>
    <p:sldId id="260" r:id="rId17"/>
    <p:sldId id="261" r:id="rId18"/>
    <p:sldId id="26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C48F1E65-1AF3-4864-BB16-16810757C6B6}">
          <p14:sldIdLst>
            <p14:sldId id="258"/>
            <p14:sldId id="259"/>
            <p14:sldId id="278"/>
            <p14:sldId id="274"/>
            <p14:sldId id="277"/>
            <p14:sldId id="279"/>
            <p14:sldId id="280"/>
            <p14:sldId id="281"/>
            <p14:sldId id="282"/>
            <p14:sldId id="263"/>
            <p14:sldId id="264"/>
            <p14:sldId id="275"/>
            <p14:sldId id="276"/>
            <p14:sldId id="268"/>
            <p14:sldId id="260"/>
            <p14:sldId id="261"/>
            <p14:sldId id="26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E425-BF42-4068-87C2-E75EA102A699}" type="datetimeFigureOut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76453-3C94-43D2-B70F-282310072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01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8FCAE-9FB0-4A30-B3FE-9D7E3787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5FB0-0C4C-4AA9-9277-0BBC53BE0466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82FBA-F4DB-445D-BAB7-4C15F4CB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2403A-59F3-4AA0-8F78-F512440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99BB3C-EB62-4908-82CC-EB79D98C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32C9-663C-459A-B9D2-0D12EDEEA868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BC8ED-8024-4ADB-A743-1A03D438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1CFAB-48F4-414A-A3F9-384F932C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B7D7F2-0AE0-4F3A-A562-E6EBE1C31F2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1.1 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语言程序的基本组成</a:t>
            </a:r>
          </a:p>
        </p:txBody>
      </p:sp>
    </p:spTree>
    <p:extLst>
      <p:ext uri="{BB962C8B-B14F-4D97-AF65-F5344CB8AC3E}">
        <p14:creationId xmlns:p14="http://schemas.microsoft.com/office/powerpoint/2010/main" val="45917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99BB3C-EB62-4908-82CC-EB79D98C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22CF3-DCF9-43F0-BDD1-83DEA8A9C86E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BC8ED-8024-4ADB-A743-1A03D438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1CFAB-48F4-414A-A3F9-384F932C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84C29A-4EE1-4DB0-8488-95AA7C4FAEDD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1.2 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语言程序设计的一般步骤</a:t>
            </a:r>
          </a:p>
        </p:txBody>
      </p:sp>
    </p:spTree>
    <p:extLst>
      <p:ext uri="{BB962C8B-B14F-4D97-AF65-F5344CB8AC3E}">
        <p14:creationId xmlns:p14="http://schemas.microsoft.com/office/powerpoint/2010/main" val="314358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99BB3C-EB62-4908-82CC-EB79D98C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DBC2-D53C-46F8-9457-D1607C59E943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BC8ED-8024-4ADB-A743-1A03D438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1CFAB-48F4-414A-A3F9-384F932C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2F79B3-F865-4432-83EE-06572855FC3B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1.3 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语言程序的上机执行过程</a:t>
            </a:r>
          </a:p>
        </p:txBody>
      </p:sp>
    </p:spTree>
    <p:extLst>
      <p:ext uri="{BB962C8B-B14F-4D97-AF65-F5344CB8AC3E}">
        <p14:creationId xmlns:p14="http://schemas.microsoft.com/office/powerpoint/2010/main" val="236489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99BB3C-EB62-4908-82CC-EB79D98C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E0AD3-DBE0-4156-8469-00EA5952B12B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BC8ED-8024-4ADB-A743-1A03D438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1CFAB-48F4-414A-A3F9-384F932C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1AC0385-FD82-4239-B644-F51CAF351492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1.4 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语言的学习方法</a:t>
            </a:r>
          </a:p>
        </p:txBody>
      </p:sp>
    </p:spTree>
    <p:extLst>
      <p:ext uri="{BB962C8B-B14F-4D97-AF65-F5344CB8AC3E}">
        <p14:creationId xmlns:p14="http://schemas.microsoft.com/office/powerpoint/2010/main" val="1125769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DBF435-014E-47CA-985A-BB198BB6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658D-ADD5-4F28-8E3E-5CC28CA0D6A8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42906F-2FC1-452B-B66E-1A5717E5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1EC447-4B40-488E-99EA-9062DF80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59C33B-4F63-4DBB-B96D-6082BE6C8F6E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案例：程序的铭牌</a:t>
            </a:r>
          </a:p>
        </p:txBody>
      </p:sp>
    </p:spTree>
    <p:extLst>
      <p:ext uri="{BB962C8B-B14F-4D97-AF65-F5344CB8AC3E}">
        <p14:creationId xmlns:p14="http://schemas.microsoft.com/office/powerpoint/2010/main" val="304126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A57981-622F-4C85-AAC3-86D82916A7C7}"/>
              </a:ext>
            </a:extLst>
          </p:cNvPr>
          <p:cNvGrpSpPr/>
          <p:nvPr userDrawn="1"/>
        </p:nvGrpSpPr>
        <p:grpSpPr>
          <a:xfrm>
            <a:off x="0" y="1354137"/>
            <a:ext cx="12191999" cy="2903538"/>
            <a:chOff x="1856581" y="1077913"/>
            <a:chExt cx="9145588" cy="279876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F3B009-7F7D-4A6B-90A7-EAC230DAC673}"/>
                </a:ext>
              </a:extLst>
            </p:cNvPr>
            <p:cNvGrpSpPr/>
            <p:nvPr userDrawn="1"/>
          </p:nvGrpSpPr>
          <p:grpSpPr>
            <a:xfrm>
              <a:off x="1856581" y="1077913"/>
              <a:ext cx="9145588" cy="2798762"/>
              <a:chOff x="0" y="1487488"/>
              <a:chExt cx="9145588" cy="2798762"/>
            </a:xfrm>
          </p:grpSpPr>
          <p:sp>
            <p:nvSpPr>
              <p:cNvPr id="6" name="矩形 4">
                <a:extLst>
                  <a:ext uri="{FF2B5EF4-FFF2-40B4-BE49-F238E27FC236}">
                    <a16:creationId xmlns:a16="http://schemas.microsoft.com/office/drawing/2014/main" id="{3A9F79D7-EE70-44C6-87A7-3A5349DBDB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88" y="1625600"/>
                <a:ext cx="9144000" cy="2484438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BB45569-6700-4093-9D14-557B47137C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4232275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8" name="矩形 6">
                <a:extLst>
                  <a:ext uri="{FF2B5EF4-FFF2-40B4-BE49-F238E27FC236}">
                    <a16:creationId xmlns:a16="http://schemas.microsoft.com/office/drawing/2014/main" id="{EAA0AD1C-D43A-4CDC-9212-0D5DC7E602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87488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CB95522C-BFEF-4FEE-99E2-3D87100C4D6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2504280" y="2508250"/>
              <a:ext cx="7848600" cy="1368425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en-US" altLang="zh-CN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C</a:t>
              </a:r>
              <a:r>
                <a:rPr lang="zh-CN" alt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语言程序设计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101706-0246-4D72-A2BC-98A80CFACEB4}"/>
              </a:ext>
            </a:extLst>
          </p:cNvPr>
          <p:cNvGrpSpPr/>
          <p:nvPr userDrawn="1"/>
        </p:nvGrpSpPr>
        <p:grpSpPr>
          <a:xfrm>
            <a:off x="-1" y="4685984"/>
            <a:ext cx="12192001" cy="1315043"/>
            <a:chOff x="1637409" y="5066644"/>
            <a:chExt cx="6737987" cy="1315043"/>
          </a:xfrm>
        </p:grpSpPr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9BD6CD0-C9AC-44D9-B12D-81931EEEE37F}"/>
                </a:ext>
              </a:extLst>
            </p:cNvPr>
            <p:cNvSpPr txBox="1"/>
            <p:nvPr/>
          </p:nvSpPr>
          <p:spPr>
            <a:xfrm>
              <a:off x="1637409" y="5066644"/>
              <a:ext cx="6736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rPr>
                <a:t>主讲：吴锦桥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2549B70-5E95-4C4F-A488-F377B7D57E38}"/>
                </a:ext>
              </a:extLst>
            </p:cNvPr>
            <p:cNvSpPr txBox="1"/>
            <p:nvPr/>
          </p:nvSpPr>
          <p:spPr>
            <a:xfrm>
              <a:off x="1638581" y="5858467"/>
              <a:ext cx="6736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西北农林科技大学 信息工程学院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D9F945-ED18-412B-ADFB-CA000B285FB1}"/>
              </a:ext>
            </a:extLst>
          </p:cNvPr>
          <p:cNvGrpSpPr/>
          <p:nvPr userDrawn="1"/>
        </p:nvGrpSpPr>
        <p:grpSpPr>
          <a:xfrm>
            <a:off x="0" y="6567544"/>
            <a:ext cx="12192000" cy="290456"/>
            <a:chOff x="0" y="6567544"/>
            <a:chExt cx="12192000" cy="290456"/>
          </a:xfrm>
        </p:grpSpPr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D7F3770B-929D-4134-ABD8-02B82F6E9969}"/>
                </a:ext>
              </a:extLst>
            </p:cNvPr>
            <p:cNvSpPr/>
            <p:nvPr userDrawn="1"/>
          </p:nvSpPr>
          <p:spPr>
            <a:xfrm>
              <a:off x="3058085" y="6567544"/>
              <a:ext cx="6279777" cy="290456"/>
            </a:xfrm>
            <a:prstGeom prst="trapezoid">
              <a:avLst/>
            </a:prstGeom>
            <a:solidFill>
              <a:srgbClr val="00A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126A-0445-4067-A91E-6E9403A4BC26}"/>
                </a:ext>
              </a:extLst>
            </p:cNvPr>
            <p:cNvSpPr/>
            <p:nvPr userDrawn="1"/>
          </p:nvSpPr>
          <p:spPr>
            <a:xfrm>
              <a:off x="0" y="6669741"/>
              <a:ext cx="12192000" cy="188259"/>
            </a:xfrm>
            <a:prstGeom prst="rect">
              <a:avLst/>
            </a:prstGeom>
            <a:solidFill>
              <a:srgbClr val="056A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DA33834-D47B-4A39-AFBF-0707B98EF227}"/>
              </a:ext>
            </a:extLst>
          </p:cNvPr>
          <p:cNvSpPr/>
          <p:nvPr userDrawn="1"/>
        </p:nvSpPr>
        <p:spPr>
          <a:xfrm>
            <a:off x="0" y="0"/>
            <a:ext cx="12192000" cy="51099"/>
          </a:xfrm>
          <a:prstGeom prst="rect">
            <a:avLst/>
          </a:prstGeom>
          <a:solidFill>
            <a:srgbClr val="00A3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47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A406FEC5-3B86-47F4-9DE8-AD14B42FD340}"/>
              </a:ext>
            </a:extLst>
          </p:cNvPr>
          <p:cNvSpPr/>
          <p:nvPr userDrawn="1"/>
        </p:nvSpPr>
        <p:spPr>
          <a:xfrm rot="10800000">
            <a:off x="1867" y="0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942DE91-6A52-4F3E-B751-25D294D17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27052" y="930536"/>
            <a:ext cx="503236" cy="5048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sz="2800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6AD108-1623-41DA-B8B2-0EF3D74F8E5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606289" y="3558216"/>
            <a:ext cx="3712586" cy="1212667"/>
          </a:xfrm>
          <a:prstGeom prst="rect">
            <a:avLst/>
          </a:prstGeom>
        </p:spPr>
        <p:txBody>
          <a:bodyPr/>
          <a:lstStyle>
            <a:lvl1pPr marL="227013" indent="-227013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6842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14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5986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58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9pPr>
          </a:lstStyle>
          <a:p>
            <a:pPr marL="0" indent="0" algn="ctr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第</a:t>
            </a: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章 </a:t>
            </a:r>
            <a:endParaRPr lang="en-US" altLang="zh-CN" sz="3200" b="1" dirty="0">
              <a:solidFill>
                <a:srgbClr val="000000"/>
              </a:solidFill>
              <a:latin typeface="Calibri"/>
              <a:ea typeface="宋体"/>
            </a:endParaRP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语言程序设计概述</a:t>
            </a:r>
            <a:endParaRPr lang="en-US" altLang="zh-CN" sz="3200" b="1" dirty="0">
              <a:solidFill>
                <a:srgbClr val="3366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9832B8B-E77D-459B-A122-A63E215FEC28}"/>
              </a:ext>
            </a:extLst>
          </p:cNvPr>
          <p:cNvGrpSpPr/>
          <p:nvPr userDrawn="1"/>
        </p:nvGrpSpPr>
        <p:grpSpPr>
          <a:xfrm>
            <a:off x="4728710" y="1466040"/>
            <a:ext cx="5634004" cy="623887"/>
            <a:chOff x="4577557" y="1037605"/>
            <a:chExt cx="5634004" cy="623887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D94ABC20-F180-44D3-B7BA-04431E5E5C0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语言程序的基本组成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0" name="组合 58">
              <a:extLst>
                <a:ext uri="{FF2B5EF4-FFF2-40B4-BE49-F238E27FC236}">
                  <a16:creationId xmlns:a16="http://schemas.microsoft.com/office/drawing/2014/main" id="{A5C29670-9CA9-4E79-9EEC-B9217AF473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1" name="Oval 16">
                <a:extLst>
                  <a:ext uri="{FF2B5EF4-FFF2-40B4-BE49-F238E27FC236}">
                    <a16:creationId xmlns:a16="http://schemas.microsoft.com/office/drawing/2014/main" id="{DC967EB6-C997-4E3D-8C9C-A7CCAA06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TextBox 60">
                <a:extLst>
                  <a:ext uri="{FF2B5EF4-FFF2-40B4-BE49-F238E27FC236}">
                    <a16:creationId xmlns:a16="http://schemas.microsoft.com/office/drawing/2014/main" id="{AE26040D-EBCE-413F-93C8-3B0DFEDF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1.1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D3DAC6-3986-43E5-AEAF-A1BB0DEACD75}"/>
              </a:ext>
            </a:extLst>
          </p:cNvPr>
          <p:cNvGrpSpPr/>
          <p:nvPr userDrawn="1"/>
        </p:nvGrpSpPr>
        <p:grpSpPr>
          <a:xfrm>
            <a:off x="4719354" y="3094660"/>
            <a:ext cx="5634004" cy="623887"/>
            <a:chOff x="4577557" y="1037605"/>
            <a:chExt cx="5634004" cy="623887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73125C3-7C2A-4C40-BE23-CB648477AC7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语言程序的上机执行过程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5" name="组合 58">
              <a:extLst>
                <a:ext uri="{FF2B5EF4-FFF2-40B4-BE49-F238E27FC236}">
                  <a16:creationId xmlns:a16="http://schemas.microsoft.com/office/drawing/2014/main" id="{59003EA9-49AB-4922-BA31-6D62EF448E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65B5D404-033B-4504-B22E-F52048E9D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7" name="TextBox 60">
                <a:extLst>
                  <a:ext uri="{FF2B5EF4-FFF2-40B4-BE49-F238E27FC236}">
                    <a16:creationId xmlns:a16="http://schemas.microsoft.com/office/drawing/2014/main" id="{3BE31F55-8A87-41CD-8BF1-A60F8DBF2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1.3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92780C-9CE0-42EC-B045-F8CBE82ABF40}"/>
              </a:ext>
            </a:extLst>
          </p:cNvPr>
          <p:cNvGrpSpPr/>
          <p:nvPr userDrawn="1"/>
        </p:nvGrpSpPr>
        <p:grpSpPr>
          <a:xfrm>
            <a:off x="4746976" y="2290485"/>
            <a:ext cx="5620512" cy="623887"/>
            <a:chOff x="4564065" y="1024650"/>
            <a:chExt cx="5620512" cy="623887"/>
          </a:xfrm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04A00366-013D-4D06-BA40-3B2FB9036D5A}"/>
                </a:ext>
              </a:extLst>
            </p:cNvPr>
            <p:cNvSpPr/>
            <p:nvPr userDrawn="1"/>
          </p:nvSpPr>
          <p:spPr bwMode="auto">
            <a:xfrm>
              <a:off x="4564065" y="1024650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语言程序设计的一般步骤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0" name="组合 58">
              <a:extLst>
                <a:ext uri="{FF2B5EF4-FFF2-40B4-BE49-F238E27FC236}">
                  <a16:creationId xmlns:a16="http://schemas.microsoft.com/office/drawing/2014/main" id="{53161A28-6C61-43A6-8EA4-15607B7198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DD29CE8A-EBF4-4208-98EE-994EE4B3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2" name="TextBox 60">
                <a:extLst>
                  <a:ext uri="{FF2B5EF4-FFF2-40B4-BE49-F238E27FC236}">
                    <a16:creationId xmlns:a16="http://schemas.microsoft.com/office/drawing/2014/main" id="{A26075A2-4977-4D86-8EFD-B0504A344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1.2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F53E3-60E3-4124-8888-4E808956FB44}"/>
              </a:ext>
            </a:extLst>
          </p:cNvPr>
          <p:cNvGrpSpPr/>
          <p:nvPr userDrawn="1"/>
        </p:nvGrpSpPr>
        <p:grpSpPr>
          <a:xfrm>
            <a:off x="4735456" y="3894422"/>
            <a:ext cx="5634004" cy="623887"/>
            <a:chOff x="4577557" y="1037605"/>
            <a:chExt cx="5634004" cy="623887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4732B8E0-0DFF-4E96-A5BF-481059C4052C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语言的学习方法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5" name="组合 58">
              <a:extLst>
                <a:ext uri="{FF2B5EF4-FFF2-40B4-BE49-F238E27FC236}">
                  <a16:creationId xmlns:a16="http://schemas.microsoft.com/office/drawing/2014/main" id="{90E9BF9A-F17B-43B4-B1E4-6BDE9FA4687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33397C70-D582-4664-BFFF-3A46DC4F3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2591B598-5DF4-4F50-AE0E-A00FD6763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1.4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D3FD84-10C2-4DD1-976E-9E4B2CFFA669}"/>
              </a:ext>
            </a:extLst>
          </p:cNvPr>
          <p:cNvGrpSpPr/>
          <p:nvPr userDrawn="1"/>
        </p:nvGrpSpPr>
        <p:grpSpPr>
          <a:xfrm>
            <a:off x="4733484" y="4682595"/>
            <a:ext cx="5634004" cy="623887"/>
            <a:chOff x="4577557" y="1037605"/>
            <a:chExt cx="5634004" cy="623887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5D2941C-3666-4674-A44F-5ED8322DEBA6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案例：程序的铭牌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0" name="组合 58">
              <a:extLst>
                <a:ext uri="{FF2B5EF4-FFF2-40B4-BE49-F238E27FC236}">
                  <a16:creationId xmlns:a16="http://schemas.microsoft.com/office/drawing/2014/main" id="{D7A5A2D9-F643-4267-88EA-AF1A1B351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77CC0453-D257-4869-B188-60540075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0">
                <a:extLst>
                  <a:ext uri="{FF2B5EF4-FFF2-40B4-BE49-F238E27FC236}">
                    <a16:creationId xmlns:a16="http://schemas.microsoft.com/office/drawing/2014/main" id="{4F7D6541-09B4-4488-8E7D-ED9C19299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1.5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0E7AC5B-1CE7-461E-A939-4AD980DF3D78}"/>
              </a:ext>
            </a:extLst>
          </p:cNvPr>
          <p:cNvGrpSpPr/>
          <p:nvPr userDrawn="1"/>
        </p:nvGrpSpPr>
        <p:grpSpPr>
          <a:xfrm>
            <a:off x="1812726" y="977212"/>
            <a:ext cx="2239963" cy="1047750"/>
            <a:chOff x="988824" y="2510466"/>
            <a:chExt cx="2239963" cy="104775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60FAA0-5572-4ED6-AC94-D5D65C2A0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7849" y="3331203"/>
              <a:ext cx="1147763" cy="227013"/>
            </a:xfrm>
            <a:custGeom>
              <a:avLst/>
              <a:gdLst>
                <a:gd name="T0" fmla="*/ 2147483647 w 2195"/>
                <a:gd name="T1" fmla="*/ 2147483647 h 445"/>
                <a:gd name="T2" fmla="*/ 2147483647 w 2195"/>
                <a:gd name="T3" fmla="*/ 2147483647 h 445"/>
                <a:gd name="T4" fmla="*/ 2147483647 w 2195"/>
                <a:gd name="T5" fmla="*/ 2147483647 h 445"/>
                <a:gd name="T6" fmla="*/ 2147483647 w 2195"/>
                <a:gd name="T7" fmla="*/ 2147483647 h 445"/>
                <a:gd name="T8" fmla="*/ 2147483647 w 2195"/>
                <a:gd name="T9" fmla="*/ 2147483647 h 445"/>
                <a:gd name="T10" fmla="*/ 2147483647 w 2195"/>
                <a:gd name="T11" fmla="*/ 2147483647 h 445"/>
                <a:gd name="T12" fmla="*/ 2147483647 w 2195"/>
                <a:gd name="T13" fmla="*/ 2147483647 h 445"/>
                <a:gd name="T14" fmla="*/ 2147483647 w 2195"/>
                <a:gd name="T15" fmla="*/ 2147483647 h 445"/>
                <a:gd name="T16" fmla="*/ 2147483647 w 2195"/>
                <a:gd name="T17" fmla="*/ 2147483647 h 445"/>
                <a:gd name="T18" fmla="*/ 2147483647 w 2195"/>
                <a:gd name="T19" fmla="*/ 2147483647 h 445"/>
                <a:gd name="T20" fmla="*/ 2147483647 w 2195"/>
                <a:gd name="T21" fmla="*/ 2147483647 h 445"/>
                <a:gd name="T22" fmla="*/ 2147483647 w 2195"/>
                <a:gd name="T23" fmla="*/ 2147483647 h 445"/>
                <a:gd name="T24" fmla="*/ 2147483647 w 2195"/>
                <a:gd name="T25" fmla="*/ 2147483647 h 445"/>
                <a:gd name="T26" fmla="*/ 2147483647 w 2195"/>
                <a:gd name="T27" fmla="*/ 2147483647 h 445"/>
                <a:gd name="T28" fmla="*/ 2147483647 w 2195"/>
                <a:gd name="T29" fmla="*/ 2147483647 h 445"/>
                <a:gd name="T30" fmla="*/ 2147483647 w 2195"/>
                <a:gd name="T31" fmla="*/ 2147483647 h 445"/>
                <a:gd name="T32" fmla="*/ 2147483647 w 2195"/>
                <a:gd name="T33" fmla="*/ 2147483647 h 445"/>
                <a:gd name="T34" fmla="*/ 2147483647 w 2195"/>
                <a:gd name="T35" fmla="*/ 2147483647 h 445"/>
                <a:gd name="T36" fmla="*/ 2147483647 w 2195"/>
                <a:gd name="T37" fmla="*/ 2147483647 h 445"/>
                <a:gd name="T38" fmla="*/ 2147483647 w 2195"/>
                <a:gd name="T39" fmla="*/ 2147483647 h 445"/>
                <a:gd name="T40" fmla="*/ 2147483647 w 2195"/>
                <a:gd name="T41" fmla="*/ 2147483647 h 445"/>
                <a:gd name="T42" fmla="*/ 2147483647 w 2195"/>
                <a:gd name="T43" fmla="*/ 2147483647 h 445"/>
                <a:gd name="T44" fmla="*/ 2147483647 w 2195"/>
                <a:gd name="T45" fmla="*/ 2147483647 h 445"/>
                <a:gd name="T46" fmla="*/ 2147483647 w 2195"/>
                <a:gd name="T47" fmla="*/ 2147483647 h 445"/>
                <a:gd name="T48" fmla="*/ 2147483647 w 2195"/>
                <a:gd name="T49" fmla="*/ 2147483647 h 445"/>
                <a:gd name="T50" fmla="*/ 2147483647 w 2195"/>
                <a:gd name="T51" fmla="*/ 2147483647 h 445"/>
                <a:gd name="T52" fmla="*/ 2147483647 w 2195"/>
                <a:gd name="T53" fmla="*/ 2147483647 h 445"/>
                <a:gd name="T54" fmla="*/ 2147483647 w 2195"/>
                <a:gd name="T55" fmla="*/ 2147483647 h 445"/>
                <a:gd name="T56" fmla="*/ 2147483647 w 2195"/>
                <a:gd name="T57" fmla="*/ 2147483647 h 445"/>
                <a:gd name="T58" fmla="*/ 2147483647 w 2195"/>
                <a:gd name="T59" fmla="*/ 2147483647 h 445"/>
                <a:gd name="T60" fmla="*/ 2147483647 w 2195"/>
                <a:gd name="T61" fmla="*/ 2147483647 h 445"/>
                <a:gd name="T62" fmla="*/ 2147483647 w 2195"/>
                <a:gd name="T63" fmla="*/ 2147483647 h 445"/>
                <a:gd name="T64" fmla="*/ 2147483647 w 2195"/>
                <a:gd name="T65" fmla="*/ 2147483647 h 445"/>
                <a:gd name="T66" fmla="*/ 2147483647 w 2195"/>
                <a:gd name="T67" fmla="*/ 2147483647 h 445"/>
                <a:gd name="T68" fmla="*/ 2147483647 w 2195"/>
                <a:gd name="T69" fmla="*/ 2147483647 h 445"/>
                <a:gd name="T70" fmla="*/ 2147483647 w 2195"/>
                <a:gd name="T71" fmla="*/ 2147483647 h 445"/>
                <a:gd name="T72" fmla="*/ 2147483647 w 2195"/>
                <a:gd name="T73" fmla="*/ 2147483647 h 445"/>
                <a:gd name="T74" fmla="*/ 2147483647 w 2195"/>
                <a:gd name="T75" fmla="*/ 2147483647 h 445"/>
                <a:gd name="T76" fmla="*/ 2147483647 w 2195"/>
                <a:gd name="T77" fmla="*/ 2147483647 h 445"/>
                <a:gd name="T78" fmla="*/ 2147483647 w 2195"/>
                <a:gd name="T79" fmla="*/ 2147483647 h 445"/>
                <a:gd name="T80" fmla="*/ 2147483647 w 2195"/>
                <a:gd name="T81" fmla="*/ 2147483647 h 445"/>
                <a:gd name="T82" fmla="*/ 2147483647 w 2195"/>
                <a:gd name="T83" fmla="*/ 2147483647 h 445"/>
                <a:gd name="T84" fmla="*/ 2147483647 w 2195"/>
                <a:gd name="T85" fmla="*/ 2147483647 h 445"/>
                <a:gd name="T86" fmla="*/ 2147483647 w 2195"/>
                <a:gd name="T87" fmla="*/ 2147483647 h 445"/>
                <a:gd name="T88" fmla="*/ 2147483647 w 2195"/>
                <a:gd name="T89" fmla="*/ 2147483647 h 445"/>
                <a:gd name="T90" fmla="*/ 2147483647 w 2195"/>
                <a:gd name="T91" fmla="*/ 2147483647 h 445"/>
                <a:gd name="T92" fmla="*/ 2147483647 w 2195"/>
                <a:gd name="T93" fmla="*/ 2147483647 h 445"/>
                <a:gd name="T94" fmla="*/ 2147483647 w 2195"/>
                <a:gd name="T95" fmla="*/ 2147483647 h 445"/>
                <a:gd name="T96" fmla="*/ 2147483647 w 2195"/>
                <a:gd name="T97" fmla="*/ 2147483647 h 44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95" h="445">
                  <a:moveTo>
                    <a:pt x="154" y="142"/>
                  </a:moveTo>
                  <a:cubicBezTo>
                    <a:pt x="86" y="144"/>
                    <a:pt x="51" y="189"/>
                    <a:pt x="49" y="278"/>
                  </a:cubicBezTo>
                  <a:cubicBezTo>
                    <a:pt x="51" y="361"/>
                    <a:pt x="86" y="405"/>
                    <a:pt x="154" y="407"/>
                  </a:cubicBezTo>
                  <a:cubicBezTo>
                    <a:pt x="218" y="405"/>
                    <a:pt x="251" y="361"/>
                    <a:pt x="252" y="276"/>
                  </a:cubicBezTo>
                  <a:cubicBezTo>
                    <a:pt x="248" y="193"/>
                    <a:pt x="215" y="148"/>
                    <a:pt x="154" y="142"/>
                  </a:cubicBezTo>
                  <a:close/>
                  <a:moveTo>
                    <a:pt x="152" y="443"/>
                  </a:moveTo>
                  <a:cubicBezTo>
                    <a:pt x="55" y="437"/>
                    <a:pt x="5" y="383"/>
                    <a:pt x="0" y="280"/>
                  </a:cubicBezTo>
                  <a:cubicBezTo>
                    <a:pt x="3" y="166"/>
                    <a:pt x="55" y="107"/>
                    <a:pt x="156" y="105"/>
                  </a:cubicBezTo>
                  <a:cubicBezTo>
                    <a:pt x="250" y="109"/>
                    <a:pt x="299" y="165"/>
                    <a:pt x="303" y="274"/>
                  </a:cubicBezTo>
                  <a:cubicBezTo>
                    <a:pt x="302" y="385"/>
                    <a:pt x="251" y="442"/>
                    <a:pt x="152" y="443"/>
                  </a:cubicBezTo>
                  <a:close/>
                  <a:moveTo>
                    <a:pt x="665" y="227"/>
                  </a:moveTo>
                  <a:lnTo>
                    <a:pt x="665" y="434"/>
                  </a:lnTo>
                  <a:lnTo>
                    <a:pt x="618" y="434"/>
                  </a:lnTo>
                  <a:lnTo>
                    <a:pt x="618" y="234"/>
                  </a:lnTo>
                  <a:cubicBezTo>
                    <a:pt x="616" y="174"/>
                    <a:pt x="591" y="144"/>
                    <a:pt x="542" y="142"/>
                  </a:cubicBezTo>
                  <a:cubicBezTo>
                    <a:pt x="484" y="150"/>
                    <a:pt x="452" y="181"/>
                    <a:pt x="446" y="236"/>
                  </a:cubicBezTo>
                  <a:lnTo>
                    <a:pt x="446" y="434"/>
                  </a:lnTo>
                  <a:lnTo>
                    <a:pt x="400" y="436"/>
                  </a:lnTo>
                  <a:lnTo>
                    <a:pt x="400" y="111"/>
                  </a:lnTo>
                  <a:lnTo>
                    <a:pt x="446" y="111"/>
                  </a:lnTo>
                  <a:lnTo>
                    <a:pt x="446" y="160"/>
                  </a:lnTo>
                  <a:cubicBezTo>
                    <a:pt x="472" y="123"/>
                    <a:pt x="507" y="104"/>
                    <a:pt x="553" y="102"/>
                  </a:cubicBezTo>
                  <a:cubicBezTo>
                    <a:pt x="628" y="102"/>
                    <a:pt x="665" y="144"/>
                    <a:pt x="665" y="227"/>
                  </a:cubicBezTo>
                  <a:close/>
                  <a:moveTo>
                    <a:pt x="897" y="407"/>
                  </a:moveTo>
                  <a:lnTo>
                    <a:pt x="906" y="432"/>
                  </a:lnTo>
                  <a:cubicBezTo>
                    <a:pt x="891" y="438"/>
                    <a:pt x="875" y="441"/>
                    <a:pt x="857" y="441"/>
                  </a:cubicBezTo>
                  <a:cubicBezTo>
                    <a:pt x="811" y="442"/>
                    <a:pt x="788" y="419"/>
                    <a:pt x="790" y="370"/>
                  </a:cubicBezTo>
                  <a:lnTo>
                    <a:pt x="790" y="151"/>
                  </a:lnTo>
                  <a:lnTo>
                    <a:pt x="745" y="151"/>
                  </a:lnTo>
                  <a:lnTo>
                    <a:pt x="745" y="111"/>
                  </a:lnTo>
                  <a:lnTo>
                    <a:pt x="790" y="111"/>
                  </a:lnTo>
                  <a:lnTo>
                    <a:pt x="790" y="24"/>
                  </a:lnTo>
                  <a:lnTo>
                    <a:pt x="837" y="0"/>
                  </a:lnTo>
                  <a:lnTo>
                    <a:pt x="837" y="111"/>
                  </a:lnTo>
                  <a:lnTo>
                    <a:pt x="897" y="111"/>
                  </a:lnTo>
                  <a:lnTo>
                    <a:pt x="897" y="151"/>
                  </a:lnTo>
                  <a:lnTo>
                    <a:pt x="837" y="151"/>
                  </a:lnTo>
                  <a:lnTo>
                    <a:pt x="837" y="370"/>
                  </a:lnTo>
                  <a:cubicBezTo>
                    <a:pt x="835" y="398"/>
                    <a:pt x="847" y="411"/>
                    <a:pt x="872" y="410"/>
                  </a:cubicBezTo>
                  <a:cubicBezTo>
                    <a:pt x="881" y="410"/>
                    <a:pt x="890" y="409"/>
                    <a:pt x="897" y="407"/>
                  </a:cubicBezTo>
                  <a:close/>
                  <a:moveTo>
                    <a:pt x="1020" y="249"/>
                  </a:moveTo>
                  <a:lnTo>
                    <a:pt x="1214" y="249"/>
                  </a:lnTo>
                  <a:cubicBezTo>
                    <a:pt x="1211" y="184"/>
                    <a:pt x="1179" y="150"/>
                    <a:pt x="1118" y="147"/>
                  </a:cubicBezTo>
                  <a:cubicBezTo>
                    <a:pt x="1057" y="153"/>
                    <a:pt x="1024" y="187"/>
                    <a:pt x="1020" y="249"/>
                  </a:cubicBezTo>
                  <a:close/>
                  <a:moveTo>
                    <a:pt x="1214" y="334"/>
                  </a:moveTo>
                  <a:lnTo>
                    <a:pt x="1263" y="347"/>
                  </a:lnTo>
                  <a:cubicBezTo>
                    <a:pt x="1245" y="413"/>
                    <a:pt x="1198" y="445"/>
                    <a:pt x="1120" y="443"/>
                  </a:cubicBezTo>
                  <a:cubicBezTo>
                    <a:pt x="1021" y="439"/>
                    <a:pt x="969" y="384"/>
                    <a:pt x="966" y="278"/>
                  </a:cubicBezTo>
                  <a:cubicBezTo>
                    <a:pt x="971" y="167"/>
                    <a:pt x="1021" y="109"/>
                    <a:pt x="1118" y="105"/>
                  </a:cubicBezTo>
                  <a:cubicBezTo>
                    <a:pt x="1213" y="107"/>
                    <a:pt x="1262" y="165"/>
                    <a:pt x="1265" y="278"/>
                  </a:cubicBezTo>
                  <a:cubicBezTo>
                    <a:pt x="1265" y="284"/>
                    <a:pt x="1265" y="288"/>
                    <a:pt x="1265" y="289"/>
                  </a:cubicBezTo>
                  <a:lnTo>
                    <a:pt x="1018" y="289"/>
                  </a:lnTo>
                  <a:cubicBezTo>
                    <a:pt x="1021" y="362"/>
                    <a:pt x="1054" y="401"/>
                    <a:pt x="1118" y="405"/>
                  </a:cubicBezTo>
                  <a:cubicBezTo>
                    <a:pt x="1169" y="405"/>
                    <a:pt x="1200" y="382"/>
                    <a:pt x="1214" y="334"/>
                  </a:cubicBezTo>
                  <a:close/>
                  <a:moveTo>
                    <a:pt x="1626" y="227"/>
                  </a:moveTo>
                  <a:lnTo>
                    <a:pt x="1626" y="434"/>
                  </a:lnTo>
                  <a:lnTo>
                    <a:pt x="1580" y="434"/>
                  </a:lnTo>
                  <a:lnTo>
                    <a:pt x="1580" y="234"/>
                  </a:lnTo>
                  <a:cubicBezTo>
                    <a:pt x="1578" y="174"/>
                    <a:pt x="1553" y="144"/>
                    <a:pt x="1504" y="142"/>
                  </a:cubicBezTo>
                  <a:cubicBezTo>
                    <a:pt x="1446" y="150"/>
                    <a:pt x="1414" y="181"/>
                    <a:pt x="1408" y="236"/>
                  </a:cubicBezTo>
                  <a:lnTo>
                    <a:pt x="1408" y="434"/>
                  </a:lnTo>
                  <a:lnTo>
                    <a:pt x="1361" y="436"/>
                  </a:lnTo>
                  <a:lnTo>
                    <a:pt x="1361" y="111"/>
                  </a:lnTo>
                  <a:lnTo>
                    <a:pt x="1408" y="111"/>
                  </a:lnTo>
                  <a:lnTo>
                    <a:pt x="1408" y="160"/>
                  </a:lnTo>
                  <a:cubicBezTo>
                    <a:pt x="1433" y="123"/>
                    <a:pt x="1469" y="104"/>
                    <a:pt x="1515" y="102"/>
                  </a:cubicBezTo>
                  <a:cubicBezTo>
                    <a:pt x="1589" y="102"/>
                    <a:pt x="1626" y="144"/>
                    <a:pt x="1626" y="227"/>
                  </a:cubicBezTo>
                  <a:close/>
                  <a:moveTo>
                    <a:pt x="1859" y="407"/>
                  </a:moveTo>
                  <a:lnTo>
                    <a:pt x="1868" y="432"/>
                  </a:lnTo>
                  <a:cubicBezTo>
                    <a:pt x="1853" y="438"/>
                    <a:pt x="1836" y="441"/>
                    <a:pt x="1818" y="441"/>
                  </a:cubicBezTo>
                  <a:cubicBezTo>
                    <a:pt x="1772" y="442"/>
                    <a:pt x="1750" y="419"/>
                    <a:pt x="1752" y="370"/>
                  </a:cubicBezTo>
                  <a:lnTo>
                    <a:pt x="1752" y="151"/>
                  </a:lnTo>
                  <a:lnTo>
                    <a:pt x="1707" y="151"/>
                  </a:lnTo>
                  <a:lnTo>
                    <a:pt x="1707" y="111"/>
                  </a:lnTo>
                  <a:lnTo>
                    <a:pt x="1752" y="111"/>
                  </a:lnTo>
                  <a:lnTo>
                    <a:pt x="1752" y="24"/>
                  </a:lnTo>
                  <a:lnTo>
                    <a:pt x="1798" y="0"/>
                  </a:lnTo>
                  <a:lnTo>
                    <a:pt x="1798" y="111"/>
                  </a:lnTo>
                  <a:lnTo>
                    <a:pt x="1859" y="111"/>
                  </a:lnTo>
                  <a:lnTo>
                    <a:pt x="1859" y="151"/>
                  </a:lnTo>
                  <a:lnTo>
                    <a:pt x="1798" y="151"/>
                  </a:lnTo>
                  <a:lnTo>
                    <a:pt x="1798" y="370"/>
                  </a:lnTo>
                  <a:cubicBezTo>
                    <a:pt x="1797" y="398"/>
                    <a:pt x="1809" y="411"/>
                    <a:pt x="1834" y="410"/>
                  </a:cubicBezTo>
                  <a:cubicBezTo>
                    <a:pt x="1843" y="410"/>
                    <a:pt x="1851" y="409"/>
                    <a:pt x="1859" y="407"/>
                  </a:cubicBezTo>
                  <a:close/>
                  <a:moveTo>
                    <a:pt x="2131" y="203"/>
                  </a:moveTo>
                  <a:lnTo>
                    <a:pt x="2180" y="189"/>
                  </a:lnTo>
                  <a:cubicBezTo>
                    <a:pt x="2167" y="133"/>
                    <a:pt x="2125" y="104"/>
                    <a:pt x="2055" y="102"/>
                  </a:cubicBezTo>
                  <a:cubicBezTo>
                    <a:pt x="1982" y="105"/>
                    <a:pt x="1943" y="136"/>
                    <a:pt x="1937" y="194"/>
                  </a:cubicBezTo>
                  <a:cubicBezTo>
                    <a:pt x="1934" y="249"/>
                    <a:pt x="1976" y="281"/>
                    <a:pt x="2062" y="292"/>
                  </a:cubicBezTo>
                  <a:cubicBezTo>
                    <a:pt x="2118" y="302"/>
                    <a:pt x="2146" y="322"/>
                    <a:pt x="2144" y="352"/>
                  </a:cubicBezTo>
                  <a:cubicBezTo>
                    <a:pt x="2143" y="387"/>
                    <a:pt x="2115" y="406"/>
                    <a:pt x="2062" y="407"/>
                  </a:cubicBezTo>
                  <a:cubicBezTo>
                    <a:pt x="2013" y="409"/>
                    <a:pt x="1982" y="384"/>
                    <a:pt x="1970" y="334"/>
                  </a:cubicBezTo>
                  <a:lnTo>
                    <a:pt x="1924" y="347"/>
                  </a:lnTo>
                  <a:cubicBezTo>
                    <a:pt x="1941" y="413"/>
                    <a:pt x="1988" y="445"/>
                    <a:pt x="2062" y="443"/>
                  </a:cubicBezTo>
                  <a:cubicBezTo>
                    <a:pt x="2148" y="442"/>
                    <a:pt x="2192" y="410"/>
                    <a:pt x="2193" y="350"/>
                  </a:cubicBezTo>
                  <a:cubicBezTo>
                    <a:pt x="2195" y="298"/>
                    <a:pt x="2155" y="265"/>
                    <a:pt x="2075" y="252"/>
                  </a:cubicBezTo>
                  <a:cubicBezTo>
                    <a:pt x="2014" y="241"/>
                    <a:pt x="1985" y="222"/>
                    <a:pt x="1986" y="194"/>
                  </a:cubicBezTo>
                  <a:cubicBezTo>
                    <a:pt x="1990" y="162"/>
                    <a:pt x="2014" y="146"/>
                    <a:pt x="2057" y="145"/>
                  </a:cubicBezTo>
                  <a:cubicBezTo>
                    <a:pt x="2097" y="145"/>
                    <a:pt x="2122" y="164"/>
                    <a:pt x="2131" y="203"/>
                  </a:cubicBez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B2CA1C-0244-4212-8B4F-BFADD4B02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25474" y="2626353"/>
              <a:ext cx="1103313" cy="501650"/>
            </a:xfrm>
            <a:custGeom>
              <a:avLst/>
              <a:gdLst>
                <a:gd name="T0" fmla="*/ 2147483647 w 2109"/>
                <a:gd name="T1" fmla="*/ 0 h 986"/>
                <a:gd name="T2" fmla="*/ 2147483647 w 2109"/>
                <a:gd name="T3" fmla="*/ 2147483647 h 986"/>
                <a:gd name="T4" fmla="*/ 2147483647 w 2109"/>
                <a:gd name="T5" fmla="*/ 2147483647 h 986"/>
                <a:gd name="T6" fmla="*/ 0 w 2109"/>
                <a:gd name="T7" fmla="*/ 2147483647 h 986"/>
                <a:gd name="T8" fmla="*/ 2147483647 w 2109"/>
                <a:gd name="T9" fmla="*/ 2147483647 h 986"/>
                <a:gd name="T10" fmla="*/ 2147483647 w 2109"/>
                <a:gd name="T11" fmla="*/ 2147483647 h 986"/>
                <a:gd name="T12" fmla="*/ 2147483647 w 2109"/>
                <a:gd name="T13" fmla="*/ 2147483647 h 986"/>
                <a:gd name="T14" fmla="*/ 2147483647 w 2109"/>
                <a:gd name="T15" fmla="*/ 2147483647 h 986"/>
                <a:gd name="T16" fmla="*/ 2147483647 w 2109"/>
                <a:gd name="T17" fmla="*/ 2147483647 h 986"/>
                <a:gd name="T18" fmla="*/ 2147483647 w 2109"/>
                <a:gd name="T19" fmla="*/ 2147483647 h 986"/>
                <a:gd name="T20" fmla="*/ 2147483647 w 2109"/>
                <a:gd name="T21" fmla="*/ 2147483647 h 986"/>
                <a:gd name="T22" fmla="*/ 2147483647 w 2109"/>
                <a:gd name="T23" fmla="*/ 2147483647 h 986"/>
                <a:gd name="T24" fmla="*/ 2147483647 w 2109"/>
                <a:gd name="T25" fmla="*/ 2147483647 h 986"/>
                <a:gd name="T26" fmla="*/ 2147483647 w 2109"/>
                <a:gd name="T27" fmla="*/ 2147483647 h 986"/>
                <a:gd name="T28" fmla="*/ 2147483647 w 2109"/>
                <a:gd name="T29" fmla="*/ 2147483647 h 986"/>
                <a:gd name="T30" fmla="*/ 2147483647 w 2109"/>
                <a:gd name="T31" fmla="*/ 2147483647 h 986"/>
                <a:gd name="T32" fmla="*/ 2147483647 w 2109"/>
                <a:gd name="T33" fmla="*/ 2147483647 h 986"/>
                <a:gd name="T34" fmla="*/ 2147483647 w 2109"/>
                <a:gd name="T35" fmla="*/ 2147483647 h 986"/>
                <a:gd name="T36" fmla="*/ 2147483647 w 2109"/>
                <a:gd name="T37" fmla="*/ 2147483647 h 986"/>
                <a:gd name="T38" fmla="*/ 2147483647 w 2109"/>
                <a:gd name="T39" fmla="*/ 2147483647 h 986"/>
                <a:gd name="T40" fmla="*/ 2147483647 w 2109"/>
                <a:gd name="T41" fmla="*/ 2147483647 h 986"/>
                <a:gd name="T42" fmla="*/ 2147483647 w 2109"/>
                <a:gd name="T43" fmla="*/ 2147483647 h 986"/>
                <a:gd name="T44" fmla="*/ 2147483647 w 2109"/>
                <a:gd name="T45" fmla="*/ 2147483647 h 986"/>
                <a:gd name="T46" fmla="*/ 2147483647 w 2109"/>
                <a:gd name="T47" fmla="*/ 2147483647 h 986"/>
                <a:gd name="T48" fmla="*/ 2147483647 w 2109"/>
                <a:gd name="T49" fmla="*/ 2147483647 h 986"/>
                <a:gd name="T50" fmla="*/ 2147483647 w 2109"/>
                <a:gd name="T51" fmla="*/ 2147483647 h 986"/>
                <a:gd name="T52" fmla="*/ 2147483647 w 2109"/>
                <a:gd name="T53" fmla="*/ 2147483647 h 986"/>
                <a:gd name="T54" fmla="*/ 2147483647 w 2109"/>
                <a:gd name="T55" fmla="*/ 2147483647 h 986"/>
                <a:gd name="T56" fmla="*/ 2147483647 w 2109"/>
                <a:gd name="T57" fmla="*/ 2147483647 h 986"/>
                <a:gd name="T58" fmla="*/ 2147483647 w 2109"/>
                <a:gd name="T59" fmla="*/ 2147483647 h 986"/>
                <a:gd name="T60" fmla="*/ 2147483647 w 2109"/>
                <a:gd name="T61" fmla="*/ 2147483647 h 986"/>
                <a:gd name="T62" fmla="*/ 2147483647 w 2109"/>
                <a:gd name="T63" fmla="*/ 2147483647 h 986"/>
                <a:gd name="T64" fmla="*/ 2147483647 w 2109"/>
                <a:gd name="T65" fmla="*/ 2147483647 h 986"/>
                <a:gd name="T66" fmla="*/ 2147483647 w 2109"/>
                <a:gd name="T67" fmla="*/ 2147483647 h 98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09" h="986">
                  <a:moveTo>
                    <a:pt x="0" y="0"/>
                  </a:moveTo>
                  <a:lnTo>
                    <a:pt x="764" y="0"/>
                  </a:lnTo>
                  <a:lnTo>
                    <a:pt x="764" y="986"/>
                  </a:lnTo>
                  <a:lnTo>
                    <a:pt x="676" y="986"/>
                  </a:lnTo>
                  <a:lnTo>
                    <a:pt x="676" y="902"/>
                  </a:lnTo>
                  <a:lnTo>
                    <a:pt x="84" y="902"/>
                  </a:lnTo>
                  <a:lnTo>
                    <a:pt x="84" y="986"/>
                  </a:lnTo>
                  <a:lnTo>
                    <a:pt x="0" y="986"/>
                  </a:lnTo>
                  <a:lnTo>
                    <a:pt x="0" y="0"/>
                  </a:lnTo>
                  <a:close/>
                  <a:moveTo>
                    <a:pt x="84" y="80"/>
                  </a:moveTo>
                  <a:lnTo>
                    <a:pt x="84" y="279"/>
                  </a:lnTo>
                  <a:lnTo>
                    <a:pt x="676" y="279"/>
                  </a:lnTo>
                  <a:lnTo>
                    <a:pt x="676" y="80"/>
                  </a:lnTo>
                  <a:lnTo>
                    <a:pt x="84" y="80"/>
                  </a:lnTo>
                  <a:close/>
                  <a:moveTo>
                    <a:pt x="84" y="628"/>
                  </a:moveTo>
                  <a:lnTo>
                    <a:pt x="84" y="831"/>
                  </a:lnTo>
                  <a:lnTo>
                    <a:pt x="676" y="831"/>
                  </a:lnTo>
                  <a:lnTo>
                    <a:pt x="676" y="628"/>
                  </a:lnTo>
                  <a:lnTo>
                    <a:pt x="84" y="628"/>
                  </a:lnTo>
                  <a:close/>
                  <a:moveTo>
                    <a:pt x="84" y="354"/>
                  </a:moveTo>
                  <a:lnTo>
                    <a:pt x="84" y="557"/>
                  </a:lnTo>
                  <a:lnTo>
                    <a:pt x="676" y="557"/>
                  </a:lnTo>
                  <a:lnTo>
                    <a:pt x="676" y="354"/>
                  </a:lnTo>
                  <a:lnTo>
                    <a:pt x="84" y="354"/>
                  </a:lnTo>
                  <a:close/>
                  <a:moveTo>
                    <a:pt x="1963" y="482"/>
                  </a:moveTo>
                  <a:lnTo>
                    <a:pt x="2021" y="553"/>
                  </a:lnTo>
                  <a:cubicBezTo>
                    <a:pt x="2000" y="568"/>
                    <a:pt x="1958" y="594"/>
                    <a:pt x="1893" y="632"/>
                  </a:cubicBezTo>
                  <a:cubicBezTo>
                    <a:pt x="1849" y="659"/>
                    <a:pt x="1815" y="679"/>
                    <a:pt x="1791" y="694"/>
                  </a:cubicBezTo>
                  <a:cubicBezTo>
                    <a:pt x="1859" y="753"/>
                    <a:pt x="1965" y="800"/>
                    <a:pt x="2109" y="836"/>
                  </a:cubicBezTo>
                  <a:cubicBezTo>
                    <a:pt x="2089" y="856"/>
                    <a:pt x="2070" y="883"/>
                    <a:pt x="2052" y="915"/>
                  </a:cubicBezTo>
                  <a:cubicBezTo>
                    <a:pt x="1849" y="856"/>
                    <a:pt x="1704" y="756"/>
                    <a:pt x="1619" y="615"/>
                  </a:cubicBezTo>
                  <a:lnTo>
                    <a:pt x="1619" y="818"/>
                  </a:lnTo>
                  <a:cubicBezTo>
                    <a:pt x="1624" y="924"/>
                    <a:pt x="1573" y="976"/>
                    <a:pt x="1464" y="973"/>
                  </a:cubicBezTo>
                  <a:cubicBezTo>
                    <a:pt x="1423" y="973"/>
                    <a:pt x="1381" y="973"/>
                    <a:pt x="1340" y="973"/>
                  </a:cubicBezTo>
                  <a:cubicBezTo>
                    <a:pt x="1337" y="937"/>
                    <a:pt x="1331" y="908"/>
                    <a:pt x="1322" y="884"/>
                  </a:cubicBezTo>
                  <a:cubicBezTo>
                    <a:pt x="1358" y="887"/>
                    <a:pt x="1403" y="889"/>
                    <a:pt x="1459" y="889"/>
                  </a:cubicBezTo>
                  <a:cubicBezTo>
                    <a:pt x="1515" y="892"/>
                    <a:pt x="1542" y="867"/>
                    <a:pt x="1539" y="814"/>
                  </a:cubicBezTo>
                  <a:lnTo>
                    <a:pt x="1539" y="447"/>
                  </a:lnTo>
                  <a:lnTo>
                    <a:pt x="1057" y="447"/>
                  </a:lnTo>
                  <a:lnTo>
                    <a:pt x="1057" y="376"/>
                  </a:lnTo>
                  <a:lnTo>
                    <a:pt x="1849" y="376"/>
                  </a:lnTo>
                  <a:lnTo>
                    <a:pt x="1849" y="261"/>
                  </a:lnTo>
                  <a:lnTo>
                    <a:pt x="1190" y="261"/>
                  </a:lnTo>
                  <a:lnTo>
                    <a:pt x="1190" y="190"/>
                  </a:lnTo>
                  <a:lnTo>
                    <a:pt x="1849" y="190"/>
                  </a:lnTo>
                  <a:lnTo>
                    <a:pt x="1849" y="75"/>
                  </a:lnTo>
                  <a:lnTo>
                    <a:pt x="1172" y="75"/>
                  </a:lnTo>
                  <a:lnTo>
                    <a:pt x="1172" y="5"/>
                  </a:lnTo>
                  <a:lnTo>
                    <a:pt x="1932" y="5"/>
                  </a:lnTo>
                  <a:lnTo>
                    <a:pt x="1932" y="376"/>
                  </a:lnTo>
                  <a:lnTo>
                    <a:pt x="2101" y="376"/>
                  </a:lnTo>
                  <a:lnTo>
                    <a:pt x="2101" y="447"/>
                  </a:lnTo>
                  <a:lnTo>
                    <a:pt x="1619" y="447"/>
                  </a:lnTo>
                  <a:lnTo>
                    <a:pt x="1619" y="482"/>
                  </a:lnTo>
                  <a:cubicBezTo>
                    <a:pt x="1654" y="544"/>
                    <a:pt x="1692" y="597"/>
                    <a:pt x="1733" y="641"/>
                  </a:cubicBezTo>
                  <a:cubicBezTo>
                    <a:pt x="1822" y="582"/>
                    <a:pt x="1899" y="529"/>
                    <a:pt x="1963" y="482"/>
                  </a:cubicBezTo>
                  <a:close/>
                  <a:moveTo>
                    <a:pt x="1044" y="814"/>
                  </a:moveTo>
                  <a:cubicBezTo>
                    <a:pt x="1168" y="772"/>
                    <a:pt x="1318" y="716"/>
                    <a:pt x="1495" y="646"/>
                  </a:cubicBezTo>
                  <a:cubicBezTo>
                    <a:pt x="1501" y="672"/>
                    <a:pt x="1507" y="699"/>
                    <a:pt x="1513" y="725"/>
                  </a:cubicBezTo>
                  <a:cubicBezTo>
                    <a:pt x="1351" y="784"/>
                    <a:pt x="1205" y="839"/>
                    <a:pt x="1075" y="889"/>
                  </a:cubicBezTo>
                  <a:lnTo>
                    <a:pt x="1044" y="814"/>
                  </a:lnTo>
                  <a:close/>
                  <a:moveTo>
                    <a:pt x="1190" y="473"/>
                  </a:moveTo>
                  <a:cubicBezTo>
                    <a:pt x="1202" y="482"/>
                    <a:pt x="1218" y="492"/>
                    <a:pt x="1238" y="504"/>
                  </a:cubicBezTo>
                  <a:cubicBezTo>
                    <a:pt x="1303" y="545"/>
                    <a:pt x="1356" y="581"/>
                    <a:pt x="1398" y="610"/>
                  </a:cubicBezTo>
                  <a:lnTo>
                    <a:pt x="1349" y="681"/>
                  </a:lnTo>
                  <a:cubicBezTo>
                    <a:pt x="1317" y="658"/>
                    <a:pt x="1272" y="627"/>
                    <a:pt x="1216" y="588"/>
                  </a:cubicBezTo>
                  <a:cubicBezTo>
                    <a:pt x="1184" y="565"/>
                    <a:pt x="1159" y="547"/>
                    <a:pt x="1141" y="535"/>
                  </a:cubicBezTo>
                  <a:lnTo>
                    <a:pt x="1190" y="473"/>
                  </a:ln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F91E4-2DF6-43CC-853C-8A6614119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88824" y="2510466"/>
              <a:ext cx="973394" cy="1047750"/>
            </a:xfrm>
            <a:prstGeom prst="rect">
              <a:avLst/>
            </a:prstGeom>
            <a:solidFill>
              <a:srgbClr val="024C8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D7DEB2-CFBF-4E7F-8A3C-E9CF23E7D7CF}"/>
                </a:ext>
              </a:extLst>
            </p:cNvPr>
            <p:cNvSpPr/>
            <p:nvPr userDrawn="1"/>
          </p:nvSpPr>
          <p:spPr bwMode="auto">
            <a:xfrm>
              <a:off x="1149559" y="2675367"/>
              <a:ext cx="614363" cy="749300"/>
            </a:xfrm>
            <a:custGeom>
              <a:avLst/>
              <a:gdLst>
                <a:gd name="T0" fmla="*/ 2147483647 w 1173"/>
                <a:gd name="T1" fmla="*/ 2147483647 h 1472"/>
                <a:gd name="T2" fmla="*/ 2147483647 w 1173"/>
                <a:gd name="T3" fmla="*/ 2147483647 h 1472"/>
                <a:gd name="T4" fmla="*/ 2147483647 w 1173"/>
                <a:gd name="T5" fmla="*/ 2147483647 h 1472"/>
                <a:gd name="T6" fmla="*/ 2147483647 w 1173"/>
                <a:gd name="T7" fmla="*/ 2147483647 h 1472"/>
                <a:gd name="T8" fmla="*/ 2147483647 w 1173"/>
                <a:gd name="T9" fmla="*/ 2147483647 h 1472"/>
                <a:gd name="T10" fmla="*/ 2147483647 w 1173"/>
                <a:gd name="T11" fmla="*/ 2147483647 h 1472"/>
                <a:gd name="T12" fmla="*/ 0 w 1173"/>
                <a:gd name="T13" fmla="*/ 2147483647 h 1472"/>
                <a:gd name="T14" fmla="*/ 2147483647 w 1173"/>
                <a:gd name="T15" fmla="*/ 2147483647 h 1472"/>
                <a:gd name="T16" fmla="*/ 2147483647 w 1173"/>
                <a:gd name="T17" fmla="*/ 2147483647 h 1472"/>
                <a:gd name="T18" fmla="*/ 2147483647 w 1173"/>
                <a:gd name="T19" fmla="*/ 2147483647 h 1472"/>
                <a:gd name="T20" fmla="*/ 2147483647 w 1173"/>
                <a:gd name="T21" fmla="*/ 2147483647 h 1472"/>
                <a:gd name="T22" fmla="*/ 2147483647 w 1173"/>
                <a:gd name="T23" fmla="*/ 2147483647 h 1472"/>
                <a:gd name="T24" fmla="*/ 2147483647 w 1173"/>
                <a:gd name="T25" fmla="*/ 2147483647 h 1472"/>
                <a:gd name="T26" fmla="*/ 2147483647 w 1173"/>
                <a:gd name="T27" fmla="*/ 2147483647 h 1472"/>
                <a:gd name="T28" fmla="*/ 2147483647 w 1173"/>
                <a:gd name="T29" fmla="*/ 2147483647 h 1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3" h="1472">
                  <a:moveTo>
                    <a:pt x="1131" y="535"/>
                  </a:moveTo>
                  <a:lnTo>
                    <a:pt x="1095" y="47"/>
                  </a:lnTo>
                  <a:cubicBezTo>
                    <a:pt x="1090" y="47"/>
                    <a:pt x="1081" y="49"/>
                    <a:pt x="1067" y="54"/>
                  </a:cubicBezTo>
                  <a:cubicBezTo>
                    <a:pt x="1043" y="64"/>
                    <a:pt x="1022" y="68"/>
                    <a:pt x="1003" y="68"/>
                  </a:cubicBezTo>
                  <a:cubicBezTo>
                    <a:pt x="975" y="68"/>
                    <a:pt x="947" y="64"/>
                    <a:pt x="919" y="54"/>
                  </a:cubicBezTo>
                  <a:cubicBezTo>
                    <a:pt x="810" y="17"/>
                    <a:pt x="714" y="0"/>
                    <a:pt x="629" y="5"/>
                  </a:cubicBezTo>
                  <a:cubicBezTo>
                    <a:pt x="214" y="24"/>
                    <a:pt x="5" y="278"/>
                    <a:pt x="0" y="768"/>
                  </a:cubicBezTo>
                  <a:cubicBezTo>
                    <a:pt x="5" y="1225"/>
                    <a:pt x="219" y="1458"/>
                    <a:pt x="643" y="1467"/>
                  </a:cubicBezTo>
                  <a:cubicBezTo>
                    <a:pt x="912" y="1472"/>
                    <a:pt x="1088" y="1345"/>
                    <a:pt x="1173" y="1086"/>
                  </a:cubicBezTo>
                  <a:lnTo>
                    <a:pt x="1088" y="1036"/>
                  </a:lnTo>
                  <a:cubicBezTo>
                    <a:pt x="999" y="1258"/>
                    <a:pt x="867" y="1369"/>
                    <a:pt x="692" y="1369"/>
                  </a:cubicBezTo>
                  <a:cubicBezTo>
                    <a:pt x="424" y="1359"/>
                    <a:pt x="290" y="1145"/>
                    <a:pt x="290" y="725"/>
                  </a:cubicBezTo>
                  <a:cubicBezTo>
                    <a:pt x="290" y="316"/>
                    <a:pt x="408" y="108"/>
                    <a:pt x="643" y="104"/>
                  </a:cubicBezTo>
                  <a:cubicBezTo>
                    <a:pt x="827" y="94"/>
                    <a:pt x="961" y="250"/>
                    <a:pt x="1046" y="570"/>
                  </a:cubicBezTo>
                  <a:lnTo>
                    <a:pt x="1131" y="5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D6C1642-EF57-4FCF-B70B-9EB19917F44C}"/>
              </a:ext>
            </a:extLst>
          </p:cNvPr>
          <p:cNvSpPr/>
          <p:nvPr userDrawn="1"/>
        </p:nvSpPr>
        <p:spPr>
          <a:xfrm>
            <a:off x="7476749" y="5022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28F3D-440D-4735-B280-F8F3A95DBEF0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7046826-E3C2-4516-8838-F6024486E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E74CD5A-9833-45E4-9F7F-2C7811B867BE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7D8D081-8C72-41AC-BA3C-DA4104B63229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77687D0-C680-4AA6-AE98-5639F0C50311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81" name="平行四边形 80">
                <a:extLst>
                  <a:ext uri="{FF2B5EF4-FFF2-40B4-BE49-F238E27FC236}">
                    <a16:creationId xmlns:a16="http://schemas.microsoft.com/office/drawing/2014/main" id="{999CB817-D56E-488F-9D87-F9D19470D6A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平行四边形 81">
                <a:extLst>
                  <a:ext uri="{FF2B5EF4-FFF2-40B4-BE49-F238E27FC236}">
                    <a16:creationId xmlns:a16="http://schemas.microsoft.com/office/drawing/2014/main" id="{352F10E6-4A02-4A03-A65F-57545BCD6B65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075B0E75-A6C6-4B7F-A0F1-380D72D9805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4632218C-DACA-4F71-8571-397435439B21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Freeform 9">
            <a:extLst>
              <a:ext uri="{FF2B5EF4-FFF2-40B4-BE49-F238E27FC236}">
                <a16:creationId xmlns:a16="http://schemas.microsoft.com/office/drawing/2014/main" id="{D46F347A-A251-4B8B-B4C7-ED6BAEA25E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76241" y="1466241"/>
            <a:ext cx="90169" cy="3840241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983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70" y="397669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EA523-30CE-4428-B8A6-CB0C805C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458"/>
            <a:ext cx="10515600" cy="88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0EFF2-3741-4E9F-9032-7BBA076E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001F3-2526-4AFF-AFF5-E4CAF9502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FA2AB-1AF9-4470-B0C4-6F16688CEB00}" type="datetime1">
              <a:rPr lang="zh-CN" altLang="en-US" smtClean="0"/>
              <a:t>2023/2/8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33BBD2D-6CA3-4CEA-9F90-71252194322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1EA361-28EE-45BA-A8A0-3F4170BADB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EE19C7-A1F4-46A3-92CF-BFD9C4E7959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31597-CB30-47B3-A5E3-96B442662F67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77E9160-0818-4167-A9C5-1B3144D9006A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E5C0772E-2BDB-46E3-BBF3-98B56199E3AA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平行四边形 17">
                <a:extLst>
                  <a:ext uri="{FF2B5EF4-FFF2-40B4-BE49-F238E27FC236}">
                    <a16:creationId xmlns:a16="http://schemas.microsoft.com/office/drawing/2014/main" id="{9DD3C377-F1A7-48D3-AE26-705C40158D01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D5F80F0-A7FB-45D8-A02F-17A28AEF4443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0C81418-DA7F-4965-A6CC-440B3B40C69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6475D5-3A5D-46A1-BC1E-BDED37D89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99481157-333F-4815-8FAE-2F1E98A9F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32418" y="64936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1A27A-2808-40E1-9131-A52DFBB86D04}" type="slidenum">
              <a:rPr lang="zh-CN" altLang="en-US" smtClean="0"/>
              <a:pPr/>
              <a:t>‹#›</a:t>
            </a:fld>
            <a:r>
              <a:rPr lang="en-US" altLang="zh-CN" dirty="0"/>
              <a:t>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3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406904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8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3" Type="http://schemas.openxmlformats.org/officeDocument/2006/relationships/tags" Target="../tags/tag42.xml"/><Relationship Id="rId21" Type="http://schemas.openxmlformats.org/officeDocument/2006/relationships/tags" Target="../tags/tag60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tags" Target="../tags/tag59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Relationship Id="rId22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" Type="http://schemas.openxmlformats.org/officeDocument/2006/relationships/tags" Target="../tags/tag63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97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C13EEA05-D3FF-4013-9E32-A87028446FBF}"/>
              </a:ext>
            </a:extLst>
          </p:cNvPr>
          <p:cNvSpPr txBox="1">
            <a:spLocks/>
          </p:cNvSpPr>
          <p:nvPr/>
        </p:nvSpPr>
        <p:spPr>
          <a:xfrm>
            <a:off x="0" y="896248"/>
            <a:ext cx="10515600" cy="5169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计算机语言</a:t>
            </a:r>
          </a:p>
        </p:txBody>
      </p:sp>
      <p:sp>
        <p:nvSpPr>
          <p:cNvPr id="4" name="MH_SubTitle_1">
            <a:extLst>
              <a:ext uri="{FF2B5EF4-FFF2-40B4-BE49-F238E27FC236}">
                <a16:creationId xmlns:a16="http://schemas.microsoft.com/office/drawing/2014/main" id="{50C17D39-4D5B-45E8-87A6-86CCCAB898A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3475" y="1445201"/>
            <a:ext cx="3004936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</a:p>
        </p:txBody>
      </p:sp>
      <p:sp>
        <p:nvSpPr>
          <p:cNvPr id="5" name="MH_Text_1">
            <a:extLst>
              <a:ext uri="{FF2B5EF4-FFF2-40B4-BE49-F238E27FC236}">
                <a16:creationId xmlns:a16="http://schemas.microsoft.com/office/drawing/2014/main" id="{A68B8CF5-DC49-47F5-8BA5-A60CCA8016B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28700" y="1973840"/>
            <a:ext cx="2927736" cy="282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计算机能直接识别和接受的二进制代码称为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机器指令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。机器指令的集合就是该计算机的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机器语言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特点：难学，难记，难检查，难修改，难以推广使用。依赖具体机器难以移植。</a:t>
            </a:r>
          </a:p>
        </p:txBody>
      </p:sp>
      <p:sp>
        <p:nvSpPr>
          <p:cNvPr id="6" name="MH_SubTitle_2">
            <a:extLst>
              <a:ext uri="{FF2B5EF4-FFF2-40B4-BE49-F238E27FC236}">
                <a16:creationId xmlns:a16="http://schemas.microsoft.com/office/drawing/2014/main" id="{F4BE7753-D61A-46E8-A45D-DC421380C54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22963" y="1448652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</a:p>
        </p:txBody>
      </p:sp>
      <p:sp>
        <p:nvSpPr>
          <p:cNvPr id="7" name="MH_Text_2">
            <a:extLst>
              <a:ext uri="{FF2B5EF4-FFF2-40B4-BE49-F238E27FC236}">
                <a16:creationId xmlns:a16="http://schemas.microsoft.com/office/drawing/2014/main" id="{4D60D1D9-478C-419E-B778-057C3F12F7A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33102" y="1992062"/>
            <a:ext cx="2747700" cy="280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用英文字母和数字表示指令的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符号语言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特点：简单好记，但仍然难以普及。汇编指令需通过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汇编程序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转换为机器指令才能被计算机执行。依赖具体机器难以移植。</a:t>
            </a:r>
          </a:p>
        </p:txBody>
      </p:sp>
      <p:sp>
        <p:nvSpPr>
          <p:cNvPr id="8" name="MH_SubTitle_3">
            <a:extLst>
              <a:ext uri="{FF2B5EF4-FFF2-40B4-BE49-F238E27FC236}">
                <a16:creationId xmlns:a16="http://schemas.microsoft.com/office/drawing/2014/main" id="{AD53F99B-B4A2-4FB6-8255-0A0B5283A77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829604" y="1445201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</a:p>
        </p:txBody>
      </p:sp>
      <p:sp>
        <p:nvSpPr>
          <p:cNvPr id="9" name="MH_Text_3">
            <a:extLst>
              <a:ext uri="{FF2B5EF4-FFF2-40B4-BE49-F238E27FC236}">
                <a16:creationId xmlns:a16="http://schemas.microsoft.com/office/drawing/2014/main" id="{DCBDBD9B-DB4E-47A7-B34E-EB3A1B466766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857467" y="1973841"/>
            <a:ext cx="2676525" cy="2828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高级语言更接近于人们习惯使用的自然语言和数学语言。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特点：功能强大，不依赖于具体机器。用高级语言编写的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源程序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需要通过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编译程序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转换为机器指令的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目标程序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CC7D0AB-F9F9-40E4-8ED1-3E3E0B6D6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4801987"/>
            <a:ext cx="2832485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B8  7F 01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  21 02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  D8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B8  1F 04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2B  C3</a:t>
            </a: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0DF4CDD9-71C9-43BD-9ABB-867A56313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102" y="4793809"/>
            <a:ext cx="2747700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AX  383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BX  545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  BX  AX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AX  1055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   AX  BX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B2E9376-1408-4D5E-9526-D1D485876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4191" y="4801967"/>
            <a:ext cx="2621410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S=1055-(383+545)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A6F92EE-B0CF-4975-A9A3-F43A940A0D0A}"/>
              </a:ext>
            </a:extLst>
          </p:cNvPr>
          <p:cNvGrpSpPr/>
          <p:nvPr/>
        </p:nvGrpSpPr>
        <p:grpSpPr>
          <a:xfrm>
            <a:off x="1123950" y="1877202"/>
            <a:ext cx="2676525" cy="114854"/>
            <a:chOff x="1797436" y="2162952"/>
            <a:chExt cx="2160000" cy="9663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A1875BA-4220-4A47-80E0-7BF4D2E81690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F0E7A7D-76C4-4C71-B843-E8748E36532F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2CBEA3B-40EF-407E-8068-D64997EAA598}"/>
              </a:ext>
            </a:extLst>
          </p:cNvPr>
          <p:cNvGrpSpPr/>
          <p:nvPr/>
        </p:nvGrpSpPr>
        <p:grpSpPr>
          <a:xfrm>
            <a:off x="4614865" y="1899725"/>
            <a:ext cx="2665937" cy="114854"/>
            <a:chOff x="1797436" y="2162952"/>
            <a:chExt cx="2160000" cy="9663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96C3A5F-7590-4282-9B12-D4450406627E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2BB65974-D527-4590-BE34-5E6B36828606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227946F-708D-40FC-A7EE-9B865A63D49E}"/>
              </a:ext>
            </a:extLst>
          </p:cNvPr>
          <p:cNvGrpSpPr/>
          <p:nvPr/>
        </p:nvGrpSpPr>
        <p:grpSpPr>
          <a:xfrm>
            <a:off x="7900366" y="1877202"/>
            <a:ext cx="2676525" cy="114854"/>
            <a:chOff x="1797436" y="2162952"/>
            <a:chExt cx="2160000" cy="9663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A60852-3625-4352-9771-1AA85194CA62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93F634C-A24D-4EDA-9A99-5CD90E99A00C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4BF542D6-B6F9-4AD6-8FC2-6F9CFE2C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49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C29EC63-6968-4B63-9F74-4C5137021398}"/>
              </a:ext>
            </a:extLst>
          </p:cNvPr>
          <p:cNvSpPr txBox="1">
            <a:spLocks/>
          </p:cNvSpPr>
          <p:nvPr/>
        </p:nvSpPr>
        <p:spPr>
          <a:xfrm>
            <a:off x="101048" y="789181"/>
            <a:ext cx="2951920" cy="530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C</a:t>
            </a:r>
            <a:r>
              <a:rPr lang="zh-CN" altLang="en-US" sz="2800" b="1" dirty="0"/>
              <a:t>语言的发展历史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DA5383-EFE5-4C8E-8B45-94C72B7B5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3" y="1610931"/>
            <a:ext cx="1966683" cy="21410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C76E9A9-437F-417A-9B8C-CA5967D505B1}"/>
              </a:ext>
            </a:extLst>
          </p:cNvPr>
          <p:cNvSpPr txBox="1"/>
          <p:nvPr/>
        </p:nvSpPr>
        <p:spPr>
          <a:xfrm>
            <a:off x="726189" y="3752018"/>
            <a:ext cx="19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D.M.Ritchie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55A643-CCBA-465C-989A-90A7B293E483}"/>
              </a:ext>
            </a:extLst>
          </p:cNvPr>
          <p:cNvSpPr/>
          <p:nvPr/>
        </p:nvSpPr>
        <p:spPr>
          <a:xfrm>
            <a:off x="3097695" y="1027906"/>
            <a:ext cx="8680174" cy="4906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1972—1973</a:t>
            </a:r>
            <a:r>
              <a:rPr lang="zh-CN" altLang="en-US" sz="1400" dirty="0"/>
              <a:t>年间，</a:t>
            </a:r>
            <a:r>
              <a:rPr lang="zh-CN" altLang="en-US" sz="1400" b="1" dirty="0"/>
              <a:t>美国贝尔实验室</a:t>
            </a:r>
            <a:r>
              <a:rPr lang="zh-CN" altLang="en-US" sz="1400" dirty="0"/>
              <a:t>的D.M.Ritchie 在</a:t>
            </a:r>
            <a:r>
              <a:rPr lang="zh-CN" altLang="en-US" sz="1400" b="1" dirty="0">
                <a:solidFill>
                  <a:srgbClr val="1B05EB"/>
                </a:solidFill>
              </a:rPr>
              <a:t>B语言</a:t>
            </a:r>
            <a:r>
              <a:rPr lang="zh-CN" altLang="en-US" sz="1400" dirty="0"/>
              <a:t>的基础上设计出了</a:t>
            </a:r>
            <a:r>
              <a:rPr lang="zh-CN" altLang="en-US" sz="1400" b="1" dirty="0">
                <a:solidFill>
                  <a:srgbClr val="1B05EB"/>
                </a:solidFill>
              </a:rPr>
              <a:t>C语言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最初的C语言只是为描述和实现</a:t>
            </a:r>
            <a:r>
              <a:rPr lang="zh-CN" altLang="en-US" sz="1400" b="1" dirty="0"/>
              <a:t>UNIX操作系统</a:t>
            </a:r>
            <a:r>
              <a:rPr lang="zh-CN" altLang="en-US" sz="1400" dirty="0"/>
              <a:t>提供一种工作语言而设计的。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随着UNIX的日益广泛使用，C语言也迅速得到推广。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1978</a:t>
            </a:r>
            <a:r>
              <a:rPr lang="zh-CN" altLang="en-US" sz="1400" dirty="0"/>
              <a:t>年以后，C语言先后移植到大、中、小和微型计算机上。C语言便很快风靡全世界，成为世界上应用最广泛的程序设计高级语言。以UNIX第7版中的C语言编译程序为基础，</a:t>
            </a:r>
            <a:r>
              <a:rPr lang="zh-CN" altLang="en-US" sz="1400" b="1" dirty="0"/>
              <a:t>Brian W.Kernighan</a:t>
            </a:r>
            <a:r>
              <a:rPr lang="zh-CN" altLang="en-US" sz="1400" dirty="0"/>
              <a:t>和</a:t>
            </a:r>
            <a:r>
              <a:rPr lang="zh-CN" altLang="en-US" sz="1400" b="1" dirty="0"/>
              <a:t>Dennis M.Ritchie </a:t>
            </a:r>
            <a:r>
              <a:rPr lang="zh-CN" altLang="en-US" sz="1400" dirty="0"/>
              <a:t>合著了影响深远的名著</a:t>
            </a:r>
            <a:r>
              <a:rPr lang="zh-CN" altLang="en-US" sz="1400" b="1" dirty="0"/>
              <a:t>The C Programming Language</a:t>
            </a:r>
            <a:r>
              <a:rPr lang="zh-CN" altLang="en-US" sz="1400" dirty="0"/>
              <a:t>，这本书中介绍的C语言成为后来广泛使用的C语言版本的基础，它是实际上</a:t>
            </a:r>
            <a:r>
              <a:rPr lang="zh-CN" altLang="en-US" sz="1400" b="1" dirty="0"/>
              <a:t>第一个C语言标准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1983</a:t>
            </a:r>
            <a:r>
              <a:rPr lang="zh-CN" altLang="en-US" sz="1400" dirty="0"/>
              <a:t>年，美国国家标准协会(</a:t>
            </a:r>
            <a:r>
              <a:rPr lang="zh-CN" altLang="en-US" sz="1400" b="1" dirty="0"/>
              <a:t>ANSI</a:t>
            </a:r>
            <a:r>
              <a:rPr lang="zh-CN" altLang="en-US" sz="1400" dirty="0"/>
              <a:t>)，根据C语言问世以来各种版本对C语言的发展和扩充，制定了第一个C语言标准草案(’83 ANSI C)。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1989</a:t>
            </a:r>
            <a:r>
              <a:rPr lang="zh-CN" altLang="en-US" sz="1400" dirty="0"/>
              <a:t>年，ANSI公布了第一个完整的C语言标准——ANSI X3.159—1989(常称为</a:t>
            </a:r>
            <a:r>
              <a:rPr lang="zh-CN" altLang="en-US" sz="1400" b="1" dirty="0">
                <a:solidFill>
                  <a:srgbClr val="1B05EB"/>
                </a:solidFill>
              </a:rPr>
              <a:t>ANSI C</a:t>
            </a:r>
            <a:r>
              <a:rPr lang="zh-CN" altLang="en-US" sz="1400" dirty="0"/>
              <a:t>或</a:t>
            </a:r>
            <a:r>
              <a:rPr lang="zh-CN" altLang="en-US" sz="1400" b="1" dirty="0">
                <a:solidFill>
                  <a:srgbClr val="1B05EB"/>
                </a:solidFill>
              </a:rPr>
              <a:t>C 89</a:t>
            </a:r>
            <a:r>
              <a:rPr lang="zh-CN" altLang="en-US" sz="1400" dirty="0"/>
              <a:t>)。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1990</a:t>
            </a:r>
            <a:r>
              <a:rPr lang="zh-CN" altLang="en-US" sz="1400" dirty="0"/>
              <a:t>年，国际标准化组织ISO(International Standard Organization)接受C 89作为国际标准ISO/IEC 9899: 1990，它和ANSI的C 89基本上是相同的。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1999</a:t>
            </a:r>
            <a:r>
              <a:rPr lang="zh-CN" altLang="en-US" sz="1400" dirty="0"/>
              <a:t>年，ISO又对C语言标准进行了修订，在基本保留原来的C语言特征的基础上，针对应用的需要，增加了一些功能，尤其是C++中的一些功能，并在2001年和2004年先后进行了两次技术修正，它被称为</a:t>
            </a:r>
            <a:r>
              <a:rPr lang="zh-CN" altLang="en-US" sz="1400" b="1" dirty="0">
                <a:solidFill>
                  <a:srgbClr val="1B05EB"/>
                </a:solidFill>
              </a:rPr>
              <a:t>C 99</a:t>
            </a:r>
            <a:r>
              <a:rPr lang="zh-CN" altLang="en-US" sz="1400" dirty="0"/>
              <a:t>，C 99是C 89的扩充。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5454E9-9F48-4DF7-B545-8CF27268D26F}"/>
              </a:ext>
            </a:extLst>
          </p:cNvPr>
          <p:cNvSpPr/>
          <p:nvPr/>
        </p:nvSpPr>
        <p:spPr>
          <a:xfrm>
            <a:off x="726189" y="5893105"/>
            <a:ext cx="11070927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目前由不同软件公司所提供的一些C语言编译系统并未完全实现C 99建议的功能，它们多以C 89为基础开发。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C962D08-E0E3-4962-8ED1-EF96C342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5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H_SubTitle_1">
            <a:extLst>
              <a:ext uri="{FF2B5EF4-FFF2-40B4-BE49-F238E27FC236}">
                <a16:creationId xmlns:a16="http://schemas.microsoft.com/office/drawing/2014/main" id="{0660C1EC-2087-4544-B34A-298274CE954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11429" y="928414"/>
            <a:ext cx="3822806" cy="3683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500" dirty="0"/>
              <a:t> </a:t>
            </a:r>
            <a:r>
              <a:rPr lang="zh-CN" altLang="en-US" dirty="0"/>
              <a:t>语言简洁、紧凑，使用方便、灵活</a:t>
            </a:r>
            <a:endParaRPr lang="en-US" altLang="zh-CN" sz="1500" dirty="0"/>
          </a:p>
        </p:txBody>
      </p:sp>
      <p:sp>
        <p:nvSpPr>
          <p:cNvPr id="29" name="MH_Other_1">
            <a:extLst>
              <a:ext uri="{FF2B5EF4-FFF2-40B4-BE49-F238E27FC236}">
                <a16:creationId xmlns:a16="http://schemas.microsoft.com/office/drawing/2014/main" id="{86949B15-5589-48FC-A252-F5878A0366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8900000" flipV="1">
            <a:off x="4915589" y="1903932"/>
            <a:ext cx="576263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0" name="MH_Other_2">
            <a:extLst>
              <a:ext uri="{FF2B5EF4-FFF2-40B4-BE49-F238E27FC236}">
                <a16:creationId xmlns:a16="http://schemas.microsoft.com/office/drawing/2014/main" id="{4667B55C-BCEC-4E86-8F38-88EE4F83C7F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6200000" flipV="1">
            <a:off x="4717945" y="2379388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1" name="MH_Other_3">
            <a:extLst>
              <a:ext uri="{FF2B5EF4-FFF2-40B4-BE49-F238E27FC236}">
                <a16:creationId xmlns:a16="http://schemas.microsoft.com/office/drawing/2014/main" id="{BA483713-52D2-4CD1-9A96-84CE1BB9C7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3500000" flipV="1">
            <a:off x="4914795" y="2855638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2" name="MH_Other_4">
            <a:extLst>
              <a:ext uri="{FF2B5EF4-FFF2-40B4-BE49-F238E27FC236}">
                <a16:creationId xmlns:a16="http://schemas.microsoft.com/office/drawing/2014/main" id="{4CD4FD68-2D52-4020-80C4-92891FAC933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0800000" flipV="1">
            <a:off x="5391045" y="3052488"/>
            <a:ext cx="577850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3" name="MH_Other_5">
            <a:extLst>
              <a:ext uri="{FF2B5EF4-FFF2-40B4-BE49-F238E27FC236}">
                <a16:creationId xmlns:a16="http://schemas.microsoft.com/office/drawing/2014/main" id="{7F85A33A-860A-486D-8AB2-DC04AE0CD23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8100000" flipV="1">
            <a:off x="5866501" y="2854844"/>
            <a:ext cx="577850" cy="1262062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4" name="MH_Other_6">
            <a:extLst>
              <a:ext uri="{FF2B5EF4-FFF2-40B4-BE49-F238E27FC236}">
                <a16:creationId xmlns:a16="http://schemas.microsoft.com/office/drawing/2014/main" id="{41AE3BE8-8755-49E3-946F-0B14E31BAD8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5400000" flipV="1">
            <a:off x="6064145" y="2379388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5" name="MH_Other_7">
            <a:extLst>
              <a:ext uri="{FF2B5EF4-FFF2-40B4-BE49-F238E27FC236}">
                <a16:creationId xmlns:a16="http://schemas.microsoft.com/office/drawing/2014/main" id="{0E17DD11-0282-4D62-A4D2-6BA51398C8F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2700000" flipV="1">
            <a:off x="5867295" y="1903138"/>
            <a:ext cx="576262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6" name="MH_Other_8">
            <a:extLst>
              <a:ext uri="{FF2B5EF4-FFF2-40B4-BE49-F238E27FC236}">
                <a16:creationId xmlns:a16="http://schemas.microsoft.com/office/drawing/2014/main" id="{209AB657-03B5-480B-BD6E-C3A3E71B6A9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V="1">
            <a:off x="5391045" y="1706288"/>
            <a:ext cx="577850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37" name="MH_Other_9">
            <a:extLst>
              <a:ext uri="{FF2B5EF4-FFF2-40B4-BE49-F238E27FC236}">
                <a16:creationId xmlns:a16="http://schemas.microsoft.com/office/drawing/2014/main" id="{0DDD98D7-2F6F-4747-9267-247B55B66F5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367233" y="1299888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MH_Other_10">
            <a:extLst>
              <a:ext uri="{FF2B5EF4-FFF2-40B4-BE49-F238E27FC236}">
                <a16:creationId xmlns:a16="http://schemas.microsoft.com/office/drawing/2014/main" id="{94D9E36B-AB6D-4AB2-B19D-7D15FD599BD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54658" y="1709463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MH_Other_11">
            <a:extLst>
              <a:ext uri="{FF2B5EF4-FFF2-40B4-BE49-F238E27FC236}">
                <a16:creationId xmlns:a16="http://schemas.microsoft.com/office/drawing/2014/main" id="{45641609-8E3C-4456-8E3E-DFF2442CE38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764233" y="2696888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MH_Other_12">
            <a:extLst>
              <a:ext uri="{FF2B5EF4-FFF2-40B4-BE49-F238E27FC236}">
                <a16:creationId xmlns:a16="http://schemas.microsoft.com/office/drawing/2014/main" id="{EDF7A34E-A909-4732-AA97-F53F046CF1F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4658" y="3685901"/>
            <a:ext cx="625475" cy="62388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MH_Other_13">
            <a:extLst>
              <a:ext uri="{FF2B5EF4-FFF2-40B4-BE49-F238E27FC236}">
                <a16:creationId xmlns:a16="http://schemas.microsoft.com/office/drawing/2014/main" id="{785A122B-819E-488B-AC78-477BE21CC57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367233" y="4093888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MH_Other_14">
            <a:extLst>
              <a:ext uri="{FF2B5EF4-FFF2-40B4-BE49-F238E27FC236}">
                <a16:creationId xmlns:a16="http://schemas.microsoft.com/office/drawing/2014/main" id="{80BA6E93-0623-4734-A8C2-0AE5D086BE7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79808" y="3685901"/>
            <a:ext cx="625475" cy="62388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06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MH_Other_15">
            <a:extLst>
              <a:ext uri="{FF2B5EF4-FFF2-40B4-BE49-F238E27FC236}">
                <a16:creationId xmlns:a16="http://schemas.microsoft.com/office/drawing/2014/main" id="{C0895EDE-7792-468A-A05D-1271DF2FC291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970233" y="2696888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07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MH_Other_16">
            <a:extLst>
              <a:ext uri="{FF2B5EF4-FFF2-40B4-BE49-F238E27FC236}">
                <a16:creationId xmlns:a16="http://schemas.microsoft.com/office/drawing/2014/main" id="{51F5C123-B378-4292-A417-F30954227449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379808" y="1709463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08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MH_Title_1">
            <a:extLst>
              <a:ext uri="{FF2B5EF4-FFF2-40B4-BE49-F238E27FC236}">
                <a16:creationId xmlns:a16="http://schemas.microsoft.com/office/drawing/2014/main" id="{7E73C3FF-7233-41BD-B737-FE451B1F452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203720" y="2533375"/>
            <a:ext cx="952500" cy="9525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54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en-US" altLang="zh-CN" sz="6000" b="1" dirty="0">
                <a:solidFill>
                  <a:srgbClr val="FFFFFF"/>
                </a:solidFill>
              </a:rPr>
              <a:t>C</a:t>
            </a:r>
            <a:endParaRPr lang="zh-CN" altLang="en-US" sz="6000" b="1" dirty="0">
              <a:solidFill>
                <a:srgbClr val="FFFFFF"/>
              </a:solidFill>
            </a:endParaRPr>
          </a:p>
        </p:txBody>
      </p:sp>
      <p:sp>
        <p:nvSpPr>
          <p:cNvPr id="46" name="MH_SubTitle_5">
            <a:extLst>
              <a:ext uri="{FF2B5EF4-FFF2-40B4-BE49-F238E27FC236}">
                <a16:creationId xmlns:a16="http://schemas.microsoft.com/office/drawing/2014/main" id="{223777D4-F507-4FDD-B9B0-665CEFE6710F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282970" y="4738415"/>
            <a:ext cx="4270480" cy="36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dirty="0"/>
              <a:t>语法限制不太严格，程序设计自由度大</a:t>
            </a:r>
            <a:endParaRPr lang="en-US" altLang="zh-CN" dirty="0"/>
          </a:p>
        </p:txBody>
      </p:sp>
      <p:sp>
        <p:nvSpPr>
          <p:cNvPr id="47" name="MH_SubTitle_2">
            <a:extLst>
              <a:ext uri="{FF2B5EF4-FFF2-40B4-BE49-F238E27FC236}">
                <a16:creationId xmlns:a16="http://schemas.microsoft.com/office/drawing/2014/main" id="{2A6C9638-B033-4A4A-B17A-7575630D83DD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018231" y="1798882"/>
            <a:ext cx="2147992" cy="368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运算符丰富</a:t>
            </a:r>
            <a:endParaRPr lang="en-US" altLang="zh-CN" dirty="0"/>
          </a:p>
        </p:txBody>
      </p:sp>
      <p:sp>
        <p:nvSpPr>
          <p:cNvPr id="48" name="MH_SubTitle_3">
            <a:extLst>
              <a:ext uri="{FF2B5EF4-FFF2-40B4-BE49-F238E27FC236}">
                <a16:creationId xmlns:a16="http://schemas.microsoft.com/office/drawing/2014/main" id="{EF3AA94A-210C-4FB2-92F4-40336111F2D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415108" y="2801663"/>
            <a:ext cx="1652379" cy="36671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500" dirty="0"/>
              <a:t> </a:t>
            </a:r>
            <a:r>
              <a:rPr lang="zh-CN" altLang="en-US" dirty="0"/>
              <a:t>数据类型丰富</a:t>
            </a:r>
            <a:endParaRPr lang="en-US" altLang="zh-CN" sz="1500" dirty="0"/>
          </a:p>
        </p:txBody>
      </p:sp>
      <p:sp>
        <p:nvSpPr>
          <p:cNvPr id="49" name="MH_SubTitle_4">
            <a:extLst>
              <a:ext uri="{FF2B5EF4-FFF2-40B4-BE49-F238E27FC236}">
                <a16:creationId xmlns:a16="http://schemas.microsoft.com/office/drawing/2014/main" id="{A3DC2F0A-33FB-4C72-A028-9BDE71DD13B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980133" y="3841201"/>
            <a:ext cx="3887892" cy="368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C</a:t>
            </a:r>
            <a:r>
              <a:rPr lang="zh-CN" altLang="en-US" dirty="0"/>
              <a:t>语言是完全模块化和结构化的语言</a:t>
            </a:r>
            <a:endParaRPr lang="en-US" altLang="zh-CN" dirty="0"/>
          </a:p>
        </p:txBody>
      </p:sp>
      <p:sp>
        <p:nvSpPr>
          <p:cNvPr id="50" name="MH_SubTitle_8">
            <a:extLst>
              <a:ext uri="{FF2B5EF4-FFF2-40B4-BE49-F238E27FC236}">
                <a16:creationId xmlns:a16="http://schemas.microsoft.com/office/drawing/2014/main" id="{C0FFB2DC-188B-40E2-8256-EF275090241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28600" y="1760262"/>
            <a:ext cx="4105171" cy="368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dirty="0"/>
              <a:t>生成目标代码质量高，程序执行效率高</a:t>
            </a:r>
            <a:endParaRPr lang="en-US" altLang="zh-CN" dirty="0"/>
          </a:p>
        </p:txBody>
      </p:sp>
      <p:sp>
        <p:nvSpPr>
          <p:cNvPr id="51" name="MH_SubTitle_7">
            <a:extLst>
              <a:ext uri="{FF2B5EF4-FFF2-40B4-BE49-F238E27FC236}">
                <a16:creationId xmlns:a16="http://schemas.microsoft.com/office/drawing/2014/main" id="{B1B061CE-71BC-4154-ACF7-D29F54F77A4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085975" y="2801663"/>
            <a:ext cx="1858857" cy="36671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dirty="0"/>
              <a:t>程序可移植性好</a:t>
            </a:r>
            <a:endParaRPr lang="en-US" altLang="zh-CN" dirty="0"/>
          </a:p>
        </p:txBody>
      </p:sp>
      <p:sp>
        <p:nvSpPr>
          <p:cNvPr id="52" name="MH_SubTitle_6">
            <a:extLst>
              <a:ext uri="{FF2B5EF4-FFF2-40B4-BE49-F238E27FC236}">
                <a16:creationId xmlns:a16="http://schemas.microsoft.com/office/drawing/2014/main" id="{833EE114-B9AF-401D-A8C6-0BC2575FE6D7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1647824" y="3348461"/>
            <a:ext cx="2701167" cy="138995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dirty="0"/>
              <a:t>允许直接访问物理地址</a:t>
            </a:r>
            <a:endParaRPr lang="en-US" altLang="zh-CN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dirty="0"/>
              <a:t>可以直接对硬件进行操作</a:t>
            </a:r>
            <a:endParaRPr lang="en-US" altLang="zh-CN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dirty="0"/>
              <a:t>用来编写系统软件</a:t>
            </a:r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9C820263-EC10-4555-86BB-2A3B0758BB0D}"/>
              </a:ext>
            </a:extLst>
          </p:cNvPr>
          <p:cNvSpPr txBox="1">
            <a:spLocks/>
          </p:cNvSpPr>
          <p:nvPr/>
        </p:nvSpPr>
        <p:spPr>
          <a:xfrm>
            <a:off x="64707" y="793875"/>
            <a:ext cx="2917032" cy="5865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C</a:t>
            </a:r>
            <a:r>
              <a:rPr lang="zh-CN" altLang="en-US" sz="2800" b="1" dirty="0"/>
              <a:t>语言的特点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54965-A84D-4D3B-B788-9691DB2D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07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BCE6C8D-60A9-4949-AD0D-5C9162A2DAD3}"/>
              </a:ext>
            </a:extLst>
          </p:cNvPr>
          <p:cNvSpPr txBox="1">
            <a:spLocks/>
          </p:cNvSpPr>
          <p:nvPr/>
        </p:nvSpPr>
        <p:spPr>
          <a:xfrm>
            <a:off x="57978" y="790234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最简单的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语言程序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9DB7EB1-C68B-4728-9AC7-5E55CF78F925}"/>
              </a:ext>
            </a:extLst>
          </p:cNvPr>
          <p:cNvSpPr txBox="1">
            <a:spLocks/>
          </p:cNvSpPr>
          <p:nvPr/>
        </p:nvSpPr>
        <p:spPr>
          <a:xfrm>
            <a:off x="546651" y="1292148"/>
            <a:ext cx="7232374" cy="5895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accent1"/>
                </a:solidFill>
              </a:rPr>
              <a:t>【</a:t>
            </a:r>
            <a:r>
              <a:rPr lang="zh-CN" altLang="en-US" sz="2000" dirty="0">
                <a:solidFill>
                  <a:schemeClr val="accent1"/>
                </a:solidFill>
              </a:rPr>
              <a:t>例</a:t>
            </a:r>
            <a:r>
              <a:rPr lang="en-US" altLang="zh-CN" sz="2000" dirty="0">
                <a:solidFill>
                  <a:schemeClr val="accent1"/>
                </a:solidFill>
              </a:rPr>
              <a:t>1.1】</a:t>
            </a:r>
            <a:r>
              <a:rPr lang="zh-CN" altLang="en-US" sz="2000" dirty="0">
                <a:solidFill>
                  <a:schemeClr val="accent1"/>
                </a:solidFill>
              </a:rPr>
              <a:t>要求在屏幕上输出 “</a:t>
            </a:r>
            <a:r>
              <a:rPr lang="en-US" altLang="zh-CN" sz="2000" dirty="0" err="1">
                <a:solidFill>
                  <a:schemeClr val="accent1"/>
                </a:solidFill>
              </a:rPr>
              <a:t>Hello,World</a:t>
            </a:r>
            <a:r>
              <a:rPr lang="en-US" altLang="zh-CN" sz="2000" dirty="0">
                <a:solidFill>
                  <a:schemeClr val="accent1"/>
                </a:solidFill>
              </a:rPr>
              <a:t>!</a:t>
            </a:r>
            <a:r>
              <a:rPr lang="zh-CN" altLang="en-US" sz="2000" dirty="0">
                <a:solidFill>
                  <a:schemeClr val="accent1"/>
                </a:solidFill>
              </a:rPr>
              <a:t>”。</a:t>
            </a:r>
            <a:endParaRPr lang="en-US" altLang="zh-CN" sz="2000" dirty="0">
              <a:solidFill>
                <a:schemeClr val="accent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3051BB-2A42-42E5-BF92-BE81C00D0312}"/>
              </a:ext>
            </a:extLst>
          </p:cNvPr>
          <p:cNvSpPr/>
          <p:nvPr/>
        </p:nvSpPr>
        <p:spPr>
          <a:xfrm>
            <a:off x="707333" y="1814099"/>
            <a:ext cx="67718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解题思路</a:t>
            </a:r>
            <a:r>
              <a:rPr lang="en-US" altLang="zh-CN" b="1" dirty="0"/>
              <a:t>: </a:t>
            </a:r>
            <a:r>
              <a:rPr lang="zh-CN" altLang="en-US" dirty="0"/>
              <a:t>在主函数中调用</a:t>
            </a:r>
            <a:r>
              <a:rPr lang="en-US" altLang="zh-CN" dirty="0" err="1"/>
              <a:t>printf</a:t>
            </a:r>
            <a:r>
              <a:rPr lang="zh-CN" altLang="en-US" dirty="0"/>
              <a:t>库函数原样输出以上文字。</a:t>
            </a:r>
          </a:p>
        </p:txBody>
      </p:sp>
      <p:sp>
        <p:nvSpPr>
          <p:cNvPr id="8" name="折角形 8">
            <a:extLst>
              <a:ext uri="{FF2B5EF4-FFF2-40B4-BE49-F238E27FC236}">
                <a16:creationId xmlns:a16="http://schemas.microsoft.com/office/drawing/2014/main" id="{55051F0A-2E9F-4D07-857B-FB91D7F9AD64}"/>
              </a:ext>
            </a:extLst>
          </p:cNvPr>
          <p:cNvSpPr/>
          <p:nvPr/>
        </p:nvSpPr>
        <p:spPr>
          <a:xfrm>
            <a:off x="6659216" y="790234"/>
            <a:ext cx="5474805" cy="580707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183636F-40D1-409D-B419-CB323F339319}"/>
              </a:ext>
            </a:extLst>
          </p:cNvPr>
          <p:cNvGrpSpPr/>
          <p:nvPr/>
        </p:nvGrpSpPr>
        <p:grpSpPr>
          <a:xfrm>
            <a:off x="7978656" y="912704"/>
            <a:ext cx="1905500" cy="560717"/>
            <a:chOff x="8656983" y="1203671"/>
            <a:chExt cx="1905500" cy="49750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CCE3CDF-9381-4210-9F43-F25637B48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A23AA2-7832-487F-BD32-377730369136}"/>
                </a:ext>
              </a:extLst>
            </p:cNvPr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9608FDD-1332-4605-AFE0-2DC1574DC77E}"/>
                </a:ext>
              </a:extLst>
            </p:cNvPr>
            <p:cNvCxnSpPr/>
            <p:nvPr/>
          </p:nvCxnSpPr>
          <p:spPr>
            <a:xfrm>
              <a:off x="8656983" y="1690688"/>
              <a:ext cx="19055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4733A34-16C8-410C-BDE8-67031F68818E}"/>
              </a:ext>
            </a:extLst>
          </p:cNvPr>
          <p:cNvSpPr txBox="1"/>
          <p:nvPr/>
        </p:nvSpPr>
        <p:spPr>
          <a:xfrm>
            <a:off x="6784707" y="1584072"/>
            <a:ext cx="5336889" cy="486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00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是函数的名字，表示“主函数”；每一个</a:t>
            </a:r>
            <a:r>
              <a:rPr lang="en-US" altLang="zh-CN" sz="1200" dirty="0">
                <a:solidFill>
                  <a:schemeClr val="bg1"/>
                </a:solidFill>
              </a:rPr>
              <a:t>C</a:t>
            </a:r>
            <a:r>
              <a:rPr lang="zh-CN" altLang="en-US" sz="1200" dirty="0">
                <a:solidFill>
                  <a:schemeClr val="bg1"/>
                </a:solidFill>
              </a:rPr>
              <a:t>语言程序都必须有且仅有一个 </a:t>
            </a:r>
            <a:r>
              <a:rPr lang="en-US" altLang="zh-CN" sz="1200" dirty="0">
                <a:solidFill>
                  <a:schemeClr val="bg1"/>
                </a:solidFill>
              </a:rPr>
              <a:t>main </a:t>
            </a:r>
            <a:r>
              <a:rPr lang="zh-CN" altLang="en-US" sz="1200" dirty="0">
                <a:solidFill>
                  <a:schemeClr val="bg1"/>
                </a:solidFill>
              </a:rPr>
              <a:t>函数，它是每一个</a:t>
            </a:r>
            <a:r>
              <a:rPr lang="en-US" altLang="zh-CN" sz="1200" dirty="0">
                <a:solidFill>
                  <a:schemeClr val="bg1"/>
                </a:solidFill>
              </a:rPr>
              <a:t>C</a:t>
            </a:r>
            <a:r>
              <a:rPr lang="zh-CN" altLang="en-US" sz="1200" dirty="0">
                <a:solidFill>
                  <a:schemeClr val="bg1"/>
                </a:solidFill>
              </a:rPr>
              <a:t>语言程序执行的起始点。程序从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函数第一句开始顺序执行，直到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函数的最后一条语句。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函数执行完毕，代表着整个程序执行结束。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前面的</a:t>
            </a:r>
            <a:r>
              <a:rPr lang="en-US" altLang="zh-CN" sz="1400" b="1" dirty="0" err="1">
                <a:solidFill>
                  <a:srgbClr val="FFFF00"/>
                </a:solidFill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</a:rPr>
              <a:t>表示此函数的类型是</a:t>
            </a:r>
            <a:r>
              <a:rPr lang="en-US" altLang="zh-CN" sz="1200" dirty="0" err="1">
                <a:solidFill>
                  <a:schemeClr val="bg1"/>
                </a:solidFill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</a:rPr>
              <a:t>类型</a:t>
            </a:r>
            <a:r>
              <a:rPr lang="en-US" altLang="zh-CN" sz="1200" dirty="0">
                <a:solidFill>
                  <a:schemeClr val="bg1"/>
                </a:solidFill>
              </a:rPr>
              <a:t>(</a:t>
            </a:r>
            <a:r>
              <a:rPr lang="zh-CN" altLang="en-US" sz="1200" dirty="0">
                <a:solidFill>
                  <a:schemeClr val="bg1"/>
                </a:solidFill>
              </a:rPr>
              <a:t>整型</a:t>
            </a:r>
            <a:r>
              <a:rPr lang="en-US" altLang="zh-CN" sz="1200" dirty="0">
                <a:solidFill>
                  <a:schemeClr val="bg1"/>
                </a:solidFill>
              </a:rPr>
              <a:t>)</a:t>
            </a:r>
            <a:r>
              <a:rPr lang="zh-CN" altLang="en-US" sz="1200" dirty="0">
                <a:solidFill>
                  <a:schemeClr val="bg1"/>
                </a:solidFill>
              </a:rPr>
              <a:t>，即在执行完主函数后会得到一个值</a:t>
            </a:r>
            <a:r>
              <a:rPr lang="en-US" altLang="zh-CN" sz="1200" dirty="0">
                <a:solidFill>
                  <a:schemeClr val="bg1"/>
                </a:solidFill>
              </a:rPr>
              <a:t>(</a:t>
            </a:r>
            <a:r>
              <a:rPr lang="zh-CN" altLang="en-US" sz="1200" dirty="0">
                <a:solidFill>
                  <a:schemeClr val="bg1"/>
                </a:solidFill>
              </a:rPr>
              <a:t>即返回值</a:t>
            </a:r>
            <a:r>
              <a:rPr lang="en-US" altLang="zh-CN" sz="1200" dirty="0">
                <a:solidFill>
                  <a:schemeClr val="bg1"/>
                </a:solidFill>
              </a:rPr>
              <a:t>)</a:t>
            </a:r>
            <a:r>
              <a:rPr lang="zh-CN" altLang="en-US" sz="1200" dirty="0">
                <a:solidFill>
                  <a:schemeClr val="bg1"/>
                </a:solidFill>
              </a:rPr>
              <a:t>，该返回值的类型为整型类型。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</a:rPr>
              <a:t>最后一条语句</a:t>
            </a:r>
            <a:r>
              <a:rPr lang="en-US" altLang="zh-CN" sz="1400" b="1" dirty="0">
                <a:solidFill>
                  <a:srgbClr val="FFFF00"/>
                </a:solidFill>
              </a:rPr>
              <a:t>return 0;</a:t>
            </a:r>
            <a:r>
              <a:rPr lang="zh-CN" altLang="en-US" sz="1200" dirty="0">
                <a:solidFill>
                  <a:schemeClr val="bg1"/>
                </a:solidFill>
              </a:rPr>
              <a:t>的作用是当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函数执行结束前将整数</a:t>
            </a:r>
            <a:r>
              <a:rPr lang="en-US" altLang="zh-CN" sz="1200" dirty="0">
                <a:solidFill>
                  <a:schemeClr val="bg1"/>
                </a:solidFill>
              </a:rPr>
              <a:t>0</a:t>
            </a:r>
            <a:r>
              <a:rPr lang="zh-CN" altLang="en-US" sz="1200" dirty="0">
                <a:solidFill>
                  <a:schemeClr val="bg1"/>
                </a:solidFill>
              </a:rPr>
              <a:t>作为其返回值，返回到调用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函数的位置。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</a:rPr>
              <a:t>由花括号</a:t>
            </a:r>
            <a:r>
              <a:rPr lang="en-US" altLang="zh-CN" sz="1400" b="1" dirty="0">
                <a:solidFill>
                  <a:srgbClr val="FFFF00"/>
                </a:solidFill>
              </a:rPr>
              <a:t>{}</a:t>
            </a:r>
            <a:r>
              <a:rPr lang="zh-CN" altLang="en-US" sz="1200" dirty="0">
                <a:solidFill>
                  <a:schemeClr val="bg1"/>
                </a:solidFill>
              </a:rPr>
              <a:t>括起来的部分称为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函数的函数体。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FFFF00"/>
                </a:solidFill>
              </a:rPr>
              <a:t>printf</a:t>
            </a:r>
            <a:r>
              <a:rPr lang="zh-CN" altLang="en-US" sz="1200" dirty="0">
                <a:solidFill>
                  <a:schemeClr val="bg1"/>
                </a:solidFill>
              </a:rPr>
              <a:t>是</a:t>
            </a:r>
            <a:r>
              <a:rPr lang="en-US" altLang="zh-CN" sz="1200" dirty="0">
                <a:solidFill>
                  <a:schemeClr val="bg1"/>
                </a:solidFill>
              </a:rPr>
              <a:t>C</a:t>
            </a:r>
            <a:r>
              <a:rPr lang="zh-CN" altLang="en-US" sz="1200" dirty="0">
                <a:solidFill>
                  <a:schemeClr val="bg1"/>
                </a:solidFill>
              </a:rPr>
              <a:t>编译系统提供的函数库中的输出函数。</a:t>
            </a:r>
            <a:r>
              <a:rPr lang="en-US" altLang="zh-CN" sz="1200" dirty="0" err="1">
                <a:solidFill>
                  <a:schemeClr val="bg1"/>
                </a:solidFill>
              </a:rPr>
              <a:t>printf</a:t>
            </a:r>
            <a:r>
              <a:rPr lang="zh-CN" altLang="en-US" sz="1200" dirty="0">
                <a:solidFill>
                  <a:schemeClr val="bg1"/>
                </a:solidFill>
              </a:rPr>
              <a:t>函数中</a:t>
            </a:r>
            <a:r>
              <a:rPr lang="zh-CN" altLang="en-US" sz="1400" b="1" dirty="0">
                <a:solidFill>
                  <a:srgbClr val="FFFF00"/>
                </a:solidFill>
              </a:rPr>
              <a:t>双引号</a:t>
            </a:r>
            <a:r>
              <a:rPr lang="zh-CN" altLang="en-US" sz="1200" dirty="0">
                <a:solidFill>
                  <a:schemeClr val="bg1"/>
                </a:solidFill>
              </a:rPr>
              <a:t>内的字符串</a:t>
            </a:r>
            <a:r>
              <a:rPr lang="en-US" altLang="zh-CN" sz="1200" dirty="0">
                <a:solidFill>
                  <a:schemeClr val="bg1"/>
                </a:solidFill>
              </a:rPr>
              <a:t>″</a:t>
            </a:r>
            <a:r>
              <a:rPr lang="en-US" altLang="zh-CN" sz="1200" dirty="0" err="1">
                <a:solidFill>
                  <a:schemeClr val="bg1"/>
                </a:solidFill>
              </a:rPr>
              <a:t>Hello,World</a:t>
            </a:r>
            <a:r>
              <a:rPr lang="en-US" altLang="zh-CN" sz="1200" dirty="0">
                <a:solidFill>
                  <a:schemeClr val="bg1"/>
                </a:solidFill>
              </a:rPr>
              <a:t>!″</a:t>
            </a:r>
            <a:r>
              <a:rPr lang="zh-CN" altLang="en-US" sz="1200" dirty="0">
                <a:solidFill>
                  <a:schemeClr val="bg1"/>
                </a:solidFill>
              </a:rPr>
              <a:t>按原样输出。</a:t>
            </a:r>
            <a:r>
              <a:rPr lang="en-US" altLang="zh-CN" sz="1400" b="1" dirty="0">
                <a:solidFill>
                  <a:srgbClr val="FFFF00"/>
                </a:solidFill>
              </a:rPr>
              <a:t>\n</a:t>
            </a:r>
            <a:r>
              <a:rPr lang="zh-CN" altLang="en-US" sz="1200" dirty="0">
                <a:solidFill>
                  <a:schemeClr val="bg1"/>
                </a:solidFill>
              </a:rPr>
              <a:t>是换行符，即在输出</a:t>
            </a:r>
            <a:r>
              <a:rPr lang="en-US" altLang="zh-CN" sz="1200" dirty="0">
                <a:solidFill>
                  <a:schemeClr val="bg1"/>
                </a:solidFill>
              </a:rPr>
              <a:t>″</a:t>
            </a:r>
            <a:r>
              <a:rPr lang="en-US" altLang="zh-CN" sz="1200" dirty="0" err="1">
                <a:solidFill>
                  <a:schemeClr val="bg1"/>
                </a:solidFill>
              </a:rPr>
              <a:t>Hello,World</a:t>
            </a:r>
            <a:r>
              <a:rPr lang="en-US" altLang="zh-CN" sz="1200" dirty="0">
                <a:solidFill>
                  <a:schemeClr val="bg1"/>
                </a:solidFill>
              </a:rPr>
              <a:t>!″</a:t>
            </a:r>
            <a:r>
              <a:rPr lang="zh-CN" altLang="en-US" sz="1200" dirty="0">
                <a:solidFill>
                  <a:schemeClr val="bg1"/>
                </a:solidFill>
              </a:rPr>
              <a:t>后，显示屏上的光标位置移到下一行的开头。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函数体由一条条语句组成，每条语句最后都有一个</a:t>
            </a:r>
            <a:r>
              <a:rPr lang="zh-CN" altLang="en-US" sz="1400" b="1" dirty="0">
                <a:solidFill>
                  <a:srgbClr val="FFFF00"/>
                </a:solidFill>
              </a:rPr>
              <a:t>分号</a:t>
            </a:r>
            <a:r>
              <a:rPr lang="zh-CN" altLang="en-US" sz="1200" dirty="0">
                <a:solidFill>
                  <a:schemeClr val="bg1"/>
                </a:solidFill>
              </a:rPr>
              <a:t>，表示语句结束且不能省略。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00"/>
                </a:solidFill>
              </a:rPr>
              <a:t>#include</a:t>
            </a:r>
            <a:r>
              <a:rPr lang="zh-CN" altLang="en-US" sz="1200" dirty="0">
                <a:solidFill>
                  <a:schemeClr val="bg1"/>
                </a:solidFill>
              </a:rPr>
              <a:t>为预处理命令。用于声明库函数</a:t>
            </a:r>
            <a:r>
              <a:rPr lang="en-US" altLang="zh-CN" sz="1200" dirty="0" err="1">
                <a:solidFill>
                  <a:schemeClr val="bg1"/>
                </a:solidFill>
              </a:rPr>
              <a:t>printf</a:t>
            </a:r>
            <a:r>
              <a:rPr lang="zh-CN" altLang="en-US" sz="1200" dirty="0">
                <a:solidFill>
                  <a:schemeClr val="bg1"/>
                </a:solidFill>
              </a:rPr>
              <a:t>所在头文件。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</a:rPr>
              <a:t>以</a:t>
            </a:r>
            <a:r>
              <a:rPr lang="en-US" altLang="zh-CN" sz="1400" b="1" dirty="0">
                <a:solidFill>
                  <a:srgbClr val="FFFF00"/>
                </a:solidFill>
              </a:rPr>
              <a:t>//</a:t>
            </a:r>
            <a:r>
              <a:rPr lang="zh-CN" altLang="en-US" sz="1200" dirty="0">
                <a:solidFill>
                  <a:schemeClr val="bg1"/>
                </a:solidFill>
              </a:rPr>
              <a:t>开始的行为程序的</a:t>
            </a:r>
            <a:r>
              <a:rPr lang="zh-CN" altLang="en-US" sz="1400" b="1" dirty="0">
                <a:solidFill>
                  <a:srgbClr val="FF0000"/>
                </a:solidFill>
              </a:rPr>
              <a:t>注释</a:t>
            </a:r>
            <a:r>
              <a:rPr lang="zh-CN" altLang="en-US" sz="1200" dirty="0">
                <a:solidFill>
                  <a:schemeClr val="bg1"/>
                </a:solidFill>
              </a:rPr>
              <a:t>部分，对程序的有关部分进行说明。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BBF6BEA-F49B-409A-8006-5A2E60D4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20" y="2494279"/>
            <a:ext cx="4756394" cy="193049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5CD616E-441E-4DDE-994B-C062F6147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81" y="4781046"/>
            <a:ext cx="5626389" cy="1200212"/>
          </a:xfrm>
          <a:prstGeom prst="rect">
            <a:avLst/>
          </a:prstGeom>
        </p:spPr>
      </p:pic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6C33CE56-24D6-4E24-84D9-B0F71454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76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4559C70-377A-4DD0-B7C3-5880D6E3E036}"/>
              </a:ext>
            </a:extLst>
          </p:cNvPr>
          <p:cNvSpPr txBox="1">
            <a:spLocks/>
          </p:cNvSpPr>
          <p:nvPr/>
        </p:nvSpPr>
        <p:spPr>
          <a:xfrm>
            <a:off x="172279" y="80972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注释</a:t>
            </a:r>
          </a:p>
        </p:txBody>
      </p:sp>
      <p:sp>
        <p:nvSpPr>
          <p:cNvPr id="4" name="MH_Other_1">
            <a:extLst>
              <a:ext uri="{FF2B5EF4-FFF2-40B4-BE49-F238E27FC236}">
                <a16:creationId xmlns:a16="http://schemas.microsoft.com/office/drawing/2014/main" id="{5418E9A0-5188-4EB5-BB2B-5F7473409A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1390961" y="1518998"/>
            <a:ext cx="288925" cy="433387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cxnSp>
        <p:nvCxnSpPr>
          <p:cNvPr id="5" name="MH_Other_2">
            <a:extLst>
              <a:ext uri="{FF2B5EF4-FFF2-40B4-BE49-F238E27FC236}">
                <a16:creationId xmlns:a16="http://schemas.microsoft.com/office/drawing/2014/main" id="{B28B047F-DD26-49D4-8F65-B30FA37171FE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310791" y="2122142"/>
            <a:ext cx="227226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H_Other_3">
            <a:extLst>
              <a:ext uri="{FF2B5EF4-FFF2-40B4-BE49-F238E27FC236}">
                <a16:creationId xmlns:a16="http://schemas.microsoft.com/office/drawing/2014/main" id="{68D44751-77A0-4338-9D23-092F21A8A4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7305225" y="1518998"/>
            <a:ext cx="288925" cy="433387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cxnSp>
        <p:nvCxnSpPr>
          <p:cNvPr id="7" name="MH_Other_4">
            <a:extLst>
              <a:ext uri="{FF2B5EF4-FFF2-40B4-BE49-F238E27FC236}">
                <a16:creationId xmlns:a16="http://schemas.microsoft.com/office/drawing/2014/main" id="{54FE111D-A135-4F9A-A7BC-E88687ABC80E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7232994" y="2122142"/>
            <a:ext cx="319253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H_Text_1">
            <a:extLst>
              <a:ext uri="{FF2B5EF4-FFF2-40B4-BE49-F238E27FC236}">
                <a16:creationId xmlns:a16="http://schemas.microsoft.com/office/drawing/2014/main" id="{79B25045-A484-4A2B-B3B9-E172297E3C7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42530" y="2148441"/>
            <a:ext cx="2439917" cy="2971693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单独占一行或位于一行中其它内容的右侧。注释的范围从</a:t>
            </a:r>
            <a:r>
              <a:rPr lang="en-US" altLang="zh-CN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//</a:t>
            </a:r>
            <a:r>
              <a: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开始，以换行符结束。如果注释内容一行内写不下，可以用多个单行注释。</a:t>
            </a:r>
          </a:p>
        </p:txBody>
      </p:sp>
      <p:sp>
        <p:nvSpPr>
          <p:cNvPr id="9" name="MH_Text_2">
            <a:extLst>
              <a:ext uri="{FF2B5EF4-FFF2-40B4-BE49-F238E27FC236}">
                <a16:creationId xmlns:a16="http://schemas.microsoft.com/office/drawing/2014/main" id="{7611235B-AFDF-4A89-8CC3-8D71F26BB390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59969" y="2221464"/>
            <a:ext cx="3370538" cy="2128838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algn="just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/>
              <a:t>注释内容可以包含多行内容，也可以单独占一行。</a:t>
            </a:r>
            <a:endParaRPr lang="en-US" altLang="zh-CN" sz="18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注意：编译系统在发现第一个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*后，会开始找注释结束符*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，把二者间的内容作为注释。</a:t>
            </a:r>
          </a:p>
        </p:txBody>
      </p:sp>
      <p:sp>
        <p:nvSpPr>
          <p:cNvPr id="10" name="MH_SubTitle_1">
            <a:extLst>
              <a:ext uri="{FF2B5EF4-FFF2-40B4-BE49-F238E27FC236}">
                <a16:creationId xmlns:a16="http://schemas.microsoft.com/office/drawing/2014/main" id="{3B842BDB-FBD9-4603-933C-9E9446AE136F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37791" y="1672190"/>
            <a:ext cx="20653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单行注释</a:t>
            </a:r>
          </a:p>
        </p:txBody>
      </p:sp>
      <p:sp>
        <p:nvSpPr>
          <p:cNvPr id="11" name="MH_SubTitle_2">
            <a:extLst>
              <a:ext uri="{FF2B5EF4-FFF2-40B4-BE49-F238E27FC236}">
                <a16:creationId xmlns:a16="http://schemas.microsoft.com/office/drawing/2014/main" id="{34E3E1F9-1E78-48BE-8ADF-46E11AB55E4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362409" y="1672190"/>
            <a:ext cx="3019151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 fontScale="92500"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dirty="0"/>
              <a:t>以</a:t>
            </a:r>
            <a:r>
              <a:rPr lang="en-US" altLang="zh-CN" b="1" dirty="0">
                <a:solidFill>
                  <a:srgbClr val="00B050"/>
                </a:solidFill>
              </a:rPr>
              <a:t>/</a:t>
            </a:r>
            <a:r>
              <a:rPr lang="zh-CN" altLang="en-US" b="1" dirty="0">
                <a:solidFill>
                  <a:srgbClr val="00B050"/>
                </a:solidFill>
              </a:rPr>
              <a:t>*</a:t>
            </a:r>
            <a:r>
              <a:rPr lang="zh-CN" altLang="en-US" dirty="0"/>
              <a:t>开始，以</a:t>
            </a:r>
            <a:r>
              <a:rPr lang="zh-CN" altLang="en-US" b="1" dirty="0">
                <a:solidFill>
                  <a:srgbClr val="00B050"/>
                </a:solidFill>
              </a:rPr>
              <a:t>*</a:t>
            </a:r>
            <a:r>
              <a:rPr lang="en-US" altLang="zh-CN" b="1" dirty="0">
                <a:solidFill>
                  <a:srgbClr val="00B050"/>
                </a:solidFill>
              </a:rPr>
              <a:t>/</a:t>
            </a:r>
            <a:r>
              <a:rPr lang="zh-CN" altLang="en-US" dirty="0"/>
              <a:t>结束的</a:t>
            </a:r>
            <a:r>
              <a:rPr lang="zh-CN" altLang="en-US" dirty="0">
                <a:solidFill>
                  <a:srgbClr val="FF0000"/>
                </a:solidFill>
              </a:rPr>
              <a:t>块式注释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8FE50-1B68-4C9F-8695-7FA59E658173}"/>
              </a:ext>
            </a:extLst>
          </p:cNvPr>
          <p:cNvSpPr/>
          <p:nvPr/>
        </p:nvSpPr>
        <p:spPr>
          <a:xfrm>
            <a:off x="1310792" y="5133283"/>
            <a:ext cx="9219716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注意：在字符串中的</a:t>
            </a:r>
            <a:r>
              <a:rPr lang="en-US" altLang="zh-CN" dirty="0"/>
              <a:t>//</a:t>
            </a:r>
            <a:r>
              <a:rPr lang="zh-CN" altLang="en-US" dirty="0"/>
              <a:t>和</a:t>
            </a:r>
            <a:r>
              <a:rPr lang="en-US" altLang="zh-CN" dirty="0"/>
              <a:t>/</a:t>
            </a:r>
            <a:r>
              <a:rPr lang="zh-CN" altLang="en-US" dirty="0"/>
              <a:t>*都不作为注释的开始，而是作为字符串的一部分。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958A8E3C-AD70-4258-B3CD-BBBE9B735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508" y="1982482"/>
            <a:ext cx="1678815" cy="13255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……//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注释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行注释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继续注释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64054B0-A762-483E-9878-EC2DC09F3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154" y="3306175"/>
            <a:ext cx="1678815" cy="1729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1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注释内容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1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93B19C8F-59B3-4E4C-833E-0695AC61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367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03DF2-AE46-48F0-9ED4-1BC585C62726}"/>
              </a:ext>
            </a:extLst>
          </p:cNvPr>
          <p:cNvSpPr txBox="1">
            <a:spLocks/>
          </p:cNvSpPr>
          <p:nvPr/>
        </p:nvSpPr>
        <p:spPr>
          <a:xfrm>
            <a:off x="0" y="690219"/>
            <a:ext cx="4598504" cy="5895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accent1"/>
                </a:solidFill>
              </a:rPr>
              <a:t>【</a:t>
            </a:r>
            <a:r>
              <a:rPr lang="zh-CN" altLang="en-US" sz="2000" dirty="0">
                <a:solidFill>
                  <a:schemeClr val="accent1"/>
                </a:solidFill>
              </a:rPr>
              <a:t>例</a:t>
            </a:r>
            <a:r>
              <a:rPr lang="en-US" altLang="zh-CN" sz="2000" dirty="0">
                <a:solidFill>
                  <a:schemeClr val="accent1"/>
                </a:solidFill>
              </a:rPr>
              <a:t>1.2】</a:t>
            </a:r>
            <a:r>
              <a:rPr lang="zh-CN" altLang="en-US" sz="2000" dirty="0">
                <a:solidFill>
                  <a:schemeClr val="accent1"/>
                </a:solidFill>
              </a:rPr>
              <a:t>求两个整数中的较大者</a:t>
            </a:r>
            <a:endParaRPr lang="en-US" altLang="zh-CN" sz="2000" dirty="0">
              <a:solidFill>
                <a:schemeClr val="accent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F201F8-B1A0-4995-B397-F2ADF00DAEF5}"/>
              </a:ext>
            </a:extLst>
          </p:cNvPr>
          <p:cNvSpPr/>
          <p:nvPr/>
        </p:nvSpPr>
        <p:spPr>
          <a:xfrm>
            <a:off x="178903" y="1140655"/>
            <a:ext cx="4376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/>
              <a:t>解题思路</a:t>
            </a:r>
            <a:r>
              <a:rPr lang="en-US" altLang="zh-CN" sz="1600" b="1" dirty="0"/>
              <a:t>: </a:t>
            </a:r>
            <a:r>
              <a:rPr lang="zh-CN" altLang="en-US" sz="1600" dirty="0"/>
              <a:t> 用一个函数来实现求两个整数中的较大者。在主函数中调用此函数并输出结果。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5D0607-8295-4180-80AE-05DAC861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434" y="858460"/>
            <a:ext cx="7549945" cy="4445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101471-709E-490A-B44B-31113E13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44" y="5221499"/>
            <a:ext cx="5308873" cy="1212912"/>
          </a:xfrm>
          <a:prstGeom prst="rect">
            <a:avLst/>
          </a:prstGeom>
        </p:spPr>
      </p:pic>
      <p:sp>
        <p:nvSpPr>
          <p:cNvPr id="10" name="折角形 7">
            <a:extLst>
              <a:ext uri="{FF2B5EF4-FFF2-40B4-BE49-F238E27FC236}">
                <a16:creationId xmlns:a16="http://schemas.microsoft.com/office/drawing/2014/main" id="{D9F6568E-1140-4D5E-B976-DCF9F7C80A1D}"/>
              </a:ext>
            </a:extLst>
          </p:cNvPr>
          <p:cNvSpPr/>
          <p:nvPr/>
        </p:nvSpPr>
        <p:spPr>
          <a:xfrm>
            <a:off x="283265" y="1781451"/>
            <a:ext cx="4109831" cy="4907584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6A8924-B77F-4664-ADD5-DC0856C049DD}"/>
              </a:ext>
            </a:extLst>
          </p:cNvPr>
          <p:cNvSpPr txBox="1"/>
          <p:nvPr/>
        </p:nvSpPr>
        <p:spPr>
          <a:xfrm>
            <a:off x="326182" y="1725430"/>
            <a:ext cx="39461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本程序包括两个函数</a:t>
            </a:r>
            <a:r>
              <a:rPr lang="en-US" altLang="zh-CN" sz="1600" dirty="0">
                <a:solidFill>
                  <a:schemeClr val="bg1"/>
                </a:solidFill>
              </a:rPr>
              <a:t>:①</a:t>
            </a:r>
            <a:r>
              <a:rPr lang="zh-CN" altLang="en-US" sz="1600" dirty="0">
                <a:solidFill>
                  <a:schemeClr val="bg1"/>
                </a:solidFill>
              </a:rPr>
              <a:t>主函数</a:t>
            </a:r>
            <a:r>
              <a:rPr lang="en-US" altLang="zh-CN" sz="1600" dirty="0">
                <a:solidFill>
                  <a:schemeClr val="bg1"/>
                </a:solidFill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</a:rPr>
              <a:t>；②被调用的函数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函数的作用是将</a:t>
            </a:r>
            <a:r>
              <a:rPr lang="en-US" altLang="zh-CN" sz="1600" dirty="0">
                <a:solidFill>
                  <a:schemeClr val="bg1"/>
                </a:solidFill>
              </a:rPr>
              <a:t>x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y</a:t>
            </a:r>
            <a:r>
              <a:rPr lang="zh-CN" altLang="en-US" sz="1600" dirty="0">
                <a:solidFill>
                  <a:schemeClr val="bg1"/>
                </a:solidFill>
              </a:rPr>
              <a:t>中较大者的值赋给变量</a:t>
            </a:r>
            <a:r>
              <a:rPr lang="en-US" altLang="zh-CN" sz="1600" dirty="0">
                <a:solidFill>
                  <a:schemeClr val="bg1"/>
                </a:solidFill>
              </a:rPr>
              <a:t>z</a:t>
            </a:r>
            <a:r>
              <a:rPr lang="zh-CN" altLang="en-US" sz="1600" dirty="0">
                <a:solidFill>
                  <a:schemeClr val="bg1"/>
                </a:solidFill>
              </a:rPr>
              <a:t>，最后通过</a:t>
            </a:r>
            <a:r>
              <a:rPr lang="en-US" altLang="zh-CN" sz="1600" dirty="0">
                <a:solidFill>
                  <a:schemeClr val="bg1"/>
                </a:solidFill>
              </a:rPr>
              <a:t>return</a:t>
            </a:r>
            <a:r>
              <a:rPr lang="zh-CN" altLang="en-US" sz="1600" dirty="0">
                <a:solidFill>
                  <a:schemeClr val="bg1"/>
                </a:solidFill>
              </a:rPr>
              <a:t>语句将</a:t>
            </a:r>
            <a:r>
              <a:rPr lang="en-US" altLang="zh-CN" sz="1600" dirty="0">
                <a:solidFill>
                  <a:schemeClr val="bg1"/>
                </a:solidFill>
              </a:rPr>
              <a:t>z</a:t>
            </a:r>
            <a:r>
              <a:rPr lang="zh-CN" altLang="en-US" sz="1600" dirty="0">
                <a:solidFill>
                  <a:schemeClr val="bg1"/>
                </a:solidFill>
              </a:rPr>
              <a:t>的值作为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的函数值返回给调用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函数的主函数。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FFFF00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是输入函数的名字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en-US" altLang="zh-CN" sz="1600" dirty="0" err="1">
                <a:solidFill>
                  <a:schemeClr val="bg1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 err="1">
                <a:solidFill>
                  <a:schemeClr val="bg1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都是</a:t>
            </a:r>
            <a:r>
              <a:rPr lang="en-US" altLang="zh-CN" sz="1600" dirty="0">
                <a:solidFill>
                  <a:schemeClr val="bg1"/>
                </a:solidFill>
              </a:rPr>
              <a:t>C</a:t>
            </a:r>
            <a:r>
              <a:rPr lang="zh-CN" altLang="en-US" sz="1600" dirty="0">
                <a:solidFill>
                  <a:schemeClr val="bg1"/>
                </a:solidFill>
              </a:rPr>
              <a:t>的标准输入输出函数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。该</a:t>
            </a:r>
            <a:r>
              <a:rPr lang="en-US" altLang="zh-CN" sz="1600" dirty="0" err="1">
                <a:solidFill>
                  <a:schemeClr val="bg1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函数的作用是输入变量</a:t>
            </a:r>
            <a:r>
              <a:rPr lang="en-US" altLang="zh-CN" sz="1600" dirty="0">
                <a:solidFill>
                  <a:schemeClr val="bg1"/>
                </a:solidFill>
              </a:rPr>
              <a:t>a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b</a:t>
            </a:r>
            <a:r>
              <a:rPr lang="zh-CN" altLang="en-US" sz="1600" dirty="0">
                <a:solidFill>
                  <a:schemeClr val="bg1"/>
                </a:solidFill>
              </a:rPr>
              <a:t>的值。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FF00"/>
                </a:solidFill>
              </a:rPr>
              <a:t>max(a</a:t>
            </a:r>
            <a:r>
              <a:rPr lang="zh-CN" altLang="en-US" b="1" dirty="0">
                <a:solidFill>
                  <a:srgbClr val="FFFF00"/>
                </a:solidFill>
              </a:rPr>
              <a:t>，</a:t>
            </a:r>
            <a:r>
              <a:rPr lang="en-US" altLang="zh-CN" b="1" dirty="0">
                <a:solidFill>
                  <a:srgbClr val="FFFF00"/>
                </a:solidFill>
              </a:rPr>
              <a:t>b)</a:t>
            </a:r>
            <a:r>
              <a:rPr lang="zh-CN" altLang="en-US" sz="1600" dirty="0">
                <a:solidFill>
                  <a:schemeClr val="bg1"/>
                </a:solidFill>
              </a:rPr>
              <a:t>调用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函数。在调用时将</a:t>
            </a:r>
            <a:r>
              <a:rPr lang="en-US" altLang="zh-CN" sz="1600" dirty="0">
                <a:solidFill>
                  <a:schemeClr val="bg1"/>
                </a:solidFill>
              </a:rPr>
              <a:t>a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b</a:t>
            </a:r>
            <a:r>
              <a:rPr lang="zh-CN" altLang="en-US" sz="1600" dirty="0">
                <a:solidFill>
                  <a:schemeClr val="bg1"/>
                </a:solidFill>
              </a:rPr>
              <a:t>作为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</a:t>
            </a:r>
            <a:r>
              <a:rPr lang="zh-CN" altLang="en-US" b="1" dirty="0">
                <a:solidFill>
                  <a:srgbClr val="FFFF00"/>
                </a:solidFill>
              </a:rPr>
              <a:t>实际参数</a:t>
            </a:r>
            <a:r>
              <a:rPr lang="zh-CN" altLang="en-US" sz="1600" dirty="0">
                <a:solidFill>
                  <a:schemeClr val="bg1"/>
                </a:solidFill>
              </a:rPr>
              <a:t>的值分别传送给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函数中的</a:t>
            </a:r>
            <a:r>
              <a:rPr lang="zh-CN" altLang="en-US" b="1" dirty="0">
                <a:solidFill>
                  <a:srgbClr val="FFFF00"/>
                </a:solidFill>
              </a:rPr>
              <a:t>形式参数</a:t>
            </a:r>
            <a:r>
              <a:rPr lang="en-US" altLang="zh-CN" sz="1600" dirty="0">
                <a:solidFill>
                  <a:schemeClr val="bg1"/>
                </a:solidFill>
              </a:rPr>
              <a:t>x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y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1313DEDA-28D6-4B8D-80FD-BBEE7B40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87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70CCB23-AD04-454A-8DA9-30DAF1393C8A}"/>
              </a:ext>
            </a:extLst>
          </p:cNvPr>
          <p:cNvSpPr txBox="1">
            <a:spLocks/>
          </p:cNvSpPr>
          <p:nvPr/>
        </p:nvSpPr>
        <p:spPr>
          <a:xfrm>
            <a:off x="3305" y="69311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C</a:t>
            </a:r>
            <a:r>
              <a:rPr lang="zh-CN" altLang="en-US" sz="2800" b="1" dirty="0"/>
              <a:t>语言程序的基本结构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95F9DA6-FB4F-4BAF-B94D-9E8F6307ABA6}"/>
              </a:ext>
            </a:extLst>
          </p:cNvPr>
          <p:cNvSpPr txBox="1">
            <a:spLocks/>
          </p:cNvSpPr>
          <p:nvPr/>
        </p:nvSpPr>
        <p:spPr>
          <a:xfrm>
            <a:off x="246824" y="1108213"/>
            <a:ext cx="6546573" cy="52379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1800" dirty="0"/>
              <a:t>函数是</a:t>
            </a:r>
            <a:r>
              <a:rPr lang="en-US" altLang="zh-CN" sz="1800" dirty="0"/>
              <a:t>C</a:t>
            </a:r>
            <a:r>
              <a:rPr lang="zh-CN" altLang="en-US" sz="1800" dirty="0"/>
              <a:t>程序的主要组成部分</a:t>
            </a:r>
            <a:endParaRPr lang="en-US" altLang="zh-CN" sz="1800" dirty="0"/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一个</a:t>
            </a:r>
            <a:r>
              <a:rPr lang="en-US" altLang="zh-CN" sz="1600" dirty="0"/>
              <a:t>C</a:t>
            </a:r>
            <a:r>
              <a:rPr lang="zh-CN" altLang="en-US" sz="1600" dirty="0"/>
              <a:t>语言程序是由一个或多个函数组成的，其中有且仅有一个</a:t>
            </a:r>
            <a:r>
              <a:rPr lang="en-US" altLang="zh-CN" sz="1600" dirty="0"/>
              <a:t>main</a:t>
            </a:r>
            <a:r>
              <a:rPr lang="zh-CN" altLang="en-US" sz="1600" dirty="0"/>
              <a:t>函数。</a:t>
            </a:r>
            <a:endParaRPr lang="en-US" altLang="zh-CN" sz="1600" dirty="0"/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程序中被调用的函数可以是系统提供的库函数，也可以是用户根据需要自己编制设计的函数。</a:t>
            </a:r>
            <a:endParaRPr lang="en-US" altLang="zh-CN" sz="16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一个函数包括两个部分：函数首部和函数体，函数体一般包括声明部分和执行部分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程序总是从</a:t>
            </a:r>
            <a:r>
              <a:rPr lang="en-US" altLang="zh-CN" sz="1800" dirty="0"/>
              <a:t>main</a:t>
            </a:r>
            <a:r>
              <a:rPr lang="zh-CN" altLang="en-US" sz="1800" dirty="0"/>
              <a:t>函数开始执行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程序中的操作是由函数中的</a:t>
            </a:r>
            <a:r>
              <a:rPr lang="en-US" altLang="zh-CN" sz="1800" dirty="0"/>
              <a:t>C</a:t>
            </a:r>
            <a:r>
              <a:rPr lang="zh-CN" altLang="en-US" sz="1800" dirty="0"/>
              <a:t>语句完成的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在每个数据声明和语句的最后必须有一个分号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en-US" altLang="zh-CN" sz="1800" dirty="0"/>
              <a:t>C</a:t>
            </a:r>
            <a:r>
              <a:rPr lang="zh-CN" altLang="en-US" sz="1800" dirty="0"/>
              <a:t>语言本身不提供输入输出语句，输入输出操作由函数完成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程序应当包含注释</a:t>
            </a:r>
          </a:p>
        </p:txBody>
      </p:sp>
      <p:sp>
        <p:nvSpPr>
          <p:cNvPr id="6" name="圆角矩形 3">
            <a:extLst>
              <a:ext uri="{FF2B5EF4-FFF2-40B4-BE49-F238E27FC236}">
                <a16:creationId xmlns:a16="http://schemas.microsoft.com/office/drawing/2014/main" id="{2945AAE7-9C6A-4B3D-9199-297104142C8F}"/>
              </a:ext>
            </a:extLst>
          </p:cNvPr>
          <p:cNvSpPr/>
          <p:nvPr/>
        </p:nvSpPr>
        <p:spPr>
          <a:xfrm>
            <a:off x="7171085" y="1351629"/>
            <a:ext cx="3349487" cy="45687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endParaRPr lang="en-US" altLang="zh-CN" sz="1400" dirty="0"/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</a:p>
          <a:p>
            <a:pPr defTabSz="357188"/>
            <a:r>
              <a:rPr lang="en-US" altLang="zh-CN" sz="1400" dirty="0"/>
              <a:t> {	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a,b,c</a:t>
            </a:r>
            <a:r>
              <a:rPr lang="en-US" altLang="zh-CN" sz="1400" dirty="0"/>
              <a:t>;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%</a:t>
            </a:r>
            <a:r>
              <a:rPr lang="en-US" altLang="zh-CN" sz="1400" dirty="0" err="1"/>
              <a:t>d,%d</a:t>
            </a:r>
            <a:r>
              <a:rPr lang="en-US" altLang="zh-CN" dirty="0" err="1"/>
              <a:t>"</a:t>
            </a:r>
            <a:r>
              <a:rPr lang="en-US" altLang="zh-CN" sz="1400" dirty="0" err="1"/>
              <a:t>,&amp;a,&amp;b</a:t>
            </a:r>
            <a:r>
              <a:rPr lang="en-US" altLang="zh-CN" sz="1400" dirty="0"/>
              <a:t>); 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c=max(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</a:t>
            </a:r>
          </a:p>
          <a:p>
            <a:pPr defTabSz="357188"/>
            <a:r>
              <a:rPr lang="en-US" altLang="zh-CN" sz="1400" dirty="0"/>
              <a:t> 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max=%d\</a:t>
            </a:r>
            <a:r>
              <a:rPr lang="en-US" altLang="zh-CN" sz="1400" dirty="0" err="1"/>
              <a:t>n</a:t>
            </a:r>
            <a:r>
              <a:rPr lang="en-US" altLang="zh-CN" dirty="0" err="1"/>
              <a:t>"</a:t>
            </a:r>
            <a:r>
              <a:rPr lang="en-US" altLang="zh-CN" sz="1400" dirty="0" err="1"/>
              <a:t>,c</a:t>
            </a:r>
            <a:r>
              <a:rPr lang="en-US" altLang="zh-CN" sz="1400" dirty="0"/>
              <a:t>); 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return 0;	</a:t>
            </a:r>
          </a:p>
          <a:p>
            <a:pPr defTabSz="357188"/>
            <a:r>
              <a:rPr lang="en-US" altLang="zh-CN" sz="1400" dirty="0"/>
              <a:t>}</a:t>
            </a:r>
          </a:p>
          <a:p>
            <a:pPr defTabSz="357188"/>
            <a:endParaRPr lang="zh-CN" altLang="en-US" sz="1400" dirty="0"/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	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 </a:t>
            </a:r>
            <a:r>
              <a:rPr lang="en-US" altLang="zh-CN" sz="1400" dirty="0"/>
              <a:t>{</a:t>
            </a: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z;</a:t>
            </a: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/>
              <a:t>if(x&gt;y)z=x;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/>
              <a:t>else z=y;	</a:t>
            </a:r>
          </a:p>
          <a:p>
            <a:pPr marL="0" lvl="1" defTabSz="357188"/>
            <a:r>
              <a:rPr lang="zh-CN" altLang="en-US" sz="1400" dirty="0"/>
              <a:t> 	</a:t>
            </a:r>
            <a:r>
              <a:rPr lang="en-US" altLang="zh-CN" sz="1400" dirty="0"/>
              <a:t>return(z);</a:t>
            </a:r>
          </a:p>
          <a:p>
            <a:pPr marL="0" lvl="1" defTabSz="357188"/>
            <a:r>
              <a:rPr lang="en-US" altLang="zh-CN" sz="1400" dirty="0"/>
              <a:t>}</a:t>
            </a:r>
            <a:endParaRPr lang="zh-CN" altLang="en-US" sz="1400" dirty="0">
              <a:solidFill>
                <a:srgbClr val="008000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C516946-1E43-43CF-BCD6-75B6CBC67A82}"/>
              </a:ext>
            </a:extLst>
          </p:cNvPr>
          <p:cNvGrpSpPr/>
          <p:nvPr/>
        </p:nvGrpSpPr>
        <p:grpSpPr>
          <a:xfrm>
            <a:off x="9361006" y="1222514"/>
            <a:ext cx="1537254" cy="2967865"/>
            <a:chOff x="10021957" y="1436206"/>
            <a:chExt cx="1537254" cy="2967865"/>
          </a:xfrm>
        </p:grpSpPr>
        <p:sp>
          <p:nvSpPr>
            <p:cNvPr id="8" name="线形标注 1 4">
              <a:extLst>
                <a:ext uri="{FF2B5EF4-FFF2-40B4-BE49-F238E27FC236}">
                  <a16:creationId xmlns:a16="http://schemas.microsoft.com/office/drawing/2014/main" id="{C785D082-F84E-4BCF-9236-98DF41595557}"/>
                </a:ext>
              </a:extLst>
            </p:cNvPr>
            <p:cNvSpPr/>
            <p:nvPr/>
          </p:nvSpPr>
          <p:spPr>
            <a:xfrm>
              <a:off x="10021957" y="1436206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预处理指令</a:t>
              </a:r>
            </a:p>
          </p:txBody>
        </p:sp>
        <p:sp>
          <p:nvSpPr>
            <p:cNvPr id="9" name="线形标注 1 5">
              <a:extLst>
                <a:ext uri="{FF2B5EF4-FFF2-40B4-BE49-F238E27FC236}">
                  <a16:creationId xmlns:a16="http://schemas.microsoft.com/office/drawing/2014/main" id="{662F933C-A31F-427D-9C63-16D4B16C0021}"/>
                </a:ext>
              </a:extLst>
            </p:cNvPr>
            <p:cNvSpPr/>
            <p:nvPr/>
          </p:nvSpPr>
          <p:spPr>
            <a:xfrm>
              <a:off x="10021957" y="2002736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main</a:t>
              </a:r>
              <a:r>
                <a:rPr lang="zh-CN" altLang="en-US" sz="1400" dirty="0"/>
                <a:t>函数</a:t>
              </a:r>
            </a:p>
          </p:txBody>
        </p:sp>
        <p:sp>
          <p:nvSpPr>
            <p:cNvPr id="10" name="线形标注 1 6">
              <a:extLst>
                <a:ext uri="{FF2B5EF4-FFF2-40B4-BE49-F238E27FC236}">
                  <a16:creationId xmlns:a16="http://schemas.microsoft.com/office/drawing/2014/main" id="{BD7771D0-2B4E-4502-9FAE-789F15AAAE6E}"/>
                </a:ext>
              </a:extLst>
            </p:cNvPr>
            <p:cNvSpPr/>
            <p:nvPr/>
          </p:nvSpPr>
          <p:spPr>
            <a:xfrm>
              <a:off x="10157793" y="4149589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自定义函数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05429AC-12E9-419D-AE31-A878D0C076E6}"/>
              </a:ext>
            </a:extLst>
          </p:cNvPr>
          <p:cNvGrpSpPr/>
          <p:nvPr/>
        </p:nvGrpSpPr>
        <p:grpSpPr>
          <a:xfrm>
            <a:off x="9940788" y="2553325"/>
            <a:ext cx="1484243" cy="563627"/>
            <a:chOff x="10601739" y="2767017"/>
            <a:chExt cx="1484243" cy="563627"/>
          </a:xfrm>
        </p:grpSpPr>
        <p:sp>
          <p:nvSpPr>
            <p:cNvPr id="12" name="线形标注 1 7">
              <a:extLst>
                <a:ext uri="{FF2B5EF4-FFF2-40B4-BE49-F238E27FC236}">
                  <a16:creationId xmlns:a16="http://schemas.microsoft.com/office/drawing/2014/main" id="{ADBD0129-8C54-4B23-8F2E-FD007DBC2F70}"/>
                </a:ext>
              </a:extLst>
            </p:cNvPr>
            <p:cNvSpPr/>
            <p:nvPr/>
          </p:nvSpPr>
          <p:spPr>
            <a:xfrm>
              <a:off x="10601740" y="2767017"/>
              <a:ext cx="1484242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库函数调用</a:t>
              </a:r>
            </a:p>
          </p:txBody>
        </p:sp>
        <p:sp>
          <p:nvSpPr>
            <p:cNvPr id="13" name="线形标注 1 8">
              <a:extLst>
                <a:ext uri="{FF2B5EF4-FFF2-40B4-BE49-F238E27FC236}">
                  <a16:creationId xmlns:a16="http://schemas.microsoft.com/office/drawing/2014/main" id="{E348F80B-27F7-475D-9DE4-5727D104B013}"/>
                </a:ext>
              </a:extLst>
            </p:cNvPr>
            <p:cNvSpPr/>
            <p:nvPr/>
          </p:nvSpPr>
          <p:spPr>
            <a:xfrm>
              <a:off x="10601739" y="3076162"/>
              <a:ext cx="1484243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自定义函数调用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8A49EC09-CE35-45E2-B156-57696A5730B6}"/>
              </a:ext>
            </a:extLst>
          </p:cNvPr>
          <p:cNvSpPr/>
          <p:nvPr/>
        </p:nvSpPr>
        <p:spPr>
          <a:xfrm>
            <a:off x="1058518" y="3458816"/>
            <a:ext cx="5665305" cy="15604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int</a:t>
            </a:r>
            <a:r>
              <a:rPr lang="en-US" altLang="zh-CN" dirty="0"/>
              <a:t>	max	(</a:t>
            </a:r>
            <a:r>
              <a:rPr lang="en-US" altLang="zh-CN" dirty="0" err="1"/>
              <a:t>int</a:t>
            </a:r>
            <a:r>
              <a:rPr lang="en-US" altLang="zh-CN" dirty="0"/>
              <a:t>	 x,	</a:t>
            </a:r>
            <a:r>
              <a:rPr lang="en-US" altLang="zh-CN" dirty="0" err="1"/>
              <a:t>int</a:t>
            </a:r>
            <a:r>
              <a:rPr lang="en-US" altLang="zh-CN" dirty="0"/>
              <a:t>	 y)</a:t>
            </a:r>
          </a:p>
          <a:p>
            <a:r>
              <a:rPr lang="zh-CN" altLang="en-US" dirty="0"/>
              <a:t>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↓</a:t>
            </a:r>
            <a:endParaRPr lang="en-US" altLang="zh-CN" dirty="0"/>
          </a:p>
          <a:p>
            <a:r>
              <a:rPr lang="zh-CN" altLang="en-US" sz="1600" dirty="0"/>
              <a:t>函数类型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函数名</a:t>
            </a:r>
            <a:r>
              <a:rPr lang="en-US" altLang="zh-CN" sz="1600" dirty="0"/>
              <a:t>	</a:t>
            </a:r>
            <a:r>
              <a:rPr lang="zh-CN" altLang="en-US" sz="1600" dirty="0"/>
              <a:t>参数类型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参数名</a:t>
            </a:r>
            <a:r>
              <a:rPr lang="en-US" altLang="zh-CN" sz="1600" dirty="0"/>
              <a:t>	</a:t>
            </a:r>
            <a:r>
              <a:rPr lang="zh-CN" altLang="en-US" sz="1600" dirty="0"/>
              <a:t>参数类型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参数名</a:t>
            </a:r>
          </a:p>
        </p:txBody>
      </p:sp>
      <p:sp>
        <p:nvSpPr>
          <p:cNvPr id="15" name="任意多边形 11">
            <a:extLst>
              <a:ext uri="{FF2B5EF4-FFF2-40B4-BE49-F238E27FC236}">
                <a16:creationId xmlns:a16="http://schemas.microsoft.com/office/drawing/2014/main" id="{C3BCE80D-B9FE-4DAC-88AB-9D36F0805D98}"/>
              </a:ext>
            </a:extLst>
          </p:cNvPr>
          <p:cNvSpPr/>
          <p:nvPr/>
        </p:nvSpPr>
        <p:spPr>
          <a:xfrm>
            <a:off x="6713884" y="3463786"/>
            <a:ext cx="586408" cy="1550505"/>
          </a:xfrm>
          <a:custGeom>
            <a:avLst/>
            <a:gdLst>
              <a:gd name="connsiteX0" fmla="*/ 566530 w 586408"/>
              <a:gd name="connsiteY0" fmla="*/ 636105 h 1550505"/>
              <a:gd name="connsiteX1" fmla="*/ 9939 w 586408"/>
              <a:gd name="connsiteY1" fmla="*/ 0 h 1550505"/>
              <a:gd name="connsiteX2" fmla="*/ 0 w 586408"/>
              <a:gd name="connsiteY2" fmla="*/ 1550505 h 1550505"/>
              <a:gd name="connsiteX3" fmla="*/ 586408 w 586408"/>
              <a:gd name="connsiteY3" fmla="*/ 874644 h 1550505"/>
              <a:gd name="connsiteX4" fmla="*/ 566530 w 586408"/>
              <a:gd name="connsiteY4" fmla="*/ 636105 h 1550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408" h="1550505">
                <a:moveTo>
                  <a:pt x="566530" y="636105"/>
                </a:moveTo>
                <a:lnTo>
                  <a:pt x="9939" y="0"/>
                </a:lnTo>
                <a:lnTo>
                  <a:pt x="0" y="1550505"/>
                </a:lnTo>
                <a:lnTo>
                  <a:pt x="586408" y="874644"/>
                </a:lnTo>
                <a:lnTo>
                  <a:pt x="566530" y="636105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6CC68FC-5FE3-429B-B647-475142B979F1}"/>
              </a:ext>
            </a:extLst>
          </p:cNvPr>
          <p:cNvGrpSpPr/>
          <p:nvPr/>
        </p:nvGrpSpPr>
        <p:grpSpPr>
          <a:xfrm>
            <a:off x="7280414" y="4099891"/>
            <a:ext cx="1510748" cy="1321904"/>
            <a:chOff x="7941365" y="4313583"/>
            <a:chExt cx="1510748" cy="132190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498196-FEBC-4A15-AF38-7A2BA570E6FB}"/>
                </a:ext>
              </a:extLst>
            </p:cNvPr>
            <p:cNvSpPr/>
            <p:nvPr/>
          </p:nvSpPr>
          <p:spPr>
            <a:xfrm>
              <a:off x="7941365" y="4313583"/>
              <a:ext cx="1510748" cy="2782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函数首部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941AD77-E1B5-472A-A91C-7DA8EE4095CA}"/>
                </a:ext>
              </a:extLst>
            </p:cNvPr>
            <p:cNvSpPr/>
            <p:nvPr/>
          </p:nvSpPr>
          <p:spPr>
            <a:xfrm>
              <a:off x="7941365" y="4800600"/>
              <a:ext cx="1510748" cy="83488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函数体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6E3ECF-C72E-46B0-9415-A3499E3180C0}"/>
              </a:ext>
            </a:extLst>
          </p:cNvPr>
          <p:cNvGrpSpPr/>
          <p:nvPr/>
        </p:nvGrpSpPr>
        <p:grpSpPr>
          <a:xfrm>
            <a:off x="7605090" y="4590399"/>
            <a:ext cx="2418524" cy="818070"/>
            <a:chOff x="8266041" y="4804091"/>
            <a:chExt cx="2418524" cy="81807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87CC464-6D3F-49E5-8093-6D21D0BCA77F}"/>
                </a:ext>
              </a:extLst>
            </p:cNvPr>
            <p:cNvSpPr/>
            <p:nvPr/>
          </p:nvSpPr>
          <p:spPr>
            <a:xfrm>
              <a:off x="8266042" y="480409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声明部分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D80890F-6169-477F-965E-E3FC7E6A1C60}"/>
                </a:ext>
              </a:extLst>
            </p:cNvPr>
            <p:cNvSpPr/>
            <p:nvPr/>
          </p:nvSpPr>
          <p:spPr>
            <a:xfrm>
              <a:off x="8266041" y="501678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D81A51D-1F62-4120-9C00-D3190F11CF67}"/>
                </a:ext>
              </a:extLst>
            </p:cNvPr>
            <p:cNvSpPr/>
            <p:nvPr/>
          </p:nvSpPr>
          <p:spPr>
            <a:xfrm>
              <a:off x="8266041" y="522947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B3FDF6-F929-4AC2-95DE-E68CC85707E2}"/>
                </a:ext>
              </a:extLst>
            </p:cNvPr>
            <p:cNvSpPr/>
            <p:nvPr/>
          </p:nvSpPr>
          <p:spPr>
            <a:xfrm>
              <a:off x="8266041" y="544216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</p:grp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87F62B56-512A-4390-9917-C31A92D4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08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3EFC9383-BE76-40C0-B209-D7DD15907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66" y="5709340"/>
            <a:ext cx="113402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66"/>
                </a:solidFill>
                <a:latin typeface="Arial" pitchFamily="34" charset="0"/>
                <a:ea typeface="楷体_GB2312"/>
                <a:cs typeface="楷体_GB2312"/>
              </a:rPr>
              <a:t>程序</a:t>
            </a:r>
            <a:r>
              <a:rPr kumimoji="1" lang="zh-CN" altLang="en-US" sz="2400" b="1" dirty="0">
                <a:solidFill>
                  <a:srgbClr val="0000FF"/>
                </a:solidFill>
                <a:latin typeface="Arial" pitchFamily="34" charset="0"/>
                <a:ea typeface="楷体_GB2312"/>
                <a:cs typeface="楷体_GB2312"/>
              </a:rPr>
              <a:t>是用</a:t>
            </a:r>
            <a:r>
              <a:rPr kumimoji="1" lang="zh-CN" altLang="en-US" sz="2400" b="1" dirty="0">
                <a:solidFill>
                  <a:srgbClr val="FF0000"/>
                </a:solidFill>
                <a:latin typeface="Arial" pitchFamily="34" charset="0"/>
                <a:ea typeface="楷体_GB2312"/>
                <a:cs typeface="楷体_GB2312"/>
              </a:rPr>
              <a:t>计算机语言</a:t>
            </a:r>
            <a:r>
              <a:rPr kumimoji="1" lang="zh-CN" altLang="en-US" sz="2400" b="1" dirty="0">
                <a:solidFill>
                  <a:srgbClr val="0000FF"/>
                </a:solidFill>
                <a:latin typeface="Arial" pitchFamily="34" charset="0"/>
                <a:ea typeface="楷体_GB2312"/>
                <a:cs typeface="楷体_GB2312"/>
              </a:rPr>
              <a:t>描述的、为解决某一问题、满足一定语法规则的语句序列。</a:t>
            </a:r>
            <a:r>
              <a:rPr kumimoji="1" lang="zh-CN" altLang="en-US" sz="2400" b="1" dirty="0">
                <a:solidFill>
                  <a:srgbClr val="FF0066"/>
                </a:solidFill>
                <a:latin typeface="Arial" pitchFamily="34" charset="0"/>
                <a:ea typeface="楷体_GB2312"/>
                <a:cs typeface="楷体_GB2312"/>
              </a:rPr>
              <a:t>      </a:t>
            </a:r>
          </a:p>
        </p:txBody>
      </p:sp>
      <p:sp>
        <p:nvSpPr>
          <p:cNvPr id="7" name="MH_Other_1">
            <a:extLst>
              <a:ext uri="{FF2B5EF4-FFF2-40B4-BE49-F238E27FC236}">
                <a16:creationId xmlns:a16="http://schemas.microsoft.com/office/drawing/2014/main" id="{54492045-33DD-484E-BA82-0C225E96D5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94534" y="945460"/>
            <a:ext cx="357188" cy="3556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8" name="MH_Other_2">
            <a:extLst>
              <a:ext uri="{FF2B5EF4-FFF2-40B4-BE49-F238E27FC236}">
                <a16:creationId xmlns:a16="http://schemas.microsoft.com/office/drawing/2014/main" id="{36F34264-03FC-41D2-A0EE-1E9C34E376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94534" y="1350274"/>
            <a:ext cx="357188" cy="35718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9" name="MH_Other_3">
            <a:extLst>
              <a:ext uri="{FF2B5EF4-FFF2-40B4-BE49-F238E27FC236}">
                <a16:creationId xmlns:a16="http://schemas.microsoft.com/office/drawing/2014/main" id="{B5F83806-6C9B-4D71-923F-7BAF0B6DADD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00909" y="1148660"/>
            <a:ext cx="355600" cy="3556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0" name="MH_Other_4">
            <a:extLst>
              <a:ext uri="{FF2B5EF4-FFF2-40B4-BE49-F238E27FC236}">
                <a16:creationId xmlns:a16="http://schemas.microsoft.com/office/drawing/2014/main" id="{9A719196-92E4-4910-A12D-44E568722A2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710359" y="816874"/>
            <a:ext cx="534988" cy="1019175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1" name="MH_Other_5">
            <a:extLst>
              <a:ext uri="{FF2B5EF4-FFF2-40B4-BE49-F238E27FC236}">
                <a16:creationId xmlns:a16="http://schemas.microsoft.com/office/drawing/2014/main" id="{4AE3DCCA-9123-4AAC-9DF1-17DFD97D55B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681784" y="816874"/>
            <a:ext cx="509588" cy="1019175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12" name="MH_Text_1">
            <a:extLst>
              <a:ext uri="{FF2B5EF4-FFF2-40B4-BE49-F238E27FC236}">
                <a16:creationId xmlns:a16="http://schemas.microsoft.com/office/drawing/2014/main" id="{8CCE52C8-E078-4ABD-8788-462D3FEFA9B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56510" y="1301060"/>
            <a:ext cx="3503613" cy="10477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可以被计算机理解并执行的基本操作命令。</a:t>
            </a:r>
          </a:p>
        </p:txBody>
      </p:sp>
      <p:sp>
        <p:nvSpPr>
          <p:cNvPr id="13" name="MH_SubTitle_1">
            <a:extLst>
              <a:ext uri="{FF2B5EF4-FFF2-40B4-BE49-F238E27FC236}">
                <a16:creationId xmlns:a16="http://schemas.microsoft.com/office/drawing/2014/main" id="{45B0BB5B-3ACB-43D6-B8D8-9EBD6D019EA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56510" y="816873"/>
            <a:ext cx="3503613" cy="538162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1"/>
                </a:solidFill>
                <a:cs typeface="宋体" panose="02010600030101010101" pitchFamily="2" charset="-122"/>
              </a:rPr>
              <a:t>指令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4" name="MH_Other_6">
            <a:extLst>
              <a:ext uri="{FF2B5EF4-FFF2-40B4-BE49-F238E27FC236}">
                <a16:creationId xmlns:a16="http://schemas.microsoft.com/office/drawing/2014/main" id="{268D445B-EE12-4154-80D9-A48A055AA4E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283822" y="4136335"/>
            <a:ext cx="355600" cy="3556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5" name="MH_Other_7">
            <a:extLst>
              <a:ext uri="{FF2B5EF4-FFF2-40B4-BE49-F238E27FC236}">
                <a16:creationId xmlns:a16="http://schemas.microsoft.com/office/drawing/2014/main" id="{36F011D8-28B5-43D1-8D09-3E2EA0AC7D2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283822" y="4542735"/>
            <a:ext cx="355600" cy="3556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6" name="MH_Other_8">
            <a:extLst>
              <a:ext uri="{FF2B5EF4-FFF2-40B4-BE49-F238E27FC236}">
                <a16:creationId xmlns:a16="http://schemas.microsoft.com/office/drawing/2014/main" id="{9E5F90B5-BBFB-476D-B2AA-81E028C71BF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88609" y="4339535"/>
            <a:ext cx="355600" cy="355600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7" name="MH_Other_9">
            <a:extLst>
              <a:ext uri="{FF2B5EF4-FFF2-40B4-BE49-F238E27FC236}">
                <a16:creationId xmlns:a16="http://schemas.microsoft.com/office/drawing/2014/main" id="{14F369A2-C8C4-47D3-99DC-CACFA23BABE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898060" y="4009335"/>
            <a:ext cx="536575" cy="1017588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8" name="MH_Other_10">
            <a:extLst>
              <a:ext uri="{FF2B5EF4-FFF2-40B4-BE49-F238E27FC236}">
                <a16:creationId xmlns:a16="http://schemas.microsoft.com/office/drawing/2014/main" id="{8F8CDEC0-23ED-4058-89D4-D0424315DAA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1073" y="4009335"/>
            <a:ext cx="509587" cy="1017588"/>
          </a:xfrm>
          <a:custGeom>
            <a:avLst/>
            <a:gdLst>
              <a:gd name="connsiteX0" fmla="*/ 451 w 1806862"/>
              <a:gd name="connsiteY0" fmla="*/ 0 h 3612822"/>
              <a:gd name="connsiteX1" fmla="*/ 1806862 w 1806862"/>
              <a:gd name="connsiteY1" fmla="*/ 1806411 h 3612822"/>
              <a:gd name="connsiteX2" fmla="*/ 451 w 1806862"/>
              <a:gd name="connsiteY2" fmla="*/ 3612822 h 3612822"/>
              <a:gd name="connsiteX3" fmla="*/ 0 w 1806862"/>
              <a:gd name="connsiteY3" fmla="*/ 3612371 h 3612822"/>
              <a:gd name="connsiteX4" fmla="*/ 0 w 1806862"/>
              <a:gd name="connsiteY4" fmla="*/ 451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close/>
              </a:path>
            </a:pathLst>
          </a:custGeom>
          <a:solidFill>
            <a:schemeClr val="accent3"/>
          </a:solidFill>
        </p:spPr>
        <p:txBody>
          <a:bodyPr lIns="0" tIns="0" rIns="144000" bIns="0" anchor="ctr">
            <a:normAutofit/>
          </a:bodyPr>
          <a:lstStyle/>
          <a:p>
            <a:pPr algn="ctr">
              <a:defRPr/>
            </a:pPr>
            <a:endParaRPr lang="zh-CN" altLang="en-US" sz="2400" b="1" dirty="0" err="1">
              <a:solidFill>
                <a:srgbClr val="FFFFFF"/>
              </a:solidFill>
            </a:endParaRPr>
          </a:p>
        </p:txBody>
      </p:sp>
      <p:sp>
        <p:nvSpPr>
          <p:cNvPr id="19" name="MH_Text_3">
            <a:extLst>
              <a:ext uri="{FF2B5EF4-FFF2-40B4-BE49-F238E27FC236}">
                <a16:creationId xmlns:a16="http://schemas.microsoft.com/office/drawing/2014/main" id="{F949AE0D-841E-48B6-ADCA-4D402D7A441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844209" y="4491935"/>
            <a:ext cx="3505200" cy="10493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与计算机系统操作有关的计算机程序、规程、规则，以及可能有的文件、文档及数据。</a:t>
            </a:r>
          </a:p>
        </p:txBody>
      </p:sp>
      <p:sp>
        <p:nvSpPr>
          <p:cNvPr id="20" name="MH_SubTitle_3">
            <a:extLst>
              <a:ext uri="{FF2B5EF4-FFF2-40B4-BE49-F238E27FC236}">
                <a16:creationId xmlns:a16="http://schemas.microsoft.com/office/drawing/2014/main" id="{EC848A63-2CAE-4E31-844D-74B9C6ABCBF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844209" y="4009336"/>
            <a:ext cx="3505200" cy="53657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3"/>
                </a:solidFill>
                <a:cs typeface="宋体" panose="02010600030101010101" pitchFamily="2" charset="-122"/>
              </a:rPr>
              <a:t>软件</a:t>
            </a:r>
            <a:endParaRPr lang="zh-CN" altLang="en-US" sz="2400" b="1" dirty="0">
              <a:solidFill>
                <a:schemeClr val="accent3"/>
              </a:solidFill>
            </a:endParaRPr>
          </a:p>
        </p:txBody>
      </p:sp>
      <p:sp>
        <p:nvSpPr>
          <p:cNvPr id="21" name="MH_Other_11">
            <a:extLst>
              <a:ext uri="{FF2B5EF4-FFF2-40B4-BE49-F238E27FC236}">
                <a16:creationId xmlns:a16="http://schemas.microsoft.com/office/drawing/2014/main" id="{A3416DC0-BEED-4EBD-9AA2-B72686DF9AB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689972" y="2559948"/>
            <a:ext cx="355600" cy="355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2" name="MH_Other_12">
            <a:extLst>
              <a:ext uri="{FF2B5EF4-FFF2-40B4-BE49-F238E27FC236}">
                <a16:creationId xmlns:a16="http://schemas.microsoft.com/office/drawing/2014/main" id="{E1914684-362D-4488-A7C3-7E858A47147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689972" y="2966348"/>
            <a:ext cx="355600" cy="355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3" name="MH_Other_13">
            <a:extLst>
              <a:ext uri="{FF2B5EF4-FFF2-40B4-BE49-F238E27FC236}">
                <a16:creationId xmlns:a16="http://schemas.microsoft.com/office/drawing/2014/main" id="{3A59F032-94E5-4C46-BF59-ABE326EAB06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894759" y="2763148"/>
            <a:ext cx="355600" cy="35560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4" name="MH_Other_14">
            <a:extLst>
              <a:ext uri="{FF2B5EF4-FFF2-40B4-BE49-F238E27FC236}">
                <a16:creationId xmlns:a16="http://schemas.microsoft.com/office/drawing/2014/main" id="{7E3E65EC-76B0-4AB0-9A41-9E0FF596DCC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304210" y="2432949"/>
            <a:ext cx="536575" cy="1017587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5" name="MH_Other_15">
            <a:extLst>
              <a:ext uri="{FF2B5EF4-FFF2-40B4-BE49-F238E27FC236}">
                <a16:creationId xmlns:a16="http://schemas.microsoft.com/office/drawing/2014/main" id="{E40FE0AE-9F09-4E8E-8343-4F5DFA35823F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277222" y="2432949"/>
            <a:ext cx="508000" cy="1017587"/>
          </a:xfrm>
          <a:custGeom>
            <a:avLst/>
            <a:gdLst>
              <a:gd name="T0" fmla="*/ 36 w 1806862"/>
              <a:gd name="T1" fmla="*/ 0 h 3612822"/>
              <a:gd name="T2" fmla="*/ 143133 w 1806862"/>
              <a:gd name="T3" fmla="*/ 143356 h 3612822"/>
              <a:gd name="T4" fmla="*/ 36 w 1806862"/>
              <a:gd name="T5" fmla="*/ 286713 h 3612822"/>
              <a:gd name="T6" fmla="*/ 0 w 1806862"/>
              <a:gd name="T7" fmla="*/ 286677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26" name="MH_Text_2">
            <a:extLst>
              <a:ext uri="{FF2B5EF4-FFF2-40B4-BE49-F238E27FC236}">
                <a16:creationId xmlns:a16="http://schemas.microsoft.com/office/drawing/2014/main" id="{A430A0CE-2C7D-4CC6-B370-9D081B10DB22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50359" y="2915549"/>
            <a:ext cx="3505200" cy="101758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一组计算机能识别和执行的指令。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一个特定的指令序列用来完成一定的功能。</a:t>
            </a:r>
          </a:p>
        </p:txBody>
      </p:sp>
      <p:sp>
        <p:nvSpPr>
          <p:cNvPr id="27" name="MH_SubTitle_2">
            <a:extLst>
              <a:ext uri="{FF2B5EF4-FFF2-40B4-BE49-F238E27FC236}">
                <a16:creationId xmlns:a16="http://schemas.microsoft.com/office/drawing/2014/main" id="{D549CFAF-1D9E-4708-82CC-1D5825C1BAC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250359" y="2432949"/>
            <a:ext cx="3505200" cy="53657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2"/>
                </a:solidFill>
                <a:cs typeface="宋体" panose="02010600030101010101" pitchFamily="2" charset="-122"/>
              </a:rPr>
              <a:t>程序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A44924C0-4C9E-444B-BEBC-5BFFE59F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797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164C2-A5AC-4BF2-97F2-BA83C7BD7E11}"/>
              </a:ext>
            </a:extLst>
          </p:cNvPr>
          <p:cNvSpPr txBox="1">
            <a:spLocks noChangeArrowheads="1"/>
          </p:cNvSpPr>
          <p:nvPr/>
        </p:nvSpPr>
        <p:spPr>
          <a:xfrm>
            <a:off x="1300605" y="1630017"/>
            <a:ext cx="8224485" cy="346051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endParaRPr lang="zh-CN" altLang="en-US" sz="2400" b="1" dirty="0">
              <a:solidFill>
                <a:srgbClr val="FF0066"/>
              </a:solidFill>
              <a:latin typeface="宋体" panose="02010600030101010101" pitchFamily="2" charset="-122"/>
            </a:endParaRPr>
          </a:p>
          <a:p>
            <a:pPr marL="522288" lvl="1" indent="-177800">
              <a:buFont typeface="Wingdings" panose="05000000000000000000" pitchFamily="2" charset="2"/>
              <a:buNone/>
            </a:pPr>
            <a:endParaRPr lang="en-US" altLang="zh-CN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C0D1C5-CF48-4B65-AA54-35BE8AAAA6D8}"/>
              </a:ext>
            </a:extLst>
          </p:cNvPr>
          <p:cNvGrpSpPr/>
          <p:nvPr/>
        </p:nvGrpSpPr>
        <p:grpSpPr>
          <a:xfrm>
            <a:off x="1219312" y="1993333"/>
            <a:ext cx="8517626" cy="3182774"/>
            <a:chOff x="1399764" y="1944744"/>
            <a:chExt cx="5404484" cy="213232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C1939E4-0892-47F3-A1AB-022AD8F17DD1}"/>
                </a:ext>
              </a:extLst>
            </p:cNvPr>
            <p:cNvGrpSpPr/>
            <p:nvPr/>
          </p:nvGrpSpPr>
          <p:grpSpPr>
            <a:xfrm>
              <a:off x="1708374" y="2604509"/>
              <a:ext cx="4770751" cy="1472563"/>
              <a:chOff x="0" y="0"/>
              <a:chExt cx="4771178" cy="1472870"/>
            </a:xfrm>
          </p:grpSpPr>
          <p:sp>
            <p:nvSpPr>
              <p:cNvPr id="20" name="文本框 2">
                <a:extLst>
                  <a:ext uri="{FF2B5EF4-FFF2-40B4-BE49-F238E27FC236}">
                    <a16:creationId xmlns:a16="http://schemas.microsoft.com/office/drawing/2014/main" id="{C49FFAC8-811A-4C5D-A1E2-B97050391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5068" y="0"/>
                <a:ext cx="626110" cy="24748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程序</a:t>
                </a: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BE31F7B4-3480-4F02-9EE5-23D65F10390E}"/>
                  </a:ext>
                </a:extLst>
              </p:cNvPr>
              <p:cNvGrpSpPr/>
              <p:nvPr/>
            </p:nvGrpSpPr>
            <p:grpSpPr>
              <a:xfrm>
                <a:off x="0" y="286745"/>
                <a:ext cx="4473232" cy="1186125"/>
                <a:chOff x="0" y="0"/>
                <a:chExt cx="4473232" cy="1186125"/>
              </a:xfrm>
            </p:grpSpPr>
            <p:sp>
              <p:nvSpPr>
                <p:cNvPr id="22" name="文本框 2">
                  <a:extLst>
                    <a:ext uri="{FF2B5EF4-FFF2-40B4-BE49-F238E27FC236}">
                      <a16:creationId xmlns:a16="http://schemas.microsoft.com/office/drawing/2014/main" id="{B9AA7977-7046-4263-82B9-BFC60004DA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398" y="232583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数据模型</a:t>
                  </a:r>
                </a:p>
              </p:txBody>
            </p:sp>
            <p:sp>
              <p:nvSpPr>
                <p:cNvPr id="23" name="文本框 2">
                  <a:extLst>
                    <a:ext uri="{FF2B5EF4-FFF2-40B4-BE49-F238E27FC236}">
                      <a16:creationId xmlns:a16="http://schemas.microsoft.com/office/drawing/2014/main" id="{A2386F8F-11B5-4026-8516-DA800D6D79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398" y="621282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基本思路</a:t>
                  </a:r>
                </a:p>
              </p:txBody>
            </p:sp>
            <p:sp>
              <p:nvSpPr>
                <p:cNvPr id="24" name="文本框 2">
                  <a:extLst>
                    <a:ext uri="{FF2B5EF4-FFF2-40B4-BE49-F238E27FC236}">
                      <a16:creationId xmlns:a16="http://schemas.microsoft.com/office/drawing/2014/main" id="{BBBBDCF8-B1D6-4A5A-A212-4456F343BD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92522" y="210280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数据表示</a:t>
                  </a:r>
                </a:p>
              </p:txBody>
            </p:sp>
            <p:sp>
              <p:nvSpPr>
                <p:cNvPr id="25" name="文本框 2">
                  <a:extLst>
                    <a:ext uri="{FF2B5EF4-FFF2-40B4-BE49-F238E27FC236}">
                      <a16:creationId xmlns:a16="http://schemas.microsoft.com/office/drawing/2014/main" id="{82BCF8F9-1BF8-47A3-B2E6-9B3837FA51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92522" y="614910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数据处理</a:t>
                  </a:r>
                </a:p>
              </p:txBody>
            </p:sp>
            <p:sp>
              <p:nvSpPr>
                <p:cNvPr id="26" name="文本框 2">
                  <a:extLst>
                    <a:ext uri="{FF2B5EF4-FFF2-40B4-BE49-F238E27FC236}">
                      <a16:creationId xmlns:a16="http://schemas.microsoft.com/office/drawing/2014/main" id="{D6267274-756F-475A-95FF-3D02E1829E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99529" y="200722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程序语言</a:t>
                  </a:r>
                </a:p>
              </p:txBody>
            </p:sp>
            <p:sp>
              <p:nvSpPr>
                <p:cNvPr id="27" name="文本框 2">
                  <a:extLst>
                    <a:ext uri="{FF2B5EF4-FFF2-40B4-BE49-F238E27FC236}">
                      <a16:creationId xmlns:a16="http://schemas.microsoft.com/office/drawing/2014/main" id="{DEE15193-9267-4034-8648-3CBFEE9ECD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9088" y="554375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编程环境</a:t>
                  </a:r>
                </a:p>
              </p:txBody>
            </p:sp>
            <p:sp>
              <p:nvSpPr>
                <p:cNvPr id="28" name="文本框 2">
                  <a:extLst>
                    <a:ext uri="{FF2B5EF4-FFF2-40B4-BE49-F238E27FC236}">
                      <a16:creationId xmlns:a16="http://schemas.microsoft.com/office/drawing/2014/main" id="{D8975E9F-5447-4866-A21B-4C8B3FFB2D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9088" y="898470"/>
                  <a:ext cx="773430" cy="2876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altLang="en-US" b="1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设计方法</a:t>
                  </a:r>
                </a:p>
              </p:txBody>
            </p: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4497513A-7807-472A-8A1E-2474FE65525E}"/>
                    </a:ext>
                  </a:extLst>
                </p:cNvPr>
                <p:cNvGrpSpPr/>
                <p:nvPr/>
              </p:nvGrpSpPr>
              <p:grpSpPr>
                <a:xfrm>
                  <a:off x="0" y="28675"/>
                  <a:ext cx="359410" cy="756000"/>
                  <a:chOff x="0" y="0"/>
                  <a:chExt cx="359410" cy="756000"/>
                </a:xfrm>
              </p:grpSpPr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8EC927FF-CD33-437B-8A3F-C42CCD85091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0"/>
                    <a:ext cx="0" cy="756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箭头连接符 53">
                    <a:extLst>
                      <a:ext uri="{FF2B5EF4-FFF2-40B4-BE49-F238E27FC236}">
                        <a16:creationId xmlns:a16="http://schemas.microsoft.com/office/drawing/2014/main" id="{CE409095-D477-4D13-967C-7BAC9C230582}"/>
                      </a:ext>
                    </a:extLst>
                  </p:cNvPr>
                  <p:cNvCxnSpPr/>
                  <p:nvPr/>
                </p:nvCxnSpPr>
                <p:spPr>
                  <a:xfrm>
                    <a:off x="0" y="350467"/>
                    <a:ext cx="35750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箭头连接符 54">
                    <a:extLst>
                      <a:ext uri="{FF2B5EF4-FFF2-40B4-BE49-F238E27FC236}">
                        <a16:creationId xmlns:a16="http://schemas.microsoft.com/office/drawing/2014/main" id="{2B7144C8-6D91-4574-8177-A4FE38DC815E}"/>
                      </a:ext>
                    </a:extLst>
                  </p:cNvPr>
                  <p:cNvCxnSpPr/>
                  <p:nvPr/>
                </p:nvCxnSpPr>
                <p:spPr>
                  <a:xfrm>
                    <a:off x="0" y="748725"/>
                    <a:ext cx="35941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05342373-A9BF-490D-8F4E-BB290EA64874}"/>
                    </a:ext>
                  </a:extLst>
                </p:cNvPr>
                <p:cNvGrpSpPr/>
                <p:nvPr/>
              </p:nvGrpSpPr>
              <p:grpSpPr>
                <a:xfrm>
                  <a:off x="1564357" y="6372"/>
                  <a:ext cx="324029" cy="755650"/>
                  <a:chOff x="0" y="0"/>
                  <a:chExt cx="324029" cy="756000"/>
                </a:xfrm>
              </p:grpSpPr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E5F743EC-B846-43ED-A5FE-5D3914166E3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0"/>
                    <a:ext cx="0" cy="756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箭头连接符 50">
                    <a:extLst>
                      <a:ext uri="{FF2B5EF4-FFF2-40B4-BE49-F238E27FC236}">
                        <a16:creationId xmlns:a16="http://schemas.microsoft.com/office/drawing/2014/main" id="{F5E20859-9835-412D-B8C4-7747C722B9EA}"/>
                      </a:ext>
                    </a:extLst>
                  </p:cNvPr>
                  <p:cNvCxnSpPr/>
                  <p:nvPr/>
                </p:nvCxnSpPr>
                <p:spPr>
                  <a:xfrm>
                    <a:off x="0" y="350467"/>
                    <a:ext cx="32402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箭头连接符 51">
                    <a:extLst>
                      <a:ext uri="{FF2B5EF4-FFF2-40B4-BE49-F238E27FC236}">
                        <a16:creationId xmlns:a16="http://schemas.microsoft.com/office/drawing/2014/main" id="{4E408531-2E63-44F8-A79F-1A15E5DA27F9}"/>
                      </a:ext>
                    </a:extLst>
                  </p:cNvPr>
                  <p:cNvCxnSpPr/>
                  <p:nvPr/>
                </p:nvCxnSpPr>
                <p:spPr>
                  <a:xfrm>
                    <a:off x="0" y="748725"/>
                    <a:ext cx="32402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10B3DADC-3D43-4947-905F-91B59357F4B0}"/>
                    </a:ext>
                  </a:extLst>
                </p:cNvPr>
                <p:cNvGrpSpPr/>
                <p:nvPr/>
              </p:nvGrpSpPr>
              <p:grpSpPr>
                <a:xfrm flipH="1">
                  <a:off x="1135534" y="9558"/>
                  <a:ext cx="296263" cy="756000"/>
                  <a:chOff x="0" y="0"/>
                  <a:chExt cx="296263" cy="756000"/>
                </a:xfrm>
              </p:grpSpPr>
              <p:cxnSp>
                <p:nvCxnSpPr>
                  <p:cNvPr id="47" name="直接连接符 46">
                    <a:extLst>
                      <a:ext uri="{FF2B5EF4-FFF2-40B4-BE49-F238E27FC236}">
                        <a16:creationId xmlns:a16="http://schemas.microsoft.com/office/drawing/2014/main" id="{3CC0FE15-2AF9-4BF8-B2BC-CB27A5A1F0E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0"/>
                    <a:ext cx="0" cy="756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接箭头连接符 47">
                    <a:extLst>
                      <a:ext uri="{FF2B5EF4-FFF2-40B4-BE49-F238E27FC236}">
                        <a16:creationId xmlns:a16="http://schemas.microsoft.com/office/drawing/2014/main" id="{48215C1E-DBB9-4F1F-86B8-2DD95763BB4A}"/>
                      </a:ext>
                    </a:extLst>
                  </p:cNvPr>
                  <p:cNvCxnSpPr/>
                  <p:nvPr/>
                </p:nvCxnSpPr>
                <p:spPr>
                  <a:xfrm>
                    <a:off x="8237" y="350467"/>
                    <a:ext cx="288026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箭头连接符 48">
                    <a:extLst>
                      <a:ext uri="{FF2B5EF4-FFF2-40B4-BE49-F238E27FC236}">
                        <a16:creationId xmlns:a16="http://schemas.microsoft.com/office/drawing/2014/main" id="{0853073E-DDF0-4C58-B2CE-4FE2E3EA24CC}"/>
                      </a:ext>
                    </a:extLst>
                  </p:cNvPr>
                  <p:cNvCxnSpPr/>
                  <p:nvPr/>
                </p:nvCxnSpPr>
                <p:spPr>
                  <a:xfrm>
                    <a:off x="8235" y="748725"/>
                    <a:ext cx="288026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D1BFB019-1F18-4107-AFE0-EE77650801C9}"/>
                    </a:ext>
                  </a:extLst>
                </p:cNvPr>
                <p:cNvCxnSpPr/>
                <p:nvPr/>
              </p:nvCxnSpPr>
              <p:spPr>
                <a:xfrm flipH="1">
                  <a:off x="3033132" y="6372"/>
                  <a:ext cx="0" cy="10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11095123-6DB8-44DC-92DB-C4231B4530F1}"/>
                    </a:ext>
                  </a:extLst>
                </p:cNvPr>
                <p:cNvGrpSpPr/>
                <p:nvPr/>
              </p:nvGrpSpPr>
              <p:grpSpPr>
                <a:xfrm>
                  <a:off x="3029946" y="356839"/>
                  <a:ext cx="365783" cy="694562"/>
                  <a:chOff x="0" y="0"/>
                  <a:chExt cx="365783" cy="694562"/>
                </a:xfrm>
              </p:grpSpPr>
              <p:cxnSp>
                <p:nvCxnSpPr>
                  <p:cNvPr id="44" name="直接箭头连接符 43">
                    <a:extLst>
                      <a:ext uri="{FF2B5EF4-FFF2-40B4-BE49-F238E27FC236}">
                        <a16:creationId xmlns:a16="http://schemas.microsoft.com/office/drawing/2014/main" id="{C53D1477-4AF8-4D53-BEE5-32EC3D25A097}"/>
                      </a:ext>
                    </a:extLst>
                  </p:cNvPr>
                  <p:cNvCxnSpPr/>
                  <p:nvPr/>
                </p:nvCxnSpPr>
                <p:spPr>
                  <a:xfrm>
                    <a:off x="6373" y="0"/>
                    <a:ext cx="35750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箭头连接符 44">
                    <a:extLst>
                      <a:ext uri="{FF2B5EF4-FFF2-40B4-BE49-F238E27FC236}">
                        <a16:creationId xmlns:a16="http://schemas.microsoft.com/office/drawing/2014/main" id="{C06E09FC-EA9C-42F9-A570-08828185E33E}"/>
                      </a:ext>
                    </a:extLst>
                  </p:cNvPr>
                  <p:cNvCxnSpPr/>
                  <p:nvPr/>
                </p:nvCxnSpPr>
                <p:spPr>
                  <a:xfrm>
                    <a:off x="6373" y="350467"/>
                    <a:ext cx="35941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箭头连接符 45">
                    <a:extLst>
                      <a:ext uri="{FF2B5EF4-FFF2-40B4-BE49-F238E27FC236}">
                        <a16:creationId xmlns:a16="http://schemas.microsoft.com/office/drawing/2014/main" id="{B7E36E47-7FE9-402F-91F9-3A91DB3E1487}"/>
                      </a:ext>
                    </a:extLst>
                  </p:cNvPr>
                  <p:cNvCxnSpPr/>
                  <p:nvPr/>
                </p:nvCxnSpPr>
                <p:spPr>
                  <a:xfrm>
                    <a:off x="0" y="694562"/>
                    <a:ext cx="35941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B8F89D83-C049-4F32-8384-F7E38858ABDE}"/>
                    </a:ext>
                  </a:extLst>
                </p:cNvPr>
                <p:cNvGrpSpPr/>
                <p:nvPr/>
              </p:nvGrpSpPr>
              <p:grpSpPr>
                <a:xfrm>
                  <a:off x="4183301" y="28675"/>
                  <a:ext cx="289931" cy="1044000"/>
                  <a:chOff x="0" y="0"/>
                  <a:chExt cx="289931" cy="1044000"/>
                </a:xfrm>
              </p:grpSpPr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EB38E033-EB86-4C20-B0A3-8E1A70C6B95A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0" y="344094"/>
                    <a:ext cx="287854" cy="694562"/>
                    <a:chOff x="-1720" y="0"/>
                    <a:chExt cx="365598" cy="694562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4DC62A0B-A236-4E60-A7B3-58BA3257DD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373" y="0"/>
                      <a:ext cx="35750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1A534DD5-7E9B-43CD-A8A6-AF106F9A68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-1720" y="350467"/>
                      <a:ext cx="35941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接箭头连接符 42">
                      <a:extLst>
                        <a:ext uri="{FF2B5EF4-FFF2-40B4-BE49-F238E27FC236}">
                          <a16:creationId xmlns:a16="http://schemas.microsoft.com/office/drawing/2014/main" id="{4F7D7E90-18DB-4996-B867-B785D7AFD8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0" y="694562"/>
                      <a:ext cx="35941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0" name="直接连接符 39">
                    <a:extLst>
                      <a:ext uri="{FF2B5EF4-FFF2-40B4-BE49-F238E27FC236}">
                        <a16:creationId xmlns:a16="http://schemas.microsoft.com/office/drawing/2014/main" id="{D0867654-B12F-4E08-9B07-1B4B261B37B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89931" y="0"/>
                    <a:ext cx="0" cy="1044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组合 34">
                  <a:extLst>
                    <a:ext uri="{FF2B5EF4-FFF2-40B4-BE49-F238E27FC236}">
                      <a16:creationId xmlns:a16="http://schemas.microsoft.com/office/drawing/2014/main" id="{23BE5962-7426-4E46-9681-F090D26FB282}"/>
                    </a:ext>
                  </a:extLst>
                </p:cNvPr>
                <p:cNvGrpSpPr/>
                <p:nvPr/>
              </p:nvGrpSpPr>
              <p:grpSpPr>
                <a:xfrm flipH="1">
                  <a:off x="2665681" y="0"/>
                  <a:ext cx="221155" cy="756000"/>
                  <a:chOff x="-915" y="0"/>
                  <a:chExt cx="221155" cy="756000"/>
                </a:xfrm>
              </p:grpSpPr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38B61DD4-0048-4A4D-90F9-EFB5FF109A7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0"/>
                    <a:ext cx="0" cy="756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箭头连接符 36">
                    <a:extLst>
                      <a:ext uri="{FF2B5EF4-FFF2-40B4-BE49-F238E27FC236}">
                        <a16:creationId xmlns:a16="http://schemas.microsoft.com/office/drawing/2014/main" id="{3C5D584F-8734-488E-84EB-1A0935DED3DB}"/>
                      </a:ext>
                    </a:extLst>
                  </p:cNvPr>
                  <p:cNvCxnSpPr/>
                  <p:nvPr/>
                </p:nvCxnSpPr>
                <p:spPr>
                  <a:xfrm>
                    <a:off x="-915" y="350467"/>
                    <a:ext cx="21602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箭头连接符 37">
                    <a:extLst>
                      <a:ext uri="{FF2B5EF4-FFF2-40B4-BE49-F238E27FC236}">
                        <a16:creationId xmlns:a16="http://schemas.microsoft.com/office/drawing/2014/main" id="{81975FC9-7FF7-4ED1-8FA3-430DE036ECD3}"/>
                      </a:ext>
                    </a:extLst>
                  </p:cNvPr>
                  <p:cNvCxnSpPr/>
                  <p:nvPr/>
                </p:nvCxnSpPr>
                <p:spPr>
                  <a:xfrm>
                    <a:off x="4221" y="748725"/>
                    <a:ext cx="21601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D05419D-F465-43F1-B6E4-53F73392A291}"/>
                </a:ext>
              </a:extLst>
            </p:cNvPr>
            <p:cNvGrpSpPr/>
            <p:nvPr/>
          </p:nvGrpSpPr>
          <p:grpSpPr>
            <a:xfrm>
              <a:off x="1399764" y="1944744"/>
              <a:ext cx="5404484" cy="945106"/>
              <a:chOff x="0" y="0"/>
              <a:chExt cx="5404753" cy="945514"/>
            </a:xfrm>
          </p:grpSpPr>
          <p:sp>
            <p:nvSpPr>
              <p:cNvPr id="8" name="文本框 2">
                <a:extLst>
                  <a:ext uri="{FF2B5EF4-FFF2-40B4-BE49-F238E27FC236}">
                    <a16:creationId xmlns:a16="http://schemas.microsoft.com/office/drawing/2014/main" id="{5498EB29-D652-4E54-AB6E-481C6AB36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669073"/>
                <a:ext cx="626110" cy="2764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b="1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</a:p>
            </p:txBody>
          </p:sp>
          <p:sp>
            <p:nvSpPr>
              <p:cNvPr id="9" name="文本框 2">
                <a:extLst>
                  <a:ext uri="{FF2B5EF4-FFF2-40B4-BE49-F238E27FC236}">
                    <a16:creationId xmlns:a16="http://schemas.microsoft.com/office/drawing/2014/main" id="{D1C08755-D5BB-43FC-B0C9-52EEC058D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892" y="646770"/>
                <a:ext cx="626110" cy="2764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b="1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想法</a:t>
                </a:r>
              </a:p>
            </p:txBody>
          </p:sp>
          <p:sp>
            <p:nvSpPr>
              <p:cNvPr id="10" name="文本框 2">
                <a:extLst>
                  <a:ext uri="{FF2B5EF4-FFF2-40B4-BE49-F238E27FC236}">
                    <a16:creationId xmlns:a16="http://schemas.microsoft.com/office/drawing/2014/main" id="{DD1C2BE6-B655-41D9-9DBF-BAD895C31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2597" y="643584"/>
                <a:ext cx="626110" cy="2764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b="1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算法</a:t>
                </a:r>
              </a:p>
            </p:txBody>
          </p:sp>
          <p:sp>
            <p:nvSpPr>
              <p:cNvPr id="11" name="文本框 2">
                <a:extLst>
                  <a:ext uri="{FF2B5EF4-FFF2-40B4-BE49-F238E27FC236}">
                    <a16:creationId xmlns:a16="http://schemas.microsoft.com/office/drawing/2014/main" id="{38A9CF60-3A75-4D67-8519-BE896502AD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681" y="0"/>
                <a:ext cx="1304290" cy="2876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b="1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人（设计方案）</a:t>
                </a:r>
              </a:p>
            </p:txBody>
          </p:sp>
          <p:sp>
            <p:nvSpPr>
              <p:cNvPr id="12" name="文本框 2">
                <a:extLst>
                  <a:ext uri="{FF2B5EF4-FFF2-40B4-BE49-F238E27FC236}">
                    <a16:creationId xmlns:a16="http://schemas.microsoft.com/office/drawing/2014/main" id="{289E18C1-0304-4673-8777-B0D7013A00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0463" y="35046"/>
                <a:ext cx="1304290" cy="2876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en-US" b="1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计算机（执行方案）</a:t>
                </a:r>
              </a:p>
            </p:txBody>
          </p:sp>
          <p:sp>
            <p:nvSpPr>
              <p:cNvPr id="13" name="右箭头 11">
                <a:extLst>
                  <a:ext uri="{FF2B5EF4-FFF2-40B4-BE49-F238E27FC236}">
                    <a16:creationId xmlns:a16="http://schemas.microsoft.com/office/drawing/2014/main" id="{94FD05D9-D9EF-4461-8F54-EBA9FD582C2E}"/>
                  </a:ext>
                </a:extLst>
              </p:cNvPr>
              <p:cNvSpPr/>
              <p:nvPr/>
            </p:nvSpPr>
            <p:spPr>
              <a:xfrm>
                <a:off x="710492" y="774213"/>
                <a:ext cx="671830" cy="71755"/>
              </a:xfrm>
              <a:prstGeom prst="rightArrow">
                <a:avLst>
                  <a:gd name="adj1" fmla="val 50000"/>
                  <a:gd name="adj2" fmla="val 181491"/>
                </a:avLst>
              </a:prstGeom>
              <a:noFill/>
              <a:ln w="6350">
                <a:solidFill>
                  <a:schemeClr val="tx1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右箭头 12">
                <a:extLst>
                  <a:ext uri="{FF2B5EF4-FFF2-40B4-BE49-F238E27FC236}">
                    <a16:creationId xmlns:a16="http://schemas.microsoft.com/office/drawing/2014/main" id="{76CF410C-D10F-4695-BC93-AC61337DE1B3}"/>
                  </a:ext>
                </a:extLst>
              </p:cNvPr>
              <p:cNvSpPr/>
              <p:nvPr/>
            </p:nvSpPr>
            <p:spPr>
              <a:xfrm>
                <a:off x="2207942" y="767841"/>
                <a:ext cx="671830" cy="71755"/>
              </a:xfrm>
              <a:prstGeom prst="rightArrow">
                <a:avLst>
                  <a:gd name="adj1" fmla="val 50000"/>
                  <a:gd name="adj2" fmla="val 181491"/>
                </a:avLst>
              </a:prstGeom>
              <a:noFill/>
              <a:ln w="6350">
                <a:solidFill>
                  <a:schemeClr val="tx1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右箭头 13">
                <a:extLst>
                  <a:ext uri="{FF2B5EF4-FFF2-40B4-BE49-F238E27FC236}">
                    <a16:creationId xmlns:a16="http://schemas.microsoft.com/office/drawing/2014/main" id="{0EC1864B-0370-4808-AD8B-8F04D13F5270}"/>
                  </a:ext>
                </a:extLst>
              </p:cNvPr>
              <p:cNvSpPr/>
              <p:nvPr/>
            </p:nvSpPr>
            <p:spPr>
              <a:xfrm>
                <a:off x="3657600" y="758282"/>
                <a:ext cx="671830" cy="71755"/>
              </a:xfrm>
              <a:prstGeom prst="rightArrow">
                <a:avLst>
                  <a:gd name="adj1" fmla="val 50000"/>
                  <a:gd name="adj2" fmla="val 181491"/>
                </a:avLst>
              </a:prstGeom>
              <a:noFill/>
              <a:ln w="6350">
                <a:solidFill>
                  <a:schemeClr val="tx1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右箭头 14">
                <a:extLst>
                  <a:ext uri="{FF2B5EF4-FFF2-40B4-BE49-F238E27FC236}">
                    <a16:creationId xmlns:a16="http://schemas.microsoft.com/office/drawing/2014/main" id="{FC835D87-A358-41D6-A0F4-AA7EB83D106A}"/>
                  </a:ext>
                </a:extLst>
              </p:cNvPr>
              <p:cNvSpPr/>
              <p:nvPr/>
            </p:nvSpPr>
            <p:spPr>
              <a:xfrm rot="5400000">
                <a:off x="1701358" y="315420"/>
                <a:ext cx="215900" cy="104775"/>
              </a:xfrm>
              <a:prstGeom prst="rightArrow">
                <a:avLst>
                  <a:gd name="adj1" fmla="val 50000"/>
                  <a:gd name="adj2" fmla="val 120209"/>
                </a:avLst>
              </a:prstGeom>
              <a:noFill/>
              <a:ln w="6350">
                <a:solidFill>
                  <a:schemeClr val="tx1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" name="右箭头 15">
                <a:extLst>
                  <a:ext uri="{FF2B5EF4-FFF2-40B4-BE49-F238E27FC236}">
                    <a16:creationId xmlns:a16="http://schemas.microsoft.com/office/drawing/2014/main" id="{3BD983F4-0F28-4482-8906-8F1EC37B8DD4}"/>
                  </a:ext>
                </a:extLst>
              </p:cNvPr>
              <p:cNvSpPr/>
              <p:nvPr/>
            </p:nvSpPr>
            <p:spPr>
              <a:xfrm rot="5400000">
                <a:off x="4680327" y="369583"/>
                <a:ext cx="215900" cy="104939"/>
              </a:xfrm>
              <a:prstGeom prst="rightArrow">
                <a:avLst>
                  <a:gd name="adj1" fmla="val 50000"/>
                  <a:gd name="adj2" fmla="val 120209"/>
                </a:avLst>
              </a:prstGeom>
              <a:noFill/>
              <a:ln w="6350">
                <a:solidFill>
                  <a:schemeClr val="tx1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左大括号 17">
                <a:extLst>
                  <a:ext uri="{FF2B5EF4-FFF2-40B4-BE49-F238E27FC236}">
                    <a16:creationId xmlns:a16="http://schemas.microsoft.com/office/drawing/2014/main" id="{E5EFDC6A-A05C-4B95-86E8-B23924E3F236}"/>
                  </a:ext>
                </a:extLst>
              </p:cNvPr>
              <p:cNvSpPr/>
              <p:nvPr/>
            </p:nvSpPr>
            <p:spPr>
              <a:xfrm rot="5400000">
                <a:off x="1725253" y="-928738"/>
                <a:ext cx="149666" cy="3004540"/>
              </a:xfrm>
              <a:prstGeom prst="leftBrace">
                <a:avLst>
                  <a:gd name="adj1" fmla="val 30284"/>
                  <a:gd name="adj2" fmla="val 4959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左大括号 18">
                <a:extLst>
                  <a:ext uri="{FF2B5EF4-FFF2-40B4-BE49-F238E27FC236}">
                    <a16:creationId xmlns:a16="http://schemas.microsoft.com/office/drawing/2014/main" id="{BA45F680-0107-4B25-A922-CADBDA3BD630}"/>
                  </a:ext>
                </a:extLst>
              </p:cNvPr>
              <p:cNvSpPr/>
              <p:nvPr/>
            </p:nvSpPr>
            <p:spPr>
              <a:xfrm rot="5400000">
                <a:off x="4708899" y="294710"/>
                <a:ext cx="98617" cy="611505"/>
              </a:xfrm>
              <a:prstGeom prst="leftBrace">
                <a:avLst>
                  <a:gd name="adj1" fmla="val 30284"/>
                  <a:gd name="adj2" fmla="val 4959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77923167-3B8A-4D71-996C-91C6815D6977}"/>
              </a:ext>
            </a:extLst>
          </p:cNvPr>
          <p:cNvSpPr txBox="1"/>
          <p:nvPr/>
        </p:nvSpPr>
        <p:spPr>
          <a:xfrm>
            <a:off x="3583796" y="5445688"/>
            <a:ext cx="3658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程序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24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数据结构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+ </a:t>
            </a:r>
            <a:r>
              <a:rPr lang="zh-CN" altLang="en-US" sz="24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算法</a:t>
            </a:r>
            <a:endParaRPr lang="zh-CN" altLang="en-US" sz="2400" dirty="0"/>
          </a:p>
        </p:txBody>
      </p:sp>
      <p:sp>
        <p:nvSpPr>
          <p:cNvPr id="58" name="Text Box 4">
            <a:extLst>
              <a:ext uri="{FF2B5EF4-FFF2-40B4-BE49-F238E27FC236}">
                <a16:creationId xmlns:a16="http://schemas.microsoft.com/office/drawing/2014/main" id="{D1BF3D95-6171-4D2F-8CA2-F9C3A27D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780" y="989156"/>
            <a:ext cx="113402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66"/>
                </a:solidFill>
                <a:latin typeface="Arial" pitchFamily="34" charset="0"/>
                <a:ea typeface="楷体_GB2312"/>
                <a:cs typeface="楷体_GB2312"/>
              </a:rPr>
              <a:t>程序设计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pitchFamily="34" charset="0"/>
                <a:ea typeface="楷体_GB2312"/>
                <a:cs typeface="楷体_GB2312"/>
              </a:rPr>
              <a:t>是把要求解的任务或设计好的算法转换为计算机程序的全过程</a:t>
            </a:r>
            <a:r>
              <a:rPr kumimoji="1" lang="zh-CN" altLang="en-US" b="1" dirty="0">
                <a:solidFill>
                  <a:srgbClr val="0000FF"/>
                </a:solidFill>
              </a:rPr>
              <a:t>。</a:t>
            </a:r>
            <a:endParaRPr kumimoji="1"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60" name="灯片编号占位符 59">
            <a:extLst>
              <a:ext uri="{FF2B5EF4-FFF2-40B4-BE49-F238E27FC236}">
                <a16:creationId xmlns:a16="http://schemas.microsoft.com/office/drawing/2014/main" id="{E888C602-7245-4C41-BE90-0AEDDAF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_1">
            <a:extLst>
              <a:ext uri="{FF2B5EF4-FFF2-40B4-BE49-F238E27FC236}">
                <a16:creationId xmlns:a16="http://schemas.microsoft.com/office/drawing/2014/main" id="{6D2474BA-583F-4802-9848-552314DBF63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 flipV="1">
            <a:off x="2856569" y="4130673"/>
            <a:ext cx="2036762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MH_Other_2">
            <a:extLst>
              <a:ext uri="{FF2B5EF4-FFF2-40B4-BE49-F238E27FC236}">
                <a16:creationId xmlns:a16="http://schemas.microsoft.com/office/drawing/2014/main" id="{5B16C234-3F36-4216-BFAB-B2900B6B9E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5220357" y="3865561"/>
            <a:ext cx="2036763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MH_Other_3">
            <a:extLst>
              <a:ext uri="{FF2B5EF4-FFF2-40B4-BE49-F238E27FC236}">
                <a16:creationId xmlns:a16="http://schemas.microsoft.com/office/drawing/2014/main" id="{DBF6994D-1F4D-4E9E-8F74-0642DDCBD5E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 flipV="1">
            <a:off x="6861832" y="3743323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MH_Other_4">
            <a:extLst>
              <a:ext uri="{FF2B5EF4-FFF2-40B4-BE49-F238E27FC236}">
                <a16:creationId xmlns:a16="http://schemas.microsoft.com/office/drawing/2014/main" id="{3FB79E31-49EA-49F6-9E98-907EF91B5D8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V="1">
            <a:off x="2156482" y="944561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MH_Other_5">
            <a:extLst>
              <a:ext uri="{FF2B5EF4-FFF2-40B4-BE49-F238E27FC236}">
                <a16:creationId xmlns:a16="http://schemas.microsoft.com/office/drawing/2014/main" id="{15A032B5-CC59-431A-A561-1F3A9532723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V="1">
            <a:off x="5347357" y="2078036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MH_Other_6">
            <a:extLst>
              <a:ext uri="{FF2B5EF4-FFF2-40B4-BE49-F238E27FC236}">
                <a16:creationId xmlns:a16="http://schemas.microsoft.com/office/drawing/2014/main" id="{7DBE4266-761C-4932-9EB2-4B93B243DDF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5400000">
            <a:off x="8640626" y="3109117"/>
            <a:ext cx="1309687" cy="1514475"/>
          </a:xfrm>
          <a:custGeom>
            <a:avLst/>
            <a:gdLst>
              <a:gd name="connsiteX0" fmla="*/ 0 w 1309689"/>
              <a:gd name="connsiteY0" fmla="*/ 1514475 h 1514475"/>
              <a:gd name="connsiteX1" fmla="*/ 0 w 1309689"/>
              <a:gd name="connsiteY1" fmla="*/ 662583 h 1514475"/>
              <a:gd name="connsiteX2" fmla="*/ 662583 w 1309689"/>
              <a:gd name="connsiteY2" fmla="*/ 0 h 1514475"/>
              <a:gd name="connsiteX3" fmla="*/ 1309689 w 1309689"/>
              <a:gd name="connsiteY3" fmla="*/ 0 h 1514475"/>
              <a:gd name="connsiteX4" fmla="*/ 1309689 w 1309689"/>
              <a:gd name="connsiteY4" fmla="*/ 378619 h 1514475"/>
              <a:gd name="connsiteX5" fmla="*/ 662583 w 1309689"/>
              <a:gd name="connsiteY5" fmla="*/ 378619 h 1514475"/>
              <a:gd name="connsiteX6" fmla="*/ 378619 w 1309689"/>
              <a:gd name="connsiteY6" fmla="*/ 662583 h 1514475"/>
              <a:gd name="connsiteX7" fmla="*/ 378619 w 1309689"/>
              <a:gd name="connsiteY7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9689" h="1514475">
                <a:moveTo>
                  <a:pt x="0" y="1514475"/>
                </a:move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lnTo>
                  <a:pt x="1309689" y="0"/>
                </a:lnTo>
                <a:lnTo>
                  <a:pt x="1309689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29201509-3C08-462E-B2AF-0857B939566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745319" y="1673222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问题分析</a:t>
            </a:r>
          </a:p>
        </p:txBody>
      </p:sp>
      <p:sp>
        <p:nvSpPr>
          <p:cNvPr id="10" name="MH_SubTitle_2">
            <a:extLst>
              <a:ext uri="{FF2B5EF4-FFF2-40B4-BE49-F238E27FC236}">
                <a16:creationId xmlns:a16="http://schemas.microsoft.com/office/drawing/2014/main" id="{105DD4A0-96B7-4D08-83D0-FBDD8A882CF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33019" y="168274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设计算法</a:t>
            </a:r>
          </a:p>
        </p:txBody>
      </p:sp>
      <p:sp>
        <p:nvSpPr>
          <p:cNvPr id="11" name="MH_SubTitle_3">
            <a:extLst>
              <a:ext uri="{FF2B5EF4-FFF2-40B4-BE49-F238E27FC236}">
                <a16:creationId xmlns:a16="http://schemas.microsoft.com/office/drawing/2014/main" id="{40D03177-81A8-4A32-A5E6-4D0E90910AD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58956" y="2809872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编写程序</a:t>
            </a:r>
          </a:p>
        </p:txBody>
      </p:sp>
      <p:sp>
        <p:nvSpPr>
          <p:cNvPr id="12" name="MH_Other_7">
            <a:extLst>
              <a:ext uri="{FF2B5EF4-FFF2-40B4-BE49-F238E27FC236}">
                <a16:creationId xmlns:a16="http://schemas.microsoft.com/office/drawing/2014/main" id="{73BED522-C6F9-463B-A3D7-AEB2B386DAA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300945" y="148748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" name="MH_Other_8">
            <a:extLst>
              <a:ext uri="{FF2B5EF4-FFF2-40B4-BE49-F238E27FC236}">
                <a16:creationId xmlns:a16="http://schemas.microsoft.com/office/drawing/2014/main" id="{F8B8892A-082A-460C-B30C-BE09E33E981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596470" y="223043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4" name="MH_Other_9">
            <a:extLst>
              <a:ext uri="{FF2B5EF4-FFF2-40B4-BE49-F238E27FC236}">
                <a16:creationId xmlns:a16="http://schemas.microsoft.com/office/drawing/2014/main" id="{6892C1D8-3398-4B9A-8EE1-C7AC42ABFC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48870" y="223043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5" name="MH_Other_10">
            <a:extLst>
              <a:ext uri="{FF2B5EF4-FFF2-40B4-BE49-F238E27FC236}">
                <a16:creationId xmlns:a16="http://schemas.microsoft.com/office/drawing/2014/main" id="{79148DB8-6906-4D2A-8E9A-D39E01300FAD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727145" y="336391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" name="MH_Other_11">
            <a:extLst>
              <a:ext uri="{FF2B5EF4-FFF2-40B4-BE49-F238E27FC236}">
                <a16:creationId xmlns:a16="http://schemas.microsoft.com/office/drawing/2014/main" id="{7CAD7A01-10F0-43FB-B40A-3C5AD5F52D0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879545" y="336391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7" name="MH_Other_12">
            <a:extLst>
              <a:ext uri="{FF2B5EF4-FFF2-40B4-BE49-F238E27FC236}">
                <a16:creationId xmlns:a16="http://schemas.microsoft.com/office/drawing/2014/main" id="{F6609FD7-2317-4D6F-86F2-5C2C27ACA4B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031945" y="336391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8" name="MH_SubTitle_4">
            <a:extLst>
              <a:ext uri="{FF2B5EF4-FFF2-40B4-BE49-F238E27FC236}">
                <a16:creationId xmlns:a16="http://schemas.microsoft.com/office/drawing/2014/main" id="{E1D8005B-3310-4188-B9BF-3AD27D1913A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33196" y="4481510"/>
            <a:ext cx="1420812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对源程序进行编辑、编译和连接</a:t>
            </a:r>
          </a:p>
        </p:txBody>
      </p:sp>
      <p:sp>
        <p:nvSpPr>
          <p:cNvPr id="19" name="MH_Other_13">
            <a:extLst>
              <a:ext uri="{FF2B5EF4-FFF2-40B4-BE49-F238E27FC236}">
                <a16:creationId xmlns:a16="http://schemas.microsoft.com/office/drawing/2014/main" id="{BE71C242-FEA8-44B6-8023-7EDDCCFA1DD3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836556" y="503554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0" name="MH_Other_14">
            <a:extLst>
              <a:ext uri="{FF2B5EF4-FFF2-40B4-BE49-F238E27FC236}">
                <a16:creationId xmlns:a16="http://schemas.microsoft.com/office/drawing/2014/main" id="{DE3F7AD5-0143-4E35-89A1-01AE51318636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988956" y="503554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1" name="MH_Other_15">
            <a:extLst>
              <a:ext uri="{FF2B5EF4-FFF2-40B4-BE49-F238E27FC236}">
                <a16:creationId xmlns:a16="http://schemas.microsoft.com/office/drawing/2014/main" id="{942A0C6C-0720-4E4D-8B35-3490E80EBC7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141356" y="503554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2" name="MH_Other_16">
            <a:extLst>
              <a:ext uri="{FF2B5EF4-FFF2-40B4-BE49-F238E27FC236}">
                <a16:creationId xmlns:a16="http://schemas.microsoft.com/office/drawing/2014/main" id="{29E6B7E4-9613-42D2-92AD-0D582AEB264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293756" y="503554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3" name="MH_SubTitle_5">
            <a:extLst>
              <a:ext uri="{FF2B5EF4-FFF2-40B4-BE49-F238E27FC236}">
                <a16:creationId xmlns:a16="http://schemas.microsoft.com/office/drawing/2014/main" id="{97AF1739-FCB9-47E3-9815-5E3383B1F4E2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063069" y="346074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运行程序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分析结果</a:t>
            </a:r>
          </a:p>
        </p:txBody>
      </p:sp>
      <p:sp>
        <p:nvSpPr>
          <p:cNvPr id="24" name="MH_Other_17">
            <a:extLst>
              <a:ext uri="{FF2B5EF4-FFF2-40B4-BE49-F238E27FC236}">
                <a16:creationId xmlns:a16="http://schemas.microsoft.com/office/drawing/2014/main" id="{7AE36A84-469C-4E95-A5E1-6F2DECB5C47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390220" y="401637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5" name="MH_Other_18">
            <a:extLst>
              <a:ext uri="{FF2B5EF4-FFF2-40B4-BE49-F238E27FC236}">
                <a16:creationId xmlns:a16="http://schemas.microsoft.com/office/drawing/2014/main" id="{AF0F92A1-2348-47AF-8FB5-4D679333071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542620" y="401637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6" name="MH_Other_19">
            <a:extLst>
              <a:ext uri="{FF2B5EF4-FFF2-40B4-BE49-F238E27FC236}">
                <a16:creationId xmlns:a16="http://schemas.microsoft.com/office/drawing/2014/main" id="{439BA53C-73D3-4FCA-BCA9-C6300522497B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695020" y="401637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7" name="MH_Other_20">
            <a:extLst>
              <a:ext uri="{FF2B5EF4-FFF2-40B4-BE49-F238E27FC236}">
                <a16:creationId xmlns:a16="http://schemas.microsoft.com/office/drawing/2014/main" id="{0B3C396C-E9C6-4C54-8181-AD043EB7F28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847420" y="401637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8" name="MH_Other_21">
            <a:extLst>
              <a:ext uri="{FF2B5EF4-FFF2-40B4-BE49-F238E27FC236}">
                <a16:creationId xmlns:a16="http://schemas.microsoft.com/office/drawing/2014/main" id="{F2D79B46-96EA-4164-82F1-FBB372629BA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999820" y="401637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9" name="MH_Other_22">
            <a:extLst>
              <a:ext uri="{FF2B5EF4-FFF2-40B4-BE49-F238E27FC236}">
                <a16:creationId xmlns:a16="http://schemas.microsoft.com/office/drawing/2014/main" id="{8A5FF563-67ED-4896-AFD9-30530F69B96A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 rot="16200000" flipH="1" flipV="1">
            <a:off x="1263513" y="3866354"/>
            <a:ext cx="2036762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MH_SubTitle_6">
            <a:extLst>
              <a:ext uri="{FF2B5EF4-FFF2-40B4-BE49-F238E27FC236}">
                <a16:creationId xmlns:a16="http://schemas.microsoft.com/office/drawing/2014/main" id="{6390AEC6-5583-496D-8083-71BB1856DB8A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2261256" y="487044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编写程序文档</a:t>
            </a:r>
          </a:p>
        </p:txBody>
      </p:sp>
      <p:sp>
        <p:nvSpPr>
          <p:cNvPr id="31" name="MH_Other_23">
            <a:extLst>
              <a:ext uri="{FF2B5EF4-FFF2-40B4-BE49-F238E27FC236}">
                <a16:creationId xmlns:a16="http://schemas.microsoft.com/office/drawing/2014/main" id="{A6A686D4-8D50-430C-9495-2AC7FA40E7D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5090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2" name="MH_Other_24">
            <a:extLst>
              <a:ext uri="{FF2B5EF4-FFF2-40B4-BE49-F238E27FC236}">
                <a16:creationId xmlns:a16="http://schemas.microsoft.com/office/drawing/2014/main" id="{7B46E5F7-F1CA-4629-B0F4-38E08CC7D877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6614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3" name="MH_Other_25">
            <a:extLst>
              <a:ext uri="{FF2B5EF4-FFF2-40B4-BE49-F238E27FC236}">
                <a16:creationId xmlns:a16="http://schemas.microsoft.com/office/drawing/2014/main" id="{1D695B01-D0FC-4028-BBAF-5523C64DD14F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8138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4" name="MH_Other_26">
            <a:extLst>
              <a:ext uri="{FF2B5EF4-FFF2-40B4-BE49-F238E27FC236}">
                <a16:creationId xmlns:a16="http://schemas.microsoft.com/office/drawing/2014/main" id="{3454C402-CEB8-401E-9CC3-2DA79F3045D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9662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5" name="MH_Other_27">
            <a:extLst>
              <a:ext uri="{FF2B5EF4-FFF2-40B4-BE49-F238E27FC236}">
                <a16:creationId xmlns:a16="http://schemas.microsoft.com/office/drawing/2014/main" id="{D5D03BBA-87AC-40A9-B4F8-EF9B057D21B9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41186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6" name="MH_Other_28">
            <a:extLst>
              <a:ext uri="{FF2B5EF4-FFF2-40B4-BE49-F238E27FC236}">
                <a16:creationId xmlns:a16="http://schemas.microsoft.com/office/drawing/2014/main" id="{0E933753-CF33-4666-9F0D-7F7441905AD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4271031" y="543401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25C8C0C8-A169-4E41-8E8C-6EF9757E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365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可选过程 2">
            <a:extLst>
              <a:ext uri="{FF2B5EF4-FFF2-40B4-BE49-F238E27FC236}">
                <a16:creationId xmlns:a16="http://schemas.microsoft.com/office/drawing/2014/main" id="{2053B836-617D-4FDB-B0A8-B78EBE95EEF3}"/>
              </a:ext>
            </a:extLst>
          </p:cNvPr>
          <p:cNvSpPr/>
          <p:nvPr/>
        </p:nvSpPr>
        <p:spPr>
          <a:xfrm>
            <a:off x="4461124" y="757182"/>
            <a:ext cx="2032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开始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3A9F9B2-5125-49D7-A00D-3C464B3B1234}"/>
              </a:ext>
            </a:extLst>
          </p:cNvPr>
          <p:cNvCxnSpPr>
            <a:stCxn id="3" idx="2"/>
          </p:cNvCxnSpPr>
          <p:nvPr/>
        </p:nvCxnSpPr>
        <p:spPr>
          <a:xfrm>
            <a:off x="5477124" y="1117182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8C8F64A-697E-48E5-8199-575E9712CB5B}"/>
              </a:ext>
            </a:extLst>
          </p:cNvPr>
          <p:cNvSpPr/>
          <p:nvPr/>
        </p:nvSpPr>
        <p:spPr>
          <a:xfrm>
            <a:off x="4461124" y="1464254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编辑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D828B01-77F2-49BD-8E81-D006CD8E43C7}"/>
              </a:ext>
            </a:extLst>
          </p:cNvPr>
          <p:cNvCxnSpPr/>
          <p:nvPr/>
        </p:nvCxnSpPr>
        <p:spPr>
          <a:xfrm>
            <a:off x="5477124" y="1824254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043EB77-4065-4A58-A4AB-D62B4B63D717}"/>
              </a:ext>
            </a:extLst>
          </p:cNvPr>
          <p:cNvSpPr/>
          <p:nvPr/>
        </p:nvSpPr>
        <p:spPr>
          <a:xfrm>
            <a:off x="4461124" y="2171326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076601E-C089-4284-B6E0-05D3AC0F7D13}"/>
              </a:ext>
            </a:extLst>
          </p:cNvPr>
          <p:cNvCxnSpPr/>
          <p:nvPr/>
        </p:nvCxnSpPr>
        <p:spPr>
          <a:xfrm>
            <a:off x="5497444" y="2531326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决策 8">
            <a:extLst>
              <a:ext uri="{FF2B5EF4-FFF2-40B4-BE49-F238E27FC236}">
                <a16:creationId xmlns:a16="http://schemas.microsoft.com/office/drawing/2014/main" id="{7E1E27C6-2B33-419C-87C4-92B66052F6B1}"/>
              </a:ext>
            </a:extLst>
          </p:cNvPr>
          <p:cNvSpPr/>
          <p:nvPr/>
        </p:nvSpPr>
        <p:spPr>
          <a:xfrm>
            <a:off x="4481444" y="2871006"/>
            <a:ext cx="2032000" cy="70104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有错？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43EA92A-2972-4086-8D0B-2AC5239898F2}"/>
              </a:ext>
            </a:extLst>
          </p:cNvPr>
          <p:cNvCxnSpPr/>
          <p:nvPr/>
        </p:nvCxnSpPr>
        <p:spPr>
          <a:xfrm>
            <a:off x="5497444" y="3547598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FCA63286-B1EC-4DEF-963B-D130ABD6E725}"/>
              </a:ext>
            </a:extLst>
          </p:cNvPr>
          <p:cNvSpPr/>
          <p:nvPr/>
        </p:nvSpPr>
        <p:spPr>
          <a:xfrm>
            <a:off x="4481444" y="3894670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连接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9BFE0FA-1CF9-4B9D-ADD2-0271690CB277}"/>
              </a:ext>
            </a:extLst>
          </p:cNvPr>
          <p:cNvCxnSpPr/>
          <p:nvPr/>
        </p:nvCxnSpPr>
        <p:spPr>
          <a:xfrm>
            <a:off x="5497444" y="4254670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5111825-6877-40C8-B949-8071E69BBF4C}"/>
              </a:ext>
            </a:extLst>
          </p:cNvPr>
          <p:cNvSpPr/>
          <p:nvPr/>
        </p:nvSpPr>
        <p:spPr>
          <a:xfrm>
            <a:off x="4481444" y="4601742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F746580-0649-4755-A96D-1FAC85C4F081}"/>
              </a:ext>
            </a:extLst>
          </p:cNvPr>
          <p:cNvCxnSpPr/>
          <p:nvPr/>
        </p:nvCxnSpPr>
        <p:spPr>
          <a:xfrm>
            <a:off x="5517764" y="4961742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决策 14">
            <a:extLst>
              <a:ext uri="{FF2B5EF4-FFF2-40B4-BE49-F238E27FC236}">
                <a16:creationId xmlns:a16="http://schemas.microsoft.com/office/drawing/2014/main" id="{A8301713-4264-4493-9A36-44BACD7685DB}"/>
              </a:ext>
            </a:extLst>
          </p:cNvPr>
          <p:cNvSpPr/>
          <p:nvPr/>
        </p:nvSpPr>
        <p:spPr>
          <a:xfrm>
            <a:off x="4501764" y="5291262"/>
            <a:ext cx="2032000" cy="70104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   结果</a:t>
            </a:r>
            <a:endParaRPr lang="en-US" altLang="zh-CN" dirty="0"/>
          </a:p>
          <a:p>
            <a:r>
              <a:rPr lang="zh-CN" altLang="en-US" dirty="0"/>
              <a:t>   正确？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4FBA266-3A96-4C70-B686-97C45FF4FB16}"/>
              </a:ext>
            </a:extLst>
          </p:cNvPr>
          <p:cNvCxnSpPr/>
          <p:nvPr/>
        </p:nvCxnSpPr>
        <p:spPr>
          <a:xfrm>
            <a:off x="5517764" y="5992302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可选过程 16">
            <a:extLst>
              <a:ext uri="{FF2B5EF4-FFF2-40B4-BE49-F238E27FC236}">
                <a16:creationId xmlns:a16="http://schemas.microsoft.com/office/drawing/2014/main" id="{CBC8416B-983B-408F-875A-7EF9AD442E5D}"/>
              </a:ext>
            </a:extLst>
          </p:cNvPr>
          <p:cNvSpPr/>
          <p:nvPr/>
        </p:nvSpPr>
        <p:spPr>
          <a:xfrm>
            <a:off x="4481444" y="6321822"/>
            <a:ext cx="2032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9DAB0A-F341-4EAD-9A66-06F55F08AF3E}"/>
              </a:ext>
            </a:extLst>
          </p:cNvPr>
          <p:cNvSpPr txBox="1"/>
          <p:nvPr/>
        </p:nvSpPr>
        <p:spPr>
          <a:xfrm>
            <a:off x="5517764" y="3525636"/>
            <a:ext cx="52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52C9C9-0118-4255-9232-5490B85B3BBC}"/>
              </a:ext>
            </a:extLst>
          </p:cNvPr>
          <p:cNvSpPr txBox="1"/>
          <p:nvPr/>
        </p:nvSpPr>
        <p:spPr>
          <a:xfrm>
            <a:off x="5517764" y="6005230"/>
            <a:ext cx="68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正确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5AF29F5-D894-42B3-8889-065CF7100EA7}"/>
              </a:ext>
            </a:extLst>
          </p:cNvPr>
          <p:cNvCxnSpPr>
            <a:stCxn id="15" idx="1"/>
            <a:endCxn id="15" idx="1"/>
          </p:cNvCxnSpPr>
          <p:nvPr/>
        </p:nvCxnSpPr>
        <p:spPr>
          <a:xfrm>
            <a:off x="4501764" y="564178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FDF2BBC-80E6-4D7A-A891-9F5D51C3A7B4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368164" y="5640014"/>
            <a:ext cx="2133600" cy="1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8B9A69-1929-4B35-9FB5-8E50EDB1D2A3}"/>
              </a:ext>
            </a:extLst>
          </p:cNvPr>
          <p:cNvCxnSpPr/>
          <p:nvPr/>
        </p:nvCxnSpPr>
        <p:spPr>
          <a:xfrm>
            <a:off x="2368164" y="1250894"/>
            <a:ext cx="0" cy="4389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A7A113D-2E3B-464C-BB4C-751C37F4569B}"/>
              </a:ext>
            </a:extLst>
          </p:cNvPr>
          <p:cNvCxnSpPr/>
          <p:nvPr/>
        </p:nvCxnSpPr>
        <p:spPr>
          <a:xfrm>
            <a:off x="2368164" y="1250894"/>
            <a:ext cx="3119120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0E5BDBF-EB14-4F2E-AF04-425EA511D75D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358005" y="3216398"/>
            <a:ext cx="2123439" cy="512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2DDE1C-322B-4998-BC17-C7AF9FA2181D}"/>
              </a:ext>
            </a:extLst>
          </p:cNvPr>
          <p:cNvSpPr txBox="1"/>
          <p:nvPr/>
        </p:nvSpPr>
        <p:spPr>
          <a:xfrm>
            <a:off x="3170804" y="2881263"/>
            <a:ext cx="52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D08D7EC-7E78-412C-963F-AB125E763F0C}"/>
              </a:ext>
            </a:extLst>
          </p:cNvPr>
          <p:cNvSpPr txBox="1"/>
          <p:nvPr/>
        </p:nvSpPr>
        <p:spPr>
          <a:xfrm>
            <a:off x="3120004" y="5303364"/>
            <a:ext cx="1168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不正确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D4F99F1-7B8C-42E5-B345-6B115968AC2A}"/>
              </a:ext>
            </a:extLst>
          </p:cNvPr>
          <p:cNvCxnSpPr>
            <a:stCxn id="5" idx="3"/>
          </p:cNvCxnSpPr>
          <p:nvPr/>
        </p:nvCxnSpPr>
        <p:spPr>
          <a:xfrm>
            <a:off x="6493124" y="1644254"/>
            <a:ext cx="477519" cy="17364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4BEFE36-A17A-44B8-BD8B-F015580E637E}"/>
              </a:ext>
            </a:extLst>
          </p:cNvPr>
          <p:cNvCxnSpPr>
            <a:endCxn id="13" idx="1"/>
          </p:cNvCxnSpPr>
          <p:nvPr/>
        </p:nvCxnSpPr>
        <p:spPr>
          <a:xfrm>
            <a:off x="3927724" y="4481126"/>
            <a:ext cx="553720" cy="300616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77BFBC92-24E3-4667-AC63-0476EEEB281D}"/>
              </a:ext>
            </a:extLst>
          </p:cNvPr>
          <p:cNvSpPr/>
          <p:nvPr/>
        </p:nvSpPr>
        <p:spPr>
          <a:xfrm>
            <a:off x="2469764" y="3864190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可执行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目标程序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f.exe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603E3C2-FE67-4EA2-9657-DB867225BDA8}"/>
              </a:ext>
            </a:extLst>
          </p:cNvPr>
          <p:cNvSpPr/>
          <p:nvPr/>
        </p:nvSpPr>
        <p:spPr>
          <a:xfrm>
            <a:off x="6950323" y="1491558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源程序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f.c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7F27563-3097-4DA4-BCCC-D149748D9083}"/>
              </a:ext>
            </a:extLst>
          </p:cNvPr>
          <p:cNvSpPr/>
          <p:nvPr/>
        </p:nvSpPr>
        <p:spPr>
          <a:xfrm>
            <a:off x="6950323" y="2702230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目标程序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f.obj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A38F430-ACB5-4C71-96F9-A82C5B4FBAA7}"/>
              </a:ext>
            </a:extLst>
          </p:cNvPr>
          <p:cNvSpPr/>
          <p:nvPr/>
        </p:nvSpPr>
        <p:spPr>
          <a:xfrm>
            <a:off x="7051924" y="3917438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库函数和其他目标程序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965B0F8-A9AC-40AB-9860-D97FD832B618}"/>
              </a:ext>
            </a:extLst>
          </p:cNvPr>
          <p:cNvCxnSpPr>
            <a:stCxn id="11" idx="1"/>
          </p:cNvCxnSpPr>
          <p:nvPr/>
        </p:nvCxnSpPr>
        <p:spPr>
          <a:xfrm flipH="1">
            <a:off x="3892165" y="4074670"/>
            <a:ext cx="589279" cy="15207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91635CE-E2DC-48E9-A8C0-C5E6AE51A459}"/>
              </a:ext>
            </a:extLst>
          </p:cNvPr>
          <p:cNvCxnSpPr>
            <a:endCxn id="7" idx="3"/>
          </p:cNvCxnSpPr>
          <p:nvPr/>
        </p:nvCxnSpPr>
        <p:spPr>
          <a:xfrm flipH="1">
            <a:off x="6493124" y="2165294"/>
            <a:ext cx="457200" cy="18603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FA2D383-C0A2-49DC-B576-BEB6CD02FF14}"/>
              </a:ext>
            </a:extLst>
          </p:cNvPr>
          <p:cNvCxnSpPr/>
          <p:nvPr/>
        </p:nvCxnSpPr>
        <p:spPr>
          <a:xfrm>
            <a:off x="6493124" y="2436030"/>
            <a:ext cx="477519" cy="64220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4011DAC-12E2-44A5-8263-3EE507B8BD24}"/>
              </a:ext>
            </a:extLst>
          </p:cNvPr>
          <p:cNvCxnSpPr>
            <a:endCxn id="11" idx="3"/>
          </p:cNvCxnSpPr>
          <p:nvPr/>
        </p:nvCxnSpPr>
        <p:spPr>
          <a:xfrm flipH="1">
            <a:off x="6513444" y="3322690"/>
            <a:ext cx="492760" cy="75198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9FCFD7C-C9EB-452B-B798-66D881451007}"/>
              </a:ext>
            </a:extLst>
          </p:cNvPr>
          <p:cNvCxnSpPr>
            <a:stCxn id="32" idx="2"/>
            <a:endCxn id="11" idx="3"/>
          </p:cNvCxnSpPr>
          <p:nvPr/>
        </p:nvCxnSpPr>
        <p:spPr>
          <a:xfrm flipH="1" flipV="1">
            <a:off x="6513444" y="4074670"/>
            <a:ext cx="538480" cy="34460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灯片编号占位符 40">
            <a:extLst>
              <a:ext uri="{FF2B5EF4-FFF2-40B4-BE49-F238E27FC236}">
                <a16:creationId xmlns:a16="http://schemas.microsoft.com/office/drawing/2014/main" id="{522F4D0B-8387-43DE-9F7B-DDE3C4CF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117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CBA1D5-9AA4-4BC3-B671-710AA807D765}"/>
              </a:ext>
            </a:extLst>
          </p:cNvPr>
          <p:cNvSpPr txBox="1"/>
          <p:nvPr/>
        </p:nvSpPr>
        <p:spPr>
          <a:xfrm>
            <a:off x="-388931" y="773177"/>
            <a:ext cx="6158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«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上机运行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程序的方法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itchFamily="18" charset="0"/>
              </a:rPr>
              <a:t>CodeBlocks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2095F28-A873-4BFC-90EB-6312071C8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29" y="1234842"/>
            <a:ext cx="1119176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sz="2400" b="1" dirty="0" err="1">
                <a:latin typeface="Times New Roman" pitchFamily="18" charset="0"/>
              </a:rPr>
              <a:t>CodeBlocks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是一个免费、开源、跨平台的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C/C++ IDE(</a:t>
            </a:r>
            <a:r>
              <a:rPr kumimoji="1" lang="zh-CN" altLang="en-US" sz="2400" b="1" dirty="0">
                <a:latin typeface="Times New Roman" pitchFamily="18" charset="0"/>
              </a:rPr>
              <a:t>集</a:t>
            </a:r>
            <a:r>
              <a:rPr kumimoji="1" lang="zh-CN" altLang="en-US" sz="2400" b="1" dirty="0">
                <a:solidFill>
                  <a:srgbClr val="1B05EB"/>
                </a:solidFill>
                <a:latin typeface="Times New Roman" pitchFamily="18" charset="0"/>
              </a:rPr>
              <a:t>编辑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zh-CN" altLang="en-US" sz="2400" b="1" dirty="0">
                <a:solidFill>
                  <a:srgbClr val="1B05EB"/>
                </a:solidFill>
                <a:latin typeface="Times New Roman" pitchFamily="18" charset="0"/>
              </a:rPr>
              <a:t>编译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zh-CN" altLang="en-US" sz="2400" b="1" dirty="0">
                <a:solidFill>
                  <a:srgbClr val="1B05EB"/>
                </a:solidFill>
                <a:latin typeface="Times New Roman" pitchFamily="18" charset="0"/>
              </a:rPr>
              <a:t>连接</a:t>
            </a:r>
            <a:r>
              <a:rPr kumimoji="1" lang="zh-CN" altLang="en-US" sz="2400" b="1" dirty="0">
                <a:latin typeface="Times New Roman" pitchFamily="18" charset="0"/>
              </a:rPr>
              <a:t>及</a:t>
            </a:r>
            <a:r>
              <a:rPr kumimoji="1" lang="zh-CN" altLang="en-US" sz="2400" b="1" dirty="0">
                <a:solidFill>
                  <a:srgbClr val="1B05EB"/>
                </a:solidFill>
                <a:latin typeface="Times New Roman" pitchFamily="18" charset="0"/>
              </a:rPr>
              <a:t>运行</a:t>
            </a:r>
            <a:r>
              <a:rPr kumimoji="1" lang="zh-CN" altLang="en-US" sz="2400" b="1" dirty="0">
                <a:latin typeface="Times New Roman" pitchFamily="18" charset="0"/>
              </a:rPr>
              <a:t>功能于一身</a:t>
            </a:r>
            <a:r>
              <a:rPr kumimoji="1" lang="en-US" altLang="zh-CN" sz="2400" b="1" dirty="0">
                <a:latin typeface="Times New Roman" pitchFamily="18" charset="0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软件。官网下载链接：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http://www.codeblocks.org/downloads/binaries/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3E3D91-2E66-46C8-80CC-6CFF400D1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36" y="723567"/>
            <a:ext cx="662864" cy="56088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FDA026-68F7-45C2-B6FA-3C26E9E33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643" y="2312060"/>
            <a:ext cx="5026361" cy="3946316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FC75DB0-E478-426B-A87F-14A6D55E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5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D278FA-B850-4954-9A60-1D5A9BBB8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048" y="725267"/>
            <a:ext cx="8284614" cy="5284219"/>
          </a:xfrm>
          <a:prstGeom prst="rect">
            <a:avLst/>
          </a:prstGeom>
        </p:spPr>
      </p:pic>
      <p:grpSp>
        <p:nvGrpSpPr>
          <p:cNvPr id="10" name="Group 2">
            <a:extLst>
              <a:ext uri="{FF2B5EF4-FFF2-40B4-BE49-F238E27FC236}">
                <a16:creationId xmlns:a16="http://schemas.microsoft.com/office/drawing/2014/main" id="{E53EB289-05E0-4D78-8F23-B451FCE05C86}"/>
              </a:ext>
            </a:extLst>
          </p:cNvPr>
          <p:cNvGrpSpPr>
            <a:grpSpLocks/>
          </p:cNvGrpSpPr>
          <p:nvPr/>
        </p:nvGrpSpPr>
        <p:grpSpPr bwMode="auto">
          <a:xfrm>
            <a:off x="10754277" y="1299629"/>
            <a:ext cx="1263650" cy="3359150"/>
            <a:chOff x="3844" y="592"/>
            <a:chExt cx="796" cy="2116"/>
          </a:xfrm>
        </p:grpSpPr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35152E8E-D261-4277-9348-5C62D37C0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592"/>
              <a:ext cx="796" cy="316"/>
            </a:xfrm>
            <a:prstGeom prst="rect">
              <a:avLst/>
            </a:prstGeom>
            <a:solidFill>
              <a:schemeClr val="accent2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编辑</a:t>
              </a:r>
            </a:p>
          </p:txBody>
        </p: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4DC4D3AE-A9A3-4771-BA34-9C65F1888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1792"/>
              <a:ext cx="796" cy="316"/>
            </a:xfrm>
            <a:prstGeom prst="rect">
              <a:avLst/>
            </a:prstGeom>
            <a:solidFill>
              <a:schemeClr val="accent2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链接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AD68AA03-5994-487C-BFB5-C1D0CFF6B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1192"/>
              <a:ext cx="796" cy="316"/>
            </a:xfrm>
            <a:prstGeom prst="rect">
              <a:avLst/>
            </a:prstGeom>
            <a:solidFill>
              <a:schemeClr val="accent2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编译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BD8F98DC-ECED-4BA8-95A7-38910FE6F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2392"/>
              <a:ext cx="796" cy="316"/>
            </a:xfrm>
            <a:prstGeom prst="rect">
              <a:avLst/>
            </a:prstGeom>
            <a:solidFill>
              <a:schemeClr val="accent2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执行</a:t>
              </a:r>
            </a:p>
          </p:txBody>
        </p: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6A6674D9-C3E9-49DA-8466-A8C3AADD2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900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FF0066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AutoShape 8">
              <a:extLst>
                <a:ext uri="{FF2B5EF4-FFF2-40B4-BE49-F238E27FC236}">
                  <a16:creationId xmlns:a16="http://schemas.microsoft.com/office/drawing/2014/main" id="{3BEBD489-A843-4436-AA5D-7155953F8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1506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FF0066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34A618EB-8B2B-4F0E-A67F-5C2B867B2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2112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FF0066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F808E119-9368-442A-9CDB-F06F4DF3C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339" y="2186608"/>
            <a:ext cx="3327218" cy="3201601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53BB5A7-A339-4B21-BA0D-F1A94AD04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61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SubTitle_1">
            <a:extLst>
              <a:ext uri="{FF2B5EF4-FFF2-40B4-BE49-F238E27FC236}">
                <a16:creationId xmlns:a16="http://schemas.microsoft.com/office/drawing/2014/main" id="{319DE255-C192-468A-86A5-951D77038FF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13064" y="1129634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多读、多练</a:t>
            </a:r>
          </a:p>
        </p:txBody>
      </p:sp>
      <p:sp>
        <p:nvSpPr>
          <p:cNvPr id="5" name="MH_Text_1">
            <a:extLst>
              <a:ext uri="{FF2B5EF4-FFF2-40B4-BE49-F238E27FC236}">
                <a16:creationId xmlns:a16="http://schemas.microsoft.com/office/drawing/2014/main" id="{819ED945-7BCC-4E82-959E-CCF6E823684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13064" y="1658273"/>
            <a:ext cx="2159000" cy="33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rgbClr val="1B05EB"/>
                </a:solidFill>
                <a:latin typeface="+mn-lt"/>
                <a:ea typeface="+mn-ea"/>
              </a:rPr>
              <a:t>多读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优秀代码：熟练掌握例题、理解例题。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rgbClr val="1B05EB"/>
                </a:solidFill>
                <a:latin typeface="+mn-lt"/>
                <a:ea typeface="+mn-ea"/>
              </a:rPr>
              <a:t>多编写程序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：通过不断编写和调试程序，积累丰富的编写和调试程序的经验，掌握基本的程序设计思维。</a:t>
            </a:r>
          </a:p>
        </p:txBody>
      </p:sp>
      <p:sp>
        <p:nvSpPr>
          <p:cNvPr id="6" name="MH_SubTitle_2">
            <a:extLst>
              <a:ext uri="{FF2B5EF4-FFF2-40B4-BE49-F238E27FC236}">
                <a16:creationId xmlns:a16="http://schemas.microsoft.com/office/drawing/2014/main" id="{D728B569-27C8-4E26-93B1-571FDB76A62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22691" y="1129634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多总结</a:t>
            </a:r>
          </a:p>
        </p:txBody>
      </p:sp>
      <p:sp>
        <p:nvSpPr>
          <p:cNvPr id="7" name="MH_Text_2">
            <a:extLst>
              <a:ext uri="{FF2B5EF4-FFF2-40B4-BE49-F238E27FC236}">
                <a16:creationId xmlns:a16="http://schemas.microsoft.com/office/drawing/2014/main" id="{79B6C96F-87D0-495D-BD9F-8B7F2FE5693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22691" y="1658273"/>
            <a:ext cx="2159000" cy="33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对所学习到的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C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语言语法规则、基本算法和编写的程序及时进行</a:t>
            </a:r>
            <a:r>
              <a:rPr lang="zh-CN" altLang="en-US" sz="1800" b="1" dirty="0">
                <a:solidFill>
                  <a:srgbClr val="1B05EB"/>
                </a:solidFill>
                <a:latin typeface="+mn-lt"/>
                <a:ea typeface="+mn-ea"/>
              </a:rPr>
              <a:t>归纳总结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，理清知识脉络，</a:t>
            </a:r>
            <a:r>
              <a:rPr lang="zh-CN" altLang="en-US" sz="1800" b="1" dirty="0">
                <a:solidFill>
                  <a:srgbClr val="1B05EB"/>
                </a:solidFill>
                <a:latin typeface="+mn-lt"/>
                <a:ea typeface="+mn-ea"/>
              </a:rPr>
              <a:t>发现规律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，以便在编写新程序时做到游刃有余。</a:t>
            </a:r>
          </a:p>
        </p:txBody>
      </p:sp>
      <p:sp>
        <p:nvSpPr>
          <p:cNvPr id="8" name="MH_SubTitle_3">
            <a:extLst>
              <a:ext uri="{FF2B5EF4-FFF2-40B4-BE49-F238E27FC236}">
                <a16:creationId xmlns:a16="http://schemas.microsoft.com/office/drawing/2014/main" id="{B6D8262F-F0D6-4B6E-8E88-EAE5402C2C5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062334" y="1129634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多交流</a:t>
            </a:r>
          </a:p>
        </p:txBody>
      </p:sp>
      <p:sp>
        <p:nvSpPr>
          <p:cNvPr id="9" name="MH_Text_3">
            <a:extLst>
              <a:ext uri="{FF2B5EF4-FFF2-40B4-BE49-F238E27FC236}">
                <a16:creationId xmlns:a16="http://schemas.microsoft.com/office/drawing/2014/main" id="{909CCA5A-7D69-467F-BBE0-3D11B6C8B190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62334" y="1658273"/>
            <a:ext cx="2159000" cy="3316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遇到问题多与</a:t>
            </a:r>
            <a:r>
              <a:rPr lang="zh-CN" altLang="en-US" sz="1800" b="1" dirty="0">
                <a:solidFill>
                  <a:srgbClr val="1B05EB"/>
                </a:solidFill>
                <a:latin typeface="+mn-lt"/>
                <a:ea typeface="+mn-ea"/>
              </a:rPr>
              <a:t>同学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、</a:t>
            </a:r>
            <a:r>
              <a:rPr lang="zh-CN" altLang="en-US" sz="1800" b="1" dirty="0">
                <a:solidFill>
                  <a:srgbClr val="1B05EB"/>
                </a:solidFill>
                <a:latin typeface="+mn-lt"/>
                <a:ea typeface="+mn-ea"/>
              </a:rPr>
              <a:t>老师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进行交流，不要害怕犯错，还可通过</a:t>
            </a:r>
            <a:r>
              <a:rPr lang="zh-CN" altLang="en-US" sz="1800" b="1" dirty="0">
                <a:solidFill>
                  <a:srgbClr val="1B05EB"/>
                </a:solidFill>
                <a:latin typeface="+mn-lt"/>
                <a:ea typeface="+mn-ea"/>
              </a:rPr>
              <a:t>网络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获取自己感兴趣的知识，搜索自己遇到问题的解决办法。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1BB6DD1-7F64-4BAB-AC4F-1C3B845231CD}"/>
              </a:ext>
            </a:extLst>
          </p:cNvPr>
          <p:cNvGrpSpPr/>
          <p:nvPr/>
        </p:nvGrpSpPr>
        <p:grpSpPr>
          <a:xfrm>
            <a:off x="2513064" y="1561634"/>
            <a:ext cx="2160000" cy="96639"/>
            <a:chOff x="1797436" y="2162952"/>
            <a:chExt cx="2160000" cy="9663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D1F8DCC-82EE-4DAB-9333-0183146420FC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F4322CB-4F64-498E-986C-F5BBEA8578A3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A1199AC-0EBD-42DE-950F-9253FD8280B0}"/>
              </a:ext>
            </a:extLst>
          </p:cNvPr>
          <p:cNvGrpSpPr/>
          <p:nvPr/>
        </p:nvGrpSpPr>
        <p:grpSpPr>
          <a:xfrm>
            <a:off x="4822691" y="1546541"/>
            <a:ext cx="2160000" cy="96639"/>
            <a:chOff x="1797436" y="2162952"/>
            <a:chExt cx="2160000" cy="9663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EFE5E5D-2775-4CB8-A59B-B14304BE6E56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CFC1D0C-2BEB-40C3-B870-24D989E923FD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D69D68-985B-4A9C-8447-46692D04A787}"/>
              </a:ext>
            </a:extLst>
          </p:cNvPr>
          <p:cNvGrpSpPr/>
          <p:nvPr/>
        </p:nvGrpSpPr>
        <p:grpSpPr>
          <a:xfrm>
            <a:off x="7062334" y="1561634"/>
            <a:ext cx="2160000" cy="96639"/>
            <a:chOff x="1797436" y="2162952"/>
            <a:chExt cx="2160000" cy="9663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BDFF355-CC10-4E1F-943B-6A03F7082799}"/>
                </a:ext>
              </a:extLst>
            </p:cNvPr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4D9B29C-E242-4DEF-9B27-38307DC6CFAF}"/>
                </a:ext>
              </a:extLst>
            </p:cNvPr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E3D80C16-D3C5-4663-8ACE-E4C6BC748B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1017" y="1431890"/>
            <a:ext cx="2560983" cy="3430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E0547B7-5F64-45DB-8629-4528C1A339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7455" y="1335252"/>
            <a:ext cx="2311796" cy="3252380"/>
          </a:xfrm>
          <a:prstGeom prst="rect">
            <a:avLst/>
          </a:prstGeom>
        </p:spPr>
      </p:pic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7E5546D7-D282-4308-B878-30B8F03A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013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8571D9F-6DE4-416C-B033-580CE0B68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6" y="742572"/>
            <a:ext cx="6597989" cy="3911801"/>
          </a:xfrm>
          <a:prstGeom prst="rect">
            <a:avLst/>
          </a:prstGeom>
        </p:spPr>
      </p:pic>
      <p:sp>
        <p:nvSpPr>
          <p:cNvPr id="7" name="MH_SubTitle_1">
            <a:extLst>
              <a:ext uri="{FF2B5EF4-FFF2-40B4-BE49-F238E27FC236}">
                <a16:creationId xmlns:a16="http://schemas.microsoft.com/office/drawing/2014/main" id="{781FF5EF-A4D1-46D2-A7BC-A6510FC2D12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48616" y="3576258"/>
            <a:ext cx="5314013" cy="17406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程序铭牌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包含程序的名称、主要实现功能、作者、编写日期等文档说明。一般放在程序开头并以注释的形式出现，以帮助阅读该程序的人对其有一个基本的了解。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5C23C4-69F6-45C7-9E9C-BDEE6B41485E}"/>
              </a:ext>
            </a:extLst>
          </p:cNvPr>
          <p:cNvSpPr/>
          <p:nvPr/>
        </p:nvSpPr>
        <p:spPr>
          <a:xfrm>
            <a:off x="504966" y="742572"/>
            <a:ext cx="5991084" cy="16482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CD44BC86-37B9-4635-8497-186024471285}"/>
              </a:ext>
            </a:extLst>
          </p:cNvPr>
          <p:cNvSpPr/>
          <p:nvPr/>
        </p:nvSpPr>
        <p:spPr>
          <a:xfrm rot="13923770">
            <a:off x="6286529" y="2797016"/>
            <a:ext cx="1351182" cy="369819"/>
          </a:xfrm>
          <a:prstGeom prst="rightArrow">
            <a:avLst>
              <a:gd name="adj1" fmla="val 50000"/>
              <a:gd name="adj2" fmla="val 1384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8A6846D-529C-4362-96F8-A9794C05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0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3315E73-7A13-403D-8890-F3035A092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0F10C-2D5D-48C4-B010-D07BF26B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370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Title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Text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Text"/>
  <p:tag name="MH_ORDER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SubTitle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SubTitle"/>
  <p:tag name="MH_ORDER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和目录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1973</Words>
  <Application>Microsoft Office PowerPoint</Application>
  <PresentationFormat>宽屏</PresentationFormat>
  <Paragraphs>216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等线</vt:lpstr>
      <vt:lpstr>等线 Light</vt:lpstr>
      <vt:lpstr>华文行楷</vt:lpstr>
      <vt:lpstr>华文中宋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Office 主题​​</vt:lpstr>
      <vt:lpstr>封面和目录​​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WJQ</dc:creator>
  <cp:lastModifiedBy>WJQ</cp:lastModifiedBy>
  <cp:revision>78</cp:revision>
  <dcterms:created xsi:type="dcterms:W3CDTF">2022-05-18T03:53:29Z</dcterms:created>
  <dcterms:modified xsi:type="dcterms:W3CDTF">2023-02-08T04:24:58Z</dcterms:modified>
</cp:coreProperties>
</file>