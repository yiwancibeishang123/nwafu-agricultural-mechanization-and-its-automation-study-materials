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674" r:id="rId2"/>
  </p:sldMasterIdLst>
  <p:notesMasterIdLst>
    <p:notesMasterId r:id="rId58"/>
  </p:notesMasterIdLst>
  <p:sldIdLst>
    <p:sldId id="258" r:id="rId3"/>
    <p:sldId id="259" r:id="rId4"/>
    <p:sldId id="256" r:id="rId5"/>
    <p:sldId id="260" r:id="rId6"/>
    <p:sldId id="261" r:id="rId7"/>
    <p:sldId id="262" r:id="rId8"/>
    <p:sldId id="263" r:id="rId9"/>
    <p:sldId id="264" r:id="rId10"/>
    <p:sldId id="275" r:id="rId11"/>
    <p:sldId id="277" r:id="rId12"/>
    <p:sldId id="269" r:id="rId13"/>
    <p:sldId id="278" r:id="rId14"/>
    <p:sldId id="279" r:id="rId15"/>
    <p:sldId id="270" r:id="rId16"/>
    <p:sldId id="268" r:id="rId17"/>
    <p:sldId id="280" r:id="rId18"/>
    <p:sldId id="281" r:id="rId19"/>
    <p:sldId id="271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82" r:id="rId30"/>
    <p:sldId id="272" r:id="rId31"/>
    <p:sldId id="299" r:id="rId32"/>
    <p:sldId id="301" r:id="rId33"/>
    <p:sldId id="304" r:id="rId34"/>
    <p:sldId id="305" r:id="rId35"/>
    <p:sldId id="298" r:id="rId36"/>
    <p:sldId id="307" r:id="rId37"/>
    <p:sldId id="306" r:id="rId38"/>
    <p:sldId id="294" r:id="rId39"/>
    <p:sldId id="293" r:id="rId40"/>
    <p:sldId id="308" r:id="rId41"/>
    <p:sldId id="309" r:id="rId42"/>
    <p:sldId id="310" r:id="rId43"/>
    <p:sldId id="315" r:id="rId44"/>
    <p:sldId id="312" r:id="rId45"/>
    <p:sldId id="311" r:id="rId46"/>
    <p:sldId id="314" r:id="rId47"/>
    <p:sldId id="316" r:id="rId48"/>
    <p:sldId id="318" r:id="rId49"/>
    <p:sldId id="325" r:id="rId50"/>
    <p:sldId id="319" r:id="rId51"/>
    <p:sldId id="317" r:id="rId52"/>
    <p:sldId id="320" r:id="rId53"/>
    <p:sldId id="326" r:id="rId54"/>
    <p:sldId id="273" r:id="rId55"/>
    <p:sldId id="274" r:id="rId56"/>
    <p:sldId id="324" r:id="rId5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368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BEE425-BF42-4068-87C2-E75EA102A699}" type="datetimeFigureOut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76453-3C94-43D2-B70F-282310072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017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76453-3C94-43D2-B70F-28231007256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461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D8FCAE-9FB0-4A30-B3FE-9D7E37874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9F73E-4901-4C73-A786-09F5667F21C0}" type="datetime1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982FBA-F4DB-445D-BAB7-4C15F4CBC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42403A-59F3-4AA0-8F78-F51244086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229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85AD98-69D5-439C-ADC1-743F29D8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FDDA5-9696-49F2-8EC9-183679C979DF}" type="datetime1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D1354-29A7-4643-B6C1-32382E1D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AEB037-461D-429F-8082-F720791B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822506-8548-47C9-96B3-F599735D716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490765" y="212568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2.1 C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语言的字符集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8547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3FA059-870D-4292-A70A-5EE6714E8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8EED-4B9C-409A-92B1-4B453415C9C0}" type="datetime1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6CB6F7-F362-4D93-9378-013E4CC0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70A133-4E57-4FDC-820B-D6C2CB616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F6A6BA4-A9C2-414A-9E2C-D7EE118DC4D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490765" y="212568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2.2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标识符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  </a:t>
            </a: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5049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3FA059-870D-4292-A70A-5EE6714E8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39B5A-A69E-4545-9BE3-68ED047EA786}" type="datetime1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6CB6F7-F362-4D93-9378-013E4CC0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70A133-4E57-4FDC-820B-D6C2CB616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F6A6BA4-A9C2-414A-9E2C-D7EE118DC4D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490765" y="212568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2.3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数据与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语言的数据类型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  </a:t>
            </a: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5143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3FA059-870D-4292-A70A-5EE6714E8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70144-AD77-4E91-BBA8-9727A3332CB4}" type="datetime1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6CB6F7-F362-4D93-9378-013E4CC0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70A133-4E57-4FDC-820B-D6C2CB616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F6A6BA4-A9C2-414A-9E2C-D7EE118DC4D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490765" y="212568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2.4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常量</a:t>
            </a:r>
          </a:p>
        </p:txBody>
      </p:sp>
    </p:spTree>
    <p:extLst>
      <p:ext uri="{BB962C8B-B14F-4D97-AF65-F5344CB8AC3E}">
        <p14:creationId xmlns:p14="http://schemas.microsoft.com/office/powerpoint/2010/main" val="781317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3FA059-870D-4292-A70A-5EE6714E8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C0726-D3F2-4347-A481-80DB0EEC5F78}" type="datetime1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6CB6F7-F362-4D93-9378-013E4CC0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70A133-4E57-4FDC-820B-D6C2CB616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F6A6BA4-A9C2-414A-9E2C-D7EE118DC4D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490765" y="212568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2.5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变量</a:t>
            </a:r>
          </a:p>
        </p:txBody>
      </p:sp>
    </p:spTree>
    <p:extLst>
      <p:ext uri="{BB962C8B-B14F-4D97-AF65-F5344CB8AC3E}">
        <p14:creationId xmlns:p14="http://schemas.microsoft.com/office/powerpoint/2010/main" val="3171418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3FA059-870D-4292-A70A-5EE6714E8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C54E4-29FE-4A4D-8386-4554F4F613C6}" type="datetime1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6CB6F7-F362-4D93-9378-013E4CC0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70A133-4E57-4FDC-820B-D6C2CB616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F6A6BA4-A9C2-414A-9E2C-D7EE118DC4D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490765" y="212568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2.6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运算符</a:t>
            </a:r>
          </a:p>
        </p:txBody>
      </p:sp>
    </p:spTree>
    <p:extLst>
      <p:ext uri="{BB962C8B-B14F-4D97-AF65-F5344CB8AC3E}">
        <p14:creationId xmlns:p14="http://schemas.microsoft.com/office/powerpoint/2010/main" val="2454076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3FA059-870D-4292-A70A-5EE6714E8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F1C7B-F802-46F0-8DC2-46F3F2381CFA}" type="datetime1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6CB6F7-F362-4D93-9378-013E4CC0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70A133-4E57-4FDC-820B-D6C2CB616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/54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F6A6BA4-A9C2-414A-9E2C-D7EE118DC4D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490765" y="212568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2.7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数据的输入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输出</a:t>
            </a:r>
          </a:p>
        </p:txBody>
      </p:sp>
    </p:spTree>
    <p:extLst>
      <p:ext uri="{BB962C8B-B14F-4D97-AF65-F5344CB8AC3E}">
        <p14:creationId xmlns:p14="http://schemas.microsoft.com/office/powerpoint/2010/main" val="2432698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3FA059-870D-4292-A70A-5EE6714E8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C83BC-990C-45E0-836C-A477DC9A476B}" type="datetime1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6CB6F7-F362-4D93-9378-013E4CC0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70A133-4E57-4FDC-820B-D6C2CB616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F6A6BA4-A9C2-414A-9E2C-D7EE118DC4D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490765" y="212568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2.8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案例：鸡兔同笼</a:t>
            </a:r>
          </a:p>
        </p:txBody>
      </p:sp>
    </p:spTree>
    <p:extLst>
      <p:ext uri="{BB962C8B-B14F-4D97-AF65-F5344CB8AC3E}">
        <p14:creationId xmlns:p14="http://schemas.microsoft.com/office/powerpoint/2010/main" val="1017991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474AD4-ABEC-4485-9109-4AE1AAB0B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83F6B7-5C12-4E4E-9073-580CA6A41A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5D7BC1-B809-427C-9F08-510A04669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7CC42-6C61-4C35-989C-DDE797C0BF82}" type="datetime1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4B585E-11DE-411B-9226-2007BA335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1E87E3-3726-463C-BE2B-B558CD0A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第</a:t>
            </a:r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zh-CN" altLang="en-US" dirty="0"/>
              <a:t>页，共</a:t>
            </a:r>
            <a:r>
              <a:rPr lang="en-US" altLang="zh-CN" dirty="0"/>
              <a:t>30</a:t>
            </a:r>
            <a:r>
              <a:rPr lang="zh-CN" altLang="en-US" dirty="0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60990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DEB9E2-C450-47A8-A070-C84B3E169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B6C178-61D5-475A-92D0-6FE43A909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87448E-A19A-4D08-9F63-676999401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F810C-B194-4107-9396-B67A9CECB5F1}" type="datetime1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7C253-9065-4B49-AC33-40A8A2CD3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F778CF-3F9A-4D9C-AEFB-1138D1787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第</a:t>
            </a:r>
            <a:fld id="{2FA56C3F-F0F5-411B-954C-A2CFDC009DCE}" type="slidenum">
              <a:rPr lang="zh-CN" altLang="en-US" smtClean="0"/>
              <a:pPr/>
              <a:t>‹#›</a:t>
            </a:fld>
            <a:r>
              <a:rPr lang="zh-CN" altLang="en-US" dirty="0"/>
              <a:t>页，共</a:t>
            </a:r>
            <a:r>
              <a:rPr lang="en-US" altLang="zh-CN" dirty="0"/>
              <a:t>30</a:t>
            </a:r>
            <a:r>
              <a:rPr lang="zh-CN" altLang="en-US" dirty="0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502593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B1310-1A44-48D4-892F-24533F540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2CA674-3E89-404D-AA3A-E868A1B05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5BBCEA-3375-4D2D-B9E1-379CB790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B845-645A-41BF-9C1F-88E258561670}" type="datetime1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C48294-AC7E-42E0-8D1E-1C999923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0EBAF8-F76E-411F-9A2A-9733F2A8F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882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ABAC20-CA2A-4C18-8402-5BA522831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492BEE-0382-41FD-9A45-E74EA7E63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B555AA-23E9-4B88-B631-DFC927C3B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7E48C7-F411-4AB4-A507-487EE2110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B0D5B-9E9B-4D2E-BA5A-7E6C97AA42A8}" type="datetime1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D71B4C-5F2B-4E30-8242-5CEFAA0E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2D771C-A0E3-44B3-B5E2-B88352CE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001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BF824-47E5-4895-AC55-60DAEF4E0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0100"/>
            <a:ext cx="10515600" cy="823912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075336-BDB4-47C1-A61C-8B723885C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30ED25-EC93-42FC-BF5E-F0792C724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861F66-EBC8-4197-B543-F620403FA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AE16E24-B549-438C-8C81-41A92A023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11A5AA-4A79-45C7-9D86-A03ECF8FA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00CC5-CBDD-4E86-9334-2AD9B8DF8AA0}" type="datetime1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22F7098-7947-4E53-A9AC-CC953797B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CFCE883-2C8A-4773-B3DD-76F57611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115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81F315-15CF-4F24-B2C6-0B5210ED2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9150"/>
            <a:ext cx="10515600" cy="871538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58A7ED-2843-4FFB-9319-3B46B0CCF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357B-15F8-4A77-A8BE-114F3318A50F}" type="datetime1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F55942-357E-4A3E-A232-70DACE9B1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FB4F34-C7D5-43BB-AED7-6EC34FE60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5094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CDAFB-415E-4AC6-9360-019C0E570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47724"/>
            <a:ext cx="3932237" cy="12096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E44F90-2B3F-428E-969E-57B07A694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847725"/>
            <a:ext cx="6172200" cy="50133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D96DF2-0BD2-45EC-9813-593930721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66C782-FD0C-48A3-956A-80A343DB0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8504-5A3A-4B33-B920-0A7C2EA10485}" type="datetime1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4B88A7-4A15-42F8-8937-61508769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908464-7DBC-45AC-8201-DE0C2DBB7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141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1959B7-240A-440C-A694-FAA58C73D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E7A531-93E7-47E5-8D8A-7E4689D137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67025A-5FF7-4210-9C63-3B4C50AF9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0836E2-F1D0-4D62-B64E-9BAA3610E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E3CA-A414-4A8F-929E-CF26C68F5F7E}" type="datetime1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A5121E-A953-4F21-A73A-64F892D89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B3BC5F-3C5E-452A-AF6C-E40B0A85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1740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3359D-6FC8-48ED-8BCF-54450B4D1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9150"/>
            <a:ext cx="10515600" cy="8715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C3A34-15A1-46D5-8CD5-71A387CD5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B48492-6DB5-4CF1-8F9D-5A9CFCC67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7013C-3E2F-4C0F-94F5-2DEACE0502A7}" type="datetime1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57DAC6-B655-4BF5-A955-6D622CBF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002F96-4A72-4DD2-B3E9-B893B8488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247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51AEE16-01E3-43EC-BC25-37934156E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6245"/>
            <a:ext cx="2628900" cy="534071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88E6E2-76C5-4659-8E75-14D8BFF92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36245"/>
            <a:ext cx="7734300" cy="534071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2BD946-8A09-4235-8744-79EC63664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1E98-A5BA-4D78-86D3-BD1BF17974E4}" type="datetime1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3F3E54-4815-4109-B7F2-744E4C443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D44857-0F28-459B-BA4E-04E04401D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63605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46A57981-622F-4C85-AAC3-86D82916A7C7}"/>
              </a:ext>
            </a:extLst>
          </p:cNvPr>
          <p:cNvGrpSpPr/>
          <p:nvPr userDrawn="1"/>
        </p:nvGrpSpPr>
        <p:grpSpPr>
          <a:xfrm>
            <a:off x="0" y="1354137"/>
            <a:ext cx="12191999" cy="2936187"/>
            <a:chOff x="1856581" y="1077913"/>
            <a:chExt cx="9145588" cy="2830233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5F3B009-7F7D-4A6B-90A7-EAC230DAC673}"/>
                </a:ext>
              </a:extLst>
            </p:cNvPr>
            <p:cNvGrpSpPr/>
            <p:nvPr userDrawn="1"/>
          </p:nvGrpSpPr>
          <p:grpSpPr>
            <a:xfrm>
              <a:off x="1856581" y="1077913"/>
              <a:ext cx="9145588" cy="2798762"/>
              <a:chOff x="0" y="1487488"/>
              <a:chExt cx="9145588" cy="2798762"/>
            </a:xfrm>
          </p:grpSpPr>
          <p:sp>
            <p:nvSpPr>
              <p:cNvPr id="6" name="矩形 4">
                <a:extLst>
                  <a:ext uri="{FF2B5EF4-FFF2-40B4-BE49-F238E27FC236}">
                    <a16:creationId xmlns:a16="http://schemas.microsoft.com/office/drawing/2014/main" id="{3A9F79D7-EE70-44C6-87A7-3A5349DBDB9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588" y="1625600"/>
                <a:ext cx="9144000" cy="2484438"/>
              </a:xfrm>
              <a:prstGeom prst="rect">
                <a:avLst/>
              </a:prstGeom>
              <a:solidFill>
                <a:srgbClr val="0070C0"/>
              </a:solidFill>
              <a:ln w="25400">
                <a:solidFill>
                  <a:srgbClr val="0070C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宋体" pitchFamily="2" charset="-122"/>
                  <a:ea typeface="宋体" pitchFamily="2" charset="-122"/>
                  <a:sym typeface="宋体" pitchFamily="2" charset="-122"/>
                </a:endParaRPr>
              </a:p>
            </p:txBody>
          </p:sp>
          <p:sp>
            <p:nvSpPr>
              <p:cNvPr id="7" name="矩形 5">
                <a:extLst>
                  <a:ext uri="{FF2B5EF4-FFF2-40B4-BE49-F238E27FC236}">
                    <a16:creationId xmlns:a16="http://schemas.microsoft.com/office/drawing/2014/main" id="{EBB45569-6700-4093-9D14-557B47137CD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4232275"/>
                <a:ext cx="9144000" cy="53975"/>
              </a:xfrm>
              <a:prstGeom prst="rect">
                <a:avLst/>
              </a:prstGeom>
              <a:solidFill>
                <a:srgbClr val="0070C0"/>
              </a:solidFill>
              <a:ln w="25400">
                <a:solidFill>
                  <a:srgbClr val="0070C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宋体" pitchFamily="2" charset="-122"/>
                  <a:ea typeface="宋体" pitchFamily="2" charset="-122"/>
                  <a:sym typeface="宋体" pitchFamily="2" charset="-122"/>
                </a:endParaRPr>
              </a:p>
            </p:txBody>
          </p:sp>
          <p:sp>
            <p:nvSpPr>
              <p:cNvPr id="8" name="矩形 6">
                <a:extLst>
                  <a:ext uri="{FF2B5EF4-FFF2-40B4-BE49-F238E27FC236}">
                    <a16:creationId xmlns:a16="http://schemas.microsoft.com/office/drawing/2014/main" id="{EAA0AD1C-D43A-4CDC-9212-0D5DC7E6024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87488"/>
                <a:ext cx="9144000" cy="53975"/>
              </a:xfrm>
              <a:prstGeom prst="rect">
                <a:avLst/>
              </a:prstGeom>
              <a:solidFill>
                <a:srgbClr val="0070C0"/>
              </a:solidFill>
              <a:ln w="25400">
                <a:solidFill>
                  <a:srgbClr val="0070C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宋体" pitchFamily="2" charset="-122"/>
                  <a:ea typeface="宋体" pitchFamily="2" charset="-122"/>
                  <a:sym typeface="宋体" pitchFamily="2" charset="-122"/>
                </a:endParaRPr>
              </a:p>
            </p:txBody>
          </p:sp>
        </p:grpSp>
        <p:sp>
          <p:nvSpPr>
            <p:cNvPr id="10" name="WordArt 8">
              <a:extLst>
                <a:ext uri="{FF2B5EF4-FFF2-40B4-BE49-F238E27FC236}">
                  <a16:creationId xmlns:a16="http://schemas.microsoft.com/office/drawing/2014/main" id="{CB95522C-BFEF-4FEE-99E2-3D87100C4D60}"/>
                </a:ext>
              </a:extLst>
            </p:cNvPr>
            <p:cNvSpPr>
              <a:spLocks noChangeArrowheads="1" noChangeShapeType="1" noTextEdit="1"/>
            </p:cNvSpPr>
            <p:nvPr userDrawn="1"/>
          </p:nvSpPr>
          <p:spPr bwMode="auto">
            <a:xfrm>
              <a:off x="2581568" y="2539721"/>
              <a:ext cx="7848600" cy="1368425"/>
            </a:xfrm>
            <a:prstGeom prst="rect">
              <a:avLst/>
            </a:prstGeom>
          </p:spPr>
          <p:txBody>
            <a:bodyPr spcFirstLastPara="1" wrap="none" fromWordArt="1">
              <a:prstTxWarp prst="textArchUp">
                <a:avLst>
                  <a:gd name="adj" fmla="val 10800000"/>
                </a:avLst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en-US" altLang="zh-CN" sz="3600" kern="10" dirty="0">
                  <a:ln w="12700">
                    <a:solidFill>
                      <a:srgbClr val="EAEAEA"/>
                    </a:solidFill>
                    <a:round/>
                    <a:headEnd type="none" w="sm" len="sm"/>
                    <a:tailEnd type="none" w="sm" len="sm"/>
                  </a:ln>
                  <a:gradFill rotWithShape="0">
                    <a:gsLst>
                      <a:gs pos="0">
                        <a:srgbClr val="A603AB"/>
                      </a:gs>
                      <a:gs pos="12000">
                        <a:srgbClr val="E81766"/>
                      </a:gs>
                      <a:gs pos="27000">
                        <a:srgbClr val="EE3F17"/>
                      </a:gs>
                      <a:gs pos="48000">
                        <a:srgbClr val="FFFF00"/>
                      </a:gs>
                      <a:gs pos="64999">
                        <a:srgbClr val="1A8D48"/>
                      </a:gs>
                      <a:gs pos="78999">
                        <a:srgbClr val="0819FB"/>
                      </a:gs>
                      <a:gs pos="100000">
                        <a:srgbClr val="A603AB"/>
                      </a:gs>
                    </a:gsLst>
                    <a:lin ang="0" scaled="1"/>
                  </a:gradFill>
                  <a:effectLst>
                    <a:outerShdw dist="35921" dir="2700000" sy="50000" kx="2115830" algn="bl" rotWithShape="0">
                      <a:srgbClr val="C0C0C0">
                        <a:alpha val="80000"/>
                      </a:srgbClr>
                    </a:outerShdw>
                  </a:effectLst>
                  <a:latin typeface="华文行楷"/>
                  <a:ea typeface="华文行楷"/>
                </a:rPr>
                <a:t>C</a:t>
              </a:r>
              <a:r>
                <a:rPr lang="zh-CN" altLang="en-US" sz="3600" kern="10" dirty="0">
                  <a:ln w="12700">
                    <a:solidFill>
                      <a:srgbClr val="EAEAEA"/>
                    </a:solidFill>
                    <a:round/>
                    <a:headEnd type="none" w="sm" len="sm"/>
                    <a:tailEnd type="none" w="sm" len="sm"/>
                  </a:ln>
                  <a:gradFill rotWithShape="0">
                    <a:gsLst>
                      <a:gs pos="0">
                        <a:srgbClr val="A603AB"/>
                      </a:gs>
                      <a:gs pos="12000">
                        <a:srgbClr val="E81766"/>
                      </a:gs>
                      <a:gs pos="27000">
                        <a:srgbClr val="EE3F17"/>
                      </a:gs>
                      <a:gs pos="48000">
                        <a:srgbClr val="FFFF00"/>
                      </a:gs>
                      <a:gs pos="64999">
                        <a:srgbClr val="1A8D48"/>
                      </a:gs>
                      <a:gs pos="78999">
                        <a:srgbClr val="0819FB"/>
                      </a:gs>
                      <a:gs pos="100000">
                        <a:srgbClr val="A603AB"/>
                      </a:gs>
                    </a:gsLst>
                    <a:lin ang="0" scaled="1"/>
                  </a:gradFill>
                  <a:effectLst>
                    <a:outerShdw dist="35921" dir="2700000" sy="50000" kx="2115830" algn="bl" rotWithShape="0">
                      <a:srgbClr val="C0C0C0">
                        <a:alpha val="80000"/>
                      </a:srgbClr>
                    </a:outerShdw>
                  </a:effectLst>
                  <a:latin typeface="华文行楷"/>
                  <a:ea typeface="华文行楷"/>
                </a:rPr>
                <a:t>语言程序设计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7101706-0246-4D72-A2BC-98A80CFACEB4}"/>
              </a:ext>
            </a:extLst>
          </p:cNvPr>
          <p:cNvGrpSpPr/>
          <p:nvPr userDrawn="1"/>
        </p:nvGrpSpPr>
        <p:grpSpPr>
          <a:xfrm>
            <a:off x="-1" y="4685984"/>
            <a:ext cx="12192001" cy="1315043"/>
            <a:chOff x="1637409" y="5066644"/>
            <a:chExt cx="6737987" cy="1315043"/>
          </a:xfrm>
        </p:grpSpPr>
        <p:sp>
          <p:nvSpPr>
            <p:cNvPr id="13" name="TextBox 8">
              <a:extLst>
                <a:ext uri="{FF2B5EF4-FFF2-40B4-BE49-F238E27FC236}">
                  <a16:creationId xmlns:a16="http://schemas.microsoft.com/office/drawing/2014/main" id="{99BD6CD0-C9AC-44D9-B12D-81931EEEE37F}"/>
                </a:ext>
              </a:extLst>
            </p:cNvPr>
            <p:cNvSpPr txBox="1"/>
            <p:nvPr/>
          </p:nvSpPr>
          <p:spPr>
            <a:xfrm>
              <a:off x="1637409" y="5066644"/>
              <a:ext cx="67368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2800" b="1" dirty="0">
                  <a:solidFill>
                    <a:srgbClr val="0000FF"/>
                  </a:solidFill>
                  <a:latin typeface="Arial" pitchFamily="34" charset="0"/>
                  <a:ea typeface="宋体" pitchFamily="2" charset="-122"/>
                </a:rPr>
                <a:t>主讲：吴锦桥</a:t>
              </a:r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E2549B70-5E95-4C4F-A488-F377B7D57E38}"/>
                </a:ext>
              </a:extLst>
            </p:cNvPr>
            <p:cNvSpPr txBox="1"/>
            <p:nvPr/>
          </p:nvSpPr>
          <p:spPr>
            <a:xfrm>
              <a:off x="1638581" y="5858467"/>
              <a:ext cx="67368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2800" dirty="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西北农林科技大学 信息工程学院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AD9F945-ED18-412B-ADFB-CA000B285FB1}"/>
              </a:ext>
            </a:extLst>
          </p:cNvPr>
          <p:cNvGrpSpPr/>
          <p:nvPr userDrawn="1"/>
        </p:nvGrpSpPr>
        <p:grpSpPr>
          <a:xfrm>
            <a:off x="0" y="6567544"/>
            <a:ext cx="12192000" cy="290456"/>
            <a:chOff x="0" y="6567544"/>
            <a:chExt cx="12192000" cy="290456"/>
          </a:xfrm>
        </p:grpSpPr>
        <p:sp>
          <p:nvSpPr>
            <p:cNvPr id="15" name="梯形 14">
              <a:extLst>
                <a:ext uri="{FF2B5EF4-FFF2-40B4-BE49-F238E27FC236}">
                  <a16:creationId xmlns:a16="http://schemas.microsoft.com/office/drawing/2014/main" id="{D7F3770B-929D-4134-ABD8-02B82F6E9969}"/>
                </a:ext>
              </a:extLst>
            </p:cNvPr>
            <p:cNvSpPr/>
            <p:nvPr userDrawn="1"/>
          </p:nvSpPr>
          <p:spPr>
            <a:xfrm>
              <a:off x="3058085" y="6567544"/>
              <a:ext cx="6279777" cy="290456"/>
            </a:xfrm>
            <a:prstGeom prst="trapezoid">
              <a:avLst/>
            </a:prstGeom>
            <a:solidFill>
              <a:srgbClr val="00A3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928126A-0445-4067-A91E-6E9403A4BC26}"/>
                </a:ext>
              </a:extLst>
            </p:cNvPr>
            <p:cNvSpPr/>
            <p:nvPr userDrawn="1"/>
          </p:nvSpPr>
          <p:spPr>
            <a:xfrm>
              <a:off x="0" y="6669741"/>
              <a:ext cx="12192000" cy="188259"/>
            </a:xfrm>
            <a:prstGeom prst="rect">
              <a:avLst/>
            </a:prstGeom>
            <a:solidFill>
              <a:srgbClr val="056AC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1DA33834-D47B-4A39-AFBF-0707B98EF227}"/>
              </a:ext>
            </a:extLst>
          </p:cNvPr>
          <p:cNvSpPr/>
          <p:nvPr userDrawn="1"/>
        </p:nvSpPr>
        <p:spPr>
          <a:xfrm>
            <a:off x="0" y="0"/>
            <a:ext cx="12192000" cy="51099"/>
          </a:xfrm>
          <a:prstGeom prst="rect">
            <a:avLst/>
          </a:prstGeom>
          <a:solidFill>
            <a:srgbClr val="00A3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14713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>
            <a:extLst>
              <a:ext uri="{FF2B5EF4-FFF2-40B4-BE49-F238E27FC236}">
                <a16:creationId xmlns:a16="http://schemas.microsoft.com/office/drawing/2014/main" id="{A406FEC5-3B86-47F4-9DE8-AD14B42FD340}"/>
              </a:ext>
            </a:extLst>
          </p:cNvPr>
          <p:cNvSpPr/>
          <p:nvPr userDrawn="1"/>
        </p:nvSpPr>
        <p:spPr>
          <a:xfrm rot="10800000">
            <a:off x="1867" y="0"/>
            <a:ext cx="4715435" cy="6858000"/>
          </a:xfrm>
          <a:prstGeom prst="rect">
            <a:avLst/>
          </a:prstGeom>
          <a:gradFill>
            <a:gsLst>
              <a:gs pos="100000">
                <a:srgbClr val="00B0F0">
                  <a:alpha val="0"/>
                </a:srgbClr>
              </a:gs>
              <a:gs pos="0">
                <a:srgbClr val="00B0F0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D46F347A-A251-4B8B-B4C7-ED6BAEA25E8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318000" y="809459"/>
            <a:ext cx="93953" cy="5784290"/>
          </a:xfrm>
          <a:custGeom>
            <a:avLst/>
            <a:gdLst>
              <a:gd name="T0" fmla="*/ 0 w 153"/>
              <a:gd name="T1" fmla="*/ 0 h 6522"/>
              <a:gd name="T2" fmla="*/ 2147483647 w 153"/>
              <a:gd name="T3" fmla="*/ 0 h 6522"/>
              <a:gd name="T4" fmla="*/ 2147483647 w 153"/>
              <a:gd name="T5" fmla="*/ 2147483647 h 6522"/>
              <a:gd name="T6" fmla="*/ 0 w 153"/>
              <a:gd name="T7" fmla="*/ 2147483647 h 6522"/>
              <a:gd name="T8" fmla="*/ 0 w 153"/>
              <a:gd name="T9" fmla="*/ 0 h 6522"/>
              <a:gd name="T10" fmla="*/ 2147483647 w 153"/>
              <a:gd name="T11" fmla="*/ 0 h 6522"/>
              <a:gd name="T12" fmla="*/ 2147483647 w 153"/>
              <a:gd name="T13" fmla="*/ 0 h 6522"/>
              <a:gd name="T14" fmla="*/ 2147483647 w 153"/>
              <a:gd name="T15" fmla="*/ 2147483647 h 6522"/>
              <a:gd name="T16" fmla="*/ 2147483647 w 153"/>
              <a:gd name="T17" fmla="*/ 2147483647 h 6522"/>
              <a:gd name="T18" fmla="*/ 2147483647 w 153"/>
              <a:gd name="T19" fmla="*/ 0 h 652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3" h="6522">
                <a:moveTo>
                  <a:pt x="0" y="0"/>
                </a:moveTo>
                <a:lnTo>
                  <a:pt x="61" y="0"/>
                </a:lnTo>
                <a:lnTo>
                  <a:pt x="61" y="6522"/>
                </a:lnTo>
                <a:lnTo>
                  <a:pt x="0" y="6522"/>
                </a:lnTo>
                <a:lnTo>
                  <a:pt x="0" y="0"/>
                </a:lnTo>
                <a:close/>
                <a:moveTo>
                  <a:pt x="131" y="0"/>
                </a:moveTo>
                <a:lnTo>
                  <a:pt x="153" y="0"/>
                </a:lnTo>
                <a:lnTo>
                  <a:pt x="153" y="6522"/>
                </a:lnTo>
                <a:lnTo>
                  <a:pt x="131" y="6522"/>
                </a:lnTo>
                <a:lnTo>
                  <a:pt x="131" y="0"/>
                </a:lnTo>
                <a:close/>
              </a:path>
            </a:pathLst>
          </a:custGeom>
          <a:solidFill>
            <a:srgbClr val="2E2C2C"/>
          </a:solidFill>
          <a:ln w="9525">
            <a:noFill/>
            <a:round/>
          </a:ln>
        </p:spPr>
        <p:txBody>
          <a:bodyPr/>
          <a:lstStyle/>
          <a:p>
            <a:pPr>
              <a:defRPr/>
            </a:pPr>
            <a:endParaRPr lang="zh-CN" altLang="en-US" kern="0">
              <a:solidFill>
                <a:sysClr val="windowText" lastClr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F942DE91-6A52-4F3E-B751-25D294D178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27052" y="930536"/>
            <a:ext cx="503236" cy="504825"/>
          </a:xfrm>
          <a:prstGeom prst="ellipse">
            <a:avLst/>
          </a:prstGeom>
          <a:solidFill>
            <a:srgbClr val="FFFFFF"/>
          </a:solidFill>
          <a:ln w="9525">
            <a:noFill/>
            <a:round/>
          </a:ln>
        </p:spPr>
        <p:txBody>
          <a:bodyPr/>
          <a:lstStyle/>
          <a:p>
            <a:pPr>
              <a:defRPr/>
            </a:pPr>
            <a:endParaRPr lang="zh-CN" altLang="en-US" sz="2800" kern="0">
              <a:solidFill>
                <a:sysClr val="windowText" lastClr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866AD108-1623-41DA-B8B2-0EF3D74F8E58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904390" y="3558216"/>
            <a:ext cx="2131218" cy="1047750"/>
          </a:xfrm>
          <a:prstGeom prst="rect">
            <a:avLst/>
          </a:prstGeom>
        </p:spPr>
        <p:txBody>
          <a:bodyPr/>
          <a:lstStyle>
            <a:lvl1pPr marL="227013" indent="-227013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itchFamily="34" charset="0"/>
              </a:defRPr>
            </a:lvl1pPr>
            <a:lvl2pPr marL="684213" indent="-227013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2pPr>
            <a:lvl3pPr marL="1141413" indent="-227013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3pPr>
            <a:lvl4pPr marL="1598613" indent="-227013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4pPr>
            <a:lvl5pPr marL="2055813" indent="-227013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5pPr>
            <a:lvl6pPr marL="25146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6pPr>
            <a:lvl7pPr marL="2971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7pPr>
            <a:lvl8pPr marL="3429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8pPr>
            <a:lvl9pPr marL="3886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9pPr>
          </a:lstStyle>
          <a:p>
            <a:pPr marL="0" indent="0" algn="ctr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Calibri"/>
                <a:ea typeface="宋体"/>
              </a:rPr>
              <a:t>第</a:t>
            </a:r>
            <a:r>
              <a:rPr lang="en-US" altLang="zh-CN" sz="3200" b="1" dirty="0">
                <a:solidFill>
                  <a:srgbClr val="000000"/>
                </a:solidFill>
                <a:latin typeface="Calibri"/>
                <a:ea typeface="宋体"/>
              </a:rPr>
              <a:t>2</a:t>
            </a:r>
            <a:r>
              <a:rPr lang="zh-CN" altLang="en-US" sz="3200" b="1" dirty="0">
                <a:solidFill>
                  <a:srgbClr val="000000"/>
                </a:solidFill>
                <a:latin typeface="Calibri"/>
                <a:ea typeface="宋体"/>
              </a:rPr>
              <a:t>章 </a:t>
            </a:r>
            <a:endParaRPr lang="en-US" altLang="zh-CN" sz="3200" b="1" dirty="0">
              <a:solidFill>
                <a:srgbClr val="000000"/>
              </a:solidFill>
              <a:latin typeface="Calibri"/>
              <a:ea typeface="宋体"/>
            </a:endParaRPr>
          </a:p>
          <a:p>
            <a:pPr marL="0" indent="0" algn="ctr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en-US" altLang="zh-CN" sz="3200" b="1" dirty="0">
                <a:solidFill>
                  <a:srgbClr val="000000"/>
                </a:solidFill>
                <a:latin typeface="Calibri"/>
                <a:ea typeface="宋体"/>
              </a:rPr>
              <a:t>C</a:t>
            </a:r>
            <a:r>
              <a:rPr lang="zh-CN" altLang="en-US" sz="3200" b="1" dirty="0">
                <a:solidFill>
                  <a:srgbClr val="000000"/>
                </a:solidFill>
                <a:latin typeface="Calibri"/>
                <a:ea typeface="宋体"/>
              </a:rPr>
              <a:t>语言基础</a:t>
            </a:r>
            <a:endParaRPr lang="en-US" altLang="zh-CN" sz="3200" b="1" dirty="0">
              <a:solidFill>
                <a:srgbClr val="3366FF"/>
              </a:solidFill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29832B8B-E77D-459B-A122-A63E215FEC28}"/>
              </a:ext>
            </a:extLst>
          </p:cNvPr>
          <p:cNvGrpSpPr/>
          <p:nvPr userDrawn="1"/>
        </p:nvGrpSpPr>
        <p:grpSpPr>
          <a:xfrm>
            <a:off x="4486517" y="813808"/>
            <a:ext cx="5634004" cy="623887"/>
            <a:chOff x="4577557" y="1037605"/>
            <a:chExt cx="5634004" cy="623887"/>
          </a:xfrm>
        </p:grpSpPr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D94ABC20-F180-44D3-B7BA-04431E5E5C0F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</a:t>
              </a:r>
              <a:r>
                <a:rPr lang="en-US" altLang="zh-CN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C</a:t>
              </a: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语言的字符集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40" name="组合 58">
              <a:extLst>
                <a:ext uri="{FF2B5EF4-FFF2-40B4-BE49-F238E27FC236}">
                  <a16:creationId xmlns:a16="http://schemas.microsoft.com/office/drawing/2014/main" id="{A5C29670-9CA9-4E79-9EEC-B9217AF473A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41" name="Oval 16">
                <a:extLst>
                  <a:ext uri="{FF2B5EF4-FFF2-40B4-BE49-F238E27FC236}">
                    <a16:creationId xmlns:a16="http://schemas.microsoft.com/office/drawing/2014/main" id="{DC967EB6-C997-4E3D-8C9C-A7CCAA06A7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42" name="TextBox 60">
                <a:extLst>
                  <a:ext uri="{FF2B5EF4-FFF2-40B4-BE49-F238E27FC236}">
                    <a16:creationId xmlns:a16="http://schemas.microsoft.com/office/drawing/2014/main" id="{AE26040D-EBCE-413F-93C8-3B0DFEDFD5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2.1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59D3DAC6-3986-43E5-AEAF-A1BB0DEACD75}"/>
              </a:ext>
            </a:extLst>
          </p:cNvPr>
          <p:cNvGrpSpPr/>
          <p:nvPr userDrawn="1"/>
        </p:nvGrpSpPr>
        <p:grpSpPr>
          <a:xfrm>
            <a:off x="4478307" y="2284793"/>
            <a:ext cx="5634004" cy="623887"/>
            <a:chOff x="4577557" y="1037605"/>
            <a:chExt cx="5634004" cy="623887"/>
          </a:xfrm>
        </p:grpSpPr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E73125C3-7C2A-4C40-BE23-CB648477AC7F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数据与</a:t>
              </a:r>
              <a:r>
                <a:rPr lang="en-US" altLang="zh-CN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C</a:t>
              </a: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语言的数据类型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45" name="组合 58">
              <a:extLst>
                <a:ext uri="{FF2B5EF4-FFF2-40B4-BE49-F238E27FC236}">
                  <a16:creationId xmlns:a16="http://schemas.microsoft.com/office/drawing/2014/main" id="{59003EA9-49AB-4922-BA31-6D62EF448EA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46" name="Oval 16">
                <a:extLst>
                  <a:ext uri="{FF2B5EF4-FFF2-40B4-BE49-F238E27FC236}">
                    <a16:creationId xmlns:a16="http://schemas.microsoft.com/office/drawing/2014/main" id="{65B5D404-033B-4504-B22E-F52048E9DF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47" name="TextBox 60">
                <a:extLst>
                  <a:ext uri="{FF2B5EF4-FFF2-40B4-BE49-F238E27FC236}">
                    <a16:creationId xmlns:a16="http://schemas.microsoft.com/office/drawing/2014/main" id="{3BE31F55-8A87-41CD-8BF1-A60F8DBF26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2.3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792780C-9CE0-42EC-B045-F8CBE82ABF40}"/>
              </a:ext>
            </a:extLst>
          </p:cNvPr>
          <p:cNvGrpSpPr/>
          <p:nvPr userDrawn="1"/>
        </p:nvGrpSpPr>
        <p:grpSpPr>
          <a:xfrm>
            <a:off x="4486517" y="1548771"/>
            <a:ext cx="5620512" cy="623887"/>
            <a:chOff x="4557319" y="1009525"/>
            <a:chExt cx="5620512" cy="623887"/>
          </a:xfrm>
        </p:grpSpPr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04A00366-013D-4D06-BA40-3B2FB9036D5A}"/>
                </a:ext>
              </a:extLst>
            </p:cNvPr>
            <p:cNvSpPr/>
            <p:nvPr userDrawn="1"/>
          </p:nvSpPr>
          <p:spPr bwMode="auto">
            <a:xfrm>
              <a:off x="4557319" y="100952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标识符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50" name="组合 58">
              <a:extLst>
                <a:ext uri="{FF2B5EF4-FFF2-40B4-BE49-F238E27FC236}">
                  <a16:creationId xmlns:a16="http://schemas.microsoft.com/office/drawing/2014/main" id="{53161A28-6C61-43A6-8EA4-15607B71986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51" name="Oval 16">
                <a:extLst>
                  <a:ext uri="{FF2B5EF4-FFF2-40B4-BE49-F238E27FC236}">
                    <a16:creationId xmlns:a16="http://schemas.microsoft.com/office/drawing/2014/main" id="{DD29CE8A-EBF4-4208-98EE-994EE4B36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52" name="TextBox 60">
                <a:extLst>
                  <a:ext uri="{FF2B5EF4-FFF2-40B4-BE49-F238E27FC236}">
                    <a16:creationId xmlns:a16="http://schemas.microsoft.com/office/drawing/2014/main" id="{A26075A2-4977-4D86-8EFD-B0504A3442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2.2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24F53E3-60E3-4124-8888-4E808956FB44}"/>
              </a:ext>
            </a:extLst>
          </p:cNvPr>
          <p:cNvGrpSpPr/>
          <p:nvPr userDrawn="1"/>
        </p:nvGrpSpPr>
        <p:grpSpPr>
          <a:xfrm>
            <a:off x="4478307" y="3018631"/>
            <a:ext cx="5634004" cy="623887"/>
            <a:chOff x="4577557" y="1037605"/>
            <a:chExt cx="5634004" cy="623887"/>
          </a:xfrm>
        </p:grpSpPr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4732B8E0-0DFF-4E96-A5BF-481059C4052C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常量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55" name="组合 58">
              <a:extLst>
                <a:ext uri="{FF2B5EF4-FFF2-40B4-BE49-F238E27FC236}">
                  <a16:creationId xmlns:a16="http://schemas.microsoft.com/office/drawing/2014/main" id="{90E9BF9A-F17B-43B4-B1E4-6BDE9FA4687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56" name="Oval 16">
                <a:extLst>
                  <a:ext uri="{FF2B5EF4-FFF2-40B4-BE49-F238E27FC236}">
                    <a16:creationId xmlns:a16="http://schemas.microsoft.com/office/drawing/2014/main" id="{33397C70-D582-4664-BFFF-3A46DC4F37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57" name="TextBox 60">
                <a:extLst>
                  <a:ext uri="{FF2B5EF4-FFF2-40B4-BE49-F238E27FC236}">
                    <a16:creationId xmlns:a16="http://schemas.microsoft.com/office/drawing/2014/main" id="{2591B598-5DF4-4F50-AE0E-A00FD6763E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2.4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9ED3FD84-10C2-4DD1-976E-9E4B2CFFA669}"/>
              </a:ext>
            </a:extLst>
          </p:cNvPr>
          <p:cNvGrpSpPr/>
          <p:nvPr userDrawn="1"/>
        </p:nvGrpSpPr>
        <p:grpSpPr>
          <a:xfrm>
            <a:off x="4473025" y="3762550"/>
            <a:ext cx="5634004" cy="623887"/>
            <a:chOff x="4577557" y="1037605"/>
            <a:chExt cx="5634004" cy="623887"/>
          </a:xfrm>
        </p:grpSpPr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A5D2941C-3666-4674-A44F-5ED8322DEBA6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变量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60" name="组合 58">
              <a:extLst>
                <a:ext uri="{FF2B5EF4-FFF2-40B4-BE49-F238E27FC236}">
                  <a16:creationId xmlns:a16="http://schemas.microsoft.com/office/drawing/2014/main" id="{D7A5A2D9-F643-4267-88EA-AF1A1B351A5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61" name="Oval 16">
                <a:extLst>
                  <a:ext uri="{FF2B5EF4-FFF2-40B4-BE49-F238E27FC236}">
                    <a16:creationId xmlns:a16="http://schemas.microsoft.com/office/drawing/2014/main" id="{77CC0453-D257-4869-B188-605400751F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62" name="TextBox 60">
                <a:extLst>
                  <a:ext uri="{FF2B5EF4-FFF2-40B4-BE49-F238E27FC236}">
                    <a16:creationId xmlns:a16="http://schemas.microsoft.com/office/drawing/2014/main" id="{4F7D6541-09B4-4488-8E7D-ED9C192995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2.5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0FB2F520-F5BA-4C7D-BE1D-529AB0705998}"/>
              </a:ext>
            </a:extLst>
          </p:cNvPr>
          <p:cNvGrpSpPr/>
          <p:nvPr userDrawn="1"/>
        </p:nvGrpSpPr>
        <p:grpSpPr>
          <a:xfrm>
            <a:off x="4473025" y="4497625"/>
            <a:ext cx="5634004" cy="623887"/>
            <a:chOff x="4577557" y="1037605"/>
            <a:chExt cx="5634004" cy="623887"/>
          </a:xfrm>
        </p:grpSpPr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DE74F162-C696-4212-BE22-C3E9B5A6A45F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运算符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65" name="组合 58">
              <a:extLst>
                <a:ext uri="{FF2B5EF4-FFF2-40B4-BE49-F238E27FC236}">
                  <a16:creationId xmlns:a16="http://schemas.microsoft.com/office/drawing/2014/main" id="{4058AF65-2F14-484A-98BF-1EDE0F83244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66" name="Oval 16">
                <a:extLst>
                  <a:ext uri="{FF2B5EF4-FFF2-40B4-BE49-F238E27FC236}">
                    <a16:creationId xmlns:a16="http://schemas.microsoft.com/office/drawing/2014/main" id="{79EA450A-2B7D-4469-BF00-BF585DC327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67" name="TextBox 60">
                <a:extLst>
                  <a:ext uri="{FF2B5EF4-FFF2-40B4-BE49-F238E27FC236}">
                    <a16:creationId xmlns:a16="http://schemas.microsoft.com/office/drawing/2014/main" id="{A8696235-C948-4AF9-B206-44E375C45E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2.6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90E7AC5B-1CE7-461E-A939-4AD980DF3D78}"/>
              </a:ext>
            </a:extLst>
          </p:cNvPr>
          <p:cNvGrpSpPr/>
          <p:nvPr userDrawn="1"/>
        </p:nvGrpSpPr>
        <p:grpSpPr>
          <a:xfrm>
            <a:off x="1812726" y="977212"/>
            <a:ext cx="2239963" cy="1047750"/>
            <a:chOff x="988824" y="2510466"/>
            <a:chExt cx="2239963" cy="1047750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460FAA0-5572-4ED6-AC94-D5D65C2A05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77849" y="3331203"/>
              <a:ext cx="1147763" cy="227013"/>
            </a:xfrm>
            <a:custGeom>
              <a:avLst/>
              <a:gdLst>
                <a:gd name="T0" fmla="*/ 2147483647 w 2195"/>
                <a:gd name="T1" fmla="*/ 2147483647 h 445"/>
                <a:gd name="T2" fmla="*/ 2147483647 w 2195"/>
                <a:gd name="T3" fmla="*/ 2147483647 h 445"/>
                <a:gd name="T4" fmla="*/ 2147483647 w 2195"/>
                <a:gd name="T5" fmla="*/ 2147483647 h 445"/>
                <a:gd name="T6" fmla="*/ 2147483647 w 2195"/>
                <a:gd name="T7" fmla="*/ 2147483647 h 445"/>
                <a:gd name="T8" fmla="*/ 2147483647 w 2195"/>
                <a:gd name="T9" fmla="*/ 2147483647 h 445"/>
                <a:gd name="T10" fmla="*/ 2147483647 w 2195"/>
                <a:gd name="T11" fmla="*/ 2147483647 h 445"/>
                <a:gd name="T12" fmla="*/ 2147483647 w 2195"/>
                <a:gd name="T13" fmla="*/ 2147483647 h 445"/>
                <a:gd name="T14" fmla="*/ 2147483647 w 2195"/>
                <a:gd name="T15" fmla="*/ 2147483647 h 445"/>
                <a:gd name="T16" fmla="*/ 2147483647 w 2195"/>
                <a:gd name="T17" fmla="*/ 2147483647 h 445"/>
                <a:gd name="T18" fmla="*/ 2147483647 w 2195"/>
                <a:gd name="T19" fmla="*/ 2147483647 h 445"/>
                <a:gd name="T20" fmla="*/ 2147483647 w 2195"/>
                <a:gd name="T21" fmla="*/ 2147483647 h 445"/>
                <a:gd name="T22" fmla="*/ 2147483647 w 2195"/>
                <a:gd name="T23" fmla="*/ 2147483647 h 445"/>
                <a:gd name="T24" fmla="*/ 2147483647 w 2195"/>
                <a:gd name="T25" fmla="*/ 2147483647 h 445"/>
                <a:gd name="T26" fmla="*/ 2147483647 w 2195"/>
                <a:gd name="T27" fmla="*/ 2147483647 h 445"/>
                <a:gd name="T28" fmla="*/ 2147483647 w 2195"/>
                <a:gd name="T29" fmla="*/ 2147483647 h 445"/>
                <a:gd name="T30" fmla="*/ 2147483647 w 2195"/>
                <a:gd name="T31" fmla="*/ 2147483647 h 445"/>
                <a:gd name="T32" fmla="*/ 2147483647 w 2195"/>
                <a:gd name="T33" fmla="*/ 2147483647 h 445"/>
                <a:gd name="T34" fmla="*/ 2147483647 w 2195"/>
                <a:gd name="T35" fmla="*/ 2147483647 h 445"/>
                <a:gd name="T36" fmla="*/ 2147483647 w 2195"/>
                <a:gd name="T37" fmla="*/ 2147483647 h 445"/>
                <a:gd name="T38" fmla="*/ 2147483647 w 2195"/>
                <a:gd name="T39" fmla="*/ 2147483647 h 445"/>
                <a:gd name="T40" fmla="*/ 2147483647 w 2195"/>
                <a:gd name="T41" fmla="*/ 2147483647 h 445"/>
                <a:gd name="T42" fmla="*/ 2147483647 w 2195"/>
                <a:gd name="T43" fmla="*/ 2147483647 h 445"/>
                <a:gd name="T44" fmla="*/ 2147483647 w 2195"/>
                <a:gd name="T45" fmla="*/ 2147483647 h 445"/>
                <a:gd name="T46" fmla="*/ 2147483647 w 2195"/>
                <a:gd name="T47" fmla="*/ 2147483647 h 445"/>
                <a:gd name="T48" fmla="*/ 2147483647 w 2195"/>
                <a:gd name="T49" fmla="*/ 2147483647 h 445"/>
                <a:gd name="T50" fmla="*/ 2147483647 w 2195"/>
                <a:gd name="T51" fmla="*/ 2147483647 h 445"/>
                <a:gd name="T52" fmla="*/ 2147483647 w 2195"/>
                <a:gd name="T53" fmla="*/ 2147483647 h 445"/>
                <a:gd name="T54" fmla="*/ 2147483647 w 2195"/>
                <a:gd name="T55" fmla="*/ 2147483647 h 445"/>
                <a:gd name="T56" fmla="*/ 2147483647 w 2195"/>
                <a:gd name="T57" fmla="*/ 2147483647 h 445"/>
                <a:gd name="T58" fmla="*/ 2147483647 w 2195"/>
                <a:gd name="T59" fmla="*/ 2147483647 h 445"/>
                <a:gd name="T60" fmla="*/ 2147483647 w 2195"/>
                <a:gd name="T61" fmla="*/ 2147483647 h 445"/>
                <a:gd name="T62" fmla="*/ 2147483647 w 2195"/>
                <a:gd name="T63" fmla="*/ 2147483647 h 445"/>
                <a:gd name="T64" fmla="*/ 2147483647 w 2195"/>
                <a:gd name="T65" fmla="*/ 2147483647 h 445"/>
                <a:gd name="T66" fmla="*/ 2147483647 w 2195"/>
                <a:gd name="T67" fmla="*/ 2147483647 h 445"/>
                <a:gd name="T68" fmla="*/ 2147483647 w 2195"/>
                <a:gd name="T69" fmla="*/ 2147483647 h 445"/>
                <a:gd name="T70" fmla="*/ 2147483647 w 2195"/>
                <a:gd name="T71" fmla="*/ 2147483647 h 445"/>
                <a:gd name="T72" fmla="*/ 2147483647 w 2195"/>
                <a:gd name="T73" fmla="*/ 2147483647 h 445"/>
                <a:gd name="T74" fmla="*/ 2147483647 w 2195"/>
                <a:gd name="T75" fmla="*/ 2147483647 h 445"/>
                <a:gd name="T76" fmla="*/ 2147483647 w 2195"/>
                <a:gd name="T77" fmla="*/ 2147483647 h 445"/>
                <a:gd name="T78" fmla="*/ 2147483647 w 2195"/>
                <a:gd name="T79" fmla="*/ 2147483647 h 445"/>
                <a:gd name="T80" fmla="*/ 2147483647 w 2195"/>
                <a:gd name="T81" fmla="*/ 2147483647 h 445"/>
                <a:gd name="T82" fmla="*/ 2147483647 w 2195"/>
                <a:gd name="T83" fmla="*/ 2147483647 h 445"/>
                <a:gd name="T84" fmla="*/ 2147483647 w 2195"/>
                <a:gd name="T85" fmla="*/ 2147483647 h 445"/>
                <a:gd name="T86" fmla="*/ 2147483647 w 2195"/>
                <a:gd name="T87" fmla="*/ 2147483647 h 445"/>
                <a:gd name="T88" fmla="*/ 2147483647 w 2195"/>
                <a:gd name="T89" fmla="*/ 2147483647 h 445"/>
                <a:gd name="T90" fmla="*/ 2147483647 w 2195"/>
                <a:gd name="T91" fmla="*/ 2147483647 h 445"/>
                <a:gd name="T92" fmla="*/ 2147483647 w 2195"/>
                <a:gd name="T93" fmla="*/ 2147483647 h 445"/>
                <a:gd name="T94" fmla="*/ 2147483647 w 2195"/>
                <a:gd name="T95" fmla="*/ 2147483647 h 445"/>
                <a:gd name="T96" fmla="*/ 2147483647 w 2195"/>
                <a:gd name="T97" fmla="*/ 2147483647 h 44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195" h="445">
                  <a:moveTo>
                    <a:pt x="154" y="142"/>
                  </a:moveTo>
                  <a:cubicBezTo>
                    <a:pt x="86" y="144"/>
                    <a:pt x="51" y="189"/>
                    <a:pt x="49" y="278"/>
                  </a:cubicBezTo>
                  <a:cubicBezTo>
                    <a:pt x="51" y="361"/>
                    <a:pt x="86" y="405"/>
                    <a:pt x="154" y="407"/>
                  </a:cubicBezTo>
                  <a:cubicBezTo>
                    <a:pt x="218" y="405"/>
                    <a:pt x="251" y="361"/>
                    <a:pt x="252" y="276"/>
                  </a:cubicBezTo>
                  <a:cubicBezTo>
                    <a:pt x="248" y="193"/>
                    <a:pt x="215" y="148"/>
                    <a:pt x="154" y="142"/>
                  </a:cubicBezTo>
                  <a:close/>
                  <a:moveTo>
                    <a:pt x="152" y="443"/>
                  </a:moveTo>
                  <a:cubicBezTo>
                    <a:pt x="55" y="437"/>
                    <a:pt x="5" y="383"/>
                    <a:pt x="0" y="280"/>
                  </a:cubicBezTo>
                  <a:cubicBezTo>
                    <a:pt x="3" y="166"/>
                    <a:pt x="55" y="107"/>
                    <a:pt x="156" y="105"/>
                  </a:cubicBezTo>
                  <a:cubicBezTo>
                    <a:pt x="250" y="109"/>
                    <a:pt x="299" y="165"/>
                    <a:pt x="303" y="274"/>
                  </a:cubicBezTo>
                  <a:cubicBezTo>
                    <a:pt x="302" y="385"/>
                    <a:pt x="251" y="442"/>
                    <a:pt x="152" y="443"/>
                  </a:cubicBezTo>
                  <a:close/>
                  <a:moveTo>
                    <a:pt x="665" y="227"/>
                  </a:moveTo>
                  <a:lnTo>
                    <a:pt x="665" y="434"/>
                  </a:lnTo>
                  <a:lnTo>
                    <a:pt x="618" y="434"/>
                  </a:lnTo>
                  <a:lnTo>
                    <a:pt x="618" y="234"/>
                  </a:lnTo>
                  <a:cubicBezTo>
                    <a:pt x="616" y="174"/>
                    <a:pt x="591" y="144"/>
                    <a:pt x="542" y="142"/>
                  </a:cubicBezTo>
                  <a:cubicBezTo>
                    <a:pt x="484" y="150"/>
                    <a:pt x="452" y="181"/>
                    <a:pt x="446" y="236"/>
                  </a:cubicBezTo>
                  <a:lnTo>
                    <a:pt x="446" y="434"/>
                  </a:lnTo>
                  <a:lnTo>
                    <a:pt x="400" y="436"/>
                  </a:lnTo>
                  <a:lnTo>
                    <a:pt x="400" y="111"/>
                  </a:lnTo>
                  <a:lnTo>
                    <a:pt x="446" y="111"/>
                  </a:lnTo>
                  <a:lnTo>
                    <a:pt x="446" y="160"/>
                  </a:lnTo>
                  <a:cubicBezTo>
                    <a:pt x="472" y="123"/>
                    <a:pt x="507" y="104"/>
                    <a:pt x="553" y="102"/>
                  </a:cubicBezTo>
                  <a:cubicBezTo>
                    <a:pt x="628" y="102"/>
                    <a:pt x="665" y="144"/>
                    <a:pt x="665" y="227"/>
                  </a:cubicBezTo>
                  <a:close/>
                  <a:moveTo>
                    <a:pt x="897" y="407"/>
                  </a:moveTo>
                  <a:lnTo>
                    <a:pt x="906" y="432"/>
                  </a:lnTo>
                  <a:cubicBezTo>
                    <a:pt x="891" y="438"/>
                    <a:pt x="875" y="441"/>
                    <a:pt x="857" y="441"/>
                  </a:cubicBezTo>
                  <a:cubicBezTo>
                    <a:pt x="811" y="442"/>
                    <a:pt x="788" y="419"/>
                    <a:pt x="790" y="370"/>
                  </a:cubicBezTo>
                  <a:lnTo>
                    <a:pt x="790" y="151"/>
                  </a:lnTo>
                  <a:lnTo>
                    <a:pt x="745" y="151"/>
                  </a:lnTo>
                  <a:lnTo>
                    <a:pt x="745" y="111"/>
                  </a:lnTo>
                  <a:lnTo>
                    <a:pt x="790" y="111"/>
                  </a:lnTo>
                  <a:lnTo>
                    <a:pt x="790" y="24"/>
                  </a:lnTo>
                  <a:lnTo>
                    <a:pt x="837" y="0"/>
                  </a:lnTo>
                  <a:lnTo>
                    <a:pt x="837" y="111"/>
                  </a:lnTo>
                  <a:lnTo>
                    <a:pt x="897" y="111"/>
                  </a:lnTo>
                  <a:lnTo>
                    <a:pt x="897" y="151"/>
                  </a:lnTo>
                  <a:lnTo>
                    <a:pt x="837" y="151"/>
                  </a:lnTo>
                  <a:lnTo>
                    <a:pt x="837" y="370"/>
                  </a:lnTo>
                  <a:cubicBezTo>
                    <a:pt x="835" y="398"/>
                    <a:pt x="847" y="411"/>
                    <a:pt x="872" y="410"/>
                  </a:cubicBezTo>
                  <a:cubicBezTo>
                    <a:pt x="881" y="410"/>
                    <a:pt x="890" y="409"/>
                    <a:pt x="897" y="407"/>
                  </a:cubicBezTo>
                  <a:close/>
                  <a:moveTo>
                    <a:pt x="1020" y="249"/>
                  </a:moveTo>
                  <a:lnTo>
                    <a:pt x="1214" y="249"/>
                  </a:lnTo>
                  <a:cubicBezTo>
                    <a:pt x="1211" y="184"/>
                    <a:pt x="1179" y="150"/>
                    <a:pt x="1118" y="147"/>
                  </a:cubicBezTo>
                  <a:cubicBezTo>
                    <a:pt x="1057" y="153"/>
                    <a:pt x="1024" y="187"/>
                    <a:pt x="1020" y="249"/>
                  </a:cubicBezTo>
                  <a:close/>
                  <a:moveTo>
                    <a:pt x="1214" y="334"/>
                  </a:moveTo>
                  <a:lnTo>
                    <a:pt x="1263" y="347"/>
                  </a:lnTo>
                  <a:cubicBezTo>
                    <a:pt x="1245" y="413"/>
                    <a:pt x="1198" y="445"/>
                    <a:pt x="1120" y="443"/>
                  </a:cubicBezTo>
                  <a:cubicBezTo>
                    <a:pt x="1021" y="439"/>
                    <a:pt x="969" y="384"/>
                    <a:pt x="966" y="278"/>
                  </a:cubicBezTo>
                  <a:cubicBezTo>
                    <a:pt x="971" y="167"/>
                    <a:pt x="1021" y="109"/>
                    <a:pt x="1118" y="105"/>
                  </a:cubicBezTo>
                  <a:cubicBezTo>
                    <a:pt x="1213" y="107"/>
                    <a:pt x="1262" y="165"/>
                    <a:pt x="1265" y="278"/>
                  </a:cubicBezTo>
                  <a:cubicBezTo>
                    <a:pt x="1265" y="284"/>
                    <a:pt x="1265" y="288"/>
                    <a:pt x="1265" y="289"/>
                  </a:cubicBezTo>
                  <a:lnTo>
                    <a:pt x="1018" y="289"/>
                  </a:lnTo>
                  <a:cubicBezTo>
                    <a:pt x="1021" y="362"/>
                    <a:pt x="1054" y="401"/>
                    <a:pt x="1118" y="405"/>
                  </a:cubicBezTo>
                  <a:cubicBezTo>
                    <a:pt x="1169" y="405"/>
                    <a:pt x="1200" y="382"/>
                    <a:pt x="1214" y="334"/>
                  </a:cubicBezTo>
                  <a:close/>
                  <a:moveTo>
                    <a:pt x="1626" y="227"/>
                  </a:moveTo>
                  <a:lnTo>
                    <a:pt x="1626" y="434"/>
                  </a:lnTo>
                  <a:lnTo>
                    <a:pt x="1580" y="434"/>
                  </a:lnTo>
                  <a:lnTo>
                    <a:pt x="1580" y="234"/>
                  </a:lnTo>
                  <a:cubicBezTo>
                    <a:pt x="1578" y="174"/>
                    <a:pt x="1553" y="144"/>
                    <a:pt x="1504" y="142"/>
                  </a:cubicBezTo>
                  <a:cubicBezTo>
                    <a:pt x="1446" y="150"/>
                    <a:pt x="1414" y="181"/>
                    <a:pt x="1408" y="236"/>
                  </a:cubicBezTo>
                  <a:lnTo>
                    <a:pt x="1408" y="434"/>
                  </a:lnTo>
                  <a:lnTo>
                    <a:pt x="1361" y="436"/>
                  </a:lnTo>
                  <a:lnTo>
                    <a:pt x="1361" y="111"/>
                  </a:lnTo>
                  <a:lnTo>
                    <a:pt x="1408" y="111"/>
                  </a:lnTo>
                  <a:lnTo>
                    <a:pt x="1408" y="160"/>
                  </a:lnTo>
                  <a:cubicBezTo>
                    <a:pt x="1433" y="123"/>
                    <a:pt x="1469" y="104"/>
                    <a:pt x="1515" y="102"/>
                  </a:cubicBezTo>
                  <a:cubicBezTo>
                    <a:pt x="1589" y="102"/>
                    <a:pt x="1626" y="144"/>
                    <a:pt x="1626" y="227"/>
                  </a:cubicBezTo>
                  <a:close/>
                  <a:moveTo>
                    <a:pt x="1859" y="407"/>
                  </a:moveTo>
                  <a:lnTo>
                    <a:pt x="1868" y="432"/>
                  </a:lnTo>
                  <a:cubicBezTo>
                    <a:pt x="1853" y="438"/>
                    <a:pt x="1836" y="441"/>
                    <a:pt x="1818" y="441"/>
                  </a:cubicBezTo>
                  <a:cubicBezTo>
                    <a:pt x="1772" y="442"/>
                    <a:pt x="1750" y="419"/>
                    <a:pt x="1752" y="370"/>
                  </a:cubicBezTo>
                  <a:lnTo>
                    <a:pt x="1752" y="151"/>
                  </a:lnTo>
                  <a:lnTo>
                    <a:pt x="1707" y="151"/>
                  </a:lnTo>
                  <a:lnTo>
                    <a:pt x="1707" y="111"/>
                  </a:lnTo>
                  <a:lnTo>
                    <a:pt x="1752" y="111"/>
                  </a:lnTo>
                  <a:lnTo>
                    <a:pt x="1752" y="24"/>
                  </a:lnTo>
                  <a:lnTo>
                    <a:pt x="1798" y="0"/>
                  </a:lnTo>
                  <a:lnTo>
                    <a:pt x="1798" y="111"/>
                  </a:lnTo>
                  <a:lnTo>
                    <a:pt x="1859" y="111"/>
                  </a:lnTo>
                  <a:lnTo>
                    <a:pt x="1859" y="151"/>
                  </a:lnTo>
                  <a:lnTo>
                    <a:pt x="1798" y="151"/>
                  </a:lnTo>
                  <a:lnTo>
                    <a:pt x="1798" y="370"/>
                  </a:lnTo>
                  <a:cubicBezTo>
                    <a:pt x="1797" y="398"/>
                    <a:pt x="1809" y="411"/>
                    <a:pt x="1834" y="410"/>
                  </a:cubicBezTo>
                  <a:cubicBezTo>
                    <a:pt x="1843" y="410"/>
                    <a:pt x="1851" y="409"/>
                    <a:pt x="1859" y="407"/>
                  </a:cubicBezTo>
                  <a:close/>
                  <a:moveTo>
                    <a:pt x="2131" y="203"/>
                  </a:moveTo>
                  <a:lnTo>
                    <a:pt x="2180" y="189"/>
                  </a:lnTo>
                  <a:cubicBezTo>
                    <a:pt x="2167" y="133"/>
                    <a:pt x="2125" y="104"/>
                    <a:pt x="2055" y="102"/>
                  </a:cubicBezTo>
                  <a:cubicBezTo>
                    <a:pt x="1982" y="105"/>
                    <a:pt x="1943" y="136"/>
                    <a:pt x="1937" y="194"/>
                  </a:cubicBezTo>
                  <a:cubicBezTo>
                    <a:pt x="1934" y="249"/>
                    <a:pt x="1976" y="281"/>
                    <a:pt x="2062" y="292"/>
                  </a:cubicBezTo>
                  <a:cubicBezTo>
                    <a:pt x="2118" y="302"/>
                    <a:pt x="2146" y="322"/>
                    <a:pt x="2144" y="352"/>
                  </a:cubicBezTo>
                  <a:cubicBezTo>
                    <a:pt x="2143" y="387"/>
                    <a:pt x="2115" y="406"/>
                    <a:pt x="2062" y="407"/>
                  </a:cubicBezTo>
                  <a:cubicBezTo>
                    <a:pt x="2013" y="409"/>
                    <a:pt x="1982" y="384"/>
                    <a:pt x="1970" y="334"/>
                  </a:cubicBezTo>
                  <a:lnTo>
                    <a:pt x="1924" y="347"/>
                  </a:lnTo>
                  <a:cubicBezTo>
                    <a:pt x="1941" y="413"/>
                    <a:pt x="1988" y="445"/>
                    <a:pt x="2062" y="443"/>
                  </a:cubicBezTo>
                  <a:cubicBezTo>
                    <a:pt x="2148" y="442"/>
                    <a:pt x="2192" y="410"/>
                    <a:pt x="2193" y="350"/>
                  </a:cubicBezTo>
                  <a:cubicBezTo>
                    <a:pt x="2195" y="298"/>
                    <a:pt x="2155" y="265"/>
                    <a:pt x="2075" y="252"/>
                  </a:cubicBezTo>
                  <a:cubicBezTo>
                    <a:pt x="2014" y="241"/>
                    <a:pt x="1985" y="222"/>
                    <a:pt x="1986" y="194"/>
                  </a:cubicBezTo>
                  <a:cubicBezTo>
                    <a:pt x="1990" y="162"/>
                    <a:pt x="2014" y="146"/>
                    <a:pt x="2057" y="145"/>
                  </a:cubicBezTo>
                  <a:cubicBezTo>
                    <a:pt x="2097" y="145"/>
                    <a:pt x="2122" y="164"/>
                    <a:pt x="2131" y="203"/>
                  </a:cubicBezTo>
                  <a:close/>
                </a:path>
              </a:pathLst>
            </a:custGeom>
            <a:solidFill>
              <a:srgbClr val="4D4D4D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AB2CA1C-0244-4212-8B4F-BFADD4B021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25474" y="2626353"/>
              <a:ext cx="1103313" cy="501650"/>
            </a:xfrm>
            <a:custGeom>
              <a:avLst/>
              <a:gdLst>
                <a:gd name="T0" fmla="*/ 2147483647 w 2109"/>
                <a:gd name="T1" fmla="*/ 0 h 986"/>
                <a:gd name="T2" fmla="*/ 2147483647 w 2109"/>
                <a:gd name="T3" fmla="*/ 2147483647 h 986"/>
                <a:gd name="T4" fmla="*/ 2147483647 w 2109"/>
                <a:gd name="T5" fmla="*/ 2147483647 h 986"/>
                <a:gd name="T6" fmla="*/ 0 w 2109"/>
                <a:gd name="T7" fmla="*/ 2147483647 h 986"/>
                <a:gd name="T8" fmla="*/ 2147483647 w 2109"/>
                <a:gd name="T9" fmla="*/ 2147483647 h 986"/>
                <a:gd name="T10" fmla="*/ 2147483647 w 2109"/>
                <a:gd name="T11" fmla="*/ 2147483647 h 986"/>
                <a:gd name="T12" fmla="*/ 2147483647 w 2109"/>
                <a:gd name="T13" fmla="*/ 2147483647 h 986"/>
                <a:gd name="T14" fmla="*/ 2147483647 w 2109"/>
                <a:gd name="T15" fmla="*/ 2147483647 h 986"/>
                <a:gd name="T16" fmla="*/ 2147483647 w 2109"/>
                <a:gd name="T17" fmla="*/ 2147483647 h 986"/>
                <a:gd name="T18" fmla="*/ 2147483647 w 2109"/>
                <a:gd name="T19" fmla="*/ 2147483647 h 986"/>
                <a:gd name="T20" fmla="*/ 2147483647 w 2109"/>
                <a:gd name="T21" fmla="*/ 2147483647 h 986"/>
                <a:gd name="T22" fmla="*/ 2147483647 w 2109"/>
                <a:gd name="T23" fmla="*/ 2147483647 h 986"/>
                <a:gd name="T24" fmla="*/ 2147483647 w 2109"/>
                <a:gd name="T25" fmla="*/ 2147483647 h 986"/>
                <a:gd name="T26" fmla="*/ 2147483647 w 2109"/>
                <a:gd name="T27" fmla="*/ 2147483647 h 986"/>
                <a:gd name="T28" fmla="*/ 2147483647 w 2109"/>
                <a:gd name="T29" fmla="*/ 2147483647 h 986"/>
                <a:gd name="T30" fmla="*/ 2147483647 w 2109"/>
                <a:gd name="T31" fmla="*/ 2147483647 h 986"/>
                <a:gd name="T32" fmla="*/ 2147483647 w 2109"/>
                <a:gd name="T33" fmla="*/ 2147483647 h 986"/>
                <a:gd name="T34" fmla="*/ 2147483647 w 2109"/>
                <a:gd name="T35" fmla="*/ 2147483647 h 986"/>
                <a:gd name="T36" fmla="*/ 2147483647 w 2109"/>
                <a:gd name="T37" fmla="*/ 2147483647 h 986"/>
                <a:gd name="T38" fmla="*/ 2147483647 w 2109"/>
                <a:gd name="T39" fmla="*/ 2147483647 h 986"/>
                <a:gd name="T40" fmla="*/ 2147483647 w 2109"/>
                <a:gd name="T41" fmla="*/ 2147483647 h 986"/>
                <a:gd name="T42" fmla="*/ 2147483647 w 2109"/>
                <a:gd name="T43" fmla="*/ 2147483647 h 986"/>
                <a:gd name="T44" fmla="*/ 2147483647 w 2109"/>
                <a:gd name="T45" fmla="*/ 2147483647 h 986"/>
                <a:gd name="T46" fmla="*/ 2147483647 w 2109"/>
                <a:gd name="T47" fmla="*/ 2147483647 h 986"/>
                <a:gd name="T48" fmla="*/ 2147483647 w 2109"/>
                <a:gd name="T49" fmla="*/ 2147483647 h 986"/>
                <a:gd name="T50" fmla="*/ 2147483647 w 2109"/>
                <a:gd name="T51" fmla="*/ 2147483647 h 986"/>
                <a:gd name="T52" fmla="*/ 2147483647 w 2109"/>
                <a:gd name="T53" fmla="*/ 2147483647 h 986"/>
                <a:gd name="T54" fmla="*/ 2147483647 w 2109"/>
                <a:gd name="T55" fmla="*/ 2147483647 h 986"/>
                <a:gd name="T56" fmla="*/ 2147483647 w 2109"/>
                <a:gd name="T57" fmla="*/ 2147483647 h 986"/>
                <a:gd name="T58" fmla="*/ 2147483647 w 2109"/>
                <a:gd name="T59" fmla="*/ 2147483647 h 986"/>
                <a:gd name="T60" fmla="*/ 2147483647 w 2109"/>
                <a:gd name="T61" fmla="*/ 2147483647 h 986"/>
                <a:gd name="T62" fmla="*/ 2147483647 w 2109"/>
                <a:gd name="T63" fmla="*/ 2147483647 h 986"/>
                <a:gd name="T64" fmla="*/ 2147483647 w 2109"/>
                <a:gd name="T65" fmla="*/ 2147483647 h 986"/>
                <a:gd name="T66" fmla="*/ 2147483647 w 2109"/>
                <a:gd name="T67" fmla="*/ 2147483647 h 98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109" h="986">
                  <a:moveTo>
                    <a:pt x="0" y="0"/>
                  </a:moveTo>
                  <a:lnTo>
                    <a:pt x="764" y="0"/>
                  </a:lnTo>
                  <a:lnTo>
                    <a:pt x="764" y="986"/>
                  </a:lnTo>
                  <a:lnTo>
                    <a:pt x="676" y="986"/>
                  </a:lnTo>
                  <a:lnTo>
                    <a:pt x="676" y="902"/>
                  </a:lnTo>
                  <a:lnTo>
                    <a:pt x="84" y="902"/>
                  </a:lnTo>
                  <a:lnTo>
                    <a:pt x="84" y="986"/>
                  </a:lnTo>
                  <a:lnTo>
                    <a:pt x="0" y="986"/>
                  </a:lnTo>
                  <a:lnTo>
                    <a:pt x="0" y="0"/>
                  </a:lnTo>
                  <a:close/>
                  <a:moveTo>
                    <a:pt x="84" y="80"/>
                  </a:moveTo>
                  <a:lnTo>
                    <a:pt x="84" y="279"/>
                  </a:lnTo>
                  <a:lnTo>
                    <a:pt x="676" y="279"/>
                  </a:lnTo>
                  <a:lnTo>
                    <a:pt x="676" y="80"/>
                  </a:lnTo>
                  <a:lnTo>
                    <a:pt x="84" y="80"/>
                  </a:lnTo>
                  <a:close/>
                  <a:moveTo>
                    <a:pt x="84" y="628"/>
                  </a:moveTo>
                  <a:lnTo>
                    <a:pt x="84" y="831"/>
                  </a:lnTo>
                  <a:lnTo>
                    <a:pt x="676" y="831"/>
                  </a:lnTo>
                  <a:lnTo>
                    <a:pt x="676" y="628"/>
                  </a:lnTo>
                  <a:lnTo>
                    <a:pt x="84" y="628"/>
                  </a:lnTo>
                  <a:close/>
                  <a:moveTo>
                    <a:pt x="84" y="354"/>
                  </a:moveTo>
                  <a:lnTo>
                    <a:pt x="84" y="557"/>
                  </a:lnTo>
                  <a:lnTo>
                    <a:pt x="676" y="557"/>
                  </a:lnTo>
                  <a:lnTo>
                    <a:pt x="676" y="354"/>
                  </a:lnTo>
                  <a:lnTo>
                    <a:pt x="84" y="354"/>
                  </a:lnTo>
                  <a:close/>
                  <a:moveTo>
                    <a:pt x="1963" y="482"/>
                  </a:moveTo>
                  <a:lnTo>
                    <a:pt x="2021" y="553"/>
                  </a:lnTo>
                  <a:cubicBezTo>
                    <a:pt x="2000" y="568"/>
                    <a:pt x="1958" y="594"/>
                    <a:pt x="1893" y="632"/>
                  </a:cubicBezTo>
                  <a:cubicBezTo>
                    <a:pt x="1849" y="659"/>
                    <a:pt x="1815" y="679"/>
                    <a:pt x="1791" y="694"/>
                  </a:cubicBezTo>
                  <a:cubicBezTo>
                    <a:pt x="1859" y="753"/>
                    <a:pt x="1965" y="800"/>
                    <a:pt x="2109" y="836"/>
                  </a:cubicBezTo>
                  <a:cubicBezTo>
                    <a:pt x="2089" y="856"/>
                    <a:pt x="2070" y="883"/>
                    <a:pt x="2052" y="915"/>
                  </a:cubicBezTo>
                  <a:cubicBezTo>
                    <a:pt x="1849" y="856"/>
                    <a:pt x="1704" y="756"/>
                    <a:pt x="1619" y="615"/>
                  </a:cubicBezTo>
                  <a:lnTo>
                    <a:pt x="1619" y="818"/>
                  </a:lnTo>
                  <a:cubicBezTo>
                    <a:pt x="1624" y="924"/>
                    <a:pt x="1573" y="976"/>
                    <a:pt x="1464" y="973"/>
                  </a:cubicBezTo>
                  <a:cubicBezTo>
                    <a:pt x="1423" y="973"/>
                    <a:pt x="1381" y="973"/>
                    <a:pt x="1340" y="973"/>
                  </a:cubicBezTo>
                  <a:cubicBezTo>
                    <a:pt x="1337" y="937"/>
                    <a:pt x="1331" y="908"/>
                    <a:pt x="1322" y="884"/>
                  </a:cubicBezTo>
                  <a:cubicBezTo>
                    <a:pt x="1358" y="887"/>
                    <a:pt x="1403" y="889"/>
                    <a:pt x="1459" y="889"/>
                  </a:cubicBezTo>
                  <a:cubicBezTo>
                    <a:pt x="1515" y="892"/>
                    <a:pt x="1542" y="867"/>
                    <a:pt x="1539" y="814"/>
                  </a:cubicBezTo>
                  <a:lnTo>
                    <a:pt x="1539" y="447"/>
                  </a:lnTo>
                  <a:lnTo>
                    <a:pt x="1057" y="447"/>
                  </a:lnTo>
                  <a:lnTo>
                    <a:pt x="1057" y="376"/>
                  </a:lnTo>
                  <a:lnTo>
                    <a:pt x="1849" y="376"/>
                  </a:lnTo>
                  <a:lnTo>
                    <a:pt x="1849" y="261"/>
                  </a:lnTo>
                  <a:lnTo>
                    <a:pt x="1190" y="261"/>
                  </a:lnTo>
                  <a:lnTo>
                    <a:pt x="1190" y="190"/>
                  </a:lnTo>
                  <a:lnTo>
                    <a:pt x="1849" y="190"/>
                  </a:lnTo>
                  <a:lnTo>
                    <a:pt x="1849" y="75"/>
                  </a:lnTo>
                  <a:lnTo>
                    <a:pt x="1172" y="75"/>
                  </a:lnTo>
                  <a:lnTo>
                    <a:pt x="1172" y="5"/>
                  </a:lnTo>
                  <a:lnTo>
                    <a:pt x="1932" y="5"/>
                  </a:lnTo>
                  <a:lnTo>
                    <a:pt x="1932" y="376"/>
                  </a:lnTo>
                  <a:lnTo>
                    <a:pt x="2101" y="376"/>
                  </a:lnTo>
                  <a:lnTo>
                    <a:pt x="2101" y="447"/>
                  </a:lnTo>
                  <a:lnTo>
                    <a:pt x="1619" y="447"/>
                  </a:lnTo>
                  <a:lnTo>
                    <a:pt x="1619" y="482"/>
                  </a:lnTo>
                  <a:cubicBezTo>
                    <a:pt x="1654" y="544"/>
                    <a:pt x="1692" y="597"/>
                    <a:pt x="1733" y="641"/>
                  </a:cubicBezTo>
                  <a:cubicBezTo>
                    <a:pt x="1822" y="582"/>
                    <a:pt x="1899" y="529"/>
                    <a:pt x="1963" y="482"/>
                  </a:cubicBezTo>
                  <a:close/>
                  <a:moveTo>
                    <a:pt x="1044" y="814"/>
                  </a:moveTo>
                  <a:cubicBezTo>
                    <a:pt x="1168" y="772"/>
                    <a:pt x="1318" y="716"/>
                    <a:pt x="1495" y="646"/>
                  </a:cubicBezTo>
                  <a:cubicBezTo>
                    <a:pt x="1501" y="672"/>
                    <a:pt x="1507" y="699"/>
                    <a:pt x="1513" y="725"/>
                  </a:cubicBezTo>
                  <a:cubicBezTo>
                    <a:pt x="1351" y="784"/>
                    <a:pt x="1205" y="839"/>
                    <a:pt x="1075" y="889"/>
                  </a:cubicBezTo>
                  <a:lnTo>
                    <a:pt x="1044" y="814"/>
                  </a:lnTo>
                  <a:close/>
                  <a:moveTo>
                    <a:pt x="1190" y="473"/>
                  </a:moveTo>
                  <a:cubicBezTo>
                    <a:pt x="1202" y="482"/>
                    <a:pt x="1218" y="492"/>
                    <a:pt x="1238" y="504"/>
                  </a:cubicBezTo>
                  <a:cubicBezTo>
                    <a:pt x="1303" y="545"/>
                    <a:pt x="1356" y="581"/>
                    <a:pt x="1398" y="610"/>
                  </a:cubicBezTo>
                  <a:lnTo>
                    <a:pt x="1349" y="681"/>
                  </a:lnTo>
                  <a:cubicBezTo>
                    <a:pt x="1317" y="658"/>
                    <a:pt x="1272" y="627"/>
                    <a:pt x="1216" y="588"/>
                  </a:cubicBezTo>
                  <a:cubicBezTo>
                    <a:pt x="1184" y="565"/>
                    <a:pt x="1159" y="547"/>
                    <a:pt x="1141" y="535"/>
                  </a:cubicBezTo>
                  <a:lnTo>
                    <a:pt x="1190" y="473"/>
                  </a:lnTo>
                  <a:close/>
                </a:path>
              </a:pathLst>
            </a:custGeom>
            <a:solidFill>
              <a:srgbClr val="4D4D4D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kern="0" dirty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CF91E4-2DF6-43CC-853C-8A66141190C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88824" y="2510466"/>
              <a:ext cx="973394" cy="1047750"/>
            </a:xfrm>
            <a:prstGeom prst="rect">
              <a:avLst/>
            </a:prstGeom>
            <a:solidFill>
              <a:srgbClr val="024C89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9D7DEB2-CFBF-4E7F-8A3C-E9CF23E7D7CF}"/>
                </a:ext>
              </a:extLst>
            </p:cNvPr>
            <p:cNvSpPr/>
            <p:nvPr userDrawn="1"/>
          </p:nvSpPr>
          <p:spPr bwMode="auto">
            <a:xfrm>
              <a:off x="1149559" y="2675367"/>
              <a:ext cx="614363" cy="749300"/>
            </a:xfrm>
            <a:custGeom>
              <a:avLst/>
              <a:gdLst>
                <a:gd name="T0" fmla="*/ 2147483647 w 1173"/>
                <a:gd name="T1" fmla="*/ 2147483647 h 1472"/>
                <a:gd name="T2" fmla="*/ 2147483647 w 1173"/>
                <a:gd name="T3" fmla="*/ 2147483647 h 1472"/>
                <a:gd name="T4" fmla="*/ 2147483647 w 1173"/>
                <a:gd name="T5" fmla="*/ 2147483647 h 1472"/>
                <a:gd name="T6" fmla="*/ 2147483647 w 1173"/>
                <a:gd name="T7" fmla="*/ 2147483647 h 1472"/>
                <a:gd name="T8" fmla="*/ 2147483647 w 1173"/>
                <a:gd name="T9" fmla="*/ 2147483647 h 1472"/>
                <a:gd name="T10" fmla="*/ 2147483647 w 1173"/>
                <a:gd name="T11" fmla="*/ 2147483647 h 1472"/>
                <a:gd name="T12" fmla="*/ 0 w 1173"/>
                <a:gd name="T13" fmla="*/ 2147483647 h 1472"/>
                <a:gd name="T14" fmla="*/ 2147483647 w 1173"/>
                <a:gd name="T15" fmla="*/ 2147483647 h 1472"/>
                <a:gd name="T16" fmla="*/ 2147483647 w 1173"/>
                <a:gd name="T17" fmla="*/ 2147483647 h 1472"/>
                <a:gd name="T18" fmla="*/ 2147483647 w 1173"/>
                <a:gd name="T19" fmla="*/ 2147483647 h 1472"/>
                <a:gd name="T20" fmla="*/ 2147483647 w 1173"/>
                <a:gd name="T21" fmla="*/ 2147483647 h 1472"/>
                <a:gd name="T22" fmla="*/ 2147483647 w 1173"/>
                <a:gd name="T23" fmla="*/ 2147483647 h 1472"/>
                <a:gd name="T24" fmla="*/ 2147483647 w 1173"/>
                <a:gd name="T25" fmla="*/ 2147483647 h 1472"/>
                <a:gd name="T26" fmla="*/ 2147483647 w 1173"/>
                <a:gd name="T27" fmla="*/ 2147483647 h 1472"/>
                <a:gd name="T28" fmla="*/ 2147483647 w 1173"/>
                <a:gd name="T29" fmla="*/ 2147483647 h 147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73" h="1472">
                  <a:moveTo>
                    <a:pt x="1131" y="535"/>
                  </a:moveTo>
                  <a:lnTo>
                    <a:pt x="1095" y="47"/>
                  </a:lnTo>
                  <a:cubicBezTo>
                    <a:pt x="1090" y="47"/>
                    <a:pt x="1081" y="49"/>
                    <a:pt x="1067" y="54"/>
                  </a:cubicBezTo>
                  <a:cubicBezTo>
                    <a:pt x="1043" y="64"/>
                    <a:pt x="1022" y="68"/>
                    <a:pt x="1003" y="68"/>
                  </a:cubicBezTo>
                  <a:cubicBezTo>
                    <a:pt x="975" y="68"/>
                    <a:pt x="947" y="64"/>
                    <a:pt x="919" y="54"/>
                  </a:cubicBezTo>
                  <a:cubicBezTo>
                    <a:pt x="810" y="17"/>
                    <a:pt x="714" y="0"/>
                    <a:pt x="629" y="5"/>
                  </a:cubicBezTo>
                  <a:cubicBezTo>
                    <a:pt x="214" y="24"/>
                    <a:pt x="5" y="278"/>
                    <a:pt x="0" y="768"/>
                  </a:cubicBezTo>
                  <a:cubicBezTo>
                    <a:pt x="5" y="1225"/>
                    <a:pt x="219" y="1458"/>
                    <a:pt x="643" y="1467"/>
                  </a:cubicBezTo>
                  <a:cubicBezTo>
                    <a:pt x="912" y="1472"/>
                    <a:pt x="1088" y="1345"/>
                    <a:pt x="1173" y="1086"/>
                  </a:cubicBezTo>
                  <a:lnTo>
                    <a:pt x="1088" y="1036"/>
                  </a:lnTo>
                  <a:cubicBezTo>
                    <a:pt x="999" y="1258"/>
                    <a:pt x="867" y="1369"/>
                    <a:pt x="692" y="1369"/>
                  </a:cubicBezTo>
                  <a:cubicBezTo>
                    <a:pt x="424" y="1359"/>
                    <a:pt x="290" y="1145"/>
                    <a:pt x="290" y="725"/>
                  </a:cubicBezTo>
                  <a:cubicBezTo>
                    <a:pt x="290" y="316"/>
                    <a:pt x="408" y="108"/>
                    <a:pt x="643" y="104"/>
                  </a:cubicBezTo>
                  <a:cubicBezTo>
                    <a:pt x="827" y="94"/>
                    <a:pt x="961" y="250"/>
                    <a:pt x="1046" y="570"/>
                  </a:cubicBezTo>
                  <a:lnTo>
                    <a:pt x="1131" y="53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sp>
        <p:nvSpPr>
          <p:cNvPr id="70" name="矩形 69">
            <a:extLst>
              <a:ext uri="{FF2B5EF4-FFF2-40B4-BE49-F238E27FC236}">
                <a16:creationId xmlns:a16="http://schemas.microsoft.com/office/drawing/2014/main" id="{5D6C1642-EF57-4FCF-B70B-9EB19917F44C}"/>
              </a:ext>
            </a:extLst>
          </p:cNvPr>
          <p:cNvSpPr/>
          <p:nvPr userDrawn="1"/>
        </p:nvSpPr>
        <p:spPr>
          <a:xfrm>
            <a:off x="7476749" y="5022"/>
            <a:ext cx="4715435" cy="6858000"/>
          </a:xfrm>
          <a:prstGeom prst="rect">
            <a:avLst/>
          </a:prstGeom>
          <a:gradFill>
            <a:gsLst>
              <a:gs pos="100000">
                <a:srgbClr val="00B0F0">
                  <a:alpha val="0"/>
                </a:srgbClr>
              </a:gs>
              <a:gs pos="0">
                <a:srgbClr val="00B0F0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79128F3D-440D-4735-B280-F8F3A95DBEF0}"/>
              </a:ext>
            </a:extLst>
          </p:cNvPr>
          <p:cNvGrpSpPr/>
          <p:nvPr userDrawn="1"/>
        </p:nvGrpSpPr>
        <p:grpSpPr>
          <a:xfrm>
            <a:off x="0" y="40018"/>
            <a:ext cx="12192000" cy="769441"/>
            <a:chOff x="0" y="40018"/>
            <a:chExt cx="12192000" cy="769441"/>
          </a:xfrm>
        </p:grpSpPr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F7046826-E3C2-4516-8838-F6024486E91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974" b="35069"/>
            <a:stretch>
              <a:fillRect/>
            </a:stretch>
          </p:blipFill>
          <p:spPr>
            <a:xfrm>
              <a:off x="9699602" y="171936"/>
              <a:ext cx="2336093" cy="505610"/>
            </a:xfrm>
            <a:prstGeom prst="rect">
              <a:avLst/>
            </a:prstGeom>
          </p:spPr>
        </p:pic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0E74CD5A-9833-45E4-9F7F-2C7811B867BE}"/>
                </a:ext>
              </a:extLst>
            </p:cNvPr>
            <p:cNvSpPr txBox="1"/>
            <p:nvPr userDrawn="1"/>
          </p:nvSpPr>
          <p:spPr>
            <a:xfrm>
              <a:off x="156305" y="40018"/>
              <a:ext cx="3907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</a:t>
              </a:r>
              <a:endParaRPr lang="zh-CN" altLang="en-US" sz="800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B7D8D081-8C72-41AC-BA3C-DA4104B63229}"/>
                </a:ext>
              </a:extLst>
            </p:cNvPr>
            <p:cNvSpPr txBox="1"/>
            <p:nvPr userDrawn="1"/>
          </p:nvSpPr>
          <p:spPr>
            <a:xfrm>
              <a:off x="242277" y="270851"/>
              <a:ext cx="1320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Programming</a:t>
              </a:r>
              <a:endParaRPr lang="zh-CN" altLang="en-US" sz="1400" dirty="0"/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277687D0-C680-4AA6-AE98-5639F0C50311}"/>
                </a:ext>
              </a:extLst>
            </p:cNvPr>
            <p:cNvGrpSpPr/>
            <p:nvPr userDrawn="1"/>
          </p:nvGrpSpPr>
          <p:grpSpPr>
            <a:xfrm>
              <a:off x="0" y="140358"/>
              <a:ext cx="12192000" cy="573208"/>
              <a:chOff x="-750454" y="3752299"/>
              <a:chExt cx="12201236" cy="573208"/>
            </a:xfrm>
          </p:grpSpPr>
          <p:sp>
            <p:nvSpPr>
              <p:cNvPr id="81" name="平行四边形 80">
                <a:extLst>
                  <a:ext uri="{FF2B5EF4-FFF2-40B4-BE49-F238E27FC236}">
                    <a16:creationId xmlns:a16="http://schemas.microsoft.com/office/drawing/2014/main" id="{999CB817-D56E-488F-9D87-F9D19470D6AE}"/>
                  </a:ext>
                </a:extLst>
              </p:cNvPr>
              <p:cNvSpPr/>
              <p:nvPr userDrawn="1"/>
            </p:nvSpPr>
            <p:spPr>
              <a:xfrm>
                <a:off x="7860146" y="375368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平行四边形 81">
                <a:extLst>
                  <a:ext uri="{FF2B5EF4-FFF2-40B4-BE49-F238E27FC236}">
                    <a16:creationId xmlns:a16="http://schemas.microsoft.com/office/drawing/2014/main" id="{352F10E6-4A02-4A03-A65F-57545BCD6B65}"/>
                  </a:ext>
                </a:extLst>
              </p:cNvPr>
              <p:cNvSpPr/>
              <p:nvPr userDrawn="1"/>
            </p:nvSpPr>
            <p:spPr>
              <a:xfrm>
                <a:off x="8191518" y="375229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075B0E75-A6C6-4B7F-A0F1-380D72D98050}"/>
                  </a:ext>
                </a:extLst>
              </p:cNvPr>
              <p:cNvSpPr/>
              <p:nvPr userDrawn="1"/>
            </p:nvSpPr>
            <p:spPr>
              <a:xfrm flipV="1">
                <a:off x="-750454" y="4289506"/>
                <a:ext cx="8856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4632218C-DACA-4F71-8571-397435439B21}"/>
                  </a:ext>
                </a:extLst>
              </p:cNvPr>
              <p:cNvSpPr/>
              <p:nvPr userDrawn="1"/>
            </p:nvSpPr>
            <p:spPr>
              <a:xfrm flipV="1">
                <a:off x="8750782" y="3753688"/>
                <a:ext cx="2700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77388574-D287-470A-A668-7389DD36DAED}"/>
              </a:ext>
            </a:extLst>
          </p:cNvPr>
          <p:cNvGrpSpPr/>
          <p:nvPr userDrawn="1"/>
        </p:nvGrpSpPr>
        <p:grpSpPr>
          <a:xfrm>
            <a:off x="4485773" y="5229331"/>
            <a:ext cx="5634004" cy="623887"/>
            <a:chOff x="4577557" y="1037605"/>
            <a:chExt cx="5634004" cy="623887"/>
          </a:xfrm>
        </p:grpSpPr>
        <p:sp>
          <p:nvSpPr>
            <p:cNvPr id="72" name="Freeform 10">
              <a:extLst>
                <a:ext uri="{FF2B5EF4-FFF2-40B4-BE49-F238E27FC236}">
                  <a16:creationId xmlns:a16="http://schemas.microsoft.com/office/drawing/2014/main" id="{0B279FDF-99B9-4490-8414-F2E182DCBC72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数据的输入</a:t>
              </a:r>
              <a:r>
                <a:rPr lang="en-US" altLang="zh-CN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/</a:t>
              </a: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输出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73" name="组合 58">
              <a:extLst>
                <a:ext uri="{FF2B5EF4-FFF2-40B4-BE49-F238E27FC236}">
                  <a16:creationId xmlns:a16="http://schemas.microsoft.com/office/drawing/2014/main" id="{7A90C5B2-B96E-478F-A397-012AE9A5D4B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74" name="Oval 16">
                <a:extLst>
                  <a:ext uri="{FF2B5EF4-FFF2-40B4-BE49-F238E27FC236}">
                    <a16:creationId xmlns:a16="http://schemas.microsoft.com/office/drawing/2014/main" id="{5EBD66B2-4E80-49F3-B2ED-663C125E0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75" name="TextBox 60">
                <a:extLst>
                  <a:ext uri="{FF2B5EF4-FFF2-40B4-BE49-F238E27FC236}">
                    <a16:creationId xmlns:a16="http://schemas.microsoft.com/office/drawing/2014/main" id="{24F85C68-E237-4F4A-8E92-B995329224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2.7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36946331-27BB-4144-9D8F-28A39443C020}"/>
              </a:ext>
            </a:extLst>
          </p:cNvPr>
          <p:cNvGrpSpPr/>
          <p:nvPr userDrawn="1"/>
        </p:nvGrpSpPr>
        <p:grpSpPr>
          <a:xfrm>
            <a:off x="4485773" y="5969862"/>
            <a:ext cx="5634004" cy="623887"/>
            <a:chOff x="4577557" y="1037605"/>
            <a:chExt cx="5634004" cy="623887"/>
          </a:xfrm>
        </p:grpSpPr>
        <p:sp>
          <p:nvSpPr>
            <p:cNvPr id="86" name="Freeform 10">
              <a:extLst>
                <a:ext uri="{FF2B5EF4-FFF2-40B4-BE49-F238E27FC236}">
                  <a16:creationId xmlns:a16="http://schemas.microsoft.com/office/drawing/2014/main" id="{706C2DD5-FF59-462F-9323-ED98DFFD5F43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案例：鸡兔同笼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87" name="组合 58">
              <a:extLst>
                <a:ext uri="{FF2B5EF4-FFF2-40B4-BE49-F238E27FC236}">
                  <a16:creationId xmlns:a16="http://schemas.microsoft.com/office/drawing/2014/main" id="{8A607D35-FFF9-41BE-828A-35BE0B4EAC9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88" name="Oval 16">
                <a:extLst>
                  <a:ext uri="{FF2B5EF4-FFF2-40B4-BE49-F238E27FC236}">
                    <a16:creationId xmlns:a16="http://schemas.microsoft.com/office/drawing/2014/main" id="{031A75E1-DB58-4CC4-9560-C6AB193FAD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89" name="TextBox 60">
                <a:extLst>
                  <a:ext uri="{FF2B5EF4-FFF2-40B4-BE49-F238E27FC236}">
                    <a16:creationId xmlns:a16="http://schemas.microsoft.com/office/drawing/2014/main" id="{EBC3C38F-C044-41CB-83B0-15BF270317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2.8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498357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B434D3C-CA30-4BA5-9FB5-148ED72AFF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50274" y="1556659"/>
            <a:ext cx="6891452" cy="2816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altLang="zh-CN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Question</a:t>
            </a:r>
            <a:r>
              <a:rPr lang="zh-CN" altLang="en-US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sz="5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>
              <a:spcBef>
                <a:spcPts val="1800"/>
              </a:spcBef>
            </a:pPr>
            <a:r>
              <a:rPr lang="zh-CN" altLang="en-US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请在班级</a:t>
            </a:r>
            <a:r>
              <a:rPr lang="en-US" altLang="zh-CN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QQ</a:t>
            </a:r>
            <a:r>
              <a:rPr lang="zh-CN" altLang="en-US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群或在上机过程中进行提问吧！</a:t>
            </a:r>
            <a:endParaRPr lang="en-US" altLang="zh-CN" sz="5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94BE79-FAB6-43FA-B235-41C43E1DFBA8}"/>
              </a:ext>
            </a:extLst>
          </p:cNvPr>
          <p:cNvSpPr/>
          <p:nvPr userDrawn="1"/>
        </p:nvSpPr>
        <p:spPr>
          <a:xfrm rot="16200000">
            <a:off x="5645524" y="-5645523"/>
            <a:ext cx="900954" cy="12192001"/>
          </a:xfrm>
          <a:prstGeom prst="rect">
            <a:avLst/>
          </a:prstGeom>
          <a:gradFill>
            <a:gsLst>
              <a:gs pos="100000">
                <a:srgbClr val="00A3FF">
                  <a:alpha val="0"/>
                </a:srgbClr>
              </a:gs>
              <a:gs pos="0">
                <a:srgbClr val="00A3FF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306B55F-580F-4347-B626-DB2CED83A46A}"/>
              </a:ext>
            </a:extLst>
          </p:cNvPr>
          <p:cNvGrpSpPr/>
          <p:nvPr userDrawn="1"/>
        </p:nvGrpSpPr>
        <p:grpSpPr>
          <a:xfrm>
            <a:off x="0" y="40018"/>
            <a:ext cx="12192000" cy="769441"/>
            <a:chOff x="0" y="40018"/>
            <a:chExt cx="12192000" cy="769441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ECAD932-07D4-4A70-A980-B82B8642827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974" b="35069"/>
            <a:stretch>
              <a:fillRect/>
            </a:stretch>
          </p:blipFill>
          <p:spPr>
            <a:xfrm>
              <a:off x="9699602" y="171936"/>
              <a:ext cx="2336093" cy="505610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90076A9-1370-4E26-8282-5245E3DC748D}"/>
                </a:ext>
              </a:extLst>
            </p:cNvPr>
            <p:cNvSpPr txBox="1"/>
            <p:nvPr userDrawn="1"/>
          </p:nvSpPr>
          <p:spPr>
            <a:xfrm>
              <a:off x="156305" y="40018"/>
              <a:ext cx="3907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</a:t>
              </a:r>
              <a:endParaRPr lang="zh-CN" altLang="en-US" sz="8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A0F2596-061E-48CC-B527-1DC3630480D2}"/>
                </a:ext>
              </a:extLst>
            </p:cNvPr>
            <p:cNvSpPr txBox="1"/>
            <p:nvPr userDrawn="1"/>
          </p:nvSpPr>
          <p:spPr>
            <a:xfrm>
              <a:off x="242277" y="270851"/>
              <a:ext cx="1320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Programming</a:t>
              </a:r>
              <a:endParaRPr lang="zh-CN" altLang="en-US" sz="1400" dirty="0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EF0DA233-E62E-409C-9B91-728524EF7AFC}"/>
                </a:ext>
              </a:extLst>
            </p:cNvPr>
            <p:cNvGrpSpPr/>
            <p:nvPr userDrawn="1"/>
          </p:nvGrpSpPr>
          <p:grpSpPr>
            <a:xfrm>
              <a:off x="0" y="140358"/>
              <a:ext cx="12192000" cy="573208"/>
              <a:chOff x="-750454" y="3752299"/>
              <a:chExt cx="12201236" cy="573208"/>
            </a:xfrm>
          </p:grpSpPr>
          <p:sp>
            <p:nvSpPr>
              <p:cNvPr id="10" name="平行四边形 9">
                <a:extLst>
                  <a:ext uri="{FF2B5EF4-FFF2-40B4-BE49-F238E27FC236}">
                    <a16:creationId xmlns:a16="http://schemas.microsoft.com/office/drawing/2014/main" id="{983F85C6-9568-4C7A-ABDD-CA6E7C092A1B}"/>
                  </a:ext>
                </a:extLst>
              </p:cNvPr>
              <p:cNvSpPr/>
              <p:nvPr userDrawn="1"/>
            </p:nvSpPr>
            <p:spPr>
              <a:xfrm>
                <a:off x="7860146" y="375368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平行四边形 10">
                <a:extLst>
                  <a:ext uri="{FF2B5EF4-FFF2-40B4-BE49-F238E27FC236}">
                    <a16:creationId xmlns:a16="http://schemas.microsoft.com/office/drawing/2014/main" id="{737D5195-62E7-4D6C-8073-BFC76A752260}"/>
                  </a:ext>
                </a:extLst>
              </p:cNvPr>
              <p:cNvSpPr/>
              <p:nvPr userDrawn="1"/>
            </p:nvSpPr>
            <p:spPr>
              <a:xfrm>
                <a:off x="8191518" y="375229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617CCBCE-1A8C-4724-A703-18D112C111C0}"/>
                  </a:ext>
                </a:extLst>
              </p:cNvPr>
              <p:cNvSpPr/>
              <p:nvPr userDrawn="1"/>
            </p:nvSpPr>
            <p:spPr>
              <a:xfrm flipV="1">
                <a:off x="-750454" y="4289506"/>
                <a:ext cx="8856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982DF3B-3DD5-4F9B-9071-AA0BB1DA1438}"/>
                  </a:ext>
                </a:extLst>
              </p:cNvPr>
              <p:cNvSpPr/>
              <p:nvPr userDrawn="1"/>
            </p:nvSpPr>
            <p:spPr>
              <a:xfrm flipV="1">
                <a:off x="8750782" y="3753688"/>
                <a:ext cx="2700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5367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A906814-CB77-42CE-8722-740E4FA37C6F}"/>
              </a:ext>
            </a:extLst>
          </p:cNvPr>
          <p:cNvSpPr/>
          <p:nvPr userDrawn="1"/>
        </p:nvSpPr>
        <p:spPr>
          <a:xfrm rot="5400000">
            <a:off x="5731669" y="397669"/>
            <a:ext cx="728662" cy="12192001"/>
          </a:xfrm>
          <a:prstGeom prst="rect">
            <a:avLst/>
          </a:prstGeom>
          <a:gradFill>
            <a:gsLst>
              <a:gs pos="100000">
                <a:srgbClr val="00A3FF">
                  <a:alpha val="0"/>
                </a:srgbClr>
              </a:gs>
              <a:gs pos="0">
                <a:srgbClr val="00A3FF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DEA523-30CE-4428-B8A6-CB0C805C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458"/>
            <a:ext cx="10515600" cy="881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40EFF2-3741-4E9F-9032-7BBA076E8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001F3-2526-4AFF-AFF5-E4CAF9502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81A33-3859-4B5D-A755-E0C2E963D5E2}" type="datetime1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87446182-0BAA-4592-A192-58B1F27662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CF6331-42CF-49B5-93BA-B5EACB963342}"/>
              </a:ext>
            </a:extLst>
          </p:cNvPr>
          <p:cNvSpPr/>
          <p:nvPr userDrawn="1"/>
        </p:nvSpPr>
        <p:spPr>
          <a:xfrm rot="16200000">
            <a:off x="5645524" y="-5645523"/>
            <a:ext cx="900954" cy="12192001"/>
          </a:xfrm>
          <a:prstGeom prst="rect">
            <a:avLst/>
          </a:prstGeom>
          <a:gradFill>
            <a:gsLst>
              <a:gs pos="100000">
                <a:srgbClr val="00A3FF">
                  <a:alpha val="0"/>
                </a:srgbClr>
              </a:gs>
              <a:gs pos="0">
                <a:srgbClr val="00A3FF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33BBD2D-6CA3-4CEA-9F90-712521943226}"/>
              </a:ext>
            </a:extLst>
          </p:cNvPr>
          <p:cNvGrpSpPr/>
          <p:nvPr userDrawn="1"/>
        </p:nvGrpSpPr>
        <p:grpSpPr>
          <a:xfrm>
            <a:off x="0" y="40018"/>
            <a:ext cx="12192000" cy="769441"/>
            <a:chOff x="0" y="40018"/>
            <a:chExt cx="12192000" cy="769441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91EA361-28EE-45BA-A8A0-3F4170BADBD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974" b="35069"/>
            <a:stretch>
              <a:fillRect/>
            </a:stretch>
          </p:blipFill>
          <p:spPr>
            <a:xfrm>
              <a:off x="9699602" y="171936"/>
              <a:ext cx="2336093" cy="50561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5EE19C7-A1F4-46A3-92CF-BFD9C4E79590}"/>
                </a:ext>
              </a:extLst>
            </p:cNvPr>
            <p:cNvSpPr txBox="1"/>
            <p:nvPr userDrawn="1"/>
          </p:nvSpPr>
          <p:spPr>
            <a:xfrm>
              <a:off x="156305" y="40018"/>
              <a:ext cx="3907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</a:t>
              </a:r>
              <a:endParaRPr lang="zh-CN" altLang="en-US" sz="8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3C31597-CB30-47B3-A5E3-96B442662F67}"/>
                </a:ext>
              </a:extLst>
            </p:cNvPr>
            <p:cNvSpPr txBox="1"/>
            <p:nvPr userDrawn="1"/>
          </p:nvSpPr>
          <p:spPr>
            <a:xfrm>
              <a:off x="242277" y="270851"/>
              <a:ext cx="1320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Programming</a:t>
              </a:r>
              <a:endParaRPr lang="zh-CN" altLang="en-US" sz="1400" dirty="0"/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377E9160-0818-4167-A9C5-1B3144D9006A}"/>
                </a:ext>
              </a:extLst>
            </p:cNvPr>
            <p:cNvGrpSpPr/>
            <p:nvPr userDrawn="1"/>
          </p:nvGrpSpPr>
          <p:grpSpPr>
            <a:xfrm>
              <a:off x="0" y="140358"/>
              <a:ext cx="12192000" cy="573208"/>
              <a:chOff x="-750454" y="3752299"/>
              <a:chExt cx="12201236" cy="573208"/>
            </a:xfrm>
          </p:grpSpPr>
          <p:sp>
            <p:nvSpPr>
              <p:cNvPr id="17" name="平行四边形 16">
                <a:extLst>
                  <a:ext uri="{FF2B5EF4-FFF2-40B4-BE49-F238E27FC236}">
                    <a16:creationId xmlns:a16="http://schemas.microsoft.com/office/drawing/2014/main" id="{E5C0772E-2BDB-46E3-BBF3-98B56199E3AA}"/>
                  </a:ext>
                </a:extLst>
              </p:cNvPr>
              <p:cNvSpPr/>
              <p:nvPr userDrawn="1"/>
            </p:nvSpPr>
            <p:spPr>
              <a:xfrm>
                <a:off x="7860146" y="375368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平行四边形 17">
                <a:extLst>
                  <a:ext uri="{FF2B5EF4-FFF2-40B4-BE49-F238E27FC236}">
                    <a16:creationId xmlns:a16="http://schemas.microsoft.com/office/drawing/2014/main" id="{9DD3C377-F1A7-48D3-AE26-705C40158D01}"/>
                  </a:ext>
                </a:extLst>
              </p:cNvPr>
              <p:cNvSpPr/>
              <p:nvPr userDrawn="1"/>
            </p:nvSpPr>
            <p:spPr>
              <a:xfrm>
                <a:off x="8191518" y="375229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FD5F80F0-A7FB-45D8-A02F-17A28AEF4443}"/>
                  </a:ext>
                </a:extLst>
              </p:cNvPr>
              <p:cNvSpPr/>
              <p:nvPr userDrawn="1"/>
            </p:nvSpPr>
            <p:spPr>
              <a:xfrm flipV="1">
                <a:off x="-750454" y="4289506"/>
                <a:ext cx="8856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30C81418-DA7F-4965-A6CC-440B3B40C695}"/>
                  </a:ext>
                </a:extLst>
              </p:cNvPr>
              <p:cNvSpPr/>
              <p:nvPr userDrawn="1"/>
            </p:nvSpPr>
            <p:spPr>
              <a:xfrm flipV="1">
                <a:off x="8750782" y="3753688"/>
                <a:ext cx="2700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58F14C-64CB-4F88-AFF8-AB0B4D90A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92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00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6" r:id="rId16"/>
    <p:sldLayoutId id="2147483657" r:id="rId17"/>
    <p:sldLayoutId id="2147483658" r:id="rId18"/>
    <p:sldLayoutId id="2147483659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ACF6331-42CF-49B5-93BA-B5EACB963342}"/>
              </a:ext>
            </a:extLst>
          </p:cNvPr>
          <p:cNvSpPr/>
          <p:nvPr userDrawn="1"/>
        </p:nvSpPr>
        <p:spPr>
          <a:xfrm rot="16200000">
            <a:off x="5645523" y="-5645523"/>
            <a:ext cx="900954" cy="12192001"/>
          </a:xfrm>
          <a:prstGeom prst="rect">
            <a:avLst/>
          </a:prstGeom>
          <a:gradFill>
            <a:gsLst>
              <a:gs pos="100000">
                <a:srgbClr val="00A3FF">
                  <a:alpha val="0"/>
                </a:srgbClr>
              </a:gs>
              <a:gs pos="0">
                <a:srgbClr val="00A3FF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906814-CB77-42CE-8722-740E4FA37C6F}"/>
              </a:ext>
            </a:extLst>
          </p:cNvPr>
          <p:cNvSpPr/>
          <p:nvPr userDrawn="1"/>
        </p:nvSpPr>
        <p:spPr>
          <a:xfrm rot="5400000">
            <a:off x="5731669" y="406904"/>
            <a:ext cx="728662" cy="12192001"/>
          </a:xfrm>
          <a:prstGeom prst="rect">
            <a:avLst/>
          </a:prstGeom>
          <a:gradFill>
            <a:gsLst>
              <a:gs pos="100000">
                <a:srgbClr val="00A3FF">
                  <a:alpha val="0"/>
                </a:srgbClr>
              </a:gs>
              <a:gs pos="0">
                <a:srgbClr val="00A3FF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3082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00" r:id="rId2"/>
    <p:sldLayoutId id="2147483708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525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499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19637E5-8322-45CE-B9DE-F50F7EFA0F88}"/>
              </a:ext>
            </a:extLst>
          </p:cNvPr>
          <p:cNvSpPr txBox="1"/>
          <p:nvPr/>
        </p:nvSpPr>
        <p:spPr>
          <a:xfrm>
            <a:off x="619124" y="710418"/>
            <a:ext cx="10306051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2400" b="1" kern="0" dirty="0">
              <a:solidFill>
                <a:srgbClr val="0000FF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kern="0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字符</a:t>
            </a:r>
            <a:r>
              <a:rPr lang="zh-CN" altLang="en-US" sz="28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是组成</a:t>
            </a:r>
            <a:r>
              <a:rPr lang="en-US" altLang="zh-CN" sz="28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C</a:t>
            </a:r>
            <a:r>
              <a:rPr lang="zh-CN" altLang="en-US" sz="28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语言源程序的最基本元素。</a:t>
            </a:r>
            <a:endParaRPr lang="en-US" altLang="zh-CN" sz="2800" b="1" kern="0" dirty="0">
              <a:solidFill>
                <a:prstClr val="black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endParaRPr lang="en-US" altLang="zh-CN" sz="2800" b="1" kern="0" dirty="0">
              <a:solidFill>
                <a:prstClr val="black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C</a:t>
            </a:r>
            <a:r>
              <a:rPr lang="zh-CN" altLang="en-US" sz="28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语言使用的字符集是</a:t>
            </a:r>
            <a:r>
              <a:rPr lang="en-US" altLang="zh-CN" sz="2800" b="1" kern="0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ASCII</a:t>
            </a:r>
            <a:r>
              <a:rPr lang="zh-CN" altLang="en-US" sz="2800" b="1" kern="0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字符集</a:t>
            </a:r>
            <a:r>
              <a:rPr lang="zh-CN" altLang="en-US" sz="2800" b="1" kern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（参见教材</a:t>
            </a:r>
            <a:r>
              <a:rPr lang="en-US" altLang="zh-CN" sz="2800" b="1" kern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P348</a:t>
            </a:r>
            <a:r>
              <a:rPr lang="zh-CN" altLang="en-US" sz="2800" b="1" kern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附录</a:t>
            </a:r>
            <a:r>
              <a:rPr lang="en-US" altLang="zh-CN" sz="2800" b="1" kern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A</a:t>
            </a:r>
            <a:r>
              <a:rPr lang="zh-CN" altLang="en-US" sz="2800" b="1" kern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）</a:t>
            </a:r>
            <a:r>
              <a:rPr lang="zh-CN" altLang="en-US" sz="28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。</a:t>
            </a:r>
            <a:r>
              <a:rPr lang="en-US" altLang="zh-CN" sz="28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ASCII</a:t>
            </a:r>
            <a:r>
              <a:rPr lang="zh-CN" altLang="en-US" sz="28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字符集是一个</a:t>
            </a:r>
            <a:r>
              <a:rPr lang="en-US" altLang="zh-CN" sz="28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7</a:t>
            </a:r>
            <a:r>
              <a:rPr lang="zh-CN" altLang="en-US" sz="28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位的字符集，共包含</a:t>
            </a:r>
            <a:r>
              <a:rPr lang="en-US" altLang="zh-CN" sz="28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128</a:t>
            </a:r>
            <a:r>
              <a:rPr lang="zh-CN" altLang="en-US" sz="28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个字符，包括大小写字母，数字，标点符号，控制字符等。不过，随着</a:t>
            </a:r>
            <a:r>
              <a:rPr lang="en-US" altLang="zh-CN" sz="28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C</a:t>
            </a:r>
            <a:r>
              <a:rPr lang="zh-CN" altLang="en-US" sz="28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语言的发展，现代的</a:t>
            </a:r>
            <a:r>
              <a:rPr lang="en-US" altLang="zh-CN" sz="28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C</a:t>
            </a:r>
            <a:r>
              <a:rPr lang="zh-CN" altLang="en-US" sz="28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语言也支持其他的字符集，如</a:t>
            </a:r>
            <a:r>
              <a:rPr lang="en-US" altLang="zh-CN" sz="2800" b="1" kern="0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Unicode</a:t>
            </a:r>
            <a:r>
              <a:rPr lang="zh-CN" altLang="en-US" sz="2800" b="1" kern="0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字符集</a:t>
            </a:r>
            <a:r>
              <a:rPr lang="zh-CN" altLang="en-US" sz="28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，它是一个包含了全球文字的字符集。</a:t>
            </a:r>
            <a:endParaRPr lang="en-US" altLang="zh-CN" sz="2800" b="1" kern="0" dirty="0">
              <a:solidFill>
                <a:prstClr val="black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2FF347-C4C3-455C-82F7-067620812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6878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CF31377-F2F6-4B3D-B8B4-98698858BBAB}"/>
              </a:ext>
            </a:extLst>
          </p:cNvPr>
          <p:cNvSpPr/>
          <p:nvPr/>
        </p:nvSpPr>
        <p:spPr>
          <a:xfrm>
            <a:off x="0" y="714793"/>
            <a:ext cx="12192000" cy="5008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标识符是</a:t>
            </a:r>
            <a:r>
              <a:rPr lang="en-US" altLang="zh-CN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C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语言中程序员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自定义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的名称，用于标识变量，函数，数组，结构体等程序实体。</a:t>
            </a:r>
            <a:r>
              <a:rPr lang="en-US" altLang="zh-CN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C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语言中标识符的命名规则如下：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只能由大小写</a:t>
            </a: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字母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，</a:t>
            </a: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数字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，或</a:t>
            </a: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下划线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（</a:t>
            </a:r>
            <a:r>
              <a:rPr lang="en-US" altLang="zh-CN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_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）组成。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不能以数字开头。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大小写敏感。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不能使用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关键字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作为标识符名称，例如</a:t>
            </a:r>
            <a:r>
              <a:rPr lang="en-US" altLang="zh-CN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int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，</a:t>
            </a:r>
            <a:r>
              <a:rPr lang="en-US" altLang="zh-CN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float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等。</a:t>
            </a:r>
            <a:endParaRPr lang="en-US" altLang="zh-CN" sz="2400" b="1" kern="0" dirty="0">
              <a:solidFill>
                <a:prstClr val="black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不能使用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系统预先定义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过的标识符（如</a:t>
            </a:r>
            <a:r>
              <a:rPr lang="en-US" altLang="zh-CN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main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、</a:t>
            </a:r>
            <a:r>
              <a:rPr lang="en-US" altLang="zh-CN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printf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等）。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长度没有限制，但在实际使用中，通常建议不超过</a:t>
            </a:r>
            <a:r>
              <a:rPr lang="en-US" altLang="zh-CN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32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个字符。</a:t>
            </a:r>
            <a:endParaRPr lang="en-US" altLang="zh-CN" sz="2400" b="1" kern="0" dirty="0">
              <a:solidFill>
                <a:prstClr val="black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为了尽可能地提高代码的可读性，标识符在命名时应尽可能做到</a:t>
            </a: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见名知意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，</a:t>
            </a: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不宜混淆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ECCD47-22C0-42A3-9F4A-A5BBB9E12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3213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AA82C525-401D-445E-ACD8-D223A8015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7901" y="1123733"/>
            <a:ext cx="7200899" cy="1571842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lvl="3"/>
            <a:r>
              <a:rPr kumimoji="1" lang="zh-CN" altLang="zh-CN" sz="2400" dirty="0">
                <a:latin typeface="隶书" pitchFamily="49" charset="-122"/>
                <a:ea typeface="隶书" pitchFamily="49" charset="-122"/>
              </a:rPr>
              <a:t>例:判断下列标识符号合法性</a:t>
            </a:r>
            <a:endParaRPr kumimoji="1" lang="zh-CN" altLang="zh-CN" sz="2400" dirty="0">
              <a:latin typeface="Times New Roman" pitchFamily="18" charset="0"/>
            </a:endParaRPr>
          </a:p>
          <a:p>
            <a:pPr marL="0" lvl="3"/>
            <a:r>
              <a:rPr kumimoji="1" lang="en-US" altLang="zh-CN" sz="2400" dirty="0">
                <a:latin typeface="Times New Roman" pitchFamily="18" charset="0"/>
              </a:rPr>
              <a:t>	sum      </a:t>
            </a:r>
            <a:r>
              <a:rPr kumimoji="1" lang="en-US" altLang="zh-CN" sz="2400" dirty="0" err="1">
                <a:latin typeface="Times New Roman" pitchFamily="18" charset="0"/>
              </a:rPr>
              <a:t>Sum</a:t>
            </a:r>
            <a:r>
              <a:rPr kumimoji="1" lang="en-US" altLang="zh-CN" sz="2400" dirty="0">
                <a:latin typeface="Times New Roman" pitchFamily="18" charset="0"/>
              </a:rPr>
              <a:t>     </a:t>
            </a:r>
            <a:r>
              <a:rPr kumimoji="1" lang="en-US" altLang="zh-CN" sz="2400" dirty="0" err="1">
                <a:latin typeface="Times New Roman" pitchFamily="18" charset="0"/>
              </a:rPr>
              <a:t>M.D.John</a:t>
            </a:r>
            <a:r>
              <a:rPr kumimoji="1" lang="en-US" altLang="zh-CN" sz="2400" dirty="0">
                <a:latin typeface="Times New Roman" pitchFamily="18" charset="0"/>
              </a:rPr>
              <a:t>    day    Date   3days    </a:t>
            </a:r>
          </a:p>
          <a:p>
            <a:pPr marL="0" lvl="3"/>
            <a:r>
              <a:rPr kumimoji="1" lang="en-US" altLang="zh-CN" sz="2400" dirty="0">
                <a:latin typeface="Times New Roman" pitchFamily="18" charset="0"/>
              </a:rPr>
              <a:t>	</a:t>
            </a:r>
            <a:r>
              <a:rPr kumimoji="1" lang="en-US" altLang="zh-CN" sz="2400" dirty="0" err="1">
                <a:latin typeface="Times New Roman" pitchFamily="18" charset="0"/>
              </a:rPr>
              <a:t>student_name</a:t>
            </a:r>
            <a:r>
              <a:rPr kumimoji="1" lang="en-US" altLang="zh-CN" sz="2400" dirty="0">
                <a:latin typeface="Times New Roman" pitchFamily="18" charset="0"/>
              </a:rPr>
              <a:t>     #33      lotus_1_2_3 </a:t>
            </a:r>
          </a:p>
          <a:p>
            <a:pPr marL="0" lvl="3"/>
            <a:r>
              <a:rPr kumimoji="1" lang="en-US" altLang="zh-CN" sz="2400" dirty="0">
                <a:latin typeface="Times New Roman" pitchFamily="18" charset="0"/>
              </a:rPr>
              <a:t>	char    a&gt;b   _above     $123</a:t>
            </a:r>
            <a:endParaRPr kumimoji="1" lang="en-US" altLang="zh-CN" sz="2000" dirty="0">
              <a:ea typeface="隶书" pitchFamily="49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65AD2B0-D5AA-42F2-A305-C33BE9DF2DE8}"/>
              </a:ext>
            </a:extLst>
          </p:cNvPr>
          <p:cNvGrpSpPr/>
          <p:nvPr/>
        </p:nvGrpSpPr>
        <p:grpSpPr>
          <a:xfrm>
            <a:off x="3157539" y="1493433"/>
            <a:ext cx="5881479" cy="1202142"/>
            <a:chOff x="3157539" y="1493433"/>
            <a:chExt cx="5881479" cy="1202142"/>
          </a:xfrm>
        </p:grpSpPr>
        <p:sp>
          <p:nvSpPr>
            <p:cNvPr id="4" name="Text Box 6">
              <a:extLst>
                <a:ext uri="{FF2B5EF4-FFF2-40B4-BE49-F238E27FC236}">
                  <a16:creationId xmlns:a16="http://schemas.microsoft.com/office/drawing/2014/main" id="{9B0730B4-377F-44A9-ADDA-57FDDC488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5558" y="1493433"/>
              <a:ext cx="1414468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400" dirty="0" err="1">
                  <a:solidFill>
                    <a:srgbClr val="FF0000"/>
                  </a:solidFill>
                  <a:latin typeface="Times New Roman" pitchFamily="18" charset="0"/>
                </a:rPr>
                <a:t>M.D.John</a:t>
              </a:r>
              <a:endParaRPr kumimoji="1" lang="en-US" altLang="zh-CN" sz="24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5" name="Text Box 7">
              <a:extLst>
                <a:ext uri="{FF2B5EF4-FFF2-40B4-BE49-F238E27FC236}">
                  <a16:creationId xmlns:a16="http://schemas.microsoft.com/office/drawing/2014/main" id="{2617EFF5-7993-4F47-82E3-1FBFAF2573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9115" y="1493433"/>
              <a:ext cx="899903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400" dirty="0">
                  <a:solidFill>
                    <a:srgbClr val="FF0000"/>
                  </a:solidFill>
                  <a:latin typeface="Times New Roman" pitchFamily="18" charset="0"/>
                </a:rPr>
                <a:t>3days</a:t>
              </a:r>
            </a:p>
          </p:txBody>
        </p:sp>
        <p:sp>
          <p:nvSpPr>
            <p:cNvPr id="6" name="Text Box 8">
              <a:extLst>
                <a:ext uri="{FF2B5EF4-FFF2-40B4-BE49-F238E27FC236}">
                  <a16:creationId xmlns:a16="http://schemas.microsoft.com/office/drawing/2014/main" id="{F5816542-19D4-41BA-936E-82A248B32B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1759" y="1867343"/>
              <a:ext cx="643423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400" dirty="0">
                  <a:solidFill>
                    <a:srgbClr val="FF3300"/>
                  </a:solidFill>
                  <a:latin typeface="Times New Roman" pitchFamily="18" charset="0"/>
                </a:rPr>
                <a:t>#33</a:t>
              </a:r>
            </a:p>
          </p:txBody>
        </p:sp>
        <p:sp>
          <p:nvSpPr>
            <p:cNvPr id="7" name="Text Box 9">
              <a:extLst>
                <a:ext uri="{FF2B5EF4-FFF2-40B4-BE49-F238E27FC236}">
                  <a16:creationId xmlns:a16="http://schemas.microsoft.com/office/drawing/2014/main" id="{AC884A9F-754B-41C9-B64C-C12ECE172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7539" y="2231729"/>
              <a:ext cx="710749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400" dirty="0">
                  <a:solidFill>
                    <a:srgbClr val="FF3300"/>
                  </a:solidFill>
                  <a:latin typeface="Times New Roman" pitchFamily="18" charset="0"/>
                </a:rPr>
                <a:t>char</a:t>
              </a:r>
            </a:p>
          </p:txBody>
        </p:sp>
        <p:sp>
          <p:nvSpPr>
            <p:cNvPr id="8" name="Text Box 11">
              <a:extLst>
                <a:ext uri="{FF2B5EF4-FFF2-40B4-BE49-F238E27FC236}">
                  <a16:creationId xmlns:a16="http://schemas.microsoft.com/office/drawing/2014/main" id="{1434667E-C886-4A36-831B-6A296EE05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1414" y="2231729"/>
              <a:ext cx="645026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400" dirty="0">
                  <a:solidFill>
                    <a:srgbClr val="FF3300"/>
                  </a:solidFill>
                  <a:latin typeface="Times New Roman" pitchFamily="18" charset="0"/>
                </a:rPr>
                <a:t>a&gt;b</a:t>
              </a:r>
            </a:p>
          </p:txBody>
        </p:sp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F9EECCC7-E835-4DC5-8878-A12DA8E387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7214" y="2231729"/>
              <a:ext cx="797311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400" dirty="0">
                  <a:solidFill>
                    <a:srgbClr val="FF3300"/>
                  </a:solidFill>
                  <a:latin typeface="Times New Roman" pitchFamily="18" charset="0"/>
                </a:rPr>
                <a:t>$123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DA9F84B5-5F4B-453C-9F70-CEE58B3EBEBD}"/>
              </a:ext>
            </a:extLst>
          </p:cNvPr>
          <p:cNvSpPr/>
          <p:nvPr/>
        </p:nvSpPr>
        <p:spPr>
          <a:xfrm>
            <a:off x="2215785" y="3505330"/>
            <a:ext cx="8528482" cy="10196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关于</a:t>
            </a:r>
            <a:r>
              <a:rPr lang="en-US" altLang="zh-CN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C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语言中的关键字请参考：</a:t>
            </a:r>
            <a:endParaRPr lang="en-US" altLang="zh-CN" sz="2400" b="1" kern="0" dirty="0">
              <a:solidFill>
                <a:prstClr val="black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/>
              <a:t>https://blog.csdn.net/Hongwei_1990/article/details/90147520</a:t>
            </a:r>
            <a:endParaRPr lang="zh-CN" alt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D4796A47-7B1B-4BDE-8BF9-BBF62C2A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699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97835A-3FE3-48A7-ABEB-F2963E07E611}"/>
              </a:ext>
            </a:extLst>
          </p:cNvPr>
          <p:cNvSpPr txBox="1">
            <a:spLocks/>
          </p:cNvSpPr>
          <p:nvPr/>
        </p:nvSpPr>
        <p:spPr>
          <a:xfrm>
            <a:off x="457202" y="1719263"/>
            <a:ext cx="8329613" cy="12871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400" b="1" dirty="0">
                <a:solidFill>
                  <a:srgbClr val="FF0000"/>
                </a:solidFill>
              </a:rPr>
              <a:t>数据</a:t>
            </a:r>
            <a:r>
              <a:rPr lang="zh-CN" altLang="zh-CN" sz="2400" b="1" dirty="0"/>
              <a:t>是对客观事物的符号表示。</a:t>
            </a:r>
            <a:endParaRPr lang="en-US" altLang="zh-CN" sz="2400" b="1" dirty="0"/>
          </a:p>
          <a:p>
            <a:pPr>
              <a:buFont typeface="Wingdings" pitchFamily="2" charset="2"/>
              <a:buNone/>
            </a:pPr>
            <a:r>
              <a:rPr lang="en-US" altLang="zh-CN" sz="2400" b="1" dirty="0"/>
              <a:t>           </a:t>
            </a:r>
            <a:r>
              <a:rPr lang="zh-CN" altLang="zh-CN" sz="2400" b="1" dirty="0"/>
              <a:t>是所有能被输入到计算机中，且能被计算机处理的符号</a:t>
            </a:r>
            <a:r>
              <a:rPr lang="en-US" altLang="zh-CN" sz="2400" b="1" dirty="0"/>
              <a:t>(</a:t>
            </a:r>
            <a:r>
              <a:rPr lang="zh-CN" altLang="zh-CN" sz="2400" b="1" dirty="0"/>
              <a:t>数字、字符等</a:t>
            </a:r>
            <a:r>
              <a:rPr lang="en-US" altLang="zh-CN" sz="2400" b="1" dirty="0"/>
              <a:t>)</a:t>
            </a:r>
            <a:r>
              <a:rPr lang="zh-CN" altLang="zh-CN" sz="2400" b="1" dirty="0"/>
              <a:t>的集合，它是计算机操作对象的总称。</a:t>
            </a:r>
            <a:endParaRPr lang="en-US" altLang="zh-CN" sz="2400" b="1" dirty="0"/>
          </a:p>
          <a:p>
            <a:pPr>
              <a:buFont typeface="Wingdings" pitchFamily="2" charset="2"/>
              <a:buNone/>
            </a:pPr>
            <a:endParaRPr lang="en-US" altLang="zh-CN" sz="2400" b="1" dirty="0"/>
          </a:p>
          <a:p>
            <a:pPr>
              <a:buFont typeface="Wingdings" pitchFamily="2" charset="2"/>
              <a:buNone/>
            </a:pPr>
            <a:r>
              <a:rPr lang="en-US" altLang="zh-CN" sz="2400" b="1" dirty="0"/>
              <a:t>    </a:t>
            </a:r>
          </a:p>
          <a:p>
            <a:pPr>
              <a:buFont typeface="Wingdings" pitchFamily="2" charset="2"/>
              <a:buNone/>
            </a:pPr>
            <a:endParaRPr lang="zh-CN" altLang="zh-CN" sz="24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78B9C1-03C0-427C-8BD8-66ED77FC5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487" y="3133276"/>
            <a:ext cx="969706" cy="249537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5A690C0-D2BC-41B9-BDCE-FC812A5CFA17}"/>
              </a:ext>
            </a:extLst>
          </p:cNvPr>
          <p:cNvSpPr txBox="1"/>
          <p:nvPr/>
        </p:nvSpPr>
        <p:spPr>
          <a:xfrm>
            <a:off x="1741341" y="3429000"/>
            <a:ext cx="1375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n-ea"/>
                <a:ea typeface="+mn-ea"/>
              </a:rPr>
              <a:t>张三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F6A3A6-8EF6-4AEB-A8B1-EFD5A2E386E7}"/>
              </a:ext>
            </a:extLst>
          </p:cNvPr>
          <p:cNvSpPr txBox="1"/>
          <p:nvPr/>
        </p:nvSpPr>
        <p:spPr>
          <a:xfrm>
            <a:off x="1741341" y="3919299"/>
            <a:ext cx="1375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n-ea"/>
                <a:ea typeface="+mn-ea"/>
              </a:rPr>
              <a:t>男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E74FE95-B1E5-4D00-913A-43E9E6362748}"/>
              </a:ext>
            </a:extLst>
          </p:cNvPr>
          <p:cNvSpPr txBox="1"/>
          <p:nvPr/>
        </p:nvSpPr>
        <p:spPr>
          <a:xfrm>
            <a:off x="1741340" y="4472027"/>
            <a:ext cx="1375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</a:rPr>
              <a:t>175CM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00E65BFA-CBC3-46D0-8E02-63FE77B55F6C}"/>
              </a:ext>
            </a:extLst>
          </p:cNvPr>
          <p:cNvSpPr/>
          <p:nvPr/>
        </p:nvSpPr>
        <p:spPr bwMode="auto">
          <a:xfrm flipH="1">
            <a:off x="3215149" y="3926268"/>
            <a:ext cx="1288025" cy="57175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符号化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AD08EA-C7BA-4865-BA94-6CB2D481A5EF}"/>
              </a:ext>
            </a:extLst>
          </p:cNvPr>
          <p:cNvSpPr/>
          <p:nvPr/>
        </p:nvSpPr>
        <p:spPr bwMode="auto">
          <a:xfrm>
            <a:off x="1484671" y="3387269"/>
            <a:ext cx="1553497" cy="1634613"/>
          </a:xfrm>
          <a:prstGeom prst="rect">
            <a:avLst/>
          </a:prstGeom>
          <a:noFill/>
          <a:ln w="25400" cap="flat" cmpd="sng" algn="ctr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C85569A8-53B9-4BD1-B105-938524BB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8393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D56769-B621-4F02-8072-1506B2E6311C}"/>
              </a:ext>
            </a:extLst>
          </p:cNvPr>
          <p:cNvSpPr txBox="1">
            <a:spLocks/>
          </p:cNvSpPr>
          <p:nvPr/>
        </p:nvSpPr>
        <p:spPr>
          <a:xfrm>
            <a:off x="0" y="1019175"/>
            <a:ext cx="12192000" cy="51117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b="1" dirty="0">
                <a:solidFill>
                  <a:srgbClr val="FF0000"/>
                </a:solidFill>
              </a:rPr>
              <a:t>数据</a:t>
            </a:r>
            <a:r>
              <a:rPr lang="zh-CN" altLang="zh-CN" b="1" dirty="0"/>
              <a:t>是对客观事物的符号表示。</a:t>
            </a:r>
            <a:endParaRPr lang="en-US" altLang="zh-CN" b="1" dirty="0"/>
          </a:p>
          <a:p>
            <a:pPr>
              <a:buFont typeface="Wingdings" pitchFamily="2" charset="2"/>
              <a:buNone/>
            </a:pPr>
            <a:r>
              <a:rPr lang="en-US" altLang="zh-CN" b="1" dirty="0"/>
              <a:t>           </a:t>
            </a:r>
            <a:r>
              <a:rPr lang="zh-CN" altLang="zh-CN" b="1" dirty="0"/>
              <a:t>是所有能被输入到计算机中，且能被计算机处理的符号</a:t>
            </a:r>
            <a:r>
              <a:rPr lang="en-US" altLang="zh-CN" b="1" dirty="0"/>
              <a:t>(</a:t>
            </a:r>
            <a:r>
              <a:rPr lang="zh-CN" altLang="zh-CN" b="1" dirty="0"/>
              <a:t>数字、字符等</a:t>
            </a:r>
            <a:r>
              <a:rPr lang="en-US" altLang="zh-CN" b="1" dirty="0"/>
              <a:t>)</a:t>
            </a:r>
            <a:r>
              <a:rPr lang="zh-CN" altLang="zh-CN" b="1" dirty="0"/>
              <a:t>的集合，它是计算机操作对象的总称。</a:t>
            </a:r>
            <a:endParaRPr lang="en-US" altLang="zh-CN" b="1" dirty="0"/>
          </a:p>
          <a:p>
            <a:pPr>
              <a:buFont typeface="Wingdings" pitchFamily="2" charset="2"/>
              <a:buNone/>
            </a:pPr>
            <a:endParaRPr lang="en-US" altLang="zh-CN" b="1" dirty="0"/>
          </a:p>
          <a:p>
            <a:r>
              <a:rPr lang="zh-CN" altLang="zh-CN" b="1" dirty="0">
                <a:solidFill>
                  <a:srgbClr val="FF0000"/>
                </a:solidFill>
              </a:rPr>
              <a:t>在程序中对各种</a:t>
            </a:r>
            <a:r>
              <a:rPr lang="zh-CN" altLang="zh-CN" b="1" dirty="0">
                <a:solidFill>
                  <a:srgbClr val="0000FF"/>
                </a:solidFill>
              </a:rPr>
              <a:t>数据</a:t>
            </a:r>
            <a:r>
              <a:rPr lang="zh-CN" altLang="zh-CN" b="1" dirty="0">
                <a:solidFill>
                  <a:srgbClr val="FF0000"/>
                </a:solidFill>
              </a:rPr>
              <a:t>进行处理之前都要对其</a:t>
            </a:r>
            <a:r>
              <a:rPr lang="zh-CN" altLang="zh-CN" b="1" dirty="0">
                <a:solidFill>
                  <a:srgbClr val="0000FF"/>
                </a:solidFill>
              </a:rPr>
              <a:t>类型</a:t>
            </a:r>
            <a:r>
              <a:rPr lang="zh-CN" altLang="zh-CN" b="1" dirty="0">
                <a:solidFill>
                  <a:srgbClr val="FF0000"/>
                </a:solidFill>
              </a:rPr>
              <a:t>预先进行说明</a:t>
            </a:r>
            <a:r>
              <a:rPr lang="zh-CN" altLang="en-US" b="1" dirty="0">
                <a:solidFill>
                  <a:srgbClr val="FF0000"/>
                </a:solidFill>
              </a:rPr>
              <a:t>。</a:t>
            </a:r>
            <a:endParaRPr lang="en-US" altLang="zh-CN" b="1" dirty="0"/>
          </a:p>
          <a:p>
            <a:pPr>
              <a:buFont typeface="Wingdings" pitchFamily="2" charset="2"/>
              <a:buNone/>
            </a:pPr>
            <a:r>
              <a:rPr lang="en-US" altLang="zh-CN" b="1" dirty="0"/>
              <a:t>     </a:t>
            </a:r>
            <a:r>
              <a:rPr lang="zh-CN" altLang="zh-CN" b="1" dirty="0"/>
              <a:t>一是便于为数据分配相应的存储空间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>
              <a:buFont typeface="Wingdings" pitchFamily="2" charset="2"/>
              <a:buNone/>
            </a:pPr>
            <a:r>
              <a:rPr lang="en-US" altLang="zh-CN" b="1" dirty="0"/>
              <a:t>     </a:t>
            </a:r>
            <a:r>
              <a:rPr lang="zh-CN" altLang="zh-CN" b="1" dirty="0"/>
              <a:t>二是说明了程序处理数据时</a:t>
            </a:r>
            <a:r>
              <a:rPr lang="zh-CN" altLang="en-US" b="1" dirty="0"/>
              <a:t>可以</a:t>
            </a:r>
            <a:r>
              <a:rPr lang="zh-CN" altLang="zh-CN" b="1" dirty="0"/>
              <a:t>采用</a:t>
            </a:r>
            <a:r>
              <a:rPr lang="zh-CN" altLang="en-US" b="1" dirty="0"/>
              <a:t>的</a:t>
            </a:r>
            <a:r>
              <a:rPr lang="zh-CN" altLang="zh-CN" b="1" dirty="0"/>
              <a:t>运算方法（操作）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>
              <a:buFont typeface="Wingdings" pitchFamily="2" charset="2"/>
              <a:buNone/>
            </a:pPr>
            <a:r>
              <a:rPr lang="en-US" altLang="zh-CN" sz="2400" b="1" dirty="0"/>
              <a:t>    </a:t>
            </a:r>
          </a:p>
          <a:p>
            <a:pPr>
              <a:buFont typeface="Wingdings" pitchFamily="2" charset="2"/>
              <a:buNone/>
            </a:pPr>
            <a:endParaRPr lang="zh-CN" altLang="zh-CN" sz="2400" b="1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814C2B-E4B1-44CA-9756-5F409F079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5112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1">
            <a:extLst>
              <a:ext uri="{FF2B5EF4-FFF2-40B4-BE49-F238E27FC236}">
                <a16:creationId xmlns:a16="http://schemas.microsoft.com/office/drawing/2014/main" id="{0D5FB201-142F-40A5-A5EE-93C84AF08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3573464"/>
            <a:ext cx="273685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latin typeface="宋体" pitchFamily="2" charset="-122"/>
                <a:ea typeface="+mn-ea"/>
              </a:rPr>
              <a:t>数组类型</a:t>
            </a:r>
            <a:r>
              <a:rPr lang="zh-CN" altLang="en-US" sz="2000" b="1" dirty="0"/>
              <a:t>（</a:t>
            </a:r>
            <a:r>
              <a:rPr lang="en-US" altLang="zh-CN" sz="2000" b="1" dirty="0">
                <a:solidFill>
                  <a:srgbClr val="FF3300"/>
                </a:solidFill>
              </a:rPr>
              <a:t>[ ]</a:t>
            </a:r>
            <a:r>
              <a:rPr lang="zh-CN" altLang="en-US" sz="2000" b="1" dirty="0"/>
              <a:t>）</a:t>
            </a:r>
          </a:p>
          <a:p>
            <a:pPr eaLnBrk="1" hangingPunct="1"/>
            <a:r>
              <a:rPr lang="zh-CN" altLang="en-US" sz="2000" b="1" dirty="0">
                <a:latin typeface="宋体" pitchFamily="2" charset="-122"/>
                <a:ea typeface="+mn-ea"/>
              </a:rPr>
              <a:t>结构体类型</a:t>
            </a:r>
            <a:r>
              <a:rPr lang="zh-CN" altLang="en-US" sz="2000" b="1" dirty="0"/>
              <a:t>（</a:t>
            </a:r>
            <a:r>
              <a:rPr lang="en-US" altLang="zh-CN" sz="2000" b="1" dirty="0">
                <a:solidFill>
                  <a:srgbClr val="FF3300"/>
                </a:solidFill>
              </a:rPr>
              <a:t>struct</a:t>
            </a:r>
            <a:r>
              <a:rPr lang="zh-CN" altLang="en-US" sz="2000" b="1" dirty="0"/>
              <a:t>）</a:t>
            </a:r>
          </a:p>
          <a:p>
            <a:pPr eaLnBrk="1" hangingPunct="1"/>
            <a:r>
              <a:rPr lang="zh-CN" altLang="en-US" sz="2000" b="1" dirty="0">
                <a:latin typeface="宋体" pitchFamily="2" charset="-122"/>
                <a:ea typeface="+mn-ea"/>
              </a:rPr>
              <a:t>共用体类型</a:t>
            </a:r>
            <a:r>
              <a:rPr lang="zh-CN" altLang="en-US" sz="2000" b="1" dirty="0"/>
              <a:t>（</a:t>
            </a:r>
            <a:r>
              <a:rPr lang="en-US" altLang="zh-CN" sz="2000" b="1" dirty="0">
                <a:solidFill>
                  <a:srgbClr val="FF3300"/>
                </a:solidFill>
              </a:rPr>
              <a:t>union</a:t>
            </a:r>
            <a:r>
              <a:rPr lang="zh-CN" altLang="en-US" sz="2000" b="1" dirty="0"/>
              <a:t>）</a:t>
            </a:r>
          </a:p>
        </p:txBody>
      </p:sp>
      <p:sp>
        <p:nvSpPr>
          <p:cNvPr id="4" name="Text Box 50">
            <a:extLst>
              <a:ext uri="{FF2B5EF4-FFF2-40B4-BE49-F238E27FC236}">
                <a16:creationId xmlns:a16="http://schemas.microsoft.com/office/drawing/2014/main" id="{73D6396B-58BE-426F-8BF9-5935CFC6B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2276476"/>
            <a:ext cx="8651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latin typeface="宋体" pitchFamily="2" charset="-122"/>
                <a:ea typeface="+mn-ea"/>
              </a:rPr>
              <a:t>实型</a:t>
            </a:r>
          </a:p>
        </p:txBody>
      </p:sp>
      <p:sp>
        <p:nvSpPr>
          <p:cNvPr id="5" name="Text Box 53">
            <a:extLst>
              <a:ext uri="{FF2B5EF4-FFF2-40B4-BE49-F238E27FC236}">
                <a16:creationId xmlns:a16="http://schemas.microsoft.com/office/drawing/2014/main" id="{110C0181-0F13-48DA-9189-3497AA5A0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2133601"/>
            <a:ext cx="259238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latin typeface="宋体" pitchFamily="2" charset="-122"/>
                <a:ea typeface="+mn-ea"/>
              </a:rPr>
              <a:t>单精度型</a:t>
            </a:r>
            <a:r>
              <a:rPr lang="zh-CN" altLang="en-US" sz="2000" b="1" dirty="0"/>
              <a:t>（</a:t>
            </a:r>
            <a:r>
              <a:rPr lang="en-US" altLang="zh-CN" sz="2000" b="1" dirty="0">
                <a:solidFill>
                  <a:srgbClr val="FF3300"/>
                </a:solidFill>
              </a:rPr>
              <a:t>float</a:t>
            </a:r>
            <a:r>
              <a:rPr lang="zh-CN" altLang="en-US" sz="2000" b="1" dirty="0"/>
              <a:t>）                                </a:t>
            </a:r>
            <a:r>
              <a:rPr lang="zh-CN" altLang="en-US" sz="2000" b="1" dirty="0">
                <a:latin typeface="宋体" pitchFamily="2" charset="-122"/>
                <a:ea typeface="+mn-ea"/>
              </a:rPr>
              <a:t>双精度型</a:t>
            </a:r>
            <a:r>
              <a:rPr lang="zh-CN" altLang="en-US" sz="2000" b="1" dirty="0"/>
              <a:t>（</a:t>
            </a:r>
            <a:r>
              <a:rPr lang="en-US" altLang="zh-CN" sz="2000" b="1" dirty="0">
                <a:solidFill>
                  <a:srgbClr val="FF3300"/>
                </a:solidFill>
              </a:rPr>
              <a:t>double</a:t>
            </a:r>
            <a:r>
              <a:rPr lang="zh-CN" altLang="en-US" sz="2000" b="1" dirty="0"/>
              <a:t>）</a:t>
            </a:r>
            <a:endParaRPr lang="zh-CN" altLang="en-US" sz="2000" dirty="0"/>
          </a:p>
        </p:txBody>
      </p:sp>
      <p:sp>
        <p:nvSpPr>
          <p:cNvPr id="6" name="AutoShape 31">
            <a:extLst>
              <a:ext uri="{FF2B5EF4-FFF2-40B4-BE49-F238E27FC236}">
                <a16:creationId xmlns:a16="http://schemas.microsoft.com/office/drawing/2014/main" id="{E8ED98BE-FF12-4E0B-A000-131A4F30A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545" y="3656935"/>
            <a:ext cx="3683351" cy="1571842"/>
          </a:xfrm>
          <a:prstGeom prst="wedgeRectCallout">
            <a:avLst>
              <a:gd name="adj1" fmla="val -71679"/>
              <a:gd name="adj2" fmla="val -57465"/>
            </a:avLst>
          </a:prstGeom>
          <a:solidFill>
            <a:schemeClr val="bg1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400" dirty="0">
                <a:ea typeface="隶书" pitchFamily="49" charset="-122"/>
              </a:rPr>
              <a:t>数据类型决定：</a:t>
            </a:r>
          </a:p>
          <a:p>
            <a:r>
              <a:rPr kumimoji="1" lang="en-US" altLang="zh-CN" sz="2400" dirty="0">
                <a:ea typeface="隶书" pitchFamily="49" charset="-122"/>
              </a:rPr>
              <a:t>1. </a:t>
            </a:r>
            <a:r>
              <a:rPr kumimoji="1" lang="zh-CN" altLang="en-US" sz="2400" dirty="0">
                <a:ea typeface="隶书" pitchFamily="49" charset="-122"/>
              </a:rPr>
              <a:t>数据占用的内存字节数</a:t>
            </a:r>
          </a:p>
          <a:p>
            <a:r>
              <a:rPr kumimoji="1" lang="en-US" altLang="zh-CN" sz="2400" dirty="0">
                <a:ea typeface="隶书" pitchFamily="49" charset="-122"/>
              </a:rPr>
              <a:t>2. </a:t>
            </a:r>
            <a:r>
              <a:rPr kumimoji="1" lang="zh-CN" altLang="en-US" sz="2400" dirty="0">
                <a:ea typeface="隶书" pitchFamily="49" charset="-122"/>
              </a:rPr>
              <a:t>数据取值范围</a:t>
            </a:r>
          </a:p>
          <a:p>
            <a:r>
              <a:rPr kumimoji="1" lang="en-US" altLang="zh-CN" sz="2400" dirty="0">
                <a:ea typeface="隶书" pitchFamily="49" charset="-122"/>
              </a:rPr>
              <a:t>3. </a:t>
            </a:r>
            <a:r>
              <a:rPr kumimoji="1" lang="zh-CN" altLang="en-US" sz="2400" dirty="0">
                <a:ea typeface="隶书" pitchFamily="49" charset="-122"/>
              </a:rPr>
              <a:t>对其可执行的操作</a:t>
            </a:r>
          </a:p>
        </p:txBody>
      </p:sp>
      <p:sp>
        <p:nvSpPr>
          <p:cNvPr id="7" name="Rectangle 36">
            <a:extLst>
              <a:ext uri="{FF2B5EF4-FFF2-40B4-BE49-F238E27FC236}">
                <a16:creationId xmlns:a16="http://schemas.microsoft.com/office/drawing/2014/main" id="{8A986E9D-4C34-455D-A06C-47C21BD374D4}"/>
              </a:ext>
            </a:extLst>
          </p:cNvPr>
          <p:cNvSpPr txBox="1">
            <a:spLocks noChangeArrowheads="1"/>
          </p:cNvSpPr>
          <p:nvPr/>
        </p:nvSpPr>
        <p:spPr>
          <a:xfrm>
            <a:off x="3635375" y="1412875"/>
            <a:ext cx="4249738" cy="719139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000" b="1" dirty="0">
                <a:latin typeface="宋体" pitchFamily="2" charset="-122"/>
              </a:rPr>
              <a:t>字符型（</a:t>
            </a:r>
            <a:r>
              <a:rPr lang="en-US" altLang="zh-CN" sz="2000" b="1" dirty="0">
                <a:solidFill>
                  <a:srgbClr val="FF3300"/>
                </a:solidFill>
              </a:rPr>
              <a:t>char</a:t>
            </a:r>
            <a:r>
              <a:rPr lang="zh-CN" altLang="en-US" sz="2000" b="1" dirty="0">
                <a:latin typeface="宋体" pitchFamily="2" charset="-122"/>
              </a:rPr>
              <a:t>）</a:t>
            </a:r>
            <a:endParaRPr lang="zh-CN" altLang="en-US" sz="2000" b="1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000" b="1" dirty="0">
                <a:latin typeface="宋体" pitchFamily="2" charset="-122"/>
              </a:rPr>
              <a:t>整型（</a:t>
            </a:r>
            <a:r>
              <a:rPr lang="en-US" altLang="zh-CN" sz="2000" b="1" dirty="0" err="1">
                <a:solidFill>
                  <a:srgbClr val="FF3300"/>
                </a:solidFill>
              </a:rPr>
              <a:t>short,int,long,unsigned</a:t>
            </a:r>
            <a:r>
              <a:rPr lang="zh-CN" altLang="en-US" sz="2000" b="1" dirty="0">
                <a:latin typeface="宋体" pitchFamily="2" charset="-122"/>
              </a:rPr>
              <a:t>）</a:t>
            </a:r>
          </a:p>
        </p:txBody>
      </p:sp>
      <p:sp>
        <p:nvSpPr>
          <p:cNvPr id="8" name="AutoShape 37">
            <a:extLst>
              <a:ext uri="{FF2B5EF4-FFF2-40B4-BE49-F238E27FC236}">
                <a16:creationId xmlns:a16="http://schemas.microsoft.com/office/drawing/2014/main" id="{F405286E-B5FA-49C1-AFF6-6F27C1FB6EBC}"/>
              </a:ext>
            </a:extLst>
          </p:cNvPr>
          <p:cNvSpPr>
            <a:spLocks/>
          </p:cNvSpPr>
          <p:nvPr/>
        </p:nvSpPr>
        <p:spPr bwMode="auto">
          <a:xfrm>
            <a:off x="1995490" y="2276475"/>
            <a:ext cx="344487" cy="3017839"/>
          </a:xfrm>
          <a:prstGeom prst="leftBrace">
            <a:avLst>
              <a:gd name="adj1" fmla="val 73003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9" name="AutoShape 38">
            <a:extLst>
              <a:ext uri="{FF2B5EF4-FFF2-40B4-BE49-F238E27FC236}">
                <a16:creationId xmlns:a16="http://schemas.microsoft.com/office/drawing/2014/main" id="{467224F4-43C3-42AC-9B89-62C14374CBA8}"/>
              </a:ext>
            </a:extLst>
          </p:cNvPr>
          <p:cNvSpPr>
            <a:spLocks/>
          </p:cNvSpPr>
          <p:nvPr/>
        </p:nvSpPr>
        <p:spPr bwMode="auto">
          <a:xfrm>
            <a:off x="3492500" y="1412875"/>
            <a:ext cx="215900" cy="1728788"/>
          </a:xfrm>
          <a:prstGeom prst="leftBrace">
            <a:avLst>
              <a:gd name="adj1" fmla="val 66728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AutoShape 39">
            <a:extLst>
              <a:ext uri="{FF2B5EF4-FFF2-40B4-BE49-F238E27FC236}">
                <a16:creationId xmlns:a16="http://schemas.microsoft.com/office/drawing/2014/main" id="{E49E0BB2-93BD-48D5-BC8F-2B1AE8A916D7}"/>
              </a:ext>
            </a:extLst>
          </p:cNvPr>
          <p:cNvSpPr>
            <a:spLocks/>
          </p:cNvSpPr>
          <p:nvPr/>
        </p:nvSpPr>
        <p:spPr bwMode="auto">
          <a:xfrm>
            <a:off x="4303713" y="2238377"/>
            <a:ext cx="69850" cy="504825"/>
          </a:xfrm>
          <a:prstGeom prst="leftBrace">
            <a:avLst>
              <a:gd name="adj1" fmla="val 60227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" name="AutoShape 40">
            <a:extLst>
              <a:ext uri="{FF2B5EF4-FFF2-40B4-BE49-F238E27FC236}">
                <a16:creationId xmlns:a16="http://schemas.microsoft.com/office/drawing/2014/main" id="{5CADB5F1-85AD-4940-94CB-179DA476CC26}"/>
              </a:ext>
            </a:extLst>
          </p:cNvPr>
          <p:cNvSpPr>
            <a:spLocks/>
          </p:cNvSpPr>
          <p:nvPr/>
        </p:nvSpPr>
        <p:spPr bwMode="auto">
          <a:xfrm>
            <a:off x="3563940" y="3573465"/>
            <a:ext cx="136525" cy="954087"/>
          </a:xfrm>
          <a:prstGeom prst="leftBrace">
            <a:avLst>
              <a:gd name="adj1" fmla="val 58236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2" name="Text Box 41">
            <a:extLst>
              <a:ext uri="{FF2B5EF4-FFF2-40B4-BE49-F238E27FC236}">
                <a16:creationId xmlns:a16="http://schemas.microsoft.com/office/drawing/2014/main" id="{33A54B5E-C38C-41D4-973C-33A0DC6D1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2095501"/>
            <a:ext cx="1219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 dirty="0">
                <a:latin typeface="宋体" pitchFamily="2" charset="-122"/>
              </a:rPr>
              <a:t>基本类型</a:t>
            </a:r>
          </a:p>
        </p:txBody>
      </p:sp>
      <p:sp>
        <p:nvSpPr>
          <p:cNvPr id="13" name="Text Box 42">
            <a:extLst>
              <a:ext uri="{FF2B5EF4-FFF2-40B4-BE49-F238E27FC236}">
                <a16:creationId xmlns:a16="http://schemas.microsoft.com/office/drawing/2014/main" id="{4713DF23-836A-4014-A9E8-120FB43B0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488" y="3570289"/>
            <a:ext cx="1295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latin typeface="宋体" pitchFamily="2" charset="-122"/>
              </a:rPr>
              <a:t>数据类型</a:t>
            </a:r>
          </a:p>
        </p:txBody>
      </p:sp>
      <p:sp>
        <p:nvSpPr>
          <p:cNvPr id="14" name="Text Box 47">
            <a:extLst>
              <a:ext uri="{FF2B5EF4-FFF2-40B4-BE49-F238E27FC236}">
                <a16:creationId xmlns:a16="http://schemas.microsoft.com/office/drawing/2014/main" id="{22CC1611-CD5F-489C-87F4-344FD6A9A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3860801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 dirty="0"/>
              <a:t>构造类型</a:t>
            </a:r>
          </a:p>
        </p:txBody>
      </p:sp>
      <p:sp>
        <p:nvSpPr>
          <p:cNvPr id="15" name="Text Box 48">
            <a:extLst>
              <a:ext uri="{FF2B5EF4-FFF2-40B4-BE49-F238E27FC236}">
                <a16:creationId xmlns:a16="http://schemas.microsoft.com/office/drawing/2014/main" id="{C1FF2C17-3367-4AAE-A030-2717018EE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7" y="4652964"/>
            <a:ext cx="20875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latin typeface="宋体" pitchFamily="2" charset="-122"/>
                <a:ea typeface="+mn-ea"/>
              </a:rPr>
              <a:t>指针类型</a:t>
            </a:r>
            <a:r>
              <a:rPr lang="zh-CN" altLang="en-US" sz="2000" b="1" dirty="0"/>
              <a:t>（</a:t>
            </a:r>
            <a:r>
              <a:rPr lang="zh-CN" altLang="en-US" sz="2000" b="1" dirty="0">
                <a:solidFill>
                  <a:srgbClr val="FF3300"/>
                </a:solidFill>
              </a:rPr>
              <a:t>*</a:t>
            </a:r>
            <a:r>
              <a:rPr lang="zh-CN" altLang="en-US" sz="2000" b="1" dirty="0"/>
              <a:t>）</a:t>
            </a:r>
          </a:p>
        </p:txBody>
      </p:sp>
      <p:sp>
        <p:nvSpPr>
          <p:cNvPr id="16" name="Text Box 49">
            <a:extLst>
              <a:ext uri="{FF2B5EF4-FFF2-40B4-BE49-F238E27FC236}">
                <a16:creationId xmlns:a16="http://schemas.microsoft.com/office/drawing/2014/main" id="{E79FA3C6-87C2-4BAB-A68E-546D6D076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7" y="5157789"/>
            <a:ext cx="2087563" cy="317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zh-CN" altLang="en-US" sz="2000" b="1" dirty="0">
                <a:latin typeface="宋体" pitchFamily="2" charset="-122"/>
                <a:ea typeface="+mn-ea"/>
              </a:rPr>
              <a:t>空类型</a:t>
            </a:r>
            <a:r>
              <a:rPr lang="zh-CN" altLang="en-US" sz="2000" b="1" dirty="0"/>
              <a:t>（</a:t>
            </a:r>
            <a:r>
              <a:rPr lang="en-US" altLang="zh-CN" sz="2000" b="1" dirty="0">
                <a:solidFill>
                  <a:srgbClr val="FF3300"/>
                </a:solidFill>
              </a:rPr>
              <a:t>void</a:t>
            </a:r>
            <a:r>
              <a:rPr lang="zh-CN" altLang="en-US" sz="2000" b="1" dirty="0"/>
              <a:t>）</a:t>
            </a:r>
            <a:endParaRPr lang="zh-CN" altLang="en-US" sz="20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5C66D1-6974-4F59-A363-92B97568C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6" y="2957513"/>
            <a:ext cx="22974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latin typeface="宋体" pitchFamily="2" charset="-122"/>
                <a:ea typeface="+mn-ea"/>
              </a:rPr>
              <a:t>枚举类型</a:t>
            </a:r>
            <a:r>
              <a:rPr lang="zh-CN" altLang="en-US" b="1" dirty="0"/>
              <a:t>（</a:t>
            </a:r>
            <a:r>
              <a:rPr lang="en-US" altLang="zh-CN" b="1" dirty="0" err="1">
                <a:solidFill>
                  <a:srgbClr val="FF3300"/>
                </a:solidFill>
              </a:rPr>
              <a:t>enum</a:t>
            </a:r>
            <a:r>
              <a:rPr lang="zh-CN" altLang="en-US" b="1" dirty="0"/>
              <a:t>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81C9274-9C95-48A8-B927-55E111B961CA}"/>
              </a:ext>
            </a:extLst>
          </p:cNvPr>
          <p:cNvSpPr/>
          <p:nvPr/>
        </p:nvSpPr>
        <p:spPr>
          <a:xfrm>
            <a:off x="0" y="719638"/>
            <a:ext cx="28023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 sz="2400" b="1" dirty="0">
                <a:latin typeface="隶书" pitchFamily="49" charset="-122"/>
              </a:rPr>
              <a:t>C</a:t>
            </a:r>
            <a:r>
              <a:rPr lang="zh-CN" altLang="en-US" sz="2400" b="1" dirty="0">
                <a:latin typeface="隶书" pitchFamily="49" charset="-122"/>
              </a:rPr>
              <a:t>语言数据类型总表</a:t>
            </a:r>
          </a:p>
        </p:txBody>
      </p: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C901A67B-DE41-4548-BB8A-9A124755C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6666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 animBg="1" autoUpdateAnimBg="0"/>
      <p:bldP spid="7" grpId="0" build="p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99A5103-316B-4ECD-8280-1B7894DEEBBA}"/>
              </a:ext>
            </a:extLst>
          </p:cNvPr>
          <p:cNvSpPr/>
          <p:nvPr/>
        </p:nvSpPr>
        <p:spPr>
          <a:xfrm>
            <a:off x="0" y="719638"/>
            <a:ext cx="20377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基本数据类型</a:t>
            </a:r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2BA70BB4-6EBE-447A-952E-EFEB3F5377A3}"/>
              </a:ext>
            </a:extLst>
          </p:cNvPr>
          <p:cNvGrpSpPr>
            <a:grpSpLocks/>
          </p:cNvGrpSpPr>
          <p:nvPr/>
        </p:nvGrpSpPr>
        <p:grpSpPr bwMode="auto">
          <a:xfrm>
            <a:off x="1563104" y="1181303"/>
            <a:ext cx="8205787" cy="4495800"/>
            <a:chOff x="447" y="588"/>
            <a:chExt cx="5169" cy="2832"/>
          </a:xfrm>
        </p:grpSpPr>
        <p:sp>
          <p:nvSpPr>
            <p:cNvPr id="5" name="Line 12">
              <a:extLst>
                <a:ext uri="{FF2B5EF4-FFF2-40B4-BE49-F238E27FC236}">
                  <a16:creationId xmlns:a16="http://schemas.microsoft.com/office/drawing/2014/main" id="{68F0A483-A884-48A5-8EEB-36F5E52F96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948"/>
              <a:ext cx="5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" name="Line 13">
              <a:extLst>
                <a:ext uri="{FF2B5EF4-FFF2-40B4-BE49-F238E27FC236}">
                  <a16:creationId xmlns:a16="http://schemas.microsoft.com/office/drawing/2014/main" id="{1C45A131-0811-405E-A15B-86A4ED55A2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" y="2410"/>
              <a:ext cx="5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" name="Line 14">
              <a:extLst>
                <a:ext uri="{FF2B5EF4-FFF2-40B4-BE49-F238E27FC236}">
                  <a16:creationId xmlns:a16="http://schemas.microsoft.com/office/drawing/2014/main" id="{E4152BB9-412E-4D16-930B-0251DEF7D3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" y="2899"/>
              <a:ext cx="5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Line 15">
              <a:extLst>
                <a:ext uri="{FF2B5EF4-FFF2-40B4-BE49-F238E27FC236}">
                  <a16:creationId xmlns:a16="http://schemas.microsoft.com/office/drawing/2014/main" id="{E78683AC-FB54-4DF1-8CEE-4C3F958A58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" y="588"/>
              <a:ext cx="0" cy="28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Line 16">
              <a:extLst>
                <a:ext uri="{FF2B5EF4-FFF2-40B4-BE49-F238E27FC236}">
                  <a16:creationId xmlns:a16="http://schemas.microsoft.com/office/drawing/2014/main" id="{253A9C60-F15F-418C-9AC7-C27415F03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6" y="588"/>
              <a:ext cx="0" cy="28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17">
              <a:extLst>
                <a:ext uri="{FF2B5EF4-FFF2-40B4-BE49-F238E27FC236}">
                  <a16:creationId xmlns:a16="http://schemas.microsoft.com/office/drawing/2014/main" id="{12612DAA-D226-4566-8A8B-D9B6938695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6" y="600"/>
              <a:ext cx="0" cy="28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18">
              <a:extLst>
                <a:ext uri="{FF2B5EF4-FFF2-40B4-BE49-F238E27FC236}">
                  <a16:creationId xmlns:a16="http://schemas.microsoft.com/office/drawing/2014/main" id="{6640104E-6BFB-459E-84E2-B6739A5C2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0" y="612"/>
              <a:ext cx="0" cy="28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19">
              <a:extLst>
                <a:ext uri="{FF2B5EF4-FFF2-40B4-BE49-F238E27FC236}">
                  <a16:creationId xmlns:a16="http://schemas.microsoft.com/office/drawing/2014/main" id="{4AE5EBF6-ED50-44B3-AC7B-684EBDF2ED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" y="1677"/>
              <a:ext cx="47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20">
              <a:extLst>
                <a:ext uri="{FF2B5EF4-FFF2-40B4-BE49-F238E27FC236}">
                  <a16:creationId xmlns:a16="http://schemas.microsoft.com/office/drawing/2014/main" id="{F6F863D4-CC7D-4B64-AC27-8CAE35FB34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" y="2655"/>
              <a:ext cx="47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Line 21">
              <a:extLst>
                <a:ext uri="{FF2B5EF4-FFF2-40B4-BE49-F238E27FC236}">
                  <a16:creationId xmlns:a16="http://schemas.microsoft.com/office/drawing/2014/main" id="{75A129F7-52B1-4A48-A4EE-F1754C89C3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" y="3144"/>
              <a:ext cx="47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22">
              <a:extLst>
                <a:ext uri="{FF2B5EF4-FFF2-40B4-BE49-F238E27FC236}">
                  <a16:creationId xmlns:a16="http://schemas.microsoft.com/office/drawing/2014/main" id="{149B2B49-9A0A-4507-9FE9-31423B9F19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6" y="1188"/>
              <a:ext cx="44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Line 23">
              <a:extLst>
                <a:ext uri="{FF2B5EF4-FFF2-40B4-BE49-F238E27FC236}">
                  <a16:creationId xmlns:a16="http://schemas.microsoft.com/office/drawing/2014/main" id="{B6C6ED17-614D-4274-99CB-E364DF33A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6" y="1432"/>
              <a:ext cx="44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Line 24">
              <a:extLst>
                <a:ext uri="{FF2B5EF4-FFF2-40B4-BE49-F238E27FC236}">
                  <a16:creationId xmlns:a16="http://schemas.microsoft.com/office/drawing/2014/main" id="{60535981-DC91-42C2-BD9E-69BFFA7E4D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6" y="1921"/>
              <a:ext cx="44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25">
              <a:extLst>
                <a:ext uri="{FF2B5EF4-FFF2-40B4-BE49-F238E27FC236}">
                  <a16:creationId xmlns:a16="http://schemas.microsoft.com/office/drawing/2014/main" id="{ED081CB5-C518-41F0-8B9C-E216F56693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6" y="2161"/>
              <a:ext cx="44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Text Box 26">
              <a:extLst>
                <a:ext uri="{FF2B5EF4-FFF2-40B4-BE49-F238E27FC236}">
                  <a16:creationId xmlns:a16="http://schemas.microsoft.com/office/drawing/2014/main" id="{438329A8-9D47-4950-8E44-39DD251E63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" y="634"/>
              <a:ext cx="434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ea typeface="隶书" pitchFamily="49" charset="-122"/>
                </a:rPr>
                <a:t>类型</a:t>
              </a:r>
            </a:p>
          </p:txBody>
        </p:sp>
        <p:sp>
          <p:nvSpPr>
            <p:cNvPr id="20" name="Text Box 27">
              <a:extLst>
                <a:ext uri="{FF2B5EF4-FFF2-40B4-BE49-F238E27FC236}">
                  <a16:creationId xmlns:a16="http://schemas.microsoft.com/office/drawing/2014/main" id="{2BF403A1-8DA9-41B3-92F8-FA11CDD27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" y="634"/>
              <a:ext cx="434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ea typeface="隶书" pitchFamily="49" charset="-122"/>
                </a:rPr>
                <a:t>符号</a:t>
              </a:r>
            </a:p>
          </p:txBody>
        </p:sp>
        <p:sp>
          <p:nvSpPr>
            <p:cNvPr id="21" name="Text Box 28">
              <a:extLst>
                <a:ext uri="{FF2B5EF4-FFF2-40B4-BE49-F238E27FC236}">
                  <a16:creationId xmlns:a16="http://schemas.microsoft.com/office/drawing/2014/main" id="{C2475BD8-ED62-4F7B-A75C-5ECE9BA7A3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5" y="634"/>
              <a:ext cx="594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ea typeface="隶书" pitchFamily="49" charset="-122"/>
                </a:rPr>
                <a:t>关键字</a:t>
              </a:r>
            </a:p>
          </p:txBody>
        </p:sp>
        <p:sp>
          <p:nvSpPr>
            <p:cNvPr id="22" name="Text Box 29">
              <a:extLst>
                <a:ext uri="{FF2B5EF4-FFF2-40B4-BE49-F238E27FC236}">
                  <a16:creationId xmlns:a16="http://schemas.microsoft.com/office/drawing/2014/main" id="{B7B8A476-992F-4B57-B2B9-E3F8A53685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" y="634"/>
              <a:ext cx="1161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ea typeface="隶书" pitchFamily="49" charset="-122"/>
                </a:rPr>
                <a:t>数的表示范围</a:t>
              </a:r>
            </a:p>
          </p:txBody>
        </p:sp>
        <p:sp>
          <p:nvSpPr>
            <p:cNvPr id="23" name="Text Box 30">
              <a:extLst>
                <a:ext uri="{FF2B5EF4-FFF2-40B4-BE49-F238E27FC236}">
                  <a16:creationId xmlns:a16="http://schemas.microsoft.com/office/drawing/2014/main" id="{AC4486AE-A2EB-44B5-8B74-9C9AA28D09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7" y="646"/>
              <a:ext cx="914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ea typeface="隶书" pitchFamily="49" charset="-122"/>
                </a:rPr>
                <a:t>所占字节</a:t>
              </a:r>
              <a:endParaRPr kumimoji="1" lang="en-US" altLang="zh-CN" sz="2000">
                <a:ea typeface="隶书" pitchFamily="49" charset="-122"/>
              </a:endParaRPr>
            </a:p>
          </p:txBody>
        </p:sp>
      </p:grpSp>
      <p:sp>
        <p:nvSpPr>
          <p:cNvPr id="24" name="Text Box 31">
            <a:extLst>
              <a:ext uri="{FF2B5EF4-FFF2-40B4-BE49-F238E27FC236}">
                <a16:creationId xmlns:a16="http://schemas.microsoft.com/office/drawing/2014/main" id="{7E44BE29-B761-425C-B56E-C59492795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2381" y="2646566"/>
            <a:ext cx="489534" cy="60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000">
                <a:ea typeface="隶书" pitchFamily="49" charset="-122"/>
              </a:rPr>
              <a:t>整型</a:t>
            </a:r>
            <a:endParaRPr kumimoji="1" lang="zh-CN" altLang="en-US" sz="2400">
              <a:ea typeface="隶书" pitchFamily="49" charset="-122"/>
            </a:endParaRPr>
          </a:p>
        </p:txBody>
      </p:sp>
      <p:sp>
        <p:nvSpPr>
          <p:cNvPr id="25" name="Text Box 32">
            <a:extLst>
              <a:ext uri="{FF2B5EF4-FFF2-40B4-BE49-F238E27FC236}">
                <a16:creationId xmlns:a16="http://schemas.microsoft.com/office/drawing/2014/main" id="{7D2F69E8-F3FB-423D-AD96-B4947DACF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3331" y="4856366"/>
            <a:ext cx="489534" cy="863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000">
                <a:ea typeface="隶书" pitchFamily="49" charset="-122"/>
              </a:rPr>
              <a:t>字符型</a:t>
            </a:r>
            <a:endParaRPr kumimoji="1" lang="zh-CN" altLang="en-US" sz="2400">
              <a:ea typeface="隶书" pitchFamily="49" charset="-122"/>
            </a:endParaRPr>
          </a:p>
        </p:txBody>
      </p:sp>
      <p:sp>
        <p:nvSpPr>
          <p:cNvPr id="26" name="Text Box 33">
            <a:extLst>
              <a:ext uri="{FF2B5EF4-FFF2-40B4-BE49-F238E27FC236}">
                <a16:creationId xmlns:a16="http://schemas.microsoft.com/office/drawing/2014/main" id="{9B8C36A1-7577-4823-9A3D-9379368CD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3331" y="4208666"/>
            <a:ext cx="489534" cy="60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000">
                <a:ea typeface="隶书" pitchFamily="49" charset="-122"/>
              </a:rPr>
              <a:t>实型</a:t>
            </a:r>
            <a:endParaRPr kumimoji="1" lang="zh-CN" altLang="en-US" sz="2400">
              <a:ea typeface="隶书" pitchFamily="49" charset="-122"/>
            </a:endParaRPr>
          </a:p>
        </p:txBody>
      </p:sp>
      <p:sp>
        <p:nvSpPr>
          <p:cNvPr id="27" name="Text Box 34">
            <a:extLst>
              <a:ext uri="{FF2B5EF4-FFF2-40B4-BE49-F238E27FC236}">
                <a16:creationId xmlns:a16="http://schemas.microsoft.com/office/drawing/2014/main" id="{9A3BC114-320B-4104-84AC-7974CD880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303" y="2098878"/>
            <a:ext cx="438238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000">
                <a:ea typeface="隶书" pitchFamily="49" charset="-122"/>
              </a:rPr>
              <a:t>有</a:t>
            </a:r>
          </a:p>
        </p:txBody>
      </p:sp>
      <p:sp>
        <p:nvSpPr>
          <p:cNvPr id="28" name="Text Box 35">
            <a:extLst>
              <a:ext uri="{FF2B5EF4-FFF2-40B4-BE49-F238E27FC236}">
                <a16:creationId xmlns:a16="http://schemas.microsoft.com/office/drawing/2014/main" id="{0963A575-390E-4EDA-BD6F-5308B9BFD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303" y="3318078"/>
            <a:ext cx="438238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000">
                <a:ea typeface="隶书" pitchFamily="49" charset="-122"/>
              </a:rPr>
              <a:t>无</a:t>
            </a:r>
          </a:p>
        </p:txBody>
      </p:sp>
      <p:grpSp>
        <p:nvGrpSpPr>
          <p:cNvPr id="29" name="Group 36">
            <a:extLst>
              <a:ext uri="{FF2B5EF4-FFF2-40B4-BE49-F238E27FC236}">
                <a16:creationId xmlns:a16="http://schemas.microsoft.com/office/drawing/2014/main" id="{2BF7089A-76FC-498B-B98C-FD6E6AF13E3D}"/>
              </a:ext>
            </a:extLst>
          </p:cNvPr>
          <p:cNvGrpSpPr>
            <a:grpSpLocks/>
          </p:cNvGrpSpPr>
          <p:nvPr/>
        </p:nvGrpSpPr>
        <p:grpSpPr bwMode="auto">
          <a:xfrm>
            <a:off x="2828341" y="1735340"/>
            <a:ext cx="5561013" cy="473075"/>
            <a:chOff x="1228" y="921"/>
            <a:chExt cx="3503" cy="298"/>
          </a:xfrm>
        </p:grpSpPr>
        <p:sp>
          <p:nvSpPr>
            <p:cNvPr id="30" name="Text Box 37">
              <a:extLst>
                <a:ext uri="{FF2B5EF4-FFF2-40B4-BE49-F238E27FC236}">
                  <a16:creationId xmlns:a16="http://schemas.microsoft.com/office/drawing/2014/main" id="{41749B97-46E1-4395-9E89-E823A974DA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8" y="921"/>
              <a:ext cx="1395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 b="1" dirty="0">
                  <a:latin typeface="Times New Roman" pitchFamily="18" charset="0"/>
                  <a:ea typeface="隶书" pitchFamily="49" charset="-122"/>
                </a:rPr>
                <a:t>[</a:t>
              </a:r>
              <a:r>
                <a:rPr kumimoji="1" lang="en-US" altLang="zh-CN" sz="2000" b="1" dirty="0">
                  <a:latin typeface="Times New Roman" pitchFamily="18" charset="0"/>
                </a:rPr>
                <a:t>signed] </a:t>
              </a:r>
              <a:r>
                <a:rPr kumimoji="1" lang="en-US" altLang="zh-CN" sz="2000" b="1" dirty="0">
                  <a:solidFill>
                    <a:srgbClr val="0000FF"/>
                  </a:solidFill>
                  <a:latin typeface="Times New Roman" pitchFamily="18" charset="0"/>
                  <a:ea typeface="隶书" pitchFamily="49" charset="-122"/>
                </a:rPr>
                <a:t>short</a:t>
              </a:r>
              <a:r>
                <a:rPr kumimoji="1" lang="en-US" altLang="zh-CN" sz="2000" b="1" dirty="0">
                  <a:solidFill>
                    <a:srgbClr val="FF0000"/>
                  </a:solidFill>
                  <a:latin typeface="Times New Roman" pitchFamily="18" charset="0"/>
                </a:rPr>
                <a:t> 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Times New Roman" pitchFamily="18" charset="0"/>
                </a:rPr>
                <a:t>[int]</a:t>
              </a:r>
            </a:p>
          </p:txBody>
        </p:sp>
        <p:sp>
          <p:nvSpPr>
            <p:cNvPr id="31" name="Text Box 38">
              <a:extLst>
                <a:ext uri="{FF2B5EF4-FFF2-40B4-BE49-F238E27FC236}">
                  <a16:creationId xmlns:a16="http://schemas.microsoft.com/office/drawing/2014/main" id="{37956DE0-0B22-4B6B-B0EF-F1CC2457B6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5" y="931"/>
              <a:ext cx="23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>
                  <a:latin typeface="Times New Roman" pitchFamily="18" charset="0"/>
                </a:rPr>
                <a:t> 2</a:t>
              </a:r>
              <a:endParaRPr kumimoji="1" lang="en-US" altLang="zh-CN" sz="4000">
                <a:latin typeface="Times New Roman" pitchFamily="18" charset="0"/>
              </a:endParaRPr>
            </a:p>
          </p:txBody>
        </p:sp>
        <p:sp>
          <p:nvSpPr>
            <p:cNvPr id="32" name="Text Box 39">
              <a:extLst>
                <a:ext uri="{FF2B5EF4-FFF2-40B4-BE49-F238E27FC236}">
                  <a16:creationId xmlns:a16="http://schemas.microsoft.com/office/drawing/2014/main" id="{39B110BE-8963-40A9-AF67-A2B47CCBD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" y="986"/>
              <a:ext cx="97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>
                  <a:latin typeface="Times New Roman" pitchFamily="18" charset="0"/>
                </a:rPr>
                <a:t>-32768~32767</a:t>
              </a:r>
            </a:p>
          </p:txBody>
        </p:sp>
      </p:grpSp>
      <p:grpSp>
        <p:nvGrpSpPr>
          <p:cNvPr id="33" name="Group 40">
            <a:extLst>
              <a:ext uri="{FF2B5EF4-FFF2-40B4-BE49-F238E27FC236}">
                <a16:creationId xmlns:a16="http://schemas.microsoft.com/office/drawing/2014/main" id="{9A46B958-630A-42DB-9E8A-7B794FEE6EC1}"/>
              </a:ext>
            </a:extLst>
          </p:cNvPr>
          <p:cNvGrpSpPr>
            <a:grpSpLocks/>
          </p:cNvGrpSpPr>
          <p:nvPr/>
        </p:nvGrpSpPr>
        <p:grpSpPr bwMode="auto">
          <a:xfrm>
            <a:off x="2828341" y="2141741"/>
            <a:ext cx="6715125" cy="457200"/>
            <a:chOff x="1228" y="1177"/>
            <a:chExt cx="4230" cy="288"/>
          </a:xfrm>
        </p:grpSpPr>
        <p:sp>
          <p:nvSpPr>
            <p:cNvPr id="34" name="Text Box 41">
              <a:extLst>
                <a:ext uri="{FF2B5EF4-FFF2-40B4-BE49-F238E27FC236}">
                  <a16:creationId xmlns:a16="http://schemas.microsoft.com/office/drawing/2014/main" id="{8CAA8654-973F-45DA-AD04-CC8A38DA1E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8" y="1185"/>
              <a:ext cx="89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 b="1" dirty="0">
                  <a:latin typeface="Times New Roman" pitchFamily="18" charset="0"/>
                </a:rPr>
                <a:t>[signed] </a:t>
              </a:r>
              <a:r>
                <a:rPr kumimoji="1" lang="en-US" altLang="zh-CN" sz="2000" b="1" dirty="0">
                  <a:solidFill>
                    <a:srgbClr val="0000FF"/>
                  </a:solidFill>
                  <a:latin typeface="Times New Roman" pitchFamily="18" charset="0"/>
                  <a:ea typeface="隶书" pitchFamily="49" charset="-122"/>
                </a:rPr>
                <a:t>int</a:t>
              </a:r>
            </a:p>
          </p:txBody>
        </p:sp>
        <p:sp>
          <p:nvSpPr>
            <p:cNvPr id="35" name="Text Box 42">
              <a:extLst>
                <a:ext uri="{FF2B5EF4-FFF2-40B4-BE49-F238E27FC236}">
                  <a16:creationId xmlns:a16="http://schemas.microsoft.com/office/drawing/2014/main" id="{EB4D8D64-176B-4D5C-88F5-0243964D1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5" y="1177"/>
              <a:ext cx="23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 dirty="0">
                  <a:latin typeface="Times New Roman" pitchFamily="18" charset="0"/>
                </a:rPr>
                <a:t> 4</a:t>
              </a:r>
              <a:endParaRPr kumimoji="1" lang="en-US" altLang="zh-CN" sz="4000" dirty="0">
                <a:latin typeface="Times New Roman" pitchFamily="18" charset="0"/>
              </a:endParaRPr>
            </a:p>
          </p:txBody>
        </p:sp>
        <p:sp>
          <p:nvSpPr>
            <p:cNvPr id="36" name="Text Box 43">
              <a:extLst>
                <a:ext uri="{FF2B5EF4-FFF2-40B4-BE49-F238E27FC236}">
                  <a16:creationId xmlns:a16="http://schemas.microsoft.com/office/drawing/2014/main" id="{9F96BA0D-775F-488F-8966-CC6D40AF40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" y="1232"/>
              <a:ext cx="169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>
                  <a:latin typeface="Times New Roman" pitchFamily="18" charset="0"/>
                </a:rPr>
                <a:t>-2147483648~2147483647</a:t>
              </a:r>
            </a:p>
          </p:txBody>
        </p:sp>
      </p:grpSp>
      <p:grpSp>
        <p:nvGrpSpPr>
          <p:cNvPr id="37" name="Group 44">
            <a:extLst>
              <a:ext uri="{FF2B5EF4-FFF2-40B4-BE49-F238E27FC236}">
                <a16:creationId xmlns:a16="http://schemas.microsoft.com/office/drawing/2014/main" id="{C57164DE-51F4-4FEC-84E1-AED5615E61D8}"/>
              </a:ext>
            </a:extLst>
          </p:cNvPr>
          <p:cNvGrpSpPr>
            <a:grpSpLocks/>
          </p:cNvGrpSpPr>
          <p:nvPr/>
        </p:nvGrpSpPr>
        <p:grpSpPr bwMode="auto">
          <a:xfrm>
            <a:off x="2828341" y="2478290"/>
            <a:ext cx="6715125" cy="457200"/>
            <a:chOff x="1228" y="1422"/>
            <a:chExt cx="4230" cy="288"/>
          </a:xfrm>
        </p:grpSpPr>
        <p:sp>
          <p:nvSpPr>
            <p:cNvPr id="38" name="Text Box 45">
              <a:extLst>
                <a:ext uri="{FF2B5EF4-FFF2-40B4-BE49-F238E27FC236}">
                  <a16:creationId xmlns:a16="http://schemas.microsoft.com/office/drawing/2014/main" id="{C1DE7382-E519-4A4E-9D9D-E364F3A0D7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8" y="1451"/>
              <a:ext cx="133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 b="1" dirty="0">
                  <a:latin typeface="Times New Roman" pitchFamily="18" charset="0"/>
                </a:rPr>
                <a:t>[signed] </a:t>
              </a:r>
              <a:r>
                <a:rPr kumimoji="1" lang="en-US" altLang="zh-CN" sz="2000" b="1" dirty="0">
                  <a:solidFill>
                    <a:srgbClr val="0000FF"/>
                  </a:solidFill>
                  <a:latin typeface="Times New Roman" pitchFamily="18" charset="0"/>
                  <a:ea typeface="隶书" pitchFamily="49" charset="-122"/>
                </a:rPr>
                <a:t>long</a:t>
              </a:r>
              <a:r>
                <a:rPr kumimoji="1" lang="en-US" altLang="zh-CN" sz="2000" b="1" dirty="0">
                  <a:solidFill>
                    <a:srgbClr val="FF0000"/>
                  </a:solidFill>
                  <a:latin typeface="Times New Roman" pitchFamily="18" charset="0"/>
                </a:rPr>
                <a:t> 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Times New Roman" pitchFamily="18" charset="0"/>
                </a:rPr>
                <a:t>[int]</a:t>
              </a:r>
              <a:endParaRPr kumimoji="1" lang="en-US" altLang="zh-CN" sz="4000" b="1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9" name="Text Box 46">
              <a:extLst>
                <a:ext uri="{FF2B5EF4-FFF2-40B4-BE49-F238E27FC236}">
                  <a16:creationId xmlns:a16="http://schemas.microsoft.com/office/drawing/2014/main" id="{E17D003D-BA8C-4EE5-9BEC-BC534DDDEB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5" y="1422"/>
              <a:ext cx="2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>
                  <a:latin typeface="Times New Roman" pitchFamily="18" charset="0"/>
                </a:rPr>
                <a:t> 4</a:t>
              </a:r>
              <a:endParaRPr kumimoji="1" lang="en-US" altLang="zh-CN" sz="4000">
                <a:latin typeface="Times New Roman" pitchFamily="18" charset="0"/>
              </a:endParaRPr>
            </a:p>
          </p:txBody>
        </p:sp>
        <p:sp>
          <p:nvSpPr>
            <p:cNvPr id="40" name="Text Box 47">
              <a:extLst>
                <a:ext uri="{FF2B5EF4-FFF2-40B4-BE49-F238E27FC236}">
                  <a16:creationId xmlns:a16="http://schemas.microsoft.com/office/drawing/2014/main" id="{F82246B8-87C5-411A-B0D8-322214F076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" y="1477"/>
              <a:ext cx="169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>
                  <a:latin typeface="Times New Roman" pitchFamily="18" charset="0"/>
                </a:rPr>
                <a:t>-2147483648~2147483647</a:t>
              </a:r>
            </a:p>
          </p:txBody>
        </p:sp>
      </p:grpSp>
      <p:grpSp>
        <p:nvGrpSpPr>
          <p:cNvPr id="41" name="Group 89">
            <a:extLst>
              <a:ext uri="{FF2B5EF4-FFF2-40B4-BE49-F238E27FC236}">
                <a16:creationId xmlns:a16="http://schemas.microsoft.com/office/drawing/2014/main" id="{46F89556-C24C-4FD4-BAD6-CFE8271F0BD4}"/>
              </a:ext>
            </a:extLst>
          </p:cNvPr>
          <p:cNvGrpSpPr>
            <a:grpSpLocks/>
          </p:cNvGrpSpPr>
          <p:nvPr/>
        </p:nvGrpSpPr>
        <p:grpSpPr bwMode="auto">
          <a:xfrm>
            <a:off x="2853741" y="3284745"/>
            <a:ext cx="5616575" cy="436563"/>
            <a:chOff x="1244" y="1897"/>
            <a:chExt cx="3538" cy="275"/>
          </a:xfrm>
        </p:grpSpPr>
        <p:sp>
          <p:nvSpPr>
            <p:cNvPr id="42" name="Text Box 49">
              <a:extLst>
                <a:ext uri="{FF2B5EF4-FFF2-40B4-BE49-F238E27FC236}">
                  <a16:creationId xmlns:a16="http://schemas.microsoft.com/office/drawing/2014/main" id="{B84922F5-E2DF-400B-92CC-D6472A6B66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" y="1920"/>
              <a:ext cx="19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>
                  <a:latin typeface="Times New Roman" pitchFamily="18" charset="0"/>
                </a:rPr>
                <a:t>4</a:t>
              </a:r>
              <a:endParaRPr kumimoji="1" lang="en-US" altLang="zh-CN" sz="4000">
                <a:latin typeface="Times New Roman" pitchFamily="18" charset="0"/>
              </a:endParaRPr>
            </a:p>
          </p:txBody>
        </p:sp>
        <p:sp>
          <p:nvSpPr>
            <p:cNvPr id="43" name="Text Box 50">
              <a:extLst>
                <a:ext uri="{FF2B5EF4-FFF2-40B4-BE49-F238E27FC236}">
                  <a16:creationId xmlns:a16="http://schemas.microsoft.com/office/drawing/2014/main" id="{BCF88C18-C58C-4812-B96F-1E0D08CC1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4" y="1897"/>
              <a:ext cx="102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 b="1" dirty="0">
                  <a:solidFill>
                    <a:srgbClr val="0000FF"/>
                  </a:solidFill>
                  <a:latin typeface="Times New Roman" pitchFamily="18" charset="0"/>
                </a:rPr>
                <a:t>unsigned int</a:t>
              </a:r>
              <a:endParaRPr kumimoji="1" lang="en-US" altLang="zh-CN" sz="400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44" name="Text Box 51">
              <a:extLst>
                <a:ext uri="{FF2B5EF4-FFF2-40B4-BE49-F238E27FC236}">
                  <a16:creationId xmlns:a16="http://schemas.microsoft.com/office/drawing/2014/main" id="{94445585-B5C9-4D11-A863-F32EC18BBF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1933"/>
              <a:ext cx="99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>
                  <a:latin typeface="Times New Roman" pitchFamily="18" charset="0"/>
                </a:rPr>
                <a:t>0~4294967295</a:t>
              </a:r>
            </a:p>
          </p:txBody>
        </p:sp>
      </p:grpSp>
      <p:grpSp>
        <p:nvGrpSpPr>
          <p:cNvPr id="45" name="Group 52">
            <a:extLst>
              <a:ext uri="{FF2B5EF4-FFF2-40B4-BE49-F238E27FC236}">
                <a16:creationId xmlns:a16="http://schemas.microsoft.com/office/drawing/2014/main" id="{246CE02D-41BC-49EB-A1B1-36796543F3C9}"/>
              </a:ext>
            </a:extLst>
          </p:cNvPr>
          <p:cNvGrpSpPr>
            <a:grpSpLocks/>
          </p:cNvGrpSpPr>
          <p:nvPr/>
        </p:nvGrpSpPr>
        <p:grpSpPr bwMode="auto">
          <a:xfrm>
            <a:off x="2856916" y="3630814"/>
            <a:ext cx="5599113" cy="457200"/>
            <a:chOff x="1228" y="2157"/>
            <a:chExt cx="3527" cy="288"/>
          </a:xfrm>
        </p:grpSpPr>
        <p:sp>
          <p:nvSpPr>
            <p:cNvPr id="46" name="Text Box 53">
              <a:extLst>
                <a:ext uri="{FF2B5EF4-FFF2-40B4-BE49-F238E27FC236}">
                  <a16:creationId xmlns:a16="http://schemas.microsoft.com/office/drawing/2014/main" id="{971D6A4D-D99B-46A7-AB2F-FA6746D0C0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5" y="2157"/>
              <a:ext cx="2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>
                  <a:latin typeface="Times New Roman" pitchFamily="18" charset="0"/>
                </a:rPr>
                <a:t>4</a:t>
              </a:r>
              <a:endParaRPr kumimoji="1" lang="en-US" altLang="zh-CN" sz="4000">
                <a:latin typeface="Times New Roman" pitchFamily="18" charset="0"/>
              </a:endParaRPr>
            </a:p>
          </p:txBody>
        </p:sp>
        <p:sp>
          <p:nvSpPr>
            <p:cNvPr id="47" name="Text Box 54">
              <a:extLst>
                <a:ext uri="{FF2B5EF4-FFF2-40B4-BE49-F238E27FC236}">
                  <a16:creationId xmlns:a16="http://schemas.microsoft.com/office/drawing/2014/main" id="{5C0B5A4A-37D1-4876-A065-762429998C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" y="2212"/>
              <a:ext cx="99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>
                  <a:latin typeface="Times New Roman" pitchFamily="18" charset="0"/>
                </a:rPr>
                <a:t>0~4294967295</a:t>
              </a:r>
            </a:p>
          </p:txBody>
        </p:sp>
        <p:sp>
          <p:nvSpPr>
            <p:cNvPr id="48" name="Text Box 55">
              <a:extLst>
                <a:ext uri="{FF2B5EF4-FFF2-40B4-BE49-F238E27FC236}">
                  <a16:creationId xmlns:a16="http://schemas.microsoft.com/office/drawing/2014/main" id="{DEB4855B-ADC1-4A10-A3D2-96EE46DFA3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8" y="2182"/>
              <a:ext cx="107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 b="1" dirty="0">
                  <a:solidFill>
                    <a:srgbClr val="0000FF"/>
                  </a:solidFill>
                  <a:latin typeface="Times New Roman" pitchFamily="18" charset="0"/>
                  <a:ea typeface="隶书" pitchFamily="49" charset="-122"/>
                </a:rPr>
                <a:t>unsigned long</a:t>
              </a:r>
            </a:p>
          </p:txBody>
        </p:sp>
      </p:grpSp>
      <p:grpSp>
        <p:nvGrpSpPr>
          <p:cNvPr id="49" name="Group 56">
            <a:extLst>
              <a:ext uri="{FF2B5EF4-FFF2-40B4-BE49-F238E27FC236}">
                <a16:creationId xmlns:a16="http://schemas.microsoft.com/office/drawing/2014/main" id="{64B7D15A-90D7-4C12-9969-D04F074E451B}"/>
              </a:ext>
            </a:extLst>
          </p:cNvPr>
          <p:cNvGrpSpPr>
            <a:grpSpLocks/>
          </p:cNvGrpSpPr>
          <p:nvPr/>
        </p:nvGrpSpPr>
        <p:grpSpPr bwMode="auto">
          <a:xfrm>
            <a:off x="2853832" y="2910092"/>
            <a:ext cx="5057890" cy="460375"/>
            <a:chOff x="1269" y="1910"/>
            <a:chExt cx="3106" cy="290"/>
          </a:xfrm>
        </p:grpSpPr>
        <p:sp>
          <p:nvSpPr>
            <p:cNvPr id="50" name="Text Box 57">
              <a:extLst>
                <a:ext uri="{FF2B5EF4-FFF2-40B4-BE49-F238E27FC236}">
                  <a16:creationId xmlns:a16="http://schemas.microsoft.com/office/drawing/2014/main" id="{2D14691D-24B7-4781-B472-F3E0E7F616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9" y="1910"/>
              <a:ext cx="11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 b="1" dirty="0">
                  <a:solidFill>
                    <a:srgbClr val="0000FF"/>
                  </a:solidFill>
                  <a:latin typeface="Times New Roman" pitchFamily="18" charset="0"/>
                  <a:ea typeface="隶书" pitchFamily="49" charset="-122"/>
                </a:rPr>
                <a:t>unsigned short</a:t>
              </a:r>
            </a:p>
          </p:txBody>
        </p:sp>
        <p:sp>
          <p:nvSpPr>
            <p:cNvPr id="51" name="Text Box 58">
              <a:extLst>
                <a:ext uri="{FF2B5EF4-FFF2-40B4-BE49-F238E27FC236}">
                  <a16:creationId xmlns:a16="http://schemas.microsoft.com/office/drawing/2014/main" id="{0319BA4D-7F53-498E-BFAD-171E12BECF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5" y="1912"/>
              <a:ext cx="17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2" name="Text Box 59">
              <a:extLst>
                <a:ext uri="{FF2B5EF4-FFF2-40B4-BE49-F238E27FC236}">
                  <a16:creationId xmlns:a16="http://schemas.microsoft.com/office/drawing/2014/main" id="{CCF7882B-BE7F-4551-81EE-22F1005DD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" y="1967"/>
              <a:ext cx="61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>
                  <a:latin typeface="Times New Roman" pitchFamily="18" charset="0"/>
                </a:rPr>
                <a:t>0~65535</a:t>
              </a:r>
            </a:p>
          </p:txBody>
        </p:sp>
      </p:grpSp>
      <p:grpSp>
        <p:nvGrpSpPr>
          <p:cNvPr id="53" name="Group 60">
            <a:extLst>
              <a:ext uri="{FF2B5EF4-FFF2-40B4-BE49-F238E27FC236}">
                <a16:creationId xmlns:a16="http://schemas.microsoft.com/office/drawing/2014/main" id="{C36246CE-5311-452A-B6E3-FE5C78E79644}"/>
              </a:ext>
            </a:extLst>
          </p:cNvPr>
          <p:cNvGrpSpPr>
            <a:grpSpLocks/>
          </p:cNvGrpSpPr>
          <p:nvPr/>
        </p:nvGrpSpPr>
        <p:grpSpPr bwMode="auto">
          <a:xfrm>
            <a:off x="2274302" y="4088016"/>
            <a:ext cx="6203950" cy="442912"/>
            <a:chOff x="879" y="2403"/>
            <a:chExt cx="3908" cy="279"/>
          </a:xfrm>
        </p:grpSpPr>
        <p:sp>
          <p:nvSpPr>
            <p:cNvPr id="54" name="Text Box 61">
              <a:extLst>
                <a:ext uri="{FF2B5EF4-FFF2-40B4-BE49-F238E27FC236}">
                  <a16:creationId xmlns:a16="http://schemas.microsoft.com/office/drawing/2014/main" id="{17FB76C6-D039-4ADE-8AA3-3A8821290B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9" y="2410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ea typeface="隶书" pitchFamily="49" charset="-122"/>
                </a:rPr>
                <a:t>有</a:t>
              </a:r>
            </a:p>
          </p:txBody>
        </p:sp>
        <p:grpSp>
          <p:nvGrpSpPr>
            <p:cNvPr id="55" name="Group 62">
              <a:extLst>
                <a:ext uri="{FF2B5EF4-FFF2-40B4-BE49-F238E27FC236}">
                  <a16:creationId xmlns:a16="http://schemas.microsoft.com/office/drawing/2014/main" id="{50A90C6C-CDA4-4A27-BAC7-142E3AF0BB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4" y="2403"/>
              <a:ext cx="3453" cy="279"/>
              <a:chOff x="1334" y="2403"/>
              <a:chExt cx="3453" cy="279"/>
            </a:xfrm>
          </p:grpSpPr>
          <p:sp>
            <p:nvSpPr>
              <p:cNvPr id="56" name="Text Box 63">
                <a:extLst>
                  <a:ext uri="{FF2B5EF4-FFF2-40B4-BE49-F238E27FC236}">
                    <a16:creationId xmlns:a16="http://schemas.microsoft.com/office/drawing/2014/main" id="{ABD46BBC-1609-4A15-AE7A-DFEACFC70F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4" y="2409"/>
                <a:ext cx="428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kumimoji="1" lang="en-US" altLang="zh-CN" sz="2000" b="1" dirty="0">
                    <a:solidFill>
                      <a:srgbClr val="0000FF"/>
                    </a:solidFill>
                    <a:latin typeface="Times New Roman" pitchFamily="18" charset="0"/>
                    <a:ea typeface="隶书" pitchFamily="49" charset="-122"/>
                  </a:rPr>
                  <a:t>float</a:t>
                </a:r>
                <a:endParaRPr kumimoji="1" lang="en-US" altLang="zh-CN" sz="2000" b="1" dirty="0">
                  <a:latin typeface="Times New Roman" pitchFamily="18" charset="0"/>
                  <a:ea typeface="隶书" pitchFamily="49" charset="-122"/>
                </a:endParaRPr>
              </a:p>
            </p:txBody>
          </p:sp>
          <p:sp>
            <p:nvSpPr>
              <p:cNvPr id="57" name="Text Box 64">
                <a:extLst>
                  <a:ext uri="{FF2B5EF4-FFF2-40B4-BE49-F238E27FC236}">
                    <a16:creationId xmlns:a16="http://schemas.microsoft.com/office/drawing/2014/main" id="{CAD98393-7CC7-4EE9-A68C-C6F9030067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35" y="2403"/>
                <a:ext cx="27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kumimoji="1" lang="en-US" altLang="zh-CN" sz="2000">
                    <a:latin typeface="Times New Roman" pitchFamily="18" charset="0"/>
                  </a:rPr>
                  <a:t>4</a:t>
                </a:r>
                <a:endParaRPr kumimoji="1" lang="en-US" altLang="zh-CN" sz="4000">
                  <a:latin typeface="Times New Roman" pitchFamily="18" charset="0"/>
                </a:endParaRPr>
              </a:p>
            </p:txBody>
          </p:sp>
          <p:sp>
            <p:nvSpPr>
              <p:cNvPr id="58" name="Text Box 65">
                <a:extLst>
                  <a:ext uri="{FF2B5EF4-FFF2-40B4-BE49-F238E27FC236}">
                    <a16:creationId xmlns:a16="http://schemas.microsoft.com/office/drawing/2014/main" id="{CFEEF318-46D7-4979-822C-B7A43B2D0D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0" y="2449"/>
                <a:ext cx="102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kumimoji="1" lang="en-US" altLang="zh-CN">
                    <a:latin typeface="Times New Roman" pitchFamily="18" charset="0"/>
                  </a:rPr>
                  <a:t>-3.4e38~3.4e38</a:t>
                </a:r>
              </a:p>
            </p:txBody>
          </p:sp>
        </p:grpSp>
      </p:grpSp>
      <p:grpSp>
        <p:nvGrpSpPr>
          <p:cNvPr id="59" name="Group 66">
            <a:extLst>
              <a:ext uri="{FF2B5EF4-FFF2-40B4-BE49-F238E27FC236}">
                <a16:creationId xmlns:a16="http://schemas.microsoft.com/office/drawing/2014/main" id="{FFBF0FB8-13CE-4A8B-B711-7ABFB301DF77}"/>
              </a:ext>
            </a:extLst>
          </p:cNvPr>
          <p:cNvGrpSpPr>
            <a:grpSpLocks/>
          </p:cNvGrpSpPr>
          <p:nvPr/>
        </p:nvGrpSpPr>
        <p:grpSpPr bwMode="auto">
          <a:xfrm>
            <a:off x="2274302" y="4478543"/>
            <a:ext cx="6896100" cy="428626"/>
            <a:chOff x="879" y="2649"/>
            <a:chExt cx="4344" cy="270"/>
          </a:xfrm>
        </p:grpSpPr>
        <p:sp>
          <p:nvSpPr>
            <p:cNvPr id="60" name="Text Box 67">
              <a:extLst>
                <a:ext uri="{FF2B5EF4-FFF2-40B4-BE49-F238E27FC236}">
                  <a16:creationId xmlns:a16="http://schemas.microsoft.com/office/drawing/2014/main" id="{8F0CBAC5-FB9A-45C9-A978-5A2A073CD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9" y="2650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ea typeface="隶书" pitchFamily="49" charset="-122"/>
                </a:rPr>
                <a:t>有</a:t>
              </a:r>
            </a:p>
          </p:txBody>
        </p:sp>
        <p:grpSp>
          <p:nvGrpSpPr>
            <p:cNvPr id="61" name="Group 68">
              <a:extLst>
                <a:ext uri="{FF2B5EF4-FFF2-40B4-BE49-F238E27FC236}">
                  <a16:creationId xmlns:a16="http://schemas.microsoft.com/office/drawing/2014/main" id="{FC1307C4-ED9B-486A-82B2-DD98664B93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4" y="2649"/>
              <a:ext cx="3899" cy="270"/>
              <a:chOff x="1324" y="2649"/>
              <a:chExt cx="3899" cy="270"/>
            </a:xfrm>
          </p:grpSpPr>
          <p:sp>
            <p:nvSpPr>
              <p:cNvPr id="62" name="Text Box 69">
                <a:extLst>
                  <a:ext uri="{FF2B5EF4-FFF2-40B4-BE49-F238E27FC236}">
                    <a16:creationId xmlns:a16="http://schemas.microsoft.com/office/drawing/2014/main" id="{C43C62D9-1C1E-4620-AF87-432377341D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4" y="2657"/>
                <a:ext cx="581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kumimoji="1" lang="en-US" altLang="zh-CN" sz="2000" b="1" dirty="0">
                    <a:solidFill>
                      <a:srgbClr val="0000FF"/>
                    </a:solidFill>
                    <a:latin typeface="Times New Roman" pitchFamily="18" charset="0"/>
                    <a:ea typeface="隶书" pitchFamily="49" charset="-122"/>
                  </a:rPr>
                  <a:t>double</a:t>
                </a:r>
              </a:p>
            </p:txBody>
          </p:sp>
          <p:sp>
            <p:nvSpPr>
              <p:cNvPr id="63" name="Text Box 70">
                <a:extLst>
                  <a:ext uri="{FF2B5EF4-FFF2-40B4-BE49-F238E27FC236}">
                    <a16:creationId xmlns:a16="http://schemas.microsoft.com/office/drawing/2014/main" id="{FE56CB8F-0BD8-46F1-8CBE-4EB2E31F47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35" y="2649"/>
                <a:ext cx="27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kumimoji="1" lang="en-US" altLang="zh-CN" sz="2000">
                    <a:latin typeface="Times New Roman" pitchFamily="18" charset="0"/>
                  </a:rPr>
                  <a:t>8</a:t>
                </a:r>
                <a:endParaRPr kumimoji="1" lang="en-US" altLang="zh-CN" sz="4000">
                  <a:latin typeface="Times New Roman" pitchFamily="18" charset="0"/>
                </a:endParaRPr>
              </a:p>
            </p:txBody>
          </p:sp>
          <p:sp>
            <p:nvSpPr>
              <p:cNvPr id="64" name="Text Box 71">
                <a:extLst>
                  <a:ext uri="{FF2B5EF4-FFF2-40B4-BE49-F238E27FC236}">
                    <a16:creationId xmlns:a16="http://schemas.microsoft.com/office/drawing/2014/main" id="{99A679F4-C7E9-4177-810D-6582D52A44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0" y="2686"/>
                <a:ext cx="146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kumimoji="1" lang="en-US" altLang="zh-CN">
                    <a:latin typeface="Times New Roman" pitchFamily="18" charset="0"/>
                  </a:rPr>
                  <a:t>-1.798e308~1.798e308</a:t>
                </a:r>
              </a:p>
            </p:txBody>
          </p:sp>
        </p:grpSp>
      </p:grpSp>
      <p:grpSp>
        <p:nvGrpSpPr>
          <p:cNvPr id="65" name="Group 72">
            <a:extLst>
              <a:ext uri="{FF2B5EF4-FFF2-40B4-BE49-F238E27FC236}">
                <a16:creationId xmlns:a16="http://schemas.microsoft.com/office/drawing/2014/main" id="{B1B6E8E0-45B7-41B3-984D-7A4E97CEBA13}"/>
              </a:ext>
            </a:extLst>
          </p:cNvPr>
          <p:cNvGrpSpPr>
            <a:grpSpLocks/>
          </p:cNvGrpSpPr>
          <p:nvPr/>
        </p:nvGrpSpPr>
        <p:grpSpPr bwMode="auto">
          <a:xfrm>
            <a:off x="2274303" y="4869061"/>
            <a:ext cx="5653087" cy="417513"/>
            <a:chOff x="879" y="2895"/>
            <a:chExt cx="3561" cy="263"/>
          </a:xfrm>
        </p:grpSpPr>
        <p:sp>
          <p:nvSpPr>
            <p:cNvPr id="66" name="Text Box 73">
              <a:extLst>
                <a:ext uri="{FF2B5EF4-FFF2-40B4-BE49-F238E27FC236}">
                  <a16:creationId xmlns:a16="http://schemas.microsoft.com/office/drawing/2014/main" id="{7CFBD6A8-3F45-4BDC-8C52-1D2385C989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9" y="2902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ea typeface="隶书" pitchFamily="49" charset="-122"/>
                </a:rPr>
                <a:t>有</a:t>
              </a:r>
            </a:p>
          </p:txBody>
        </p:sp>
        <p:grpSp>
          <p:nvGrpSpPr>
            <p:cNvPr id="67" name="Group 74">
              <a:extLst>
                <a:ext uri="{FF2B5EF4-FFF2-40B4-BE49-F238E27FC236}">
                  <a16:creationId xmlns:a16="http://schemas.microsoft.com/office/drawing/2014/main" id="{E74EEDF1-DC80-4729-9F7E-F28F9CD284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4" y="2895"/>
              <a:ext cx="3116" cy="263"/>
              <a:chOff x="1324" y="2895"/>
              <a:chExt cx="3116" cy="263"/>
            </a:xfrm>
          </p:grpSpPr>
          <p:sp>
            <p:nvSpPr>
              <p:cNvPr id="68" name="Text Box 75">
                <a:extLst>
                  <a:ext uri="{FF2B5EF4-FFF2-40B4-BE49-F238E27FC236}">
                    <a16:creationId xmlns:a16="http://schemas.microsoft.com/office/drawing/2014/main" id="{C2697212-A954-4FB8-84C0-8631011401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4" y="2905"/>
                <a:ext cx="429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kumimoji="1" lang="en-US" altLang="zh-CN" sz="2000" b="1" dirty="0">
                    <a:solidFill>
                      <a:srgbClr val="0000FF"/>
                    </a:solidFill>
                    <a:latin typeface="Times New Roman" pitchFamily="18" charset="0"/>
                    <a:ea typeface="隶书" pitchFamily="49" charset="-122"/>
                  </a:rPr>
                  <a:t>char</a:t>
                </a:r>
              </a:p>
            </p:txBody>
          </p:sp>
          <p:sp>
            <p:nvSpPr>
              <p:cNvPr id="69" name="Text Box 76">
                <a:extLst>
                  <a:ext uri="{FF2B5EF4-FFF2-40B4-BE49-F238E27FC236}">
                    <a16:creationId xmlns:a16="http://schemas.microsoft.com/office/drawing/2014/main" id="{A200368E-5755-48AA-829E-AF4054908B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35" y="2895"/>
                <a:ext cx="27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kumimoji="1" lang="en-US" altLang="zh-CN" sz="2000">
                    <a:latin typeface="Times New Roman" pitchFamily="18" charset="0"/>
                  </a:rPr>
                  <a:t>1</a:t>
                </a:r>
                <a:endParaRPr kumimoji="1" lang="en-US" altLang="zh-CN" sz="4000">
                  <a:latin typeface="Times New Roman" pitchFamily="18" charset="0"/>
                </a:endParaRPr>
              </a:p>
            </p:txBody>
          </p:sp>
          <p:sp>
            <p:nvSpPr>
              <p:cNvPr id="70" name="Text Box 77">
                <a:extLst>
                  <a:ext uri="{FF2B5EF4-FFF2-40B4-BE49-F238E27FC236}">
                    <a16:creationId xmlns:a16="http://schemas.microsoft.com/office/drawing/2014/main" id="{E89FEC32-0C42-43AC-96F4-B40FCC8115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0" y="2923"/>
                <a:ext cx="68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kumimoji="1" lang="en-US" altLang="zh-CN">
                    <a:latin typeface="Times New Roman" pitchFamily="18" charset="0"/>
                  </a:rPr>
                  <a:t>-128~127</a:t>
                </a:r>
              </a:p>
            </p:txBody>
          </p:sp>
        </p:grpSp>
      </p:grpSp>
      <p:grpSp>
        <p:nvGrpSpPr>
          <p:cNvPr id="71" name="Group 78">
            <a:extLst>
              <a:ext uri="{FF2B5EF4-FFF2-40B4-BE49-F238E27FC236}">
                <a16:creationId xmlns:a16="http://schemas.microsoft.com/office/drawing/2014/main" id="{2D5B1B1C-A031-46BF-A523-73275D655E36}"/>
              </a:ext>
            </a:extLst>
          </p:cNvPr>
          <p:cNvGrpSpPr>
            <a:grpSpLocks/>
          </p:cNvGrpSpPr>
          <p:nvPr/>
        </p:nvGrpSpPr>
        <p:grpSpPr bwMode="auto">
          <a:xfrm>
            <a:off x="2274302" y="5242120"/>
            <a:ext cx="5345112" cy="438150"/>
            <a:chOff x="879" y="3130"/>
            <a:chExt cx="3367" cy="276"/>
          </a:xfrm>
        </p:grpSpPr>
        <p:sp>
          <p:nvSpPr>
            <p:cNvPr id="72" name="Text Box 79">
              <a:extLst>
                <a:ext uri="{FF2B5EF4-FFF2-40B4-BE49-F238E27FC236}">
                  <a16:creationId xmlns:a16="http://schemas.microsoft.com/office/drawing/2014/main" id="{500447DA-D069-4BDE-B882-375B0A386B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9" y="3130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ea typeface="隶书" pitchFamily="49" charset="-122"/>
                </a:rPr>
                <a:t>无</a:t>
              </a:r>
            </a:p>
          </p:txBody>
        </p:sp>
        <p:sp>
          <p:nvSpPr>
            <p:cNvPr id="73" name="Text Box 80">
              <a:extLst>
                <a:ext uri="{FF2B5EF4-FFF2-40B4-BE49-F238E27FC236}">
                  <a16:creationId xmlns:a16="http://schemas.microsoft.com/office/drawing/2014/main" id="{8B5C4C7D-96A6-4498-BC5B-7A2412D8EB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4" y="3153"/>
              <a:ext cx="1088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 b="1" dirty="0">
                  <a:solidFill>
                    <a:srgbClr val="0000FF"/>
                  </a:solidFill>
                  <a:latin typeface="Times New Roman" pitchFamily="18" charset="0"/>
                  <a:ea typeface="隶书" pitchFamily="49" charset="-122"/>
                </a:rPr>
                <a:t>unsigned char</a:t>
              </a:r>
            </a:p>
          </p:txBody>
        </p:sp>
        <p:sp>
          <p:nvSpPr>
            <p:cNvPr id="74" name="Text Box 81">
              <a:extLst>
                <a:ext uri="{FF2B5EF4-FFF2-40B4-BE49-F238E27FC236}">
                  <a16:creationId xmlns:a16="http://schemas.microsoft.com/office/drawing/2014/main" id="{0CA62F60-931F-42B1-B7E9-B7ACB6FAD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5" y="3141"/>
              <a:ext cx="2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>
                  <a:latin typeface="Times New Roman" pitchFamily="18" charset="0"/>
                </a:rPr>
                <a:t>1</a:t>
              </a:r>
              <a:endParaRPr kumimoji="1" lang="en-US" altLang="zh-CN" sz="4000">
                <a:latin typeface="Times New Roman" pitchFamily="18" charset="0"/>
              </a:endParaRPr>
            </a:p>
          </p:txBody>
        </p:sp>
        <p:sp>
          <p:nvSpPr>
            <p:cNvPr id="75" name="Text Box 82">
              <a:extLst>
                <a:ext uri="{FF2B5EF4-FFF2-40B4-BE49-F238E27FC236}">
                  <a16:creationId xmlns:a16="http://schemas.microsoft.com/office/drawing/2014/main" id="{ED20B0C3-F245-4622-A16E-8C3EB1901E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" y="3160"/>
              <a:ext cx="4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>
                  <a:latin typeface="Times New Roman" pitchFamily="18" charset="0"/>
                </a:rPr>
                <a:t>0~255</a:t>
              </a:r>
            </a:p>
          </p:txBody>
        </p:sp>
      </p:grpSp>
      <p:sp>
        <p:nvSpPr>
          <p:cNvPr id="77" name="Text Box 88">
            <a:extLst>
              <a:ext uri="{FF2B5EF4-FFF2-40B4-BE49-F238E27FC236}">
                <a16:creationId xmlns:a16="http://schemas.microsoft.com/office/drawing/2014/main" id="{2A1AF011-2D4D-467E-9923-DD0DE04B5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9609" y="5829354"/>
            <a:ext cx="8017236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400" dirty="0">
                <a:solidFill>
                  <a:srgbClr val="FF0000"/>
                </a:solidFill>
                <a:ea typeface="隶书" pitchFamily="49" charset="-122"/>
              </a:rPr>
              <a:t>说明</a:t>
            </a:r>
            <a:r>
              <a:rPr kumimoji="1" lang="en-US" altLang="zh-CN" sz="2000" dirty="0">
                <a:solidFill>
                  <a:srgbClr val="3333FF"/>
                </a:solidFill>
                <a:ea typeface="隶书" pitchFamily="49" charset="-122"/>
              </a:rPr>
              <a:t>: </a:t>
            </a:r>
            <a:r>
              <a:rPr kumimoji="1" lang="zh-CN" altLang="en-US" sz="2400" dirty="0">
                <a:solidFill>
                  <a:srgbClr val="FF0000"/>
                </a:solidFill>
                <a:ea typeface="隶书" pitchFamily="49" charset="-122"/>
              </a:rPr>
              <a:t>数据类型所占字节数随编译系统不同而不完全相同。</a:t>
            </a:r>
          </a:p>
        </p:txBody>
      </p:sp>
      <p:sp>
        <p:nvSpPr>
          <p:cNvPr id="76" name="灯片编号占位符 75">
            <a:extLst>
              <a:ext uri="{FF2B5EF4-FFF2-40B4-BE49-F238E27FC236}">
                <a16:creationId xmlns:a16="http://schemas.microsoft.com/office/drawing/2014/main" id="{A6B33AA0-6F90-461B-BDD6-643EC4AE6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7652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6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 autoUpdateAnimBg="0"/>
      <p:bldP spid="25" grpId="0" build="p" autoUpdateAnimBg="0"/>
      <p:bldP spid="26" grpId="0" build="p" autoUpdateAnimBg="0"/>
      <p:bldP spid="27" grpId="0" build="p" autoUpdateAnimBg="0"/>
      <p:bldP spid="28" grpId="0" build="p" autoUpdateAnimBg="0"/>
      <p:bldP spid="77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DF8161A-DC58-4C83-9B43-0C893949C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638" y="1047775"/>
            <a:ext cx="7533805" cy="58102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A0F2723-43D1-42AA-B00E-D17BFC1E0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09283" y="665113"/>
            <a:ext cx="8915400" cy="625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692150" indent="-347663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987425" indent="-293688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281113" indent="-2921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1598613" indent="-315913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0558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5130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29702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4274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rgbClr val="0000FF"/>
                </a:solidFill>
                <a:latin typeface="隶书" pitchFamily="49" charset="-122"/>
              </a:rPr>
              <a:t>常量</a:t>
            </a:r>
            <a:r>
              <a:rPr lang="en-US" altLang="zh-CN" sz="2400" b="1" dirty="0">
                <a:latin typeface="隶书" pitchFamily="49" charset="-122"/>
              </a:rPr>
              <a:t>:</a:t>
            </a:r>
            <a:r>
              <a:rPr lang="zh-CN" altLang="en-US" sz="2400" b="1" dirty="0">
                <a:latin typeface="隶书" pitchFamily="49" charset="-122"/>
              </a:rPr>
              <a:t>程序运行过程中其值不能改变的量（即常数）</a:t>
            </a:r>
            <a:endParaRPr lang="zh-CN" altLang="en-US" sz="2400" b="1" dirty="0">
              <a:solidFill>
                <a:srgbClr val="0000FF"/>
              </a:solidFill>
              <a:latin typeface="隶书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D3AB1C9-58AF-4F0D-A233-83F67FCF4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0118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1571FC7B-5421-4F4E-AEFB-F90666A0B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0" y="681665"/>
            <a:ext cx="11095893" cy="625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692150" indent="-347663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987425" indent="-293688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281113" indent="-2921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1598613" indent="-315913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0558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5130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29702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4274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lvl="1" ea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rgbClr val="0000FF"/>
                </a:solidFill>
                <a:latin typeface="隶书" pitchFamily="49" charset="-122"/>
              </a:rPr>
              <a:t>变量</a:t>
            </a:r>
            <a:r>
              <a:rPr lang="en-US" altLang="zh-CN" sz="2400" b="1" dirty="0">
                <a:latin typeface="隶书" pitchFamily="49" charset="-122"/>
              </a:rPr>
              <a:t>:</a:t>
            </a:r>
            <a:r>
              <a:rPr lang="zh-CN" altLang="en-US" sz="2400" b="1" dirty="0">
                <a:latin typeface="隶书" pitchFamily="49" charset="-122"/>
              </a:rPr>
              <a:t>程序运行过程中其值可以改变的量。</a:t>
            </a:r>
            <a:endParaRPr lang="zh-CN" altLang="en-US" sz="2400" b="1" dirty="0">
              <a:solidFill>
                <a:srgbClr val="0000FF"/>
              </a:solidFill>
              <a:latin typeface="隶书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DFDDAD-97DB-4F7F-A278-5F6CAEBF94D6}"/>
              </a:ext>
            </a:extLst>
          </p:cNvPr>
          <p:cNvSpPr txBox="1"/>
          <p:nvPr/>
        </p:nvSpPr>
        <p:spPr>
          <a:xfrm>
            <a:off x="255351" y="1353032"/>
            <a:ext cx="119297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程序中的一个变量可被看作一个数据存储单元，它的功能是</a:t>
            </a:r>
            <a:r>
              <a:rPr lang="zh-CN" altLang="en-US" sz="2400" b="1" dirty="0">
                <a:solidFill>
                  <a:srgbClr val="0000FF"/>
                </a:solidFill>
              </a:rPr>
              <a:t>存取</a:t>
            </a:r>
            <a:r>
              <a:rPr lang="zh-CN" altLang="en-US" sz="2400" b="1" dirty="0"/>
              <a:t>数据。对变量的操作有两种：</a:t>
            </a:r>
            <a:endParaRPr lang="en-US" altLang="zh-CN" sz="2400" b="1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2400" b="1" dirty="0"/>
              <a:t>向变量中</a:t>
            </a:r>
            <a:r>
              <a:rPr lang="zh-CN" altLang="en-US" sz="2400" b="1" dirty="0">
                <a:solidFill>
                  <a:srgbClr val="0000FF"/>
                </a:solidFill>
              </a:rPr>
              <a:t>存</a:t>
            </a:r>
            <a:r>
              <a:rPr lang="zh-CN" altLang="en-US" sz="2400" b="1" dirty="0"/>
              <a:t>入数据，又称“赋值”操作。</a:t>
            </a:r>
            <a:endParaRPr lang="en-US" altLang="zh-CN" sz="2400" b="1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2400" b="1" dirty="0"/>
              <a:t>获</a:t>
            </a:r>
            <a:r>
              <a:rPr lang="zh-CN" altLang="en-US" sz="2400" b="1" dirty="0">
                <a:solidFill>
                  <a:srgbClr val="0000FF"/>
                </a:solidFill>
              </a:rPr>
              <a:t>取</a:t>
            </a:r>
            <a:r>
              <a:rPr lang="zh-CN" altLang="en-US" sz="2400" b="1" dirty="0"/>
              <a:t>变量的当前值，又称“取值”操作。</a:t>
            </a:r>
            <a:endParaRPr lang="en-US" altLang="zh-CN" sz="2400" b="1" dirty="0"/>
          </a:p>
          <a:p>
            <a:pPr marL="0" lvl="1"/>
            <a:r>
              <a:rPr lang="zh-CN" altLang="en-US" sz="2400" b="1" dirty="0"/>
              <a:t>对变量的存取操作是通过变量名来实现的。在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语言中，变量名作为变量的标识，其命名规则需符合标识符的命名规范。</a:t>
            </a:r>
            <a:endParaRPr lang="en-US" altLang="zh-CN" sz="2400" b="1" dirty="0"/>
          </a:p>
        </p:txBody>
      </p:sp>
      <p:sp>
        <p:nvSpPr>
          <p:cNvPr id="5" name="Text Box 88">
            <a:extLst>
              <a:ext uri="{FF2B5EF4-FFF2-40B4-BE49-F238E27FC236}">
                <a16:creationId xmlns:a16="http://schemas.microsoft.com/office/drawing/2014/main" id="{DC5EC053-A730-404D-A867-1A7E4253A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351" y="3890518"/>
            <a:ext cx="11998712" cy="224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400" dirty="0">
                <a:solidFill>
                  <a:srgbClr val="FF3300"/>
                </a:solidFill>
                <a:ea typeface="隶书" pitchFamily="49" charset="-122"/>
              </a:rPr>
              <a:t>说明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: </a:t>
            </a:r>
            <a:r>
              <a:rPr kumimoji="1" lang="en-US" altLang="zh-CN" sz="2800" dirty="0">
                <a:solidFill>
                  <a:srgbClr val="3333FF"/>
                </a:solidFill>
                <a:ea typeface="隶书" pitchFamily="49" charset="-122"/>
              </a:rPr>
              <a:t>C</a:t>
            </a:r>
            <a:r>
              <a:rPr kumimoji="1" lang="zh-CN" altLang="en-US" sz="2800" dirty="0">
                <a:solidFill>
                  <a:srgbClr val="3333FF"/>
                </a:solidFill>
                <a:ea typeface="隶书" pitchFamily="49" charset="-122"/>
              </a:rPr>
              <a:t>语言规定：程序中使用到的每个变量都必须“先定义，后使用”。这样做有三点好处：</a:t>
            </a:r>
            <a:endParaRPr kumimoji="1" lang="en-US" altLang="zh-CN" sz="2800" dirty="0">
              <a:solidFill>
                <a:srgbClr val="3333FF"/>
              </a:solidFill>
              <a:ea typeface="隶书" pitchFamily="49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CN" altLang="en-US" sz="2800" dirty="0">
                <a:solidFill>
                  <a:srgbClr val="3333FF"/>
                </a:solidFill>
                <a:ea typeface="隶书" pitchFamily="49" charset="-122"/>
              </a:rPr>
              <a:t>拼写错误容易被发现。</a:t>
            </a:r>
            <a:endParaRPr kumimoji="1" lang="en-US" altLang="zh-CN" sz="2800" dirty="0">
              <a:solidFill>
                <a:srgbClr val="3333FF"/>
              </a:solidFill>
              <a:ea typeface="隶书" pitchFamily="49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CN" altLang="en-US" sz="2800" dirty="0">
                <a:solidFill>
                  <a:srgbClr val="3333FF"/>
                </a:solidFill>
                <a:ea typeface="隶书" pitchFamily="49" charset="-122"/>
              </a:rPr>
              <a:t>操作的合法性。</a:t>
            </a:r>
            <a:endParaRPr kumimoji="1" lang="en-US" altLang="zh-CN" sz="2800" dirty="0">
              <a:solidFill>
                <a:srgbClr val="3333FF"/>
              </a:solidFill>
              <a:ea typeface="隶书" pitchFamily="49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CN" altLang="en-US" sz="2800" dirty="0">
                <a:solidFill>
                  <a:srgbClr val="3333FF"/>
                </a:solidFill>
                <a:ea typeface="隶书" pitchFamily="49" charset="-122"/>
              </a:rPr>
              <a:t>占用存储空间的大小。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9913D7-3BE5-4EF7-900D-F5D137449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490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B719D98-1FA4-46DF-91C9-24EC15088A2B}"/>
              </a:ext>
            </a:extLst>
          </p:cNvPr>
          <p:cNvSpPr/>
          <p:nvPr/>
        </p:nvSpPr>
        <p:spPr>
          <a:xfrm>
            <a:off x="0" y="719638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变量定义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A44CC9-C179-4382-ADA4-4A5126FF7BCD}"/>
              </a:ext>
            </a:extLst>
          </p:cNvPr>
          <p:cNvSpPr/>
          <p:nvPr/>
        </p:nvSpPr>
        <p:spPr>
          <a:xfrm>
            <a:off x="608222" y="1249245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语法格式：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DB6CEF-1D65-4E48-BE07-0D93705D01F5}"/>
              </a:ext>
            </a:extLst>
          </p:cNvPr>
          <p:cNvSpPr txBox="1"/>
          <p:nvPr/>
        </p:nvSpPr>
        <p:spPr>
          <a:xfrm>
            <a:off x="2726649" y="1249244"/>
            <a:ext cx="3414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类型说明符 </a:t>
            </a:r>
            <a:r>
              <a:rPr lang="zh-CN" altLang="en-US" sz="2400" b="1" dirty="0"/>
              <a:t>变量名列表</a:t>
            </a:r>
            <a:r>
              <a:rPr lang="en-US" altLang="zh-CN" sz="2400" dirty="0"/>
              <a:t>;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A5DCAB-BFEA-4F5D-8F36-8CEF5A71981B}"/>
              </a:ext>
            </a:extLst>
          </p:cNvPr>
          <p:cNvSpPr txBox="1"/>
          <p:nvPr/>
        </p:nvSpPr>
        <p:spPr>
          <a:xfrm>
            <a:off x="2726649" y="1853080"/>
            <a:ext cx="6177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数据类型</a:t>
            </a:r>
            <a:r>
              <a:rPr lang="zh-CN" altLang="en-US" sz="2400" b="1" dirty="0">
                <a:solidFill>
                  <a:srgbClr val="3333FF"/>
                </a:solidFill>
              </a:rPr>
              <a:t>  变量</a:t>
            </a:r>
            <a:r>
              <a:rPr lang="en-US" altLang="zh-CN" sz="2400" b="1" dirty="0">
                <a:solidFill>
                  <a:srgbClr val="3333FF"/>
                </a:solidFill>
              </a:rPr>
              <a:t>1[</a:t>
            </a:r>
            <a:r>
              <a:rPr lang="zh-CN" altLang="en-US" sz="2400" b="1" dirty="0">
                <a:solidFill>
                  <a:srgbClr val="3333FF"/>
                </a:solidFill>
              </a:rPr>
              <a:t>，变量</a:t>
            </a:r>
            <a:r>
              <a:rPr lang="en-US" altLang="zh-CN" sz="2400" b="1" dirty="0">
                <a:solidFill>
                  <a:srgbClr val="3333FF"/>
                </a:solidFill>
              </a:rPr>
              <a:t>2</a:t>
            </a:r>
            <a:r>
              <a:rPr lang="zh-CN" altLang="en-US" sz="2400" b="1" dirty="0">
                <a:solidFill>
                  <a:srgbClr val="3333FF"/>
                </a:solidFill>
              </a:rPr>
              <a:t>，</a:t>
            </a:r>
            <a:r>
              <a:rPr lang="en-US" altLang="zh-CN" sz="2400" b="1" dirty="0">
                <a:solidFill>
                  <a:srgbClr val="3333FF"/>
                </a:solidFill>
              </a:rPr>
              <a:t>…</a:t>
            </a:r>
            <a:r>
              <a:rPr lang="zh-CN" altLang="en-US" sz="2400" b="1" dirty="0">
                <a:solidFill>
                  <a:srgbClr val="3333FF"/>
                </a:solidFill>
              </a:rPr>
              <a:t>，变量</a:t>
            </a:r>
            <a:r>
              <a:rPr lang="en-US" altLang="zh-CN" sz="2400" b="1" dirty="0">
                <a:solidFill>
                  <a:srgbClr val="3333FF"/>
                </a:solidFill>
              </a:rPr>
              <a:t>n];</a:t>
            </a:r>
            <a:endParaRPr lang="zh-CN" altLang="en-US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24ADAF2-DC51-4335-A328-D9322FBE6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841" y="2545247"/>
            <a:ext cx="4791902" cy="3495586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A14056-AA3B-40AA-8C71-AE35C89A6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1053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B719D98-1FA4-46DF-91C9-24EC15088A2B}"/>
              </a:ext>
            </a:extLst>
          </p:cNvPr>
          <p:cNvSpPr/>
          <p:nvPr/>
        </p:nvSpPr>
        <p:spPr>
          <a:xfrm>
            <a:off x="0" y="719638"/>
            <a:ext cx="91101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变量初始化：在定义变量的同时对变量赋初值。有两下以种方式：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F65637-FAFD-4979-9885-189E93748C6B}"/>
              </a:ext>
            </a:extLst>
          </p:cNvPr>
          <p:cNvSpPr/>
          <p:nvPr/>
        </p:nvSpPr>
        <p:spPr>
          <a:xfrm>
            <a:off x="616497" y="1285033"/>
            <a:ext cx="46522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在定义变量的同时进行赋初值。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8BD1439-A5E6-4CA5-B230-ACD282ED6903}"/>
              </a:ext>
            </a:extLst>
          </p:cNvPr>
          <p:cNvSpPr/>
          <p:nvPr/>
        </p:nvSpPr>
        <p:spPr>
          <a:xfrm>
            <a:off x="653735" y="1744909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先定义变量，后进行赋值。</a:t>
            </a:r>
          </a:p>
        </p:txBody>
      </p:sp>
      <p:sp>
        <p:nvSpPr>
          <p:cNvPr id="12" name="Text Box 88">
            <a:extLst>
              <a:ext uri="{FF2B5EF4-FFF2-40B4-BE49-F238E27FC236}">
                <a16:creationId xmlns:a16="http://schemas.microsoft.com/office/drawing/2014/main" id="{55CB3B9C-67B1-430B-9F5D-AEAF966E8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388" y="5371992"/>
            <a:ext cx="11998712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400" dirty="0">
                <a:solidFill>
                  <a:srgbClr val="FF3300"/>
                </a:solidFill>
                <a:ea typeface="隶书" pitchFamily="49" charset="-122"/>
              </a:rPr>
              <a:t>思考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: </a:t>
            </a:r>
            <a:r>
              <a:rPr kumimoji="1" lang="zh-CN" altLang="en-US" sz="2800" dirty="0">
                <a:solidFill>
                  <a:srgbClr val="3333FF"/>
                </a:solidFill>
                <a:ea typeface="隶书" pitchFamily="49" charset="-122"/>
              </a:rPr>
              <a:t>变量在定义后如果没有对其进行初始化，那么变量的值是多少？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AA57E9E-BF2E-431E-83A3-277501D6C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35" y="2324316"/>
            <a:ext cx="10333567" cy="3035983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BCE81D-A859-444E-B77A-41439B86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8566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84B399B9-DB6B-4D69-B9C0-6B2855D952B3}"/>
              </a:ext>
            </a:extLst>
          </p:cNvPr>
          <p:cNvGrpSpPr>
            <a:grpSpLocks/>
          </p:cNvGrpSpPr>
          <p:nvPr/>
        </p:nvGrpSpPr>
        <p:grpSpPr bwMode="auto">
          <a:xfrm>
            <a:off x="684215" y="928688"/>
            <a:ext cx="8135937" cy="5262563"/>
            <a:chOff x="180" y="569"/>
            <a:chExt cx="4544" cy="3484"/>
          </a:xfrm>
        </p:grpSpPr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6A246673-3287-40C5-85FE-FC3C9AFC5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" y="648"/>
              <a:ext cx="178" cy="3329"/>
            </a:xfrm>
            <a:prstGeom prst="leftBrace">
              <a:avLst>
                <a:gd name="adj1" fmla="val 15585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B595BDCF-54D7-4B24-BB25-2C06036EED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" y="1807"/>
              <a:ext cx="276" cy="1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400" b="1">
                  <a:latin typeface="Times New Roman" pitchFamily="18" charset="0"/>
                </a:rPr>
                <a:t>C</a:t>
              </a:r>
            </a:p>
            <a:p>
              <a:r>
                <a:rPr kumimoji="1" lang="zh-CN" altLang="zh-CN" sz="2400" b="1">
                  <a:latin typeface="Times New Roman" pitchFamily="18" charset="0"/>
                </a:rPr>
                <a:t>运</a:t>
              </a:r>
            </a:p>
            <a:p>
              <a:r>
                <a:rPr kumimoji="1" lang="zh-CN" altLang="zh-CN" sz="2400" b="1">
                  <a:latin typeface="Times New Roman" pitchFamily="18" charset="0"/>
                </a:rPr>
                <a:t>算</a:t>
              </a:r>
            </a:p>
            <a:p>
              <a:r>
                <a:rPr kumimoji="1" lang="zh-CN" altLang="zh-CN" sz="2400" b="1">
                  <a:latin typeface="Times New Roman" pitchFamily="18" charset="0"/>
                </a:rPr>
                <a:t>符</a:t>
              </a:r>
              <a:endParaRPr kumimoji="1" lang="zh-CN" altLang="en-US" sz="2400" b="1">
                <a:latin typeface="Times New Roman" pitchFamily="18" charset="0"/>
              </a:endParaRPr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DDD43398-BADB-4023-81B7-205B44C395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569"/>
              <a:ext cx="3956" cy="3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算术运算符：（</a:t>
              </a:r>
              <a:r>
                <a:rPr kumimoji="1" lang="en-US" altLang="zh-CN" sz="2400" b="1" dirty="0">
                  <a:solidFill>
                    <a:srgbClr val="FF0066"/>
                  </a:solidFill>
                  <a:latin typeface="宋体" pitchFamily="2" charset="-122"/>
                </a:rPr>
                <a:t>+  -  *  /  %  ++  --</a:t>
              </a:r>
              <a:r>
                <a:rPr kumimoji="1"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）</a:t>
              </a:r>
            </a:p>
            <a:p>
              <a:r>
                <a:rPr kumimoji="1"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关系运算符：（</a:t>
              </a:r>
              <a:r>
                <a:rPr kumimoji="1" lang="en-US" altLang="zh-CN" sz="2400" b="1" dirty="0">
                  <a:solidFill>
                    <a:srgbClr val="FF0066"/>
                  </a:solidFill>
                  <a:latin typeface="宋体" pitchFamily="2" charset="-122"/>
                </a:rPr>
                <a:t>&lt;  &lt;=   ==   &gt;   &gt;=   !=</a:t>
              </a:r>
              <a:r>
                <a:rPr kumimoji="1"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）</a:t>
              </a:r>
            </a:p>
            <a:p>
              <a:r>
                <a:rPr kumimoji="1"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逻辑运算符：（！  </a:t>
              </a:r>
              <a:r>
                <a:rPr kumimoji="1" lang="en-US" altLang="zh-CN" sz="2400" b="1" dirty="0">
                  <a:solidFill>
                    <a:srgbClr val="FF0066"/>
                  </a:solidFill>
                  <a:latin typeface="宋体" pitchFamily="2" charset="-122"/>
                </a:rPr>
                <a:t>&amp;&amp;  ||</a:t>
              </a:r>
              <a:r>
                <a:rPr kumimoji="1"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）</a:t>
              </a:r>
            </a:p>
            <a:p>
              <a:r>
                <a:rPr kumimoji="1" lang="zh-CN" altLang="en-US" sz="2400" b="1" dirty="0">
                  <a:solidFill>
                    <a:srgbClr val="0000FF"/>
                  </a:solidFill>
                  <a:latin typeface="宋体" pitchFamily="2" charset="-122"/>
                </a:rPr>
                <a:t>位运算符  ：（</a:t>
              </a:r>
              <a:r>
                <a:rPr kumimoji="1" lang="en-US" altLang="zh-CN" sz="2400" b="1" dirty="0">
                  <a:solidFill>
                    <a:srgbClr val="0000FF"/>
                  </a:solidFill>
                  <a:latin typeface="宋体" pitchFamily="2" charset="-122"/>
                </a:rPr>
                <a:t>&lt;&lt;   &gt;&gt;   ~  |  ^  &amp;</a:t>
              </a:r>
              <a:r>
                <a:rPr kumimoji="1" lang="zh-CN" altLang="en-US" sz="2400" b="1" dirty="0">
                  <a:solidFill>
                    <a:srgbClr val="0000FF"/>
                  </a:solidFill>
                  <a:latin typeface="宋体" pitchFamily="2" charset="-122"/>
                </a:rPr>
                <a:t>）</a:t>
              </a:r>
            </a:p>
            <a:p>
              <a:r>
                <a:rPr kumimoji="1"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赋值运算符：（</a:t>
              </a:r>
              <a:r>
                <a:rPr kumimoji="1" lang="en-US" altLang="zh-CN" sz="2400" b="1" dirty="0">
                  <a:solidFill>
                    <a:srgbClr val="FF0066"/>
                  </a:solidFill>
                  <a:latin typeface="宋体" pitchFamily="2" charset="-122"/>
                </a:rPr>
                <a:t>= </a:t>
              </a:r>
              <a:r>
                <a:rPr kumimoji="1"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及其扩展）</a:t>
              </a:r>
            </a:p>
            <a:p>
              <a:r>
                <a:rPr kumimoji="1"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条件运算符：（</a:t>
              </a:r>
              <a:r>
                <a:rPr kumimoji="1" lang="en-US" altLang="zh-CN" sz="2400" b="1" dirty="0">
                  <a:solidFill>
                    <a:srgbClr val="FF0066"/>
                  </a:solidFill>
                  <a:latin typeface="宋体" pitchFamily="2" charset="-122"/>
                </a:rPr>
                <a:t>?:</a:t>
              </a:r>
              <a:r>
                <a:rPr kumimoji="1"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）</a:t>
              </a:r>
            </a:p>
            <a:p>
              <a:r>
                <a:rPr kumimoji="1"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逗号运算符：（</a:t>
              </a:r>
              <a:r>
                <a:rPr kumimoji="1" lang="en-US" altLang="zh-CN" sz="2400" b="1" dirty="0">
                  <a:solidFill>
                    <a:srgbClr val="FF0066"/>
                  </a:solidFill>
                  <a:latin typeface="宋体" pitchFamily="2" charset="-122"/>
                </a:rPr>
                <a:t>,</a:t>
              </a:r>
              <a:r>
                <a:rPr kumimoji="1"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）</a:t>
              </a:r>
            </a:p>
            <a:p>
              <a:r>
                <a:rPr kumimoji="1" lang="zh-CN" altLang="en-US" sz="2400" b="1" dirty="0">
                  <a:solidFill>
                    <a:srgbClr val="0000FF"/>
                  </a:solidFill>
                  <a:latin typeface="宋体" pitchFamily="2" charset="-122"/>
                </a:rPr>
                <a:t>指针运算符：（*  </a:t>
              </a:r>
              <a:r>
                <a:rPr kumimoji="1" lang="en-US" altLang="zh-CN" sz="2400" b="1" dirty="0">
                  <a:solidFill>
                    <a:srgbClr val="0000FF"/>
                  </a:solidFill>
                  <a:latin typeface="宋体" pitchFamily="2" charset="-122"/>
                </a:rPr>
                <a:t>&amp;</a:t>
              </a:r>
              <a:r>
                <a:rPr kumimoji="1" lang="zh-CN" altLang="en-US" sz="2400" b="1" dirty="0">
                  <a:solidFill>
                    <a:srgbClr val="0000FF"/>
                  </a:solidFill>
                  <a:latin typeface="宋体" pitchFamily="2" charset="-122"/>
                </a:rPr>
                <a:t>）</a:t>
              </a:r>
            </a:p>
            <a:p>
              <a:r>
                <a:rPr kumimoji="1"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求字节数  ：（</a:t>
              </a:r>
              <a:r>
                <a:rPr kumimoji="1" lang="en-US" altLang="zh-CN" sz="2400" b="1" dirty="0" err="1">
                  <a:solidFill>
                    <a:srgbClr val="FF0066"/>
                  </a:solidFill>
                  <a:latin typeface="宋体" pitchFamily="2" charset="-122"/>
                </a:rPr>
                <a:t>sizeof</a:t>
              </a:r>
              <a:r>
                <a:rPr kumimoji="1"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）</a:t>
              </a:r>
            </a:p>
            <a:p>
              <a:r>
                <a:rPr kumimoji="1"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强制类型转换：（（类型））</a:t>
              </a:r>
            </a:p>
            <a:p>
              <a:r>
                <a:rPr kumimoji="1" lang="zh-CN" altLang="en-US" sz="2400" b="1" dirty="0">
                  <a:solidFill>
                    <a:srgbClr val="0000FF"/>
                  </a:solidFill>
                  <a:latin typeface="宋体" pitchFamily="2" charset="-122"/>
                </a:rPr>
                <a:t>分量运算符：（</a:t>
              </a:r>
              <a:r>
                <a:rPr kumimoji="1" lang="en-US" altLang="zh-CN" sz="2400" b="1" dirty="0">
                  <a:solidFill>
                    <a:srgbClr val="0000FF"/>
                  </a:solidFill>
                  <a:latin typeface="宋体" pitchFamily="2" charset="-122"/>
                </a:rPr>
                <a:t>.  -&gt;</a:t>
              </a:r>
              <a:r>
                <a:rPr kumimoji="1" lang="zh-CN" altLang="en-US" sz="2400" b="1" dirty="0">
                  <a:solidFill>
                    <a:srgbClr val="0000FF"/>
                  </a:solidFill>
                  <a:latin typeface="宋体" pitchFamily="2" charset="-122"/>
                </a:rPr>
                <a:t>）</a:t>
              </a:r>
            </a:p>
            <a:p>
              <a:r>
                <a:rPr kumimoji="1" lang="zh-CN" altLang="en-US" sz="2400" b="1" dirty="0">
                  <a:solidFill>
                    <a:srgbClr val="0000FF"/>
                  </a:solidFill>
                  <a:latin typeface="宋体" pitchFamily="2" charset="-122"/>
                </a:rPr>
                <a:t>下标运算符：（</a:t>
              </a:r>
              <a:r>
                <a:rPr kumimoji="1" lang="en-US" altLang="zh-CN" sz="2400" b="1" dirty="0">
                  <a:solidFill>
                    <a:srgbClr val="0000FF"/>
                  </a:solidFill>
                  <a:latin typeface="宋体" pitchFamily="2" charset="-122"/>
                </a:rPr>
                <a:t>[]</a:t>
              </a:r>
              <a:r>
                <a:rPr kumimoji="1" lang="zh-CN" altLang="en-US" sz="2400" b="1" dirty="0">
                  <a:solidFill>
                    <a:srgbClr val="0000FF"/>
                  </a:solidFill>
                  <a:latin typeface="宋体" pitchFamily="2" charset="-122"/>
                </a:rPr>
                <a:t>）</a:t>
              </a:r>
            </a:p>
            <a:p>
              <a:r>
                <a:rPr kumimoji="1" lang="zh-CN" altLang="en-US" sz="2400" b="1" dirty="0">
                  <a:solidFill>
                    <a:srgbClr val="0000FF"/>
                  </a:solidFill>
                  <a:latin typeface="宋体" pitchFamily="2" charset="-122"/>
                </a:rPr>
                <a:t>其它      ：（如函数调用运算符</a:t>
              </a:r>
              <a:r>
                <a:rPr kumimoji="1" lang="en-US" altLang="zh-CN" sz="2400" b="1" dirty="0">
                  <a:solidFill>
                    <a:srgbClr val="0000FF"/>
                  </a:solidFill>
                  <a:latin typeface="宋体" pitchFamily="2" charset="-122"/>
                </a:rPr>
                <a:t>( )</a:t>
              </a:r>
              <a:r>
                <a:rPr kumimoji="1" lang="zh-CN" altLang="en-US" sz="2400" b="1" dirty="0">
                  <a:solidFill>
                    <a:srgbClr val="0000FF"/>
                  </a:solidFill>
                  <a:latin typeface="宋体" pitchFamily="2" charset="-122"/>
                </a:rPr>
                <a:t>）</a:t>
              </a:r>
            </a:p>
            <a:p>
              <a:endParaRPr kumimoji="1" lang="en-US" altLang="zh-CN" sz="2400" b="1" dirty="0">
                <a:solidFill>
                  <a:srgbClr val="660066"/>
                </a:solidFill>
                <a:latin typeface="Times New Roman" pitchFamily="18" charset="0"/>
              </a:endParaRPr>
            </a:p>
          </p:txBody>
        </p:sp>
      </p:grpSp>
      <p:sp>
        <p:nvSpPr>
          <p:cNvPr id="7" name="Rectangle 2">
            <a:extLst>
              <a:ext uri="{FF2B5EF4-FFF2-40B4-BE49-F238E27FC236}">
                <a16:creationId xmlns:a16="http://schemas.microsoft.com/office/drawing/2014/main" id="{2E28B3E0-79B1-4B78-BF62-D04EB3E5FCE7}"/>
              </a:ext>
            </a:extLst>
          </p:cNvPr>
          <p:cNvSpPr txBox="1">
            <a:spLocks noChangeArrowheads="1"/>
          </p:cNvSpPr>
          <p:nvPr/>
        </p:nvSpPr>
        <p:spPr>
          <a:xfrm>
            <a:off x="7588279" y="1813658"/>
            <a:ext cx="4319610" cy="3857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zh-CN" sz="3200" b="1" dirty="0">
                <a:solidFill>
                  <a:srgbClr val="FF0066"/>
                </a:solidFill>
                <a:latin typeface="隶书" pitchFamily="49" charset="-122"/>
              </a:rPr>
              <a:t>学习运算符应注意：</a:t>
            </a:r>
            <a:endParaRPr lang="zh-CN" altLang="zh-CN" sz="3200" b="1" dirty="0">
              <a:solidFill>
                <a:srgbClr val="FF0066"/>
              </a:solidFill>
              <a:latin typeface="宋体" pitchFamily="2" charset="-122"/>
            </a:endParaRPr>
          </a:p>
          <a:p>
            <a:pPr lvl="2"/>
            <a:r>
              <a:rPr lang="zh-CN" altLang="zh-CN" sz="2800" b="1" dirty="0">
                <a:solidFill>
                  <a:srgbClr val="0000FF"/>
                </a:solidFill>
                <a:latin typeface="隶书" pitchFamily="49" charset="-122"/>
              </a:rPr>
              <a:t>运算符功能</a:t>
            </a:r>
          </a:p>
          <a:p>
            <a:pPr lvl="2"/>
            <a:r>
              <a:rPr lang="zh-CN" altLang="zh-CN" sz="2800" b="1" dirty="0">
                <a:solidFill>
                  <a:srgbClr val="0000FF"/>
                </a:solidFill>
                <a:latin typeface="隶书" pitchFamily="49" charset="-122"/>
              </a:rPr>
              <a:t>与运算</a:t>
            </a:r>
            <a:r>
              <a:rPr lang="zh-CN" altLang="en-US" sz="2800" b="1" dirty="0">
                <a:solidFill>
                  <a:srgbClr val="0000FF"/>
                </a:solidFill>
                <a:latin typeface="隶书" pitchFamily="49" charset="-122"/>
              </a:rPr>
              <a:t>数</a:t>
            </a:r>
            <a:r>
              <a:rPr lang="zh-CN" altLang="zh-CN" sz="2800" b="1" dirty="0">
                <a:solidFill>
                  <a:srgbClr val="0000FF"/>
                </a:solidFill>
                <a:latin typeface="隶书" pitchFamily="49" charset="-122"/>
              </a:rPr>
              <a:t>关系</a:t>
            </a:r>
          </a:p>
          <a:p>
            <a:pPr lvl="3"/>
            <a:r>
              <a:rPr lang="zh-CN" altLang="zh-CN" sz="2400" b="1" dirty="0">
                <a:latin typeface="隶书" pitchFamily="49" charset="-122"/>
              </a:rPr>
              <a:t>要求运算</a:t>
            </a:r>
            <a:r>
              <a:rPr lang="zh-CN" altLang="en-US" sz="2400" b="1" dirty="0">
                <a:latin typeface="隶书" pitchFamily="49" charset="-122"/>
              </a:rPr>
              <a:t>数</a:t>
            </a:r>
            <a:r>
              <a:rPr lang="zh-CN" altLang="zh-CN" sz="2400" b="1" dirty="0">
                <a:latin typeface="隶书" pitchFamily="49" charset="-122"/>
              </a:rPr>
              <a:t>个数</a:t>
            </a:r>
          </a:p>
          <a:p>
            <a:pPr lvl="3"/>
            <a:r>
              <a:rPr lang="zh-CN" altLang="zh-CN" sz="2400" b="1" dirty="0">
                <a:latin typeface="隶书" pitchFamily="49" charset="-122"/>
              </a:rPr>
              <a:t>要求运算</a:t>
            </a:r>
            <a:r>
              <a:rPr lang="zh-CN" altLang="en-US" sz="2400" b="1" dirty="0">
                <a:latin typeface="隶书" pitchFamily="49" charset="-122"/>
              </a:rPr>
              <a:t>数</a:t>
            </a:r>
            <a:r>
              <a:rPr lang="zh-CN" altLang="zh-CN" sz="2400" b="1" dirty="0">
                <a:latin typeface="隶书" pitchFamily="49" charset="-122"/>
              </a:rPr>
              <a:t>类型</a:t>
            </a:r>
          </a:p>
          <a:p>
            <a:pPr lvl="2"/>
            <a:r>
              <a:rPr lang="zh-CN" altLang="zh-CN" sz="2800" b="1" dirty="0">
                <a:solidFill>
                  <a:srgbClr val="0000FF"/>
                </a:solidFill>
                <a:latin typeface="隶书" pitchFamily="49" charset="-122"/>
              </a:rPr>
              <a:t>运算符优先级别</a:t>
            </a:r>
          </a:p>
          <a:p>
            <a:pPr lvl="2"/>
            <a:r>
              <a:rPr lang="zh-CN" altLang="zh-CN" sz="2800" b="1" dirty="0">
                <a:solidFill>
                  <a:srgbClr val="0000FF"/>
                </a:solidFill>
                <a:latin typeface="隶书" pitchFamily="49" charset="-122"/>
              </a:rPr>
              <a:t>结合方向</a:t>
            </a:r>
          </a:p>
          <a:p>
            <a:pPr lvl="2"/>
            <a:r>
              <a:rPr lang="zh-CN" altLang="en-US" sz="2800" b="1" dirty="0">
                <a:solidFill>
                  <a:srgbClr val="0000FF"/>
                </a:solidFill>
                <a:latin typeface="隶书" pitchFamily="49" charset="-122"/>
              </a:rPr>
              <a:t>运算</a:t>
            </a:r>
            <a:r>
              <a:rPr lang="zh-CN" altLang="zh-CN" sz="2800" b="1" dirty="0">
                <a:solidFill>
                  <a:srgbClr val="0000FF"/>
                </a:solidFill>
                <a:latin typeface="隶书" pitchFamily="49" charset="-122"/>
              </a:rPr>
              <a:t>结果的类型</a:t>
            </a:r>
            <a:endParaRPr lang="zh-CN" altLang="zh-CN" sz="2800" b="1" dirty="0">
              <a:solidFill>
                <a:srgbClr val="0000FF"/>
              </a:solidFill>
              <a:latin typeface="宋体" pitchFamily="2" charset="-122"/>
            </a:endParaRPr>
          </a:p>
          <a:p>
            <a:endParaRPr lang="en-US" altLang="zh-CN" sz="21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56C9DFA-7E9B-4C6D-88D4-A9BEBB2E4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560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bldLvl="3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6E50599-6E53-4AAC-8808-209375C25505}"/>
              </a:ext>
            </a:extLst>
          </p:cNvPr>
          <p:cNvSpPr txBox="1">
            <a:spLocks noChangeArrowheads="1"/>
          </p:cNvSpPr>
          <p:nvPr/>
        </p:nvSpPr>
        <p:spPr>
          <a:xfrm>
            <a:off x="28963" y="966335"/>
            <a:ext cx="12134074" cy="2704897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zh-CN" altLang="en-US" sz="6000" b="1" dirty="0">
                <a:solidFill>
                  <a:srgbClr val="FF0066"/>
                </a:solidFill>
                <a:latin typeface="隶书" pitchFamily="49" charset="-122"/>
              </a:rPr>
              <a:t>基本算术运算符：</a:t>
            </a:r>
            <a:r>
              <a:rPr lang="zh-CN" altLang="en-US" sz="6000" b="1" dirty="0">
                <a:latin typeface="隶书" pitchFamily="49" charset="-122"/>
              </a:rPr>
              <a:t>  </a:t>
            </a:r>
            <a:r>
              <a:rPr lang="en-US" altLang="zh-CN" sz="6000" b="1" dirty="0">
                <a:solidFill>
                  <a:srgbClr val="0000FF"/>
                </a:solidFill>
                <a:latin typeface="隶书" pitchFamily="49" charset="-122"/>
              </a:rPr>
              <a:t>+ </a:t>
            </a:r>
            <a:r>
              <a:rPr lang="en-US" altLang="zh-CN" sz="6000" b="1" dirty="0">
                <a:solidFill>
                  <a:srgbClr val="FF0000"/>
                </a:solidFill>
                <a:latin typeface="隶书" pitchFamily="49" charset="-122"/>
              </a:rPr>
              <a:t>-</a:t>
            </a:r>
            <a:r>
              <a:rPr lang="en-US" altLang="zh-CN" sz="6000" b="1" dirty="0">
                <a:solidFill>
                  <a:srgbClr val="0000FF"/>
                </a:solidFill>
                <a:latin typeface="隶书" pitchFamily="49" charset="-122"/>
              </a:rPr>
              <a:t> * / %</a:t>
            </a:r>
            <a:endParaRPr lang="en-US" altLang="zh-CN" sz="6000" b="1" dirty="0">
              <a:latin typeface="隶书" pitchFamily="49" charset="-122"/>
            </a:endParaRPr>
          </a:p>
          <a:p>
            <a:pPr lvl="3"/>
            <a:r>
              <a:rPr lang="zh-CN" altLang="en-US" sz="6000" b="1" dirty="0">
                <a:latin typeface="隶书" pitchFamily="49" charset="-122"/>
              </a:rPr>
              <a:t>结合方向：从左向右</a:t>
            </a:r>
          </a:p>
          <a:p>
            <a:pPr lvl="3"/>
            <a:r>
              <a:rPr lang="zh-CN" altLang="en-US" sz="6000" b="1" dirty="0">
                <a:latin typeface="隶书" pitchFamily="49" charset="-122"/>
              </a:rPr>
              <a:t>优先级：</a:t>
            </a:r>
            <a:r>
              <a:rPr lang="zh-CN" altLang="en-US" sz="5100" b="1" dirty="0">
                <a:latin typeface="隶书" pitchFamily="49" charset="-122"/>
              </a:rPr>
              <a:t> </a:t>
            </a:r>
            <a:r>
              <a:rPr lang="en-US" altLang="zh-CN" sz="5100" b="1" dirty="0">
                <a:solidFill>
                  <a:srgbClr val="FF0000"/>
                </a:solidFill>
                <a:latin typeface="隶书" pitchFamily="49" charset="-122"/>
              </a:rPr>
              <a:t>-</a:t>
            </a:r>
            <a:r>
              <a:rPr lang="en-US" altLang="zh-CN" sz="5100" b="1" dirty="0">
                <a:latin typeface="隶书" pitchFamily="49" charset="-122"/>
              </a:rPr>
              <a:t> ----&gt;</a:t>
            </a:r>
            <a:r>
              <a:rPr lang="en-US" altLang="zh-CN" sz="5100" b="1" dirty="0">
                <a:solidFill>
                  <a:srgbClr val="0000FF"/>
                </a:solidFill>
                <a:latin typeface="隶书" pitchFamily="49" charset="-122"/>
              </a:rPr>
              <a:t>* / %</a:t>
            </a:r>
            <a:r>
              <a:rPr lang="en-US" altLang="zh-CN" sz="5100" b="1" dirty="0">
                <a:latin typeface="隶书" pitchFamily="49" charset="-122"/>
              </a:rPr>
              <a:t> -----&gt; </a:t>
            </a:r>
            <a:r>
              <a:rPr lang="en-US" altLang="zh-CN" sz="5100" b="1" dirty="0">
                <a:solidFill>
                  <a:srgbClr val="FF3300"/>
                </a:solidFill>
                <a:latin typeface="隶书" pitchFamily="49" charset="-122"/>
              </a:rPr>
              <a:t>+ -</a:t>
            </a:r>
          </a:p>
          <a:p>
            <a:pPr lvl="3">
              <a:buFont typeface="Wingdings" pitchFamily="2" charset="2"/>
              <a:buNone/>
            </a:pPr>
            <a:r>
              <a:rPr lang="en-US" altLang="zh-CN" sz="5100" b="1" dirty="0">
                <a:solidFill>
                  <a:schemeClr val="folHlink"/>
                </a:solidFill>
                <a:latin typeface="隶书" pitchFamily="49" charset="-122"/>
              </a:rPr>
              <a:t>          </a:t>
            </a:r>
            <a:r>
              <a:rPr lang="en-US" altLang="zh-CN" sz="5100" b="1" dirty="0">
                <a:solidFill>
                  <a:srgbClr val="800080"/>
                </a:solidFill>
                <a:latin typeface="隶书" pitchFamily="49" charset="-122"/>
              </a:rPr>
              <a:t>(2)      (3)         (4)</a:t>
            </a:r>
            <a:r>
              <a:rPr lang="en-US" altLang="zh-CN" sz="5100" b="1" dirty="0">
                <a:latin typeface="隶书" pitchFamily="49" charset="-122"/>
              </a:rPr>
              <a:t>	</a:t>
            </a:r>
          </a:p>
          <a:p>
            <a:pPr lvl="2">
              <a:buFont typeface="Wingdings" pitchFamily="2" charset="2"/>
              <a:buNone/>
            </a:pPr>
            <a:r>
              <a:rPr lang="en-US" altLang="zh-CN" sz="5100" b="1" dirty="0">
                <a:latin typeface="隶书" pitchFamily="49" charset="-122"/>
              </a:rPr>
              <a:t>  </a:t>
            </a:r>
            <a:r>
              <a:rPr lang="zh-CN" altLang="en-US" sz="6000" b="1" dirty="0">
                <a:latin typeface="隶书" pitchFamily="49" charset="-122"/>
              </a:rPr>
              <a:t>说明：</a:t>
            </a:r>
            <a:endParaRPr lang="zh-CN" altLang="en-US" sz="5100" b="1" dirty="0">
              <a:latin typeface="隶书" pitchFamily="49" charset="-122"/>
            </a:endParaRPr>
          </a:p>
          <a:p>
            <a:pPr lvl="3"/>
            <a:r>
              <a:rPr lang="zh-CN" altLang="zh-CN" sz="6000" b="1" dirty="0"/>
              <a:t>“</a:t>
            </a:r>
            <a:r>
              <a:rPr lang="zh-CN" altLang="zh-CN" sz="6000" b="1" dirty="0">
                <a:latin typeface="隶书" pitchFamily="49" charset="-122"/>
              </a:rPr>
              <a:t>-</a:t>
            </a:r>
            <a:r>
              <a:rPr lang="zh-CN" altLang="zh-CN" sz="6000" b="1" dirty="0"/>
              <a:t>”</a:t>
            </a:r>
            <a:r>
              <a:rPr lang="zh-CN" altLang="zh-CN" sz="6000" b="1" dirty="0">
                <a:latin typeface="隶书" pitchFamily="49" charset="-122"/>
              </a:rPr>
              <a:t>为</a:t>
            </a:r>
            <a:r>
              <a:rPr lang="zh-CN" altLang="zh-CN" sz="6000" b="1" dirty="0">
                <a:solidFill>
                  <a:srgbClr val="0000FF"/>
                </a:solidFill>
                <a:latin typeface="隶书" pitchFamily="49" charset="-122"/>
              </a:rPr>
              <a:t>单目</a:t>
            </a:r>
            <a:r>
              <a:rPr lang="zh-CN" altLang="zh-CN" sz="6000" b="1" dirty="0">
                <a:latin typeface="隶书" pitchFamily="49" charset="-122"/>
              </a:rPr>
              <a:t>运算符时,</a:t>
            </a:r>
            <a:r>
              <a:rPr lang="zh-CN" altLang="en-US" sz="6000" b="1" dirty="0">
                <a:solidFill>
                  <a:srgbClr val="FF0000"/>
                </a:solidFill>
                <a:latin typeface="隶书" pitchFamily="49" charset="-122"/>
              </a:rPr>
              <a:t>常量表示符号位，变量表示求负</a:t>
            </a:r>
            <a:endParaRPr lang="zh-CN" altLang="zh-CN" sz="6000" b="1" dirty="0">
              <a:latin typeface="隶书" pitchFamily="49" charset="-122"/>
            </a:endParaRPr>
          </a:p>
          <a:p>
            <a:pPr lvl="3"/>
            <a:r>
              <a:rPr lang="zh-CN" altLang="en-US" sz="6000" b="1" dirty="0">
                <a:solidFill>
                  <a:srgbClr val="FF0066"/>
                </a:solidFill>
                <a:latin typeface="隶书" pitchFamily="49" charset="-122"/>
              </a:rPr>
              <a:t>两整数相除，结果为整数</a:t>
            </a:r>
            <a:endParaRPr lang="zh-CN" altLang="zh-CN" sz="6000" b="1" dirty="0">
              <a:solidFill>
                <a:srgbClr val="FF0066"/>
              </a:solidFill>
              <a:latin typeface="隶书" pitchFamily="49" charset="-122"/>
            </a:endParaRPr>
          </a:p>
          <a:p>
            <a:pPr lvl="3"/>
            <a:r>
              <a:rPr lang="zh-CN" altLang="zh-CN" sz="6000" b="1" dirty="0">
                <a:solidFill>
                  <a:srgbClr val="0000FF"/>
                </a:solidFill>
                <a:latin typeface="隶书" pitchFamily="49" charset="-122"/>
              </a:rPr>
              <a:t>%要求两侧均为整型数据</a:t>
            </a:r>
          </a:p>
          <a:p>
            <a:pPr lvl="3"/>
            <a:endParaRPr lang="en-US" altLang="zh-CN" b="1" dirty="0">
              <a:latin typeface="隶书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516F10-133F-419F-9937-5F16727707C9}"/>
              </a:ext>
            </a:extLst>
          </p:cNvPr>
          <p:cNvSpPr/>
          <p:nvPr/>
        </p:nvSpPr>
        <p:spPr>
          <a:xfrm>
            <a:off x="28963" y="3793153"/>
            <a:ext cx="17267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zh-CN" altLang="en-US" sz="2400" b="1" dirty="0">
                <a:solidFill>
                  <a:srgbClr val="FF0066"/>
                </a:solidFill>
                <a:latin typeface="隶书" pitchFamily="49" charset="-122"/>
              </a:rPr>
              <a:t>算术表达式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BA2B83-14C4-490A-9465-69751C0B44B2}"/>
              </a:ext>
            </a:extLst>
          </p:cNvPr>
          <p:cNvSpPr txBox="1"/>
          <p:nvPr/>
        </p:nvSpPr>
        <p:spPr>
          <a:xfrm>
            <a:off x="405481" y="4322005"/>
            <a:ext cx="117865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隶书" pitchFamily="49" charset="-122"/>
              </a:rPr>
              <a:t>用算术运算符将运算对象</a:t>
            </a:r>
            <a:r>
              <a:rPr lang="en-US" altLang="zh-CN" sz="2400" b="1" dirty="0">
                <a:latin typeface="隶书" pitchFamily="49" charset="-122"/>
              </a:rPr>
              <a:t>(</a:t>
            </a:r>
            <a:r>
              <a:rPr lang="zh-CN" altLang="en-US" sz="2400" b="1" dirty="0">
                <a:latin typeface="隶书" pitchFamily="49" charset="-122"/>
              </a:rPr>
              <a:t>也称操作数</a:t>
            </a:r>
            <a:r>
              <a:rPr lang="en-US" altLang="zh-CN" sz="2400" b="1" dirty="0">
                <a:latin typeface="隶书" pitchFamily="49" charset="-122"/>
              </a:rPr>
              <a:t>)</a:t>
            </a:r>
            <a:r>
              <a:rPr lang="zh-CN" altLang="en-US" sz="2400" b="1" dirty="0">
                <a:latin typeface="隶书" pitchFamily="49" charset="-122"/>
              </a:rPr>
              <a:t>连接起来的、符合</a:t>
            </a:r>
            <a:r>
              <a:rPr lang="en-US" altLang="zh-CN" sz="2400" b="1" dirty="0">
                <a:latin typeface="隶书" pitchFamily="49" charset="-122"/>
              </a:rPr>
              <a:t>C</a:t>
            </a:r>
            <a:r>
              <a:rPr lang="zh-CN" altLang="en-US" sz="2400" b="1" dirty="0">
                <a:latin typeface="隶书" pitchFamily="49" charset="-122"/>
              </a:rPr>
              <a:t>语言语法规则、对运算对象进行算术运算的式子。运算对象可以是常量、变量、函数等。</a:t>
            </a:r>
            <a:endParaRPr lang="en-US" altLang="zh-CN" sz="2400" b="1" dirty="0">
              <a:latin typeface="隶书" pitchFamily="49" charset="-122"/>
            </a:endParaRPr>
          </a:p>
          <a:p>
            <a:endParaRPr lang="en-US" altLang="zh-CN" sz="2400" b="1" dirty="0">
              <a:latin typeface="隶书" pitchFamily="49" charset="-122"/>
            </a:endParaRPr>
          </a:p>
          <a:p>
            <a:r>
              <a:rPr lang="zh-CN" altLang="en-US" sz="2400" b="1" dirty="0">
                <a:latin typeface="隶书" pitchFamily="49" charset="-122"/>
              </a:rPr>
              <a:t>例如：：</a:t>
            </a:r>
            <a:endParaRPr lang="en-US" altLang="zh-CN" sz="2400" b="1" dirty="0">
              <a:latin typeface="隶书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14F76CD-99CC-4864-A5A6-2E5C20A27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007" y="5225388"/>
            <a:ext cx="4623038" cy="762039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9FCCA7-5FE6-4673-AC68-0184E53B9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D6580E-C4ED-4AAF-9439-50CBE089D786}"/>
              </a:ext>
            </a:extLst>
          </p:cNvPr>
          <p:cNvSpPr txBox="1"/>
          <p:nvPr/>
        </p:nvSpPr>
        <p:spPr>
          <a:xfrm>
            <a:off x="3271428" y="65367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基本算术运算符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829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 autoUpdateAnimBg="0"/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55CE60E-CBB7-45CE-B399-6EAFE6F5B9EB}"/>
              </a:ext>
            </a:extLst>
          </p:cNvPr>
          <p:cNvSpPr/>
          <p:nvPr/>
        </p:nvSpPr>
        <p:spPr>
          <a:xfrm>
            <a:off x="0" y="719638"/>
            <a:ext cx="41889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算术运算符及算术表达式实例</a:t>
            </a: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1B9A1D8C-BA7B-4843-A035-35951A293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3163" y="1748938"/>
            <a:ext cx="2443595" cy="833178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400" dirty="0">
                <a:ea typeface="隶书" pitchFamily="49" charset="-122"/>
              </a:rPr>
              <a:t>例    </a:t>
            </a:r>
            <a:r>
              <a:rPr kumimoji="1" lang="en-US" altLang="zh-CN" sz="2400" dirty="0">
                <a:ea typeface="隶书" pitchFamily="49" charset="-122"/>
              </a:rPr>
              <a:t>5/2   = </a:t>
            </a:r>
            <a:r>
              <a:rPr kumimoji="1" lang="en-US" altLang="zh-CN" sz="2400" dirty="0">
                <a:solidFill>
                  <a:srgbClr val="0000FF"/>
                </a:solidFill>
                <a:ea typeface="隶书" pitchFamily="49" charset="-122"/>
              </a:rPr>
              <a:t>2</a:t>
            </a:r>
            <a:r>
              <a:rPr kumimoji="1" lang="en-US" altLang="zh-CN" sz="2400" dirty="0">
                <a:ea typeface="隶书" pitchFamily="49" charset="-122"/>
              </a:rPr>
              <a:t>   </a:t>
            </a:r>
          </a:p>
          <a:p>
            <a:r>
              <a:rPr kumimoji="1" lang="en-US" altLang="zh-CN" sz="2400" dirty="0">
                <a:ea typeface="隶书" pitchFamily="49" charset="-122"/>
              </a:rPr>
              <a:t>       -5/2.0 = </a:t>
            </a:r>
            <a:r>
              <a:rPr kumimoji="1" lang="en-US" altLang="zh-CN" sz="2400" dirty="0">
                <a:solidFill>
                  <a:srgbClr val="0000FF"/>
                </a:solidFill>
                <a:ea typeface="隶书" pitchFamily="49" charset="-122"/>
              </a:rPr>
              <a:t>-2.5</a:t>
            </a:r>
            <a:endParaRPr kumimoji="1" lang="en-US" altLang="zh-CN" sz="2400" dirty="0">
              <a:ea typeface="隶书" pitchFamily="49" charset="-122"/>
            </a:endParaRP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3E8D3E49-D946-4CDE-9F73-3F57315F0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152" y="1487827"/>
            <a:ext cx="4049804" cy="1941173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400">
                <a:ea typeface="隶书" pitchFamily="49" charset="-122"/>
              </a:rPr>
              <a:t>例    </a:t>
            </a:r>
            <a:r>
              <a:rPr kumimoji="1" lang="en-US" altLang="zh-CN" sz="2400">
                <a:ea typeface="隶书" pitchFamily="49" charset="-122"/>
              </a:rPr>
              <a:t>5%2   = </a:t>
            </a:r>
            <a:r>
              <a:rPr kumimoji="1" lang="en-US" altLang="zh-CN" sz="2400">
                <a:solidFill>
                  <a:srgbClr val="0000FF"/>
                </a:solidFill>
                <a:ea typeface="隶书" pitchFamily="49" charset="-122"/>
              </a:rPr>
              <a:t>1  </a:t>
            </a:r>
            <a:r>
              <a:rPr kumimoji="1" lang="en-US" altLang="zh-CN" sz="2400">
                <a:ea typeface="隶书" pitchFamily="49" charset="-122"/>
              </a:rPr>
              <a:t> </a:t>
            </a:r>
          </a:p>
          <a:p>
            <a:r>
              <a:rPr kumimoji="1" lang="en-US" altLang="zh-CN" sz="2400">
                <a:ea typeface="隶书" pitchFamily="49" charset="-122"/>
              </a:rPr>
              <a:t>       -5%2   =  </a:t>
            </a:r>
            <a:r>
              <a:rPr kumimoji="1" lang="en-US" altLang="zh-CN" sz="2400">
                <a:solidFill>
                  <a:srgbClr val="0000FF"/>
                </a:solidFill>
                <a:ea typeface="隶书" pitchFamily="49" charset="-122"/>
              </a:rPr>
              <a:t>-1(</a:t>
            </a:r>
            <a:r>
              <a:rPr kumimoji="1" lang="zh-CN" altLang="en-US">
                <a:solidFill>
                  <a:srgbClr val="0000FF"/>
                </a:solidFill>
                <a:ea typeface="隶书" pitchFamily="49" charset="-122"/>
              </a:rPr>
              <a:t>取被除数符号</a:t>
            </a:r>
            <a:r>
              <a:rPr kumimoji="1" lang="en-US" altLang="zh-CN" sz="2400">
                <a:solidFill>
                  <a:srgbClr val="0000FF"/>
                </a:solidFill>
                <a:ea typeface="隶书" pitchFamily="49" charset="-122"/>
              </a:rPr>
              <a:t>)</a:t>
            </a:r>
            <a:r>
              <a:rPr kumimoji="1" lang="en-US" altLang="zh-CN" sz="2400">
                <a:ea typeface="隶书" pitchFamily="49" charset="-122"/>
              </a:rPr>
              <a:t> </a:t>
            </a:r>
            <a:endParaRPr kumimoji="1" lang="en-US" altLang="zh-CN">
              <a:solidFill>
                <a:srgbClr val="0000FF"/>
              </a:solidFill>
              <a:ea typeface="隶书" pitchFamily="49" charset="-122"/>
            </a:endParaRPr>
          </a:p>
          <a:p>
            <a:r>
              <a:rPr kumimoji="1" lang="en-US" altLang="zh-CN" sz="2400">
                <a:solidFill>
                  <a:srgbClr val="0000FF"/>
                </a:solidFill>
                <a:ea typeface="隶书" pitchFamily="49" charset="-122"/>
              </a:rPr>
              <a:t>        </a:t>
            </a:r>
            <a:r>
              <a:rPr kumimoji="1" lang="en-US" altLang="zh-CN" sz="2400">
                <a:ea typeface="隶书" pitchFamily="49" charset="-122"/>
              </a:rPr>
              <a:t>1%10 =</a:t>
            </a:r>
            <a:r>
              <a:rPr kumimoji="1" lang="en-US" altLang="zh-CN" sz="2400">
                <a:solidFill>
                  <a:srgbClr val="FF0000"/>
                </a:solidFill>
                <a:ea typeface="隶书" pitchFamily="49" charset="-122"/>
              </a:rPr>
              <a:t>  </a:t>
            </a:r>
            <a:r>
              <a:rPr kumimoji="1" lang="en-US" altLang="zh-CN" sz="2400">
                <a:solidFill>
                  <a:srgbClr val="0000FF"/>
                </a:solidFill>
                <a:ea typeface="隶书" pitchFamily="49" charset="-122"/>
              </a:rPr>
              <a:t>1</a:t>
            </a:r>
            <a:endParaRPr kumimoji="1" lang="en-US" altLang="zh-CN" sz="2400">
              <a:solidFill>
                <a:srgbClr val="FF0000"/>
              </a:solidFill>
              <a:ea typeface="隶书" pitchFamily="49" charset="-122"/>
            </a:endParaRPr>
          </a:p>
          <a:p>
            <a:r>
              <a:rPr kumimoji="1" lang="en-US" altLang="zh-CN" sz="2400">
                <a:solidFill>
                  <a:srgbClr val="FF0000"/>
                </a:solidFill>
                <a:ea typeface="隶书" pitchFamily="49" charset="-122"/>
              </a:rPr>
              <a:t>        </a:t>
            </a:r>
            <a:r>
              <a:rPr kumimoji="1" lang="en-US" altLang="zh-CN" sz="2400">
                <a:ea typeface="隶书" pitchFamily="49" charset="-122"/>
              </a:rPr>
              <a:t>5%1   =</a:t>
            </a:r>
            <a:r>
              <a:rPr kumimoji="1" lang="en-US" altLang="zh-CN" sz="2400">
                <a:solidFill>
                  <a:srgbClr val="FF0000"/>
                </a:solidFill>
                <a:ea typeface="隶书" pitchFamily="49" charset="-122"/>
              </a:rPr>
              <a:t>  </a:t>
            </a:r>
            <a:r>
              <a:rPr kumimoji="1" lang="en-US" altLang="zh-CN" sz="2400">
                <a:solidFill>
                  <a:srgbClr val="0000FF"/>
                </a:solidFill>
                <a:ea typeface="隶书" pitchFamily="49" charset="-122"/>
              </a:rPr>
              <a:t>0</a:t>
            </a:r>
            <a:endParaRPr kumimoji="1" lang="en-US" altLang="zh-CN" sz="2400">
              <a:solidFill>
                <a:srgbClr val="FF0000"/>
              </a:solidFill>
              <a:ea typeface="隶书" pitchFamily="49" charset="-122"/>
            </a:endParaRPr>
          </a:p>
          <a:p>
            <a:r>
              <a:rPr kumimoji="1" lang="en-US" altLang="zh-CN" sz="2400">
                <a:ea typeface="隶书" pitchFamily="49" charset="-122"/>
              </a:rPr>
              <a:t>        5.5%2</a:t>
            </a:r>
            <a:r>
              <a:rPr kumimoji="1" lang="en-US" altLang="zh-CN" sz="2400">
                <a:solidFill>
                  <a:srgbClr val="FF0000"/>
                </a:solidFill>
                <a:ea typeface="隶书" pitchFamily="49" charset="-122"/>
              </a:rPr>
              <a:t>      (</a:t>
            </a:r>
            <a:r>
              <a:rPr kumimoji="1" lang="en-US" altLang="zh-CN" sz="2400">
                <a:solidFill>
                  <a:srgbClr val="FF0000"/>
                </a:solidFill>
                <a:ea typeface="隶书" pitchFamily="49" charset="-122"/>
                <a:sym typeface="Symbol" pitchFamily="18" charset="2"/>
              </a:rPr>
              <a:t>)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DA6D249B-9B88-49A4-92CC-AA7289907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3163" y="1748938"/>
            <a:ext cx="2443595" cy="833178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400" dirty="0">
                <a:ea typeface="隶书" pitchFamily="49" charset="-122"/>
              </a:rPr>
              <a:t>例    </a:t>
            </a:r>
            <a:r>
              <a:rPr kumimoji="1" lang="en-US" altLang="zh-CN" sz="2400" dirty="0">
                <a:ea typeface="隶书" pitchFamily="49" charset="-122"/>
              </a:rPr>
              <a:t>5/2   =</a:t>
            </a:r>
          </a:p>
          <a:p>
            <a:r>
              <a:rPr kumimoji="1" lang="en-US" altLang="zh-CN" sz="2400" dirty="0">
                <a:ea typeface="隶书" pitchFamily="49" charset="-122"/>
              </a:rPr>
              <a:t>       -5/2.0  =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20A38318-EA45-4FEB-8625-85F45D40B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151" y="1487826"/>
            <a:ext cx="4049803" cy="1941173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400" dirty="0">
                <a:ea typeface="隶书" pitchFamily="49" charset="-122"/>
              </a:rPr>
              <a:t>例      </a:t>
            </a:r>
            <a:r>
              <a:rPr kumimoji="1" lang="en-US" altLang="zh-CN" sz="2400" dirty="0">
                <a:ea typeface="隶书" pitchFamily="49" charset="-122"/>
              </a:rPr>
              <a:t>5%2   =</a:t>
            </a:r>
          </a:p>
          <a:p>
            <a:r>
              <a:rPr kumimoji="1" lang="en-US" altLang="zh-CN" sz="2400" dirty="0">
                <a:ea typeface="隶书" pitchFamily="49" charset="-122"/>
              </a:rPr>
              <a:t>       -5%2    =</a:t>
            </a:r>
            <a:endParaRPr kumimoji="1" lang="en-US" altLang="zh-CN" sz="2400" dirty="0">
              <a:solidFill>
                <a:srgbClr val="FF0000"/>
              </a:solidFill>
              <a:ea typeface="隶书" pitchFamily="49" charset="-122"/>
            </a:endParaRPr>
          </a:p>
          <a:p>
            <a:r>
              <a:rPr kumimoji="1" lang="en-US" altLang="zh-CN" sz="2400" dirty="0">
                <a:ea typeface="隶书" pitchFamily="49" charset="-122"/>
              </a:rPr>
              <a:t>       1%10   =</a:t>
            </a:r>
            <a:endParaRPr kumimoji="1" lang="en-US" altLang="zh-CN" sz="2400" dirty="0">
              <a:solidFill>
                <a:srgbClr val="FF0000"/>
              </a:solidFill>
              <a:ea typeface="隶书" pitchFamily="49" charset="-122"/>
            </a:endParaRPr>
          </a:p>
          <a:p>
            <a:r>
              <a:rPr kumimoji="1" lang="en-US" altLang="zh-CN" sz="2400" dirty="0">
                <a:solidFill>
                  <a:srgbClr val="FF0000"/>
                </a:solidFill>
                <a:ea typeface="隶书" pitchFamily="49" charset="-122"/>
              </a:rPr>
              <a:t>        </a:t>
            </a:r>
            <a:r>
              <a:rPr kumimoji="1" lang="en-US" altLang="zh-CN" sz="2400" dirty="0">
                <a:ea typeface="隶书" pitchFamily="49" charset="-122"/>
              </a:rPr>
              <a:t>5%1    =</a:t>
            </a:r>
            <a:endParaRPr kumimoji="1" lang="en-US" altLang="zh-CN" sz="2400" dirty="0">
              <a:solidFill>
                <a:srgbClr val="FF0000"/>
              </a:solidFill>
              <a:ea typeface="隶书" pitchFamily="49" charset="-122"/>
            </a:endParaRPr>
          </a:p>
          <a:p>
            <a:r>
              <a:rPr kumimoji="1" lang="en-US" altLang="zh-CN" sz="2400" dirty="0">
                <a:ea typeface="隶书" pitchFamily="49" charset="-122"/>
              </a:rPr>
              <a:t>      5.5%2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03CCE443-7F55-46CF-A671-6792E71DEAA3}"/>
                  </a:ext>
                </a:extLst>
              </p:cNvPr>
              <p:cNvSpPr/>
              <p:nvPr/>
            </p:nvSpPr>
            <p:spPr>
              <a:xfrm>
                <a:off x="1277023" y="5170525"/>
                <a:ext cx="3704552" cy="6851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</a:rPr>
                        <m:t>𝑥</m:t>
                      </m:r>
                      <m:r>
                        <a:rPr lang="en-US" altLang="zh-CN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𝑏</m:t>
                          </m:r>
                          <m:r>
                            <a:rPr lang="en-US" altLang="zh-CN">
                              <a:latin typeface="Cambria Math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zh-CN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>
                                  <a:latin typeface="Cambria Math"/>
                                </a:rPr>
                                <m:t>4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US" altLang="zh-CN">
                              <a:latin typeface="Cambria Math"/>
                            </a:rPr>
                            <m:t>2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03CCE443-7F55-46CF-A671-6792E71DEA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023" y="5170525"/>
                <a:ext cx="3704552" cy="6851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2">
            <a:extLst>
              <a:ext uri="{FF2B5EF4-FFF2-40B4-BE49-F238E27FC236}">
                <a16:creationId xmlns:a16="http://schemas.microsoft.com/office/drawing/2014/main" id="{60C3555B-14A7-4AB1-8818-1108F22F6E5D}"/>
              </a:ext>
            </a:extLst>
          </p:cNvPr>
          <p:cNvSpPr txBox="1"/>
          <p:nvPr/>
        </p:nvSpPr>
        <p:spPr>
          <a:xfrm>
            <a:off x="847634" y="3789211"/>
            <a:ext cx="66778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将数学表达式转换为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语言表达式：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dirty="0"/>
              <a:t>已知</a:t>
            </a:r>
            <a:r>
              <a:rPr lang="en-US" altLang="zh-CN" sz="2400" dirty="0" err="1"/>
              <a:t>a,b,c</a:t>
            </a:r>
            <a:r>
              <a:rPr lang="zh-CN" altLang="en-US" sz="2400" dirty="0"/>
              <a:t>的值，求</a:t>
            </a:r>
            <a:r>
              <a:rPr lang="en-US" altLang="zh-CN" sz="2400" dirty="0"/>
              <a:t>x1</a:t>
            </a:r>
            <a:r>
              <a:rPr lang="zh-CN" altLang="en-US" sz="2400" dirty="0"/>
              <a:t>和</a:t>
            </a:r>
            <a:r>
              <a:rPr lang="en-US" altLang="zh-CN" sz="2400" dirty="0"/>
              <a:t>x2</a:t>
            </a:r>
            <a:r>
              <a:rPr lang="zh-CN" altLang="en-US" sz="2400" dirty="0"/>
              <a:t>的值的表达式是？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B0A057A-A974-45BA-8CE7-4243CB38A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669" y="5028751"/>
            <a:ext cx="6286823" cy="1143059"/>
          </a:xfrm>
          <a:prstGeom prst="rect">
            <a:avLst/>
          </a:prstGeom>
        </p:spPr>
      </p:pic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2129A689-DFD4-46B5-94B0-EC9FAFC8B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26132D-372B-41A2-8E8F-1135D9E3615B}"/>
              </a:ext>
            </a:extLst>
          </p:cNvPr>
          <p:cNvSpPr txBox="1"/>
          <p:nvPr/>
        </p:nvSpPr>
        <p:spPr>
          <a:xfrm>
            <a:off x="3271428" y="65367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基本算术运算符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970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 autoUpdateAnimBg="0"/>
      <p:bldP spid="7" grpId="0" animBg="1" autoUpdateAnimBg="0"/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24B9470-7236-4AC6-8527-D13A478E05CC}"/>
              </a:ext>
            </a:extLst>
          </p:cNvPr>
          <p:cNvSpPr txBox="1">
            <a:spLocks noChangeArrowheads="1"/>
          </p:cNvSpPr>
          <p:nvPr/>
        </p:nvSpPr>
        <p:spPr>
          <a:xfrm>
            <a:off x="33556" y="742950"/>
            <a:ext cx="12158444" cy="2603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zh-CN" altLang="en-US" sz="2800" b="1" dirty="0">
                <a:solidFill>
                  <a:srgbClr val="FF0066"/>
                </a:solidFill>
                <a:latin typeface="隶书" pitchFamily="49" charset="-122"/>
              </a:rPr>
              <a:t>自增、自减运算符</a:t>
            </a:r>
            <a:r>
              <a:rPr lang="zh-CN" altLang="en-US" sz="2800" b="1" dirty="0">
                <a:latin typeface="隶书" pitchFamily="49" charset="-122"/>
              </a:rPr>
              <a:t>  </a:t>
            </a:r>
            <a:r>
              <a:rPr lang="en-US" altLang="zh-CN" sz="2800" b="1" dirty="0">
                <a:solidFill>
                  <a:srgbClr val="0000FF"/>
                </a:solidFill>
                <a:latin typeface="隶书" pitchFamily="49" charset="-122"/>
              </a:rPr>
              <a:t>++ --</a:t>
            </a:r>
          </a:p>
          <a:p>
            <a:pPr lvl="3"/>
            <a:r>
              <a:rPr lang="zh-CN" altLang="en-US" sz="2400" b="1" dirty="0">
                <a:latin typeface="隶书" pitchFamily="49" charset="-122"/>
              </a:rPr>
              <a:t>作用：使变量值加</a:t>
            </a:r>
            <a:r>
              <a:rPr lang="en-US" altLang="zh-CN" sz="2400" b="1" dirty="0">
                <a:latin typeface="隶书" pitchFamily="49" charset="-122"/>
              </a:rPr>
              <a:t>1</a:t>
            </a:r>
            <a:r>
              <a:rPr lang="zh-CN" altLang="en-US" sz="2400" b="1" dirty="0">
                <a:latin typeface="隶书" pitchFamily="49" charset="-122"/>
              </a:rPr>
              <a:t>或减</a:t>
            </a:r>
            <a:r>
              <a:rPr lang="en-US" altLang="zh-CN" sz="2400" b="1" dirty="0">
                <a:latin typeface="隶书" pitchFamily="49" charset="-122"/>
              </a:rPr>
              <a:t>1</a:t>
            </a:r>
          </a:p>
          <a:p>
            <a:pPr lvl="3"/>
            <a:r>
              <a:rPr lang="zh-CN" altLang="en-US" sz="2400" b="1" dirty="0">
                <a:latin typeface="隶书" pitchFamily="49" charset="-122"/>
              </a:rPr>
              <a:t>两种形式：</a:t>
            </a:r>
          </a:p>
          <a:p>
            <a:pPr lvl="4"/>
            <a:r>
              <a:rPr lang="zh-CN" altLang="en-US" sz="2400" b="1" dirty="0">
                <a:latin typeface="隶书" pitchFamily="49" charset="-122"/>
              </a:rPr>
              <a:t>前置  </a:t>
            </a:r>
            <a:r>
              <a:rPr lang="en-US" altLang="zh-CN" sz="2400" b="1" dirty="0">
                <a:latin typeface="隶书" pitchFamily="49" charset="-122"/>
              </a:rPr>
              <a:t>++</a:t>
            </a:r>
            <a:r>
              <a:rPr lang="en-US" altLang="zh-CN" sz="2400" b="1" dirty="0" err="1">
                <a:latin typeface="隶书" pitchFamily="49" charset="-122"/>
              </a:rPr>
              <a:t>i</a:t>
            </a:r>
            <a:r>
              <a:rPr lang="en-US" altLang="zh-CN" sz="2400" b="1" dirty="0">
                <a:latin typeface="隶书" pitchFamily="49" charset="-122"/>
              </a:rPr>
              <a:t>, --</a:t>
            </a:r>
            <a:r>
              <a:rPr lang="en-US" altLang="zh-CN" sz="2400" b="1" dirty="0" err="1">
                <a:latin typeface="隶书" pitchFamily="49" charset="-122"/>
              </a:rPr>
              <a:t>i</a:t>
            </a:r>
            <a:r>
              <a:rPr lang="en-US" altLang="zh-CN" sz="2400" b="1" dirty="0">
                <a:latin typeface="隶书" pitchFamily="49" charset="-122"/>
              </a:rPr>
              <a:t>  (</a:t>
            </a:r>
            <a:r>
              <a:rPr lang="zh-CN" altLang="zh-CN" sz="2400" b="1" dirty="0">
                <a:latin typeface="隶书" pitchFamily="49" charset="-122"/>
              </a:rPr>
              <a:t>先执行</a:t>
            </a:r>
            <a:r>
              <a:rPr lang="en-US" altLang="zh-CN" sz="2400" b="1" dirty="0">
                <a:latin typeface="隶书" pitchFamily="49" charset="-122"/>
              </a:rPr>
              <a:t>i</a:t>
            </a:r>
            <a:r>
              <a:rPr lang="en-US" altLang="zh-CN" sz="2400" b="1" dirty="0">
                <a:latin typeface="隶书" pitchFamily="49" charset="-122"/>
                <a:sym typeface="MT Extra" pitchFamily="18" charset="2"/>
              </a:rPr>
              <a:t>+1</a:t>
            </a:r>
            <a:r>
              <a:rPr lang="zh-CN" altLang="zh-CN" sz="2400" b="1" dirty="0">
                <a:latin typeface="隶书" pitchFamily="49" charset="-122"/>
                <a:sym typeface="MT Extra" pitchFamily="18" charset="2"/>
              </a:rPr>
              <a:t>或</a:t>
            </a:r>
            <a:r>
              <a:rPr lang="en-US" altLang="zh-CN" sz="2400" b="1" dirty="0">
                <a:latin typeface="隶书" pitchFamily="49" charset="-122"/>
                <a:sym typeface="MT Extra" pitchFamily="18" charset="2"/>
              </a:rPr>
              <a:t>i-1</a:t>
            </a:r>
            <a:r>
              <a:rPr lang="zh-CN" altLang="en-US" sz="2400" b="1" dirty="0">
                <a:latin typeface="隶书" pitchFamily="49" charset="-122"/>
              </a:rPr>
              <a:t>，</a:t>
            </a:r>
            <a:r>
              <a:rPr lang="zh-CN" altLang="zh-CN" sz="2400" b="1" dirty="0">
                <a:latin typeface="隶书" pitchFamily="49" charset="-122"/>
              </a:rPr>
              <a:t>再使用</a:t>
            </a:r>
            <a:r>
              <a:rPr lang="en-US" altLang="zh-CN" sz="2400" b="1" dirty="0" err="1">
                <a:latin typeface="隶书" pitchFamily="49" charset="-122"/>
              </a:rPr>
              <a:t>i</a:t>
            </a:r>
            <a:r>
              <a:rPr lang="zh-CN" altLang="zh-CN" sz="2400" b="1" dirty="0">
                <a:latin typeface="隶书" pitchFamily="49" charset="-122"/>
              </a:rPr>
              <a:t>值）</a:t>
            </a:r>
          </a:p>
          <a:p>
            <a:pPr lvl="4"/>
            <a:r>
              <a:rPr lang="zh-CN" altLang="zh-CN" sz="2400" b="1" dirty="0">
                <a:latin typeface="隶书" pitchFamily="49" charset="-122"/>
              </a:rPr>
              <a:t>后置  </a:t>
            </a:r>
            <a:r>
              <a:rPr lang="en-US" altLang="zh-CN" sz="2400" b="1" dirty="0" err="1">
                <a:latin typeface="隶书" pitchFamily="49" charset="-122"/>
              </a:rPr>
              <a:t>i</a:t>
            </a:r>
            <a:r>
              <a:rPr lang="en-US" altLang="zh-CN" sz="2400" b="1" dirty="0">
                <a:latin typeface="隶书" pitchFamily="49" charset="-122"/>
              </a:rPr>
              <a:t>++,</a:t>
            </a:r>
            <a:r>
              <a:rPr lang="en-US" altLang="zh-CN" sz="2400" b="1" dirty="0" err="1">
                <a:latin typeface="隶书" pitchFamily="49" charset="-122"/>
              </a:rPr>
              <a:t>i</a:t>
            </a:r>
            <a:r>
              <a:rPr lang="en-US" altLang="zh-CN" sz="2400" b="1" dirty="0">
                <a:latin typeface="隶书" pitchFamily="49" charset="-122"/>
              </a:rPr>
              <a:t>--   (</a:t>
            </a:r>
            <a:r>
              <a:rPr lang="zh-CN" altLang="zh-CN" sz="2400" b="1" dirty="0">
                <a:latin typeface="隶书" pitchFamily="49" charset="-122"/>
              </a:rPr>
              <a:t>先使用</a:t>
            </a:r>
            <a:r>
              <a:rPr lang="en-US" altLang="zh-CN" sz="2400" b="1" dirty="0" err="1">
                <a:latin typeface="隶书" pitchFamily="49" charset="-122"/>
              </a:rPr>
              <a:t>i</a:t>
            </a:r>
            <a:r>
              <a:rPr lang="zh-CN" altLang="zh-CN" sz="2400" b="1" dirty="0">
                <a:latin typeface="隶书" pitchFamily="49" charset="-122"/>
              </a:rPr>
              <a:t>值,再执行</a:t>
            </a:r>
            <a:r>
              <a:rPr lang="en-US" altLang="zh-CN" sz="2400" b="1" dirty="0">
                <a:latin typeface="隶书" pitchFamily="49" charset="-122"/>
              </a:rPr>
              <a:t>i</a:t>
            </a:r>
            <a:r>
              <a:rPr lang="en-US" altLang="zh-CN" sz="2400" b="1" dirty="0">
                <a:latin typeface="隶书" pitchFamily="49" charset="-122"/>
                <a:sym typeface="MT Extra" pitchFamily="18" charset="2"/>
              </a:rPr>
              <a:t>+1</a:t>
            </a:r>
            <a:r>
              <a:rPr lang="zh-CN" altLang="zh-CN" sz="2400" b="1" dirty="0">
                <a:latin typeface="隶书" pitchFamily="49" charset="-122"/>
                <a:sym typeface="MT Extra" pitchFamily="18" charset="2"/>
              </a:rPr>
              <a:t>或</a:t>
            </a:r>
            <a:r>
              <a:rPr lang="en-US" altLang="zh-CN" sz="2400" b="1" dirty="0">
                <a:latin typeface="隶书" pitchFamily="49" charset="-122"/>
                <a:sym typeface="MT Extra" pitchFamily="18" charset="2"/>
              </a:rPr>
              <a:t>i-1</a:t>
            </a:r>
            <a:r>
              <a:rPr lang="zh-CN" altLang="en-US" sz="2400" b="1" dirty="0">
                <a:latin typeface="隶书" pitchFamily="49" charset="-122"/>
              </a:rPr>
              <a:t>）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772A7ACA-4401-4268-BC33-8A7E58C13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498" y="3410157"/>
            <a:ext cx="6527800" cy="2310505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zh-CN" sz="2400" dirty="0">
                <a:latin typeface="隶书" pitchFamily="49" charset="-122"/>
                <a:ea typeface="隶书" pitchFamily="49" charset="-122"/>
              </a:rPr>
              <a:t>例   </a:t>
            </a:r>
            <a:r>
              <a:rPr kumimoji="1" lang="en-US" altLang="zh-CN" sz="2400" b="1" dirty="0">
                <a:latin typeface="隶书" pitchFamily="49" charset="-122"/>
                <a:ea typeface="隶书" pitchFamily="49" charset="-122"/>
              </a:rPr>
              <a:t>j=3;  k=++j;  </a:t>
            </a:r>
          </a:p>
          <a:p>
            <a:r>
              <a:rPr kumimoji="1" lang="en-US" altLang="zh-CN" sz="2400" b="1" dirty="0">
                <a:latin typeface="隶书" pitchFamily="49" charset="-122"/>
                <a:ea typeface="隶书" pitchFamily="49" charset="-122"/>
              </a:rPr>
              <a:t>     j=3;  k=</a:t>
            </a:r>
            <a:r>
              <a:rPr kumimoji="1" lang="en-US" altLang="zh-CN" sz="2400" b="1" dirty="0" err="1">
                <a:latin typeface="隶书" pitchFamily="49" charset="-122"/>
                <a:ea typeface="隶书" pitchFamily="49" charset="-122"/>
              </a:rPr>
              <a:t>j++</a:t>
            </a:r>
            <a:r>
              <a:rPr kumimoji="1" lang="en-US" altLang="zh-CN" sz="2400" b="1" dirty="0">
                <a:latin typeface="隶书" pitchFamily="49" charset="-122"/>
                <a:ea typeface="隶书" pitchFamily="49" charset="-122"/>
              </a:rPr>
              <a:t>;  </a:t>
            </a:r>
          </a:p>
          <a:p>
            <a:r>
              <a:rPr kumimoji="1" lang="en-US" altLang="zh-CN" sz="2400" b="1" dirty="0">
                <a:latin typeface="隶书" pitchFamily="49" charset="-122"/>
                <a:ea typeface="隶书" pitchFamily="49" charset="-122"/>
              </a:rPr>
              <a:t>     j=3;  printf(</a:t>
            </a:r>
            <a:r>
              <a:rPr kumimoji="1" lang="en-US" altLang="zh-CN" sz="2400" b="1" dirty="0">
                <a:latin typeface="Times New Roman" pitchFamily="18" charset="0"/>
              </a:rPr>
              <a:t>"</a:t>
            </a:r>
            <a:r>
              <a:rPr kumimoji="1" lang="en-US" altLang="zh-CN" sz="2400" b="1" dirty="0">
                <a:latin typeface="隶书" pitchFamily="49" charset="-122"/>
                <a:ea typeface="隶书" pitchFamily="49" charset="-122"/>
              </a:rPr>
              <a:t>%d</a:t>
            </a:r>
            <a:r>
              <a:rPr kumimoji="1" lang="en-US" altLang="zh-CN" sz="2400" b="1" dirty="0">
                <a:latin typeface="Times New Roman" pitchFamily="18" charset="0"/>
              </a:rPr>
              <a:t>"</a:t>
            </a:r>
            <a:r>
              <a:rPr kumimoji="1" lang="en-US" altLang="zh-CN" sz="2400" b="1" dirty="0">
                <a:latin typeface="隶书" pitchFamily="49" charset="-122"/>
                <a:ea typeface="隶书" pitchFamily="49" charset="-122"/>
              </a:rPr>
              <a:t>,++j);   </a:t>
            </a:r>
          </a:p>
          <a:p>
            <a:r>
              <a:rPr kumimoji="1" lang="en-US" altLang="zh-CN" sz="2400" b="1" dirty="0">
                <a:latin typeface="隶书" pitchFamily="49" charset="-122"/>
                <a:ea typeface="隶书" pitchFamily="49" charset="-122"/>
              </a:rPr>
              <a:t>     j=3;  printf(</a:t>
            </a:r>
            <a:r>
              <a:rPr kumimoji="1" lang="en-US" altLang="zh-CN" sz="2400" b="1" dirty="0">
                <a:latin typeface="Times New Roman" pitchFamily="18" charset="0"/>
              </a:rPr>
              <a:t>"</a:t>
            </a:r>
            <a:r>
              <a:rPr kumimoji="1" lang="en-US" altLang="zh-CN" sz="2400" b="1" dirty="0">
                <a:latin typeface="隶书" pitchFamily="49" charset="-122"/>
                <a:ea typeface="隶书" pitchFamily="49" charset="-122"/>
              </a:rPr>
              <a:t>%</a:t>
            </a:r>
            <a:r>
              <a:rPr kumimoji="1" lang="en-US" altLang="zh-CN" sz="2400" b="1" dirty="0" err="1">
                <a:latin typeface="隶书" pitchFamily="49" charset="-122"/>
                <a:ea typeface="隶书" pitchFamily="49" charset="-122"/>
              </a:rPr>
              <a:t>d</a:t>
            </a:r>
            <a:r>
              <a:rPr kumimoji="1" lang="en-US" altLang="zh-CN" sz="2400" b="1" dirty="0" err="1">
                <a:latin typeface="Times New Roman" pitchFamily="18" charset="0"/>
              </a:rPr>
              <a:t>"</a:t>
            </a:r>
            <a:r>
              <a:rPr kumimoji="1" lang="en-US" altLang="zh-CN" sz="2400" b="1" dirty="0" err="1">
                <a:latin typeface="隶书" pitchFamily="49" charset="-122"/>
                <a:ea typeface="隶书" pitchFamily="49" charset="-122"/>
              </a:rPr>
              <a:t>,j</a:t>
            </a:r>
            <a:r>
              <a:rPr kumimoji="1" lang="en-US" altLang="zh-CN" sz="2400" b="1" dirty="0">
                <a:latin typeface="隶书" pitchFamily="49" charset="-122"/>
                <a:ea typeface="隶书" pitchFamily="49" charset="-122"/>
              </a:rPr>
              <a:t>++);   </a:t>
            </a:r>
          </a:p>
          <a:p>
            <a:r>
              <a:rPr kumimoji="1" lang="en-US" altLang="zh-CN" sz="2400" b="1" dirty="0">
                <a:latin typeface="隶书" pitchFamily="49" charset="-122"/>
                <a:ea typeface="隶书" pitchFamily="49" charset="-122"/>
              </a:rPr>
              <a:t>     a=3;b=5;c=(++a)*b;    </a:t>
            </a:r>
          </a:p>
          <a:p>
            <a:r>
              <a:rPr kumimoji="1" lang="en-US" altLang="zh-CN" sz="2400" b="1" dirty="0">
                <a:latin typeface="隶书" pitchFamily="49" charset="-122"/>
                <a:ea typeface="隶书" pitchFamily="49" charset="-122"/>
              </a:rPr>
              <a:t>     a=3;b=5;c=(a++)*b;    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C17D5CA0-740A-424E-938B-9A7360ADD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3612" y="3399043"/>
            <a:ext cx="156675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//k=4,j=4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2739B3DC-4C5B-4378-8A62-4B4DD64A0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3612" y="3765755"/>
            <a:ext cx="156675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//k=3,j=4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9A71A621-4D2A-4B13-91C1-78EB61FFD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3613" y="4130879"/>
            <a:ext cx="643423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//4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08F79D26-31E6-466D-863D-8A58D6774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3613" y="4497592"/>
            <a:ext cx="643423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//3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8354E4E5-6F94-43ED-81D6-A4A62FEBE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3613" y="4862718"/>
            <a:ext cx="1720641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//c=20,a=4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C484821F-53B1-429B-91B8-BE60C2335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3613" y="5227843"/>
            <a:ext cx="1720641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//c=15,a=4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EA0998D2-3501-4772-BEE8-439B7859B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A8F1F3F-7192-4307-9348-625FDC4B3415}"/>
              </a:ext>
            </a:extLst>
          </p:cNvPr>
          <p:cNvSpPr txBox="1"/>
          <p:nvPr/>
        </p:nvSpPr>
        <p:spPr>
          <a:xfrm>
            <a:off x="3271428" y="61229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自增</a:t>
            </a: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/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自减运算符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0085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4" autoUpdateAnimBg="0"/>
      <p:bldP spid="5" grpId="0" animBg="1" autoUpdateAnimBg="0"/>
      <p:bldP spid="6" grpId="0" build="p" autoUpdateAnimBg="0"/>
      <p:bldP spid="7" grpId="0" build="p" autoUpdateAnimBg="0"/>
      <p:bldP spid="8" grpId="0" build="p" autoUpdateAnimBg="0"/>
      <p:bldP spid="9" grpId="0" build="p" autoUpdateAnimBg="0"/>
      <p:bldP spid="10" grpId="0" build="p" autoUpdateAnimBg="0"/>
      <p:bldP spid="11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3774D5C-AD4E-4307-B46B-FB6E2B664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" y="730248"/>
            <a:ext cx="12191998" cy="3922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987425" indent="-293688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281113" indent="-2921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1598613" indent="-315913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0558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5130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29702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4274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rgbClr val="FF0066"/>
                </a:solidFill>
                <a:latin typeface="隶书" pitchFamily="49" charset="-122"/>
              </a:rPr>
              <a:t>自增、自减运算符</a:t>
            </a:r>
            <a:r>
              <a:rPr lang="zh-CN" altLang="en-US" sz="2400" b="1" dirty="0">
                <a:latin typeface="隶书" pitchFamily="49" charset="-122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隶书" pitchFamily="49" charset="-122"/>
              </a:rPr>
              <a:t>++ --</a:t>
            </a:r>
          </a:p>
          <a:p>
            <a:pPr lvl="3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</a:pPr>
            <a:r>
              <a:rPr lang="zh-CN" altLang="en-US" sz="2400" b="1" dirty="0">
                <a:latin typeface="隶书" pitchFamily="49" charset="-122"/>
              </a:rPr>
              <a:t>作用：使变量值加</a:t>
            </a:r>
            <a:r>
              <a:rPr lang="en-US" altLang="zh-CN" sz="2400" b="1" dirty="0">
                <a:latin typeface="隶书" pitchFamily="49" charset="-122"/>
              </a:rPr>
              <a:t>1</a:t>
            </a:r>
            <a:r>
              <a:rPr lang="zh-CN" altLang="en-US" sz="2400" b="1" dirty="0">
                <a:latin typeface="隶书" pitchFamily="49" charset="-122"/>
              </a:rPr>
              <a:t>或减</a:t>
            </a:r>
            <a:r>
              <a:rPr lang="en-US" altLang="zh-CN" sz="2400" b="1" dirty="0">
                <a:latin typeface="隶书" pitchFamily="49" charset="-122"/>
              </a:rPr>
              <a:t>1</a:t>
            </a:r>
          </a:p>
          <a:p>
            <a:pPr lvl="3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</a:pPr>
            <a:r>
              <a:rPr lang="zh-CN" altLang="en-US" sz="2400" b="1" dirty="0">
                <a:latin typeface="隶书" pitchFamily="49" charset="-122"/>
              </a:rPr>
              <a:t>种类：</a:t>
            </a:r>
          </a:p>
          <a:p>
            <a:pPr lvl="4" eaLnBrk="1" hangingPunct="1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</a:pPr>
            <a:r>
              <a:rPr lang="zh-CN" altLang="en-US" sz="2400" b="1" dirty="0">
                <a:latin typeface="隶书" pitchFamily="49" charset="-122"/>
              </a:rPr>
              <a:t>前置  </a:t>
            </a:r>
            <a:r>
              <a:rPr lang="en-US" altLang="zh-CN" sz="2400" b="1" dirty="0">
                <a:latin typeface="隶书" pitchFamily="49" charset="-122"/>
              </a:rPr>
              <a:t>++</a:t>
            </a:r>
            <a:r>
              <a:rPr lang="en-US" altLang="zh-CN" sz="2400" b="1" dirty="0" err="1">
                <a:latin typeface="隶书" pitchFamily="49" charset="-122"/>
              </a:rPr>
              <a:t>i</a:t>
            </a:r>
            <a:r>
              <a:rPr lang="en-US" altLang="zh-CN" sz="2400" b="1" dirty="0">
                <a:latin typeface="隶书" pitchFamily="49" charset="-122"/>
              </a:rPr>
              <a:t>, --</a:t>
            </a:r>
            <a:r>
              <a:rPr lang="en-US" altLang="zh-CN" sz="2400" b="1" dirty="0" err="1">
                <a:latin typeface="隶书" pitchFamily="49" charset="-122"/>
              </a:rPr>
              <a:t>i</a:t>
            </a:r>
            <a:r>
              <a:rPr lang="en-US" altLang="zh-CN" sz="2400" b="1" dirty="0">
                <a:latin typeface="隶书" pitchFamily="49" charset="-122"/>
              </a:rPr>
              <a:t>  (</a:t>
            </a:r>
            <a:r>
              <a:rPr lang="zh-CN" altLang="zh-CN" sz="2400" b="1" dirty="0">
                <a:latin typeface="隶书" pitchFamily="49" charset="-122"/>
              </a:rPr>
              <a:t>先执行</a:t>
            </a:r>
            <a:r>
              <a:rPr lang="en-US" altLang="zh-CN" sz="2400" b="1" dirty="0">
                <a:latin typeface="隶书" pitchFamily="49" charset="-122"/>
              </a:rPr>
              <a:t>i</a:t>
            </a:r>
            <a:r>
              <a:rPr lang="en-US" altLang="zh-CN" sz="2400" b="1" dirty="0">
                <a:latin typeface="隶书" pitchFamily="49" charset="-122"/>
                <a:sym typeface="MT Extra" pitchFamily="18" charset="2"/>
              </a:rPr>
              <a:t>+1</a:t>
            </a:r>
            <a:r>
              <a:rPr lang="zh-CN" altLang="zh-CN" sz="2400" b="1" dirty="0">
                <a:latin typeface="隶书" pitchFamily="49" charset="-122"/>
                <a:sym typeface="MT Extra" pitchFamily="18" charset="2"/>
              </a:rPr>
              <a:t>或</a:t>
            </a:r>
            <a:r>
              <a:rPr lang="en-US" altLang="zh-CN" sz="2400" b="1" dirty="0">
                <a:latin typeface="隶书" pitchFamily="49" charset="-122"/>
                <a:sym typeface="MT Extra" pitchFamily="18" charset="2"/>
              </a:rPr>
              <a:t>i-1</a:t>
            </a:r>
            <a:r>
              <a:rPr lang="zh-CN" altLang="en-US" sz="2400" b="1" dirty="0">
                <a:latin typeface="隶书" pitchFamily="49" charset="-122"/>
              </a:rPr>
              <a:t>，</a:t>
            </a:r>
            <a:r>
              <a:rPr lang="zh-CN" altLang="zh-CN" sz="2400" b="1" dirty="0">
                <a:latin typeface="隶书" pitchFamily="49" charset="-122"/>
              </a:rPr>
              <a:t>再使用</a:t>
            </a:r>
            <a:r>
              <a:rPr lang="en-US" altLang="zh-CN" sz="2400" b="1" dirty="0" err="1">
                <a:latin typeface="隶书" pitchFamily="49" charset="-122"/>
              </a:rPr>
              <a:t>i</a:t>
            </a:r>
            <a:r>
              <a:rPr lang="zh-CN" altLang="zh-CN" sz="2400" b="1" dirty="0">
                <a:latin typeface="隶书" pitchFamily="49" charset="-122"/>
              </a:rPr>
              <a:t>值）</a:t>
            </a:r>
          </a:p>
          <a:p>
            <a:pPr lvl="4" eaLnBrk="1" hangingPunct="1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</a:pPr>
            <a:r>
              <a:rPr lang="zh-CN" altLang="zh-CN" sz="2400" b="1" dirty="0">
                <a:latin typeface="隶书" pitchFamily="49" charset="-122"/>
              </a:rPr>
              <a:t>后置  </a:t>
            </a:r>
            <a:r>
              <a:rPr lang="en-US" altLang="zh-CN" sz="2400" b="1" dirty="0" err="1">
                <a:latin typeface="隶书" pitchFamily="49" charset="-122"/>
              </a:rPr>
              <a:t>i</a:t>
            </a:r>
            <a:r>
              <a:rPr lang="en-US" altLang="zh-CN" sz="2400" b="1" dirty="0">
                <a:latin typeface="隶书" pitchFamily="49" charset="-122"/>
              </a:rPr>
              <a:t>++,</a:t>
            </a:r>
            <a:r>
              <a:rPr lang="en-US" altLang="zh-CN" sz="2400" b="1" dirty="0" err="1">
                <a:latin typeface="隶书" pitchFamily="49" charset="-122"/>
              </a:rPr>
              <a:t>i</a:t>
            </a:r>
            <a:r>
              <a:rPr lang="en-US" altLang="zh-CN" sz="2400" b="1" dirty="0">
                <a:latin typeface="隶书" pitchFamily="49" charset="-122"/>
              </a:rPr>
              <a:t>--   (</a:t>
            </a:r>
            <a:r>
              <a:rPr lang="zh-CN" altLang="zh-CN" sz="2400" b="1" dirty="0">
                <a:latin typeface="隶书" pitchFamily="49" charset="-122"/>
              </a:rPr>
              <a:t>先使用</a:t>
            </a:r>
            <a:r>
              <a:rPr lang="en-US" altLang="zh-CN" sz="2400" b="1" dirty="0" err="1">
                <a:latin typeface="隶书" pitchFamily="49" charset="-122"/>
              </a:rPr>
              <a:t>i</a:t>
            </a:r>
            <a:r>
              <a:rPr lang="zh-CN" altLang="zh-CN" sz="2400" b="1" dirty="0">
                <a:latin typeface="隶书" pitchFamily="49" charset="-122"/>
              </a:rPr>
              <a:t>值,再执行</a:t>
            </a:r>
            <a:r>
              <a:rPr lang="en-US" altLang="zh-CN" sz="2400" b="1" dirty="0">
                <a:latin typeface="隶书" pitchFamily="49" charset="-122"/>
              </a:rPr>
              <a:t>i</a:t>
            </a:r>
            <a:r>
              <a:rPr lang="en-US" altLang="zh-CN" sz="2400" b="1" dirty="0">
                <a:latin typeface="隶书" pitchFamily="49" charset="-122"/>
                <a:sym typeface="MT Extra" pitchFamily="18" charset="2"/>
              </a:rPr>
              <a:t>+1</a:t>
            </a:r>
            <a:r>
              <a:rPr lang="zh-CN" altLang="zh-CN" sz="2400" b="1" dirty="0">
                <a:latin typeface="隶书" pitchFamily="49" charset="-122"/>
                <a:sym typeface="MT Extra" pitchFamily="18" charset="2"/>
              </a:rPr>
              <a:t>或</a:t>
            </a:r>
            <a:r>
              <a:rPr lang="en-US" altLang="zh-CN" sz="2400" b="1" dirty="0">
                <a:latin typeface="隶书" pitchFamily="49" charset="-122"/>
                <a:sym typeface="MT Extra" pitchFamily="18" charset="2"/>
              </a:rPr>
              <a:t>i-1</a:t>
            </a:r>
            <a:r>
              <a:rPr lang="zh-CN" altLang="en-US" sz="2400" b="1" dirty="0">
                <a:latin typeface="隶书" pitchFamily="49" charset="-122"/>
              </a:rPr>
              <a:t>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E19CB6-8CB9-4DD4-A575-A0D6A77A8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33700"/>
            <a:ext cx="9144000" cy="219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281113" indent="-2921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1598613" indent="-315913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0558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5130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29702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4274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</a:pPr>
            <a:r>
              <a:rPr lang="zh-CN" altLang="zh-CN" sz="2400" b="1" dirty="0">
                <a:latin typeface="隶书" pitchFamily="49" charset="-122"/>
              </a:rPr>
              <a:t>说明：</a:t>
            </a:r>
          </a:p>
          <a:p>
            <a:pPr lvl="4" eaLnBrk="1" hangingPunct="1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</a:pPr>
            <a:r>
              <a:rPr lang="zh-CN" altLang="zh-CN" sz="2400" b="1" dirty="0">
                <a:latin typeface="隶书" pitchFamily="49" charset="-122"/>
              </a:rPr>
              <a:t>++ -- 不能用于常量和表达式,如</a:t>
            </a:r>
            <a:r>
              <a:rPr lang="zh-CN" altLang="zh-CN" sz="2400" b="1" dirty="0">
                <a:solidFill>
                  <a:srgbClr val="FF3300"/>
                </a:solidFill>
                <a:latin typeface="隶书" pitchFamily="49" charset="-122"/>
              </a:rPr>
              <a:t>5++，(</a:t>
            </a:r>
            <a:r>
              <a:rPr lang="en-US" altLang="zh-CN" sz="2400" b="1" dirty="0" err="1">
                <a:solidFill>
                  <a:srgbClr val="FF3300"/>
                </a:solidFill>
                <a:latin typeface="隶书" pitchFamily="49" charset="-122"/>
              </a:rPr>
              <a:t>a+b</a:t>
            </a:r>
            <a:r>
              <a:rPr lang="en-US" altLang="zh-CN" sz="2400" b="1" dirty="0">
                <a:solidFill>
                  <a:srgbClr val="FF3300"/>
                </a:solidFill>
                <a:latin typeface="隶书" pitchFamily="49" charset="-122"/>
              </a:rPr>
              <a:t>)++</a:t>
            </a:r>
            <a:endParaRPr lang="en-US" altLang="zh-CN" sz="2400" b="1" dirty="0">
              <a:latin typeface="隶书" pitchFamily="49" charset="-122"/>
            </a:endParaRPr>
          </a:p>
          <a:p>
            <a:pPr lvl="4" eaLnBrk="1" hangingPunct="1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</a:pPr>
            <a:r>
              <a:rPr lang="en-US" altLang="zh-CN" sz="2400" b="1" dirty="0">
                <a:latin typeface="隶书" pitchFamily="49" charset="-122"/>
              </a:rPr>
              <a:t>++ --</a:t>
            </a:r>
            <a:r>
              <a:rPr lang="zh-CN" altLang="zh-CN" sz="2400" b="1" dirty="0">
                <a:latin typeface="隶书" pitchFamily="49" charset="-122"/>
              </a:rPr>
              <a:t>结合方向：  </a:t>
            </a:r>
            <a:r>
              <a:rPr lang="zh-CN" altLang="zh-CN" sz="2400" b="1" dirty="0">
                <a:solidFill>
                  <a:srgbClr val="3333FF"/>
                </a:solidFill>
                <a:latin typeface="隶书" pitchFamily="49" charset="-122"/>
              </a:rPr>
              <a:t>自右向左</a:t>
            </a:r>
            <a:endParaRPr lang="zh-CN" altLang="zh-CN" sz="2400" b="1" dirty="0">
              <a:latin typeface="隶书" pitchFamily="49" charset="-122"/>
            </a:endParaRPr>
          </a:p>
          <a:p>
            <a:pPr lvl="4" eaLnBrk="1" hangingPunct="1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</a:pPr>
            <a:r>
              <a:rPr lang="zh-CN" altLang="zh-CN" sz="2400" b="1" dirty="0">
                <a:latin typeface="隶书" pitchFamily="49" charset="-122"/>
              </a:rPr>
              <a:t>优先级：- ++ -- </a:t>
            </a:r>
            <a:r>
              <a:rPr lang="zh-CN" altLang="zh-CN" sz="2400" b="1" dirty="0">
                <a:solidFill>
                  <a:srgbClr val="FF0000"/>
                </a:solidFill>
                <a:latin typeface="隶书" pitchFamily="49" charset="-122"/>
              </a:rPr>
              <a:t>------&gt;</a:t>
            </a:r>
            <a:r>
              <a:rPr lang="zh-CN" altLang="zh-CN" sz="2400" b="1" dirty="0">
                <a:latin typeface="隶书" pitchFamily="49" charset="-122"/>
              </a:rPr>
              <a:t>* / % </a:t>
            </a:r>
            <a:r>
              <a:rPr lang="zh-CN" altLang="zh-CN" sz="2400" b="1" dirty="0">
                <a:solidFill>
                  <a:srgbClr val="FF0000"/>
                </a:solidFill>
                <a:latin typeface="隶书" pitchFamily="49" charset="-122"/>
              </a:rPr>
              <a:t>-----&gt;</a:t>
            </a:r>
            <a:r>
              <a:rPr lang="zh-CN" altLang="zh-CN" sz="2400" b="1" dirty="0">
                <a:latin typeface="隶书" pitchFamily="49" charset="-122"/>
              </a:rPr>
              <a:t>+ -</a:t>
            </a:r>
          </a:p>
          <a:p>
            <a:pPr lvl="4" eaLnBrk="1" hangingPunct="1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None/>
            </a:pPr>
            <a:r>
              <a:rPr lang="zh-CN" altLang="zh-CN" sz="2400" b="1" dirty="0">
                <a:latin typeface="隶书" pitchFamily="49" charset="-122"/>
              </a:rPr>
              <a:t>           </a:t>
            </a:r>
            <a:r>
              <a:rPr lang="zh-CN" altLang="zh-CN" sz="2400" b="1" dirty="0">
                <a:solidFill>
                  <a:srgbClr val="800080"/>
                </a:solidFill>
                <a:latin typeface="隶书" pitchFamily="49" charset="-122"/>
              </a:rPr>
              <a:t>(</a:t>
            </a:r>
            <a:r>
              <a:rPr lang="en-US" altLang="zh-CN" sz="2400" b="1" dirty="0">
                <a:solidFill>
                  <a:srgbClr val="800080"/>
                </a:solidFill>
                <a:latin typeface="隶书" pitchFamily="49" charset="-122"/>
              </a:rPr>
              <a:t>2</a:t>
            </a:r>
            <a:r>
              <a:rPr lang="zh-CN" altLang="zh-CN" sz="2400" b="1" dirty="0">
                <a:solidFill>
                  <a:srgbClr val="800080"/>
                </a:solidFill>
                <a:latin typeface="隶书" pitchFamily="49" charset="-122"/>
              </a:rPr>
              <a:t>)            (</a:t>
            </a:r>
            <a:r>
              <a:rPr lang="en-US" altLang="zh-CN" sz="2400" b="1" dirty="0">
                <a:solidFill>
                  <a:srgbClr val="800080"/>
                </a:solidFill>
                <a:latin typeface="隶书" pitchFamily="49" charset="-122"/>
              </a:rPr>
              <a:t>3</a:t>
            </a:r>
            <a:r>
              <a:rPr lang="zh-CN" altLang="zh-CN" sz="2400" b="1" dirty="0">
                <a:solidFill>
                  <a:srgbClr val="800080"/>
                </a:solidFill>
                <a:latin typeface="隶书" pitchFamily="49" charset="-122"/>
              </a:rPr>
              <a:t>)        (</a:t>
            </a:r>
            <a:r>
              <a:rPr lang="en-US" altLang="zh-CN" sz="2400" b="1" dirty="0">
                <a:solidFill>
                  <a:srgbClr val="800080"/>
                </a:solidFill>
                <a:latin typeface="隶书" pitchFamily="49" charset="-122"/>
              </a:rPr>
              <a:t>4</a:t>
            </a:r>
            <a:r>
              <a:rPr lang="zh-CN" altLang="zh-CN" sz="2400" b="1" dirty="0">
                <a:solidFill>
                  <a:srgbClr val="800080"/>
                </a:solidFill>
                <a:latin typeface="隶书" pitchFamily="49" charset="-122"/>
              </a:rPr>
              <a:t>)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CB4195F7-63F8-433A-B8BB-F28D993BC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189" y="5419866"/>
            <a:ext cx="7616825" cy="707886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zh-CN" altLang="zh-CN" sz="2000" b="1" dirty="0">
                <a:latin typeface="隶书" pitchFamily="49" charset="-122"/>
                <a:ea typeface="隶书" pitchFamily="49" charset="-122"/>
              </a:rPr>
              <a:t>例 -</a:t>
            </a:r>
            <a:r>
              <a:rPr kumimoji="1" lang="en-US" altLang="zh-CN" sz="2000" b="1" dirty="0" err="1">
                <a:latin typeface="隶书" pitchFamily="49" charset="-122"/>
                <a:ea typeface="隶书" pitchFamily="49" charset="-122"/>
              </a:rPr>
              <a:t>i</a:t>
            </a:r>
            <a:r>
              <a:rPr kumimoji="1" lang="en-US" altLang="zh-CN" sz="2000" b="1" dirty="0">
                <a:latin typeface="隶书" pitchFamily="49" charset="-122"/>
                <a:ea typeface="隶书" pitchFamily="49" charset="-122"/>
              </a:rPr>
              <a:t>++</a:t>
            </a:r>
            <a:endParaRPr kumimoji="1" lang="en-US" altLang="zh-CN" sz="2000" b="1" dirty="0">
              <a:latin typeface="隶书" pitchFamily="49" charset="-122"/>
              <a:ea typeface="隶书" pitchFamily="49" charset="-122"/>
              <a:sym typeface="Wingdings" pitchFamily="2" charset="2"/>
            </a:endParaRPr>
          </a:p>
          <a:p>
            <a:pPr lvl="3"/>
            <a:r>
              <a:rPr kumimoji="1" lang="en-US" altLang="zh-CN" sz="2000" b="1" dirty="0">
                <a:latin typeface="隶书" pitchFamily="49" charset="-122"/>
                <a:ea typeface="隶书" pitchFamily="49" charset="-122"/>
                <a:sym typeface="Wingdings" pitchFamily="2" charset="2"/>
              </a:rPr>
              <a:t>   </a:t>
            </a:r>
            <a:r>
              <a:rPr kumimoji="1" lang="en-US" altLang="zh-CN" sz="2000" b="1" dirty="0" err="1">
                <a:latin typeface="隶书" pitchFamily="49" charset="-122"/>
                <a:ea typeface="隶书" pitchFamily="49" charset="-122"/>
                <a:sym typeface="Wingdings" pitchFamily="2" charset="2"/>
              </a:rPr>
              <a:t>i</a:t>
            </a:r>
            <a:r>
              <a:rPr kumimoji="1" lang="en-US" altLang="zh-CN" sz="2000" b="1" dirty="0">
                <a:latin typeface="隶书" pitchFamily="49" charset="-122"/>
                <a:ea typeface="隶书" pitchFamily="49" charset="-122"/>
                <a:sym typeface="Wingdings" pitchFamily="2" charset="2"/>
              </a:rPr>
              <a:t>=3;  printf(</a:t>
            </a:r>
            <a:r>
              <a:rPr kumimoji="1" lang="en-US" altLang="zh-CN" sz="2000" b="1" dirty="0">
                <a:latin typeface="Times New Roman" pitchFamily="18" charset="0"/>
              </a:rPr>
              <a:t>"</a:t>
            </a:r>
            <a:r>
              <a:rPr kumimoji="1" lang="en-US" altLang="zh-CN" sz="2000" b="1" dirty="0">
                <a:latin typeface="隶书" pitchFamily="49" charset="-122"/>
                <a:ea typeface="隶书" pitchFamily="49" charset="-122"/>
                <a:sym typeface="Wingdings" pitchFamily="2" charset="2"/>
              </a:rPr>
              <a:t>%d</a:t>
            </a:r>
            <a:r>
              <a:rPr kumimoji="1" lang="en-US" altLang="zh-CN" sz="2000" b="1" dirty="0">
                <a:latin typeface="Times New Roman" pitchFamily="18" charset="0"/>
              </a:rPr>
              <a:t>"</a:t>
            </a:r>
            <a:r>
              <a:rPr kumimoji="1" lang="en-US" altLang="zh-CN" sz="2000" b="1" dirty="0">
                <a:latin typeface="隶书" pitchFamily="49" charset="-122"/>
                <a:ea typeface="隶书" pitchFamily="49" charset="-122"/>
                <a:sym typeface="Wingdings" pitchFamily="2" charset="2"/>
              </a:rPr>
              <a:t>,-</a:t>
            </a:r>
            <a:r>
              <a:rPr kumimoji="1" lang="en-US" altLang="zh-CN" sz="2000" b="1" dirty="0" err="1">
                <a:latin typeface="隶书" pitchFamily="49" charset="-122"/>
                <a:ea typeface="隶书" pitchFamily="49" charset="-122"/>
                <a:sym typeface="Wingdings" pitchFamily="2" charset="2"/>
              </a:rPr>
              <a:t>i</a:t>
            </a:r>
            <a:r>
              <a:rPr kumimoji="1" lang="en-US" altLang="zh-CN" sz="2000" b="1" dirty="0">
                <a:latin typeface="隶书" pitchFamily="49" charset="-122"/>
                <a:ea typeface="隶书" pitchFamily="49" charset="-122"/>
                <a:sym typeface="Wingdings" pitchFamily="2" charset="2"/>
              </a:rPr>
              <a:t>++);   </a:t>
            </a:r>
            <a:endParaRPr kumimoji="1" lang="en-US" altLang="zh-CN" sz="2000" b="1" dirty="0">
              <a:latin typeface="Times New Roman" pitchFamily="18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985358-EB60-4E6B-8449-B5006997F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7CD4E08-8C7C-4916-AA55-74354907A6A4}"/>
              </a:ext>
            </a:extLst>
          </p:cNvPr>
          <p:cNvSpPr txBox="1"/>
          <p:nvPr/>
        </p:nvSpPr>
        <p:spPr>
          <a:xfrm>
            <a:off x="3271428" y="61229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自增</a:t>
            </a: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/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自减运算符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4227600-C53C-4090-B106-D8EA7A290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190" y="5419866"/>
            <a:ext cx="7616825" cy="707886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zh-CN" altLang="zh-CN" sz="2000" b="1" dirty="0">
                <a:latin typeface="隶书" pitchFamily="49" charset="-122"/>
                <a:ea typeface="隶书" pitchFamily="49" charset="-122"/>
              </a:rPr>
              <a:t>例 -</a:t>
            </a:r>
            <a:r>
              <a:rPr kumimoji="1" lang="en-US" altLang="zh-CN" sz="2000" b="1" dirty="0" err="1">
                <a:latin typeface="隶书" pitchFamily="49" charset="-122"/>
                <a:ea typeface="隶书" pitchFamily="49" charset="-122"/>
              </a:rPr>
              <a:t>i</a:t>
            </a:r>
            <a:r>
              <a:rPr kumimoji="1" lang="en-US" altLang="zh-CN" sz="2000" b="1" dirty="0">
                <a:latin typeface="隶书" pitchFamily="49" charset="-122"/>
                <a:ea typeface="隶书" pitchFamily="49" charset="-122"/>
              </a:rPr>
              <a:t>++   </a:t>
            </a:r>
            <a:r>
              <a:rPr kumimoji="1" lang="en-US" altLang="zh-CN" sz="2000" b="1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  <a:sym typeface="Wingdings" pitchFamily="2" charset="2"/>
              </a:rPr>
              <a:t>  -(</a:t>
            </a:r>
            <a:r>
              <a:rPr kumimoji="1" lang="en-US" altLang="zh-CN" sz="2000" b="1" dirty="0" err="1">
                <a:solidFill>
                  <a:srgbClr val="0000FF"/>
                </a:solidFill>
                <a:latin typeface="隶书" pitchFamily="49" charset="-122"/>
                <a:ea typeface="隶书" pitchFamily="49" charset="-122"/>
                <a:sym typeface="Wingdings" pitchFamily="2" charset="2"/>
              </a:rPr>
              <a:t>i</a:t>
            </a:r>
            <a:r>
              <a:rPr kumimoji="1" lang="en-US" altLang="zh-CN" sz="2000" b="1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  <a:sym typeface="Wingdings" pitchFamily="2" charset="2"/>
              </a:rPr>
              <a:t>++)</a:t>
            </a:r>
            <a:endParaRPr kumimoji="1" lang="en-US" altLang="zh-CN" sz="2000" b="1" dirty="0">
              <a:latin typeface="隶书" pitchFamily="49" charset="-122"/>
              <a:ea typeface="隶书" pitchFamily="49" charset="-122"/>
              <a:sym typeface="Wingdings" pitchFamily="2" charset="2"/>
            </a:endParaRPr>
          </a:p>
          <a:p>
            <a:pPr lvl="3"/>
            <a:r>
              <a:rPr kumimoji="1" lang="en-US" altLang="zh-CN" sz="2000" b="1" dirty="0">
                <a:latin typeface="隶书" pitchFamily="49" charset="-122"/>
                <a:ea typeface="隶书" pitchFamily="49" charset="-122"/>
                <a:sym typeface="Wingdings" pitchFamily="2" charset="2"/>
              </a:rPr>
              <a:t>   </a:t>
            </a:r>
            <a:r>
              <a:rPr kumimoji="1" lang="en-US" altLang="zh-CN" sz="2000" b="1" dirty="0" err="1">
                <a:latin typeface="隶书" pitchFamily="49" charset="-122"/>
                <a:ea typeface="隶书" pitchFamily="49" charset="-122"/>
                <a:sym typeface="Wingdings" pitchFamily="2" charset="2"/>
              </a:rPr>
              <a:t>i</a:t>
            </a:r>
            <a:r>
              <a:rPr kumimoji="1" lang="en-US" altLang="zh-CN" sz="2000" b="1" dirty="0">
                <a:latin typeface="隶书" pitchFamily="49" charset="-122"/>
                <a:ea typeface="隶书" pitchFamily="49" charset="-122"/>
                <a:sym typeface="Wingdings" pitchFamily="2" charset="2"/>
              </a:rPr>
              <a:t>=3;  printf(</a:t>
            </a:r>
            <a:r>
              <a:rPr kumimoji="1" lang="en-US" altLang="zh-CN" sz="2000" b="1" dirty="0">
                <a:latin typeface="Times New Roman" pitchFamily="18" charset="0"/>
              </a:rPr>
              <a:t>"</a:t>
            </a:r>
            <a:r>
              <a:rPr kumimoji="1" lang="en-US" altLang="zh-CN" sz="2000" b="1" dirty="0">
                <a:latin typeface="隶书" pitchFamily="49" charset="-122"/>
                <a:ea typeface="隶书" pitchFamily="49" charset="-122"/>
                <a:sym typeface="Wingdings" pitchFamily="2" charset="2"/>
              </a:rPr>
              <a:t>%d</a:t>
            </a:r>
            <a:r>
              <a:rPr kumimoji="1" lang="en-US" altLang="zh-CN" sz="2000" b="1" dirty="0">
                <a:latin typeface="Times New Roman" pitchFamily="18" charset="0"/>
              </a:rPr>
              <a:t>"</a:t>
            </a:r>
            <a:r>
              <a:rPr kumimoji="1" lang="en-US" altLang="zh-CN" sz="2000" b="1" dirty="0">
                <a:latin typeface="隶书" pitchFamily="49" charset="-122"/>
                <a:ea typeface="隶书" pitchFamily="49" charset="-122"/>
                <a:sym typeface="Wingdings" pitchFamily="2" charset="2"/>
              </a:rPr>
              <a:t>,-</a:t>
            </a:r>
            <a:r>
              <a:rPr kumimoji="1" lang="en-US" altLang="zh-CN" sz="2000" b="1" dirty="0" err="1">
                <a:latin typeface="隶书" pitchFamily="49" charset="-122"/>
                <a:ea typeface="隶书" pitchFamily="49" charset="-122"/>
                <a:sym typeface="Wingdings" pitchFamily="2" charset="2"/>
              </a:rPr>
              <a:t>i</a:t>
            </a:r>
            <a:r>
              <a:rPr kumimoji="1" lang="en-US" altLang="zh-CN" sz="2000" b="1" dirty="0">
                <a:latin typeface="隶书" pitchFamily="49" charset="-122"/>
                <a:ea typeface="隶书" pitchFamily="49" charset="-122"/>
                <a:sym typeface="Wingdings" pitchFamily="2" charset="2"/>
              </a:rPr>
              <a:t>++);   </a:t>
            </a:r>
            <a:r>
              <a:rPr kumimoji="1" lang="en-US" altLang="zh-CN" sz="2000" b="1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  <a:sym typeface="Wingdings" pitchFamily="2" charset="2"/>
              </a:rPr>
              <a:t>//-3</a:t>
            </a:r>
            <a:r>
              <a:rPr kumimoji="1" lang="en-US" altLang="zh-CN" sz="2000" b="1" dirty="0">
                <a:latin typeface="隶书" pitchFamily="49" charset="-122"/>
                <a:ea typeface="隶书" pitchFamily="49" charset="-122"/>
                <a:sym typeface="Wingdings" pitchFamily="2" charset="2"/>
              </a:rPr>
              <a:t> </a:t>
            </a:r>
            <a:endParaRPr kumimoji="1" lang="en-US" altLang="zh-CN" sz="20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772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 autoUpdateAnimBg="0"/>
      <p:bldP spid="6" grpId="0" uiExpand="1" animBg="1" autoUpdateAnimBg="0"/>
      <p:bldP spid="5" grpId="0" uiExpand="1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DC014FC-A73C-4AE2-938A-13BEAF050FEB}"/>
              </a:ext>
            </a:extLst>
          </p:cNvPr>
          <p:cNvSpPr txBox="1">
            <a:spLocks noChangeArrowheads="1"/>
          </p:cNvSpPr>
          <p:nvPr/>
        </p:nvSpPr>
        <p:spPr>
          <a:xfrm>
            <a:off x="31752" y="708516"/>
            <a:ext cx="12191999" cy="1788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zh-CN" altLang="en-US" sz="2800" b="1" dirty="0">
                <a:solidFill>
                  <a:srgbClr val="0000FF"/>
                </a:solidFill>
              </a:rPr>
              <a:t>关系运算符</a:t>
            </a:r>
          </a:p>
          <a:p>
            <a:pPr lvl="3"/>
            <a:r>
              <a:rPr lang="zh-CN" altLang="en-US" sz="2400" b="1" dirty="0">
                <a:solidFill>
                  <a:srgbClr val="FF0066"/>
                </a:solidFill>
              </a:rPr>
              <a:t>种类</a:t>
            </a:r>
            <a:r>
              <a:rPr lang="zh-CN" altLang="en-US" sz="2400" b="1" dirty="0">
                <a:solidFill>
                  <a:srgbClr val="0000FF"/>
                </a:solidFill>
              </a:rPr>
              <a:t>：</a:t>
            </a:r>
            <a:r>
              <a:rPr lang="en-US" altLang="zh-CN" sz="2400" b="1" dirty="0">
                <a:solidFill>
                  <a:srgbClr val="333300"/>
                </a:solidFill>
              </a:rPr>
              <a:t>&lt;  &lt;=   ==   &gt;=   &gt;    !=</a:t>
            </a:r>
          </a:p>
          <a:p>
            <a:pPr lvl="3"/>
            <a:r>
              <a:rPr lang="zh-CN" altLang="en-US" sz="2400" b="1" dirty="0">
                <a:solidFill>
                  <a:srgbClr val="FF0066"/>
                </a:solidFill>
              </a:rPr>
              <a:t>结合方向</a:t>
            </a:r>
            <a:r>
              <a:rPr lang="zh-CN" altLang="en-US" sz="2400" b="1" dirty="0"/>
              <a:t>：自左向右</a:t>
            </a:r>
          </a:p>
          <a:p>
            <a:pPr lvl="3"/>
            <a:r>
              <a:rPr lang="zh-CN" altLang="en-US" sz="2400" b="1" dirty="0">
                <a:solidFill>
                  <a:srgbClr val="FF0066"/>
                </a:solidFill>
              </a:rPr>
              <a:t>优先级别</a:t>
            </a:r>
            <a:r>
              <a:rPr lang="zh-CN" altLang="en-US" sz="2400" b="1" dirty="0"/>
              <a:t>：</a:t>
            </a:r>
            <a:endParaRPr lang="zh-CN" altLang="en-US" b="1" dirty="0"/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50DC0456-8F1D-4F38-9E56-6304389DC4AA}"/>
              </a:ext>
            </a:extLst>
          </p:cNvPr>
          <p:cNvGrpSpPr>
            <a:grpSpLocks/>
          </p:cNvGrpSpPr>
          <p:nvPr/>
        </p:nvGrpSpPr>
        <p:grpSpPr bwMode="auto">
          <a:xfrm>
            <a:off x="6058470" y="892177"/>
            <a:ext cx="3844925" cy="2200275"/>
            <a:chOff x="2208" y="1536"/>
            <a:chExt cx="1923" cy="1361"/>
          </a:xfrm>
        </p:grpSpPr>
        <p:grpSp>
          <p:nvGrpSpPr>
            <p:cNvPr id="6" name="Group 4">
              <a:extLst>
                <a:ext uri="{FF2B5EF4-FFF2-40B4-BE49-F238E27FC236}">
                  <a16:creationId xmlns:a16="http://schemas.microsoft.com/office/drawing/2014/main" id="{49689314-3760-4D7D-B651-77FEBB4B64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1536"/>
              <a:ext cx="1923" cy="1361"/>
              <a:chOff x="2208" y="1536"/>
              <a:chExt cx="1923" cy="1361"/>
            </a:xfrm>
          </p:grpSpPr>
          <p:sp>
            <p:nvSpPr>
              <p:cNvPr id="9" name="Rectangle 5">
                <a:extLst>
                  <a:ext uri="{FF2B5EF4-FFF2-40B4-BE49-F238E27FC236}">
                    <a16:creationId xmlns:a16="http://schemas.microsoft.com/office/drawing/2014/main" id="{BF3A8F10-0D15-4308-8841-27522A6E7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536"/>
                <a:ext cx="1923" cy="13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/>
                <a:endParaRPr kumimoji="1" lang="zh-CN" altLang="zh-CN" sz="4000">
                  <a:latin typeface="Times New Roman" pitchFamily="18" charset="0"/>
                </a:endParaRPr>
              </a:p>
            </p:txBody>
          </p:sp>
          <p:sp>
            <p:nvSpPr>
              <p:cNvPr id="10" name="Text Box 6">
                <a:extLst>
                  <a:ext uri="{FF2B5EF4-FFF2-40B4-BE49-F238E27FC236}">
                    <a16:creationId xmlns:a16="http://schemas.microsoft.com/office/drawing/2014/main" id="{8CB42942-1236-4B99-A8ED-CA13F30F78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3" y="1536"/>
                <a:ext cx="264" cy="11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kumimoji="1" lang="en-US" altLang="zh-CN" sz="2000" b="1">
                    <a:latin typeface="Times New Roman" pitchFamily="18" charset="0"/>
                  </a:rPr>
                  <a:t>&lt;</a:t>
                </a:r>
              </a:p>
              <a:p>
                <a:r>
                  <a:rPr kumimoji="1" lang="en-US" altLang="zh-CN" sz="2000" b="1">
                    <a:latin typeface="Times New Roman" pitchFamily="18" charset="0"/>
                  </a:rPr>
                  <a:t>&lt;=</a:t>
                </a:r>
              </a:p>
              <a:p>
                <a:r>
                  <a:rPr kumimoji="1" lang="en-US" altLang="zh-CN" sz="2000" b="1">
                    <a:latin typeface="Times New Roman" pitchFamily="18" charset="0"/>
                  </a:rPr>
                  <a:t>&gt;</a:t>
                </a:r>
              </a:p>
              <a:p>
                <a:r>
                  <a:rPr kumimoji="1" lang="en-US" altLang="zh-CN" sz="2000" b="1">
                    <a:latin typeface="Times New Roman" pitchFamily="18" charset="0"/>
                  </a:rPr>
                  <a:t>&gt;=</a:t>
                </a:r>
              </a:p>
              <a:p>
                <a:r>
                  <a:rPr kumimoji="1" lang="en-US" altLang="zh-CN" sz="2000" b="1">
                    <a:latin typeface="Times New Roman" pitchFamily="18" charset="0"/>
                  </a:rPr>
                  <a:t>==</a:t>
                </a:r>
              </a:p>
              <a:p>
                <a:r>
                  <a:rPr kumimoji="1" lang="en-US" altLang="zh-CN" sz="2000" b="1">
                    <a:latin typeface="Times New Roman" pitchFamily="18" charset="0"/>
                  </a:rPr>
                  <a:t>!=</a:t>
                </a:r>
                <a:endParaRPr kumimoji="1" lang="en-US" altLang="zh-CN" sz="4000" b="1">
                  <a:latin typeface="Times New Roman" pitchFamily="18" charset="0"/>
                </a:endParaRPr>
              </a:p>
            </p:txBody>
          </p:sp>
          <p:sp>
            <p:nvSpPr>
              <p:cNvPr id="11" name="AutoShape 7">
                <a:extLst>
                  <a:ext uri="{FF2B5EF4-FFF2-40B4-BE49-F238E27FC236}">
                    <a16:creationId xmlns:a16="http://schemas.microsoft.com/office/drawing/2014/main" id="{367A587F-FB25-422A-9C43-52D77B5D74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6" y="1675"/>
                <a:ext cx="47" cy="600"/>
              </a:xfrm>
              <a:prstGeom prst="rightBrace">
                <a:avLst>
                  <a:gd name="adj1" fmla="val 106383"/>
                  <a:gd name="adj2" fmla="val 50000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" name="AutoShape 8">
                <a:extLst>
                  <a:ext uri="{FF2B5EF4-FFF2-40B4-BE49-F238E27FC236}">
                    <a16:creationId xmlns:a16="http://schemas.microsoft.com/office/drawing/2014/main" id="{86D2907E-DD1A-4BA1-B738-B11C5B60C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6" y="2402"/>
                <a:ext cx="47" cy="344"/>
              </a:xfrm>
              <a:prstGeom prst="rightBrace">
                <a:avLst>
                  <a:gd name="adj1" fmla="val 60993"/>
                  <a:gd name="adj2" fmla="val 50000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7" name="Text Box 9">
              <a:extLst>
                <a:ext uri="{FF2B5EF4-FFF2-40B4-BE49-F238E27FC236}">
                  <a16:creationId xmlns:a16="http://schemas.microsoft.com/office/drawing/2014/main" id="{E2B457F1-5381-413F-9A69-1C1834F4A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3" y="1825"/>
              <a:ext cx="931" cy="2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itchFamily="18" charset="0"/>
                </a:rPr>
                <a:t>优先级</a:t>
              </a:r>
              <a:r>
                <a:rPr kumimoji="1" lang="en-US" altLang="zh-CN" sz="2000" b="1">
                  <a:latin typeface="Times New Roman" pitchFamily="18" charset="0"/>
                </a:rPr>
                <a:t>6</a:t>
              </a:r>
              <a:r>
                <a:rPr kumimoji="1" lang="zh-CN" altLang="en-US" sz="2000" b="1">
                  <a:latin typeface="Times New Roman" pitchFamily="18" charset="0"/>
                </a:rPr>
                <a:t>（高）</a:t>
              </a:r>
              <a:endParaRPr kumimoji="1" lang="zh-CN" altLang="en-US" sz="4000" b="1">
                <a:latin typeface="Times New Roman" pitchFamily="18" charset="0"/>
              </a:endParaRPr>
            </a:p>
          </p:txBody>
        </p:sp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id="{48534797-F97E-46DC-998B-2779295BE3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3" y="2413"/>
              <a:ext cx="931" cy="2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itchFamily="18" charset="0"/>
                </a:rPr>
                <a:t>优先级</a:t>
              </a:r>
              <a:r>
                <a:rPr kumimoji="1" lang="en-US" altLang="zh-CN" sz="2000" b="1">
                  <a:latin typeface="Times New Roman" pitchFamily="18" charset="0"/>
                </a:rPr>
                <a:t>7</a:t>
              </a:r>
              <a:r>
                <a:rPr kumimoji="1" lang="zh-CN" altLang="en-US" sz="2000" b="1">
                  <a:latin typeface="Times New Roman" pitchFamily="18" charset="0"/>
                </a:rPr>
                <a:t>（低）</a:t>
              </a:r>
              <a:endParaRPr kumimoji="1" lang="zh-CN" altLang="en-US" sz="4000" b="1">
                <a:latin typeface="Times New Roman" pitchFamily="18" charset="0"/>
              </a:endParaRPr>
            </a:p>
          </p:txBody>
        </p:sp>
      </p:grpSp>
      <p:sp>
        <p:nvSpPr>
          <p:cNvPr id="13" name="Text Box 11">
            <a:extLst>
              <a:ext uri="{FF2B5EF4-FFF2-40B4-BE49-F238E27FC236}">
                <a16:creationId xmlns:a16="http://schemas.microsoft.com/office/drawing/2014/main" id="{83A2DF49-D852-4911-84F4-D5A348241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11" y="2292205"/>
            <a:ext cx="4711700" cy="157184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zh-CN" altLang="en-US" sz="2400" b="1" dirty="0">
                <a:latin typeface="宋体" pitchFamily="2" charset="-122"/>
              </a:rPr>
              <a:t>例 </a:t>
            </a:r>
            <a:r>
              <a:rPr kumimoji="1" lang="zh-CN" altLang="en-US" sz="2400" b="1" dirty="0">
                <a:latin typeface="Times New Roman" pitchFamily="18" charset="0"/>
                <a:ea typeface="隶书" pitchFamily="49" charset="-122"/>
              </a:rPr>
              <a:t>  </a:t>
            </a:r>
            <a:r>
              <a:rPr kumimoji="1" lang="en-US" altLang="zh-CN" sz="2400" b="1" dirty="0">
                <a:latin typeface="Times New Roman" pitchFamily="18" charset="0"/>
                <a:ea typeface="隶书" pitchFamily="49" charset="-122"/>
              </a:rPr>
              <a:t>c&gt;</a:t>
            </a:r>
            <a:r>
              <a:rPr kumimoji="1" lang="en-US" altLang="zh-CN" sz="2400" b="1" dirty="0" err="1">
                <a:latin typeface="Times New Roman" pitchFamily="18" charset="0"/>
                <a:ea typeface="隶书" pitchFamily="49" charset="-122"/>
              </a:rPr>
              <a:t>a+b</a:t>
            </a:r>
            <a:r>
              <a:rPr kumimoji="1" lang="en-US" altLang="zh-CN" sz="2400" b="1" dirty="0">
                <a:latin typeface="Times New Roman" pitchFamily="18" charset="0"/>
                <a:ea typeface="隶书" pitchFamily="49" charset="-122"/>
              </a:rPr>
              <a:t>    //c&gt;(</a:t>
            </a:r>
            <a:r>
              <a:rPr kumimoji="1" lang="en-US" altLang="zh-CN" sz="2400" b="1" dirty="0" err="1">
                <a:latin typeface="Times New Roman" pitchFamily="18" charset="0"/>
                <a:ea typeface="隶书" pitchFamily="49" charset="-122"/>
              </a:rPr>
              <a:t>a+b</a:t>
            </a:r>
            <a:r>
              <a:rPr kumimoji="1" lang="en-US" altLang="zh-CN" sz="2400" b="1" dirty="0">
                <a:latin typeface="Times New Roman" pitchFamily="18" charset="0"/>
                <a:ea typeface="隶书" pitchFamily="49" charset="-122"/>
              </a:rPr>
              <a:t>)</a:t>
            </a:r>
          </a:p>
          <a:p>
            <a:pPr lvl="3"/>
            <a:r>
              <a:rPr kumimoji="1" lang="en-US" altLang="zh-CN" sz="2400" b="1" dirty="0">
                <a:latin typeface="Times New Roman" pitchFamily="18" charset="0"/>
                <a:ea typeface="隶书" pitchFamily="49" charset="-122"/>
              </a:rPr>
              <a:t>     a&gt;b!=c  //(a&gt;b)!=c</a:t>
            </a:r>
          </a:p>
          <a:p>
            <a:pPr lvl="3"/>
            <a:r>
              <a:rPr kumimoji="1" lang="en-US" altLang="zh-CN" sz="2400" b="1" dirty="0">
                <a:latin typeface="Times New Roman" pitchFamily="18" charset="0"/>
                <a:ea typeface="隶书" pitchFamily="49" charset="-122"/>
              </a:rPr>
              <a:t>     a==b&lt;c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隶书" pitchFamily="49" charset="-122"/>
              </a:rPr>
              <a:t>  </a:t>
            </a:r>
            <a:r>
              <a:rPr kumimoji="1" lang="en-US" altLang="zh-CN" sz="2400" b="1" dirty="0">
                <a:latin typeface="Times New Roman" pitchFamily="18" charset="0"/>
                <a:ea typeface="隶书" pitchFamily="49" charset="-122"/>
              </a:rPr>
              <a:t>//a==(b&lt;c)</a:t>
            </a:r>
          </a:p>
          <a:p>
            <a:pPr lvl="3"/>
            <a:r>
              <a:rPr kumimoji="1" lang="en-US" altLang="zh-CN" sz="2400" b="1" dirty="0">
                <a:latin typeface="Times New Roman" pitchFamily="18" charset="0"/>
                <a:ea typeface="隶书" pitchFamily="49" charset="-122"/>
              </a:rPr>
              <a:t>     a=b&gt;c  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隶书" pitchFamily="49" charset="-122"/>
              </a:rPr>
              <a:t>//a=(b&gt;c)</a:t>
            </a:r>
            <a:endParaRPr kumimoji="1" lang="en-US" altLang="zh-CN" sz="2000" b="1" dirty="0">
              <a:solidFill>
                <a:srgbClr val="000000"/>
              </a:solidFill>
              <a:latin typeface="Times New Roman" pitchFamily="18" charset="0"/>
              <a:ea typeface="隶书" pitchFamily="49" charset="-122"/>
            </a:endParaRP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5BA4B37B-C163-49AE-9C40-0B1303664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6" y="3837426"/>
            <a:ext cx="88423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 indent="-746125"/>
            <a:r>
              <a:rPr kumimoji="1" lang="zh-CN" altLang="en-US" sz="2400" b="1" dirty="0">
                <a:solidFill>
                  <a:srgbClr val="FF0066"/>
                </a:solidFill>
                <a:latin typeface="Times New Roman" pitchFamily="18" charset="0"/>
              </a:rPr>
              <a:t>关系表达式的值：</a:t>
            </a:r>
            <a:r>
              <a:rPr kumimoji="1" lang="zh-CN" altLang="en-US" sz="2400" b="1" dirty="0">
                <a:latin typeface="Times New Roman" pitchFamily="18" charset="0"/>
              </a:rPr>
              <a:t>是逻辑值“真”或“假”，用</a:t>
            </a:r>
            <a:r>
              <a:rPr kumimoji="1" lang="en-US" altLang="zh-CN" sz="2400" b="1" dirty="0">
                <a:latin typeface="Times New Roman" pitchFamily="18" charset="0"/>
              </a:rPr>
              <a:t>1</a:t>
            </a:r>
            <a:r>
              <a:rPr kumimoji="1" lang="zh-CN" altLang="en-US" sz="2400" b="1" dirty="0">
                <a:latin typeface="Times New Roman" pitchFamily="18" charset="0"/>
              </a:rPr>
              <a:t>和</a:t>
            </a:r>
            <a:r>
              <a:rPr kumimoji="1" lang="en-US" altLang="zh-CN" sz="2400" b="1" dirty="0">
                <a:latin typeface="Times New Roman" pitchFamily="18" charset="0"/>
              </a:rPr>
              <a:t>0</a:t>
            </a:r>
            <a:r>
              <a:rPr kumimoji="1" lang="zh-CN" altLang="en-US" sz="2400" b="1" dirty="0">
                <a:latin typeface="Times New Roman" pitchFamily="18" charset="0"/>
              </a:rPr>
              <a:t>表示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7F4ACF7C-BB77-4FF8-A6DC-7EC6CA098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61" y="4354512"/>
            <a:ext cx="6092825" cy="25034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zh-CN" altLang="en-US" sz="2400" b="1" dirty="0">
                <a:latin typeface="Times New Roman" pitchFamily="18" charset="0"/>
              </a:rPr>
              <a:t>例   </a:t>
            </a:r>
            <a:r>
              <a:rPr kumimoji="1" lang="en-US" altLang="zh-CN" sz="2400" b="1" dirty="0" err="1">
                <a:latin typeface="Times New Roman" pitchFamily="18" charset="0"/>
              </a:rPr>
              <a:t>int</a:t>
            </a:r>
            <a:r>
              <a:rPr kumimoji="1" lang="en-US" altLang="zh-CN" sz="2400" b="1" dirty="0">
                <a:latin typeface="Times New Roman" pitchFamily="18" charset="0"/>
              </a:rPr>
              <a:t> a=3,b=2,c=1,d,f;</a:t>
            </a:r>
          </a:p>
          <a:p>
            <a:pPr lvl="3"/>
            <a:r>
              <a:rPr kumimoji="1" lang="en-US" altLang="zh-CN" sz="2400" b="1" dirty="0">
                <a:latin typeface="Times New Roman" pitchFamily="18" charset="0"/>
              </a:rPr>
              <a:t>       a&gt;b </a:t>
            </a:r>
          </a:p>
          <a:p>
            <a:pPr lvl="3"/>
            <a:r>
              <a:rPr kumimoji="1" lang="en-US" altLang="zh-CN" sz="2400" b="1" dirty="0">
                <a:latin typeface="Times New Roman" pitchFamily="18" charset="0"/>
              </a:rPr>
              <a:t>      (a&gt;b)==c</a:t>
            </a:r>
          </a:p>
          <a:p>
            <a:pPr lvl="3"/>
            <a:r>
              <a:rPr kumimoji="1" lang="en-US" altLang="zh-CN" sz="2400" b="1" dirty="0">
                <a:latin typeface="Times New Roman" pitchFamily="18" charset="0"/>
              </a:rPr>
              <a:t>       </a:t>
            </a:r>
            <a:r>
              <a:rPr kumimoji="1" lang="en-US" altLang="zh-CN" sz="2400" b="1" dirty="0" err="1">
                <a:latin typeface="Times New Roman" pitchFamily="18" charset="0"/>
              </a:rPr>
              <a:t>b+c</a:t>
            </a:r>
            <a:r>
              <a:rPr kumimoji="1" lang="en-US" altLang="zh-CN" sz="2400" b="1" dirty="0">
                <a:latin typeface="Times New Roman" pitchFamily="18" charset="0"/>
              </a:rPr>
              <a:t>&lt;a</a:t>
            </a:r>
          </a:p>
          <a:p>
            <a:pPr lvl="3"/>
            <a:r>
              <a:rPr kumimoji="1" lang="en-US" altLang="zh-CN" sz="2400" b="1" dirty="0">
                <a:latin typeface="Times New Roman" pitchFamily="18" charset="0"/>
              </a:rPr>
              <a:t>       d=a&gt;b</a:t>
            </a:r>
          </a:p>
          <a:p>
            <a:pPr lvl="3"/>
            <a:r>
              <a:rPr kumimoji="1" lang="en-US" altLang="zh-CN" sz="2400" b="1" dirty="0">
                <a:latin typeface="Times New Roman" pitchFamily="18" charset="0"/>
              </a:rPr>
              <a:t>       f=a&gt;b&gt;c</a:t>
            </a:r>
          </a:p>
          <a:p>
            <a:pPr lvl="3"/>
            <a:endParaRPr kumimoji="1" lang="en-US" altLang="zh-CN" sz="2400" b="1" dirty="0">
              <a:latin typeface="Times New Roman" pitchFamily="18" charset="0"/>
            </a:endParaRP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6079AF0B-B52C-47DD-81CE-096C1480E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3465" y="4685371"/>
            <a:ext cx="2505075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000" dirty="0">
                <a:solidFill>
                  <a:srgbClr val="0000FF"/>
                </a:solidFill>
                <a:latin typeface="Times New Roman" pitchFamily="18" charset="0"/>
              </a:rPr>
              <a:t>//</a:t>
            </a:r>
            <a:r>
              <a:rPr kumimoji="1" lang="zh-CN" altLang="zh-CN" sz="2000" dirty="0">
                <a:solidFill>
                  <a:srgbClr val="0000FF"/>
                </a:solidFill>
                <a:latin typeface="Times New Roman" pitchFamily="18" charset="0"/>
              </a:rPr>
              <a:t>表达式值1</a:t>
            </a:r>
            <a:endParaRPr kumimoji="1" lang="en-US" altLang="zh-CN" sz="2000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3CC4A659-060A-45FF-8D97-A5263F300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475" y="5070944"/>
            <a:ext cx="2320925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000" dirty="0">
                <a:solidFill>
                  <a:srgbClr val="0000FF"/>
                </a:solidFill>
                <a:latin typeface="Times New Roman" pitchFamily="18" charset="0"/>
              </a:rPr>
              <a:t>//</a:t>
            </a:r>
            <a:r>
              <a:rPr kumimoji="1" lang="zh-CN" altLang="zh-CN" sz="2000" dirty="0">
                <a:solidFill>
                  <a:srgbClr val="0000FF"/>
                </a:solidFill>
                <a:latin typeface="Times New Roman" pitchFamily="18" charset="0"/>
              </a:rPr>
              <a:t>表达式值1</a:t>
            </a:r>
            <a:endParaRPr kumimoji="1" lang="en-US" altLang="zh-CN" sz="2000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201AC2AB-AB86-49B0-9029-7E6EF25A3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3465" y="5461281"/>
            <a:ext cx="2532062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000" dirty="0">
                <a:solidFill>
                  <a:srgbClr val="0000FF"/>
                </a:solidFill>
                <a:latin typeface="Times New Roman" pitchFamily="18" charset="0"/>
              </a:rPr>
              <a:t>//</a:t>
            </a:r>
            <a:r>
              <a:rPr kumimoji="1" lang="zh-CN" altLang="zh-CN" sz="2000" dirty="0">
                <a:solidFill>
                  <a:srgbClr val="0000FF"/>
                </a:solidFill>
                <a:latin typeface="Times New Roman" pitchFamily="18" charset="0"/>
              </a:rPr>
              <a:t>表达式值0</a:t>
            </a:r>
            <a:endParaRPr kumimoji="1" lang="en-US" altLang="zh-CN" sz="2000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E87E87B9-05BF-4BAB-941A-342C9F8CB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2990" y="5807292"/>
            <a:ext cx="723573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000" dirty="0">
                <a:solidFill>
                  <a:srgbClr val="0000FF"/>
                </a:solidFill>
                <a:latin typeface="Times New Roman" pitchFamily="18" charset="0"/>
              </a:rPr>
              <a:t>//d=1</a:t>
            </a:r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0F1C9E75-F4D4-423D-B0DC-39251E2AF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2990" y="6196153"/>
            <a:ext cx="680292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000" dirty="0">
                <a:solidFill>
                  <a:srgbClr val="0000FF"/>
                </a:solidFill>
                <a:latin typeface="Times New Roman" pitchFamily="18" charset="0"/>
              </a:rPr>
              <a:t>//f=0</a:t>
            </a:r>
          </a:p>
        </p:txBody>
      </p:sp>
      <p:sp>
        <p:nvSpPr>
          <p:cNvPr id="21" name="灯片编号占位符 20">
            <a:extLst>
              <a:ext uri="{FF2B5EF4-FFF2-40B4-BE49-F238E27FC236}">
                <a16:creationId xmlns:a16="http://schemas.microsoft.com/office/drawing/2014/main" id="{2B6320C2-450F-4573-A3C9-95A4F85D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B45B251-FB1D-48E1-875D-79355962D34A}"/>
              </a:ext>
            </a:extLst>
          </p:cNvPr>
          <p:cNvSpPr txBox="1"/>
          <p:nvPr/>
        </p:nvSpPr>
        <p:spPr>
          <a:xfrm>
            <a:off x="3271428" y="61229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关系运算符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2145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 autoUpdateAnimBg="0"/>
      <p:bldP spid="13" grpId="0" animBg="1" autoUpdateAnimBg="0"/>
      <p:bldP spid="14" grpId="0" autoUpdateAnimBg="0"/>
      <p:bldP spid="15" grpId="0" animBg="1" autoUpdateAnimBg="0"/>
      <p:bldP spid="16" grpId="0" build="p" autoUpdateAnimBg="0"/>
      <p:bldP spid="17" grpId="0" build="p" autoUpdateAnimBg="0"/>
      <p:bldP spid="18" grpId="0" build="p" autoUpdateAnimBg="0"/>
      <p:bldP spid="19" grpId="0" build="p" autoUpdateAnimBg="0"/>
      <p:bldP spid="20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BEEC28-8214-438D-9684-0860D853B071}"/>
              </a:ext>
            </a:extLst>
          </p:cNvPr>
          <p:cNvSpPr txBox="1">
            <a:spLocks noChangeArrowheads="1"/>
          </p:cNvSpPr>
          <p:nvPr/>
        </p:nvSpPr>
        <p:spPr>
          <a:xfrm>
            <a:off x="158263" y="849923"/>
            <a:ext cx="8501063" cy="4000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/>
            <a:r>
              <a:rPr lang="zh-CN" altLang="en-US" sz="2800" b="1" dirty="0">
                <a:solidFill>
                  <a:srgbClr val="0033CC"/>
                </a:solidFill>
              </a:rPr>
              <a:t>关系运算注意：</a:t>
            </a:r>
            <a:endParaRPr lang="zh-CN" altLang="en-US" sz="2800" b="1" dirty="0">
              <a:solidFill>
                <a:srgbClr val="0033CC"/>
              </a:solidFill>
              <a:sym typeface="Symbol" pitchFamily="18" charset="2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70C94E5-2985-4F8E-A3CB-DA240C859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238" y="1527955"/>
            <a:ext cx="4278312" cy="833178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kumimoji="1" lang="zh-CN" altLang="zh-CN" sz="2400" b="1" dirty="0">
                <a:latin typeface="Times New Roman" pitchFamily="18" charset="0"/>
                <a:sym typeface="Symbol" pitchFamily="18" charset="2"/>
              </a:rPr>
              <a:t>例   若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a=0; b=0.5; x=0.3;</a:t>
            </a:r>
          </a:p>
          <a:p>
            <a:pPr algn="ctr"/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      </a:t>
            </a:r>
            <a:r>
              <a:rPr kumimoji="1" lang="zh-CN" altLang="zh-CN" sz="2400" b="1" dirty="0">
                <a:latin typeface="Times New Roman" pitchFamily="18" charset="0"/>
                <a:sym typeface="Symbol" pitchFamily="18" charset="2"/>
              </a:rPr>
              <a:t>则 </a:t>
            </a:r>
            <a:r>
              <a:rPr kumimoji="1" lang="en-US" altLang="zh-CN" sz="2400" b="1" dirty="0">
                <a:latin typeface="Times New Roman" pitchFamily="18" charset="0"/>
              </a:rPr>
              <a:t>a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&lt;=x&lt;=b</a:t>
            </a:r>
            <a:r>
              <a:rPr kumimoji="1" lang="zh-CN" altLang="zh-CN" sz="2400" b="1" dirty="0">
                <a:latin typeface="Times New Roman" pitchFamily="18" charset="0"/>
                <a:sym typeface="Symbol" pitchFamily="18" charset="2"/>
              </a:rPr>
              <a:t>的值为    </a:t>
            </a:r>
            <a:endParaRPr kumimoji="1" lang="zh-CN" altLang="en-US" sz="2400" b="1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AC7F3F3E-B139-45BF-BECC-C116C8CA7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2113" y="1898506"/>
            <a:ext cx="324426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000">
                <a:solidFill>
                  <a:srgbClr val="FF0000"/>
                </a:solidFill>
                <a:ea typeface="隶书" pitchFamily="49" charset="-122"/>
              </a:rPr>
              <a:t>0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C0E5C16-9499-4865-8CD4-485D73613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238" y="2469342"/>
            <a:ext cx="4278312" cy="833178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zh-CN" sz="2400" b="1" dirty="0">
                <a:latin typeface="Times New Roman" pitchFamily="18" charset="0"/>
                <a:sym typeface="Symbol" pitchFamily="18" charset="2"/>
              </a:rPr>
              <a:t>例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5&gt;2&gt;7&gt;8</a:t>
            </a:r>
            <a:r>
              <a:rPr kumimoji="1" lang="zh-CN" altLang="zh-CN" sz="2400" b="1" dirty="0">
                <a:latin typeface="Times New Roman" pitchFamily="18" charset="0"/>
                <a:sym typeface="Symbol" pitchFamily="18" charset="2"/>
              </a:rPr>
              <a:t>在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C</a:t>
            </a:r>
            <a:r>
              <a:rPr kumimoji="1" lang="zh-CN" altLang="zh-CN" sz="2400" b="1" dirty="0">
                <a:latin typeface="Times New Roman" pitchFamily="18" charset="0"/>
                <a:sym typeface="Symbol" pitchFamily="18" charset="2"/>
              </a:rPr>
              <a:t>中是允许的，</a:t>
            </a:r>
          </a:p>
          <a:p>
            <a:r>
              <a:rPr kumimoji="1" lang="zh-CN" altLang="zh-CN" sz="2400" b="1" dirty="0">
                <a:latin typeface="Times New Roman" pitchFamily="18" charset="0"/>
                <a:sym typeface="Symbol" pitchFamily="18" charset="2"/>
              </a:rPr>
              <a:t>      值为</a:t>
            </a:r>
            <a:endParaRPr kumimoji="1" lang="zh-CN" altLang="en-US" sz="2400" b="1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96AAA1C8-40AA-4921-9FB0-B54B1C22C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2313" y="2919269"/>
            <a:ext cx="324426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000">
                <a:solidFill>
                  <a:srgbClr val="FF0000"/>
                </a:solidFill>
                <a:ea typeface="隶书" pitchFamily="49" charset="-122"/>
              </a:rPr>
              <a:t>0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F22652D0-0790-433D-9508-C97E3C645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712" y="3400687"/>
            <a:ext cx="4287837" cy="1202510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zh-CN" sz="2400" b="1" dirty="0">
                <a:latin typeface="Times New Roman" pitchFamily="18" charset="0"/>
                <a:sym typeface="Symbol" pitchFamily="18" charset="2"/>
              </a:rPr>
              <a:t>例     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int  </a:t>
            </a:r>
            <a:r>
              <a:rPr kumimoji="1" lang="en-US" altLang="zh-CN" sz="2400" b="1" dirty="0" err="1">
                <a:latin typeface="Times New Roman" pitchFamily="18" charset="0"/>
                <a:sym typeface="Symbol" pitchFamily="18" charset="2"/>
              </a:rPr>
              <a:t>i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=1, j=7,a;  </a:t>
            </a:r>
          </a:p>
          <a:p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         a=</a:t>
            </a:r>
            <a:r>
              <a:rPr kumimoji="1" lang="en-US" altLang="zh-CN" sz="2400" b="1" dirty="0" err="1">
                <a:latin typeface="Times New Roman" pitchFamily="18" charset="0"/>
                <a:sym typeface="Symbol" pitchFamily="18" charset="2"/>
              </a:rPr>
              <a:t>i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+(j%4!=0);   </a:t>
            </a:r>
          </a:p>
          <a:p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         </a:t>
            </a:r>
            <a:r>
              <a:rPr kumimoji="1" lang="zh-CN" altLang="zh-CN" sz="2400" b="1" dirty="0">
                <a:latin typeface="Times New Roman" pitchFamily="18" charset="0"/>
                <a:sym typeface="Symbol" pitchFamily="18" charset="2"/>
              </a:rPr>
              <a:t>则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a=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A86EB06C-4FA4-48C0-B633-02419F617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5663" y="4184506"/>
            <a:ext cx="324426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000">
                <a:solidFill>
                  <a:srgbClr val="FF0000"/>
                </a:solidFill>
                <a:ea typeface="隶书" pitchFamily="49" charset="-122"/>
              </a:rPr>
              <a:t>2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8D800D47-0B38-451C-B271-16A062AA7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0712" y="4712480"/>
            <a:ext cx="4287838" cy="833178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400" b="1" dirty="0">
                <a:latin typeface="Times New Roman" pitchFamily="18" charset="0"/>
                <a:sym typeface="Symbol" pitchFamily="18" charset="2"/>
              </a:rPr>
              <a:t>例   </a:t>
            </a:r>
            <a:r>
              <a:rPr kumimoji="1" lang="en-US" altLang="zh-CN" sz="2400" dirty="0">
                <a:solidFill>
                  <a:srgbClr val="000000"/>
                </a:solidFill>
              </a:rPr>
              <a:t>'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a</a:t>
            </a:r>
            <a:r>
              <a:rPr kumimoji="1" lang="en-US" altLang="zh-CN" sz="2400" dirty="0">
                <a:solidFill>
                  <a:srgbClr val="000000"/>
                </a:solidFill>
              </a:rPr>
              <a:t>'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&gt;0        </a:t>
            </a:r>
            <a:r>
              <a:rPr kumimoji="1" lang="zh-CN" altLang="zh-CN" sz="2400" b="1" dirty="0">
                <a:latin typeface="Times New Roman" pitchFamily="18" charset="0"/>
                <a:sym typeface="Symbol" pitchFamily="18" charset="2"/>
              </a:rPr>
              <a:t>结果为</a:t>
            </a:r>
          </a:p>
          <a:p>
            <a:r>
              <a:rPr kumimoji="1" lang="zh-CN" altLang="zh-CN" sz="2400" b="1" dirty="0">
                <a:latin typeface="Times New Roman" pitchFamily="18" charset="0"/>
                <a:sym typeface="Symbol" pitchFamily="18" charset="2"/>
              </a:rPr>
              <a:t>      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2400" dirty="0">
                <a:solidFill>
                  <a:srgbClr val="000000"/>
                </a:solidFill>
              </a:rPr>
              <a:t>'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A</a:t>
            </a:r>
            <a:r>
              <a:rPr kumimoji="1" lang="en-US" altLang="zh-CN" sz="2400" dirty="0">
                <a:solidFill>
                  <a:srgbClr val="000000"/>
                </a:solidFill>
              </a:rPr>
              <a:t>'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&gt;100    </a:t>
            </a:r>
            <a:r>
              <a:rPr kumimoji="1" lang="zh-CN" altLang="zh-CN" sz="2400" b="1" dirty="0">
                <a:latin typeface="Times New Roman" pitchFamily="18" charset="0"/>
                <a:sym typeface="Symbol" pitchFamily="18" charset="2"/>
              </a:rPr>
              <a:t>结果为</a:t>
            </a:r>
            <a:endParaRPr kumimoji="1" lang="zh-CN" altLang="en-US" sz="2400" b="1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AE2E7185-0D82-4515-BE04-0D25B40E3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226" y="4779818"/>
            <a:ext cx="324426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000">
                <a:solidFill>
                  <a:srgbClr val="FF0000"/>
                </a:solidFill>
                <a:ea typeface="隶书" pitchFamily="49" charset="-122"/>
              </a:rPr>
              <a:t>1</a:t>
            </a:r>
          </a:p>
        </p:txBody>
      </p:sp>
      <p:sp>
        <p:nvSpPr>
          <p:cNvPr id="12" name="Text Box 13">
            <a:extLst>
              <a:ext uri="{FF2B5EF4-FFF2-40B4-BE49-F238E27FC236}">
                <a16:creationId xmlns:a16="http://schemas.microsoft.com/office/drawing/2014/main" id="{8C5E6A1D-18E8-4B84-BFBE-834BE6E6D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1" y="5105257"/>
            <a:ext cx="324426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000">
                <a:solidFill>
                  <a:srgbClr val="FF0000"/>
                </a:solidFill>
                <a:ea typeface="隶书" pitchFamily="49" charset="-122"/>
              </a:rPr>
              <a:t>0</a:t>
            </a: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7EACCE6F-4944-4D29-88A1-154A07808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0A69C22-5F52-4917-93BA-17EB8863BE23}"/>
              </a:ext>
            </a:extLst>
          </p:cNvPr>
          <p:cNvSpPr txBox="1"/>
          <p:nvPr/>
        </p:nvSpPr>
        <p:spPr>
          <a:xfrm>
            <a:off x="3271428" y="61229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关系运算符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969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 autoUpdateAnimBg="0"/>
      <p:bldP spid="4" grpId="0" animBg="1" autoUpdateAnimBg="0"/>
      <p:bldP spid="5" grpId="0" build="p" autoUpdateAnimBg="0"/>
      <p:bldP spid="6" grpId="0" animBg="1" autoUpdateAnimBg="0"/>
      <p:bldP spid="7" grpId="0" build="p" autoUpdateAnimBg="0"/>
      <p:bldP spid="8" grpId="0" animBg="1" autoUpdateAnimBg="0"/>
      <p:bldP spid="9" grpId="0" build="p" autoUpdateAnimBg="0"/>
      <p:bldP spid="10" grpId="0" animBg="1" autoUpdateAnimBg="0"/>
      <p:bldP spid="11" grpId="0" build="p" autoUpdateAnimBg="0"/>
      <p:bldP spid="12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F25EA08-5245-453E-AC84-30298FC25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" y="710712"/>
            <a:ext cx="8501063" cy="400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zh-CN" altLang="en-US" sz="2800" b="1" dirty="0">
                <a:solidFill>
                  <a:srgbClr val="200AC4"/>
                </a:solidFill>
                <a:latin typeface="Times New Roman" pitchFamily="18" charset="0"/>
              </a:rPr>
              <a:t>关系运算注意：</a:t>
            </a:r>
            <a:endParaRPr kumimoji="1" lang="zh-CN" altLang="en-US" sz="2800" b="1" dirty="0">
              <a:solidFill>
                <a:srgbClr val="200AC4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709961-0687-4DA4-9052-9BF889CD6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452" y="2654750"/>
            <a:ext cx="5383213" cy="2310505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zh-CN" sz="2400" b="1" dirty="0">
                <a:latin typeface="Times New Roman" pitchFamily="18" charset="0"/>
                <a:sym typeface="Symbol" pitchFamily="18" charset="2"/>
              </a:rPr>
              <a:t>例    </a:t>
            </a:r>
            <a:r>
              <a:rPr kumimoji="1" lang="zh-CN" altLang="en-US" sz="2400" b="1" dirty="0">
                <a:latin typeface="Times New Roman" pitchFamily="18" charset="0"/>
                <a:sym typeface="Symbol" pitchFamily="18" charset="2"/>
              </a:rPr>
              <a:t>注意区分“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=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”</a:t>
            </a:r>
            <a:r>
              <a:rPr kumimoji="1" lang="zh-CN" altLang="en-US" sz="2400" b="1" dirty="0">
                <a:latin typeface="Times New Roman" pitchFamily="18" charset="0"/>
                <a:sym typeface="Symbol" pitchFamily="18" charset="2"/>
              </a:rPr>
              <a:t>与“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==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”</a:t>
            </a:r>
          </a:p>
          <a:p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        int a=0,b=1;</a:t>
            </a:r>
          </a:p>
          <a:p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         if(a</a:t>
            </a:r>
            <a:r>
              <a:rPr kumimoji="1" lang="en-US" altLang="zh-CN" sz="2400" b="1" dirty="0">
                <a:solidFill>
                  <a:srgbClr val="CC3300"/>
                </a:solidFill>
                <a:latin typeface="Times New Roman" pitchFamily="18" charset="0"/>
                <a:sym typeface="Symbol" pitchFamily="18" charset="2"/>
              </a:rPr>
              <a:t>=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b)                             </a:t>
            </a:r>
          </a:p>
          <a:p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               printf(</a:t>
            </a:r>
            <a:r>
              <a:rPr kumimoji="1" lang="en-US" altLang="zh-CN" sz="2400" b="1" dirty="0">
                <a:latin typeface="Times New Roman" pitchFamily="18" charset="0"/>
              </a:rPr>
              <a:t>"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a  equal  to  b</a:t>
            </a:r>
            <a:r>
              <a:rPr kumimoji="1" lang="en-US" altLang="zh-CN" sz="2400" b="1" dirty="0">
                <a:latin typeface="Times New Roman" pitchFamily="18" charset="0"/>
              </a:rPr>
              <a:t>"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);</a:t>
            </a:r>
          </a:p>
          <a:p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         else</a:t>
            </a:r>
          </a:p>
          <a:p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               printf(</a:t>
            </a:r>
            <a:r>
              <a:rPr kumimoji="1" lang="en-US" altLang="zh-CN" sz="2400" b="1" dirty="0">
                <a:latin typeface="Times New Roman" pitchFamily="18" charset="0"/>
              </a:rPr>
              <a:t>"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a  not  equal  to  b</a:t>
            </a:r>
            <a:r>
              <a:rPr kumimoji="1" lang="en-US" altLang="zh-CN" sz="2400" b="1" dirty="0">
                <a:latin typeface="Times New Roman" pitchFamily="18" charset="0"/>
              </a:rPr>
              <a:t>"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);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D9A69B-3AFA-4A1A-8033-EE48BBDBA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452" y="1338915"/>
            <a:ext cx="5383213" cy="1202510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zh-CN" sz="2400" b="1" dirty="0">
                <a:latin typeface="Times New Roman" pitchFamily="18" charset="0"/>
                <a:sym typeface="Symbol" pitchFamily="18" charset="2"/>
              </a:rPr>
              <a:t>例   </a:t>
            </a:r>
            <a:r>
              <a:rPr kumimoji="1" lang="zh-CN" altLang="en-US" sz="2400" b="1" dirty="0">
                <a:latin typeface="Times New Roman" pitchFamily="18" charset="0"/>
                <a:sym typeface="Symbol" pitchFamily="18" charset="2"/>
              </a:rPr>
              <a:t>应避免对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实数</a:t>
            </a:r>
            <a:r>
              <a:rPr kumimoji="1" lang="zh-CN" altLang="en-US" sz="2400" b="1" dirty="0">
                <a:latin typeface="Times New Roman" pitchFamily="18" charset="0"/>
                <a:sym typeface="Symbol" pitchFamily="18" charset="2"/>
              </a:rPr>
              <a:t>作相等或不等的判断</a:t>
            </a:r>
          </a:p>
          <a:p>
            <a:r>
              <a:rPr kumimoji="1" lang="zh-CN" altLang="en-US" sz="2400" b="1" dirty="0">
                <a:latin typeface="Times New Roman" pitchFamily="18" charset="0"/>
                <a:sym typeface="Symbol" pitchFamily="18" charset="2"/>
              </a:rPr>
              <a:t>如   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1.0/3.0*3.0==1.0</a:t>
            </a:r>
          </a:p>
          <a:p>
            <a:r>
              <a:rPr kumimoji="1" lang="zh-CN" altLang="en-US" sz="2400" b="1" dirty="0">
                <a:latin typeface="Times New Roman" pitchFamily="18" charset="0"/>
                <a:sym typeface="Symbol" pitchFamily="18" charset="2"/>
              </a:rPr>
              <a:t>可改写为：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fabs(1.0/3.0*3.0-1.0)&lt;1e-6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C676A89-A491-4FDD-9DE3-F1919830BACB}"/>
              </a:ext>
            </a:extLst>
          </p:cNvPr>
          <p:cNvSpPr txBox="1"/>
          <p:nvPr/>
        </p:nvSpPr>
        <p:spPr>
          <a:xfrm>
            <a:off x="1165876" y="5200195"/>
            <a:ext cx="717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要判断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是否属于区间</a:t>
            </a:r>
            <a:r>
              <a:rPr lang="en-US" altLang="zh-CN" sz="2400" b="1" dirty="0"/>
              <a:t>[1,10]</a:t>
            </a:r>
            <a:r>
              <a:rPr lang="zh-CN" altLang="en-US" sz="2400" b="1" dirty="0"/>
              <a:t>该怎样表示呢？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79D859-5E6B-431F-BE8E-B75F0DF8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DD3574A-A17A-4829-A7EB-80800096DD30}"/>
              </a:ext>
            </a:extLst>
          </p:cNvPr>
          <p:cNvSpPr txBox="1"/>
          <p:nvPr/>
        </p:nvSpPr>
        <p:spPr>
          <a:xfrm>
            <a:off x="3271428" y="61229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关系运算符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160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build="p" animBg="1" autoUpdateAnimBg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E290E8BA-A55D-4C8E-93BB-0B247B3D683D}"/>
              </a:ext>
            </a:extLst>
          </p:cNvPr>
          <p:cNvGrpSpPr>
            <a:grpSpLocks/>
          </p:cNvGrpSpPr>
          <p:nvPr/>
        </p:nvGrpSpPr>
        <p:grpSpPr bwMode="auto">
          <a:xfrm>
            <a:off x="2095500" y="2407944"/>
            <a:ext cx="5867400" cy="2152651"/>
            <a:chOff x="1104" y="1284"/>
            <a:chExt cx="3696" cy="1356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3FCFD0E1-FEEE-4CA9-8A66-0D6D0E181E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1296"/>
              <a:ext cx="3696" cy="1344"/>
              <a:chOff x="1032" y="2784"/>
              <a:chExt cx="3924" cy="1344"/>
            </a:xfrm>
          </p:grpSpPr>
          <p:sp>
            <p:nvSpPr>
              <p:cNvPr id="25" name="Rectangle 4">
                <a:extLst>
                  <a:ext uri="{FF2B5EF4-FFF2-40B4-BE49-F238E27FC236}">
                    <a16:creationId xmlns:a16="http://schemas.microsoft.com/office/drawing/2014/main" id="{509BCBCE-8452-4BB2-8711-C80611D789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2" y="2784"/>
                <a:ext cx="3924" cy="134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6" name="Line 5">
                <a:extLst>
                  <a:ext uri="{FF2B5EF4-FFF2-40B4-BE49-F238E27FC236}">
                    <a16:creationId xmlns:a16="http://schemas.microsoft.com/office/drawing/2014/main" id="{12D580E7-CA13-448C-A7C2-A94A6A8281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2" y="3036"/>
                <a:ext cx="3924" cy="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7" name="Line 6">
                <a:extLst>
                  <a:ext uri="{FF2B5EF4-FFF2-40B4-BE49-F238E27FC236}">
                    <a16:creationId xmlns:a16="http://schemas.microsoft.com/office/drawing/2014/main" id="{D970087A-07B0-406C-A48B-ED3E817BD8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2" y="3304"/>
                <a:ext cx="3924" cy="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8" name="Line 7">
                <a:extLst>
                  <a:ext uri="{FF2B5EF4-FFF2-40B4-BE49-F238E27FC236}">
                    <a16:creationId xmlns:a16="http://schemas.microsoft.com/office/drawing/2014/main" id="{C1A62F06-EC76-4276-8840-AD8D73356A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2" y="3572"/>
                <a:ext cx="3924" cy="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9" name="Line 8">
                <a:extLst>
                  <a:ext uri="{FF2B5EF4-FFF2-40B4-BE49-F238E27FC236}">
                    <a16:creationId xmlns:a16="http://schemas.microsoft.com/office/drawing/2014/main" id="{77EE6EC6-514F-4ECF-AB5B-EF5AFD13C4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2" y="3840"/>
                <a:ext cx="3924" cy="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sp>
          <p:nvSpPr>
            <p:cNvPr id="6" name="Line 9">
              <a:extLst>
                <a:ext uri="{FF2B5EF4-FFF2-40B4-BE49-F238E27FC236}">
                  <a16:creationId xmlns:a16="http://schemas.microsoft.com/office/drawing/2014/main" id="{DEE6B4AE-4F07-4072-B98F-D056FB0A26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6" y="1284"/>
              <a:ext cx="1" cy="134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7" name="Line 10">
              <a:extLst>
                <a:ext uri="{FF2B5EF4-FFF2-40B4-BE49-F238E27FC236}">
                  <a16:creationId xmlns:a16="http://schemas.microsoft.com/office/drawing/2014/main" id="{3C293966-3A05-44DC-B99D-029BD8A92B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1" y="1284"/>
              <a:ext cx="1" cy="134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8" name="Line 11">
              <a:extLst>
                <a:ext uri="{FF2B5EF4-FFF2-40B4-BE49-F238E27FC236}">
                  <a16:creationId xmlns:a16="http://schemas.microsoft.com/office/drawing/2014/main" id="{02CE9A34-1A8C-4CC0-8CB0-9A3719AB63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6" y="1284"/>
              <a:ext cx="1" cy="134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9" name="Line 12">
              <a:extLst>
                <a:ext uri="{FF2B5EF4-FFF2-40B4-BE49-F238E27FC236}">
                  <a16:creationId xmlns:a16="http://schemas.microsoft.com/office/drawing/2014/main" id="{761B2733-5229-45EE-910E-3B86C05F88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1" y="1284"/>
              <a:ext cx="1" cy="134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0" name="Line 13">
              <a:extLst>
                <a:ext uri="{FF2B5EF4-FFF2-40B4-BE49-F238E27FC236}">
                  <a16:creationId xmlns:a16="http://schemas.microsoft.com/office/drawing/2014/main" id="{96EA940F-E4A6-45C9-B1F9-148E115673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284"/>
              <a:ext cx="1" cy="134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" name="Text Box 14">
              <a:extLst>
                <a:ext uri="{FF2B5EF4-FFF2-40B4-BE49-F238E27FC236}">
                  <a16:creationId xmlns:a16="http://schemas.microsoft.com/office/drawing/2014/main" id="{0F2EFE5B-1D27-4878-81D5-A735CA723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3" y="1291"/>
              <a:ext cx="204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>
                  <a:ea typeface="隶书" pitchFamily="49" charset="-122"/>
                </a:rPr>
                <a:t>a</a:t>
              </a:r>
            </a:p>
          </p:txBody>
        </p:sp>
        <p:sp>
          <p:nvSpPr>
            <p:cNvPr id="12" name="Text Box 15">
              <a:extLst>
                <a:ext uri="{FF2B5EF4-FFF2-40B4-BE49-F238E27FC236}">
                  <a16:creationId xmlns:a16="http://schemas.microsoft.com/office/drawing/2014/main" id="{56FF7B81-0B60-4CAB-B08D-44B0240B52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0" y="1291"/>
              <a:ext cx="204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>
                  <a:ea typeface="隶书" pitchFamily="49" charset="-122"/>
                </a:rPr>
                <a:t>b</a:t>
              </a:r>
            </a:p>
          </p:txBody>
        </p:sp>
        <p:sp>
          <p:nvSpPr>
            <p:cNvPr id="13" name="Text Box 16">
              <a:extLst>
                <a:ext uri="{FF2B5EF4-FFF2-40B4-BE49-F238E27FC236}">
                  <a16:creationId xmlns:a16="http://schemas.microsoft.com/office/drawing/2014/main" id="{EA5E03B3-FE8B-4698-B5FD-AF7EBF4DB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7" y="1291"/>
              <a:ext cx="249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>
                  <a:ea typeface="隶书" pitchFamily="49" charset="-122"/>
                </a:rPr>
                <a:t>!a</a:t>
              </a:r>
            </a:p>
          </p:txBody>
        </p:sp>
        <p:sp>
          <p:nvSpPr>
            <p:cNvPr id="14" name="Text Box 17">
              <a:extLst>
                <a:ext uri="{FF2B5EF4-FFF2-40B4-BE49-F238E27FC236}">
                  <a16:creationId xmlns:a16="http://schemas.microsoft.com/office/drawing/2014/main" id="{0C5CA678-EFA5-49F6-897A-C9273B3A1C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" y="1291"/>
              <a:ext cx="249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>
                  <a:ea typeface="隶书" pitchFamily="49" charset="-122"/>
                </a:rPr>
                <a:t>!b</a:t>
              </a:r>
            </a:p>
          </p:txBody>
        </p:sp>
        <p:sp>
          <p:nvSpPr>
            <p:cNvPr id="15" name="Text Box 18">
              <a:extLst>
                <a:ext uri="{FF2B5EF4-FFF2-40B4-BE49-F238E27FC236}">
                  <a16:creationId xmlns:a16="http://schemas.microsoft.com/office/drawing/2014/main" id="{5E26B884-6B45-44C3-A08F-A0229A5AC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5" y="1291"/>
              <a:ext cx="510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>
                  <a:ea typeface="隶书" pitchFamily="49" charset="-122"/>
                </a:rPr>
                <a:t>a&amp;&amp;b</a:t>
              </a:r>
            </a:p>
          </p:txBody>
        </p:sp>
        <p:sp>
          <p:nvSpPr>
            <p:cNvPr id="16" name="Text Box 19">
              <a:extLst>
                <a:ext uri="{FF2B5EF4-FFF2-40B4-BE49-F238E27FC236}">
                  <a16:creationId xmlns:a16="http://schemas.microsoft.com/office/drawing/2014/main" id="{945B3962-859F-4C02-BE28-D8215CCE0D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9" y="1303"/>
              <a:ext cx="379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>
                  <a:ea typeface="隶书" pitchFamily="49" charset="-122"/>
                </a:rPr>
                <a:t>a||b</a:t>
              </a:r>
            </a:p>
          </p:txBody>
        </p:sp>
        <p:sp>
          <p:nvSpPr>
            <p:cNvPr id="17" name="Text Box 20">
              <a:extLst>
                <a:ext uri="{FF2B5EF4-FFF2-40B4-BE49-F238E27FC236}">
                  <a16:creationId xmlns:a16="http://schemas.microsoft.com/office/drawing/2014/main" id="{358EC2A8-0B71-47E1-A233-131A3097B9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3" y="1510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ea typeface="隶书" pitchFamily="49" charset="-122"/>
                </a:rPr>
                <a:t>真</a:t>
              </a:r>
            </a:p>
          </p:txBody>
        </p:sp>
        <p:sp>
          <p:nvSpPr>
            <p:cNvPr id="18" name="Text Box 21">
              <a:extLst>
                <a:ext uri="{FF2B5EF4-FFF2-40B4-BE49-F238E27FC236}">
                  <a16:creationId xmlns:a16="http://schemas.microsoft.com/office/drawing/2014/main" id="{66935224-062F-4B41-80CE-DAB7B41565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5" y="1786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ea typeface="隶书" pitchFamily="49" charset="-122"/>
                </a:rPr>
                <a:t>假</a:t>
              </a:r>
            </a:p>
          </p:txBody>
        </p:sp>
        <p:sp>
          <p:nvSpPr>
            <p:cNvPr id="19" name="Text Box 22">
              <a:extLst>
                <a:ext uri="{FF2B5EF4-FFF2-40B4-BE49-F238E27FC236}">
                  <a16:creationId xmlns:a16="http://schemas.microsoft.com/office/drawing/2014/main" id="{7CBF32EB-BDF4-4BEE-9C11-E1F61DD52F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5" y="1510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ea typeface="隶书" pitchFamily="49" charset="-122"/>
                </a:rPr>
                <a:t>真</a:t>
              </a:r>
            </a:p>
          </p:txBody>
        </p:sp>
        <p:sp>
          <p:nvSpPr>
            <p:cNvPr id="20" name="Text Box 23">
              <a:extLst>
                <a:ext uri="{FF2B5EF4-FFF2-40B4-BE49-F238E27FC236}">
                  <a16:creationId xmlns:a16="http://schemas.microsoft.com/office/drawing/2014/main" id="{ABB3D337-478C-40D9-90A4-B959EA739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5" y="2086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ea typeface="隶书" pitchFamily="49" charset="-122"/>
                </a:rPr>
                <a:t>假</a:t>
              </a:r>
            </a:p>
          </p:txBody>
        </p:sp>
        <p:sp>
          <p:nvSpPr>
            <p:cNvPr id="21" name="Text Box 24">
              <a:extLst>
                <a:ext uri="{FF2B5EF4-FFF2-40B4-BE49-F238E27FC236}">
                  <a16:creationId xmlns:a16="http://schemas.microsoft.com/office/drawing/2014/main" id="{1E42B721-E080-4578-84EA-B2A9EAED01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5" y="2326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ea typeface="隶书" pitchFamily="49" charset="-122"/>
                </a:rPr>
                <a:t>假</a:t>
              </a:r>
            </a:p>
          </p:txBody>
        </p:sp>
        <p:sp>
          <p:nvSpPr>
            <p:cNvPr id="22" name="Text Box 25">
              <a:extLst>
                <a:ext uri="{FF2B5EF4-FFF2-40B4-BE49-F238E27FC236}">
                  <a16:creationId xmlns:a16="http://schemas.microsoft.com/office/drawing/2014/main" id="{93C78C7A-7087-4031-9F97-B37F2EEE55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3" y="2326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ea typeface="隶书" pitchFamily="49" charset="-122"/>
                </a:rPr>
                <a:t>假</a:t>
              </a:r>
            </a:p>
          </p:txBody>
        </p:sp>
        <p:sp>
          <p:nvSpPr>
            <p:cNvPr id="23" name="Text Box 26">
              <a:extLst>
                <a:ext uri="{FF2B5EF4-FFF2-40B4-BE49-F238E27FC236}">
                  <a16:creationId xmlns:a16="http://schemas.microsoft.com/office/drawing/2014/main" id="{50FCFBBD-F606-481D-9857-267A349D84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3" y="1786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ea typeface="隶书" pitchFamily="49" charset="-122"/>
                </a:rPr>
                <a:t>真</a:t>
              </a:r>
            </a:p>
          </p:txBody>
        </p:sp>
        <p:sp>
          <p:nvSpPr>
            <p:cNvPr id="24" name="Text Box 27">
              <a:extLst>
                <a:ext uri="{FF2B5EF4-FFF2-40B4-BE49-F238E27FC236}">
                  <a16:creationId xmlns:a16="http://schemas.microsoft.com/office/drawing/2014/main" id="{49D02E13-8F11-42FF-A941-6F7872DD8B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7" y="2086"/>
              <a:ext cx="274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ea typeface="隶书" pitchFamily="49" charset="-122"/>
                </a:rPr>
                <a:t>真</a:t>
              </a:r>
            </a:p>
          </p:txBody>
        </p:sp>
      </p:grpSp>
      <p:sp>
        <p:nvSpPr>
          <p:cNvPr id="30" name="Rectangle 28">
            <a:extLst>
              <a:ext uri="{FF2B5EF4-FFF2-40B4-BE49-F238E27FC236}">
                <a16:creationId xmlns:a16="http://schemas.microsoft.com/office/drawing/2014/main" id="{18DF939D-2747-45BB-B0AC-04210BA7802E}"/>
              </a:ext>
            </a:extLst>
          </p:cNvPr>
          <p:cNvSpPr txBox="1">
            <a:spLocks noChangeArrowheads="1"/>
          </p:cNvSpPr>
          <p:nvPr/>
        </p:nvSpPr>
        <p:spPr>
          <a:xfrm>
            <a:off x="1143000" y="833938"/>
            <a:ext cx="7772400" cy="13708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zh-CN" altLang="en-US" sz="2800" b="1" dirty="0">
                <a:solidFill>
                  <a:srgbClr val="0000FF"/>
                </a:solidFill>
              </a:rPr>
              <a:t>逻辑运算符</a:t>
            </a:r>
          </a:p>
          <a:p>
            <a:pPr lvl="3"/>
            <a:r>
              <a:rPr lang="zh-CN" altLang="en-US" sz="2400" b="1" dirty="0"/>
              <a:t>种类：  </a:t>
            </a:r>
            <a:r>
              <a:rPr lang="en-US" altLang="zh-CN" sz="2400" b="1" dirty="0"/>
              <a:t>!  &amp;&amp;   ||</a:t>
            </a:r>
          </a:p>
          <a:p>
            <a:pPr lvl="3"/>
            <a:r>
              <a:rPr lang="zh-CN" altLang="en-US" sz="2400" b="1" dirty="0"/>
              <a:t>逻辑运算真值表</a:t>
            </a:r>
            <a:endParaRPr lang="zh-CN" altLang="zh-CN" sz="2400" b="1" dirty="0"/>
          </a:p>
        </p:txBody>
      </p:sp>
      <p:sp>
        <p:nvSpPr>
          <p:cNvPr id="31" name="Rectangle 29">
            <a:extLst>
              <a:ext uri="{FF2B5EF4-FFF2-40B4-BE49-F238E27FC236}">
                <a16:creationId xmlns:a16="http://schemas.microsoft.com/office/drawing/2014/main" id="{620482C7-E4BB-4C37-83CC-3BA340A75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774907"/>
            <a:ext cx="7772400" cy="188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en-US" altLang="zh-CN" sz="2400" b="1" dirty="0">
                <a:latin typeface="隶书" pitchFamily="49" charset="-122"/>
              </a:rPr>
              <a:t>C</a:t>
            </a:r>
            <a:r>
              <a:rPr kumimoji="1" lang="zh-CN" altLang="zh-CN" sz="2400" b="1" dirty="0">
                <a:latin typeface="隶书" pitchFamily="49" charset="-122"/>
              </a:rPr>
              <a:t>语言中,</a:t>
            </a:r>
            <a:r>
              <a:rPr kumimoji="1" lang="en-US" altLang="zh-CN" sz="2400" b="1" dirty="0">
                <a:latin typeface="隶书" pitchFamily="49" charset="-122"/>
              </a:rPr>
              <a:t> </a:t>
            </a:r>
            <a:r>
              <a:rPr kumimoji="1" lang="zh-CN" altLang="zh-CN" sz="2400" b="1" dirty="0">
                <a:solidFill>
                  <a:srgbClr val="0000FF"/>
                </a:solidFill>
                <a:latin typeface="隶书" pitchFamily="49" charset="-122"/>
              </a:rPr>
              <a:t>运算量:</a:t>
            </a:r>
            <a:r>
              <a:rPr kumimoji="1" lang="zh-CN" altLang="zh-CN" sz="2400" b="1" dirty="0">
                <a:solidFill>
                  <a:srgbClr val="FF0000"/>
                </a:solidFill>
                <a:latin typeface="隶书" pitchFamily="49" charset="-122"/>
              </a:rPr>
              <a:t>    </a:t>
            </a:r>
            <a:r>
              <a:rPr kumimoji="1" lang="en-US" altLang="zh-CN" sz="2400" b="1" dirty="0">
                <a:solidFill>
                  <a:srgbClr val="FF0000"/>
                </a:solidFill>
                <a:latin typeface="隶书" pitchFamily="49" charset="-122"/>
              </a:rPr>
              <a:t>    </a:t>
            </a:r>
            <a:r>
              <a:rPr kumimoji="1" lang="zh-CN" altLang="zh-CN" sz="2400" b="1" dirty="0">
                <a:solidFill>
                  <a:srgbClr val="FF0066"/>
                </a:solidFill>
                <a:latin typeface="隶书" pitchFamily="49" charset="-122"/>
              </a:rPr>
              <a:t>0表示</a:t>
            </a:r>
            <a:r>
              <a:rPr kumimoji="1" lang="zh-CN" altLang="zh-CN" sz="2400" b="1" dirty="0">
                <a:solidFill>
                  <a:srgbClr val="FF0066"/>
                </a:solidFill>
                <a:latin typeface="Times New Roman" pitchFamily="18" charset="0"/>
              </a:rPr>
              <a:t>“</a:t>
            </a:r>
            <a:r>
              <a:rPr kumimoji="1" lang="zh-CN" altLang="zh-CN" sz="2400" b="1" dirty="0">
                <a:solidFill>
                  <a:srgbClr val="FF0066"/>
                </a:solidFill>
                <a:latin typeface="隶书" pitchFamily="49" charset="-122"/>
              </a:rPr>
              <a:t>假</a:t>
            </a:r>
            <a:r>
              <a:rPr kumimoji="1" lang="zh-CN" altLang="zh-CN" sz="2400" b="1" dirty="0">
                <a:solidFill>
                  <a:srgbClr val="FF0066"/>
                </a:solidFill>
                <a:latin typeface="Times New Roman" pitchFamily="18" charset="0"/>
              </a:rPr>
              <a:t>”</a:t>
            </a:r>
            <a:endParaRPr kumimoji="1" lang="zh-CN" altLang="zh-CN" sz="2400" b="1" dirty="0">
              <a:solidFill>
                <a:srgbClr val="FF0066"/>
              </a:solidFill>
              <a:latin typeface="隶书" pitchFamily="49" charset="-122"/>
            </a:endParaRPr>
          </a:p>
          <a:p>
            <a:pPr lvl="3"/>
            <a:r>
              <a:rPr kumimoji="1" lang="zh-CN" altLang="zh-CN" sz="2400" b="1" dirty="0">
                <a:solidFill>
                  <a:srgbClr val="FF0066"/>
                </a:solidFill>
                <a:latin typeface="隶书" pitchFamily="49" charset="-122"/>
              </a:rPr>
              <a:t>                    </a:t>
            </a:r>
            <a:r>
              <a:rPr kumimoji="1" lang="en-US" altLang="zh-CN" sz="2400" b="1" dirty="0">
                <a:solidFill>
                  <a:srgbClr val="FF0066"/>
                </a:solidFill>
                <a:latin typeface="隶书" pitchFamily="49" charset="-122"/>
              </a:rPr>
              <a:t>   </a:t>
            </a:r>
            <a:r>
              <a:rPr kumimoji="1" lang="zh-CN" altLang="zh-CN" sz="2400" b="1" dirty="0">
                <a:solidFill>
                  <a:srgbClr val="FF0066"/>
                </a:solidFill>
                <a:latin typeface="隶书" pitchFamily="49" charset="-122"/>
              </a:rPr>
              <a:t>非0表示</a:t>
            </a:r>
            <a:r>
              <a:rPr kumimoji="1" lang="zh-CN" altLang="zh-CN" sz="2400" b="1" dirty="0">
                <a:solidFill>
                  <a:srgbClr val="FF0066"/>
                </a:solidFill>
                <a:latin typeface="Times New Roman" pitchFamily="18" charset="0"/>
              </a:rPr>
              <a:t>“</a:t>
            </a:r>
            <a:r>
              <a:rPr kumimoji="1" lang="zh-CN" altLang="zh-CN" sz="2400" b="1" dirty="0">
                <a:solidFill>
                  <a:srgbClr val="FF0066"/>
                </a:solidFill>
                <a:latin typeface="隶书" pitchFamily="49" charset="-122"/>
              </a:rPr>
              <a:t>真</a:t>
            </a:r>
            <a:r>
              <a:rPr kumimoji="1" lang="zh-CN" altLang="zh-CN" sz="2400" b="1" dirty="0">
                <a:solidFill>
                  <a:srgbClr val="FF0066"/>
                </a:solidFill>
                <a:latin typeface="Times New Roman" pitchFamily="18" charset="0"/>
              </a:rPr>
              <a:t>”</a:t>
            </a:r>
            <a:endParaRPr kumimoji="1" lang="zh-CN" altLang="zh-CN" sz="2400" b="1" dirty="0">
              <a:solidFill>
                <a:srgbClr val="FF0066"/>
              </a:solidFill>
              <a:latin typeface="隶书" pitchFamily="49" charset="-122"/>
            </a:endParaRPr>
          </a:p>
          <a:p>
            <a:pPr lvl="3"/>
            <a:r>
              <a:rPr kumimoji="1" lang="zh-CN" altLang="zh-CN" sz="2400" b="1" dirty="0">
                <a:solidFill>
                  <a:srgbClr val="FF0000"/>
                </a:solidFill>
                <a:latin typeface="隶书" pitchFamily="49" charset="-122"/>
              </a:rPr>
              <a:t>         </a:t>
            </a:r>
            <a:r>
              <a:rPr kumimoji="1" lang="zh-CN" altLang="zh-CN" sz="2400" b="1" dirty="0">
                <a:solidFill>
                  <a:srgbClr val="0033CC"/>
                </a:solidFill>
                <a:latin typeface="隶书" pitchFamily="49" charset="-122"/>
              </a:rPr>
              <a:t>运算结果:</a:t>
            </a:r>
            <a:r>
              <a:rPr kumimoji="1" lang="zh-CN" altLang="zh-CN" sz="2400" b="1" dirty="0">
                <a:solidFill>
                  <a:srgbClr val="FF0000"/>
                </a:solidFill>
                <a:latin typeface="隶书" pitchFamily="49" charset="-122"/>
              </a:rPr>
              <a:t>   </a:t>
            </a:r>
            <a:r>
              <a:rPr kumimoji="1" lang="en-US" altLang="zh-CN" sz="2400" b="1" dirty="0">
                <a:solidFill>
                  <a:srgbClr val="FF0000"/>
                </a:solidFill>
                <a:latin typeface="隶书" pitchFamily="49" charset="-122"/>
              </a:rPr>
              <a:t> </a:t>
            </a:r>
            <a:r>
              <a:rPr kumimoji="1" lang="zh-CN" altLang="zh-CN" sz="2400" b="1" dirty="0">
                <a:solidFill>
                  <a:srgbClr val="FF0066"/>
                </a:solidFill>
                <a:latin typeface="Times New Roman" pitchFamily="18" charset="0"/>
              </a:rPr>
              <a:t>“</a:t>
            </a:r>
            <a:r>
              <a:rPr kumimoji="1" lang="zh-CN" altLang="zh-CN" sz="2400" b="1" dirty="0">
                <a:solidFill>
                  <a:srgbClr val="FF0066"/>
                </a:solidFill>
                <a:latin typeface="隶书" pitchFamily="49" charset="-122"/>
              </a:rPr>
              <a:t>假</a:t>
            </a:r>
            <a:r>
              <a:rPr kumimoji="1" lang="zh-CN" altLang="zh-CN" sz="2400" b="1" dirty="0">
                <a:solidFill>
                  <a:srgbClr val="FF0066"/>
                </a:solidFill>
                <a:latin typeface="Times New Roman" pitchFamily="18" charset="0"/>
              </a:rPr>
              <a:t>”</a:t>
            </a:r>
            <a:r>
              <a:rPr kumimoji="1" lang="zh-CN" altLang="en-US" sz="2400" b="1" dirty="0">
                <a:solidFill>
                  <a:srgbClr val="FF0066"/>
                </a:solidFill>
                <a:latin typeface="Times New Roman" pitchFamily="18" charset="0"/>
              </a:rPr>
              <a:t>用</a:t>
            </a:r>
            <a:r>
              <a:rPr kumimoji="1" lang="en-US" altLang="zh-CN" sz="2400" b="1" dirty="0">
                <a:solidFill>
                  <a:srgbClr val="FF0066"/>
                </a:solidFill>
                <a:latin typeface="Times New Roman" pitchFamily="18" charset="0"/>
              </a:rPr>
              <a:t>0</a:t>
            </a:r>
            <a:r>
              <a:rPr kumimoji="1" lang="zh-CN" altLang="zh-CN" sz="2400" b="1" dirty="0">
                <a:solidFill>
                  <a:srgbClr val="FF0066"/>
                </a:solidFill>
                <a:latin typeface="隶书" pitchFamily="49" charset="-122"/>
              </a:rPr>
              <a:t>表示</a:t>
            </a:r>
          </a:p>
          <a:p>
            <a:pPr lvl="3"/>
            <a:r>
              <a:rPr kumimoji="1" lang="zh-CN" altLang="zh-CN" sz="2400" b="1" dirty="0">
                <a:solidFill>
                  <a:srgbClr val="FF0066"/>
                </a:solidFill>
                <a:latin typeface="隶书" pitchFamily="49" charset="-122"/>
              </a:rPr>
              <a:t>                     </a:t>
            </a:r>
            <a:r>
              <a:rPr kumimoji="1" lang="zh-CN" altLang="en-US" sz="2400" b="1" dirty="0">
                <a:solidFill>
                  <a:srgbClr val="FF0066"/>
                </a:solidFill>
                <a:latin typeface="隶书" pitchFamily="49" charset="-122"/>
              </a:rPr>
              <a:t> </a:t>
            </a:r>
            <a:r>
              <a:rPr kumimoji="1" lang="zh-CN" altLang="zh-CN" sz="2400" b="1" dirty="0">
                <a:solidFill>
                  <a:srgbClr val="FF0066"/>
                </a:solidFill>
                <a:latin typeface="Times New Roman" pitchFamily="18" charset="0"/>
              </a:rPr>
              <a:t>“</a:t>
            </a:r>
            <a:r>
              <a:rPr kumimoji="1" lang="zh-CN" altLang="zh-CN" sz="2400" b="1" dirty="0">
                <a:solidFill>
                  <a:srgbClr val="FF0066"/>
                </a:solidFill>
                <a:latin typeface="隶书" pitchFamily="49" charset="-122"/>
              </a:rPr>
              <a:t>真</a:t>
            </a:r>
            <a:r>
              <a:rPr kumimoji="1" lang="zh-CN" altLang="zh-CN" sz="2400" b="1" dirty="0">
                <a:solidFill>
                  <a:srgbClr val="FF0066"/>
                </a:solidFill>
                <a:latin typeface="Times New Roman" pitchFamily="18" charset="0"/>
              </a:rPr>
              <a:t>”</a:t>
            </a:r>
            <a:r>
              <a:rPr kumimoji="1" lang="zh-CN" altLang="en-US" sz="2400" b="1" dirty="0">
                <a:solidFill>
                  <a:srgbClr val="FF0066"/>
                </a:solidFill>
                <a:latin typeface="Times New Roman" pitchFamily="18" charset="0"/>
              </a:rPr>
              <a:t>用</a:t>
            </a:r>
            <a:r>
              <a:rPr kumimoji="1" lang="en-US" altLang="zh-CN" sz="2400" b="1" dirty="0">
                <a:solidFill>
                  <a:srgbClr val="FF0066"/>
                </a:solidFill>
                <a:latin typeface="Times New Roman" pitchFamily="18" charset="0"/>
              </a:rPr>
              <a:t>1</a:t>
            </a:r>
            <a:r>
              <a:rPr kumimoji="1" lang="zh-CN" altLang="zh-CN" sz="2400" b="1" dirty="0">
                <a:solidFill>
                  <a:srgbClr val="FF0066"/>
                </a:solidFill>
                <a:latin typeface="隶书" pitchFamily="49" charset="-122"/>
              </a:rPr>
              <a:t>表示</a:t>
            </a:r>
          </a:p>
          <a:p>
            <a:pPr lvl="3"/>
            <a:endParaRPr kumimoji="1" lang="zh-CN" altLang="zh-CN" sz="2400" b="1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grpSp>
        <p:nvGrpSpPr>
          <p:cNvPr id="32" name="Group 32">
            <a:extLst>
              <a:ext uri="{FF2B5EF4-FFF2-40B4-BE49-F238E27FC236}">
                <a16:creationId xmlns:a16="http://schemas.microsoft.com/office/drawing/2014/main" id="{252F3891-7BA8-469C-A889-AEB3922FE2BA}"/>
              </a:ext>
            </a:extLst>
          </p:cNvPr>
          <p:cNvGrpSpPr>
            <a:grpSpLocks/>
          </p:cNvGrpSpPr>
          <p:nvPr/>
        </p:nvGrpSpPr>
        <p:grpSpPr bwMode="auto">
          <a:xfrm>
            <a:off x="6234113" y="2766721"/>
            <a:ext cx="457200" cy="1697038"/>
            <a:chOff x="3711" y="1510"/>
            <a:chExt cx="288" cy="1069"/>
          </a:xfrm>
        </p:grpSpPr>
        <p:sp>
          <p:nvSpPr>
            <p:cNvPr id="33" name="Text Box 33">
              <a:extLst>
                <a:ext uri="{FF2B5EF4-FFF2-40B4-BE49-F238E27FC236}">
                  <a16:creationId xmlns:a16="http://schemas.microsoft.com/office/drawing/2014/main" id="{4DD3CCF8-A47A-43A1-B0BC-F9892615F6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1" y="1510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solidFill>
                    <a:srgbClr val="0000FF"/>
                  </a:solidFill>
                  <a:ea typeface="隶书" pitchFamily="49" charset="-122"/>
                </a:rPr>
                <a:t>真</a:t>
              </a:r>
            </a:p>
          </p:txBody>
        </p:sp>
        <p:sp>
          <p:nvSpPr>
            <p:cNvPr id="34" name="Text Box 34">
              <a:extLst>
                <a:ext uri="{FF2B5EF4-FFF2-40B4-BE49-F238E27FC236}">
                  <a16:creationId xmlns:a16="http://schemas.microsoft.com/office/drawing/2014/main" id="{B6465D40-66EC-4768-B0CA-F303C335E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1" y="2326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solidFill>
                    <a:srgbClr val="0000FF"/>
                  </a:solidFill>
                  <a:ea typeface="隶书" pitchFamily="49" charset="-122"/>
                </a:rPr>
                <a:t>假</a:t>
              </a:r>
            </a:p>
          </p:txBody>
        </p:sp>
        <p:sp>
          <p:nvSpPr>
            <p:cNvPr id="35" name="Text Box 35">
              <a:extLst>
                <a:ext uri="{FF2B5EF4-FFF2-40B4-BE49-F238E27FC236}">
                  <a16:creationId xmlns:a16="http://schemas.microsoft.com/office/drawing/2014/main" id="{CF3D3182-E70D-4ADC-80E4-13894867BD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1" y="1786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solidFill>
                    <a:srgbClr val="0000FF"/>
                  </a:solidFill>
                  <a:ea typeface="隶书" pitchFamily="49" charset="-122"/>
                </a:rPr>
                <a:t>假</a:t>
              </a:r>
            </a:p>
          </p:txBody>
        </p:sp>
        <p:sp>
          <p:nvSpPr>
            <p:cNvPr id="36" name="Text Box 36">
              <a:extLst>
                <a:ext uri="{FF2B5EF4-FFF2-40B4-BE49-F238E27FC236}">
                  <a16:creationId xmlns:a16="http://schemas.microsoft.com/office/drawing/2014/main" id="{5E518F12-642F-48C5-AD6C-36213B90DA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3" y="2086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solidFill>
                    <a:srgbClr val="0000FF"/>
                  </a:solidFill>
                  <a:ea typeface="隶书" pitchFamily="49" charset="-122"/>
                </a:rPr>
                <a:t>假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CBA2B138-E9BC-4B47-A2AD-D35996589E66}"/>
              </a:ext>
            </a:extLst>
          </p:cNvPr>
          <p:cNvGrpSpPr>
            <a:grpSpLocks/>
          </p:cNvGrpSpPr>
          <p:nvPr/>
        </p:nvGrpSpPr>
        <p:grpSpPr bwMode="auto">
          <a:xfrm>
            <a:off x="4319589" y="2766721"/>
            <a:ext cx="457200" cy="1697038"/>
            <a:chOff x="2505" y="1510"/>
            <a:chExt cx="288" cy="1069"/>
          </a:xfrm>
        </p:grpSpPr>
        <p:sp>
          <p:nvSpPr>
            <p:cNvPr id="38" name="Text Box 38">
              <a:extLst>
                <a:ext uri="{FF2B5EF4-FFF2-40B4-BE49-F238E27FC236}">
                  <a16:creationId xmlns:a16="http://schemas.microsoft.com/office/drawing/2014/main" id="{10F8768B-8D06-41FD-9BF8-A7C84C9F5C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5" y="1510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solidFill>
                    <a:srgbClr val="333300"/>
                  </a:solidFill>
                  <a:ea typeface="隶书" pitchFamily="49" charset="-122"/>
                </a:rPr>
                <a:t>假</a:t>
              </a:r>
            </a:p>
          </p:txBody>
        </p:sp>
        <p:sp>
          <p:nvSpPr>
            <p:cNvPr id="39" name="Text Box 39">
              <a:extLst>
                <a:ext uri="{FF2B5EF4-FFF2-40B4-BE49-F238E27FC236}">
                  <a16:creationId xmlns:a16="http://schemas.microsoft.com/office/drawing/2014/main" id="{540E8A3C-31AC-4F5B-839E-9B140C3D66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5" y="1786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 dirty="0">
                  <a:solidFill>
                    <a:srgbClr val="333300"/>
                  </a:solidFill>
                  <a:ea typeface="隶书" pitchFamily="49" charset="-122"/>
                </a:rPr>
                <a:t>假</a:t>
              </a:r>
            </a:p>
          </p:txBody>
        </p:sp>
        <p:sp>
          <p:nvSpPr>
            <p:cNvPr id="40" name="Text Box 40">
              <a:extLst>
                <a:ext uri="{FF2B5EF4-FFF2-40B4-BE49-F238E27FC236}">
                  <a16:creationId xmlns:a16="http://schemas.microsoft.com/office/drawing/2014/main" id="{D341411A-52AC-4A07-8673-D07913470B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5" y="2326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 dirty="0">
                  <a:solidFill>
                    <a:srgbClr val="333300"/>
                  </a:solidFill>
                  <a:ea typeface="隶书" pitchFamily="49" charset="-122"/>
                </a:rPr>
                <a:t>真</a:t>
              </a:r>
            </a:p>
          </p:txBody>
        </p:sp>
        <p:sp>
          <p:nvSpPr>
            <p:cNvPr id="41" name="Text Box 41">
              <a:extLst>
                <a:ext uri="{FF2B5EF4-FFF2-40B4-BE49-F238E27FC236}">
                  <a16:creationId xmlns:a16="http://schemas.microsoft.com/office/drawing/2014/main" id="{8D39F768-E77A-4B07-B211-E541AF6EDC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7" y="2086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solidFill>
                    <a:srgbClr val="333300"/>
                  </a:solidFill>
                  <a:ea typeface="隶书" pitchFamily="49" charset="-122"/>
                </a:rPr>
                <a:t>真</a:t>
              </a:r>
            </a:p>
          </p:txBody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C8829456-18BC-4FD0-B7DB-A2AB9C1E28A5}"/>
              </a:ext>
            </a:extLst>
          </p:cNvPr>
          <p:cNvGrpSpPr>
            <a:grpSpLocks/>
          </p:cNvGrpSpPr>
          <p:nvPr/>
        </p:nvGrpSpPr>
        <p:grpSpPr bwMode="auto">
          <a:xfrm>
            <a:off x="5253039" y="2766721"/>
            <a:ext cx="457200" cy="1697038"/>
            <a:chOff x="3093" y="1510"/>
            <a:chExt cx="288" cy="1069"/>
          </a:xfrm>
        </p:grpSpPr>
        <p:sp>
          <p:nvSpPr>
            <p:cNvPr id="43" name="Text Box 43">
              <a:extLst>
                <a:ext uri="{FF2B5EF4-FFF2-40B4-BE49-F238E27FC236}">
                  <a16:creationId xmlns:a16="http://schemas.microsoft.com/office/drawing/2014/main" id="{7930AACE-E092-41C8-B2F5-A2C06220E0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3" y="1510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solidFill>
                    <a:srgbClr val="333300"/>
                  </a:solidFill>
                  <a:ea typeface="隶书" pitchFamily="49" charset="-122"/>
                </a:rPr>
                <a:t>假</a:t>
              </a:r>
            </a:p>
          </p:txBody>
        </p:sp>
        <p:sp>
          <p:nvSpPr>
            <p:cNvPr id="44" name="Text Box 44">
              <a:extLst>
                <a:ext uri="{FF2B5EF4-FFF2-40B4-BE49-F238E27FC236}">
                  <a16:creationId xmlns:a16="http://schemas.microsoft.com/office/drawing/2014/main" id="{1018FE1D-EC2A-48A1-8DE2-D0D5E01A6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5" y="2086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solidFill>
                    <a:srgbClr val="333300"/>
                  </a:solidFill>
                  <a:ea typeface="隶书" pitchFamily="49" charset="-122"/>
                </a:rPr>
                <a:t>假</a:t>
              </a:r>
            </a:p>
          </p:txBody>
        </p:sp>
        <p:sp>
          <p:nvSpPr>
            <p:cNvPr id="45" name="Text Box 45">
              <a:extLst>
                <a:ext uri="{FF2B5EF4-FFF2-40B4-BE49-F238E27FC236}">
                  <a16:creationId xmlns:a16="http://schemas.microsoft.com/office/drawing/2014/main" id="{88E3664F-9A2A-4078-B4B5-3E2B21E9A9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3" y="2326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solidFill>
                    <a:srgbClr val="333300"/>
                  </a:solidFill>
                  <a:ea typeface="隶书" pitchFamily="49" charset="-122"/>
                </a:rPr>
                <a:t>真</a:t>
              </a:r>
            </a:p>
          </p:txBody>
        </p:sp>
        <p:sp>
          <p:nvSpPr>
            <p:cNvPr id="46" name="Text Box 46">
              <a:extLst>
                <a:ext uri="{FF2B5EF4-FFF2-40B4-BE49-F238E27FC236}">
                  <a16:creationId xmlns:a16="http://schemas.microsoft.com/office/drawing/2014/main" id="{B90F0F8F-6AC2-41EE-B740-CE5F90E8A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3" y="1786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solidFill>
                    <a:srgbClr val="333300"/>
                  </a:solidFill>
                  <a:ea typeface="隶书" pitchFamily="49" charset="-122"/>
                </a:rPr>
                <a:t>真</a:t>
              </a:r>
            </a:p>
          </p:txBody>
        </p:sp>
      </p:grpSp>
      <p:grpSp>
        <p:nvGrpSpPr>
          <p:cNvPr id="47" name="Group 47">
            <a:extLst>
              <a:ext uri="{FF2B5EF4-FFF2-40B4-BE49-F238E27FC236}">
                <a16:creationId xmlns:a16="http://schemas.microsoft.com/office/drawing/2014/main" id="{FA630E4C-C485-49D8-9A95-A844CFDAF23C}"/>
              </a:ext>
            </a:extLst>
          </p:cNvPr>
          <p:cNvGrpSpPr>
            <a:grpSpLocks/>
          </p:cNvGrpSpPr>
          <p:nvPr/>
        </p:nvGrpSpPr>
        <p:grpSpPr bwMode="auto">
          <a:xfrm>
            <a:off x="7177089" y="2766721"/>
            <a:ext cx="457200" cy="1697038"/>
            <a:chOff x="4305" y="1510"/>
            <a:chExt cx="288" cy="1069"/>
          </a:xfrm>
        </p:grpSpPr>
        <p:sp>
          <p:nvSpPr>
            <p:cNvPr id="48" name="Text Box 48">
              <a:extLst>
                <a:ext uri="{FF2B5EF4-FFF2-40B4-BE49-F238E27FC236}">
                  <a16:creationId xmlns:a16="http://schemas.microsoft.com/office/drawing/2014/main" id="{EE0C8CB5-8688-472A-9BFE-4668E6766C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5" y="1510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solidFill>
                    <a:srgbClr val="FF0000"/>
                  </a:solidFill>
                  <a:ea typeface="隶书" pitchFamily="49" charset="-122"/>
                </a:rPr>
                <a:t>真</a:t>
              </a:r>
            </a:p>
          </p:txBody>
        </p:sp>
        <p:sp>
          <p:nvSpPr>
            <p:cNvPr id="49" name="Text Box 49">
              <a:extLst>
                <a:ext uri="{FF2B5EF4-FFF2-40B4-BE49-F238E27FC236}">
                  <a16:creationId xmlns:a16="http://schemas.microsoft.com/office/drawing/2014/main" id="{1EC7F640-955A-46E8-AC1F-530D74BCD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5" y="2326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solidFill>
                    <a:srgbClr val="FF0000"/>
                  </a:solidFill>
                  <a:ea typeface="隶书" pitchFamily="49" charset="-122"/>
                </a:rPr>
                <a:t>假</a:t>
              </a:r>
            </a:p>
          </p:txBody>
        </p:sp>
        <p:sp>
          <p:nvSpPr>
            <p:cNvPr id="50" name="Text Box 50">
              <a:extLst>
                <a:ext uri="{FF2B5EF4-FFF2-40B4-BE49-F238E27FC236}">
                  <a16:creationId xmlns:a16="http://schemas.microsoft.com/office/drawing/2014/main" id="{FAC77240-AF20-4304-9042-4BBC5E3F9C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5" y="1786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solidFill>
                    <a:srgbClr val="FF0000"/>
                  </a:solidFill>
                  <a:ea typeface="隶书" pitchFamily="49" charset="-122"/>
                </a:rPr>
                <a:t>真</a:t>
              </a:r>
            </a:p>
          </p:txBody>
        </p:sp>
        <p:sp>
          <p:nvSpPr>
            <p:cNvPr id="51" name="Text Box 51">
              <a:extLst>
                <a:ext uri="{FF2B5EF4-FFF2-40B4-BE49-F238E27FC236}">
                  <a16:creationId xmlns:a16="http://schemas.microsoft.com/office/drawing/2014/main" id="{3A0A45D3-4AB4-4EC3-9D80-B993C53036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7" y="2086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solidFill>
                    <a:srgbClr val="FF0000"/>
                  </a:solidFill>
                  <a:ea typeface="隶书" pitchFamily="49" charset="-122"/>
                </a:rPr>
                <a:t>真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9E5E61E-4FD9-4AE6-B826-12DEB7CE9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AAAD3D3-3A27-4B1B-ABE5-D22FF9140952}"/>
              </a:ext>
            </a:extLst>
          </p:cNvPr>
          <p:cNvSpPr txBox="1"/>
          <p:nvPr/>
        </p:nvSpPr>
        <p:spPr>
          <a:xfrm>
            <a:off x="3271428" y="61229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逻辑运算符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134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uiExpand="1" build="p" bldLvl="4" autoUpdateAnimBg="0"/>
      <p:bldP spid="31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65A9B95-DDD9-4CF9-B837-AD75E7316039}"/>
              </a:ext>
            </a:extLst>
          </p:cNvPr>
          <p:cNvGrpSpPr>
            <a:grpSpLocks/>
          </p:cNvGrpSpPr>
          <p:nvPr/>
        </p:nvGrpSpPr>
        <p:grpSpPr bwMode="auto">
          <a:xfrm>
            <a:off x="3094038" y="1054199"/>
            <a:ext cx="1924050" cy="2247900"/>
            <a:chOff x="953" y="725"/>
            <a:chExt cx="1212" cy="141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D532E73-CABD-4193-B2D0-D2570A795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" y="736"/>
              <a:ext cx="1212" cy="14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endParaRPr kumimoji="1" lang="zh-CN" altLang="zh-CN" sz="4000">
                <a:latin typeface="Times New Roman" pitchFamily="18" charset="0"/>
              </a:endParaRPr>
            </a:p>
          </p:txBody>
        </p:sp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FC516DCB-60CD-41C9-B017-E9D8186572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8" y="725"/>
              <a:ext cx="685" cy="1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endParaRPr kumimoji="1" lang="en-US" altLang="zh-CN" sz="2000" dirty="0">
                <a:latin typeface="Times New Roman" pitchFamily="18" charset="0"/>
              </a:endParaRPr>
            </a:p>
            <a:p>
              <a:r>
                <a:rPr kumimoji="1" lang="en-US" altLang="zh-CN" sz="2000" b="1" dirty="0">
                  <a:latin typeface="Times New Roman" pitchFamily="18" charset="0"/>
                </a:rPr>
                <a:t>!       </a:t>
              </a:r>
              <a:r>
                <a:rPr kumimoji="1" lang="en-US" altLang="zh-CN" sz="2000" b="1" dirty="0">
                  <a:solidFill>
                    <a:srgbClr val="333300"/>
                  </a:solidFill>
                  <a:latin typeface="Times New Roman" pitchFamily="18" charset="0"/>
                </a:rPr>
                <a:t>(2)</a:t>
              </a:r>
            </a:p>
            <a:p>
              <a:endParaRPr kumimoji="1" lang="en-US" altLang="zh-CN" sz="2000" b="1" dirty="0">
                <a:solidFill>
                  <a:srgbClr val="333300"/>
                </a:solidFill>
                <a:latin typeface="Times New Roman" pitchFamily="18" charset="0"/>
              </a:endParaRPr>
            </a:p>
            <a:p>
              <a:r>
                <a:rPr kumimoji="1" lang="en-US" altLang="zh-CN" sz="2000" b="1" dirty="0">
                  <a:solidFill>
                    <a:srgbClr val="333300"/>
                  </a:solidFill>
                  <a:latin typeface="Times New Roman" pitchFamily="18" charset="0"/>
                </a:rPr>
                <a:t>&amp;&amp; (11)</a:t>
              </a:r>
            </a:p>
            <a:p>
              <a:endParaRPr kumimoji="1" lang="en-US" altLang="zh-CN" sz="2000" b="1" dirty="0">
                <a:solidFill>
                  <a:srgbClr val="333300"/>
                </a:solidFill>
                <a:latin typeface="Times New Roman" pitchFamily="18" charset="0"/>
              </a:endParaRPr>
            </a:p>
            <a:p>
              <a:r>
                <a:rPr kumimoji="1" lang="en-US" altLang="zh-CN" sz="2000" b="1" dirty="0">
                  <a:solidFill>
                    <a:srgbClr val="333300"/>
                  </a:solidFill>
                  <a:latin typeface="Times New Roman" pitchFamily="18" charset="0"/>
                </a:rPr>
                <a:t>||     (12)</a:t>
              </a:r>
              <a:endParaRPr kumimoji="1" lang="en-US" altLang="zh-CN" sz="4000" b="1" dirty="0">
                <a:solidFill>
                  <a:srgbClr val="333300"/>
                </a:solidFill>
                <a:latin typeface="Times New Roman" pitchFamily="18" charset="0"/>
              </a:endParaRPr>
            </a:p>
          </p:txBody>
        </p:sp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5B396384-8D53-4F61-8EB6-1924BD075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4" y="1050"/>
              <a:ext cx="27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itchFamily="18" charset="0"/>
                </a:rPr>
                <a:t>高</a:t>
              </a:r>
              <a:endParaRPr kumimoji="1" lang="zh-CN" altLang="en-US" sz="4000" b="1">
                <a:latin typeface="Times New Roman" pitchFamily="18" charset="0"/>
              </a:endParaRPr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4B34F0EF-6CBC-41A7-9D66-358C9181C9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4" y="1638"/>
              <a:ext cx="27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itchFamily="18" charset="0"/>
                </a:rPr>
                <a:t>低</a:t>
              </a:r>
              <a:endParaRPr kumimoji="1" lang="zh-CN" altLang="en-US" sz="4000" b="1">
                <a:latin typeface="Times New Roman" pitchFamily="18" charset="0"/>
              </a:endParaRP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C2EAC072-892F-4D2B-8E0A-4D2B35E7D3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8" y="991"/>
              <a:ext cx="0" cy="8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" name="Text Box 8">
            <a:extLst>
              <a:ext uri="{FF2B5EF4-FFF2-40B4-BE49-F238E27FC236}">
                <a16:creationId xmlns:a16="http://schemas.microsoft.com/office/drawing/2014/main" id="{1C53101C-AD2F-4517-B1EF-34510A7E8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90" y="3513235"/>
            <a:ext cx="7951787" cy="194117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zh-CN" altLang="en-US" sz="2400" b="1">
                <a:latin typeface="隶书" pitchFamily="49" charset="-122"/>
                <a:ea typeface="隶书" pitchFamily="49" charset="-122"/>
              </a:rPr>
              <a:t>例   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a&lt;=x &amp;&amp; x&lt;=b</a:t>
            </a:r>
            <a:endParaRPr kumimoji="1" lang="en-US" altLang="zh-CN" sz="2400" b="1">
              <a:latin typeface="隶书" pitchFamily="49" charset="-122"/>
              <a:ea typeface="隶书" pitchFamily="49" charset="-122"/>
            </a:endParaRPr>
          </a:p>
          <a:p>
            <a:pPr lvl="3"/>
            <a:r>
              <a:rPr kumimoji="1" lang="en-US" altLang="zh-CN" sz="2400" b="1">
                <a:latin typeface="隶书" pitchFamily="49" charset="-122"/>
                <a:ea typeface="隶书" pitchFamily="49" charset="-122"/>
              </a:rPr>
              <a:t>     </a:t>
            </a:r>
            <a:r>
              <a:rPr kumimoji="1" lang="en-US" altLang="zh-CN" sz="2400" b="1">
                <a:latin typeface="Times New Roman" pitchFamily="18" charset="0"/>
                <a:ea typeface="隶书" pitchFamily="49" charset="-122"/>
              </a:rPr>
              <a:t>a&gt;b&amp;&amp;x&gt;y</a:t>
            </a:r>
            <a:endParaRPr kumimoji="1" lang="en-US" altLang="zh-CN" sz="2400" b="1">
              <a:solidFill>
                <a:srgbClr val="0000FF"/>
              </a:solidFill>
              <a:latin typeface="Times New Roman" pitchFamily="18" charset="0"/>
              <a:ea typeface="隶书" pitchFamily="49" charset="-122"/>
            </a:endParaRPr>
          </a:p>
          <a:p>
            <a:pPr lvl="3"/>
            <a:r>
              <a:rPr kumimoji="1" lang="en-US" altLang="zh-CN" sz="2400" b="1">
                <a:latin typeface="Times New Roman" pitchFamily="18" charset="0"/>
                <a:ea typeface="隶书" pitchFamily="49" charset="-122"/>
              </a:rPr>
              <a:t>          a==b||x==y</a:t>
            </a:r>
            <a:endParaRPr kumimoji="1" lang="en-US" altLang="zh-CN" sz="2400" b="1">
              <a:solidFill>
                <a:srgbClr val="0000FF"/>
              </a:solidFill>
              <a:latin typeface="Times New Roman" pitchFamily="18" charset="0"/>
              <a:ea typeface="隶书" pitchFamily="49" charset="-122"/>
            </a:endParaRPr>
          </a:p>
          <a:p>
            <a:pPr lvl="3"/>
            <a:r>
              <a:rPr kumimoji="1" lang="en-US" altLang="zh-CN" sz="2400" b="1">
                <a:latin typeface="Times New Roman" pitchFamily="18" charset="0"/>
                <a:ea typeface="隶书" pitchFamily="49" charset="-122"/>
              </a:rPr>
              <a:t>          !a||a&gt;b</a:t>
            </a:r>
            <a:endParaRPr kumimoji="1" lang="en-US" altLang="zh-CN" sz="2400" b="1">
              <a:solidFill>
                <a:srgbClr val="0000FF"/>
              </a:solidFill>
              <a:latin typeface="隶书" pitchFamily="49" charset="-122"/>
              <a:ea typeface="隶书" pitchFamily="49" charset="-122"/>
            </a:endParaRPr>
          </a:p>
          <a:p>
            <a:pPr eaLnBrk="1" hangingPunct="1"/>
            <a:endParaRPr kumimoji="1" lang="en-US" altLang="zh-CN" sz="2400" b="1"/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066BD6AF-C88C-4970-838E-76A3B20C2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1262160"/>
            <a:ext cx="18886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FF9933"/>
              </a:buClr>
              <a:buFont typeface="Wingdings" pitchFamily="2" charset="2"/>
              <a:buChar char="l"/>
            </a:pPr>
            <a:r>
              <a:rPr kumimoji="1" lang="zh-CN" altLang="en-US" sz="2800" dirty="0">
                <a:ea typeface="隶书" pitchFamily="49" charset="-122"/>
              </a:rPr>
              <a:t>优先级：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D71BF696-899C-4190-8D2B-20543C5F3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0614" y="1986060"/>
            <a:ext cx="2247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FF9933"/>
              </a:buClr>
              <a:buFont typeface="Wingdings" pitchFamily="2" charset="2"/>
              <a:buChar char="l"/>
            </a:pPr>
            <a:r>
              <a:rPr kumimoji="1" lang="zh-CN" altLang="en-US" sz="2800">
                <a:ea typeface="隶书" pitchFamily="49" charset="-122"/>
              </a:rPr>
              <a:t>结合方向：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2650344-0825-4B6C-AC1B-8127B11DA328}"/>
              </a:ext>
            </a:extLst>
          </p:cNvPr>
          <p:cNvGrpSpPr>
            <a:grpSpLocks/>
          </p:cNvGrpSpPr>
          <p:nvPr/>
        </p:nvGrpSpPr>
        <p:grpSpPr bwMode="auto">
          <a:xfrm>
            <a:off x="5580065" y="1036735"/>
            <a:ext cx="2135188" cy="2247900"/>
            <a:chOff x="3833" y="257"/>
            <a:chExt cx="1345" cy="141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63D392-4075-4EE4-B1F5-A31860145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268"/>
              <a:ext cx="1332" cy="14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endParaRPr kumimoji="1" lang="zh-CN" altLang="zh-CN" sz="4000">
                <a:latin typeface="Times New Roman" pitchFamily="18" charset="0"/>
              </a:endParaRP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221155FF-A8DD-4166-A4DE-A30B5F0AFA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8" y="257"/>
              <a:ext cx="1170" cy="1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endParaRPr kumimoji="1" lang="en-US" altLang="zh-CN" sz="2000" dirty="0">
                <a:latin typeface="Times New Roman" pitchFamily="18" charset="0"/>
              </a:endParaRPr>
            </a:p>
            <a:p>
              <a:r>
                <a:rPr kumimoji="1" lang="en-US" altLang="zh-CN" sz="2000" b="1" dirty="0">
                  <a:latin typeface="Times New Roman" pitchFamily="18" charset="0"/>
                </a:rPr>
                <a:t>!       </a:t>
              </a:r>
              <a:r>
                <a:rPr kumimoji="1" lang="en-US" altLang="zh-CN" sz="2000" b="1" dirty="0">
                  <a:solidFill>
                    <a:srgbClr val="FF0000"/>
                  </a:solidFill>
                  <a:latin typeface="Times New Roman" pitchFamily="18" charset="0"/>
                </a:rPr>
                <a:t>:</a:t>
              </a:r>
              <a:r>
                <a:rPr kumimoji="1" lang="zh-CN" altLang="en-US" sz="2000" b="1" dirty="0">
                  <a:solidFill>
                    <a:srgbClr val="FF0000"/>
                  </a:solidFill>
                  <a:latin typeface="Times New Roman" pitchFamily="18" charset="0"/>
                </a:rPr>
                <a:t>从右向左</a:t>
              </a:r>
              <a:endParaRPr kumimoji="1" lang="zh-CN" altLang="en-US" sz="2000" b="1" dirty="0">
                <a:latin typeface="Times New Roman" pitchFamily="18" charset="0"/>
              </a:endParaRPr>
            </a:p>
            <a:p>
              <a:endParaRPr kumimoji="1" lang="zh-CN" altLang="en-US" sz="2000" b="1" dirty="0">
                <a:latin typeface="Times New Roman" pitchFamily="18" charset="0"/>
              </a:endParaRPr>
            </a:p>
            <a:p>
              <a:r>
                <a:rPr kumimoji="1" lang="en-US" altLang="zh-CN" sz="2000" b="1" dirty="0">
                  <a:latin typeface="Times New Roman" pitchFamily="18" charset="0"/>
                </a:rPr>
                <a:t>&amp;&amp;  :</a:t>
              </a:r>
              <a:r>
                <a:rPr kumimoji="1" lang="zh-CN" altLang="en-US" sz="2000" b="1" dirty="0">
                  <a:solidFill>
                    <a:srgbClr val="0000FF"/>
                  </a:solidFill>
                  <a:latin typeface="Times New Roman" pitchFamily="18" charset="0"/>
                </a:rPr>
                <a:t>从左向右</a:t>
              </a:r>
              <a:endParaRPr kumimoji="1" lang="zh-CN" altLang="en-US" sz="2000" b="1" dirty="0">
                <a:latin typeface="Times New Roman" pitchFamily="18" charset="0"/>
              </a:endParaRPr>
            </a:p>
            <a:p>
              <a:endParaRPr kumimoji="1" lang="zh-CN" altLang="en-US" sz="2000" b="1" dirty="0">
                <a:latin typeface="Times New Roman" pitchFamily="18" charset="0"/>
              </a:endParaRPr>
            </a:p>
            <a:p>
              <a:r>
                <a:rPr kumimoji="1" lang="en-US" altLang="zh-CN" sz="2000" b="1" dirty="0">
                  <a:latin typeface="Times New Roman" pitchFamily="18" charset="0"/>
                </a:rPr>
                <a:t>||      :</a:t>
              </a:r>
              <a:r>
                <a:rPr kumimoji="1" lang="zh-CN" altLang="en-US" sz="2000" b="1" dirty="0">
                  <a:solidFill>
                    <a:srgbClr val="0000FF"/>
                  </a:solidFill>
                  <a:latin typeface="Times New Roman" pitchFamily="18" charset="0"/>
                </a:rPr>
                <a:t>从左向右</a:t>
              </a:r>
              <a:endParaRPr kumimoji="1" lang="zh-CN" altLang="en-US" sz="2000" b="1" dirty="0">
                <a:solidFill>
                  <a:schemeClr val="folHlink"/>
                </a:solidFill>
                <a:latin typeface="Times New Roman" pitchFamily="18" charset="0"/>
              </a:endParaRPr>
            </a:p>
          </p:txBody>
        </p:sp>
      </p:grpSp>
      <p:sp>
        <p:nvSpPr>
          <p:cNvPr id="15" name="Text Box 16">
            <a:extLst>
              <a:ext uri="{FF2B5EF4-FFF2-40B4-BE49-F238E27FC236}">
                <a16:creationId xmlns:a16="http://schemas.microsoft.com/office/drawing/2014/main" id="{6BB5DA43-E4EC-4D5B-AABD-3810954A9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4763" y="3538635"/>
            <a:ext cx="299182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 // (a&lt;=x) &amp;&amp; (x&lt;=b)  </a:t>
            </a: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2FC91212-A9DF-46FA-BDC7-9ABA2F63A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4763" y="3919726"/>
            <a:ext cx="2183909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 dirty="0">
                <a:solidFill>
                  <a:srgbClr val="0000FF"/>
                </a:solidFill>
                <a:latin typeface="Times New Roman" pitchFamily="18" charset="0"/>
                <a:ea typeface="隶书" pitchFamily="49" charset="-122"/>
              </a:rPr>
              <a:t>//(a&gt;b)&amp;&amp;(x&gt;y)</a:t>
            </a: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5F606C3E-9164-443D-A257-997C2E1CE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2215" y="4270615"/>
            <a:ext cx="2174291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 dirty="0">
                <a:solidFill>
                  <a:srgbClr val="0000FF"/>
                </a:solidFill>
                <a:latin typeface="Times New Roman" pitchFamily="18" charset="0"/>
                <a:ea typeface="隶书" pitchFamily="49" charset="-122"/>
              </a:rPr>
              <a:t>//(a==b)||(x==y)</a:t>
            </a:r>
          </a:p>
        </p:txBody>
      </p:sp>
      <p:sp>
        <p:nvSpPr>
          <p:cNvPr id="18" name="Text Box 19">
            <a:extLst>
              <a:ext uri="{FF2B5EF4-FFF2-40B4-BE49-F238E27FC236}">
                <a16:creationId xmlns:a16="http://schemas.microsoft.com/office/drawing/2014/main" id="{DA792EF5-FB7D-4BED-A4DC-670FAF1B3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8864" y="4662005"/>
            <a:ext cx="1585988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 dirty="0">
                <a:solidFill>
                  <a:srgbClr val="0000FF"/>
                </a:solidFill>
                <a:latin typeface="Times New Roman" pitchFamily="18" charset="0"/>
                <a:ea typeface="隶书" pitchFamily="49" charset="-122"/>
              </a:rPr>
              <a:t>//(!a)||(a&gt;b)</a:t>
            </a:r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CD9B6EA7-5911-418E-8024-8FC66D866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CA08DA4-2E7E-4048-AE88-CFA241AFC2B9}"/>
              </a:ext>
            </a:extLst>
          </p:cNvPr>
          <p:cNvSpPr txBox="1"/>
          <p:nvPr/>
        </p:nvSpPr>
        <p:spPr>
          <a:xfrm>
            <a:off x="3271428" y="61229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逻辑运算符及表达式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054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utoUpdateAnimBg="0"/>
      <p:bldP spid="10" grpId="0" build="p" autoUpdateAnimBg="0"/>
      <p:bldP spid="11" grpId="0" build="p" autoUpdateAnimBg="0"/>
      <p:bldP spid="15" grpId="0" build="p" autoUpdateAnimBg="0"/>
      <p:bldP spid="16" grpId="0" build="p" autoUpdateAnimBg="0"/>
      <p:bldP spid="17" grpId="0" build="p" autoUpdateAnimBg="0"/>
      <p:bldP spid="18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BFEBF4B-AD88-4CC2-BB7E-574FEF739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3429713"/>
            <a:ext cx="7773988" cy="29257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zh-CN" altLang="en-US" sz="2400" b="1" dirty="0">
                <a:latin typeface="Times New Roman" pitchFamily="18" charset="0"/>
              </a:rPr>
              <a:t>例  </a:t>
            </a:r>
            <a:r>
              <a:rPr kumimoji="1" lang="en-US" altLang="zh-CN" sz="2400" b="1" dirty="0">
                <a:latin typeface="Times New Roman" pitchFamily="18" charset="0"/>
              </a:rPr>
              <a:t>a=4;b=5;</a:t>
            </a:r>
          </a:p>
          <a:p>
            <a:pPr lvl="3"/>
            <a:r>
              <a:rPr kumimoji="1" lang="en-US" altLang="zh-CN" sz="2400" b="1" dirty="0">
                <a:latin typeface="Times New Roman" pitchFamily="18" charset="0"/>
              </a:rPr>
              <a:t>     !a</a:t>
            </a:r>
          </a:p>
          <a:p>
            <a:pPr lvl="3"/>
            <a:r>
              <a:rPr kumimoji="1" lang="en-US" altLang="zh-CN" sz="2400" b="1" dirty="0">
                <a:latin typeface="Times New Roman" pitchFamily="18" charset="0"/>
              </a:rPr>
              <a:t>     a&amp;&amp;b</a:t>
            </a:r>
          </a:p>
          <a:p>
            <a:pPr lvl="3"/>
            <a:r>
              <a:rPr kumimoji="1" lang="en-US" altLang="zh-CN" sz="2400" b="1" dirty="0">
                <a:latin typeface="Times New Roman" pitchFamily="18" charset="0"/>
              </a:rPr>
              <a:t>     a||b</a:t>
            </a:r>
            <a:endParaRPr kumimoji="1" lang="en-US" altLang="zh-CN" sz="2400" b="1" dirty="0">
              <a:solidFill>
                <a:srgbClr val="0000FF"/>
              </a:solidFill>
              <a:latin typeface="Times New Roman" pitchFamily="18" charset="0"/>
            </a:endParaRPr>
          </a:p>
          <a:p>
            <a:pPr lvl="3"/>
            <a:r>
              <a:rPr kumimoji="1" lang="en-US" altLang="zh-CN" sz="2400" b="1" dirty="0">
                <a:latin typeface="Times New Roman" pitchFamily="18" charset="0"/>
              </a:rPr>
              <a:t>     !a||b</a:t>
            </a:r>
            <a:endParaRPr kumimoji="1" lang="en-US" altLang="zh-CN" sz="2400" b="1" dirty="0">
              <a:solidFill>
                <a:srgbClr val="0000FF"/>
              </a:solidFill>
              <a:latin typeface="Times New Roman" pitchFamily="18" charset="0"/>
            </a:endParaRPr>
          </a:p>
          <a:p>
            <a:pPr lvl="3"/>
            <a:r>
              <a:rPr kumimoji="1" lang="en-US" altLang="zh-CN" sz="2400" b="1" dirty="0">
                <a:latin typeface="Times New Roman" pitchFamily="18" charset="0"/>
              </a:rPr>
              <a:t>     4&amp;&amp;0||2</a:t>
            </a:r>
            <a:endParaRPr kumimoji="1" lang="en-US" altLang="zh-CN" sz="2400" b="1" dirty="0">
              <a:solidFill>
                <a:srgbClr val="0000FF"/>
              </a:solidFill>
              <a:latin typeface="Times New Roman" pitchFamily="18" charset="0"/>
            </a:endParaRPr>
          </a:p>
          <a:p>
            <a:pPr lvl="3"/>
            <a:r>
              <a:rPr kumimoji="1" lang="en-US" altLang="zh-CN" sz="2400" b="1" dirty="0">
                <a:latin typeface="Times New Roman" pitchFamily="18" charset="0"/>
              </a:rPr>
              <a:t>     5&gt;3&amp;&amp;2||8&lt;4-!0</a:t>
            </a:r>
            <a:endParaRPr kumimoji="1" lang="en-US" altLang="zh-CN" sz="2400" b="1" dirty="0">
              <a:solidFill>
                <a:srgbClr val="0000FF"/>
              </a:solidFill>
              <a:latin typeface="Times New Roman" pitchFamily="18" charset="0"/>
            </a:endParaRPr>
          </a:p>
          <a:p>
            <a:pPr lvl="3"/>
            <a:r>
              <a:rPr kumimoji="1" lang="en-US" altLang="zh-CN" sz="2400" b="1" dirty="0">
                <a:latin typeface="Times New Roman" pitchFamily="18" charset="0"/>
              </a:rPr>
              <a:t>     </a:t>
            </a:r>
            <a:r>
              <a:rPr kumimoji="1" lang="en-US" altLang="zh-CN" sz="2400" dirty="0">
                <a:solidFill>
                  <a:srgbClr val="000000"/>
                </a:solidFill>
              </a:rPr>
              <a:t>'</a:t>
            </a:r>
            <a:r>
              <a:rPr kumimoji="1" lang="en-US" altLang="zh-CN" sz="2400" b="1" dirty="0">
                <a:latin typeface="Times New Roman" pitchFamily="18" charset="0"/>
              </a:rPr>
              <a:t>c</a:t>
            </a:r>
            <a:r>
              <a:rPr kumimoji="1" lang="en-US" altLang="zh-CN" sz="2400" dirty="0">
                <a:solidFill>
                  <a:srgbClr val="000000"/>
                </a:solidFill>
              </a:rPr>
              <a:t>'</a:t>
            </a:r>
            <a:r>
              <a:rPr kumimoji="1" lang="en-US" altLang="zh-CN" sz="2400" b="1" dirty="0">
                <a:latin typeface="Times New Roman" pitchFamily="18" charset="0"/>
              </a:rPr>
              <a:t>&amp;&amp;</a:t>
            </a:r>
            <a:r>
              <a:rPr kumimoji="1" lang="en-US" altLang="zh-CN" sz="2400" dirty="0">
                <a:solidFill>
                  <a:srgbClr val="000000"/>
                </a:solidFill>
              </a:rPr>
              <a:t>'</a:t>
            </a:r>
            <a:r>
              <a:rPr kumimoji="1" lang="en-US" altLang="zh-CN" sz="2400" b="1" dirty="0">
                <a:latin typeface="Times New Roman" pitchFamily="18" charset="0"/>
              </a:rPr>
              <a:t>d</a:t>
            </a:r>
            <a:r>
              <a:rPr kumimoji="1" lang="en-US" altLang="zh-CN" sz="2400" dirty="0">
                <a:solidFill>
                  <a:srgbClr val="000000"/>
                </a:solidFill>
              </a:rPr>
              <a:t>'</a:t>
            </a:r>
            <a:endParaRPr kumimoji="1" lang="en-US" altLang="zh-CN" sz="2400" b="1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87579BD2-184D-4F00-833E-FBE2AA2C1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1050" y="4183778"/>
            <a:ext cx="822959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zh-CN" sz="2000">
                <a:solidFill>
                  <a:srgbClr val="0000FF"/>
                </a:solidFill>
                <a:latin typeface="Times New Roman" pitchFamily="18" charset="0"/>
              </a:rPr>
              <a:t>值为1</a:t>
            </a:r>
            <a:endParaRPr kumimoji="1" lang="en-US" altLang="zh-CN" sz="200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FBFA6F73-3114-4F5D-861F-DA38EA5FC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1050" y="3834527"/>
            <a:ext cx="822959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zh-CN" sz="2000" dirty="0">
                <a:solidFill>
                  <a:srgbClr val="0000FF"/>
                </a:solidFill>
                <a:latin typeface="Times New Roman" pitchFamily="18" charset="0"/>
              </a:rPr>
              <a:t>值为0</a:t>
            </a:r>
            <a:endParaRPr kumimoji="1" lang="en-US" altLang="zh-CN" sz="2000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133755CB-0CBD-4AAB-863D-116B1CAA4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6625" y="4901327"/>
            <a:ext cx="822959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zh-CN" sz="2000" dirty="0">
                <a:solidFill>
                  <a:srgbClr val="0000FF"/>
                </a:solidFill>
                <a:latin typeface="Times New Roman" pitchFamily="18" charset="0"/>
              </a:rPr>
              <a:t>值为1</a:t>
            </a:r>
            <a:endParaRPr kumimoji="1" lang="en-US" altLang="zh-CN" sz="2000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18" name="Text Box 19">
            <a:extLst>
              <a:ext uri="{FF2B5EF4-FFF2-40B4-BE49-F238E27FC236}">
                <a16:creationId xmlns:a16="http://schemas.microsoft.com/office/drawing/2014/main" id="{F2A945DA-584F-43A4-84CC-3E5DF32C8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6235" y="5240762"/>
            <a:ext cx="822959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zh-CN" sz="2000" dirty="0">
                <a:solidFill>
                  <a:srgbClr val="0000FF"/>
                </a:solidFill>
                <a:latin typeface="Times New Roman" pitchFamily="18" charset="0"/>
              </a:rPr>
              <a:t>值为1</a:t>
            </a:r>
            <a:endParaRPr kumimoji="1" lang="en-US" altLang="zh-CN" sz="2000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0730D842-CC55-4673-94E6-00F7F8AC2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1835" y="6045482"/>
            <a:ext cx="822959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zh-CN" sz="2000" dirty="0">
                <a:solidFill>
                  <a:srgbClr val="0000FF"/>
                </a:solidFill>
                <a:latin typeface="Times New Roman" pitchFamily="18" charset="0"/>
              </a:rPr>
              <a:t>值为1</a:t>
            </a:r>
            <a:endParaRPr kumimoji="1" lang="en-US" altLang="zh-CN" sz="2000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D8D23AF7-FAEB-4ED0-8AC7-9427AC1E6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595" y="4548613"/>
            <a:ext cx="822959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zh-CN" sz="2000" dirty="0">
                <a:solidFill>
                  <a:srgbClr val="0000FF"/>
                </a:solidFill>
                <a:latin typeface="Times New Roman" pitchFamily="18" charset="0"/>
              </a:rPr>
              <a:t>值为1</a:t>
            </a:r>
            <a:endParaRPr kumimoji="1" lang="en-US" altLang="zh-CN" sz="2000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515CE566-DE61-4DB3-86F7-66D192024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013" y="5669678"/>
            <a:ext cx="3564094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zh-CN" sz="2000">
                <a:solidFill>
                  <a:srgbClr val="0000FF"/>
                </a:solidFill>
                <a:latin typeface="Times New Roman" pitchFamily="18" charset="0"/>
              </a:rPr>
              <a:t>//(5&gt;3)&amp;&amp;2||(8&lt;(4-(!0)))   值为1</a:t>
            </a:r>
            <a:endParaRPr kumimoji="1" lang="en-US" altLang="zh-CN" sz="200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23" name="灯片编号占位符 22">
            <a:extLst>
              <a:ext uri="{FF2B5EF4-FFF2-40B4-BE49-F238E27FC236}">
                <a16:creationId xmlns:a16="http://schemas.microsoft.com/office/drawing/2014/main" id="{B0BD6183-763A-4D83-A0BA-780F3958E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9752B12-476E-444A-B36C-46695A836258}"/>
              </a:ext>
            </a:extLst>
          </p:cNvPr>
          <p:cNvSpPr txBox="1"/>
          <p:nvPr/>
        </p:nvSpPr>
        <p:spPr>
          <a:xfrm>
            <a:off x="3271428" y="61229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>
                <a:schemeClr val="tx2"/>
              </a:buClr>
              <a:buSzPct val="70000"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逻辑运算符及表达式</a:t>
            </a: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25F3FEEF-E6E9-4499-ADFC-1711CB95881A}"/>
              </a:ext>
            </a:extLst>
          </p:cNvPr>
          <p:cNvGrpSpPr>
            <a:grpSpLocks/>
          </p:cNvGrpSpPr>
          <p:nvPr/>
        </p:nvGrpSpPr>
        <p:grpSpPr bwMode="auto">
          <a:xfrm>
            <a:off x="3094038" y="1054199"/>
            <a:ext cx="1924050" cy="2247900"/>
            <a:chOff x="953" y="725"/>
            <a:chExt cx="1212" cy="1416"/>
          </a:xfrm>
        </p:grpSpPr>
        <p:sp>
          <p:nvSpPr>
            <p:cNvPr id="26" name="Rectangle 3">
              <a:extLst>
                <a:ext uri="{FF2B5EF4-FFF2-40B4-BE49-F238E27FC236}">
                  <a16:creationId xmlns:a16="http://schemas.microsoft.com/office/drawing/2014/main" id="{579A4E90-EE45-4C3B-B088-E1A86E641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" y="736"/>
              <a:ext cx="1212" cy="14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endParaRPr kumimoji="1" lang="zh-CN" altLang="zh-CN" sz="4000">
                <a:latin typeface="Times New Roman" pitchFamily="18" charset="0"/>
              </a:endParaRPr>
            </a:p>
          </p:txBody>
        </p:sp>
        <p:sp>
          <p:nvSpPr>
            <p:cNvPr id="27" name="Text Box 4">
              <a:extLst>
                <a:ext uri="{FF2B5EF4-FFF2-40B4-BE49-F238E27FC236}">
                  <a16:creationId xmlns:a16="http://schemas.microsoft.com/office/drawing/2014/main" id="{C4E1CD8D-006C-41AB-A94A-0D6A4EAEC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8" y="725"/>
              <a:ext cx="685" cy="1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endParaRPr kumimoji="1" lang="en-US" altLang="zh-CN" sz="2000" dirty="0">
                <a:latin typeface="Times New Roman" pitchFamily="18" charset="0"/>
              </a:endParaRPr>
            </a:p>
            <a:p>
              <a:r>
                <a:rPr kumimoji="1" lang="en-US" altLang="zh-CN" sz="2000" b="1" dirty="0">
                  <a:latin typeface="Times New Roman" pitchFamily="18" charset="0"/>
                </a:rPr>
                <a:t>!       </a:t>
              </a:r>
              <a:r>
                <a:rPr kumimoji="1" lang="en-US" altLang="zh-CN" sz="2000" b="1" dirty="0">
                  <a:solidFill>
                    <a:srgbClr val="333300"/>
                  </a:solidFill>
                  <a:latin typeface="Times New Roman" pitchFamily="18" charset="0"/>
                </a:rPr>
                <a:t>(2)</a:t>
              </a:r>
            </a:p>
            <a:p>
              <a:endParaRPr kumimoji="1" lang="en-US" altLang="zh-CN" sz="2000" b="1" dirty="0">
                <a:solidFill>
                  <a:srgbClr val="333300"/>
                </a:solidFill>
                <a:latin typeface="Times New Roman" pitchFamily="18" charset="0"/>
              </a:endParaRPr>
            </a:p>
            <a:p>
              <a:r>
                <a:rPr kumimoji="1" lang="en-US" altLang="zh-CN" sz="2000" b="1" dirty="0">
                  <a:solidFill>
                    <a:srgbClr val="333300"/>
                  </a:solidFill>
                  <a:latin typeface="Times New Roman" pitchFamily="18" charset="0"/>
                </a:rPr>
                <a:t>&amp;&amp; (11)</a:t>
              </a:r>
            </a:p>
            <a:p>
              <a:endParaRPr kumimoji="1" lang="en-US" altLang="zh-CN" sz="2000" b="1" dirty="0">
                <a:solidFill>
                  <a:srgbClr val="333300"/>
                </a:solidFill>
                <a:latin typeface="Times New Roman" pitchFamily="18" charset="0"/>
              </a:endParaRPr>
            </a:p>
            <a:p>
              <a:r>
                <a:rPr kumimoji="1" lang="en-US" altLang="zh-CN" sz="2000" b="1" dirty="0">
                  <a:solidFill>
                    <a:srgbClr val="333300"/>
                  </a:solidFill>
                  <a:latin typeface="Times New Roman" pitchFamily="18" charset="0"/>
                </a:rPr>
                <a:t>||     (12)</a:t>
              </a:r>
              <a:endParaRPr kumimoji="1" lang="en-US" altLang="zh-CN" sz="4000" b="1" dirty="0">
                <a:solidFill>
                  <a:srgbClr val="333300"/>
                </a:solidFill>
                <a:latin typeface="Times New Roman" pitchFamily="18" charset="0"/>
              </a:endParaRPr>
            </a:p>
          </p:txBody>
        </p:sp>
        <p:sp>
          <p:nvSpPr>
            <p:cNvPr id="28" name="Text Box 5">
              <a:extLst>
                <a:ext uri="{FF2B5EF4-FFF2-40B4-BE49-F238E27FC236}">
                  <a16:creationId xmlns:a16="http://schemas.microsoft.com/office/drawing/2014/main" id="{6EE5B93E-6518-414B-B2FD-FDEEF8AB86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4" y="1050"/>
              <a:ext cx="27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itchFamily="18" charset="0"/>
                </a:rPr>
                <a:t>高</a:t>
              </a:r>
              <a:endParaRPr kumimoji="1" lang="zh-CN" altLang="en-US" sz="4000" b="1">
                <a:latin typeface="Times New Roman" pitchFamily="18" charset="0"/>
              </a:endParaRPr>
            </a:p>
          </p:txBody>
        </p:sp>
        <p:sp>
          <p:nvSpPr>
            <p:cNvPr id="29" name="Text Box 6">
              <a:extLst>
                <a:ext uri="{FF2B5EF4-FFF2-40B4-BE49-F238E27FC236}">
                  <a16:creationId xmlns:a16="http://schemas.microsoft.com/office/drawing/2014/main" id="{F205F813-4D94-458A-8896-48639A7606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4" y="1638"/>
              <a:ext cx="27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itchFamily="18" charset="0"/>
                </a:rPr>
                <a:t>低</a:t>
              </a:r>
              <a:endParaRPr kumimoji="1" lang="zh-CN" altLang="en-US" sz="4000" b="1">
                <a:latin typeface="Times New Roman" pitchFamily="18" charset="0"/>
              </a:endParaRPr>
            </a:p>
          </p:txBody>
        </p:sp>
        <p:sp>
          <p:nvSpPr>
            <p:cNvPr id="30" name="Line 7">
              <a:extLst>
                <a:ext uri="{FF2B5EF4-FFF2-40B4-BE49-F238E27FC236}">
                  <a16:creationId xmlns:a16="http://schemas.microsoft.com/office/drawing/2014/main" id="{1903044C-C896-4940-ABF7-CF7D457DF5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8" y="991"/>
              <a:ext cx="0" cy="8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" name="Text Box 9">
            <a:extLst>
              <a:ext uri="{FF2B5EF4-FFF2-40B4-BE49-F238E27FC236}">
                <a16:creationId xmlns:a16="http://schemas.microsoft.com/office/drawing/2014/main" id="{E827A9F2-5CFF-4D23-BAF3-631D746E8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1262160"/>
            <a:ext cx="18886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FF9933"/>
              </a:buClr>
              <a:buFont typeface="Wingdings" pitchFamily="2" charset="2"/>
              <a:buChar char="l"/>
            </a:pPr>
            <a:r>
              <a:rPr kumimoji="1" lang="zh-CN" altLang="en-US" sz="2800" dirty="0">
                <a:ea typeface="隶书" pitchFamily="49" charset="-122"/>
              </a:rPr>
              <a:t>优先级：</a:t>
            </a:r>
          </a:p>
        </p:txBody>
      </p:sp>
      <p:sp>
        <p:nvSpPr>
          <p:cNvPr id="32" name="Text Box 10">
            <a:extLst>
              <a:ext uri="{FF2B5EF4-FFF2-40B4-BE49-F238E27FC236}">
                <a16:creationId xmlns:a16="http://schemas.microsoft.com/office/drawing/2014/main" id="{12B6F1C0-8600-4D27-A2AA-1238EE531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0614" y="1986060"/>
            <a:ext cx="2247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FF9933"/>
              </a:buClr>
              <a:buFont typeface="Wingdings" pitchFamily="2" charset="2"/>
              <a:buChar char="l"/>
            </a:pPr>
            <a:r>
              <a:rPr kumimoji="1" lang="zh-CN" altLang="en-US" sz="2800">
                <a:ea typeface="隶书" pitchFamily="49" charset="-122"/>
              </a:rPr>
              <a:t>结合方向：</a:t>
            </a:r>
          </a:p>
        </p:txBody>
      </p:sp>
      <p:grpSp>
        <p:nvGrpSpPr>
          <p:cNvPr id="33" name="Group 11">
            <a:extLst>
              <a:ext uri="{FF2B5EF4-FFF2-40B4-BE49-F238E27FC236}">
                <a16:creationId xmlns:a16="http://schemas.microsoft.com/office/drawing/2014/main" id="{F38432D9-7016-49DE-B437-34432DF718AE}"/>
              </a:ext>
            </a:extLst>
          </p:cNvPr>
          <p:cNvGrpSpPr>
            <a:grpSpLocks/>
          </p:cNvGrpSpPr>
          <p:nvPr/>
        </p:nvGrpSpPr>
        <p:grpSpPr bwMode="auto">
          <a:xfrm>
            <a:off x="5580065" y="1036735"/>
            <a:ext cx="2135188" cy="2247900"/>
            <a:chOff x="3833" y="257"/>
            <a:chExt cx="1345" cy="1416"/>
          </a:xfrm>
        </p:grpSpPr>
        <p:sp>
          <p:nvSpPr>
            <p:cNvPr id="34" name="Rectangle 12">
              <a:extLst>
                <a:ext uri="{FF2B5EF4-FFF2-40B4-BE49-F238E27FC236}">
                  <a16:creationId xmlns:a16="http://schemas.microsoft.com/office/drawing/2014/main" id="{32C6B9DB-5854-432C-B00E-8BB39864E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268"/>
              <a:ext cx="1332" cy="14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endParaRPr kumimoji="1" lang="zh-CN" altLang="zh-CN" sz="4000">
                <a:latin typeface="Times New Roman" pitchFamily="18" charset="0"/>
              </a:endParaRPr>
            </a:p>
          </p:txBody>
        </p:sp>
        <p:sp>
          <p:nvSpPr>
            <p:cNvPr id="35" name="Text Box 13">
              <a:extLst>
                <a:ext uri="{FF2B5EF4-FFF2-40B4-BE49-F238E27FC236}">
                  <a16:creationId xmlns:a16="http://schemas.microsoft.com/office/drawing/2014/main" id="{5CA42ECB-5015-4882-AE6E-A011DDA8C3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8" y="257"/>
              <a:ext cx="1170" cy="1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endParaRPr kumimoji="1" lang="en-US" altLang="zh-CN" sz="2000" dirty="0">
                <a:latin typeface="Times New Roman" pitchFamily="18" charset="0"/>
              </a:endParaRPr>
            </a:p>
            <a:p>
              <a:r>
                <a:rPr kumimoji="1" lang="en-US" altLang="zh-CN" sz="2000" b="1" dirty="0">
                  <a:latin typeface="Times New Roman" pitchFamily="18" charset="0"/>
                </a:rPr>
                <a:t>!       </a:t>
              </a:r>
              <a:r>
                <a:rPr kumimoji="1" lang="en-US" altLang="zh-CN" sz="2000" b="1" dirty="0">
                  <a:solidFill>
                    <a:srgbClr val="FF0000"/>
                  </a:solidFill>
                  <a:latin typeface="Times New Roman" pitchFamily="18" charset="0"/>
                </a:rPr>
                <a:t>:</a:t>
              </a:r>
              <a:r>
                <a:rPr kumimoji="1" lang="zh-CN" altLang="en-US" sz="2000" b="1" dirty="0">
                  <a:solidFill>
                    <a:srgbClr val="FF0000"/>
                  </a:solidFill>
                  <a:latin typeface="Times New Roman" pitchFamily="18" charset="0"/>
                </a:rPr>
                <a:t>从右向左</a:t>
              </a:r>
              <a:endParaRPr kumimoji="1" lang="zh-CN" altLang="en-US" sz="2000" b="1" dirty="0">
                <a:latin typeface="Times New Roman" pitchFamily="18" charset="0"/>
              </a:endParaRPr>
            </a:p>
            <a:p>
              <a:endParaRPr kumimoji="1" lang="zh-CN" altLang="en-US" sz="2000" b="1" dirty="0">
                <a:latin typeface="Times New Roman" pitchFamily="18" charset="0"/>
              </a:endParaRPr>
            </a:p>
            <a:p>
              <a:r>
                <a:rPr kumimoji="1" lang="en-US" altLang="zh-CN" sz="2000" b="1" dirty="0">
                  <a:latin typeface="Times New Roman" pitchFamily="18" charset="0"/>
                </a:rPr>
                <a:t>&amp;&amp;  :</a:t>
              </a:r>
              <a:r>
                <a:rPr kumimoji="1" lang="zh-CN" altLang="en-US" sz="2000" b="1" dirty="0">
                  <a:solidFill>
                    <a:srgbClr val="0000FF"/>
                  </a:solidFill>
                  <a:latin typeface="Times New Roman" pitchFamily="18" charset="0"/>
                </a:rPr>
                <a:t>从左向右</a:t>
              </a:r>
              <a:endParaRPr kumimoji="1" lang="zh-CN" altLang="en-US" sz="2000" b="1" dirty="0">
                <a:latin typeface="Times New Roman" pitchFamily="18" charset="0"/>
              </a:endParaRPr>
            </a:p>
            <a:p>
              <a:endParaRPr kumimoji="1" lang="zh-CN" altLang="en-US" sz="2000" b="1" dirty="0">
                <a:latin typeface="Times New Roman" pitchFamily="18" charset="0"/>
              </a:endParaRPr>
            </a:p>
            <a:p>
              <a:r>
                <a:rPr kumimoji="1" lang="en-US" altLang="zh-CN" sz="2000" b="1" dirty="0">
                  <a:latin typeface="Times New Roman" pitchFamily="18" charset="0"/>
                </a:rPr>
                <a:t>||      :</a:t>
              </a:r>
              <a:r>
                <a:rPr kumimoji="1" lang="zh-CN" altLang="en-US" sz="2000" b="1" dirty="0">
                  <a:solidFill>
                    <a:srgbClr val="0000FF"/>
                  </a:solidFill>
                  <a:latin typeface="Times New Roman" pitchFamily="18" charset="0"/>
                </a:rPr>
                <a:t>从左向右</a:t>
              </a:r>
              <a:endParaRPr kumimoji="1" lang="zh-CN" altLang="en-US" sz="2000" b="1" dirty="0">
                <a:solidFill>
                  <a:schemeClr val="folHlink"/>
                </a:solidFill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2465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 autoUpdateAnimBg="0"/>
      <p:bldP spid="15" grpId="0" build="p" autoUpdateAnimBg="0"/>
      <p:bldP spid="16" grpId="0" build="p" autoUpdateAnimBg="0"/>
      <p:bldP spid="17" grpId="0" build="p" autoUpdateAnimBg="0"/>
      <p:bldP spid="18" grpId="0" build="p" autoUpdateAnimBg="0"/>
      <p:bldP spid="19" grpId="0" build="p" autoUpdateAnimBg="0"/>
      <p:bldP spid="20" grpId="0" build="p" autoUpdateAnimBg="0"/>
      <p:bldP spid="21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3">
            <a:extLst>
              <a:ext uri="{FF2B5EF4-FFF2-40B4-BE49-F238E27FC236}">
                <a16:creationId xmlns:a16="http://schemas.microsoft.com/office/drawing/2014/main" id="{8ECA5968-E191-40AA-9E90-79A711D47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3322549"/>
            <a:ext cx="89916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</a:rPr>
              <a:t>短路特性</a:t>
            </a:r>
            <a:r>
              <a:rPr kumimoji="1" lang="zh-CN" altLang="en-US" sz="2400" b="1">
                <a:latin typeface="Times New Roman" pitchFamily="18" charset="0"/>
              </a:rPr>
              <a:t>：逻辑表达式求解时，并非所有的逻辑运算符都被执行，只是在必须执行下一个逻辑运算符才能求出表达式的解时，才执行该运算符</a:t>
            </a: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BBCFC5A6-B0FF-4314-912C-37881FE3C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54" y="4590961"/>
            <a:ext cx="9180513" cy="261610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zh-CN" altLang="en-US" sz="2400" b="1" dirty="0">
                <a:latin typeface="Times New Roman" pitchFamily="18" charset="0"/>
              </a:rPr>
              <a:t>例  </a:t>
            </a:r>
            <a:r>
              <a:rPr kumimoji="1" lang="en-US" altLang="zh-CN" sz="2400" b="1" dirty="0">
                <a:latin typeface="Times New Roman" pitchFamily="18" charset="0"/>
              </a:rPr>
              <a:t>a&amp;&amp;b&amp;&amp;c    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//</a:t>
            </a:r>
            <a:r>
              <a:rPr kumimoji="1" lang="zh-CN" altLang="zh-CN" sz="2400" b="1" dirty="0">
                <a:solidFill>
                  <a:srgbClr val="0000FF"/>
                </a:solidFill>
                <a:latin typeface="Times New Roman" pitchFamily="18" charset="0"/>
              </a:rPr>
              <a:t>只在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a</a:t>
            </a:r>
            <a:r>
              <a:rPr kumimoji="1" lang="zh-CN" altLang="zh-CN" sz="2400" b="1" dirty="0">
                <a:solidFill>
                  <a:srgbClr val="0000FF"/>
                </a:solidFill>
                <a:latin typeface="Times New Roman" pitchFamily="18" charset="0"/>
              </a:rPr>
              <a:t>为真时，才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计算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b</a:t>
            </a:r>
            <a:r>
              <a:rPr kumimoji="1" lang="zh-CN" altLang="zh-CN" sz="2400" b="1" dirty="0">
                <a:solidFill>
                  <a:srgbClr val="0000FF"/>
                </a:solidFill>
                <a:latin typeface="Times New Roman" pitchFamily="18" charset="0"/>
              </a:rPr>
              <a:t>的值；</a:t>
            </a:r>
          </a:p>
          <a:p>
            <a:pPr lvl="3"/>
            <a:r>
              <a:rPr kumimoji="1" lang="zh-CN" altLang="zh-CN" sz="2400" b="1" dirty="0">
                <a:latin typeface="Times New Roman" pitchFamily="18" charset="0"/>
              </a:rPr>
              <a:t>                                 </a:t>
            </a:r>
            <a:r>
              <a:rPr kumimoji="1" lang="zh-CN" altLang="zh-CN" sz="2400" b="1" dirty="0">
                <a:solidFill>
                  <a:srgbClr val="0000FF"/>
                </a:solidFill>
                <a:latin typeface="Times New Roman" pitchFamily="18" charset="0"/>
              </a:rPr>
              <a:t>只在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a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、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b</a:t>
            </a:r>
            <a:r>
              <a:rPr kumimoji="1" lang="zh-CN" altLang="zh-CN" sz="2400" b="1" dirty="0">
                <a:solidFill>
                  <a:srgbClr val="0000FF"/>
                </a:solidFill>
                <a:latin typeface="Times New Roman" pitchFamily="18" charset="0"/>
              </a:rPr>
              <a:t>都为真时，才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计算</a:t>
            </a:r>
            <a:r>
              <a:rPr kumimoji="1" lang="zh-CN" altLang="zh-CN" sz="2400" b="1" dirty="0">
                <a:solidFill>
                  <a:srgbClr val="0000FF"/>
                </a:solidFill>
                <a:latin typeface="Times New Roman" pitchFamily="18" charset="0"/>
              </a:rPr>
              <a:t>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c</a:t>
            </a:r>
            <a:r>
              <a:rPr kumimoji="1" lang="zh-CN" altLang="zh-CN" sz="2400" b="1" dirty="0">
                <a:solidFill>
                  <a:srgbClr val="0000FF"/>
                </a:solidFill>
                <a:latin typeface="Times New Roman" pitchFamily="18" charset="0"/>
              </a:rPr>
              <a:t>的值</a:t>
            </a:r>
            <a:endParaRPr kumimoji="1" lang="zh-CN" altLang="zh-CN" sz="2400" b="1" dirty="0">
              <a:latin typeface="Times New Roman" pitchFamily="18" charset="0"/>
            </a:endParaRPr>
          </a:p>
          <a:p>
            <a:pPr lvl="3"/>
            <a:r>
              <a:rPr kumimoji="1" lang="zh-CN" altLang="zh-CN" sz="2400" b="1" dirty="0">
                <a:latin typeface="Times New Roman" pitchFamily="18" charset="0"/>
              </a:rPr>
              <a:t>例  </a:t>
            </a:r>
            <a:r>
              <a:rPr kumimoji="1" lang="en-US" altLang="zh-CN" sz="2400" b="1" dirty="0">
                <a:latin typeface="Times New Roman" pitchFamily="18" charset="0"/>
              </a:rPr>
              <a:t>a||b||c             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//</a:t>
            </a:r>
            <a:r>
              <a:rPr kumimoji="1" lang="zh-CN" altLang="zh-CN" sz="2400" b="1" dirty="0">
                <a:solidFill>
                  <a:srgbClr val="0000FF"/>
                </a:solidFill>
                <a:latin typeface="Times New Roman" pitchFamily="18" charset="0"/>
              </a:rPr>
              <a:t>只在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a</a:t>
            </a:r>
            <a:r>
              <a:rPr kumimoji="1" lang="zh-CN" altLang="zh-CN" sz="2400" b="1" dirty="0">
                <a:solidFill>
                  <a:srgbClr val="0000FF"/>
                </a:solidFill>
                <a:latin typeface="Times New Roman" pitchFamily="18" charset="0"/>
              </a:rPr>
              <a:t>为假时，才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计算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b</a:t>
            </a:r>
            <a:r>
              <a:rPr kumimoji="1" lang="zh-CN" altLang="zh-CN" sz="2400" b="1" dirty="0">
                <a:solidFill>
                  <a:srgbClr val="0000FF"/>
                </a:solidFill>
                <a:latin typeface="Times New Roman" pitchFamily="18" charset="0"/>
              </a:rPr>
              <a:t>的值；</a:t>
            </a:r>
          </a:p>
          <a:p>
            <a:pPr lvl="3"/>
            <a:r>
              <a:rPr kumimoji="1" lang="zh-CN" altLang="zh-CN" sz="2400" b="1" dirty="0">
                <a:latin typeface="Times New Roman" pitchFamily="18" charset="0"/>
              </a:rPr>
              <a:t>                                 </a:t>
            </a:r>
            <a:r>
              <a:rPr kumimoji="1" lang="zh-CN" altLang="zh-CN" sz="2400" b="1" dirty="0">
                <a:solidFill>
                  <a:srgbClr val="0000FF"/>
                </a:solidFill>
                <a:latin typeface="Times New Roman" pitchFamily="18" charset="0"/>
              </a:rPr>
              <a:t>只在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a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、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b</a:t>
            </a:r>
            <a:r>
              <a:rPr kumimoji="1" lang="zh-CN" altLang="zh-CN" sz="2400" b="1" dirty="0">
                <a:solidFill>
                  <a:srgbClr val="0000FF"/>
                </a:solidFill>
                <a:latin typeface="Times New Roman" pitchFamily="18" charset="0"/>
              </a:rPr>
              <a:t>都为假时，才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计算</a:t>
            </a:r>
            <a:r>
              <a:rPr kumimoji="1" lang="zh-CN" altLang="zh-CN" sz="2400" b="1" dirty="0">
                <a:solidFill>
                  <a:srgbClr val="0000FF"/>
                </a:solidFill>
                <a:latin typeface="Times New Roman" pitchFamily="18" charset="0"/>
              </a:rPr>
              <a:t>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c</a:t>
            </a:r>
            <a:r>
              <a:rPr kumimoji="1" lang="zh-CN" altLang="zh-CN" sz="2400" b="1" dirty="0">
                <a:solidFill>
                  <a:srgbClr val="0000FF"/>
                </a:solidFill>
                <a:latin typeface="Times New Roman" pitchFamily="18" charset="0"/>
              </a:rPr>
              <a:t>的值</a:t>
            </a:r>
            <a:endParaRPr kumimoji="1" lang="zh-CN" altLang="en-US" sz="2400" b="1" dirty="0">
              <a:solidFill>
                <a:srgbClr val="0000FF"/>
              </a:solidFill>
              <a:latin typeface="Times New Roman" pitchFamily="18" charset="0"/>
            </a:endParaRPr>
          </a:p>
          <a:p>
            <a:pPr lvl="3"/>
            <a:r>
              <a:rPr kumimoji="1" lang="zh-CN" altLang="en-US" sz="2400" b="1" dirty="0">
                <a:latin typeface="Times New Roman" pitchFamily="18" charset="0"/>
              </a:rPr>
              <a:t>例  </a:t>
            </a:r>
            <a:r>
              <a:rPr kumimoji="1" lang="en-US" altLang="zh-CN" sz="2400" b="1" dirty="0">
                <a:latin typeface="Times New Roman" pitchFamily="18" charset="0"/>
              </a:rPr>
              <a:t>a=1;b=2;c=3;d=4;m=1;n=1;</a:t>
            </a:r>
          </a:p>
          <a:p>
            <a:pPr lvl="3"/>
            <a:r>
              <a:rPr kumimoji="1" lang="en-US" altLang="zh-CN" sz="2400" b="1" dirty="0">
                <a:latin typeface="Times New Roman" pitchFamily="18" charset="0"/>
              </a:rPr>
              <a:t>     (m=a&gt;b)&amp;&amp;(n=c&gt;d)</a:t>
            </a:r>
            <a:endParaRPr kumimoji="1" lang="en-US" altLang="zh-CN" sz="2400" b="1" dirty="0">
              <a:solidFill>
                <a:srgbClr val="0000FF"/>
              </a:solidFill>
              <a:latin typeface="Times New Roman" pitchFamily="18" charset="0"/>
            </a:endParaRPr>
          </a:p>
          <a:p>
            <a:pPr eaLnBrk="1" hangingPunct="1"/>
            <a:endParaRPr kumimoji="1" lang="en-US" altLang="zh-CN" sz="2000" b="1" dirty="0"/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314D80B6-089A-47B2-9FD9-1AADB4276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6432" y="6432461"/>
            <a:ext cx="209093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FF"/>
                </a:solidFill>
                <a:latin typeface="Times New Roman" pitchFamily="18" charset="0"/>
              </a:rPr>
              <a:t>//</a:t>
            </a:r>
            <a:r>
              <a:rPr kumimoji="1" lang="zh-CN" altLang="zh-CN" sz="2400">
                <a:solidFill>
                  <a:srgbClr val="0000FF"/>
                </a:solidFill>
                <a:latin typeface="Times New Roman" pitchFamily="18" charset="0"/>
              </a:rPr>
              <a:t>结果</a:t>
            </a:r>
            <a:r>
              <a:rPr kumimoji="1" lang="en-US" altLang="zh-CN" sz="2400">
                <a:solidFill>
                  <a:srgbClr val="0000FF"/>
                </a:solidFill>
                <a:latin typeface="Times New Roman" pitchFamily="18" charset="0"/>
              </a:rPr>
              <a:t>m=0,n=1</a:t>
            </a:r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A5C9579E-2B25-4163-A8A2-118AA5024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CED22E6-F53A-41E3-9BBC-00F0F260A588}"/>
              </a:ext>
            </a:extLst>
          </p:cNvPr>
          <p:cNvSpPr txBox="1"/>
          <p:nvPr/>
        </p:nvSpPr>
        <p:spPr>
          <a:xfrm>
            <a:off x="3271428" y="61229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逻辑运算符及表达式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grpSp>
        <p:nvGrpSpPr>
          <p:cNvPr id="20" name="Group 2">
            <a:extLst>
              <a:ext uri="{FF2B5EF4-FFF2-40B4-BE49-F238E27FC236}">
                <a16:creationId xmlns:a16="http://schemas.microsoft.com/office/drawing/2014/main" id="{9D8DD7DA-B14A-49F7-9C91-50A181A3A8E7}"/>
              </a:ext>
            </a:extLst>
          </p:cNvPr>
          <p:cNvGrpSpPr>
            <a:grpSpLocks/>
          </p:cNvGrpSpPr>
          <p:nvPr/>
        </p:nvGrpSpPr>
        <p:grpSpPr bwMode="auto">
          <a:xfrm>
            <a:off x="3094038" y="1054199"/>
            <a:ext cx="1924050" cy="2247900"/>
            <a:chOff x="953" y="725"/>
            <a:chExt cx="1212" cy="1416"/>
          </a:xfrm>
        </p:grpSpPr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DEA9E601-4E24-4B3D-B3D2-434D73675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" y="736"/>
              <a:ext cx="1212" cy="14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endParaRPr kumimoji="1" lang="zh-CN" altLang="zh-CN" sz="4000">
                <a:latin typeface="Times New Roman" pitchFamily="18" charset="0"/>
              </a:endParaRPr>
            </a:p>
          </p:txBody>
        </p:sp>
        <p:sp>
          <p:nvSpPr>
            <p:cNvPr id="22" name="Text Box 4">
              <a:extLst>
                <a:ext uri="{FF2B5EF4-FFF2-40B4-BE49-F238E27FC236}">
                  <a16:creationId xmlns:a16="http://schemas.microsoft.com/office/drawing/2014/main" id="{1A2BDE77-9EF0-4CEC-BC75-E3E6DB6669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8" y="725"/>
              <a:ext cx="685" cy="1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endParaRPr kumimoji="1" lang="en-US" altLang="zh-CN" sz="2000" dirty="0">
                <a:latin typeface="Times New Roman" pitchFamily="18" charset="0"/>
              </a:endParaRPr>
            </a:p>
            <a:p>
              <a:r>
                <a:rPr kumimoji="1" lang="en-US" altLang="zh-CN" sz="2000" b="1" dirty="0">
                  <a:latin typeface="Times New Roman" pitchFamily="18" charset="0"/>
                </a:rPr>
                <a:t>!       </a:t>
              </a:r>
              <a:r>
                <a:rPr kumimoji="1" lang="en-US" altLang="zh-CN" sz="2000" b="1" dirty="0">
                  <a:solidFill>
                    <a:srgbClr val="333300"/>
                  </a:solidFill>
                  <a:latin typeface="Times New Roman" pitchFamily="18" charset="0"/>
                </a:rPr>
                <a:t>(2)</a:t>
              </a:r>
            </a:p>
            <a:p>
              <a:endParaRPr kumimoji="1" lang="en-US" altLang="zh-CN" sz="2000" b="1" dirty="0">
                <a:solidFill>
                  <a:srgbClr val="333300"/>
                </a:solidFill>
                <a:latin typeface="Times New Roman" pitchFamily="18" charset="0"/>
              </a:endParaRPr>
            </a:p>
            <a:p>
              <a:r>
                <a:rPr kumimoji="1" lang="en-US" altLang="zh-CN" sz="2000" b="1" dirty="0">
                  <a:solidFill>
                    <a:srgbClr val="333300"/>
                  </a:solidFill>
                  <a:latin typeface="Times New Roman" pitchFamily="18" charset="0"/>
                </a:rPr>
                <a:t>&amp;&amp; (11)</a:t>
              </a:r>
            </a:p>
            <a:p>
              <a:endParaRPr kumimoji="1" lang="en-US" altLang="zh-CN" sz="2000" b="1" dirty="0">
                <a:solidFill>
                  <a:srgbClr val="333300"/>
                </a:solidFill>
                <a:latin typeface="Times New Roman" pitchFamily="18" charset="0"/>
              </a:endParaRPr>
            </a:p>
            <a:p>
              <a:r>
                <a:rPr kumimoji="1" lang="en-US" altLang="zh-CN" sz="2000" b="1" dirty="0">
                  <a:solidFill>
                    <a:srgbClr val="333300"/>
                  </a:solidFill>
                  <a:latin typeface="Times New Roman" pitchFamily="18" charset="0"/>
                </a:rPr>
                <a:t>||     (12)</a:t>
              </a:r>
              <a:endParaRPr kumimoji="1" lang="en-US" altLang="zh-CN" sz="4000" b="1" dirty="0">
                <a:solidFill>
                  <a:srgbClr val="333300"/>
                </a:solidFill>
                <a:latin typeface="Times New Roman" pitchFamily="18" charset="0"/>
              </a:endParaRPr>
            </a:p>
          </p:txBody>
        </p:sp>
        <p:sp>
          <p:nvSpPr>
            <p:cNvPr id="23" name="Text Box 5">
              <a:extLst>
                <a:ext uri="{FF2B5EF4-FFF2-40B4-BE49-F238E27FC236}">
                  <a16:creationId xmlns:a16="http://schemas.microsoft.com/office/drawing/2014/main" id="{6FFA4703-2AD9-406B-9352-4FF215D60A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4" y="1050"/>
              <a:ext cx="27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itchFamily="18" charset="0"/>
                </a:rPr>
                <a:t>高</a:t>
              </a:r>
              <a:endParaRPr kumimoji="1" lang="zh-CN" altLang="en-US" sz="4000" b="1">
                <a:latin typeface="Times New Roman" pitchFamily="18" charset="0"/>
              </a:endParaRPr>
            </a:p>
          </p:txBody>
        </p:sp>
        <p:sp>
          <p:nvSpPr>
            <p:cNvPr id="24" name="Text Box 6">
              <a:extLst>
                <a:ext uri="{FF2B5EF4-FFF2-40B4-BE49-F238E27FC236}">
                  <a16:creationId xmlns:a16="http://schemas.microsoft.com/office/drawing/2014/main" id="{41DBBD98-F788-436A-8E7C-40FF4061D0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4" y="1638"/>
              <a:ext cx="27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itchFamily="18" charset="0"/>
                </a:rPr>
                <a:t>低</a:t>
              </a:r>
              <a:endParaRPr kumimoji="1" lang="zh-CN" altLang="en-US" sz="4000" b="1">
                <a:latin typeface="Times New Roman" pitchFamily="18" charset="0"/>
              </a:endParaRPr>
            </a:p>
          </p:txBody>
        </p:sp>
        <p:sp>
          <p:nvSpPr>
            <p:cNvPr id="25" name="Line 7">
              <a:extLst>
                <a:ext uri="{FF2B5EF4-FFF2-40B4-BE49-F238E27FC236}">
                  <a16:creationId xmlns:a16="http://schemas.microsoft.com/office/drawing/2014/main" id="{8408C84D-0F37-4083-8723-D4D61B46C7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8" y="991"/>
              <a:ext cx="0" cy="8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" name="Text Box 9">
            <a:extLst>
              <a:ext uri="{FF2B5EF4-FFF2-40B4-BE49-F238E27FC236}">
                <a16:creationId xmlns:a16="http://schemas.microsoft.com/office/drawing/2014/main" id="{9B0B0E83-2515-4E1F-8C34-6CE59B3A2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1262160"/>
            <a:ext cx="18886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FF9933"/>
              </a:buClr>
              <a:buFont typeface="Wingdings" pitchFamily="2" charset="2"/>
              <a:buChar char="l"/>
            </a:pPr>
            <a:r>
              <a:rPr kumimoji="1" lang="zh-CN" altLang="en-US" sz="2800" dirty="0">
                <a:ea typeface="隶书" pitchFamily="49" charset="-122"/>
              </a:rPr>
              <a:t>优先级：</a:t>
            </a: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1EE5E2AB-7F5D-4DAD-9ADE-4B444F62B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0614" y="1986060"/>
            <a:ext cx="2247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FF9933"/>
              </a:buClr>
              <a:buFont typeface="Wingdings" pitchFamily="2" charset="2"/>
              <a:buChar char="l"/>
            </a:pPr>
            <a:r>
              <a:rPr kumimoji="1" lang="zh-CN" altLang="en-US" sz="2800">
                <a:ea typeface="隶书" pitchFamily="49" charset="-122"/>
              </a:rPr>
              <a:t>结合方向：</a:t>
            </a:r>
          </a:p>
        </p:txBody>
      </p:sp>
      <p:grpSp>
        <p:nvGrpSpPr>
          <p:cNvPr id="28" name="Group 11">
            <a:extLst>
              <a:ext uri="{FF2B5EF4-FFF2-40B4-BE49-F238E27FC236}">
                <a16:creationId xmlns:a16="http://schemas.microsoft.com/office/drawing/2014/main" id="{60D2D98D-28EF-41E1-82EB-72BBBF93E4D8}"/>
              </a:ext>
            </a:extLst>
          </p:cNvPr>
          <p:cNvGrpSpPr>
            <a:grpSpLocks/>
          </p:cNvGrpSpPr>
          <p:nvPr/>
        </p:nvGrpSpPr>
        <p:grpSpPr bwMode="auto">
          <a:xfrm>
            <a:off x="5580065" y="1036735"/>
            <a:ext cx="2135188" cy="2247900"/>
            <a:chOff x="3833" y="257"/>
            <a:chExt cx="1345" cy="1416"/>
          </a:xfrm>
        </p:grpSpPr>
        <p:sp>
          <p:nvSpPr>
            <p:cNvPr id="29" name="Rectangle 12">
              <a:extLst>
                <a:ext uri="{FF2B5EF4-FFF2-40B4-BE49-F238E27FC236}">
                  <a16:creationId xmlns:a16="http://schemas.microsoft.com/office/drawing/2014/main" id="{9BC05D62-78A7-4F0C-9F1E-49DEA230A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268"/>
              <a:ext cx="1332" cy="14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endParaRPr kumimoji="1" lang="zh-CN" altLang="zh-CN" sz="4000">
                <a:latin typeface="Times New Roman" pitchFamily="18" charset="0"/>
              </a:endParaRPr>
            </a:p>
          </p:txBody>
        </p:sp>
        <p:sp>
          <p:nvSpPr>
            <p:cNvPr id="30" name="Text Box 13">
              <a:extLst>
                <a:ext uri="{FF2B5EF4-FFF2-40B4-BE49-F238E27FC236}">
                  <a16:creationId xmlns:a16="http://schemas.microsoft.com/office/drawing/2014/main" id="{AD2C24B6-C9DF-44F5-8951-133DA82BB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8" y="257"/>
              <a:ext cx="1170" cy="1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endParaRPr kumimoji="1" lang="en-US" altLang="zh-CN" sz="2000" dirty="0">
                <a:latin typeface="Times New Roman" pitchFamily="18" charset="0"/>
              </a:endParaRPr>
            </a:p>
            <a:p>
              <a:r>
                <a:rPr kumimoji="1" lang="en-US" altLang="zh-CN" sz="2000" b="1" dirty="0">
                  <a:latin typeface="Times New Roman" pitchFamily="18" charset="0"/>
                </a:rPr>
                <a:t>!       </a:t>
              </a:r>
              <a:r>
                <a:rPr kumimoji="1" lang="en-US" altLang="zh-CN" sz="2000" b="1" dirty="0">
                  <a:solidFill>
                    <a:srgbClr val="FF0000"/>
                  </a:solidFill>
                  <a:latin typeface="Times New Roman" pitchFamily="18" charset="0"/>
                </a:rPr>
                <a:t>:</a:t>
              </a:r>
              <a:r>
                <a:rPr kumimoji="1" lang="zh-CN" altLang="en-US" sz="2000" b="1" dirty="0">
                  <a:solidFill>
                    <a:srgbClr val="FF0000"/>
                  </a:solidFill>
                  <a:latin typeface="Times New Roman" pitchFamily="18" charset="0"/>
                </a:rPr>
                <a:t>从右向左</a:t>
              </a:r>
              <a:endParaRPr kumimoji="1" lang="zh-CN" altLang="en-US" sz="2000" b="1" dirty="0">
                <a:latin typeface="Times New Roman" pitchFamily="18" charset="0"/>
              </a:endParaRPr>
            </a:p>
            <a:p>
              <a:endParaRPr kumimoji="1" lang="zh-CN" altLang="en-US" sz="2000" b="1" dirty="0">
                <a:latin typeface="Times New Roman" pitchFamily="18" charset="0"/>
              </a:endParaRPr>
            </a:p>
            <a:p>
              <a:r>
                <a:rPr kumimoji="1" lang="en-US" altLang="zh-CN" sz="2000" b="1" dirty="0">
                  <a:latin typeface="Times New Roman" pitchFamily="18" charset="0"/>
                </a:rPr>
                <a:t>&amp;&amp;  :</a:t>
              </a:r>
              <a:r>
                <a:rPr kumimoji="1" lang="zh-CN" altLang="en-US" sz="2000" b="1" dirty="0">
                  <a:solidFill>
                    <a:srgbClr val="0000FF"/>
                  </a:solidFill>
                  <a:latin typeface="Times New Roman" pitchFamily="18" charset="0"/>
                </a:rPr>
                <a:t>从左向右</a:t>
              </a:r>
              <a:endParaRPr kumimoji="1" lang="zh-CN" altLang="en-US" sz="2000" b="1" dirty="0">
                <a:latin typeface="Times New Roman" pitchFamily="18" charset="0"/>
              </a:endParaRPr>
            </a:p>
            <a:p>
              <a:endParaRPr kumimoji="1" lang="zh-CN" altLang="en-US" sz="2000" b="1" dirty="0">
                <a:latin typeface="Times New Roman" pitchFamily="18" charset="0"/>
              </a:endParaRPr>
            </a:p>
            <a:p>
              <a:r>
                <a:rPr kumimoji="1" lang="en-US" altLang="zh-CN" sz="2000" b="1" dirty="0">
                  <a:latin typeface="Times New Roman" pitchFamily="18" charset="0"/>
                </a:rPr>
                <a:t>||      :</a:t>
              </a:r>
              <a:r>
                <a:rPr kumimoji="1" lang="zh-CN" altLang="en-US" sz="2000" b="1" dirty="0">
                  <a:solidFill>
                    <a:srgbClr val="0000FF"/>
                  </a:solidFill>
                  <a:latin typeface="Times New Roman" pitchFamily="18" charset="0"/>
                </a:rPr>
                <a:t>从左向右</a:t>
              </a:r>
              <a:endParaRPr kumimoji="1" lang="zh-CN" altLang="en-US" sz="2000" b="1" dirty="0">
                <a:solidFill>
                  <a:schemeClr val="folHlink"/>
                </a:solidFill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014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6" grpId="0" animBg="1" autoUpdateAnimBg="0"/>
      <p:bldP spid="17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B01A0ED-90BC-4DAE-A38E-8EA902E6EAED}"/>
              </a:ext>
            </a:extLst>
          </p:cNvPr>
          <p:cNvSpPr txBox="1">
            <a:spLocks noChangeArrowheads="1"/>
          </p:cNvSpPr>
          <p:nvPr/>
        </p:nvSpPr>
        <p:spPr>
          <a:xfrm>
            <a:off x="354481" y="416449"/>
            <a:ext cx="8761412" cy="2432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endParaRPr lang="zh-CN" altLang="en-US" sz="2800" b="1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lvl="2"/>
            <a:r>
              <a:rPr lang="zh-CN" altLang="en-US" sz="2800" b="1" dirty="0">
                <a:solidFill>
                  <a:srgbClr val="FF0066"/>
                </a:solidFill>
                <a:latin typeface="隶书" pitchFamily="49" charset="-122"/>
              </a:rPr>
              <a:t>简单赋值运算符</a:t>
            </a:r>
          </a:p>
          <a:p>
            <a:pPr lvl="3"/>
            <a:r>
              <a:rPr lang="zh-CN" altLang="en-US" sz="2400" b="1" dirty="0">
                <a:latin typeface="隶书" pitchFamily="49" charset="-122"/>
              </a:rPr>
              <a:t>符号：   </a:t>
            </a:r>
            <a:r>
              <a:rPr lang="en-US" altLang="zh-CN" sz="2400" b="1" dirty="0">
                <a:latin typeface="隶书" pitchFamily="49" charset="-122"/>
              </a:rPr>
              <a:t>=</a:t>
            </a:r>
          </a:p>
          <a:p>
            <a:pPr lvl="3"/>
            <a:r>
              <a:rPr lang="zh-CN" altLang="en-US" sz="2400" b="1" dirty="0">
                <a:latin typeface="隶书" pitchFamily="49" charset="-122"/>
              </a:rPr>
              <a:t>格式：  </a:t>
            </a:r>
            <a:r>
              <a:rPr lang="zh-CN" altLang="en-US" sz="2400" b="1" dirty="0">
                <a:solidFill>
                  <a:srgbClr val="3333FF"/>
                </a:solidFill>
                <a:latin typeface="隶书" pitchFamily="49" charset="-122"/>
              </a:rPr>
              <a:t>变量标识符 </a:t>
            </a:r>
            <a:r>
              <a:rPr lang="en-US" altLang="zh-CN" sz="2400" b="1" dirty="0">
                <a:solidFill>
                  <a:srgbClr val="3333FF"/>
                </a:solidFill>
                <a:latin typeface="隶书" pitchFamily="49" charset="-122"/>
              </a:rPr>
              <a:t>= </a:t>
            </a:r>
            <a:r>
              <a:rPr lang="zh-CN" altLang="en-US" sz="2400" b="1" dirty="0">
                <a:solidFill>
                  <a:srgbClr val="3333FF"/>
                </a:solidFill>
                <a:latin typeface="隶书" pitchFamily="49" charset="-122"/>
              </a:rPr>
              <a:t>表达式</a:t>
            </a:r>
            <a:r>
              <a:rPr lang="zh-CN" altLang="en-US" sz="2400" b="1" dirty="0">
                <a:latin typeface="隶书" pitchFamily="49" charset="-122"/>
              </a:rPr>
              <a:t>；</a:t>
            </a:r>
          </a:p>
          <a:p>
            <a:pPr lvl="3"/>
            <a:r>
              <a:rPr lang="zh-CN" altLang="en-US" sz="2400" b="1" dirty="0">
                <a:latin typeface="隶书" pitchFamily="49" charset="-122"/>
              </a:rPr>
              <a:t>作用：将一个数据（常量或表达式）赋给一个变量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EC081B-0BB7-4B0B-A408-804E3A36F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481" y="3899429"/>
            <a:ext cx="882503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</a:pPr>
            <a:r>
              <a:rPr lang="zh-CN" altLang="en-US" sz="2800" b="1" dirty="0">
                <a:solidFill>
                  <a:srgbClr val="FF0066"/>
                </a:solidFill>
                <a:latin typeface="隶书" pitchFamily="49" charset="-122"/>
                <a:ea typeface="+mn-ea"/>
                <a:sym typeface="Wingdings" pitchFamily="2" charset="2"/>
              </a:rPr>
              <a:t>复合赋值运算符</a:t>
            </a:r>
          </a:p>
          <a:p>
            <a:pPr lvl="3"/>
            <a:r>
              <a:rPr kumimoji="1" lang="zh-CN" altLang="en-US" sz="2400" b="1" dirty="0">
                <a:latin typeface="隶书" pitchFamily="49" charset="-122"/>
                <a:sym typeface="Wingdings" pitchFamily="2" charset="2"/>
              </a:rPr>
              <a:t>种类</a:t>
            </a:r>
            <a:r>
              <a:rPr kumimoji="1" lang="zh-CN" altLang="en-US" sz="2400" b="1" dirty="0">
                <a:solidFill>
                  <a:srgbClr val="0000FF"/>
                </a:solidFill>
                <a:latin typeface="隶书" pitchFamily="49" charset="-122"/>
                <a:sym typeface="Wingdings" pitchFamily="2" charset="2"/>
              </a:rPr>
              <a:t>：</a:t>
            </a:r>
            <a:r>
              <a:rPr kumimoji="1" lang="en-US" altLang="zh-CN" sz="2400" b="1" dirty="0">
                <a:solidFill>
                  <a:srgbClr val="FF0000"/>
                </a:solidFill>
                <a:latin typeface="隶书" pitchFamily="49" charset="-122"/>
                <a:sym typeface="Wingdings" pitchFamily="2" charset="2"/>
              </a:rPr>
              <a:t>+</a:t>
            </a:r>
            <a:r>
              <a:rPr kumimoji="1" lang="en-US" altLang="zh-CN" sz="2400" b="1" dirty="0">
                <a:solidFill>
                  <a:srgbClr val="0000FF"/>
                </a:solidFill>
                <a:latin typeface="隶书" pitchFamily="49" charset="-122"/>
                <a:sym typeface="Wingdings" pitchFamily="2" charset="2"/>
              </a:rPr>
              <a:t>=  </a:t>
            </a:r>
            <a:r>
              <a:rPr kumimoji="1" lang="en-US" altLang="zh-CN" sz="2400" b="1" dirty="0">
                <a:solidFill>
                  <a:srgbClr val="FF0000"/>
                </a:solidFill>
                <a:latin typeface="隶书" pitchFamily="49" charset="-122"/>
                <a:sym typeface="Wingdings" pitchFamily="2" charset="2"/>
              </a:rPr>
              <a:t>-</a:t>
            </a:r>
            <a:r>
              <a:rPr kumimoji="1" lang="en-US" altLang="zh-CN" sz="2400" b="1" dirty="0">
                <a:solidFill>
                  <a:srgbClr val="0000FF"/>
                </a:solidFill>
                <a:latin typeface="隶书" pitchFamily="49" charset="-122"/>
                <a:sym typeface="Wingdings" pitchFamily="2" charset="2"/>
              </a:rPr>
              <a:t>=  </a:t>
            </a:r>
            <a:r>
              <a:rPr kumimoji="1" lang="en-US" altLang="zh-CN" sz="2400" b="1" dirty="0">
                <a:solidFill>
                  <a:srgbClr val="FF0000"/>
                </a:solidFill>
                <a:latin typeface="隶书" pitchFamily="49" charset="-122"/>
                <a:sym typeface="Wingdings" pitchFamily="2" charset="2"/>
              </a:rPr>
              <a:t>*</a:t>
            </a:r>
            <a:r>
              <a:rPr kumimoji="1" lang="en-US" altLang="zh-CN" sz="2400" b="1" dirty="0">
                <a:solidFill>
                  <a:srgbClr val="0000FF"/>
                </a:solidFill>
                <a:latin typeface="隶书" pitchFamily="49" charset="-122"/>
                <a:sym typeface="Wingdings" pitchFamily="2" charset="2"/>
              </a:rPr>
              <a:t>=  </a:t>
            </a:r>
            <a:r>
              <a:rPr kumimoji="1" lang="en-US" altLang="zh-CN" sz="2400" b="1" dirty="0">
                <a:solidFill>
                  <a:srgbClr val="FF0000"/>
                </a:solidFill>
                <a:latin typeface="隶书" pitchFamily="49" charset="-122"/>
                <a:sym typeface="Wingdings" pitchFamily="2" charset="2"/>
              </a:rPr>
              <a:t>/</a:t>
            </a:r>
            <a:r>
              <a:rPr kumimoji="1" lang="en-US" altLang="zh-CN" sz="2400" b="1" dirty="0">
                <a:solidFill>
                  <a:srgbClr val="0000FF"/>
                </a:solidFill>
                <a:latin typeface="隶书" pitchFamily="49" charset="-122"/>
                <a:sym typeface="Wingdings" pitchFamily="2" charset="2"/>
              </a:rPr>
              <a:t>=  </a:t>
            </a:r>
            <a:r>
              <a:rPr kumimoji="1" lang="en-US" altLang="zh-CN" sz="2400" b="1" dirty="0">
                <a:solidFill>
                  <a:srgbClr val="FF0000"/>
                </a:solidFill>
                <a:latin typeface="隶书" pitchFamily="49" charset="-122"/>
                <a:sym typeface="Wingdings" pitchFamily="2" charset="2"/>
              </a:rPr>
              <a:t>%</a:t>
            </a:r>
            <a:r>
              <a:rPr kumimoji="1" lang="en-US" altLang="zh-CN" sz="2400" b="1" dirty="0">
                <a:solidFill>
                  <a:srgbClr val="0000FF"/>
                </a:solidFill>
                <a:latin typeface="隶书" pitchFamily="49" charset="-122"/>
                <a:sym typeface="Wingdings" pitchFamily="2" charset="2"/>
              </a:rPr>
              <a:t>=</a:t>
            </a:r>
            <a:r>
              <a:rPr kumimoji="1" lang="en-US" altLang="zh-CN" sz="2400" b="1" dirty="0">
                <a:latin typeface="隶书" pitchFamily="49" charset="-122"/>
                <a:sym typeface="Wingdings" pitchFamily="2" charset="2"/>
              </a:rPr>
              <a:t> 《=  》=  &amp;=  ^=  |=</a:t>
            </a:r>
          </a:p>
          <a:p>
            <a:pPr lvl="3"/>
            <a:r>
              <a:rPr kumimoji="1" lang="zh-CN" altLang="en-US" sz="2400" b="1" dirty="0">
                <a:latin typeface="隶书" pitchFamily="49" charset="-122"/>
                <a:sym typeface="Wingdings" pitchFamily="2" charset="2"/>
              </a:rPr>
              <a:t>含义： 变量</a:t>
            </a:r>
            <a:r>
              <a:rPr kumimoji="1" lang="en-US" altLang="zh-CN" sz="2400" b="1" dirty="0">
                <a:solidFill>
                  <a:srgbClr val="0033CC"/>
                </a:solidFill>
                <a:latin typeface="隶书" pitchFamily="49" charset="-122"/>
                <a:sym typeface="Wingdings" pitchFamily="2" charset="2"/>
              </a:rPr>
              <a:t> </a:t>
            </a:r>
            <a:r>
              <a:rPr kumimoji="1" lang="en-US" altLang="zh-CN" sz="2400" b="1" dirty="0">
                <a:solidFill>
                  <a:srgbClr val="FF0000"/>
                </a:solidFill>
                <a:latin typeface="隶书" pitchFamily="49" charset="-122"/>
                <a:sym typeface="Wingdings" pitchFamily="2" charset="2"/>
              </a:rPr>
              <a:t>op</a:t>
            </a:r>
            <a:r>
              <a:rPr kumimoji="1" lang="en-US" altLang="zh-CN" sz="2400" b="1" dirty="0">
                <a:solidFill>
                  <a:srgbClr val="0000FF"/>
                </a:solidFill>
                <a:latin typeface="隶书" pitchFamily="49" charset="-122"/>
                <a:sym typeface="Wingdings" pitchFamily="2" charset="2"/>
              </a:rPr>
              <a:t>= </a:t>
            </a:r>
            <a:r>
              <a:rPr kumimoji="1" lang="zh-CN" altLang="en-US" sz="2400" b="1" dirty="0">
                <a:latin typeface="隶书" pitchFamily="49" charset="-122"/>
                <a:sym typeface="Wingdings" pitchFamily="2" charset="2"/>
              </a:rPr>
              <a:t>表达式</a:t>
            </a:r>
            <a:r>
              <a:rPr kumimoji="1" lang="en-US" altLang="zh-CN" sz="2400" b="1" dirty="0">
                <a:latin typeface="隶书" pitchFamily="49" charset="-122"/>
                <a:sym typeface="Wingdings" pitchFamily="2" charset="2"/>
              </a:rPr>
              <a:t> </a:t>
            </a:r>
            <a:r>
              <a:rPr kumimoji="1" lang="en-US" altLang="zh-CN" b="1" dirty="0">
                <a:solidFill>
                  <a:srgbClr val="00B050"/>
                </a:solidFill>
                <a:latin typeface="隶书" pitchFamily="49" charset="-122"/>
                <a:sym typeface="Wingdings" pitchFamily="2" charset="2"/>
              </a:rPr>
              <a:t></a:t>
            </a:r>
            <a:r>
              <a:rPr kumimoji="1" lang="en-US" altLang="zh-CN" sz="2400" b="1" dirty="0">
                <a:latin typeface="隶书" pitchFamily="49" charset="-122"/>
                <a:sym typeface="Wingdings" pitchFamily="2" charset="2"/>
              </a:rPr>
              <a:t> </a:t>
            </a:r>
            <a:r>
              <a:rPr kumimoji="1" lang="zh-CN" altLang="en-US" sz="2400" b="1" dirty="0">
                <a:latin typeface="隶书" pitchFamily="49" charset="-122"/>
                <a:sym typeface="Wingdings" pitchFamily="2" charset="2"/>
              </a:rPr>
              <a:t>变量</a:t>
            </a:r>
            <a:r>
              <a:rPr kumimoji="1" lang="en-US" altLang="zh-CN" sz="2400" b="1" dirty="0">
                <a:solidFill>
                  <a:srgbClr val="FF0000"/>
                </a:solidFill>
                <a:latin typeface="隶书" pitchFamily="49" charset="-122"/>
                <a:sym typeface="Wingdings" pitchFamily="2" charset="2"/>
              </a:rPr>
              <a:t> </a:t>
            </a:r>
            <a:r>
              <a:rPr kumimoji="1" lang="en-US" altLang="zh-CN" sz="2400" b="1" dirty="0">
                <a:solidFill>
                  <a:srgbClr val="0000FF"/>
                </a:solidFill>
                <a:latin typeface="隶书" pitchFamily="49" charset="-122"/>
                <a:sym typeface="Wingdings" pitchFamily="2" charset="2"/>
              </a:rPr>
              <a:t>=</a:t>
            </a:r>
            <a:r>
              <a:rPr kumimoji="1" lang="en-US" altLang="zh-CN" sz="2400" b="1" dirty="0">
                <a:solidFill>
                  <a:srgbClr val="FF0000"/>
                </a:solidFill>
                <a:latin typeface="隶书" pitchFamily="49" charset="-122"/>
                <a:sym typeface="Wingdings" pitchFamily="2" charset="2"/>
              </a:rPr>
              <a:t> </a:t>
            </a:r>
            <a:r>
              <a:rPr kumimoji="1" lang="zh-CN" altLang="en-US" sz="2400" b="1" dirty="0">
                <a:latin typeface="隶书" pitchFamily="49" charset="-122"/>
                <a:sym typeface="Wingdings" pitchFamily="2" charset="2"/>
              </a:rPr>
              <a:t>变量</a:t>
            </a:r>
            <a:r>
              <a:rPr kumimoji="1" lang="en-US" altLang="zh-CN" sz="2400" b="1" dirty="0">
                <a:solidFill>
                  <a:srgbClr val="FF0000"/>
                </a:solidFill>
                <a:latin typeface="隶书" pitchFamily="49" charset="-122"/>
                <a:sym typeface="Wingdings" pitchFamily="2" charset="2"/>
              </a:rPr>
              <a:t> op </a:t>
            </a:r>
            <a:r>
              <a:rPr kumimoji="1" lang="en-US" altLang="zh-CN" sz="2400" b="1" dirty="0">
                <a:latin typeface="隶书" pitchFamily="49" charset="-122"/>
                <a:sym typeface="Wingdings" pitchFamily="2" charset="2"/>
              </a:rPr>
              <a:t>exp</a:t>
            </a:r>
            <a:endParaRPr kumimoji="1" lang="en-US" altLang="zh-CN" sz="2400" b="1" dirty="0">
              <a:latin typeface="Times New Roman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E8CC2A-9DB9-458C-B81E-C0FE2E3B35D1}"/>
              </a:ext>
            </a:extLst>
          </p:cNvPr>
          <p:cNvGrpSpPr>
            <a:grpSpLocks/>
          </p:cNvGrpSpPr>
          <p:nvPr/>
        </p:nvGrpSpPr>
        <p:grpSpPr bwMode="auto">
          <a:xfrm>
            <a:off x="2588094" y="5169431"/>
            <a:ext cx="2862263" cy="461963"/>
            <a:chOff x="1680" y="2561"/>
            <a:chExt cx="1803" cy="291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B70C2874-CF29-4CD7-9F44-E09F9ACD3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688"/>
              <a:ext cx="422" cy="47"/>
            </a:xfrm>
            <a:prstGeom prst="leftRightArrow">
              <a:avLst>
                <a:gd name="adj1" fmla="val 50000"/>
                <a:gd name="adj2" fmla="val 17957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7C10D6EE-820E-46CB-BC21-914918558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561"/>
              <a:ext cx="51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itchFamily="18" charset="0"/>
                </a:rPr>
                <a:t>a+=3</a:t>
              </a: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D46008C5-D2F7-4E13-A7B6-1CDDF8EA50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561"/>
              <a:ext cx="60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itchFamily="18" charset="0"/>
                </a:rPr>
                <a:t>a=a+3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3FD33B5-74B0-4229-9841-E49EE58ECA29}"/>
              </a:ext>
            </a:extLst>
          </p:cNvPr>
          <p:cNvGrpSpPr>
            <a:grpSpLocks/>
          </p:cNvGrpSpPr>
          <p:nvPr/>
        </p:nvGrpSpPr>
        <p:grpSpPr bwMode="auto">
          <a:xfrm>
            <a:off x="2573804" y="5602821"/>
            <a:ext cx="3409950" cy="461963"/>
            <a:chOff x="1680" y="2753"/>
            <a:chExt cx="2148" cy="291"/>
          </a:xfrm>
        </p:grpSpPr>
        <p:sp>
          <p:nvSpPr>
            <p:cNvPr id="10" name="AutoShape 9">
              <a:extLst>
                <a:ext uri="{FF2B5EF4-FFF2-40B4-BE49-F238E27FC236}">
                  <a16:creationId xmlns:a16="http://schemas.microsoft.com/office/drawing/2014/main" id="{14258169-0732-47FB-A1A3-37BABBE5E8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880"/>
              <a:ext cx="422" cy="47"/>
            </a:xfrm>
            <a:prstGeom prst="leftRightArrow">
              <a:avLst>
                <a:gd name="adj1" fmla="val 50000"/>
                <a:gd name="adj2" fmla="val 17957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EDE4D682-2367-49AE-A05D-F3BA2A2A19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753"/>
              <a:ext cx="72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dirty="0">
                  <a:latin typeface="Times New Roman" pitchFamily="18" charset="0"/>
                </a:rPr>
                <a:t>x*=y+8</a:t>
              </a: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BBA13390-2021-4568-9E1B-DE0C8FD5D9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753"/>
              <a:ext cx="94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itchFamily="18" charset="0"/>
                </a:rPr>
                <a:t>x=x*(y+8)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748B09A-60E3-4E87-99A0-0C060C60663C}"/>
              </a:ext>
            </a:extLst>
          </p:cNvPr>
          <p:cNvGrpSpPr>
            <a:grpSpLocks/>
          </p:cNvGrpSpPr>
          <p:nvPr/>
        </p:nvGrpSpPr>
        <p:grpSpPr bwMode="auto">
          <a:xfrm>
            <a:off x="2588093" y="6034620"/>
            <a:ext cx="2981325" cy="461963"/>
            <a:chOff x="1680" y="2945"/>
            <a:chExt cx="1878" cy="291"/>
          </a:xfrm>
        </p:grpSpPr>
        <p:sp>
          <p:nvSpPr>
            <p:cNvPr id="14" name="AutoShape 13">
              <a:extLst>
                <a:ext uri="{FF2B5EF4-FFF2-40B4-BE49-F238E27FC236}">
                  <a16:creationId xmlns:a16="http://schemas.microsoft.com/office/drawing/2014/main" id="{358D5326-60B8-40D2-A56C-E25F0FC9E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072"/>
              <a:ext cx="422" cy="47"/>
            </a:xfrm>
            <a:prstGeom prst="leftRightArrow">
              <a:avLst>
                <a:gd name="adj1" fmla="val 50000"/>
                <a:gd name="adj2" fmla="val 17957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397412D0-6290-415D-8298-C9A868C10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945"/>
              <a:ext cx="58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itchFamily="18" charset="0"/>
                </a:rPr>
                <a:t>x%=3</a:t>
              </a: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EB233241-435B-40D9-AB15-5F0C470A9E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945"/>
              <a:ext cx="67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itchFamily="18" charset="0"/>
                </a:rPr>
                <a:t>x=x%3</a:t>
              </a:r>
            </a:p>
          </p:txBody>
        </p:sp>
      </p:grpSp>
      <p:sp>
        <p:nvSpPr>
          <p:cNvPr id="17" name="Text Box 18">
            <a:extLst>
              <a:ext uri="{FF2B5EF4-FFF2-40B4-BE49-F238E27FC236}">
                <a16:creationId xmlns:a16="http://schemas.microsoft.com/office/drawing/2014/main" id="{1B6454FD-6218-45B3-BDE2-D70A5CFC9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718" y="2712746"/>
            <a:ext cx="2203145" cy="1202510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400">
                <a:latin typeface="隶书" pitchFamily="49" charset="-122"/>
                <a:ea typeface="隶书" pitchFamily="49" charset="-122"/>
              </a:rPr>
              <a:t>例  </a:t>
            </a:r>
            <a:r>
              <a:rPr kumimoji="1" lang="en-US" altLang="zh-CN" sz="2400" b="1">
                <a:latin typeface="隶书" pitchFamily="49" charset="-122"/>
                <a:ea typeface="隶书" pitchFamily="49" charset="-122"/>
              </a:rPr>
              <a:t>a=3;</a:t>
            </a:r>
          </a:p>
          <a:p>
            <a:r>
              <a:rPr kumimoji="1" lang="en-US" altLang="zh-CN" sz="2400" b="1">
                <a:latin typeface="隶书" pitchFamily="49" charset="-122"/>
                <a:ea typeface="隶书" pitchFamily="49" charset="-122"/>
              </a:rPr>
              <a:t>    d=func();</a:t>
            </a:r>
          </a:p>
          <a:p>
            <a:r>
              <a:rPr kumimoji="1" lang="en-US" altLang="zh-CN" sz="2400" b="1">
                <a:latin typeface="隶书" pitchFamily="49" charset="-122"/>
                <a:ea typeface="隶书" pitchFamily="49" charset="-122"/>
              </a:rPr>
              <a:t>    c=d+2;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04B1C2A-9E3D-4944-A6C9-EF96F2D18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E015642-1645-4616-A619-23356AE2B665}"/>
              </a:ext>
            </a:extLst>
          </p:cNvPr>
          <p:cNvSpPr txBox="1"/>
          <p:nvPr/>
        </p:nvSpPr>
        <p:spPr>
          <a:xfrm>
            <a:off x="3271428" y="61229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赋值运算符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4838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5" autoUpdateAnimBg="0"/>
      <p:bldP spid="4" grpId="0" uiExpand="1" build="p" bldLvl="5" autoUpdateAnimBg="0"/>
      <p:bldP spid="17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FC8739-07AF-4FCD-B255-18AA666DC871}"/>
              </a:ext>
            </a:extLst>
          </p:cNvPr>
          <p:cNvSpPr txBox="1">
            <a:spLocks noChangeArrowheads="1"/>
          </p:cNvSpPr>
          <p:nvPr/>
        </p:nvSpPr>
        <p:spPr>
          <a:xfrm>
            <a:off x="801846" y="768331"/>
            <a:ext cx="7772400" cy="1524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zh-CN" altLang="en-US" sz="2800" b="1" dirty="0">
                <a:solidFill>
                  <a:srgbClr val="FF0066"/>
                </a:solidFill>
                <a:latin typeface="隶书" pitchFamily="49" charset="-122"/>
              </a:rPr>
              <a:t>说明</a:t>
            </a:r>
            <a:r>
              <a:rPr lang="en-US" altLang="zh-CN" sz="2800" b="1" dirty="0">
                <a:solidFill>
                  <a:srgbClr val="FF0066"/>
                </a:solidFill>
                <a:latin typeface="隶书" pitchFamily="49" charset="-122"/>
              </a:rPr>
              <a:t>:</a:t>
            </a:r>
          </a:p>
          <a:p>
            <a:pPr lvl="3"/>
            <a:r>
              <a:rPr lang="zh-CN" altLang="en-US" sz="2400" b="1" dirty="0">
                <a:latin typeface="隶书" pitchFamily="49" charset="-122"/>
              </a:rPr>
              <a:t>结合方向：</a:t>
            </a:r>
            <a:r>
              <a:rPr lang="zh-CN" altLang="en-US" sz="2400" b="1" dirty="0">
                <a:solidFill>
                  <a:srgbClr val="3333FF"/>
                </a:solidFill>
                <a:latin typeface="隶书" pitchFamily="49" charset="-122"/>
              </a:rPr>
              <a:t>自右向左</a:t>
            </a:r>
          </a:p>
          <a:p>
            <a:pPr lvl="3"/>
            <a:r>
              <a:rPr lang="zh-CN" altLang="en-US" sz="2400" b="1" dirty="0"/>
              <a:t>优先级</a:t>
            </a:r>
            <a:r>
              <a:rPr lang="en-US" altLang="zh-CN" sz="2400" b="1" dirty="0"/>
              <a:t>:   </a:t>
            </a:r>
            <a:r>
              <a:rPr lang="en-US" altLang="zh-CN" sz="2400" b="1" dirty="0">
                <a:solidFill>
                  <a:srgbClr val="0033CC"/>
                </a:solidFill>
              </a:rPr>
              <a:t>14</a:t>
            </a:r>
          </a:p>
          <a:p>
            <a:pPr lvl="3"/>
            <a:r>
              <a:rPr lang="zh-CN" altLang="en-US" sz="2400" b="1" dirty="0">
                <a:latin typeface="隶书" pitchFamily="49" charset="-122"/>
              </a:rPr>
              <a:t>左侧必须是变量，不能是常量或表达式</a:t>
            </a:r>
            <a:endParaRPr lang="zh-CN" altLang="en-US" sz="2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1B3A0B-B622-40DE-88B3-11CBC9846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933" y="5022241"/>
            <a:ext cx="8043863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zh-CN" altLang="en-US" sz="2400" b="1" dirty="0">
                <a:solidFill>
                  <a:srgbClr val="0000FF"/>
                </a:solidFill>
                <a:latin typeface="隶书" pitchFamily="49" charset="-122"/>
              </a:rPr>
              <a:t>赋值转换</a:t>
            </a:r>
            <a:r>
              <a:rPr kumimoji="1" lang="zh-CN" altLang="en-US" sz="2400" b="1" dirty="0">
                <a:latin typeface="隶书" pitchFamily="49" charset="-122"/>
              </a:rPr>
              <a:t>规则</a:t>
            </a:r>
            <a:r>
              <a:rPr kumimoji="1" lang="en-US" altLang="zh-CN" sz="2400" b="1" dirty="0">
                <a:latin typeface="隶书" pitchFamily="49" charset="-122"/>
              </a:rPr>
              <a:t>:</a:t>
            </a:r>
            <a:r>
              <a:rPr kumimoji="1" lang="zh-CN" altLang="en-US" sz="2400" b="1" dirty="0">
                <a:latin typeface="隶书" pitchFamily="49" charset="-122"/>
              </a:rPr>
              <a:t>使赋值号右边表达式值</a:t>
            </a:r>
            <a:r>
              <a:rPr kumimoji="1" lang="zh-CN" altLang="en-US" sz="2400" b="1" dirty="0">
                <a:solidFill>
                  <a:srgbClr val="0000FF"/>
                </a:solidFill>
                <a:latin typeface="隶书" pitchFamily="49" charset="-122"/>
              </a:rPr>
              <a:t>自动</a:t>
            </a:r>
            <a:r>
              <a:rPr kumimoji="1" lang="zh-CN" altLang="en-US" sz="2400" b="1" dirty="0">
                <a:latin typeface="隶书" pitchFamily="49" charset="-122"/>
              </a:rPr>
              <a:t>转换成其左边变量的类型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D15EA1E8-C736-4E2D-94ED-61D0B1457B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309" y="4038580"/>
            <a:ext cx="3790950" cy="833178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zh-CN" altLang="en-US" sz="2400">
                <a:latin typeface="隶书" pitchFamily="49" charset="-122"/>
                <a:ea typeface="隶书" pitchFamily="49" charset="-122"/>
              </a:rPr>
              <a:t>例  </a:t>
            </a:r>
            <a:r>
              <a:rPr kumimoji="1" lang="en-US" altLang="zh-CN" sz="2400" b="1">
                <a:solidFill>
                  <a:srgbClr val="333300"/>
                </a:solidFill>
                <a:latin typeface="隶书" pitchFamily="49" charset="-122"/>
                <a:ea typeface="隶书" pitchFamily="49" charset="-122"/>
              </a:rPr>
              <a:t>3=x-2*y;</a:t>
            </a:r>
          </a:p>
          <a:p>
            <a:pPr lvl="3"/>
            <a:r>
              <a:rPr kumimoji="1" lang="en-US" altLang="zh-CN" sz="2400" b="1">
                <a:solidFill>
                  <a:srgbClr val="333300"/>
                </a:solidFill>
                <a:latin typeface="隶书" pitchFamily="49" charset="-122"/>
                <a:ea typeface="隶书" pitchFamily="49" charset="-122"/>
              </a:rPr>
              <a:t>    a+b=3;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AA70B214-8A75-44FE-B71F-40F4A1BC1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8209" y="2330432"/>
            <a:ext cx="6056312" cy="1633397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zh-CN" altLang="en-US" sz="2000" b="1" dirty="0">
                <a:latin typeface="宋体" pitchFamily="2" charset="-122"/>
              </a:rPr>
              <a:t>例</a:t>
            </a:r>
            <a:r>
              <a:rPr kumimoji="1" lang="zh-CN" altLang="en-US" sz="2000" b="1" dirty="0">
                <a:latin typeface="隶书" pitchFamily="49" charset="-122"/>
                <a:ea typeface="隶书" pitchFamily="49" charset="-122"/>
              </a:rPr>
              <a:t>  </a:t>
            </a:r>
            <a:r>
              <a:rPr kumimoji="1" lang="en-US" altLang="zh-CN" sz="2000" b="1" dirty="0">
                <a:ea typeface="隶书" pitchFamily="49" charset="-122"/>
              </a:rPr>
              <a:t>float f;  </a:t>
            </a:r>
          </a:p>
          <a:p>
            <a:pPr lvl="3"/>
            <a:r>
              <a:rPr kumimoji="1" lang="en-US" altLang="zh-CN" sz="2000" b="1" dirty="0">
                <a:ea typeface="隶书" pitchFamily="49" charset="-122"/>
              </a:rPr>
              <a:t>       int </a:t>
            </a:r>
            <a:r>
              <a:rPr kumimoji="1" lang="en-US" altLang="zh-CN" sz="2000" b="1" dirty="0" err="1">
                <a:ea typeface="隶书" pitchFamily="49" charset="-122"/>
              </a:rPr>
              <a:t>i</a:t>
            </a:r>
            <a:r>
              <a:rPr kumimoji="1" lang="en-US" altLang="zh-CN" sz="2000" b="1" dirty="0">
                <a:ea typeface="隶书" pitchFamily="49" charset="-122"/>
              </a:rPr>
              <a:t>;</a:t>
            </a:r>
          </a:p>
          <a:p>
            <a:pPr lvl="3"/>
            <a:r>
              <a:rPr kumimoji="1" lang="en-US" altLang="zh-CN" sz="2000" b="1" dirty="0">
                <a:ea typeface="隶书" pitchFamily="49" charset="-122"/>
              </a:rPr>
              <a:t>       </a:t>
            </a:r>
            <a:r>
              <a:rPr kumimoji="1" lang="en-US" altLang="zh-CN" sz="2000" b="1" dirty="0" err="1">
                <a:ea typeface="隶书" pitchFamily="49" charset="-122"/>
              </a:rPr>
              <a:t>i</a:t>
            </a:r>
            <a:r>
              <a:rPr kumimoji="1" lang="en-US" altLang="zh-CN" sz="2000" b="1" dirty="0">
                <a:ea typeface="隶书" pitchFamily="49" charset="-122"/>
              </a:rPr>
              <a:t>=10; </a:t>
            </a:r>
          </a:p>
          <a:p>
            <a:pPr lvl="3"/>
            <a:r>
              <a:rPr kumimoji="1" lang="en-US" altLang="zh-CN" sz="2000" b="1" dirty="0">
                <a:ea typeface="隶书" pitchFamily="49" charset="-122"/>
              </a:rPr>
              <a:t>       f=</a:t>
            </a:r>
            <a:r>
              <a:rPr kumimoji="1" lang="en-US" altLang="zh-CN" sz="2000" b="1" dirty="0" err="1">
                <a:ea typeface="隶书" pitchFamily="49" charset="-122"/>
              </a:rPr>
              <a:t>i</a:t>
            </a:r>
            <a:r>
              <a:rPr kumimoji="1" lang="en-US" altLang="zh-CN" sz="2000" b="1" dirty="0">
                <a:ea typeface="隶书" pitchFamily="49" charset="-122"/>
              </a:rPr>
              <a:t>;</a:t>
            </a:r>
          </a:p>
          <a:p>
            <a:pPr lvl="3"/>
            <a:r>
              <a:rPr kumimoji="1" lang="zh-CN" altLang="en-US" sz="2000" b="1" dirty="0"/>
              <a:t>则</a:t>
            </a:r>
            <a:r>
              <a:rPr kumimoji="1" lang="zh-CN" altLang="en-US" sz="2000" b="1" dirty="0">
                <a:ea typeface="隶书" pitchFamily="49" charset="-122"/>
              </a:rPr>
              <a:t>   </a:t>
            </a:r>
            <a:r>
              <a:rPr kumimoji="1" lang="en-US" altLang="zh-CN" sz="2000" b="1" dirty="0">
                <a:solidFill>
                  <a:srgbClr val="0000FF"/>
                </a:solidFill>
                <a:ea typeface="隶书" pitchFamily="49" charset="-122"/>
              </a:rPr>
              <a:t>f=10.0</a:t>
            </a:r>
            <a:endParaRPr kumimoji="1" lang="en-US" altLang="zh-CN" sz="2400" b="1" dirty="0"/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CC05F924-2423-4E83-B45B-294FADE92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628" y="5946570"/>
            <a:ext cx="2797560" cy="707886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000" b="1" dirty="0"/>
              <a:t>例  </a:t>
            </a:r>
            <a:r>
              <a:rPr kumimoji="1" lang="en-US" altLang="zh-CN" sz="2000" b="1" dirty="0"/>
              <a:t>int </a:t>
            </a:r>
            <a:r>
              <a:rPr kumimoji="1" lang="en-US" altLang="zh-CN" sz="2000" b="1" dirty="0" err="1"/>
              <a:t>i</a:t>
            </a:r>
            <a:r>
              <a:rPr kumimoji="1" lang="en-US" altLang="zh-CN" sz="2000" b="1" dirty="0"/>
              <a:t>; </a:t>
            </a:r>
          </a:p>
          <a:p>
            <a:pPr eaLnBrk="1" hangingPunct="1"/>
            <a:r>
              <a:rPr kumimoji="1" lang="en-US" altLang="zh-CN" sz="2000" b="1" dirty="0"/>
              <a:t>      </a:t>
            </a:r>
            <a:r>
              <a:rPr kumimoji="1" lang="en-US" altLang="zh-CN" sz="2000" b="1" dirty="0" err="1"/>
              <a:t>i</a:t>
            </a:r>
            <a:r>
              <a:rPr kumimoji="1" lang="en-US" altLang="zh-CN" sz="2000" b="1" dirty="0"/>
              <a:t>=2.56;   </a:t>
            </a:r>
          </a:p>
        </p:txBody>
      </p:sp>
      <p:grpSp>
        <p:nvGrpSpPr>
          <p:cNvPr id="8" name="Group 9">
            <a:extLst>
              <a:ext uri="{FF2B5EF4-FFF2-40B4-BE49-F238E27FC236}">
                <a16:creationId xmlns:a16="http://schemas.microsoft.com/office/drawing/2014/main" id="{76E7A1E1-AB21-4D77-BFF0-02C176A61EA2}"/>
              </a:ext>
            </a:extLst>
          </p:cNvPr>
          <p:cNvGrpSpPr>
            <a:grpSpLocks/>
          </p:cNvGrpSpPr>
          <p:nvPr/>
        </p:nvGrpSpPr>
        <p:grpSpPr bwMode="auto">
          <a:xfrm>
            <a:off x="6294596" y="4343380"/>
            <a:ext cx="647700" cy="457200"/>
            <a:chOff x="3680" y="2352"/>
            <a:chExt cx="408" cy="288"/>
          </a:xfrm>
        </p:grpSpPr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956C1E7B-1840-432F-8AB9-12DC2A4590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80" y="2368"/>
              <a:ext cx="336" cy="264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CD169B1F-AACD-400A-99A2-0E994D9D03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352"/>
              <a:ext cx="384" cy="28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85CA376F-BFCA-4B43-BFC8-6733A2E6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4E8E38-B381-47A7-BB01-A51DB97D6757}"/>
              </a:ext>
            </a:extLst>
          </p:cNvPr>
          <p:cNvSpPr txBox="1"/>
          <p:nvPr/>
        </p:nvSpPr>
        <p:spPr>
          <a:xfrm>
            <a:off x="3271428" y="61229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赋值运算符及表达式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C414E9D8-1F5C-425F-BF3C-5BB77DCF0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628" y="5954829"/>
            <a:ext cx="2797561" cy="707886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000" b="1" dirty="0"/>
              <a:t>例  </a:t>
            </a:r>
            <a:r>
              <a:rPr kumimoji="1" lang="en-US" altLang="zh-CN" sz="2000" b="1" dirty="0"/>
              <a:t>int </a:t>
            </a:r>
            <a:r>
              <a:rPr kumimoji="1" lang="en-US" altLang="zh-CN" sz="2000" b="1" dirty="0" err="1"/>
              <a:t>i</a:t>
            </a:r>
            <a:r>
              <a:rPr kumimoji="1" lang="en-US" altLang="zh-CN" sz="2000" b="1" dirty="0"/>
              <a:t>; </a:t>
            </a:r>
          </a:p>
          <a:p>
            <a:pPr eaLnBrk="1" hangingPunct="1"/>
            <a:r>
              <a:rPr kumimoji="1" lang="en-US" altLang="zh-CN" sz="2000" b="1" dirty="0"/>
              <a:t>      </a:t>
            </a:r>
            <a:r>
              <a:rPr kumimoji="1" lang="en-US" altLang="zh-CN" sz="2000" b="1" dirty="0" err="1"/>
              <a:t>i</a:t>
            </a:r>
            <a:r>
              <a:rPr kumimoji="1" lang="en-US" altLang="zh-CN" sz="2000" b="1" dirty="0"/>
              <a:t>=2.56;    //</a:t>
            </a:r>
            <a:r>
              <a:rPr kumimoji="1" lang="zh-CN" altLang="zh-CN" sz="2000" b="1" dirty="0">
                <a:solidFill>
                  <a:srgbClr val="0000FF"/>
                </a:solidFill>
              </a:rPr>
              <a:t>结果</a:t>
            </a:r>
            <a:r>
              <a:rPr kumimoji="1" lang="en-US" altLang="zh-CN" sz="2000" b="1" dirty="0" err="1">
                <a:solidFill>
                  <a:srgbClr val="0000FF"/>
                </a:solidFill>
              </a:rPr>
              <a:t>i</a:t>
            </a:r>
            <a:r>
              <a:rPr kumimoji="1" lang="en-US" altLang="zh-CN" sz="2000" b="1" dirty="0">
                <a:solidFill>
                  <a:srgbClr val="0000FF"/>
                </a:solidFill>
              </a:rPr>
              <a:t>=2</a:t>
            </a:r>
            <a:r>
              <a:rPr kumimoji="1" lang="en-US" altLang="zh-CN" sz="2000" b="1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182403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5" autoUpdateAnimBg="0"/>
      <p:bldP spid="4" grpId="0" build="p" bldLvl="5" autoUpdateAnimBg="0"/>
      <p:bldP spid="5" grpId="0" animBg="1"/>
      <p:bldP spid="6" grpId="0" animBg="1"/>
      <p:bldP spid="7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F3AA8C62-4584-494C-8298-B741F7066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0745" y="3595083"/>
            <a:ext cx="7191375" cy="1941173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400">
                <a:latin typeface="隶书" pitchFamily="49" charset="-122"/>
                <a:ea typeface="隶书" pitchFamily="49" charset="-122"/>
              </a:rPr>
              <a:t>例</a:t>
            </a:r>
            <a:r>
              <a:rPr kumimoji="1" lang="en-US" altLang="zh-CN" sz="2400">
                <a:latin typeface="隶书" pitchFamily="49" charset="-122"/>
                <a:ea typeface="隶书" pitchFamily="49" charset="-122"/>
              </a:rPr>
              <a:t>:   </a:t>
            </a:r>
            <a:r>
              <a:rPr kumimoji="1" lang="en-US" altLang="zh-CN" sz="2400" b="1">
                <a:latin typeface="隶书" pitchFamily="49" charset="-122"/>
                <a:ea typeface="隶书" pitchFamily="49" charset="-122"/>
              </a:rPr>
              <a:t>a=b=c=5</a:t>
            </a:r>
          </a:p>
          <a:p>
            <a:r>
              <a:rPr kumimoji="1" lang="en-US" altLang="zh-CN" sz="2400" b="1">
                <a:latin typeface="隶书" pitchFamily="49" charset="-122"/>
                <a:ea typeface="隶书" pitchFamily="49" charset="-122"/>
              </a:rPr>
              <a:t>      a=(b=5)</a:t>
            </a:r>
          </a:p>
          <a:p>
            <a:r>
              <a:rPr kumimoji="1" lang="en-US" altLang="zh-CN" sz="2400" b="1">
                <a:latin typeface="隶书" pitchFamily="49" charset="-122"/>
                <a:ea typeface="隶书" pitchFamily="49" charset="-122"/>
              </a:rPr>
              <a:t>      a=5+(c=6)</a:t>
            </a:r>
          </a:p>
          <a:p>
            <a:r>
              <a:rPr kumimoji="1" lang="en-US" altLang="zh-CN" sz="2400" b="1">
                <a:latin typeface="隶书" pitchFamily="49" charset="-122"/>
                <a:ea typeface="隶书" pitchFamily="49" charset="-122"/>
              </a:rPr>
              <a:t>      a=(b=4)+(c=6)</a:t>
            </a:r>
          </a:p>
          <a:p>
            <a:r>
              <a:rPr kumimoji="1" lang="en-US" altLang="zh-CN" sz="2400" b="1">
                <a:latin typeface="隶书" pitchFamily="49" charset="-122"/>
                <a:ea typeface="隶书" pitchFamily="49" charset="-122"/>
              </a:rPr>
              <a:t>      a=(b=10)/(c=2)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E9F5F011-8A54-46AB-8D93-4D134EF42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6810" y="3703033"/>
            <a:ext cx="402896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//</a:t>
            </a:r>
            <a:r>
              <a:rPr kumimoji="1" lang="zh-CN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表达式值为5，</a:t>
            </a:r>
            <a:r>
              <a:rPr kumimoji="1" lang="en-US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a,b,c</a:t>
            </a:r>
            <a:r>
              <a:rPr kumimoji="1" lang="zh-CN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值为5</a:t>
            </a:r>
            <a:endParaRPr kumimoji="1" lang="en-US" altLang="zh-CN" sz="2400">
              <a:solidFill>
                <a:srgbClr val="0000FF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617DED1F-5A92-42AD-A5D8-4EE416420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3160" y="4026882"/>
            <a:ext cx="1720641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// b=5;a=5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6326A887-F98F-4594-8C30-9CDCCF4D9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459" y="4312633"/>
            <a:ext cx="35673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//</a:t>
            </a:r>
            <a:r>
              <a:rPr kumimoji="1" lang="zh-CN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表达式值11，</a:t>
            </a:r>
            <a:r>
              <a:rPr kumimoji="1" lang="en-US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c=6,a=11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2879BA86-9471-4ECA-B5C4-4B2ABE970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2060" y="4661882"/>
            <a:ext cx="4182853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//</a:t>
            </a:r>
            <a:r>
              <a:rPr kumimoji="1" lang="zh-CN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表达式值10，</a:t>
            </a:r>
            <a:r>
              <a:rPr kumimoji="1" lang="en-US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a=10,b=4,c=6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9884078A-33B5-4C5C-AF47-53373B1C0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7809" y="5023832"/>
            <a:ext cx="402896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//</a:t>
            </a:r>
            <a:r>
              <a:rPr kumimoji="1" lang="zh-CN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表达式值5，</a:t>
            </a:r>
            <a:r>
              <a:rPr kumimoji="1" lang="en-US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a=5,b=10,c=2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CF068D13-221B-4002-B279-B8BAD5ED2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02" y="2844573"/>
            <a:ext cx="7772400" cy="400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zh-CN" altLang="en-US" sz="2800" b="1" dirty="0">
                <a:solidFill>
                  <a:srgbClr val="FF0066"/>
                </a:solidFill>
                <a:latin typeface="Times New Roman" pitchFamily="18" charset="0"/>
              </a:rPr>
              <a:t>赋值表达式的值</a:t>
            </a:r>
            <a:r>
              <a:rPr kumimoji="1" lang="zh-CN" altLang="en-US" sz="2800" b="1" dirty="0">
                <a:solidFill>
                  <a:srgbClr val="200AC4"/>
                </a:solidFill>
                <a:latin typeface="Times New Roman" pitchFamily="18" charset="0"/>
              </a:rPr>
              <a:t>与变量值相等</a:t>
            </a:r>
            <a:r>
              <a:rPr kumimoji="1" lang="en-US" altLang="zh-CN" sz="2800" b="1" dirty="0">
                <a:solidFill>
                  <a:srgbClr val="200AC4"/>
                </a:solidFill>
                <a:latin typeface="Times New Roman" pitchFamily="18" charset="0"/>
              </a:rPr>
              <a:t>,</a:t>
            </a:r>
            <a:r>
              <a:rPr kumimoji="1" lang="zh-CN" altLang="en-US" sz="2800" b="1" dirty="0">
                <a:solidFill>
                  <a:srgbClr val="200AC4"/>
                </a:solidFill>
                <a:latin typeface="Times New Roman" pitchFamily="18" charset="0"/>
              </a:rPr>
              <a:t>且可嵌套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50142212-2B2E-464A-BBF0-1E283B27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9225"/>
            <a:ext cx="2743200" cy="365125"/>
          </a:xfrm>
        </p:spPr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39B88C-CD5E-4585-902A-02F3F5F98AD8}"/>
              </a:ext>
            </a:extLst>
          </p:cNvPr>
          <p:cNvSpPr txBox="1"/>
          <p:nvPr/>
        </p:nvSpPr>
        <p:spPr>
          <a:xfrm>
            <a:off x="3271428" y="61229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赋值运算符及表达式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806CE962-48E1-4AC6-882C-AFF7C379B967}"/>
              </a:ext>
            </a:extLst>
          </p:cNvPr>
          <p:cNvSpPr txBox="1">
            <a:spLocks noChangeArrowheads="1"/>
          </p:cNvSpPr>
          <p:nvPr/>
        </p:nvSpPr>
        <p:spPr>
          <a:xfrm>
            <a:off x="801846" y="768331"/>
            <a:ext cx="7772400" cy="1524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zh-CN" altLang="en-US" sz="2800" b="1" dirty="0">
                <a:solidFill>
                  <a:srgbClr val="FF0066"/>
                </a:solidFill>
                <a:latin typeface="隶书" pitchFamily="49" charset="-122"/>
              </a:rPr>
              <a:t>说明</a:t>
            </a:r>
            <a:r>
              <a:rPr lang="en-US" altLang="zh-CN" sz="2800" b="1" dirty="0">
                <a:solidFill>
                  <a:srgbClr val="FF0066"/>
                </a:solidFill>
                <a:latin typeface="隶书" pitchFamily="49" charset="-122"/>
              </a:rPr>
              <a:t>:</a:t>
            </a:r>
          </a:p>
          <a:p>
            <a:pPr lvl="3"/>
            <a:r>
              <a:rPr lang="zh-CN" altLang="en-US" sz="2400" b="1" dirty="0">
                <a:latin typeface="隶书" pitchFamily="49" charset="-122"/>
              </a:rPr>
              <a:t>结合方向：</a:t>
            </a:r>
            <a:r>
              <a:rPr lang="zh-CN" altLang="en-US" sz="2400" b="1" dirty="0">
                <a:solidFill>
                  <a:srgbClr val="3333FF"/>
                </a:solidFill>
                <a:latin typeface="隶书" pitchFamily="49" charset="-122"/>
              </a:rPr>
              <a:t>自右向左</a:t>
            </a:r>
          </a:p>
          <a:p>
            <a:pPr lvl="3"/>
            <a:r>
              <a:rPr lang="zh-CN" altLang="en-US" sz="2400" b="1" dirty="0"/>
              <a:t>优先级</a:t>
            </a:r>
            <a:r>
              <a:rPr lang="en-US" altLang="zh-CN" sz="2400" b="1" dirty="0"/>
              <a:t>:   </a:t>
            </a:r>
            <a:r>
              <a:rPr lang="en-US" altLang="zh-CN" sz="2400" b="1" dirty="0">
                <a:solidFill>
                  <a:srgbClr val="0033CC"/>
                </a:solidFill>
              </a:rPr>
              <a:t>14</a:t>
            </a:r>
          </a:p>
          <a:p>
            <a:pPr lvl="3"/>
            <a:r>
              <a:rPr lang="zh-CN" altLang="en-US" sz="2400" b="1" dirty="0">
                <a:latin typeface="隶书" pitchFamily="49" charset="-122"/>
              </a:rPr>
              <a:t>左侧必须是变量，不能是常量或表达式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90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4" grpId="0" build="p" autoUpdateAnimBg="0"/>
      <p:bldP spid="5" grpId="0" build="p" autoUpdateAnimBg="0"/>
      <p:bldP spid="6" grpId="0" build="p" autoUpdateAnimBg="0"/>
      <p:bldP spid="7" grpId="0" build="p" autoUpdateAnimBg="0"/>
      <p:bldP spid="8" grpId="0" build="p" autoUpdateAnimBg="0"/>
      <p:bldP spid="9" grpId="0" build="p" bldLvl="5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>
            <a:extLst>
              <a:ext uri="{FF2B5EF4-FFF2-40B4-BE49-F238E27FC236}">
                <a16:creationId xmlns:a16="http://schemas.microsoft.com/office/drawing/2014/main" id="{443C7E1C-EFD1-4682-B0C3-0BD06717F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5736" y="3584797"/>
            <a:ext cx="8524875" cy="833178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zh-CN" sz="2400" b="1" dirty="0">
                <a:latin typeface="隶书" pitchFamily="49" charset="-122"/>
                <a:ea typeface="隶书" pitchFamily="49" charset="-122"/>
              </a:rPr>
              <a:t>例:  </a:t>
            </a:r>
            <a:r>
              <a:rPr kumimoji="1" lang="en-US" altLang="zh-CN" sz="2400" b="1" dirty="0">
                <a:latin typeface="隶书" pitchFamily="49" charset="-122"/>
                <a:ea typeface="隶书" pitchFamily="49" charset="-122"/>
              </a:rPr>
              <a:t>a=12;    </a:t>
            </a:r>
          </a:p>
          <a:p>
            <a:r>
              <a:rPr kumimoji="1" lang="en-US" altLang="zh-CN" sz="2400" b="1" dirty="0">
                <a:latin typeface="隶书" pitchFamily="49" charset="-122"/>
                <a:ea typeface="隶书" pitchFamily="49" charset="-122"/>
              </a:rPr>
              <a:t>     a+=a-=a*a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A2BDB930-32BB-42C0-ABEF-42A2B9DEC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5736" y="4748434"/>
            <a:ext cx="8524875" cy="1202510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400" b="1">
                <a:latin typeface="隶书" pitchFamily="49" charset="-122"/>
                <a:ea typeface="隶书" pitchFamily="49" charset="-122"/>
              </a:rPr>
              <a:t>例</a:t>
            </a:r>
            <a:r>
              <a:rPr kumimoji="1" lang="en-US" altLang="zh-CN" sz="2400" b="1">
                <a:latin typeface="隶书" pitchFamily="49" charset="-122"/>
                <a:ea typeface="隶书" pitchFamily="49" charset="-122"/>
              </a:rPr>
              <a:t>:  int a=2;  </a:t>
            </a:r>
          </a:p>
          <a:p>
            <a:r>
              <a:rPr kumimoji="1" lang="en-US" altLang="zh-CN" sz="2400" b="1">
                <a:latin typeface="隶书" pitchFamily="49" charset="-122"/>
                <a:ea typeface="隶书" pitchFamily="49" charset="-122"/>
              </a:rPr>
              <a:t>     a%=4-1;  </a:t>
            </a:r>
          </a:p>
          <a:p>
            <a:r>
              <a:rPr kumimoji="1" lang="en-US" altLang="zh-CN" sz="2400" b="1">
                <a:latin typeface="隶书" pitchFamily="49" charset="-122"/>
                <a:ea typeface="隶书" pitchFamily="49" charset="-122"/>
              </a:rPr>
              <a:t>     a+=a*=a-=a*=3;  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9E6F8D79-425F-46D3-AEFA-9922AAD4E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1373" y="3965797"/>
            <a:ext cx="4798406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//a=-264 </a:t>
            </a:r>
            <a:r>
              <a:rPr kumimoji="1" lang="zh-CN" altLang="zh-CN" sz="2400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等价于</a:t>
            </a:r>
            <a:r>
              <a:rPr kumimoji="1" lang="en-US" altLang="zh-CN" sz="2400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a=a+(a=a-(a*a))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4E836AE1-57F3-4ADB-B456-A535ECDF7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635" y="5483448"/>
            <a:ext cx="5567848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//a=0 </a:t>
            </a:r>
            <a:r>
              <a:rPr kumimoji="1" lang="zh-CN" altLang="en-US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等价于</a:t>
            </a:r>
            <a:r>
              <a:rPr kumimoji="1" lang="en-US" altLang="zh-CN" sz="24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a=a+(a=a*(a=a-(a=a*3)))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957E70B-C0B0-4787-9E1F-7B1B7534E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39586B8-2805-4D17-ABD7-88995F62A205}"/>
              </a:ext>
            </a:extLst>
          </p:cNvPr>
          <p:cNvSpPr txBox="1"/>
          <p:nvPr/>
        </p:nvSpPr>
        <p:spPr>
          <a:xfrm>
            <a:off x="3271428" y="61229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赋值运算符及表达式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6C61F-3F2D-45E4-B703-F789A2A89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02" y="2844573"/>
            <a:ext cx="7772400" cy="400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zh-CN" altLang="en-US" sz="2800" b="1" dirty="0">
                <a:solidFill>
                  <a:srgbClr val="FF0066"/>
                </a:solidFill>
                <a:latin typeface="Times New Roman" pitchFamily="18" charset="0"/>
              </a:rPr>
              <a:t>赋值表达式的值</a:t>
            </a:r>
            <a:r>
              <a:rPr kumimoji="1" lang="zh-CN" altLang="en-US" sz="2800" b="1" dirty="0">
                <a:solidFill>
                  <a:srgbClr val="200AC4"/>
                </a:solidFill>
                <a:latin typeface="Times New Roman" pitchFamily="18" charset="0"/>
              </a:rPr>
              <a:t>与变量值相等</a:t>
            </a:r>
            <a:r>
              <a:rPr kumimoji="1" lang="en-US" altLang="zh-CN" sz="2800" b="1" dirty="0">
                <a:solidFill>
                  <a:srgbClr val="200AC4"/>
                </a:solidFill>
                <a:latin typeface="Times New Roman" pitchFamily="18" charset="0"/>
              </a:rPr>
              <a:t>,</a:t>
            </a:r>
            <a:r>
              <a:rPr kumimoji="1" lang="zh-CN" altLang="en-US" sz="2800" b="1" dirty="0">
                <a:solidFill>
                  <a:srgbClr val="200AC4"/>
                </a:solidFill>
                <a:latin typeface="Times New Roman" pitchFamily="18" charset="0"/>
              </a:rPr>
              <a:t>且可嵌套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8F7AE112-980A-4BC6-9328-EBD2C35CA68C}"/>
              </a:ext>
            </a:extLst>
          </p:cNvPr>
          <p:cNvSpPr txBox="1">
            <a:spLocks noChangeArrowheads="1"/>
          </p:cNvSpPr>
          <p:nvPr/>
        </p:nvSpPr>
        <p:spPr>
          <a:xfrm>
            <a:off x="801846" y="768331"/>
            <a:ext cx="7772400" cy="1524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zh-CN" altLang="en-US" sz="2800" b="1" dirty="0">
                <a:solidFill>
                  <a:srgbClr val="FF0066"/>
                </a:solidFill>
                <a:latin typeface="隶书" pitchFamily="49" charset="-122"/>
              </a:rPr>
              <a:t>说明</a:t>
            </a:r>
            <a:r>
              <a:rPr lang="en-US" altLang="zh-CN" sz="2800" b="1" dirty="0">
                <a:solidFill>
                  <a:srgbClr val="FF0066"/>
                </a:solidFill>
                <a:latin typeface="隶书" pitchFamily="49" charset="-122"/>
              </a:rPr>
              <a:t>:</a:t>
            </a:r>
          </a:p>
          <a:p>
            <a:pPr lvl="3"/>
            <a:r>
              <a:rPr lang="zh-CN" altLang="en-US" sz="2400" b="1" dirty="0">
                <a:latin typeface="隶书" pitchFamily="49" charset="-122"/>
              </a:rPr>
              <a:t>结合方向：</a:t>
            </a:r>
            <a:r>
              <a:rPr lang="zh-CN" altLang="en-US" sz="2400" b="1" dirty="0">
                <a:solidFill>
                  <a:srgbClr val="3333FF"/>
                </a:solidFill>
                <a:latin typeface="隶书" pitchFamily="49" charset="-122"/>
              </a:rPr>
              <a:t>自右向左</a:t>
            </a:r>
          </a:p>
          <a:p>
            <a:pPr lvl="3"/>
            <a:r>
              <a:rPr lang="zh-CN" altLang="en-US" sz="2400" b="1" dirty="0"/>
              <a:t>优先级</a:t>
            </a:r>
            <a:r>
              <a:rPr lang="en-US" altLang="zh-CN" sz="2400" b="1" dirty="0"/>
              <a:t>:   </a:t>
            </a:r>
            <a:r>
              <a:rPr lang="en-US" altLang="zh-CN" sz="2400" b="1" dirty="0">
                <a:solidFill>
                  <a:srgbClr val="0033CC"/>
                </a:solidFill>
              </a:rPr>
              <a:t>14</a:t>
            </a:r>
          </a:p>
          <a:p>
            <a:pPr lvl="3"/>
            <a:r>
              <a:rPr lang="zh-CN" altLang="en-US" sz="2400" b="1" dirty="0">
                <a:latin typeface="隶书" pitchFamily="49" charset="-122"/>
              </a:rPr>
              <a:t>左侧必须是变量，不能是常量或表达式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908027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animBg="1" autoUpdateAnimBg="0"/>
      <p:bldP spid="7" grpId="0" build="p" autoUpdateAnimBg="0"/>
      <p:bldP spid="8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2644406-745C-4ECD-8B11-246B12D4CC93}"/>
              </a:ext>
            </a:extLst>
          </p:cNvPr>
          <p:cNvSpPr txBox="1">
            <a:spLocks noChangeArrowheads="1"/>
          </p:cNvSpPr>
          <p:nvPr/>
        </p:nvSpPr>
        <p:spPr>
          <a:xfrm>
            <a:off x="-573061" y="316359"/>
            <a:ext cx="11451166" cy="2605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endParaRPr lang="zh-CN" altLang="en-US" sz="2800" b="1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lvl="2"/>
            <a:r>
              <a:rPr lang="zh-CN" altLang="en-US" sz="2400" b="1" dirty="0"/>
              <a:t>形式：</a:t>
            </a:r>
            <a:r>
              <a:rPr lang="zh-CN" altLang="en-US" sz="2400" b="1" dirty="0">
                <a:solidFill>
                  <a:srgbClr val="3333FF"/>
                </a:solidFill>
              </a:rPr>
              <a:t>表达式</a:t>
            </a:r>
            <a:r>
              <a:rPr lang="en-US" altLang="zh-CN" sz="2400" b="1" dirty="0">
                <a:solidFill>
                  <a:srgbClr val="3333FF"/>
                </a:solidFill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</a:rPr>
              <a:t>，</a:t>
            </a:r>
            <a:r>
              <a:rPr lang="zh-CN" altLang="en-US" sz="2400" b="1" dirty="0">
                <a:solidFill>
                  <a:srgbClr val="3333FF"/>
                </a:solidFill>
              </a:rPr>
              <a:t>表达式</a:t>
            </a:r>
            <a:r>
              <a:rPr lang="en-US" altLang="zh-CN" sz="2400" b="1" dirty="0">
                <a:solidFill>
                  <a:srgbClr val="3333FF"/>
                </a:solidFill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</a:rPr>
              <a:t>，</a:t>
            </a:r>
            <a:r>
              <a:rPr lang="en-US" altLang="zh-CN" sz="2400" b="1" dirty="0">
                <a:solidFill>
                  <a:srgbClr val="3333FF"/>
                </a:solidFill>
              </a:rPr>
              <a:t>……</a:t>
            </a:r>
            <a:r>
              <a:rPr lang="zh-CN" altLang="en-US" sz="2400" b="1" dirty="0">
                <a:solidFill>
                  <a:srgbClr val="FF0000"/>
                </a:solidFill>
              </a:rPr>
              <a:t>，</a:t>
            </a:r>
            <a:r>
              <a:rPr lang="zh-CN" altLang="en-US" sz="2400" b="1" dirty="0">
                <a:solidFill>
                  <a:srgbClr val="00CC00"/>
                </a:solidFill>
              </a:rPr>
              <a:t>表达式</a:t>
            </a:r>
            <a:r>
              <a:rPr lang="en-US" altLang="zh-CN" sz="2400" b="1" dirty="0">
                <a:solidFill>
                  <a:srgbClr val="00CC00"/>
                </a:solidFill>
              </a:rPr>
              <a:t>n</a:t>
            </a:r>
          </a:p>
          <a:p>
            <a:pPr lvl="2"/>
            <a:r>
              <a:rPr lang="zh-CN" altLang="en-US" sz="2400" b="1" dirty="0"/>
              <a:t>结合性</a:t>
            </a:r>
            <a:r>
              <a:rPr lang="en-US" altLang="zh-CN" sz="2400" b="1" dirty="0"/>
              <a:t>:</a:t>
            </a:r>
            <a:r>
              <a:rPr lang="zh-CN" altLang="en-US" sz="2400" b="1" dirty="0"/>
              <a:t>从左向右</a:t>
            </a:r>
          </a:p>
          <a:p>
            <a:pPr lvl="2"/>
            <a:r>
              <a:rPr lang="zh-CN" altLang="en-US" sz="2400" b="1" dirty="0"/>
              <a:t>优先级</a:t>
            </a:r>
            <a:r>
              <a:rPr lang="en-US" altLang="zh-CN" sz="2400" b="1" dirty="0"/>
              <a:t>:</a:t>
            </a:r>
            <a:r>
              <a:rPr lang="en-US" altLang="zh-CN" sz="2400" b="1" dirty="0">
                <a:solidFill>
                  <a:srgbClr val="FF0066"/>
                </a:solidFill>
              </a:rPr>
              <a:t> 15</a:t>
            </a:r>
          </a:p>
          <a:p>
            <a:pPr lvl="2"/>
            <a:r>
              <a:rPr lang="zh-CN" altLang="en-US" sz="2400" b="1" dirty="0"/>
              <a:t>逗号表达式</a:t>
            </a:r>
            <a:r>
              <a:rPr lang="zh-CN" altLang="zh-CN" sz="2400" b="1" dirty="0"/>
              <a:t>的值：等于</a:t>
            </a:r>
            <a:r>
              <a:rPr lang="zh-CN" altLang="zh-CN" sz="2400" b="1" dirty="0">
                <a:solidFill>
                  <a:srgbClr val="00CC00"/>
                </a:solidFill>
              </a:rPr>
              <a:t>表达式</a:t>
            </a:r>
            <a:r>
              <a:rPr lang="en-US" altLang="zh-CN" sz="2400" b="1" dirty="0">
                <a:solidFill>
                  <a:srgbClr val="00CC00"/>
                </a:solidFill>
              </a:rPr>
              <a:t>n</a:t>
            </a:r>
            <a:r>
              <a:rPr lang="zh-CN" altLang="zh-CN" sz="2400" b="1" dirty="0"/>
              <a:t>的值</a:t>
            </a:r>
          </a:p>
          <a:p>
            <a:pPr lvl="2"/>
            <a:r>
              <a:rPr lang="zh-CN" altLang="en-US" sz="2400" b="1" dirty="0"/>
              <a:t>用途：</a:t>
            </a:r>
            <a:r>
              <a:rPr lang="zh-CN" altLang="zh-CN" sz="2400" b="1" dirty="0"/>
              <a:t>常用于循环</a:t>
            </a:r>
            <a:r>
              <a:rPr lang="en-US" altLang="zh-CN" sz="2400" b="1" dirty="0"/>
              <a:t>for</a:t>
            </a:r>
            <a:r>
              <a:rPr lang="zh-CN" altLang="zh-CN" sz="2400" b="1" dirty="0"/>
              <a:t>语句中</a:t>
            </a:r>
            <a:endParaRPr lang="zh-CN" altLang="en-US" b="1" dirty="0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26AB67FF-5BF5-44FE-80F3-ED367A809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538" y="2960371"/>
            <a:ext cx="8396288" cy="2987614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zh-CN" altLang="en-US" sz="2400" b="1" dirty="0">
                <a:latin typeface="Times New Roman" pitchFamily="18" charset="0"/>
              </a:rPr>
              <a:t>例   </a:t>
            </a:r>
            <a:r>
              <a:rPr kumimoji="1" lang="en-US" altLang="zh-CN" sz="2400" b="1" dirty="0">
                <a:latin typeface="Times New Roman" pitchFamily="18" charset="0"/>
              </a:rPr>
              <a:t>a=3*5,a*4</a:t>
            </a:r>
          </a:p>
          <a:p>
            <a:pPr lvl="3"/>
            <a:r>
              <a:rPr kumimoji="1" lang="en-US" altLang="zh-CN" sz="2400" b="1" dirty="0">
                <a:latin typeface="Times New Roman" pitchFamily="18" charset="0"/>
              </a:rPr>
              <a:t>      a=3*5,a*4,a+5</a:t>
            </a:r>
          </a:p>
          <a:p>
            <a:pPr lvl="3"/>
            <a:r>
              <a:rPr kumimoji="1" lang="zh-CN" altLang="zh-CN" sz="2400" b="1" dirty="0">
                <a:latin typeface="Times New Roman" pitchFamily="18" charset="0"/>
              </a:rPr>
              <a:t>例  </a:t>
            </a:r>
            <a:r>
              <a:rPr kumimoji="1" lang="en-US" altLang="zh-CN" sz="2400" b="1" dirty="0">
                <a:latin typeface="Times New Roman" pitchFamily="18" charset="0"/>
              </a:rPr>
              <a:t>x=(a=3,6*3)</a:t>
            </a:r>
          </a:p>
          <a:p>
            <a:pPr lvl="3"/>
            <a:r>
              <a:rPr kumimoji="1" lang="en-US" altLang="zh-CN" sz="2400" b="1" dirty="0">
                <a:latin typeface="Times New Roman" pitchFamily="18" charset="0"/>
              </a:rPr>
              <a:t>      x=a=3,6*a</a:t>
            </a:r>
          </a:p>
          <a:p>
            <a:pPr lvl="3"/>
            <a:r>
              <a:rPr kumimoji="1" lang="zh-CN" altLang="zh-CN" sz="2400" b="1" dirty="0">
                <a:latin typeface="Times New Roman" pitchFamily="18" charset="0"/>
              </a:rPr>
              <a:t>例   </a:t>
            </a:r>
            <a:r>
              <a:rPr kumimoji="1" lang="en-US" altLang="zh-CN" sz="2400" b="1" dirty="0">
                <a:latin typeface="Times New Roman" pitchFamily="18" charset="0"/>
              </a:rPr>
              <a:t>a=1;b=2;c=3;</a:t>
            </a:r>
          </a:p>
          <a:p>
            <a:pPr lvl="3"/>
            <a:r>
              <a:rPr kumimoji="1" lang="en-US" altLang="zh-CN" sz="2400" b="1" dirty="0">
                <a:latin typeface="Times New Roman" pitchFamily="18" charset="0"/>
              </a:rPr>
              <a:t>      printf("%d,%d,%d",</a:t>
            </a:r>
            <a:r>
              <a:rPr kumimoji="1" lang="en-US" altLang="zh-CN" sz="2400" b="1" dirty="0" err="1">
                <a:latin typeface="Times New Roman" pitchFamily="18" charset="0"/>
              </a:rPr>
              <a:t>a,b,c</a:t>
            </a:r>
            <a:r>
              <a:rPr kumimoji="1" lang="en-US" altLang="zh-CN" sz="2400" b="1" dirty="0">
                <a:latin typeface="Times New Roman" pitchFamily="18" charset="0"/>
              </a:rPr>
              <a:t>);   </a:t>
            </a:r>
          </a:p>
          <a:p>
            <a:pPr lvl="3"/>
            <a:r>
              <a:rPr kumimoji="1" lang="en-US" altLang="zh-CN" sz="2400" b="1" dirty="0">
                <a:latin typeface="Times New Roman" pitchFamily="18" charset="0"/>
              </a:rPr>
              <a:t>      printf("%</a:t>
            </a:r>
            <a:r>
              <a:rPr kumimoji="1" lang="en-US" altLang="zh-CN" sz="2400" b="1" dirty="0" err="1">
                <a:latin typeface="Times New Roman" pitchFamily="18" charset="0"/>
              </a:rPr>
              <a:t>d,%d,%d</a:t>
            </a:r>
            <a:r>
              <a:rPr kumimoji="1" lang="en-US" altLang="zh-CN" sz="2400" b="1" dirty="0">
                <a:latin typeface="Times New Roman" pitchFamily="18" charset="0"/>
              </a:rPr>
              <a:t>",(</a:t>
            </a:r>
            <a:r>
              <a:rPr kumimoji="1" lang="en-US" altLang="zh-CN" sz="2400" b="1" dirty="0" err="1">
                <a:latin typeface="Times New Roman" pitchFamily="18" charset="0"/>
              </a:rPr>
              <a:t>a,b,c</a:t>
            </a:r>
            <a:r>
              <a:rPr kumimoji="1" lang="en-US" altLang="zh-CN" sz="2400" b="1" dirty="0">
                <a:latin typeface="Times New Roman" pitchFamily="18" charset="0"/>
              </a:rPr>
              <a:t>),</a:t>
            </a:r>
            <a:r>
              <a:rPr kumimoji="1" lang="en-US" altLang="zh-CN" sz="2400" b="1" dirty="0" err="1">
                <a:latin typeface="Times New Roman" pitchFamily="18" charset="0"/>
              </a:rPr>
              <a:t>b,c</a:t>
            </a:r>
            <a:r>
              <a:rPr kumimoji="1" lang="en-US" altLang="zh-CN" sz="2400" b="1" dirty="0">
                <a:latin typeface="Times New Roman" pitchFamily="18" charset="0"/>
              </a:rPr>
              <a:t>);     </a:t>
            </a:r>
          </a:p>
          <a:p>
            <a:endParaRPr kumimoji="1" lang="en-US" altLang="zh-CN" sz="2000" b="1" dirty="0">
              <a:ea typeface="隶书" pitchFamily="49" charset="-122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D2BF401B-81B6-4018-9626-354883FFC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5703" y="2922271"/>
            <a:ext cx="3551237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</a:rPr>
              <a:t>//a=15,</a:t>
            </a:r>
            <a:r>
              <a:rPr kumimoji="1" lang="zh-CN" altLang="zh-CN" sz="2400" b="1">
                <a:solidFill>
                  <a:srgbClr val="0000FF"/>
                </a:solidFill>
                <a:latin typeface="Times New Roman" pitchFamily="18" charset="0"/>
              </a:rPr>
              <a:t>表达式值60</a:t>
            </a:r>
            <a:endParaRPr kumimoji="1" lang="en-US" altLang="zh-CN" sz="2400" b="1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B40C0A5D-C7BA-42FC-82FD-C4B27DC52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551" y="3265171"/>
            <a:ext cx="3392487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</a:rPr>
              <a:t>//a=15,</a:t>
            </a:r>
            <a:r>
              <a:rPr kumimoji="1" lang="zh-CN" altLang="zh-CN" sz="2400" b="1">
                <a:solidFill>
                  <a:srgbClr val="0000FF"/>
                </a:solidFill>
                <a:latin typeface="Times New Roman" pitchFamily="18" charset="0"/>
              </a:rPr>
              <a:t>表达式值20</a:t>
            </a:r>
            <a:endParaRPr kumimoji="1" lang="en-US" altLang="zh-CN" sz="2400" b="1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C070470C-4764-4B55-B7BA-DA1D075EE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3988" y="3722371"/>
            <a:ext cx="499745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//</a:t>
            </a:r>
            <a:r>
              <a:rPr kumimoji="1" lang="zh-CN" altLang="zh-CN" sz="2400" b="1" dirty="0">
                <a:solidFill>
                  <a:srgbClr val="0000FF"/>
                </a:solidFill>
                <a:latin typeface="Times New Roman" pitchFamily="18" charset="0"/>
              </a:rPr>
              <a:t>赋值表达式，表达式值18，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x=18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4B4CEB13-B896-446C-98C3-0FAFE4E48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7003" y="4141471"/>
            <a:ext cx="4700587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//</a:t>
            </a:r>
            <a:r>
              <a:rPr kumimoji="1" lang="zh-CN" altLang="zh-CN" sz="2400" b="1" dirty="0">
                <a:solidFill>
                  <a:srgbClr val="0000FF"/>
                </a:solidFill>
                <a:latin typeface="Times New Roman" pitchFamily="18" charset="0"/>
              </a:rPr>
              <a:t>逗号表达式,表达式值18,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x=3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A67152F9-6AB3-4A6C-88AE-FCFF55957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5952" y="4770122"/>
            <a:ext cx="2090737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</a:rPr>
              <a:t>//1,2,3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1118D1EB-3AE1-44DA-82BC-7D38515A8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7853" y="5189222"/>
            <a:ext cx="1804987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</a:rPr>
              <a:t>//3,2,3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9EAE2D67-4D91-4C5E-9368-ABFFEC9E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A1A50C-1DF7-466C-94DB-2ABC70363CDC}"/>
              </a:ext>
            </a:extLst>
          </p:cNvPr>
          <p:cNvSpPr txBox="1"/>
          <p:nvPr/>
        </p:nvSpPr>
        <p:spPr>
          <a:xfrm>
            <a:off x="3271428" y="61229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逗号运算符及表达式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547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build="p" autoUpdateAnimBg="0"/>
      <p:bldP spid="7" grpId="0" build="p" autoUpdateAnimBg="0"/>
      <p:bldP spid="8" grpId="0" build="p" autoUpdateAnimBg="0"/>
      <p:bldP spid="9" grpId="0" build="p" autoUpdateAnimBg="0"/>
      <p:bldP spid="10" grpId="0" build="p" autoUpdateAnimBg="0"/>
      <p:bldP spid="11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08F2B40-6133-4EBE-B277-DE072AA2B98F}"/>
              </a:ext>
            </a:extLst>
          </p:cNvPr>
          <p:cNvSpPr txBox="1">
            <a:spLocks noChangeArrowheads="1"/>
          </p:cNvSpPr>
          <p:nvPr/>
        </p:nvSpPr>
        <p:spPr>
          <a:xfrm>
            <a:off x="-117693" y="787876"/>
            <a:ext cx="8501063" cy="91012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b="1" dirty="0"/>
              <a:t>一般形式：  </a:t>
            </a:r>
            <a:r>
              <a:rPr lang="zh-CN" altLang="en-US" b="1" dirty="0">
                <a:solidFill>
                  <a:srgbClr val="3333FF"/>
                </a:solidFill>
              </a:rPr>
              <a:t>表达式</a:t>
            </a:r>
            <a:r>
              <a:rPr lang="en-US" altLang="zh-CN" b="1" dirty="0">
                <a:solidFill>
                  <a:srgbClr val="3333FF"/>
                </a:solidFill>
              </a:rPr>
              <a:t>1 </a:t>
            </a:r>
            <a:r>
              <a:rPr lang="en-US" altLang="zh-CN" b="1" dirty="0">
                <a:solidFill>
                  <a:srgbClr val="FF0000"/>
                </a:solidFill>
              </a:rPr>
              <a:t> ?</a:t>
            </a:r>
            <a:r>
              <a:rPr lang="en-US" altLang="zh-CN" b="1" dirty="0">
                <a:solidFill>
                  <a:srgbClr val="3333FF"/>
                </a:solidFill>
              </a:rPr>
              <a:t>  </a:t>
            </a:r>
            <a:r>
              <a:rPr lang="zh-CN" altLang="en-US" b="1" dirty="0">
                <a:solidFill>
                  <a:srgbClr val="3333FF"/>
                </a:solidFill>
              </a:rPr>
              <a:t>表达式</a:t>
            </a:r>
            <a:r>
              <a:rPr lang="en-US" altLang="zh-CN" b="1" dirty="0">
                <a:solidFill>
                  <a:srgbClr val="3333FF"/>
                </a:solidFill>
              </a:rPr>
              <a:t>2</a:t>
            </a:r>
            <a:r>
              <a:rPr lang="en-US" altLang="zh-CN" b="1" dirty="0">
                <a:solidFill>
                  <a:srgbClr val="FF0000"/>
                </a:solidFill>
              </a:rPr>
              <a:t>  :</a:t>
            </a:r>
            <a:r>
              <a:rPr lang="en-US" altLang="zh-CN" b="1" dirty="0">
                <a:solidFill>
                  <a:srgbClr val="3333FF"/>
                </a:solidFill>
              </a:rPr>
              <a:t>  </a:t>
            </a:r>
            <a:r>
              <a:rPr lang="zh-CN" altLang="en-US" b="1" dirty="0">
                <a:solidFill>
                  <a:srgbClr val="3333FF"/>
                </a:solidFill>
              </a:rPr>
              <a:t>表达式</a:t>
            </a:r>
            <a:r>
              <a:rPr lang="en-US" altLang="zh-CN" b="1" dirty="0">
                <a:solidFill>
                  <a:srgbClr val="3333FF"/>
                </a:solidFill>
              </a:rPr>
              <a:t>3</a:t>
            </a:r>
          </a:p>
          <a:p>
            <a:pPr lvl="2">
              <a:spcBef>
                <a:spcPts val="3000"/>
              </a:spcBef>
            </a:pPr>
            <a:r>
              <a:rPr lang="zh-CN" altLang="en-US" sz="2400" b="1" dirty="0"/>
              <a:t>执行过程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21DD1B30-6609-4362-8CDA-F8508D67F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172" y="4819280"/>
            <a:ext cx="3373438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000000"/>
                </a:solidFill>
              </a:rPr>
              <a:t>求两个数据的最大值？</a:t>
            </a:r>
            <a:endParaRPr kumimoji="1" lang="en-US" altLang="zh-CN" sz="2400" b="1">
              <a:solidFill>
                <a:srgbClr val="000000"/>
              </a:solidFill>
            </a:endParaRPr>
          </a:p>
        </p:txBody>
      </p:sp>
      <p:grpSp>
        <p:nvGrpSpPr>
          <p:cNvPr id="6" name="Group 7">
            <a:extLst>
              <a:ext uri="{FF2B5EF4-FFF2-40B4-BE49-F238E27FC236}">
                <a16:creationId xmlns:a16="http://schemas.microsoft.com/office/drawing/2014/main" id="{91B206BD-70BD-4A13-9289-5CEA361E7C05}"/>
              </a:ext>
            </a:extLst>
          </p:cNvPr>
          <p:cNvGrpSpPr>
            <a:grpSpLocks/>
          </p:cNvGrpSpPr>
          <p:nvPr/>
        </p:nvGrpSpPr>
        <p:grpSpPr bwMode="auto">
          <a:xfrm>
            <a:off x="2201584" y="1571773"/>
            <a:ext cx="4266670" cy="2755371"/>
            <a:chOff x="3312" y="1584"/>
            <a:chExt cx="2292" cy="1488"/>
          </a:xfrm>
        </p:grpSpPr>
        <p:sp>
          <p:nvSpPr>
            <p:cNvPr id="7" name="AutoShape 8">
              <a:extLst>
                <a:ext uri="{FF2B5EF4-FFF2-40B4-BE49-F238E27FC236}">
                  <a16:creationId xmlns:a16="http://schemas.microsoft.com/office/drawing/2014/main" id="{749392F7-0D8E-46D2-B339-00248A804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3" y="1884"/>
              <a:ext cx="967" cy="367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kumimoji="1" lang="zh-CN" altLang="en-US" b="1" dirty="0">
                  <a:solidFill>
                    <a:srgbClr val="000000"/>
                  </a:solidFill>
                  <a:latin typeface="Times New Roman" pitchFamily="18" charset="0"/>
                </a:rPr>
                <a:t>表达式</a:t>
              </a:r>
              <a:r>
                <a:rPr kumimoji="1" lang="en-US" altLang="zh-CN" b="1" dirty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F7A8250D-D2A4-4B73-B81A-696D88329D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373"/>
              <a:ext cx="864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 sz="1600" b="1">
                  <a:solidFill>
                    <a:srgbClr val="000000"/>
                  </a:solidFill>
                  <a:latin typeface="Times New Roman" pitchFamily="18" charset="0"/>
                </a:rPr>
                <a:t>取表达式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kumimoji="1" lang="zh-CN" altLang="zh-CN" sz="1600" b="1">
                  <a:solidFill>
                    <a:srgbClr val="000000"/>
                  </a:solidFill>
                  <a:latin typeface="Times New Roman" pitchFamily="18" charset="0"/>
                </a:rPr>
                <a:t>值</a:t>
              </a:r>
              <a:endParaRPr kumimoji="1" lang="zh-CN" altLang="en-US" sz="1600" b="1" u="sng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29B89D0F-6840-4133-B0EA-0B21374603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2373"/>
              <a:ext cx="900" cy="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zh-CN" altLang="en-US" sz="1600" b="1">
                  <a:solidFill>
                    <a:srgbClr val="000000"/>
                  </a:solidFill>
                  <a:latin typeface="Times New Roman" pitchFamily="18" charset="0"/>
                </a:rPr>
                <a:t>取表达式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r>
                <a:rPr kumimoji="1" lang="zh-CN" altLang="zh-CN" sz="1600" b="1">
                  <a:solidFill>
                    <a:srgbClr val="000000"/>
                  </a:solidFill>
                  <a:latin typeface="Times New Roman" pitchFamily="18" charset="0"/>
                </a:rPr>
                <a:t>值</a:t>
              </a:r>
              <a:endParaRPr kumimoji="1" lang="zh-CN" altLang="en-US" sz="1600" b="1" u="sng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C1BDC302-FC02-4BED-97EA-9E2159D60B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1" y="1584"/>
              <a:ext cx="0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 sz="3600" b="1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0DC0B452-8B6F-41DC-A0F4-C69A78D433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31" y="2073"/>
              <a:ext cx="2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 sz="3600" b="1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E71220B4-C391-4CB5-B425-74EBDFEB21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1" y="2073"/>
              <a:ext cx="0" cy="2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 sz="3600" b="1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5FFFB1E9-F668-4DAF-A40C-ABD715B982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0" y="2073"/>
              <a:ext cx="2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 sz="3600" b="1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F2B2C890-ADA9-491B-91F8-B524F3C52D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4" y="2073"/>
              <a:ext cx="0" cy="2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 sz="3600" b="1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91F12196-153D-440C-857F-F0F0B0765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1" y="2618"/>
              <a:ext cx="0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 sz="3600" b="1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14C60CBD-8864-4079-A4B5-F02EFAE3D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9" y="2618"/>
              <a:ext cx="0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 sz="3600" b="1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9FD30F46-C24D-4F7E-9C96-A8E7E1BCE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1" y="2862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 sz="3600" b="1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A3CE8ACA-AA68-4A9A-A679-CE5623EB05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41" y="2862"/>
              <a:ext cx="7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 sz="3600" b="1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FEC927CB-4BA9-483D-B075-50FAAB9178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9" y="1822"/>
              <a:ext cx="3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kumimoji="1" lang="zh-CN" altLang="en-US" sz="2000" b="1">
                  <a:solidFill>
                    <a:srgbClr val="000000"/>
                  </a:solidFill>
                  <a:latin typeface="Times New Roman" pitchFamily="18" charset="0"/>
                </a:rPr>
                <a:t>非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kumimoji="1" lang="en-US" altLang="zh-CN" sz="40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E378FD0B-2966-4D12-BF15-D5BDE6FE1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4" y="1822"/>
              <a:ext cx="28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kumimoji="1" lang="en-US" altLang="zh-CN" sz="2000" b="1">
                  <a:solidFill>
                    <a:srgbClr val="000000"/>
                  </a:solidFill>
                  <a:latin typeface="Times New Roman" pitchFamily="18" charset="0"/>
                </a:rPr>
                <a:t>=0</a:t>
              </a:r>
              <a:endParaRPr kumimoji="1" lang="en-US" altLang="zh-CN" sz="40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1B589354-5C7A-40F9-A322-DE9B141DD5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9" y="288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 sz="3600" b="1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endParaRPr>
            </a:p>
          </p:txBody>
        </p:sp>
      </p:grpSp>
      <p:sp>
        <p:nvSpPr>
          <p:cNvPr id="23" name="Text Box 31">
            <a:extLst>
              <a:ext uri="{FF2B5EF4-FFF2-40B4-BE49-F238E27FC236}">
                <a16:creationId xmlns:a16="http://schemas.microsoft.com/office/drawing/2014/main" id="{D35FE294-E269-4FB6-BAD6-1B98C16EE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4955" y="4791519"/>
            <a:ext cx="4891083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000000"/>
                </a:solidFill>
              </a:rPr>
              <a:t>例  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(a==b)?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'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Y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'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: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'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'</a:t>
            </a:r>
            <a:endParaRPr kumimoji="1" lang="en-US" altLang="zh-CN" sz="2400" b="1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en-US" altLang="zh-CN" sz="2400" b="1" dirty="0">
                <a:solidFill>
                  <a:srgbClr val="000000"/>
                </a:solidFill>
              </a:rPr>
              <a:t>      (x%2==1)?1:0</a:t>
            </a:r>
          </a:p>
          <a:p>
            <a:pPr eaLnBrk="1" hangingPunct="1"/>
            <a:r>
              <a:rPr kumimoji="1" lang="en-US" altLang="zh-CN" sz="2400" b="1" dirty="0">
                <a:solidFill>
                  <a:srgbClr val="000000"/>
                </a:solidFill>
              </a:rPr>
              <a:t>      (x&gt;=0)?x:-x</a:t>
            </a:r>
          </a:p>
          <a:p>
            <a:pPr eaLnBrk="1" hangingPunct="1"/>
            <a:r>
              <a:rPr kumimoji="1" lang="en-US" altLang="zh-CN" sz="2400" b="1" dirty="0">
                <a:solidFill>
                  <a:srgbClr val="000000"/>
                </a:solidFill>
              </a:rPr>
              <a:t>      (c&gt;=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'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'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 &amp;&amp; c&lt;=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'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z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'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)?</a:t>
            </a:r>
            <a:r>
              <a:rPr kumimoji="1" lang="en-US" altLang="zh-CN" sz="2400" b="1" dirty="0" err="1">
                <a:solidFill>
                  <a:srgbClr val="000000"/>
                </a:solidFill>
              </a:rPr>
              <a:t>c-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itchFamily="18" charset="0"/>
              </a:rPr>
              <a:t>'</a:t>
            </a:r>
            <a:r>
              <a:rPr kumimoji="1" lang="en-US" altLang="zh-CN" sz="2400" b="1" dirty="0" err="1">
                <a:solidFill>
                  <a:srgbClr val="000000"/>
                </a:solidFill>
              </a:rPr>
              <a:t>a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itchFamily="18" charset="0"/>
              </a:rPr>
              <a:t>'</a:t>
            </a:r>
            <a:r>
              <a:rPr kumimoji="1" lang="en-US" altLang="zh-CN" sz="2400" b="1" dirty="0" err="1">
                <a:solidFill>
                  <a:srgbClr val="000000"/>
                </a:solidFill>
              </a:rPr>
              <a:t>+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itchFamily="18" charset="0"/>
              </a:rPr>
              <a:t>'</a:t>
            </a:r>
            <a:r>
              <a:rPr kumimoji="1" lang="en-US" altLang="zh-CN" sz="2400" b="1" dirty="0" err="1">
                <a:solidFill>
                  <a:srgbClr val="000000"/>
                </a:solidFill>
              </a:rPr>
              <a:t>A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itchFamily="18" charset="0"/>
              </a:rPr>
              <a:t>'</a:t>
            </a:r>
            <a:r>
              <a:rPr kumimoji="1" lang="en-US" altLang="zh-CN" sz="2400" b="1" dirty="0" err="1">
                <a:solidFill>
                  <a:srgbClr val="000000"/>
                </a:solidFill>
              </a:rPr>
              <a:t>:c</a:t>
            </a:r>
            <a:endParaRPr kumimoji="1" lang="en-US" altLang="zh-CN" sz="2400" b="1" dirty="0">
              <a:solidFill>
                <a:srgbClr val="0000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8444B34-3023-44AD-B6D8-39D2DC35A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172" y="5317583"/>
            <a:ext cx="29514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rgbClr val="000000"/>
                </a:solidFill>
              </a:rPr>
              <a:t>max = a &gt; b ? a : b;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63D37EE-5EBC-46D8-B348-010205B99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74BC182-9AED-44CA-9E9A-B686A0CE6D92}"/>
              </a:ext>
            </a:extLst>
          </p:cNvPr>
          <p:cNvSpPr txBox="1"/>
          <p:nvPr/>
        </p:nvSpPr>
        <p:spPr>
          <a:xfrm>
            <a:off x="3271428" y="61229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条件运算符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1528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 autoUpdateAnimBg="0"/>
      <p:bldP spid="5" grpId="0" animBg="1"/>
      <p:bldP spid="23" grpId="0" animBg="1" autoUpdateAnimBg="0"/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FA00EB-7A36-4EA3-98A8-695F0B5DA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16457" y="707560"/>
            <a:ext cx="8501063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2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zh-CN" altLang="en-US" sz="2800" b="1" dirty="0">
                <a:solidFill>
                  <a:srgbClr val="9900CC"/>
                </a:solidFill>
                <a:latin typeface="Times New Roman" pitchFamily="18" charset="0"/>
              </a:rPr>
              <a:t>条件运算符可嵌套</a:t>
            </a:r>
          </a:p>
          <a:p>
            <a:pPr lvl="2">
              <a:lnSpc>
                <a:spcPct val="150000"/>
              </a:lnSpc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zh-CN" altLang="en-US" sz="2400" b="1" dirty="0">
                <a:solidFill>
                  <a:srgbClr val="008000"/>
                </a:solidFill>
                <a:latin typeface="Times New Roman" pitchFamily="18" charset="0"/>
              </a:rPr>
              <a:t>如  </a:t>
            </a:r>
            <a:r>
              <a:rPr kumimoji="1" lang="en-US" altLang="zh-CN" sz="2800" b="1" dirty="0">
                <a:solidFill>
                  <a:srgbClr val="008000"/>
                </a:solidFill>
                <a:latin typeface="Times New Roman" pitchFamily="18" charset="0"/>
              </a:rPr>
              <a:t>x&gt;0?1:(x&lt;0?-1:0)</a:t>
            </a:r>
          </a:p>
          <a:p>
            <a:pPr lvl="2">
              <a:lnSpc>
                <a:spcPct val="15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zh-CN" altLang="en-US" sz="2400" b="1" dirty="0">
                <a:solidFill>
                  <a:srgbClr val="9900CC"/>
                </a:solidFill>
                <a:latin typeface="Times New Roman" pitchFamily="18" charset="0"/>
              </a:rPr>
              <a:t>优先级</a:t>
            </a:r>
            <a:r>
              <a:rPr kumimoji="1" lang="en-US" altLang="zh-CN" sz="2400" b="1" dirty="0">
                <a:solidFill>
                  <a:srgbClr val="9900CC"/>
                </a:solidFill>
                <a:latin typeface="Times New Roman" pitchFamily="18" charset="0"/>
              </a:rPr>
              <a:t>: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E945DB-8774-471C-88DA-AEC4DA99C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0882" y="2451925"/>
            <a:ext cx="10284881" cy="2294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2">
              <a:lnSpc>
                <a:spcPct val="150000"/>
              </a:lnSpc>
            </a:pPr>
            <a:r>
              <a:rPr kumimoji="1" lang="zh-CN" altLang="en-US" sz="2400" b="1" dirty="0">
                <a:solidFill>
                  <a:srgbClr val="9900CC"/>
                </a:solidFill>
                <a:latin typeface="Times New Roman" pitchFamily="18" charset="0"/>
              </a:rPr>
              <a:t>结合方向：</a:t>
            </a:r>
            <a:r>
              <a:rPr kumimoji="1" lang="zh-CN" altLang="en-US" sz="2400" b="1" dirty="0">
                <a:solidFill>
                  <a:srgbClr val="3333FF"/>
                </a:solidFill>
                <a:latin typeface="Times New Roman" pitchFamily="18" charset="0"/>
              </a:rPr>
              <a:t>自右向左</a:t>
            </a: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zh-CN" altLang="en-US" sz="2400" b="1" dirty="0">
                <a:solidFill>
                  <a:srgbClr val="008000"/>
                </a:solidFill>
                <a:latin typeface="Times New Roman" pitchFamily="18" charset="0"/>
              </a:rPr>
              <a:t>如 </a:t>
            </a:r>
            <a:r>
              <a:rPr kumimoji="1" lang="en-US" altLang="zh-CN" sz="2800" b="1" dirty="0">
                <a:solidFill>
                  <a:srgbClr val="008000"/>
                </a:solidFill>
                <a:latin typeface="Times New Roman" pitchFamily="18" charset="0"/>
              </a:rPr>
              <a:t>a&gt;</a:t>
            </a:r>
            <a:r>
              <a:rPr kumimoji="1" lang="en-US" altLang="zh-CN" sz="2800" b="1" dirty="0" err="1">
                <a:solidFill>
                  <a:srgbClr val="008000"/>
                </a:solidFill>
                <a:latin typeface="Times New Roman" pitchFamily="18" charset="0"/>
              </a:rPr>
              <a:t>b?a:c</a:t>
            </a:r>
            <a:r>
              <a:rPr kumimoji="1" lang="en-US" altLang="zh-CN" sz="2800" b="1" dirty="0">
                <a:solidFill>
                  <a:srgbClr val="008000"/>
                </a:solidFill>
                <a:latin typeface="Times New Roman" pitchFamily="18" charset="0"/>
              </a:rPr>
              <a:t>&gt;</a:t>
            </a:r>
            <a:r>
              <a:rPr kumimoji="1" lang="en-US" altLang="zh-CN" sz="2800" b="1" dirty="0" err="1">
                <a:solidFill>
                  <a:srgbClr val="008000"/>
                </a:solidFill>
                <a:latin typeface="Times New Roman" pitchFamily="18" charset="0"/>
              </a:rPr>
              <a:t>d?c:d</a:t>
            </a:r>
            <a:r>
              <a:rPr kumimoji="1" lang="en-US" altLang="zh-CN" sz="2800" b="1" dirty="0">
                <a:solidFill>
                  <a:srgbClr val="008000"/>
                </a:solidFill>
                <a:latin typeface="Times New Roman" pitchFamily="18" charset="0"/>
              </a:rPr>
              <a:t> </a:t>
            </a:r>
            <a:r>
              <a:rPr kumimoji="1" lang="en-US" altLang="zh-CN" sz="2800" b="1" dirty="0">
                <a:solidFill>
                  <a:srgbClr val="008000"/>
                </a:solidFill>
                <a:latin typeface="Times New Roman" pitchFamily="18" charset="0"/>
                <a:sym typeface="Symbol" pitchFamily="18" charset="2"/>
              </a:rPr>
              <a:t> a&gt;</a:t>
            </a:r>
            <a:r>
              <a:rPr kumimoji="1" lang="en-US" altLang="zh-CN" sz="2800" b="1" dirty="0" err="1">
                <a:solidFill>
                  <a:srgbClr val="008000"/>
                </a:solidFill>
                <a:latin typeface="Times New Roman" pitchFamily="18" charset="0"/>
                <a:sym typeface="Symbol" pitchFamily="18" charset="2"/>
              </a:rPr>
              <a:t>b?a</a:t>
            </a:r>
            <a:r>
              <a:rPr kumimoji="1" lang="en-US" altLang="zh-CN" sz="2800" b="1" dirty="0">
                <a:solidFill>
                  <a:srgbClr val="008000"/>
                </a:solidFill>
                <a:latin typeface="Times New Roman" pitchFamily="18" charset="0"/>
                <a:sym typeface="Symbol" pitchFamily="18" charset="2"/>
              </a:rPr>
              <a:t>:(c&gt;</a:t>
            </a:r>
            <a:r>
              <a:rPr kumimoji="1" lang="en-US" altLang="zh-CN" sz="2800" b="1" dirty="0" err="1">
                <a:solidFill>
                  <a:srgbClr val="008000"/>
                </a:solidFill>
                <a:latin typeface="Times New Roman" pitchFamily="18" charset="0"/>
                <a:sym typeface="Symbol" pitchFamily="18" charset="2"/>
              </a:rPr>
              <a:t>d?c:d</a:t>
            </a:r>
            <a:r>
              <a:rPr kumimoji="1" lang="en-US" altLang="zh-CN" sz="2800" b="1" dirty="0">
                <a:solidFill>
                  <a:srgbClr val="008000"/>
                </a:solidFill>
                <a:latin typeface="Times New Roman" pitchFamily="18" charset="0"/>
                <a:sym typeface="Symbol" pitchFamily="18" charset="2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表达式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、表达式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、表达式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类型可不同，表达式值取较高的类型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4D1A0930-2F11-42BC-BEA0-03EC6C771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222" y="4515124"/>
            <a:ext cx="7516177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000000"/>
                </a:solidFill>
              </a:rPr>
              <a:t>例  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</a:rPr>
              <a:t>x&gt;y?1:1.5   //x&gt;y  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,</a:t>
            </a:r>
            <a:r>
              <a:rPr kumimoji="1" lang="zh-CN" altLang="zh-CN" sz="2400" b="1" dirty="0">
                <a:solidFill>
                  <a:srgbClr val="000000"/>
                </a:solidFill>
              </a:rPr>
              <a:t>值为</a:t>
            </a:r>
            <a:r>
              <a:rPr kumimoji="1" lang="zh-CN" altLang="zh-CN" sz="2800" b="1" dirty="0">
                <a:solidFill>
                  <a:srgbClr val="000000"/>
                </a:solidFill>
              </a:rPr>
              <a:t>1.0;  </a:t>
            </a:r>
            <a:r>
              <a:rPr kumimoji="1" lang="en-US" altLang="zh-CN" sz="2800" b="1" dirty="0">
                <a:solidFill>
                  <a:srgbClr val="000000"/>
                </a:solidFill>
              </a:rPr>
              <a:t>x&lt;=y  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,</a:t>
            </a:r>
            <a:r>
              <a:rPr kumimoji="1" lang="zh-CN" altLang="zh-CN" sz="2400" b="1" dirty="0">
                <a:solidFill>
                  <a:srgbClr val="000000"/>
                </a:solidFill>
              </a:rPr>
              <a:t>值为</a:t>
            </a:r>
            <a:r>
              <a:rPr kumimoji="1" lang="zh-CN" altLang="zh-CN" sz="2800" b="1" dirty="0">
                <a:solidFill>
                  <a:srgbClr val="000000"/>
                </a:solidFill>
              </a:rPr>
              <a:t>1.5</a:t>
            </a:r>
            <a:endParaRPr kumimoji="1" lang="en-US" altLang="zh-CN" sz="2400" b="1" dirty="0">
              <a:solidFill>
                <a:srgbClr val="0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CE0DB1C-82B2-45F1-9ED5-4D8E2AE7B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ABBC13-B7E9-42C5-984D-DEAB0A49AF25}"/>
              </a:ext>
            </a:extLst>
          </p:cNvPr>
          <p:cNvSpPr txBox="1"/>
          <p:nvPr/>
        </p:nvSpPr>
        <p:spPr>
          <a:xfrm>
            <a:off x="3271428" y="61229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条件运算符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0650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5" autoUpdateAnimBg="0"/>
      <p:bldP spid="5" grpId="0" build="p" bldLvl="3" autoUpdateAnimBg="0"/>
      <p:bldP spid="12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A28BD4B4-3BB0-44BD-8BF8-50AC151A43E2}"/>
              </a:ext>
            </a:extLst>
          </p:cNvPr>
          <p:cNvSpPr/>
          <p:nvPr/>
        </p:nvSpPr>
        <p:spPr>
          <a:xfrm>
            <a:off x="0" y="719638"/>
            <a:ext cx="65053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 sz="2400" b="1" dirty="0" err="1">
                <a:latin typeface="隶书" pitchFamily="49" charset="-122"/>
              </a:rPr>
              <a:t>sizeof</a:t>
            </a:r>
            <a:r>
              <a:rPr lang="zh-CN" altLang="en-US" sz="2400" b="1" dirty="0">
                <a:latin typeface="隶书" pitchFamily="49" charset="-122"/>
              </a:rPr>
              <a:t>运算符</a:t>
            </a:r>
            <a:r>
              <a:rPr lang="en-US" altLang="zh-CN" sz="2400" b="1" dirty="0">
                <a:latin typeface="隶书" pitchFamily="49" charset="-122"/>
              </a:rPr>
              <a:t>:</a:t>
            </a:r>
            <a:r>
              <a:rPr lang="zh-CN" altLang="en-US" sz="2400" b="1" dirty="0">
                <a:latin typeface="隶书" pitchFamily="49" charset="-122"/>
              </a:rPr>
              <a:t>获取数据占用的字节长度运行符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B9605E-546F-4DFB-93B0-C5994ABF1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90" y="1268414"/>
            <a:ext cx="11796710" cy="416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sz="2200" b="1" dirty="0">
                <a:latin typeface="Times New Roman" pitchFamily="18" charset="0"/>
              </a:rPr>
              <a:t>       </a:t>
            </a:r>
            <a:r>
              <a:rPr kumimoji="1" lang="zh-CN" altLang="en-US" sz="2400" b="1" dirty="0">
                <a:latin typeface="Times New Roman" pitchFamily="18" charset="0"/>
              </a:rPr>
              <a:t>为了能够确定数据占用内存字节数的长度，</a:t>
            </a:r>
            <a:r>
              <a:rPr kumimoji="1" lang="en-US" altLang="zh-CN" sz="2400" b="1" dirty="0">
                <a:latin typeface="Times New Roman" pitchFamily="18" charset="0"/>
              </a:rPr>
              <a:t>C</a:t>
            </a:r>
            <a:r>
              <a:rPr kumimoji="1" lang="zh-CN" altLang="en-US" sz="2400" b="1" dirty="0">
                <a:latin typeface="Times New Roman" pitchFamily="18" charset="0"/>
              </a:rPr>
              <a:t>语言提供了获取数据长度运算符</a:t>
            </a:r>
            <a:r>
              <a:rPr kumimoji="1" lang="en-US" altLang="zh-CN" sz="2400" b="1" dirty="0" err="1">
                <a:latin typeface="Times New Roman" pitchFamily="18" charset="0"/>
              </a:rPr>
              <a:t>sizeof</a:t>
            </a:r>
            <a:r>
              <a:rPr kumimoji="1" lang="zh-CN" altLang="en-US" sz="2400" b="1" dirty="0">
                <a:latin typeface="Times New Roman" pitchFamily="18" charset="0"/>
              </a:rPr>
              <a:t>，它的一般格式为：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2400" b="1" dirty="0">
                <a:latin typeface="Times New Roman" pitchFamily="18" charset="0"/>
              </a:rPr>
              <a:t>        </a:t>
            </a:r>
            <a:r>
              <a:rPr kumimoji="1" lang="en-US" altLang="zh-CN" sz="2400" b="1" dirty="0" err="1">
                <a:solidFill>
                  <a:srgbClr val="FF0066"/>
                </a:solidFill>
                <a:latin typeface="Times New Roman" pitchFamily="18" charset="0"/>
              </a:rPr>
              <a:t>sizeof</a:t>
            </a:r>
            <a:r>
              <a:rPr kumimoji="1" lang="en-US" altLang="zh-CN" sz="2400" b="1" dirty="0">
                <a:solidFill>
                  <a:srgbClr val="FF0066"/>
                </a:solidFill>
                <a:latin typeface="Times New Roman" pitchFamily="18" charset="0"/>
              </a:rPr>
              <a:t> (exp)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2400" b="1" dirty="0">
                <a:latin typeface="Times New Roman" pitchFamily="18" charset="0"/>
              </a:rPr>
              <a:t>其中，</a:t>
            </a:r>
            <a:r>
              <a:rPr kumimoji="1" lang="en-US" altLang="zh-CN" sz="2400" b="1" dirty="0">
                <a:solidFill>
                  <a:srgbClr val="FF0066"/>
                </a:solidFill>
                <a:latin typeface="Times New Roman" pitchFamily="18" charset="0"/>
              </a:rPr>
              <a:t>exp</a:t>
            </a:r>
            <a:r>
              <a:rPr kumimoji="1" lang="zh-CN" altLang="en-US" sz="2400" b="1" dirty="0">
                <a:solidFill>
                  <a:srgbClr val="FF0066"/>
                </a:solidFill>
                <a:latin typeface="Times New Roman" pitchFamily="18" charset="0"/>
              </a:rPr>
              <a:t>可以是类型关键字、变量或表达式。</a:t>
            </a:r>
            <a:r>
              <a:rPr kumimoji="1" lang="zh-CN" altLang="en-US" sz="2400" b="1" dirty="0">
                <a:latin typeface="Times New Roman" pitchFamily="18" charset="0"/>
              </a:rPr>
              <a:t>其功能是给出</a:t>
            </a:r>
            <a:r>
              <a:rPr kumimoji="1" lang="en-US" altLang="zh-CN" sz="2400" b="1" dirty="0">
                <a:latin typeface="Times New Roman" pitchFamily="18" charset="0"/>
              </a:rPr>
              <a:t>exp</a:t>
            </a:r>
            <a:r>
              <a:rPr kumimoji="1" lang="zh-CN" altLang="en-US" sz="2400" b="1" dirty="0">
                <a:latin typeface="Times New Roman" pitchFamily="18" charset="0"/>
              </a:rPr>
              <a:t>所代表的数据类型、变量或表达式占用的内存字节数。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2400" b="1" dirty="0">
                <a:latin typeface="Times New Roman" pitchFamily="18" charset="0"/>
              </a:rPr>
              <a:t>                </a:t>
            </a:r>
            <a:r>
              <a:rPr kumimoji="1" lang="en-US" altLang="zh-CN" sz="2400" b="1" dirty="0" err="1">
                <a:latin typeface="Times New Roman" pitchFamily="18" charset="0"/>
              </a:rPr>
              <a:t>sizeof</a:t>
            </a:r>
            <a:r>
              <a:rPr kumimoji="1" lang="en-US" altLang="zh-CN" sz="2400" b="1" dirty="0">
                <a:latin typeface="Times New Roman" pitchFamily="18" charset="0"/>
              </a:rPr>
              <a:t>(double)</a:t>
            </a:r>
            <a:r>
              <a:rPr kumimoji="1" lang="zh-CN" altLang="en-US" sz="2400" b="1" dirty="0">
                <a:latin typeface="Times New Roman" pitchFamily="18" charset="0"/>
              </a:rPr>
              <a:t>， </a:t>
            </a:r>
            <a:r>
              <a:rPr kumimoji="1" lang="en-US" altLang="zh-CN" sz="2400" b="1" dirty="0" err="1">
                <a:latin typeface="Times New Roman" pitchFamily="18" charset="0"/>
              </a:rPr>
              <a:t>sizeof</a:t>
            </a:r>
            <a:r>
              <a:rPr kumimoji="1" lang="en-US" altLang="zh-CN" sz="2400" b="1" dirty="0">
                <a:latin typeface="Times New Roman" pitchFamily="18" charset="0"/>
              </a:rPr>
              <a:t>(x)</a:t>
            </a:r>
            <a:r>
              <a:rPr kumimoji="1" lang="zh-CN" altLang="en-US" sz="2400" b="1" dirty="0">
                <a:latin typeface="Times New Roman" pitchFamily="18" charset="0"/>
              </a:rPr>
              <a:t>，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2400" b="1" dirty="0">
                <a:latin typeface="Times New Roman" pitchFamily="18" charset="0"/>
              </a:rPr>
              <a:t>                </a:t>
            </a:r>
            <a:r>
              <a:rPr kumimoji="1" lang="en-US" altLang="zh-CN" sz="2400" b="1" dirty="0" err="1">
                <a:latin typeface="Times New Roman" pitchFamily="18" charset="0"/>
              </a:rPr>
              <a:t>sizeof</a:t>
            </a:r>
            <a:r>
              <a:rPr kumimoji="1" lang="en-US" altLang="zh-CN" sz="2400" b="1" dirty="0">
                <a:latin typeface="Times New Roman" pitchFamily="18" charset="0"/>
              </a:rPr>
              <a:t>(</a:t>
            </a:r>
            <a:r>
              <a:rPr kumimoji="1" lang="en-US" altLang="zh-CN" sz="2400" b="1" dirty="0" err="1">
                <a:latin typeface="Times New Roman" pitchFamily="18" charset="0"/>
              </a:rPr>
              <a:t>a+b</a:t>
            </a:r>
            <a:r>
              <a:rPr kumimoji="1" lang="en-US" altLang="zh-CN" sz="2400" b="1" dirty="0">
                <a:latin typeface="Times New Roman" pitchFamily="18" charset="0"/>
              </a:rPr>
              <a:t>)</a:t>
            </a:r>
            <a:r>
              <a:rPr kumimoji="1" lang="zh-CN" altLang="en-US" sz="2400" b="1" dirty="0">
                <a:latin typeface="Times New Roman" pitchFamily="18" charset="0"/>
              </a:rPr>
              <a:t>，    </a:t>
            </a:r>
            <a:r>
              <a:rPr kumimoji="1" lang="en-US" altLang="zh-CN" sz="2400" b="1" dirty="0" err="1">
                <a:latin typeface="Times New Roman" pitchFamily="18" charset="0"/>
              </a:rPr>
              <a:t>sizeof</a:t>
            </a:r>
            <a:r>
              <a:rPr kumimoji="1" lang="en-US" altLang="zh-CN" sz="2400" b="1" dirty="0">
                <a:latin typeface="Times New Roman" pitchFamily="18" charset="0"/>
              </a:rPr>
              <a:t>(3*1.46/7.28)</a:t>
            </a:r>
          </a:p>
          <a:p>
            <a:pPr eaLnBrk="1" hangingPunct="1">
              <a:lnSpc>
                <a:spcPct val="140000"/>
              </a:lnSpc>
            </a:pP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        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itchFamily="18" charset="0"/>
              </a:rPr>
              <a:t>sizeof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是一元运算符，它的优先级与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++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、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--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、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&amp;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、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~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等相同，结合性为从右至左。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838ADF-5C9B-4B88-9BC7-4125F4D41BCA}"/>
              </a:ext>
            </a:extLst>
          </p:cNvPr>
          <p:cNvSpPr txBox="1"/>
          <p:nvPr/>
        </p:nvSpPr>
        <p:spPr>
          <a:xfrm>
            <a:off x="506389" y="5676697"/>
            <a:ext cx="3443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实例参见教材</a:t>
            </a:r>
            <a:r>
              <a:rPr lang="en-US" altLang="zh-CN" sz="2400" b="1" dirty="0">
                <a:solidFill>
                  <a:srgbClr val="0000FF"/>
                </a:solidFill>
              </a:rPr>
              <a:t>P36 </a:t>
            </a:r>
            <a:r>
              <a:rPr lang="zh-CN" altLang="en-US" sz="2400" b="1" dirty="0">
                <a:solidFill>
                  <a:srgbClr val="0000FF"/>
                </a:solidFill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</a:rPr>
              <a:t>2-6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2071EC-E486-403E-B7C7-130FDA4E8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67D7B3-3248-4EAC-AAC6-3FA80A41E11D}"/>
              </a:ext>
            </a:extLst>
          </p:cNvPr>
          <p:cNvSpPr txBox="1"/>
          <p:nvPr/>
        </p:nvSpPr>
        <p:spPr>
          <a:xfrm>
            <a:off x="3271428" y="61229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en-US" altLang="zh-CN" sz="3600" b="1" dirty="0" err="1">
                <a:solidFill>
                  <a:srgbClr val="200AC4"/>
                </a:solidFill>
                <a:ea typeface="隶书" pitchFamily="49" charset="-122"/>
              </a:rPr>
              <a:t>sizeof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运算符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396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4205B85-2E84-4FE4-B3BC-076BCF26B7E5}"/>
              </a:ext>
            </a:extLst>
          </p:cNvPr>
          <p:cNvSpPr txBox="1">
            <a:spLocks noChangeArrowheads="1"/>
          </p:cNvSpPr>
          <p:nvPr/>
        </p:nvSpPr>
        <p:spPr>
          <a:xfrm>
            <a:off x="340865" y="873632"/>
            <a:ext cx="11228916" cy="38496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00FF"/>
                </a:solidFill>
                <a:latin typeface="隶书" pitchFamily="49" charset="-122"/>
              </a:rPr>
              <a:t>不同类型数据间的转换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solidFill>
                  <a:srgbClr val="FF0066"/>
                </a:solidFill>
                <a:latin typeface="隶书" pitchFamily="49" charset="-122"/>
              </a:rPr>
              <a:t>隐式转换（自动类型转换）</a:t>
            </a:r>
          </a:p>
          <a:p>
            <a:pPr lvl="2">
              <a:lnSpc>
                <a:spcPct val="150000"/>
              </a:lnSpc>
            </a:pPr>
            <a:r>
              <a:rPr lang="zh-CN" altLang="en-US" sz="2400" b="1" dirty="0">
                <a:latin typeface="隶书" pitchFamily="49" charset="-122"/>
              </a:rPr>
              <a:t>什么情况下发生</a:t>
            </a:r>
          </a:p>
          <a:p>
            <a:pPr lvl="3"/>
            <a:r>
              <a:rPr lang="zh-CN" altLang="en-US" sz="2400" b="1" dirty="0">
                <a:solidFill>
                  <a:srgbClr val="0000FF"/>
                </a:solidFill>
                <a:latin typeface="隶书" pitchFamily="49" charset="-122"/>
              </a:rPr>
              <a:t>运算转换</a:t>
            </a:r>
            <a:r>
              <a:rPr lang="en-US" altLang="zh-CN" sz="2400" b="1" dirty="0">
                <a:latin typeface="隶书" pitchFamily="49" charset="-122"/>
              </a:rPr>
              <a:t>------</a:t>
            </a:r>
            <a:r>
              <a:rPr lang="zh-CN" altLang="en-US" sz="2400" b="1" dirty="0">
                <a:latin typeface="隶书" pitchFamily="49" charset="-122"/>
              </a:rPr>
              <a:t>不同类型数据混合运算时</a:t>
            </a:r>
          </a:p>
          <a:p>
            <a:pPr lvl="3"/>
            <a:r>
              <a:rPr lang="zh-CN" altLang="en-US" sz="2400" b="1" dirty="0">
                <a:solidFill>
                  <a:srgbClr val="0000FF"/>
                </a:solidFill>
                <a:latin typeface="隶书" pitchFamily="49" charset="-122"/>
              </a:rPr>
              <a:t>赋值转换</a:t>
            </a:r>
            <a:r>
              <a:rPr lang="en-US" altLang="zh-CN" sz="2400" b="1" dirty="0">
                <a:latin typeface="隶书" pitchFamily="49" charset="-122"/>
              </a:rPr>
              <a:t>------</a:t>
            </a:r>
            <a:r>
              <a:rPr lang="zh-CN" altLang="en-US" sz="2400" b="1" dirty="0">
                <a:latin typeface="隶书" pitchFamily="49" charset="-122"/>
              </a:rPr>
              <a:t>把一个值赋给与其类型不同的变量时</a:t>
            </a:r>
          </a:p>
          <a:p>
            <a:pPr lvl="3"/>
            <a:r>
              <a:rPr lang="zh-CN" altLang="en-US" sz="2400" b="1" dirty="0">
                <a:solidFill>
                  <a:srgbClr val="0000FF"/>
                </a:solidFill>
                <a:latin typeface="隶书" pitchFamily="49" charset="-122"/>
              </a:rPr>
              <a:t>输出转换</a:t>
            </a:r>
            <a:r>
              <a:rPr lang="en-US" altLang="zh-CN" sz="2400" b="1" dirty="0">
                <a:latin typeface="隶书" pitchFamily="49" charset="-122"/>
              </a:rPr>
              <a:t>------</a:t>
            </a:r>
            <a:r>
              <a:rPr lang="zh-CN" altLang="en-US" sz="2400" b="1" dirty="0">
                <a:latin typeface="隶书" pitchFamily="49" charset="-122"/>
              </a:rPr>
              <a:t>输出时转换成指定的输出格式</a:t>
            </a:r>
          </a:p>
          <a:p>
            <a:pPr lvl="3"/>
            <a:r>
              <a:rPr lang="zh-CN" altLang="en-US" sz="2400" b="1" dirty="0">
                <a:solidFill>
                  <a:srgbClr val="0000FF"/>
                </a:solidFill>
                <a:latin typeface="隶书" pitchFamily="49" charset="-122"/>
              </a:rPr>
              <a:t>函数调用转换</a:t>
            </a:r>
            <a:r>
              <a:rPr lang="en-US" altLang="zh-CN" sz="2400" b="1" dirty="0">
                <a:latin typeface="隶书" pitchFamily="49" charset="-122"/>
              </a:rPr>
              <a:t>------</a:t>
            </a:r>
            <a:r>
              <a:rPr lang="zh-CN" altLang="en-US" sz="2400" b="1" dirty="0">
                <a:latin typeface="隶书" pitchFamily="49" charset="-122"/>
              </a:rPr>
              <a:t>实参与形参类型不一致时转换</a:t>
            </a:r>
          </a:p>
          <a:p>
            <a:pPr lvl="2">
              <a:lnSpc>
                <a:spcPct val="150000"/>
              </a:lnSpc>
            </a:pPr>
            <a:r>
              <a:rPr lang="zh-CN" altLang="en-US" sz="2400" b="1" dirty="0">
                <a:latin typeface="隶书" pitchFamily="49" charset="-122"/>
              </a:rPr>
              <a:t>运算转换规则</a:t>
            </a:r>
            <a:r>
              <a:rPr lang="en-US" altLang="zh-CN" sz="2400" b="1" dirty="0">
                <a:latin typeface="隶书" pitchFamily="49" charset="-122"/>
              </a:rPr>
              <a:t>:</a:t>
            </a:r>
            <a:r>
              <a:rPr lang="zh-CN" altLang="zh-CN" sz="2400" b="1" dirty="0">
                <a:latin typeface="隶书" pitchFamily="49" charset="-122"/>
              </a:rPr>
              <a:t>不同类型数据运算时先</a:t>
            </a:r>
            <a:r>
              <a:rPr lang="zh-CN" altLang="zh-CN" sz="2400" b="1" dirty="0">
                <a:solidFill>
                  <a:srgbClr val="0000FF"/>
                </a:solidFill>
                <a:latin typeface="隶书" pitchFamily="49" charset="-122"/>
              </a:rPr>
              <a:t>自动</a:t>
            </a:r>
            <a:r>
              <a:rPr lang="zh-CN" altLang="zh-CN" sz="2400" b="1" dirty="0">
                <a:latin typeface="隶书" pitchFamily="49" charset="-122"/>
              </a:rPr>
              <a:t>转换成同一类型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3C6805-5AED-426D-8D1B-F68DC796F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028AB3-FC45-4AA4-9C11-F6E00B8279CF}"/>
              </a:ext>
            </a:extLst>
          </p:cNvPr>
          <p:cNvSpPr txBox="1"/>
          <p:nvPr/>
        </p:nvSpPr>
        <p:spPr>
          <a:xfrm>
            <a:off x="3271428" y="61229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隐式类型转换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71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5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18">
            <a:extLst>
              <a:ext uri="{FF2B5EF4-FFF2-40B4-BE49-F238E27FC236}">
                <a16:creationId xmlns:a16="http://schemas.microsoft.com/office/drawing/2014/main" id="{6208A088-F68E-4C21-9BF8-8E8DB0A3F65D}"/>
              </a:ext>
            </a:extLst>
          </p:cNvPr>
          <p:cNvGrpSpPr>
            <a:grpSpLocks/>
          </p:cNvGrpSpPr>
          <p:nvPr/>
        </p:nvGrpSpPr>
        <p:grpSpPr bwMode="auto">
          <a:xfrm>
            <a:off x="7200487" y="973178"/>
            <a:ext cx="4867687" cy="1623368"/>
            <a:chOff x="3578" y="278"/>
            <a:chExt cx="2439" cy="1195"/>
          </a:xfrm>
        </p:grpSpPr>
        <p:sp>
          <p:nvSpPr>
            <p:cNvPr id="69" name="Text Box 19">
              <a:extLst>
                <a:ext uri="{FF2B5EF4-FFF2-40B4-BE49-F238E27FC236}">
                  <a16:creationId xmlns:a16="http://schemas.microsoft.com/office/drawing/2014/main" id="{2E972184-6007-4A1F-ADA5-16C7EA9E9D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8" y="278"/>
              <a:ext cx="536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400" b="1" dirty="0">
                  <a:latin typeface="Times New Roman" pitchFamily="18" charset="0"/>
                </a:rPr>
                <a:t>说明</a:t>
              </a:r>
              <a:r>
                <a:rPr kumimoji="1" lang="en-US" altLang="zh-CN" sz="2400" b="1" dirty="0">
                  <a:latin typeface="Times New Roman" pitchFamily="18" charset="0"/>
                </a:rPr>
                <a:t>:</a:t>
              </a:r>
              <a:endParaRPr kumimoji="1" lang="en-US" altLang="zh-CN" sz="4400" b="1" dirty="0">
                <a:latin typeface="Times New Roman" pitchFamily="18" charset="0"/>
              </a:endParaRPr>
            </a:p>
          </p:txBody>
        </p:sp>
        <p:sp>
          <p:nvSpPr>
            <p:cNvPr id="70" name="Line 20">
              <a:extLst>
                <a:ext uri="{FF2B5EF4-FFF2-40B4-BE49-F238E27FC236}">
                  <a16:creationId xmlns:a16="http://schemas.microsoft.com/office/drawing/2014/main" id="{D3A7EBB9-98B9-47EE-BCB3-1256D54213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19" y="873"/>
              <a:ext cx="4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71" name="Text Box 21">
              <a:extLst>
                <a:ext uri="{FF2B5EF4-FFF2-40B4-BE49-F238E27FC236}">
                  <a16:creationId xmlns:a16="http://schemas.microsoft.com/office/drawing/2014/main" id="{CABC8770-72A8-491A-AB6E-1B09EBCE6E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" y="720"/>
              <a:ext cx="921" cy="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400" b="1" dirty="0">
                  <a:latin typeface="Times New Roman" pitchFamily="18" charset="0"/>
                </a:rPr>
                <a:t>必定的转换</a:t>
              </a:r>
              <a:endParaRPr kumimoji="1" lang="zh-CN" altLang="en-US" sz="4400" b="1" dirty="0">
                <a:latin typeface="Times New Roman" pitchFamily="18" charset="0"/>
              </a:endParaRPr>
            </a:p>
          </p:txBody>
        </p:sp>
        <p:sp>
          <p:nvSpPr>
            <p:cNvPr id="72" name="Line 22">
              <a:extLst>
                <a:ext uri="{FF2B5EF4-FFF2-40B4-BE49-F238E27FC236}">
                  <a16:creationId xmlns:a16="http://schemas.microsoft.com/office/drawing/2014/main" id="{FC731A99-76CA-4D42-921F-72EAF30B02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3" y="1102"/>
              <a:ext cx="0" cy="3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73" name="Text Box 23">
              <a:extLst>
                <a:ext uri="{FF2B5EF4-FFF2-40B4-BE49-F238E27FC236}">
                  <a16:creationId xmlns:a16="http://schemas.microsoft.com/office/drawing/2014/main" id="{D965E046-1581-4299-901A-E35F6D6321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4" y="1133"/>
              <a:ext cx="2133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400" b="1">
                  <a:latin typeface="Times New Roman" pitchFamily="18" charset="0"/>
                </a:rPr>
                <a:t>运算对象类型不同时转换</a:t>
              </a:r>
              <a:endParaRPr kumimoji="1" lang="zh-CN" altLang="en-US" sz="4400" b="1">
                <a:latin typeface="Times New Roman" pitchFamily="18" charset="0"/>
              </a:endParaRPr>
            </a:p>
          </p:txBody>
        </p:sp>
      </p:grpSp>
      <p:grpSp>
        <p:nvGrpSpPr>
          <p:cNvPr id="74" name="Group 24">
            <a:extLst>
              <a:ext uri="{FF2B5EF4-FFF2-40B4-BE49-F238E27FC236}">
                <a16:creationId xmlns:a16="http://schemas.microsoft.com/office/drawing/2014/main" id="{A0D1F0FE-EFA8-4F64-9E10-0E28E64A8BEE}"/>
              </a:ext>
            </a:extLst>
          </p:cNvPr>
          <p:cNvGrpSpPr>
            <a:grpSpLocks/>
          </p:cNvGrpSpPr>
          <p:nvPr/>
        </p:nvGrpSpPr>
        <p:grpSpPr bwMode="auto">
          <a:xfrm>
            <a:off x="2002032" y="4348295"/>
            <a:ext cx="4240549" cy="1162847"/>
            <a:chOff x="0" y="2653"/>
            <a:chExt cx="2691" cy="856"/>
          </a:xfrm>
        </p:grpSpPr>
        <p:sp>
          <p:nvSpPr>
            <p:cNvPr id="75" name="Text Box 25">
              <a:extLst>
                <a:ext uri="{FF2B5EF4-FFF2-40B4-BE49-F238E27FC236}">
                  <a16:creationId xmlns:a16="http://schemas.microsoft.com/office/drawing/2014/main" id="{C8E66D46-7932-489C-9FB7-A0B256525F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675"/>
              <a:ext cx="923" cy="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 dirty="0">
                  <a:latin typeface="Times New Roman" pitchFamily="18" charset="0"/>
                </a:rPr>
                <a:t>例 </a:t>
              </a:r>
              <a:r>
                <a:rPr kumimoji="1" lang="en-US" altLang="zh-CN" sz="2000" dirty="0">
                  <a:latin typeface="Times New Roman" pitchFamily="18" charset="0"/>
                </a:rPr>
                <a:t>char ch;</a:t>
              </a:r>
            </a:p>
            <a:p>
              <a:r>
                <a:rPr kumimoji="1" lang="en-US" altLang="zh-CN" sz="2000" dirty="0">
                  <a:latin typeface="Times New Roman" pitchFamily="18" charset="0"/>
                </a:rPr>
                <a:t>     int </a:t>
              </a:r>
              <a:r>
                <a:rPr kumimoji="1" lang="en-US" altLang="zh-CN" sz="2000" dirty="0" err="1">
                  <a:latin typeface="Times New Roman" pitchFamily="18" charset="0"/>
                </a:rPr>
                <a:t>i</a:t>
              </a:r>
              <a:r>
                <a:rPr kumimoji="1" lang="en-US" altLang="zh-CN" sz="2000" dirty="0">
                  <a:latin typeface="Times New Roman" pitchFamily="18" charset="0"/>
                </a:rPr>
                <a:t>;</a:t>
              </a:r>
            </a:p>
            <a:p>
              <a:r>
                <a:rPr kumimoji="1" lang="en-US" altLang="zh-CN" sz="2000" dirty="0">
                  <a:latin typeface="Times New Roman" pitchFamily="18" charset="0"/>
                </a:rPr>
                <a:t>     float f;</a:t>
              </a:r>
            </a:p>
            <a:p>
              <a:r>
                <a:rPr kumimoji="1" lang="en-US" altLang="zh-CN" sz="2000" dirty="0">
                  <a:latin typeface="Times New Roman" pitchFamily="18" charset="0"/>
                </a:rPr>
                <a:t>     double d;</a:t>
              </a:r>
            </a:p>
          </p:txBody>
        </p:sp>
        <p:sp>
          <p:nvSpPr>
            <p:cNvPr id="76" name="Text Box 26">
              <a:extLst>
                <a:ext uri="{FF2B5EF4-FFF2-40B4-BE49-F238E27FC236}">
                  <a16:creationId xmlns:a16="http://schemas.microsoft.com/office/drawing/2014/main" id="{B2103BCB-E689-421A-ADE4-74C040BBD1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2" y="2653"/>
              <a:ext cx="165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 dirty="0">
                  <a:solidFill>
                    <a:srgbClr val="0000FF"/>
                  </a:solidFill>
                  <a:latin typeface="Times New Roman" pitchFamily="18" charset="0"/>
                </a:rPr>
                <a:t>ch/</a:t>
              </a:r>
              <a:r>
                <a:rPr kumimoji="1" lang="en-US" altLang="zh-CN" sz="2000" dirty="0" err="1">
                  <a:solidFill>
                    <a:srgbClr val="0000FF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dirty="0">
                  <a:solidFill>
                    <a:srgbClr val="0000FF"/>
                  </a:solidFill>
                  <a:latin typeface="Times New Roman" pitchFamily="18" charset="0"/>
                </a:rPr>
                <a:t>     +    f*d    -   (</a:t>
              </a:r>
              <a:r>
                <a:rPr kumimoji="1" lang="en-US" altLang="zh-CN" sz="2000" dirty="0" err="1">
                  <a:solidFill>
                    <a:srgbClr val="0000FF"/>
                  </a:solidFill>
                  <a:latin typeface="Times New Roman" pitchFamily="18" charset="0"/>
                </a:rPr>
                <a:t>f+i</a:t>
              </a:r>
              <a:r>
                <a:rPr kumimoji="1" lang="en-US" altLang="zh-CN" sz="2000" dirty="0">
                  <a:solidFill>
                    <a:srgbClr val="0000FF"/>
                  </a:solidFill>
                  <a:latin typeface="Times New Roman" pitchFamily="18" charset="0"/>
                </a:rPr>
                <a:t>)</a:t>
              </a:r>
              <a:endParaRPr kumimoji="1" lang="en-US" altLang="zh-CN" sz="4000" dirty="0">
                <a:latin typeface="Times New Roman" pitchFamily="18" charset="0"/>
              </a:endParaRPr>
            </a:p>
          </p:txBody>
        </p:sp>
      </p:grpSp>
      <p:grpSp>
        <p:nvGrpSpPr>
          <p:cNvPr id="77" name="组合 6">
            <a:extLst>
              <a:ext uri="{FF2B5EF4-FFF2-40B4-BE49-F238E27FC236}">
                <a16:creationId xmlns:a16="http://schemas.microsoft.com/office/drawing/2014/main" id="{F1F9EFC9-7540-424E-B9E6-7119280CC974}"/>
              </a:ext>
            </a:extLst>
          </p:cNvPr>
          <p:cNvGrpSpPr>
            <a:grpSpLocks/>
          </p:cNvGrpSpPr>
          <p:nvPr/>
        </p:nvGrpSpPr>
        <p:grpSpPr bwMode="auto">
          <a:xfrm>
            <a:off x="3569605" y="4728838"/>
            <a:ext cx="3050800" cy="1969917"/>
            <a:chOff x="1571176" y="4456002"/>
            <a:chExt cx="3073400" cy="2302643"/>
          </a:xfrm>
        </p:grpSpPr>
        <p:grpSp>
          <p:nvGrpSpPr>
            <p:cNvPr id="78" name="组合 5">
              <a:extLst>
                <a:ext uri="{FF2B5EF4-FFF2-40B4-BE49-F238E27FC236}">
                  <a16:creationId xmlns:a16="http://schemas.microsoft.com/office/drawing/2014/main" id="{6051019C-B687-4AD3-BC2C-72CF9F759E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81200" y="5410200"/>
              <a:ext cx="1295400" cy="940840"/>
              <a:chOff x="1981200" y="5410200"/>
              <a:chExt cx="1295400" cy="940840"/>
            </a:xfrm>
          </p:grpSpPr>
          <p:sp>
            <p:nvSpPr>
              <p:cNvPr id="109" name="Line 52">
                <a:extLst>
                  <a:ext uri="{FF2B5EF4-FFF2-40B4-BE49-F238E27FC236}">
                    <a16:creationId xmlns:a16="http://schemas.microsoft.com/office/drawing/2014/main" id="{6470A93C-64D7-480D-B4D6-8C851F09E4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81200" y="5410200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" name="Line 53">
                <a:extLst>
                  <a:ext uri="{FF2B5EF4-FFF2-40B4-BE49-F238E27FC236}">
                    <a16:creationId xmlns:a16="http://schemas.microsoft.com/office/drawing/2014/main" id="{0B893ECB-AACF-4DA7-8D9D-E572ACF9CD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8000" y="5410200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" name="Line 54">
                <a:extLst>
                  <a:ext uri="{FF2B5EF4-FFF2-40B4-BE49-F238E27FC236}">
                    <a16:creationId xmlns:a16="http://schemas.microsoft.com/office/drawing/2014/main" id="{D0A6DA76-3B25-470E-A6BD-8A35129323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81200" y="5638800"/>
                <a:ext cx="1066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" name="Line 55">
                <a:extLst>
                  <a:ext uri="{FF2B5EF4-FFF2-40B4-BE49-F238E27FC236}">
                    <a16:creationId xmlns:a16="http://schemas.microsoft.com/office/drawing/2014/main" id="{F886103D-5285-453A-AA45-2060B3EEB4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4600" y="5638800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" name="Line 57">
                <a:extLst>
                  <a:ext uri="{FF2B5EF4-FFF2-40B4-BE49-F238E27FC236}">
                    <a16:creationId xmlns:a16="http://schemas.microsoft.com/office/drawing/2014/main" id="{5508929C-4DC7-4C33-82F5-5D07F532B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4600" y="5964704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" name="Line 60">
                <a:extLst>
                  <a:ext uri="{FF2B5EF4-FFF2-40B4-BE49-F238E27FC236}">
                    <a16:creationId xmlns:a16="http://schemas.microsoft.com/office/drawing/2014/main" id="{8BC678F0-8C51-48AE-A370-34079A8BB9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600" y="6122440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9" name="组合 4">
              <a:extLst>
                <a:ext uri="{FF2B5EF4-FFF2-40B4-BE49-F238E27FC236}">
                  <a16:creationId xmlns:a16="http://schemas.microsoft.com/office/drawing/2014/main" id="{E5C70128-D528-4B9D-B4C1-1D50F80375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1176" y="4456002"/>
              <a:ext cx="3073400" cy="2302643"/>
              <a:chOff x="1641475" y="4365104"/>
              <a:chExt cx="3073400" cy="2302643"/>
            </a:xfrm>
          </p:grpSpPr>
          <p:grpSp>
            <p:nvGrpSpPr>
              <p:cNvPr id="80" name="Group 44">
                <a:extLst>
                  <a:ext uri="{FF2B5EF4-FFF2-40B4-BE49-F238E27FC236}">
                    <a16:creationId xmlns:a16="http://schemas.microsoft.com/office/drawing/2014/main" id="{A7E356CA-C2E5-4048-8C29-58A56D32D9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638550" y="4508498"/>
                <a:ext cx="1076325" cy="966564"/>
                <a:chOff x="1464" y="3072"/>
                <a:chExt cx="638" cy="655"/>
              </a:xfrm>
            </p:grpSpPr>
            <p:sp>
              <p:nvSpPr>
                <p:cNvPr id="102" name="Line 45">
                  <a:extLst>
                    <a:ext uri="{FF2B5EF4-FFF2-40B4-BE49-F238E27FC236}">
                      <a16:creationId xmlns:a16="http://schemas.microsoft.com/office/drawing/2014/main" id="{9FE31F46-EB92-4060-9E55-83F126C5D9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4" y="307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" name="Text Box 46">
                  <a:extLst>
                    <a:ext uri="{FF2B5EF4-FFF2-40B4-BE49-F238E27FC236}">
                      <a16:creationId xmlns:a16="http://schemas.microsoft.com/office/drawing/2014/main" id="{215026C0-00E0-4B68-B933-0043AC18398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64" y="3120"/>
                  <a:ext cx="638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 sz="2000"/>
                    <a:t>   float</a:t>
                  </a:r>
                </a:p>
              </p:txBody>
            </p:sp>
            <p:sp>
              <p:nvSpPr>
                <p:cNvPr id="104" name="Line 47">
                  <a:extLst>
                    <a:ext uri="{FF2B5EF4-FFF2-40B4-BE49-F238E27FC236}">
                      <a16:creationId xmlns:a16="http://schemas.microsoft.com/office/drawing/2014/main" id="{5D0E4F09-E616-47BE-93B7-1AAA419696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8" y="3072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" name="Line 48">
                  <a:extLst>
                    <a:ext uri="{FF2B5EF4-FFF2-40B4-BE49-F238E27FC236}">
                      <a16:creationId xmlns:a16="http://schemas.microsoft.com/office/drawing/2014/main" id="{A713FB13-A038-4DFE-9224-FA19982750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4" y="3312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" name="Line 49">
                  <a:extLst>
                    <a:ext uri="{FF2B5EF4-FFF2-40B4-BE49-F238E27FC236}">
                      <a16:creationId xmlns:a16="http://schemas.microsoft.com/office/drawing/2014/main" id="{EAF1D228-4108-4BB6-B41C-82053B7DA3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16" y="3408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" name="Line 50">
                  <a:extLst>
                    <a:ext uri="{FF2B5EF4-FFF2-40B4-BE49-F238E27FC236}">
                      <a16:creationId xmlns:a16="http://schemas.microsoft.com/office/drawing/2014/main" id="{7B8E6B39-878D-4B3D-B3AB-1981E55589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0" y="3408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" name="Text Box 51">
                  <a:extLst>
                    <a:ext uri="{FF2B5EF4-FFF2-40B4-BE49-F238E27FC236}">
                      <a16:creationId xmlns:a16="http://schemas.microsoft.com/office/drawing/2014/main" id="{A797E5BA-8D55-490F-83C9-367C97323E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94" y="3456"/>
                  <a:ext cx="466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 sz="2000"/>
                    <a:t>float</a:t>
                  </a:r>
                </a:p>
              </p:txBody>
            </p:sp>
          </p:grpSp>
          <p:grpSp>
            <p:nvGrpSpPr>
              <p:cNvPr id="81" name="组合 3">
                <a:extLst>
                  <a:ext uri="{FF2B5EF4-FFF2-40B4-BE49-F238E27FC236}">
                    <a16:creationId xmlns:a16="http://schemas.microsoft.com/office/drawing/2014/main" id="{B3E9268E-ADCA-4600-AFB8-4F714CA299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41475" y="4365104"/>
                <a:ext cx="2362200" cy="2302643"/>
                <a:chOff x="1641475" y="4495800"/>
                <a:chExt cx="2362200" cy="2302643"/>
              </a:xfrm>
            </p:grpSpPr>
            <p:grpSp>
              <p:nvGrpSpPr>
                <p:cNvPr id="82" name="Group 28">
                  <a:extLst>
                    <a:ext uri="{FF2B5EF4-FFF2-40B4-BE49-F238E27FC236}">
                      <a16:creationId xmlns:a16="http://schemas.microsoft.com/office/drawing/2014/main" id="{347CEA51-27DA-4BF5-ADD2-D0198F10592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41475" y="4495800"/>
                  <a:ext cx="608013" cy="1009650"/>
                  <a:chOff x="1008" y="3072"/>
                  <a:chExt cx="383" cy="636"/>
                </a:xfrm>
              </p:grpSpPr>
              <p:sp>
                <p:nvSpPr>
                  <p:cNvPr id="95" name="Line 29">
                    <a:extLst>
                      <a:ext uri="{FF2B5EF4-FFF2-40B4-BE49-F238E27FC236}">
                        <a16:creationId xmlns:a16="http://schemas.microsoft.com/office/drawing/2014/main" id="{582D0FB1-5199-4208-9C2F-8F5776B7B86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072"/>
                    <a:ext cx="0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6" name="Text Box 30">
                    <a:extLst>
                      <a:ext uri="{FF2B5EF4-FFF2-40B4-BE49-F238E27FC236}">
                        <a16:creationId xmlns:a16="http://schemas.microsoft.com/office/drawing/2014/main" id="{086805AC-B7D7-40AA-89CA-39E77292278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08" y="3120"/>
                    <a:ext cx="287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eaLnBrk="1" hangingPunct="1"/>
                    <a:r>
                      <a:rPr kumimoji="1" lang="en-US" altLang="zh-CN" sz="2000" dirty="0"/>
                      <a:t>int</a:t>
                    </a:r>
                  </a:p>
                </p:txBody>
              </p:sp>
              <p:sp>
                <p:nvSpPr>
                  <p:cNvPr id="97" name="Line 31">
                    <a:extLst>
                      <a:ext uri="{FF2B5EF4-FFF2-40B4-BE49-F238E27FC236}">
                        <a16:creationId xmlns:a16="http://schemas.microsoft.com/office/drawing/2014/main" id="{113DC078-8F75-4949-BC66-9D5AF51F0D3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307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8" name="Line 32">
                    <a:extLst>
                      <a:ext uri="{FF2B5EF4-FFF2-40B4-BE49-F238E27FC236}">
                        <a16:creationId xmlns:a16="http://schemas.microsoft.com/office/drawing/2014/main" id="{5DED8ACA-16F6-4CFE-93E6-21354D13DB7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12"/>
                    <a:ext cx="0" cy="9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9" name="Line 33">
                    <a:extLst>
                      <a:ext uri="{FF2B5EF4-FFF2-40B4-BE49-F238E27FC236}">
                        <a16:creationId xmlns:a16="http://schemas.microsoft.com/office/drawing/2014/main" id="{DA4D4860-A6BB-461A-ACA5-4A734818C34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408"/>
                    <a:ext cx="14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" name="Line 34">
                    <a:extLst>
                      <a:ext uri="{FF2B5EF4-FFF2-40B4-BE49-F238E27FC236}">
                        <a16:creationId xmlns:a16="http://schemas.microsoft.com/office/drawing/2014/main" id="{DB38DE42-1B30-4D17-85A6-48AE393B7E7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48" y="3408"/>
                    <a:ext cx="0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" name="Text Box 35">
                    <a:extLst>
                      <a:ext uri="{FF2B5EF4-FFF2-40B4-BE49-F238E27FC236}">
                        <a16:creationId xmlns:a16="http://schemas.microsoft.com/office/drawing/2014/main" id="{1CBC01CE-C43C-40BE-8925-BB45F0E106F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04" y="3456"/>
                    <a:ext cx="287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eaLnBrk="1" hangingPunct="1"/>
                    <a:r>
                      <a:rPr kumimoji="1" lang="en-US" altLang="zh-CN" sz="2000"/>
                      <a:t>int</a:t>
                    </a:r>
                  </a:p>
                </p:txBody>
              </p:sp>
            </p:grpSp>
            <p:grpSp>
              <p:nvGrpSpPr>
                <p:cNvPr id="83" name="Group 36">
                  <a:extLst>
                    <a:ext uri="{FF2B5EF4-FFF2-40B4-BE49-F238E27FC236}">
                      <a16:creationId xmlns:a16="http://schemas.microsoft.com/office/drawing/2014/main" id="{45059B1D-8805-4441-B7F1-D42CDCAD0D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27276" y="4495800"/>
                  <a:ext cx="1336676" cy="1009650"/>
                  <a:chOff x="1440" y="3072"/>
                  <a:chExt cx="842" cy="636"/>
                </a:xfrm>
              </p:grpSpPr>
              <p:sp>
                <p:nvSpPr>
                  <p:cNvPr id="88" name="Line 37">
                    <a:extLst>
                      <a:ext uri="{FF2B5EF4-FFF2-40B4-BE49-F238E27FC236}">
                        <a16:creationId xmlns:a16="http://schemas.microsoft.com/office/drawing/2014/main" id="{6FB7E08B-920B-4C62-BE21-1D6EABC14A0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24" y="3072"/>
                    <a:ext cx="0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9" name="Text Box 38">
                    <a:extLst>
                      <a:ext uri="{FF2B5EF4-FFF2-40B4-BE49-F238E27FC236}">
                        <a16:creationId xmlns:a16="http://schemas.microsoft.com/office/drawing/2014/main" id="{87F197F6-1D07-4065-9063-4CE61DEED50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40" y="3120"/>
                    <a:ext cx="602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eaLnBrk="1" hangingPunct="1"/>
                    <a:r>
                      <a:rPr kumimoji="1" lang="en-US" altLang="zh-CN" sz="2000"/>
                      <a:t>double</a:t>
                    </a:r>
                  </a:p>
                </p:txBody>
              </p:sp>
              <p:sp>
                <p:nvSpPr>
                  <p:cNvPr id="90" name="Line 39">
                    <a:extLst>
                      <a:ext uri="{FF2B5EF4-FFF2-40B4-BE49-F238E27FC236}">
                        <a16:creationId xmlns:a16="http://schemas.microsoft.com/office/drawing/2014/main" id="{675C5888-D383-411F-A885-ECC1C19838C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68" y="307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1" name="Line 40">
                    <a:extLst>
                      <a:ext uri="{FF2B5EF4-FFF2-40B4-BE49-F238E27FC236}">
                        <a16:creationId xmlns:a16="http://schemas.microsoft.com/office/drawing/2014/main" id="{8753CD21-B3B2-4937-9960-A982E0A04E8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24" y="3312"/>
                    <a:ext cx="0" cy="9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" name="Line 41">
                    <a:extLst>
                      <a:ext uri="{FF2B5EF4-FFF2-40B4-BE49-F238E27FC236}">
                        <a16:creationId xmlns:a16="http://schemas.microsoft.com/office/drawing/2014/main" id="{566B9A01-E57E-4E97-8A1A-5FE99010D2C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24" y="3408"/>
                    <a:ext cx="14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3" name="Line 42">
                    <a:extLst>
                      <a:ext uri="{FF2B5EF4-FFF2-40B4-BE49-F238E27FC236}">
                        <a16:creationId xmlns:a16="http://schemas.microsoft.com/office/drawing/2014/main" id="{C24CC767-C14B-4C6A-9493-5FCFB99E88B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20" y="3408"/>
                    <a:ext cx="0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4" name="Text Box 43">
                    <a:extLst>
                      <a:ext uri="{FF2B5EF4-FFF2-40B4-BE49-F238E27FC236}">
                        <a16:creationId xmlns:a16="http://schemas.microsoft.com/office/drawing/2014/main" id="{8E775924-45AB-41D1-B318-6BC7FC71806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80" y="3456"/>
                    <a:ext cx="602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eaLnBrk="1" hangingPunct="1"/>
                    <a:r>
                      <a:rPr kumimoji="1" lang="en-US" altLang="zh-CN" sz="2000"/>
                      <a:t>double</a:t>
                    </a:r>
                  </a:p>
                </p:txBody>
              </p:sp>
            </p:grpSp>
            <p:sp>
              <p:nvSpPr>
                <p:cNvPr id="84" name="Text Box 56">
                  <a:extLst>
                    <a:ext uri="{FF2B5EF4-FFF2-40B4-BE49-F238E27FC236}">
                      <a16:creationId xmlns:a16="http://schemas.microsoft.com/office/drawing/2014/main" id="{31F45E7B-C8A7-4E86-A75E-25A9103494C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74875" y="5747944"/>
                  <a:ext cx="955711" cy="400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 sz="2000"/>
                    <a:t>double</a:t>
                  </a:r>
                </a:p>
              </p:txBody>
            </p:sp>
            <p:sp>
              <p:nvSpPr>
                <p:cNvPr id="85" name="Line 58">
                  <a:extLst>
                    <a:ext uri="{FF2B5EF4-FFF2-40B4-BE49-F238E27FC236}">
                      <a16:creationId xmlns:a16="http://schemas.microsoft.com/office/drawing/2014/main" id="{F0215FC4-BFD7-42EC-9D9C-92EC799737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03675" y="5410200"/>
                  <a:ext cx="0" cy="762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6" name="Line 59">
                  <a:extLst>
                    <a:ext uri="{FF2B5EF4-FFF2-40B4-BE49-F238E27FC236}">
                      <a16:creationId xmlns:a16="http://schemas.microsoft.com/office/drawing/2014/main" id="{8FD1BFC4-FDA7-4E51-BDA0-7786795465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55875" y="6172200"/>
                  <a:ext cx="14478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7" name="Text Box 61">
                  <a:extLst>
                    <a:ext uri="{FF2B5EF4-FFF2-40B4-BE49-F238E27FC236}">
                      <a16:creationId xmlns:a16="http://schemas.microsoft.com/office/drawing/2014/main" id="{4751DC30-A1A9-4804-91DD-8152DE13E69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05906" y="6398228"/>
                  <a:ext cx="955711" cy="400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 sz="2000"/>
                    <a:t>double</a:t>
                  </a:r>
                </a:p>
              </p:txBody>
            </p:sp>
          </p:grpSp>
        </p:grpSp>
      </p:grpSp>
      <p:grpSp>
        <p:nvGrpSpPr>
          <p:cNvPr id="115" name="Group 104">
            <a:extLst>
              <a:ext uri="{FF2B5EF4-FFF2-40B4-BE49-F238E27FC236}">
                <a16:creationId xmlns:a16="http://schemas.microsoft.com/office/drawing/2014/main" id="{A782BC37-8B2F-4702-A46E-8DE81A50A1A2}"/>
              </a:ext>
            </a:extLst>
          </p:cNvPr>
          <p:cNvGrpSpPr>
            <a:grpSpLocks/>
          </p:cNvGrpSpPr>
          <p:nvPr/>
        </p:nvGrpSpPr>
        <p:grpSpPr bwMode="auto">
          <a:xfrm>
            <a:off x="1642533" y="778933"/>
            <a:ext cx="5428722" cy="3230433"/>
            <a:chOff x="133" y="77"/>
            <a:chExt cx="3445" cy="2378"/>
          </a:xfrm>
        </p:grpSpPr>
        <p:sp>
          <p:nvSpPr>
            <p:cNvPr id="116" name="Rectangle 3">
              <a:extLst>
                <a:ext uri="{FF2B5EF4-FFF2-40B4-BE49-F238E27FC236}">
                  <a16:creationId xmlns:a16="http://schemas.microsoft.com/office/drawing/2014/main" id="{0A7D12A8-CBB2-44D9-8668-56B122A6D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" y="77"/>
              <a:ext cx="3445" cy="237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endParaRPr kumimoji="1" lang="zh-CN" altLang="zh-CN" sz="4000">
                <a:latin typeface="Times New Roman" pitchFamily="18" charset="0"/>
              </a:endParaRPr>
            </a:p>
          </p:txBody>
        </p:sp>
        <p:sp>
          <p:nvSpPr>
            <p:cNvPr id="117" name="Text Box 4">
              <a:extLst>
                <a:ext uri="{FF2B5EF4-FFF2-40B4-BE49-F238E27FC236}">
                  <a16:creationId xmlns:a16="http://schemas.microsoft.com/office/drawing/2014/main" id="{AD4A0523-30C3-4086-8395-0B452A5F60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8" y="278"/>
              <a:ext cx="556" cy="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>
                  <a:latin typeface="Times New Roman" pitchFamily="18" charset="0"/>
                </a:rPr>
                <a:t>double</a:t>
              </a:r>
              <a:endParaRPr kumimoji="1" lang="en-US" altLang="zh-CN" sz="4000">
                <a:latin typeface="Times New Roman" pitchFamily="18" charset="0"/>
              </a:endParaRP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8D7F3FE7-6A7E-43D6-AEC4-8C1DF3F58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5" y="663"/>
              <a:ext cx="411" cy="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>
                  <a:latin typeface="Times New Roman" pitchFamily="18" charset="0"/>
                </a:rPr>
                <a:t>float</a:t>
              </a:r>
              <a:endParaRPr kumimoji="1" lang="en-US" altLang="zh-CN" sz="4000">
                <a:latin typeface="Times New Roman" pitchFamily="18" charset="0"/>
              </a:endParaRPr>
            </a:p>
          </p:txBody>
        </p:sp>
        <p:sp>
          <p:nvSpPr>
            <p:cNvPr id="119" name="Text Box 6">
              <a:extLst>
                <a:ext uri="{FF2B5EF4-FFF2-40B4-BE49-F238E27FC236}">
                  <a16:creationId xmlns:a16="http://schemas.microsoft.com/office/drawing/2014/main" id="{350BA8F8-6408-4A33-88B2-781EB4A83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1117"/>
              <a:ext cx="403" cy="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>
                  <a:latin typeface="Times New Roman" pitchFamily="18" charset="0"/>
                </a:rPr>
                <a:t>long</a:t>
              </a:r>
              <a:endParaRPr kumimoji="1" lang="en-US" altLang="zh-CN" sz="4000">
                <a:latin typeface="Times New Roman" pitchFamily="18" charset="0"/>
              </a:endParaRPr>
            </a:p>
          </p:txBody>
        </p:sp>
        <p:sp>
          <p:nvSpPr>
            <p:cNvPr id="120" name="Text Box 7">
              <a:extLst>
                <a:ext uri="{FF2B5EF4-FFF2-40B4-BE49-F238E27FC236}">
                  <a16:creationId xmlns:a16="http://schemas.microsoft.com/office/drawing/2014/main" id="{AE258A4B-7F24-463D-B94B-8F665FE12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2" y="1525"/>
              <a:ext cx="699" cy="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>
                  <a:latin typeface="Times New Roman" pitchFamily="18" charset="0"/>
                </a:rPr>
                <a:t>unsigned</a:t>
              </a:r>
              <a:endParaRPr kumimoji="1" lang="en-US" altLang="zh-CN" sz="4000">
                <a:latin typeface="Times New Roman" pitchFamily="18" charset="0"/>
              </a:endParaRPr>
            </a:p>
          </p:txBody>
        </p:sp>
        <p:sp>
          <p:nvSpPr>
            <p:cNvPr id="121" name="Text Box 8">
              <a:extLst>
                <a:ext uri="{FF2B5EF4-FFF2-40B4-BE49-F238E27FC236}">
                  <a16:creationId xmlns:a16="http://schemas.microsoft.com/office/drawing/2014/main" id="{A18F61E7-F7EC-4905-99B4-54346FAC02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9" y="1940"/>
              <a:ext cx="286" cy="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>
                  <a:latin typeface="Times New Roman" pitchFamily="18" charset="0"/>
                </a:rPr>
                <a:t>int</a:t>
              </a:r>
              <a:endParaRPr kumimoji="1" lang="en-US" altLang="zh-CN" sz="4000">
                <a:latin typeface="Times New Roman" pitchFamily="18" charset="0"/>
              </a:endParaRPr>
            </a:p>
          </p:txBody>
        </p:sp>
        <p:sp>
          <p:nvSpPr>
            <p:cNvPr id="122" name="Text Box 9">
              <a:extLst>
                <a:ext uri="{FF2B5EF4-FFF2-40B4-BE49-F238E27FC236}">
                  <a16:creationId xmlns:a16="http://schemas.microsoft.com/office/drawing/2014/main" id="{B7434C94-A267-4F5A-9DCC-7B6098F74F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3" y="1940"/>
              <a:ext cx="750" cy="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000" dirty="0" err="1">
                  <a:latin typeface="Times New Roman" pitchFamily="18" charset="0"/>
                </a:rPr>
                <a:t>char,short</a:t>
              </a:r>
              <a:endParaRPr kumimoji="1" lang="en-US" altLang="zh-CN" sz="4000" dirty="0">
                <a:latin typeface="Times New Roman" pitchFamily="18" charset="0"/>
              </a:endParaRPr>
            </a:p>
          </p:txBody>
        </p:sp>
        <p:sp>
          <p:nvSpPr>
            <p:cNvPr id="123" name="Line 11">
              <a:extLst>
                <a:ext uri="{FF2B5EF4-FFF2-40B4-BE49-F238E27FC236}">
                  <a16:creationId xmlns:a16="http://schemas.microsoft.com/office/drawing/2014/main" id="{5B9B80D8-37A9-4DED-AEA2-6E495DA3284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462" y="1386"/>
              <a:ext cx="0" cy="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Line 12">
              <a:extLst>
                <a:ext uri="{FF2B5EF4-FFF2-40B4-BE49-F238E27FC236}">
                  <a16:creationId xmlns:a16="http://schemas.microsoft.com/office/drawing/2014/main" id="{012A020D-F98A-4537-B293-04ADC988BE3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474" y="1797"/>
              <a:ext cx="0" cy="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" name="Line 14">
              <a:extLst>
                <a:ext uri="{FF2B5EF4-FFF2-40B4-BE49-F238E27FC236}">
                  <a16:creationId xmlns:a16="http://schemas.microsoft.com/office/drawing/2014/main" id="{A438D04D-4D82-4CE9-BDDD-64EA5BC399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96" y="2069"/>
              <a:ext cx="4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" name="Line 15">
              <a:extLst>
                <a:ext uri="{FF2B5EF4-FFF2-40B4-BE49-F238E27FC236}">
                  <a16:creationId xmlns:a16="http://schemas.microsoft.com/office/drawing/2014/main" id="{2C199243-B860-4348-A183-F59C4B36FD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3" y="433"/>
              <a:ext cx="0" cy="17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" name="Text Box 16">
              <a:extLst>
                <a:ext uri="{FF2B5EF4-FFF2-40B4-BE49-F238E27FC236}">
                  <a16:creationId xmlns:a16="http://schemas.microsoft.com/office/drawing/2014/main" id="{1B422532-9A1B-4208-8C6B-6C0A521E43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" y="1996"/>
              <a:ext cx="278" cy="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latin typeface="Times New Roman" pitchFamily="18" charset="0"/>
                </a:rPr>
                <a:t>低</a:t>
              </a:r>
            </a:p>
          </p:txBody>
        </p:sp>
        <p:sp>
          <p:nvSpPr>
            <p:cNvPr id="128" name="Text Box 17">
              <a:extLst>
                <a:ext uri="{FF2B5EF4-FFF2-40B4-BE49-F238E27FC236}">
                  <a16:creationId xmlns:a16="http://schemas.microsoft.com/office/drawing/2014/main" id="{675DAB85-A703-491D-9104-CE3F8C670C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" y="334"/>
              <a:ext cx="278" cy="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000">
                  <a:latin typeface="Times New Roman" pitchFamily="18" charset="0"/>
                </a:rPr>
                <a:t>高</a:t>
              </a:r>
              <a:endParaRPr kumimoji="1" lang="zh-CN" altLang="en-US" sz="4000">
                <a:latin typeface="Times New Roman" pitchFamily="18" charset="0"/>
              </a:endParaRPr>
            </a:p>
          </p:txBody>
        </p:sp>
        <p:sp>
          <p:nvSpPr>
            <p:cNvPr id="129" name="Line 102">
              <a:extLst>
                <a:ext uri="{FF2B5EF4-FFF2-40B4-BE49-F238E27FC236}">
                  <a16:creationId xmlns:a16="http://schemas.microsoft.com/office/drawing/2014/main" id="{C8700EA4-B4B3-4DE7-9D55-E4CD12ECEF4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465" y="957"/>
              <a:ext cx="0" cy="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" name="Line 103">
              <a:extLst>
                <a:ext uri="{FF2B5EF4-FFF2-40B4-BE49-F238E27FC236}">
                  <a16:creationId xmlns:a16="http://schemas.microsoft.com/office/drawing/2014/main" id="{CDED5C9C-3531-41AD-A300-EC42E41F5BD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471" y="482"/>
              <a:ext cx="0" cy="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99F024-8750-4049-A3FF-2879B228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A3C71A14-1584-4711-B69A-25A6E9689D33}"/>
              </a:ext>
            </a:extLst>
          </p:cNvPr>
          <p:cNvSpPr txBox="1"/>
          <p:nvPr/>
        </p:nvSpPr>
        <p:spPr>
          <a:xfrm>
            <a:off x="3271428" y="61229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隐式类型转换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365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CA58D05-C2EC-44A9-9EBA-CC7E819EDDF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07561"/>
            <a:ext cx="11142134" cy="5559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b="1" dirty="0">
                <a:solidFill>
                  <a:srgbClr val="FF0066"/>
                </a:solidFill>
                <a:latin typeface="隶书" pitchFamily="49" charset="-122"/>
              </a:rPr>
              <a:t>显式转换（强制转换）</a:t>
            </a:r>
            <a:endParaRPr lang="en-US" altLang="zh-CN" b="1" dirty="0">
              <a:solidFill>
                <a:srgbClr val="FF0066"/>
              </a:solidFill>
              <a:latin typeface="隶书" pitchFamily="49" charset="-122"/>
            </a:endParaRPr>
          </a:p>
          <a:p>
            <a:pPr lvl="1"/>
            <a:endParaRPr lang="zh-CN" altLang="en-US" b="1" dirty="0">
              <a:solidFill>
                <a:srgbClr val="FF0066"/>
              </a:solidFill>
              <a:latin typeface="隶书" pitchFamily="49" charset="-122"/>
            </a:endParaRPr>
          </a:p>
          <a:p>
            <a:pPr lvl="2"/>
            <a:r>
              <a:rPr lang="zh-CN" altLang="en-US" sz="2400" b="1" dirty="0">
                <a:latin typeface="隶书" pitchFamily="49" charset="-122"/>
              </a:rPr>
              <a:t>一般形式：</a:t>
            </a:r>
            <a:r>
              <a:rPr lang="zh-CN" altLang="en-US" sz="2400" b="1" dirty="0">
                <a:solidFill>
                  <a:srgbClr val="FF0000"/>
                </a:solidFill>
                <a:latin typeface="隶书" pitchFamily="49" charset="-122"/>
              </a:rPr>
              <a:t>（</a:t>
            </a:r>
            <a:r>
              <a:rPr lang="zh-CN" altLang="en-US" sz="2400" b="1" dirty="0">
                <a:solidFill>
                  <a:srgbClr val="FF0066"/>
                </a:solidFill>
                <a:latin typeface="隶书" pitchFamily="49" charset="-122"/>
              </a:rPr>
              <a:t>类型名</a:t>
            </a:r>
            <a:r>
              <a:rPr lang="zh-CN" altLang="en-US" sz="2400" b="1" dirty="0">
                <a:solidFill>
                  <a:srgbClr val="FF0000"/>
                </a:solidFill>
                <a:latin typeface="隶书" pitchFamily="49" charset="-122"/>
              </a:rPr>
              <a:t>）</a:t>
            </a:r>
            <a:r>
              <a:rPr lang="zh-CN" altLang="en-US" sz="2400" b="1" dirty="0">
                <a:solidFill>
                  <a:srgbClr val="0000FF"/>
                </a:solidFill>
                <a:latin typeface="隶书" pitchFamily="49" charset="-122"/>
              </a:rPr>
              <a:t>（</a:t>
            </a:r>
            <a:r>
              <a:rPr lang="zh-CN" altLang="en-US" sz="2400" b="1" dirty="0">
                <a:solidFill>
                  <a:srgbClr val="3333FF"/>
                </a:solidFill>
                <a:latin typeface="隶书" pitchFamily="49" charset="-122"/>
              </a:rPr>
              <a:t>表达式）</a:t>
            </a:r>
          </a:p>
          <a:p>
            <a:pPr lvl="2">
              <a:buFont typeface="Wingdings" pitchFamily="2" charset="2"/>
              <a:buNone/>
            </a:pPr>
            <a:endParaRPr lang="en-US" altLang="zh-CN" sz="2400" b="1" dirty="0">
              <a:latin typeface="隶书" pitchFamily="49" charset="-122"/>
            </a:endParaRPr>
          </a:p>
          <a:p>
            <a:pPr lvl="2">
              <a:buFont typeface="Wingdings" pitchFamily="2" charset="2"/>
              <a:buNone/>
            </a:pPr>
            <a:r>
              <a:rPr lang="zh-CN" altLang="en-US" sz="2400" b="1" dirty="0">
                <a:latin typeface="隶书" pitchFamily="49" charset="-122"/>
              </a:rPr>
              <a:t>例    </a:t>
            </a:r>
            <a:r>
              <a:rPr lang="en-US" altLang="zh-CN" sz="2400" b="1" dirty="0">
                <a:latin typeface="隶书" pitchFamily="49" charset="-122"/>
              </a:rPr>
              <a:t>(int)(</a:t>
            </a:r>
            <a:r>
              <a:rPr lang="en-US" altLang="zh-CN" sz="2400" b="1" dirty="0" err="1">
                <a:latin typeface="隶书" pitchFamily="49" charset="-122"/>
              </a:rPr>
              <a:t>x+y</a:t>
            </a:r>
            <a:r>
              <a:rPr lang="en-US" altLang="zh-CN" sz="2400" b="1" dirty="0">
                <a:latin typeface="隶书" pitchFamily="49" charset="-122"/>
              </a:rPr>
              <a:t>)</a:t>
            </a:r>
          </a:p>
          <a:p>
            <a:pPr lvl="2">
              <a:buFont typeface="Wingdings" pitchFamily="2" charset="2"/>
              <a:buNone/>
            </a:pPr>
            <a:r>
              <a:rPr lang="en-US" altLang="zh-CN" sz="2400" b="1" dirty="0">
                <a:latin typeface="隶书" pitchFamily="49" charset="-122"/>
              </a:rPr>
              <a:t>      (int)</a:t>
            </a:r>
            <a:r>
              <a:rPr lang="en-US" altLang="zh-CN" sz="2400" b="1" dirty="0" err="1">
                <a:latin typeface="隶书" pitchFamily="49" charset="-122"/>
              </a:rPr>
              <a:t>x+y</a:t>
            </a:r>
            <a:endParaRPr lang="en-US" altLang="zh-CN" sz="2400" b="1" dirty="0">
              <a:latin typeface="隶书" pitchFamily="49" charset="-122"/>
            </a:endParaRPr>
          </a:p>
          <a:p>
            <a:pPr lvl="2">
              <a:buFont typeface="Wingdings" pitchFamily="2" charset="2"/>
              <a:buNone/>
            </a:pPr>
            <a:r>
              <a:rPr lang="en-US" altLang="zh-CN" sz="2400" b="1" dirty="0">
                <a:latin typeface="隶书" pitchFamily="49" charset="-122"/>
              </a:rPr>
              <a:t>      (double)(3/2)</a:t>
            </a:r>
          </a:p>
          <a:p>
            <a:pPr lvl="2">
              <a:buFont typeface="Wingdings" pitchFamily="2" charset="2"/>
              <a:buNone/>
            </a:pPr>
            <a:r>
              <a:rPr lang="en-US" altLang="zh-CN" sz="2400" b="1" dirty="0">
                <a:latin typeface="隶书" pitchFamily="49" charset="-122"/>
              </a:rPr>
              <a:t>      (int)3.6</a:t>
            </a:r>
          </a:p>
          <a:p>
            <a:pPr lvl="2">
              <a:buFont typeface="Wingdings" pitchFamily="2" charset="2"/>
              <a:buNone/>
            </a:pPr>
            <a:endParaRPr lang="en-US" altLang="zh-CN" sz="2400" b="1" dirty="0">
              <a:latin typeface="隶书" pitchFamily="49" charset="-122"/>
            </a:endParaRPr>
          </a:p>
          <a:p>
            <a:pPr lvl="2">
              <a:buFont typeface="Wingdings" pitchFamily="2" charset="2"/>
              <a:buNone/>
            </a:pPr>
            <a:endParaRPr lang="en-US" altLang="zh-CN" sz="2400" b="1" dirty="0">
              <a:latin typeface="隶书" pitchFamily="49" charset="-122"/>
            </a:endParaRPr>
          </a:p>
          <a:p>
            <a:pPr lvl="2">
              <a:buFont typeface="Wingdings" pitchFamily="2" charset="2"/>
              <a:buNone/>
            </a:pPr>
            <a:r>
              <a:rPr lang="en-US" altLang="zh-CN" sz="2400" b="1" dirty="0">
                <a:latin typeface="隶书" pitchFamily="49" charset="-122"/>
              </a:rPr>
              <a:t>  </a:t>
            </a:r>
          </a:p>
          <a:p>
            <a:pPr lvl="2"/>
            <a:r>
              <a:rPr lang="zh-CN" altLang="zh-CN" sz="2400" b="1" dirty="0">
                <a:latin typeface="隶书" pitchFamily="49" charset="-122"/>
              </a:rPr>
              <a:t>说明：强制转换</a:t>
            </a:r>
            <a:r>
              <a:rPr lang="zh-CN" altLang="en-US" sz="2400" b="1" dirty="0">
                <a:latin typeface="隶书" pitchFamily="49" charset="-122"/>
              </a:rPr>
              <a:t>得到</a:t>
            </a:r>
            <a:r>
              <a:rPr lang="zh-CN" altLang="zh-CN" sz="2400" b="1" dirty="0">
                <a:latin typeface="隶书" pitchFamily="49" charset="-122"/>
              </a:rPr>
              <a:t>所需类型的中间变量，</a:t>
            </a:r>
            <a:endParaRPr lang="en-US" altLang="zh-CN" sz="2400" b="1" dirty="0">
              <a:latin typeface="隶书" pitchFamily="49" charset="-122"/>
            </a:endParaRPr>
          </a:p>
          <a:p>
            <a:pPr marL="914400" lvl="2" indent="0">
              <a:buNone/>
            </a:pPr>
            <a:r>
              <a:rPr lang="en-US" altLang="zh-CN" sz="2400" b="1" dirty="0">
                <a:latin typeface="隶书" pitchFamily="49" charset="-122"/>
              </a:rPr>
              <a:t>        </a:t>
            </a:r>
            <a:r>
              <a:rPr lang="zh-CN" altLang="zh-CN" sz="2400" b="1" dirty="0">
                <a:latin typeface="隶书" pitchFamily="49" charset="-122"/>
              </a:rPr>
              <a:t>原变量类型不变 </a:t>
            </a:r>
            <a:endParaRPr lang="zh-CN" altLang="en-US" sz="2400" b="1" dirty="0">
              <a:latin typeface="隶书" pitchFamily="49" charset="-122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F0166DF5-26EC-496C-A3D8-7FF04EF3A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0260" y="2645726"/>
            <a:ext cx="4242165" cy="3418501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400" b="1" dirty="0">
                <a:latin typeface="Times New Roman" pitchFamily="18" charset="0"/>
              </a:rPr>
              <a:t>例 </a:t>
            </a:r>
            <a:r>
              <a:rPr kumimoji="1" lang="en-US" altLang="zh-CN" sz="2400" b="1" dirty="0" err="1">
                <a:latin typeface="Times New Roman" pitchFamily="18" charset="0"/>
              </a:rPr>
              <a:t>int</a:t>
            </a:r>
            <a:r>
              <a:rPr kumimoji="1" lang="zh-CN" altLang="en-US" sz="2400" b="1" dirty="0">
                <a:latin typeface="Times New Roman" pitchFamily="18" charset="0"/>
              </a:rPr>
              <a:t> </a:t>
            </a:r>
            <a:r>
              <a:rPr kumimoji="1" lang="en-US" altLang="zh-CN" sz="2400" b="1" dirty="0">
                <a:latin typeface="Times New Roman" pitchFamily="18" charset="0"/>
              </a:rPr>
              <a:t>main()</a:t>
            </a:r>
          </a:p>
          <a:p>
            <a:r>
              <a:rPr kumimoji="1" lang="en-US" altLang="zh-CN" sz="2400" b="1" dirty="0">
                <a:latin typeface="Times New Roman" pitchFamily="18" charset="0"/>
              </a:rPr>
              <a:t>     {   float  x;</a:t>
            </a:r>
          </a:p>
          <a:p>
            <a:r>
              <a:rPr kumimoji="1" lang="en-US" altLang="zh-CN" sz="2400" b="1" dirty="0">
                <a:latin typeface="Times New Roman" pitchFamily="18" charset="0"/>
              </a:rPr>
              <a:t>         </a:t>
            </a:r>
            <a:r>
              <a:rPr kumimoji="1" lang="en-US" altLang="zh-CN" sz="2400" b="1" dirty="0" err="1">
                <a:latin typeface="Times New Roman" pitchFamily="18" charset="0"/>
              </a:rPr>
              <a:t>int</a:t>
            </a:r>
            <a:r>
              <a:rPr kumimoji="1" lang="en-US" altLang="zh-CN" sz="2400" b="1" dirty="0">
                <a:latin typeface="Times New Roman" pitchFamily="18" charset="0"/>
              </a:rPr>
              <a:t>  </a:t>
            </a:r>
            <a:r>
              <a:rPr kumimoji="1" lang="en-US" altLang="zh-CN" sz="2400" b="1" dirty="0" err="1">
                <a:latin typeface="Times New Roman" pitchFamily="18" charset="0"/>
              </a:rPr>
              <a:t>i</a:t>
            </a:r>
            <a:r>
              <a:rPr kumimoji="1" lang="en-US" altLang="zh-CN" sz="2400" b="1" dirty="0">
                <a:latin typeface="Times New Roman" pitchFamily="18" charset="0"/>
              </a:rPr>
              <a:t>;</a:t>
            </a:r>
          </a:p>
          <a:p>
            <a:r>
              <a:rPr kumimoji="1" lang="en-US" altLang="zh-CN" sz="2400" b="1" dirty="0">
                <a:latin typeface="Times New Roman" pitchFamily="18" charset="0"/>
              </a:rPr>
              <a:t>         x=3.6;</a:t>
            </a:r>
          </a:p>
          <a:p>
            <a:r>
              <a:rPr kumimoji="1" lang="en-US" altLang="zh-CN" sz="2400" b="1" dirty="0">
                <a:latin typeface="Times New Roman" pitchFamily="18" charset="0"/>
              </a:rPr>
              <a:t>         </a:t>
            </a:r>
            <a:r>
              <a:rPr kumimoji="1" lang="en-US" altLang="zh-CN" sz="2400" b="1" dirty="0" err="1">
                <a:latin typeface="Times New Roman" pitchFamily="18" charset="0"/>
              </a:rPr>
              <a:t>i</a:t>
            </a:r>
            <a:r>
              <a:rPr kumimoji="1" lang="en-US" altLang="zh-CN" sz="2400" b="1" dirty="0">
                <a:latin typeface="Times New Roman" pitchFamily="18" charset="0"/>
              </a:rPr>
              <a:t>=(</a:t>
            </a:r>
            <a:r>
              <a:rPr kumimoji="1" lang="en-US" altLang="zh-CN" sz="2400" b="1" dirty="0" err="1">
                <a:latin typeface="Times New Roman" pitchFamily="18" charset="0"/>
              </a:rPr>
              <a:t>int</a:t>
            </a:r>
            <a:r>
              <a:rPr kumimoji="1" lang="en-US" altLang="zh-CN" sz="2400" b="1" dirty="0">
                <a:latin typeface="Times New Roman" pitchFamily="18" charset="0"/>
              </a:rPr>
              <a:t>)x;</a:t>
            </a:r>
          </a:p>
          <a:p>
            <a:r>
              <a:rPr kumimoji="1" lang="en-US" altLang="zh-CN" sz="2400" b="1" dirty="0">
                <a:latin typeface="Times New Roman" pitchFamily="18" charset="0"/>
              </a:rPr>
              <a:t>         printf("x=%</a:t>
            </a:r>
            <a:r>
              <a:rPr kumimoji="1" lang="en-US" altLang="zh-CN" sz="2400" b="1" dirty="0" err="1">
                <a:latin typeface="Times New Roman" pitchFamily="18" charset="0"/>
              </a:rPr>
              <a:t>f,i</a:t>
            </a:r>
            <a:r>
              <a:rPr kumimoji="1" lang="en-US" altLang="zh-CN" sz="2400" b="1" dirty="0">
                <a:latin typeface="Times New Roman" pitchFamily="18" charset="0"/>
              </a:rPr>
              <a:t>=%d",</a:t>
            </a:r>
            <a:r>
              <a:rPr kumimoji="1" lang="en-US" altLang="zh-CN" sz="2400" b="1" dirty="0" err="1">
                <a:latin typeface="Times New Roman" pitchFamily="18" charset="0"/>
              </a:rPr>
              <a:t>x,i</a:t>
            </a:r>
            <a:r>
              <a:rPr kumimoji="1" lang="en-US" altLang="zh-CN" sz="2400" b="1" dirty="0">
                <a:latin typeface="Times New Roman" pitchFamily="18" charset="0"/>
              </a:rPr>
              <a:t>);</a:t>
            </a:r>
          </a:p>
          <a:p>
            <a:r>
              <a:rPr kumimoji="1" lang="en-US" altLang="zh-CN" sz="2400" b="1" dirty="0">
                <a:latin typeface="Times New Roman" pitchFamily="18" charset="0"/>
              </a:rPr>
              <a:t>         return 0;   </a:t>
            </a:r>
          </a:p>
          <a:p>
            <a:r>
              <a:rPr kumimoji="1" lang="en-US" altLang="zh-CN" sz="2400" b="1" dirty="0">
                <a:latin typeface="Times New Roman" pitchFamily="18" charset="0"/>
              </a:rPr>
              <a:t>    }</a:t>
            </a:r>
          </a:p>
          <a:p>
            <a:r>
              <a:rPr kumimoji="1" lang="zh-CN" altLang="zh-CN" sz="2400" b="1" dirty="0">
                <a:latin typeface="Times New Roman" pitchFamily="18" charset="0"/>
              </a:rPr>
              <a:t>结果：</a:t>
            </a:r>
            <a:r>
              <a:rPr kumimoji="1" lang="en-US" altLang="zh-CN" sz="2400" b="1" dirty="0">
                <a:latin typeface="Times New Roman" pitchFamily="18" charset="0"/>
              </a:rPr>
              <a:t>x=3.600000,i=3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2D2DD2-D30E-4716-B9F4-86FD41DB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7AC59B2-9619-4C75-BF81-16F13F398A06}"/>
              </a:ext>
            </a:extLst>
          </p:cNvPr>
          <p:cNvSpPr txBox="1"/>
          <p:nvPr/>
        </p:nvSpPr>
        <p:spPr>
          <a:xfrm>
            <a:off x="3271428" y="61229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显式类型转换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3493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 autoUpdateAnimBg="0"/>
      <p:bldP spid="5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1C666C9-8D2F-47A0-A90C-1541EA7904D7}"/>
              </a:ext>
            </a:extLst>
          </p:cNvPr>
          <p:cNvSpPr txBox="1"/>
          <p:nvPr/>
        </p:nvSpPr>
        <p:spPr>
          <a:xfrm>
            <a:off x="0" y="710418"/>
            <a:ext cx="660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一个功能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相对独立的程序一般包括三部分：</a:t>
            </a:r>
            <a:endParaRPr lang="en-US" altLang="zh-CN" sz="2400" b="1" kern="0" dirty="0">
              <a:solidFill>
                <a:prstClr val="black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857250" lvl="1" indent="-400050">
              <a:buFont typeface="+mj-ea"/>
              <a:buAutoNum type="ea1JpnChsDbPeriod"/>
            </a:pP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数据</a:t>
            </a: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输入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（为程序中的变量赋初值）</a:t>
            </a:r>
            <a:endParaRPr lang="en-US" altLang="zh-CN" sz="2400" b="1" kern="0" dirty="0">
              <a:solidFill>
                <a:prstClr val="black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971550" lvl="1" indent="-514350">
              <a:buFont typeface="+mj-ea"/>
              <a:buAutoNum type="ea1JpnChsDbPeriod"/>
            </a:pP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数据计算</a:t>
            </a:r>
            <a:endParaRPr lang="en-US" altLang="zh-CN" sz="2400" b="1" kern="0" dirty="0">
              <a:solidFill>
                <a:prstClr val="black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971550" lvl="1" indent="-514350">
              <a:buFont typeface="+mj-ea"/>
              <a:buAutoNum type="ea1JpnChsDbPeriod"/>
            </a:pP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结果</a:t>
            </a: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输出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E19BB2-BE36-44D2-B4AB-7E4B5CFFC197}"/>
              </a:ext>
            </a:extLst>
          </p:cNvPr>
          <p:cNvSpPr txBox="1"/>
          <p:nvPr/>
        </p:nvSpPr>
        <p:spPr>
          <a:xfrm>
            <a:off x="0" y="2505351"/>
            <a:ext cx="12192000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kern="0" dirty="0">
                <a:solidFill>
                  <a:srgbClr val="0070C0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C</a:t>
            </a:r>
            <a:r>
              <a:rPr lang="zh-CN" altLang="en-US" sz="2400" b="1" kern="0" dirty="0">
                <a:solidFill>
                  <a:srgbClr val="0070C0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语言没有输入</a:t>
            </a:r>
            <a:r>
              <a:rPr lang="en-US" altLang="zh-CN" sz="2400" b="1" kern="0" dirty="0">
                <a:solidFill>
                  <a:srgbClr val="0070C0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/</a:t>
            </a:r>
            <a:r>
              <a:rPr lang="zh-CN" altLang="en-US" sz="2400" b="1" kern="0" dirty="0">
                <a:solidFill>
                  <a:srgbClr val="0070C0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输出语句。</a:t>
            </a:r>
            <a:r>
              <a:rPr lang="zh-CN" altLang="en-US" sz="2400" b="1" kern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程序中数据的输入</a:t>
            </a:r>
            <a:r>
              <a:rPr lang="en-US" altLang="zh-CN" sz="2400" b="1" kern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/</a:t>
            </a:r>
            <a:r>
              <a:rPr lang="zh-CN" altLang="en-US" sz="2400" b="1" kern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输出是通过调用</a:t>
            </a:r>
            <a:r>
              <a:rPr lang="en-US" altLang="zh-CN" sz="2400" b="1" kern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C</a:t>
            </a:r>
            <a:r>
              <a:rPr lang="zh-CN" altLang="en-US" sz="2400" b="1" kern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标准库中的实现输入</a:t>
            </a:r>
            <a:r>
              <a:rPr lang="en-US" altLang="zh-CN" sz="2400" b="1" kern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/</a:t>
            </a:r>
            <a:r>
              <a:rPr lang="zh-CN" altLang="en-US" sz="2400" b="1" kern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输出功能的库函数来实现的。当需要在程序中使用</a:t>
            </a:r>
            <a:r>
              <a:rPr lang="en-US" altLang="zh-CN" sz="2400" b="1" kern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C</a:t>
            </a:r>
            <a:r>
              <a:rPr lang="zh-CN" altLang="en-US" sz="2400" b="1" kern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标准库中提供的函数时，需要将该库函数所在的头文件包含到程序的源文件当中。实现标准输入</a:t>
            </a:r>
            <a:r>
              <a:rPr lang="en-US" altLang="zh-CN" sz="2400" b="1" kern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/</a:t>
            </a:r>
            <a:r>
              <a:rPr lang="zh-CN" altLang="en-US" sz="2400" b="1" kern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输出功能的函数位于头文件</a:t>
            </a:r>
            <a:r>
              <a:rPr lang="en-US" altLang="zh-CN" sz="2400" b="1" kern="0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&lt;</a:t>
            </a:r>
            <a:r>
              <a:rPr lang="en-US" altLang="zh-CN" sz="2400" b="1" kern="0" dirty="0" err="1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stdio.h</a:t>
            </a:r>
            <a:r>
              <a:rPr lang="en-US" altLang="zh-CN" sz="2400" b="1" kern="0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&gt;</a:t>
            </a:r>
            <a:r>
              <a:rPr lang="zh-CN" altLang="en-US" sz="2400" b="1" kern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中，当要使用它们时，需要在程序的源文件的最开始部分使用预处理指令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#include</a:t>
            </a:r>
            <a:r>
              <a:rPr lang="zh-CN" altLang="en-US" sz="2400" b="1" kern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将它们包含进来。具体语法格式为：</a:t>
            </a:r>
            <a:endParaRPr lang="zh-CN" altLang="en-US" sz="2400" b="1" kern="0" dirty="0">
              <a:solidFill>
                <a:srgbClr val="0000FF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7FCEE7-88D5-4D7B-853D-AD20FFC05478}"/>
              </a:ext>
            </a:extLst>
          </p:cNvPr>
          <p:cNvSpPr txBox="1"/>
          <p:nvPr/>
        </p:nvSpPr>
        <p:spPr>
          <a:xfrm>
            <a:off x="2439458" y="5438601"/>
            <a:ext cx="6174316" cy="46166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lvl="2"/>
            <a:r>
              <a:rPr lang="en-US" altLang="zh-CN" sz="2400" b="1" dirty="0">
                <a:solidFill>
                  <a:srgbClr val="FF0066"/>
                </a:solidFill>
                <a:latin typeface="隶书" pitchFamily="49" charset="-122"/>
              </a:rPr>
              <a:t>#include </a:t>
            </a:r>
            <a:r>
              <a:rPr lang="en-US" altLang="zh-CN" sz="2400" b="1" dirty="0">
                <a:solidFill>
                  <a:srgbClr val="0000FF"/>
                </a:solidFill>
                <a:latin typeface="隶书" pitchFamily="49" charset="-122"/>
              </a:rPr>
              <a:t>&lt;</a:t>
            </a:r>
            <a:r>
              <a:rPr lang="zh-CN" altLang="en-US" sz="2400" b="1" dirty="0">
                <a:solidFill>
                  <a:srgbClr val="0000FF"/>
                </a:solidFill>
                <a:latin typeface="隶书" pitchFamily="49" charset="-122"/>
              </a:rPr>
              <a:t>库</a:t>
            </a:r>
            <a:r>
              <a:rPr lang="zh-CN" altLang="en-US" sz="2400" b="1" dirty="0">
                <a:solidFill>
                  <a:srgbClr val="3333FF"/>
                </a:solidFill>
                <a:latin typeface="隶书" pitchFamily="49" charset="-122"/>
              </a:rPr>
              <a:t>函数所在头文件</a:t>
            </a:r>
            <a:r>
              <a:rPr lang="en-US" altLang="zh-CN" sz="2400" b="1" dirty="0">
                <a:solidFill>
                  <a:srgbClr val="3333FF"/>
                </a:solidFill>
                <a:latin typeface="隶书" pitchFamily="49" charset="-122"/>
              </a:rPr>
              <a:t>&gt;</a:t>
            </a:r>
            <a:endParaRPr lang="zh-CN" altLang="en-US" sz="2400" b="1" dirty="0">
              <a:solidFill>
                <a:srgbClr val="3333FF"/>
              </a:solidFill>
              <a:latin typeface="隶书" pitchFamily="49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66C643-879E-4324-B735-B874017D3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/54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71979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B7CC61-6E5A-42C8-B8AC-AA049B313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499" y="1116730"/>
            <a:ext cx="6552728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E4658E-E7A1-4EF1-9B3B-C27BE09B1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/54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125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FF024D6E-F233-4607-83B6-1A13422321D5}"/>
              </a:ext>
            </a:extLst>
          </p:cNvPr>
          <p:cNvSpPr txBox="1">
            <a:spLocks noChangeArrowheads="1"/>
          </p:cNvSpPr>
          <p:nvPr/>
        </p:nvSpPr>
        <p:spPr>
          <a:xfrm>
            <a:off x="1839393" y="979446"/>
            <a:ext cx="7772400" cy="21721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3000" b="1" dirty="0"/>
              <a:t>输出单个字符函数</a:t>
            </a:r>
            <a:r>
              <a:rPr lang="en-US" altLang="zh-CN" sz="3000" b="1" dirty="0">
                <a:solidFill>
                  <a:srgbClr val="FF0066"/>
                </a:solidFill>
                <a:latin typeface="Times New Roman" pitchFamily="18" charset="0"/>
              </a:rPr>
              <a:t>putchar</a:t>
            </a:r>
            <a:r>
              <a:rPr lang="en-US" altLang="zh-CN" sz="3000" b="1" dirty="0">
                <a:latin typeface="Times New Roman" pitchFamily="18" charset="0"/>
              </a:rPr>
              <a:t>(ch)</a:t>
            </a:r>
          </a:p>
          <a:p>
            <a:pPr lvl="2"/>
            <a:r>
              <a:rPr kumimoji="1" lang="zh-CN" altLang="en-US" sz="24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格式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: putchar(ch)</a:t>
            </a:r>
          </a:p>
          <a:p>
            <a:pPr lvl="2"/>
            <a:r>
              <a:rPr kumimoji="1" lang="zh-CN" altLang="en-US" sz="24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参数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: ch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为字符常量、变量或表达式</a:t>
            </a:r>
          </a:p>
          <a:p>
            <a:pPr lvl="2"/>
            <a:r>
              <a:rPr kumimoji="1" lang="zh-CN" altLang="zh-CN" sz="24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功能</a:t>
            </a:r>
            <a:r>
              <a:rPr kumimoji="1" lang="zh-CN" altLang="zh-CN" sz="2400" b="1" dirty="0">
                <a:solidFill>
                  <a:srgbClr val="000000"/>
                </a:solidFill>
                <a:latin typeface="宋体" pitchFamily="2" charset="-122"/>
              </a:rPr>
              <a:t>：把字符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ch</a:t>
            </a:r>
            <a:r>
              <a:rPr kumimoji="1" lang="zh-CN" altLang="zh-CN" sz="2400" b="1" dirty="0">
                <a:solidFill>
                  <a:srgbClr val="000000"/>
                </a:solidFill>
                <a:latin typeface="宋体" pitchFamily="2" charset="-122"/>
              </a:rPr>
              <a:t>输出到显示器上</a:t>
            </a:r>
          </a:p>
          <a:p>
            <a:pPr lvl="2"/>
            <a:r>
              <a:rPr kumimoji="1" lang="zh-CN" altLang="zh-CN" sz="24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返回值</a:t>
            </a:r>
            <a:r>
              <a:rPr kumimoji="1" lang="zh-CN" altLang="zh-CN" sz="2400" b="1" dirty="0">
                <a:solidFill>
                  <a:srgbClr val="000000"/>
                </a:solidFill>
                <a:latin typeface="宋体" pitchFamily="2" charset="-122"/>
              </a:rPr>
              <a:t>：显示字符的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ASCII</a:t>
            </a:r>
            <a:r>
              <a:rPr kumimoji="1" lang="zh-CN" altLang="zh-CN" sz="2400" b="1" dirty="0">
                <a:solidFill>
                  <a:srgbClr val="000000"/>
                </a:solidFill>
                <a:latin typeface="宋体" pitchFamily="2" charset="-122"/>
              </a:rPr>
              <a:t>值。</a:t>
            </a:r>
            <a:endParaRPr kumimoji="1" lang="zh-CN" altLang="en-US" sz="2400" b="1" dirty="0">
              <a:solidFill>
                <a:srgbClr val="000000"/>
              </a:solidFill>
              <a:latin typeface="宋体" pitchFamily="2" charset="-122"/>
            </a:endParaRPr>
          </a:p>
          <a:p>
            <a:pPr marL="457200" lvl="1" indent="0">
              <a:buNone/>
            </a:pPr>
            <a:endParaRPr lang="en-US" altLang="zh-CN" sz="3000" b="1" dirty="0">
              <a:solidFill>
                <a:srgbClr val="FF0066"/>
              </a:solidFill>
              <a:latin typeface="Times New Roman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341E2DA-7C0C-421E-B41C-2F05D9AC38FD}"/>
              </a:ext>
            </a:extLst>
          </p:cNvPr>
          <p:cNvSpPr txBox="1">
            <a:spLocks noChangeArrowheads="1"/>
          </p:cNvSpPr>
          <p:nvPr/>
        </p:nvSpPr>
        <p:spPr>
          <a:xfrm>
            <a:off x="1759155" y="3567365"/>
            <a:ext cx="7772400" cy="1776992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12000" b="1" dirty="0"/>
              <a:t>获取</a:t>
            </a:r>
            <a:r>
              <a:rPr lang="zh-CN" altLang="zh-CN" sz="12000" b="1" dirty="0"/>
              <a:t>单</a:t>
            </a:r>
            <a:r>
              <a:rPr lang="zh-CN" altLang="en-US" sz="12000" b="1" dirty="0"/>
              <a:t>个输入</a:t>
            </a:r>
            <a:r>
              <a:rPr lang="zh-CN" altLang="zh-CN" sz="12000" b="1" dirty="0"/>
              <a:t>字符函数</a:t>
            </a:r>
            <a:r>
              <a:rPr lang="zh-CN" altLang="en-US" sz="12000" b="1" dirty="0">
                <a:solidFill>
                  <a:srgbClr val="FF0000"/>
                </a:solidFill>
              </a:rPr>
              <a:t>g</a:t>
            </a:r>
            <a:r>
              <a:rPr lang="en-US" altLang="zh-CN" sz="12000" b="1" dirty="0">
                <a:solidFill>
                  <a:srgbClr val="FF0000"/>
                </a:solidFill>
              </a:rPr>
              <a:t>etchar</a:t>
            </a:r>
            <a:r>
              <a:rPr lang="en-US" altLang="zh-CN" sz="12000" b="1" dirty="0"/>
              <a:t>()</a:t>
            </a:r>
          </a:p>
          <a:p>
            <a:pPr lvl="2">
              <a:lnSpc>
                <a:spcPts val="3200"/>
              </a:lnSpc>
            </a:pPr>
            <a:r>
              <a:rPr kumimoji="1" lang="zh-CN" altLang="en-US" sz="96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格式</a:t>
            </a:r>
            <a:r>
              <a:rPr kumimoji="1" lang="en-US" altLang="zh-CN" sz="9600" b="1" dirty="0">
                <a:solidFill>
                  <a:srgbClr val="000000"/>
                </a:solidFill>
                <a:latin typeface="宋体" pitchFamily="2" charset="-122"/>
              </a:rPr>
              <a:t>: getchar()</a:t>
            </a:r>
          </a:p>
          <a:p>
            <a:pPr lvl="2">
              <a:lnSpc>
                <a:spcPts val="3200"/>
              </a:lnSpc>
            </a:pPr>
            <a:r>
              <a:rPr kumimoji="1" lang="zh-CN" altLang="zh-CN" sz="96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功能</a:t>
            </a:r>
            <a:r>
              <a:rPr kumimoji="1" lang="zh-CN" altLang="zh-CN" sz="9600" b="1" dirty="0">
                <a:solidFill>
                  <a:srgbClr val="000000"/>
                </a:solidFill>
                <a:latin typeface="宋体" pitchFamily="2" charset="-122"/>
              </a:rPr>
              <a:t>：从键盘读</a:t>
            </a:r>
            <a:r>
              <a:rPr kumimoji="1" lang="zh-CN" altLang="en-US" sz="9600" b="1" dirty="0">
                <a:solidFill>
                  <a:srgbClr val="000000"/>
                </a:solidFill>
                <a:latin typeface="宋体" pitchFamily="2" charset="-122"/>
              </a:rPr>
              <a:t>取</a:t>
            </a:r>
            <a:r>
              <a:rPr kumimoji="1" lang="zh-CN" altLang="zh-CN" sz="9600" b="1" dirty="0">
                <a:solidFill>
                  <a:srgbClr val="000000"/>
                </a:solidFill>
                <a:latin typeface="宋体" pitchFamily="2" charset="-122"/>
              </a:rPr>
              <a:t>一</a:t>
            </a:r>
            <a:r>
              <a:rPr kumimoji="1" lang="zh-CN" altLang="en-US" sz="9600" b="1" dirty="0">
                <a:solidFill>
                  <a:srgbClr val="000000"/>
                </a:solidFill>
                <a:latin typeface="宋体" pitchFamily="2" charset="-122"/>
              </a:rPr>
              <a:t>个</a:t>
            </a:r>
            <a:r>
              <a:rPr kumimoji="1" lang="zh-CN" altLang="zh-CN" sz="9600" b="1" dirty="0">
                <a:solidFill>
                  <a:srgbClr val="000000"/>
                </a:solidFill>
                <a:latin typeface="宋体" pitchFamily="2" charset="-122"/>
              </a:rPr>
              <a:t>字符</a:t>
            </a:r>
          </a:p>
          <a:p>
            <a:pPr lvl="2">
              <a:lnSpc>
                <a:spcPts val="3200"/>
              </a:lnSpc>
            </a:pPr>
            <a:r>
              <a:rPr kumimoji="1" lang="zh-CN" altLang="zh-CN" sz="96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返回值</a:t>
            </a:r>
            <a:r>
              <a:rPr kumimoji="1" lang="zh-CN" altLang="zh-CN" sz="9600" b="1" dirty="0">
                <a:solidFill>
                  <a:srgbClr val="000000"/>
                </a:solidFill>
                <a:latin typeface="宋体" pitchFamily="2" charset="-122"/>
              </a:rPr>
              <a:t>：读取字符的</a:t>
            </a:r>
            <a:r>
              <a:rPr kumimoji="1" lang="en-US" altLang="zh-CN" sz="9600" b="1" dirty="0">
                <a:solidFill>
                  <a:srgbClr val="000000"/>
                </a:solidFill>
                <a:latin typeface="宋体" pitchFamily="2" charset="-122"/>
              </a:rPr>
              <a:t>ASCII</a:t>
            </a:r>
            <a:r>
              <a:rPr kumimoji="1" lang="zh-CN" altLang="zh-CN" sz="9600" b="1" dirty="0">
                <a:solidFill>
                  <a:srgbClr val="000000"/>
                </a:solidFill>
                <a:latin typeface="宋体" pitchFamily="2" charset="-122"/>
              </a:rPr>
              <a:t>值</a:t>
            </a:r>
            <a:r>
              <a:rPr kumimoji="1" lang="zh-CN" altLang="en-US" sz="9600" b="1" dirty="0">
                <a:solidFill>
                  <a:srgbClr val="000000"/>
                </a:solidFill>
                <a:latin typeface="宋体" pitchFamily="2" charset="-122"/>
              </a:rPr>
              <a:t>。</a:t>
            </a:r>
          </a:p>
          <a:p>
            <a:pPr lvl="1"/>
            <a:endParaRPr lang="zh-CN" altLang="zh-CN" sz="3000" b="1" dirty="0">
              <a:solidFill>
                <a:srgbClr val="FF0066"/>
              </a:solidFill>
              <a:latin typeface="Times New Roman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614A1-3CDC-482A-BB73-3B502499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9150" y="6304760"/>
            <a:ext cx="2743200" cy="365125"/>
          </a:xfrm>
        </p:spPr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/54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51FC31-891B-4448-912F-E56A40803046}"/>
              </a:ext>
            </a:extLst>
          </p:cNvPr>
          <p:cNvSpPr txBox="1"/>
          <p:nvPr/>
        </p:nvSpPr>
        <p:spPr>
          <a:xfrm>
            <a:off x="4901629" y="43783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字符数据</a:t>
            </a:r>
          </a:p>
        </p:txBody>
      </p:sp>
    </p:spTree>
    <p:extLst>
      <p:ext uri="{BB962C8B-B14F-4D97-AF65-F5344CB8AC3E}">
        <p14:creationId xmlns:p14="http://schemas.microsoft.com/office/powerpoint/2010/main" val="89832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bldLvl="5" autoUpdateAnimBg="0"/>
      <p:bldP spid="8" grpId="0" uiExpand="1" build="p" bldLvl="5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CEF245D7-002C-463A-841F-6EE67B099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999" y="2585077"/>
            <a:ext cx="9109075" cy="79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2"/>
            <a:r>
              <a:rPr kumimoji="1" lang="en-US" altLang="zh-CN" sz="2400" b="1" dirty="0">
                <a:solidFill>
                  <a:srgbClr val="0000FF"/>
                </a:solidFill>
                <a:latin typeface="宋体" pitchFamily="2" charset="-122"/>
              </a:rPr>
              <a:t>  </a:t>
            </a:r>
            <a:r>
              <a:rPr kumimoji="1" lang="zh-CN" altLang="zh-CN" sz="2400" b="1" dirty="0">
                <a:solidFill>
                  <a:srgbClr val="0000FF"/>
                </a:solidFill>
                <a:latin typeface="宋体" pitchFamily="2" charset="-122"/>
              </a:rPr>
              <a:t>功能</a:t>
            </a:r>
            <a:r>
              <a:rPr kumimoji="1" lang="zh-CN" altLang="zh-CN" sz="2400" b="1" dirty="0">
                <a:latin typeface="宋体" pitchFamily="2" charset="-122"/>
              </a:rPr>
              <a:t>：</a:t>
            </a:r>
            <a:r>
              <a:rPr kumimoji="1" lang="zh-CN" altLang="zh-CN" sz="2400" b="1" dirty="0">
                <a:solidFill>
                  <a:srgbClr val="000000"/>
                </a:solidFill>
                <a:latin typeface="宋体" pitchFamily="2" charset="-122"/>
              </a:rPr>
              <a:t>按指定格式向显示器输出数据</a:t>
            </a:r>
          </a:p>
          <a:p>
            <a:pPr lvl="2"/>
            <a:r>
              <a:rPr kumimoji="1" lang="zh-CN" altLang="zh-CN" sz="2400" b="1" dirty="0">
                <a:solidFill>
                  <a:srgbClr val="0000FF"/>
                </a:solidFill>
                <a:latin typeface="宋体" pitchFamily="2" charset="-122"/>
              </a:rPr>
              <a:t>返回值</a:t>
            </a:r>
            <a:r>
              <a:rPr kumimoji="1" lang="zh-CN" altLang="zh-CN" sz="2400" b="1" dirty="0">
                <a:latin typeface="宋体" pitchFamily="2" charset="-122"/>
              </a:rPr>
              <a:t>：</a:t>
            </a:r>
            <a:r>
              <a:rPr kumimoji="1" lang="zh-CN" altLang="zh-CN" sz="2400" b="1" dirty="0">
                <a:solidFill>
                  <a:srgbClr val="000000"/>
                </a:solidFill>
                <a:latin typeface="宋体" pitchFamily="2" charset="-122"/>
              </a:rPr>
              <a:t>返回输出数据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的</a:t>
            </a:r>
            <a:r>
              <a:rPr kumimoji="1" lang="zh-CN" altLang="zh-CN" sz="2400" b="1" dirty="0">
                <a:solidFill>
                  <a:srgbClr val="000000"/>
                </a:solidFill>
                <a:latin typeface="宋体" pitchFamily="2" charset="-122"/>
              </a:rPr>
              <a:t>字节数</a:t>
            </a:r>
            <a:endParaRPr kumimoji="1" lang="zh-CN" altLang="en-US" sz="2400" b="1" dirty="0">
              <a:solidFill>
                <a:srgbClr val="000000"/>
              </a:solidFill>
              <a:latin typeface="宋体" pitchFamily="2" charset="-12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6B4105C-9122-4118-9FFC-A3CEF3164BE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47126"/>
            <a:ext cx="8151812" cy="4921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SzPct val="100000"/>
              <a:buFont typeface="Wingdings" panose="05000000000000000000" pitchFamily="2" charset="2"/>
              <a:buChar char="l"/>
            </a:pPr>
            <a:r>
              <a:rPr lang="zh-CN" altLang="en-US" sz="3000" b="1" dirty="0"/>
              <a:t>格式输出函数</a:t>
            </a:r>
            <a:r>
              <a:rPr lang="en-US" altLang="zh-CN" sz="3000" b="1" dirty="0">
                <a:solidFill>
                  <a:srgbClr val="FF0066"/>
                </a:solidFill>
                <a:latin typeface="Times New Roman" pitchFamily="18" charset="0"/>
              </a:rPr>
              <a:t>printf()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D4CE40-3483-4F3E-848A-5A19FA886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537" y="3476971"/>
            <a:ext cx="91440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987425" indent="-293688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281113" indent="-2921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  <a:buClr>
                <a:srgbClr val="000000"/>
              </a:buClr>
              <a:buFont typeface="Wingdings" pitchFamily="2" charset="2"/>
              <a:buChar char="l"/>
            </a:pPr>
            <a:r>
              <a:rPr lang="zh-CN" altLang="en-US" sz="2800" b="1" dirty="0">
                <a:solidFill>
                  <a:srgbClr val="C00000"/>
                </a:solidFill>
              </a:rPr>
              <a:t>数据项列</a:t>
            </a:r>
            <a:r>
              <a:rPr lang="zh-CN" altLang="zh-CN" sz="2800" b="1" dirty="0">
                <a:solidFill>
                  <a:srgbClr val="C00000"/>
                </a:solidFill>
              </a:rPr>
              <a:t>表</a:t>
            </a:r>
            <a:r>
              <a:rPr lang="zh-CN" altLang="zh-CN" sz="2800" b="1" dirty="0"/>
              <a:t>：</a:t>
            </a:r>
            <a:r>
              <a:rPr lang="zh-CN" altLang="zh-CN" sz="2800" b="1" dirty="0">
                <a:solidFill>
                  <a:srgbClr val="000000"/>
                </a:solidFill>
              </a:rPr>
              <a:t>要输出的数据</a:t>
            </a:r>
            <a:r>
              <a:rPr lang="zh-CN" altLang="en-US" sz="2800" b="1" dirty="0">
                <a:solidFill>
                  <a:srgbClr val="000000"/>
                </a:solidFill>
              </a:rPr>
              <a:t>项列表</a:t>
            </a:r>
          </a:p>
          <a:p>
            <a:pPr lvl="2" eaLnBrk="1" hangingPunct="1">
              <a:spcBef>
                <a:spcPct val="20000"/>
              </a:spcBef>
              <a:buClr>
                <a:srgbClr val="000000"/>
              </a:buClr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             </a:t>
            </a:r>
            <a:r>
              <a:rPr lang="zh-CN" altLang="zh-CN" sz="2400" b="1" dirty="0">
                <a:solidFill>
                  <a:srgbClr val="000000"/>
                </a:solidFill>
              </a:rPr>
              <a:t>（可以没有，</a:t>
            </a:r>
            <a:r>
              <a:rPr lang="zh-CN" altLang="en-US" sz="2400" b="1" dirty="0">
                <a:solidFill>
                  <a:srgbClr val="000000"/>
                </a:solidFill>
              </a:rPr>
              <a:t>有</a:t>
            </a:r>
            <a:r>
              <a:rPr lang="zh-CN" altLang="zh-CN" sz="2400" b="1" dirty="0">
                <a:solidFill>
                  <a:srgbClr val="000000"/>
                </a:solidFill>
              </a:rPr>
              <a:t>多个时以“</a:t>
            </a:r>
            <a:r>
              <a:rPr lang="en-US" altLang="zh-CN" sz="2400" b="1" dirty="0">
                <a:solidFill>
                  <a:srgbClr val="000000"/>
                </a:solidFill>
              </a:rPr>
              <a:t>,</a:t>
            </a:r>
            <a:r>
              <a:rPr lang="zh-CN" altLang="zh-CN" sz="2400" b="1" dirty="0">
                <a:solidFill>
                  <a:srgbClr val="000000"/>
                </a:solidFill>
              </a:rPr>
              <a:t>”分隔）</a:t>
            </a:r>
          </a:p>
          <a:p>
            <a:pPr lvl="2" eaLnBrk="1" hangingPunct="1">
              <a:spcBef>
                <a:spcPct val="20000"/>
              </a:spcBef>
              <a:buClr>
                <a:srgbClr val="000000"/>
              </a:buClr>
              <a:buFont typeface="Wingdings" pitchFamily="2" charset="2"/>
              <a:buChar char="l"/>
            </a:pPr>
            <a:r>
              <a:rPr lang="zh-CN" altLang="en-US" sz="2800" b="1" dirty="0">
                <a:solidFill>
                  <a:srgbClr val="00B050"/>
                </a:solidFill>
              </a:rPr>
              <a:t>输出</a:t>
            </a:r>
            <a:r>
              <a:rPr lang="zh-CN" altLang="zh-CN" sz="2800" b="1" dirty="0">
                <a:solidFill>
                  <a:srgbClr val="00B050"/>
                </a:solidFill>
              </a:rPr>
              <a:t>格式控制</a:t>
            </a:r>
            <a:r>
              <a:rPr lang="zh-CN" altLang="en-US" sz="2800" b="1" dirty="0">
                <a:solidFill>
                  <a:srgbClr val="00B050"/>
                </a:solidFill>
              </a:rPr>
              <a:t>字符</a:t>
            </a:r>
            <a:r>
              <a:rPr lang="zh-CN" altLang="zh-CN" sz="2800" b="1" dirty="0">
                <a:solidFill>
                  <a:srgbClr val="00B050"/>
                </a:solidFill>
              </a:rPr>
              <a:t>串</a:t>
            </a:r>
            <a:r>
              <a:rPr lang="zh-CN" altLang="zh-CN" sz="2800" b="1" dirty="0"/>
              <a:t>：</a:t>
            </a:r>
            <a:r>
              <a:rPr lang="zh-CN" altLang="zh-CN" sz="2800" b="1" dirty="0">
                <a:solidFill>
                  <a:srgbClr val="000000"/>
                </a:solidFill>
              </a:rPr>
              <a:t>包含</a:t>
            </a:r>
            <a:r>
              <a:rPr lang="zh-CN" altLang="en-US" sz="2800" b="1" dirty="0">
                <a:solidFill>
                  <a:srgbClr val="000000"/>
                </a:solidFill>
              </a:rPr>
              <a:t>三类字符：</a:t>
            </a:r>
            <a:endParaRPr lang="zh-CN" altLang="zh-CN" sz="2800" b="1" dirty="0">
              <a:solidFill>
                <a:srgbClr val="000000"/>
              </a:solidFill>
            </a:endParaRPr>
          </a:p>
          <a:p>
            <a:pPr lvl="3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Char char="§"/>
            </a:pPr>
            <a:r>
              <a:rPr lang="zh-CN" altLang="en-US" sz="2400" b="1" dirty="0">
                <a:solidFill>
                  <a:srgbClr val="00B050"/>
                </a:solidFill>
              </a:rPr>
              <a:t>格式说明符</a:t>
            </a:r>
            <a:r>
              <a:rPr lang="zh-CN" altLang="en-US" sz="2400" b="1" dirty="0"/>
              <a:t>：</a:t>
            </a:r>
            <a:r>
              <a:rPr lang="zh-CN" altLang="en-US" sz="2400" b="1" dirty="0">
                <a:solidFill>
                  <a:srgbClr val="000000"/>
                </a:solidFill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</a:rPr>
              <a:t>%</a:t>
            </a:r>
            <a:r>
              <a:rPr lang="en-US" altLang="zh-CN" sz="2400" b="1" dirty="0">
                <a:solidFill>
                  <a:srgbClr val="000000"/>
                </a:solidFill>
              </a:rPr>
              <a:t>[</a:t>
            </a:r>
            <a:r>
              <a:rPr lang="zh-CN" altLang="en-US" sz="2400" b="1" dirty="0">
                <a:solidFill>
                  <a:srgbClr val="00B0F0"/>
                </a:solidFill>
              </a:rPr>
              <a:t>修饰符</a:t>
            </a:r>
            <a:r>
              <a:rPr lang="en-US" altLang="zh-CN" sz="2400" b="1" dirty="0">
                <a:solidFill>
                  <a:srgbClr val="000000"/>
                </a:solidFill>
              </a:rPr>
              <a:t>]</a:t>
            </a:r>
            <a:r>
              <a:rPr lang="zh-CN" altLang="en-US" sz="2400" b="1" dirty="0">
                <a:solidFill>
                  <a:srgbClr val="FF0000"/>
                </a:solidFill>
              </a:rPr>
              <a:t>格式字符</a:t>
            </a:r>
            <a:endParaRPr lang="zh-CN" altLang="en-US" sz="2400" b="1" dirty="0">
              <a:solidFill>
                <a:srgbClr val="000000"/>
              </a:solidFill>
            </a:endParaRPr>
          </a:p>
          <a:p>
            <a:pPr lvl="3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</a:rPr>
              <a:t>                         用于指定数据输出格式</a:t>
            </a:r>
          </a:p>
          <a:p>
            <a:pPr lvl="3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Char char="§"/>
            </a:pPr>
            <a:r>
              <a:rPr lang="zh-CN" altLang="en-US" sz="2400" b="1" dirty="0">
                <a:solidFill>
                  <a:srgbClr val="00B050"/>
                </a:solidFill>
              </a:rPr>
              <a:t>普通字符</a:t>
            </a:r>
            <a:r>
              <a:rPr lang="zh-CN" altLang="en-US" sz="2400" b="1" dirty="0"/>
              <a:t>：</a:t>
            </a:r>
            <a:r>
              <a:rPr lang="zh-CN" altLang="en-US" sz="2400" b="1" dirty="0">
                <a:solidFill>
                  <a:srgbClr val="000000"/>
                </a:solidFill>
              </a:rPr>
              <a:t>原样输出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pPr lvl="3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Char char="§"/>
            </a:pPr>
            <a:r>
              <a:rPr lang="zh-CN" altLang="en-US" sz="2400" b="1" dirty="0">
                <a:solidFill>
                  <a:srgbClr val="00B050"/>
                </a:solidFill>
              </a:rPr>
              <a:t>转义字符</a:t>
            </a:r>
            <a:r>
              <a:rPr lang="zh-CN" altLang="en-US" sz="2400" b="1" dirty="0">
                <a:solidFill>
                  <a:srgbClr val="000000"/>
                </a:solidFill>
              </a:rPr>
              <a:t>：转义输出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lvl="2" ea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2833EC1-794B-4CCB-9CF3-43EA42350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5943" y="6492875"/>
            <a:ext cx="2743200" cy="365125"/>
          </a:xfrm>
        </p:spPr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/54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7B47AD4-70F1-4471-9352-33AE938BB669}"/>
              </a:ext>
            </a:extLst>
          </p:cNvPr>
          <p:cNvSpPr txBox="1"/>
          <p:nvPr/>
        </p:nvSpPr>
        <p:spPr>
          <a:xfrm>
            <a:off x="4901629" y="43783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printf()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函数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A9893C3-D775-45FF-912A-02CEAC752C9E}"/>
              </a:ext>
            </a:extLst>
          </p:cNvPr>
          <p:cNvSpPr txBox="1"/>
          <p:nvPr/>
        </p:nvSpPr>
        <p:spPr>
          <a:xfrm>
            <a:off x="2442436" y="1294055"/>
            <a:ext cx="3653564" cy="461665"/>
          </a:xfrm>
          <a:prstGeom prst="rect">
            <a:avLst/>
          </a:prstGeom>
          <a:solidFill>
            <a:schemeClr val="bg2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kumimoji="1" lang="zh-CN" altLang="zh-CN" sz="2400" b="1" dirty="0">
                <a:solidFill>
                  <a:srgbClr val="00B050"/>
                </a:solidFill>
                <a:latin typeface="Times New Roman" pitchFamily="18" charset="0"/>
              </a:rPr>
              <a:t>“</a:t>
            </a:r>
            <a:r>
              <a:rPr kumimoji="1" lang="zh-CN" altLang="en-US" sz="2400" b="1" dirty="0">
                <a:solidFill>
                  <a:srgbClr val="00B050"/>
                </a:solidFill>
                <a:latin typeface="Times New Roman" pitchFamily="18" charset="0"/>
              </a:rPr>
              <a:t>输出</a:t>
            </a:r>
            <a:r>
              <a:rPr kumimoji="1" lang="zh-CN" altLang="en-US" sz="2400" b="1" dirty="0">
                <a:solidFill>
                  <a:srgbClr val="00B050"/>
                </a:solidFill>
                <a:latin typeface="宋体" pitchFamily="2" charset="-122"/>
              </a:rPr>
              <a:t>字符</a:t>
            </a:r>
            <a:r>
              <a:rPr kumimoji="1" lang="zh-CN" altLang="zh-CN" sz="2400" b="1" dirty="0">
                <a:solidFill>
                  <a:srgbClr val="00B050"/>
                </a:solidFill>
                <a:latin typeface="宋体" pitchFamily="2" charset="-122"/>
              </a:rPr>
              <a:t>串</a:t>
            </a:r>
            <a:r>
              <a:rPr kumimoji="1" lang="zh-CN" altLang="zh-CN" sz="2400" b="1" dirty="0">
                <a:solidFill>
                  <a:srgbClr val="00B050"/>
                </a:solidFill>
                <a:latin typeface="Times New Roman" pitchFamily="18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)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03E4ACC-1EA3-45E3-A7AD-01F01305C844}"/>
              </a:ext>
            </a:extLst>
          </p:cNvPr>
          <p:cNvSpPr txBox="1"/>
          <p:nvPr/>
        </p:nvSpPr>
        <p:spPr>
          <a:xfrm>
            <a:off x="2442436" y="1896903"/>
            <a:ext cx="6966972" cy="461665"/>
          </a:xfrm>
          <a:prstGeom prst="rect">
            <a:avLst/>
          </a:prstGeom>
          <a:solidFill>
            <a:schemeClr val="bg2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kumimoji="1" lang="zh-CN" altLang="zh-CN" sz="2400" b="1" dirty="0">
                <a:solidFill>
                  <a:srgbClr val="00B050"/>
                </a:solidFill>
                <a:latin typeface="Times New Roman" pitchFamily="18" charset="0"/>
              </a:rPr>
              <a:t>“</a:t>
            </a:r>
            <a:r>
              <a:rPr kumimoji="1" lang="zh-CN" altLang="en-US" sz="2400" b="1" dirty="0">
                <a:solidFill>
                  <a:srgbClr val="00B050"/>
                </a:solidFill>
                <a:latin typeface="Times New Roman" pitchFamily="18" charset="0"/>
              </a:rPr>
              <a:t>输出</a:t>
            </a:r>
            <a:r>
              <a:rPr kumimoji="1" lang="zh-CN" altLang="zh-CN" sz="2400" b="1" dirty="0">
                <a:solidFill>
                  <a:srgbClr val="00B050"/>
                </a:solidFill>
                <a:latin typeface="宋体" pitchFamily="2" charset="-122"/>
              </a:rPr>
              <a:t>格式控制</a:t>
            </a:r>
            <a:r>
              <a:rPr kumimoji="1" lang="zh-CN" altLang="en-US" sz="2400" b="1" dirty="0">
                <a:solidFill>
                  <a:srgbClr val="00B050"/>
                </a:solidFill>
                <a:latin typeface="宋体" pitchFamily="2" charset="-122"/>
              </a:rPr>
              <a:t>字符</a:t>
            </a:r>
            <a:r>
              <a:rPr kumimoji="1" lang="zh-CN" altLang="zh-CN" sz="2400" b="1" dirty="0">
                <a:solidFill>
                  <a:srgbClr val="00B050"/>
                </a:solidFill>
                <a:latin typeface="宋体" pitchFamily="2" charset="-122"/>
              </a:rPr>
              <a:t>串</a:t>
            </a:r>
            <a:r>
              <a:rPr kumimoji="1" lang="zh-CN" altLang="zh-CN" sz="2400" b="1" dirty="0">
                <a:solidFill>
                  <a:srgbClr val="00B050"/>
                </a:solidFill>
                <a:latin typeface="Times New Roman" pitchFamily="18" charset="0"/>
              </a:rPr>
              <a:t>”</a:t>
            </a:r>
            <a:r>
              <a:rPr kumimoji="1" lang="zh-CN" altLang="en-US" sz="2400" b="1" dirty="0">
                <a:latin typeface="Times New Roman" pitchFamily="18" charset="0"/>
              </a:rPr>
              <a:t> ，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itchFamily="18" charset="0"/>
              </a:rPr>
              <a:t>数据项列表</a:t>
            </a:r>
            <a:r>
              <a:rPr lang="en-US" altLang="zh-CN" sz="2400" b="1" dirty="0">
                <a:latin typeface="Consolas" panose="020B0609020204030204" pitchFamily="49" charset="0"/>
              </a:rPr>
              <a:t>)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257587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 bldLvl="5" autoUpdateAnimBg="0"/>
      <p:bldP spid="7" grpId="0" uiExpand="1" build="p" bldLvl="5" autoUpdateAnimBg="0"/>
      <p:bldP spid="9" grpId="0" animBg="1"/>
      <p:bldP spid="1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51985AA-6713-4551-9F43-528C70149DFC}"/>
              </a:ext>
            </a:extLst>
          </p:cNvPr>
          <p:cNvGrpSpPr>
            <a:grpSpLocks/>
          </p:cNvGrpSpPr>
          <p:nvPr/>
        </p:nvGrpSpPr>
        <p:grpSpPr bwMode="auto">
          <a:xfrm>
            <a:off x="0" y="722314"/>
            <a:ext cx="9069391" cy="4578350"/>
            <a:chOff x="-15" y="92"/>
            <a:chExt cx="5713" cy="288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5577CA0-1C76-45BE-9225-72D93B5021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5" y="92"/>
              <a:ext cx="5713" cy="2884"/>
              <a:chOff x="-15" y="92"/>
              <a:chExt cx="5713" cy="2884"/>
            </a:xfrm>
          </p:grpSpPr>
          <p:grpSp>
            <p:nvGrpSpPr>
              <p:cNvPr id="6" name="Group 4">
                <a:extLst>
                  <a:ext uri="{FF2B5EF4-FFF2-40B4-BE49-F238E27FC236}">
                    <a16:creationId xmlns:a16="http://schemas.microsoft.com/office/drawing/2014/main" id="{2200ED84-95A5-4940-BB52-D48AB747EB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381"/>
                <a:ext cx="5656" cy="2589"/>
                <a:chOff x="73" y="381"/>
                <a:chExt cx="5656" cy="2589"/>
              </a:xfrm>
            </p:grpSpPr>
            <p:sp>
              <p:nvSpPr>
                <p:cNvPr id="34" name="Rectangle 5">
                  <a:extLst>
                    <a:ext uri="{FF2B5EF4-FFF2-40B4-BE49-F238E27FC236}">
                      <a16:creationId xmlns:a16="http://schemas.microsoft.com/office/drawing/2014/main" id="{9524EC5D-08CE-4B01-B185-A5C3705382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" y="381"/>
                  <a:ext cx="5647" cy="2589"/>
                </a:xfrm>
                <a:prstGeom prst="rect">
                  <a:avLst/>
                </a:prstGeom>
                <a:solidFill>
                  <a:schemeClr val="tx1">
                    <a:alpha val="0"/>
                  </a:schemeClr>
                </a:solidFill>
                <a:ln w="38100">
                  <a:solidFill>
                    <a:srgbClr val="00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5" name="Line 6">
                  <a:extLst>
                    <a:ext uri="{FF2B5EF4-FFF2-40B4-BE49-F238E27FC236}">
                      <a16:creationId xmlns:a16="http://schemas.microsoft.com/office/drawing/2014/main" id="{A9B006D8-DBED-4D19-89A4-BCBD0B5783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" y="644"/>
                  <a:ext cx="5638" cy="0"/>
                </a:xfrm>
                <a:prstGeom prst="line">
                  <a:avLst/>
                </a:prstGeom>
                <a:noFill/>
                <a:ln w="9525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Line 7">
                  <a:extLst>
                    <a:ext uri="{FF2B5EF4-FFF2-40B4-BE49-F238E27FC236}">
                      <a16:creationId xmlns:a16="http://schemas.microsoft.com/office/drawing/2014/main" id="{BEF6E446-A376-422D-9E18-660BE6A3B6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" y="894"/>
                  <a:ext cx="5638" cy="0"/>
                </a:xfrm>
                <a:prstGeom prst="line">
                  <a:avLst/>
                </a:prstGeom>
                <a:noFill/>
                <a:ln w="9525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Line 8">
                  <a:extLst>
                    <a:ext uri="{FF2B5EF4-FFF2-40B4-BE49-F238E27FC236}">
                      <a16:creationId xmlns:a16="http://schemas.microsoft.com/office/drawing/2014/main" id="{E355319E-34B1-4E0D-816A-D3223B3170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3" y="1147"/>
                  <a:ext cx="5656" cy="0"/>
                </a:xfrm>
                <a:prstGeom prst="line">
                  <a:avLst/>
                </a:prstGeom>
                <a:noFill/>
                <a:ln w="9525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" name="Line 9">
                  <a:extLst>
                    <a:ext uri="{FF2B5EF4-FFF2-40B4-BE49-F238E27FC236}">
                      <a16:creationId xmlns:a16="http://schemas.microsoft.com/office/drawing/2014/main" id="{E2B2ECDA-6C71-4354-AF9B-528BCF19EC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" y="1388"/>
                  <a:ext cx="5638" cy="0"/>
                </a:xfrm>
                <a:prstGeom prst="line">
                  <a:avLst/>
                </a:prstGeom>
                <a:noFill/>
                <a:ln w="9525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" name="Line 10">
                  <a:extLst>
                    <a:ext uri="{FF2B5EF4-FFF2-40B4-BE49-F238E27FC236}">
                      <a16:creationId xmlns:a16="http://schemas.microsoft.com/office/drawing/2014/main" id="{C5F81D06-CE81-4EE8-BE47-72E1A2C364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" y="1630"/>
                  <a:ext cx="5638" cy="6"/>
                </a:xfrm>
                <a:prstGeom prst="line">
                  <a:avLst/>
                </a:prstGeom>
                <a:noFill/>
                <a:ln w="9525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" name="Line 11">
                  <a:extLst>
                    <a:ext uri="{FF2B5EF4-FFF2-40B4-BE49-F238E27FC236}">
                      <a16:creationId xmlns:a16="http://schemas.microsoft.com/office/drawing/2014/main" id="{0776A01A-DC20-4776-83D2-2E5AB0E429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" y="1884"/>
                  <a:ext cx="5647" cy="2"/>
                </a:xfrm>
                <a:prstGeom prst="line">
                  <a:avLst/>
                </a:prstGeom>
                <a:noFill/>
                <a:ln w="9525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" name="Line 12">
                  <a:extLst>
                    <a:ext uri="{FF2B5EF4-FFF2-40B4-BE49-F238E27FC236}">
                      <a16:creationId xmlns:a16="http://schemas.microsoft.com/office/drawing/2014/main" id="{E429ED45-CF29-4896-8950-D30EF56E7F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" y="2129"/>
                  <a:ext cx="5647" cy="1"/>
                </a:xfrm>
                <a:prstGeom prst="line">
                  <a:avLst/>
                </a:prstGeom>
                <a:noFill/>
                <a:ln w="9525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" name="Line 13">
                  <a:extLst>
                    <a:ext uri="{FF2B5EF4-FFF2-40B4-BE49-F238E27FC236}">
                      <a16:creationId xmlns:a16="http://schemas.microsoft.com/office/drawing/2014/main" id="{F1235F6F-378D-4B2E-ADD2-C59FFF3E94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" y="2382"/>
                  <a:ext cx="5638" cy="0"/>
                </a:xfrm>
                <a:prstGeom prst="line">
                  <a:avLst/>
                </a:prstGeom>
                <a:noFill/>
                <a:ln w="9525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" name="Line 14">
                  <a:extLst>
                    <a:ext uri="{FF2B5EF4-FFF2-40B4-BE49-F238E27FC236}">
                      <a16:creationId xmlns:a16="http://schemas.microsoft.com/office/drawing/2014/main" id="{EBB3DCD4-F5AD-472F-B59D-4347A01A8C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" y="2629"/>
                  <a:ext cx="5638" cy="0"/>
                </a:xfrm>
                <a:prstGeom prst="line">
                  <a:avLst/>
                </a:prstGeom>
                <a:noFill/>
                <a:ln w="9525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" name="Group 15">
                <a:extLst>
                  <a:ext uri="{FF2B5EF4-FFF2-40B4-BE49-F238E27FC236}">
                    <a16:creationId xmlns:a16="http://schemas.microsoft.com/office/drawing/2014/main" id="{586FEA0B-B190-458D-86A2-F6FD2038B6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" y="381"/>
                <a:ext cx="464" cy="2589"/>
                <a:chOff x="-2" y="381"/>
                <a:chExt cx="464" cy="2589"/>
              </a:xfrm>
            </p:grpSpPr>
            <p:sp>
              <p:nvSpPr>
                <p:cNvPr id="23" name="Line 16">
                  <a:extLst>
                    <a:ext uri="{FF2B5EF4-FFF2-40B4-BE49-F238E27FC236}">
                      <a16:creationId xmlns:a16="http://schemas.microsoft.com/office/drawing/2014/main" id="{6F374279-0142-4969-88E8-0500AFDBCD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2" y="381"/>
                  <a:ext cx="0" cy="258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Text Box 17">
                  <a:extLst>
                    <a:ext uri="{FF2B5EF4-FFF2-40B4-BE49-F238E27FC236}">
                      <a16:creationId xmlns:a16="http://schemas.microsoft.com/office/drawing/2014/main" id="{A6768B5E-84B1-4EEC-A524-E5287D2089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" y="398"/>
                  <a:ext cx="315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/>
                  <a:r>
                    <a:rPr kumimoji="1" lang="en-US" altLang="zh-CN" sz="2400" dirty="0" err="1">
                      <a:solidFill>
                        <a:srgbClr val="000000"/>
                      </a:solidFill>
                      <a:latin typeface="Times New Roman" pitchFamily="18" charset="0"/>
                    </a:rPr>
                    <a:t>d,i</a:t>
                  </a:r>
                  <a:endParaRPr kumimoji="1" lang="en-US" altLang="zh-CN" sz="2400" dirty="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25" name="Text Box 18">
                  <a:extLst>
                    <a:ext uri="{FF2B5EF4-FFF2-40B4-BE49-F238E27FC236}">
                      <a16:creationId xmlns:a16="http://schemas.microsoft.com/office/drawing/2014/main" id="{ED34D15E-E86A-4678-BE64-3578F46835B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" y="646"/>
                  <a:ext cx="402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/>
                  <a:r>
                    <a:rPr kumimoji="1" lang="en-US" altLang="zh-CN" sz="2400">
                      <a:solidFill>
                        <a:srgbClr val="000000"/>
                      </a:solidFill>
                      <a:latin typeface="Times New Roman" pitchFamily="18" charset="0"/>
                    </a:rPr>
                    <a:t>x,X</a:t>
                  </a:r>
                </a:p>
              </p:txBody>
            </p:sp>
            <p:sp>
              <p:nvSpPr>
                <p:cNvPr id="26" name="Text Box 19">
                  <a:extLst>
                    <a:ext uri="{FF2B5EF4-FFF2-40B4-BE49-F238E27FC236}">
                      <a16:creationId xmlns:a16="http://schemas.microsoft.com/office/drawing/2014/main" id="{733F29DC-BA79-4EE2-B74D-44E304DB335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1" y="894"/>
                  <a:ext cx="213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/>
                  <a:r>
                    <a:rPr kumimoji="1" lang="en-US" altLang="zh-CN" sz="2400">
                      <a:solidFill>
                        <a:srgbClr val="000000"/>
                      </a:solidFill>
                      <a:latin typeface="Times New Roman" pitchFamily="18" charset="0"/>
                    </a:rPr>
                    <a:t>o</a:t>
                  </a:r>
                </a:p>
              </p:txBody>
            </p:sp>
            <p:sp>
              <p:nvSpPr>
                <p:cNvPr id="27" name="Text Box 20">
                  <a:extLst>
                    <a:ext uri="{FF2B5EF4-FFF2-40B4-BE49-F238E27FC236}">
                      <a16:creationId xmlns:a16="http://schemas.microsoft.com/office/drawing/2014/main" id="{2324177C-CBAA-4E67-9C52-80D6DA0B60D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1" y="1142"/>
                  <a:ext cx="213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/>
                  <a:r>
                    <a:rPr kumimoji="1" lang="en-US" altLang="zh-CN" sz="2400">
                      <a:solidFill>
                        <a:srgbClr val="000000"/>
                      </a:solidFill>
                      <a:latin typeface="Times New Roman" pitchFamily="18" charset="0"/>
                    </a:rPr>
                    <a:t>u</a:t>
                  </a:r>
                </a:p>
              </p:txBody>
            </p:sp>
            <p:sp>
              <p:nvSpPr>
                <p:cNvPr id="28" name="Text Box 21">
                  <a:extLst>
                    <a:ext uri="{FF2B5EF4-FFF2-40B4-BE49-F238E27FC236}">
                      <a16:creationId xmlns:a16="http://schemas.microsoft.com/office/drawing/2014/main" id="{9679A9A3-408B-4122-A162-7008C4E2D89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" y="1390"/>
                  <a:ext cx="202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/>
                  <a:r>
                    <a:rPr kumimoji="1" lang="en-US" altLang="zh-CN" sz="2400">
                      <a:solidFill>
                        <a:srgbClr val="000000"/>
                      </a:solidFill>
                      <a:latin typeface="Times New Roman" pitchFamily="18" charset="0"/>
                    </a:rPr>
                    <a:t>c</a:t>
                  </a:r>
                </a:p>
              </p:txBody>
            </p:sp>
            <p:sp>
              <p:nvSpPr>
                <p:cNvPr id="29" name="Text Box 22">
                  <a:extLst>
                    <a:ext uri="{FF2B5EF4-FFF2-40B4-BE49-F238E27FC236}">
                      <a16:creationId xmlns:a16="http://schemas.microsoft.com/office/drawing/2014/main" id="{C5F9C1A7-1F7F-4A22-AB25-C75C91CC1F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1" y="1638"/>
                  <a:ext cx="192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/>
                  <a:r>
                    <a:rPr kumimoji="1" lang="en-US" altLang="zh-CN" sz="2400" dirty="0">
                      <a:solidFill>
                        <a:srgbClr val="000000"/>
                      </a:solidFill>
                      <a:latin typeface="Times New Roman" pitchFamily="18" charset="0"/>
                    </a:rPr>
                    <a:t>s</a:t>
                  </a:r>
                </a:p>
              </p:txBody>
            </p:sp>
            <p:sp>
              <p:nvSpPr>
                <p:cNvPr id="30" name="Text Box 23">
                  <a:extLst>
                    <a:ext uri="{FF2B5EF4-FFF2-40B4-BE49-F238E27FC236}">
                      <a16:creationId xmlns:a16="http://schemas.microsoft.com/office/drawing/2014/main" id="{C87F2A13-B683-4F23-871F-ECD7777ABB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" y="1886"/>
                  <a:ext cx="369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/>
                  <a:r>
                    <a:rPr kumimoji="1" lang="en-US" altLang="zh-CN" sz="2400">
                      <a:solidFill>
                        <a:srgbClr val="000000"/>
                      </a:solidFill>
                      <a:latin typeface="Times New Roman" pitchFamily="18" charset="0"/>
                    </a:rPr>
                    <a:t>e,E</a:t>
                  </a:r>
                </a:p>
              </p:txBody>
            </p:sp>
            <p:sp>
              <p:nvSpPr>
                <p:cNvPr id="31" name="Text Box 24">
                  <a:extLst>
                    <a:ext uri="{FF2B5EF4-FFF2-40B4-BE49-F238E27FC236}">
                      <a16:creationId xmlns:a16="http://schemas.microsoft.com/office/drawing/2014/main" id="{AC4AB427-2CD1-4B2B-AC50-525C3924D69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8" y="2134"/>
                  <a:ext cx="181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/>
                  <a:r>
                    <a:rPr kumimoji="1" lang="en-US" altLang="zh-CN" sz="2400">
                      <a:solidFill>
                        <a:srgbClr val="000000"/>
                      </a:solidFill>
                      <a:latin typeface="Times New Roman" pitchFamily="18" charset="0"/>
                    </a:rPr>
                    <a:t>f</a:t>
                  </a:r>
                </a:p>
              </p:txBody>
            </p:sp>
            <p:sp>
              <p:nvSpPr>
                <p:cNvPr id="32" name="Text Box 25">
                  <a:extLst>
                    <a:ext uri="{FF2B5EF4-FFF2-40B4-BE49-F238E27FC236}">
                      <a16:creationId xmlns:a16="http://schemas.microsoft.com/office/drawing/2014/main" id="{1A7344C1-AFB7-412F-B5B0-E724B535D7D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" y="2383"/>
                  <a:ext cx="402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/>
                  <a:r>
                    <a:rPr kumimoji="1" lang="en-US" altLang="zh-CN" sz="2400">
                      <a:solidFill>
                        <a:srgbClr val="000000"/>
                      </a:solidFill>
                      <a:latin typeface="Times New Roman" pitchFamily="18" charset="0"/>
                    </a:rPr>
                    <a:t>g,G</a:t>
                  </a:r>
                </a:p>
              </p:txBody>
            </p:sp>
            <p:sp>
              <p:nvSpPr>
                <p:cNvPr id="33" name="Text Box 26">
                  <a:extLst>
                    <a:ext uri="{FF2B5EF4-FFF2-40B4-BE49-F238E27FC236}">
                      <a16:creationId xmlns:a16="http://schemas.microsoft.com/office/drawing/2014/main" id="{85C4957D-BA4A-4614-8622-21D0FDA6F63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2" y="2633"/>
                  <a:ext cx="439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/>
                  <a:r>
                    <a:rPr kumimoji="1" lang="zh-CN" altLang="zh-CN" sz="2400">
                      <a:solidFill>
                        <a:srgbClr val="000000"/>
                      </a:solidFill>
                      <a:latin typeface="Times New Roman" pitchFamily="18" charset="0"/>
                    </a:rPr>
                    <a:t>%%</a:t>
                  </a:r>
                  <a:endParaRPr kumimoji="1" lang="en-US" altLang="zh-CN" sz="240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8" name="Group 27">
                <a:extLst>
                  <a:ext uri="{FF2B5EF4-FFF2-40B4-BE49-F238E27FC236}">
                    <a16:creationId xmlns:a16="http://schemas.microsoft.com/office/drawing/2014/main" id="{CAE73BB6-4F41-417C-A19A-AEECA6A732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15" y="92"/>
                <a:ext cx="2018" cy="2788"/>
                <a:chOff x="-15" y="92"/>
                <a:chExt cx="2018" cy="2788"/>
              </a:xfrm>
            </p:grpSpPr>
            <p:sp>
              <p:nvSpPr>
                <p:cNvPr id="11" name="Text Box 28">
                  <a:extLst>
                    <a:ext uri="{FF2B5EF4-FFF2-40B4-BE49-F238E27FC236}">
                      <a16:creationId xmlns:a16="http://schemas.microsoft.com/office/drawing/2014/main" id="{1DAAD950-2E13-4416-8C6A-94DFA984DE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15" y="92"/>
                  <a:ext cx="1252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/>
                  <a:r>
                    <a:rPr kumimoji="1" lang="zh-CN" altLang="en-US" sz="2800" b="1">
                      <a:solidFill>
                        <a:srgbClr val="0000FF"/>
                      </a:solidFill>
                      <a:latin typeface="Times New Roman" pitchFamily="18" charset="0"/>
                    </a:rPr>
                    <a:t>格式字符</a:t>
                  </a:r>
                  <a:r>
                    <a:rPr kumimoji="1" lang="zh-CN" altLang="en-US" sz="2800" b="1">
                      <a:solidFill>
                        <a:srgbClr val="003366"/>
                      </a:solidFill>
                      <a:latin typeface="Times New Roman" pitchFamily="18" charset="0"/>
                    </a:rPr>
                    <a:t>：</a:t>
                  </a:r>
                </a:p>
              </p:txBody>
            </p:sp>
            <p:sp>
              <p:nvSpPr>
                <p:cNvPr id="12" name="Text Box 29">
                  <a:extLst>
                    <a:ext uri="{FF2B5EF4-FFF2-40B4-BE49-F238E27FC236}">
                      <a16:creationId xmlns:a16="http://schemas.microsoft.com/office/drawing/2014/main" id="{C8392039-5098-418F-BC6A-CB6ECCE0C3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4" y="643"/>
                  <a:ext cx="157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/>
                  <a:r>
                    <a:rPr kumimoji="1" lang="zh-CN" altLang="zh-CN" sz="2000" b="1" dirty="0">
                      <a:solidFill>
                        <a:srgbClr val="000000"/>
                      </a:solidFill>
                      <a:latin typeface="Times New Roman" pitchFamily="18" charset="0"/>
                    </a:rPr>
                    <a:t>十六进制无符号整数</a:t>
                  </a:r>
                  <a:endParaRPr kumimoji="1" lang="zh-CN" altLang="en-US" sz="4000" b="1" dirty="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13" name="Text Box 30">
                  <a:extLst>
                    <a:ext uri="{FF2B5EF4-FFF2-40B4-BE49-F238E27FC236}">
                      <a16:creationId xmlns:a16="http://schemas.microsoft.com/office/drawing/2014/main" id="{A2CBCE95-2792-4781-8CA9-79788ABBCB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4" y="1135"/>
                  <a:ext cx="157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/>
                  <a:r>
                    <a:rPr kumimoji="1" lang="zh-CN" altLang="zh-CN" sz="2000" b="1">
                      <a:solidFill>
                        <a:srgbClr val="000000"/>
                      </a:solidFill>
                      <a:latin typeface="Times New Roman" pitchFamily="18" charset="0"/>
                    </a:rPr>
                    <a:t>不带符号十进制整数</a:t>
                  </a:r>
                  <a:endParaRPr kumimoji="1" lang="zh-CN" altLang="en-US" sz="4000" b="1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  <p:grpSp>
              <p:nvGrpSpPr>
                <p:cNvPr id="14" name="Group 31">
                  <a:extLst>
                    <a:ext uri="{FF2B5EF4-FFF2-40B4-BE49-F238E27FC236}">
                      <a16:creationId xmlns:a16="http://schemas.microsoft.com/office/drawing/2014/main" id="{23D09BAE-8B26-4C92-B44D-A09EC7AA1F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25" y="391"/>
                  <a:ext cx="1417" cy="2489"/>
                  <a:chOff x="425" y="391"/>
                  <a:chExt cx="1417" cy="2489"/>
                </a:xfrm>
              </p:grpSpPr>
              <p:sp>
                <p:nvSpPr>
                  <p:cNvPr id="15" name="Text Box 32">
                    <a:extLst>
                      <a:ext uri="{FF2B5EF4-FFF2-40B4-BE49-F238E27FC236}">
                        <a16:creationId xmlns:a16="http://schemas.microsoft.com/office/drawing/2014/main" id="{2D86F5B4-C7BF-4092-A22F-4862CF943B7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9" y="391"/>
                    <a:ext cx="929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algn="ctr"/>
                    <a:r>
                      <a:rPr kumimoji="1" lang="zh-CN" altLang="zh-CN" sz="2000" b="1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十进制整数</a:t>
                    </a:r>
                    <a:endParaRPr kumimoji="1" lang="zh-CN" altLang="en-US" sz="4000" b="1">
                      <a:solidFill>
                        <a:srgbClr val="000000"/>
                      </a:solidFill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16" name="Text Box 33">
                    <a:extLst>
                      <a:ext uri="{FF2B5EF4-FFF2-40B4-BE49-F238E27FC236}">
                        <a16:creationId xmlns:a16="http://schemas.microsoft.com/office/drawing/2014/main" id="{0C7D19B8-D040-4ED9-A464-5FF6E66DA94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5" y="1879"/>
                    <a:ext cx="1417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algn="ctr"/>
                    <a:r>
                      <a:rPr kumimoji="1" lang="zh-CN" altLang="zh-CN" sz="2000" b="1" dirty="0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指数形式浮点小数</a:t>
                    </a:r>
                    <a:endParaRPr kumimoji="1" lang="zh-CN" altLang="en-US" sz="4000" b="1" dirty="0">
                      <a:solidFill>
                        <a:srgbClr val="000000"/>
                      </a:solidFill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17" name="Text Box 34">
                    <a:extLst>
                      <a:ext uri="{FF2B5EF4-FFF2-40B4-BE49-F238E27FC236}">
                        <a16:creationId xmlns:a16="http://schemas.microsoft.com/office/drawing/2014/main" id="{3B046CEB-CB32-4C59-9F8A-A5F70FC88B1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0" y="1381"/>
                    <a:ext cx="767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algn="ctr"/>
                    <a:r>
                      <a:rPr kumimoji="1" lang="zh-CN" altLang="zh-CN" sz="2000" b="1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单一字符</a:t>
                    </a:r>
                    <a:endParaRPr kumimoji="1" lang="zh-CN" altLang="en-US" sz="4000" b="1">
                      <a:solidFill>
                        <a:srgbClr val="000000"/>
                      </a:solidFill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18" name="Text Box 35">
                    <a:extLst>
                      <a:ext uri="{FF2B5EF4-FFF2-40B4-BE49-F238E27FC236}">
                        <a16:creationId xmlns:a16="http://schemas.microsoft.com/office/drawing/2014/main" id="{EE7EAA06-6BB7-4BFB-9EFF-D3494DA0697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1" y="1631"/>
                    <a:ext cx="604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algn="ctr"/>
                    <a:r>
                      <a:rPr kumimoji="1" lang="zh-CN" altLang="zh-CN" sz="2000" b="1" dirty="0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字符串</a:t>
                    </a:r>
                    <a:endParaRPr kumimoji="1" lang="zh-CN" altLang="en-US" sz="4000" b="1" dirty="0">
                      <a:solidFill>
                        <a:srgbClr val="000000"/>
                      </a:solidFill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19" name="Text Box 36">
                    <a:extLst>
                      <a:ext uri="{FF2B5EF4-FFF2-40B4-BE49-F238E27FC236}">
                        <a16:creationId xmlns:a16="http://schemas.microsoft.com/office/drawing/2014/main" id="{9D8BD626-8897-4860-A004-4227D27ADE5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5" y="885"/>
                    <a:ext cx="1417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algn="ctr"/>
                    <a:r>
                      <a:rPr kumimoji="1" lang="zh-CN" altLang="zh-CN" sz="2000" b="1" dirty="0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八进制无符号整数</a:t>
                    </a:r>
                    <a:endParaRPr kumimoji="1" lang="zh-CN" altLang="en-US" sz="4000" b="1" dirty="0">
                      <a:solidFill>
                        <a:srgbClr val="000000"/>
                      </a:solidFill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20" name="Text Box 37">
                    <a:extLst>
                      <a:ext uri="{FF2B5EF4-FFF2-40B4-BE49-F238E27FC236}">
                        <a16:creationId xmlns:a16="http://schemas.microsoft.com/office/drawing/2014/main" id="{FE6D2E7F-200C-4F58-8681-3DBF024B7D1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5" y="2131"/>
                    <a:ext cx="1417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algn="ctr"/>
                    <a:r>
                      <a:rPr kumimoji="1" lang="zh-CN" altLang="zh-CN" sz="2000" b="1" dirty="0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小数形式浮点小数</a:t>
                    </a:r>
                    <a:endParaRPr kumimoji="1" lang="zh-CN" altLang="en-US" sz="4000" b="1" dirty="0">
                      <a:solidFill>
                        <a:srgbClr val="000000"/>
                      </a:solidFill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21" name="Text Box 38">
                    <a:extLst>
                      <a:ext uri="{FF2B5EF4-FFF2-40B4-BE49-F238E27FC236}">
                        <a16:creationId xmlns:a16="http://schemas.microsoft.com/office/drawing/2014/main" id="{31822760-2BB0-4C2F-907B-580BF62C913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7" y="2378"/>
                    <a:ext cx="1217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algn="ctr"/>
                    <a:r>
                      <a:rPr kumimoji="1" lang="en-US" altLang="zh-CN" sz="2000" b="1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e</a:t>
                    </a:r>
                    <a:r>
                      <a:rPr kumimoji="1" lang="zh-CN" altLang="zh-CN" sz="2000" b="1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和</a:t>
                    </a:r>
                    <a:r>
                      <a:rPr kumimoji="1" lang="en-US" altLang="zh-CN" sz="2000" b="1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f</a:t>
                    </a:r>
                    <a:r>
                      <a:rPr kumimoji="1" lang="zh-CN" altLang="zh-CN" sz="2000" b="1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中较短一种</a:t>
                    </a:r>
                    <a:endParaRPr kumimoji="1" lang="zh-CN" altLang="en-US" sz="4000" b="1">
                      <a:solidFill>
                        <a:srgbClr val="000000"/>
                      </a:solidFill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22" name="Text Box 39">
                    <a:extLst>
                      <a:ext uri="{FF2B5EF4-FFF2-40B4-BE49-F238E27FC236}">
                        <a16:creationId xmlns:a16="http://schemas.microsoft.com/office/drawing/2014/main" id="{D2D250BD-6FFC-478C-ACAB-2A02507F231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9" y="2628"/>
                    <a:ext cx="929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algn="ctr"/>
                    <a:r>
                      <a:rPr kumimoji="1" lang="zh-CN" altLang="zh-CN" sz="2000" b="1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百分号本身</a:t>
                    </a:r>
                    <a:endParaRPr kumimoji="1" lang="zh-CN" altLang="en-US" sz="4000" b="1">
                      <a:solidFill>
                        <a:srgbClr val="000000"/>
                      </a:solidFill>
                      <a:latin typeface="Times New Roman" pitchFamily="18" charset="0"/>
                    </a:endParaRPr>
                  </a:p>
                </p:txBody>
              </p:sp>
            </p:grpSp>
          </p:grpSp>
          <p:sp>
            <p:nvSpPr>
              <p:cNvPr id="9" name="Line 40">
                <a:extLst>
                  <a:ext uri="{FF2B5EF4-FFF2-40B4-BE49-F238E27FC236}">
                    <a16:creationId xmlns:a16="http://schemas.microsoft.com/office/drawing/2014/main" id="{51335F26-74A4-4C75-9CFB-3B4C6618F3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6" y="396"/>
                <a:ext cx="0" cy="2580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" name="Line 41">
                <a:extLst>
                  <a:ext uri="{FF2B5EF4-FFF2-40B4-BE49-F238E27FC236}">
                    <a16:creationId xmlns:a16="http://schemas.microsoft.com/office/drawing/2014/main" id="{745BFD82-9BAA-4CBF-A94B-F78A66597A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2" y="384"/>
                <a:ext cx="0" cy="2580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" name="Line 42">
              <a:extLst>
                <a:ext uri="{FF2B5EF4-FFF2-40B4-BE49-F238E27FC236}">
                  <a16:creationId xmlns:a16="http://schemas.microsoft.com/office/drawing/2014/main" id="{AE00D0DF-3A5C-49B4-BB7A-B16F0528C1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384"/>
              <a:ext cx="0" cy="2580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4" name="Text Box 43">
            <a:extLst>
              <a:ext uri="{FF2B5EF4-FFF2-40B4-BE49-F238E27FC236}">
                <a16:creationId xmlns:a16="http://schemas.microsoft.com/office/drawing/2014/main" id="{C86F5FF3-C3D5-43CC-AF32-620A32C70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9886" y="1179484"/>
            <a:ext cx="289534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int a=567; printf (</a:t>
            </a:r>
            <a:r>
              <a:rPr kumimoji="1" lang="en-US" altLang="zh-CN" sz="2000" dirty="0">
                <a:latin typeface="Times New Roman" pitchFamily="18" charset="0"/>
              </a:rPr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%d</a:t>
            </a:r>
            <a:r>
              <a:rPr kumimoji="1" lang="en-US" altLang="zh-CN" sz="2000" dirty="0">
                <a:latin typeface="Times New Roman" pitchFamily="18" charset="0"/>
              </a:rPr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,a);</a:t>
            </a:r>
          </a:p>
        </p:txBody>
      </p:sp>
      <p:sp>
        <p:nvSpPr>
          <p:cNvPr id="45" name="Text Box 44">
            <a:extLst>
              <a:ext uri="{FF2B5EF4-FFF2-40B4-BE49-F238E27FC236}">
                <a16:creationId xmlns:a16="http://schemas.microsoft.com/office/drawing/2014/main" id="{A28E57B9-1297-420F-A192-B89EC4971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7399" y="1571596"/>
            <a:ext cx="27863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int a=255; printf(</a:t>
            </a:r>
            <a:r>
              <a:rPr kumimoji="1" lang="en-US" altLang="zh-CN" dirty="0"/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%x</a:t>
            </a:r>
            <a:r>
              <a:rPr kumimoji="1" lang="en-US" altLang="zh-CN" dirty="0"/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,a);</a:t>
            </a:r>
          </a:p>
        </p:txBody>
      </p:sp>
      <p:sp>
        <p:nvSpPr>
          <p:cNvPr id="46" name="Text Box 45">
            <a:extLst>
              <a:ext uri="{FF2B5EF4-FFF2-40B4-BE49-F238E27FC236}">
                <a16:creationId xmlns:a16="http://schemas.microsoft.com/office/drawing/2014/main" id="{1B9F8B56-F24A-47E1-B324-93F9B9805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7708" y="1941484"/>
            <a:ext cx="26581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int a=65; printf(</a:t>
            </a:r>
            <a:r>
              <a:rPr kumimoji="1" lang="en-US" altLang="zh-CN" dirty="0"/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%o</a:t>
            </a:r>
            <a:r>
              <a:rPr kumimoji="1" lang="en-US" altLang="zh-CN" dirty="0"/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,a);</a:t>
            </a:r>
          </a:p>
        </p:txBody>
      </p:sp>
      <p:sp>
        <p:nvSpPr>
          <p:cNvPr id="47" name="Text Box 46">
            <a:extLst>
              <a:ext uri="{FF2B5EF4-FFF2-40B4-BE49-F238E27FC236}">
                <a16:creationId xmlns:a16="http://schemas.microsoft.com/office/drawing/2014/main" id="{B6DC0B9E-4016-48FF-A3BC-C91D63F0F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7399" y="2365346"/>
            <a:ext cx="27863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int a=567; printf(</a:t>
            </a:r>
            <a:r>
              <a:rPr kumimoji="1" lang="en-US" altLang="zh-CN" dirty="0"/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%u</a:t>
            </a:r>
            <a:r>
              <a:rPr kumimoji="1" lang="en-US" altLang="zh-CN" dirty="0"/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,a);</a:t>
            </a:r>
          </a:p>
        </p:txBody>
      </p:sp>
      <p:sp>
        <p:nvSpPr>
          <p:cNvPr id="48" name="Text Box 47">
            <a:extLst>
              <a:ext uri="{FF2B5EF4-FFF2-40B4-BE49-F238E27FC236}">
                <a16:creationId xmlns:a16="http://schemas.microsoft.com/office/drawing/2014/main" id="{2C895C6C-46BE-4983-97EE-10747FC4F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7736" y="2762221"/>
            <a:ext cx="28151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char a=65; printf(</a:t>
            </a:r>
            <a:r>
              <a:rPr kumimoji="1" lang="en-US" altLang="zh-CN" dirty="0"/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%c</a:t>
            </a:r>
            <a:r>
              <a:rPr kumimoji="1" lang="en-US" altLang="zh-CN" dirty="0"/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,a);</a:t>
            </a:r>
          </a:p>
        </p:txBody>
      </p:sp>
      <p:sp>
        <p:nvSpPr>
          <p:cNvPr id="49" name="Text Box 48">
            <a:extLst>
              <a:ext uri="{FF2B5EF4-FFF2-40B4-BE49-F238E27FC236}">
                <a16:creationId xmlns:a16="http://schemas.microsoft.com/office/drawing/2014/main" id="{01CECE3D-675D-4D64-9A73-4205304D8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6166" y="3167033"/>
            <a:ext cx="22894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printf(</a:t>
            </a:r>
            <a:r>
              <a:rPr kumimoji="1" lang="en-US" altLang="zh-CN" dirty="0"/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%s</a:t>
            </a:r>
            <a:r>
              <a:rPr kumimoji="1" lang="en-US" altLang="zh-CN" dirty="0"/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kumimoji="1" lang="en-US" altLang="zh-CN" dirty="0"/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ABC</a:t>
            </a:r>
            <a:r>
              <a:rPr kumimoji="1" lang="en-US" altLang="zh-CN" dirty="0"/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);</a:t>
            </a:r>
          </a:p>
        </p:txBody>
      </p:sp>
      <p:sp>
        <p:nvSpPr>
          <p:cNvPr id="50" name="Text Box 49">
            <a:extLst>
              <a:ext uri="{FF2B5EF4-FFF2-40B4-BE49-F238E27FC236}">
                <a16:creationId xmlns:a16="http://schemas.microsoft.com/office/drawing/2014/main" id="{DAEFAAB4-78AA-4709-88CD-3CABA6CCA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4339" y="3554384"/>
            <a:ext cx="34195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float a=567.789; printf(</a:t>
            </a:r>
            <a:r>
              <a:rPr kumimoji="1" lang="en-US" altLang="zh-CN" dirty="0"/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%e</a:t>
            </a:r>
            <a:r>
              <a:rPr kumimoji="1" lang="en-US" altLang="zh-CN" dirty="0"/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,a);</a:t>
            </a:r>
          </a:p>
        </p:txBody>
      </p:sp>
      <p:sp>
        <p:nvSpPr>
          <p:cNvPr id="51" name="Text Box 50">
            <a:extLst>
              <a:ext uri="{FF2B5EF4-FFF2-40B4-BE49-F238E27FC236}">
                <a16:creationId xmlns:a16="http://schemas.microsoft.com/office/drawing/2014/main" id="{0D2D5DCC-3D08-4E3B-B0BA-3358A5AD3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8764" y="3954433"/>
            <a:ext cx="33906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float a=567.789; printf(</a:t>
            </a:r>
            <a:r>
              <a:rPr kumimoji="1" lang="en-US" altLang="zh-CN" dirty="0"/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%f</a:t>
            </a:r>
            <a:r>
              <a:rPr kumimoji="1" lang="en-US" altLang="zh-CN" dirty="0"/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,a);</a:t>
            </a:r>
          </a:p>
        </p:txBody>
      </p:sp>
      <p:sp>
        <p:nvSpPr>
          <p:cNvPr id="52" name="Text Box 51">
            <a:extLst>
              <a:ext uri="{FF2B5EF4-FFF2-40B4-BE49-F238E27FC236}">
                <a16:creationId xmlns:a16="http://schemas.microsoft.com/office/drawing/2014/main" id="{BF59F20E-ED21-4CBF-9024-E5732A360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2207" y="4346546"/>
            <a:ext cx="343395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float a=567.789; printf(</a:t>
            </a:r>
            <a:r>
              <a:rPr kumimoji="1" lang="en-US" altLang="zh-CN" dirty="0"/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%g</a:t>
            </a:r>
            <a:r>
              <a:rPr kumimoji="1" lang="en-US" altLang="zh-CN" dirty="0"/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,a);</a:t>
            </a:r>
          </a:p>
        </p:txBody>
      </p:sp>
      <p:sp>
        <p:nvSpPr>
          <p:cNvPr id="53" name="Text Box 52">
            <a:extLst>
              <a:ext uri="{FF2B5EF4-FFF2-40B4-BE49-F238E27FC236}">
                <a16:creationId xmlns:a16="http://schemas.microsoft.com/office/drawing/2014/main" id="{B940B21E-2273-4757-B640-E6391EA06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9258" y="4743421"/>
            <a:ext cx="15824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printf(</a:t>
            </a:r>
            <a:r>
              <a:rPr kumimoji="1" lang="en-US" altLang="zh-CN" dirty="0"/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%%</a:t>
            </a:r>
            <a:r>
              <a:rPr kumimoji="1" lang="en-US" altLang="zh-CN" dirty="0"/>
              <a:t>"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);</a:t>
            </a:r>
          </a:p>
        </p:txBody>
      </p:sp>
      <p:sp>
        <p:nvSpPr>
          <p:cNvPr id="54" name="Text Box 53">
            <a:extLst>
              <a:ext uri="{FF2B5EF4-FFF2-40B4-BE49-F238E27FC236}">
                <a16:creationId xmlns:a16="http://schemas.microsoft.com/office/drawing/2014/main" id="{0E2B6CAF-A52D-4FC2-B5A7-F2A25CAA6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5483" y="1174721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kumimoji="1" lang="zh-CN" altLang="zh-CN" sz="2000">
                <a:solidFill>
                  <a:srgbClr val="0000FF"/>
                </a:solidFill>
                <a:latin typeface="Times New Roman" pitchFamily="18" charset="0"/>
              </a:rPr>
              <a:t>567</a:t>
            </a:r>
            <a:endParaRPr kumimoji="1" lang="en-US" altLang="zh-CN" sz="400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55" name="Text Box 54">
            <a:extLst>
              <a:ext uri="{FF2B5EF4-FFF2-40B4-BE49-F238E27FC236}">
                <a16:creationId xmlns:a16="http://schemas.microsoft.com/office/drawing/2014/main" id="{FCE28DCC-6438-4514-9A79-08B08FBF1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5192" y="1571596"/>
            <a:ext cx="3499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kumimoji="1" lang="en-US" altLang="zh-CN" sz="2000">
                <a:solidFill>
                  <a:srgbClr val="0000FF"/>
                </a:solidFill>
                <a:latin typeface="Times New Roman" pitchFamily="18" charset="0"/>
              </a:rPr>
              <a:t>ff</a:t>
            </a:r>
            <a:endParaRPr kumimoji="1" lang="en-US" altLang="zh-CN" sz="400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56" name="Text Box 55">
            <a:extLst>
              <a:ext uri="{FF2B5EF4-FFF2-40B4-BE49-F238E27FC236}">
                <a16:creationId xmlns:a16="http://schemas.microsoft.com/office/drawing/2014/main" id="{B3D9413B-B296-47CE-B775-7339FC58E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5483" y="1968472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kumimoji="1" lang="zh-CN" altLang="zh-CN" sz="2000">
                <a:solidFill>
                  <a:srgbClr val="0000FF"/>
                </a:solidFill>
                <a:latin typeface="Times New Roman" pitchFamily="18" charset="0"/>
              </a:rPr>
              <a:t>101</a:t>
            </a:r>
            <a:endParaRPr kumimoji="1" lang="en-US" altLang="zh-CN" sz="400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57" name="Text Box 56">
            <a:extLst>
              <a:ext uri="{FF2B5EF4-FFF2-40B4-BE49-F238E27FC236}">
                <a16:creationId xmlns:a16="http://schemas.microsoft.com/office/drawing/2014/main" id="{476BC6B2-7ED6-43CE-B378-691E1DAC6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5483" y="2365346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kumimoji="1" lang="zh-CN" altLang="zh-CN" sz="2000">
                <a:solidFill>
                  <a:srgbClr val="0000FF"/>
                </a:solidFill>
                <a:latin typeface="Times New Roman" pitchFamily="18" charset="0"/>
              </a:rPr>
              <a:t>567</a:t>
            </a:r>
            <a:endParaRPr kumimoji="1" lang="en-US" altLang="zh-CN" sz="400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58" name="Text Box 57">
            <a:extLst>
              <a:ext uri="{FF2B5EF4-FFF2-40B4-BE49-F238E27FC236}">
                <a16:creationId xmlns:a16="http://schemas.microsoft.com/office/drawing/2014/main" id="{F81ED0FC-69C5-47F6-8DF2-766E49B8B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4868" y="2762221"/>
            <a:ext cx="3706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kumimoji="1" lang="en-US" altLang="zh-CN" sz="2000">
                <a:solidFill>
                  <a:srgbClr val="0000FF"/>
                </a:solidFill>
                <a:latin typeface="Times New Roman" pitchFamily="18" charset="0"/>
              </a:rPr>
              <a:t>A</a:t>
            </a:r>
            <a:endParaRPr kumimoji="1" lang="en-US" altLang="zh-CN" sz="400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59" name="Text Box 58">
            <a:extLst>
              <a:ext uri="{FF2B5EF4-FFF2-40B4-BE49-F238E27FC236}">
                <a16:creationId xmlns:a16="http://schemas.microsoft.com/office/drawing/2014/main" id="{5383C49D-3BC4-437C-A276-3B1B212DD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4936" y="3157508"/>
            <a:ext cx="71365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kumimoji="1" lang="en-US" altLang="zh-CN" sz="2000">
                <a:solidFill>
                  <a:srgbClr val="0000FF"/>
                </a:solidFill>
                <a:latin typeface="Times New Roman" pitchFamily="18" charset="0"/>
              </a:rPr>
              <a:t>ABC</a:t>
            </a:r>
            <a:endParaRPr kumimoji="1" lang="en-US" altLang="zh-CN" sz="400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60" name="Text Box 59">
            <a:extLst>
              <a:ext uri="{FF2B5EF4-FFF2-40B4-BE49-F238E27FC236}">
                <a16:creationId xmlns:a16="http://schemas.microsoft.com/office/drawing/2014/main" id="{5EDFF685-41FC-4136-8916-2F4AE1E7E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6383" y="3554384"/>
            <a:ext cx="178927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kumimoji="1" lang="zh-CN" altLang="zh-CN" sz="2000">
                <a:solidFill>
                  <a:srgbClr val="0000FF"/>
                </a:solidFill>
                <a:latin typeface="Times New Roman" pitchFamily="18" charset="0"/>
              </a:rPr>
              <a:t>5.677890</a:t>
            </a:r>
            <a:r>
              <a:rPr kumimoji="1" lang="en-US" altLang="zh-CN" sz="2000">
                <a:solidFill>
                  <a:srgbClr val="0000FF"/>
                </a:solidFill>
                <a:latin typeface="Times New Roman" pitchFamily="18" charset="0"/>
              </a:rPr>
              <a:t>e+002</a:t>
            </a:r>
            <a:endParaRPr kumimoji="1" lang="en-US" altLang="zh-CN" sz="400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61" name="Text Box 60">
            <a:extLst>
              <a:ext uri="{FF2B5EF4-FFF2-40B4-BE49-F238E27FC236}">
                <a16:creationId xmlns:a16="http://schemas.microsoft.com/office/drawing/2014/main" id="{CBF42039-EDC3-446F-AE46-FCCA04E25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1751" y="3949672"/>
            <a:ext cx="14029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kumimoji="1" lang="zh-CN" altLang="zh-CN" sz="2000">
                <a:solidFill>
                  <a:srgbClr val="0000FF"/>
                </a:solidFill>
                <a:latin typeface="Times New Roman" pitchFamily="18" charset="0"/>
              </a:rPr>
              <a:t>567.78900</a:t>
            </a:r>
            <a:r>
              <a:rPr kumimoji="1" lang="en-US" altLang="zh-CN" sz="2000">
                <a:solidFill>
                  <a:srgbClr val="0000FF"/>
                </a:solidFill>
                <a:latin typeface="Times New Roman" pitchFamily="18" charset="0"/>
              </a:rPr>
              <a:t>1</a:t>
            </a:r>
            <a:endParaRPr kumimoji="1" lang="en-US" altLang="zh-CN" sz="400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62" name="Text Box 61">
            <a:extLst>
              <a:ext uri="{FF2B5EF4-FFF2-40B4-BE49-F238E27FC236}">
                <a16:creationId xmlns:a16="http://schemas.microsoft.com/office/drawing/2014/main" id="{AE518AAE-24D1-46FB-8235-02D938CF2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3613" y="4346546"/>
            <a:ext cx="10182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kumimoji="1" lang="zh-CN" altLang="zh-CN" sz="2000">
                <a:solidFill>
                  <a:srgbClr val="0000FF"/>
                </a:solidFill>
                <a:latin typeface="Times New Roman" pitchFamily="18" charset="0"/>
              </a:rPr>
              <a:t>567.789</a:t>
            </a:r>
            <a:endParaRPr kumimoji="1" lang="en-US" altLang="zh-CN" sz="400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63" name="Text Box 62">
            <a:extLst>
              <a:ext uri="{FF2B5EF4-FFF2-40B4-BE49-F238E27FC236}">
                <a16:creationId xmlns:a16="http://schemas.microsoft.com/office/drawing/2014/main" id="{D7FDCAFB-583E-4DAD-ACC7-0ABFF0CBC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0611" y="4743421"/>
            <a:ext cx="3978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kumimoji="1" lang="zh-CN" altLang="zh-CN" sz="2000">
                <a:solidFill>
                  <a:srgbClr val="0000FF"/>
                </a:solidFill>
                <a:latin typeface="Times New Roman" pitchFamily="18" charset="0"/>
              </a:rPr>
              <a:t>%</a:t>
            </a:r>
            <a:endParaRPr kumimoji="1" lang="en-US" altLang="zh-CN" sz="400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3085006-D67A-4FAA-974C-210043FA6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41953" y="5322921"/>
            <a:ext cx="10484905" cy="138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281113" indent="-2921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1598613" indent="-315913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0558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5130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29702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4274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4" eaLnBrk="1" hangingPunct="1">
              <a:spcBef>
                <a:spcPct val="20000"/>
              </a:spcBef>
              <a:buClr>
                <a:srgbClr val="000000"/>
              </a:buClr>
              <a:buSzPct val="80000"/>
              <a:buFont typeface="Wingdings" pitchFamily="2" charset="2"/>
              <a:buChar char="§"/>
            </a:pPr>
            <a:r>
              <a:rPr lang="zh-CN" altLang="en-US" sz="2400" b="1" dirty="0">
                <a:solidFill>
                  <a:srgbClr val="000000"/>
                </a:solidFill>
              </a:rPr>
              <a:t>格式字符除</a:t>
            </a:r>
            <a:r>
              <a:rPr lang="en-US" altLang="zh-CN" sz="2400" b="1" dirty="0">
                <a:solidFill>
                  <a:srgbClr val="000000"/>
                </a:solidFill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</a:rPr>
              <a:t>、</a:t>
            </a:r>
            <a:r>
              <a:rPr lang="en-US" altLang="zh-CN" sz="2400" b="1" dirty="0">
                <a:solidFill>
                  <a:srgbClr val="000000"/>
                </a:solidFill>
              </a:rPr>
              <a:t>E</a:t>
            </a:r>
            <a:r>
              <a:rPr lang="zh-CN" altLang="en-US" sz="2400" b="1" dirty="0">
                <a:solidFill>
                  <a:srgbClr val="000000"/>
                </a:solidFill>
              </a:rPr>
              <a:t>、</a:t>
            </a:r>
            <a:r>
              <a:rPr lang="en-US" altLang="zh-CN" sz="2400" b="1" dirty="0">
                <a:solidFill>
                  <a:srgbClr val="000000"/>
                </a:solidFill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</a:rPr>
              <a:t>外要用小写</a:t>
            </a:r>
          </a:p>
          <a:p>
            <a:pPr lvl="4" eaLnBrk="1" hangingPunct="1">
              <a:spcBef>
                <a:spcPct val="20000"/>
              </a:spcBef>
              <a:buClr>
                <a:srgbClr val="000000"/>
              </a:buClr>
              <a:buSzPct val="80000"/>
              <a:buFont typeface="Wingdings" pitchFamily="2" charset="2"/>
              <a:buChar char="§"/>
            </a:pPr>
            <a:r>
              <a:rPr lang="zh-CN" altLang="en-US" sz="2400" b="1" dirty="0">
                <a:solidFill>
                  <a:srgbClr val="000000"/>
                </a:solidFill>
              </a:rPr>
              <a:t>格式字符与输出项个数应相同，按先后顺序一一对应</a:t>
            </a:r>
          </a:p>
          <a:p>
            <a:pPr lvl="4" eaLnBrk="1" hangingPunct="1">
              <a:spcBef>
                <a:spcPct val="20000"/>
              </a:spcBef>
              <a:buClr>
                <a:srgbClr val="000000"/>
              </a:buClr>
              <a:buSzPct val="80000"/>
              <a:buFont typeface="Wingdings" pitchFamily="2" charset="2"/>
              <a:buChar char="§"/>
            </a:pPr>
            <a:r>
              <a:rPr lang="zh-CN" altLang="en-US" sz="2400" b="1" dirty="0">
                <a:solidFill>
                  <a:srgbClr val="000000"/>
                </a:solidFill>
              </a:rPr>
              <a:t>输出转换</a:t>
            </a:r>
            <a:r>
              <a:rPr lang="en-US" altLang="zh-CN" sz="2400" b="1" dirty="0">
                <a:solidFill>
                  <a:srgbClr val="000000"/>
                </a:solidFill>
              </a:rPr>
              <a:t>:</a:t>
            </a:r>
            <a:r>
              <a:rPr lang="zh-CN" altLang="en-US" sz="2400" b="1" dirty="0">
                <a:solidFill>
                  <a:srgbClr val="000000"/>
                </a:solidFill>
              </a:rPr>
              <a:t>格式字符与输出项类型不一致</a:t>
            </a:r>
            <a:r>
              <a:rPr lang="en-US" altLang="zh-CN" sz="2400" b="1" dirty="0">
                <a:solidFill>
                  <a:srgbClr val="000000"/>
                </a:solidFill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</a:rPr>
              <a:t>自动按指定格式输出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B3D3A79-822C-4A9B-8D1D-87458F46E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8275" y="3186094"/>
            <a:ext cx="181822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6" name="灯片编号占位符 65">
            <a:extLst>
              <a:ext uri="{FF2B5EF4-FFF2-40B4-BE49-F238E27FC236}">
                <a16:creationId xmlns:a16="http://schemas.microsoft.com/office/drawing/2014/main" id="{707745A8-A50A-4021-AD2C-346A87688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/54</a:t>
            </a:r>
            <a:endParaRPr lang="zh-CN" altLang="en-US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30D066E8-2E86-44AF-B197-486CDA403CA7}"/>
              </a:ext>
            </a:extLst>
          </p:cNvPr>
          <p:cNvSpPr txBox="1"/>
          <p:nvPr/>
        </p:nvSpPr>
        <p:spPr>
          <a:xfrm>
            <a:off x="4901629" y="43783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printf()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394144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2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7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" presetClass="entr" presetSubtype="3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uild="p" autoUpdateAnimBg="0"/>
      <p:bldP spid="45" grpId="0" build="p" autoUpdateAnimBg="0"/>
      <p:bldP spid="46" grpId="0" build="p" autoUpdateAnimBg="0"/>
      <p:bldP spid="47" grpId="0" build="p" autoUpdateAnimBg="0"/>
      <p:bldP spid="48" grpId="0" build="p" autoUpdateAnimBg="0"/>
      <p:bldP spid="49" grpId="0" build="p" autoUpdateAnimBg="0"/>
      <p:bldP spid="50" grpId="0" build="p" autoUpdateAnimBg="0"/>
      <p:bldP spid="51" grpId="0" build="p" autoUpdateAnimBg="0"/>
      <p:bldP spid="52" grpId="0" build="p" autoUpdateAnimBg="0"/>
      <p:bldP spid="53" grpId="0" build="p" autoUpdateAnimBg="0"/>
      <p:bldP spid="54" grpId="0" build="p" autoUpdateAnimBg="0"/>
      <p:bldP spid="55" grpId="0" build="p" autoUpdateAnimBg="0"/>
      <p:bldP spid="56" grpId="0" build="p" autoUpdateAnimBg="0"/>
      <p:bldP spid="57" grpId="0" build="p" autoUpdateAnimBg="0"/>
      <p:bldP spid="58" grpId="0" build="p" autoUpdateAnimBg="0"/>
      <p:bldP spid="59" grpId="0" build="p" autoUpdateAnimBg="0"/>
      <p:bldP spid="60" grpId="0" build="p" autoUpdateAnimBg="0"/>
      <p:bldP spid="61" grpId="0" build="p" autoUpdateAnimBg="0"/>
      <p:bldP spid="62" grpId="0" build="p" autoUpdateAnimBg="0"/>
      <p:bldP spid="63" grpId="0" build="p" autoUpdateAnimBg="0"/>
      <p:bldP spid="64" grpId="0" uiExpand="1" build="p" bldLvl="5" autoUpdateAnimBg="0"/>
      <p:bldP spid="6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D8EEB0-EEB6-4E61-8910-F5E31E93A462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981296"/>
            <a:ext cx="7124700" cy="4286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rgbClr val="0000FF"/>
                </a:solidFill>
                <a:ea typeface="华文新魏" pitchFamily="2" charset="-122"/>
              </a:rPr>
              <a:t>格式字符类型表（总结）</a:t>
            </a:r>
          </a:p>
        </p:txBody>
      </p:sp>
      <p:graphicFrame>
        <p:nvGraphicFramePr>
          <p:cNvPr id="4" name="Group 25">
            <a:extLst>
              <a:ext uri="{FF2B5EF4-FFF2-40B4-BE49-F238E27FC236}">
                <a16:creationId xmlns:a16="http://schemas.microsoft.com/office/drawing/2014/main" id="{2C5AD3BC-E4A5-4877-93F4-2F6E0E5A5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960277"/>
              </p:ext>
            </p:extLst>
          </p:nvPr>
        </p:nvGraphicFramePr>
        <p:xfrm>
          <a:off x="1524000" y="1787744"/>
          <a:ext cx="6096000" cy="2246008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9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格式说明符</a:t>
                      </a:r>
                    </a:p>
                  </a:txBody>
                  <a:tcPr marL="90000" marR="90000" marT="46751" marB="4675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说明量的类型</a:t>
                      </a:r>
                    </a:p>
                  </a:txBody>
                  <a:tcPr marL="90000" marR="90000" marT="46751" marB="4675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d</a:t>
                      </a:r>
                      <a:r>
                        <a:rPr kumimoji="0" lang="zh-CN" alt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、</a:t>
                      </a:r>
                      <a:r>
                        <a:rPr kumimoji="0" lang="en-US" altLang="zh-CN" sz="2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i</a:t>
                      </a:r>
                      <a:r>
                        <a:rPr kumimoji="0" lang="zh-CN" alt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、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o</a:t>
                      </a:r>
                      <a:r>
                        <a:rPr kumimoji="0" lang="zh-CN" alt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、</a:t>
                      </a: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x </a:t>
                      </a:r>
                      <a:r>
                        <a:rPr kumimoji="0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、</a:t>
                      </a:r>
                      <a:r>
                        <a:rPr kumimoji="0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u</a:t>
                      </a:r>
                      <a:endParaRPr kumimoji="0" lang="en-US" altLang="zh-CN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L="90000" marR="90000" marT="46751" marB="4675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整型</a:t>
                      </a:r>
                    </a:p>
                  </a:txBody>
                  <a:tcPr marL="90000" marR="90000" marT="46751" marB="4675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L="90000" marR="90000" marT="46751" marB="4675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字符型</a:t>
                      </a:r>
                    </a:p>
                  </a:txBody>
                  <a:tcPr marL="90000" marR="90000" marT="46751" marB="4675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9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s</a:t>
                      </a:r>
                    </a:p>
                  </a:txBody>
                  <a:tcPr marL="90000" marR="90000" marT="46751" marB="4675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字符串</a:t>
                      </a:r>
                    </a:p>
                  </a:txBody>
                  <a:tcPr marL="90000" marR="90000" marT="46751" marB="4675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f</a:t>
                      </a:r>
                      <a:r>
                        <a:rPr kumimoji="0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、</a:t>
                      </a:r>
                      <a:r>
                        <a:rPr kumimoji="0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e</a:t>
                      </a:r>
                      <a:r>
                        <a:rPr kumimoji="0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、</a:t>
                      </a:r>
                      <a:r>
                        <a:rPr kumimoji="0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g</a:t>
                      </a:r>
                    </a:p>
                  </a:txBody>
                  <a:tcPr marL="90000" marR="90000" marT="46751" marB="4675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浮点型</a:t>
                      </a:r>
                    </a:p>
                  </a:txBody>
                  <a:tcPr marL="90000" marR="90000" marT="46751" marB="4675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Box 23">
            <a:extLst>
              <a:ext uri="{FF2B5EF4-FFF2-40B4-BE49-F238E27FC236}">
                <a16:creationId xmlns:a16="http://schemas.microsoft.com/office/drawing/2014/main" id="{41611239-CAC9-4C25-B735-26FBE8258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259240"/>
            <a:ext cx="12192000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lg" len="med"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FFFFCC"/>
                </a:solidFill>
                <a:latin typeface="Times New Roman" pitchFamily="18" charset="0"/>
                <a:ea typeface="楷体_GB2312" pitchFamily="49" charset="-122"/>
              </a:rPr>
              <a:t>      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格式说明符的个数应和输出项列表中的数据项个数相同，且每一个数据项的类型应与格式说明符类型一致。</a:t>
            </a:r>
            <a:endParaRPr kumimoji="1"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6" name="Text Box 24">
            <a:extLst>
              <a:ext uri="{FF2B5EF4-FFF2-40B4-BE49-F238E27FC236}">
                <a16:creationId xmlns:a16="http://schemas.microsoft.com/office/drawing/2014/main" id="{703E237C-9773-41BD-9BA9-DF671C2FA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75" y="5092418"/>
            <a:ext cx="568325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lg" len="med"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800" dirty="0">
                <a:solidFill>
                  <a:srgbClr val="0000FF"/>
                </a:solidFill>
              </a:rPr>
              <a:t>printf</a:t>
            </a:r>
            <a:r>
              <a:rPr kumimoji="1" lang="en-US" altLang="zh-CN" sz="2800" dirty="0">
                <a:solidFill>
                  <a:srgbClr val="00B050"/>
                </a:solidFill>
              </a:rPr>
              <a:t>("a=</a:t>
            </a:r>
            <a:r>
              <a:rPr kumimoji="1" lang="en-US" altLang="zh-CN" sz="2800" dirty="0">
                <a:solidFill>
                  <a:srgbClr val="FF0000"/>
                </a:solidFill>
              </a:rPr>
              <a:t>%5d</a:t>
            </a:r>
            <a:r>
              <a:rPr kumimoji="1" lang="en-US" altLang="zh-CN" sz="2800" dirty="0">
                <a:solidFill>
                  <a:srgbClr val="00B050"/>
                </a:solidFill>
              </a:rPr>
              <a:t>\</a:t>
            </a:r>
            <a:r>
              <a:rPr kumimoji="1" lang="en-US" altLang="zh-CN" sz="2800" dirty="0" err="1">
                <a:solidFill>
                  <a:srgbClr val="00B050"/>
                </a:solidFill>
              </a:rPr>
              <a:t>nb</a:t>
            </a:r>
            <a:r>
              <a:rPr kumimoji="1" lang="en-US" altLang="zh-CN" sz="2800" dirty="0">
                <a:solidFill>
                  <a:srgbClr val="00B050"/>
                </a:solidFill>
              </a:rPr>
              <a:t>=</a:t>
            </a:r>
            <a:r>
              <a:rPr kumimoji="1" lang="en-US" altLang="zh-CN" sz="2800" dirty="0">
                <a:solidFill>
                  <a:srgbClr val="FF0000"/>
                </a:solidFill>
              </a:rPr>
              <a:t>%f</a:t>
            </a:r>
            <a:r>
              <a:rPr kumimoji="1" lang="en-US" altLang="zh-CN" sz="2800" dirty="0">
                <a:solidFill>
                  <a:srgbClr val="00B050"/>
                </a:solidFill>
              </a:rPr>
              <a:t> "</a:t>
            </a:r>
            <a:r>
              <a:rPr kumimoji="1" lang="en-US" altLang="zh-CN" sz="2800" dirty="0">
                <a:solidFill>
                  <a:srgbClr val="0000FF"/>
                </a:solidFill>
              </a:rPr>
              <a:t>, </a:t>
            </a:r>
            <a:r>
              <a:rPr kumimoji="1" lang="en-US" altLang="zh-CN" sz="2800" dirty="0">
                <a:solidFill>
                  <a:srgbClr val="FF0000"/>
                </a:solidFill>
              </a:rPr>
              <a:t>2+3</a:t>
            </a:r>
            <a:r>
              <a:rPr kumimoji="1" lang="en-US" altLang="zh-CN" sz="2800" dirty="0">
                <a:solidFill>
                  <a:srgbClr val="0000FF"/>
                </a:solidFill>
              </a:rPr>
              <a:t>, </a:t>
            </a:r>
            <a:r>
              <a:rPr kumimoji="1" lang="en-US" altLang="zh-CN" sz="2800" dirty="0">
                <a:solidFill>
                  <a:srgbClr val="FF0000"/>
                </a:solidFill>
              </a:rPr>
              <a:t>5.34</a:t>
            </a:r>
            <a:r>
              <a:rPr kumimoji="1" lang="en-US" altLang="zh-CN" sz="2800" dirty="0"/>
              <a:t>);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549482-1066-481C-97C7-16DD7A0C4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/54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C905F8-0ACA-4D0D-8B65-2604E7D31A0A}"/>
              </a:ext>
            </a:extLst>
          </p:cNvPr>
          <p:cNvSpPr txBox="1"/>
          <p:nvPr/>
        </p:nvSpPr>
        <p:spPr>
          <a:xfrm>
            <a:off x="4901629" y="43783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printf()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13644291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100275-1DB6-4DFB-9B2B-DA9492583676}"/>
              </a:ext>
            </a:extLst>
          </p:cNvPr>
          <p:cNvSpPr txBox="1">
            <a:spLocks noChangeArrowheads="1"/>
          </p:cNvSpPr>
          <p:nvPr/>
        </p:nvSpPr>
        <p:spPr>
          <a:xfrm>
            <a:off x="684213" y="857105"/>
            <a:ext cx="7772400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格式修饰符的一般形式和意义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BDBB61FB-5791-4564-9C0A-B6B771794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315" y="1582592"/>
            <a:ext cx="357852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rgbClr val="FF0066"/>
                </a:solidFill>
                <a:ea typeface="楷体_GB2312" pitchFamily="49" charset="-122"/>
              </a:rPr>
              <a:t>%</a:t>
            </a:r>
            <a:r>
              <a:rPr kumimoji="1" lang="en-US" altLang="zh-CN" sz="2400" b="1" dirty="0">
                <a:solidFill>
                  <a:srgbClr val="FFCC00"/>
                </a:solidFill>
                <a:ea typeface="楷体_GB2312" pitchFamily="49" charset="-122"/>
              </a:rPr>
              <a:t>  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-</a:t>
            </a:r>
            <a:r>
              <a:rPr kumimoji="1"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FFCC00"/>
                </a:solidFill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FF"/>
                </a:solidFill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FF0066"/>
                </a:solidFill>
                <a:ea typeface="楷体_GB2312" pitchFamily="49" charset="-122"/>
              </a:rPr>
              <a:t>.n</a:t>
            </a:r>
            <a:r>
              <a:rPr kumimoji="1" lang="en-US" altLang="zh-CN" sz="2400" b="1" dirty="0">
                <a:solidFill>
                  <a:srgbClr val="FFCC00"/>
                </a:solidFill>
                <a:ea typeface="楷体_GB2312" pitchFamily="49" charset="-122"/>
              </a:rPr>
              <a:t>  </a:t>
            </a:r>
            <a:r>
              <a:rPr kumimoji="1" lang="en-US" altLang="zh-CN" sz="2400" b="1" dirty="0">
                <a:solidFill>
                  <a:srgbClr val="333300"/>
                </a:solidFill>
                <a:ea typeface="楷体_GB2312" pitchFamily="49" charset="-122"/>
              </a:rPr>
              <a:t>l</a:t>
            </a:r>
            <a:r>
              <a:rPr kumimoji="1" lang="en-US" altLang="zh-CN" sz="2400" b="1" dirty="0">
                <a:solidFill>
                  <a:srgbClr val="0099FF"/>
                </a:solidFill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FFCC00"/>
                </a:solidFill>
                <a:ea typeface="楷体_GB2312" pitchFamily="49" charset="-122"/>
              </a:rPr>
              <a:t>  </a:t>
            </a:r>
            <a:r>
              <a:rPr kumimoji="1"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格式说明符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5AC31CFB-D0DB-4504-A027-19B4CCA3BBC1}"/>
              </a:ext>
            </a:extLst>
          </p:cNvPr>
          <p:cNvSpPr>
            <a:spLocks/>
          </p:cNvSpPr>
          <p:nvPr/>
        </p:nvSpPr>
        <p:spPr bwMode="auto">
          <a:xfrm>
            <a:off x="1728741" y="5056541"/>
            <a:ext cx="3345760" cy="531813"/>
          </a:xfrm>
          <a:prstGeom prst="borderCallout2">
            <a:avLst>
              <a:gd name="adj1" fmla="val 23202"/>
              <a:gd name="adj2" fmla="val -10"/>
              <a:gd name="adj3" fmla="val 23201"/>
              <a:gd name="adj4" fmla="val -15826"/>
              <a:gd name="adj5" fmla="val -570523"/>
              <a:gd name="adj6" fmla="val -15361"/>
            </a:avLst>
          </a:prstGeom>
          <a:noFill/>
          <a:ln w="12700">
            <a:solidFill>
              <a:srgbClr val="FF0066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 dirty="0">
                <a:solidFill>
                  <a:srgbClr val="FF0066"/>
                </a:solidFill>
                <a:ea typeface="楷体_GB2312" pitchFamily="49" charset="-122"/>
              </a:rPr>
              <a:t>格式说明起始位置标志</a:t>
            </a: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8630DAD7-9063-4051-A2B0-D495D3268FE9}"/>
              </a:ext>
            </a:extLst>
          </p:cNvPr>
          <p:cNvSpPr>
            <a:spLocks/>
          </p:cNvSpPr>
          <p:nvPr/>
        </p:nvSpPr>
        <p:spPr bwMode="auto">
          <a:xfrm>
            <a:off x="1872898" y="4351192"/>
            <a:ext cx="5722937" cy="466725"/>
          </a:xfrm>
          <a:prstGeom prst="borderCallout2">
            <a:avLst>
              <a:gd name="adj1" fmla="val 24491"/>
              <a:gd name="adj2" fmla="val -1333"/>
              <a:gd name="adj3" fmla="val 24491"/>
              <a:gd name="adj4" fmla="val -4023"/>
              <a:gd name="adj5" fmla="val -511521"/>
              <a:gd name="adj6" fmla="val -4121"/>
            </a:avLst>
          </a:prstGeom>
          <a:noFill/>
          <a:ln w="12700">
            <a:solidFill>
              <a:srgbClr val="3333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对齐方式：缺省为右对齐，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-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为左对齐。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1F58F2A8-DA2D-4D3C-8549-3B088FBAC981}"/>
              </a:ext>
            </a:extLst>
          </p:cNvPr>
          <p:cNvSpPr>
            <a:spLocks/>
          </p:cNvSpPr>
          <p:nvPr/>
        </p:nvSpPr>
        <p:spPr bwMode="auto">
          <a:xfrm>
            <a:off x="2397032" y="3250821"/>
            <a:ext cx="6119813" cy="890588"/>
          </a:xfrm>
          <a:prstGeom prst="borderCallout2">
            <a:avLst>
              <a:gd name="adj1" fmla="val 12322"/>
              <a:gd name="adj2" fmla="val -204"/>
              <a:gd name="adj3" fmla="val 11811"/>
              <a:gd name="adj4" fmla="val -3921"/>
              <a:gd name="adj5" fmla="val -140473"/>
              <a:gd name="adj6" fmla="val -3921"/>
            </a:avLst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66FF33"/>
                </a:solidFill>
                <a:ea typeface="楷体_GB2312" pitchFamily="49" charset="-122"/>
              </a:rPr>
              <a:t>       </a:t>
            </a: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</a:rPr>
              <a:t>宽度</a:t>
            </a:r>
            <a:r>
              <a:rPr kumimoji="1" lang="en-US" altLang="zh-CN" sz="2400" b="1" dirty="0">
                <a:solidFill>
                  <a:srgbClr val="0000FF"/>
                </a:solidFill>
                <a:ea typeface="楷体_GB2312" pitchFamily="49" charset="-122"/>
              </a:rPr>
              <a:t>.</a:t>
            </a:r>
            <a:r>
              <a:rPr kumimoji="1" lang="zh-CN" altLang="en-US" sz="2400" b="1" dirty="0">
                <a:solidFill>
                  <a:srgbClr val="FF0066"/>
                </a:solidFill>
                <a:ea typeface="楷体_GB2312" pitchFamily="49" charset="-122"/>
              </a:rPr>
              <a:t>精度</a:t>
            </a:r>
            <a:r>
              <a:rPr kumimoji="1" lang="en-US" altLang="zh-CN" sz="2400" b="1" dirty="0">
                <a:ea typeface="楷体_GB2312" pitchFamily="49" charset="-122"/>
              </a:rPr>
              <a:t>(</a:t>
            </a:r>
            <a:r>
              <a:rPr kumimoji="1" lang="zh-CN" altLang="en-US" sz="2400" b="1" dirty="0">
                <a:ea typeface="楷体_GB2312" pitchFamily="49" charset="-122"/>
              </a:rPr>
              <a:t>位数</a:t>
            </a:r>
            <a:r>
              <a:rPr kumimoji="1" lang="en-US" altLang="zh-CN" sz="2400" b="1" dirty="0">
                <a:ea typeface="楷体_GB2312" pitchFamily="49" charset="-122"/>
              </a:rPr>
              <a:t>)</a:t>
            </a: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</a:rPr>
              <a:t>，宽度：输出总列数，</a:t>
            </a:r>
            <a:r>
              <a:rPr kumimoji="1" lang="zh-CN" altLang="en-US" sz="2400" b="1" dirty="0">
                <a:solidFill>
                  <a:srgbClr val="FF0066"/>
                </a:solidFill>
                <a:ea typeface="楷体_GB2312" pitchFamily="49" charset="-122"/>
              </a:rPr>
              <a:t>精度：小数位数（或字符个数）。</a:t>
            </a: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762F046E-DA6A-4298-A284-E3609E5467C6}"/>
              </a:ext>
            </a:extLst>
          </p:cNvPr>
          <p:cNvSpPr>
            <a:spLocks/>
          </p:cNvSpPr>
          <p:nvPr/>
        </p:nvSpPr>
        <p:spPr bwMode="auto">
          <a:xfrm>
            <a:off x="2822527" y="2230356"/>
            <a:ext cx="5486400" cy="784225"/>
          </a:xfrm>
          <a:prstGeom prst="borderCallout2">
            <a:avLst>
              <a:gd name="adj1" fmla="val 14574"/>
              <a:gd name="adj2" fmla="val -477"/>
              <a:gd name="adj3" fmla="val 14574"/>
              <a:gd name="adj4" fmla="val -3877"/>
              <a:gd name="adj5" fmla="val -29148"/>
              <a:gd name="adj6" fmla="val -3876"/>
            </a:avLst>
          </a:prstGeom>
          <a:noFill/>
          <a:ln w="12700">
            <a:solidFill>
              <a:srgbClr val="3333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333300"/>
                </a:solidFill>
                <a:ea typeface="楷体_GB2312" pitchFamily="49" charset="-122"/>
              </a:rPr>
              <a:t>类型长度，缺省整型，小写字母</a:t>
            </a:r>
            <a:r>
              <a:rPr kumimoji="1" lang="en-US" altLang="zh-CN" sz="2400" b="1" dirty="0">
                <a:solidFill>
                  <a:srgbClr val="333300"/>
                </a:solidFill>
                <a:ea typeface="楷体_GB2312" pitchFamily="49" charset="-122"/>
              </a:rPr>
              <a:t>l</a:t>
            </a:r>
            <a:r>
              <a:rPr kumimoji="1" lang="zh-CN" altLang="en-US" sz="2400" b="1" dirty="0">
                <a:solidFill>
                  <a:srgbClr val="333300"/>
                </a:solidFill>
                <a:ea typeface="楷体_GB2312" pitchFamily="49" charset="-122"/>
              </a:rPr>
              <a:t>表示</a:t>
            </a:r>
            <a:r>
              <a:rPr kumimoji="1" lang="en-US" altLang="zh-CN" sz="2400" b="1" dirty="0">
                <a:solidFill>
                  <a:srgbClr val="333300"/>
                </a:solidFill>
                <a:ea typeface="楷体_GB2312" pitchFamily="49" charset="-122"/>
              </a:rPr>
              <a:t>long</a:t>
            </a:r>
            <a:r>
              <a:rPr kumimoji="1" lang="zh-CN" altLang="en-US" sz="2400" b="1" dirty="0">
                <a:solidFill>
                  <a:srgbClr val="333300"/>
                </a:solidFill>
                <a:ea typeface="楷体_GB2312" pitchFamily="49" charset="-122"/>
              </a:rPr>
              <a:t>或</a:t>
            </a:r>
            <a:r>
              <a:rPr kumimoji="1" lang="en-US" altLang="zh-CN" sz="2400" b="1" dirty="0">
                <a:solidFill>
                  <a:srgbClr val="333300"/>
                </a:solidFill>
                <a:ea typeface="楷体_GB2312" pitchFamily="49" charset="-122"/>
              </a:rPr>
              <a:t>double</a:t>
            </a:r>
            <a:r>
              <a:rPr kumimoji="1" lang="zh-CN" altLang="en-US" sz="2400" b="1" dirty="0">
                <a:solidFill>
                  <a:srgbClr val="333300"/>
                </a:solidFill>
                <a:ea typeface="楷体_GB2312" pitchFamily="49" charset="-122"/>
              </a:rPr>
              <a:t>。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FEC1D40-21CB-4463-B14B-D778A5AA5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/54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45E456-25B5-477F-B65F-6C6A7B11B398}"/>
              </a:ext>
            </a:extLst>
          </p:cNvPr>
          <p:cNvSpPr txBox="1"/>
          <p:nvPr/>
        </p:nvSpPr>
        <p:spPr>
          <a:xfrm>
            <a:off x="4901629" y="43783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printf()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函数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2B2C8E8-4120-4479-8558-9A0B0FBF501C}"/>
              </a:ext>
            </a:extLst>
          </p:cNvPr>
          <p:cNvCxnSpPr/>
          <p:nvPr/>
        </p:nvCxnSpPr>
        <p:spPr>
          <a:xfrm>
            <a:off x="1872898" y="1988023"/>
            <a:ext cx="524134" cy="0"/>
          </a:xfrm>
          <a:prstGeom prst="line">
            <a:avLst/>
          </a:prstGeom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141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ows 注销音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nimBg="1" autoUpdateAnimBg="0"/>
      <p:bldP spid="6" grpId="0" animBg="1" autoUpdateAnimBg="0"/>
      <p:bldP spid="7" grpId="0" animBg="1" autoUpdateAnimBg="0"/>
      <p:bldP spid="8" grpId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6231BC-D07A-445B-932F-8A41AE551A58}"/>
              </a:ext>
            </a:extLst>
          </p:cNvPr>
          <p:cNvSpPr txBox="1">
            <a:spLocks noChangeArrowheads="1"/>
          </p:cNvSpPr>
          <p:nvPr/>
        </p:nvSpPr>
        <p:spPr>
          <a:xfrm>
            <a:off x="-654050" y="696910"/>
            <a:ext cx="4679950" cy="420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buFont typeface="Wingding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修饰符（附加格式说明符）</a:t>
            </a:r>
            <a:endParaRPr lang="zh-CN" altLang="zh-CN" b="1" dirty="0">
              <a:solidFill>
                <a:srgbClr val="0000FF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E9FC0B-7267-4806-A632-4AB6F3F29821}"/>
              </a:ext>
            </a:extLst>
          </p:cNvPr>
          <p:cNvGrpSpPr>
            <a:grpSpLocks/>
          </p:cNvGrpSpPr>
          <p:nvPr/>
        </p:nvGrpSpPr>
        <p:grpSpPr bwMode="auto">
          <a:xfrm>
            <a:off x="68265" y="1198562"/>
            <a:ext cx="8205787" cy="5300663"/>
            <a:chOff x="428" y="480"/>
            <a:chExt cx="5169" cy="333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0FF7D2F-6DE0-46C5-9C47-E23C67CEA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" y="495"/>
              <a:ext cx="5080" cy="3324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 w="381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kumimoji="1" lang="zh-CN" altLang="en-US" sz="2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0399765A-65D8-4C69-A82E-FF8CD7C12D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804"/>
              <a:ext cx="506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9F929147-88ED-4F2B-9366-8C610ED5CD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480"/>
              <a:ext cx="0" cy="33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1BC7F5C5-9474-48B4-999D-5FA3A2BF9F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476"/>
              <a:ext cx="4442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EEE4D46F-FF49-485E-B815-DE393D0E57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1334"/>
              <a:ext cx="26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.n</a:t>
              </a: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A7E2949B-82F8-4D95-AF58-A0AA687E8A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1" y="1224"/>
              <a:ext cx="3170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dirty="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对实数</a:t>
              </a:r>
              <a:r>
                <a:rPr kumimoji="1" lang="en-US" altLang="zh-CN" sz="2400" dirty="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,</a:t>
              </a:r>
              <a:r>
                <a:rPr kumimoji="1" lang="zh-CN" altLang="en-US" sz="2400" dirty="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指定小数点后位数</a:t>
              </a:r>
              <a:r>
                <a:rPr kumimoji="1" lang="en-US" altLang="zh-CN" sz="2400" dirty="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(</a:t>
              </a:r>
              <a:r>
                <a:rPr kumimoji="1" lang="zh-CN" altLang="en-US" sz="2400" dirty="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四舍五入</a:t>
              </a:r>
              <a:r>
                <a:rPr kumimoji="1" lang="en-US" altLang="zh-CN" sz="2400" dirty="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)</a:t>
              </a:r>
            </a:p>
            <a:p>
              <a:pPr eaLnBrk="1" hangingPunct="1"/>
              <a:r>
                <a:rPr kumimoji="1" lang="zh-CN" altLang="en-US" sz="2400" dirty="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对字符串</a:t>
              </a:r>
              <a:r>
                <a:rPr kumimoji="1" lang="en-US" altLang="zh-CN" sz="2400" dirty="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,</a:t>
              </a:r>
              <a:r>
                <a:rPr kumimoji="1" lang="zh-CN" altLang="en-US" sz="2400" dirty="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指定实际输出位数</a:t>
              </a: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9F89C5AC-254B-4041-8926-5C721B93E4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541"/>
              <a:ext cx="69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>
                  <a:solidFill>
                    <a:srgbClr val="0000FF"/>
                  </a:solidFill>
                  <a:latin typeface="Times New Roman" pitchFamily="18" charset="0"/>
                  <a:ea typeface="隶书" pitchFamily="49" charset="-122"/>
                </a:rPr>
                <a:t>修饰符</a:t>
              </a: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460FC2F6-3DBF-4836-BF94-1278FE4587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1" y="541"/>
              <a:ext cx="152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>
                  <a:solidFill>
                    <a:srgbClr val="0000FF"/>
                  </a:solidFill>
                  <a:latin typeface="Times New Roman" pitchFamily="18" charset="0"/>
                  <a:ea typeface="隶书" pitchFamily="49" charset="-122"/>
                </a:rPr>
                <a:t>功                     能</a:t>
              </a: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DFA1C029-5B8A-4624-8F03-A2D29FBC8E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140"/>
              <a:ext cx="506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38DF3924-F730-4DA8-B751-6F6C1C3F91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830"/>
              <a:ext cx="26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m</a:t>
              </a:r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E3F3F9D2-EDDD-4ACD-8CD2-1D865C1A6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1" y="852"/>
              <a:ext cx="459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dirty="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输出数据域宽</a:t>
              </a:r>
              <a:r>
                <a:rPr kumimoji="1" lang="en-US" altLang="zh-CN" sz="2400" dirty="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,</a:t>
              </a:r>
              <a:r>
                <a:rPr kumimoji="1" lang="zh-CN" altLang="en-US" sz="2400" dirty="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数据长度</a:t>
              </a:r>
              <a:r>
                <a:rPr kumimoji="1" lang="en-US" altLang="zh-CN" sz="2400" dirty="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&lt;m,</a:t>
              </a:r>
              <a:r>
                <a:rPr kumimoji="1" lang="zh-CN" altLang="en-US" sz="2400" dirty="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左补空格</a:t>
              </a:r>
              <a:r>
                <a:rPr kumimoji="1" lang="en-US" altLang="zh-CN" sz="2400" dirty="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;</a:t>
              </a:r>
              <a:r>
                <a:rPr kumimoji="1" lang="zh-CN" altLang="en-US" sz="2400" dirty="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否则按实际输出</a:t>
              </a: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822BCA83-BCAA-4AFB-AFF5-5A60A44845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1" y="1813"/>
              <a:ext cx="3282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>
                  <a:solidFill>
                    <a:srgbClr val="FF0000"/>
                  </a:solidFill>
                  <a:latin typeface="隶书" pitchFamily="49" charset="-122"/>
                  <a:ea typeface="隶书" pitchFamily="49" charset="-122"/>
                </a:rPr>
                <a:t>输出数据在域内左对齐（缺省右对齐</a:t>
              </a:r>
              <a:r>
                <a:rPr kumimoji="1" lang="en-US" altLang="zh-CN" sz="2400">
                  <a:solidFill>
                    <a:srgbClr val="FF0000"/>
                  </a:solidFill>
                  <a:latin typeface="隶书" pitchFamily="49" charset="-122"/>
                  <a:ea typeface="隶书" pitchFamily="49" charset="-122"/>
                </a:rPr>
                <a:t>)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6EACBB6E-D429-4D35-B7EA-2A72528C21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1826"/>
              <a:ext cx="17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-</a:t>
              </a: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D06A9015-769D-4323-96A7-68931E0792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1" y="2257"/>
              <a:ext cx="11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imes New Roman" pitchFamily="18" charset="0"/>
                <a:ea typeface="隶书" pitchFamily="49" charset="-122"/>
              </a:endParaRP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C9D62633-9BCC-4F36-8EB8-EF45A0062B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1" y="2161"/>
              <a:ext cx="3282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指定在有符号数</a:t>
              </a:r>
              <a:r>
                <a:rPr kumimoji="1" lang="zh-CN" altLang="zh-CN" sz="240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的正数前显示正号(+)</a:t>
              </a:r>
              <a:endParaRPr kumimoji="1" lang="en-US" altLang="zh-CN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07A0DAF0-A0DA-4C5C-9E6C-B5BDD42BF0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2240"/>
              <a:ext cx="22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+</a:t>
              </a:r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51E21926-8C5A-450A-9EA3-E9711955B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1" y="2509"/>
              <a:ext cx="385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输出数值时指定左边不使用的空位置自动填</a:t>
              </a:r>
              <a:r>
                <a:rPr kumimoji="1" lang="en-US" altLang="zh-CN" sz="2400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0</a:t>
              </a:r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40659980-A787-4841-905F-EA7AE22DCD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2534"/>
              <a:ext cx="211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0</a:t>
              </a:r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8D857E01-0088-4F3D-B7B4-4AC35390D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1" y="2869"/>
              <a:ext cx="347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zh-CN" sz="2400" dirty="0">
                  <a:latin typeface="隶书" pitchFamily="49" charset="-122"/>
                  <a:ea typeface="隶书" pitchFamily="49" charset="-122"/>
                </a:rPr>
                <a:t>在八进制和十六进制数前显示前导0，0</a:t>
              </a:r>
              <a:r>
                <a:rPr kumimoji="1" lang="en-US" altLang="zh-CN" sz="2400" dirty="0">
                  <a:latin typeface="隶书" pitchFamily="49" charset="-122"/>
                  <a:ea typeface="隶书" pitchFamily="49" charset="-122"/>
                </a:rPr>
                <a:t>x</a:t>
              </a:r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851AFA3D-20E0-4239-B42E-1220D00940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2852"/>
              <a:ext cx="211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#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B8203AE-9AF1-4170-8D66-4AD08DAF4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1" y="3204"/>
              <a:ext cx="3282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zh-CN" sz="2400" dirty="0">
                  <a:latin typeface="隶书" pitchFamily="49" charset="-122"/>
                  <a:ea typeface="隶书" pitchFamily="49" charset="-122"/>
                </a:rPr>
                <a:t>在</a:t>
              </a:r>
              <a:r>
                <a:rPr kumimoji="1" lang="en-US" altLang="zh-CN" sz="2400" dirty="0" err="1">
                  <a:latin typeface="隶书" pitchFamily="49" charset="-122"/>
                  <a:ea typeface="隶书" pitchFamily="49" charset="-122"/>
                </a:rPr>
                <a:t>d,o,x,u</a:t>
              </a:r>
              <a:r>
                <a:rPr kumimoji="1" lang="zh-CN" altLang="zh-CN" sz="2400" dirty="0">
                  <a:latin typeface="隶书" pitchFamily="49" charset="-122"/>
                  <a:ea typeface="隶书" pitchFamily="49" charset="-122"/>
                </a:rPr>
                <a:t>前，指定输出精度为</a:t>
              </a:r>
              <a:r>
                <a:rPr kumimoji="1" lang="en-US" altLang="zh-CN" sz="2400" dirty="0">
                  <a:latin typeface="隶书" pitchFamily="49" charset="-122"/>
                  <a:ea typeface="隶书" pitchFamily="49" charset="-122"/>
                </a:rPr>
                <a:t>long</a:t>
              </a:r>
              <a:r>
                <a:rPr kumimoji="1" lang="zh-CN" altLang="zh-CN" sz="2400" dirty="0">
                  <a:latin typeface="隶书" pitchFamily="49" charset="-122"/>
                  <a:ea typeface="隶书" pitchFamily="49" charset="-122"/>
                </a:rPr>
                <a:t>型</a:t>
              </a:r>
            </a:p>
            <a:p>
              <a:pPr eaLnBrk="1" hangingPunct="1"/>
              <a:r>
                <a:rPr kumimoji="1" lang="zh-CN" altLang="zh-CN" sz="2400" dirty="0">
                  <a:latin typeface="隶书" pitchFamily="49" charset="-122"/>
                  <a:ea typeface="隶书" pitchFamily="49" charset="-122"/>
                </a:rPr>
                <a:t>在</a:t>
              </a:r>
              <a:r>
                <a:rPr kumimoji="1" lang="en-US" altLang="zh-CN" sz="2400" dirty="0" err="1">
                  <a:latin typeface="隶书" pitchFamily="49" charset="-122"/>
                  <a:ea typeface="隶书" pitchFamily="49" charset="-122"/>
                </a:rPr>
                <a:t>e,f,g</a:t>
              </a:r>
              <a:r>
                <a:rPr kumimoji="1" lang="zh-CN" altLang="zh-CN" sz="2400" dirty="0">
                  <a:latin typeface="隶书" pitchFamily="49" charset="-122"/>
                  <a:ea typeface="隶书" pitchFamily="49" charset="-122"/>
                </a:rPr>
                <a:t>前，指定输出精度为</a:t>
              </a:r>
              <a:r>
                <a:rPr kumimoji="1" lang="en-US" altLang="zh-CN" sz="2400" dirty="0">
                  <a:latin typeface="隶书" pitchFamily="49" charset="-122"/>
                  <a:ea typeface="隶书" pitchFamily="49" charset="-122"/>
                </a:rPr>
                <a:t>double</a:t>
              </a:r>
              <a:r>
                <a:rPr kumimoji="1" lang="zh-CN" altLang="zh-CN" sz="2400" dirty="0">
                  <a:latin typeface="隶书" pitchFamily="49" charset="-122"/>
                  <a:ea typeface="隶书" pitchFamily="49" charset="-122"/>
                </a:rPr>
                <a:t>型</a:t>
              </a:r>
              <a:endParaRPr kumimoji="1" lang="zh-CN" altLang="en-US" sz="2400" dirty="0">
                <a:latin typeface="隶书" pitchFamily="49" charset="-122"/>
                <a:ea typeface="隶书" pitchFamily="49" charset="-122"/>
              </a:endParaRPr>
            </a:p>
          </p:txBody>
        </p:sp>
        <p:sp>
          <p:nvSpPr>
            <p:cNvPr id="26" name="Text Box 25">
              <a:extLst>
                <a:ext uri="{FF2B5EF4-FFF2-40B4-BE49-F238E27FC236}">
                  <a16:creationId xmlns:a16="http://schemas.microsoft.com/office/drawing/2014/main" id="{49ACA8AD-1BB3-4302-A360-86072C50EF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3326"/>
              <a:ext cx="16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l</a:t>
              </a:r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991E0FE6-8493-4C29-8CAB-B593782363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812"/>
              <a:ext cx="506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02DE6EA9-F31B-430A-9701-71331654B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2148"/>
              <a:ext cx="506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A42E2F08-588E-43A6-9EF2-69B781B236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2484"/>
              <a:ext cx="506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D095BACB-53BA-439E-B21F-D6359D1A74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3156"/>
              <a:ext cx="506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02D05561-B570-46F0-AE5C-74C37D6CE6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2820"/>
              <a:ext cx="506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CF7E57F7-4420-411F-85BC-9741A2D6CD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3492"/>
              <a:ext cx="4442" cy="1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3" name="Rectangle 36">
            <a:extLst>
              <a:ext uri="{FF2B5EF4-FFF2-40B4-BE49-F238E27FC236}">
                <a16:creationId xmlns:a16="http://schemas.microsoft.com/office/drawing/2014/main" id="{3A2D09AF-68A2-4048-A966-2557F76C5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769937"/>
            <a:ext cx="26654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%[</a:t>
            </a:r>
            <a:r>
              <a:rPr lang="zh-CN" altLang="en-US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修饰符</a:t>
            </a:r>
            <a:r>
              <a:rPr lang="en-US" altLang="zh-CN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]</a:t>
            </a:r>
            <a:r>
              <a:rPr lang="zh-CN" altLang="en-US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格式字符</a:t>
            </a:r>
          </a:p>
        </p:txBody>
      </p:sp>
      <p:sp>
        <p:nvSpPr>
          <p:cNvPr id="34" name="灯片编号占位符 33">
            <a:extLst>
              <a:ext uri="{FF2B5EF4-FFF2-40B4-BE49-F238E27FC236}">
                <a16:creationId xmlns:a16="http://schemas.microsoft.com/office/drawing/2014/main" id="{26DBFA5D-0509-4111-BE15-68401ED48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/54</a:t>
            </a:r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664431F-BAC8-431E-82DF-DB9F0BA1EC89}"/>
              </a:ext>
            </a:extLst>
          </p:cNvPr>
          <p:cNvSpPr txBox="1"/>
          <p:nvPr/>
        </p:nvSpPr>
        <p:spPr>
          <a:xfrm>
            <a:off x="4901629" y="43783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printf()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3596932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472AA08-CF68-4E9E-92E1-DC8C7798A737}"/>
              </a:ext>
            </a:extLst>
          </p:cNvPr>
          <p:cNvSpPr txBox="1">
            <a:spLocks noChangeArrowheads="1"/>
          </p:cNvSpPr>
          <p:nvPr/>
        </p:nvSpPr>
        <p:spPr>
          <a:xfrm>
            <a:off x="1711225" y="792663"/>
            <a:ext cx="7772400" cy="5857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zh-CN" sz="3000" b="1" dirty="0">
                <a:solidFill>
                  <a:srgbClr val="FF0066"/>
                </a:solidFill>
              </a:rPr>
              <a:t>格式输入函数</a:t>
            </a:r>
            <a:r>
              <a:rPr lang="zh-CN" altLang="en-US" sz="3000" b="1" dirty="0">
                <a:solidFill>
                  <a:srgbClr val="FF0066"/>
                </a:solidFill>
                <a:latin typeface="Times New Roman" pitchFamily="18" charset="0"/>
              </a:rPr>
              <a:t>s</a:t>
            </a:r>
            <a:r>
              <a:rPr lang="en-US" altLang="zh-CN" sz="3000" b="1" dirty="0" err="1">
                <a:solidFill>
                  <a:srgbClr val="FF0066"/>
                </a:solidFill>
                <a:latin typeface="Times New Roman" pitchFamily="18" charset="0"/>
              </a:rPr>
              <a:t>canf</a:t>
            </a:r>
            <a:r>
              <a:rPr lang="en-US" altLang="zh-CN" sz="3000" b="1" dirty="0">
                <a:solidFill>
                  <a:srgbClr val="FF0066"/>
                </a:solidFill>
                <a:latin typeface="Times New Roman" pitchFamily="18" charset="0"/>
              </a:rPr>
              <a:t>()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2B64E9F-7118-4A1A-A4A1-8F9BB2B63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7501" y="2516151"/>
            <a:ext cx="10598148" cy="1175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2"/>
            <a:r>
              <a:rPr kumimoji="1" lang="zh-CN" altLang="zh-CN" sz="2400" b="1" dirty="0">
                <a:solidFill>
                  <a:srgbClr val="0000FF"/>
                </a:solidFill>
                <a:latin typeface="宋体" pitchFamily="2" charset="-122"/>
              </a:rPr>
              <a:t>功能</a:t>
            </a:r>
            <a:r>
              <a:rPr kumimoji="1" lang="zh-CN" altLang="zh-CN" sz="2400" b="1" dirty="0">
                <a:solidFill>
                  <a:srgbClr val="003366"/>
                </a:solidFill>
                <a:latin typeface="宋体" pitchFamily="2" charset="-122"/>
              </a:rPr>
              <a:t>：</a:t>
            </a:r>
            <a:r>
              <a:rPr kumimoji="1" lang="zh-CN" altLang="zh-CN" sz="2400" b="1" dirty="0">
                <a:solidFill>
                  <a:srgbClr val="000000"/>
                </a:solidFill>
                <a:latin typeface="宋体" pitchFamily="2" charset="-122"/>
              </a:rPr>
              <a:t>按指定格式从键盘读入数据，存入地址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列</a:t>
            </a:r>
            <a:r>
              <a:rPr kumimoji="1" lang="zh-CN" altLang="zh-CN" sz="2400" b="1" dirty="0">
                <a:solidFill>
                  <a:srgbClr val="000000"/>
                </a:solidFill>
                <a:latin typeface="宋体" pitchFamily="2" charset="-122"/>
              </a:rPr>
              <a:t>表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中</a:t>
            </a:r>
          </a:p>
          <a:p>
            <a:pPr lvl="2"/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      </a:t>
            </a:r>
            <a:r>
              <a:rPr kumimoji="1" lang="zh-CN" altLang="zh-CN" sz="2400" b="1" dirty="0">
                <a:solidFill>
                  <a:srgbClr val="000000"/>
                </a:solidFill>
                <a:latin typeface="宋体" pitchFamily="2" charset="-122"/>
              </a:rPr>
              <a:t>指定的存储单元,并按回车键结束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读入</a:t>
            </a:r>
            <a:endParaRPr kumimoji="1" lang="zh-CN" altLang="zh-CN" sz="2400" b="1" dirty="0">
              <a:solidFill>
                <a:srgbClr val="000000"/>
              </a:solidFill>
              <a:latin typeface="宋体" pitchFamily="2" charset="-122"/>
            </a:endParaRPr>
          </a:p>
          <a:p>
            <a:pPr lvl="2"/>
            <a:r>
              <a:rPr kumimoji="1" lang="zh-CN" altLang="zh-CN" sz="2400" b="1" dirty="0">
                <a:solidFill>
                  <a:srgbClr val="0000FF"/>
                </a:solidFill>
                <a:latin typeface="宋体" pitchFamily="2" charset="-122"/>
              </a:rPr>
              <a:t>返回值</a:t>
            </a:r>
            <a:r>
              <a:rPr kumimoji="1" lang="zh-CN" altLang="zh-CN" sz="2400" b="1" dirty="0">
                <a:solidFill>
                  <a:srgbClr val="003366"/>
                </a:solidFill>
                <a:latin typeface="宋体" pitchFamily="2" charset="-122"/>
              </a:rPr>
              <a:t>：</a:t>
            </a:r>
            <a:r>
              <a:rPr kumimoji="1" lang="zh-CN" altLang="zh-CN" sz="2400" b="1" dirty="0">
                <a:solidFill>
                  <a:srgbClr val="000000"/>
                </a:solidFill>
                <a:latin typeface="宋体" pitchFamily="2" charset="-122"/>
              </a:rPr>
              <a:t>输入数据个数</a:t>
            </a: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CCBFA19-3A2F-4138-A6B6-4D68EC117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7284" y="3851485"/>
            <a:ext cx="9743170" cy="92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987425" indent="-293688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  <a:buClr>
                <a:srgbClr val="000000"/>
              </a:buClr>
              <a:buSzPct val="70000"/>
              <a:buFont typeface="Wingdings" pitchFamily="2" charset="2"/>
              <a:buChar char="l"/>
            </a:pPr>
            <a:r>
              <a:rPr kumimoji="1" lang="zh-CN" altLang="en-US" sz="2800" b="1" dirty="0">
                <a:solidFill>
                  <a:srgbClr val="C00000"/>
                </a:solidFill>
                <a:latin typeface="Times New Roman" pitchFamily="18" charset="0"/>
                <a:ea typeface="+mn-ea"/>
              </a:rPr>
              <a:t>变量地址列表</a:t>
            </a:r>
            <a:r>
              <a:rPr lang="zh-CN" altLang="en-US" sz="2800" b="1" dirty="0">
                <a:solidFill>
                  <a:srgbClr val="FF0066"/>
                </a:solidFill>
              </a:rPr>
              <a:t>：</a:t>
            </a:r>
            <a:r>
              <a:rPr lang="zh-CN" altLang="en-US" sz="2800" b="1" dirty="0">
                <a:solidFill>
                  <a:srgbClr val="000000"/>
                </a:solidFill>
              </a:rPr>
              <a:t>变量的地址列表，常用取地址运算符</a:t>
            </a:r>
            <a:r>
              <a:rPr lang="en-US" altLang="zh-CN" sz="2800" b="1" dirty="0">
                <a:solidFill>
                  <a:srgbClr val="FF0000"/>
                </a:solidFill>
              </a:rPr>
              <a:t>&amp;</a:t>
            </a:r>
          </a:p>
          <a:p>
            <a:pPr lvl="2" eaLnBrk="1" hangingPunct="1">
              <a:spcBef>
                <a:spcPct val="20000"/>
              </a:spcBef>
              <a:buClr>
                <a:srgbClr val="000000"/>
              </a:buClr>
              <a:buSzPct val="70000"/>
              <a:buFont typeface="Wingdings" pitchFamily="2" charset="2"/>
              <a:buChar char="l"/>
            </a:pPr>
            <a:r>
              <a:rPr kumimoji="1" lang="zh-CN" altLang="en-US" sz="2800" b="1" dirty="0">
                <a:solidFill>
                  <a:srgbClr val="00B050"/>
                </a:solidFill>
                <a:latin typeface="Times New Roman" pitchFamily="18" charset="0"/>
                <a:ea typeface="+mn-ea"/>
              </a:rPr>
              <a:t>格式字符</a:t>
            </a:r>
            <a:r>
              <a:rPr lang="en-US" altLang="zh-CN" sz="2800" b="1" dirty="0">
                <a:solidFill>
                  <a:srgbClr val="FF0066"/>
                </a:solidFill>
              </a:rPr>
              <a:t>:</a:t>
            </a:r>
            <a:r>
              <a:rPr lang="en-US" altLang="zh-CN" sz="2800" b="1" dirty="0">
                <a:solidFill>
                  <a:srgbClr val="000000"/>
                </a:solidFill>
              </a:rPr>
              <a:t>  </a:t>
            </a:r>
            <a:r>
              <a:rPr lang="en-US" altLang="zh-CN" sz="2800" b="1" dirty="0" err="1">
                <a:solidFill>
                  <a:srgbClr val="000000"/>
                </a:solidFill>
              </a:rPr>
              <a:t>d,i,o,x,u,c,s,f,e,g</a:t>
            </a:r>
            <a:r>
              <a:rPr lang="zh-CN" altLang="en-US" sz="2800" b="1" dirty="0">
                <a:solidFill>
                  <a:srgbClr val="000000"/>
                </a:solidFill>
              </a:rPr>
              <a:t>等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666FDB5C-CD98-4098-B3C0-FC77FBF92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9657" y="5166112"/>
            <a:ext cx="3679212" cy="1384995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</a:rPr>
              <a:t>例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</a:rPr>
              <a:t>scanf("%d",  &amp;a);</a:t>
            </a:r>
          </a:p>
          <a:p>
            <a:pPr eaLnBrk="1" hangingPunct="1"/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</a:rPr>
              <a:t>      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输入：1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</a:t>
            </a:r>
          </a:p>
          <a:p>
            <a:pPr eaLnBrk="1" hangingPunct="1"/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     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则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a=11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7CA0BC01-15A5-43DD-A11B-3EC9BF4E8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394" y="5168731"/>
            <a:ext cx="3658374" cy="1384995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</a:rPr>
              <a:t>例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</a:rPr>
              <a:t>scanf("%x",  &amp;a);</a:t>
            </a:r>
          </a:p>
          <a:p>
            <a:pPr eaLnBrk="1" hangingPunct="1"/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</a:rPr>
              <a:t>      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输入：1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</a:t>
            </a:r>
          </a:p>
          <a:p>
            <a:pPr eaLnBrk="1" hangingPunct="1"/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     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则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a=17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D8B002-DCE1-4B9D-B3AD-F58AC67A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/54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FBF34A-4BEB-4C00-B5C9-DEDD724A27C8}"/>
              </a:ext>
            </a:extLst>
          </p:cNvPr>
          <p:cNvSpPr txBox="1"/>
          <p:nvPr/>
        </p:nvSpPr>
        <p:spPr>
          <a:xfrm>
            <a:off x="4901629" y="43783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scanf()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函数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7DE12D-8EFA-4F65-9305-F8FC1D27F0F0}"/>
              </a:ext>
            </a:extLst>
          </p:cNvPr>
          <p:cNvSpPr txBox="1"/>
          <p:nvPr/>
        </p:nvSpPr>
        <p:spPr>
          <a:xfrm>
            <a:off x="2651470" y="1700057"/>
            <a:ext cx="7104830" cy="461665"/>
          </a:xfrm>
          <a:prstGeom prst="rect">
            <a:avLst/>
          </a:prstGeom>
          <a:solidFill>
            <a:schemeClr val="bg2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scanf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kumimoji="1" lang="zh-CN" altLang="zh-CN" sz="2400" b="1" dirty="0">
                <a:solidFill>
                  <a:srgbClr val="00B050"/>
                </a:solidFill>
                <a:latin typeface="Times New Roman" pitchFamily="18" charset="0"/>
              </a:rPr>
              <a:t>“</a:t>
            </a:r>
            <a:r>
              <a:rPr kumimoji="1" lang="zh-CN" altLang="en-US" sz="2400" b="1" dirty="0">
                <a:solidFill>
                  <a:srgbClr val="00B050"/>
                </a:solidFill>
                <a:latin typeface="Times New Roman" pitchFamily="18" charset="0"/>
              </a:rPr>
              <a:t>输入</a:t>
            </a:r>
            <a:r>
              <a:rPr kumimoji="1" lang="zh-CN" altLang="zh-CN" sz="2400" b="1" dirty="0">
                <a:solidFill>
                  <a:srgbClr val="00B050"/>
                </a:solidFill>
                <a:latin typeface="宋体" pitchFamily="2" charset="-122"/>
              </a:rPr>
              <a:t>格式控制</a:t>
            </a:r>
            <a:r>
              <a:rPr kumimoji="1" lang="zh-CN" altLang="en-US" sz="2400" b="1" dirty="0">
                <a:solidFill>
                  <a:srgbClr val="00B050"/>
                </a:solidFill>
                <a:latin typeface="宋体" pitchFamily="2" charset="-122"/>
              </a:rPr>
              <a:t>字符</a:t>
            </a:r>
            <a:r>
              <a:rPr kumimoji="1" lang="zh-CN" altLang="zh-CN" sz="2400" b="1" dirty="0">
                <a:solidFill>
                  <a:srgbClr val="00B050"/>
                </a:solidFill>
                <a:latin typeface="宋体" pitchFamily="2" charset="-122"/>
              </a:rPr>
              <a:t>串</a:t>
            </a:r>
            <a:r>
              <a:rPr kumimoji="1" lang="zh-CN" altLang="zh-CN" sz="2400" b="1" dirty="0">
                <a:solidFill>
                  <a:srgbClr val="00B050"/>
                </a:solidFill>
                <a:latin typeface="Times New Roman" pitchFamily="18" charset="0"/>
              </a:rPr>
              <a:t>”</a:t>
            </a:r>
            <a:r>
              <a:rPr kumimoji="1" lang="zh-CN" altLang="en-US" sz="2400" b="1" dirty="0">
                <a:latin typeface="Times New Roman" pitchFamily="18" charset="0"/>
              </a:rPr>
              <a:t> ，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itchFamily="18" charset="0"/>
              </a:rPr>
              <a:t>变量地址列表</a:t>
            </a:r>
            <a:r>
              <a:rPr lang="en-US" altLang="zh-CN" sz="2400" b="1" dirty="0">
                <a:latin typeface="Consolas" panose="020B0609020204030204" pitchFamily="49" charset="0"/>
              </a:rPr>
              <a:t>)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184901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5" grpId="0"/>
      <p:bldP spid="6" grpId="0" build="p" bldLvl="3" autoUpdateAnimBg="0"/>
      <p:bldP spid="7" grpId="0" animBg="1" autoUpdateAnimBg="0"/>
      <p:bldP spid="8" grpId="0" animBg="1" autoUpdateAnimBg="0"/>
      <p:bldP spid="1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3F8309F-7BBC-4E98-98DD-1520D37AB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68" y="919763"/>
            <a:ext cx="511175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scanf</a:t>
            </a:r>
            <a:r>
              <a:rPr lang="zh-CN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格式字符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5B571F-AA31-428A-81E5-210276BB3838}"/>
              </a:ext>
            </a:extLst>
          </p:cNvPr>
          <p:cNvGrpSpPr>
            <a:grpSpLocks/>
          </p:cNvGrpSpPr>
          <p:nvPr/>
        </p:nvGrpSpPr>
        <p:grpSpPr bwMode="auto">
          <a:xfrm>
            <a:off x="514729" y="1771077"/>
            <a:ext cx="8353425" cy="4502157"/>
            <a:chOff x="384" y="672"/>
            <a:chExt cx="5088" cy="34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25CEA8-6C10-4DFD-BEC9-34845AE7C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672"/>
              <a:ext cx="5088" cy="3419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 w="38100">
              <a:solidFill>
                <a:srgbClr val="200AC4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kumimoji="1" lang="zh-CN" altLang="en-US" sz="2400">
                <a:solidFill>
                  <a:srgbClr val="000000"/>
                </a:solidFill>
                <a:latin typeface="隶书" pitchFamily="49" charset="-122"/>
                <a:ea typeface="隶书" pitchFamily="49" charset="-122"/>
              </a:endParaRPr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7223EF05-64CB-47A7-853F-4B6D5471F9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995"/>
              <a:ext cx="5074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B2DA1296-C056-4185-8FF0-7E4A03FA1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672"/>
              <a:ext cx="1" cy="3360"/>
            </a:xfrm>
            <a:prstGeom prst="line">
              <a:avLst/>
            </a:prstGeom>
            <a:noFill/>
            <a:ln w="9525">
              <a:solidFill>
                <a:srgbClr val="200AC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BE00B4A8-108B-4ED9-AB4B-F74D191941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733"/>
              <a:ext cx="673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dirty="0">
                  <a:solidFill>
                    <a:srgbClr val="0000FF"/>
                  </a:solidFill>
                  <a:latin typeface="Times New Roman" pitchFamily="18" charset="0"/>
                  <a:ea typeface="隶书" pitchFamily="49" charset="-122"/>
                </a:rPr>
                <a:t>格式符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B09FFC48-9894-4164-A443-45AA639F38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6" y="733"/>
              <a:ext cx="1470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>
                  <a:solidFill>
                    <a:srgbClr val="0000FF"/>
                  </a:solidFill>
                  <a:latin typeface="Times New Roman" pitchFamily="18" charset="0"/>
                  <a:ea typeface="隶书" pitchFamily="49" charset="-122"/>
                </a:rPr>
                <a:t>功                     能</a:t>
              </a: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99453CC5-C812-42EB-9E08-077728CBC7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330"/>
              <a:ext cx="5074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DAC3D428-DCE5-4B1A-979B-A4CC73C428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" y="1021"/>
              <a:ext cx="31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rgbClr val="FF0066"/>
                  </a:solidFill>
                  <a:latin typeface="Times New Roman" pitchFamily="18" charset="0"/>
                  <a:ea typeface="隶书" pitchFamily="49" charset="-122"/>
                </a:rPr>
                <a:t>d,i</a:t>
              </a: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9C8E99AE-1603-40D1-AA10-F172264E5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" y="2014"/>
              <a:ext cx="387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rgbClr val="FF0066"/>
                  </a:solidFill>
                  <a:latin typeface="Times New Roman" pitchFamily="18" charset="0"/>
                  <a:ea typeface="隶书" pitchFamily="49" charset="-122"/>
                </a:rPr>
                <a:t>x,X</a:t>
              </a:r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A76DC182-5747-4BE5-87D6-A3158195A1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4" y="2444"/>
              <a:ext cx="11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endParaRPr kumimoji="1" lang="zh-CN" altLang="en-US" sz="2400">
                <a:latin typeface="Times New Roman" pitchFamily="18" charset="0"/>
                <a:ea typeface="隶书" pitchFamily="49" charset="-122"/>
              </a:endParaRP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85D4DA08-9171-459B-8CCC-F94F09D294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352"/>
              <a:ext cx="19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rgbClr val="FF0066"/>
                  </a:solidFill>
                  <a:latin typeface="Times New Roman" pitchFamily="18" charset="0"/>
                  <a:ea typeface="隶书" pitchFamily="49" charset="-122"/>
                </a:rPr>
                <a:t>c</a:t>
              </a:r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1D3109A8-57C6-4677-8A1C-0AADD4FCB6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000"/>
              <a:ext cx="5074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2C8279A6-29FD-40BF-8B22-4FE97C8EC2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335"/>
              <a:ext cx="5074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D70FD5AE-9F66-4C02-92CE-FE6B94733A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3" y="1032"/>
              <a:ext cx="2173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zh-CN" sz="2400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用于输入有符号十进</a:t>
              </a:r>
              <a:r>
                <a:rPr kumimoji="1" lang="zh-CN" altLang="en-US" sz="2400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制</a:t>
              </a:r>
              <a:r>
                <a:rPr kumimoji="1" lang="zh-CN" altLang="zh-CN" sz="2400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数</a:t>
              </a:r>
              <a:endParaRPr kumimoji="1" lang="zh-CN" altLang="en-US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endParaRP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6B1C11CC-EE73-4501-BAB4-1F36A41014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7" y="2372"/>
              <a:ext cx="1610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用来输入单个字符</a:t>
              </a: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A3771AA6-5FB0-4AC8-BAD1-CB382825E6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" y="1412"/>
              <a:ext cx="202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0066"/>
                  </a:solidFill>
                  <a:latin typeface="Tahoma" pitchFamily="34" charset="0"/>
                </a:rPr>
                <a:t>u</a:t>
              </a:r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CFBE29CE-A156-42F0-8A52-76D442AD5C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392"/>
              <a:ext cx="2173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zh-CN" sz="2400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用于输入无符号十进</a:t>
              </a:r>
              <a:r>
                <a:rPr kumimoji="1" lang="zh-CN" altLang="en-US" sz="2400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制</a:t>
              </a:r>
              <a:r>
                <a:rPr kumimoji="1" lang="zh-CN" altLang="zh-CN" sz="2400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数</a:t>
              </a:r>
              <a:endParaRPr kumimoji="1" lang="zh-CN" altLang="en-US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endParaRPr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98F370F8-62BB-4A16-A8F7-B5B1AC92EC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" y="1700"/>
              <a:ext cx="19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0066"/>
                  </a:solidFill>
                  <a:latin typeface="Tahoma" pitchFamily="34" charset="0"/>
                </a:rPr>
                <a:t>o</a:t>
              </a:r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5E9191A8-16C7-40D0-AF3F-E8B5DDE929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728"/>
              <a:ext cx="2173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zh-CN" sz="2400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用于输入无符号八进</a:t>
              </a:r>
              <a:r>
                <a:rPr kumimoji="1" lang="zh-CN" altLang="en-US" sz="2400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制</a:t>
              </a:r>
              <a:r>
                <a:rPr kumimoji="1" lang="zh-CN" altLang="zh-CN" sz="2400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数</a:t>
              </a:r>
              <a:endParaRPr kumimoji="1" lang="zh-CN" altLang="en-US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endParaRPr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E0F4E7FB-648A-4D44-A7D6-5EDFACD842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016"/>
              <a:ext cx="2360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zh-CN" sz="2400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用于输入无符号十六进</a:t>
              </a:r>
              <a:r>
                <a:rPr kumimoji="1" lang="zh-CN" altLang="en-US" sz="2400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制</a:t>
              </a:r>
              <a:r>
                <a:rPr kumimoji="1" lang="zh-CN" altLang="zh-CN" sz="2400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数</a:t>
              </a:r>
              <a:endParaRPr kumimoji="1" lang="zh-CN" altLang="en-US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endParaRPr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05ABA1E1-A143-4941-8E2F-EFCE1154B1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688"/>
              <a:ext cx="5088" cy="0"/>
            </a:xfrm>
            <a:prstGeom prst="line">
              <a:avLst/>
            </a:prstGeom>
            <a:noFill/>
            <a:ln w="9525">
              <a:solidFill>
                <a:srgbClr val="200AC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9F836708-A256-48CF-81DA-C8E97E90B5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120"/>
              <a:ext cx="5088" cy="0"/>
            </a:xfrm>
            <a:prstGeom prst="line">
              <a:avLst/>
            </a:prstGeom>
            <a:noFill/>
            <a:ln w="9525">
              <a:solidFill>
                <a:srgbClr val="200AC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B1AB4FF1-0EAC-405C-80AF-15A07A3D37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552"/>
              <a:ext cx="5088" cy="0"/>
            </a:xfrm>
            <a:prstGeom prst="line">
              <a:avLst/>
            </a:prstGeom>
            <a:noFill/>
            <a:ln w="9525">
              <a:solidFill>
                <a:srgbClr val="200AC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Box 26">
              <a:extLst>
                <a:ext uri="{FF2B5EF4-FFF2-40B4-BE49-F238E27FC236}">
                  <a16:creationId xmlns:a16="http://schemas.microsoft.com/office/drawing/2014/main" id="{52AB2C1D-1A84-4DE4-8196-9D88C4CA7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" y="2804"/>
              <a:ext cx="18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0066"/>
                  </a:solidFill>
                  <a:latin typeface="Tahoma" pitchFamily="34" charset="0"/>
                </a:rPr>
                <a:t>s</a:t>
              </a:r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2A753493-CAFD-4D3C-B141-8C16BD1A20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736"/>
              <a:ext cx="1423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用来输入字符串</a:t>
              </a:r>
            </a:p>
          </p:txBody>
        </p:sp>
        <p:sp>
          <p:nvSpPr>
            <p:cNvPr id="29" name="Text Box 28">
              <a:extLst>
                <a:ext uri="{FF2B5EF4-FFF2-40B4-BE49-F238E27FC236}">
                  <a16:creationId xmlns:a16="http://schemas.microsoft.com/office/drawing/2014/main" id="{292AACB1-3A36-4D7A-B8CF-0EECF3CDCF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216"/>
              <a:ext cx="166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0066"/>
                  </a:solidFill>
                  <a:latin typeface="Tahoma" pitchFamily="34" charset="0"/>
                </a:rPr>
                <a:t>f</a:t>
              </a:r>
            </a:p>
          </p:txBody>
        </p:sp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3205105E-0E5F-411C-AF7A-302B8AFB90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216"/>
              <a:ext cx="3298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用来输入实数，以小数形式或指数形式</a:t>
              </a:r>
            </a:p>
          </p:txBody>
        </p:sp>
        <p:sp>
          <p:nvSpPr>
            <p:cNvPr id="31" name="Text Box 30">
              <a:extLst>
                <a:ext uri="{FF2B5EF4-FFF2-40B4-BE49-F238E27FC236}">
                  <a16:creationId xmlns:a16="http://schemas.microsoft.com/office/drawing/2014/main" id="{2FA9A468-6541-443F-A37C-DC9CC9CE62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600"/>
              <a:ext cx="566" cy="4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0066"/>
                  </a:solidFill>
                  <a:latin typeface="Tahoma" pitchFamily="34" charset="0"/>
                </a:rPr>
                <a:t>e</a:t>
              </a:r>
              <a:r>
                <a:rPr lang="zh-CN" altLang="en-US" b="1">
                  <a:solidFill>
                    <a:srgbClr val="FF0066"/>
                  </a:solidFill>
                  <a:latin typeface="Tahoma" pitchFamily="34" charset="0"/>
                </a:rPr>
                <a:t>，</a:t>
              </a:r>
              <a:r>
                <a:rPr lang="en-US" altLang="zh-CN" b="1">
                  <a:solidFill>
                    <a:srgbClr val="FF0066"/>
                  </a:solidFill>
                  <a:latin typeface="Tahoma" pitchFamily="34" charset="0"/>
                </a:rPr>
                <a:t>E</a:t>
              </a:r>
              <a:r>
                <a:rPr lang="zh-CN" altLang="en-US" b="1">
                  <a:solidFill>
                    <a:srgbClr val="FF0066"/>
                  </a:solidFill>
                  <a:latin typeface="Tahoma" pitchFamily="34" charset="0"/>
                </a:rPr>
                <a:t>，</a:t>
              </a:r>
            </a:p>
            <a:p>
              <a:pPr eaLnBrk="1" hangingPunct="1"/>
              <a:r>
                <a:rPr lang="en-US" altLang="zh-CN" b="1">
                  <a:solidFill>
                    <a:srgbClr val="FF0066"/>
                  </a:solidFill>
                  <a:latin typeface="Tahoma" pitchFamily="34" charset="0"/>
                </a:rPr>
                <a:t>g</a:t>
              </a:r>
              <a:r>
                <a:rPr lang="zh-CN" altLang="en-US" b="1">
                  <a:solidFill>
                    <a:srgbClr val="FF0066"/>
                  </a:solidFill>
                  <a:latin typeface="Tahoma" pitchFamily="34" charset="0"/>
                </a:rPr>
                <a:t>，</a:t>
              </a:r>
              <a:r>
                <a:rPr lang="en-US" altLang="zh-CN" b="1">
                  <a:solidFill>
                    <a:srgbClr val="FF0066"/>
                  </a:solidFill>
                  <a:latin typeface="Tahoma" pitchFamily="34" charset="0"/>
                </a:rPr>
                <a:t>G</a:t>
              </a:r>
            </a:p>
          </p:txBody>
        </p:sp>
        <p:sp>
          <p:nvSpPr>
            <p:cNvPr id="32" name="Text Box 31">
              <a:extLst>
                <a:ext uri="{FF2B5EF4-FFF2-40B4-BE49-F238E27FC236}">
                  <a16:creationId xmlns:a16="http://schemas.microsoft.com/office/drawing/2014/main" id="{A56AC886-F975-4C9C-98B5-D7B833BB4E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661"/>
              <a:ext cx="2482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用来输入实数，与</a:t>
              </a:r>
              <a:r>
                <a:rPr kumimoji="1" lang="en-US" altLang="zh-CN" sz="240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f</a:t>
              </a: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作用相同</a:t>
              </a:r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A10296A1-3400-4349-A370-60839F89F0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680"/>
              <a:ext cx="5088" cy="0"/>
            </a:xfrm>
            <a:prstGeom prst="line">
              <a:avLst/>
            </a:prstGeom>
            <a:noFill/>
            <a:ln w="9525">
              <a:solidFill>
                <a:srgbClr val="200AC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" name="灯片编号占位符 33">
            <a:extLst>
              <a:ext uri="{FF2B5EF4-FFF2-40B4-BE49-F238E27FC236}">
                <a16:creationId xmlns:a16="http://schemas.microsoft.com/office/drawing/2014/main" id="{D17EBC3D-C2E0-4C27-B50A-2870AACC8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/54</a:t>
            </a:r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74D52BA-7703-46E0-B75C-05A6CCE772B1}"/>
              </a:ext>
            </a:extLst>
          </p:cNvPr>
          <p:cNvSpPr txBox="1"/>
          <p:nvPr/>
        </p:nvSpPr>
        <p:spPr>
          <a:xfrm>
            <a:off x="4901629" y="43783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scanf()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8453876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05C161D-EF22-4A19-9BE1-AAB509B43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68" y="919763"/>
            <a:ext cx="1163643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scanf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修饰</a:t>
            </a:r>
            <a:r>
              <a:rPr lang="zh-CN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符</a:t>
            </a: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(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附加格式说明符</a:t>
            </a: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)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47729AC-5F6E-4793-AC10-EF8EE5A2AF6F}"/>
              </a:ext>
            </a:extLst>
          </p:cNvPr>
          <p:cNvGrpSpPr>
            <a:grpSpLocks/>
          </p:cNvGrpSpPr>
          <p:nvPr/>
        </p:nvGrpSpPr>
        <p:grpSpPr bwMode="auto">
          <a:xfrm>
            <a:off x="250827" y="1739902"/>
            <a:ext cx="8569325" cy="3286125"/>
            <a:chOff x="432" y="432"/>
            <a:chExt cx="5080" cy="207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2C31CF6-61D8-4B0E-BB22-F82E753A7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432"/>
              <a:ext cx="5080" cy="2052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 w="381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kumimoji="1" lang="zh-CN" altLang="en-US" sz="2000">
                <a:latin typeface="Times New Roman" pitchFamily="18" charset="0"/>
              </a:endParaRPr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ABDB4C90-73CF-4FC4-B036-72C0AC9D03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756"/>
              <a:ext cx="506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16894762-4BEB-4116-9B52-5F2A7CE61C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432"/>
              <a:ext cx="1" cy="207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3742AEF9-D708-485C-968D-F69FB72C67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428"/>
              <a:ext cx="4442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E696ED06-819F-4D58-AF4B-D984214ED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1286"/>
              <a:ext cx="15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rgbClr val="FF0066"/>
                  </a:solidFill>
                  <a:latin typeface="Times New Roman" pitchFamily="18" charset="0"/>
                  <a:ea typeface="隶书" pitchFamily="49" charset="-122"/>
                </a:rPr>
                <a:t>l</a:t>
              </a: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81CDD6BF-2BE5-4E95-9D31-5CC6020B2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493"/>
              <a:ext cx="65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>
                  <a:solidFill>
                    <a:srgbClr val="0000FF"/>
                  </a:solidFill>
                  <a:latin typeface="Times New Roman" pitchFamily="18" charset="0"/>
                  <a:ea typeface="隶书" pitchFamily="49" charset="-122"/>
                </a:rPr>
                <a:t>修饰符</a:t>
              </a: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FEC026E7-B066-44A7-9312-57D17F927A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1" y="493"/>
              <a:ext cx="1431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>
                  <a:solidFill>
                    <a:srgbClr val="0000FF"/>
                  </a:solidFill>
                  <a:latin typeface="Times New Roman" pitchFamily="18" charset="0"/>
                  <a:ea typeface="隶书" pitchFamily="49" charset="-122"/>
                </a:rPr>
                <a:t>功                     能</a:t>
              </a:r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01A3FEDB-0CF5-435E-9659-D99BBD1E7F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092"/>
              <a:ext cx="506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7F66DFDF-DD9A-4B2C-9634-3DFBD8E381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782"/>
              <a:ext cx="20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rgbClr val="FF0066"/>
                  </a:solidFill>
                  <a:latin typeface="Times New Roman" pitchFamily="18" charset="0"/>
                  <a:ea typeface="隶书" pitchFamily="49" charset="-122"/>
                </a:rPr>
                <a:t>h</a:t>
              </a: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6CC24321-C8DB-4C89-86B0-DAFB3BD498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1778"/>
              <a:ext cx="26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rgbClr val="FF0066"/>
                  </a:solidFill>
                  <a:latin typeface="Times New Roman" pitchFamily="18" charset="0"/>
                  <a:ea typeface="隶书" pitchFamily="49" charset="-122"/>
                </a:rPr>
                <a:t>m</a:t>
              </a:r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C49D1891-DD94-4C59-95D7-A99F820C6D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1" y="2209"/>
              <a:ext cx="11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endParaRPr kumimoji="1" lang="zh-CN" altLang="en-US" sz="2400">
                <a:latin typeface="Times New Roman" pitchFamily="18" charset="0"/>
                <a:ea typeface="隶书" pitchFamily="49" charset="-122"/>
              </a:endParaRP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47474E69-BDEC-4292-9753-6438BFE2EB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2192"/>
              <a:ext cx="19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b="1">
                  <a:solidFill>
                    <a:srgbClr val="FF0066"/>
                  </a:solidFill>
                  <a:latin typeface="Times New Roman" pitchFamily="18" charset="0"/>
                  <a:ea typeface="隶书" pitchFamily="49" charset="-122"/>
                </a:rPr>
                <a:t>*</a:t>
              </a: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5B868B87-8817-4AEB-9D10-47FF4F9E39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764"/>
              <a:ext cx="506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1082CBEB-4F31-48E0-BF96-29F4FA683D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2100"/>
              <a:ext cx="506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95E6D3C2-AE06-49A7-B514-6F4E9A237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" y="793"/>
              <a:ext cx="341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zh-CN" sz="2400" b="1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用于</a:t>
              </a:r>
              <a:r>
                <a:rPr kumimoji="1" lang="en-US" altLang="zh-CN" sz="2400" b="1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d</a:t>
              </a:r>
              <a:r>
                <a:rPr kumimoji="1" lang="zh-CN" altLang="en-US" sz="2400" b="1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、</a:t>
              </a:r>
              <a:r>
                <a:rPr kumimoji="1" lang="en-US" altLang="zh-CN" sz="2400" b="1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o</a:t>
              </a:r>
              <a:r>
                <a:rPr kumimoji="1" lang="zh-CN" altLang="en-US" sz="2400" b="1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、</a:t>
              </a:r>
              <a:r>
                <a:rPr kumimoji="1" lang="en-US" altLang="zh-CN" sz="2400" b="1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x</a:t>
              </a:r>
              <a:r>
                <a:rPr kumimoji="1" lang="zh-CN" altLang="zh-CN" sz="2400" b="1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前，指定输入为</a:t>
              </a:r>
              <a:r>
                <a:rPr kumimoji="1" lang="en-US" altLang="zh-CN" sz="2400" b="1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short</a:t>
              </a:r>
              <a:r>
                <a:rPr kumimoji="1" lang="zh-CN" altLang="zh-CN" sz="2400" b="1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型整数</a:t>
              </a:r>
              <a:endParaRPr kumimoji="1" lang="zh-CN" altLang="en-US" sz="2400" b="1">
                <a:solidFill>
                  <a:srgbClr val="000000"/>
                </a:solidFill>
                <a:latin typeface="隶书" pitchFamily="49" charset="-122"/>
                <a:ea typeface="隶书" pitchFamily="49" charset="-122"/>
              </a:endParaRPr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E459C44F-2F80-4412-A379-8AE8D33BC3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8" y="1129"/>
              <a:ext cx="359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zh-CN" sz="2400" b="1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用于</a:t>
              </a:r>
              <a:r>
                <a:rPr kumimoji="1" lang="en-US" altLang="zh-CN" sz="2400" b="1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d</a:t>
              </a:r>
              <a:r>
                <a:rPr kumimoji="1" lang="zh-CN" altLang="en-US" sz="2400" b="1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、</a:t>
              </a:r>
              <a:r>
                <a:rPr kumimoji="1" lang="en-US" altLang="zh-CN" sz="2400" b="1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o</a:t>
              </a:r>
              <a:r>
                <a:rPr kumimoji="1" lang="zh-CN" altLang="en-US" sz="2400" b="1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、</a:t>
              </a:r>
              <a:r>
                <a:rPr kumimoji="1" lang="en-US" altLang="zh-CN" sz="2400" b="1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x</a:t>
              </a:r>
              <a:r>
                <a:rPr kumimoji="1" lang="zh-CN" altLang="en-US" sz="2400" b="1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、</a:t>
              </a:r>
              <a:r>
                <a:rPr kumimoji="1" lang="en-US" altLang="zh-CN" sz="2400" b="1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u</a:t>
              </a:r>
              <a:r>
                <a:rPr kumimoji="1" lang="zh-CN" altLang="zh-CN" sz="2400" b="1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前，指定输入为</a:t>
              </a:r>
              <a:r>
                <a:rPr kumimoji="1" lang="en-US" altLang="zh-CN" sz="2400" b="1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long</a:t>
              </a:r>
              <a:r>
                <a:rPr kumimoji="1" lang="zh-CN" altLang="zh-CN" sz="2400" b="1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型整数</a:t>
              </a:r>
              <a:endParaRPr kumimoji="1" lang="zh-CN" altLang="en-US" sz="2400" b="1">
                <a:solidFill>
                  <a:srgbClr val="000000"/>
                </a:solidFill>
                <a:latin typeface="隶书" pitchFamily="49" charset="-122"/>
                <a:ea typeface="隶书" pitchFamily="49" charset="-122"/>
              </a:endParaRPr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7DD19B29-73B6-4A27-92FE-CAD4B6EA1F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8" y="1441"/>
              <a:ext cx="3781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zh-CN" sz="2400" b="1">
                  <a:solidFill>
                    <a:srgbClr val="FF0066"/>
                  </a:solidFill>
                  <a:latin typeface="隶书" pitchFamily="49" charset="-122"/>
                  <a:ea typeface="隶书" pitchFamily="49" charset="-122"/>
                </a:rPr>
                <a:t>用于</a:t>
              </a:r>
              <a:r>
                <a:rPr kumimoji="1" lang="en-US" altLang="zh-CN" sz="2400" b="1">
                  <a:solidFill>
                    <a:srgbClr val="FF0066"/>
                  </a:solidFill>
                  <a:latin typeface="隶书" pitchFamily="49" charset="-122"/>
                  <a:ea typeface="隶书" pitchFamily="49" charset="-122"/>
                </a:rPr>
                <a:t>e</a:t>
              </a:r>
              <a:r>
                <a:rPr kumimoji="1" lang="zh-CN" altLang="en-US" sz="2400" b="1">
                  <a:solidFill>
                    <a:srgbClr val="FF0066"/>
                  </a:solidFill>
                  <a:latin typeface="隶书" pitchFamily="49" charset="-122"/>
                  <a:ea typeface="隶书" pitchFamily="49" charset="-122"/>
                </a:rPr>
                <a:t>、</a:t>
              </a:r>
              <a:r>
                <a:rPr kumimoji="1" lang="en-US" altLang="zh-CN" sz="2400" b="1">
                  <a:solidFill>
                    <a:srgbClr val="FF0066"/>
                  </a:solidFill>
                  <a:latin typeface="隶书" pitchFamily="49" charset="-122"/>
                  <a:ea typeface="隶书" pitchFamily="49" charset="-122"/>
                </a:rPr>
                <a:t>f</a:t>
              </a:r>
              <a:r>
                <a:rPr kumimoji="1" lang="zh-CN" altLang="zh-CN" sz="2400" b="1">
                  <a:solidFill>
                    <a:srgbClr val="FF0066"/>
                  </a:solidFill>
                  <a:latin typeface="隶书" pitchFamily="49" charset="-122"/>
                  <a:ea typeface="隶书" pitchFamily="49" charset="-122"/>
                </a:rPr>
                <a:t>前，指定输入为</a:t>
              </a:r>
              <a:r>
                <a:rPr kumimoji="1" lang="en-US" altLang="zh-CN" sz="2400" b="1">
                  <a:solidFill>
                    <a:srgbClr val="FF0066"/>
                  </a:solidFill>
                  <a:latin typeface="隶书" pitchFamily="49" charset="-122"/>
                  <a:ea typeface="隶书" pitchFamily="49" charset="-122"/>
                </a:rPr>
                <a:t>double</a:t>
              </a:r>
              <a:r>
                <a:rPr kumimoji="1" lang="zh-CN" altLang="zh-CN" sz="2400" b="1">
                  <a:solidFill>
                    <a:srgbClr val="FF0066"/>
                  </a:solidFill>
                  <a:latin typeface="隶书" pitchFamily="49" charset="-122"/>
                  <a:ea typeface="隶书" pitchFamily="49" charset="-122"/>
                </a:rPr>
                <a:t>型实数</a:t>
              </a:r>
              <a:r>
                <a:rPr kumimoji="1" lang="zh-CN" altLang="en-US" sz="2400" b="1">
                  <a:solidFill>
                    <a:srgbClr val="FF0066"/>
                  </a:solidFill>
                  <a:latin typeface="隶书" pitchFamily="49" charset="-122"/>
                  <a:ea typeface="隶书" pitchFamily="49" charset="-122"/>
                </a:rPr>
                <a:t>(必须</a:t>
              </a:r>
              <a:r>
                <a:rPr kumimoji="1" lang="en-US" altLang="zh-CN" sz="2400" b="1">
                  <a:solidFill>
                    <a:srgbClr val="FF0066"/>
                  </a:solidFill>
                  <a:latin typeface="隶书" pitchFamily="49" charset="-122"/>
                  <a:ea typeface="隶书" pitchFamily="49" charset="-122"/>
                </a:rPr>
                <a:t>)</a:t>
              </a:r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86849B0E-44FC-45C1-A15F-D32C413446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8" y="1825"/>
              <a:ext cx="414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zh-CN" sz="2400" b="1" dirty="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指定输入数据宽度，遇空格或不可转换字符则结束</a:t>
              </a:r>
              <a:endParaRPr kumimoji="1" lang="zh-CN" altLang="en-US" sz="2800" b="1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EB71ACD0-D5EC-469F-8ECA-E0F6B9673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4" y="2137"/>
              <a:ext cx="322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zh-CN" sz="2400" b="1" dirty="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抑制符，指定输入项读入后不赋给变量</a:t>
              </a:r>
              <a:endPara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隶书" pitchFamily="49" charset="-122"/>
              </a:endParaRPr>
            </a:p>
          </p:txBody>
        </p:sp>
      </p:grpSp>
      <p:sp>
        <p:nvSpPr>
          <p:cNvPr id="24" name="灯片编号占位符 23">
            <a:extLst>
              <a:ext uri="{FF2B5EF4-FFF2-40B4-BE49-F238E27FC236}">
                <a16:creationId xmlns:a16="http://schemas.microsoft.com/office/drawing/2014/main" id="{C93C9E04-0899-40A5-9E0B-F6540A8E8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/54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D27A4D7-D3E6-4E7D-92C7-8F7B4CC48113}"/>
              </a:ext>
            </a:extLst>
          </p:cNvPr>
          <p:cNvSpPr txBox="1"/>
          <p:nvPr/>
        </p:nvSpPr>
        <p:spPr>
          <a:xfrm>
            <a:off x="4901629" y="43783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scanf()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17435748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E99613B0-DC96-4C2C-98B6-B6F51856A53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04850"/>
            <a:ext cx="12192000" cy="21526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buFont typeface="Wingdings" pitchFamily="2" charset="2"/>
              <a:buNone/>
            </a:pPr>
            <a:r>
              <a:rPr kumimoji="1" lang="zh-CN" altLang="en-US" sz="3200" dirty="0">
                <a:solidFill>
                  <a:srgbClr val="FF0000"/>
                </a:solidFill>
                <a:latin typeface="Arial" charset="0"/>
                <a:ea typeface="隶书" pitchFamily="49" charset="-122"/>
              </a:rPr>
              <a:t>说明</a:t>
            </a:r>
            <a:r>
              <a:rPr lang="zh-CN" altLang="en-US" sz="2800" b="1" dirty="0">
                <a:solidFill>
                  <a:srgbClr val="0000FF"/>
                </a:solidFill>
              </a:rPr>
              <a:t>：</a:t>
            </a:r>
          </a:p>
          <a:p>
            <a:pPr marL="360000" lvl="3"/>
            <a:r>
              <a:rPr kumimoji="1" lang="zh-CN" altLang="en-US" sz="2800" dirty="0">
                <a:solidFill>
                  <a:srgbClr val="0000FF"/>
                </a:solidFill>
                <a:latin typeface="Arial" charset="0"/>
                <a:ea typeface="隶书" pitchFamily="49" charset="-122"/>
              </a:rPr>
              <a:t>用</a:t>
            </a:r>
            <a:r>
              <a:rPr kumimoji="1" lang="en-US" altLang="zh-CN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scanf()</a:t>
            </a:r>
            <a:r>
              <a:rPr kumimoji="1" lang="zh-CN" altLang="en-US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函数获取</a:t>
            </a:r>
            <a:r>
              <a:rPr kumimoji="1" lang="en-US" altLang="zh-CN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double</a:t>
            </a:r>
            <a:r>
              <a:rPr kumimoji="1" lang="zh-CN" altLang="en-US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类型的输入数据时</a:t>
            </a:r>
            <a:r>
              <a:rPr kumimoji="1" lang="zh-CN" altLang="en-US" sz="2800" dirty="0">
                <a:solidFill>
                  <a:srgbClr val="FF0000"/>
                </a:solidFill>
                <a:latin typeface="Arial" charset="0"/>
                <a:ea typeface="隶书" pitchFamily="49" charset="-122"/>
              </a:rPr>
              <a:t>必须使用</a:t>
            </a:r>
            <a:r>
              <a:rPr kumimoji="1" lang="en-US" altLang="zh-CN" sz="2800" dirty="0">
                <a:solidFill>
                  <a:srgbClr val="00CC00"/>
                </a:solidFill>
                <a:latin typeface="Arial" charset="0"/>
                <a:ea typeface="隶书" pitchFamily="49" charset="-122"/>
              </a:rPr>
              <a:t>%</a:t>
            </a:r>
            <a:r>
              <a:rPr kumimoji="1" lang="en-US" altLang="zh-CN" sz="2800" dirty="0" err="1">
                <a:solidFill>
                  <a:srgbClr val="00CC00"/>
                </a:solidFill>
                <a:latin typeface="Arial" charset="0"/>
                <a:ea typeface="隶书" pitchFamily="49" charset="-122"/>
              </a:rPr>
              <a:t>lf</a:t>
            </a:r>
            <a:r>
              <a:rPr kumimoji="1" lang="zh-CN" altLang="en-US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，用</a:t>
            </a:r>
            <a:r>
              <a:rPr kumimoji="1" lang="en-US" altLang="zh-CN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printf()</a:t>
            </a:r>
            <a:r>
              <a:rPr kumimoji="1" lang="zh-CN" altLang="en-US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函数输出</a:t>
            </a:r>
            <a:r>
              <a:rPr kumimoji="1" lang="en-US" altLang="zh-CN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double</a:t>
            </a:r>
            <a:r>
              <a:rPr kumimoji="1" lang="zh-CN" altLang="en-US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类型数据可以用</a:t>
            </a:r>
            <a:r>
              <a:rPr kumimoji="1" lang="en-US" altLang="zh-CN" sz="2800" dirty="0">
                <a:solidFill>
                  <a:srgbClr val="00CC00"/>
                </a:solidFill>
                <a:latin typeface="Arial" charset="0"/>
                <a:ea typeface="隶书" pitchFamily="49" charset="-122"/>
              </a:rPr>
              <a:t>%f</a:t>
            </a:r>
            <a:r>
              <a:rPr kumimoji="1" lang="zh-CN" altLang="en-US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或</a:t>
            </a:r>
            <a:r>
              <a:rPr kumimoji="1" lang="en-US" altLang="zh-CN" sz="2800" dirty="0">
                <a:solidFill>
                  <a:srgbClr val="00CC00"/>
                </a:solidFill>
                <a:latin typeface="Arial" charset="0"/>
                <a:ea typeface="隶书" pitchFamily="49" charset="-122"/>
              </a:rPr>
              <a:t>%</a:t>
            </a:r>
            <a:r>
              <a:rPr kumimoji="1" lang="en-US" altLang="zh-CN" sz="2800" dirty="0" err="1">
                <a:solidFill>
                  <a:srgbClr val="00CC00"/>
                </a:solidFill>
                <a:latin typeface="Arial" charset="0"/>
                <a:ea typeface="隶书" pitchFamily="49" charset="-122"/>
              </a:rPr>
              <a:t>lf</a:t>
            </a:r>
            <a:r>
              <a:rPr kumimoji="1" lang="zh-CN" altLang="en-US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。</a:t>
            </a:r>
            <a:endParaRPr kumimoji="1" lang="en-US" altLang="zh-CN" sz="2800" dirty="0">
              <a:solidFill>
                <a:srgbClr val="3333FF"/>
              </a:solidFill>
              <a:latin typeface="Arial" charset="0"/>
              <a:ea typeface="隶书" pitchFamily="49" charset="-122"/>
            </a:endParaRPr>
          </a:p>
          <a:p>
            <a:pPr marL="360000" lvl="3"/>
            <a:r>
              <a:rPr kumimoji="1" lang="zh-CN" altLang="en-US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当输入格式字符串中只有格式字符时，输入数据时可以用空格、回车键或</a:t>
            </a:r>
            <a:r>
              <a:rPr kumimoji="1" lang="en-US" altLang="zh-CN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TAB</a:t>
            </a:r>
            <a:r>
              <a:rPr kumimoji="1" lang="zh-CN" altLang="en-US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键作为数据的分隔符。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F6F808-2F5C-4619-989F-2EA2069E8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3092004"/>
            <a:ext cx="8678861" cy="3110724"/>
          </a:xfrm>
          <a:prstGeom prst="rect">
            <a:avLst/>
          </a:prstGeom>
          <a:noFill/>
          <a:ln w="38100">
            <a:solidFill>
              <a:srgbClr val="00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例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scanf(</a:t>
            </a:r>
            <a:r>
              <a:rPr kumimoji="1" lang="en-US" altLang="zh-CN" sz="2800" b="1" dirty="0">
                <a:solidFill>
                  <a:srgbClr val="00B050"/>
                </a:solidFill>
                <a:latin typeface="Times New Roman" pitchFamily="18" charset="0"/>
                <a:sym typeface="Symbol" pitchFamily="18" charset="2"/>
              </a:rPr>
              <a:t>"%</a:t>
            </a:r>
            <a:r>
              <a:rPr kumimoji="1" lang="en-US" altLang="zh-CN" sz="2800" b="1" dirty="0" err="1">
                <a:solidFill>
                  <a:srgbClr val="00B050"/>
                </a:solidFill>
                <a:latin typeface="Times New Roman" pitchFamily="18" charset="0"/>
                <a:sym typeface="Symbol" pitchFamily="18" charset="2"/>
              </a:rPr>
              <a:t>d%d%d</a:t>
            </a:r>
            <a:r>
              <a:rPr kumimoji="1" lang="en-US" altLang="zh-CN" sz="2800" b="1" dirty="0">
                <a:solidFill>
                  <a:srgbClr val="00B050"/>
                </a:solidFill>
                <a:latin typeface="Times New Roman" pitchFamily="18" charset="0"/>
                <a:sym typeface="Symbol" pitchFamily="18" charset="2"/>
              </a:rPr>
              <a:t>"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, &amp;a, &amp;b, &amp;c)</a:t>
            </a:r>
          </a:p>
          <a:p>
            <a:pPr lvl="3"/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     scanf(</a:t>
            </a:r>
            <a:r>
              <a:rPr kumimoji="1" lang="en-US" altLang="zh-CN" sz="2800" b="1" dirty="0">
                <a:solidFill>
                  <a:srgbClr val="00B050"/>
                </a:solidFill>
                <a:latin typeface="Times New Roman" pitchFamily="18" charset="0"/>
                <a:sym typeface="Symbol" pitchFamily="18" charset="2"/>
              </a:rPr>
              <a:t>"%d %d %d"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, &amp;a, &amp;b, &amp;c)</a:t>
            </a:r>
          </a:p>
          <a:p>
            <a:pPr lvl="3"/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    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输入  3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□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4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□5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 </a:t>
            </a:r>
            <a:endParaRPr kumimoji="1" lang="en-US" altLang="zh-CN" sz="2800" b="1" dirty="0">
              <a:solidFill>
                <a:srgbClr val="000000"/>
              </a:solidFill>
              <a:latin typeface="Times New Roman" pitchFamily="18" charset="0"/>
              <a:sym typeface="Symbol" pitchFamily="18" charset="2"/>
            </a:endParaRPr>
          </a:p>
          <a:p>
            <a:pPr lvl="3"/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 或输入 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3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→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4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→5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 </a:t>
            </a:r>
            <a:endParaRPr kumimoji="1" lang="en-US" altLang="zh-CN" sz="2800" b="1" dirty="0">
              <a:solidFill>
                <a:srgbClr val="000000"/>
              </a:solidFill>
              <a:latin typeface="Times New Roman" pitchFamily="18" charset="0"/>
              <a:sym typeface="Symbol" pitchFamily="18" charset="2"/>
            </a:endParaRPr>
          </a:p>
          <a:p>
            <a:pPr lvl="3"/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 或输入 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3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→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4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□5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 </a:t>
            </a:r>
            <a:endParaRPr kumimoji="1" lang="en-US" altLang="zh-CN" sz="2800" b="1" dirty="0">
              <a:solidFill>
                <a:srgbClr val="000000"/>
              </a:solidFill>
              <a:latin typeface="Times New Roman" pitchFamily="18" charset="0"/>
              <a:sym typeface="Symbol" pitchFamily="18" charset="2"/>
            </a:endParaRPr>
          </a:p>
          <a:p>
            <a:pPr lvl="3"/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 或输入 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3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□→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4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□5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</a:t>
            </a:r>
          </a:p>
          <a:p>
            <a:pPr lvl="3"/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 则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：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3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a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，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4 b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，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5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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c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C578AC3-B0DF-47F5-9F94-E5353C79D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/54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37D38D-9856-4E5A-B975-CC484863945B}"/>
              </a:ext>
            </a:extLst>
          </p:cNvPr>
          <p:cNvSpPr txBox="1"/>
          <p:nvPr/>
        </p:nvSpPr>
        <p:spPr>
          <a:xfrm>
            <a:off x="4901629" y="43783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scanf()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266803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24FFA50-C6D4-4BCD-A245-6C4693586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1917254"/>
            <a:ext cx="8678861" cy="1387176"/>
          </a:xfrm>
          <a:prstGeom prst="rect">
            <a:avLst/>
          </a:prstGeom>
          <a:noFill/>
          <a:ln w="38100">
            <a:solidFill>
              <a:srgbClr val="00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例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scanf(</a:t>
            </a:r>
            <a:r>
              <a:rPr kumimoji="1" lang="en-US" altLang="zh-CN" sz="2800" b="1" dirty="0">
                <a:solidFill>
                  <a:srgbClr val="00B050"/>
                </a:solidFill>
                <a:latin typeface="Times New Roman" pitchFamily="18" charset="0"/>
                <a:sym typeface="Symbol" pitchFamily="18" charset="2"/>
              </a:rPr>
              <a:t>"%</a:t>
            </a:r>
            <a:r>
              <a:rPr kumimoji="1" lang="en-US" altLang="zh-CN" sz="2800" b="1" dirty="0" err="1">
                <a:solidFill>
                  <a:srgbClr val="00B050"/>
                </a:solidFill>
                <a:latin typeface="Times New Roman" pitchFamily="18" charset="0"/>
                <a:sym typeface="Symbol" pitchFamily="18" charset="2"/>
              </a:rPr>
              <a:t>d,%d</a:t>
            </a:r>
            <a:r>
              <a:rPr kumimoji="1" lang="en-US" altLang="zh-CN" sz="2800" b="1" dirty="0">
                <a:solidFill>
                  <a:srgbClr val="00B050"/>
                </a:solidFill>
                <a:latin typeface="Times New Roman" pitchFamily="18" charset="0"/>
                <a:sym typeface="Symbol" pitchFamily="18" charset="2"/>
              </a:rPr>
              <a:t>"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, &amp;a, &amp;b)</a:t>
            </a:r>
          </a:p>
          <a:p>
            <a:pPr lvl="3"/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    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输入  3,4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 </a:t>
            </a:r>
          </a:p>
          <a:p>
            <a:pPr lvl="3"/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      则3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a, 4 b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5BFA90-921C-465D-B1B9-84619190D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2" y="5096006"/>
            <a:ext cx="8678862" cy="956288"/>
          </a:xfrm>
          <a:prstGeom prst="rect">
            <a:avLst/>
          </a:prstGeom>
          <a:noFill/>
          <a:ln w="38100">
            <a:solidFill>
              <a:srgbClr val="00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例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scanf(</a:t>
            </a:r>
            <a:r>
              <a:rPr kumimoji="1" lang="en-US" altLang="zh-CN" sz="2800" b="1" dirty="0">
                <a:solidFill>
                  <a:srgbClr val="00B050"/>
                </a:solidFill>
                <a:latin typeface="Times New Roman" pitchFamily="18" charset="0"/>
                <a:sym typeface="Symbol" pitchFamily="18" charset="2"/>
              </a:rPr>
              <a:t>"a=%</a:t>
            </a:r>
            <a:r>
              <a:rPr kumimoji="1" lang="en-US" altLang="zh-CN" sz="2800" b="1" dirty="0" err="1">
                <a:solidFill>
                  <a:srgbClr val="00B050"/>
                </a:solidFill>
                <a:latin typeface="Times New Roman" pitchFamily="18" charset="0"/>
                <a:sym typeface="Symbol" pitchFamily="18" charset="2"/>
              </a:rPr>
              <a:t>d,b</a:t>
            </a:r>
            <a:r>
              <a:rPr kumimoji="1" lang="en-US" altLang="zh-CN" sz="2800" b="1" dirty="0">
                <a:solidFill>
                  <a:srgbClr val="00B050"/>
                </a:solidFill>
                <a:latin typeface="Times New Roman" pitchFamily="18" charset="0"/>
                <a:sym typeface="Symbol" pitchFamily="18" charset="2"/>
              </a:rPr>
              <a:t>=%</a:t>
            </a:r>
            <a:r>
              <a:rPr kumimoji="1" lang="en-US" altLang="zh-CN" sz="2800" b="1" dirty="0" err="1">
                <a:solidFill>
                  <a:srgbClr val="00B050"/>
                </a:solidFill>
                <a:latin typeface="Times New Roman" pitchFamily="18" charset="0"/>
                <a:sym typeface="Symbol" pitchFamily="18" charset="2"/>
              </a:rPr>
              <a:t>d,c</a:t>
            </a:r>
            <a:r>
              <a:rPr kumimoji="1" lang="en-US" altLang="zh-CN" sz="2800" b="1" dirty="0">
                <a:solidFill>
                  <a:srgbClr val="00B050"/>
                </a:solidFill>
                <a:latin typeface="Times New Roman" pitchFamily="18" charset="0"/>
                <a:sym typeface="Symbol" pitchFamily="18" charset="2"/>
              </a:rPr>
              <a:t>=%d"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, &amp;a, &amp;b, &amp;c);</a:t>
            </a:r>
          </a:p>
          <a:p>
            <a:pPr lvl="3"/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    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输入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a=12,b=24,c=36 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C8C519D-3122-4865-A1A3-4F2ACAEE650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04850"/>
            <a:ext cx="12192000" cy="21526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buFont typeface="Wingdings" pitchFamily="2" charset="2"/>
              <a:buNone/>
            </a:pPr>
            <a:r>
              <a:rPr kumimoji="1" lang="zh-CN" altLang="en-US" sz="2800" dirty="0">
                <a:solidFill>
                  <a:srgbClr val="FF0000"/>
                </a:solidFill>
                <a:latin typeface="Arial" charset="0"/>
                <a:ea typeface="隶书" pitchFamily="49" charset="-122"/>
              </a:rPr>
              <a:t>说明</a:t>
            </a:r>
            <a:r>
              <a:rPr lang="zh-CN" altLang="en-US" sz="2800" b="1" dirty="0">
                <a:solidFill>
                  <a:srgbClr val="0000FF"/>
                </a:solidFill>
              </a:rPr>
              <a:t>：</a:t>
            </a:r>
          </a:p>
          <a:p>
            <a:pPr marL="360000" lvl="3"/>
            <a:r>
              <a:rPr kumimoji="1" lang="zh-CN" altLang="en-US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当格式字符串中包含有普通字符时，普通字符必须按原样输入。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20867A2E-0616-4F59-BD12-7E544524A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3514652"/>
            <a:ext cx="8678861" cy="1387176"/>
          </a:xfrm>
          <a:prstGeom prst="rect">
            <a:avLst/>
          </a:prstGeom>
          <a:noFill/>
          <a:ln w="38100">
            <a:solidFill>
              <a:srgbClr val="00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例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scanf(</a:t>
            </a:r>
            <a:r>
              <a:rPr kumimoji="1" lang="en-US" altLang="zh-CN" sz="2800" b="1" dirty="0">
                <a:solidFill>
                  <a:srgbClr val="00B050"/>
                </a:solidFill>
                <a:latin typeface="Times New Roman" pitchFamily="18" charset="0"/>
                <a:sym typeface="Symbol" pitchFamily="18" charset="2"/>
              </a:rPr>
              <a:t>"%d:%d"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, &amp;a, &amp;b)</a:t>
            </a:r>
          </a:p>
          <a:p>
            <a:pPr lvl="3"/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    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输入  3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: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4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 </a:t>
            </a:r>
          </a:p>
          <a:p>
            <a:pPr lvl="3"/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      则3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a, 4 b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7624D52-D8EF-4BD0-A96E-335FE3826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/54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85C9CA-816F-49C0-BE3E-D54898492EB0}"/>
              </a:ext>
            </a:extLst>
          </p:cNvPr>
          <p:cNvSpPr txBox="1"/>
          <p:nvPr/>
        </p:nvSpPr>
        <p:spPr>
          <a:xfrm>
            <a:off x="4901629" y="43783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scanf()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2765079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uiExpand="1" build="p" bldLvl="5" autoUpdateAnimBg="0"/>
      <p:bldP spid="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4">
            <a:extLst>
              <a:ext uri="{FF2B5EF4-FFF2-40B4-BE49-F238E27FC236}">
                <a16:creationId xmlns:a16="http://schemas.microsoft.com/office/drawing/2014/main" id="{343631C0-CC6B-4724-905A-91FC01561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375" y="1620438"/>
            <a:ext cx="8748713" cy="1547813"/>
          </a:xfrm>
          <a:prstGeom prst="rect">
            <a:avLst/>
          </a:prstGeom>
          <a:noFill/>
          <a:ln w="38100">
            <a:solidFill>
              <a:srgbClr val="00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281113" indent="-2921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1371600" lvl="3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例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scanf("%4d%2d%2d",&amp;yy,&amp;mm,&amp;dd);</a:t>
            </a:r>
          </a:p>
          <a:p>
            <a:pPr marL="1371600" lvl="3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    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输入  19991015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 </a:t>
            </a:r>
          </a:p>
          <a:p>
            <a:pPr marL="1371600" lvl="3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      则1999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yy, 10 mm, 15 dd</a:t>
            </a:r>
          </a:p>
        </p:txBody>
      </p:sp>
      <p:sp>
        <p:nvSpPr>
          <p:cNvPr id="4" name="Rectangle 25">
            <a:extLst>
              <a:ext uri="{FF2B5EF4-FFF2-40B4-BE49-F238E27FC236}">
                <a16:creationId xmlns:a16="http://schemas.microsoft.com/office/drawing/2014/main" id="{296CAFCF-E7F7-4D28-BAFC-58F64BDEE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375" y="3297239"/>
            <a:ext cx="8748712" cy="1387176"/>
          </a:xfrm>
          <a:prstGeom prst="rect">
            <a:avLst/>
          </a:prstGeom>
          <a:noFill/>
          <a:ln w="38100">
            <a:solidFill>
              <a:srgbClr val="00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例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scanf(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</a:rPr>
              <a:t>"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%3d%*4d%f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</a:rPr>
              <a:t>"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,&amp;k,&amp;f);</a:t>
            </a:r>
          </a:p>
          <a:p>
            <a:pPr lvl="3"/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    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输入  12345678765.43</a:t>
            </a:r>
          </a:p>
          <a:p>
            <a:pPr lvl="3"/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     则123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k, 8765.43f</a:t>
            </a:r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2E8A9FC7-FF6E-4164-B4CF-753D5CEE0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375" y="4822930"/>
            <a:ext cx="8748712" cy="1387176"/>
          </a:xfrm>
          <a:prstGeom prst="rect">
            <a:avLst/>
          </a:prstGeom>
          <a:noFill/>
          <a:ln w="38100">
            <a:solidFill>
              <a:srgbClr val="00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3"/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例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scanf(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</a:rPr>
              <a:t>"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%2d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sym typeface="Wingdings" pitchFamily="2" charset="2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Wingdings 3" pitchFamily="18" charset="2"/>
              </a:rPr>
              <a:t>%*3d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sym typeface="Wingdings" pitchFamily="2" charset="2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Wingdings 3" pitchFamily="18" charset="2"/>
              </a:rPr>
              <a:t>%2d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</a:rPr>
              <a:t>"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Wingdings 3" pitchFamily="18" charset="2"/>
              </a:rPr>
              <a:t>,&amp;a,&amp;b);</a:t>
            </a:r>
          </a:p>
          <a:p>
            <a:pPr lvl="3"/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Wingdings 3" pitchFamily="18" charset="2"/>
              </a:rPr>
              <a:t>     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Wingdings 3" pitchFamily="18" charset="2"/>
              </a:rPr>
              <a:t>输入  12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sym typeface="Wingdings" pitchFamily="2" charset="2"/>
              </a:rPr>
              <a:t>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Wingdings 3" pitchFamily="18" charset="2"/>
              </a:rPr>
              <a:t>345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sym typeface="Wingdings" pitchFamily="2" charset="2"/>
              </a:rPr>
              <a:t>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Wingdings 3" pitchFamily="18" charset="2"/>
              </a:rPr>
              <a:t>67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 </a:t>
            </a:r>
          </a:p>
          <a:p>
            <a:pPr lvl="3"/>
            <a:r>
              <a:rPr kumimoji="1" lang="zh-CN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     则12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a,  67b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6AB8CBE-2394-444C-BF85-201CCF326D0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800100"/>
            <a:ext cx="12192000" cy="504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buFont typeface="Wingdings" pitchFamily="2" charset="2"/>
              <a:buNone/>
            </a:pPr>
            <a:r>
              <a:rPr kumimoji="1" lang="zh-CN" altLang="en-US" sz="2800" dirty="0">
                <a:solidFill>
                  <a:srgbClr val="FF0000"/>
                </a:solidFill>
                <a:latin typeface="Arial" charset="0"/>
                <a:ea typeface="隶书" pitchFamily="49" charset="-122"/>
              </a:rPr>
              <a:t>说明</a:t>
            </a:r>
            <a:r>
              <a:rPr lang="zh-CN" altLang="en-US" sz="2800" b="1" dirty="0">
                <a:solidFill>
                  <a:srgbClr val="0000FF"/>
                </a:solidFill>
              </a:rPr>
              <a:t>：</a:t>
            </a:r>
            <a:r>
              <a:rPr kumimoji="1" lang="zh-CN" altLang="en-US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可以指定输入数据所占的列数。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972481-EFB3-4BBA-A6D5-5D4274540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/54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CFBE81E-03AB-43C5-AE45-863EC3CB22B4}"/>
              </a:ext>
            </a:extLst>
          </p:cNvPr>
          <p:cNvSpPr txBox="1"/>
          <p:nvPr/>
        </p:nvSpPr>
        <p:spPr>
          <a:xfrm>
            <a:off x="4901629" y="43783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scanf()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250045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4" grpId="0" animBg="1" autoUpdateAnimBg="0"/>
      <p:bldP spid="5" grpId="0" animBg="1" autoUpdateAnimBg="0"/>
      <p:bldP spid="6" grpId="0" build="p" bldLvl="5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84AFC49-109C-41F0-AAF0-1142C5FCAFDD}"/>
              </a:ext>
            </a:extLst>
          </p:cNvPr>
          <p:cNvSpPr txBox="1">
            <a:spLocks noChangeArrowheads="1"/>
          </p:cNvSpPr>
          <p:nvPr/>
        </p:nvSpPr>
        <p:spPr>
          <a:xfrm>
            <a:off x="-931654" y="726346"/>
            <a:ext cx="13123653" cy="13557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buFont typeface="Wingdings" pitchFamily="2" charset="2"/>
              <a:buNone/>
            </a:pPr>
            <a:r>
              <a:rPr kumimoji="1" lang="zh-CN" altLang="en-US" sz="2800" dirty="0">
                <a:solidFill>
                  <a:srgbClr val="FF0000"/>
                </a:solidFill>
                <a:latin typeface="Arial" charset="0"/>
                <a:ea typeface="隶书" pitchFamily="49" charset="-122"/>
              </a:rPr>
              <a:t>说明</a:t>
            </a:r>
            <a:r>
              <a:rPr lang="zh-CN" altLang="en-US" sz="2800" b="1" dirty="0">
                <a:solidFill>
                  <a:srgbClr val="0000FF"/>
                </a:solidFill>
              </a:rPr>
              <a:t>：</a:t>
            </a:r>
          </a:p>
          <a:p>
            <a:pPr lvl="3"/>
            <a:r>
              <a:rPr kumimoji="1" lang="zh-CN" altLang="zh-CN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用“%</a:t>
            </a:r>
            <a:r>
              <a:rPr kumimoji="1" lang="en-US" altLang="zh-CN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c”</a:t>
            </a:r>
            <a:r>
              <a:rPr kumimoji="1" lang="zh-CN" altLang="zh-CN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格式符时，空格</a:t>
            </a:r>
            <a:r>
              <a:rPr kumimoji="1" lang="zh-CN" altLang="en-US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、</a:t>
            </a:r>
            <a:r>
              <a:rPr kumimoji="1" lang="en-US" altLang="zh-CN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TAB</a:t>
            </a:r>
            <a:r>
              <a:rPr kumimoji="1" lang="zh-CN" altLang="en-US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键</a:t>
            </a:r>
            <a:r>
              <a:rPr kumimoji="1" lang="zh-CN" altLang="zh-CN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和</a:t>
            </a:r>
            <a:r>
              <a:rPr kumimoji="1" lang="zh-CN" altLang="en-US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回车键等均</a:t>
            </a:r>
            <a:r>
              <a:rPr kumimoji="1" lang="zh-CN" altLang="zh-CN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作为有效字符输入</a:t>
            </a:r>
            <a:endParaRPr kumimoji="1" lang="zh-CN" altLang="en-US" sz="2800" dirty="0">
              <a:solidFill>
                <a:srgbClr val="3333FF"/>
              </a:solidFill>
              <a:latin typeface="Arial" charset="0"/>
              <a:ea typeface="隶书" pitchFamily="49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C63DE7-7C18-4B00-A071-F9682B2E4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2027850"/>
            <a:ext cx="7772400" cy="1298575"/>
          </a:xfrm>
          <a:prstGeom prst="rect">
            <a:avLst/>
          </a:prstGeom>
          <a:noFill/>
          <a:ln w="38100">
            <a:solidFill>
              <a:srgbClr val="00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281113" indent="-2921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1598613" indent="-315913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0558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5130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29702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4274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4" eaLnBrk="1" hangingPunct="1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000000"/>
                </a:solidFill>
                <a:latin typeface="隶书" pitchFamily="49" charset="-122"/>
              </a:rPr>
              <a:t>如 </a:t>
            </a:r>
            <a:r>
              <a:rPr lang="en-US" altLang="zh-CN" sz="2400" b="1" dirty="0">
                <a:solidFill>
                  <a:srgbClr val="000000"/>
                </a:solidFill>
              </a:rPr>
              <a:t>scanf("%c%c%c",&amp;c1,&amp;c2,&amp;c3);</a:t>
            </a:r>
            <a:endParaRPr lang="en-US" altLang="zh-CN" sz="2400" b="1" dirty="0">
              <a:solidFill>
                <a:srgbClr val="000000"/>
              </a:solidFill>
              <a:latin typeface="隶书" pitchFamily="49" charset="-122"/>
            </a:endParaRPr>
          </a:p>
          <a:p>
            <a:pPr lvl="3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隶书" pitchFamily="49" charset="-122"/>
              </a:rPr>
              <a:t>      </a:t>
            </a:r>
            <a:r>
              <a:rPr lang="zh-CN" altLang="zh-CN" sz="2400" b="1" dirty="0">
                <a:solidFill>
                  <a:srgbClr val="000000"/>
                </a:solidFill>
                <a:latin typeface="隶书" pitchFamily="49" charset="-122"/>
              </a:rPr>
              <a:t>若输入</a:t>
            </a:r>
            <a:r>
              <a:rPr lang="en-US" altLang="zh-CN" sz="2400" b="1" dirty="0">
                <a:solidFill>
                  <a:srgbClr val="000000"/>
                </a:solidFill>
                <a:latin typeface="隶书" pitchFamily="49" charset="-122"/>
              </a:rPr>
              <a:t>a</a:t>
            </a:r>
            <a:r>
              <a:rPr lang="en-US" altLang="zh-CN" sz="2000" b="1" dirty="0">
                <a:solidFill>
                  <a:srgbClr val="000000"/>
                </a:solidFill>
                <a:latin typeface="隶书" pitchFamily="49" charset="-122"/>
                <a:sym typeface="Wingdings" pitchFamily="2" charset="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隶书" pitchFamily="49" charset="-122"/>
                <a:sym typeface="Wingdings 3" pitchFamily="18" charset="2"/>
              </a:rPr>
              <a:t>b</a:t>
            </a:r>
            <a:r>
              <a:rPr lang="en-US" altLang="zh-CN" sz="2000" b="1" dirty="0">
                <a:solidFill>
                  <a:srgbClr val="000000"/>
                </a:solidFill>
                <a:latin typeface="隶书" pitchFamily="49" charset="-122"/>
                <a:sym typeface="Wingdings" pitchFamily="2" charset="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隶书" pitchFamily="49" charset="-122"/>
                <a:sym typeface="Wingdings 3" pitchFamily="18" charset="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隶书" pitchFamily="49" charset="-122"/>
                <a:sym typeface="Symbol" pitchFamily="18" charset="2"/>
              </a:rPr>
              <a:t>    </a:t>
            </a:r>
          </a:p>
          <a:p>
            <a:pPr lvl="3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sym typeface="Symbol" pitchFamily="18" charset="2"/>
              </a:rPr>
              <a:t>      </a:t>
            </a:r>
            <a:r>
              <a:rPr lang="zh-CN" altLang="zh-CN" sz="2400" b="1" dirty="0">
                <a:solidFill>
                  <a:srgbClr val="000000"/>
                </a:solidFill>
                <a:sym typeface="Symbol" pitchFamily="18" charset="2"/>
              </a:rPr>
              <a:t>则</a:t>
            </a:r>
            <a:r>
              <a:rPr lang="en-US" altLang="zh-CN" sz="2400" b="1" dirty="0">
                <a:solidFill>
                  <a:srgbClr val="000000"/>
                </a:solidFill>
                <a:sym typeface="Symbol" pitchFamily="18" charset="2"/>
              </a:rPr>
              <a:t>ac1, </a:t>
            </a:r>
            <a:r>
              <a:rPr lang="en-US" altLang="zh-CN" sz="2000" b="1" dirty="0">
                <a:solidFill>
                  <a:srgbClr val="000000"/>
                </a:solidFill>
                <a:sym typeface="Wingdings" pitchFamily="2" charset="2"/>
              </a:rPr>
              <a:t></a:t>
            </a:r>
            <a:r>
              <a:rPr lang="en-US" altLang="zh-CN" sz="2400" b="1" dirty="0">
                <a:solidFill>
                  <a:srgbClr val="000000"/>
                </a:solidFill>
                <a:sym typeface="Wingdings 3" pitchFamily="18" charset="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sym typeface="Symbol" pitchFamily="18" charset="2"/>
              </a:rPr>
              <a:t>c2, b c3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515A7D-DD2D-407E-B2BC-877E9B504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/54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EA70C2-8A0A-4340-880D-F505C73572C8}"/>
              </a:ext>
            </a:extLst>
          </p:cNvPr>
          <p:cNvSpPr txBox="1"/>
          <p:nvPr/>
        </p:nvSpPr>
        <p:spPr>
          <a:xfrm>
            <a:off x="4901629" y="43783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scanf()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267902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 autoUpdateAnimBg="0"/>
      <p:bldP spid="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4F8461A-9B2B-4A61-B41F-D2CEC31E7D3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800100"/>
            <a:ext cx="12192000" cy="1857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</a:pPr>
            <a:r>
              <a:rPr kumimoji="1" lang="zh-CN" altLang="en-US" sz="2800" dirty="0">
                <a:solidFill>
                  <a:srgbClr val="FF0000"/>
                </a:solidFill>
                <a:latin typeface="Arial" charset="0"/>
                <a:ea typeface="隶书" pitchFamily="49" charset="-122"/>
              </a:rPr>
              <a:t>说明</a:t>
            </a:r>
            <a:r>
              <a:rPr kumimoji="1" lang="zh-CN" altLang="en-US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：</a:t>
            </a:r>
            <a:r>
              <a:rPr kumimoji="1" lang="zh-CN" altLang="en-US" sz="2800" dirty="0">
                <a:latin typeface="Arial" charset="0"/>
                <a:ea typeface="隶书" pitchFamily="49" charset="-122"/>
              </a:rPr>
              <a:t>输入数据时，</a:t>
            </a:r>
            <a:r>
              <a:rPr kumimoji="1" lang="zh-CN" altLang="zh-CN" sz="2800" dirty="0">
                <a:latin typeface="Arial" charset="0"/>
                <a:ea typeface="隶书" pitchFamily="49" charset="-122"/>
              </a:rPr>
              <a:t>遇以下情况认为该数据</a:t>
            </a:r>
            <a:r>
              <a:rPr kumimoji="1" lang="zh-CN" altLang="en-US" sz="2800" dirty="0">
                <a:latin typeface="Arial" charset="0"/>
                <a:ea typeface="隶书" pitchFamily="49" charset="-122"/>
              </a:rPr>
              <a:t>输入</a:t>
            </a:r>
            <a:r>
              <a:rPr kumimoji="1" lang="zh-CN" altLang="zh-CN" sz="2800" dirty="0">
                <a:latin typeface="Arial" charset="0"/>
                <a:ea typeface="隶书" pitchFamily="49" charset="-122"/>
              </a:rPr>
              <a:t>结束：</a:t>
            </a:r>
          </a:p>
          <a:p>
            <a:pPr marL="720000" lvl="4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</a:pPr>
            <a:r>
              <a:rPr kumimoji="1" lang="zh-CN" altLang="zh-CN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遇空格、</a:t>
            </a:r>
            <a:r>
              <a:rPr kumimoji="1" lang="en-US" altLang="zh-CN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TAB</a:t>
            </a:r>
            <a:r>
              <a:rPr kumimoji="1" lang="zh-CN" altLang="en-US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、</a:t>
            </a:r>
            <a:r>
              <a:rPr kumimoji="1" lang="zh-CN" altLang="zh-CN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或回车</a:t>
            </a:r>
            <a:r>
              <a:rPr kumimoji="1" lang="en-US" altLang="zh-CN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(</a:t>
            </a:r>
            <a:r>
              <a:rPr kumimoji="1" lang="zh-CN" altLang="en-US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统称为空白字符</a:t>
            </a:r>
            <a:r>
              <a:rPr kumimoji="1" lang="en-US" altLang="zh-CN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)</a:t>
            </a:r>
            <a:endParaRPr kumimoji="1" lang="zh-CN" altLang="zh-CN" sz="2800" dirty="0">
              <a:solidFill>
                <a:srgbClr val="3333FF"/>
              </a:solidFill>
              <a:latin typeface="Arial" charset="0"/>
              <a:ea typeface="隶书" pitchFamily="49" charset="-122"/>
            </a:endParaRPr>
          </a:p>
          <a:p>
            <a:pPr marL="720000" lvl="4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</a:pPr>
            <a:r>
              <a:rPr kumimoji="1" lang="zh-CN" altLang="zh-CN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遇宽度结束</a:t>
            </a:r>
          </a:p>
          <a:p>
            <a:pPr marL="720000" lvl="4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</a:pPr>
            <a:r>
              <a:rPr kumimoji="1" lang="zh-CN" altLang="zh-CN" sz="2800" dirty="0">
                <a:solidFill>
                  <a:srgbClr val="3333FF"/>
                </a:solidFill>
                <a:latin typeface="Arial" charset="0"/>
                <a:ea typeface="隶书" pitchFamily="49" charset="-122"/>
              </a:rPr>
              <a:t>遇非法输入</a:t>
            </a:r>
            <a:endParaRPr kumimoji="1" lang="zh-CN" altLang="en-US" sz="2800" dirty="0">
              <a:solidFill>
                <a:srgbClr val="3333FF"/>
              </a:solidFill>
              <a:latin typeface="Arial" charset="0"/>
              <a:ea typeface="隶书" pitchFamily="49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F76B7F-390D-4F48-9B76-670F1DC1B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50" y="2909401"/>
            <a:ext cx="8731250" cy="2582250"/>
          </a:xfrm>
          <a:prstGeom prst="rect">
            <a:avLst/>
          </a:prstGeom>
          <a:noFill/>
          <a:ln w="38100">
            <a:solidFill>
              <a:srgbClr val="00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281113" indent="-2921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1598613" indent="-315913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0558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5130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29702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427413" indent="-315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720000" lvl="4" eaLnBrk="1" hangingPunct="1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000000"/>
                </a:solidFill>
                <a:latin typeface="隶书" pitchFamily="49" charset="-122"/>
              </a:rPr>
              <a:t>如</a:t>
            </a:r>
            <a:r>
              <a:rPr lang="en-US" altLang="zh-CN" sz="2400" b="1" dirty="0">
                <a:solidFill>
                  <a:srgbClr val="000000"/>
                </a:solidFill>
                <a:latin typeface="隶书" pitchFamily="49" charset="-122"/>
              </a:rPr>
              <a:t>    </a:t>
            </a:r>
            <a:r>
              <a:rPr lang="en-US" altLang="zh-CN" sz="2800" b="1" dirty="0">
                <a:solidFill>
                  <a:srgbClr val="000000"/>
                </a:solidFill>
              </a:rPr>
              <a:t>int a, b, d;</a:t>
            </a:r>
          </a:p>
          <a:p>
            <a:pPr marL="720000" lvl="4" eaLnBrk="1" hangingPunct="1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</a:rPr>
              <a:t>         char c;</a:t>
            </a:r>
          </a:p>
          <a:p>
            <a:pPr lvl="4" eaLnBrk="1" hangingPunct="1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</a:rPr>
              <a:t>scanf("%d%d%c%3d", &amp;a, &amp;b, &amp;c, &amp;d);</a:t>
            </a:r>
            <a:endParaRPr lang="en-US" altLang="zh-CN" sz="2800" b="1" dirty="0">
              <a:solidFill>
                <a:srgbClr val="000000"/>
              </a:solidFill>
              <a:latin typeface="隶书" pitchFamily="49" charset="-122"/>
            </a:endParaRPr>
          </a:p>
          <a:p>
            <a:pPr lvl="3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隶书" pitchFamily="49" charset="-122"/>
              </a:rPr>
              <a:t>  </a:t>
            </a:r>
            <a:r>
              <a:rPr lang="zh-CN" altLang="zh-CN" sz="2800" b="1" dirty="0">
                <a:solidFill>
                  <a:srgbClr val="000000"/>
                </a:solidFill>
                <a:latin typeface="隶书" pitchFamily="49" charset="-122"/>
              </a:rPr>
              <a:t>若输入</a:t>
            </a:r>
            <a:r>
              <a:rPr lang="en-US" altLang="zh-CN" sz="2800" b="1" dirty="0">
                <a:solidFill>
                  <a:srgbClr val="000000"/>
                </a:solidFill>
                <a:highlight>
                  <a:srgbClr val="C0C0C0"/>
                </a:highlight>
                <a:latin typeface="隶书" pitchFamily="49" charset="-122"/>
              </a:rPr>
              <a:t>10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C0C0C0"/>
                </a:highlight>
                <a:sym typeface="Wingdings" pitchFamily="2" charset="2"/>
              </a:rPr>
              <a:t>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C0C0C0"/>
                </a:highlight>
                <a:latin typeface="隶书" pitchFamily="49" charset="-122"/>
                <a:sym typeface="Wingdings" pitchFamily="2" charset="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highlight>
                  <a:srgbClr val="C0C0C0"/>
                </a:highlight>
                <a:latin typeface="隶书" pitchFamily="49" charset="-122"/>
                <a:sym typeface="Wingdings 3" pitchFamily="18" charset="2"/>
              </a:rPr>
              <a:t>11A12345</a:t>
            </a:r>
            <a:r>
              <a:rPr lang="en-US" altLang="zh-CN" sz="2800" b="1" dirty="0">
                <a:solidFill>
                  <a:srgbClr val="000000"/>
                </a:solidFill>
                <a:latin typeface="隶书" pitchFamily="49" charset="-122"/>
                <a:sym typeface="Symbol" pitchFamily="18" charset="2"/>
              </a:rPr>
              <a:t>    </a:t>
            </a:r>
          </a:p>
          <a:p>
            <a:pPr lvl="3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sym typeface="Symbol" pitchFamily="18" charset="2"/>
              </a:rPr>
              <a:t>    </a:t>
            </a:r>
            <a:r>
              <a:rPr lang="zh-CN" altLang="zh-CN" sz="2800" b="1" dirty="0">
                <a:solidFill>
                  <a:srgbClr val="000000"/>
                </a:solidFill>
                <a:sym typeface="Symbol" pitchFamily="18" charset="2"/>
              </a:rPr>
              <a:t>则</a:t>
            </a:r>
            <a:r>
              <a:rPr lang="en-US" altLang="zh-CN" sz="2800" b="1" dirty="0">
                <a:solidFill>
                  <a:srgbClr val="000000"/>
                </a:solidFill>
                <a:sym typeface="Symbol" pitchFamily="18" charset="2"/>
              </a:rPr>
              <a:t>a10, </a:t>
            </a:r>
            <a:r>
              <a:rPr lang="en-US" altLang="zh-CN" sz="2400" b="1" dirty="0">
                <a:solidFill>
                  <a:srgbClr val="000000"/>
                </a:solidFill>
                <a:sym typeface="Wingdings" pitchFamily="2" charset="2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sym typeface="Symbol" pitchFamily="18" charset="2"/>
              </a:rPr>
              <a:t>11, c A, d=123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025BDA-6FE3-491A-B5C5-DD562A727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/54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416E03-7F70-4D50-AA55-DB03A1B3E30C}"/>
              </a:ext>
            </a:extLst>
          </p:cNvPr>
          <p:cNvSpPr txBox="1"/>
          <p:nvPr/>
        </p:nvSpPr>
        <p:spPr>
          <a:xfrm>
            <a:off x="4901629" y="43783"/>
            <a:ext cx="536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scanf()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399552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 autoUpdateAnimBg="0"/>
      <p:bldP spid="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D877185-EBE5-4904-A879-24520AC8F72E}"/>
              </a:ext>
            </a:extLst>
          </p:cNvPr>
          <p:cNvSpPr/>
          <p:nvPr/>
        </p:nvSpPr>
        <p:spPr>
          <a:xfrm>
            <a:off x="0" y="719638"/>
            <a:ext cx="1213986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zh-CN" altLang="en-US" sz="2600" b="1" dirty="0">
                <a:latin typeface="隶书" pitchFamily="49" charset="-122"/>
              </a:rPr>
              <a:t>“鸡兔同笼”问题：今有鸡兔同笼，上有三十五头，下有九十四足，问鸡兔各几只？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3CA09B9A-7962-4547-A051-3321ACBD6590}"/>
                  </a:ext>
                </a:extLst>
              </p:cNvPr>
              <p:cNvSpPr/>
              <p:nvPr/>
            </p:nvSpPr>
            <p:spPr>
              <a:xfrm>
                <a:off x="63500" y="1177041"/>
                <a:ext cx="12128500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/>
                <a:r>
                  <a:rPr lang="zh-CN" altLang="en-US" sz="2800" b="1" dirty="0">
                    <a:solidFill>
                      <a:schemeClr val="tx1"/>
                    </a:solidFill>
                    <a:latin typeface="Times New Roman" pitchFamily="18" charset="0"/>
                    <a:ea typeface="隶书" pitchFamily="49" charset="-122"/>
                  </a:rPr>
                  <a:t>分析：设有鸡</a:t>
                </a:r>
                <a14:m>
                  <m:oMath xmlns:m="http://schemas.openxmlformats.org/officeDocument/2006/math">
                    <m:r>
                      <a:rPr lang="en-US" altLang="zh-CN" sz="28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隶书" pitchFamily="49" charset="-122"/>
                      </a:rPr>
                      <m:t>𝒙</m:t>
                    </m:r>
                    <m:r>
                      <a:rPr lang="zh-CN" altLang="en-US" sz="28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隶书" pitchFamily="49" charset="-122"/>
                      </a:rPr>
                      <m:t>只</m:t>
                    </m:r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Times New Roman" pitchFamily="18" charset="0"/>
                    <a:ea typeface="隶书" pitchFamily="49" charset="-122"/>
                  </a:rPr>
                  <a:t>，兔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隶书" pitchFamily="49" charset="-122"/>
                      </a:rPr>
                      <m:t>y</m:t>
                    </m:r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Times New Roman" pitchFamily="18" charset="0"/>
                    <a:ea typeface="隶书" pitchFamily="49" charset="-122"/>
                  </a:rPr>
                  <a:t>只</a:t>
                </a:r>
                <a:r>
                  <a:rPr lang="en-US" altLang="zh-CN" sz="2800" b="1" dirty="0">
                    <a:solidFill>
                      <a:schemeClr val="tx1"/>
                    </a:solidFill>
                    <a:latin typeface="Times New Roman" pitchFamily="18" charset="0"/>
                    <a:ea typeface="隶书" pitchFamily="49" charset="-122"/>
                  </a:rPr>
                  <a:t>,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Times New Roman" pitchFamily="18" charset="0"/>
                    <a:ea typeface="隶书" pitchFamily="49" charset="-122"/>
                  </a:rPr>
                  <a:t>鸡和兔的总头数为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隶书" pitchFamily="49" charset="-122"/>
                      </a:rPr>
                      <m:t>𝒉</m:t>
                    </m:r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Times New Roman" pitchFamily="18" charset="0"/>
                    <a:ea typeface="隶书" pitchFamily="49" charset="-122"/>
                  </a:rPr>
                  <a:t>，总脚数为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隶书" pitchFamily="49" charset="-122"/>
                      </a:rPr>
                      <m:t>𝒇</m:t>
                    </m:r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Times New Roman" pitchFamily="18" charset="0"/>
                    <a:ea typeface="隶书" pitchFamily="49" charset="-122"/>
                  </a:rPr>
                  <a:t>。根据题意可列出以下方程：</a:t>
                </a: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3CA09B9A-7962-4547-A051-3321ACBD65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" y="1177041"/>
                <a:ext cx="12128500" cy="954107"/>
              </a:xfrm>
              <a:prstGeom prst="rect">
                <a:avLst/>
              </a:prstGeom>
              <a:blipFill>
                <a:blip r:embed="rId3"/>
                <a:stretch>
                  <a:fillRect l="-1005" t="-8280" b="-146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6229670-554F-49DA-82B4-4A821E450F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846279"/>
              </p:ext>
            </p:extLst>
          </p:nvPr>
        </p:nvGraphicFramePr>
        <p:xfrm>
          <a:off x="4483099" y="1934665"/>
          <a:ext cx="1976569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" name="Equation" r:id="rId4" imgW="850680" imgH="457200" progId="Equation.DSMT4">
                  <p:embed/>
                </p:oleObj>
              </mc:Choice>
              <mc:Fallback>
                <p:oleObj name="Equation" r:id="rId4" imgW="8506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83099" y="1934665"/>
                        <a:ext cx="1976569" cy="1062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F7FBC46-EE41-40E4-930A-362CC36B5BEF}"/>
              </a:ext>
            </a:extLst>
          </p:cNvPr>
          <p:cNvSpPr/>
          <p:nvPr/>
        </p:nvSpPr>
        <p:spPr>
          <a:xfrm>
            <a:off x="31750" y="3002442"/>
            <a:ext cx="121285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800" b="1" dirty="0">
                <a:latin typeface="Times New Roman" pitchFamily="18" charset="0"/>
                <a:ea typeface="隶书" pitchFamily="49" charset="-122"/>
              </a:rPr>
              <a:t>解方程可得</a:t>
            </a:r>
            <a:r>
              <a:rPr lang="zh-CN" altLang="en-US" sz="2800" b="1" dirty="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rPr>
              <a:t>：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AFEDDDA-9F66-4ABA-AD32-89485C1D6F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179596"/>
              </p:ext>
            </p:extLst>
          </p:nvPr>
        </p:nvGraphicFramePr>
        <p:xfrm>
          <a:off x="4541107" y="3525661"/>
          <a:ext cx="1918561" cy="2042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" name="Equation" r:id="rId6" imgW="787320" imgH="838080" progId="Equation.DSMT4">
                  <p:embed/>
                </p:oleObj>
              </mc:Choice>
              <mc:Fallback>
                <p:oleObj name="Equation" r:id="rId6" imgW="78732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41107" y="3525661"/>
                        <a:ext cx="1918561" cy="20423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BAB553-EDB9-47FA-BFA7-7C890F925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52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9103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4563610-7AC6-4101-8EF7-34410974E9A6}"/>
                  </a:ext>
                </a:extLst>
              </p:cNvPr>
              <p:cNvSpPr/>
              <p:nvPr/>
            </p:nvSpPr>
            <p:spPr>
              <a:xfrm>
                <a:off x="0" y="702602"/>
                <a:ext cx="121285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/>
                <a:r>
                  <a:rPr lang="zh-CN" altLang="en-US" sz="2800" b="1" dirty="0">
                    <a:latin typeface="Times New Roman" pitchFamily="18" charset="0"/>
                    <a:ea typeface="隶书" pitchFamily="49" charset="-122"/>
                  </a:rPr>
                  <a:t>当已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  <a:ea typeface="隶书" pitchFamily="49" charset="-122"/>
                      </a:rPr>
                      <m:t>𝒉</m:t>
                    </m:r>
                  </m:oMath>
                </a14:m>
                <a:r>
                  <a:rPr lang="zh-CN" altLang="en-US" sz="2800" b="1" dirty="0">
                    <a:latin typeface="Times New Roman" pitchFamily="18" charset="0"/>
                    <a:ea typeface="隶书" pitchFamily="49" charset="-122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  <a:ea typeface="隶书" pitchFamily="49" charset="-122"/>
                      </a:rPr>
                      <m:t>𝒇</m:t>
                    </m:r>
                  </m:oMath>
                </a14:m>
                <a:r>
                  <a:rPr lang="zh-CN" altLang="en-US" sz="2800" b="1" dirty="0">
                    <a:latin typeface="Times New Roman" pitchFamily="18" charset="0"/>
                    <a:ea typeface="隶书" pitchFamily="49" charset="-122"/>
                  </a:rPr>
                  <a:t>，即可求得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隶书" pitchFamily="49" charset="-122"/>
                      </a:rPr>
                      <m:t>𝒙</m:t>
                    </m:r>
                  </m:oMath>
                </a14:m>
                <a:r>
                  <a:rPr lang="zh-CN" altLang="en-US" sz="2800" b="1" dirty="0">
                    <a:latin typeface="Times New Roman" pitchFamily="18" charset="0"/>
                    <a:ea typeface="隶书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  <a:ea typeface="隶书" pitchFamily="49" charset="-122"/>
                      </a:rPr>
                      <m:t>𝒚</m:t>
                    </m:r>
                  </m:oMath>
                </a14:m>
                <a:r>
                  <a:rPr lang="zh-CN" altLang="en-US" sz="2800" b="1" dirty="0">
                    <a:latin typeface="Times New Roman" pitchFamily="18" charset="0"/>
                    <a:ea typeface="隶书" pitchFamily="49" charset="-122"/>
                  </a:rPr>
                  <a:t>的值，编写程序如下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Times New Roman" pitchFamily="18" charset="0"/>
                    <a:ea typeface="隶书" pitchFamily="49" charset="-122"/>
                  </a:rPr>
                  <a:t>：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4563610-7AC6-4101-8EF7-34410974E9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02602"/>
                <a:ext cx="12128500" cy="523220"/>
              </a:xfrm>
              <a:prstGeom prst="rect">
                <a:avLst/>
              </a:prstGeom>
              <a:blipFill>
                <a:blip r:embed="rId2"/>
                <a:stretch>
                  <a:fillRect l="-1005" t="-15116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724094C0-1D2D-40B8-845A-C8CCE5E92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" y="1225822"/>
            <a:ext cx="8048626" cy="491719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77F66F2-3784-459A-8B9D-8D124BFFC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2" y="5286313"/>
            <a:ext cx="5023108" cy="1212912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A1D861B-33FA-487A-B3DE-42534E7DA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53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54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0396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6FEE1DF-75B4-4A3F-B5AE-31F82F28A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0274" y="1556659"/>
            <a:ext cx="6891452" cy="2816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altLang="zh-CN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Question</a:t>
            </a:r>
            <a:r>
              <a:rPr lang="zh-CN" altLang="en-US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sz="5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>
              <a:spcBef>
                <a:spcPts val="1800"/>
              </a:spcBef>
            </a:pPr>
            <a:r>
              <a:rPr lang="zh-CN" altLang="en-US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请在班级</a:t>
            </a:r>
            <a:r>
              <a:rPr lang="en-US" altLang="zh-CN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QQ</a:t>
            </a:r>
            <a:r>
              <a:rPr lang="zh-CN" altLang="en-US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群或在上机过程中进行提问吧！</a:t>
            </a:r>
            <a:endParaRPr lang="en-US" altLang="zh-CN" sz="5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8657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封面和目录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3870</TotalTime>
  <Words>5466</Words>
  <Application>Microsoft Office PowerPoint</Application>
  <PresentationFormat>宽屏</PresentationFormat>
  <Paragraphs>833</Paragraphs>
  <Slides>55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79" baseType="lpstr">
      <vt:lpstr>Monotype Sorts</vt:lpstr>
      <vt:lpstr>等线</vt:lpstr>
      <vt:lpstr>等线 Light</vt:lpstr>
      <vt:lpstr>黑体</vt:lpstr>
      <vt:lpstr>华文行楷</vt:lpstr>
      <vt:lpstr>华文新魏</vt:lpstr>
      <vt:lpstr>华文中宋</vt:lpstr>
      <vt:lpstr>楷体_GB2312</vt:lpstr>
      <vt:lpstr>隶书</vt:lpstr>
      <vt:lpstr>宋体</vt:lpstr>
      <vt:lpstr>微软雅黑</vt:lpstr>
      <vt:lpstr>Arial</vt:lpstr>
      <vt:lpstr>Calibri</vt:lpstr>
      <vt:lpstr>Cambria Math</vt:lpstr>
      <vt:lpstr>Consolas</vt:lpstr>
      <vt:lpstr>MT Extra</vt:lpstr>
      <vt:lpstr>Symbol</vt:lpstr>
      <vt:lpstr>Tahoma</vt:lpstr>
      <vt:lpstr>Times New Roman</vt:lpstr>
      <vt:lpstr>Wingdings</vt:lpstr>
      <vt:lpstr>Wingdings 3</vt:lpstr>
      <vt:lpstr>Office 主题​​</vt:lpstr>
      <vt:lpstr>封面和目录​​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WJQ</dc:creator>
  <cp:lastModifiedBy>WJQ</cp:lastModifiedBy>
  <cp:revision>162</cp:revision>
  <dcterms:created xsi:type="dcterms:W3CDTF">2022-05-18T03:53:29Z</dcterms:created>
  <dcterms:modified xsi:type="dcterms:W3CDTF">2023-03-15T03:01:58Z</dcterms:modified>
</cp:coreProperties>
</file>