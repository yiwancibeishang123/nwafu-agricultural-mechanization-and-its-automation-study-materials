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674" r:id="rId2"/>
  </p:sldMasterIdLst>
  <p:notesMasterIdLst>
    <p:notesMasterId r:id="rId38"/>
  </p:notesMasterIdLst>
  <p:sldIdLst>
    <p:sldId id="258" r:id="rId3"/>
    <p:sldId id="259" r:id="rId4"/>
    <p:sldId id="256" r:id="rId5"/>
    <p:sldId id="262" r:id="rId6"/>
    <p:sldId id="266" r:id="rId7"/>
    <p:sldId id="265" r:id="rId8"/>
    <p:sldId id="268" r:id="rId9"/>
    <p:sldId id="269" r:id="rId10"/>
    <p:sldId id="297" r:id="rId11"/>
    <p:sldId id="270" r:id="rId12"/>
    <p:sldId id="271" r:id="rId13"/>
    <p:sldId id="272" r:id="rId14"/>
    <p:sldId id="273" r:id="rId15"/>
    <p:sldId id="274" r:id="rId16"/>
    <p:sldId id="275" r:id="rId17"/>
    <p:sldId id="264" r:id="rId18"/>
    <p:sldId id="279" r:id="rId19"/>
    <p:sldId id="276" r:id="rId20"/>
    <p:sldId id="278" r:id="rId21"/>
    <p:sldId id="260" r:id="rId22"/>
    <p:sldId id="261" r:id="rId23"/>
    <p:sldId id="280" r:id="rId24"/>
    <p:sldId id="281" r:id="rId25"/>
    <p:sldId id="283" r:id="rId26"/>
    <p:sldId id="284" r:id="rId27"/>
    <p:sldId id="285" r:id="rId28"/>
    <p:sldId id="282" r:id="rId29"/>
    <p:sldId id="286" r:id="rId30"/>
    <p:sldId id="288" r:id="rId31"/>
    <p:sldId id="294" r:id="rId32"/>
    <p:sldId id="293" r:id="rId33"/>
    <p:sldId id="289" r:id="rId34"/>
    <p:sldId id="290" r:id="rId35"/>
    <p:sldId id="292" r:id="rId36"/>
    <p:sldId id="295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3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EE425-BF42-4068-87C2-E75EA102A699}" type="datetimeFigureOut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76453-3C94-43D2-B70F-282310072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017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76453-3C94-43D2-B70F-28231007256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365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D8FCAE-9FB0-4A30-B3FE-9D7E3787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D727-98DE-46B4-B991-050C86B4F888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982FBA-F4DB-445D-BAB7-4C15F4CB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2403A-59F3-4AA0-8F78-F5124408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21C891AB-0CB6-49A1-83E5-DB9DF5E67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222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A359-3312-4768-9DC9-9F6946B6A4B0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3.1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顺序结构</a:t>
            </a:r>
          </a:p>
        </p:txBody>
      </p:sp>
    </p:spTree>
    <p:extLst>
      <p:ext uri="{BB962C8B-B14F-4D97-AF65-F5344CB8AC3E}">
        <p14:creationId xmlns:p14="http://schemas.microsoft.com/office/powerpoint/2010/main" val="200854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D48DE-A92E-4A5A-82F9-0C56C578146E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3.2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选择结构</a:t>
            </a:r>
          </a:p>
        </p:txBody>
      </p:sp>
    </p:spTree>
    <p:extLst>
      <p:ext uri="{BB962C8B-B14F-4D97-AF65-F5344CB8AC3E}">
        <p14:creationId xmlns:p14="http://schemas.microsoft.com/office/powerpoint/2010/main" val="15100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0BB63-4A51-43CD-A5CF-9F2535F9D033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3.3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循环结构</a:t>
            </a:r>
          </a:p>
        </p:txBody>
      </p:sp>
    </p:spTree>
    <p:extLst>
      <p:ext uri="{BB962C8B-B14F-4D97-AF65-F5344CB8AC3E}">
        <p14:creationId xmlns:p14="http://schemas.microsoft.com/office/powerpoint/2010/main" val="280202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EB7D9-5451-46ED-941F-204C995ED9BD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3.4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应用举例</a:t>
            </a:r>
          </a:p>
        </p:txBody>
      </p:sp>
    </p:spTree>
    <p:extLst>
      <p:ext uri="{BB962C8B-B14F-4D97-AF65-F5344CB8AC3E}">
        <p14:creationId xmlns:p14="http://schemas.microsoft.com/office/powerpoint/2010/main" val="280284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5DEC0-E952-43DA-95BC-98868677DDA3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490765" y="212568"/>
            <a:ext cx="7145235" cy="387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3.5 </a:t>
            </a:r>
            <a:r>
              <a:rPr lang="zh-CN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案例：基因信息处理</a:t>
            </a:r>
          </a:p>
        </p:txBody>
      </p:sp>
    </p:spTree>
    <p:extLst>
      <p:ext uri="{BB962C8B-B14F-4D97-AF65-F5344CB8AC3E}">
        <p14:creationId xmlns:p14="http://schemas.microsoft.com/office/powerpoint/2010/main" val="614545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74AD4-ABEC-4485-9109-4AE1AAB0B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83F6B7-5C12-4E4E-9073-580CA6A41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D7BC1-B809-427C-9F08-510A0466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A13C-27C1-4652-88B9-A2D57E9FCD51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4B585E-11DE-411B-9226-2007BA33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1E87E3-3726-463C-BE2B-B558CD0A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第</a:t>
            </a:r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zh-CN" altLang="en-US" dirty="0"/>
              <a:t>页，共</a:t>
            </a:r>
            <a:r>
              <a:rPr lang="en-US" altLang="zh-CN" dirty="0"/>
              <a:t>30</a:t>
            </a:r>
            <a:r>
              <a:rPr lang="zh-CN" altLang="en-US" dirty="0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60990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EB9E2-C450-47A8-A070-C84B3E169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6C178-61D5-475A-92D0-6FE43A909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87448E-A19A-4D08-9F63-676999401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DA0B2-726B-457C-B389-87A132EF2AF7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7C253-9065-4B49-AC33-40A8A2CD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F778CF-3F9A-4D9C-AEFB-1138D1787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第</a:t>
            </a:r>
            <a:fld id="{2FA56C3F-F0F5-411B-954C-A2CFDC009DCE}" type="slidenum">
              <a:rPr lang="zh-CN" altLang="en-US" smtClean="0"/>
              <a:pPr/>
              <a:t>‹#›</a:t>
            </a:fld>
            <a:r>
              <a:rPr lang="zh-CN" altLang="en-US" dirty="0"/>
              <a:t>页，共</a:t>
            </a:r>
            <a:r>
              <a:rPr lang="en-US" altLang="zh-CN" dirty="0"/>
              <a:t>30</a:t>
            </a:r>
            <a:r>
              <a:rPr lang="zh-CN" altLang="en-US" dirty="0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50259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B1310-1A44-48D4-892F-24533F54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2CA674-3E89-404D-AA3A-E868A1B05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5BBCEA-3375-4D2D-B9E1-379CB790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7CF3B-A81C-4F29-A075-C8F7F6FF9873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C48294-AC7E-42E0-8D1E-1C999923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0EBAF8-F76E-411F-9A2A-9733F2A8F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88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BAC20-CA2A-4C18-8402-5BA522831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92BEE-0382-41FD-9A45-E74EA7E63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B555AA-23E9-4B88-B631-DFC927C3B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7E48C7-F411-4AB4-A507-487EE211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AED-3070-48F0-A6EF-7642C88281E9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D71B4C-5F2B-4E30-8242-5CEFAA0E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2D771C-A0E3-44B3-B5E2-B88352CE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00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BF824-47E5-4895-AC55-60DAEF4E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0100"/>
            <a:ext cx="10515600" cy="823912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075336-BDB4-47C1-A61C-8B723885C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30ED25-EC93-42FC-BF5E-F0792C724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861F66-EBC8-4197-B543-F620403FA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E16E24-B549-438C-8C81-41A92A023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11A5AA-4A79-45C7-9D86-A03ECF8F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FE0C9-4A97-44E7-9213-EC69521D490E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2F7098-7947-4E53-A9AC-CC953797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FCE883-2C8A-4773-B3DD-76F57611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11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81F315-15CF-4F24-B2C6-0B5210ED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9150"/>
            <a:ext cx="10515600" cy="87153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58A7ED-2843-4FFB-9319-3B46B0CC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992D-BE8A-4909-B503-CFE5ABA68E28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F55942-357E-4A3E-A232-70DACE9B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FB4F34-C7D5-43BB-AED7-6EC34FE6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509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CDAFB-415E-4AC6-9360-019C0E570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47724"/>
            <a:ext cx="3932237" cy="12096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44F90-2B3F-428E-969E-57B07A694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847725"/>
            <a:ext cx="6172200" cy="50133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D96DF2-0BD2-45EC-9813-593930721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66C782-FD0C-48A3-956A-80A343DB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31BD-7935-476A-B04E-BEBB4D2F0800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4B88A7-4A15-42F8-8937-61508769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908464-7DBC-45AC-8201-DE0C2DBB7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141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959B7-240A-440C-A694-FAA58C73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E7A531-93E7-47E5-8D8A-7E4689D13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67025A-5FF7-4210-9C63-3B4C50AF9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0836E2-F1D0-4D62-B64E-9BAA3610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F6D19-00B9-4EC6-9065-F3BFFA0FD0EA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A5121E-A953-4F21-A73A-64F892D8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B3BC5F-3C5E-452A-AF6C-E40B0A85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174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3359D-6FC8-48ED-8BCF-54450B4D1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9150"/>
            <a:ext cx="10515600" cy="8715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C3A34-15A1-46D5-8CD5-71A387CD5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48492-6DB5-4CF1-8F9D-5A9CFCC6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241C-DB4A-46E1-9C64-D46F48C4405A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57DAC6-B655-4BF5-A955-6D622CBF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002F96-4A72-4DD2-B3E9-B893B848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247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1AEE16-01E3-43EC-BC25-37934156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6245"/>
            <a:ext cx="2628900" cy="53407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88E6E2-76C5-4659-8E75-14D8BFF92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6245"/>
            <a:ext cx="7734300" cy="53407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2BD946-8A09-4235-8744-79EC6366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84434-857D-4A60-880B-993ABC783EA2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3F3E54-4815-4109-B7F2-744E4C44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D44857-0F28-459B-BA4E-04E04401D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6360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46A57981-622F-4C85-AAC3-86D82916A7C7}"/>
              </a:ext>
            </a:extLst>
          </p:cNvPr>
          <p:cNvGrpSpPr/>
          <p:nvPr userDrawn="1"/>
        </p:nvGrpSpPr>
        <p:grpSpPr>
          <a:xfrm>
            <a:off x="0" y="1354137"/>
            <a:ext cx="12191999" cy="2904016"/>
            <a:chOff x="1856581" y="1077913"/>
            <a:chExt cx="9145588" cy="2799223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5F3B009-7F7D-4A6B-90A7-EAC230DAC673}"/>
                </a:ext>
              </a:extLst>
            </p:cNvPr>
            <p:cNvGrpSpPr/>
            <p:nvPr userDrawn="1"/>
          </p:nvGrpSpPr>
          <p:grpSpPr>
            <a:xfrm>
              <a:off x="1856581" y="1077913"/>
              <a:ext cx="9145588" cy="2798762"/>
              <a:chOff x="0" y="1487488"/>
              <a:chExt cx="9145588" cy="2798762"/>
            </a:xfrm>
          </p:grpSpPr>
          <p:sp>
            <p:nvSpPr>
              <p:cNvPr id="6" name="矩形 4">
                <a:extLst>
                  <a:ext uri="{FF2B5EF4-FFF2-40B4-BE49-F238E27FC236}">
                    <a16:creationId xmlns:a16="http://schemas.microsoft.com/office/drawing/2014/main" id="{3A9F79D7-EE70-44C6-87A7-3A5349DBDB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588" y="1625600"/>
                <a:ext cx="9144000" cy="2484438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EBB45569-6700-4093-9D14-557B47137C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4232275"/>
                <a:ext cx="9144000" cy="53975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8" name="矩形 6">
                <a:extLst>
                  <a:ext uri="{FF2B5EF4-FFF2-40B4-BE49-F238E27FC236}">
                    <a16:creationId xmlns:a16="http://schemas.microsoft.com/office/drawing/2014/main" id="{EAA0AD1C-D43A-4CDC-9212-0D5DC7E602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87488"/>
                <a:ext cx="9144000" cy="53975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</p:grpSp>
        <p:sp>
          <p:nvSpPr>
            <p:cNvPr id="10" name="WordArt 8">
              <a:extLst>
                <a:ext uri="{FF2B5EF4-FFF2-40B4-BE49-F238E27FC236}">
                  <a16:creationId xmlns:a16="http://schemas.microsoft.com/office/drawing/2014/main" id="{CB95522C-BFEF-4FEE-99E2-3D87100C4D60}"/>
                </a:ext>
              </a:extLst>
            </p:cNvPr>
            <p:cNvSpPr>
              <a:spLocks noChangeArrowheads="1" noChangeShapeType="1" noTextEdit="1"/>
            </p:cNvSpPr>
            <p:nvPr userDrawn="1"/>
          </p:nvSpPr>
          <p:spPr bwMode="auto">
            <a:xfrm>
              <a:off x="2581568" y="2508711"/>
              <a:ext cx="7848600" cy="1368425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0800000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en-US" altLang="zh-CN" sz="3600" kern="10" dirty="0">
                  <a:ln w="12700">
                    <a:solidFill>
                      <a:srgbClr val="EAEAEA"/>
                    </a:solidFill>
                    <a:round/>
                    <a:headEnd type="none" w="sm" len="sm"/>
                    <a:tailEnd type="none" w="sm" len="sm"/>
                  </a:ln>
                  <a:gradFill rotWithShape="0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80000"/>
                      </a:srgbClr>
                    </a:outerShdw>
                  </a:effectLst>
                  <a:latin typeface="华文行楷"/>
                  <a:ea typeface="华文行楷"/>
                </a:rPr>
                <a:t>C</a:t>
              </a:r>
              <a:r>
                <a:rPr lang="zh-CN" altLang="en-US" sz="3600" kern="10" dirty="0">
                  <a:ln w="12700">
                    <a:solidFill>
                      <a:srgbClr val="EAEAEA"/>
                    </a:solidFill>
                    <a:round/>
                    <a:headEnd type="none" w="sm" len="sm"/>
                    <a:tailEnd type="none" w="sm" len="sm"/>
                  </a:ln>
                  <a:gradFill rotWithShape="0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80000"/>
                      </a:srgbClr>
                    </a:outerShdw>
                  </a:effectLst>
                  <a:latin typeface="华文行楷"/>
                  <a:ea typeface="华文行楷"/>
                </a:rPr>
                <a:t>语言程序设计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7101706-0246-4D72-A2BC-98A80CFACEB4}"/>
              </a:ext>
            </a:extLst>
          </p:cNvPr>
          <p:cNvGrpSpPr/>
          <p:nvPr userDrawn="1"/>
        </p:nvGrpSpPr>
        <p:grpSpPr>
          <a:xfrm>
            <a:off x="-1" y="4685984"/>
            <a:ext cx="12192001" cy="1315043"/>
            <a:chOff x="1637409" y="5066644"/>
            <a:chExt cx="6737987" cy="1315043"/>
          </a:xfrm>
        </p:grpSpPr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99BD6CD0-C9AC-44D9-B12D-81931EEEE37F}"/>
                </a:ext>
              </a:extLst>
            </p:cNvPr>
            <p:cNvSpPr txBox="1"/>
            <p:nvPr/>
          </p:nvSpPr>
          <p:spPr>
            <a:xfrm>
              <a:off x="1637409" y="5066644"/>
              <a:ext cx="67368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Arial" pitchFamily="34" charset="0"/>
                  <a:ea typeface="宋体" pitchFamily="2" charset="-122"/>
                </a:rPr>
                <a:t>主讲：吴锦桥</a:t>
              </a:r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E2549B70-5E95-4C4F-A488-F377B7D57E38}"/>
                </a:ext>
              </a:extLst>
            </p:cNvPr>
            <p:cNvSpPr txBox="1"/>
            <p:nvPr/>
          </p:nvSpPr>
          <p:spPr>
            <a:xfrm>
              <a:off x="1638581" y="5858467"/>
              <a:ext cx="67368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西北农林科技大学 信息工程学院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AD9F945-ED18-412B-ADFB-CA000B285FB1}"/>
              </a:ext>
            </a:extLst>
          </p:cNvPr>
          <p:cNvGrpSpPr/>
          <p:nvPr userDrawn="1"/>
        </p:nvGrpSpPr>
        <p:grpSpPr>
          <a:xfrm>
            <a:off x="0" y="6567544"/>
            <a:ext cx="12192000" cy="290456"/>
            <a:chOff x="0" y="6567544"/>
            <a:chExt cx="12192000" cy="290456"/>
          </a:xfrm>
        </p:grpSpPr>
        <p:sp>
          <p:nvSpPr>
            <p:cNvPr id="15" name="梯形 14">
              <a:extLst>
                <a:ext uri="{FF2B5EF4-FFF2-40B4-BE49-F238E27FC236}">
                  <a16:creationId xmlns:a16="http://schemas.microsoft.com/office/drawing/2014/main" id="{D7F3770B-929D-4134-ABD8-02B82F6E9969}"/>
                </a:ext>
              </a:extLst>
            </p:cNvPr>
            <p:cNvSpPr/>
            <p:nvPr userDrawn="1"/>
          </p:nvSpPr>
          <p:spPr>
            <a:xfrm>
              <a:off x="3058085" y="6567544"/>
              <a:ext cx="6279777" cy="290456"/>
            </a:xfrm>
            <a:prstGeom prst="trapezoid">
              <a:avLst/>
            </a:prstGeom>
            <a:solidFill>
              <a:srgbClr val="00A3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928126A-0445-4067-A91E-6E9403A4BC26}"/>
                </a:ext>
              </a:extLst>
            </p:cNvPr>
            <p:cNvSpPr/>
            <p:nvPr userDrawn="1"/>
          </p:nvSpPr>
          <p:spPr>
            <a:xfrm>
              <a:off x="0" y="6669741"/>
              <a:ext cx="12192000" cy="188259"/>
            </a:xfrm>
            <a:prstGeom prst="rect">
              <a:avLst/>
            </a:prstGeom>
            <a:solidFill>
              <a:srgbClr val="056A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1DA33834-D47B-4A39-AFBF-0707B98EF227}"/>
              </a:ext>
            </a:extLst>
          </p:cNvPr>
          <p:cNvSpPr/>
          <p:nvPr userDrawn="1"/>
        </p:nvSpPr>
        <p:spPr>
          <a:xfrm>
            <a:off x="0" y="0"/>
            <a:ext cx="12192000" cy="51099"/>
          </a:xfrm>
          <a:prstGeom prst="rect">
            <a:avLst/>
          </a:prstGeom>
          <a:solidFill>
            <a:srgbClr val="00A3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471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>
            <a:extLst>
              <a:ext uri="{FF2B5EF4-FFF2-40B4-BE49-F238E27FC236}">
                <a16:creationId xmlns:a16="http://schemas.microsoft.com/office/drawing/2014/main" id="{A406FEC5-3B86-47F4-9DE8-AD14B42FD340}"/>
              </a:ext>
            </a:extLst>
          </p:cNvPr>
          <p:cNvSpPr/>
          <p:nvPr userDrawn="1"/>
        </p:nvSpPr>
        <p:spPr>
          <a:xfrm rot="10800000">
            <a:off x="1867" y="0"/>
            <a:ext cx="4715435" cy="6858000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00B0F0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D46F347A-A251-4B8B-B4C7-ED6BAEA25E8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318000" y="990600"/>
            <a:ext cx="115888" cy="4679950"/>
          </a:xfrm>
          <a:custGeom>
            <a:avLst/>
            <a:gdLst>
              <a:gd name="T0" fmla="*/ 0 w 153"/>
              <a:gd name="T1" fmla="*/ 0 h 6522"/>
              <a:gd name="T2" fmla="*/ 2147483647 w 153"/>
              <a:gd name="T3" fmla="*/ 0 h 6522"/>
              <a:gd name="T4" fmla="*/ 2147483647 w 153"/>
              <a:gd name="T5" fmla="*/ 2147483647 h 6522"/>
              <a:gd name="T6" fmla="*/ 0 w 153"/>
              <a:gd name="T7" fmla="*/ 2147483647 h 6522"/>
              <a:gd name="T8" fmla="*/ 0 w 153"/>
              <a:gd name="T9" fmla="*/ 0 h 6522"/>
              <a:gd name="T10" fmla="*/ 2147483647 w 153"/>
              <a:gd name="T11" fmla="*/ 0 h 6522"/>
              <a:gd name="T12" fmla="*/ 2147483647 w 153"/>
              <a:gd name="T13" fmla="*/ 0 h 6522"/>
              <a:gd name="T14" fmla="*/ 2147483647 w 153"/>
              <a:gd name="T15" fmla="*/ 2147483647 h 6522"/>
              <a:gd name="T16" fmla="*/ 2147483647 w 153"/>
              <a:gd name="T17" fmla="*/ 2147483647 h 6522"/>
              <a:gd name="T18" fmla="*/ 2147483647 w 153"/>
              <a:gd name="T19" fmla="*/ 0 h 652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rgbClr val="2E2C2C"/>
          </a:solidFill>
          <a:ln w="9525">
            <a:noFill/>
            <a:round/>
          </a:ln>
        </p:spPr>
        <p:txBody>
          <a:bodyPr/>
          <a:lstStyle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F942DE91-6A52-4F3E-B751-25D294D178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27052" y="930536"/>
            <a:ext cx="503236" cy="504825"/>
          </a:xfrm>
          <a:prstGeom prst="ellipse">
            <a:avLst/>
          </a:pr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>
              <a:defRPr/>
            </a:pPr>
            <a:endParaRPr lang="zh-CN" altLang="en-US" sz="2800" kern="0">
              <a:solidFill>
                <a:sysClr val="windowText" lastClr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866AD108-1623-41DA-B8B2-0EF3D74F8E58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547071" y="3558216"/>
            <a:ext cx="3488537" cy="1412865"/>
          </a:xfrm>
          <a:prstGeom prst="rect">
            <a:avLst/>
          </a:prstGeom>
        </p:spPr>
        <p:txBody>
          <a:bodyPr/>
          <a:lstStyle>
            <a:lvl1pPr marL="227013" indent="-227013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itchFamily="34" charset="0"/>
              </a:defRPr>
            </a:lvl1pPr>
            <a:lvl2pPr marL="6842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2pPr>
            <a:lvl3pPr marL="11414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3pPr>
            <a:lvl4pPr marL="15986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4pPr>
            <a:lvl5pPr marL="20558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5pPr>
            <a:lvl6pPr marL="25146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6pPr>
            <a:lvl7pPr marL="2971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7pPr>
            <a:lvl8pPr marL="3429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8pPr>
            <a:lvl9pPr marL="3886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9pPr>
          </a:lstStyle>
          <a:p>
            <a:pPr marL="0" indent="0" algn="ctr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第</a:t>
            </a:r>
            <a:r>
              <a:rPr lang="en-US" altLang="zh-CN" sz="3200" b="1" dirty="0">
                <a:solidFill>
                  <a:srgbClr val="000000"/>
                </a:solidFill>
                <a:latin typeface="Calibri"/>
                <a:ea typeface="宋体"/>
              </a:rPr>
              <a:t>3</a:t>
            </a: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章 </a:t>
            </a:r>
            <a:endParaRPr lang="en-US" altLang="zh-CN" sz="3200" b="1" dirty="0">
              <a:solidFill>
                <a:srgbClr val="000000"/>
              </a:solidFill>
              <a:latin typeface="Calibri"/>
              <a:ea typeface="宋体"/>
            </a:endParaRPr>
          </a:p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程序设计基本结构</a:t>
            </a:r>
            <a:endParaRPr lang="en-US" altLang="zh-CN" sz="3200" b="1" dirty="0">
              <a:solidFill>
                <a:srgbClr val="3366FF"/>
              </a:solidFill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9832B8B-E77D-459B-A122-A63E215FEC28}"/>
              </a:ext>
            </a:extLst>
          </p:cNvPr>
          <p:cNvGrpSpPr/>
          <p:nvPr userDrawn="1"/>
        </p:nvGrpSpPr>
        <p:grpSpPr>
          <a:xfrm>
            <a:off x="4503375" y="977212"/>
            <a:ext cx="5634004" cy="623887"/>
            <a:chOff x="4577557" y="1037605"/>
            <a:chExt cx="5634004" cy="623887"/>
          </a:xfrm>
        </p:grpSpPr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D94ABC20-F180-44D3-B7BA-04431E5E5C0F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顺序结构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40" name="组合 58">
              <a:extLst>
                <a:ext uri="{FF2B5EF4-FFF2-40B4-BE49-F238E27FC236}">
                  <a16:creationId xmlns:a16="http://schemas.microsoft.com/office/drawing/2014/main" id="{A5C29670-9CA9-4E79-9EEC-B9217AF473A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41" name="Oval 16">
                <a:extLst>
                  <a:ext uri="{FF2B5EF4-FFF2-40B4-BE49-F238E27FC236}">
                    <a16:creationId xmlns:a16="http://schemas.microsoft.com/office/drawing/2014/main" id="{DC967EB6-C997-4E3D-8C9C-A7CCAA06A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2" name="TextBox 60">
                <a:extLst>
                  <a:ext uri="{FF2B5EF4-FFF2-40B4-BE49-F238E27FC236}">
                    <a16:creationId xmlns:a16="http://schemas.microsoft.com/office/drawing/2014/main" id="{AE26040D-EBCE-413F-93C8-3B0DFEDFD5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3.1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9D3DAC6-3986-43E5-AEAF-A1BB0DEACD75}"/>
              </a:ext>
            </a:extLst>
          </p:cNvPr>
          <p:cNvGrpSpPr/>
          <p:nvPr userDrawn="1"/>
        </p:nvGrpSpPr>
        <p:grpSpPr>
          <a:xfrm>
            <a:off x="4504535" y="3000719"/>
            <a:ext cx="5634004" cy="623887"/>
            <a:chOff x="4577557" y="1037605"/>
            <a:chExt cx="5634004" cy="623887"/>
          </a:xfrm>
        </p:grpSpPr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E73125C3-7C2A-4C40-BE23-CB648477AC7F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循环结构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45" name="组合 58">
              <a:extLst>
                <a:ext uri="{FF2B5EF4-FFF2-40B4-BE49-F238E27FC236}">
                  <a16:creationId xmlns:a16="http://schemas.microsoft.com/office/drawing/2014/main" id="{59003EA9-49AB-4922-BA31-6D62EF448EA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46" name="Oval 16">
                <a:extLst>
                  <a:ext uri="{FF2B5EF4-FFF2-40B4-BE49-F238E27FC236}">
                    <a16:creationId xmlns:a16="http://schemas.microsoft.com/office/drawing/2014/main" id="{65B5D404-033B-4504-B22E-F52048E9D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7" name="TextBox 60">
                <a:extLst>
                  <a:ext uri="{FF2B5EF4-FFF2-40B4-BE49-F238E27FC236}">
                    <a16:creationId xmlns:a16="http://schemas.microsoft.com/office/drawing/2014/main" id="{3BE31F55-8A87-41CD-8BF1-A60F8DBF26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3.3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792780C-9CE0-42EC-B045-F8CBE82ABF40}"/>
              </a:ext>
            </a:extLst>
          </p:cNvPr>
          <p:cNvGrpSpPr/>
          <p:nvPr userDrawn="1"/>
        </p:nvGrpSpPr>
        <p:grpSpPr>
          <a:xfrm>
            <a:off x="4507249" y="1969726"/>
            <a:ext cx="5620512" cy="623887"/>
            <a:chOff x="4557319" y="1009525"/>
            <a:chExt cx="5620512" cy="623887"/>
          </a:xfrm>
        </p:grpSpPr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04A00366-013D-4D06-BA40-3B2FB9036D5A}"/>
                </a:ext>
              </a:extLst>
            </p:cNvPr>
            <p:cNvSpPr/>
            <p:nvPr userDrawn="1"/>
          </p:nvSpPr>
          <p:spPr bwMode="auto">
            <a:xfrm>
              <a:off x="4557319" y="100952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选择结构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50" name="组合 58">
              <a:extLst>
                <a:ext uri="{FF2B5EF4-FFF2-40B4-BE49-F238E27FC236}">
                  <a16:creationId xmlns:a16="http://schemas.microsoft.com/office/drawing/2014/main" id="{53161A28-6C61-43A6-8EA4-15607B71986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51" name="Oval 16">
                <a:extLst>
                  <a:ext uri="{FF2B5EF4-FFF2-40B4-BE49-F238E27FC236}">
                    <a16:creationId xmlns:a16="http://schemas.microsoft.com/office/drawing/2014/main" id="{DD29CE8A-EBF4-4208-98EE-994EE4B36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52" name="TextBox 60">
                <a:extLst>
                  <a:ext uri="{FF2B5EF4-FFF2-40B4-BE49-F238E27FC236}">
                    <a16:creationId xmlns:a16="http://schemas.microsoft.com/office/drawing/2014/main" id="{A26075A2-4977-4D86-8EFD-B0504A3442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3.2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24F53E3-60E3-4124-8888-4E808956FB44}"/>
              </a:ext>
            </a:extLst>
          </p:cNvPr>
          <p:cNvGrpSpPr/>
          <p:nvPr userDrawn="1"/>
        </p:nvGrpSpPr>
        <p:grpSpPr>
          <a:xfrm>
            <a:off x="4496645" y="4015670"/>
            <a:ext cx="5634004" cy="623887"/>
            <a:chOff x="4577557" y="1037605"/>
            <a:chExt cx="5634004" cy="623887"/>
          </a:xfrm>
        </p:grpSpPr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4732B8E0-0DFF-4E96-A5BF-481059C4052C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应用举例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55" name="组合 58">
              <a:extLst>
                <a:ext uri="{FF2B5EF4-FFF2-40B4-BE49-F238E27FC236}">
                  <a16:creationId xmlns:a16="http://schemas.microsoft.com/office/drawing/2014/main" id="{90E9BF9A-F17B-43B4-B1E4-6BDE9FA4687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56" name="Oval 16">
                <a:extLst>
                  <a:ext uri="{FF2B5EF4-FFF2-40B4-BE49-F238E27FC236}">
                    <a16:creationId xmlns:a16="http://schemas.microsoft.com/office/drawing/2014/main" id="{33397C70-D582-4664-BFFF-3A46DC4F3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57" name="TextBox 60">
                <a:extLst>
                  <a:ext uri="{FF2B5EF4-FFF2-40B4-BE49-F238E27FC236}">
                    <a16:creationId xmlns:a16="http://schemas.microsoft.com/office/drawing/2014/main" id="{2591B598-5DF4-4F50-AE0E-A00FD6763E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3.4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ED3FD84-10C2-4DD1-976E-9E4B2CFFA669}"/>
              </a:ext>
            </a:extLst>
          </p:cNvPr>
          <p:cNvGrpSpPr/>
          <p:nvPr userDrawn="1"/>
        </p:nvGrpSpPr>
        <p:grpSpPr>
          <a:xfrm>
            <a:off x="4486517" y="5046663"/>
            <a:ext cx="5634004" cy="623887"/>
            <a:chOff x="4577557" y="1037605"/>
            <a:chExt cx="5634004" cy="623887"/>
          </a:xfrm>
        </p:grpSpPr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A5D2941C-3666-4674-A44F-5ED8322DEBA6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案例：基因信息处理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60" name="组合 58">
              <a:extLst>
                <a:ext uri="{FF2B5EF4-FFF2-40B4-BE49-F238E27FC236}">
                  <a16:creationId xmlns:a16="http://schemas.microsoft.com/office/drawing/2014/main" id="{D7A5A2D9-F643-4267-88EA-AF1A1B351A5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77CC0453-D257-4869-B188-605400751F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62" name="TextBox 60">
                <a:extLst>
                  <a:ext uri="{FF2B5EF4-FFF2-40B4-BE49-F238E27FC236}">
                    <a16:creationId xmlns:a16="http://schemas.microsoft.com/office/drawing/2014/main" id="{4F7D6541-09B4-4488-8E7D-ED9C192995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3.5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90E7AC5B-1CE7-461E-A939-4AD980DF3D78}"/>
              </a:ext>
            </a:extLst>
          </p:cNvPr>
          <p:cNvGrpSpPr/>
          <p:nvPr userDrawn="1"/>
        </p:nvGrpSpPr>
        <p:grpSpPr>
          <a:xfrm>
            <a:off x="1812726" y="977212"/>
            <a:ext cx="2239963" cy="1047750"/>
            <a:chOff x="988824" y="2510466"/>
            <a:chExt cx="2239963" cy="1047750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460FAA0-5572-4ED6-AC94-D5D65C2A05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77849" y="3331203"/>
              <a:ext cx="1147763" cy="227013"/>
            </a:xfrm>
            <a:custGeom>
              <a:avLst/>
              <a:gdLst>
                <a:gd name="T0" fmla="*/ 2147483647 w 2195"/>
                <a:gd name="T1" fmla="*/ 2147483647 h 445"/>
                <a:gd name="T2" fmla="*/ 2147483647 w 2195"/>
                <a:gd name="T3" fmla="*/ 2147483647 h 445"/>
                <a:gd name="T4" fmla="*/ 2147483647 w 2195"/>
                <a:gd name="T5" fmla="*/ 2147483647 h 445"/>
                <a:gd name="T6" fmla="*/ 2147483647 w 2195"/>
                <a:gd name="T7" fmla="*/ 2147483647 h 445"/>
                <a:gd name="T8" fmla="*/ 2147483647 w 2195"/>
                <a:gd name="T9" fmla="*/ 2147483647 h 445"/>
                <a:gd name="T10" fmla="*/ 2147483647 w 2195"/>
                <a:gd name="T11" fmla="*/ 2147483647 h 445"/>
                <a:gd name="T12" fmla="*/ 2147483647 w 2195"/>
                <a:gd name="T13" fmla="*/ 2147483647 h 445"/>
                <a:gd name="T14" fmla="*/ 2147483647 w 2195"/>
                <a:gd name="T15" fmla="*/ 2147483647 h 445"/>
                <a:gd name="T16" fmla="*/ 2147483647 w 2195"/>
                <a:gd name="T17" fmla="*/ 2147483647 h 445"/>
                <a:gd name="T18" fmla="*/ 2147483647 w 2195"/>
                <a:gd name="T19" fmla="*/ 2147483647 h 445"/>
                <a:gd name="T20" fmla="*/ 2147483647 w 2195"/>
                <a:gd name="T21" fmla="*/ 2147483647 h 445"/>
                <a:gd name="T22" fmla="*/ 2147483647 w 2195"/>
                <a:gd name="T23" fmla="*/ 2147483647 h 445"/>
                <a:gd name="T24" fmla="*/ 2147483647 w 2195"/>
                <a:gd name="T25" fmla="*/ 2147483647 h 445"/>
                <a:gd name="T26" fmla="*/ 2147483647 w 2195"/>
                <a:gd name="T27" fmla="*/ 2147483647 h 445"/>
                <a:gd name="T28" fmla="*/ 2147483647 w 2195"/>
                <a:gd name="T29" fmla="*/ 2147483647 h 445"/>
                <a:gd name="T30" fmla="*/ 2147483647 w 2195"/>
                <a:gd name="T31" fmla="*/ 2147483647 h 445"/>
                <a:gd name="T32" fmla="*/ 2147483647 w 2195"/>
                <a:gd name="T33" fmla="*/ 2147483647 h 445"/>
                <a:gd name="T34" fmla="*/ 2147483647 w 2195"/>
                <a:gd name="T35" fmla="*/ 2147483647 h 445"/>
                <a:gd name="T36" fmla="*/ 2147483647 w 2195"/>
                <a:gd name="T37" fmla="*/ 2147483647 h 445"/>
                <a:gd name="T38" fmla="*/ 2147483647 w 2195"/>
                <a:gd name="T39" fmla="*/ 2147483647 h 445"/>
                <a:gd name="T40" fmla="*/ 2147483647 w 2195"/>
                <a:gd name="T41" fmla="*/ 2147483647 h 445"/>
                <a:gd name="T42" fmla="*/ 2147483647 w 2195"/>
                <a:gd name="T43" fmla="*/ 2147483647 h 445"/>
                <a:gd name="T44" fmla="*/ 2147483647 w 2195"/>
                <a:gd name="T45" fmla="*/ 2147483647 h 445"/>
                <a:gd name="T46" fmla="*/ 2147483647 w 2195"/>
                <a:gd name="T47" fmla="*/ 2147483647 h 445"/>
                <a:gd name="T48" fmla="*/ 2147483647 w 2195"/>
                <a:gd name="T49" fmla="*/ 2147483647 h 445"/>
                <a:gd name="T50" fmla="*/ 2147483647 w 2195"/>
                <a:gd name="T51" fmla="*/ 2147483647 h 445"/>
                <a:gd name="T52" fmla="*/ 2147483647 w 2195"/>
                <a:gd name="T53" fmla="*/ 2147483647 h 445"/>
                <a:gd name="T54" fmla="*/ 2147483647 w 2195"/>
                <a:gd name="T55" fmla="*/ 2147483647 h 445"/>
                <a:gd name="T56" fmla="*/ 2147483647 w 2195"/>
                <a:gd name="T57" fmla="*/ 2147483647 h 445"/>
                <a:gd name="T58" fmla="*/ 2147483647 w 2195"/>
                <a:gd name="T59" fmla="*/ 2147483647 h 445"/>
                <a:gd name="T60" fmla="*/ 2147483647 w 2195"/>
                <a:gd name="T61" fmla="*/ 2147483647 h 445"/>
                <a:gd name="T62" fmla="*/ 2147483647 w 2195"/>
                <a:gd name="T63" fmla="*/ 2147483647 h 445"/>
                <a:gd name="T64" fmla="*/ 2147483647 w 2195"/>
                <a:gd name="T65" fmla="*/ 2147483647 h 445"/>
                <a:gd name="T66" fmla="*/ 2147483647 w 2195"/>
                <a:gd name="T67" fmla="*/ 2147483647 h 445"/>
                <a:gd name="T68" fmla="*/ 2147483647 w 2195"/>
                <a:gd name="T69" fmla="*/ 2147483647 h 445"/>
                <a:gd name="T70" fmla="*/ 2147483647 w 2195"/>
                <a:gd name="T71" fmla="*/ 2147483647 h 445"/>
                <a:gd name="T72" fmla="*/ 2147483647 w 2195"/>
                <a:gd name="T73" fmla="*/ 2147483647 h 445"/>
                <a:gd name="T74" fmla="*/ 2147483647 w 2195"/>
                <a:gd name="T75" fmla="*/ 2147483647 h 445"/>
                <a:gd name="T76" fmla="*/ 2147483647 w 2195"/>
                <a:gd name="T77" fmla="*/ 2147483647 h 445"/>
                <a:gd name="T78" fmla="*/ 2147483647 w 2195"/>
                <a:gd name="T79" fmla="*/ 2147483647 h 445"/>
                <a:gd name="T80" fmla="*/ 2147483647 w 2195"/>
                <a:gd name="T81" fmla="*/ 2147483647 h 445"/>
                <a:gd name="T82" fmla="*/ 2147483647 w 2195"/>
                <a:gd name="T83" fmla="*/ 2147483647 h 445"/>
                <a:gd name="T84" fmla="*/ 2147483647 w 2195"/>
                <a:gd name="T85" fmla="*/ 2147483647 h 445"/>
                <a:gd name="T86" fmla="*/ 2147483647 w 2195"/>
                <a:gd name="T87" fmla="*/ 2147483647 h 445"/>
                <a:gd name="T88" fmla="*/ 2147483647 w 2195"/>
                <a:gd name="T89" fmla="*/ 2147483647 h 445"/>
                <a:gd name="T90" fmla="*/ 2147483647 w 2195"/>
                <a:gd name="T91" fmla="*/ 2147483647 h 445"/>
                <a:gd name="T92" fmla="*/ 2147483647 w 2195"/>
                <a:gd name="T93" fmla="*/ 2147483647 h 445"/>
                <a:gd name="T94" fmla="*/ 2147483647 w 2195"/>
                <a:gd name="T95" fmla="*/ 2147483647 h 445"/>
                <a:gd name="T96" fmla="*/ 2147483647 w 2195"/>
                <a:gd name="T97" fmla="*/ 2147483647 h 44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195" h="445">
                  <a:moveTo>
                    <a:pt x="154" y="142"/>
                  </a:moveTo>
                  <a:cubicBezTo>
                    <a:pt x="86" y="144"/>
                    <a:pt x="51" y="189"/>
                    <a:pt x="49" y="278"/>
                  </a:cubicBezTo>
                  <a:cubicBezTo>
                    <a:pt x="51" y="361"/>
                    <a:pt x="86" y="405"/>
                    <a:pt x="154" y="407"/>
                  </a:cubicBezTo>
                  <a:cubicBezTo>
                    <a:pt x="218" y="405"/>
                    <a:pt x="251" y="361"/>
                    <a:pt x="252" y="276"/>
                  </a:cubicBezTo>
                  <a:cubicBezTo>
                    <a:pt x="248" y="193"/>
                    <a:pt x="215" y="148"/>
                    <a:pt x="154" y="142"/>
                  </a:cubicBezTo>
                  <a:close/>
                  <a:moveTo>
                    <a:pt x="152" y="443"/>
                  </a:moveTo>
                  <a:cubicBezTo>
                    <a:pt x="55" y="437"/>
                    <a:pt x="5" y="383"/>
                    <a:pt x="0" y="280"/>
                  </a:cubicBezTo>
                  <a:cubicBezTo>
                    <a:pt x="3" y="166"/>
                    <a:pt x="55" y="107"/>
                    <a:pt x="156" y="105"/>
                  </a:cubicBezTo>
                  <a:cubicBezTo>
                    <a:pt x="250" y="109"/>
                    <a:pt x="299" y="165"/>
                    <a:pt x="303" y="274"/>
                  </a:cubicBezTo>
                  <a:cubicBezTo>
                    <a:pt x="302" y="385"/>
                    <a:pt x="251" y="442"/>
                    <a:pt x="152" y="443"/>
                  </a:cubicBezTo>
                  <a:close/>
                  <a:moveTo>
                    <a:pt x="665" y="227"/>
                  </a:moveTo>
                  <a:lnTo>
                    <a:pt x="665" y="434"/>
                  </a:lnTo>
                  <a:lnTo>
                    <a:pt x="618" y="434"/>
                  </a:lnTo>
                  <a:lnTo>
                    <a:pt x="618" y="234"/>
                  </a:lnTo>
                  <a:cubicBezTo>
                    <a:pt x="616" y="174"/>
                    <a:pt x="591" y="144"/>
                    <a:pt x="542" y="142"/>
                  </a:cubicBezTo>
                  <a:cubicBezTo>
                    <a:pt x="484" y="150"/>
                    <a:pt x="452" y="181"/>
                    <a:pt x="446" y="236"/>
                  </a:cubicBezTo>
                  <a:lnTo>
                    <a:pt x="446" y="434"/>
                  </a:lnTo>
                  <a:lnTo>
                    <a:pt x="400" y="436"/>
                  </a:lnTo>
                  <a:lnTo>
                    <a:pt x="400" y="111"/>
                  </a:lnTo>
                  <a:lnTo>
                    <a:pt x="446" y="111"/>
                  </a:lnTo>
                  <a:lnTo>
                    <a:pt x="446" y="160"/>
                  </a:lnTo>
                  <a:cubicBezTo>
                    <a:pt x="472" y="123"/>
                    <a:pt x="507" y="104"/>
                    <a:pt x="553" y="102"/>
                  </a:cubicBezTo>
                  <a:cubicBezTo>
                    <a:pt x="628" y="102"/>
                    <a:pt x="665" y="144"/>
                    <a:pt x="665" y="227"/>
                  </a:cubicBezTo>
                  <a:close/>
                  <a:moveTo>
                    <a:pt x="897" y="407"/>
                  </a:moveTo>
                  <a:lnTo>
                    <a:pt x="906" y="432"/>
                  </a:lnTo>
                  <a:cubicBezTo>
                    <a:pt x="891" y="438"/>
                    <a:pt x="875" y="441"/>
                    <a:pt x="857" y="441"/>
                  </a:cubicBezTo>
                  <a:cubicBezTo>
                    <a:pt x="811" y="442"/>
                    <a:pt x="788" y="419"/>
                    <a:pt x="790" y="370"/>
                  </a:cubicBezTo>
                  <a:lnTo>
                    <a:pt x="790" y="151"/>
                  </a:lnTo>
                  <a:lnTo>
                    <a:pt x="745" y="151"/>
                  </a:lnTo>
                  <a:lnTo>
                    <a:pt x="745" y="111"/>
                  </a:lnTo>
                  <a:lnTo>
                    <a:pt x="790" y="111"/>
                  </a:lnTo>
                  <a:lnTo>
                    <a:pt x="790" y="24"/>
                  </a:lnTo>
                  <a:lnTo>
                    <a:pt x="837" y="0"/>
                  </a:lnTo>
                  <a:lnTo>
                    <a:pt x="837" y="111"/>
                  </a:lnTo>
                  <a:lnTo>
                    <a:pt x="897" y="111"/>
                  </a:lnTo>
                  <a:lnTo>
                    <a:pt x="897" y="151"/>
                  </a:lnTo>
                  <a:lnTo>
                    <a:pt x="837" y="151"/>
                  </a:lnTo>
                  <a:lnTo>
                    <a:pt x="837" y="370"/>
                  </a:lnTo>
                  <a:cubicBezTo>
                    <a:pt x="835" y="398"/>
                    <a:pt x="847" y="411"/>
                    <a:pt x="872" y="410"/>
                  </a:cubicBezTo>
                  <a:cubicBezTo>
                    <a:pt x="881" y="410"/>
                    <a:pt x="890" y="409"/>
                    <a:pt x="897" y="407"/>
                  </a:cubicBezTo>
                  <a:close/>
                  <a:moveTo>
                    <a:pt x="1020" y="249"/>
                  </a:moveTo>
                  <a:lnTo>
                    <a:pt x="1214" y="249"/>
                  </a:lnTo>
                  <a:cubicBezTo>
                    <a:pt x="1211" y="184"/>
                    <a:pt x="1179" y="150"/>
                    <a:pt x="1118" y="147"/>
                  </a:cubicBezTo>
                  <a:cubicBezTo>
                    <a:pt x="1057" y="153"/>
                    <a:pt x="1024" y="187"/>
                    <a:pt x="1020" y="249"/>
                  </a:cubicBezTo>
                  <a:close/>
                  <a:moveTo>
                    <a:pt x="1214" y="334"/>
                  </a:moveTo>
                  <a:lnTo>
                    <a:pt x="1263" y="347"/>
                  </a:lnTo>
                  <a:cubicBezTo>
                    <a:pt x="1245" y="413"/>
                    <a:pt x="1198" y="445"/>
                    <a:pt x="1120" y="443"/>
                  </a:cubicBezTo>
                  <a:cubicBezTo>
                    <a:pt x="1021" y="439"/>
                    <a:pt x="969" y="384"/>
                    <a:pt x="966" y="278"/>
                  </a:cubicBezTo>
                  <a:cubicBezTo>
                    <a:pt x="971" y="167"/>
                    <a:pt x="1021" y="109"/>
                    <a:pt x="1118" y="105"/>
                  </a:cubicBezTo>
                  <a:cubicBezTo>
                    <a:pt x="1213" y="107"/>
                    <a:pt x="1262" y="165"/>
                    <a:pt x="1265" y="278"/>
                  </a:cubicBezTo>
                  <a:cubicBezTo>
                    <a:pt x="1265" y="284"/>
                    <a:pt x="1265" y="288"/>
                    <a:pt x="1265" y="289"/>
                  </a:cubicBezTo>
                  <a:lnTo>
                    <a:pt x="1018" y="289"/>
                  </a:lnTo>
                  <a:cubicBezTo>
                    <a:pt x="1021" y="362"/>
                    <a:pt x="1054" y="401"/>
                    <a:pt x="1118" y="405"/>
                  </a:cubicBezTo>
                  <a:cubicBezTo>
                    <a:pt x="1169" y="405"/>
                    <a:pt x="1200" y="382"/>
                    <a:pt x="1214" y="334"/>
                  </a:cubicBezTo>
                  <a:close/>
                  <a:moveTo>
                    <a:pt x="1626" y="227"/>
                  </a:moveTo>
                  <a:lnTo>
                    <a:pt x="1626" y="434"/>
                  </a:lnTo>
                  <a:lnTo>
                    <a:pt x="1580" y="434"/>
                  </a:lnTo>
                  <a:lnTo>
                    <a:pt x="1580" y="234"/>
                  </a:lnTo>
                  <a:cubicBezTo>
                    <a:pt x="1578" y="174"/>
                    <a:pt x="1553" y="144"/>
                    <a:pt x="1504" y="142"/>
                  </a:cubicBezTo>
                  <a:cubicBezTo>
                    <a:pt x="1446" y="150"/>
                    <a:pt x="1414" y="181"/>
                    <a:pt x="1408" y="236"/>
                  </a:cubicBezTo>
                  <a:lnTo>
                    <a:pt x="1408" y="434"/>
                  </a:lnTo>
                  <a:lnTo>
                    <a:pt x="1361" y="436"/>
                  </a:lnTo>
                  <a:lnTo>
                    <a:pt x="1361" y="111"/>
                  </a:lnTo>
                  <a:lnTo>
                    <a:pt x="1408" y="111"/>
                  </a:lnTo>
                  <a:lnTo>
                    <a:pt x="1408" y="160"/>
                  </a:lnTo>
                  <a:cubicBezTo>
                    <a:pt x="1433" y="123"/>
                    <a:pt x="1469" y="104"/>
                    <a:pt x="1515" y="102"/>
                  </a:cubicBezTo>
                  <a:cubicBezTo>
                    <a:pt x="1589" y="102"/>
                    <a:pt x="1626" y="144"/>
                    <a:pt x="1626" y="227"/>
                  </a:cubicBezTo>
                  <a:close/>
                  <a:moveTo>
                    <a:pt x="1859" y="407"/>
                  </a:moveTo>
                  <a:lnTo>
                    <a:pt x="1868" y="432"/>
                  </a:lnTo>
                  <a:cubicBezTo>
                    <a:pt x="1853" y="438"/>
                    <a:pt x="1836" y="441"/>
                    <a:pt x="1818" y="441"/>
                  </a:cubicBezTo>
                  <a:cubicBezTo>
                    <a:pt x="1772" y="442"/>
                    <a:pt x="1750" y="419"/>
                    <a:pt x="1752" y="370"/>
                  </a:cubicBezTo>
                  <a:lnTo>
                    <a:pt x="1752" y="151"/>
                  </a:lnTo>
                  <a:lnTo>
                    <a:pt x="1707" y="151"/>
                  </a:lnTo>
                  <a:lnTo>
                    <a:pt x="1707" y="111"/>
                  </a:lnTo>
                  <a:lnTo>
                    <a:pt x="1752" y="111"/>
                  </a:lnTo>
                  <a:lnTo>
                    <a:pt x="1752" y="24"/>
                  </a:lnTo>
                  <a:lnTo>
                    <a:pt x="1798" y="0"/>
                  </a:lnTo>
                  <a:lnTo>
                    <a:pt x="1798" y="111"/>
                  </a:lnTo>
                  <a:lnTo>
                    <a:pt x="1859" y="111"/>
                  </a:lnTo>
                  <a:lnTo>
                    <a:pt x="1859" y="151"/>
                  </a:lnTo>
                  <a:lnTo>
                    <a:pt x="1798" y="151"/>
                  </a:lnTo>
                  <a:lnTo>
                    <a:pt x="1798" y="370"/>
                  </a:lnTo>
                  <a:cubicBezTo>
                    <a:pt x="1797" y="398"/>
                    <a:pt x="1809" y="411"/>
                    <a:pt x="1834" y="410"/>
                  </a:cubicBezTo>
                  <a:cubicBezTo>
                    <a:pt x="1843" y="410"/>
                    <a:pt x="1851" y="409"/>
                    <a:pt x="1859" y="407"/>
                  </a:cubicBezTo>
                  <a:close/>
                  <a:moveTo>
                    <a:pt x="2131" y="203"/>
                  </a:moveTo>
                  <a:lnTo>
                    <a:pt x="2180" y="189"/>
                  </a:lnTo>
                  <a:cubicBezTo>
                    <a:pt x="2167" y="133"/>
                    <a:pt x="2125" y="104"/>
                    <a:pt x="2055" y="102"/>
                  </a:cubicBezTo>
                  <a:cubicBezTo>
                    <a:pt x="1982" y="105"/>
                    <a:pt x="1943" y="136"/>
                    <a:pt x="1937" y="194"/>
                  </a:cubicBezTo>
                  <a:cubicBezTo>
                    <a:pt x="1934" y="249"/>
                    <a:pt x="1976" y="281"/>
                    <a:pt x="2062" y="292"/>
                  </a:cubicBezTo>
                  <a:cubicBezTo>
                    <a:pt x="2118" y="302"/>
                    <a:pt x="2146" y="322"/>
                    <a:pt x="2144" y="352"/>
                  </a:cubicBezTo>
                  <a:cubicBezTo>
                    <a:pt x="2143" y="387"/>
                    <a:pt x="2115" y="406"/>
                    <a:pt x="2062" y="407"/>
                  </a:cubicBezTo>
                  <a:cubicBezTo>
                    <a:pt x="2013" y="409"/>
                    <a:pt x="1982" y="384"/>
                    <a:pt x="1970" y="334"/>
                  </a:cubicBezTo>
                  <a:lnTo>
                    <a:pt x="1924" y="347"/>
                  </a:lnTo>
                  <a:cubicBezTo>
                    <a:pt x="1941" y="413"/>
                    <a:pt x="1988" y="445"/>
                    <a:pt x="2062" y="443"/>
                  </a:cubicBezTo>
                  <a:cubicBezTo>
                    <a:pt x="2148" y="442"/>
                    <a:pt x="2192" y="410"/>
                    <a:pt x="2193" y="350"/>
                  </a:cubicBezTo>
                  <a:cubicBezTo>
                    <a:pt x="2195" y="298"/>
                    <a:pt x="2155" y="265"/>
                    <a:pt x="2075" y="252"/>
                  </a:cubicBezTo>
                  <a:cubicBezTo>
                    <a:pt x="2014" y="241"/>
                    <a:pt x="1985" y="222"/>
                    <a:pt x="1986" y="194"/>
                  </a:cubicBezTo>
                  <a:cubicBezTo>
                    <a:pt x="1990" y="162"/>
                    <a:pt x="2014" y="146"/>
                    <a:pt x="2057" y="145"/>
                  </a:cubicBezTo>
                  <a:cubicBezTo>
                    <a:pt x="2097" y="145"/>
                    <a:pt x="2122" y="164"/>
                    <a:pt x="2131" y="203"/>
                  </a:cubicBezTo>
                  <a:close/>
                </a:path>
              </a:pathLst>
            </a:custGeom>
            <a:solidFill>
              <a:srgbClr val="4D4D4D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AB2CA1C-0244-4212-8B4F-BFADD4B021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25474" y="2626353"/>
              <a:ext cx="1103313" cy="501650"/>
            </a:xfrm>
            <a:custGeom>
              <a:avLst/>
              <a:gdLst>
                <a:gd name="T0" fmla="*/ 2147483647 w 2109"/>
                <a:gd name="T1" fmla="*/ 0 h 986"/>
                <a:gd name="T2" fmla="*/ 2147483647 w 2109"/>
                <a:gd name="T3" fmla="*/ 2147483647 h 986"/>
                <a:gd name="T4" fmla="*/ 2147483647 w 2109"/>
                <a:gd name="T5" fmla="*/ 2147483647 h 986"/>
                <a:gd name="T6" fmla="*/ 0 w 2109"/>
                <a:gd name="T7" fmla="*/ 2147483647 h 986"/>
                <a:gd name="T8" fmla="*/ 2147483647 w 2109"/>
                <a:gd name="T9" fmla="*/ 2147483647 h 986"/>
                <a:gd name="T10" fmla="*/ 2147483647 w 2109"/>
                <a:gd name="T11" fmla="*/ 2147483647 h 986"/>
                <a:gd name="T12" fmla="*/ 2147483647 w 2109"/>
                <a:gd name="T13" fmla="*/ 2147483647 h 986"/>
                <a:gd name="T14" fmla="*/ 2147483647 w 2109"/>
                <a:gd name="T15" fmla="*/ 2147483647 h 986"/>
                <a:gd name="T16" fmla="*/ 2147483647 w 2109"/>
                <a:gd name="T17" fmla="*/ 2147483647 h 986"/>
                <a:gd name="T18" fmla="*/ 2147483647 w 2109"/>
                <a:gd name="T19" fmla="*/ 2147483647 h 986"/>
                <a:gd name="T20" fmla="*/ 2147483647 w 2109"/>
                <a:gd name="T21" fmla="*/ 2147483647 h 986"/>
                <a:gd name="T22" fmla="*/ 2147483647 w 2109"/>
                <a:gd name="T23" fmla="*/ 2147483647 h 986"/>
                <a:gd name="T24" fmla="*/ 2147483647 w 2109"/>
                <a:gd name="T25" fmla="*/ 2147483647 h 986"/>
                <a:gd name="T26" fmla="*/ 2147483647 w 2109"/>
                <a:gd name="T27" fmla="*/ 2147483647 h 986"/>
                <a:gd name="T28" fmla="*/ 2147483647 w 2109"/>
                <a:gd name="T29" fmla="*/ 2147483647 h 986"/>
                <a:gd name="T30" fmla="*/ 2147483647 w 2109"/>
                <a:gd name="T31" fmla="*/ 2147483647 h 986"/>
                <a:gd name="T32" fmla="*/ 2147483647 w 2109"/>
                <a:gd name="T33" fmla="*/ 2147483647 h 986"/>
                <a:gd name="T34" fmla="*/ 2147483647 w 2109"/>
                <a:gd name="T35" fmla="*/ 2147483647 h 986"/>
                <a:gd name="T36" fmla="*/ 2147483647 w 2109"/>
                <a:gd name="T37" fmla="*/ 2147483647 h 986"/>
                <a:gd name="T38" fmla="*/ 2147483647 w 2109"/>
                <a:gd name="T39" fmla="*/ 2147483647 h 986"/>
                <a:gd name="T40" fmla="*/ 2147483647 w 2109"/>
                <a:gd name="T41" fmla="*/ 2147483647 h 986"/>
                <a:gd name="T42" fmla="*/ 2147483647 w 2109"/>
                <a:gd name="T43" fmla="*/ 2147483647 h 986"/>
                <a:gd name="T44" fmla="*/ 2147483647 w 2109"/>
                <a:gd name="T45" fmla="*/ 2147483647 h 986"/>
                <a:gd name="T46" fmla="*/ 2147483647 w 2109"/>
                <a:gd name="T47" fmla="*/ 2147483647 h 986"/>
                <a:gd name="T48" fmla="*/ 2147483647 w 2109"/>
                <a:gd name="T49" fmla="*/ 2147483647 h 986"/>
                <a:gd name="T50" fmla="*/ 2147483647 w 2109"/>
                <a:gd name="T51" fmla="*/ 2147483647 h 986"/>
                <a:gd name="T52" fmla="*/ 2147483647 w 2109"/>
                <a:gd name="T53" fmla="*/ 2147483647 h 986"/>
                <a:gd name="T54" fmla="*/ 2147483647 w 2109"/>
                <a:gd name="T55" fmla="*/ 2147483647 h 986"/>
                <a:gd name="T56" fmla="*/ 2147483647 w 2109"/>
                <a:gd name="T57" fmla="*/ 2147483647 h 986"/>
                <a:gd name="T58" fmla="*/ 2147483647 w 2109"/>
                <a:gd name="T59" fmla="*/ 2147483647 h 986"/>
                <a:gd name="T60" fmla="*/ 2147483647 w 2109"/>
                <a:gd name="T61" fmla="*/ 2147483647 h 986"/>
                <a:gd name="T62" fmla="*/ 2147483647 w 2109"/>
                <a:gd name="T63" fmla="*/ 2147483647 h 986"/>
                <a:gd name="T64" fmla="*/ 2147483647 w 2109"/>
                <a:gd name="T65" fmla="*/ 2147483647 h 986"/>
                <a:gd name="T66" fmla="*/ 2147483647 w 2109"/>
                <a:gd name="T67" fmla="*/ 2147483647 h 98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109" h="986">
                  <a:moveTo>
                    <a:pt x="0" y="0"/>
                  </a:moveTo>
                  <a:lnTo>
                    <a:pt x="764" y="0"/>
                  </a:lnTo>
                  <a:lnTo>
                    <a:pt x="764" y="986"/>
                  </a:lnTo>
                  <a:lnTo>
                    <a:pt x="676" y="986"/>
                  </a:lnTo>
                  <a:lnTo>
                    <a:pt x="676" y="902"/>
                  </a:lnTo>
                  <a:lnTo>
                    <a:pt x="84" y="902"/>
                  </a:lnTo>
                  <a:lnTo>
                    <a:pt x="84" y="986"/>
                  </a:lnTo>
                  <a:lnTo>
                    <a:pt x="0" y="986"/>
                  </a:lnTo>
                  <a:lnTo>
                    <a:pt x="0" y="0"/>
                  </a:lnTo>
                  <a:close/>
                  <a:moveTo>
                    <a:pt x="84" y="80"/>
                  </a:moveTo>
                  <a:lnTo>
                    <a:pt x="84" y="279"/>
                  </a:lnTo>
                  <a:lnTo>
                    <a:pt x="676" y="279"/>
                  </a:lnTo>
                  <a:lnTo>
                    <a:pt x="676" y="80"/>
                  </a:lnTo>
                  <a:lnTo>
                    <a:pt x="84" y="80"/>
                  </a:lnTo>
                  <a:close/>
                  <a:moveTo>
                    <a:pt x="84" y="628"/>
                  </a:moveTo>
                  <a:lnTo>
                    <a:pt x="84" y="831"/>
                  </a:lnTo>
                  <a:lnTo>
                    <a:pt x="676" y="831"/>
                  </a:lnTo>
                  <a:lnTo>
                    <a:pt x="676" y="628"/>
                  </a:lnTo>
                  <a:lnTo>
                    <a:pt x="84" y="628"/>
                  </a:lnTo>
                  <a:close/>
                  <a:moveTo>
                    <a:pt x="84" y="354"/>
                  </a:moveTo>
                  <a:lnTo>
                    <a:pt x="84" y="557"/>
                  </a:lnTo>
                  <a:lnTo>
                    <a:pt x="676" y="557"/>
                  </a:lnTo>
                  <a:lnTo>
                    <a:pt x="676" y="354"/>
                  </a:lnTo>
                  <a:lnTo>
                    <a:pt x="84" y="354"/>
                  </a:lnTo>
                  <a:close/>
                  <a:moveTo>
                    <a:pt x="1963" y="482"/>
                  </a:moveTo>
                  <a:lnTo>
                    <a:pt x="2021" y="553"/>
                  </a:lnTo>
                  <a:cubicBezTo>
                    <a:pt x="2000" y="568"/>
                    <a:pt x="1958" y="594"/>
                    <a:pt x="1893" y="632"/>
                  </a:cubicBezTo>
                  <a:cubicBezTo>
                    <a:pt x="1849" y="659"/>
                    <a:pt x="1815" y="679"/>
                    <a:pt x="1791" y="694"/>
                  </a:cubicBezTo>
                  <a:cubicBezTo>
                    <a:pt x="1859" y="753"/>
                    <a:pt x="1965" y="800"/>
                    <a:pt x="2109" y="836"/>
                  </a:cubicBezTo>
                  <a:cubicBezTo>
                    <a:pt x="2089" y="856"/>
                    <a:pt x="2070" y="883"/>
                    <a:pt x="2052" y="915"/>
                  </a:cubicBezTo>
                  <a:cubicBezTo>
                    <a:pt x="1849" y="856"/>
                    <a:pt x="1704" y="756"/>
                    <a:pt x="1619" y="615"/>
                  </a:cubicBezTo>
                  <a:lnTo>
                    <a:pt x="1619" y="818"/>
                  </a:lnTo>
                  <a:cubicBezTo>
                    <a:pt x="1624" y="924"/>
                    <a:pt x="1573" y="976"/>
                    <a:pt x="1464" y="973"/>
                  </a:cubicBezTo>
                  <a:cubicBezTo>
                    <a:pt x="1423" y="973"/>
                    <a:pt x="1381" y="973"/>
                    <a:pt x="1340" y="973"/>
                  </a:cubicBezTo>
                  <a:cubicBezTo>
                    <a:pt x="1337" y="937"/>
                    <a:pt x="1331" y="908"/>
                    <a:pt x="1322" y="884"/>
                  </a:cubicBezTo>
                  <a:cubicBezTo>
                    <a:pt x="1358" y="887"/>
                    <a:pt x="1403" y="889"/>
                    <a:pt x="1459" y="889"/>
                  </a:cubicBezTo>
                  <a:cubicBezTo>
                    <a:pt x="1515" y="892"/>
                    <a:pt x="1542" y="867"/>
                    <a:pt x="1539" y="814"/>
                  </a:cubicBezTo>
                  <a:lnTo>
                    <a:pt x="1539" y="447"/>
                  </a:lnTo>
                  <a:lnTo>
                    <a:pt x="1057" y="447"/>
                  </a:lnTo>
                  <a:lnTo>
                    <a:pt x="1057" y="376"/>
                  </a:lnTo>
                  <a:lnTo>
                    <a:pt x="1849" y="376"/>
                  </a:lnTo>
                  <a:lnTo>
                    <a:pt x="1849" y="261"/>
                  </a:lnTo>
                  <a:lnTo>
                    <a:pt x="1190" y="261"/>
                  </a:lnTo>
                  <a:lnTo>
                    <a:pt x="1190" y="190"/>
                  </a:lnTo>
                  <a:lnTo>
                    <a:pt x="1849" y="190"/>
                  </a:lnTo>
                  <a:lnTo>
                    <a:pt x="1849" y="75"/>
                  </a:lnTo>
                  <a:lnTo>
                    <a:pt x="1172" y="75"/>
                  </a:lnTo>
                  <a:lnTo>
                    <a:pt x="1172" y="5"/>
                  </a:lnTo>
                  <a:lnTo>
                    <a:pt x="1932" y="5"/>
                  </a:lnTo>
                  <a:lnTo>
                    <a:pt x="1932" y="376"/>
                  </a:lnTo>
                  <a:lnTo>
                    <a:pt x="2101" y="376"/>
                  </a:lnTo>
                  <a:lnTo>
                    <a:pt x="2101" y="447"/>
                  </a:lnTo>
                  <a:lnTo>
                    <a:pt x="1619" y="447"/>
                  </a:lnTo>
                  <a:lnTo>
                    <a:pt x="1619" y="482"/>
                  </a:lnTo>
                  <a:cubicBezTo>
                    <a:pt x="1654" y="544"/>
                    <a:pt x="1692" y="597"/>
                    <a:pt x="1733" y="641"/>
                  </a:cubicBezTo>
                  <a:cubicBezTo>
                    <a:pt x="1822" y="582"/>
                    <a:pt x="1899" y="529"/>
                    <a:pt x="1963" y="482"/>
                  </a:cubicBezTo>
                  <a:close/>
                  <a:moveTo>
                    <a:pt x="1044" y="814"/>
                  </a:moveTo>
                  <a:cubicBezTo>
                    <a:pt x="1168" y="772"/>
                    <a:pt x="1318" y="716"/>
                    <a:pt x="1495" y="646"/>
                  </a:cubicBezTo>
                  <a:cubicBezTo>
                    <a:pt x="1501" y="672"/>
                    <a:pt x="1507" y="699"/>
                    <a:pt x="1513" y="725"/>
                  </a:cubicBezTo>
                  <a:cubicBezTo>
                    <a:pt x="1351" y="784"/>
                    <a:pt x="1205" y="839"/>
                    <a:pt x="1075" y="889"/>
                  </a:cubicBezTo>
                  <a:lnTo>
                    <a:pt x="1044" y="814"/>
                  </a:lnTo>
                  <a:close/>
                  <a:moveTo>
                    <a:pt x="1190" y="473"/>
                  </a:moveTo>
                  <a:cubicBezTo>
                    <a:pt x="1202" y="482"/>
                    <a:pt x="1218" y="492"/>
                    <a:pt x="1238" y="504"/>
                  </a:cubicBezTo>
                  <a:cubicBezTo>
                    <a:pt x="1303" y="545"/>
                    <a:pt x="1356" y="581"/>
                    <a:pt x="1398" y="610"/>
                  </a:cubicBezTo>
                  <a:lnTo>
                    <a:pt x="1349" y="681"/>
                  </a:lnTo>
                  <a:cubicBezTo>
                    <a:pt x="1317" y="658"/>
                    <a:pt x="1272" y="627"/>
                    <a:pt x="1216" y="588"/>
                  </a:cubicBezTo>
                  <a:cubicBezTo>
                    <a:pt x="1184" y="565"/>
                    <a:pt x="1159" y="547"/>
                    <a:pt x="1141" y="535"/>
                  </a:cubicBezTo>
                  <a:lnTo>
                    <a:pt x="1190" y="473"/>
                  </a:lnTo>
                  <a:close/>
                </a:path>
              </a:pathLst>
            </a:custGeom>
            <a:solidFill>
              <a:srgbClr val="4D4D4D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CF91E4-2DF6-43CC-853C-8A66141190C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88824" y="2510466"/>
              <a:ext cx="973394" cy="1047750"/>
            </a:xfrm>
            <a:prstGeom prst="rect">
              <a:avLst/>
            </a:prstGeom>
            <a:solidFill>
              <a:srgbClr val="024C89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9D7DEB2-CFBF-4E7F-8A3C-E9CF23E7D7CF}"/>
                </a:ext>
              </a:extLst>
            </p:cNvPr>
            <p:cNvSpPr/>
            <p:nvPr userDrawn="1"/>
          </p:nvSpPr>
          <p:spPr bwMode="auto">
            <a:xfrm>
              <a:off x="1149559" y="2675367"/>
              <a:ext cx="614363" cy="749300"/>
            </a:xfrm>
            <a:custGeom>
              <a:avLst/>
              <a:gdLst>
                <a:gd name="T0" fmla="*/ 2147483647 w 1173"/>
                <a:gd name="T1" fmla="*/ 2147483647 h 1472"/>
                <a:gd name="T2" fmla="*/ 2147483647 w 1173"/>
                <a:gd name="T3" fmla="*/ 2147483647 h 1472"/>
                <a:gd name="T4" fmla="*/ 2147483647 w 1173"/>
                <a:gd name="T5" fmla="*/ 2147483647 h 1472"/>
                <a:gd name="T6" fmla="*/ 2147483647 w 1173"/>
                <a:gd name="T7" fmla="*/ 2147483647 h 1472"/>
                <a:gd name="T8" fmla="*/ 2147483647 w 1173"/>
                <a:gd name="T9" fmla="*/ 2147483647 h 1472"/>
                <a:gd name="T10" fmla="*/ 2147483647 w 1173"/>
                <a:gd name="T11" fmla="*/ 2147483647 h 1472"/>
                <a:gd name="T12" fmla="*/ 0 w 1173"/>
                <a:gd name="T13" fmla="*/ 2147483647 h 1472"/>
                <a:gd name="T14" fmla="*/ 2147483647 w 1173"/>
                <a:gd name="T15" fmla="*/ 2147483647 h 1472"/>
                <a:gd name="T16" fmla="*/ 2147483647 w 1173"/>
                <a:gd name="T17" fmla="*/ 2147483647 h 1472"/>
                <a:gd name="T18" fmla="*/ 2147483647 w 1173"/>
                <a:gd name="T19" fmla="*/ 2147483647 h 1472"/>
                <a:gd name="T20" fmla="*/ 2147483647 w 1173"/>
                <a:gd name="T21" fmla="*/ 2147483647 h 1472"/>
                <a:gd name="T22" fmla="*/ 2147483647 w 1173"/>
                <a:gd name="T23" fmla="*/ 2147483647 h 1472"/>
                <a:gd name="T24" fmla="*/ 2147483647 w 1173"/>
                <a:gd name="T25" fmla="*/ 2147483647 h 1472"/>
                <a:gd name="T26" fmla="*/ 2147483647 w 1173"/>
                <a:gd name="T27" fmla="*/ 2147483647 h 1472"/>
                <a:gd name="T28" fmla="*/ 2147483647 w 1173"/>
                <a:gd name="T29" fmla="*/ 2147483647 h 14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73" h="1472">
                  <a:moveTo>
                    <a:pt x="1131" y="535"/>
                  </a:moveTo>
                  <a:lnTo>
                    <a:pt x="1095" y="47"/>
                  </a:lnTo>
                  <a:cubicBezTo>
                    <a:pt x="1090" y="47"/>
                    <a:pt x="1081" y="49"/>
                    <a:pt x="1067" y="54"/>
                  </a:cubicBezTo>
                  <a:cubicBezTo>
                    <a:pt x="1043" y="64"/>
                    <a:pt x="1022" y="68"/>
                    <a:pt x="1003" y="68"/>
                  </a:cubicBezTo>
                  <a:cubicBezTo>
                    <a:pt x="975" y="68"/>
                    <a:pt x="947" y="64"/>
                    <a:pt x="919" y="54"/>
                  </a:cubicBezTo>
                  <a:cubicBezTo>
                    <a:pt x="810" y="17"/>
                    <a:pt x="714" y="0"/>
                    <a:pt x="629" y="5"/>
                  </a:cubicBezTo>
                  <a:cubicBezTo>
                    <a:pt x="214" y="24"/>
                    <a:pt x="5" y="278"/>
                    <a:pt x="0" y="768"/>
                  </a:cubicBezTo>
                  <a:cubicBezTo>
                    <a:pt x="5" y="1225"/>
                    <a:pt x="219" y="1458"/>
                    <a:pt x="643" y="1467"/>
                  </a:cubicBezTo>
                  <a:cubicBezTo>
                    <a:pt x="912" y="1472"/>
                    <a:pt x="1088" y="1345"/>
                    <a:pt x="1173" y="1086"/>
                  </a:cubicBezTo>
                  <a:lnTo>
                    <a:pt x="1088" y="1036"/>
                  </a:lnTo>
                  <a:cubicBezTo>
                    <a:pt x="999" y="1258"/>
                    <a:pt x="867" y="1369"/>
                    <a:pt x="692" y="1369"/>
                  </a:cubicBezTo>
                  <a:cubicBezTo>
                    <a:pt x="424" y="1359"/>
                    <a:pt x="290" y="1145"/>
                    <a:pt x="290" y="725"/>
                  </a:cubicBezTo>
                  <a:cubicBezTo>
                    <a:pt x="290" y="316"/>
                    <a:pt x="408" y="108"/>
                    <a:pt x="643" y="104"/>
                  </a:cubicBezTo>
                  <a:cubicBezTo>
                    <a:pt x="827" y="94"/>
                    <a:pt x="961" y="250"/>
                    <a:pt x="1046" y="570"/>
                  </a:cubicBezTo>
                  <a:lnTo>
                    <a:pt x="1131" y="53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5D6C1642-EF57-4FCF-B70B-9EB19917F44C}"/>
              </a:ext>
            </a:extLst>
          </p:cNvPr>
          <p:cNvSpPr/>
          <p:nvPr userDrawn="1"/>
        </p:nvSpPr>
        <p:spPr>
          <a:xfrm>
            <a:off x="7476749" y="5022"/>
            <a:ext cx="4715435" cy="6858000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00B0F0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9128F3D-440D-4735-B280-F8F3A95DBEF0}"/>
              </a:ext>
            </a:extLst>
          </p:cNvPr>
          <p:cNvGrpSpPr/>
          <p:nvPr userDrawn="1"/>
        </p:nvGrpSpPr>
        <p:grpSpPr>
          <a:xfrm>
            <a:off x="0" y="40018"/>
            <a:ext cx="12192000" cy="769441"/>
            <a:chOff x="0" y="40018"/>
            <a:chExt cx="12192000" cy="769441"/>
          </a:xfrm>
        </p:grpSpPr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F7046826-E3C2-4516-8838-F6024486E91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4" b="35069"/>
            <a:stretch>
              <a:fillRect/>
            </a:stretch>
          </p:blipFill>
          <p:spPr>
            <a:xfrm>
              <a:off x="9699602" y="171936"/>
              <a:ext cx="2336093" cy="505610"/>
            </a:xfrm>
            <a:prstGeom prst="rect">
              <a:avLst/>
            </a:prstGeom>
          </p:spPr>
        </p:pic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E74CD5A-9833-45E4-9F7F-2C7811B867BE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B7D8D081-8C72-41AC-BA3C-DA4104B63229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277687D0-C680-4AA6-AE98-5639F0C50311}"/>
                </a:ext>
              </a:extLst>
            </p:cNvPr>
            <p:cNvGrpSpPr/>
            <p:nvPr userDrawn="1"/>
          </p:nvGrpSpPr>
          <p:grpSpPr>
            <a:xfrm>
              <a:off x="0" y="140358"/>
              <a:ext cx="12192000" cy="573208"/>
              <a:chOff x="-750454" y="3752299"/>
              <a:chExt cx="12201236" cy="573208"/>
            </a:xfrm>
          </p:grpSpPr>
          <p:sp>
            <p:nvSpPr>
              <p:cNvPr id="81" name="平行四边形 80">
                <a:extLst>
                  <a:ext uri="{FF2B5EF4-FFF2-40B4-BE49-F238E27FC236}">
                    <a16:creationId xmlns:a16="http://schemas.microsoft.com/office/drawing/2014/main" id="{999CB817-D56E-488F-9D87-F9D19470D6AE}"/>
                  </a:ext>
                </a:extLst>
              </p:cNvPr>
              <p:cNvSpPr/>
              <p:nvPr userDrawn="1"/>
            </p:nvSpPr>
            <p:spPr>
              <a:xfrm>
                <a:off x="7860146" y="375368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平行四边形 81">
                <a:extLst>
                  <a:ext uri="{FF2B5EF4-FFF2-40B4-BE49-F238E27FC236}">
                    <a16:creationId xmlns:a16="http://schemas.microsoft.com/office/drawing/2014/main" id="{352F10E6-4A02-4A03-A65F-57545BCD6B65}"/>
                  </a:ext>
                </a:extLst>
              </p:cNvPr>
              <p:cNvSpPr/>
              <p:nvPr userDrawn="1"/>
            </p:nvSpPr>
            <p:spPr>
              <a:xfrm>
                <a:off x="8191518" y="375229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075B0E75-A6C6-4B7F-A0F1-380D72D98050}"/>
                  </a:ext>
                </a:extLst>
              </p:cNvPr>
              <p:cNvSpPr/>
              <p:nvPr userDrawn="1"/>
            </p:nvSpPr>
            <p:spPr>
              <a:xfrm flipV="1">
                <a:off x="-750454" y="4289506"/>
                <a:ext cx="8856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4632218C-DACA-4F71-8571-397435439B21}"/>
                  </a:ext>
                </a:extLst>
              </p:cNvPr>
              <p:cNvSpPr/>
              <p:nvPr userDrawn="1"/>
            </p:nvSpPr>
            <p:spPr>
              <a:xfrm flipV="1">
                <a:off x="8750782" y="3753688"/>
                <a:ext cx="2700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98357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BC089EC-55AC-4306-ABB4-631B2FCECE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50274" y="1556659"/>
            <a:ext cx="6891452" cy="2816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Question</a:t>
            </a: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sz="5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spcBef>
                <a:spcPts val="1800"/>
              </a:spcBef>
            </a:pP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请在班级</a:t>
            </a:r>
            <a:r>
              <a:rPr lang="en-US" altLang="zh-CN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QQ</a:t>
            </a: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群或在上机过程中进行提问吧！</a:t>
            </a:r>
            <a:endParaRPr lang="en-US" altLang="zh-CN" sz="5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8A572C4-B2D1-490F-99D9-054A5FA5FCD6}"/>
              </a:ext>
            </a:extLst>
          </p:cNvPr>
          <p:cNvGrpSpPr/>
          <p:nvPr userDrawn="1"/>
        </p:nvGrpSpPr>
        <p:grpSpPr>
          <a:xfrm>
            <a:off x="0" y="40018"/>
            <a:ext cx="12192000" cy="769441"/>
            <a:chOff x="0" y="40018"/>
            <a:chExt cx="12192000" cy="76944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2404D27-433D-4218-8491-72B29BA071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4" b="35069"/>
            <a:stretch>
              <a:fillRect/>
            </a:stretch>
          </p:blipFill>
          <p:spPr>
            <a:xfrm>
              <a:off x="9699602" y="171936"/>
              <a:ext cx="2336093" cy="50561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6202126-DDD4-4338-BB92-B0FB20218310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EBC7994-DE28-4614-BBB3-1258C611821D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9DE37F0-6BDA-4DC2-9F0F-06B7C60DCC0F}"/>
                </a:ext>
              </a:extLst>
            </p:cNvPr>
            <p:cNvGrpSpPr/>
            <p:nvPr userDrawn="1"/>
          </p:nvGrpSpPr>
          <p:grpSpPr>
            <a:xfrm>
              <a:off x="0" y="140358"/>
              <a:ext cx="12192000" cy="573208"/>
              <a:chOff x="-750454" y="3752299"/>
              <a:chExt cx="12201236" cy="573208"/>
            </a:xfrm>
          </p:grpSpPr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8FDA44E1-7425-41B0-ACE1-F3183CE75CBE}"/>
                  </a:ext>
                </a:extLst>
              </p:cNvPr>
              <p:cNvSpPr/>
              <p:nvPr userDrawn="1"/>
            </p:nvSpPr>
            <p:spPr>
              <a:xfrm>
                <a:off x="7860146" y="375368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D92A7CFB-5C2D-4471-9617-5814B155CB7F}"/>
                  </a:ext>
                </a:extLst>
              </p:cNvPr>
              <p:cNvSpPr/>
              <p:nvPr userDrawn="1"/>
            </p:nvSpPr>
            <p:spPr>
              <a:xfrm>
                <a:off x="8191518" y="375229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DD1E91A-2138-4239-8CDD-3DAEEDA7E6A5}"/>
                  </a:ext>
                </a:extLst>
              </p:cNvPr>
              <p:cNvSpPr/>
              <p:nvPr userDrawn="1"/>
            </p:nvSpPr>
            <p:spPr>
              <a:xfrm flipV="1">
                <a:off x="-750454" y="4289506"/>
                <a:ext cx="8856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2538672-7F3C-4866-B5C4-959756C63A35}"/>
                  </a:ext>
                </a:extLst>
              </p:cNvPr>
              <p:cNvSpPr/>
              <p:nvPr userDrawn="1"/>
            </p:nvSpPr>
            <p:spPr>
              <a:xfrm flipV="1">
                <a:off x="8750782" y="3753688"/>
                <a:ext cx="2700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212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A906814-CB77-42CE-8722-740E4FA37C6F}"/>
              </a:ext>
            </a:extLst>
          </p:cNvPr>
          <p:cNvSpPr/>
          <p:nvPr userDrawn="1"/>
        </p:nvSpPr>
        <p:spPr>
          <a:xfrm rot="5400000">
            <a:off x="5731669" y="397669"/>
            <a:ext cx="728662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DEA523-30CE-4428-B8A6-CB0C805C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458"/>
            <a:ext cx="10515600" cy="881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40EFF2-3741-4E9F-9032-7BBA076E8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001F3-2526-4AFF-AFF5-E4CAF9502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97FD0-3678-452A-9204-D7543A6F6053}" type="datetime1">
              <a:rPr lang="zh-CN" altLang="en-US" smtClean="0"/>
              <a:t>2023/3/29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87446182-0BAA-4592-A192-58B1F2766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CF6331-42CF-49B5-93BA-B5EACB963342}"/>
              </a:ext>
            </a:extLst>
          </p:cNvPr>
          <p:cNvSpPr/>
          <p:nvPr userDrawn="1"/>
        </p:nvSpPr>
        <p:spPr>
          <a:xfrm rot="16200000">
            <a:off x="5645524" y="-5645523"/>
            <a:ext cx="900954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33BBD2D-6CA3-4CEA-9F90-712521943226}"/>
              </a:ext>
            </a:extLst>
          </p:cNvPr>
          <p:cNvGrpSpPr/>
          <p:nvPr userDrawn="1"/>
        </p:nvGrpSpPr>
        <p:grpSpPr>
          <a:xfrm>
            <a:off x="0" y="40018"/>
            <a:ext cx="12192000" cy="769441"/>
            <a:chOff x="0" y="40018"/>
            <a:chExt cx="12192000" cy="769441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91EA361-28EE-45BA-A8A0-3F4170BADBD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4" b="35069"/>
            <a:stretch>
              <a:fillRect/>
            </a:stretch>
          </p:blipFill>
          <p:spPr>
            <a:xfrm>
              <a:off x="9699602" y="171936"/>
              <a:ext cx="2336093" cy="50561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5EE19C7-A1F4-46A3-92CF-BFD9C4E79590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3C31597-CB30-47B3-A5E3-96B442662F67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377E9160-0818-4167-A9C5-1B3144D9006A}"/>
                </a:ext>
              </a:extLst>
            </p:cNvPr>
            <p:cNvGrpSpPr/>
            <p:nvPr userDrawn="1"/>
          </p:nvGrpSpPr>
          <p:grpSpPr>
            <a:xfrm>
              <a:off x="0" y="140358"/>
              <a:ext cx="12192000" cy="573208"/>
              <a:chOff x="-750454" y="3752299"/>
              <a:chExt cx="12201236" cy="573208"/>
            </a:xfrm>
          </p:grpSpPr>
          <p:sp>
            <p:nvSpPr>
              <p:cNvPr id="17" name="平行四边形 16">
                <a:extLst>
                  <a:ext uri="{FF2B5EF4-FFF2-40B4-BE49-F238E27FC236}">
                    <a16:creationId xmlns:a16="http://schemas.microsoft.com/office/drawing/2014/main" id="{E5C0772E-2BDB-46E3-BBF3-98B56199E3AA}"/>
                  </a:ext>
                </a:extLst>
              </p:cNvPr>
              <p:cNvSpPr/>
              <p:nvPr userDrawn="1"/>
            </p:nvSpPr>
            <p:spPr>
              <a:xfrm>
                <a:off x="7860146" y="375368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平行四边形 17">
                <a:extLst>
                  <a:ext uri="{FF2B5EF4-FFF2-40B4-BE49-F238E27FC236}">
                    <a16:creationId xmlns:a16="http://schemas.microsoft.com/office/drawing/2014/main" id="{9DD3C377-F1A7-48D3-AE26-705C40158D01}"/>
                  </a:ext>
                </a:extLst>
              </p:cNvPr>
              <p:cNvSpPr/>
              <p:nvPr userDrawn="1"/>
            </p:nvSpPr>
            <p:spPr>
              <a:xfrm>
                <a:off x="8191518" y="375229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D5F80F0-A7FB-45D8-A02F-17A28AEF4443}"/>
                  </a:ext>
                </a:extLst>
              </p:cNvPr>
              <p:cNvSpPr/>
              <p:nvPr userDrawn="1"/>
            </p:nvSpPr>
            <p:spPr>
              <a:xfrm flipV="1">
                <a:off x="-750454" y="4289506"/>
                <a:ext cx="8856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0C81418-DA7F-4965-A6CC-440B3B40C695}"/>
                  </a:ext>
                </a:extLst>
              </p:cNvPr>
              <p:cNvSpPr/>
              <p:nvPr userDrawn="1"/>
            </p:nvSpPr>
            <p:spPr>
              <a:xfrm flipV="1">
                <a:off x="8750782" y="3753688"/>
                <a:ext cx="2700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58F14C-64CB-4F88-AFF8-AB0B4D90A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92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00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49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6" r:id="rId13"/>
    <p:sldLayoutId id="2147483657" r:id="rId14"/>
    <p:sldLayoutId id="2147483658" r:id="rId15"/>
    <p:sldLayoutId id="2147483659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ACF6331-42CF-49B5-93BA-B5EACB963342}"/>
              </a:ext>
            </a:extLst>
          </p:cNvPr>
          <p:cNvSpPr/>
          <p:nvPr userDrawn="1"/>
        </p:nvSpPr>
        <p:spPr>
          <a:xfrm rot="16200000">
            <a:off x="5645523" y="-5645523"/>
            <a:ext cx="900954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906814-CB77-42CE-8722-740E4FA37C6F}"/>
              </a:ext>
            </a:extLst>
          </p:cNvPr>
          <p:cNvSpPr/>
          <p:nvPr userDrawn="1"/>
        </p:nvSpPr>
        <p:spPr>
          <a:xfrm rot="5400000">
            <a:off x="5731669" y="406904"/>
            <a:ext cx="728662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08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00" r:id="rId2"/>
    <p:sldLayoutId id="214748370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525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49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A20BE947-5BA3-46C2-9A4C-F3FF3946541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24944"/>
            <a:ext cx="12192000" cy="53531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b="1" dirty="0">
                <a:solidFill>
                  <a:srgbClr val="FF0066"/>
                </a:solidFill>
              </a:rPr>
              <a:t>结构化程序设计</a:t>
            </a:r>
          </a:p>
          <a:p>
            <a:pPr lvl="2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/>
              <a:t>基本思想：任何简单或复杂的程序都可以由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顺序结构</a:t>
            </a:r>
            <a:r>
              <a:rPr lang="zh-CN" altLang="en-US" sz="2400" b="1" dirty="0"/>
              <a:t>、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选择结构</a:t>
            </a:r>
            <a:r>
              <a:rPr lang="zh-CN" altLang="en-US" sz="2400" b="1" dirty="0"/>
              <a:t>和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循环结构</a:t>
            </a:r>
            <a:r>
              <a:rPr lang="zh-CN" altLang="en-US" sz="2400" b="1" dirty="0"/>
              <a:t>这</a:t>
            </a:r>
            <a:r>
              <a:rPr lang="zh-CN" altLang="zh-CN" sz="2400" b="1" dirty="0"/>
              <a:t>三种基本结构</a:t>
            </a:r>
            <a:r>
              <a:rPr lang="zh-CN" altLang="en-US" sz="2400" b="1" dirty="0"/>
              <a:t>组合、嵌套而成。</a:t>
            </a:r>
            <a:endParaRPr lang="en-US" altLang="zh-CN" sz="2400" b="1" dirty="0"/>
          </a:p>
          <a:p>
            <a:pPr lvl="2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/>
              <a:t>结构化程序设计的三大基本结构。</a:t>
            </a:r>
            <a:endParaRPr lang="zh-CN" altLang="zh-CN" sz="2400" b="1" dirty="0"/>
          </a:p>
          <a:p>
            <a:pPr lvl="2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/>
              <a:t>优点：结构清晰，易读，大大提高了程序设计的效率。</a:t>
            </a:r>
            <a:endParaRPr lang="en-US" altLang="zh-CN" sz="2400" b="1" dirty="0"/>
          </a:p>
          <a:p>
            <a:pPr lvl="2">
              <a:lnSpc>
                <a:spcPts val="3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/>
              <a:t>特点：</a:t>
            </a:r>
            <a:endParaRPr lang="en-US" altLang="zh-CN" sz="2400" b="1" dirty="0"/>
          </a:p>
          <a:p>
            <a:pPr lvl="3">
              <a:lnSpc>
                <a:spcPts val="3000"/>
              </a:lnSpc>
              <a:spcAft>
                <a:spcPts val="600"/>
              </a:spcAft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2200" b="1" dirty="0"/>
              <a:t> </a:t>
            </a:r>
            <a:r>
              <a:rPr lang="zh-CN" altLang="en-US" sz="2400" b="1" dirty="0"/>
              <a:t>只有一个入口和出口</a:t>
            </a:r>
            <a:endParaRPr lang="en-US" altLang="zh-CN" sz="2200" b="1" dirty="0"/>
          </a:p>
          <a:p>
            <a:pPr lvl="3">
              <a:lnSpc>
                <a:spcPts val="3000"/>
              </a:lnSpc>
              <a:spcAft>
                <a:spcPts val="600"/>
              </a:spcAft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2200" b="1" dirty="0"/>
              <a:t> </a:t>
            </a:r>
            <a:r>
              <a:rPr lang="zh-CN" altLang="en-US" sz="2400" b="1" dirty="0"/>
              <a:t>结构内的每一部分都有机会被执行到</a:t>
            </a:r>
            <a:endParaRPr lang="en-US" altLang="zh-CN" sz="2400" b="1" dirty="0"/>
          </a:p>
          <a:p>
            <a:pPr lvl="3">
              <a:lnSpc>
                <a:spcPts val="3000"/>
              </a:lnSpc>
              <a:spcAft>
                <a:spcPts val="600"/>
              </a:spcAft>
              <a:buClr>
                <a:srgbClr val="00B050"/>
              </a:buClr>
              <a:buFont typeface="Wingdings" panose="05000000000000000000" pitchFamily="2" charset="2"/>
              <a:buChar char="u"/>
            </a:pPr>
            <a:r>
              <a:rPr lang="zh-CN" altLang="en-US" sz="2200" b="1" dirty="0"/>
              <a:t> </a:t>
            </a:r>
            <a:r>
              <a:rPr lang="zh-CN" altLang="en-US" sz="2400" b="1" dirty="0"/>
              <a:t>结构内不存在死循环</a:t>
            </a:r>
            <a:endParaRPr lang="zh-CN" altLang="en-US" sz="2200" b="1" dirty="0"/>
          </a:p>
          <a:p>
            <a:pPr marL="914400" lvl="2" indent="0">
              <a:lnSpc>
                <a:spcPts val="3000"/>
              </a:lnSpc>
              <a:buNone/>
            </a:pPr>
            <a:endParaRPr lang="zh-CN" altLang="en-US" sz="2200" b="1" dirty="0">
              <a:solidFill>
                <a:srgbClr val="9933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753EAFE-3F1B-4583-A127-925DFB5A3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687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0F4D51-D46D-45D0-A227-31E4DC5C1B8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8"/>
            <a:ext cx="12192000" cy="17835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顺序结构</a:t>
            </a:r>
          </a:p>
          <a:p>
            <a:pPr lvl="2">
              <a:lnSpc>
                <a:spcPts val="3000"/>
              </a:lnSpc>
            </a:pPr>
            <a:r>
              <a:rPr lang="zh-CN" altLang="en-US" sz="2400" b="1" dirty="0"/>
              <a:t>程序的执行按照语句的书写顺序从前向后依次执行。</a:t>
            </a:r>
            <a:endParaRPr lang="en-US" altLang="zh-CN" sz="2400" b="1" dirty="0"/>
          </a:p>
          <a:p>
            <a:pPr lvl="2">
              <a:lnSpc>
                <a:spcPts val="3000"/>
              </a:lnSpc>
            </a:pPr>
            <a:r>
              <a:rPr lang="zh-CN" altLang="en-US" sz="2400" b="1" dirty="0"/>
              <a:t>特点：算法简单，但只能解决最简单的问题。</a:t>
            </a:r>
            <a:endParaRPr lang="zh-CN" altLang="en-US" sz="22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F51D8E-AD2C-48B7-873E-A8F366487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0E33D0D-494E-4EAC-9925-4185CAD5295D}"/>
              </a:ext>
            </a:extLst>
          </p:cNvPr>
          <p:cNvGrpSpPr/>
          <p:nvPr/>
        </p:nvGrpSpPr>
        <p:grpSpPr>
          <a:xfrm>
            <a:off x="3388670" y="2448604"/>
            <a:ext cx="2776288" cy="3429958"/>
            <a:chOff x="3388670" y="2448604"/>
            <a:chExt cx="2776288" cy="3429958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4D19561-534A-43A2-92C0-AFD3820EDFFE}"/>
                </a:ext>
              </a:extLst>
            </p:cNvPr>
            <p:cNvSpPr/>
            <p:nvPr/>
          </p:nvSpPr>
          <p:spPr>
            <a:xfrm>
              <a:off x="3388670" y="2925253"/>
              <a:ext cx="2776288" cy="2333582"/>
            </a:xfrm>
            <a:prstGeom prst="rect">
              <a:avLst/>
            </a:prstGeom>
            <a:solidFill>
              <a:schemeClr val="bg2"/>
            </a:solidFill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" name="Group 13">
              <a:extLst>
                <a:ext uri="{FF2B5EF4-FFF2-40B4-BE49-F238E27FC236}">
                  <a16:creationId xmlns:a16="http://schemas.microsoft.com/office/drawing/2014/main" id="{4BBA07DE-A726-4452-AB15-DADD9AD245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8593" y="2448604"/>
              <a:ext cx="1993298" cy="3429958"/>
              <a:chOff x="3024" y="2492"/>
              <a:chExt cx="644" cy="1573"/>
            </a:xfrm>
          </p:grpSpPr>
          <p:sp useBgFill="1">
            <p:nvSpPr>
              <p:cNvPr id="7" name="Line 4">
                <a:extLst>
                  <a:ext uri="{FF2B5EF4-FFF2-40B4-BE49-F238E27FC236}">
                    <a16:creationId xmlns:a16="http://schemas.microsoft.com/office/drawing/2014/main" id="{D521CDA8-3363-46EA-99A0-972BCFA67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2492"/>
                <a:ext cx="0" cy="332"/>
              </a:xfrm>
              <a:prstGeom prst="line">
                <a:avLst/>
              </a:prstGeom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 useBgFill="1">
            <p:nvSpPr>
              <p:cNvPr id="8" name="AutoShape 5">
                <a:extLst>
                  <a:ext uri="{FF2B5EF4-FFF2-40B4-BE49-F238E27FC236}">
                    <a16:creationId xmlns:a16="http://schemas.microsoft.com/office/drawing/2014/main" id="{26F2F5DF-7CBF-4A35-8F6A-D3E19E2D5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2827"/>
                <a:ext cx="644" cy="233"/>
              </a:xfrm>
              <a:prstGeom prst="flowChartProcess">
                <a:avLst/>
              </a:prstGeom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0" dirty="0">
                    <a:solidFill>
                      <a:schemeClr val="tx1"/>
                    </a:solidFill>
                  </a:rPr>
                  <a:t>语句</a:t>
                </a:r>
                <a:r>
                  <a:rPr kumimoji="1" lang="en-US" altLang="zh-CN" sz="2000" dirty="0"/>
                  <a:t>1</a:t>
                </a:r>
                <a:endParaRPr kumimoji="1" lang="en-US" altLang="zh-CN" sz="3200" b="0" u="sng" dirty="0">
                  <a:solidFill>
                    <a:schemeClr val="tx1"/>
                  </a:solidFill>
                </a:endParaRPr>
              </a:p>
            </p:txBody>
          </p:sp>
          <p:sp useBgFill="1">
            <p:nvSpPr>
              <p:cNvPr id="9" name="AutoShape 6">
                <a:extLst>
                  <a:ext uri="{FF2B5EF4-FFF2-40B4-BE49-F238E27FC236}">
                    <a16:creationId xmlns:a16="http://schemas.microsoft.com/office/drawing/2014/main" id="{1AA19DD7-C9AE-4CEB-91B7-6E8F0AEF31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3459"/>
                <a:ext cx="644" cy="233"/>
              </a:xfrm>
              <a:prstGeom prst="flowChartProcess">
                <a:avLst/>
              </a:prstGeom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0" dirty="0">
                    <a:solidFill>
                      <a:schemeClr val="tx1"/>
                    </a:solidFill>
                  </a:rPr>
                  <a:t>语句</a:t>
                </a:r>
                <a:r>
                  <a:rPr kumimoji="1" lang="en-US" altLang="zh-CN" sz="2000" b="0" dirty="0">
                    <a:solidFill>
                      <a:schemeClr val="tx1"/>
                    </a:solidFill>
                  </a:rPr>
                  <a:t>N</a:t>
                </a:r>
                <a:endParaRPr kumimoji="1" lang="en-US" altLang="zh-CN" sz="4000" b="0" u="sng" dirty="0">
                  <a:solidFill>
                    <a:schemeClr val="tx1"/>
                  </a:solidFill>
                </a:endParaRPr>
              </a:p>
            </p:txBody>
          </p:sp>
          <p:sp useBgFill="1">
            <p:nvSpPr>
              <p:cNvPr id="10" name="Line 7">
                <a:extLst>
                  <a:ext uri="{FF2B5EF4-FFF2-40B4-BE49-F238E27FC236}">
                    <a16:creationId xmlns:a16="http://schemas.microsoft.com/office/drawing/2014/main" id="{42CBA1A9-E4F8-4E9E-8E50-87548CA9A8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31"/>
                <a:ext cx="0" cy="128"/>
              </a:xfrm>
              <a:prstGeom prst="line">
                <a:avLst/>
              </a:prstGeom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 useBgFill="1">
            <p:nvSpPr>
              <p:cNvPr id="11" name="Line 8">
                <a:extLst>
                  <a:ext uri="{FF2B5EF4-FFF2-40B4-BE49-F238E27FC236}">
                    <a16:creationId xmlns:a16="http://schemas.microsoft.com/office/drawing/2014/main" id="{BFFCD254-95FF-4BB5-A21B-114B2669EA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692"/>
                <a:ext cx="0" cy="373"/>
              </a:xfrm>
              <a:prstGeom prst="line">
                <a:avLst/>
              </a:prstGeom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 useBgFill="1">
          <p:nvSpPr>
            <p:cNvPr id="12" name="Line 7">
              <a:extLst>
                <a:ext uri="{FF2B5EF4-FFF2-40B4-BE49-F238E27FC236}">
                  <a16:creationId xmlns:a16="http://schemas.microsoft.com/office/drawing/2014/main" id="{9EE454E0-5FB3-4F7C-8D08-56C8E6148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1195" y="3687140"/>
              <a:ext cx="0" cy="278816"/>
            </a:xfrm>
            <a:prstGeom prst="line">
              <a:avLst/>
            </a:prstGeom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F2B9D81-D993-4E54-B770-4B6FCB3C3FC6}"/>
                </a:ext>
              </a:extLst>
            </p:cNvPr>
            <p:cNvSpPr txBox="1"/>
            <p:nvPr/>
          </p:nvSpPr>
          <p:spPr>
            <a:xfrm>
              <a:off x="4373897" y="3942121"/>
              <a:ext cx="777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</a:rPr>
                <a:t>••••••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7017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0F4D51-D46D-45D0-A227-31E4DC5C1B8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5378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3-2】</a:t>
            </a:r>
            <a:r>
              <a:rPr lang="zh-CN" altLang="en-US" sz="2400" b="1" dirty="0"/>
              <a:t>从键盘输入三角形三条边的值，程序计算并输出三角形的面积。</a:t>
            </a:r>
            <a:endParaRPr lang="zh-CN" altLang="en-US" sz="22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A0BCB4-8492-4C0C-B264-F5FBDFC08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29" y="1329676"/>
            <a:ext cx="3385384" cy="4812345"/>
          </a:xfrm>
          <a:prstGeom prst="rect">
            <a:avLst/>
          </a:prstGeom>
          <a:solidFill>
            <a:schemeClr val="bg2"/>
          </a:solidFill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CA8B42E-5BE7-4692-8223-6164E6C27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294" y="1339487"/>
            <a:ext cx="8445706" cy="3766267"/>
          </a:xfrm>
          <a:prstGeom prst="rect">
            <a:avLst/>
          </a:prstGeom>
          <a:solidFill>
            <a:schemeClr val="bg2"/>
          </a:solidFill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E0CEFF-30F1-4A1A-BB23-FDD42DAE2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245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0F4D51-D46D-45D0-A227-31E4DC5C1B8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8"/>
            <a:ext cx="12192000" cy="11101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选择结构</a:t>
            </a:r>
          </a:p>
          <a:p>
            <a:pPr lvl="2">
              <a:lnSpc>
                <a:spcPts val="3000"/>
              </a:lnSpc>
            </a:pPr>
            <a:r>
              <a:rPr lang="zh-CN" altLang="en-US" sz="2400" b="1" dirty="0"/>
              <a:t>程序的执行根据某种条件的成立与否而执行不同的程序段分支。</a:t>
            </a:r>
            <a:endParaRPr lang="en-US" altLang="zh-CN" sz="2400" b="1" dirty="0"/>
          </a:p>
        </p:txBody>
      </p:sp>
      <p:grpSp>
        <p:nvGrpSpPr>
          <p:cNvPr id="12" name="Group 3">
            <a:extLst>
              <a:ext uri="{FF2B5EF4-FFF2-40B4-BE49-F238E27FC236}">
                <a16:creationId xmlns:a16="http://schemas.microsoft.com/office/drawing/2014/main" id="{0ED7859D-AA71-4FF6-986A-A940D0662A82}"/>
              </a:ext>
            </a:extLst>
          </p:cNvPr>
          <p:cNvGrpSpPr>
            <a:grpSpLocks/>
          </p:cNvGrpSpPr>
          <p:nvPr/>
        </p:nvGrpSpPr>
        <p:grpSpPr bwMode="auto">
          <a:xfrm>
            <a:off x="2975222" y="2456618"/>
            <a:ext cx="3471863" cy="2505075"/>
            <a:chOff x="1941" y="192"/>
            <a:chExt cx="2187" cy="1578"/>
          </a:xfrm>
        </p:grpSpPr>
        <p:sp>
          <p:nvSpPr>
            <p:cNvPr id="13" name="Line 4">
              <a:extLst>
                <a:ext uri="{FF2B5EF4-FFF2-40B4-BE49-F238E27FC236}">
                  <a16:creationId xmlns:a16="http://schemas.microsoft.com/office/drawing/2014/main" id="{1D2A4F64-4488-448D-8D3D-BFA19843B3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9" y="1470"/>
              <a:ext cx="0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4" name="Group 5">
              <a:extLst>
                <a:ext uri="{FF2B5EF4-FFF2-40B4-BE49-F238E27FC236}">
                  <a16:creationId xmlns:a16="http://schemas.microsoft.com/office/drawing/2014/main" id="{0B33277A-6CB4-48AF-AC71-183034166B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1" y="192"/>
              <a:ext cx="2187" cy="1278"/>
              <a:chOff x="1941" y="192"/>
              <a:chExt cx="2187" cy="1278"/>
            </a:xfrm>
          </p:grpSpPr>
          <p:sp useBgFill="1">
            <p:nvSpPr>
              <p:cNvPr id="15" name="AutoShape 6">
                <a:extLst>
                  <a:ext uri="{FF2B5EF4-FFF2-40B4-BE49-F238E27FC236}">
                    <a16:creationId xmlns:a16="http://schemas.microsoft.com/office/drawing/2014/main" id="{3B9EFC8B-5730-4E85-BB10-D8CC62399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1" y="492"/>
                <a:ext cx="967" cy="367"/>
              </a:xfrm>
              <a:prstGeom prst="flowChartDecision">
                <a:avLst/>
              </a:prstGeom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0" dirty="0">
                    <a:solidFill>
                      <a:schemeClr val="tx1"/>
                    </a:solidFill>
                  </a:rPr>
                  <a:t>P</a:t>
                </a:r>
                <a:endParaRPr kumimoji="1" lang="en-US" altLang="zh-CN" sz="40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 Box 7">
                <a:extLst>
                  <a:ext uri="{FF2B5EF4-FFF2-40B4-BE49-F238E27FC236}">
                    <a16:creationId xmlns:a16="http://schemas.microsoft.com/office/drawing/2014/main" id="{19AA1EFC-4480-43F6-B272-CA5D8D66AC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1" y="970"/>
                <a:ext cx="831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0" dirty="0">
                    <a:solidFill>
                      <a:schemeClr val="tx1"/>
                    </a:solidFill>
                  </a:rPr>
                  <a:t>语句</a:t>
                </a:r>
                <a:r>
                  <a:rPr kumimoji="1" lang="en-US" altLang="zh-CN" sz="2000" b="0" dirty="0">
                    <a:solidFill>
                      <a:schemeClr val="tx1"/>
                    </a:solidFill>
                  </a:rPr>
                  <a:t>A</a:t>
                </a:r>
                <a:endParaRPr kumimoji="1" lang="en-US" altLang="zh-CN" sz="4000" b="0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Text Box 8">
                <a:extLst>
                  <a:ext uri="{FF2B5EF4-FFF2-40B4-BE49-F238E27FC236}">
                    <a16:creationId xmlns:a16="http://schemas.microsoft.com/office/drawing/2014/main" id="{FDF03C42-6D44-4329-8AB7-CEBE5D22F6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2" y="970"/>
                <a:ext cx="756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0" dirty="0">
                    <a:solidFill>
                      <a:schemeClr val="tx1"/>
                    </a:solidFill>
                  </a:rPr>
                  <a:t>语句</a:t>
                </a:r>
                <a:r>
                  <a:rPr kumimoji="1" lang="en-US" altLang="zh-CN" sz="2000" b="0" dirty="0">
                    <a:solidFill>
                      <a:schemeClr val="tx1"/>
                    </a:solidFill>
                  </a:rPr>
                  <a:t>B</a:t>
                </a:r>
                <a:endParaRPr kumimoji="1" lang="en-US" altLang="zh-CN" sz="4000" b="0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Line 9">
                <a:extLst>
                  <a:ext uri="{FF2B5EF4-FFF2-40B4-BE49-F238E27FC236}">
                    <a16:creationId xmlns:a16="http://schemas.microsoft.com/office/drawing/2014/main" id="{4E5E61C4-F83F-44AF-9FF5-D797B2CF74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9" y="192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9" name="Line 10">
                <a:extLst>
                  <a:ext uri="{FF2B5EF4-FFF2-40B4-BE49-F238E27FC236}">
                    <a16:creationId xmlns:a16="http://schemas.microsoft.com/office/drawing/2014/main" id="{AB70EC4A-E82A-4F7D-BF0F-57EFE1111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39" y="681"/>
                <a:ext cx="2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" name="Line 11">
                <a:extLst>
                  <a:ext uri="{FF2B5EF4-FFF2-40B4-BE49-F238E27FC236}">
                    <a16:creationId xmlns:a16="http://schemas.microsoft.com/office/drawing/2014/main" id="{E0A29A67-AFE0-40B6-8C9C-B2E3069EB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9" y="681"/>
                <a:ext cx="0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1" name="Line 12">
                <a:extLst>
                  <a:ext uri="{FF2B5EF4-FFF2-40B4-BE49-F238E27FC236}">
                    <a16:creationId xmlns:a16="http://schemas.microsoft.com/office/drawing/2014/main" id="{7BD18888-837D-453B-8418-58BF13BE1B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8" y="681"/>
                <a:ext cx="2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2" name="Line 13">
                <a:extLst>
                  <a:ext uri="{FF2B5EF4-FFF2-40B4-BE49-F238E27FC236}">
                    <a16:creationId xmlns:a16="http://schemas.microsoft.com/office/drawing/2014/main" id="{4D52E3D3-BE66-443A-9B24-E868CAE602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2" y="681"/>
                <a:ext cx="0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3" name="Line 14">
                <a:extLst>
                  <a:ext uri="{FF2B5EF4-FFF2-40B4-BE49-F238E27FC236}">
                    <a16:creationId xmlns:a16="http://schemas.microsoft.com/office/drawing/2014/main" id="{A5146F9C-AFDF-4FA7-B9C1-BD8522F62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9" y="1226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4" name="Line 15">
                <a:extLst>
                  <a:ext uri="{FF2B5EF4-FFF2-40B4-BE49-F238E27FC236}">
                    <a16:creationId xmlns:a16="http://schemas.microsoft.com/office/drawing/2014/main" id="{B47744BA-E1A7-40A5-950E-AB20AA7C05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57" y="1226"/>
                <a:ext cx="0" cy="2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5" name="Line 16">
                <a:extLst>
                  <a:ext uri="{FF2B5EF4-FFF2-40B4-BE49-F238E27FC236}">
                    <a16:creationId xmlns:a16="http://schemas.microsoft.com/office/drawing/2014/main" id="{3F0B68B9-D115-4865-A046-4474CE1B9D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9" y="1470"/>
                <a:ext cx="71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Line 17">
                <a:extLst>
                  <a:ext uri="{FF2B5EF4-FFF2-40B4-BE49-F238E27FC236}">
                    <a16:creationId xmlns:a16="http://schemas.microsoft.com/office/drawing/2014/main" id="{16F1CE7D-7E50-429A-B168-D6E2A0FF8F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49" y="1470"/>
                <a:ext cx="7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7" name="Text Box 18">
                <a:extLst>
                  <a:ext uri="{FF2B5EF4-FFF2-40B4-BE49-F238E27FC236}">
                    <a16:creationId xmlns:a16="http://schemas.microsoft.com/office/drawing/2014/main" id="{7CA4A75C-EBB7-4D03-AC6D-0943E6F63E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9" y="431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0">
                    <a:solidFill>
                      <a:schemeClr val="tx1"/>
                    </a:solidFill>
                  </a:rPr>
                  <a:t>真</a:t>
                </a:r>
                <a:endParaRPr kumimoji="1" lang="zh-CN" altLang="en-US" sz="40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Text Box 19">
                <a:extLst>
                  <a:ext uri="{FF2B5EF4-FFF2-40B4-BE49-F238E27FC236}">
                    <a16:creationId xmlns:a16="http://schemas.microsoft.com/office/drawing/2014/main" id="{B367CE63-926E-4969-90A8-4A8B430F43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8" y="431"/>
                <a:ext cx="2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lnSpc>
                    <a:spcPct val="9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FCC66"/>
                  </a:buClr>
                  <a:buSzPct val="80000"/>
                  <a:buFont typeface="Monotype Sorts" charset="2"/>
                  <a:defRPr sz="3600" b="1">
                    <a:solidFill>
                      <a:srgbClr val="3366FF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2000" b="0">
                    <a:solidFill>
                      <a:schemeClr val="tx1"/>
                    </a:solidFill>
                  </a:rPr>
                  <a:t>假</a:t>
                </a:r>
                <a:endParaRPr kumimoji="1" lang="zh-CN" altLang="en-US" sz="4000" b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9" name="Group 34">
            <a:extLst>
              <a:ext uri="{FF2B5EF4-FFF2-40B4-BE49-F238E27FC236}">
                <a16:creationId xmlns:a16="http://schemas.microsoft.com/office/drawing/2014/main" id="{27087600-A340-4216-88DC-77A099F6124B}"/>
              </a:ext>
            </a:extLst>
          </p:cNvPr>
          <p:cNvGrpSpPr>
            <a:grpSpLocks/>
          </p:cNvGrpSpPr>
          <p:nvPr/>
        </p:nvGrpSpPr>
        <p:grpSpPr bwMode="auto">
          <a:xfrm>
            <a:off x="6649491" y="2002377"/>
            <a:ext cx="5505450" cy="3581400"/>
            <a:chOff x="1056" y="1680"/>
            <a:chExt cx="3468" cy="2256"/>
          </a:xfrm>
        </p:grpSpPr>
        <p:sp useBgFill="1">
          <p:nvSpPr>
            <p:cNvPr id="30" name="AutoShape 35">
              <a:extLst>
                <a:ext uri="{FF2B5EF4-FFF2-40B4-BE49-F238E27FC236}">
                  <a16:creationId xmlns:a16="http://schemas.microsoft.com/office/drawing/2014/main" id="{36799758-67B5-4718-B232-61D010BBB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968"/>
              <a:ext cx="384" cy="336"/>
            </a:xfrm>
            <a:prstGeom prst="flowChartConnector">
              <a:avLst/>
            </a:prstGeom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0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31" name="Line 36">
              <a:extLst>
                <a:ext uri="{FF2B5EF4-FFF2-40B4-BE49-F238E27FC236}">
                  <a16:creationId xmlns:a16="http://schemas.microsoft.com/office/drawing/2014/main" id="{52D16999-816A-4674-B71D-4FC71E105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6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 useBgFill="1">
          <p:nvSpPr>
            <p:cNvPr id="32" name="Text Box 37">
              <a:extLst>
                <a:ext uri="{FF2B5EF4-FFF2-40B4-BE49-F238E27FC236}">
                  <a16:creationId xmlns:a16="http://schemas.microsoft.com/office/drawing/2014/main" id="{34C95DBB-86FE-43BE-99C4-6AF0AAD29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736"/>
              <a:ext cx="684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0" dirty="0">
                  <a:solidFill>
                    <a:schemeClr val="tx1"/>
                  </a:solidFill>
                </a:rPr>
                <a:t>语句</a:t>
              </a:r>
              <a:r>
                <a:rPr kumimoji="1" lang="en-US" altLang="zh-CN" sz="2000" b="0" dirty="0">
                  <a:solidFill>
                    <a:schemeClr val="tx1"/>
                  </a:solidFill>
                </a:rPr>
                <a:t>A1</a:t>
              </a:r>
            </a:p>
          </p:txBody>
        </p:sp>
        <p:sp useBgFill="1">
          <p:nvSpPr>
            <p:cNvPr id="33" name="Text Box 38">
              <a:extLst>
                <a:ext uri="{FF2B5EF4-FFF2-40B4-BE49-F238E27FC236}">
                  <a16:creationId xmlns:a16="http://schemas.microsoft.com/office/drawing/2014/main" id="{F8AFE342-1D7E-4D51-87FA-71AFA95E0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36"/>
              <a:ext cx="684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0" dirty="0">
                  <a:solidFill>
                    <a:schemeClr val="tx1"/>
                  </a:solidFill>
                </a:rPr>
                <a:t>语句</a:t>
              </a:r>
              <a:r>
                <a:rPr kumimoji="1" lang="en-US" altLang="zh-CN" sz="2000" b="0" dirty="0">
                  <a:solidFill>
                    <a:schemeClr val="tx1"/>
                  </a:solidFill>
                </a:rPr>
                <a:t>A2</a:t>
              </a:r>
            </a:p>
          </p:txBody>
        </p:sp>
        <p:sp useBgFill="1">
          <p:nvSpPr>
            <p:cNvPr id="34" name="Text Box 39">
              <a:extLst>
                <a:ext uri="{FF2B5EF4-FFF2-40B4-BE49-F238E27FC236}">
                  <a16:creationId xmlns:a16="http://schemas.microsoft.com/office/drawing/2014/main" id="{BB5F5B23-1576-457B-94D8-4EC51AE8F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736"/>
              <a:ext cx="684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0" dirty="0">
                  <a:solidFill>
                    <a:schemeClr val="tx1"/>
                  </a:solidFill>
                </a:rPr>
                <a:t>语句</a:t>
              </a:r>
              <a:r>
                <a:rPr kumimoji="1" lang="en-US" altLang="zh-CN" sz="2000" b="0" dirty="0">
                  <a:solidFill>
                    <a:schemeClr val="tx1"/>
                  </a:solidFill>
                </a:rPr>
                <a:t>Ai</a:t>
              </a:r>
            </a:p>
          </p:txBody>
        </p:sp>
        <p:sp useBgFill="1">
          <p:nvSpPr>
            <p:cNvPr id="35" name="Text Box 40">
              <a:extLst>
                <a:ext uri="{FF2B5EF4-FFF2-40B4-BE49-F238E27FC236}">
                  <a16:creationId xmlns:a16="http://schemas.microsoft.com/office/drawing/2014/main" id="{286C2EDC-6BDE-4FEB-AD6A-1426C1B51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736"/>
              <a:ext cx="684" cy="256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000" b="0" dirty="0">
                  <a:solidFill>
                    <a:schemeClr val="tx1"/>
                  </a:solidFill>
                </a:rPr>
                <a:t>语句</a:t>
              </a:r>
              <a:r>
                <a:rPr kumimoji="1" lang="en-US" altLang="zh-CN" sz="2000" b="0" dirty="0">
                  <a:solidFill>
                    <a:schemeClr val="tx1"/>
                  </a:solidFill>
                </a:rPr>
                <a:t>An</a:t>
              </a:r>
            </a:p>
          </p:txBody>
        </p:sp>
        <p:sp>
          <p:nvSpPr>
            <p:cNvPr id="36" name="Line 41">
              <a:extLst>
                <a:ext uri="{FF2B5EF4-FFF2-40B4-BE49-F238E27FC236}">
                  <a16:creationId xmlns:a16="http://schemas.microsoft.com/office/drawing/2014/main" id="{95DBF4EB-72A2-494E-94E1-048D822823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2208"/>
              <a:ext cx="115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 useBgFill="1">
          <p:nvSpPr>
            <p:cNvPr id="37" name="AutoShape 42">
              <a:extLst>
                <a:ext uri="{FF2B5EF4-FFF2-40B4-BE49-F238E27FC236}">
                  <a16:creationId xmlns:a16="http://schemas.microsoft.com/office/drawing/2014/main" id="{CEBE1503-2E93-4B66-9D9F-96B5842FD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312"/>
              <a:ext cx="384" cy="336"/>
            </a:xfrm>
            <a:prstGeom prst="flowChartConnector">
              <a:avLst/>
            </a:prstGeom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Line 43">
              <a:extLst>
                <a:ext uri="{FF2B5EF4-FFF2-40B4-BE49-F238E27FC236}">
                  <a16:creationId xmlns:a16="http://schemas.microsoft.com/office/drawing/2014/main" id="{99453B15-19E2-42FF-AA2E-54A94A4A3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8" y="2304"/>
              <a:ext cx="43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9" name="Line 44">
              <a:extLst>
                <a:ext uri="{FF2B5EF4-FFF2-40B4-BE49-F238E27FC236}">
                  <a16:creationId xmlns:a16="http://schemas.microsoft.com/office/drawing/2014/main" id="{7A15CC91-65FC-4D98-A834-61D7B7856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256"/>
              <a:ext cx="48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0" name="Line 45">
              <a:extLst>
                <a:ext uri="{FF2B5EF4-FFF2-40B4-BE49-F238E27FC236}">
                  <a16:creationId xmlns:a16="http://schemas.microsoft.com/office/drawing/2014/main" id="{15D147BF-AEBD-4F43-BE5B-A7862D7266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160"/>
              <a:ext cx="124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1" name="Line 46">
              <a:extLst>
                <a:ext uri="{FF2B5EF4-FFF2-40B4-BE49-F238E27FC236}">
                  <a16:creationId xmlns:a16="http://schemas.microsoft.com/office/drawing/2014/main" id="{B10AFE4D-E34F-42F4-B86A-884179F2CD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0" y="3004"/>
              <a:ext cx="40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Line 47">
              <a:extLst>
                <a:ext uri="{FF2B5EF4-FFF2-40B4-BE49-F238E27FC236}">
                  <a16:creationId xmlns:a16="http://schemas.microsoft.com/office/drawing/2014/main" id="{EAF60A17-B29E-4828-9E0B-48B93560AD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004"/>
              <a:ext cx="1152" cy="4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Line 48">
              <a:extLst>
                <a:ext uri="{FF2B5EF4-FFF2-40B4-BE49-F238E27FC236}">
                  <a16:creationId xmlns:a16="http://schemas.microsoft.com/office/drawing/2014/main" id="{53D2358F-75B9-4390-87CC-175A2F5212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28" y="3004"/>
              <a:ext cx="384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4" name="Line 49">
              <a:extLst>
                <a:ext uri="{FF2B5EF4-FFF2-40B4-BE49-F238E27FC236}">
                  <a16:creationId xmlns:a16="http://schemas.microsoft.com/office/drawing/2014/main" id="{2B244808-3F0B-4A14-8F30-2F5F9E653E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2992"/>
              <a:ext cx="1104" cy="4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5" name="Line 50">
              <a:extLst>
                <a:ext uri="{FF2B5EF4-FFF2-40B4-BE49-F238E27FC236}">
                  <a16:creationId xmlns:a16="http://schemas.microsoft.com/office/drawing/2014/main" id="{5E0F0A49-2C8F-4E87-AAA5-8BE9D1293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6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Text Box 51">
              <a:extLst>
                <a:ext uri="{FF2B5EF4-FFF2-40B4-BE49-F238E27FC236}">
                  <a16:creationId xmlns:a16="http://schemas.microsoft.com/office/drawing/2014/main" id="{E3E6E129-1E3D-499B-A990-C60DBAA0D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400"/>
              <a:ext cx="4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</a:rPr>
                <a:t>k=k2</a:t>
              </a:r>
            </a:p>
          </p:txBody>
        </p:sp>
        <p:sp>
          <p:nvSpPr>
            <p:cNvPr id="47" name="Text Box 52">
              <a:extLst>
                <a:ext uri="{FF2B5EF4-FFF2-40B4-BE49-F238E27FC236}">
                  <a16:creationId xmlns:a16="http://schemas.microsoft.com/office/drawing/2014/main" id="{BDD473F0-6C3C-4951-81A8-5FE768189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56"/>
              <a:ext cx="4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</a:rPr>
                <a:t>k=k1</a:t>
              </a:r>
            </a:p>
          </p:txBody>
        </p:sp>
        <p:sp>
          <p:nvSpPr>
            <p:cNvPr id="48" name="Text Box 53">
              <a:extLst>
                <a:ext uri="{FF2B5EF4-FFF2-40B4-BE49-F238E27FC236}">
                  <a16:creationId xmlns:a16="http://schemas.microsoft.com/office/drawing/2014/main" id="{8A5B2DB2-2473-4326-B482-7F7346A87A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160"/>
              <a:ext cx="4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</a:rPr>
                <a:t>k=kn</a:t>
              </a:r>
            </a:p>
          </p:txBody>
        </p:sp>
        <p:sp>
          <p:nvSpPr>
            <p:cNvPr id="49" name="Text Box 54">
              <a:extLst>
                <a:ext uri="{FF2B5EF4-FFF2-40B4-BE49-F238E27FC236}">
                  <a16:creationId xmlns:a16="http://schemas.microsoft.com/office/drawing/2014/main" id="{9B7327A4-39AD-4182-B591-70578BA9B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" y="2352"/>
              <a:ext cx="4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</a:rPr>
                <a:t>k=ki</a:t>
              </a:r>
            </a:p>
          </p:txBody>
        </p:sp>
        <p:sp>
          <p:nvSpPr>
            <p:cNvPr id="50" name="Text Box 55">
              <a:extLst>
                <a:ext uri="{FF2B5EF4-FFF2-40B4-BE49-F238E27FC236}">
                  <a16:creationId xmlns:a16="http://schemas.microsoft.com/office/drawing/2014/main" id="{2A09A153-86CE-41ED-86D0-6CD69628D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736"/>
              <a:ext cx="2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</a:rPr>
                <a:t>...</a:t>
              </a:r>
            </a:p>
          </p:txBody>
        </p:sp>
        <p:sp>
          <p:nvSpPr>
            <p:cNvPr id="51" name="Text Box 56">
              <a:extLst>
                <a:ext uri="{FF2B5EF4-FFF2-40B4-BE49-F238E27FC236}">
                  <a16:creationId xmlns:a16="http://schemas.microsoft.com/office/drawing/2014/main" id="{B2737A72-5AB8-493D-9362-6A0331CCC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736"/>
              <a:ext cx="2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defRPr sz="3600" b="1">
                  <a:solidFill>
                    <a:srgbClr val="3366FF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0">
                  <a:solidFill>
                    <a:schemeClr val="tx1"/>
                  </a:solidFill>
                </a:rPr>
                <a:t>...</a:t>
              </a:r>
            </a:p>
          </p:txBody>
        </p:sp>
      </p:grpSp>
      <p:sp>
        <p:nvSpPr>
          <p:cNvPr id="52" name="Text Box 57">
            <a:extLst>
              <a:ext uri="{FF2B5EF4-FFF2-40B4-BE49-F238E27FC236}">
                <a16:creationId xmlns:a16="http://schemas.microsoft.com/office/drawing/2014/main" id="{9EE594A4-5D3C-40C3-9EA7-267B30D7A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4060" y="5580798"/>
            <a:ext cx="2938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二分支选择结构</a:t>
            </a:r>
          </a:p>
        </p:txBody>
      </p:sp>
      <p:sp>
        <p:nvSpPr>
          <p:cNvPr id="53" name="Text Box 58">
            <a:extLst>
              <a:ext uri="{FF2B5EF4-FFF2-40B4-BE49-F238E27FC236}">
                <a16:creationId xmlns:a16="http://schemas.microsoft.com/office/drawing/2014/main" id="{A6D2A49A-A16D-4CBB-8A3D-F76947F7A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5984" y="5580032"/>
            <a:ext cx="2938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多分支选择结构</a:t>
            </a:r>
          </a:p>
        </p:txBody>
      </p:sp>
      <p:sp>
        <p:nvSpPr>
          <p:cNvPr id="71" name="Text Box 57">
            <a:extLst>
              <a:ext uri="{FF2B5EF4-FFF2-40B4-BE49-F238E27FC236}">
                <a16:creationId xmlns:a16="http://schemas.microsoft.com/office/drawing/2014/main" id="{1E1D549B-ECFA-45C1-B921-22D36ABCE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992" y="5577978"/>
            <a:ext cx="29658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单分支选择结构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3C94114-1844-4ED2-BB5D-5950DFDAD0DC}"/>
              </a:ext>
            </a:extLst>
          </p:cNvPr>
          <p:cNvGrpSpPr/>
          <p:nvPr/>
        </p:nvGrpSpPr>
        <p:grpSpPr>
          <a:xfrm>
            <a:off x="648740" y="2376970"/>
            <a:ext cx="1973263" cy="2476500"/>
            <a:chOff x="883692" y="2431045"/>
            <a:chExt cx="1973263" cy="2476500"/>
          </a:xfrm>
        </p:grpSpPr>
        <p:grpSp>
          <p:nvGrpSpPr>
            <p:cNvPr id="54" name="Group 3">
              <a:extLst>
                <a:ext uri="{FF2B5EF4-FFF2-40B4-BE49-F238E27FC236}">
                  <a16:creationId xmlns:a16="http://schemas.microsoft.com/office/drawing/2014/main" id="{DD0BF00A-CD6F-47DE-B4C4-DB7AE1F6C6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3692" y="2431045"/>
              <a:ext cx="1973263" cy="2476500"/>
              <a:chOff x="2561" y="192"/>
              <a:chExt cx="1243" cy="1560"/>
            </a:xfrm>
          </p:grpSpPr>
          <p:sp>
            <p:nvSpPr>
              <p:cNvPr id="55" name="Line 4">
                <a:extLst>
                  <a:ext uri="{FF2B5EF4-FFF2-40B4-BE49-F238E27FC236}">
                    <a16:creationId xmlns:a16="http://schemas.microsoft.com/office/drawing/2014/main" id="{B68E8D8A-F8AA-44D2-A201-A2AC5EC8E5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7" y="1452"/>
                <a:ext cx="0" cy="3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56" name="Group 5">
                <a:extLst>
                  <a:ext uri="{FF2B5EF4-FFF2-40B4-BE49-F238E27FC236}">
                    <a16:creationId xmlns:a16="http://schemas.microsoft.com/office/drawing/2014/main" id="{2E0F2810-4AA2-48A3-9BC9-CDEAE3FBD6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61" y="192"/>
                <a:ext cx="1243" cy="1278"/>
                <a:chOff x="2561" y="192"/>
                <a:chExt cx="1243" cy="1278"/>
              </a:xfrm>
            </p:grpSpPr>
            <p:sp useBgFill="1">
              <p:nvSpPr>
                <p:cNvPr id="57" name="AutoShape 6">
                  <a:extLst>
                    <a:ext uri="{FF2B5EF4-FFF2-40B4-BE49-F238E27FC236}">
                      <a16:creationId xmlns:a16="http://schemas.microsoft.com/office/drawing/2014/main" id="{FEAE7823-C065-4CE1-963E-8FBA0435DD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61" y="492"/>
                  <a:ext cx="967" cy="367"/>
                </a:xfrm>
                <a:prstGeom prst="flowChartDecision">
                  <a:avLst/>
                </a:prstGeom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en-US" altLang="zh-CN" sz="2000" b="0" dirty="0">
                      <a:solidFill>
                        <a:schemeClr val="tx1"/>
                      </a:solidFill>
                    </a:rPr>
                    <a:t>P</a:t>
                  </a:r>
                  <a:endParaRPr kumimoji="1" lang="en-US" altLang="zh-CN" sz="4000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Text Box 8">
                  <a:extLst>
                    <a:ext uri="{FF2B5EF4-FFF2-40B4-BE49-F238E27FC236}">
                      <a16:creationId xmlns:a16="http://schemas.microsoft.com/office/drawing/2014/main" id="{92C300F0-43DB-4E2B-A80C-2744727512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57" y="1011"/>
                  <a:ext cx="781" cy="25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algn="ctr" eaLnBrk="0" fontAlgn="base" hangingPunct="0">
                    <a:lnSpc>
                      <a:spcPct val="9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CC66"/>
                    </a:buClr>
                    <a:buSzPct val="80000"/>
                    <a:buFont typeface="Monotype Sorts" charset="2"/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algn="ctr" eaLnBrk="0" fontAlgn="base" hangingPunct="0">
                    <a:lnSpc>
                      <a:spcPct val="9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CC66"/>
                    </a:buClr>
                    <a:buSzPct val="80000"/>
                    <a:buFont typeface="Monotype Sorts" charset="2"/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algn="ctr" eaLnBrk="0" fontAlgn="base" hangingPunct="0">
                    <a:lnSpc>
                      <a:spcPct val="9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CC66"/>
                    </a:buClr>
                    <a:buSzPct val="80000"/>
                    <a:buFont typeface="Monotype Sorts" charset="2"/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algn="ctr" eaLnBrk="0" fontAlgn="base" hangingPunct="0">
                    <a:lnSpc>
                      <a:spcPct val="9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CC66"/>
                    </a:buClr>
                    <a:buSzPct val="80000"/>
                    <a:buFont typeface="Monotype Sorts" charset="2"/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1" lang="zh-CN" altLang="en-US" sz="2000" b="0" dirty="0">
                      <a:solidFill>
                        <a:schemeClr val="tx1"/>
                      </a:solidFill>
                    </a:rPr>
                    <a:t>语句</a:t>
                  </a:r>
                  <a:r>
                    <a:rPr kumimoji="1" lang="en-US" altLang="zh-CN" sz="2000" b="0" dirty="0">
                      <a:solidFill>
                        <a:schemeClr val="tx1"/>
                      </a:solidFill>
                    </a:rPr>
                    <a:t>A</a:t>
                  </a:r>
                  <a:endParaRPr kumimoji="1" lang="en-US" altLang="zh-CN" sz="4000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Line 9">
                  <a:extLst>
                    <a:ext uri="{FF2B5EF4-FFF2-40B4-BE49-F238E27FC236}">
                      <a16:creationId xmlns:a16="http://schemas.microsoft.com/office/drawing/2014/main" id="{C818C5C7-F43A-4857-B0E2-C996AE8FBD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9" y="192"/>
                  <a:ext cx="0" cy="3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3" name="Line 12">
                  <a:extLst>
                    <a:ext uri="{FF2B5EF4-FFF2-40B4-BE49-F238E27FC236}">
                      <a16:creationId xmlns:a16="http://schemas.microsoft.com/office/drawing/2014/main" id="{714D4B2E-5260-458A-A485-AF983B4C1E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28" y="681"/>
                  <a:ext cx="2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6" name="Line 15">
                  <a:extLst>
                    <a:ext uri="{FF2B5EF4-FFF2-40B4-BE49-F238E27FC236}">
                      <a16:creationId xmlns:a16="http://schemas.microsoft.com/office/drawing/2014/main" id="{DFFAC893-02F7-429C-87E7-AC6ED4F7A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757" y="681"/>
                  <a:ext cx="14" cy="78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8" name="Line 17">
                  <a:extLst>
                    <a:ext uri="{FF2B5EF4-FFF2-40B4-BE49-F238E27FC236}">
                      <a16:creationId xmlns:a16="http://schemas.microsoft.com/office/drawing/2014/main" id="{778D285F-9B3B-497E-BF3F-109B26AEA1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049" y="1470"/>
                  <a:ext cx="7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69" name="Text Box 18">
                  <a:extLst>
                    <a:ext uri="{FF2B5EF4-FFF2-40B4-BE49-F238E27FC236}">
                      <a16:creationId xmlns:a16="http://schemas.microsoft.com/office/drawing/2014/main" id="{88EE2EE7-8BC3-4928-9A80-EF641B1B7B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19" y="796"/>
                  <a:ext cx="27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algn="ctr" eaLnBrk="0" fontAlgn="base" hangingPunct="0">
                    <a:lnSpc>
                      <a:spcPct val="9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CC66"/>
                    </a:buClr>
                    <a:buSzPct val="80000"/>
                    <a:buFont typeface="Monotype Sorts" charset="2"/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algn="ctr" eaLnBrk="0" fontAlgn="base" hangingPunct="0">
                    <a:lnSpc>
                      <a:spcPct val="9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CC66"/>
                    </a:buClr>
                    <a:buSzPct val="80000"/>
                    <a:buFont typeface="Monotype Sorts" charset="2"/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algn="ctr" eaLnBrk="0" fontAlgn="base" hangingPunct="0">
                    <a:lnSpc>
                      <a:spcPct val="9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CC66"/>
                    </a:buClr>
                    <a:buSzPct val="80000"/>
                    <a:buFont typeface="Monotype Sorts" charset="2"/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algn="ctr" eaLnBrk="0" fontAlgn="base" hangingPunct="0">
                    <a:lnSpc>
                      <a:spcPct val="9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CC66"/>
                    </a:buClr>
                    <a:buSzPct val="80000"/>
                    <a:buFont typeface="Monotype Sorts" charset="2"/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zh-CN" altLang="en-US" sz="2000" b="0" dirty="0">
                      <a:solidFill>
                        <a:schemeClr val="tx1"/>
                      </a:solidFill>
                    </a:rPr>
                    <a:t>真</a:t>
                  </a:r>
                  <a:endParaRPr kumimoji="1" lang="zh-CN" altLang="en-US" sz="4000" b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Text Box 19">
                  <a:extLst>
                    <a:ext uri="{FF2B5EF4-FFF2-40B4-BE49-F238E27FC236}">
                      <a16:creationId xmlns:a16="http://schemas.microsoft.com/office/drawing/2014/main" id="{0DBC78BB-8E96-4BFC-B4FE-5B980C4993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28" y="431"/>
                  <a:ext cx="27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algn="ctr" eaLnBrk="0" fontAlgn="base" hangingPunct="0">
                    <a:lnSpc>
                      <a:spcPct val="9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CC66"/>
                    </a:buClr>
                    <a:buSzPct val="80000"/>
                    <a:buFont typeface="Monotype Sorts" charset="2"/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algn="ctr" eaLnBrk="0" fontAlgn="base" hangingPunct="0">
                    <a:lnSpc>
                      <a:spcPct val="9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CC66"/>
                    </a:buClr>
                    <a:buSzPct val="80000"/>
                    <a:buFont typeface="Monotype Sorts" charset="2"/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algn="ctr" eaLnBrk="0" fontAlgn="base" hangingPunct="0">
                    <a:lnSpc>
                      <a:spcPct val="9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CC66"/>
                    </a:buClr>
                    <a:buSzPct val="80000"/>
                    <a:buFont typeface="Monotype Sorts" charset="2"/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algn="ctr" eaLnBrk="0" fontAlgn="base" hangingPunct="0">
                    <a:lnSpc>
                      <a:spcPct val="9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CC66"/>
                    </a:buClr>
                    <a:buSzPct val="80000"/>
                    <a:buFont typeface="Monotype Sorts" charset="2"/>
                    <a:defRPr sz="3600" b="1">
                      <a:solidFill>
                        <a:srgbClr val="3366FF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zh-CN" altLang="en-US" sz="2000" b="0">
                      <a:solidFill>
                        <a:schemeClr val="tx1"/>
                      </a:solidFill>
                    </a:rPr>
                    <a:t>假</a:t>
                  </a:r>
                  <a:endParaRPr kumimoji="1" lang="zh-CN" altLang="en-US" sz="4000" b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72" name="Line 12">
              <a:extLst>
                <a:ext uri="{FF2B5EF4-FFF2-40B4-BE49-F238E27FC236}">
                  <a16:creationId xmlns:a16="http://schemas.microsoft.com/office/drawing/2014/main" id="{BC721ABD-90ED-4E45-95C1-F41777E80A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8391" y="3489908"/>
              <a:ext cx="0" cy="238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3" name="Line 12">
              <a:extLst>
                <a:ext uri="{FF2B5EF4-FFF2-40B4-BE49-F238E27FC236}">
                  <a16:creationId xmlns:a16="http://schemas.microsoft.com/office/drawing/2014/main" id="{1127F4FA-55D8-41F5-860A-EACCFC46CD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5218" y="4134432"/>
              <a:ext cx="3173" cy="3254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DDDA23-9C3E-4877-BC43-FAAB6CCD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757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7">
            <a:extLst>
              <a:ext uri="{FF2B5EF4-FFF2-40B4-BE49-F238E27FC236}">
                <a16:creationId xmlns:a16="http://schemas.microsoft.com/office/drawing/2014/main" id="{465D0EEE-E670-47FE-B88E-F337F6EA7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716" y="5591931"/>
            <a:ext cx="29658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单分支选择结构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7E7535-8003-41CB-A120-C573235E67B8}"/>
              </a:ext>
            </a:extLst>
          </p:cNvPr>
          <p:cNvSpPr txBox="1"/>
          <p:nvPr/>
        </p:nvSpPr>
        <p:spPr>
          <a:xfrm>
            <a:off x="4888292" y="3254429"/>
            <a:ext cx="3666381" cy="2308324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  <a:endParaRPr lang="zh-CN" altLang="en-US" sz="2400" b="1" dirty="0">
              <a:latin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4AB19B-37C8-48A4-A800-E1D989C0F91A}"/>
              </a:ext>
            </a:extLst>
          </p:cNvPr>
          <p:cNvSpPr txBox="1"/>
          <p:nvPr/>
        </p:nvSpPr>
        <p:spPr>
          <a:xfrm>
            <a:off x="4888293" y="1123009"/>
            <a:ext cx="3666388" cy="461665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)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49F998-49DA-4B37-B306-3689B252E75C}"/>
              </a:ext>
            </a:extLst>
          </p:cNvPr>
          <p:cNvSpPr txBox="1"/>
          <p:nvPr/>
        </p:nvSpPr>
        <p:spPr>
          <a:xfrm>
            <a:off x="4888294" y="2002484"/>
            <a:ext cx="3666388" cy="83099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F0DA30A-3CD2-4DEB-99E8-7DBDEFEF5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01" y="938258"/>
            <a:ext cx="3610363" cy="452476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0BD6E537-810B-4049-BDA2-4665473D3F72}"/>
              </a:ext>
            </a:extLst>
          </p:cNvPr>
          <p:cNvSpPr txBox="1"/>
          <p:nvPr/>
        </p:nvSpPr>
        <p:spPr>
          <a:xfrm>
            <a:off x="3632796" y="65649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if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单分支选择结构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3E9BA4-264F-4363-8240-8D32943BD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986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2F2567B-4FF2-4F52-A659-788C434D9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9" y="715790"/>
            <a:ext cx="4681953" cy="3702425"/>
          </a:xfrm>
          <a:prstGeom prst="rect">
            <a:avLst/>
          </a:prstGeom>
        </p:spPr>
      </p:pic>
      <p:sp>
        <p:nvSpPr>
          <p:cNvPr id="9" name="Text Box 57">
            <a:extLst>
              <a:ext uri="{FF2B5EF4-FFF2-40B4-BE49-F238E27FC236}">
                <a16:creationId xmlns:a16="http://schemas.microsoft.com/office/drawing/2014/main" id="{193B4C36-75AF-494C-BDC8-AD05DFCEF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214" y="4334800"/>
            <a:ext cx="2938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二分支选择结构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A642CA-C3E5-49F7-9CF7-EF5F3A366A31}"/>
              </a:ext>
            </a:extLst>
          </p:cNvPr>
          <p:cNvSpPr txBox="1"/>
          <p:nvPr/>
        </p:nvSpPr>
        <p:spPr>
          <a:xfrm>
            <a:off x="4946218" y="1001288"/>
            <a:ext cx="3134430" cy="4524315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  <a:endParaRPr lang="zh-CN" altLang="en-US" sz="2400" b="1" dirty="0"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4A42A1D-375B-41E2-974B-15581BE676FE}"/>
              </a:ext>
            </a:extLst>
          </p:cNvPr>
          <p:cNvSpPr txBox="1"/>
          <p:nvPr/>
        </p:nvSpPr>
        <p:spPr>
          <a:xfrm>
            <a:off x="8450038" y="1001288"/>
            <a:ext cx="3205459" cy="341632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){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  <a:endParaRPr lang="zh-CN" altLang="en-US" sz="2400" b="1" dirty="0"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F05D31-F4EC-4F65-ADDC-5D7139333691}"/>
              </a:ext>
            </a:extLst>
          </p:cNvPr>
          <p:cNvSpPr txBox="1"/>
          <p:nvPr/>
        </p:nvSpPr>
        <p:spPr>
          <a:xfrm>
            <a:off x="660896" y="4981214"/>
            <a:ext cx="3526312" cy="83099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)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</a:p>
        </p:txBody>
      </p:sp>
      <p:sp>
        <p:nvSpPr>
          <p:cNvPr id="13" name="Text Box 88">
            <a:extLst>
              <a:ext uri="{FF2B5EF4-FFF2-40B4-BE49-F238E27FC236}">
                <a16:creationId xmlns:a16="http://schemas.microsoft.com/office/drawing/2014/main" id="{87E3546C-4960-4B6E-AF65-F25202292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12211"/>
            <a:ext cx="1199871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rgbClr val="FF3300"/>
                </a:solidFill>
                <a:ea typeface="隶书" pitchFamily="49" charset="-122"/>
              </a:rPr>
              <a:t>注意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: if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和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else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后面的语句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1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和语句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2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只能是一条语句，如果想包含多条语句，需使用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{}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号。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362F8F-F18B-4231-9936-7AA9E62B0AFA}"/>
              </a:ext>
            </a:extLst>
          </p:cNvPr>
          <p:cNvSpPr txBox="1"/>
          <p:nvPr/>
        </p:nvSpPr>
        <p:spPr>
          <a:xfrm>
            <a:off x="3620361" y="60475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if-else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二分支选择结构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7DA0791-F5C3-48C3-8F68-39F78D13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676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12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9F313D-3317-44CD-9F0F-A786243EE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19FD6A-3821-4D8A-B877-841610309011}"/>
              </a:ext>
            </a:extLst>
          </p:cNvPr>
          <p:cNvSpPr txBox="1"/>
          <p:nvPr/>
        </p:nvSpPr>
        <p:spPr>
          <a:xfrm>
            <a:off x="3620361" y="60475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if-else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二分支选择结构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ED9994B-8848-4A37-A42B-D4F9835F5E6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28680"/>
            <a:ext cx="12192000" cy="740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108000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3-2】</a:t>
            </a:r>
            <a:r>
              <a:rPr lang="zh-CN" altLang="en-US" sz="2400" b="1" dirty="0"/>
              <a:t>从键盘输入三角形三条边的值，程序计算并输出三角形的面积，如果不构成三角形，程序给出提示信息。</a:t>
            </a:r>
            <a:endParaRPr lang="zh-CN" altLang="en-US" sz="22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59F4C04-5413-481C-BE01-9697CDD2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74" y="1468968"/>
            <a:ext cx="8421582" cy="482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30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8509674-BC6A-4AF1-9FC5-6FB6A4204FE4}"/>
              </a:ext>
            </a:extLst>
          </p:cNvPr>
          <p:cNvSpPr txBox="1"/>
          <p:nvPr/>
        </p:nvSpPr>
        <p:spPr>
          <a:xfrm>
            <a:off x="3856204" y="80385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FF"/>
                </a:solidFill>
              </a:rPr>
              <a:t>if</a:t>
            </a:r>
            <a:r>
              <a:rPr lang="zh-CN" altLang="en-US" sz="3200" b="1" dirty="0">
                <a:solidFill>
                  <a:srgbClr val="FF0066"/>
                </a:solidFill>
              </a:rPr>
              <a:t>语句嵌套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23BB6E-3F38-4827-AFD4-9B00A5333DF2}"/>
              </a:ext>
            </a:extLst>
          </p:cNvPr>
          <p:cNvSpPr txBox="1"/>
          <p:nvPr/>
        </p:nvSpPr>
        <p:spPr>
          <a:xfrm>
            <a:off x="254228" y="1021977"/>
            <a:ext cx="5219759" cy="2308324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3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4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8C4F14-EF34-4246-BB4C-159E60A64E7D}"/>
              </a:ext>
            </a:extLst>
          </p:cNvPr>
          <p:cNvSpPr txBox="1"/>
          <p:nvPr/>
        </p:nvSpPr>
        <p:spPr>
          <a:xfrm>
            <a:off x="5901303" y="1021977"/>
            <a:ext cx="5219759" cy="48936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){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){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){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latin typeface="Consolas" panose="020B0609020204030204" pitchFamily="49" charset="0"/>
              </a:rPr>
              <a:t>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  <a:endParaRPr lang="zh-CN" altLang="en-US" sz="2400" b="1" dirty="0">
              <a:latin typeface="Consolas" panose="020B0609020204030204" pitchFamily="49" charset="0"/>
            </a:endParaRPr>
          </a:p>
        </p:txBody>
      </p:sp>
      <p:sp>
        <p:nvSpPr>
          <p:cNvPr id="8" name="Text Box 88">
            <a:extLst>
              <a:ext uri="{FF2B5EF4-FFF2-40B4-BE49-F238E27FC236}">
                <a16:creationId xmlns:a16="http://schemas.microsoft.com/office/drawing/2014/main" id="{4767325C-9246-4FD8-AC6A-ADBB21153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910" y="3431476"/>
            <a:ext cx="5249078" cy="12025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rgbClr val="FF3300"/>
                </a:solidFill>
                <a:ea typeface="隶书" pitchFamily="49" charset="-122"/>
              </a:rPr>
              <a:t>思考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: 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上述写法中，语句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1~4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为单条语句。如果语句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1~4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为多条语句，该怎么写？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</p:txBody>
      </p:sp>
      <p:sp>
        <p:nvSpPr>
          <p:cNvPr id="9" name="Text Box 88">
            <a:extLst>
              <a:ext uri="{FF2B5EF4-FFF2-40B4-BE49-F238E27FC236}">
                <a16:creationId xmlns:a16="http://schemas.microsoft.com/office/drawing/2014/main" id="{FB412855-C9DB-44F3-837B-EACDC9C8F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2" y="4708974"/>
            <a:ext cx="5249078" cy="12025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400" dirty="0">
                <a:solidFill>
                  <a:srgbClr val="FF3300"/>
                </a:solidFill>
                <a:ea typeface="隶书" pitchFamily="49" charset="-122"/>
              </a:rPr>
              <a:t>注意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: if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和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else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的配对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C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语言规定：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else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总是与它前面最近的同一复合语句内的没有配对的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if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配对。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F400209-69F4-4C3B-AC76-F72A3D9A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627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2597C19-8172-4E09-9B77-911D7B2E36A4}"/>
              </a:ext>
            </a:extLst>
          </p:cNvPr>
          <p:cNvSpPr txBox="1"/>
          <p:nvPr/>
        </p:nvSpPr>
        <p:spPr>
          <a:xfrm>
            <a:off x="3864478" y="78787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FF"/>
                </a:solidFill>
              </a:rPr>
              <a:t>if-else</a:t>
            </a:r>
            <a:r>
              <a:rPr lang="zh-CN" altLang="en-US" sz="3200" b="1" dirty="0">
                <a:solidFill>
                  <a:srgbClr val="FF0066"/>
                </a:solidFill>
              </a:rPr>
              <a:t>配对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385616-ED68-471E-B9BF-563D8A937B8D}"/>
              </a:ext>
            </a:extLst>
          </p:cNvPr>
          <p:cNvSpPr txBox="1"/>
          <p:nvPr/>
        </p:nvSpPr>
        <p:spPr>
          <a:xfrm>
            <a:off x="297288" y="1239905"/>
            <a:ext cx="4371064" cy="1938992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1)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2)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3)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3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9BF340-0B9F-4A1A-A411-EC515C271CA8}"/>
              </a:ext>
            </a:extLst>
          </p:cNvPr>
          <p:cNvSpPr txBox="1"/>
          <p:nvPr/>
        </p:nvSpPr>
        <p:spPr>
          <a:xfrm>
            <a:off x="297287" y="3835211"/>
            <a:ext cx="4371064" cy="1938992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1)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2)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else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3)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3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570A12-F946-4391-80AD-A8A560EF567F}"/>
              </a:ext>
            </a:extLst>
          </p:cNvPr>
          <p:cNvSpPr txBox="1"/>
          <p:nvPr/>
        </p:nvSpPr>
        <p:spPr>
          <a:xfrm>
            <a:off x="5264998" y="1239905"/>
            <a:ext cx="3960755" cy="4524315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1)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2) 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3) 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3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973EB4-DAC3-4B92-9181-74FCD77C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025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ED1B8C2-2DEB-450D-8111-A34DABD19B58}"/>
              </a:ext>
            </a:extLst>
          </p:cNvPr>
          <p:cNvSpPr txBox="1"/>
          <p:nvPr/>
        </p:nvSpPr>
        <p:spPr>
          <a:xfrm>
            <a:off x="1201535" y="772477"/>
            <a:ext cx="4371064" cy="590931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1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100" b="1" dirty="0">
                <a:latin typeface="Consolas" panose="020B0609020204030204" pitchFamily="49" charset="0"/>
              </a:rPr>
              <a:t>(</a:t>
            </a:r>
            <a:r>
              <a:rPr lang="zh-CN" altLang="en-US" sz="21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100" b="1" dirty="0">
                <a:latin typeface="Consolas" panose="020B0609020204030204" pitchFamily="49" charset="0"/>
              </a:rPr>
              <a:t>1)</a:t>
            </a:r>
          </a:p>
          <a:p>
            <a:r>
              <a:rPr lang="en-US" altLang="zh-CN" sz="21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100" b="1" dirty="0">
                <a:latin typeface="Consolas" panose="020B0609020204030204" pitchFamily="49" charset="0"/>
              </a:rPr>
              <a:t>  </a:t>
            </a:r>
            <a:r>
              <a:rPr lang="en-US" altLang="zh-CN" sz="21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100" b="1" dirty="0">
                <a:latin typeface="Consolas" panose="020B0609020204030204" pitchFamily="49" charset="0"/>
              </a:rPr>
              <a:t>(</a:t>
            </a:r>
            <a:r>
              <a:rPr lang="zh-CN" altLang="en-US" sz="21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100" b="1" dirty="0">
                <a:latin typeface="Consolas" panose="020B0609020204030204" pitchFamily="49" charset="0"/>
              </a:rPr>
              <a:t>2) </a:t>
            </a:r>
          </a:p>
          <a:p>
            <a:r>
              <a:rPr lang="en-US" altLang="zh-CN" sz="2100" b="1" dirty="0">
                <a:latin typeface="Consolas" panose="020B0609020204030204" pitchFamily="49" charset="0"/>
              </a:rPr>
              <a:t>  {</a:t>
            </a:r>
          </a:p>
          <a:p>
            <a:r>
              <a:rPr lang="zh-CN" altLang="en-US" sz="2100" b="1" dirty="0">
                <a:latin typeface="Consolas" panose="020B0609020204030204" pitchFamily="49" charset="0"/>
              </a:rPr>
              <a:t>    语句</a:t>
            </a:r>
            <a:r>
              <a:rPr lang="en-US" altLang="zh-CN" sz="2100" b="1" dirty="0">
                <a:latin typeface="Consolas" panose="020B0609020204030204" pitchFamily="49" charset="0"/>
              </a:rPr>
              <a:t>1</a:t>
            </a:r>
            <a:r>
              <a:rPr lang="zh-CN" altLang="en-US" sz="2100" b="1" dirty="0">
                <a:latin typeface="Consolas" panose="020B0609020204030204" pitchFamily="49" charset="0"/>
              </a:rPr>
              <a:t>；</a:t>
            </a:r>
            <a:endParaRPr lang="en-US" altLang="zh-CN" sz="2100" b="1" dirty="0">
              <a:latin typeface="Consolas" panose="020B0609020204030204" pitchFamily="49" charset="0"/>
            </a:endParaRPr>
          </a:p>
          <a:p>
            <a:r>
              <a:rPr lang="en-US" altLang="zh-CN" sz="2100" b="1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zh-CN" sz="2100" b="1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21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US" altLang="zh-CN" sz="21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100" b="1" dirty="0">
                <a:latin typeface="Consolas" panose="020B0609020204030204" pitchFamily="49" charset="0"/>
              </a:rPr>
              <a:t>  </a:t>
            </a:r>
            <a:r>
              <a:rPr lang="en-US" altLang="zh-CN" sz="21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100" b="1" dirty="0">
                <a:latin typeface="Consolas" panose="020B0609020204030204" pitchFamily="49" charset="0"/>
              </a:rPr>
              <a:t>(</a:t>
            </a:r>
            <a:r>
              <a:rPr lang="zh-CN" altLang="en-US" sz="21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100" b="1" dirty="0">
                <a:latin typeface="Consolas" panose="020B0609020204030204" pitchFamily="49" charset="0"/>
              </a:rPr>
              <a:t>3) </a:t>
            </a:r>
          </a:p>
          <a:p>
            <a:r>
              <a:rPr lang="en-US" altLang="zh-CN" sz="2100" b="1" dirty="0">
                <a:latin typeface="Consolas" panose="020B0609020204030204" pitchFamily="49" charset="0"/>
              </a:rPr>
              <a:t>  {</a:t>
            </a:r>
          </a:p>
          <a:p>
            <a:r>
              <a:rPr lang="en-US" altLang="zh-CN" sz="2100" b="1" dirty="0">
                <a:latin typeface="Consolas" panose="020B0609020204030204" pitchFamily="49" charset="0"/>
              </a:rPr>
              <a:t>    </a:t>
            </a:r>
            <a:r>
              <a:rPr lang="zh-CN" altLang="en-US" sz="2100" b="1" dirty="0">
                <a:latin typeface="Consolas" panose="020B0609020204030204" pitchFamily="49" charset="0"/>
              </a:rPr>
              <a:t>语句</a:t>
            </a:r>
            <a:r>
              <a:rPr lang="en-US" altLang="zh-CN" sz="2100" b="1" dirty="0">
                <a:latin typeface="Consolas" panose="020B0609020204030204" pitchFamily="49" charset="0"/>
              </a:rPr>
              <a:t>2</a:t>
            </a:r>
            <a:r>
              <a:rPr lang="zh-CN" altLang="en-US" sz="2100" b="1" dirty="0">
                <a:latin typeface="Consolas" panose="020B0609020204030204" pitchFamily="49" charset="0"/>
              </a:rPr>
              <a:t>；</a:t>
            </a:r>
            <a:endParaRPr lang="en-US" altLang="zh-CN" sz="2100" b="1" dirty="0">
              <a:latin typeface="Consolas" panose="020B0609020204030204" pitchFamily="49" charset="0"/>
            </a:endParaRPr>
          </a:p>
          <a:p>
            <a:r>
              <a:rPr lang="en-US" altLang="zh-CN" sz="2100" b="1" dirty="0">
                <a:latin typeface="Consolas" panose="020B0609020204030204" pitchFamily="49" charset="0"/>
              </a:rPr>
              <a:t>  }</a:t>
            </a:r>
          </a:p>
          <a:p>
            <a:r>
              <a:rPr lang="zh-CN" altLang="en-US" sz="2100" b="1" dirty="0">
                <a:latin typeface="Consolas" panose="020B0609020204030204" pitchFamily="49" charset="0"/>
              </a:rPr>
              <a:t>  </a:t>
            </a:r>
            <a:r>
              <a:rPr lang="en-US" altLang="zh-CN" sz="21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100" b="1" dirty="0"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100" b="1" dirty="0">
                <a:latin typeface="Consolas" panose="020B0609020204030204" pitchFamily="49" charset="0"/>
              </a:rPr>
              <a:t>  {</a:t>
            </a:r>
          </a:p>
          <a:p>
            <a:r>
              <a:rPr lang="zh-CN" altLang="en-US" sz="2100" b="1" dirty="0">
                <a:latin typeface="Consolas" panose="020B0609020204030204" pitchFamily="49" charset="0"/>
              </a:rPr>
              <a:t>    语句</a:t>
            </a:r>
            <a:r>
              <a:rPr lang="en-US" altLang="zh-CN" sz="2100" b="1" dirty="0">
                <a:latin typeface="Consolas" panose="020B0609020204030204" pitchFamily="49" charset="0"/>
              </a:rPr>
              <a:t>3</a:t>
            </a:r>
            <a:r>
              <a:rPr lang="zh-CN" altLang="en-US" sz="2100" b="1" dirty="0">
                <a:latin typeface="Consolas" panose="020B0609020204030204" pitchFamily="49" charset="0"/>
              </a:rPr>
              <a:t>；</a:t>
            </a:r>
            <a:endParaRPr lang="en-US" altLang="zh-CN" sz="2100" b="1" dirty="0">
              <a:latin typeface="Consolas" panose="020B0609020204030204" pitchFamily="49" charset="0"/>
            </a:endParaRPr>
          </a:p>
          <a:p>
            <a:r>
              <a:rPr lang="en-US" altLang="zh-CN" sz="2100" b="1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zh-CN" sz="2100" b="1" dirty="0">
                <a:latin typeface="Consolas" panose="020B0609020204030204" pitchFamily="49" charset="0"/>
              </a:rPr>
              <a:t>}  </a:t>
            </a:r>
            <a:endParaRPr lang="zh-CN" altLang="en-US" sz="2100" b="1" dirty="0"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D0E6E3-D6BE-466A-B08C-F89AB9F84063}"/>
              </a:ext>
            </a:extLst>
          </p:cNvPr>
          <p:cNvSpPr txBox="1"/>
          <p:nvPr/>
        </p:nvSpPr>
        <p:spPr>
          <a:xfrm>
            <a:off x="6486999" y="769446"/>
            <a:ext cx="4371064" cy="4154984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1){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2){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3){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语句</a:t>
            </a:r>
            <a:r>
              <a:rPr lang="en-US" altLang="zh-CN" sz="2400" b="1" dirty="0">
                <a:latin typeface="Consolas" panose="020B0609020204030204" pitchFamily="49" charset="0"/>
              </a:rPr>
              <a:t>3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  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B310AE-028D-4753-8669-B812DB7F9A0A}"/>
              </a:ext>
            </a:extLst>
          </p:cNvPr>
          <p:cNvSpPr txBox="1"/>
          <p:nvPr/>
        </p:nvSpPr>
        <p:spPr>
          <a:xfrm>
            <a:off x="3864478" y="78787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200" b="1" dirty="0">
                <a:solidFill>
                  <a:srgbClr val="0000FF"/>
                </a:solidFill>
              </a:rPr>
              <a:t>if-else</a:t>
            </a:r>
            <a:r>
              <a:rPr lang="zh-CN" altLang="en-US" sz="3200" b="1" dirty="0">
                <a:solidFill>
                  <a:srgbClr val="FF0066"/>
                </a:solidFill>
              </a:rPr>
              <a:t>配对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4DDCC9-E3FC-457D-95AC-0BF33430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739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B630085-0BCC-4FCF-8289-8464FCB37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5252" y="852335"/>
            <a:ext cx="3475738" cy="4751642"/>
          </a:xfrm>
          <a:prstGeom prst="rect">
            <a:avLst/>
          </a:prstGeom>
        </p:spPr>
      </p:pic>
      <p:sp>
        <p:nvSpPr>
          <p:cNvPr id="7" name="Text Box 58">
            <a:extLst>
              <a:ext uri="{FF2B5EF4-FFF2-40B4-BE49-F238E27FC236}">
                <a16:creationId xmlns:a16="http://schemas.microsoft.com/office/drawing/2014/main" id="{DC6FB03D-0EFA-41FD-BDAA-9389E2043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223" y="5677280"/>
            <a:ext cx="29658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多分支选择结构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B369A3-0662-4FDD-944C-7763D0A6C005}"/>
              </a:ext>
            </a:extLst>
          </p:cNvPr>
          <p:cNvSpPr txBox="1"/>
          <p:nvPr/>
        </p:nvSpPr>
        <p:spPr>
          <a:xfrm>
            <a:off x="4399604" y="1127502"/>
            <a:ext cx="4502352" cy="456372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1){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语句块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2){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语句块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400" b="1" dirty="0">
                <a:latin typeface="Consolas" panose="020B0609020204030204" pitchFamily="49" charset="0"/>
              </a:rPr>
              <a:t>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条件表达式</a:t>
            </a:r>
            <a:r>
              <a:rPr lang="en-US" altLang="zh-CN" sz="2400" b="1" dirty="0">
                <a:latin typeface="Consolas" panose="020B0609020204030204" pitchFamily="49" charset="0"/>
              </a:rPr>
              <a:t>N){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语句块</a:t>
            </a:r>
            <a:r>
              <a:rPr lang="en-US" altLang="zh-CN" sz="2400" b="1" dirty="0">
                <a:latin typeface="Consolas" panose="020B0609020204030204" pitchFamily="49" charset="0"/>
              </a:rPr>
              <a:t>N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altLang="zh-CN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语句块</a:t>
            </a:r>
            <a:r>
              <a:rPr lang="en-US" altLang="zh-CN" sz="2400" b="1" dirty="0">
                <a:latin typeface="Consolas" panose="020B0609020204030204" pitchFamily="49" charset="0"/>
              </a:rPr>
              <a:t>N+1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E4C1B7-6942-4F49-A522-5B84029858BF}"/>
              </a:ext>
            </a:extLst>
          </p:cNvPr>
          <p:cNvSpPr txBox="1"/>
          <p:nvPr/>
        </p:nvSpPr>
        <p:spPr>
          <a:xfrm>
            <a:off x="3545885" y="72725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if-else </a:t>
            </a:r>
            <a:r>
              <a:rPr lang="en-US" altLang="zh-CN" sz="3200" b="1" dirty="0" err="1">
                <a:solidFill>
                  <a:srgbClr val="200AC4"/>
                </a:solidFill>
                <a:ea typeface="隶书" pitchFamily="49" charset="-122"/>
              </a:rPr>
              <a:t>if-else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多分支选择结构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7DDF95-F01D-41BB-9A54-3F719A266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419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DF112F0-8563-480D-84FA-AFA72F2F2884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switch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多分支选择结构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9DBB37-014E-4DDA-A1CD-01F503AA51D3}"/>
              </a:ext>
            </a:extLst>
          </p:cNvPr>
          <p:cNvSpPr txBox="1"/>
          <p:nvPr/>
        </p:nvSpPr>
        <p:spPr>
          <a:xfrm>
            <a:off x="14503" y="785441"/>
            <a:ext cx="4405097" cy="3046988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表达式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zh-CN" altLang="en-US" sz="2400" b="1" dirty="0">
                <a:latin typeface="Consolas" panose="020B0609020204030204" pitchFamily="49" charset="0"/>
              </a:rPr>
              <a:t>常量表达式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：语句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case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zh-CN" altLang="en-US" sz="2400" b="1" dirty="0">
                <a:latin typeface="Consolas" panose="020B0609020204030204" pitchFamily="49" charset="0"/>
              </a:rPr>
              <a:t>常量表达式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：语句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...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case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zh-CN" altLang="en-US" sz="2400" b="1" dirty="0">
                <a:latin typeface="Consolas" panose="020B0609020204030204" pitchFamily="49" charset="0"/>
              </a:rPr>
              <a:t>常量表达式</a:t>
            </a:r>
            <a:r>
              <a:rPr lang="en-US" altLang="zh-CN" sz="2400" b="1" dirty="0">
                <a:latin typeface="Consolas" panose="020B0609020204030204" pitchFamily="49" charset="0"/>
              </a:rPr>
              <a:t>n</a:t>
            </a:r>
            <a:r>
              <a:rPr lang="zh-CN" altLang="en-US" sz="2400" b="1" dirty="0">
                <a:latin typeface="Consolas" panose="020B0609020204030204" pitchFamily="49" charset="0"/>
              </a:rPr>
              <a:t>：语句</a:t>
            </a:r>
            <a:r>
              <a:rPr lang="en-US" altLang="zh-CN" sz="2400" b="1" dirty="0">
                <a:latin typeface="Consolas" panose="020B0609020204030204" pitchFamily="49" charset="0"/>
              </a:rPr>
              <a:t>n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CN" sz="2400" b="1" dirty="0">
                <a:latin typeface="Consolas" panose="020B0609020204030204" pitchFamily="49" charset="0"/>
              </a:rPr>
              <a:t>: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n+1;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 Box 88">
            <a:extLst>
              <a:ext uri="{FF2B5EF4-FFF2-40B4-BE49-F238E27FC236}">
                <a16:creationId xmlns:a16="http://schemas.microsoft.com/office/drawing/2014/main" id="{D6CBB954-B213-4962-B360-DA9D7DB87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899" y="785441"/>
            <a:ext cx="7643598" cy="42187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dirty="0">
                <a:solidFill>
                  <a:srgbClr val="FF3300"/>
                </a:solidFill>
                <a:ea typeface="隶书" pitchFamily="49" charset="-122"/>
              </a:rPr>
              <a:t>注意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: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表达式和常量表达式必须是整型、字符型或枚举类型。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常量表达式必须互不相同。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case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与常量表达式之间必须有至少一个空格分隔。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语句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1~n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为复合语句时，</a:t>
            </a:r>
            <a:r>
              <a:rPr kumimoji="1" lang="zh-CN" altLang="en-US" sz="2400" dirty="0">
                <a:solidFill>
                  <a:srgbClr val="FF0000"/>
                </a:solidFill>
                <a:ea typeface="隶书" pitchFamily="49" charset="-122"/>
              </a:rPr>
              <a:t>无需使用</a:t>
            </a:r>
            <a:r>
              <a:rPr kumimoji="1" lang="en-US" altLang="zh-CN" sz="2400" dirty="0">
                <a:solidFill>
                  <a:srgbClr val="FF0000"/>
                </a:solidFill>
                <a:ea typeface="隶书" pitchFamily="49" charset="-122"/>
              </a:rPr>
              <a:t>{}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使用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break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语句可立即退出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switch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选择结构。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default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语句的位置任意且最多只能一次。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常量表达式只起语句标号作用，不能为条件表达式、逻辑表达式和变量。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DE05D1D-0718-43F2-8ABF-04C26C1A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224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DF112F0-8563-480D-84FA-AFA72F2F2884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switch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多分支选择结构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9DBB37-014E-4DDA-A1CD-01F503AA51D3}"/>
              </a:ext>
            </a:extLst>
          </p:cNvPr>
          <p:cNvSpPr txBox="1"/>
          <p:nvPr/>
        </p:nvSpPr>
        <p:spPr>
          <a:xfrm>
            <a:off x="11029" y="698008"/>
            <a:ext cx="5376067" cy="6155531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表达式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zh-CN" altLang="en-US" sz="2400" b="1" dirty="0">
                <a:latin typeface="Consolas" panose="020B0609020204030204" pitchFamily="49" charset="0"/>
              </a:rPr>
              <a:t>常量表达式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：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zh-CN" altLang="en-US" sz="2400" b="1" dirty="0">
                <a:latin typeface="Consolas" panose="020B0609020204030204" pitchFamily="49" charset="0"/>
              </a:rPr>
              <a:t>语句块</a:t>
            </a:r>
            <a:r>
              <a:rPr lang="en-US" altLang="zh-CN" sz="2400" b="1" dirty="0">
                <a:latin typeface="Consolas" panose="020B0609020204030204" pitchFamily="49" charset="0"/>
              </a:rPr>
              <a:t>1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case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zh-CN" altLang="en-US" sz="2400" b="1" dirty="0">
                <a:latin typeface="Consolas" panose="020B0609020204030204" pitchFamily="49" charset="0"/>
              </a:rPr>
              <a:t>常量表达式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：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zh-CN" altLang="en-US" sz="2400" b="1" dirty="0">
                <a:latin typeface="Consolas" panose="020B0609020204030204" pitchFamily="49" charset="0"/>
              </a:rPr>
              <a:t>语句块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>
              <a:spcAft>
                <a:spcPts val="1200"/>
              </a:spcAft>
            </a:pPr>
            <a:r>
              <a:rPr lang="en-US" altLang="zh-CN" sz="2400" b="1" dirty="0">
                <a:latin typeface="Consolas" panose="020B0609020204030204" pitchFamily="49" charset="0"/>
              </a:rPr>
              <a:t>  ...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case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zh-CN" altLang="en-US" sz="2400" b="1" dirty="0">
                <a:latin typeface="Consolas" panose="020B0609020204030204" pitchFamily="49" charset="0"/>
              </a:rPr>
              <a:t>常量表达式</a:t>
            </a:r>
            <a:r>
              <a:rPr lang="en-US" altLang="zh-CN" sz="2400" b="1" dirty="0">
                <a:latin typeface="Consolas" panose="020B0609020204030204" pitchFamily="49" charset="0"/>
              </a:rPr>
              <a:t>n</a:t>
            </a:r>
            <a:r>
              <a:rPr lang="zh-CN" altLang="en-US" sz="2400" b="1" dirty="0">
                <a:latin typeface="Consolas" panose="020B0609020204030204" pitchFamily="49" charset="0"/>
              </a:rPr>
              <a:t>：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zh-CN" altLang="en-US" sz="2400" b="1" dirty="0">
                <a:latin typeface="Consolas" panose="020B0609020204030204" pitchFamily="49" charset="0"/>
              </a:rPr>
              <a:t>语句块</a:t>
            </a:r>
            <a:r>
              <a:rPr lang="en-US" altLang="zh-CN" sz="2400" b="1" dirty="0">
                <a:latin typeface="Consolas" panose="020B0609020204030204" pitchFamily="49" charset="0"/>
              </a:rPr>
              <a:t>n</a:t>
            </a:r>
            <a:r>
              <a:rPr lang="zh-CN" altLang="en-US" sz="2400" b="1" dirty="0">
                <a:latin typeface="Consolas" panose="020B0609020204030204" pitchFamily="49" charset="0"/>
              </a:rPr>
              <a:t>；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break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altLang="zh-CN" sz="2400" b="1" dirty="0">
                <a:latin typeface="Consolas" panose="020B0609020204030204" pitchFamily="49" charset="0"/>
              </a:rPr>
              <a:t>: 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zh-CN" altLang="en-US" sz="2400" b="1" dirty="0">
                <a:latin typeface="Consolas" panose="020B0609020204030204" pitchFamily="49" charset="0"/>
              </a:rPr>
              <a:t>语句块</a:t>
            </a:r>
            <a:r>
              <a:rPr lang="en-US" altLang="zh-CN" sz="2400" b="1" dirty="0">
                <a:latin typeface="Consolas" panose="020B0609020204030204" pitchFamily="49" charset="0"/>
              </a:rPr>
              <a:t>n+1;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break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573F43B-C265-4B7B-9600-80CB9CE3C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096" y="676765"/>
            <a:ext cx="6804904" cy="618758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210E1D4-D37D-4F88-8191-A61402B5A860}"/>
              </a:ext>
            </a:extLst>
          </p:cNvPr>
          <p:cNvSpPr txBox="1"/>
          <p:nvPr/>
        </p:nvSpPr>
        <p:spPr>
          <a:xfrm>
            <a:off x="10579734" y="670020"/>
            <a:ext cx="1878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P67</a:t>
            </a:r>
            <a:r>
              <a:rPr lang="zh-CN" altLang="en-US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3-11</a:t>
            </a:r>
            <a:endParaRPr lang="zh-CN" altLang="en-US" sz="2400" b="1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1C7C64-F61B-451B-AD8A-2DDB2ADB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0101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0F4D51-D46D-45D0-A227-31E4DC5C1B8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533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ts val="3000"/>
              </a:lnSpc>
            </a:pPr>
            <a:r>
              <a:rPr lang="zh-CN" altLang="en-US" sz="2400" b="1" dirty="0"/>
              <a:t>程序在一定条件下重复执行某一个程序段。</a:t>
            </a:r>
          </a:p>
        </p:txBody>
      </p:sp>
      <p:sp>
        <p:nvSpPr>
          <p:cNvPr id="52" name="Text Box 57">
            <a:extLst>
              <a:ext uri="{FF2B5EF4-FFF2-40B4-BE49-F238E27FC236}">
                <a16:creationId xmlns:a16="http://schemas.microsoft.com/office/drawing/2014/main" id="{9EE594A4-5D3C-40C3-9EA7-267B30D7A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947" y="5263133"/>
            <a:ext cx="27638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en-US" altLang="zh-CN" sz="2800" b="0" dirty="0">
                <a:solidFill>
                  <a:schemeClr val="tx1"/>
                </a:solidFill>
                <a:ea typeface="隶书" pitchFamily="49" charset="-122"/>
              </a:rPr>
              <a:t>while</a:t>
            </a: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循环结构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3F3337B-FA8D-42E1-9A9A-FD7BEE348688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while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循环结构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B151CA-DAE5-4D4C-B998-CD3F4299A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258" y="1249379"/>
            <a:ext cx="3478812" cy="3942572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80A4152D-8120-406F-AE5E-87F3AA8141FD}"/>
              </a:ext>
            </a:extLst>
          </p:cNvPr>
          <p:cNvSpPr txBox="1"/>
          <p:nvPr/>
        </p:nvSpPr>
        <p:spPr>
          <a:xfrm>
            <a:off x="5509846" y="2742704"/>
            <a:ext cx="4365812" cy="2831544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表达式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1;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语句</a:t>
            </a:r>
            <a:r>
              <a:rPr lang="en-US" altLang="zh-CN" sz="2400" b="1" dirty="0">
                <a:latin typeface="Consolas" panose="020B0609020204030204" pitchFamily="49" charset="0"/>
              </a:rPr>
              <a:t>2;</a:t>
            </a:r>
          </a:p>
          <a:p>
            <a:pPr>
              <a:spcAft>
                <a:spcPts val="1200"/>
              </a:spcAft>
            </a:pPr>
            <a:r>
              <a:rPr lang="en-US" altLang="zh-CN" sz="2400" b="1" dirty="0">
                <a:latin typeface="Consolas" panose="020B0609020204030204" pitchFamily="49" charset="0"/>
              </a:rPr>
              <a:t>  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n;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B1BCA75-09B9-4539-B9DA-614988DD2A6D}"/>
              </a:ext>
            </a:extLst>
          </p:cNvPr>
          <p:cNvSpPr txBox="1"/>
          <p:nvPr/>
        </p:nvSpPr>
        <p:spPr>
          <a:xfrm>
            <a:off x="5509846" y="1670070"/>
            <a:ext cx="4365812" cy="461665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表达式</a:t>
            </a:r>
            <a:r>
              <a:rPr lang="en-US" altLang="zh-CN" sz="2400" b="1" dirty="0">
                <a:latin typeface="Consolas" panose="020B0609020204030204" pitchFamily="49" charset="0"/>
              </a:rPr>
              <a:t>) </a:t>
            </a:r>
            <a:r>
              <a:rPr lang="zh-CN" altLang="en-US" sz="2400" b="1" dirty="0">
                <a:latin typeface="Consolas" panose="020B0609020204030204" pitchFamily="49" charset="0"/>
              </a:rPr>
              <a:t>循环体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B673C8-D83C-4753-9958-4E383333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688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5" grpId="0" animBg="1"/>
      <p:bldP spid="5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Box 57">
            <a:extLst>
              <a:ext uri="{FF2B5EF4-FFF2-40B4-BE49-F238E27FC236}">
                <a16:creationId xmlns:a16="http://schemas.microsoft.com/office/drawing/2014/main" id="{9EE594A4-5D3C-40C3-9EA7-267B30D7A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51" y="5325197"/>
            <a:ext cx="27638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en-US" altLang="zh-CN" sz="2800" b="0" dirty="0">
                <a:solidFill>
                  <a:schemeClr val="tx1"/>
                </a:solidFill>
                <a:ea typeface="隶书" pitchFamily="49" charset="-122"/>
              </a:rPr>
              <a:t>while</a:t>
            </a: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循环结构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3F3337B-FA8D-42E1-9A9A-FD7BEE348688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while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循环结构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B151CA-DAE5-4D4C-B998-CD3F4299A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275" y="1186066"/>
            <a:ext cx="3478812" cy="3942572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6111A369-B181-4152-B5DF-47A0635C44D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3-12】</a:t>
            </a:r>
            <a:r>
              <a:rPr lang="zh-CN" altLang="en-US" sz="2400" b="1" dirty="0"/>
              <a:t>求表达式</a:t>
            </a:r>
            <a:r>
              <a:rPr lang="en-US" altLang="zh-CN" sz="2400" b="1" dirty="0"/>
              <a:t>s=1+2+…+100</a:t>
            </a:r>
            <a:r>
              <a:rPr lang="zh-CN" altLang="en-US" sz="2400" b="1" dirty="0"/>
              <a:t>的和。</a:t>
            </a:r>
            <a:endParaRPr lang="zh-CN" altLang="en-US" sz="22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AD662B-9638-4EB7-831E-519768096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743" y="1207514"/>
            <a:ext cx="8388257" cy="4904704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FFCE8B2-C752-4A9C-8125-3219B7FE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890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Box 57">
            <a:extLst>
              <a:ext uri="{FF2B5EF4-FFF2-40B4-BE49-F238E27FC236}">
                <a16:creationId xmlns:a16="http://schemas.microsoft.com/office/drawing/2014/main" id="{9EE594A4-5D3C-40C3-9EA7-267B30D7A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171" y="5317905"/>
            <a:ext cx="23086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en-US" altLang="zh-CN" sz="2800" b="0" dirty="0">
                <a:solidFill>
                  <a:schemeClr val="tx1"/>
                </a:solidFill>
                <a:ea typeface="隶书" pitchFamily="49" charset="-122"/>
              </a:rPr>
              <a:t>for</a:t>
            </a: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循环结构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3F3337B-FA8D-42E1-9A9A-FD7BEE348688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for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循环结构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B151CA-DAE5-4D4C-B998-CD3F4299A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121" y="1190113"/>
            <a:ext cx="2834287" cy="3942572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80A4152D-8120-406F-AE5E-87F3AA8141FD}"/>
              </a:ext>
            </a:extLst>
          </p:cNvPr>
          <p:cNvSpPr txBox="1"/>
          <p:nvPr/>
        </p:nvSpPr>
        <p:spPr>
          <a:xfrm>
            <a:off x="4026954" y="713673"/>
            <a:ext cx="6311153" cy="1569660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表达式</a:t>
            </a:r>
            <a:r>
              <a:rPr lang="en-US" altLang="zh-CN" sz="2400" b="1" dirty="0">
                <a:latin typeface="Consolas" panose="020B0609020204030204" pitchFamily="49" charset="0"/>
              </a:rPr>
              <a:t>1; </a:t>
            </a:r>
            <a:r>
              <a:rPr lang="zh-CN" altLang="en-US" sz="2400" b="1" dirty="0">
                <a:latin typeface="Consolas" panose="020B0609020204030204" pitchFamily="49" charset="0"/>
              </a:rPr>
              <a:t>表达式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zh-CN" altLang="en-US" sz="2400" b="1" dirty="0">
                <a:latin typeface="Consolas" panose="020B0609020204030204" pitchFamily="49" charset="0"/>
              </a:rPr>
              <a:t>；表达式</a:t>
            </a:r>
            <a:r>
              <a:rPr lang="en-US" altLang="zh-CN" sz="2400" b="1" dirty="0">
                <a:latin typeface="Consolas" panose="020B0609020204030204" pitchFamily="49" charset="0"/>
              </a:rPr>
              <a:t>3)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循环体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7DDF6C3-C7E2-497D-A375-41BD853C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  <p:sp>
        <p:nvSpPr>
          <p:cNvPr id="8" name="Text Box 88">
            <a:extLst>
              <a:ext uri="{FF2B5EF4-FFF2-40B4-BE49-F238E27FC236}">
                <a16:creationId xmlns:a16="http://schemas.microsoft.com/office/drawing/2014/main" id="{A8A435DC-58B9-476A-BFC3-3A94D64C8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8422" y="2229118"/>
            <a:ext cx="7847566" cy="4588052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dirty="0">
                <a:solidFill>
                  <a:srgbClr val="FF3300"/>
                </a:solidFill>
                <a:ea typeface="隶书" pitchFamily="49" charset="-122"/>
              </a:rPr>
              <a:t>说明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:</a:t>
            </a: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表达式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1~3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可以是任意类型的合法表达式且均可以省略，但分号不可省略。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表达式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2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一般为控制循环次数的条件表达式，若省略不写则默认始终为真。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循环体内若有多条语句，需要使用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{}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构成复合语句。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如果不使用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{}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，则只有距离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for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最近的那一条语句算作为循环体。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表达式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1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和表达式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3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可以简单的表达式，也可以是逗号表达式。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表达式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1~3 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的位置可以任意。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在使用</a:t>
            </a:r>
            <a:r>
              <a:rPr kumimoji="1" lang="en-US" altLang="zh-CN" sz="2400" dirty="0">
                <a:solidFill>
                  <a:srgbClr val="3333FF"/>
                </a:solidFill>
                <a:ea typeface="隶书" pitchFamily="49" charset="-122"/>
              </a:rPr>
              <a:t>for</a:t>
            </a:r>
            <a:r>
              <a:rPr kumimoji="1" lang="zh-CN" altLang="en-US" sz="2400" dirty="0">
                <a:solidFill>
                  <a:srgbClr val="3333FF"/>
                </a:solidFill>
                <a:ea typeface="隶书" pitchFamily="49" charset="-122"/>
              </a:rPr>
              <a:t>循环时需尽量避免死循环的出现。</a:t>
            </a:r>
            <a:endParaRPr kumimoji="1" lang="en-US" altLang="zh-CN" sz="2400" dirty="0">
              <a:solidFill>
                <a:srgbClr val="3333FF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758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5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23F3337B-FA8D-42E1-9A9A-FD7BEE348688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for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循环结构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B151CA-DAE5-4D4C-B998-CD3F4299A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521" y="1249379"/>
            <a:ext cx="2834287" cy="3942571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80A4152D-8120-406F-AE5E-87F3AA8141FD}"/>
              </a:ext>
            </a:extLst>
          </p:cNvPr>
          <p:cNvSpPr txBox="1"/>
          <p:nvPr/>
        </p:nvSpPr>
        <p:spPr>
          <a:xfrm>
            <a:off x="4599580" y="1907472"/>
            <a:ext cx="7184181" cy="2831544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循环变量初始化</a:t>
            </a:r>
            <a:r>
              <a:rPr lang="en-US" altLang="zh-CN" sz="2400" b="1" dirty="0">
                <a:latin typeface="Consolas" panose="020B0609020204030204" pitchFamily="49" charset="0"/>
              </a:rPr>
              <a:t>; </a:t>
            </a:r>
            <a:r>
              <a:rPr lang="zh-CN" altLang="en-US" sz="2400" b="1" dirty="0">
                <a:latin typeface="Consolas" panose="020B0609020204030204" pitchFamily="49" charset="0"/>
              </a:rPr>
              <a:t>循环条件；更新循环变量值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1;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语句</a:t>
            </a:r>
            <a:r>
              <a:rPr lang="en-US" altLang="zh-CN" sz="2400" b="1" dirty="0">
                <a:latin typeface="Consolas" panose="020B0609020204030204" pitchFamily="49" charset="0"/>
              </a:rPr>
              <a:t>2;</a:t>
            </a:r>
          </a:p>
          <a:p>
            <a:pPr>
              <a:spcAft>
                <a:spcPts val="1200"/>
              </a:spcAft>
            </a:pPr>
            <a:r>
              <a:rPr lang="en-US" altLang="zh-CN" sz="2400" b="1" dirty="0">
                <a:latin typeface="Consolas" panose="020B0609020204030204" pitchFamily="49" charset="0"/>
              </a:rPr>
              <a:t>  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n;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4D7B20-9D8D-4B2B-B813-777765BB61E3}"/>
              </a:ext>
            </a:extLst>
          </p:cNvPr>
          <p:cNvSpPr txBox="1"/>
          <p:nvPr/>
        </p:nvSpPr>
        <p:spPr>
          <a:xfrm>
            <a:off x="839923" y="5393120"/>
            <a:ext cx="35955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solidFill>
                  <a:srgbClr val="FF0066"/>
                </a:solidFill>
              </a:rPr>
              <a:t>for</a:t>
            </a:r>
            <a:r>
              <a:rPr kumimoji="1" lang="zh-CN" altLang="zh-CN" sz="2800" dirty="0">
                <a:solidFill>
                  <a:srgbClr val="FF0066"/>
                </a:solidFill>
                <a:ea typeface="隶书" pitchFamily="49" charset="-122"/>
              </a:rPr>
              <a:t>语句一般应用形式</a:t>
            </a:r>
            <a:endParaRPr lang="zh-CN" altLang="en-US" sz="2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E7F07DC-31EB-405D-A022-D0294CAC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023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AB3DE9-2B29-437E-B374-38CCCB03E6F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3-13】</a:t>
            </a:r>
            <a:r>
              <a:rPr lang="zh-CN" altLang="en-US" sz="2400" b="1" dirty="0"/>
              <a:t>求表达式</a:t>
            </a:r>
            <a:r>
              <a:rPr lang="en-US" altLang="zh-CN" sz="2400" b="1" dirty="0"/>
              <a:t>s=1+2+…+100</a:t>
            </a:r>
            <a:r>
              <a:rPr lang="zh-CN" altLang="en-US" sz="2400" b="1" dirty="0"/>
              <a:t>的和。</a:t>
            </a:r>
            <a:endParaRPr lang="zh-CN" altLang="en-US" sz="22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0ACD88-CC4D-4CFC-9BA8-43D01FDE8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6147" y="1543145"/>
            <a:ext cx="2834287" cy="39425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78480F-3802-4084-B423-DF43416DE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709" y="1365215"/>
            <a:ext cx="5850476" cy="420393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F058375-F5BA-4357-A0A2-A62B0027D7DD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for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循环结构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99B7A4-1B24-4E61-AD28-BC61CC7017B9}"/>
              </a:ext>
            </a:extLst>
          </p:cNvPr>
          <p:cNvSpPr txBox="1"/>
          <p:nvPr/>
        </p:nvSpPr>
        <p:spPr>
          <a:xfrm>
            <a:off x="0" y="5569150"/>
            <a:ext cx="35955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solidFill>
                  <a:srgbClr val="FF0066"/>
                </a:solidFill>
              </a:rPr>
              <a:t>for</a:t>
            </a:r>
            <a:r>
              <a:rPr kumimoji="1" lang="zh-CN" altLang="zh-CN" sz="2800" dirty="0">
                <a:solidFill>
                  <a:srgbClr val="FF0066"/>
                </a:solidFill>
                <a:ea typeface="隶书" pitchFamily="49" charset="-122"/>
              </a:rPr>
              <a:t>语句一般应用形式</a:t>
            </a: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9E4A9A-3D0E-4CCE-B9A2-F5333F5F7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185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BC1F568-B4E0-4999-9985-B277EA4B87D0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do-while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循环结构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454BC1-DA67-4A67-A2EA-CD0944B36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68" y="1308409"/>
            <a:ext cx="3258319" cy="3819152"/>
          </a:xfrm>
          <a:prstGeom prst="rect">
            <a:avLst/>
          </a:prstGeom>
        </p:spPr>
      </p:pic>
      <p:sp>
        <p:nvSpPr>
          <p:cNvPr id="6" name="Text Box 57">
            <a:extLst>
              <a:ext uri="{FF2B5EF4-FFF2-40B4-BE49-F238E27FC236}">
                <a16:creationId xmlns:a16="http://schemas.microsoft.com/office/drawing/2014/main" id="{75450962-4F61-4C87-B7FB-FF41B7931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438" y="5333880"/>
            <a:ext cx="31646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en-US" altLang="zh-CN" sz="2800" b="0" dirty="0">
                <a:solidFill>
                  <a:schemeClr val="tx1"/>
                </a:solidFill>
                <a:ea typeface="隶书" pitchFamily="49" charset="-122"/>
              </a:rPr>
              <a:t>do-while</a:t>
            </a: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循环结构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5272B5-0B07-476B-905E-915D74B714D4}"/>
              </a:ext>
            </a:extLst>
          </p:cNvPr>
          <p:cNvSpPr txBox="1"/>
          <p:nvPr/>
        </p:nvSpPr>
        <p:spPr>
          <a:xfrm>
            <a:off x="4959551" y="1789800"/>
            <a:ext cx="4365812" cy="2831544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1;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语句</a:t>
            </a:r>
            <a:r>
              <a:rPr lang="en-US" altLang="zh-CN" sz="2400" b="1" dirty="0">
                <a:latin typeface="Consolas" panose="020B0609020204030204" pitchFamily="49" charset="0"/>
              </a:rPr>
              <a:t>2;</a:t>
            </a:r>
          </a:p>
          <a:p>
            <a:pPr>
              <a:spcAft>
                <a:spcPts val="1200"/>
              </a:spcAft>
            </a:pPr>
            <a:r>
              <a:rPr lang="en-US" altLang="zh-CN" sz="2400" b="1" dirty="0">
                <a:latin typeface="Consolas" panose="020B0609020204030204" pitchFamily="49" charset="0"/>
              </a:rPr>
              <a:t>  ...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</a:t>
            </a:r>
            <a:r>
              <a:rPr lang="zh-CN" altLang="en-US" sz="2400" b="1" dirty="0">
                <a:latin typeface="Consolas" panose="020B0609020204030204" pitchFamily="49" charset="0"/>
              </a:rPr>
              <a:t>语句</a:t>
            </a:r>
            <a:r>
              <a:rPr lang="en-US" altLang="zh-CN" sz="2400" b="1" dirty="0">
                <a:latin typeface="Consolas" panose="020B0609020204030204" pitchFamily="49" charset="0"/>
              </a:rPr>
              <a:t>n;</a:t>
            </a:r>
          </a:p>
          <a:p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zh-CN" altLang="en-US" sz="2400" b="1" dirty="0">
                <a:latin typeface="Consolas" panose="020B0609020204030204" pitchFamily="49" charset="0"/>
              </a:rPr>
              <a:t>表达式</a:t>
            </a:r>
            <a:r>
              <a:rPr lang="en-US" altLang="zh-CN" sz="2400" b="1" dirty="0">
                <a:latin typeface="Consolas" panose="020B0609020204030204" pitchFamily="49" charset="0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；</a:t>
            </a:r>
            <a:endParaRPr lang="en-US" altLang="zh-CN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74B347-9E0B-4E9C-A5BA-9026B661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879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BC1F568-B4E0-4999-9985-B277EA4B87D0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do-while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循环结构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454BC1-DA67-4A67-A2EA-CD0944B36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68" y="1308409"/>
            <a:ext cx="3258319" cy="3819152"/>
          </a:xfrm>
          <a:prstGeom prst="rect">
            <a:avLst/>
          </a:prstGeom>
        </p:spPr>
      </p:pic>
      <p:sp>
        <p:nvSpPr>
          <p:cNvPr id="6" name="Text Box 57">
            <a:extLst>
              <a:ext uri="{FF2B5EF4-FFF2-40B4-BE49-F238E27FC236}">
                <a16:creationId xmlns:a16="http://schemas.microsoft.com/office/drawing/2014/main" id="{75450962-4F61-4C87-B7FB-FF41B7931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438" y="5333880"/>
            <a:ext cx="31646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en-US" altLang="zh-CN" sz="2800" b="0" dirty="0">
                <a:solidFill>
                  <a:schemeClr val="tx1"/>
                </a:solidFill>
                <a:ea typeface="隶书" pitchFamily="49" charset="-122"/>
              </a:rPr>
              <a:t>do-while</a:t>
            </a: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循环结构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9DC144-FAAD-412B-ADCF-0E5A29842C2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3-14】</a:t>
            </a:r>
            <a:r>
              <a:rPr lang="zh-CN" altLang="en-US" sz="2400" b="1" dirty="0"/>
              <a:t>从键盘输入两个整数，求这两个数的最大公约数。</a:t>
            </a:r>
            <a:endParaRPr lang="zh-CN" altLang="en-US" sz="22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1632F83-EEB1-4C76-AD15-78E09DC32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873" y="1117140"/>
            <a:ext cx="7744127" cy="573400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72804-29E4-411E-AD3D-DD3AB5124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128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0C6AFAC-6AF4-49C6-ADEA-6099FF1B107F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break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和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continue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语句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E72C10-6DA2-4A39-9184-5BD8FA82DA4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80"/>
            <a:ext cx="12192000" cy="4756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/>
              <a:t>break</a:t>
            </a:r>
            <a:r>
              <a:rPr lang="zh-CN" altLang="en-US" b="1" dirty="0"/>
              <a:t>语句的一般形式为：</a:t>
            </a:r>
            <a:endParaRPr lang="en-US" altLang="zh-CN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8B311F-FA97-4E90-AE58-A495CAC0C56E}"/>
              </a:ext>
            </a:extLst>
          </p:cNvPr>
          <p:cNvSpPr txBox="1">
            <a:spLocks noChangeArrowheads="1"/>
          </p:cNvSpPr>
          <p:nvPr/>
        </p:nvSpPr>
        <p:spPr>
          <a:xfrm>
            <a:off x="3383831" y="1476602"/>
            <a:ext cx="2412885" cy="53011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break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6" name="Text Box 88">
            <a:extLst>
              <a:ext uri="{FF2B5EF4-FFF2-40B4-BE49-F238E27FC236}">
                <a16:creationId xmlns:a16="http://schemas.microsoft.com/office/drawing/2014/main" id="{A889F1A6-000F-4782-A74A-3829113DA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02" y="2224950"/>
            <a:ext cx="11998712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3200" dirty="0">
                <a:solidFill>
                  <a:srgbClr val="FF3300"/>
                </a:solidFill>
                <a:ea typeface="隶书" pitchFamily="49" charset="-122"/>
              </a:rPr>
              <a:t>功能</a:t>
            </a:r>
            <a:r>
              <a:rPr kumimoji="1" lang="en-US" altLang="zh-CN" sz="2800" dirty="0">
                <a:solidFill>
                  <a:srgbClr val="3333FF"/>
                </a:solidFill>
                <a:ea typeface="隶书" pitchFamily="49" charset="-122"/>
              </a:rPr>
              <a:t>: </a:t>
            </a:r>
            <a:r>
              <a:rPr kumimoji="1" lang="zh-CN" altLang="en-US" sz="2800" dirty="0">
                <a:ea typeface="隶书" pitchFamily="49" charset="-122"/>
              </a:rPr>
              <a:t>终止它所在的</a:t>
            </a:r>
            <a:r>
              <a:rPr kumimoji="1" lang="en-US" altLang="zh-CN" sz="2800" dirty="0">
                <a:ea typeface="隶书" pitchFamily="49" charset="-122"/>
              </a:rPr>
              <a:t>switch</a:t>
            </a:r>
            <a:r>
              <a:rPr kumimoji="1" lang="zh-CN" altLang="en-US" sz="2800" dirty="0">
                <a:ea typeface="隶书" pitchFamily="49" charset="-122"/>
              </a:rPr>
              <a:t>或循环语句的执行。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346EBD4-FB9C-448B-B510-654DA04E345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570458"/>
            <a:ext cx="12192000" cy="4756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/>
              <a:t>continue</a:t>
            </a:r>
            <a:r>
              <a:rPr lang="zh-CN" altLang="en-US" b="1" dirty="0"/>
              <a:t>语句的一般形式为：</a:t>
            </a:r>
            <a:endParaRPr lang="en-US" altLang="zh-CN" b="1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1ED626-B3D2-4EDE-BDD9-136B83E3167E}"/>
              </a:ext>
            </a:extLst>
          </p:cNvPr>
          <p:cNvSpPr txBox="1">
            <a:spLocks noChangeArrowheads="1"/>
          </p:cNvSpPr>
          <p:nvPr/>
        </p:nvSpPr>
        <p:spPr>
          <a:xfrm>
            <a:off x="3383831" y="4331080"/>
            <a:ext cx="2412885" cy="53011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continue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9" name="Text Box 88">
            <a:extLst>
              <a:ext uri="{FF2B5EF4-FFF2-40B4-BE49-F238E27FC236}">
                <a16:creationId xmlns:a16="http://schemas.microsoft.com/office/drawing/2014/main" id="{2500AD37-BB6D-40A7-B8DF-86F0E03AA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02" y="4971948"/>
            <a:ext cx="11998712" cy="101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3200" dirty="0">
                <a:solidFill>
                  <a:srgbClr val="FF3300"/>
                </a:solidFill>
                <a:ea typeface="隶书" pitchFamily="49" charset="-122"/>
              </a:rPr>
              <a:t>功能</a:t>
            </a:r>
            <a:r>
              <a:rPr kumimoji="1" lang="en-US" altLang="zh-CN" sz="2800" dirty="0">
                <a:solidFill>
                  <a:srgbClr val="3333FF"/>
                </a:solidFill>
                <a:ea typeface="隶书" pitchFamily="49" charset="-122"/>
              </a:rPr>
              <a:t>: </a:t>
            </a:r>
            <a:r>
              <a:rPr kumimoji="1" lang="zh-CN" altLang="en-US" sz="2800" dirty="0">
                <a:ea typeface="隶书" pitchFamily="49" charset="-122"/>
              </a:rPr>
              <a:t>结束本次循环而不是终止整个循环，即跳过循环体中</a:t>
            </a:r>
            <a:r>
              <a:rPr kumimoji="1" lang="en-US" altLang="zh-CN" sz="2800" dirty="0">
                <a:ea typeface="隶书" pitchFamily="49" charset="-122"/>
              </a:rPr>
              <a:t>continue</a:t>
            </a:r>
            <a:r>
              <a:rPr kumimoji="1" lang="zh-CN" altLang="en-US" sz="2800" dirty="0">
                <a:ea typeface="隶书" pitchFamily="49" charset="-122"/>
              </a:rPr>
              <a:t>语句后续语句</a:t>
            </a:r>
            <a:r>
              <a:rPr kumimoji="1" lang="en-US" altLang="zh-CN" sz="2800" dirty="0">
                <a:ea typeface="隶书" pitchFamily="49" charset="-122"/>
              </a:rPr>
              <a:t>,</a:t>
            </a:r>
            <a:r>
              <a:rPr kumimoji="1" lang="zh-CN" altLang="en-US" sz="2800" dirty="0">
                <a:ea typeface="隶书" pitchFamily="49" charset="-122"/>
              </a:rPr>
              <a:t>开始下一次循环的判断。</a:t>
            </a:r>
          </a:p>
        </p:txBody>
      </p:sp>
      <p:sp>
        <p:nvSpPr>
          <p:cNvPr id="10" name="Text Box 88">
            <a:extLst>
              <a:ext uri="{FF2B5EF4-FFF2-40B4-BE49-F238E27FC236}">
                <a16:creationId xmlns:a16="http://schemas.microsoft.com/office/drawing/2014/main" id="{10434518-B0F9-446A-B898-0A16CD4AA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02" y="2660922"/>
            <a:ext cx="11998712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3200" dirty="0">
                <a:solidFill>
                  <a:srgbClr val="FF3300"/>
                </a:solidFill>
                <a:ea typeface="隶书" pitchFamily="49" charset="-122"/>
              </a:rPr>
              <a:t>注意</a:t>
            </a:r>
            <a:r>
              <a:rPr kumimoji="1" lang="en-US" altLang="zh-CN" sz="2800" dirty="0">
                <a:solidFill>
                  <a:srgbClr val="3333FF"/>
                </a:solidFill>
                <a:ea typeface="隶书" pitchFamily="49" charset="-122"/>
              </a:rPr>
              <a:t>: </a:t>
            </a:r>
            <a:r>
              <a:rPr kumimoji="1" lang="zh-CN" altLang="en-US" sz="2800" dirty="0">
                <a:ea typeface="隶书" pitchFamily="49" charset="-122"/>
              </a:rPr>
              <a:t>只能出现在</a:t>
            </a:r>
            <a:r>
              <a:rPr kumimoji="1" lang="en-US" altLang="zh-CN" sz="2800" dirty="0">
                <a:ea typeface="隶书" pitchFamily="49" charset="-122"/>
              </a:rPr>
              <a:t>switch</a:t>
            </a:r>
            <a:r>
              <a:rPr kumimoji="1" lang="zh-CN" altLang="en-US" sz="2800" dirty="0">
                <a:ea typeface="隶书" pitchFamily="49" charset="-122"/>
              </a:rPr>
              <a:t>语句或循环体中。</a:t>
            </a:r>
          </a:p>
        </p:txBody>
      </p:sp>
      <p:sp>
        <p:nvSpPr>
          <p:cNvPr id="11" name="Text Box 88">
            <a:extLst>
              <a:ext uri="{FF2B5EF4-FFF2-40B4-BE49-F238E27FC236}">
                <a16:creationId xmlns:a16="http://schemas.microsoft.com/office/drawing/2014/main" id="{823495B1-3124-49CE-BAD3-E841AA363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02" y="5787047"/>
            <a:ext cx="11998712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3200" dirty="0">
                <a:solidFill>
                  <a:srgbClr val="FF3300"/>
                </a:solidFill>
                <a:ea typeface="隶书" pitchFamily="49" charset="-122"/>
              </a:rPr>
              <a:t>注意</a:t>
            </a:r>
            <a:r>
              <a:rPr kumimoji="1" lang="en-US" altLang="zh-CN" sz="2800" dirty="0">
                <a:solidFill>
                  <a:srgbClr val="3333FF"/>
                </a:solidFill>
                <a:ea typeface="隶书" pitchFamily="49" charset="-122"/>
              </a:rPr>
              <a:t>: </a:t>
            </a:r>
            <a:r>
              <a:rPr kumimoji="1" lang="zh-CN" altLang="en-US" sz="2800" dirty="0">
                <a:ea typeface="隶书" pitchFamily="49" charset="-122"/>
              </a:rPr>
              <a:t>只能出现在循环结构的循环体中。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9B972F26-D8CD-48C4-A06D-D97E11B7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84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8" grpId="0" animBg="1"/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0C6AFAC-6AF4-49C6-ADEA-6099FF1B107F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break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和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continue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语句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BAD898-CEFD-466B-BCE4-D08D4A913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926" y="815098"/>
            <a:ext cx="2944257" cy="52278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73EFB8F-6688-4EB0-B17B-42ECA4347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991" y="754085"/>
            <a:ext cx="2978619" cy="5288816"/>
          </a:xfrm>
          <a:prstGeom prst="rect">
            <a:avLst/>
          </a:prstGeom>
        </p:spPr>
      </p:pic>
      <p:sp>
        <p:nvSpPr>
          <p:cNvPr id="8" name="Text Box 57">
            <a:extLst>
              <a:ext uri="{FF2B5EF4-FFF2-40B4-BE49-F238E27FC236}">
                <a16:creationId xmlns:a16="http://schemas.microsoft.com/office/drawing/2014/main" id="{29B988B8-3A2C-4600-8478-6AC84C814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729" y="5970784"/>
            <a:ext cx="30636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en-US" altLang="zh-CN" sz="2800" b="0" dirty="0">
                <a:solidFill>
                  <a:schemeClr val="tx1"/>
                </a:solidFill>
                <a:ea typeface="隶书" pitchFamily="49" charset="-122"/>
              </a:rPr>
              <a:t>break</a:t>
            </a: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执行流程图</a:t>
            </a:r>
          </a:p>
        </p:txBody>
      </p:sp>
      <p:sp>
        <p:nvSpPr>
          <p:cNvPr id="9" name="Text Box 57">
            <a:extLst>
              <a:ext uri="{FF2B5EF4-FFF2-40B4-BE49-F238E27FC236}">
                <a16:creationId xmlns:a16="http://schemas.microsoft.com/office/drawing/2014/main" id="{06AE9A6E-C1DC-46C2-9305-A419F011A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3278" y="5970784"/>
            <a:ext cx="34820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en-US" altLang="zh-CN" sz="2800" b="0" dirty="0">
                <a:solidFill>
                  <a:schemeClr val="tx1"/>
                </a:solidFill>
                <a:ea typeface="隶书" pitchFamily="49" charset="-122"/>
              </a:rPr>
              <a:t>continue</a:t>
            </a: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执行流程图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8D37ED-32B5-4C74-A7C3-5D43C50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8394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0C6AFAC-6AF4-49C6-ADEA-6099FF1B107F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break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和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continue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语句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BAD898-CEFD-466B-BCE4-D08D4A913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18" y="1315743"/>
            <a:ext cx="2601712" cy="4619582"/>
          </a:xfrm>
          <a:prstGeom prst="rect">
            <a:avLst/>
          </a:prstGeom>
        </p:spPr>
      </p:pic>
      <p:sp>
        <p:nvSpPr>
          <p:cNvPr id="8" name="Text Box 57">
            <a:extLst>
              <a:ext uri="{FF2B5EF4-FFF2-40B4-BE49-F238E27FC236}">
                <a16:creationId xmlns:a16="http://schemas.microsoft.com/office/drawing/2014/main" id="{29B988B8-3A2C-4600-8478-6AC84C814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63208"/>
            <a:ext cx="30636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en-US" altLang="zh-CN" sz="2800" b="0" dirty="0">
                <a:solidFill>
                  <a:schemeClr val="tx1"/>
                </a:solidFill>
                <a:ea typeface="隶书" pitchFamily="49" charset="-122"/>
              </a:rPr>
              <a:t>break</a:t>
            </a: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执行流程图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AA17FFD-4DA2-49C2-A2E6-83C111E51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754" y="1398621"/>
            <a:ext cx="5255590" cy="4834048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F4AD23F3-68AD-423C-B97A-B883C0B03C3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3-15】</a:t>
            </a:r>
            <a:r>
              <a:rPr lang="zh-CN" altLang="en-US" sz="2400" b="1" dirty="0"/>
              <a:t>从</a:t>
            </a:r>
            <a:r>
              <a:rPr lang="en-US" altLang="zh-CN" sz="2400" b="1" dirty="0"/>
              <a:t>100~999</a:t>
            </a:r>
            <a:r>
              <a:rPr lang="zh-CN" altLang="en-US" sz="2400" b="1" dirty="0"/>
              <a:t>中找出第一个满足能被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7</a:t>
            </a:r>
            <a:r>
              <a:rPr lang="zh-CN" altLang="en-US" sz="2400" b="1" dirty="0"/>
              <a:t>同时整除的数。</a:t>
            </a:r>
            <a:endParaRPr lang="zh-CN" altLang="en-US" sz="22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1159F4-37A7-459D-9E4C-C769B32D1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995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0C6AFAC-6AF4-49C6-ADEA-6099FF1B107F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break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和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continue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语句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73EFB8F-6688-4EB0-B17B-42ECA4347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" y="1234223"/>
            <a:ext cx="2694227" cy="4783851"/>
          </a:xfrm>
          <a:prstGeom prst="rect">
            <a:avLst/>
          </a:prstGeom>
        </p:spPr>
      </p:pic>
      <p:sp>
        <p:nvSpPr>
          <p:cNvPr id="9" name="Text Box 57">
            <a:extLst>
              <a:ext uri="{FF2B5EF4-FFF2-40B4-BE49-F238E27FC236}">
                <a16:creationId xmlns:a16="http://schemas.microsoft.com/office/drawing/2014/main" id="{06AE9A6E-C1DC-46C2-9305-A419F011A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945958"/>
            <a:ext cx="34820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defRPr sz="3600" b="1">
                <a:solidFill>
                  <a:srgbClr val="3366FF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itchFamily="2" charset="2"/>
              <a:buChar char="l"/>
            </a:pPr>
            <a:r>
              <a:rPr kumimoji="1" lang="en-US" altLang="zh-CN" sz="2800" b="0" dirty="0">
                <a:solidFill>
                  <a:schemeClr val="tx1"/>
                </a:solidFill>
                <a:ea typeface="隶书" pitchFamily="49" charset="-122"/>
              </a:rPr>
              <a:t>continue</a:t>
            </a:r>
            <a:r>
              <a:rPr kumimoji="1" lang="zh-CN" altLang="en-US" sz="2800" b="0" dirty="0">
                <a:solidFill>
                  <a:schemeClr val="tx1"/>
                </a:solidFill>
                <a:ea typeface="隶书" pitchFamily="49" charset="-122"/>
              </a:rPr>
              <a:t>执行流程图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D146B7F-B3C5-4FE5-84BF-E1BA6B7CE0C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3-16】</a:t>
            </a:r>
            <a:r>
              <a:rPr lang="zh-CN" altLang="en-US" sz="2400" b="1" dirty="0"/>
              <a:t>输出两位数中所有能同时被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整除的数。</a:t>
            </a:r>
            <a:endParaRPr lang="zh-CN" altLang="en-US" sz="2200" b="1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4F69C82-9531-4583-A0C4-9ED605665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0800" y="1234223"/>
            <a:ext cx="6130377" cy="497836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A3CC1C-EDF6-4ED0-92A9-002DD75E6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85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0C6AFAC-6AF4-49C6-ADEA-6099FF1B107F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三种循环结构的比较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71ABF31-97EF-43B7-B409-468308DF968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80"/>
            <a:ext cx="12192000" cy="4756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2400" b="1" dirty="0"/>
              <a:t>三种循环语句可以相互替代。</a:t>
            </a:r>
            <a:r>
              <a:rPr lang="en-US" altLang="zh-CN" sz="2400" b="1" dirty="0"/>
              <a:t>for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while</a:t>
            </a:r>
            <a:r>
              <a:rPr lang="zh-CN" altLang="en-US" sz="2400" b="1" dirty="0"/>
              <a:t>循环体可能一次也不执行，但</a:t>
            </a:r>
            <a:r>
              <a:rPr lang="en-US" altLang="zh-CN" sz="2400" b="1" dirty="0"/>
              <a:t>do-while</a:t>
            </a:r>
            <a:r>
              <a:rPr lang="zh-CN" altLang="en-US" sz="2400" b="1" dirty="0"/>
              <a:t>循环体至少执行一次。</a:t>
            </a:r>
            <a:endParaRPr lang="en-US" altLang="zh-CN" sz="2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680CAD-5B80-47F5-8725-63E5E115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43309"/>
            <a:ext cx="4274096" cy="467648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1B0653D-E301-44B7-B01B-D78E981AD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871" y="1532326"/>
            <a:ext cx="4041458" cy="4687471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BD5F7C-9993-4A30-A3E7-FA9E9CBE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744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0C6AFAC-6AF4-49C6-ADEA-6099FF1B107F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循环嵌套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71ABF31-97EF-43B7-B409-468308DF968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80"/>
            <a:ext cx="12192000" cy="4756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2400" b="1" dirty="0"/>
              <a:t>一个循环语句的循环体中包含了另一个循环语句称为</a:t>
            </a:r>
            <a:r>
              <a:rPr lang="zh-CN" altLang="en-US" sz="2400" b="1" dirty="0">
                <a:solidFill>
                  <a:srgbClr val="0000FF"/>
                </a:solidFill>
              </a:rPr>
              <a:t>循环嵌套</a:t>
            </a:r>
            <a:r>
              <a:rPr lang="zh-CN" altLang="en-US" sz="2400" b="1" dirty="0"/>
              <a:t>，又称多重循环。三种循环语句均可以互相嵌套。</a:t>
            </a:r>
            <a:endParaRPr lang="en-US" altLang="zh-CN" sz="2400" b="1" dirty="0"/>
          </a:p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2400" b="1" dirty="0"/>
              <a:t>循环嵌套的特点：外循环执行一次，内循环执行完全部循环。</a:t>
            </a:r>
            <a:endParaRPr lang="en-US" altLang="zh-CN" sz="2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DBFA19C-DC92-4C04-892A-D8888AC7D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0" y="1937146"/>
            <a:ext cx="7629825" cy="4367167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4DF99E-5BA4-4C7C-8E7B-9396C7DC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pPr/>
              <a:t>27</a:t>
            </a:fld>
            <a:r>
              <a:rPr lang="en-US" altLang="zh-CN"/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820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8ECABB-B21A-4917-ACB1-C4D6E10BC53C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累加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/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累积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615B303-88D3-41B4-95B9-A1EFC95A343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3-18】</a:t>
            </a:r>
            <a:r>
              <a:rPr lang="zh-CN" altLang="en-US" sz="2400" b="1" dirty="0"/>
              <a:t>编程求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的阶乘。</a:t>
            </a:r>
            <a:endParaRPr lang="zh-CN" altLang="en-US" sz="22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9CA9BFF-38E8-4369-AE8B-A2DB707EF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19" y="1207514"/>
            <a:ext cx="5306019" cy="495083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6E63C8-76AE-4D57-B0B3-010527CB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9692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8ECABB-B21A-4917-ACB1-C4D6E10BC53C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累加</a:t>
            </a:r>
            <a:r>
              <a:rPr lang="en-US" altLang="zh-CN" sz="3200" b="1" dirty="0">
                <a:solidFill>
                  <a:srgbClr val="200AC4"/>
                </a:solidFill>
                <a:ea typeface="隶书" pitchFamily="49" charset="-122"/>
              </a:rPr>
              <a:t>/</a:t>
            </a: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累积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615B303-88D3-41B4-95B9-A1EFC95A343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3-19】</a:t>
            </a:r>
            <a:r>
              <a:rPr lang="zh-CN" altLang="en-US" sz="2400" b="1" dirty="0"/>
              <a:t>编程求</a:t>
            </a:r>
            <a:r>
              <a:rPr lang="en-US" altLang="zh-CN" sz="2400" b="1" dirty="0"/>
              <a:t>s=1+1/2+1/3+…+1/100</a:t>
            </a:r>
            <a:r>
              <a:rPr lang="zh-CN" altLang="en-US" sz="2400" b="1" dirty="0"/>
              <a:t>的值。</a:t>
            </a:r>
            <a:endParaRPr lang="zh-CN" altLang="en-US" sz="22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58F69C-1F07-41B6-B91F-B61960351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52" y="1071627"/>
            <a:ext cx="4265697" cy="501324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D7BC7C-86C1-4A9A-8F25-B5CDB0ED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78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8ECABB-B21A-4917-ACB1-C4D6E10BC53C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计数问题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9EDC4BF-D3C4-4D36-ACA2-97DBA093708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3-21】</a:t>
            </a:r>
            <a:r>
              <a:rPr lang="zh-CN" altLang="en-US" sz="2400" b="1" dirty="0"/>
              <a:t>从键盘任意输入一串字符，分别统计其中大写字母、小写字母、数字、其它字母的个数。</a:t>
            </a:r>
            <a:endParaRPr lang="zh-CN" altLang="en-US" sz="22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1E521A-61F9-4740-BAE7-998C8E2A9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03" y="1416389"/>
            <a:ext cx="5449162" cy="4783586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AC3E4B-42F1-49E8-A60C-C27A8D3A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40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8ECABB-B21A-4917-ACB1-C4D6E10BC53C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穷举法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5C9F109-92A6-450C-803E-888A4407E8A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3-22】</a:t>
            </a:r>
            <a:r>
              <a:rPr lang="zh-CN" altLang="en-US" sz="2400" b="1" dirty="0"/>
              <a:t>判断给定整数是否是素数。</a:t>
            </a:r>
            <a:endParaRPr lang="zh-CN" altLang="en-US" sz="22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3B204F-1D81-4238-8B7E-44EBF35F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03" y="1063352"/>
            <a:ext cx="4423048" cy="5149791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10D257-D000-429B-8771-2BB23CD9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626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8ECABB-B21A-4917-ACB1-C4D6E10BC53C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递推法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FC35B7D-69F6-443D-BB76-D7E6E4A7363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3-24】</a:t>
            </a:r>
            <a:r>
              <a:rPr lang="zh-CN" altLang="en-US" sz="2400" b="1" dirty="0"/>
              <a:t>求斐波那契数列前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项。</a:t>
            </a:r>
            <a:endParaRPr lang="zh-CN" altLang="en-US" sz="22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C97861F-A418-4568-8EDF-E287B37E2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80" y="1117140"/>
            <a:ext cx="8242882" cy="4969206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25E3A2-B2B3-4950-950D-D5117CC6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617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8ECABB-B21A-4917-ACB1-C4D6E10BC53C}"/>
              </a:ext>
            </a:extLst>
          </p:cNvPr>
          <p:cNvSpPr txBox="1"/>
          <p:nvPr/>
        </p:nvSpPr>
        <p:spPr>
          <a:xfrm>
            <a:off x="3612087" y="40830"/>
            <a:ext cx="6177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循环嵌套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4529E2-8D2E-483E-A03F-EF3F306D7F0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15979"/>
            <a:ext cx="12192000" cy="4011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 例</a:t>
            </a:r>
            <a:r>
              <a:rPr lang="en-US" altLang="zh-CN" sz="2400" b="1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3-26】</a:t>
            </a:r>
            <a:r>
              <a:rPr lang="zh-CN" altLang="en-US" sz="2400" b="1" dirty="0"/>
              <a:t>求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40</a:t>
            </a:r>
            <a:r>
              <a:rPr lang="zh-CN" altLang="en-US" sz="2400" b="1" dirty="0"/>
              <a:t>之间的所有素数。</a:t>
            </a:r>
            <a:endParaRPr lang="zh-CN" altLang="en-US" sz="22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0E7767-0AE1-48F8-BA47-C4EFC577D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01" y="1117140"/>
            <a:ext cx="6374427" cy="4885556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2252FE-5278-4B46-967A-74F9DD72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6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964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面和目录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1667</Words>
  <Application>Microsoft Office PowerPoint</Application>
  <PresentationFormat>宽屏</PresentationFormat>
  <Paragraphs>323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9" baseType="lpstr">
      <vt:lpstr>等线</vt:lpstr>
      <vt:lpstr>等线 Light</vt:lpstr>
      <vt:lpstr>华文行楷</vt:lpstr>
      <vt:lpstr>华文中宋</vt:lpstr>
      <vt:lpstr>隶书</vt:lpstr>
      <vt:lpstr>宋体</vt:lpstr>
      <vt:lpstr>微软雅黑</vt:lpstr>
      <vt:lpstr>Arial</vt:lpstr>
      <vt:lpstr>Calibri</vt:lpstr>
      <vt:lpstr>Consolas</vt:lpstr>
      <vt:lpstr>Times New Roman</vt:lpstr>
      <vt:lpstr>Wingdings</vt:lpstr>
      <vt:lpstr>Office 主题​​</vt:lpstr>
      <vt:lpstr>封面和目录​​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WJQ</dc:creator>
  <cp:lastModifiedBy>WJQ</cp:lastModifiedBy>
  <cp:revision>119</cp:revision>
  <dcterms:created xsi:type="dcterms:W3CDTF">2022-05-18T03:53:29Z</dcterms:created>
  <dcterms:modified xsi:type="dcterms:W3CDTF">2023-03-29T01:11:26Z</dcterms:modified>
</cp:coreProperties>
</file>