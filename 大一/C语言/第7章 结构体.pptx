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674" r:id="rId2"/>
  </p:sldMasterIdLst>
  <p:notesMasterIdLst>
    <p:notesMasterId r:id="rId45"/>
  </p:notesMasterIdLst>
  <p:sldIdLst>
    <p:sldId id="258" r:id="rId3"/>
    <p:sldId id="259" r:id="rId4"/>
    <p:sldId id="260" r:id="rId5"/>
    <p:sldId id="261" r:id="rId6"/>
    <p:sldId id="263" r:id="rId7"/>
    <p:sldId id="262" r:id="rId8"/>
    <p:sldId id="264" r:id="rId9"/>
    <p:sldId id="265" r:id="rId10"/>
    <p:sldId id="267" r:id="rId11"/>
    <p:sldId id="268" r:id="rId12"/>
    <p:sldId id="270" r:id="rId13"/>
    <p:sldId id="269" r:id="rId14"/>
    <p:sldId id="271" r:id="rId15"/>
    <p:sldId id="273" r:id="rId16"/>
    <p:sldId id="274" r:id="rId17"/>
    <p:sldId id="275" r:id="rId18"/>
    <p:sldId id="277" r:id="rId19"/>
    <p:sldId id="280" r:id="rId20"/>
    <p:sldId id="281" r:id="rId21"/>
    <p:sldId id="276" r:id="rId22"/>
    <p:sldId id="278" r:id="rId23"/>
    <p:sldId id="282" r:id="rId24"/>
    <p:sldId id="279" r:id="rId25"/>
    <p:sldId id="286" r:id="rId26"/>
    <p:sldId id="288" r:id="rId27"/>
    <p:sldId id="284" r:id="rId28"/>
    <p:sldId id="289" r:id="rId29"/>
    <p:sldId id="285" r:id="rId30"/>
    <p:sldId id="290" r:id="rId31"/>
    <p:sldId id="291" r:id="rId32"/>
    <p:sldId id="292" r:id="rId33"/>
    <p:sldId id="293" r:id="rId34"/>
    <p:sldId id="294" r:id="rId35"/>
    <p:sldId id="296" r:id="rId36"/>
    <p:sldId id="297" r:id="rId37"/>
    <p:sldId id="298" r:id="rId38"/>
    <p:sldId id="299" r:id="rId39"/>
    <p:sldId id="300" r:id="rId40"/>
    <p:sldId id="295" r:id="rId41"/>
    <p:sldId id="301" r:id="rId42"/>
    <p:sldId id="302" r:id="rId43"/>
    <p:sldId id="303"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26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BEE425-BF42-4068-87C2-E75EA102A699}" type="datetimeFigureOut">
              <a:rPr lang="zh-CN" altLang="en-US" smtClean="0"/>
              <a:t>2023/5/23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76453-3C94-43D2-B70F-282310072568}" type="slidenum">
              <a:rPr lang="zh-CN" altLang="en-US" smtClean="0"/>
              <a:t>‹#›</a:t>
            </a:fld>
            <a:endParaRPr lang="zh-CN" altLang="en-US"/>
          </a:p>
        </p:txBody>
      </p:sp>
    </p:spTree>
    <p:extLst>
      <p:ext uri="{BB962C8B-B14F-4D97-AF65-F5344CB8AC3E}">
        <p14:creationId xmlns:p14="http://schemas.microsoft.com/office/powerpoint/2010/main" val="297801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076453-3C94-43D2-B70F-282310072568}" type="slidenum">
              <a:rPr lang="zh-CN" altLang="en-US" smtClean="0"/>
              <a:t>15</a:t>
            </a:fld>
            <a:endParaRPr lang="zh-CN" altLang="en-US"/>
          </a:p>
        </p:txBody>
      </p:sp>
    </p:spTree>
    <p:extLst>
      <p:ext uri="{BB962C8B-B14F-4D97-AF65-F5344CB8AC3E}">
        <p14:creationId xmlns:p14="http://schemas.microsoft.com/office/powerpoint/2010/main" val="1832062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076453-3C94-43D2-B70F-282310072568}" type="slidenum">
              <a:rPr lang="zh-CN" altLang="en-US" smtClean="0"/>
              <a:t>20</a:t>
            </a:fld>
            <a:endParaRPr lang="zh-CN" altLang="en-US"/>
          </a:p>
        </p:txBody>
      </p:sp>
    </p:spTree>
    <p:extLst>
      <p:ext uri="{BB962C8B-B14F-4D97-AF65-F5344CB8AC3E}">
        <p14:creationId xmlns:p14="http://schemas.microsoft.com/office/powerpoint/2010/main" val="100285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076453-3C94-43D2-B70F-282310072568}" type="slidenum">
              <a:rPr lang="zh-CN" altLang="en-US" smtClean="0"/>
              <a:t>31</a:t>
            </a:fld>
            <a:endParaRPr lang="zh-CN" altLang="en-US"/>
          </a:p>
        </p:txBody>
      </p:sp>
    </p:spTree>
    <p:extLst>
      <p:ext uri="{BB962C8B-B14F-4D97-AF65-F5344CB8AC3E}">
        <p14:creationId xmlns:p14="http://schemas.microsoft.com/office/powerpoint/2010/main" val="218335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BD8FCAE-9FB0-4A30-B3FE-9D7E378746EF}"/>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1D982FBA-F4DB-445D-BAB7-4C15F4CBCCA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BA42403A-59F3-4AA0-8F78-F512440860C2}"/>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/40</a:t>
            </a:r>
            <a:endParaRPr lang="zh-CN" altLang="en-US" dirty="0"/>
          </a:p>
        </p:txBody>
      </p:sp>
    </p:spTree>
    <p:extLst>
      <p:ext uri="{BB962C8B-B14F-4D97-AF65-F5344CB8AC3E}">
        <p14:creationId xmlns:p14="http://schemas.microsoft.com/office/powerpoint/2010/main" val="172229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1">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/40</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0" y="49361"/>
            <a:ext cx="7627917" cy="492443"/>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ct val="50000"/>
              </a:spcBef>
              <a:defRPr/>
            </a:pPr>
            <a:r>
              <a:rPr lang="en-US" altLang="zh-CN" sz="3200" b="1" dirty="0">
                <a:solidFill>
                  <a:srgbClr val="002060"/>
                </a:solidFill>
                <a:effectLst>
                  <a:outerShdw blurRad="38100" dist="38100" dir="2700000" algn="tl">
                    <a:srgbClr val="C0C0C0"/>
                  </a:outerShdw>
                </a:effectLst>
                <a:latin typeface="微软雅黑" pitchFamily="34" charset="-122"/>
                <a:ea typeface="微软雅黑" pitchFamily="34" charset="-122"/>
              </a:rPr>
              <a:t>7.1 </a:t>
            </a:r>
            <a:r>
              <a:rPr lang="zh-CN" altLang="en-US" sz="3200" b="1" dirty="0">
                <a:solidFill>
                  <a:srgbClr val="002060"/>
                </a:solidFill>
                <a:effectLst>
                  <a:outerShdw blurRad="38100" dist="38100" dir="2700000" algn="tl">
                    <a:srgbClr val="C0C0C0"/>
                  </a:outerShdw>
                </a:effectLst>
                <a:latin typeface="微软雅黑" pitchFamily="34" charset="-122"/>
                <a:ea typeface="微软雅黑" pitchFamily="34" charset="-122"/>
              </a:rPr>
              <a:t>结构体</a:t>
            </a:r>
          </a:p>
        </p:txBody>
      </p:sp>
    </p:spTree>
    <p:extLst>
      <p:ext uri="{BB962C8B-B14F-4D97-AF65-F5344CB8AC3E}">
        <p14:creationId xmlns:p14="http://schemas.microsoft.com/office/powerpoint/2010/main" val="2008547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2">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/40</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0" y="49361"/>
            <a:ext cx="7627917" cy="492443"/>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ct val="50000"/>
              </a:spcBef>
              <a:defRPr/>
            </a:pPr>
            <a:r>
              <a:rPr lang="en-US" altLang="zh-CN" sz="3200" b="1" dirty="0">
                <a:solidFill>
                  <a:srgbClr val="002060"/>
                </a:solidFill>
                <a:effectLst>
                  <a:outerShdw blurRad="38100" dist="38100" dir="2700000" algn="tl">
                    <a:srgbClr val="C0C0C0"/>
                  </a:outerShdw>
                </a:effectLst>
                <a:latin typeface="微软雅黑" pitchFamily="34" charset="-122"/>
                <a:ea typeface="微软雅黑" pitchFamily="34" charset="-122"/>
              </a:rPr>
              <a:t>7.2 </a:t>
            </a:r>
            <a:r>
              <a:rPr lang="zh-CN" altLang="en-US" sz="3200" b="1" dirty="0">
                <a:solidFill>
                  <a:srgbClr val="002060"/>
                </a:solidFill>
                <a:effectLst>
                  <a:outerShdw blurRad="38100" dist="38100" dir="2700000" algn="tl">
                    <a:srgbClr val="C0C0C0"/>
                  </a:outerShdw>
                </a:effectLst>
                <a:latin typeface="微软雅黑" pitchFamily="34" charset="-122"/>
                <a:ea typeface="微软雅黑" pitchFamily="34" charset="-122"/>
              </a:rPr>
              <a:t>共用体</a:t>
            </a:r>
          </a:p>
        </p:txBody>
      </p:sp>
    </p:spTree>
    <p:extLst>
      <p:ext uri="{BB962C8B-B14F-4D97-AF65-F5344CB8AC3E}">
        <p14:creationId xmlns:p14="http://schemas.microsoft.com/office/powerpoint/2010/main" val="3546898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3">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/40</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0" y="49361"/>
            <a:ext cx="7627917" cy="492443"/>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ct val="50000"/>
              </a:spcBef>
              <a:defRPr/>
            </a:pPr>
            <a:r>
              <a:rPr lang="en-US" altLang="zh-CN" sz="3200" b="1" dirty="0">
                <a:solidFill>
                  <a:srgbClr val="002060"/>
                </a:solidFill>
                <a:effectLst>
                  <a:outerShdw blurRad="38100" dist="38100" dir="2700000" algn="tl">
                    <a:srgbClr val="C0C0C0"/>
                  </a:outerShdw>
                </a:effectLst>
                <a:latin typeface="微软雅黑" pitchFamily="34" charset="-122"/>
                <a:ea typeface="微软雅黑" pitchFamily="34" charset="-122"/>
              </a:rPr>
              <a:t>7.3 </a:t>
            </a:r>
            <a:r>
              <a:rPr lang="zh-CN" altLang="en-US" sz="3200" b="1" dirty="0">
                <a:solidFill>
                  <a:srgbClr val="002060"/>
                </a:solidFill>
                <a:effectLst>
                  <a:outerShdw blurRad="38100" dist="38100" dir="2700000" algn="tl">
                    <a:srgbClr val="C0C0C0"/>
                  </a:outerShdw>
                </a:effectLst>
                <a:latin typeface="微软雅黑" pitchFamily="34" charset="-122"/>
                <a:ea typeface="微软雅黑" pitchFamily="34" charset="-122"/>
              </a:rPr>
              <a:t>枚举类型</a:t>
            </a:r>
          </a:p>
        </p:txBody>
      </p:sp>
    </p:spTree>
    <p:extLst>
      <p:ext uri="{BB962C8B-B14F-4D97-AF65-F5344CB8AC3E}">
        <p14:creationId xmlns:p14="http://schemas.microsoft.com/office/powerpoint/2010/main" val="3026771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4">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4285AD98-69D5-439C-ADC1-743F29D80180}"/>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FB2D1354-29A7-4643-B6C1-32382E1D64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EB037-461D-429F-8082-F720791BAD75}"/>
              </a:ext>
            </a:extLst>
          </p:cNvPr>
          <p:cNvSpPr>
            <a:spLocks noGrp="1"/>
          </p:cNvSpPr>
          <p:nvPr>
            <p:ph type="sldNum" sz="quarter" idx="12"/>
          </p:nvPr>
        </p:nvSpPr>
        <p:spPr/>
        <p:txBody>
          <a:bodyPr/>
          <a:lstStyle>
            <a:lvl1pPr>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/40</a:t>
            </a:r>
            <a:endParaRPr lang="zh-CN" altLang="en-US" dirty="0"/>
          </a:p>
        </p:txBody>
      </p:sp>
      <p:sp>
        <p:nvSpPr>
          <p:cNvPr id="6" name="Rectangle 3">
            <a:extLst>
              <a:ext uri="{FF2B5EF4-FFF2-40B4-BE49-F238E27FC236}">
                <a16:creationId xmlns:a16="http://schemas.microsoft.com/office/drawing/2014/main" id="{EE822506-8548-47C9-96B3-F599735D7169}"/>
              </a:ext>
            </a:extLst>
          </p:cNvPr>
          <p:cNvSpPr txBox="1">
            <a:spLocks noChangeArrowheads="1"/>
          </p:cNvSpPr>
          <p:nvPr userDrawn="1"/>
        </p:nvSpPr>
        <p:spPr>
          <a:xfrm>
            <a:off x="0" y="49361"/>
            <a:ext cx="7627917" cy="492443"/>
          </a:xfrm>
          <a:prstGeom prst="rect">
            <a:avLst/>
          </a:prstGeom>
          <a:extLst>
            <a:ext uri="{909E8E84-426E-40DD-AFC4-6F175D3DCCD1}">
              <a14:hiddenFill xmlns:a14="http://schemas.microsoft.com/office/drawing/2010/main">
                <a:gradFill rotWithShape="0">
                  <a:gsLst>
                    <a:gs pos="0">
                      <a:srgbClr val="0066FF"/>
                    </a:gs>
                    <a:gs pos="100000">
                      <a:srgbClr val="0066FF">
                        <a:gamma/>
                        <a:shade val="46275"/>
                        <a:invGamma/>
                      </a:srgbClr>
                    </a:gs>
                  </a:gsLst>
                  <a:path path="shape">
                    <a:fillToRect l="50000" t="50000" r="50000" b="50000"/>
                  </a:path>
                </a:gradFill>
              </a14:hiddenFill>
            </a:ext>
            <a:ext uri="{91240B29-F687-4F45-9708-019B960494DF}">
              <a14:hiddenLine xmlns:a14="http://schemas.microsoft.com/office/drawing/2010/main" w="9525" cap="flat" cmpd="sng">
                <a:solidFill>
                  <a:srgbClr val="0066FF"/>
                </a:solidFill>
                <a:prstDash val="solid"/>
                <a:miter lim="800000"/>
                <a:headEnd/>
                <a:tailEnd/>
              </a14:hiddenLine>
            </a:ext>
          </a:extLst>
        </p:spPr>
        <p:txBody>
          <a:bodyPr wrap="square" tIns="0" bIns="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ct val="50000"/>
              </a:spcBef>
              <a:defRPr/>
            </a:pPr>
            <a:r>
              <a:rPr lang="en-US" altLang="zh-CN" sz="3200" b="1" dirty="0">
                <a:solidFill>
                  <a:srgbClr val="002060"/>
                </a:solidFill>
                <a:effectLst>
                  <a:outerShdw blurRad="38100" dist="38100" dir="2700000" algn="tl">
                    <a:srgbClr val="C0C0C0"/>
                  </a:outerShdw>
                </a:effectLst>
                <a:latin typeface="微软雅黑" pitchFamily="34" charset="-122"/>
                <a:ea typeface="微软雅黑" pitchFamily="34" charset="-122"/>
              </a:rPr>
              <a:t>7.4 typedef</a:t>
            </a:r>
            <a:r>
              <a:rPr lang="zh-CN" altLang="en-US" sz="3200" b="1" dirty="0">
                <a:solidFill>
                  <a:srgbClr val="002060"/>
                </a:solidFill>
                <a:effectLst>
                  <a:outerShdw blurRad="38100" dist="38100" dir="2700000" algn="tl">
                    <a:srgbClr val="C0C0C0"/>
                  </a:outerShdw>
                </a:effectLst>
                <a:latin typeface="微软雅黑" pitchFamily="34" charset="-122"/>
                <a:ea typeface="微软雅黑" pitchFamily="34" charset="-122"/>
              </a:rPr>
              <a:t>类型定义</a:t>
            </a:r>
          </a:p>
        </p:txBody>
      </p:sp>
    </p:spTree>
    <p:extLst>
      <p:ext uri="{BB962C8B-B14F-4D97-AF65-F5344CB8AC3E}">
        <p14:creationId xmlns:p14="http://schemas.microsoft.com/office/powerpoint/2010/main" val="1644780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474AD4-ABEC-4485-9109-4AE1AAB0B7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583F6B7-5C12-4E4E-9073-580CA6A41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35D7BC1-B809-427C-9F08-510A046694FF}"/>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9D4B585E-11DE-411B-9226-2007BA3357C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61E87E3-3726-463C-BE2B-B558CD0AC492}"/>
              </a:ext>
            </a:extLst>
          </p:cNvPr>
          <p:cNvSpPr>
            <a:spLocks noGrp="1"/>
          </p:cNvSpPr>
          <p:nvPr>
            <p:ph type="sldNum" sz="quarter" idx="12"/>
          </p:nvPr>
        </p:nvSpPr>
        <p:spPr/>
        <p:txBody>
          <a:bodyPr/>
          <a:lstStyle>
            <a:lvl1pPr>
              <a:defRPr/>
            </a:lvl1pPr>
          </a:lstStyle>
          <a:p>
            <a:r>
              <a:rPr lang="zh-CN" altLang="en-US" dirty="0"/>
              <a:t>第</a:t>
            </a:r>
            <a:fld id="{2FA56C3F-F0F5-411B-954C-A2CFDC009DCE}" type="slidenum">
              <a:rPr lang="zh-CN" altLang="en-US" smtClean="0">
                <a:solidFill>
                  <a:prstClr val="black">
                    <a:tint val="75000"/>
                  </a:prstClr>
                </a:solidFill>
              </a:rPr>
              <a:pPr/>
              <a:t>‹#›</a:t>
            </a:fld>
            <a:r>
              <a:rPr lang="zh-CN" altLang="en-US" dirty="0"/>
              <a:t>页，共</a:t>
            </a:r>
            <a:r>
              <a:rPr lang="en-US" altLang="zh-CN" dirty="0"/>
              <a:t>30</a:t>
            </a:r>
            <a:r>
              <a:rPr lang="zh-CN" altLang="en-US" dirty="0"/>
              <a:t>页</a:t>
            </a:r>
          </a:p>
        </p:txBody>
      </p:sp>
    </p:spTree>
    <p:extLst>
      <p:ext uri="{BB962C8B-B14F-4D97-AF65-F5344CB8AC3E}">
        <p14:creationId xmlns:p14="http://schemas.microsoft.com/office/powerpoint/2010/main" val="160990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DEB9E2-C450-47A8-A070-C84B3E169459}"/>
              </a:ext>
            </a:extLst>
          </p:cNvPr>
          <p:cNvSpPr>
            <a:spLocks noGrp="1"/>
          </p:cNvSpPr>
          <p:nvPr>
            <p:ph type="title"/>
          </p:nvPr>
        </p:nvSpPr>
        <p:spPr>
          <a:xfrm>
            <a:off x="838200" y="838200"/>
            <a:ext cx="10515600" cy="852488"/>
          </a:xfrm>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8FB6C178-61D5-475A-92D0-6FE43A90907E}"/>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287448E-A19A-4D08-9F63-676999401ACB}"/>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2BC7C253-9065-4B49-AC33-40A8A2CD35B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7F778CF-3F9A-4D9C-AEFB-1138D1787388}"/>
              </a:ext>
            </a:extLst>
          </p:cNvPr>
          <p:cNvSpPr>
            <a:spLocks noGrp="1"/>
          </p:cNvSpPr>
          <p:nvPr>
            <p:ph type="sldNum" sz="quarter" idx="12"/>
          </p:nvPr>
        </p:nvSpPr>
        <p:spPr/>
        <p:txBody>
          <a:bodyPr/>
          <a:lstStyle>
            <a:lvl1pPr>
              <a:defRPr/>
            </a:lvl1pPr>
          </a:lstStyle>
          <a:p>
            <a:r>
              <a:rPr lang="zh-CN" altLang="en-US" dirty="0"/>
              <a:t>第</a:t>
            </a:r>
            <a:fld id="{2FA56C3F-F0F5-411B-954C-A2CFDC009DCE}" type="slidenum">
              <a:rPr lang="zh-CN" altLang="en-US" smtClean="0"/>
              <a:pPr/>
              <a:t>‹#›</a:t>
            </a:fld>
            <a:r>
              <a:rPr lang="zh-CN" altLang="en-US" dirty="0"/>
              <a:t>页，共</a:t>
            </a:r>
            <a:r>
              <a:rPr lang="en-US" altLang="zh-CN" dirty="0"/>
              <a:t>30</a:t>
            </a:r>
            <a:r>
              <a:rPr lang="zh-CN" altLang="en-US" dirty="0"/>
              <a:t>页</a:t>
            </a:r>
          </a:p>
        </p:txBody>
      </p:sp>
    </p:spTree>
    <p:extLst>
      <p:ext uri="{BB962C8B-B14F-4D97-AF65-F5344CB8AC3E}">
        <p14:creationId xmlns:p14="http://schemas.microsoft.com/office/powerpoint/2010/main" val="2502593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4B1310-1A44-48D4-892F-24533F54071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12CA674-3E89-404D-AA3A-E868A1B05C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5BBCEA-3375-4D2D-B9E1-379CB790B898}"/>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75C48294-AC7E-42E0-8D1E-1C99992363A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B0EBAF8-F76E-411F-9A2A-9733F2A8F6F4}"/>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116488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ABAC20-CA2A-4C18-8402-5BA5228319E8}"/>
              </a:ext>
            </a:extLst>
          </p:cNvPr>
          <p:cNvSpPr>
            <a:spLocks noGrp="1"/>
          </p:cNvSpPr>
          <p:nvPr>
            <p:ph type="title"/>
          </p:nvPr>
        </p:nvSpPr>
        <p:spPr>
          <a:xfrm>
            <a:off x="838200" y="838200"/>
            <a:ext cx="10515600" cy="852488"/>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A492BEE-0382-41FD-9A45-E74EA7E63300}"/>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BBB555AA-23E9-4B88-B631-DFC927C3BF76}"/>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6A7E48C7-F411-4AB4-A507-487EE21106E3}"/>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81D71B4C-5F2B-4E30-8242-5CEFAA0EB7C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02D771C-A0E3-44B3-B5E2-B88352CEB0C7}"/>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2010001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1BF824-47E5-4895-AC55-60DAEF4E0A28}"/>
              </a:ext>
            </a:extLst>
          </p:cNvPr>
          <p:cNvSpPr>
            <a:spLocks noGrp="1"/>
          </p:cNvSpPr>
          <p:nvPr>
            <p:ph type="title"/>
          </p:nvPr>
        </p:nvSpPr>
        <p:spPr>
          <a:xfrm>
            <a:off x="839788" y="800100"/>
            <a:ext cx="10515600" cy="823912"/>
          </a:xfrm>
        </p:spPr>
        <p:txBody>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E075336-BDB4-47C1-A61C-8B723885C8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D30ED25-EC93-42FC-BF5E-F0792C724A7A}"/>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D861F66-EBC8-4197-B543-F620403FAA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2AE16E24-B549-438C-8C81-41A92A02326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4311A5AA-4A79-45C7-9D86-A03ECF8FA025}"/>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122F7098-7947-4E53-A9AC-CC953797BBCB}"/>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BCFCE883-2C8A-4773-B3DD-76F5761120A3}"/>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399811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81F315-15CF-4F24-B2C6-0B5210ED2800}"/>
              </a:ext>
            </a:extLst>
          </p:cNvPr>
          <p:cNvSpPr>
            <a:spLocks noGrp="1"/>
          </p:cNvSpPr>
          <p:nvPr>
            <p:ph type="title"/>
          </p:nvPr>
        </p:nvSpPr>
        <p:spPr>
          <a:xfrm>
            <a:off x="838200" y="819150"/>
            <a:ext cx="10515600" cy="871538"/>
          </a:xfrm>
        </p:spPr>
        <p:txBody>
          <a:bodyPr/>
          <a:lstStyle/>
          <a:p>
            <a:r>
              <a:rPr lang="zh-CN" altLang="en-US" dirty="0"/>
              <a:t>单击此处编辑母版标题样式</a:t>
            </a:r>
          </a:p>
        </p:txBody>
      </p:sp>
      <p:sp>
        <p:nvSpPr>
          <p:cNvPr id="3" name="日期占位符 2">
            <a:extLst>
              <a:ext uri="{FF2B5EF4-FFF2-40B4-BE49-F238E27FC236}">
                <a16:creationId xmlns:a16="http://schemas.microsoft.com/office/drawing/2014/main" id="{CA58A7ED-2843-4FFB-9319-3B46B0CCFF20}"/>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4EF55942-357E-4A3E-A232-70DACE9B1FE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B6FB4F34-C7D5-43BB-AED7-6EC34FE60FE6}"/>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42535094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DCDAFB-415E-4AC6-9360-019C0E5704CE}"/>
              </a:ext>
            </a:extLst>
          </p:cNvPr>
          <p:cNvSpPr>
            <a:spLocks noGrp="1"/>
          </p:cNvSpPr>
          <p:nvPr>
            <p:ph type="title"/>
          </p:nvPr>
        </p:nvSpPr>
        <p:spPr>
          <a:xfrm>
            <a:off x="839788" y="847724"/>
            <a:ext cx="3932237" cy="1209675"/>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E44F90-2B3F-428E-969E-57B07A694D15}"/>
              </a:ext>
            </a:extLst>
          </p:cNvPr>
          <p:cNvSpPr>
            <a:spLocks noGrp="1"/>
          </p:cNvSpPr>
          <p:nvPr>
            <p:ph idx="1"/>
          </p:nvPr>
        </p:nvSpPr>
        <p:spPr>
          <a:xfrm>
            <a:off x="5183188" y="847725"/>
            <a:ext cx="6172200" cy="50133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37D96DF2-0BD2-45EC-9813-593930721D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B66C782-FD0C-48A3-956A-80A343DB0159}"/>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474B88A7-4A15-42F8-8937-61508769786B}"/>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6908464-7DBC-45AC-8201-DE0C2DBB7456}"/>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744141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1959B7-240A-440C-A694-FAA58C73D33F}"/>
              </a:ext>
            </a:extLst>
          </p:cNvPr>
          <p:cNvSpPr>
            <a:spLocks noGrp="1"/>
          </p:cNvSpPr>
          <p:nvPr>
            <p:ph type="title"/>
          </p:nvPr>
        </p:nvSpPr>
        <p:spPr>
          <a:xfrm>
            <a:off x="839788" y="987424"/>
            <a:ext cx="3932237" cy="1069975"/>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3E7A531-93E7-47E5-8D8A-7E4689D137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C67025A-5FF7-4210-9C63-3B4C50AF97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80836E2-F1D0-4D62-B64E-9BAA3610E4B9}"/>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A1A5121E-A953-4F21-A73A-64F892D894E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C5B3BC5F-3C5E-452A-AF6C-E40B0A85C37D}"/>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19571740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D3359D-6FC8-48ED-8BCF-54450B4D13DB}"/>
              </a:ext>
            </a:extLst>
          </p:cNvPr>
          <p:cNvSpPr>
            <a:spLocks noGrp="1"/>
          </p:cNvSpPr>
          <p:nvPr>
            <p:ph type="title"/>
          </p:nvPr>
        </p:nvSpPr>
        <p:spPr>
          <a:xfrm>
            <a:off x="838200" y="819150"/>
            <a:ext cx="10515600" cy="871538"/>
          </a:xfr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00C3A34-15A1-46D5-8CD5-71A387CD5FF6}"/>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EB48492-6DB5-4CF1-8F9D-5A9CFCC67E5D}"/>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8357DAC6-B655-4BF5-A955-6D622CBF7FC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4002F96-4A72-4DD2-B3E9-B893B84887FE}"/>
              </a:ext>
            </a:extLst>
          </p:cNvPr>
          <p:cNvSpPr>
            <a:spLocks noGrp="1"/>
          </p:cNvSpPr>
          <p:nvPr>
            <p:ph type="sldNum" sz="quarter" idx="12"/>
          </p:nvPr>
        </p:nvSpPr>
        <p:spPr/>
        <p:txBody>
          <a:bodyPr/>
          <a:lstStyle/>
          <a:p>
            <a:fld id="{2FA56C3F-F0F5-411B-954C-A2CFDC009DCE}" type="slidenum">
              <a:rPr lang="zh-CN" altLang="en-US" smtClean="0"/>
              <a:t>‹#›</a:t>
            </a:fld>
            <a:endParaRPr lang="zh-CN" altLang="en-US"/>
          </a:p>
        </p:txBody>
      </p:sp>
    </p:spTree>
    <p:extLst>
      <p:ext uri="{BB962C8B-B14F-4D97-AF65-F5344CB8AC3E}">
        <p14:creationId xmlns:p14="http://schemas.microsoft.com/office/powerpoint/2010/main" val="31682475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51AEE16-01E3-43EC-BC25-37934156E45C}"/>
              </a:ext>
            </a:extLst>
          </p:cNvPr>
          <p:cNvSpPr>
            <a:spLocks noGrp="1"/>
          </p:cNvSpPr>
          <p:nvPr>
            <p:ph type="title" orient="vert"/>
          </p:nvPr>
        </p:nvSpPr>
        <p:spPr>
          <a:xfrm>
            <a:off x="8724900" y="836245"/>
            <a:ext cx="2628900" cy="534071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F88E6E2-76C5-4659-8E75-14D8BFF92885}"/>
              </a:ext>
            </a:extLst>
          </p:cNvPr>
          <p:cNvSpPr>
            <a:spLocks noGrp="1"/>
          </p:cNvSpPr>
          <p:nvPr>
            <p:ph type="body" orient="vert" idx="1"/>
          </p:nvPr>
        </p:nvSpPr>
        <p:spPr>
          <a:xfrm>
            <a:off x="838200" y="836245"/>
            <a:ext cx="7734300" cy="5340717"/>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82BD946-8A09-4235-8744-79EC63664F93}"/>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D73F3E54-4815-4109-B7F2-744E4C44363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8D44857-0F28-459B-BA4E-04E04401D7C0}"/>
              </a:ext>
            </a:extLst>
          </p:cNvPr>
          <p:cNvSpPr>
            <a:spLocks noGrp="1"/>
          </p:cNvSpPr>
          <p:nvPr>
            <p:ph type="sldNum" sz="quarter" idx="12"/>
          </p:nvPr>
        </p:nvSpPr>
        <p:spPr/>
        <p:txBody>
          <a:bodyPr/>
          <a:lstStyle/>
          <a:p>
            <a:fld id="{2FA56C3F-F0F5-411B-954C-A2CFDC009DCE}" type="slidenum">
              <a:rPr lang="zh-CN" altLang="en-US" smtClean="0"/>
              <a:t>‹#›</a:t>
            </a:fld>
            <a:endParaRPr lang="zh-CN" altLang="en-US" dirty="0"/>
          </a:p>
        </p:txBody>
      </p:sp>
    </p:spTree>
    <p:extLst>
      <p:ext uri="{BB962C8B-B14F-4D97-AF65-F5344CB8AC3E}">
        <p14:creationId xmlns:p14="http://schemas.microsoft.com/office/powerpoint/2010/main" val="1386360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46A57981-622F-4C85-AAC3-86D82916A7C7}"/>
              </a:ext>
            </a:extLst>
          </p:cNvPr>
          <p:cNvGrpSpPr/>
          <p:nvPr userDrawn="1"/>
        </p:nvGrpSpPr>
        <p:grpSpPr>
          <a:xfrm>
            <a:off x="0" y="1354137"/>
            <a:ext cx="12191999" cy="2904016"/>
            <a:chOff x="1856581" y="1077913"/>
            <a:chExt cx="9145588" cy="2799223"/>
          </a:xfrm>
        </p:grpSpPr>
        <p:grpSp>
          <p:nvGrpSpPr>
            <p:cNvPr id="9" name="组合 8">
              <a:extLst>
                <a:ext uri="{FF2B5EF4-FFF2-40B4-BE49-F238E27FC236}">
                  <a16:creationId xmlns:a16="http://schemas.microsoft.com/office/drawing/2014/main" id="{B5F3B009-7F7D-4A6B-90A7-EAC230DAC673}"/>
                </a:ext>
              </a:extLst>
            </p:cNvPr>
            <p:cNvGrpSpPr/>
            <p:nvPr userDrawn="1"/>
          </p:nvGrpSpPr>
          <p:grpSpPr>
            <a:xfrm>
              <a:off x="1856581" y="1077913"/>
              <a:ext cx="9145588" cy="2798762"/>
              <a:chOff x="0" y="1487488"/>
              <a:chExt cx="9145588" cy="2798762"/>
            </a:xfrm>
          </p:grpSpPr>
          <p:sp>
            <p:nvSpPr>
              <p:cNvPr id="6" name="矩形 4">
                <a:extLst>
                  <a:ext uri="{FF2B5EF4-FFF2-40B4-BE49-F238E27FC236}">
                    <a16:creationId xmlns:a16="http://schemas.microsoft.com/office/drawing/2014/main" id="{3A9F79D7-EE70-44C6-87A7-3A5349DBDB96}"/>
                  </a:ext>
                </a:extLst>
              </p:cNvPr>
              <p:cNvSpPr>
                <a:spLocks noChangeArrowheads="1"/>
              </p:cNvSpPr>
              <p:nvPr userDrawn="1"/>
            </p:nvSpPr>
            <p:spPr bwMode="auto">
              <a:xfrm>
                <a:off x="1588" y="1625600"/>
                <a:ext cx="9144000" cy="2484438"/>
              </a:xfrm>
              <a:prstGeom prst="rect">
                <a:avLst/>
              </a:prstGeom>
              <a:solidFill>
                <a:srgbClr val="0070C0"/>
              </a:solidFill>
              <a:ln w="25400">
                <a:solidFill>
                  <a:srgbClr val="0070C0"/>
                </a:solidFill>
                <a:miter lim="800000"/>
                <a:headEnd/>
                <a:tailEnd/>
              </a:ln>
            </p:spPr>
            <p:txBody>
              <a:bodyPr anchor="ctr"/>
              <a:lstStyle/>
              <a:p>
                <a:pPr algn="ctr" fontAlgn="base">
                  <a:spcBef>
                    <a:spcPct val="0"/>
                  </a:spcBef>
                  <a:spcAft>
                    <a:spcPct val="0"/>
                  </a:spcAft>
                  <a:buFont typeface="Arial" pitchFamily="34" charset="0"/>
                  <a:buNone/>
                </a:pPr>
                <a:endParaRPr lang="zh-CN" altLang="en-US">
                  <a:solidFill>
                    <a:srgbClr val="FFFFFF"/>
                  </a:solidFill>
                  <a:latin typeface="宋体" pitchFamily="2" charset="-122"/>
                  <a:ea typeface="宋体" pitchFamily="2" charset="-122"/>
                  <a:sym typeface="宋体" pitchFamily="2" charset="-122"/>
                </a:endParaRPr>
              </a:p>
            </p:txBody>
          </p:sp>
          <p:sp>
            <p:nvSpPr>
              <p:cNvPr id="7" name="矩形 5">
                <a:extLst>
                  <a:ext uri="{FF2B5EF4-FFF2-40B4-BE49-F238E27FC236}">
                    <a16:creationId xmlns:a16="http://schemas.microsoft.com/office/drawing/2014/main" id="{EBB45569-6700-4093-9D14-557B47137CDE}"/>
                  </a:ext>
                </a:extLst>
              </p:cNvPr>
              <p:cNvSpPr>
                <a:spLocks noChangeArrowheads="1"/>
              </p:cNvSpPr>
              <p:nvPr userDrawn="1"/>
            </p:nvSpPr>
            <p:spPr bwMode="auto">
              <a:xfrm>
                <a:off x="0" y="4232275"/>
                <a:ext cx="9144000" cy="53975"/>
              </a:xfrm>
              <a:prstGeom prst="rect">
                <a:avLst/>
              </a:prstGeom>
              <a:solidFill>
                <a:srgbClr val="0070C0"/>
              </a:solidFill>
              <a:ln w="25400">
                <a:solidFill>
                  <a:srgbClr val="0070C0"/>
                </a:solidFill>
                <a:miter lim="800000"/>
                <a:headEnd/>
                <a:tailEnd/>
              </a:ln>
            </p:spPr>
            <p:txBody>
              <a:bodyPr anchor="ctr"/>
              <a:lstStyle/>
              <a:p>
                <a:pPr algn="ctr" fontAlgn="base">
                  <a:spcBef>
                    <a:spcPct val="0"/>
                  </a:spcBef>
                  <a:spcAft>
                    <a:spcPct val="0"/>
                  </a:spcAft>
                  <a:buFont typeface="Arial" pitchFamily="34" charset="0"/>
                  <a:buNone/>
                </a:pPr>
                <a:endParaRPr lang="zh-CN" altLang="en-US">
                  <a:solidFill>
                    <a:srgbClr val="FFFFFF"/>
                  </a:solidFill>
                  <a:latin typeface="宋体" pitchFamily="2" charset="-122"/>
                  <a:ea typeface="宋体" pitchFamily="2" charset="-122"/>
                  <a:sym typeface="宋体" pitchFamily="2" charset="-122"/>
                </a:endParaRPr>
              </a:p>
            </p:txBody>
          </p:sp>
          <p:sp>
            <p:nvSpPr>
              <p:cNvPr id="8" name="矩形 6">
                <a:extLst>
                  <a:ext uri="{FF2B5EF4-FFF2-40B4-BE49-F238E27FC236}">
                    <a16:creationId xmlns:a16="http://schemas.microsoft.com/office/drawing/2014/main" id="{EAA0AD1C-D43A-4CDC-9212-0D5DC7E6024E}"/>
                  </a:ext>
                </a:extLst>
              </p:cNvPr>
              <p:cNvSpPr>
                <a:spLocks noChangeArrowheads="1"/>
              </p:cNvSpPr>
              <p:nvPr userDrawn="1"/>
            </p:nvSpPr>
            <p:spPr bwMode="auto">
              <a:xfrm>
                <a:off x="0" y="1487488"/>
                <a:ext cx="9144000" cy="53975"/>
              </a:xfrm>
              <a:prstGeom prst="rect">
                <a:avLst/>
              </a:prstGeom>
              <a:solidFill>
                <a:srgbClr val="0070C0"/>
              </a:solidFill>
              <a:ln w="25400">
                <a:solidFill>
                  <a:srgbClr val="0070C0"/>
                </a:solidFill>
                <a:miter lim="800000"/>
                <a:headEnd/>
                <a:tailEnd/>
              </a:ln>
            </p:spPr>
            <p:txBody>
              <a:bodyPr anchor="ctr"/>
              <a:lstStyle/>
              <a:p>
                <a:pPr algn="ctr" fontAlgn="base">
                  <a:spcBef>
                    <a:spcPct val="0"/>
                  </a:spcBef>
                  <a:spcAft>
                    <a:spcPct val="0"/>
                  </a:spcAft>
                  <a:buFont typeface="Arial" pitchFamily="34" charset="0"/>
                  <a:buNone/>
                </a:pPr>
                <a:endParaRPr lang="zh-CN" altLang="en-US">
                  <a:solidFill>
                    <a:srgbClr val="FFFFFF"/>
                  </a:solidFill>
                  <a:latin typeface="宋体" pitchFamily="2" charset="-122"/>
                  <a:ea typeface="宋体" pitchFamily="2" charset="-122"/>
                  <a:sym typeface="宋体" pitchFamily="2" charset="-122"/>
                </a:endParaRPr>
              </a:p>
            </p:txBody>
          </p:sp>
        </p:grpSp>
        <p:sp>
          <p:nvSpPr>
            <p:cNvPr id="10" name="WordArt 8">
              <a:extLst>
                <a:ext uri="{FF2B5EF4-FFF2-40B4-BE49-F238E27FC236}">
                  <a16:creationId xmlns:a16="http://schemas.microsoft.com/office/drawing/2014/main" id="{CB95522C-BFEF-4FEE-99E2-3D87100C4D60}"/>
                </a:ext>
              </a:extLst>
            </p:cNvPr>
            <p:cNvSpPr>
              <a:spLocks noChangeArrowheads="1" noChangeShapeType="1" noTextEdit="1"/>
            </p:cNvSpPr>
            <p:nvPr userDrawn="1"/>
          </p:nvSpPr>
          <p:spPr bwMode="auto">
            <a:xfrm>
              <a:off x="2581568" y="2508711"/>
              <a:ext cx="7848600" cy="1368425"/>
            </a:xfrm>
            <a:prstGeom prst="rect">
              <a:avLst/>
            </a:prstGeom>
          </p:spPr>
          <p:txBody>
            <a:bodyPr spcFirstLastPara="1" wrap="none" fromWordArt="1">
              <a:prstTxWarp prst="textArchUp">
                <a:avLst>
                  <a:gd name="adj" fmla="val 10800000"/>
                </a:avLst>
              </a:prstTxWarp>
            </a:bodyPr>
            <a:lstStyle/>
            <a:p>
              <a:pPr algn="ctr" fontAlgn="base">
                <a:spcBef>
                  <a:spcPct val="0"/>
                </a:spcBef>
                <a:spcAft>
                  <a:spcPct val="0"/>
                </a:spcAft>
                <a:buFont typeface="Arial" pitchFamily="34" charset="0"/>
                <a:buNone/>
                <a:defRPr/>
              </a:pPr>
              <a:r>
                <a:rPr lang="en-US" altLang="zh-CN"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华文行楷"/>
                  <a:ea typeface="华文行楷"/>
                </a:rPr>
                <a:t>C</a:t>
              </a:r>
              <a:r>
                <a:rPr lang="zh-CN" alt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华文行楷"/>
                  <a:ea typeface="华文行楷"/>
                </a:rPr>
                <a:t>语言程序设计</a:t>
              </a:r>
            </a:p>
          </p:txBody>
        </p:sp>
      </p:grpSp>
      <p:grpSp>
        <p:nvGrpSpPr>
          <p:cNvPr id="12" name="组合 11">
            <a:extLst>
              <a:ext uri="{FF2B5EF4-FFF2-40B4-BE49-F238E27FC236}">
                <a16:creationId xmlns:a16="http://schemas.microsoft.com/office/drawing/2014/main" id="{57101706-0246-4D72-A2BC-98A80CFACEB4}"/>
              </a:ext>
            </a:extLst>
          </p:cNvPr>
          <p:cNvGrpSpPr/>
          <p:nvPr userDrawn="1"/>
        </p:nvGrpSpPr>
        <p:grpSpPr>
          <a:xfrm>
            <a:off x="-1" y="4685984"/>
            <a:ext cx="12192001" cy="1315043"/>
            <a:chOff x="1637409" y="5066644"/>
            <a:chExt cx="6737987" cy="1315043"/>
          </a:xfrm>
        </p:grpSpPr>
        <p:sp>
          <p:nvSpPr>
            <p:cNvPr id="13" name="TextBox 8">
              <a:extLst>
                <a:ext uri="{FF2B5EF4-FFF2-40B4-BE49-F238E27FC236}">
                  <a16:creationId xmlns:a16="http://schemas.microsoft.com/office/drawing/2014/main" id="{99BD6CD0-C9AC-44D9-B12D-81931EEEE37F}"/>
                </a:ext>
              </a:extLst>
            </p:cNvPr>
            <p:cNvSpPr txBox="1"/>
            <p:nvPr/>
          </p:nvSpPr>
          <p:spPr>
            <a:xfrm>
              <a:off x="1637409" y="5066644"/>
              <a:ext cx="6736816" cy="523220"/>
            </a:xfrm>
            <a:prstGeom prst="rect">
              <a:avLst/>
            </a:prstGeom>
            <a:noFill/>
          </p:spPr>
          <p:txBody>
            <a:bodyPr wrap="square" rtlCol="0">
              <a:spAutoFit/>
            </a:bodyPr>
            <a:lstStyle/>
            <a:p>
              <a:pPr algn="ctr" fontAlgn="base">
                <a:spcBef>
                  <a:spcPct val="0"/>
                </a:spcBef>
                <a:spcAft>
                  <a:spcPct val="0"/>
                </a:spcAft>
                <a:buFont typeface="Arial" pitchFamily="34" charset="0"/>
                <a:buNone/>
              </a:pPr>
              <a:r>
                <a:rPr lang="zh-CN" altLang="en-US" sz="2800" b="1" dirty="0">
                  <a:solidFill>
                    <a:srgbClr val="0000FF"/>
                  </a:solidFill>
                  <a:latin typeface="Arial" pitchFamily="34" charset="0"/>
                  <a:ea typeface="宋体" pitchFamily="2" charset="-122"/>
                </a:rPr>
                <a:t>主讲：吴锦桥</a:t>
              </a:r>
            </a:p>
          </p:txBody>
        </p:sp>
        <p:sp>
          <p:nvSpPr>
            <p:cNvPr id="14" name="TextBox 9">
              <a:extLst>
                <a:ext uri="{FF2B5EF4-FFF2-40B4-BE49-F238E27FC236}">
                  <a16:creationId xmlns:a16="http://schemas.microsoft.com/office/drawing/2014/main" id="{E2549B70-5E95-4C4F-A488-F377B7D57E38}"/>
                </a:ext>
              </a:extLst>
            </p:cNvPr>
            <p:cNvSpPr txBox="1"/>
            <p:nvPr/>
          </p:nvSpPr>
          <p:spPr>
            <a:xfrm>
              <a:off x="1638581" y="5858467"/>
              <a:ext cx="6736815" cy="523220"/>
            </a:xfrm>
            <a:prstGeom prst="rect">
              <a:avLst/>
            </a:prstGeom>
            <a:noFill/>
          </p:spPr>
          <p:txBody>
            <a:bodyPr wrap="square" rtlCol="0">
              <a:spAutoFit/>
            </a:bodyPr>
            <a:lstStyle/>
            <a:p>
              <a:pPr algn="ctr" fontAlgn="base">
                <a:spcBef>
                  <a:spcPct val="0"/>
                </a:spcBef>
                <a:spcAft>
                  <a:spcPct val="0"/>
                </a:spcAft>
                <a:buFont typeface="Arial" pitchFamily="34" charset="0"/>
                <a:buNone/>
              </a:pPr>
              <a:r>
                <a:rPr lang="zh-CN" altLang="en-US" sz="2800" dirty="0">
                  <a:solidFill>
                    <a:srgbClr val="000000"/>
                  </a:solidFill>
                  <a:latin typeface="华文中宋" pitchFamily="2" charset="-122"/>
                  <a:ea typeface="华文中宋" pitchFamily="2" charset="-122"/>
                </a:rPr>
                <a:t>西北农林科技大学 信息工程学院</a:t>
              </a:r>
            </a:p>
          </p:txBody>
        </p:sp>
      </p:grpSp>
      <p:grpSp>
        <p:nvGrpSpPr>
          <p:cNvPr id="2" name="组合 1">
            <a:extLst>
              <a:ext uri="{FF2B5EF4-FFF2-40B4-BE49-F238E27FC236}">
                <a16:creationId xmlns:a16="http://schemas.microsoft.com/office/drawing/2014/main" id="{AAD9F945-ED18-412B-ADFB-CA000B285FB1}"/>
              </a:ext>
            </a:extLst>
          </p:cNvPr>
          <p:cNvGrpSpPr/>
          <p:nvPr userDrawn="1"/>
        </p:nvGrpSpPr>
        <p:grpSpPr>
          <a:xfrm>
            <a:off x="0" y="6567544"/>
            <a:ext cx="12192000" cy="290456"/>
            <a:chOff x="0" y="6567544"/>
            <a:chExt cx="12192000" cy="290456"/>
          </a:xfrm>
        </p:grpSpPr>
        <p:sp>
          <p:nvSpPr>
            <p:cNvPr id="15" name="梯形 14">
              <a:extLst>
                <a:ext uri="{FF2B5EF4-FFF2-40B4-BE49-F238E27FC236}">
                  <a16:creationId xmlns:a16="http://schemas.microsoft.com/office/drawing/2014/main" id="{D7F3770B-929D-4134-ABD8-02B82F6E9969}"/>
                </a:ext>
              </a:extLst>
            </p:cNvPr>
            <p:cNvSpPr/>
            <p:nvPr userDrawn="1"/>
          </p:nvSpPr>
          <p:spPr>
            <a:xfrm>
              <a:off x="3058085" y="6567544"/>
              <a:ext cx="6279777" cy="290456"/>
            </a:xfrm>
            <a:prstGeom prst="trapezoid">
              <a:avLst/>
            </a:prstGeom>
            <a:solidFill>
              <a:srgbClr val="00A3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15">
              <a:extLst>
                <a:ext uri="{FF2B5EF4-FFF2-40B4-BE49-F238E27FC236}">
                  <a16:creationId xmlns:a16="http://schemas.microsoft.com/office/drawing/2014/main" id="{C928126A-0445-4067-A91E-6E9403A4BC26}"/>
                </a:ext>
              </a:extLst>
            </p:cNvPr>
            <p:cNvSpPr/>
            <p:nvPr userDrawn="1"/>
          </p:nvSpPr>
          <p:spPr>
            <a:xfrm>
              <a:off x="0" y="6669741"/>
              <a:ext cx="12192000" cy="188259"/>
            </a:xfrm>
            <a:prstGeom prst="rect">
              <a:avLst/>
            </a:prstGeom>
            <a:solidFill>
              <a:srgbClr val="056A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17" name="矩形 16">
            <a:extLst>
              <a:ext uri="{FF2B5EF4-FFF2-40B4-BE49-F238E27FC236}">
                <a16:creationId xmlns:a16="http://schemas.microsoft.com/office/drawing/2014/main" id="{1DA33834-D47B-4A39-AFBF-0707B98EF227}"/>
              </a:ext>
            </a:extLst>
          </p:cNvPr>
          <p:cNvSpPr/>
          <p:nvPr userDrawn="1"/>
        </p:nvSpPr>
        <p:spPr>
          <a:xfrm>
            <a:off x="0" y="0"/>
            <a:ext cx="12192000" cy="51099"/>
          </a:xfrm>
          <a:prstGeom prst="rect">
            <a:avLst/>
          </a:prstGeom>
          <a:solidFill>
            <a:srgbClr val="00A3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 name="标题 2">
            <a:extLst>
              <a:ext uri="{FF2B5EF4-FFF2-40B4-BE49-F238E27FC236}">
                <a16:creationId xmlns:a16="http://schemas.microsoft.com/office/drawing/2014/main" id="{7B2EC923-4317-42A6-93C2-6C528B99754B}"/>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314713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章目录">
    <p:spTree>
      <p:nvGrpSpPr>
        <p:cNvPr id="1" name=""/>
        <p:cNvGrpSpPr/>
        <p:nvPr/>
      </p:nvGrpSpPr>
      <p:grpSpPr>
        <a:xfrm>
          <a:off x="0" y="0"/>
          <a:ext cx="0" cy="0"/>
          <a:chOff x="0" y="0"/>
          <a:chExt cx="0" cy="0"/>
        </a:xfrm>
      </p:grpSpPr>
      <p:sp>
        <p:nvSpPr>
          <p:cNvPr id="69" name="矩形 68">
            <a:extLst>
              <a:ext uri="{FF2B5EF4-FFF2-40B4-BE49-F238E27FC236}">
                <a16:creationId xmlns:a16="http://schemas.microsoft.com/office/drawing/2014/main" id="{A406FEC5-3B86-47F4-9DE8-AD14B42FD340}"/>
              </a:ext>
            </a:extLst>
          </p:cNvPr>
          <p:cNvSpPr/>
          <p:nvPr userDrawn="1"/>
        </p:nvSpPr>
        <p:spPr>
          <a:xfrm rot="10800000">
            <a:off x="1867" y="0"/>
            <a:ext cx="4715435" cy="6858000"/>
          </a:xfrm>
          <a:prstGeom prst="rect">
            <a:avLst/>
          </a:prstGeom>
          <a:gradFill>
            <a:gsLst>
              <a:gs pos="100000">
                <a:srgbClr val="00B0F0">
                  <a:alpha val="0"/>
                </a:srgbClr>
              </a:gs>
              <a:gs pos="0">
                <a:srgbClr val="00B0F0">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Freeform 9">
            <a:extLst>
              <a:ext uri="{FF2B5EF4-FFF2-40B4-BE49-F238E27FC236}">
                <a16:creationId xmlns:a16="http://schemas.microsoft.com/office/drawing/2014/main" id="{D46F347A-A251-4B8B-B4C7-ED6BAEA25E8A}"/>
              </a:ext>
            </a:extLst>
          </p:cNvPr>
          <p:cNvSpPr>
            <a:spLocks noEditPoints="1"/>
          </p:cNvSpPr>
          <p:nvPr userDrawn="1"/>
        </p:nvSpPr>
        <p:spPr bwMode="auto">
          <a:xfrm>
            <a:off x="4318000" y="990600"/>
            <a:ext cx="115888" cy="4679950"/>
          </a:xfrm>
          <a:custGeom>
            <a:avLst/>
            <a:gdLst>
              <a:gd name="T0" fmla="*/ 0 w 153"/>
              <a:gd name="T1" fmla="*/ 0 h 6522"/>
              <a:gd name="T2" fmla="*/ 2147483647 w 153"/>
              <a:gd name="T3" fmla="*/ 0 h 6522"/>
              <a:gd name="T4" fmla="*/ 2147483647 w 153"/>
              <a:gd name="T5" fmla="*/ 2147483647 h 6522"/>
              <a:gd name="T6" fmla="*/ 0 w 153"/>
              <a:gd name="T7" fmla="*/ 2147483647 h 6522"/>
              <a:gd name="T8" fmla="*/ 0 w 153"/>
              <a:gd name="T9" fmla="*/ 0 h 6522"/>
              <a:gd name="T10" fmla="*/ 2147483647 w 153"/>
              <a:gd name="T11" fmla="*/ 0 h 6522"/>
              <a:gd name="T12" fmla="*/ 2147483647 w 153"/>
              <a:gd name="T13" fmla="*/ 0 h 6522"/>
              <a:gd name="T14" fmla="*/ 2147483647 w 153"/>
              <a:gd name="T15" fmla="*/ 2147483647 h 6522"/>
              <a:gd name="T16" fmla="*/ 2147483647 w 153"/>
              <a:gd name="T17" fmla="*/ 2147483647 h 6522"/>
              <a:gd name="T18" fmla="*/ 2147483647 w 153"/>
              <a:gd name="T19" fmla="*/ 0 h 65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rgbClr val="2E2C2C"/>
          </a:solidFill>
          <a:ln w="9525">
            <a:noFill/>
            <a:round/>
          </a:ln>
        </p:spPr>
        <p:txBody>
          <a:bodyPr/>
          <a:lstStyle/>
          <a:p>
            <a:pPr>
              <a:defRPr/>
            </a:pPr>
            <a:endParaRPr lang="zh-CN" altLang="en-US" kern="0">
              <a:solidFill>
                <a:sysClr val="windowText" lastClr="000000"/>
              </a:solidFill>
              <a:latin typeface="Arial" pitchFamily="34" charset="0"/>
              <a:ea typeface="宋体" pitchFamily="2" charset="-122"/>
            </a:endParaRPr>
          </a:p>
        </p:txBody>
      </p:sp>
      <p:sp>
        <p:nvSpPr>
          <p:cNvPr id="13" name="Oval 16">
            <a:extLst>
              <a:ext uri="{FF2B5EF4-FFF2-40B4-BE49-F238E27FC236}">
                <a16:creationId xmlns:a16="http://schemas.microsoft.com/office/drawing/2014/main" id="{F942DE91-6A52-4F3E-B751-25D294D1789E}"/>
              </a:ext>
            </a:extLst>
          </p:cNvPr>
          <p:cNvSpPr>
            <a:spLocks noChangeArrowheads="1"/>
          </p:cNvSpPr>
          <p:nvPr userDrawn="1"/>
        </p:nvSpPr>
        <p:spPr bwMode="auto">
          <a:xfrm>
            <a:off x="6627052" y="930536"/>
            <a:ext cx="503236" cy="504825"/>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23" name="Rectangle 2">
            <a:extLst>
              <a:ext uri="{FF2B5EF4-FFF2-40B4-BE49-F238E27FC236}">
                <a16:creationId xmlns:a16="http://schemas.microsoft.com/office/drawing/2014/main" id="{866AD108-1623-41DA-B8B2-0EF3D74F8E58}"/>
              </a:ext>
            </a:extLst>
          </p:cNvPr>
          <p:cNvSpPr txBox="1">
            <a:spLocks noChangeArrowheads="1"/>
          </p:cNvSpPr>
          <p:nvPr userDrawn="1"/>
        </p:nvSpPr>
        <p:spPr>
          <a:xfrm>
            <a:off x="1477109" y="3558216"/>
            <a:ext cx="2558500" cy="470859"/>
          </a:xfrm>
          <a:prstGeom prst="rect">
            <a:avLst/>
          </a:prstGeom>
        </p:spPr>
        <p:txBody>
          <a:bodyPr/>
          <a:lstStyle>
            <a:lvl1pPr marL="227013" indent="-227013" algn="l" rtl="0" eaLnBrk="1" fontAlgn="base" hangingPunct="1">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4213" indent="-227013" algn="l" rtl="0" eaLnBrk="1" fontAlgn="base" hangingPunct="1">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1413" indent="-227013" algn="l" rtl="0" eaLnBrk="1" fontAlgn="base" hangingPunct="1">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598613" indent="-227013" algn="l" rtl="0" eaLnBrk="1" fontAlgn="base" hangingPunct="1">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4pPr>
            <a:lvl5pPr marL="2055813" indent="-227013" algn="l" rtl="0" eaLnBrk="1" fontAlgn="base" hangingPunct="1">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5pPr>
            <a:lvl6pPr marL="25146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eaLnBrk="1" fontAlgn="base" hangingPunct="1">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80000"/>
              </a:lnSpc>
              <a:buFont typeface="Arial" pitchFamily="34" charset="0"/>
              <a:buNone/>
              <a:defRPr/>
            </a:pPr>
            <a:r>
              <a:rPr lang="zh-CN" altLang="en-US" sz="3200" b="1" dirty="0">
                <a:solidFill>
                  <a:srgbClr val="000000"/>
                </a:solidFill>
                <a:latin typeface="Calibri"/>
                <a:ea typeface="宋体"/>
              </a:rPr>
              <a:t>第</a:t>
            </a:r>
            <a:r>
              <a:rPr lang="en-US" altLang="zh-CN" sz="3200" b="1" dirty="0">
                <a:solidFill>
                  <a:srgbClr val="000000"/>
                </a:solidFill>
                <a:latin typeface="Calibri"/>
                <a:ea typeface="宋体"/>
              </a:rPr>
              <a:t>7</a:t>
            </a:r>
            <a:r>
              <a:rPr lang="zh-CN" altLang="en-US" sz="3200" b="1" dirty="0">
                <a:solidFill>
                  <a:srgbClr val="000000"/>
                </a:solidFill>
                <a:latin typeface="Calibri"/>
                <a:ea typeface="宋体"/>
              </a:rPr>
              <a:t>章 结构体</a:t>
            </a:r>
            <a:endParaRPr lang="en-US" altLang="zh-CN" sz="3200" b="1" dirty="0">
              <a:solidFill>
                <a:srgbClr val="3366FF"/>
              </a:solidFill>
              <a:latin typeface="隶书" pitchFamily="49" charset="-122"/>
              <a:ea typeface="隶书" pitchFamily="49" charset="-122"/>
            </a:endParaRPr>
          </a:p>
        </p:txBody>
      </p:sp>
      <p:grpSp>
        <p:nvGrpSpPr>
          <p:cNvPr id="38" name="组合 37">
            <a:extLst>
              <a:ext uri="{FF2B5EF4-FFF2-40B4-BE49-F238E27FC236}">
                <a16:creationId xmlns:a16="http://schemas.microsoft.com/office/drawing/2014/main" id="{29832B8B-E77D-459B-A122-A63E215FEC28}"/>
              </a:ext>
            </a:extLst>
          </p:cNvPr>
          <p:cNvGrpSpPr/>
          <p:nvPr userDrawn="1"/>
        </p:nvGrpSpPr>
        <p:grpSpPr>
          <a:xfrm>
            <a:off x="4503375" y="977212"/>
            <a:ext cx="5634004" cy="623887"/>
            <a:chOff x="4577557" y="1037605"/>
            <a:chExt cx="5634004" cy="623887"/>
          </a:xfrm>
        </p:grpSpPr>
        <p:sp>
          <p:nvSpPr>
            <p:cNvPr id="39" name="Freeform 10">
              <a:extLst>
                <a:ext uri="{FF2B5EF4-FFF2-40B4-BE49-F238E27FC236}">
                  <a16:creationId xmlns:a16="http://schemas.microsoft.com/office/drawing/2014/main" id="{D94ABC20-F180-44D3-B7BA-04431E5E5C0F}"/>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结构体</a:t>
              </a:r>
            </a:p>
            <a:p>
              <a:pPr>
                <a:defRPr/>
              </a:pPr>
              <a:endParaRPr lang="zh-CN" altLang="en-US" sz="3200" kern="0" dirty="0">
                <a:solidFill>
                  <a:srgbClr val="FFFFFF"/>
                </a:solidFill>
                <a:latin typeface="Arial" pitchFamily="34" charset="0"/>
                <a:ea typeface="宋体" pitchFamily="2" charset="-122"/>
              </a:endParaRPr>
            </a:p>
          </p:txBody>
        </p:sp>
        <p:grpSp>
          <p:nvGrpSpPr>
            <p:cNvPr id="40" name="组合 58">
              <a:extLst>
                <a:ext uri="{FF2B5EF4-FFF2-40B4-BE49-F238E27FC236}">
                  <a16:creationId xmlns:a16="http://schemas.microsoft.com/office/drawing/2014/main" id="{A5C29670-9CA9-4E79-9EEC-B9217AF473A9}"/>
                </a:ext>
              </a:extLst>
            </p:cNvPr>
            <p:cNvGrpSpPr>
              <a:grpSpLocks/>
            </p:cNvGrpSpPr>
            <p:nvPr userDrawn="1"/>
          </p:nvGrpSpPr>
          <p:grpSpPr bwMode="auto">
            <a:xfrm>
              <a:off x="4577557" y="1096709"/>
              <a:ext cx="646112" cy="504825"/>
              <a:chOff x="-80820" y="27858"/>
              <a:chExt cx="756178" cy="590582"/>
            </a:xfrm>
          </p:grpSpPr>
          <p:sp>
            <p:nvSpPr>
              <p:cNvPr id="41" name="Oval 16">
                <a:extLst>
                  <a:ext uri="{FF2B5EF4-FFF2-40B4-BE49-F238E27FC236}">
                    <a16:creationId xmlns:a16="http://schemas.microsoft.com/office/drawing/2014/main" id="{DC967EB6-C997-4E3D-8C9C-A7CCAA06A70E}"/>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42" name="TextBox 60">
                <a:extLst>
                  <a:ext uri="{FF2B5EF4-FFF2-40B4-BE49-F238E27FC236}">
                    <a16:creationId xmlns:a16="http://schemas.microsoft.com/office/drawing/2014/main" id="{AE26040D-EBCE-413F-93C8-3B0DFEDFD5C6}"/>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7.1</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43" name="组合 42">
            <a:extLst>
              <a:ext uri="{FF2B5EF4-FFF2-40B4-BE49-F238E27FC236}">
                <a16:creationId xmlns:a16="http://schemas.microsoft.com/office/drawing/2014/main" id="{59D3DAC6-3986-43E5-AEAF-A1BB0DEACD75}"/>
              </a:ext>
            </a:extLst>
          </p:cNvPr>
          <p:cNvGrpSpPr/>
          <p:nvPr userDrawn="1"/>
        </p:nvGrpSpPr>
        <p:grpSpPr>
          <a:xfrm>
            <a:off x="4516867" y="3010304"/>
            <a:ext cx="5634004" cy="623887"/>
            <a:chOff x="4577557" y="1037605"/>
            <a:chExt cx="5634004" cy="623887"/>
          </a:xfrm>
        </p:grpSpPr>
        <p:sp>
          <p:nvSpPr>
            <p:cNvPr id="44" name="Freeform 10">
              <a:extLst>
                <a:ext uri="{FF2B5EF4-FFF2-40B4-BE49-F238E27FC236}">
                  <a16:creationId xmlns:a16="http://schemas.microsoft.com/office/drawing/2014/main" id="{E73125C3-7C2A-4C40-BE23-CB648477AC7F}"/>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枚举类型</a:t>
              </a:r>
            </a:p>
            <a:p>
              <a:pPr>
                <a:defRPr/>
              </a:pPr>
              <a:endParaRPr lang="zh-CN" altLang="en-US" sz="3200" kern="0" dirty="0">
                <a:solidFill>
                  <a:srgbClr val="FFFFFF"/>
                </a:solidFill>
                <a:latin typeface="Arial" pitchFamily="34" charset="0"/>
                <a:ea typeface="宋体" pitchFamily="2" charset="-122"/>
              </a:endParaRPr>
            </a:p>
          </p:txBody>
        </p:sp>
        <p:grpSp>
          <p:nvGrpSpPr>
            <p:cNvPr id="45" name="组合 58">
              <a:extLst>
                <a:ext uri="{FF2B5EF4-FFF2-40B4-BE49-F238E27FC236}">
                  <a16:creationId xmlns:a16="http://schemas.microsoft.com/office/drawing/2014/main" id="{59003EA9-49AB-4922-BA31-6D62EF448EA3}"/>
                </a:ext>
              </a:extLst>
            </p:cNvPr>
            <p:cNvGrpSpPr>
              <a:grpSpLocks/>
            </p:cNvGrpSpPr>
            <p:nvPr userDrawn="1"/>
          </p:nvGrpSpPr>
          <p:grpSpPr bwMode="auto">
            <a:xfrm>
              <a:off x="4577557" y="1096709"/>
              <a:ext cx="646112" cy="504825"/>
              <a:chOff x="-80820" y="27858"/>
              <a:chExt cx="756178" cy="590582"/>
            </a:xfrm>
          </p:grpSpPr>
          <p:sp>
            <p:nvSpPr>
              <p:cNvPr id="46" name="Oval 16">
                <a:extLst>
                  <a:ext uri="{FF2B5EF4-FFF2-40B4-BE49-F238E27FC236}">
                    <a16:creationId xmlns:a16="http://schemas.microsoft.com/office/drawing/2014/main" id="{65B5D404-033B-4504-B22E-F52048E9DFDD}"/>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47" name="TextBox 60">
                <a:extLst>
                  <a:ext uri="{FF2B5EF4-FFF2-40B4-BE49-F238E27FC236}">
                    <a16:creationId xmlns:a16="http://schemas.microsoft.com/office/drawing/2014/main" id="{3BE31F55-8A87-41CD-8BF1-A60F8DBF2637}"/>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7.3</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48" name="组合 47">
            <a:extLst>
              <a:ext uri="{FF2B5EF4-FFF2-40B4-BE49-F238E27FC236}">
                <a16:creationId xmlns:a16="http://schemas.microsoft.com/office/drawing/2014/main" id="{F792780C-9CE0-42EC-B045-F8CBE82ABF40}"/>
              </a:ext>
            </a:extLst>
          </p:cNvPr>
          <p:cNvGrpSpPr/>
          <p:nvPr userDrawn="1"/>
        </p:nvGrpSpPr>
        <p:grpSpPr>
          <a:xfrm>
            <a:off x="4530359" y="1990843"/>
            <a:ext cx="5620512" cy="623887"/>
            <a:chOff x="4557319" y="1009525"/>
            <a:chExt cx="5620512" cy="623887"/>
          </a:xfrm>
        </p:grpSpPr>
        <p:sp>
          <p:nvSpPr>
            <p:cNvPr id="49" name="Freeform 10">
              <a:extLst>
                <a:ext uri="{FF2B5EF4-FFF2-40B4-BE49-F238E27FC236}">
                  <a16:creationId xmlns:a16="http://schemas.microsoft.com/office/drawing/2014/main" id="{04A00366-013D-4D06-BA40-3B2FB9036D5A}"/>
                </a:ext>
              </a:extLst>
            </p:cNvPr>
            <p:cNvSpPr/>
            <p:nvPr userDrawn="1"/>
          </p:nvSpPr>
          <p:spPr bwMode="auto">
            <a:xfrm>
              <a:off x="4557319" y="100952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共用体</a:t>
              </a:r>
            </a:p>
            <a:p>
              <a:pPr>
                <a:defRPr/>
              </a:pPr>
              <a:endParaRPr lang="zh-CN" altLang="en-US" sz="3200" kern="0" dirty="0">
                <a:solidFill>
                  <a:srgbClr val="FFFFFF"/>
                </a:solidFill>
                <a:latin typeface="Arial" pitchFamily="34" charset="0"/>
                <a:ea typeface="宋体" pitchFamily="2" charset="-122"/>
              </a:endParaRPr>
            </a:p>
          </p:txBody>
        </p:sp>
        <p:grpSp>
          <p:nvGrpSpPr>
            <p:cNvPr id="50" name="组合 58">
              <a:extLst>
                <a:ext uri="{FF2B5EF4-FFF2-40B4-BE49-F238E27FC236}">
                  <a16:creationId xmlns:a16="http://schemas.microsoft.com/office/drawing/2014/main" id="{53161A28-6C61-43A6-8EA4-15607B719860}"/>
                </a:ext>
              </a:extLst>
            </p:cNvPr>
            <p:cNvGrpSpPr>
              <a:grpSpLocks/>
            </p:cNvGrpSpPr>
            <p:nvPr userDrawn="1"/>
          </p:nvGrpSpPr>
          <p:grpSpPr bwMode="auto">
            <a:xfrm>
              <a:off x="4577557" y="1096709"/>
              <a:ext cx="646112" cy="504825"/>
              <a:chOff x="-80820" y="27858"/>
              <a:chExt cx="756178" cy="590582"/>
            </a:xfrm>
          </p:grpSpPr>
          <p:sp>
            <p:nvSpPr>
              <p:cNvPr id="51" name="Oval 16">
                <a:extLst>
                  <a:ext uri="{FF2B5EF4-FFF2-40B4-BE49-F238E27FC236}">
                    <a16:creationId xmlns:a16="http://schemas.microsoft.com/office/drawing/2014/main" id="{DD29CE8A-EBF4-4208-98EE-994EE4B36E54}"/>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52" name="TextBox 60">
                <a:extLst>
                  <a:ext uri="{FF2B5EF4-FFF2-40B4-BE49-F238E27FC236}">
                    <a16:creationId xmlns:a16="http://schemas.microsoft.com/office/drawing/2014/main" id="{A26075A2-4977-4D86-8EFD-B0504A3442B1}"/>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7.2</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53" name="组合 52">
            <a:extLst>
              <a:ext uri="{FF2B5EF4-FFF2-40B4-BE49-F238E27FC236}">
                <a16:creationId xmlns:a16="http://schemas.microsoft.com/office/drawing/2014/main" id="{A24F53E3-60E3-4124-8888-4E808956FB44}"/>
              </a:ext>
            </a:extLst>
          </p:cNvPr>
          <p:cNvGrpSpPr/>
          <p:nvPr userDrawn="1"/>
        </p:nvGrpSpPr>
        <p:grpSpPr>
          <a:xfrm>
            <a:off x="4535133" y="4031578"/>
            <a:ext cx="5634004" cy="623887"/>
            <a:chOff x="4577557" y="1037605"/>
            <a:chExt cx="5634004" cy="623887"/>
          </a:xfrm>
        </p:grpSpPr>
        <p:sp>
          <p:nvSpPr>
            <p:cNvPr id="54" name="Freeform 10">
              <a:extLst>
                <a:ext uri="{FF2B5EF4-FFF2-40B4-BE49-F238E27FC236}">
                  <a16:creationId xmlns:a16="http://schemas.microsoft.com/office/drawing/2014/main" id="{4732B8E0-0DFF-4E96-A5BF-481059C4052C}"/>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a:t>
              </a:r>
              <a:r>
                <a:rPr lang="en-US" altLang="zh-CN" sz="3200" kern="0" dirty="0">
                  <a:solidFill>
                    <a:srgbClr val="FFFFFF"/>
                  </a:solidFill>
                  <a:latin typeface="Arial" pitchFamily="34" charset="0"/>
                  <a:ea typeface="宋体" pitchFamily="2" charset="-122"/>
                </a:rPr>
                <a:t>typedef</a:t>
              </a:r>
              <a:r>
                <a:rPr lang="zh-CN" altLang="en-US" sz="3200" kern="0" dirty="0">
                  <a:solidFill>
                    <a:srgbClr val="FFFFFF"/>
                  </a:solidFill>
                  <a:latin typeface="Arial" pitchFamily="34" charset="0"/>
                  <a:ea typeface="宋体" pitchFamily="2" charset="-122"/>
                </a:rPr>
                <a:t>类型定义</a:t>
              </a:r>
            </a:p>
            <a:p>
              <a:pPr>
                <a:defRPr/>
              </a:pPr>
              <a:endParaRPr lang="zh-CN" altLang="en-US" sz="3200" kern="0" dirty="0">
                <a:solidFill>
                  <a:srgbClr val="FFFFFF"/>
                </a:solidFill>
                <a:latin typeface="Arial" pitchFamily="34" charset="0"/>
                <a:ea typeface="宋体" pitchFamily="2" charset="-122"/>
              </a:endParaRPr>
            </a:p>
          </p:txBody>
        </p:sp>
        <p:grpSp>
          <p:nvGrpSpPr>
            <p:cNvPr id="55" name="组合 58">
              <a:extLst>
                <a:ext uri="{FF2B5EF4-FFF2-40B4-BE49-F238E27FC236}">
                  <a16:creationId xmlns:a16="http://schemas.microsoft.com/office/drawing/2014/main" id="{90E9BF9A-F17B-43B4-B1E4-6BDE9FA46879}"/>
                </a:ext>
              </a:extLst>
            </p:cNvPr>
            <p:cNvGrpSpPr>
              <a:grpSpLocks/>
            </p:cNvGrpSpPr>
            <p:nvPr userDrawn="1"/>
          </p:nvGrpSpPr>
          <p:grpSpPr bwMode="auto">
            <a:xfrm>
              <a:off x="4577557" y="1096709"/>
              <a:ext cx="646112" cy="504825"/>
              <a:chOff x="-80820" y="27858"/>
              <a:chExt cx="756178" cy="590582"/>
            </a:xfrm>
          </p:grpSpPr>
          <p:sp>
            <p:nvSpPr>
              <p:cNvPr id="56" name="Oval 16">
                <a:extLst>
                  <a:ext uri="{FF2B5EF4-FFF2-40B4-BE49-F238E27FC236}">
                    <a16:creationId xmlns:a16="http://schemas.microsoft.com/office/drawing/2014/main" id="{33397C70-D582-4664-BFFF-3A46DC4F37CB}"/>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57" name="TextBox 60">
                <a:extLst>
                  <a:ext uri="{FF2B5EF4-FFF2-40B4-BE49-F238E27FC236}">
                    <a16:creationId xmlns:a16="http://schemas.microsoft.com/office/drawing/2014/main" id="{2591B598-5DF4-4F50-AE0E-A00FD6763E34}"/>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7.4</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58" name="组合 57">
            <a:extLst>
              <a:ext uri="{FF2B5EF4-FFF2-40B4-BE49-F238E27FC236}">
                <a16:creationId xmlns:a16="http://schemas.microsoft.com/office/drawing/2014/main" id="{9ED3FD84-10C2-4DD1-976E-9E4B2CFFA669}"/>
              </a:ext>
            </a:extLst>
          </p:cNvPr>
          <p:cNvGrpSpPr/>
          <p:nvPr userDrawn="1"/>
        </p:nvGrpSpPr>
        <p:grpSpPr>
          <a:xfrm>
            <a:off x="4528387" y="5046663"/>
            <a:ext cx="5634004" cy="623887"/>
            <a:chOff x="4577557" y="1037605"/>
            <a:chExt cx="5634004" cy="623887"/>
          </a:xfrm>
        </p:grpSpPr>
        <p:sp>
          <p:nvSpPr>
            <p:cNvPr id="59" name="Freeform 10">
              <a:extLst>
                <a:ext uri="{FF2B5EF4-FFF2-40B4-BE49-F238E27FC236}">
                  <a16:creationId xmlns:a16="http://schemas.microsoft.com/office/drawing/2014/main" id="{A5D2941C-3666-4674-A44F-5ED8322DEBA6}"/>
                </a:ext>
              </a:extLst>
            </p:cNvPr>
            <p:cNvSpPr/>
            <p:nvPr userDrawn="1"/>
          </p:nvSpPr>
          <p:spPr bwMode="auto">
            <a:xfrm>
              <a:off x="4591049" y="1037605"/>
              <a:ext cx="5620512" cy="623887"/>
            </a:xfrm>
            <a:custGeom>
              <a:avLst/>
              <a:gdLst>
                <a:gd name="T0" fmla="*/ 2147483647 w 6425"/>
                <a:gd name="T1" fmla="*/ 0 h 911"/>
                <a:gd name="T2" fmla="*/ 2147483647 w 6425"/>
                <a:gd name="T3" fmla="*/ 0 h 911"/>
                <a:gd name="T4" fmla="*/ 2147483647 w 6425"/>
                <a:gd name="T5" fmla="*/ 2147483647 h 911"/>
                <a:gd name="T6" fmla="*/ 2147483647 w 6425"/>
                <a:gd name="T7" fmla="*/ 2147483647 h 911"/>
                <a:gd name="T8" fmla="*/ 2147483647 w 6425"/>
                <a:gd name="T9" fmla="*/ 2147483647 h 911"/>
                <a:gd name="T10" fmla="*/ 2147483647 w 6425"/>
                <a:gd name="T11" fmla="*/ 2147483647 h 911"/>
                <a:gd name="T12" fmla="*/ 0 w 6425"/>
                <a:gd name="T13" fmla="*/ 2147483647 h 911"/>
                <a:gd name="T14" fmla="*/ 0 w 6425"/>
                <a:gd name="T15" fmla="*/ 2147483647 h 911"/>
                <a:gd name="T16" fmla="*/ 2147483647 w 6425"/>
                <a:gd name="T17" fmla="*/ 0 h 9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rgbClr val="024C89"/>
            </a:solidFill>
            <a:ln w="9525">
              <a:noFill/>
              <a:round/>
            </a:ln>
          </p:spPr>
          <p:txBody>
            <a:bodyPr/>
            <a:lstStyle/>
            <a:p>
              <a:pPr>
                <a:defRPr/>
              </a:pPr>
              <a:r>
                <a:rPr lang="zh-CN" altLang="en-US" sz="3200" kern="0" dirty="0">
                  <a:solidFill>
                    <a:srgbClr val="FFFFFF"/>
                  </a:solidFill>
                  <a:latin typeface="Arial" pitchFamily="34" charset="0"/>
                  <a:ea typeface="宋体" pitchFamily="2" charset="-122"/>
                </a:rPr>
                <a:t>     案例：维护通讯录数据库</a:t>
              </a:r>
            </a:p>
            <a:p>
              <a:pPr>
                <a:defRPr/>
              </a:pPr>
              <a:endParaRPr lang="zh-CN" altLang="en-US" sz="3200" kern="0" dirty="0">
                <a:solidFill>
                  <a:srgbClr val="FFFFFF"/>
                </a:solidFill>
                <a:latin typeface="Arial" pitchFamily="34" charset="0"/>
                <a:ea typeface="宋体" pitchFamily="2" charset="-122"/>
              </a:endParaRPr>
            </a:p>
          </p:txBody>
        </p:sp>
        <p:grpSp>
          <p:nvGrpSpPr>
            <p:cNvPr id="60" name="组合 58">
              <a:extLst>
                <a:ext uri="{FF2B5EF4-FFF2-40B4-BE49-F238E27FC236}">
                  <a16:creationId xmlns:a16="http://schemas.microsoft.com/office/drawing/2014/main" id="{D7A5A2D9-F643-4267-88EA-AF1A1B351A5C}"/>
                </a:ext>
              </a:extLst>
            </p:cNvPr>
            <p:cNvGrpSpPr>
              <a:grpSpLocks/>
            </p:cNvGrpSpPr>
            <p:nvPr userDrawn="1"/>
          </p:nvGrpSpPr>
          <p:grpSpPr bwMode="auto">
            <a:xfrm>
              <a:off x="4577557" y="1096709"/>
              <a:ext cx="646112" cy="504825"/>
              <a:chOff x="-80820" y="27858"/>
              <a:chExt cx="756178" cy="590582"/>
            </a:xfrm>
          </p:grpSpPr>
          <p:sp>
            <p:nvSpPr>
              <p:cNvPr id="61" name="Oval 16">
                <a:extLst>
                  <a:ext uri="{FF2B5EF4-FFF2-40B4-BE49-F238E27FC236}">
                    <a16:creationId xmlns:a16="http://schemas.microsoft.com/office/drawing/2014/main" id="{77CC0453-D257-4869-B188-605400751F37}"/>
                  </a:ext>
                </a:extLst>
              </p:cNvPr>
              <p:cNvSpPr>
                <a:spLocks noChangeArrowheads="1"/>
              </p:cNvSpPr>
              <p:nvPr/>
            </p:nvSpPr>
            <p:spPr bwMode="auto">
              <a:xfrm>
                <a:off x="0" y="27858"/>
                <a:ext cx="588963" cy="590582"/>
              </a:xfrm>
              <a:prstGeom prst="ellipse">
                <a:avLst/>
              </a:prstGeom>
              <a:solidFill>
                <a:srgbClr val="FFFFFF"/>
              </a:solidFill>
              <a:ln w="9525">
                <a:noFill/>
                <a:round/>
              </a:ln>
            </p:spPr>
            <p:txBody>
              <a:bodyPr/>
              <a:lstStyle/>
              <a:p>
                <a:pPr>
                  <a:defRPr/>
                </a:pPr>
                <a:endParaRPr lang="zh-CN" altLang="en-US" sz="2800" kern="0">
                  <a:solidFill>
                    <a:sysClr val="windowText" lastClr="000000"/>
                  </a:solidFill>
                  <a:latin typeface="Arial" pitchFamily="34" charset="0"/>
                  <a:ea typeface="宋体" pitchFamily="2" charset="-122"/>
                </a:endParaRPr>
              </a:p>
            </p:txBody>
          </p:sp>
          <p:sp>
            <p:nvSpPr>
              <p:cNvPr id="62" name="TextBox 60">
                <a:extLst>
                  <a:ext uri="{FF2B5EF4-FFF2-40B4-BE49-F238E27FC236}">
                    <a16:creationId xmlns:a16="http://schemas.microsoft.com/office/drawing/2014/main" id="{4F7D6541-09B4-4488-8E7D-ED9C1929956A}"/>
                  </a:ext>
                </a:extLst>
              </p:cNvPr>
              <p:cNvSpPr txBox="1">
                <a:spLocks noChangeArrowheads="1"/>
              </p:cNvSpPr>
              <p:nvPr/>
            </p:nvSpPr>
            <p:spPr bwMode="auto">
              <a:xfrm>
                <a:off x="-80820" y="36909"/>
                <a:ext cx="756178" cy="540089"/>
              </a:xfrm>
              <a:prstGeom prst="rect">
                <a:avLst/>
              </a:prstGeom>
              <a:noFill/>
              <a:ln w="9525">
                <a:noFill/>
                <a:miter lim="800000"/>
              </a:ln>
            </p:spPr>
            <p:txBody>
              <a:bodyPr wrap="square">
                <a:spAutoFit/>
              </a:bodyPr>
              <a:lstStyle/>
              <a:p>
                <a:pPr>
                  <a:defRPr/>
                </a:pPr>
                <a:r>
                  <a:rPr lang="en-US" altLang="zh-CN" sz="2400" b="1" kern="0" dirty="0">
                    <a:solidFill>
                      <a:sysClr val="windowText" lastClr="000000"/>
                    </a:solidFill>
                    <a:latin typeface="微软雅黑" panose="020B0503020204020204" pitchFamily="34" charset="-122"/>
                    <a:ea typeface="微软雅黑" panose="020B0503020204020204" pitchFamily="34" charset="-122"/>
                  </a:rPr>
                  <a:t>7.5</a:t>
                </a:r>
                <a:endParaRPr lang="zh-CN" altLang="en-US" sz="2400" b="1" kern="0" dirty="0">
                  <a:solidFill>
                    <a:sysClr val="windowText" lastClr="000000"/>
                  </a:solidFill>
                  <a:latin typeface="微软雅黑" panose="020B0503020204020204" pitchFamily="34" charset="-122"/>
                  <a:ea typeface="微软雅黑" panose="020B0503020204020204" pitchFamily="34" charset="-122"/>
                </a:endParaRPr>
              </a:p>
            </p:txBody>
          </p:sp>
        </p:grpSp>
      </p:grpSp>
      <p:grpSp>
        <p:nvGrpSpPr>
          <p:cNvPr id="68" name="组合 67">
            <a:extLst>
              <a:ext uri="{FF2B5EF4-FFF2-40B4-BE49-F238E27FC236}">
                <a16:creationId xmlns:a16="http://schemas.microsoft.com/office/drawing/2014/main" id="{90E7AC5B-1CE7-461E-A939-4AD980DF3D78}"/>
              </a:ext>
            </a:extLst>
          </p:cNvPr>
          <p:cNvGrpSpPr/>
          <p:nvPr userDrawn="1"/>
        </p:nvGrpSpPr>
        <p:grpSpPr>
          <a:xfrm>
            <a:off x="1812726" y="977212"/>
            <a:ext cx="2239963" cy="1047750"/>
            <a:chOff x="988824" y="2510466"/>
            <a:chExt cx="2239963" cy="1047750"/>
          </a:xfrm>
        </p:grpSpPr>
        <p:sp>
          <p:nvSpPr>
            <p:cNvPr id="8" name="Freeform 7">
              <a:extLst>
                <a:ext uri="{FF2B5EF4-FFF2-40B4-BE49-F238E27FC236}">
                  <a16:creationId xmlns:a16="http://schemas.microsoft.com/office/drawing/2014/main" id="{C460FAA0-5572-4ED6-AC94-D5D65C2A05C3}"/>
                </a:ext>
              </a:extLst>
            </p:cNvPr>
            <p:cNvSpPr>
              <a:spLocks noEditPoints="1"/>
            </p:cNvSpPr>
            <p:nvPr userDrawn="1"/>
          </p:nvSpPr>
          <p:spPr bwMode="auto">
            <a:xfrm>
              <a:off x="2077849" y="3331203"/>
              <a:ext cx="1147763" cy="227013"/>
            </a:xfrm>
            <a:custGeom>
              <a:avLst/>
              <a:gdLst>
                <a:gd name="T0" fmla="*/ 2147483647 w 2195"/>
                <a:gd name="T1" fmla="*/ 2147483647 h 445"/>
                <a:gd name="T2" fmla="*/ 2147483647 w 2195"/>
                <a:gd name="T3" fmla="*/ 2147483647 h 445"/>
                <a:gd name="T4" fmla="*/ 2147483647 w 2195"/>
                <a:gd name="T5" fmla="*/ 2147483647 h 445"/>
                <a:gd name="T6" fmla="*/ 2147483647 w 2195"/>
                <a:gd name="T7" fmla="*/ 2147483647 h 445"/>
                <a:gd name="T8" fmla="*/ 2147483647 w 2195"/>
                <a:gd name="T9" fmla="*/ 2147483647 h 445"/>
                <a:gd name="T10" fmla="*/ 2147483647 w 2195"/>
                <a:gd name="T11" fmla="*/ 2147483647 h 445"/>
                <a:gd name="T12" fmla="*/ 2147483647 w 2195"/>
                <a:gd name="T13" fmla="*/ 2147483647 h 445"/>
                <a:gd name="T14" fmla="*/ 2147483647 w 2195"/>
                <a:gd name="T15" fmla="*/ 2147483647 h 445"/>
                <a:gd name="T16" fmla="*/ 2147483647 w 2195"/>
                <a:gd name="T17" fmla="*/ 2147483647 h 445"/>
                <a:gd name="T18" fmla="*/ 2147483647 w 2195"/>
                <a:gd name="T19" fmla="*/ 2147483647 h 445"/>
                <a:gd name="T20" fmla="*/ 2147483647 w 2195"/>
                <a:gd name="T21" fmla="*/ 2147483647 h 445"/>
                <a:gd name="T22" fmla="*/ 2147483647 w 2195"/>
                <a:gd name="T23" fmla="*/ 2147483647 h 445"/>
                <a:gd name="T24" fmla="*/ 2147483647 w 2195"/>
                <a:gd name="T25" fmla="*/ 2147483647 h 445"/>
                <a:gd name="T26" fmla="*/ 2147483647 w 2195"/>
                <a:gd name="T27" fmla="*/ 2147483647 h 445"/>
                <a:gd name="T28" fmla="*/ 2147483647 w 2195"/>
                <a:gd name="T29" fmla="*/ 2147483647 h 445"/>
                <a:gd name="T30" fmla="*/ 2147483647 w 2195"/>
                <a:gd name="T31" fmla="*/ 2147483647 h 445"/>
                <a:gd name="T32" fmla="*/ 2147483647 w 2195"/>
                <a:gd name="T33" fmla="*/ 2147483647 h 445"/>
                <a:gd name="T34" fmla="*/ 2147483647 w 2195"/>
                <a:gd name="T35" fmla="*/ 2147483647 h 445"/>
                <a:gd name="T36" fmla="*/ 2147483647 w 2195"/>
                <a:gd name="T37" fmla="*/ 2147483647 h 445"/>
                <a:gd name="T38" fmla="*/ 2147483647 w 2195"/>
                <a:gd name="T39" fmla="*/ 2147483647 h 445"/>
                <a:gd name="T40" fmla="*/ 2147483647 w 2195"/>
                <a:gd name="T41" fmla="*/ 2147483647 h 445"/>
                <a:gd name="T42" fmla="*/ 2147483647 w 2195"/>
                <a:gd name="T43" fmla="*/ 2147483647 h 445"/>
                <a:gd name="T44" fmla="*/ 2147483647 w 2195"/>
                <a:gd name="T45" fmla="*/ 2147483647 h 445"/>
                <a:gd name="T46" fmla="*/ 2147483647 w 2195"/>
                <a:gd name="T47" fmla="*/ 2147483647 h 445"/>
                <a:gd name="T48" fmla="*/ 2147483647 w 2195"/>
                <a:gd name="T49" fmla="*/ 2147483647 h 445"/>
                <a:gd name="T50" fmla="*/ 2147483647 w 2195"/>
                <a:gd name="T51" fmla="*/ 2147483647 h 445"/>
                <a:gd name="T52" fmla="*/ 2147483647 w 2195"/>
                <a:gd name="T53" fmla="*/ 2147483647 h 445"/>
                <a:gd name="T54" fmla="*/ 2147483647 w 2195"/>
                <a:gd name="T55" fmla="*/ 2147483647 h 445"/>
                <a:gd name="T56" fmla="*/ 2147483647 w 2195"/>
                <a:gd name="T57" fmla="*/ 2147483647 h 445"/>
                <a:gd name="T58" fmla="*/ 2147483647 w 2195"/>
                <a:gd name="T59" fmla="*/ 2147483647 h 445"/>
                <a:gd name="T60" fmla="*/ 2147483647 w 2195"/>
                <a:gd name="T61" fmla="*/ 2147483647 h 445"/>
                <a:gd name="T62" fmla="*/ 2147483647 w 2195"/>
                <a:gd name="T63" fmla="*/ 2147483647 h 445"/>
                <a:gd name="T64" fmla="*/ 2147483647 w 2195"/>
                <a:gd name="T65" fmla="*/ 2147483647 h 445"/>
                <a:gd name="T66" fmla="*/ 2147483647 w 2195"/>
                <a:gd name="T67" fmla="*/ 2147483647 h 445"/>
                <a:gd name="T68" fmla="*/ 2147483647 w 2195"/>
                <a:gd name="T69" fmla="*/ 2147483647 h 445"/>
                <a:gd name="T70" fmla="*/ 2147483647 w 2195"/>
                <a:gd name="T71" fmla="*/ 2147483647 h 445"/>
                <a:gd name="T72" fmla="*/ 2147483647 w 2195"/>
                <a:gd name="T73" fmla="*/ 2147483647 h 445"/>
                <a:gd name="T74" fmla="*/ 2147483647 w 2195"/>
                <a:gd name="T75" fmla="*/ 2147483647 h 445"/>
                <a:gd name="T76" fmla="*/ 2147483647 w 2195"/>
                <a:gd name="T77" fmla="*/ 2147483647 h 445"/>
                <a:gd name="T78" fmla="*/ 2147483647 w 2195"/>
                <a:gd name="T79" fmla="*/ 2147483647 h 445"/>
                <a:gd name="T80" fmla="*/ 2147483647 w 2195"/>
                <a:gd name="T81" fmla="*/ 2147483647 h 445"/>
                <a:gd name="T82" fmla="*/ 2147483647 w 2195"/>
                <a:gd name="T83" fmla="*/ 2147483647 h 445"/>
                <a:gd name="T84" fmla="*/ 2147483647 w 2195"/>
                <a:gd name="T85" fmla="*/ 2147483647 h 445"/>
                <a:gd name="T86" fmla="*/ 2147483647 w 2195"/>
                <a:gd name="T87" fmla="*/ 2147483647 h 445"/>
                <a:gd name="T88" fmla="*/ 2147483647 w 2195"/>
                <a:gd name="T89" fmla="*/ 2147483647 h 445"/>
                <a:gd name="T90" fmla="*/ 2147483647 w 2195"/>
                <a:gd name="T91" fmla="*/ 2147483647 h 445"/>
                <a:gd name="T92" fmla="*/ 2147483647 w 2195"/>
                <a:gd name="T93" fmla="*/ 2147483647 h 445"/>
                <a:gd name="T94" fmla="*/ 2147483647 w 2195"/>
                <a:gd name="T95" fmla="*/ 2147483647 h 445"/>
                <a:gd name="T96" fmla="*/ 2147483647 w 2195"/>
                <a:gd name="T97" fmla="*/ 2147483647 h 4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rgbClr val="4D4D4D"/>
            </a:solidFill>
            <a:ln w="9525">
              <a:noFill/>
              <a:round/>
            </a:ln>
          </p:spPr>
          <p:txBody>
            <a:bodyPr/>
            <a:lstStyle/>
            <a:p>
              <a:pPr>
                <a:defRPr/>
              </a:pPr>
              <a:endParaRPr lang="zh-CN" altLang="en-US" kern="0">
                <a:solidFill>
                  <a:sysClr val="windowText" lastClr="000000"/>
                </a:solidFill>
                <a:latin typeface="Arial" pitchFamily="34" charset="0"/>
                <a:ea typeface="宋体" pitchFamily="2" charset="-122"/>
              </a:endParaRPr>
            </a:p>
          </p:txBody>
        </p:sp>
        <p:sp>
          <p:nvSpPr>
            <p:cNvPr id="9" name="Freeform 8">
              <a:extLst>
                <a:ext uri="{FF2B5EF4-FFF2-40B4-BE49-F238E27FC236}">
                  <a16:creationId xmlns:a16="http://schemas.microsoft.com/office/drawing/2014/main" id="{7AB2CA1C-0244-4212-8B4F-BFADD4B021D8}"/>
                </a:ext>
              </a:extLst>
            </p:cNvPr>
            <p:cNvSpPr>
              <a:spLocks noEditPoints="1"/>
            </p:cNvSpPr>
            <p:nvPr userDrawn="1"/>
          </p:nvSpPr>
          <p:spPr bwMode="auto">
            <a:xfrm>
              <a:off x="2125474" y="2626353"/>
              <a:ext cx="1103313" cy="501650"/>
            </a:xfrm>
            <a:custGeom>
              <a:avLst/>
              <a:gdLst>
                <a:gd name="T0" fmla="*/ 2147483647 w 2109"/>
                <a:gd name="T1" fmla="*/ 0 h 986"/>
                <a:gd name="T2" fmla="*/ 2147483647 w 2109"/>
                <a:gd name="T3" fmla="*/ 2147483647 h 986"/>
                <a:gd name="T4" fmla="*/ 2147483647 w 2109"/>
                <a:gd name="T5" fmla="*/ 2147483647 h 986"/>
                <a:gd name="T6" fmla="*/ 0 w 2109"/>
                <a:gd name="T7" fmla="*/ 2147483647 h 986"/>
                <a:gd name="T8" fmla="*/ 2147483647 w 2109"/>
                <a:gd name="T9" fmla="*/ 2147483647 h 986"/>
                <a:gd name="T10" fmla="*/ 2147483647 w 2109"/>
                <a:gd name="T11" fmla="*/ 2147483647 h 986"/>
                <a:gd name="T12" fmla="*/ 2147483647 w 2109"/>
                <a:gd name="T13" fmla="*/ 2147483647 h 986"/>
                <a:gd name="T14" fmla="*/ 2147483647 w 2109"/>
                <a:gd name="T15" fmla="*/ 2147483647 h 986"/>
                <a:gd name="T16" fmla="*/ 2147483647 w 2109"/>
                <a:gd name="T17" fmla="*/ 2147483647 h 986"/>
                <a:gd name="T18" fmla="*/ 2147483647 w 2109"/>
                <a:gd name="T19" fmla="*/ 2147483647 h 986"/>
                <a:gd name="T20" fmla="*/ 2147483647 w 2109"/>
                <a:gd name="T21" fmla="*/ 2147483647 h 986"/>
                <a:gd name="T22" fmla="*/ 2147483647 w 2109"/>
                <a:gd name="T23" fmla="*/ 2147483647 h 986"/>
                <a:gd name="T24" fmla="*/ 2147483647 w 2109"/>
                <a:gd name="T25" fmla="*/ 2147483647 h 986"/>
                <a:gd name="T26" fmla="*/ 2147483647 w 2109"/>
                <a:gd name="T27" fmla="*/ 2147483647 h 986"/>
                <a:gd name="T28" fmla="*/ 2147483647 w 2109"/>
                <a:gd name="T29" fmla="*/ 2147483647 h 986"/>
                <a:gd name="T30" fmla="*/ 2147483647 w 2109"/>
                <a:gd name="T31" fmla="*/ 2147483647 h 986"/>
                <a:gd name="T32" fmla="*/ 2147483647 w 2109"/>
                <a:gd name="T33" fmla="*/ 2147483647 h 986"/>
                <a:gd name="T34" fmla="*/ 2147483647 w 2109"/>
                <a:gd name="T35" fmla="*/ 2147483647 h 986"/>
                <a:gd name="T36" fmla="*/ 2147483647 w 2109"/>
                <a:gd name="T37" fmla="*/ 2147483647 h 986"/>
                <a:gd name="T38" fmla="*/ 2147483647 w 2109"/>
                <a:gd name="T39" fmla="*/ 2147483647 h 986"/>
                <a:gd name="T40" fmla="*/ 2147483647 w 2109"/>
                <a:gd name="T41" fmla="*/ 2147483647 h 986"/>
                <a:gd name="T42" fmla="*/ 2147483647 w 2109"/>
                <a:gd name="T43" fmla="*/ 2147483647 h 986"/>
                <a:gd name="T44" fmla="*/ 2147483647 w 2109"/>
                <a:gd name="T45" fmla="*/ 2147483647 h 986"/>
                <a:gd name="T46" fmla="*/ 2147483647 w 2109"/>
                <a:gd name="T47" fmla="*/ 2147483647 h 986"/>
                <a:gd name="T48" fmla="*/ 2147483647 w 2109"/>
                <a:gd name="T49" fmla="*/ 2147483647 h 986"/>
                <a:gd name="T50" fmla="*/ 2147483647 w 2109"/>
                <a:gd name="T51" fmla="*/ 2147483647 h 986"/>
                <a:gd name="T52" fmla="*/ 2147483647 w 2109"/>
                <a:gd name="T53" fmla="*/ 2147483647 h 986"/>
                <a:gd name="T54" fmla="*/ 2147483647 w 2109"/>
                <a:gd name="T55" fmla="*/ 2147483647 h 986"/>
                <a:gd name="T56" fmla="*/ 2147483647 w 2109"/>
                <a:gd name="T57" fmla="*/ 2147483647 h 986"/>
                <a:gd name="T58" fmla="*/ 2147483647 w 2109"/>
                <a:gd name="T59" fmla="*/ 2147483647 h 986"/>
                <a:gd name="T60" fmla="*/ 2147483647 w 2109"/>
                <a:gd name="T61" fmla="*/ 2147483647 h 986"/>
                <a:gd name="T62" fmla="*/ 2147483647 w 2109"/>
                <a:gd name="T63" fmla="*/ 2147483647 h 986"/>
                <a:gd name="T64" fmla="*/ 2147483647 w 2109"/>
                <a:gd name="T65" fmla="*/ 2147483647 h 986"/>
                <a:gd name="T66" fmla="*/ 2147483647 w 2109"/>
                <a:gd name="T67" fmla="*/ 2147483647 h 9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rgbClr val="4D4D4D"/>
            </a:solidFill>
            <a:ln w="9525">
              <a:noFill/>
              <a:round/>
            </a:ln>
          </p:spPr>
          <p:txBody>
            <a:bodyPr/>
            <a:lstStyle/>
            <a:p>
              <a:pPr>
                <a:defRPr/>
              </a:pPr>
              <a:endParaRPr lang="zh-CN" altLang="en-US" kern="0" dirty="0">
                <a:solidFill>
                  <a:sysClr val="windowText" lastClr="000000"/>
                </a:solidFill>
                <a:latin typeface="Arial" pitchFamily="34" charset="0"/>
                <a:ea typeface="宋体" pitchFamily="2" charset="-122"/>
              </a:endParaRPr>
            </a:p>
          </p:txBody>
        </p:sp>
        <p:sp>
          <p:nvSpPr>
            <p:cNvPr id="6" name="Rectangle 5">
              <a:extLst>
                <a:ext uri="{FF2B5EF4-FFF2-40B4-BE49-F238E27FC236}">
                  <a16:creationId xmlns:a16="http://schemas.microsoft.com/office/drawing/2014/main" id="{A6CF91E4-2DF6-43CC-853C-8A66141190CC}"/>
                </a:ext>
              </a:extLst>
            </p:cNvPr>
            <p:cNvSpPr>
              <a:spLocks noChangeArrowheads="1"/>
            </p:cNvSpPr>
            <p:nvPr userDrawn="1"/>
          </p:nvSpPr>
          <p:spPr bwMode="auto">
            <a:xfrm>
              <a:off x="988824" y="2510466"/>
              <a:ext cx="973394" cy="1047750"/>
            </a:xfrm>
            <a:prstGeom prst="rect">
              <a:avLst/>
            </a:prstGeom>
            <a:solidFill>
              <a:srgbClr val="024C89"/>
            </a:solidFill>
            <a:ln w="9525">
              <a:noFill/>
              <a:miter lim="800000"/>
            </a:ln>
          </p:spPr>
          <p:txBody>
            <a:bodyPr/>
            <a:lstStyle/>
            <a:p>
              <a:pPr>
                <a:defRPr/>
              </a:pPr>
              <a:endParaRPr lang="zh-CN" altLang="en-US" kern="0">
                <a:solidFill>
                  <a:sysClr val="windowText" lastClr="000000"/>
                </a:solidFill>
                <a:latin typeface="Arial" pitchFamily="34" charset="0"/>
                <a:ea typeface="宋体" pitchFamily="2" charset="-122"/>
              </a:endParaRPr>
            </a:p>
          </p:txBody>
        </p:sp>
        <p:sp>
          <p:nvSpPr>
            <p:cNvPr id="7" name="Freeform 6">
              <a:extLst>
                <a:ext uri="{FF2B5EF4-FFF2-40B4-BE49-F238E27FC236}">
                  <a16:creationId xmlns:a16="http://schemas.microsoft.com/office/drawing/2014/main" id="{B9D7DEB2-CFBF-4E7F-8A3C-E9CF23E7D7CF}"/>
                </a:ext>
              </a:extLst>
            </p:cNvPr>
            <p:cNvSpPr/>
            <p:nvPr userDrawn="1"/>
          </p:nvSpPr>
          <p:spPr bwMode="auto">
            <a:xfrm>
              <a:off x="1149559" y="2675367"/>
              <a:ext cx="614363" cy="749300"/>
            </a:xfrm>
            <a:custGeom>
              <a:avLst/>
              <a:gdLst>
                <a:gd name="T0" fmla="*/ 2147483647 w 1173"/>
                <a:gd name="T1" fmla="*/ 2147483647 h 1472"/>
                <a:gd name="T2" fmla="*/ 2147483647 w 1173"/>
                <a:gd name="T3" fmla="*/ 2147483647 h 1472"/>
                <a:gd name="T4" fmla="*/ 2147483647 w 1173"/>
                <a:gd name="T5" fmla="*/ 2147483647 h 1472"/>
                <a:gd name="T6" fmla="*/ 2147483647 w 1173"/>
                <a:gd name="T7" fmla="*/ 2147483647 h 1472"/>
                <a:gd name="T8" fmla="*/ 2147483647 w 1173"/>
                <a:gd name="T9" fmla="*/ 2147483647 h 1472"/>
                <a:gd name="T10" fmla="*/ 2147483647 w 1173"/>
                <a:gd name="T11" fmla="*/ 2147483647 h 1472"/>
                <a:gd name="T12" fmla="*/ 0 w 1173"/>
                <a:gd name="T13" fmla="*/ 2147483647 h 1472"/>
                <a:gd name="T14" fmla="*/ 2147483647 w 1173"/>
                <a:gd name="T15" fmla="*/ 2147483647 h 1472"/>
                <a:gd name="T16" fmla="*/ 2147483647 w 1173"/>
                <a:gd name="T17" fmla="*/ 2147483647 h 1472"/>
                <a:gd name="T18" fmla="*/ 2147483647 w 1173"/>
                <a:gd name="T19" fmla="*/ 2147483647 h 1472"/>
                <a:gd name="T20" fmla="*/ 2147483647 w 1173"/>
                <a:gd name="T21" fmla="*/ 2147483647 h 1472"/>
                <a:gd name="T22" fmla="*/ 2147483647 w 1173"/>
                <a:gd name="T23" fmla="*/ 2147483647 h 1472"/>
                <a:gd name="T24" fmla="*/ 2147483647 w 1173"/>
                <a:gd name="T25" fmla="*/ 2147483647 h 1472"/>
                <a:gd name="T26" fmla="*/ 2147483647 w 1173"/>
                <a:gd name="T27" fmla="*/ 2147483647 h 1472"/>
                <a:gd name="T28" fmla="*/ 2147483647 w 1173"/>
                <a:gd name="T29" fmla="*/ 2147483647 h 14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w="9525">
              <a:noFill/>
              <a:round/>
            </a:ln>
          </p:spPr>
          <p:txBody>
            <a:bodyPr/>
            <a:lstStyle/>
            <a:p>
              <a:pPr>
                <a:defRPr/>
              </a:pPr>
              <a:endParaRPr lang="zh-CN" altLang="en-US" kern="0">
                <a:solidFill>
                  <a:sysClr val="windowText" lastClr="000000"/>
                </a:solidFill>
                <a:latin typeface="Arial" pitchFamily="34" charset="0"/>
                <a:ea typeface="宋体" pitchFamily="2" charset="-122"/>
              </a:endParaRPr>
            </a:p>
          </p:txBody>
        </p:sp>
      </p:grpSp>
      <p:sp>
        <p:nvSpPr>
          <p:cNvPr id="70" name="矩形 69">
            <a:extLst>
              <a:ext uri="{FF2B5EF4-FFF2-40B4-BE49-F238E27FC236}">
                <a16:creationId xmlns:a16="http://schemas.microsoft.com/office/drawing/2014/main" id="{5D6C1642-EF57-4FCF-B70B-9EB19917F44C}"/>
              </a:ext>
            </a:extLst>
          </p:cNvPr>
          <p:cNvSpPr/>
          <p:nvPr userDrawn="1"/>
        </p:nvSpPr>
        <p:spPr>
          <a:xfrm>
            <a:off x="7476749" y="5022"/>
            <a:ext cx="4715435" cy="6858000"/>
          </a:xfrm>
          <a:prstGeom prst="rect">
            <a:avLst/>
          </a:prstGeom>
          <a:gradFill>
            <a:gsLst>
              <a:gs pos="100000">
                <a:srgbClr val="00B0F0">
                  <a:alpha val="0"/>
                </a:srgbClr>
              </a:gs>
              <a:gs pos="0">
                <a:srgbClr val="00B0F0">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nvGrpSpPr>
          <p:cNvPr id="76" name="组合 75">
            <a:extLst>
              <a:ext uri="{FF2B5EF4-FFF2-40B4-BE49-F238E27FC236}">
                <a16:creationId xmlns:a16="http://schemas.microsoft.com/office/drawing/2014/main" id="{79128F3D-440D-4735-B280-F8F3A95DBEF0}"/>
              </a:ext>
            </a:extLst>
          </p:cNvPr>
          <p:cNvGrpSpPr/>
          <p:nvPr userDrawn="1"/>
        </p:nvGrpSpPr>
        <p:grpSpPr>
          <a:xfrm>
            <a:off x="0" y="40018"/>
            <a:ext cx="12192000" cy="769441"/>
            <a:chOff x="0" y="40018"/>
            <a:chExt cx="12192000" cy="769441"/>
          </a:xfrm>
        </p:grpSpPr>
        <p:pic>
          <p:nvPicPr>
            <p:cNvPr id="77" name="图片 76">
              <a:extLst>
                <a:ext uri="{FF2B5EF4-FFF2-40B4-BE49-F238E27FC236}">
                  <a16:creationId xmlns:a16="http://schemas.microsoft.com/office/drawing/2014/main" id="{F7046826-E3C2-4516-8838-F6024486E91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34974" b="35069"/>
            <a:stretch>
              <a:fillRect/>
            </a:stretch>
          </p:blipFill>
          <p:spPr>
            <a:xfrm>
              <a:off x="9699602" y="199642"/>
              <a:ext cx="2336093" cy="505610"/>
            </a:xfrm>
            <a:prstGeom prst="rect">
              <a:avLst/>
            </a:prstGeom>
          </p:spPr>
        </p:pic>
        <p:sp>
          <p:nvSpPr>
            <p:cNvPr id="78" name="文本框 77">
              <a:extLst>
                <a:ext uri="{FF2B5EF4-FFF2-40B4-BE49-F238E27FC236}">
                  <a16:creationId xmlns:a16="http://schemas.microsoft.com/office/drawing/2014/main" id="{0E74CD5A-9833-45E4-9F7F-2C7811B867BE}"/>
                </a:ext>
              </a:extLst>
            </p:cNvPr>
            <p:cNvSpPr txBox="1"/>
            <p:nvPr userDrawn="1"/>
          </p:nvSpPr>
          <p:spPr>
            <a:xfrm>
              <a:off x="156305" y="40018"/>
              <a:ext cx="390766" cy="769441"/>
            </a:xfrm>
            <a:prstGeom prst="rect">
              <a:avLst/>
            </a:prstGeom>
            <a:noFill/>
          </p:spPr>
          <p:txBody>
            <a:bodyPr wrap="square" rtlCol="0">
              <a:spAutoFit/>
            </a:bodyPr>
            <a:lstStyle/>
            <a:p>
              <a:pPr algn="ctr"/>
              <a:r>
                <a:rPr lang="en-US" altLang="zh-CN" sz="4400" b="1" dirty="0">
                  <a:solidFill>
                    <a:schemeClr val="accent1">
                      <a:lumMod val="60000"/>
                      <a:lumOff val="40000"/>
                    </a:schemeClr>
                  </a:solidFill>
                </a:rPr>
                <a:t>C</a:t>
              </a:r>
              <a:endParaRPr lang="zh-CN" altLang="en-US" sz="800" dirty="0"/>
            </a:p>
          </p:txBody>
        </p:sp>
        <p:sp>
          <p:nvSpPr>
            <p:cNvPr id="79" name="文本框 78">
              <a:extLst>
                <a:ext uri="{FF2B5EF4-FFF2-40B4-BE49-F238E27FC236}">
                  <a16:creationId xmlns:a16="http://schemas.microsoft.com/office/drawing/2014/main" id="{B7D8D081-8C72-41AC-BA3C-DA4104B63229}"/>
                </a:ext>
              </a:extLst>
            </p:cNvPr>
            <p:cNvSpPr txBox="1"/>
            <p:nvPr userDrawn="1"/>
          </p:nvSpPr>
          <p:spPr>
            <a:xfrm>
              <a:off x="242277" y="270851"/>
              <a:ext cx="1320800" cy="307777"/>
            </a:xfrm>
            <a:prstGeom prst="rect">
              <a:avLst/>
            </a:prstGeom>
            <a:noFill/>
          </p:spPr>
          <p:txBody>
            <a:bodyPr wrap="square" rtlCol="0">
              <a:spAutoFit/>
            </a:bodyPr>
            <a:lstStyle/>
            <a:p>
              <a:r>
                <a:rPr lang="en-US" altLang="zh-CN" sz="1400" b="1" dirty="0">
                  <a:solidFill>
                    <a:schemeClr val="accent1">
                      <a:lumMod val="60000"/>
                      <a:lumOff val="40000"/>
                    </a:schemeClr>
                  </a:solidFill>
                </a:rPr>
                <a:t>Programming</a:t>
              </a:r>
              <a:endParaRPr lang="zh-CN" altLang="en-US" sz="1400" dirty="0"/>
            </a:p>
          </p:txBody>
        </p:sp>
        <p:grpSp>
          <p:nvGrpSpPr>
            <p:cNvPr id="80" name="组合 79">
              <a:extLst>
                <a:ext uri="{FF2B5EF4-FFF2-40B4-BE49-F238E27FC236}">
                  <a16:creationId xmlns:a16="http://schemas.microsoft.com/office/drawing/2014/main" id="{277687D0-C680-4AA6-AE98-5639F0C50311}"/>
                </a:ext>
              </a:extLst>
            </p:cNvPr>
            <p:cNvGrpSpPr/>
            <p:nvPr userDrawn="1"/>
          </p:nvGrpSpPr>
          <p:grpSpPr>
            <a:xfrm>
              <a:off x="0" y="140358"/>
              <a:ext cx="12192000" cy="573208"/>
              <a:chOff x="-750454" y="3752299"/>
              <a:chExt cx="12201236" cy="573208"/>
            </a:xfrm>
          </p:grpSpPr>
          <p:sp>
            <p:nvSpPr>
              <p:cNvPr id="81" name="平行四边形 80">
                <a:extLst>
                  <a:ext uri="{FF2B5EF4-FFF2-40B4-BE49-F238E27FC236}">
                    <a16:creationId xmlns:a16="http://schemas.microsoft.com/office/drawing/2014/main" id="{999CB817-D56E-488F-9D87-F9D19470D6AE}"/>
                  </a:ext>
                </a:extLst>
              </p:cNvPr>
              <p:cNvSpPr/>
              <p:nvPr userDrawn="1"/>
            </p:nvSpPr>
            <p:spPr>
              <a:xfrm>
                <a:off x="7860146" y="375368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平行四边形 81">
                <a:extLst>
                  <a:ext uri="{FF2B5EF4-FFF2-40B4-BE49-F238E27FC236}">
                    <a16:creationId xmlns:a16="http://schemas.microsoft.com/office/drawing/2014/main" id="{352F10E6-4A02-4A03-A65F-57545BCD6B65}"/>
                  </a:ext>
                </a:extLst>
              </p:cNvPr>
              <p:cNvSpPr/>
              <p:nvPr userDrawn="1"/>
            </p:nvSpPr>
            <p:spPr>
              <a:xfrm>
                <a:off x="8191518" y="375229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a:extLst>
                  <a:ext uri="{FF2B5EF4-FFF2-40B4-BE49-F238E27FC236}">
                    <a16:creationId xmlns:a16="http://schemas.microsoft.com/office/drawing/2014/main" id="{075B0E75-A6C6-4B7F-A0F1-380D72D98050}"/>
                  </a:ext>
                </a:extLst>
              </p:cNvPr>
              <p:cNvSpPr/>
              <p:nvPr userDrawn="1"/>
            </p:nvSpPr>
            <p:spPr>
              <a:xfrm flipV="1">
                <a:off x="-750454" y="4289506"/>
                <a:ext cx="8856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a:extLst>
                  <a:ext uri="{FF2B5EF4-FFF2-40B4-BE49-F238E27FC236}">
                    <a16:creationId xmlns:a16="http://schemas.microsoft.com/office/drawing/2014/main" id="{4632218C-DACA-4F71-8571-397435439B21}"/>
                  </a:ext>
                </a:extLst>
              </p:cNvPr>
              <p:cNvSpPr/>
              <p:nvPr userDrawn="1"/>
            </p:nvSpPr>
            <p:spPr>
              <a:xfrm flipV="1">
                <a:off x="8750782" y="3753688"/>
                <a:ext cx="2700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649835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BC089EC-55AC-4306-ABB4-631B2FCECEE5}"/>
              </a:ext>
            </a:extLst>
          </p:cNvPr>
          <p:cNvSpPr>
            <a:spLocks noChangeArrowheads="1"/>
          </p:cNvSpPr>
          <p:nvPr userDrawn="1"/>
        </p:nvSpPr>
        <p:spPr bwMode="auto">
          <a:xfrm>
            <a:off x="2650274" y="1556659"/>
            <a:ext cx="6891452" cy="281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ts val="1800"/>
              </a:spcBef>
            </a:pPr>
            <a:r>
              <a:rPr lang="en-US" altLang="zh-CN" sz="5400" b="1" dirty="0">
                <a:solidFill>
                  <a:srgbClr val="FF0000"/>
                </a:solidFill>
                <a:latin typeface="微软雅黑" pitchFamily="34" charset="-122"/>
                <a:ea typeface="微软雅黑" pitchFamily="34" charset="-122"/>
              </a:rPr>
              <a:t>Question</a:t>
            </a:r>
            <a:r>
              <a:rPr lang="zh-CN" altLang="en-US" sz="5400" b="1" dirty="0">
                <a:solidFill>
                  <a:srgbClr val="FF0000"/>
                </a:solidFill>
                <a:latin typeface="微软雅黑" pitchFamily="34" charset="-122"/>
                <a:ea typeface="微软雅黑" pitchFamily="34" charset="-122"/>
              </a:rPr>
              <a:t>？</a:t>
            </a:r>
            <a:endParaRPr lang="en-US" altLang="zh-CN" sz="5400" b="1" dirty="0">
              <a:solidFill>
                <a:srgbClr val="FF0000"/>
              </a:solidFill>
              <a:latin typeface="微软雅黑" pitchFamily="34" charset="-122"/>
              <a:ea typeface="微软雅黑" pitchFamily="34" charset="-122"/>
            </a:endParaRPr>
          </a:p>
          <a:p>
            <a:pPr algn="just">
              <a:spcBef>
                <a:spcPts val="1800"/>
              </a:spcBef>
            </a:pPr>
            <a:r>
              <a:rPr lang="zh-CN" altLang="en-US" sz="5400" b="1" dirty="0">
                <a:solidFill>
                  <a:srgbClr val="FF0000"/>
                </a:solidFill>
                <a:latin typeface="微软雅黑" pitchFamily="34" charset="-122"/>
                <a:ea typeface="微软雅黑" pitchFamily="34" charset="-122"/>
              </a:rPr>
              <a:t>请在班级</a:t>
            </a:r>
            <a:r>
              <a:rPr lang="en-US" altLang="zh-CN" sz="5400" b="1" dirty="0">
                <a:solidFill>
                  <a:srgbClr val="FF0000"/>
                </a:solidFill>
                <a:latin typeface="微软雅黑" pitchFamily="34" charset="-122"/>
                <a:ea typeface="微软雅黑" pitchFamily="34" charset="-122"/>
              </a:rPr>
              <a:t>QQ</a:t>
            </a:r>
            <a:r>
              <a:rPr lang="zh-CN" altLang="en-US" sz="5400" b="1" dirty="0">
                <a:solidFill>
                  <a:srgbClr val="FF0000"/>
                </a:solidFill>
                <a:latin typeface="微软雅黑" pitchFamily="34" charset="-122"/>
                <a:ea typeface="微软雅黑" pitchFamily="34" charset="-122"/>
              </a:rPr>
              <a:t>群或在上机过程中进行提问吧！</a:t>
            </a:r>
            <a:endParaRPr lang="en-US" altLang="zh-CN" sz="5400" b="1" dirty="0">
              <a:solidFill>
                <a:srgbClr val="FF0000"/>
              </a:solidFill>
              <a:latin typeface="微软雅黑" pitchFamily="34" charset="-122"/>
              <a:ea typeface="微软雅黑" pitchFamily="34" charset="-122"/>
            </a:endParaRPr>
          </a:p>
        </p:txBody>
      </p:sp>
      <p:grpSp>
        <p:nvGrpSpPr>
          <p:cNvPr id="4" name="组合 3">
            <a:extLst>
              <a:ext uri="{FF2B5EF4-FFF2-40B4-BE49-F238E27FC236}">
                <a16:creationId xmlns:a16="http://schemas.microsoft.com/office/drawing/2014/main" id="{78A572C4-B2D1-490F-99D9-054A5FA5FCD6}"/>
              </a:ext>
            </a:extLst>
          </p:cNvPr>
          <p:cNvGrpSpPr/>
          <p:nvPr userDrawn="1"/>
        </p:nvGrpSpPr>
        <p:grpSpPr>
          <a:xfrm>
            <a:off x="0" y="40018"/>
            <a:ext cx="12192000" cy="769441"/>
            <a:chOff x="0" y="40018"/>
            <a:chExt cx="12192000" cy="769441"/>
          </a:xfrm>
        </p:grpSpPr>
        <p:pic>
          <p:nvPicPr>
            <p:cNvPr id="5" name="图片 4">
              <a:extLst>
                <a:ext uri="{FF2B5EF4-FFF2-40B4-BE49-F238E27FC236}">
                  <a16:creationId xmlns:a16="http://schemas.microsoft.com/office/drawing/2014/main" id="{52404D27-433D-4218-8491-72B29BA071A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34974" b="35069"/>
            <a:stretch>
              <a:fillRect/>
            </a:stretch>
          </p:blipFill>
          <p:spPr>
            <a:xfrm>
              <a:off x="9699602" y="207560"/>
              <a:ext cx="2336093" cy="505610"/>
            </a:xfrm>
            <a:prstGeom prst="rect">
              <a:avLst/>
            </a:prstGeom>
          </p:spPr>
        </p:pic>
        <p:sp>
          <p:nvSpPr>
            <p:cNvPr id="6" name="文本框 5">
              <a:extLst>
                <a:ext uri="{FF2B5EF4-FFF2-40B4-BE49-F238E27FC236}">
                  <a16:creationId xmlns:a16="http://schemas.microsoft.com/office/drawing/2014/main" id="{06202126-DDD4-4338-BB92-B0FB20218310}"/>
                </a:ext>
              </a:extLst>
            </p:cNvPr>
            <p:cNvSpPr txBox="1"/>
            <p:nvPr userDrawn="1"/>
          </p:nvSpPr>
          <p:spPr>
            <a:xfrm>
              <a:off x="156305" y="40018"/>
              <a:ext cx="390766" cy="769441"/>
            </a:xfrm>
            <a:prstGeom prst="rect">
              <a:avLst/>
            </a:prstGeom>
            <a:noFill/>
          </p:spPr>
          <p:txBody>
            <a:bodyPr wrap="square" rtlCol="0">
              <a:spAutoFit/>
            </a:bodyPr>
            <a:lstStyle/>
            <a:p>
              <a:pPr algn="ctr"/>
              <a:r>
                <a:rPr lang="en-US" altLang="zh-CN" sz="4400" b="1" dirty="0">
                  <a:solidFill>
                    <a:schemeClr val="accent1">
                      <a:lumMod val="60000"/>
                      <a:lumOff val="40000"/>
                    </a:schemeClr>
                  </a:solidFill>
                </a:rPr>
                <a:t>C</a:t>
              </a:r>
              <a:endParaRPr lang="zh-CN" altLang="en-US" sz="800" dirty="0"/>
            </a:p>
          </p:txBody>
        </p:sp>
        <p:sp>
          <p:nvSpPr>
            <p:cNvPr id="7" name="文本框 6">
              <a:extLst>
                <a:ext uri="{FF2B5EF4-FFF2-40B4-BE49-F238E27FC236}">
                  <a16:creationId xmlns:a16="http://schemas.microsoft.com/office/drawing/2014/main" id="{6EBC7994-DE28-4614-BBB3-1258C611821D}"/>
                </a:ext>
              </a:extLst>
            </p:cNvPr>
            <p:cNvSpPr txBox="1"/>
            <p:nvPr userDrawn="1"/>
          </p:nvSpPr>
          <p:spPr>
            <a:xfrm>
              <a:off x="242277" y="270851"/>
              <a:ext cx="1320800" cy="307777"/>
            </a:xfrm>
            <a:prstGeom prst="rect">
              <a:avLst/>
            </a:prstGeom>
            <a:noFill/>
          </p:spPr>
          <p:txBody>
            <a:bodyPr wrap="square" rtlCol="0">
              <a:spAutoFit/>
            </a:bodyPr>
            <a:lstStyle/>
            <a:p>
              <a:r>
                <a:rPr lang="en-US" altLang="zh-CN" sz="1400" b="1" dirty="0">
                  <a:solidFill>
                    <a:schemeClr val="accent1">
                      <a:lumMod val="60000"/>
                      <a:lumOff val="40000"/>
                    </a:schemeClr>
                  </a:solidFill>
                </a:rPr>
                <a:t>Programming</a:t>
              </a:r>
              <a:endParaRPr lang="zh-CN" altLang="en-US" sz="1400" dirty="0"/>
            </a:p>
          </p:txBody>
        </p:sp>
        <p:grpSp>
          <p:nvGrpSpPr>
            <p:cNvPr id="8" name="组合 7">
              <a:extLst>
                <a:ext uri="{FF2B5EF4-FFF2-40B4-BE49-F238E27FC236}">
                  <a16:creationId xmlns:a16="http://schemas.microsoft.com/office/drawing/2014/main" id="{79DE37F0-6BDA-4DC2-9F0F-06B7C60DCC0F}"/>
                </a:ext>
              </a:extLst>
            </p:cNvPr>
            <p:cNvGrpSpPr/>
            <p:nvPr userDrawn="1"/>
          </p:nvGrpSpPr>
          <p:grpSpPr>
            <a:xfrm>
              <a:off x="0" y="140358"/>
              <a:ext cx="12192000" cy="573208"/>
              <a:chOff x="-750454" y="3752299"/>
              <a:chExt cx="12201236" cy="573208"/>
            </a:xfrm>
          </p:grpSpPr>
          <p:sp>
            <p:nvSpPr>
              <p:cNvPr id="9" name="平行四边形 8">
                <a:extLst>
                  <a:ext uri="{FF2B5EF4-FFF2-40B4-BE49-F238E27FC236}">
                    <a16:creationId xmlns:a16="http://schemas.microsoft.com/office/drawing/2014/main" id="{8FDA44E1-7425-41B0-ACE1-F3183CE75CBE}"/>
                  </a:ext>
                </a:extLst>
              </p:cNvPr>
              <p:cNvSpPr/>
              <p:nvPr userDrawn="1"/>
            </p:nvSpPr>
            <p:spPr>
              <a:xfrm>
                <a:off x="7860146" y="375368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a:extLst>
                  <a:ext uri="{FF2B5EF4-FFF2-40B4-BE49-F238E27FC236}">
                    <a16:creationId xmlns:a16="http://schemas.microsoft.com/office/drawing/2014/main" id="{D92A7CFB-5C2D-4471-9617-5814B155CB7F}"/>
                  </a:ext>
                </a:extLst>
              </p:cNvPr>
              <p:cNvSpPr/>
              <p:nvPr userDrawn="1"/>
            </p:nvSpPr>
            <p:spPr>
              <a:xfrm>
                <a:off x="8191518" y="375229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DDD1E91A-2138-4239-8CDD-3DAEEDA7E6A5}"/>
                  </a:ext>
                </a:extLst>
              </p:cNvPr>
              <p:cNvSpPr/>
              <p:nvPr userDrawn="1"/>
            </p:nvSpPr>
            <p:spPr>
              <a:xfrm flipV="1">
                <a:off x="-750454" y="4289506"/>
                <a:ext cx="8856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02538672-7F3C-4866-B5C4-959756C63A35}"/>
                  </a:ext>
                </a:extLst>
              </p:cNvPr>
              <p:cNvSpPr/>
              <p:nvPr userDrawn="1"/>
            </p:nvSpPr>
            <p:spPr>
              <a:xfrm flipV="1">
                <a:off x="8750782" y="3753688"/>
                <a:ext cx="2700000" cy="36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832127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t="-2000" b="-2000"/>
          </a:stretch>
        </a:blip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AA906814-CB77-42CE-8722-740E4FA37C6F}"/>
              </a:ext>
            </a:extLst>
          </p:cNvPr>
          <p:cNvSpPr/>
          <p:nvPr userDrawn="1"/>
        </p:nvSpPr>
        <p:spPr>
          <a:xfrm rot="5400000">
            <a:off x="5731669" y="397669"/>
            <a:ext cx="728662"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2" name="标题占位符 1">
            <a:extLst>
              <a:ext uri="{FF2B5EF4-FFF2-40B4-BE49-F238E27FC236}">
                <a16:creationId xmlns:a16="http://schemas.microsoft.com/office/drawing/2014/main" id="{2EDEA523-30CE-4428-B8A6-CB0C805CD447}"/>
              </a:ext>
            </a:extLst>
          </p:cNvPr>
          <p:cNvSpPr>
            <a:spLocks noGrp="1"/>
          </p:cNvSpPr>
          <p:nvPr>
            <p:ph type="title"/>
          </p:nvPr>
        </p:nvSpPr>
        <p:spPr>
          <a:xfrm>
            <a:off x="838200" y="809458"/>
            <a:ext cx="10515600" cy="881229"/>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9C40EFF2-3741-4E9F-9032-7BBA076E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AC8001F3-2526-4AFF-AFF5-E4CAF95025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9" name="页脚占位符 8">
            <a:extLst>
              <a:ext uri="{FF2B5EF4-FFF2-40B4-BE49-F238E27FC236}">
                <a16:creationId xmlns:a16="http://schemas.microsoft.com/office/drawing/2014/main" id="{87446182-0BAA-4592-A192-58B1F27662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2" name="矩形 11">
            <a:extLst>
              <a:ext uri="{FF2B5EF4-FFF2-40B4-BE49-F238E27FC236}">
                <a16:creationId xmlns:a16="http://schemas.microsoft.com/office/drawing/2014/main" id="{5ACF6331-42CF-49B5-93BA-B5EACB963342}"/>
              </a:ext>
            </a:extLst>
          </p:cNvPr>
          <p:cNvSpPr/>
          <p:nvPr userDrawn="1"/>
        </p:nvSpPr>
        <p:spPr>
          <a:xfrm rot="16200000">
            <a:off x="5645524" y="-5645523"/>
            <a:ext cx="900954"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7" name="图片 6">
            <a:extLst>
              <a:ext uri="{FF2B5EF4-FFF2-40B4-BE49-F238E27FC236}">
                <a16:creationId xmlns:a16="http://schemas.microsoft.com/office/drawing/2014/main" id="{991EA361-28EE-45BA-A8A0-3F4170BADBDF}"/>
              </a:ext>
            </a:extLst>
          </p:cNvPr>
          <p:cNvPicPr>
            <a:picLocks noChangeAspect="1"/>
          </p:cNvPicPr>
          <p:nvPr userDrawn="1"/>
        </p:nvPicPr>
        <p:blipFill rotWithShape="1">
          <a:blip r:embed="rId18" cstate="print">
            <a:extLst>
              <a:ext uri="{28A0092B-C50C-407E-A947-70E740481C1C}">
                <a14:useLocalDpi xmlns:a14="http://schemas.microsoft.com/office/drawing/2010/main" val="0"/>
              </a:ext>
            </a:extLst>
          </a:blip>
          <a:srcRect t="34974" b="35069"/>
          <a:stretch>
            <a:fillRect/>
          </a:stretch>
        </p:blipFill>
        <p:spPr>
          <a:xfrm>
            <a:off x="9858358" y="94577"/>
            <a:ext cx="2336093" cy="505610"/>
          </a:xfrm>
          <a:prstGeom prst="rect">
            <a:avLst/>
          </a:prstGeom>
        </p:spPr>
      </p:pic>
      <p:grpSp>
        <p:nvGrpSpPr>
          <p:cNvPr id="8" name="组合 7">
            <a:extLst>
              <a:ext uri="{FF2B5EF4-FFF2-40B4-BE49-F238E27FC236}">
                <a16:creationId xmlns:a16="http://schemas.microsoft.com/office/drawing/2014/main" id="{9152D85F-2470-4DDD-8049-E8F4D92CDBC5}"/>
              </a:ext>
            </a:extLst>
          </p:cNvPr>
          <p:cNvGrpSpPr/>
          <p:nvPr userDrawn="1"/>
        </p:nvGrpSpPr>
        <p:grpSpPr>
          <a:xfrm>
            <a:off x="7910376" y="-109794"/>
            <a:ext cx="1406772" cy="769441"/>
            <a:chOff x="156305" y="40018"/>
            <a:chExt cx="1406772" cy="769441"/>
          </a:xfrm>
        </p:grpSpPr>
        <p:sp>
          <p:nvSpPr>
            <p:cNvPr id="10" name="文本框 9">
              <a:extLst>
                <a:ext uri="{FF2B5EF4-FFF2-40B4-BE49-F238E27FC236}">
                  <a16:creationId xmlns:a16="http://schemas.microsoft.com/office/drawing/2014/main" id="{C5EE19C7-A1F4-46A3-92CF-BFD9C4E79590}"/>
                </a:ext>
              </a:extLst>
            </p:cNvPr>
            <p:cNvSpPr txBox="1"/>
            <p:nvPr userDrawn="1"/>
          </p:nvSpPr>
          <p:spPr>
            <a:xfrm>
              <a:off x="156305" y="40018"/>
              <a:ext cx="390766" cy="769441"/>
            </a:xfrm>
            <a:prstGeom prst="rect">
              <a:avLst/>
            </a:prstGeom>
            <a:noFill/>
          </p:spPr>
          <p:txBody>
            <a:bodyPr wrap="square" rtlCol="0">
              <a:spAutoFit/>
            </a:bodyPr>
            <a:lstStyle/>
            <a:p>
              <a:pPr algn="ctr"/>
              <a:r>
                <a:rPr lang="en-US" altLang="zh-CN" sz="4400" b="1" dirty="0">
                  <a:solidFill>
                    <a:schemeClr val="accent1">
                      <a:lumMod val="60000"/>
                      <a:lumOff val="40000"/>
                    </a:schemeClr>
                  </a:solidFill>
                </a:rPr>
                <a:t>C</a:t>
              </a:r>
              <a:endParaRPr lang="zh-CN" altLang="en-US" sz="800" dirty="0"/>
            </a:p>
          </p:txBody>
        </p:sp>
        <p:sp>
          <p:nvSpPr>
            <p:cNvPr id="11" name="文本框 10">
              <a:extLst>
                <a:ext uri="{FF2B5EF4-FFF2-40B4-BE49-F238E27FC236}">
                  <a16:creationId xmlns:a16="http://schemas.microsoft.com/office/drawing/2014/main" id="{03C31597-CB30-47B3-A5E3-96B442662F67}"/>
                </a:ext>
              </a:extLst>
            </p:cNvPr>
            <p:cNvSpPr txBox="1"/>
            <p:nvPr userDrawn="1"/>
          </p:nvSpPr>
          <p:spPr>
            <a:xfrm>
              <a:off x="242277" y="270851"/>
              <a:ext cx="1320800" cy="307777"/>
            </a:xfrm>
            <a:prstGeom prst="rect">
              <a:avLst/>
            </a:prstGeom>
            <a:noFill/>
          </p:spPr>
          <p:txBody>
            <a:bodyPr wrap="square" rtlCol="0">
              <a:spAutoFit/>
            </a:bodyPr>
            <a:lstStyle/>
            <a:p>
              <a:r>
                <a:rPr lang="en-US" altLang="zh-CN" sz="1400" b="1" dirty="0">
                  <a:solidFill>
                    <a:schemeClr val="accent1">
                      <a:lumMod val="60000"/>
                      <a:lumOff val="40000"/>
                    </a:schemeClr>
                  </a:solidFill>
                </a:rPr>
                <a:t>Programming</a:t>
              </a:r>
              <a:endParaRPr lang="zh-CN" altLang="en-US" sz="1400" dirty="0"/>
            </a:p>
          </p:txBody>
        </p:sp>
      </p:grpSp>
      <p:grpSp>
        <p:nvGrpSpPr>
          <p:cNvPr id="21" name="组合 20">
            <a:extLst>
              <a:ext uri="{FF2B5EF4-FFF2-40B4-BE49-F238E27FC236}">
                <a16:creationId xmlns:a16="http://schemas.microsoft.com/office/drawing/2014/main" id="{377E9160-0818-4167-A9C5-1B3144D9006A}"/>
              </a:ext>
            </a:extLst>
          </p:cNvPr>
          <p:cNvGrpSpPr/>
          <p:nvPr userDrawn="1"/>
        </p:nvGrpSpPr>
        <p:grpSpPr>
          <a:xfrm>
            <a:off x="0" y="26953"/>
            <a:ext cx="12192000" cy="574380"/>
            <a:chOff x="-750455" y="3752098"/>
            <a:chExt cx="12201238" cy="574380"/>
          </a:xfrm>
        </p:grpSpPr>
        <p:sp>
          <p:nvSpPr>
            <p:cNvPr id="17" name="平行四边形 16">
              <a:extLst>
                <a:ext uri="{FF2B5EF4-FFF2-40B4-BE49-F238E27FC236}">
                  <a16:creationId xmlns:a16="http://schemas.microsoft.com/office/drawing/2014/main" id="{E5C0772E-2BDB-46E3-BBF3-98B56199E3AA}"/>
                </a:ext>
              </a:extLst>
            </p:cNvPr>
            <p:cNvSpPr/>
            <p:nvPr userDrawn="1"/>
          </p:nvSpPr>
          <p:spPr>
            <a:xfrm>
              <a:off x="8276398" y="375368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平行四边形 17">
              <a:extLst>
                <a:ext uri="{FF2B5EF4-FFF2-40B4-BE49-F238E27FC236}">
                  <a16:creationId xmlns:a16="http://schemas.microsoft.com/office/drawing/2014/main" id="{9DD3C377-F1A7-48D3-AE26-705C40158D01}"/>
                </a:ext>
              </a:extLst>
            </p:cNvPr>
            <p:cNvSpPr/>
            <p:nvPr userDrawn="1"/>
          </p:nvSpPr>
          <p:spPr>
            <a:xfrm>
              <a:off x="8603003" y="3752299"/>
              <a:ext cx="828964" cy="571818"/>
            </a:xfrm>
            <a:prstGeom prst="parallelogram">
              <a:avLst>
                <a:gd name="adj" fmla="val 100414"/>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FD5F80F0-A7FB-45D8-A02F-17A28AEF4443}"/>
                </a:ext>
              </a:extLst>
            </p:cNvPr>
            <p:cNvSpPr/>
            <p:nvPr userDrawn="1"/>
          </p:nvSpPr>
          <p:spPr>
            <a:xfrm flipV="1">
              <a:off x="-750455" y="4280759"/>
              <a:ext cx="9281785"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a:extLst>
                <a:ext uri="{FF2B5EF4-FFF2-40B4-BE49-F238E27FC236}">
                  <a16:creationId xmlns:a16="http://schemas.microsoft.com/office/drawing/2014/main" id="{30C81418-DA7F-4965-A6CC-440B3B40C695}"/>
                </a:ext>
              </a:extLst>
            </p:cNvPr>
            <p:cNvSpPr/>
            <p:nvPr userDrawn="1"/>
          </p:nvSpPr>
          <p:spPr>
            <a:xfrm flipV="1">
              <a:off x="9173856" y="3752098"/>
              <a:ext cx="2276927"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灯片编号占位符 5">
            <a:extLst>
              <a:ext uri="{FF2B5EF4-FFF2-40B4-BE49-F238E27FC236}">
                <a16:creationId xmlns:a16="http://schemas.microsoft.com/office/drawing/2014/main" id="{3558F14C-64CB-4F88-AFF8-AB0B4D90A2A7}"/>
              </a:ext>
            </a:extLst>
          </p:cNvPr>
          <p:cNvSpPr>
            <a:spLocks noGrp="1"/>
          </p:cNvSpPr>
          <p:nvPr userDrawn="1">
            <p:ph type="sldNum" sz="quarter" idx="4"/>
          </p:nvPr>
        </p:nvSpPr>
        <p:spPr>
          <a:xfrm>
            <a:off x="9448800" y="649922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A56C3F-F0F5-411B-954C-A2CFDC009DCE}" type="slidenum">
              <a:rPr lang="zh-CN" altLang="en-US" smtClean="0">
                <a:solidFill>
                  <a:prstClr val="black">
                    <a:tint val="75000"/>
                  </a:prstClr>
                </a:solidFill>
              </a:rPr>
              <a:pPr/>
              <a:t>‹#›</a:t>
            </a:fld>
            <a:r>
              <a:rPr lang="en-US" altLang="zh-CN" dirty="0">
                <a:solidFill>
                  <a:prstClr val="black">
                    <a:tint val="75000"/>
                  </a:prstClr>
                </a:solidFill>
              </a:rPr>
              <a:t>/20</a:t>
            </a:r>
            <a:endParaRPr lang="zh-CN" altLang="en-US" dirty="0"/>
          </a:p>
        </p:txBody>
      </p:sp>
    </p:spTree>
    <p:extLst>
      <p:ext uri="{BB962C8B-B14F-4D97-AF65-F5344CB8AC3E}">
        <p14:creationId xmlns:p14="http://schemas.microsoft.com/office/powerpoint/2010/main" val="171009755"/>
      </p:ext>
    </p:extLst>
  </p:cSld>
  <p:clrMap bg1="lt1" tx1="dk1" bg2="lt2" tx2="dk2" accent1="accent1" accent2="accent2" accent3="accent3" accent4="accent4" accent5="accent5" accent6="accent6" hlink="hlink" folHlink="folHlink"/>
  <p:sldLayoutIdLst>
    <p:sldLayoutId id="2147483655" r:id="rId1"/>
    <p:sldLayoutId id="2147483660" r:id="rId2"/>
    <p:sldLayoutId id="2147483702" r:id="rId3"/>
    <p:sldLayoutId id="2147483703" r:id="rId4"/>
    <p:sldLayoutId id="2147483704" r:id="rId5"/>
    <p:sldLayoutId id="2147483649" r:id="rId6"/>
    <p:sldLayoutId id="2147483650" r:id="rId7"/>
    <p:sldLayoutId id="2147483651" r:id="rId8"/>
    <p:sldLayoutId id="2147483652" r:id="rId9"/>
    <p:sldLayoutId id="2147483653" r:id="rId10"/>
    <p:sldLayoutId id="2147483654" r:id="rId11"/>
    <p:sldLayoutId id="2147483656" r:id="rId12"/>
    <p:sldLayoutId id="2147483657" r:id="rId13"/>
    <p:sldLayoutId id="2147483658" r:id="rId14"/>
    <p:sldLayoutId id="2147483659"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t="-2000" b="-2000"/>
          </a:stretch>
        </a:blip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5ACF6331-42CF-49B5-93BA-B5EACB963342}"/>
              </a:ext>
            </a:extLst>
          </p:cNvPr>
          <p:cNvSpPr/>
          <p:nvPr userDrawn="1"/>
        </p:nvSpPr>
        <p:spPr>
          <a:xfrm rot="16200000">
            <a:off x="5645523" y="-5645523"/>
            <a:ext cx="900954"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3" name="矩形 12">
            <a:extLst>
              <a:ext uri="{FF2B5EF4-FFF2-40B4-BE49-F238E27FC236}">
                <a16:creationId xmlns:a16="http://schemas.microsoft.com/office/drawing/2014/main" id="{AA906814-CB77-42CE-8722-740E4FA37C6F}"/>
              </a:ext>
            </a:extLst>
          </p:cNvPr>
          <p:cNvSpPr/>
          <p:nvPr userDrawn="1"/>
        </p:nvSpPr>
        <p:spPr>
          <a:xfrm rot="5400000">
            <a:off x="5731669" y="406904"/>
            <a:ext cx="728662" cy="12192001"/>
          </a:xfrm>
          <a:prstGeom prst="rect">
            <a:avLst/>
          </a:prstGeom>
          <a:gradFill>
            <a:gsLst>
              <a:gs pos="100000">
                <a:srgbClr val="00A3FF">
                  <a:alpha val="0"/>
                </a:srgbClr>
              </a:gs>
              <a:gs pos="0">
                <a:srgbClr val="00A3FF">
                  <a:alpha val="30000"/>
                </a:srgbClr>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73082670"/>
      </p:ext>
    </p:extLst>
  </p:cSld>
  <p:clrMap bg1="lt1" tx1="dk1" bg2="lt2" tx2="dk2" accent1="accent1" accent2="accent2" accent3="accent3" accent4="accent4" accent5="accent5" accent6="accent6" hlink="hlink" folHlink="folHlink"/>
  <p:sldLayoutIdLst>
    <p:sldLayoutId id="2147483675" r:id="rId1"/>
    <p:sldLayoutId id="2147483700" r:id="rId2"/>
    <p:sldLayoutId id="214748370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microsoft.com/office/2007/relationships/hdphoto" Target="../media/hdphoto2.wdp"/></Relationships>
</file>

<file path=ppt/slides/_rels/slide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0525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499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3">
            <a:extLst>
              <a:ext uri="{FF2B5EF4-FFF2-40B4-BE49-F238E27FC236}">
                <a16:creationId xmlns:a16="http://schemas.microsoft.com/office/drawing/2014/main" id="{94287954-32DD-47A9-A71D-2CB137713EDA}"/>
              </a:ext>
            </a:extLst>
          </p:cNvPr>
          <p:cNvGraphicFramePr>
            <a:graphicFrameLocks noGrp="1"/>
          </p:cNvGraphicFramePr>
          <p:nvPr>
            <p:extLst>
              <p:ext uri="{D42A27DB-BD31-4B8C-83A1-F6EECF244321}">
                <p14:modId xmlns:p14="http://schemas.microsoft.com/office/powerpoint/2010/main" val="4012419044"/>
              </p:ext>
            </p:extLst>
          </p:nvPr>
        </p:nvGraphicFramePr>
        <p:xfrm>
          <a:off x="1808570" y="1294787"/>
          <a:ext cx="8128002" cy="2595880"/>
        </p:xfrm>
        <a:graphic>
          <a:graphicData uri="http://schemas.openxmlformats.org/drawingml/2006/table">
            <a:tbl>
              <a:tblPr firstRow="1" bandRow="1">
                <a:tableStyleId>{C083E6E3-FA7D-4D7B-A595-EF9225AFEA82}</a:tableStyleId>
              </a:tblPr>
              <a:tblGrid>
                <a:gridCol w="1354667">
                  <a:extLst>
                    <a:ext uri="{9D8B030D-6E8A-4147-A177-3AD203B41FA5}">
                      <a16:colId xmlns:a16="http://schemas.microsoft.com/office/drawing/2014/main" val="1533408260"/>
                    </a:ext>
                  </a:extLst>
                </a:gridCol>
                <a:gridCol w="1354667">
                  <a:extLst>
                    <a:ext uri="{9D8B030D-6E8A-4147-A177-3AD203B41FA5}">
                      <a16:colId xmlns:a16="http://schemas.microsoft.com/office/drawing/2014/main" val="3360470514"/>
                    </a:ext>
                  </a:extLst>
                </a:gridCol>
                <a:gridCol w="1354667">
                  <a:extLst>
                    <a:ext uri="{9D8B030D-6E8A-4147-A177-3AD203B41FA5}">
                      <a16:colId xmlns:a16="http://schemas.microsoft.com/office/drawing/2014/main" val="2559454266"/>
                    </a:ext>
                  </a:extLst>
                </a:gridCol>
                <a:gridCol w="1354667">
                  <a:extLst>
                    <a:ext uri="{9D8B030D-6E8A-4147-A177-3AD203B41FA5}">
                      <a16:colId xmlns:a16="http://schemas.microsoft.com/office/drawing/2014/main" val="131522167"/>
                    </a:ext>
                  </a:extLst>
                </a:gridCol>
                <a:gridCol w="1354667">
                  <a:extLst>
                    <a:ext uri="{9D8B030D-6E8A-4147-A177-3AD203B41FA5}">
                      <a16:colId xmlns:a16="http://schemas.microsoft.com/office/drawing/2014/main" val="2515839643"/>
                    </a:ext>
                  </a:extLst>
                </a:gridCol>
                <a:gridCol w="1354667">
                  <a:extLst>
                    <a:ext uri="{9D8B030D-6E8A-4147-A177-3AD203B41FA5}">
                      <a16:colId xmlns:a16="http://schemas.microsoft.com/office/drawing/2014/main" val="787910783"/>
                    </a:ext>
                  </a:extLst>
                </a:gridCol>
              </a:tblGrid>
              <a:tr h="370840">
                <a:tc>
                  <a:txBody>
                    <a:bodyPr/>
                    <a:lstStyle/>
                    <a:p>
                      <a:pPr algn="ctr"/>
                      <a:r>
                        <a:rPr lang="zh-CN" altLang="en-US" dirty="0"/>
                        <a:t>学号</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t>姓名</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C</a:t>
                      </a:r>
                      <a:r>
                        <a:rPr lang="zh-CN" altLang="en-US" dirty="0"/>
                        <a:t>程序设计</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t>高等数学</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t>英语</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t>总成绩</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4390165"/>
                  </a:ext>
                </a:extLst>
              </a:tr>
              <a:tr h="370840">
                <a:tc>
                  <a:txBody>
                    <a:bodyPr/>
                    <a:lstStyle/>
                    <a:p>
                      <a:pPr algn="ctr"/>
                      <a:r>
                        <a:rPr lang="en-US" altLang="zh-CN" dirty="0"/>
                        <a:t>B10199003</a:t>
                      </a:r>
                      <a:endParaRPr lang="zh-CN" altLang="en-US"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dirty="0"/>
                        <a:t>周高品</a:t>
                      </a:r>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dirty="0"/>
                        <a:t>85</a:t>
                      </a:r>
                      <a:endParaRPr lang="zh-CN" altLang="en-US"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dirty="0"/>
                        <a:t>91</a:t>
                      </a:r>
                      <a:endParaRPr lang="zh-CN" altLang="en-US"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dirty="0"/>
                        <a:t>67</a:t>
                      </a:r>
                      <a:endParaRPr lang="zh-CN" altLang="en-US"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dirty="0"/>
                        <a:t>243</a:t>
                      </a:r>
                      <a:endParaRPr lang="zh-CN" alt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1857170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B10199004</a:t>
                      </a:r>
                      <a:endParaRPr lang="zh-CN" altLang="en-US" dirty="0"/>
                    </a:p>
                  </a:txBody>
                  <a:tcPr anchor="ctr"/>
                </a:tc>
                <a:tc>
                  <a:txBody>
                    <a:bodyPr/>
                    <a:lstStyle/>
                    <a:p>
                      <a:pPr algn="ctr"/>
                      <a:r>
                        <a:rPr lang="zh-CN" altLang="en-US" dirty="0"/>
                        <a:t>郑丽娜</a:t>
                      </a:r>
                    </a:p>
                  </a:txBody>
                  <a:tcPr anchor="ctr"/>
                </a:tc>
                <a:tc>
                  <a:txBody>
                    <a:bodyPr/>
                    <a:lstStyle/>
                    <a:p>
                      <a:pPr algn="ctr"/>
                      <a:r>
                        <a:rPr lang="en-US" altLang="zh-CN" dirty="0"/>
                        <a:t>76</a:t>
                      </a:r>
                      <a:endParaRPr lang="zh-CN" altLang="en-US" dirty="0"/>
                    </a:p>
                  </a:txBody>
                  <a:tcPr anchor="ctr"/>
                </a:tc>
                <a:tc>
                  <a:txBody>
                    <a:bodyPr/>
                    <a:lstStyle/>
                    <a:p>
                      <a:pPr algn="ctr"/>
                      <a:r>
                        <a:rPr lang="en-US" altLang="zh-CN" dirty="0"/>
                        <a:t>82</a:t>
                      </a:r>
                      <a:endParaRPr lang="zh-CN" altLang="en-US" dirty="0"/>
                    </a:p>
                  </a:txBody>
                  <a:tcPr anchor="ctr"/>
                </a:tc>
                <a:tc>
                  <a:txBody>
                    <a:bodyPr/>
                    <a:lstStyle/>
                    <a:p>
                      <a:pPr algn="ctr"/>
                      <a:r>
                        <a:rPr lang="en-US" altLang="zh-CN" dirty="0"/>
                        <a:t>64</a:t>
                      </a:r>
                      <a:endParaRPr lang="zh-CN" altLang="en-US" dirty="0"/>
                    </a:p>
                  </a:txBody>
                  <a:tcPr anchor="ctr"/>
                </a:tc>
                <a:tc>
                  <a:txBody>
                    <a:bodyPr/>
                    <a:lstStyle/>
                    <a:p>
                      <a:pPr algn="ctr"/>
                      <a:r>
                        <a:rPr lang="en-US" altLang="zh-CN" dirty="0"/>
                        <a:t>222</a:t>
                      </a:r>
                      <a:endParaRPr lang="zh-CN" altLang="en-US" dirty="0"/>
                    </a:p>
                  </a:txBody>
                  <a:tcPr anchor="ctr"/>
                </a:tc>
                <a:extLst>
                  <a:ext uri="{0D108BD9-81ED-4DB2-BD59-A6C34878D82A}">
                    <a16:rowId xmlns:a16="http://schemas.microsoft.com/office/drawing/2014/main" val="3967240338"/>
                  </a:ext>
                </a:extLst>
              </a:tr>
              <a:tr h="370840">
                <a:tc>
                  <a:txBody>
                    <a:bodyPr/>
                    <a:lstStyle/>
                    <a:p>
                      <a:pPr algn="ctr"/>
                      <a:r>
                        <a:rPr lang="en-US" altLang="zh-CN" dirty="0"/>
                        <a:t>B10199005</a:t>
                      </a:r>
                      <a:endParaRPr lang="zh-CN" altLang="en-US" dirty="0"/>
                    </a:p>
                  </a:txBody>
                  <a:tcPr anchor="ctr"/>
                </a:tc>
                <a:tc>
                  <a:txBody>
                    <a:bodyPr/>
                    <a:lstStyle/>
                    <a:p>
                      <a:pPr algn="ctr"/>
                      <a:r>
                        <a:rPr lang="zh-CN" altLang="en-US" dirty="0"/>
                        <a:t>林炜刚</a:t>
                      </a:r>
                    </a:p>
                  </a:txBody>
                  <a:tcPr anchor="ctr"/>
                </a:tc>
                <a:tc>
                  <a:txBody>
                    <a:bodyPr/>
                    <a:lstStyle/>
                    <a:p>
                      <a:pPr algn="ctr"/>
                      <a:r>
                        <a:rPr lang="en-US" altLang="zh-CN" dirty="0"/>
                        <a:t>58</a:t>
                      </a:r>
                      <a:endParaRPr lang="zh-CN" altLang="en-US" dirty="0"/>
                    </a:p>
                  </a:txBody>
                  <a:tcPr anchor="ctr"/>
                </a:tc>
                <a:tc>
                  <a:txBody>
                    <a:bodyPr/>
                    <a:lstStyle/>
                    <a:p>
                      <a:pPr algn="ctr"/>
                      <a:r>
                        <a:rPr lang="en-US" altLang="zh-CN" dirty="0"/>
                        <a:t>77</a:t>
                      </a:r>
                      <a:endParaRPr lang="zh-CN" altLang="en-US" dirty="0"/>
                    </a:p>
                  </a:txBody>
                  <a:tcPr anchor="ctr"/>
                </a:tc>
                <a:tc>
                  <a:txBody>
                    <a:bodyPr/>
                    <a:lstStyle/>
                    <a:p>
                      <a:pPr algn="ctr"/>
                      <a:r>
                        <a:rPr lang="en-US" altLang="zh-CN" dirty="0"/>
                        <a:t>69</a:t>
                      </a:r>
                      <a:endParaRPr lang="zh-CN" altLang="en-US" dirty="0"/>
                    </a:p>
                  </a:txBody>
                  <a:tcPr anchor="ctr"/>
                </a:tc>
                <a:tc>
                  <a:txBody>
                    <a:bodyPr/>
                    <a:lstStyle/>
                    <a:p>
                      <a:pPr algn="ctr"/>
                      <a:r>
                        <a:rPr lang="en-US" altLang="zh-CN" dirty="0"/>
                        <a:t>204</a:t>
                      </a:r>
                      <a:endParaRPr lang="zh-CN" altLang="en-US" dirty="0"/>
                    </a:p>
                  </a:txBody>
                  <a:tcPr anchor="ctr"/>
                </a:tc>
                <a:extLst>
                  <a:ext uri="{0D108BD9-81ED-4DB2-BD59-A6C34878D82A}">
                    <a16:rowId xmlns:a16="http://schemas.microsoft.com/office/drawing/2014/main" val="3960201785"/>
                  </a:ext>
                </a:extLst>
              </a:tr>
              <a:tr h="370840">
                <a:tc>
                  <a:txBody>
                    <a:bodyPr/>
                    <a:lstStyle/>
                    <a:p>
                      <a:pPr algn="ctr"/>
                      <a:r>
                        <a:rPr lang="en-US" altLang="zh-CN" dirty="0"/>
                        <a:t>B10199006</a:t>
                      </a:r>
                      <a:endParaRPr lang="zh-CN" altLang="en-US" dirty="0"/>
                    </a:p>
                  </a:txBody>
                  <a:tcPr anchor="ctr"/>
                </a:tc>
                <a:tc>
                  <a:txBody>
                    <a:bodyPr/>
                    <a:lstStyle/>
                    <a:p>
                      <a:pPr algn="ctr"/>
                      <a:r>
                        <a:rPr lang="zh-CN" altLang="en-US" dirty="0"/>
                        <a:t>史清龙</a:t>
                      </a:r>
                    </a:p>
                  </a:txBody>
                  <a:tcPr anchor="ctr"/>
                </a:tc>
                <a:tc>
                  <a:txBody>
                    <a:bodyPr/>
                    <a:lstStyle/>
                    <a:p>
                      <a:pPr algn="ctr"/>
                      <a:r>
                        <a:rPr lang="en-US" altLang="zh-CN" dirty="0"/>
                        <a:t>66</a:t>
                      </a:r>
                      <a:endParaRPr lang="zh-CN" altLang="en-US" dirty="0"/>
                    </a:p>
                  </a:txBody>
                  <a:tcPr anchor="ctr"/>
                </a:tc>
                <a:tc>
                  <a:txBody>
                    <a:bodyPr/>
                    <a:lstStyle/>
                    <a:p>
                      <a:pPr algn="ctr"/>
                      <a:r>
                        <a:rPr lang="en-US" altLang="zh-CN" dirty="0"/>
                        <a:t>87</a:t>
                      </a:r>
                      <a:endParaRPr lang="zh-CN" altLang="en-US" dirty="0"/>
                    </a:p>
                  </a:txBody>
                  <a:tcPr anchor="ctr"/>
                </a:tc>
                <a:tc>
                  <a:txBody>
                    <a:bodyPr/>
                    <a:lstStyle/>
                    <a:p>
                      <a:pPr algn="ctr"/>
                      <a:r>
                        <a:rPr lang="en-US" altLang="zh-CN" dirty="0"/>
                        <a:t>94</a:t>
                      </a:r>
                      <a:endParaRPr lang="zh-CN" altLang="en-US" dirty="0"/>
                    </a:p>
                  </a:txBody>
                  <a:tcPr anchor="ctr"/>
                </a:tc>
                <a:tc>
                  <a:txBody>
                    <a:bodyPr/>
                    <a:lstStyle/>
                    <a:p>
                      <a:pPr algn="ctr"/>
                      <a:r>
                        <a:rPr lang="en-US" altLang="zh-CN" dirty="0"/>
                        <a:t>247</a:t>
                      </a:r>
                      <a:endParaRPr lang="zh-CN" altLang="en-US" dirty="0"/>
                    </a:p>
                  </a:txBody>
                  <a:tcPr anchor="ctr"/>
                </a:tc>
                <a:extLst>
                  <a:ext uri="{0D108BD9-81ED-4DB2-BD59-A6C34878D82A}">
                    <a16:rowId xmlns:a16="http://schemas.microsoft.com/office/drawing/2014/main" val="2750457345"/>
                  </a:ext>
                </a:extLst>
              </a:tr>
              <a:tr h="370840">
                <a:tc>
                  <a:txBody>
                    <a:bodyPr/>
                    <a:lstStyle/>
                    <a:p>
                      <a:pPr algn="ctr"/>
                      <a:r>
                        <a:rPr lang="en-US" altLang="zh-CN" dirty="0"/>
                        <a:t>…</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a:t>
                      </a:r>
                      <a:endParaRPr lang="zh-CN" altLang="en-US" dirty="0"/>
                    </a:p>
                  </a:txBody>
                  <a:tcPr anchor="ctr"/>
                </a:tc>
                <a:extLst>
                  <a:ext uri="{0D108BD9-81ED-4DB2-BD59-A6C34878D82A}">
                    <a16:rowId xmlns:a16="http://schemas.microsoft.com/office/drawing/2014/main" val="1753044052"/>
                  </a:ext>
                </a:extLst>
              </a:tr>
              <a:tr h="370840">
                <a:tc>
                  <a:txBody>
                    <a:bodyPr/>
                    <a:lstStyle/>
                    <a:p>
                      <a:pPr algn="ctr"/>
                      <a:r>
                        <a:rPr lang="en-US" altLang="zh-CN" dirty="0"/>
                        <a:t>…</a:t>
                      </a:r>
                      <a:endParaRPr lang="zh-CN" altLang="en-US" dirty="0"/>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a:t>
                      </a:r>
                      <a:endParaRPr lang="zh-CN" altLang="en-US"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dirty="0"/>
                        <a:t>…</a:t>
                      </a:r>
                      <a:endParaRPr lang="zh-CN" altLang="en-US"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dirty="0"/>
                        <a:t>…</a:t>
                      </a:r>
                      <a:endParaRPr lang="zh-CN" altLang="en-US"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dirty="0"/>
                        <a:t>…</a:t>
                      </a:r>
                      <a:endParaRPr lang="zh-CN" altLang="en-US"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CN" dirty="0"/>
                        <a:t>…</a:t>
                      </a:r>
                      <a:endParaRPr lang="zh-CN" altLang="en-US"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7875003"/>
                  </a:ext>
                </a:extLst>
              </a:tr>
            </a:tbl>
          </a:graphicData>
        </a:graphic>
      </p:graphicFrame>
      <p:sp>
        <p:nvSpPr>
          <p:cNvPr id="4" name="文本框 3">
            <a:extLst>
              <a:ext uri="{FF2B5EF4-FFF2-40B4-BE49-F238E27FC236}">
                <a16:creationId xmlns:a16="http://schemas.microsoft.com/office/drawing/2014/main" id="{DF4191F3-0D5C-4FC0-BB24-94F6739CF891}"/>
              </a:ext>
            </a:extLst>
          </p:cNvPr>
          <p:cNvSpPr txBox="1"/>
          <p:nvPr/>
        </p:nvSpPr>
        <p:spPr>
          <a:xfrm>
            <a:off x="4635694" y="925455"/>
            <a:ext cx="2473754" cy="369332"/>
          </a:xfrm>
          <a:prstGeom prst="rect">
            <a:avLst/>
          </a:prstGeom>
          <a:noFill/>
        </p:spPr>
        <p:txBody>
          <a:bodyPr wrap="none" rtlCol="0">
            <a:spAutoFit/>
          </a:bodyPr>
          <a:lstStyle/>
          <a:p>
            <a:r>
              <a:rPr lang="zh-CN" altLang="en-US" dirty="0">
                <a:latin typeface="华文中宋" panose="02010600040101010101" pitchFamily="2" charset="-122"/>
                <a:ea typeface="华文中宋" panose="02010600040101010101" pitchFamily="2" charset="-122"/>
              </a:rPr>
              <a:t>表</a:t>
            </a:r>
            <a:r>
              <a:rPr lang="en-US" altLang="zh-CN" dirty="0">
                <a:latin typeface="华文中宋" panose="02010600040101010101" pitchFamily="2" charset="-122"/>
                <a:ea typeface="华文中宋" panose="02010600040101010101" pitchFamily="2" charset="-122"/>
              </a:rPr>
              <a:t>7-1 </a:t>
            </a:r>
            <a:r>
              <a:rPr lang="zh-CN" altLang="en-US" dirty="0">
                <a:latin typeface="华文中宋" panose="02010600040101010101" pitchFamily="2" charset="-122"/>
                <a:ea typeface="华文中宋" panose="02010600040101010101" pitchFamily="2" charset="-122"/>
              </a:rPr>
              <a:t>学生期末成绩表</a:t>
            </a:r>
          </a:p>
        </p:txBody>
      </p:sp>
      <p:grpSp>
        <p:nvGrpSpPr>
          <p:cNvPr id="9" name="组合 8">
            <a:extLst>
              <a:ext uri="{FF2B5EF4-FFF2-40B4-BE49-F238E27FC236}">
                <a16:creationId xmlns:a16="http://schemas.microsoft.com/office/drawing/2014/main" id="{02385174-780A-4939-BAD0-03E0E35E0528}"/>
              </a:ext>
            </a:extLst>
          </p:cNvPr>
          <p:cNvGrpSpPr/>
          <p:nvPr/>
        </p:nvGrpSpPr>
        <p:grpSpPr>
          <a:xfrm>
            <a:off x="2204525" y="4012094"/>
            <a:ext cx="7316987" cy="525401"/>
            <a:chOff x="753036" y="4694799"/>
            <a:chExt cx="6620090" cy="525401"/>
          </a:xfrm>
        </p:grpSpPr>
        <p:sp>
          <p:nvSpPr>
            <p:cNvPr id="7" name="Text Box 88">
              <a:extLst>
                <a:ext uri="{FF2B5EF4-FFF2-40B4-BE49-F238E27FC236}">
                  <a16:creationId xmlns:a16="http://schemas.microsoft.com/office/drawing/2014/main" id="{D3EAEB57-77D0-4B57-A94E-131E59738393}"/>
                </a:ext>
              </a:extLst>
            </p:cNvPr>
            <p:cNvSpPr txBox="1">
              <a:spLocks noChangeArrowheads="1"/>
            </p:cNvSpPr>
            <p:nvPr/>
          </p:nvSpPr>
          <p:spPr bwMode="auto">
            <a:xfrm>
              <a:off x="753036" y="4694799"/>
              <a:ext cx="662009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问题</a:t>
              </a:r>
              <a:r>
                <a:rPr kumimoji="1" lang="en-US" altLang="zh-CN" sz="2400" dirty="0">
                  <a:solidFill>
                    <a:srgbClr val="3333FF"/>
                  </a:solidFill>
                  <a:ea typeface="隶书" pitchFamily="49" charset="-122"/>
                </a:rPr>
                <a:t>:</a:t>
              </a:r>
              <a:r>
                <a:rPr kumimoji="1" lang="zh-CN" altLang="en-US" sz="2800" dirty="0">
                  <a:solidFill>
                    <a:srgbClr val="3333FF"/>
                  </a:solidFill>
                  <a:ea typeface="隶书" pitchFamily="49" charset="-122"/>
                </a:rPr>
                <a:t>如何对学生的某个成绩进行排序呢？</a:t>
              </a:r>
              <a:endParaRPr kumimoji="1" lang="en-US" altLang="zh-CN" sz="2400" dirty="0">
                <a:solidFill>
                  <a:srgbClr val="3333FF"/>
                </a:solidFill>
                <a:ea typeface="隶书" pitchFamily="49" charset="-122"/>
              </a:endParaRPr>
            </a:p>
          </p:txBody>
        </p:sp>
        <p:pic>
          <p:nvPicPr>
            <p:cNvPr id="5" name="图片 4">
              <a:extLst>
                <a:ext uri="{FF2B5EF4-FFF2-40B4-BE49-F238E27FC236}">
                  <a16:creationId xmlns:a16="http://schemas.microsoft.com/office/drawing/2014/main" id="{A2917964-C005-4AF6-A107-65D1E3039D8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89420" y="4733248"/>
              <a:ext cx="450993" cy="471124"/>
            </a:xfrm>
            <a:prstGeom prst="rect">
              <a:avLst/>
            </a:prstGeom>
          </p:spPr>
        </p:pic>
      </p:grpSp>
      <p:sp>
        <p:nvSpPr>
          <p:cNvPr id="2" name="灯片编号占位符 1">
            <a:extLst>
              <a:ext uri="{FF2B5EF4-FFF2-40B4-BE49-F238E27FC236}">
                <a16:creationId xmlns:a16="http://schemas.microsoft.com/office/drawing/2014/main" id="{BCC730DF-74A3-4298-9B0A-6938C20D6700}"/>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318460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8">
            <a:extLst>
              <a:ext uri="{FF2B5EF4-FFF2-40B4-BE49-F238E27FC236}">
                <a16:creationId xmlns:a16="http://schemas.microsoft.com/office/drawing/2014/main" id="{4431586A-6FC7-4B03-97D6-C5E5E51B860A}"/>
              </a:ext>
            </a:extLst>
          </p:cNvPr>
          <p:cNvSpPr txBox="1">
            <a:spLocks noChangeArrowheads="1"/>
          </p:cNvSpPr>
          <p:nvPr/>
        </p:nvSpPr>
        <p:spPr bwMode="auto">
          <a:xfrm>
            <a:off x="33104" y="616556"/>
            <a:ext cx="1219200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方案一</a:t>
            </a:r>
            <a:r>
              <a:rPr kumimoji="1" lang="en-US" altLang="zh-CN" sz="2400" dirty="0">
                <a:solidFill>
                  <a:srgbClr val="3333FF"/>
                </a:solidFill>
                <a:ea typeface="隶书" pitchFamily="49" charset="-122"/>
              </a:rPr>
              <a:t>:</a:t>
            </a:r>
            <a:r>
              <a:rPr kumimoji="1" lang="zh-CN" altLang="en-US" sz="2800" dirty="0">
                <a:solidFill>
                  <a:srgbClr val="3333FF"/>
                </a:solidFill>
                <a:ea typeface="隶书" pitchFamily="49" charset="-122"/>
              </a:rPr>
              <a:t>将每一列数据作为一个整体存储到数组中。</a:t>
            </a:r>
            <a:r>
              <a:rPr kumimoji="1" lang="en-US" altLang="zh-CN" sz="2800" dirty="0">
                <a:solidFill>
                  <a:srgbClr val="3333FF"/>
                </a:solidFill>
                <a:ea typeface="隶书" pitchFamily="49" charset="-122"/>
              </a:rPr>
              <a:t> </a:t>
            </a:r>
            <a:endParaRPr kumimoji="1" lang="en-US" altLang="zh-CN" sz="2400" dirty="0">
              <a:solidFill>
                <a:srgbClr val="3333FF"/>
              </a:solidFill>
              <a:ea typeface="隶书" pitchFamily="49" charset="-122"/>
            </a:endParaRPr>
          </a:p>
        </p:txBody>
      </p:sp>
      <p:pic>
        <p:nvPicPr>
          <p:cNvPr id="6" name="图片 5">
            <a:extLst>
              <a:ext uri="{FF2B5EF4-FFF2-40B4-BE49-F238E27FC236}">
                <a16:creationId xmlns:a16="http://schemas.microsoft.com/office/drawing/2014/main" id="{2F079BBD-4E69-4473-AB22-A921AFCD4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4" y="596334"/>
            <a:ext cx="554570" cy="519715"/>
          </a:xfrm>
          <a:prstGeom prst="rect">
            <a:avLst/>
          </a:prstGeom>
        </p:spPr>
      </p:pic>
      <p:sp>
        <p:nvSpPr>
          <p:cNvPr id="7" name="Text Box 88">
            <a:extLst>
              <a:ext uri="{FF2B5EF4-FFF2-40B4-BE49-F238E27FC236}">
                <a16:creationId xmlns:a16="http://schemas.microsoft.com/office/drawing/2014/main" id="{976ECFB8-C10C-47C3-B5B1-9F7328E42016}"/>
              </a:ext>
            </a:extLst>
          </p:cNvPr>
          <p:cNvSpPr txBox="1">
            <a:spLocks noChangeArrowheads="1"/>
          </p:cNvSpPr>
          <p:nvPr/>
        </p:nvSpPr>
        <p:spPr bwMode="auto">
          <a:xfrm>
            <a:off x="33104" y="1050004"/>
            <a:ext cx="1219200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ea typeface="隶书" pitchFamily="49" charset="-122"/>
              </a:rPr>
              <a:t>每名学生有</a:t>
            </a:r>
            <a:r>
              <a:rPr kumimoji="1" lang="en-US" altLang="zh-CN" sz="3200" dirty="0">
                <a:ea typeface="隶书" pitchFamily="49" charset="-122"/>
              </a:rPr>
              <a:t>6</a:t>
            </a:r>
            <a:r>
              <a:rPr kumimoji="1" lang="zh-CN" altLang="en-US" sz="3200" dirty="0">
                <a:ea typeface="隶书" pitchFamily="49" charset="-122"/>
              </a:rPr>
              <a:t>项数据：</a:t>
            </a:r>
          </a:p>
        </p:txBody>
      </p:sp>
      <p:sp>
        <p:nvSpPr>
          <p:cNvPr id="8" name="Rectangle 2">
            <a:extLst>
              <a:ext uri="{FF2B5EF4-FFF2-40B4-BE49-F238E27FC236}">
                <a16:creationId xmlns:a16="http://schemas.microsoft.com/office/drawing/2014/main" id="{CA0E0EED-2B40-4A9F-9BBE-E87E0B1671B5}"/>
              </a:ext>
            </a:extLst>
          </p:cNvPr>
          <p:cNvSpPr txBox="1">
            <a:spLocks noChangeArrowheads="1"/>
          </p:cNvSpPr>
          <p:nvPr/>
        </p:nvSpPr>
        <p:spPr>
          <a:xfrm>
            <a:off x="2200622" y="1636961"/>
            <a:ext cx="8093620" cy="181588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no</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学号</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姓名</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score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三门课成绩</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total;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总成绩</a:t>
            </a:r>
            <a:endParaRPr lang="zh-CN" altLang="en-US" b="1" dirty="0">
              <a:solidFill>
                <a:srgbClr val="00B050"/>
              </a:solidFill>
              <a:latin typeface="Consolas" panose="020B0609020204030204" pitchFamily="49" charset="0"/>
              <a:cs typeface="Times New Roman" panose="02020603050405020304" pitchFamily="18" charset="0"/>
            </a:endParaRPr>
          </a:p>
        </p:txBody>
      </p:sp>
      <p:sp>
        <p:nvSpPr>
          <p:cNvPr id="9" name="Text Box 88">
            <a:extLst>
              <a:ext uri="{FF2B5EF4-FFF2-40B4-BE49-F238E27FC236}">
                <a16:creationId xmlns:a16="http://schemas.microsoft.com/office/drawing/2014/main" id="{CE9A2650-0E3F-43E3-8E7F-CC2C5015A25A}"/>
              </a:ext>
            </a:extLst>
          </p:cNvPr>
          <p:cNvSpPr txBox="1">
            <a:spLocks noChangeArrowheads="1"/>
          </p:cNvSpPr>
          <p:nvPr/>
        </p:nvSpPr>
        <p:spPr bwMode="auto">
          <a:xfrm>
            <a:off x="0" y="3429000"/>
            <a:ext cx="1219200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ea typeface="隶书" pitchFamily="49" charset="-122"/>
              </a:rPr>
              <a:t>假若有</a:t>
            </a:r>
            <a:r>
              <a:rPr kumimoji="1" lang="en-US" altLang="zh-CN" sz="3200" dirty="0">
                <a:ea typeface="隶书" pitchFamily="49" charset="-122"/>
              </a:rPr>
              <a:t>30</a:t>
            </a:r>
            <a:r>
              <a:rPr kumimoji="1" lang="zh-CN" altLang="en-US" sz="3200" dirty="0">
                <a:ea typeface="隶书" pitchFamily="49" charset="-122"/>
              </a:rPr>
              <a:t>名学生：</a:t>
            </a:r>
          </a:p>
        </p:txBody>
      </p:sp>
      <p:sp>
        <p:nvSpPr>
          <p:cNvPr id="10" name="Rectangle 2">
            <a:extLst>
              <a:ext uri="{FF2B5EF4-FFF2-40B4-BE49-F238E27FC236}">
                <a16:creationId xmlns:a16="http://schemas.microsoft.com/office/drawing/2014/main" id="{1E147F85-C24F-477A-9C44-94700150A80A}"/>
              </a:ext>
            </a:extLst>
          </p:cNvPr>
          <p:cNvSpPr txBox="1">
            <a:spLocks noChangeArrowheads="1"/>
          </p:cNvSpPr>
          <p:nvPr/>
        </p:nvSpPr>
        <p:spPr>
          <a:xfrm>
            <a:off x="2167518" y="4015957"/>
            <a:ext cx="8126724" cy="181588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no</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//30</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名学生学号</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//30</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名学生姓名</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score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//30</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名学生三门课成绩</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total</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//30</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名学生总成绩</a:t>
            </a:r>
            <a:endParaRPr lang="zh-CN" altLang="en-US" b="1" dirty="0">
              <a:solidFill>
                <a:srgbClr val="00B050"/>
              </a:solidFill>
              <a:latin typeface="Consolas" panose="020B0609020204030204" pitchFamily="49"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8666E6C9-700C-45E8-B766-77E3925983A2}"/>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216586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anim calcmode="lin" valueType="num">
                                      <p:cBhvr>
                                        <p:cTn id="19" dur="1000" fill="hold"/>
                                        <p:tgtEl>
                                          <p:spTgt spid="9"/>
                                        </p:tgtEl>
                                        <p:attrNameLst>
                                          <p:attrName>ppt_x</p:attrName>
                                        </p:attrNameLst>
                                      </p:cBhvr>
                                      <p:tavLst>
                                        <p:tav tm="0">
                                          <p:val>
                                            <p:strVal val="#ppt_x"/>
                                          </p:val>
                                        </p:tav>
                                        <p:tav tm="100000">
                                          <p:val>
                                            <p:strVal val="#ppt_x"/>
                                          </p:val>
                                        </p:tav>
                                      </p:tavLst>
                                    </p:anim>
                                    <p:anim calcmode="lin" valueType="num">
                                      <p:cBhvr>
                                        <p:cTn id="20" dur="1000" fill="hold"/>
                                        <p:tgtEl>
                                          <p:spTgt spid="9"/>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8">
            <a:extLst>
              <a:ext uri="{FF2B5EF4-FFF2-40B4-BE49-F238E27FC236}">
                <a16:creationId xmlns:a16="http://schemas.microsoft.com/office/drawing/2014/main" id="{E824F854-D01E-4A8B-B0E1-91818C278303}"/>
              </a:ext>
            </a:extLst>
          </p:cNvPr>
          <p:cNvSpPr txBox="1">
            <a:spLocks noChangeArrowheads="1"/>
          </p:cNvSpPr>
          <p:nvPr/>
        </p:nvSpPr>
        <p:spPr bwMode="auto">
          <a:xfrm>
            <a:off x="33104" y="616556"/>
            <a:ext cx="1219200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方案二</a:t>
            </a:r>
            <a:r>
              <a:rPr kumimoji="1" lang="en-US" altLang="zh-CN" sz="2400" dirty="0">
                <a:solidFill>
                  <a:srgbClr val="3333FF"/>
                </a:solidFill>
                <a:ea typeface="隶书" pitchFamily="49" charset="-122"/>
              </a:rPr>
              <a:t>:</a:t>
            </a:r>
            <a:r>
              <a:rPr kumimoji="1" lang="zh-CN" altLang="en-US" sz="2400" dirty="0">
                <a:solidFill>
                  <a:srgbClr val="3333FF"/>
                </a:solidFill>
                <a:ea typeface="隶书" pitchFamily="49" charset="-122"/>
              </a:rPr>
              <a:t>将每一行数据作为一个整体存储到</a:t>
            </a:r>
            <a:r>
              <a:rPr kumimoji="1" lang="en-US" altLang="zh-CN" sz="2400" dirty="0">
                <a:solidFill>
                  <a:srgbClr val="3333FF"/>
                </a:solidFill>
                <a:latin typeface="等线" panose="02010600030101010101" pitchFamily="2" charset="-122"/>
                <a:ea typeface="等线" panose="02010600030101010101" pitchFamily="2" charset="-122"/>
              </a:rPr>
              <a:t>···</a:t>
            </a:r>
            <a:r>
              <a:rPr kumimoji="1" lang="en-US" altLang="zh-CN" sz="2400" dirty="0">
                <a:solidFill>
                  <a:srgbClr val="3333FF"/>
                </a:solidFill>
                <a:ea typeface="隶书" pitchFamily="49" charset="-122"/>
              </a:rPr>
              <a:t>? </a:t>
            </a:r>
          </a:p>
        </p:txBody>
      </p:sp>
      <p:pic>
        <p:nvPicPr>
          <p:cNvPr id="4" name="图片 3">
            <a:extLst>
              <a:ext uri="{FF2B5EF4-FFF2-40B4-BE49-F238E27FC236}">
                <a16:creationId xmlns:a16="http://schemas.microsoft.com/office/drawing/2014/main" id="{FE557517-7BC4-4417-851D-403E4CABB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4" y="596334"/>
            <a:ext cx="554570" cy="519715"/>
          </a:xfrm>
          <a:prstGeom prst="rect">
            <a:avLst/>
          </a:prstGeom>
        </p:spPr>
      </p:pic>
      <p:sp>
        <p:nvSpPr>
          <p:cNvPr id="5" name="Text Box 88">
            <a:extLst>
              <a:ext uri="{FF2B5EF4-FFF2-40B4-BE49-F238E27FC236}">
                <a16:creationId xmlns:a16="http://schemas.microsoft.com/office/drawing/2014/main" id="{430A273B-8EA3-4A12-B776-042F6809AA41}"/>
              </a:ext>
            </a:extLst>
          </p:cNvPr>
          <p:cNvSpPr txBox="1">
            <a:spLocks noChangeArrowheads="1"/>
          </p:cNvSpPr>
          <p:nvPr/>
        </p:nvSpPr>
        <p:spPr bwMode="auto">
          <a:xfrm>
            <a:off x="129748" y="1162179"/>
            <a:ext cx="11998712" cy="1833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spcAft>
                <a:spcPts val="600"/>
              </a:spcAft>
            </a:pPr>
            <a:r>
              <a:rPr kumimoji="1" lang="zh-CN" altLang="en-US" sz="2800" dirty="0">
                <a:solidFill>
                  <a:srgbClr val="FF3300"/>
                </a:solidFill>
                <a:ea typeface="隶书" pitchFamily="49" charset="-122"/>
              </a:rPr>
              <a:t>思考</a:t>
            </a:r>
            <a:r>
              <a:rPr kumimoji="1" lang="en-US" altLang="zh-CN" sz="2800" dirty="0">
                <a:solidFill>
                  <a:srgbClr val="3333FF"/>
                </a:solidFill>
                <a:ea typeface="隶书" pitchFamily="49" charset="-122"/>
              </a:rPr>
              <a:t>:</a:t>
            </a:r>
            <a:r>
              <a:rPr kumimoji="1" lang="en-US" altLang="zh-CN" sz="2400" dirty="0">
                <a:solidFill>
                  <a:srgbClr val="3333FF"/>
                </a:solidFill>
                <a:ea typeface="隶书" pitchFamily="49" charset="-122"/>
              </a:rPr>
              <a:t> </a:t>
            </a:r>
            <a:r>
              <a:rPr lang="zh-CN" altLang="en-US" sz="2400" b="1" dirty="0">
                <a:latin typeface="隶书" pitchFamily="49" charset="-122"/>
                <a:ea typeface="+mn-ea"/>
              </a:rPr>
              <a:t>对表</a:t>
            </a:r>
            <a:r>
              <a:rPr lang="en-US" altLang="zh-CN" sz="2400" b="1" dirty="0">
                <a:latin typeface="隶书" pitchFamily="49" charset="-122"/>
                <a:ea typeface="+mn-ea"/>
              </a:rPr>
              <a:t>7-1</a:t>
            </a:r>
            <a:r>
              <a:rPr lang="zh-CN" altLang="en-US" sz="2400" b="1" dirty="0">
                <a:latin typeface="隶书" pitchFamily="49" charset="-122"/>
                <a:ea typeface="+mn-ea"/>
              </a:rPr>
              <a:t>中的每一行数据，能不能将其包含的多列具有不同数据类型的数据组合在一起作为一个整体进行存储？从而可以实现：</a:t>
            </a:r>
            <a:endParaRPr lang="en-US" altLang="zh-CN" sz="2400" b="1" dirty="0">
              <a:latin typeface="隶书" pitchFamily="49" charset="-122"/>
              <a:ea typeface="+mn-ea"/>
            </a:endParaRPr>
          </a:p>
          <a:p>
            <a:pPr marL="720000" indent="-457200">
              <a:buFont typeface="+mj-ea"/>
              <a:buAutoNum type="circleNumDbPlain"/>
            </a:pPr>
            <a:r>
              <a:rPr kumimoji="1" lang="zh-CN" altLang="en-US" sz="2800" dirty="0">
                <a:ea typeface="隶书" pitchFamily="49" charset="-122"/>
              </a:rPr>
              <a:t>将一个学生的所有信息存放到一个变量中。</a:t>
            </a:r>
            <a:endParaRPr kumimoji="1" lang="en-US" altLang="zh-CN" sz="2800" dirty="0">
              <a:ea typeface="隶书" pitchFamily="49" charset="-122"/>
            </a:endParaRPr>
          </a:p>
          <a:p>
            <a:pPr marL="720000" indent="-457200">
              <a:buFont typeface="+mj-ea"/>
              <a:buAutoNum type="circleNumDbPlain"/>
            </a:pPr>
            <a:r>
              <a:rPr kumimoji="1" lang="zh-CN" altLang="en-US" sz="2800" dirty="0">
                <a:ea typeface="隶书" pitchFamily="49" charset="-122"/>
              </a:rPr>
              <a:t>将一个班上所有学生的信息存放到一个数组中。</a:t>
            </a:r>
          </a:p>
        </p:txBody>
      </p:sp>
      <p:sp>
        <p:nvSpPr>
          <p:cNvPr id="6" name="文本框 5">
            <a:extLst>
              <a:ext uri="{FF2B5EF4-FFF2-40B4-BE49-F238E27FC236}">
                <a16:creationId xmlns:a16="http://schemas.microsoft.com/office/drawing/2014/main" id="{12E31DDF-80A0-4436-A6BF-B65A6FDFE713}"/>
              </a:ext>
            </a:extLst>
          </p:cNvPr>
          <p:cNvSpPr txBox="1"/>
          <p:nvPr/>
        </p:nvSpPr>
        <p:spPr>
          <a:xfrm>
            <a:off x="1" y="3280046"/>
            <a:ext cx="12192000" cy="1400383"/>
          </a:xfrm>
          <a:prstGeom prst="rect">
            <a:avLst/>
          </a:prstGeom>
          <a:noFill/>
        </p:spPr>
        <p:txBody>
          <a:bodyPr wrap="square" rtlCol="0">
            <a:spAutoFit/>
          </a:bodyPr>
          <a:lstStyle/>
          <a:p>
            <a:pPr>
              <a:spcAft>
                <a:spcPts val="600"/>
              </a:spcAft>
            </a:pPr>
            <a:r>
              <a:rPr lang="en-US" altLang="zh-CN" sz="2400" b="1" dirty="0">
                <a:latin typeface="隶书" pitchFamily="49" charset="-122"/>
              </a:rPr>
              <a:t>C</a:t>
            </a:r>
            <a:r>
              <a:rPr lang="zh-CN" altLang="en-US" sz="2400" b="1" dirty="0">
                <a:latin typeface="隶书" pitchFamily="49" charset="-122"/>
              </a:rPr>
              <a:t>语言提供了</a:t>
            </a:r>
            <a:r>
              <a:rPr lang="zh-CN" altLang="en-US" sz="2400" b="1" dirty="0">
                <a:solidFill>
                  <a:srgbClr val="00B0F0"/>
                </a:solidFill>
                <a:latin typeface="隶书" pitchFamily="49" charset="-122"/>
              </a:rPr>
              <a:t>用户自定义数据类型</a:t>
            </a:r>
            <a:r>
              <a:rPr lang="en-US" altLang="zh-CN" sz="2400" b="1" dirty="0">
                <a:latin typeface="隶书" pitchFamily="49" charset="-122"/>
              </a:rPr>
              <a:t>━</a:t>
            </a:r>
            <a:r>
              <a:rPr lang="zh-CN" altLang="en-US" sz="2400" b="1" dirty="0">
                <a:solidFill>
                  <a:srgbClr val="C00000"/>
                </a:solidFill>
                <a:latin typeface="隶书" pitchFamily="49" charset="-122"/>
              </a:rPr>
              <a:t>结构体</a:t>
            </a:r>
            <a:r>
              <a:rPr lang="zh-CN" altLang="en-US" sz="2400" b="1" dirty="0">
                <a:latin typeface="隶书" pitchFamily="49" charset="-122"/>
              </a:rPr>
              <a:t>：</a:t>
            </a:r>
            <a:endParaRPr lang="en-US" altLang="zh-CN" sz="2400" b="1" dirty="0">
              <a:latin typeface="隶书" pitchFamily="49" charset="-122"/>
            </a:endParaRPr>
          </a:p>
          <a:p>
            <a:r>
              <a:rPr kumimoji="1" lang="zh-CN" altLang="en-US" sz="2800" dirty="0">
                <a:latin typeface="Arial" charset="0"/>
                <a:ea typeface="隶书" pitchFamily="49" charset="-122"/>
              </a:rPr>
              <a:t>     用户根据实际问题需要可以将不同类型的数据自由组合在一起</a:t>
            </a:r>
            <a:r>
              <a:rPr kumimoji="1" lang="zh-CN" altLang="en-US" sz="2800" dirty="0">
                <a:solidFill>
                  <a:srgbClr val="00B0F0"/>
                </a:solidFill>
                <a:latin typeface="Arial" charset="0"/>
                <a:ea typeface="隶书" pitchFamily="49" charset="-122"/>
              </a:rPr>
              <a:t>构造一种新的数据类型</a:t>
            </a:r>
            <a:r>
              <a:rPr kumimoji="1" lang="zh-CN" altLang="en-US" sz="2800" dirty="0">
                <a:latin typeface="Arial" charset="0"/>
                <a:ea typeface="隶书" pitchFamily="49" charset="-122"/>
              </a:rPr>
              <a:t>。</a:t>
            </a:r>
          </a:p>
        </p:txBody>
      </p:sp>
      <p:sp>
        <p:nvSpPr>
          <p:cNvPr id="2" name="灯片编号占位符 1">
            <a:extLst>
              <a:ext uri="{FF2B5EF4-FFF2-40B4-BE49-F238E27FC236}">
                <a16:creationId xmlns:a16="http://schemas.microsoft.com/office/drawing/2014/main" id="{F48DD762-1F6A-4F97-BA00-3AE78BFF9A0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857333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166FAEE-1386-4501-9F53-01FD31B79A8D}"/>
              </a:ext>
            </a:extLst>
          </p:cNvPr>
          <p:cNvSpPr txBox="1"/>
          <p:nvPr/>
        </p:nvSpPr>
        <p:spPr>
          <a:xfrm>
            <a:off x="203083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结构体定义</a:t>
            </a:r>
            <a:endParaRPr lang="zh-CN" altLang="en-US" sz="3200" b="1" dirty="0">
              <a:solidFill>
                <a:srgbClr val="200AC4"/>
              </a:solidFill>
              <a:ea typeface="隶书" pitchFamily="49" charset="-122"/>
            </a:endParaRPr>
          </a:p>
        </p:txBody>
      </p:sp>
      <p:sp>
        <p:nvSpPr>
          <p:cNvPr id="4" name="Text Box 88">
            <a:extLst>
              <a:ext uri="{FF2B5EF4-FFF2-40B4-BE49-F238E27FC236}">
                <a16:creationId xmlns:a16="http://schemas.microsoft.com/office/drawing/2014/main" id="{D3A45CA9-0486-44D7-B82D-5E76FF5C0B60}"/>
              </a:ext>
            </a:extLst>
          </p:cNvPr>
          <p:cNvSpPr txBox="1">
            <a:spLocks noChangeArrowheads="1"/>
          </p:cNvSpPr>
          <p:nvPr/>
        </p:nvSpPr>
        <p:spPr bwMode="auto">
          <a:xfrm>
            <a:off x="0" y="545222"/>
            <a:ext cx="4576313"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dirty="0">
                <a:latin typeface="+mn-ea"/>
                <a:ea typeface="+mn-ea"/>
              </a:rPr>
              <a:t>结构体定义的一般形式为：</a:t>
            </a:r>
          </a:p>
        </p:txBody>
      </p:sp>
      <p:sp>
        <p:nvSpPr>
          <p:cNvPr id="5" name="Rectangle 2">
            <a:extLst>
              <a:ext uri="{FF2B5EF4-FFF2-40B4-BE49-F238E27FC236}">
                <a16:creationId xmlns:a16="http://schemas.microsoft.com/office/drawing/2014/main" id="{9565F8D8-9436-43BA-BEF1-C53E78934AA6}"/>
              </a:ext>
            </a:extLst>
          </p:cNvPr>
          <p:cNvSpPr txBox="1">
            <a:spLocks noChangeArrowheads="1"/>
          </p:cNvSpPr>
          <p:nvPr/>
        </p:nvSpPr>
        <p:spPr>
          <a:xfrm>
            <a:off x="100667" y="1137030"/>
            <a:ext cx="4475646"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struct</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结构体名</a:t>
            </a:r>
            <a:endParaRPr lang="en-US" altLang="zh-CN" b="1" dirty="0">
              <a:solidFill>
                <a:srgbClr val="0070C0"/>
              </a:solidFill>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类型名</a:t>
            </a:r>
            <a:r>
              <a:rPr lang="en-US" altLang="zh-CN" b="1" dirty="0">
                <a:latin typeface="华文隶书" panose="02010800040101010101" pitchFamily="2" charset="-122"/>
                <a:ea typeface="华文隶书" panose="02010800040101010101" pitchFamily="2" charset="-122"/>
              </a:rPr>
              <a:t>1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1</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2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2</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en-US" altLang="zh-CN" b="1" dirty="0">
                <a:latin typeface="华文隶书" panose="02010800040101010101" pitchFamily="2" charset="-122"/>
                <a:ea typeface="华文隶书" panose="02010800040101010101" pitchFamily="2" charset="-122"/>
              </a:rPr>
              <a:t>        </a:t>
            </a:r>
            <a:r>
              <a:rPr lang="en-US" altLang="zh-CN" b="1" dirty="0">
                <a:solidFill>
                  <a:srgbClr val="00B05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n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n</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zh-CN" altLang="en-US" b="1" dirty="0">
                <a:solidFill>
                  <a:srgbClr val="FF0000"/>
                </a:solidFill>
              </a:rPr>
              <a:t>；</a:t>
            </a:r>
          </a:p>
        </p:txBody>
      </p:sp>
      <p:grpSp>
        <p:nvGrpSpPr>
          <p:cNvPr id="8" name="组合 7">
            <a:extLst>
              <a:ext uri="{FF2B5EF4-FFF2-40B4-BE49-F238E27FC236}">
                <a16:creationId xmlns:a16="http://schemas.microsoft.com/office/drawing/2014/main" id="{DC787826-AB07-4681-A32A-BF34FDA44810}"/>
              </a:ext>
            </a:extLst>
          </p:cNvPr>
          <p:cNvGrpSpPr/>
          <p:nvPr/>
        </p:nvGrpSpPr>
        <p:grpSpPr>
          <a:xfrm>
            <a:off x="4916596" y="620990"/>
            <a:ext cx="7174737" cy="3624583"/>
            <a:chOff x="5017263" y="1018418"/>
            <a:chExt cx="7174737" cy="3624583"/>
          </a:xfrm>
        </p:grpSpPr>
        <p:sp>
          <p:nvSpPr>
            <p:cNvPr id="6" name="Text Box 88">
              <a:extLst>
                <a:ext uri="{FF2B5EF4-FFF2-40B4-BE49-F238E27FC236}">
                  <a16:creationId xmlns:a16="http://schemas.microsoft.com/office/drawing/2014/main" id="{2D8096ED-2C16-4A54-BAD7-ED991EFC4DC4}"/>
                </a:ext>
              </a:extLst>
            </p:cNvPr>
            <p:cNvSpPr txBox="1">
              <a:spLocks noChangeArrowheads="1"/>
            </p:cNvSpPr>
            <p:nvPr/>
          </p:nvSpPr>
          <p:spPr bwMode="auto">
            <a:xfrm>
              <a:off x="5017263" y="1018418"/>
              <a:ext cx="7174737"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ea typeface="隶书" pitchFamily="49" charset="-122"/>
                </a:rPr>
                <a:t>定义表</a:t>
              </a:r>
              <a:r>
                <a:rPr kumimoji="1" lang="en-US" altLang="zh-CN" sz="3200" dirty="0">
                  <a:ea typeface="隶书" pitchFamily="49" charset="-122"/>
                </a:rPr>
                <a:t>7-1</a:t>
              </a:r>
              <a:r>
                <a:rPr kumimoji="1" lang="zh-CN" altLang="en-US" sz="3200" dirty="0">
                  <a:ea typeface="隶书" pitchFamily="49" charset="-122"/>
                </a:rPr>
                <a:t>中关于学生信息的结构体：</a:t>
              </a:r>
            </a:p>
          </p:txBody>
        </p:sp>
        <p:sp>
          <p:nvSpPr>
            <p:cNvPr id="7" name="Rectangle 2">
              <a:extLst>
                <a:ext uri="{FF2B5EF4-FFF2-40B4-BE49-F238E27FC236}">
                  <a16:creationId xmlns:a16="http://schemas.microsoft.com/office/drawing/2014/main" id="{40A96FBF-F75F-4BC2-80E2-72C00EC7CDED}"/>
                </a:ext>
              </a:extLst>
            </p:cNvPr>
            <p:cNvSpPr txBox="1">
              <a:spLocks noChangeArrowheads="1"/>
            </p:cNvSpPr>
            <p:nvPr/>
          </p:nvSpPr>
          <p:spPr>
            <a:xfrm>
              <a:off x="5113090" y="1534458"/>
              <a:ext cx="6617153"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no</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学号</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姓名</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score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三门课成绩</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total;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总成绩</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endParaRPr lang="zh-CN" altLang="en-US" b="1" dirty="0">
                <a:solidFill>
                  <a:srgbClr val="FF0000"/>
                </a:solidFill>
                <a:latin typeface="Consolas" panose="020B0609020204030204" pitchFamily="49" charset="0"/>
                <a:cs typeface="Times New Roman" panose="02020603050405020304" pitchFamily="18" charset="0"/>
              </a:endParaRPr>
            </a:p>
          </p:txBody>
        </p:sp>
      </p:grpSp>
      <p:grpSp>
        <p:nvGrpSpPr>
          <p:cNvPr id="9" name="组合 8">
            <a:extLst>
              <a:ext uri="{FF2B5EF4-FFF2-40B4-BE49-F238E27FC236}">
                <a16:creationId xmlns:a16="http://schemas.microsoft.com/office/drawing/2014/main" id="{713D602D-5F86-4475-8D21-F97100794CCC}"/>
              </a:ext>
            </a:extLst>
          </p:cNvPr>
          <p:cNvGrpSpPr/>
          <p:nvPr/>
        </p:nvGrpSpPr>
        <p:grpSpPr>
          <a:xfrm>
            <a:off x="202742" y="4311980"/>
            <a:ext cx="11936850" cy="1633397"/>
            <a:chOff x="0" y="4812040"/>
            <a:chExt cx="12192001" cy="1633397"/>
          </a:xfrm>
        </p:grpSpPr>
        <p:sp>
          <p:nvSpPr>
            <p:cNvPr id="10" name="Text Box 88">
              <a:extLst>
                <a:ext uri="{FF2B5EF4-FFF2-40B4-BE49-F238E27FC236}">
                  <a16:creationId xmlns:a16="http://schemas.microsoft.com/office/drawing/2014/main" id="{D43FE69E-B405-441A-A9BC-E240E41ABF84}"/>
                </a:ext>
              </a:extLst>
            </p:cNvPr>
            <p:cNvSpPr txBox="1">
              <a:spLocks noChangeArrowheads="1"/>
            </p:cNvSpPr>
            <p:nvPr/>
          </p:nvSpPr>
          <p:spPr bwMode="auto">
            <a:xfrm>
              <a:off x="1" y="4812040"/>
              <a:ext cx="12192000" cy="1633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r>
                <a:rPr kumimoji="1" lang="en-US" altLang="zh-CN" sz="2400" dirty="0">
                  <a:solidFill>
                    <a:srgbClr val="3333FF"/>
                  </a:solidFill>
                  <a:ea typeface="隶书" pitchFamily="49" charset="-122"/>
                </a:rPr>
                <a:t>: </a:t>
              </a:r>
            </a:p>
            <a:p>
              <a:pPr indent="457200"/>
              <a:r>
                <a:rPr kumimoji="1" lang="zh-CN" altLang="en-US" sz="2400" dirty="0">
                  <a:solidFill>
                    <a:srgbClr val="3333FF"/>
                  </a:solidFill>
                  <a:latin typeface="等线" panose="02010600030101010101" pitchFamily="2" charset="-122"/>
                  <a:ea typeface="等线" panose="02010600030101010101" pitchFamily="2" charset="-122"/>
                </a:rPr>
                <a:t>① </a:t>
              </a:r>
              <a:r>
                <a:rPr kumimoji="1" lang="en-US" altLang="zh-CN" sz="2400" dirty="0">
                  <a:solidFill>
                    <a:srgbClr val="3333FF"/>
                  </a:solidFill>
                  <a:ea typeface="隶书" pitchFamily="49" charset="-122"/>
                </a:rPr>
                <a:t>struct </a:t>
              </a:r>
              <a:r>
                <a:rPr kumimoji="1" lang="en-US" altLang="zh-CN" sz="2400" dirty="0">
                  <a:solidFill>
                    <a:srgbClr val="0070C0"/>
                  </a:solidFill>
                  <a:ea typeface="隶书" pitchFamily="49" charset="-122"/>
                </a:rPr>
                <a:t>student</a:t>
              </a:r>
              <a:r>
                <a:rPr kumimoji="1" lang="zh-CN" altLang="en-US" sz="2400" dirty="0">
                  <a:solidFill>
                    <a:srgbClr val="3333FF"/>
                  </a:solidFill>
                  <a:ea typeface="隶书" pitchFamily="49" charset="-122"/>
                </a:rPr>
                <a:t>是新创建的数据类型，仅仅只是类型声明，不分配存储空间。</a:t>
              </a:r>
              <a:endParaRPr kumimoji="1" lang="en-US" altLang="zh-CN" sz="2400" dirty="0">
                <a:solidFill>
                  <a:srgbClr val="3333FF"/>
                </a:solidFill>
                <a:ea typeface="隶书" pitchFamily="49" charset="-122"/>
              </a:endParaRPr>
            </a:p>
            <a:p>
              <a:pPr indent="457200"/>
              <a:r>
                <a:rPr kumimoji="1" lang="zh-CN" altLang="zh-CN" sz="2400" dirty="0">
                  <a:solidFill>
                    <a:srgbClr val="3333FF"/>
                  </a:solidFill>
                  <a:latin typeface="等线" panose="02010600030101010101" pitchFamily="2" charset="-122"/>
                  <a:ea typeface="隶书" pitchFamily="49" charset="-122"/>
                </a:rPr>
                <a:t>②</a:t>
              </a:r>
              <a:r>
                <a:rPr kumimoji="1" lang="en-US" altLang="zh-CN" sz="2400" dirty="0">
                  <a:solidFill>
                    <a:srgbClr val="3333FF"/>
                  </a:solidFill>
                  <a:latin typeface="等线" panose="02010600030101010101" pitchFamily="2" charset="-122"/>
                  <a:ea typeface="隶书" pitchFamily="49" charset="-122"/>
                </a:rPr>
                <a:t> </a:t>
              </a:r>
              <a:r>
                <a:rPr kumimoji="1" lang="zh-CN" altLang="en-US" sz="2400" dirty="0">
                  <a:solidFill>
                    <a:srgbClr val="3333FF"/>
                  </a:solidFill>
                  <a:latin typeface="等线" panose="02010600030101010101" pitchFamily="2" charset="-122"/>
                  <a:ea typeface="隶书" pitchFamily="49" charset="-122"/>
                </a:rPr>
                <a:t>类型的完整名称为</a:t>
              </a:r>
              <a:r>
                <a:rPr kumimoji="1" lang="en-US" altLang="zh-CN" sz="2400" dirty="0">
                  <a:solidFill>
                    <a:srgbClr val="3333FF"/>
                  </a:solidFill>
                  <a:ea typeface="隶书" pitchFamily="49" charset="-122"/>
                </a:rPr>
                <a:t>struct </a:t>
              </a:r>
              <a:r>
                <a:rPr kumimoji="1" lang="en-US" altLang="zh-CN" sz="2400" dirty="0">
                  <a:solidFill>
                    <a:srgbClr val="0070C0"/>
                  </a:solidFill>
                  <a:ea typeface="隶书" pitchFamily="49" charset="-122"/>
                </a:rPr>
                <a:t>student </a:t>
              </a:r>
              <a:r>
                <a:rPr kumimoji="1" lang="zh-CN" altLang="en-US" sz="2400" dirty="0">
                  <a:solidFill>
                    <a:srgbClr val="3333FF"/>
                  </a:solidFill>
                  <a:latin typeface="等线" panose="02010600030101010101" pitchFamily="2" charset="-122"/>
                  <a:ea typeface="隶书" pitchFamily="49" charset="-122"/>
                </a:rPr>
                <a:t>。</a:t>
              </a:r>
              <a:endParaRPr kumimoji="1" lang="en-US" altLang="zh-CN" sz="2400" dirty="0">
                <a:solidFill>
                  <a:srgbClr val="3333FF"/>
                </a:solidFill>
                <a:latin typeface="等线" panose="02010600030101010101" pitchFamily="2" charset="-122"/>
                <a:ea typeface="隶书" pitchFamily="49" charset="-122"/>
              </a:endParaRPr>
            </a:p>
            <a:p>
              <a:pPr indent="457200"/>
              <a:r>
                <a:rPr kumimoji="1" lang="zh-CN" altLang="zh-CN" sz="2400" dirty="0">
                  <a:solidFill>
                    <a:srgbClr val="3333FF"/>
                  </a:solidFill>
                  <a:latin typeface="等线" panose="02010600030101010101" pitchFamily="2" charset="-122"/>
                  <a:ea typeface="隶书" pitchFamily="49" charset="-122"/>
                </a:rPr>
                <a:t>③</a:t>
              </a:r>
              <a:r>
                <a:rPr kumimoji="1" lang="en-US" altLang="zh-CN" sz="2400" dirty="0">
                  <a:solidFill>
                    <a:srgbClr val="3333FF"/>
                  </a:solidFill>
                  <a:latin typeface="等线" panose="02010600030101010101" pitchFamily="2" charset="-122"/>
                  <a:ea typeface="隶书" pitchFamily="49" charset="-122"/>
                </a:rPr>
                <a:t> </a:t>
              </a:r>
              <a:r>
                <a:rPr kumimoji="1" lang="en-US" altLang="zh-CN" sz="2400" dirty="0">
                  <a:solidFill>
                    <a:srgbClr val="3333FF"/>
                  </a:solidFill>
                  <a:ea typeface="隶书" pitchFamily="49" charset="-122"/>
                </a:rPr>
                <a:t>struct </a:t>
              </a:r>
              <a:r>
                <a:rPr kumimoji="1" lang="en-US" altLang="zh-CN" sz="2400" dirty="0">
                  <a:solidFill>
                    <a:srgbClr val="0070C0"/>
                  </a:solidFill>
                  <a:ea typeface="隶书" pitchFamily="49" charset="-122"/>
                </a:rPr>
                <a:t>student </a:t>
              </a:r>
              <a:r>
                <a:rPr kumimoji="1" lang="zh-CN" altLang="en-US" sz="2400" dirty="0">
                  <a:solidFill>
                    <a:srgbClr val="3333FF"/>
                  </a:solidFill>
                  <a:ea typeface="隶书" pitchFamily="49" charset="-122"/>
                </a:rPr>
                <a:t>与内置基本数据类型具有同等地位</a:t>
              </a:r>
              <a:r>
                <a:rPr kumimoji="1" lang="zh-CN" altLang="en-US" sz="2400" dirty="0">
                  <a:solidFill>
                    <a:srgbClr val="3333FF"/>
                  </a:solidFill>
                  <a:latin typeface="等线" panose="02010600030101010101" pitchFamily="2" charset="-122"/>
                  <a:ea typeface="隶书" pitchFamily="49" charset="-122"/>
                </a:rPr>
                <a:t>。</a:t>
              </a:r>
              <a:endParaRPr kumimoji="1" lang="zh-CN" altLang="en-US" sz="2400" dirty="0">
                <a:solidFill>
                  <a:srgbClr val="3333FF"/>
                </a:solidFill>
                <a:ea typeface="隶书" pitchFamily="49" charset="-122"/>
              </a:endParaRPr>
            </a:p>
          </p:txBody>
        </p:sp>
        <p:pic>
          <p:nvPicPr>
            <p:cNvPr id="11" name="图片 10">
              <a:extLst>
                <a:ext uri="{FF2B5EF4-FFF2-40B4-BE49-F238E27FC236}">
                  <a16:creationId xmlns:a16="http://schemas.microsoft.com/office/drawing/2014/main" id="{98FBC12C-9034-420C-AB49-1CD5DF85BCC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0" y="4867312"/>
              <a:ext cx="514926" cy="442321"/>
            </a:xfrm>
            <a:prstGeom prst="rect">
              <a:avLst/>
            </a:prstGeom>
          </p:spPr>
        </p:pic>
      </p:grpSp>
      <p:sp>
        <p:nvSpPr>
          <p:cNvPr id="2" name="灯片编号占位符 1">
            <a:extLst>
              <a:ext uri="{FF2B5EF4-FFF2-40B4-BE49-F238E27FC236}">
                <a16:creationId xmlns:a16="http://schemas.microsoft.com/office/drawing/2014/main" id="{6E6F808F-88D1-4D11-A93B-3B97A06E0DF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5</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263385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D764F30-CE7C-463A-ABC9-8BC44A0EDB46}"/>
              </a:ext>
            </a:extLst>
          </p:cNvPr>
          <p:cNvSpPr txBox="1"/>
          <p:nvPr/>
        </p:nvSpPr>
        <p:spPr>
          <a:xfrm>
            <a:off x="203083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结构体定义</a:t>
            </a:r>
            <a:endParaRPr lang="zh-CN" altLang="en-US" sz="3200" b="1" dirty="0">
              <a:solidFill>
                <a:srgbClr val="200AC4"/>
              </a:solidFill>
              <a:ea typeface="隶书" pitchFamily="49" charset="-122"/>
            </a:endParaRPr>
          </a:p>
        </p:txBody>
      </p:sp>
      <p:sp>
        <p:nvSpPr>
          <p:cNvPr id="4" name="Text Box 88">
            <a:extLst>
              <a:ext uri="{FF2B5EF4-FFF2-40B4-BE49-F238E27FC236}">
                <a16:creationId xmlns:a16="http://schemas.microsoft.com/office/drawing/2014/main" id="{157C6CAB-ECE4-4B68-B528-A9FF68E7EEB8}"/>
              </a:ext>
            </a:extLst>
          </p:cNvPr>
          <p:cNvSpPr txBox="1">
            <a:spLocks noChangeArrowheads="1"/>
          </p:cNvSpPr>
          <p:nvPr/>
        </p:nvSpPr>
        <p:spPr bwMode="auto">
          <a:xfrm>
            <a:off x="0" y="545222"/>
            <a:ext cx="12192000" cy="95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dirty="0">
                <a:latin typeface="+mn-ea"/>
                <a:ea typeface="+mn-ea"/>
              </a:rPr>
              <a:t>结构体定义中，成员的数据类型可以是</a:t>
            </a:r>
            <a:r>
              <a:rPr kumimoji="1" lang="en-US" altLang="zh-CN" sz="2800" b="1" dirty="0">
                <a:latin typeface="+mn-ea"/>
                <a:ea typeface="+mn-ea"/>
              </a:rPr>
              <a:t>C</a:t>
            </a:r>
            <a:r>
              <a:rPr kumimoji="1" lang="zh-CN" altLang="en-US" sz="2800" b="1" dirty="0">
                <a:latin typeface="+mn-ea"/>
                <a:ea typeface="+mn-ea"/>
              </a:rPr>
              <a:t>语言提供的基本类型，也可以是用户自定义类型，例如：</a:t>
            </a:r>
          </a:p>
        </p:txBody>
      </p:sp>
      <p:sp>
        <p:nvSpPr>
          <p:cNvPr id="5" name="Rectangle 2">
            <a:extLst>
              <a:ext uri="{FF2B5EF4-FFF2-40B4-BE49-F238E27FC236}">
                <a16:creationId xmlns:a16="http://schemas.microsoft.com/office/drawing/2014/main" id="{BD130A93-0B9F-4AA8-A51A-EDC76EFF7AC4}"/>
              </a:ext>
            </a:extLst>
          </p:cNvPr>
          <p:cNvSpPr txBox="1">
            <a:spLocks noChangeArrowheads="1"/>
          </p:cNvSpPr>
          <p:nvPr/>
        </p:nvSpPr>
        <p:spPr>
          <a:xfrm>
            <a:off x="245683" y="1931441"/>
            <a:ext cx="4578708"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struct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date</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year;</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month;</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day;</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zh-CN" altLang="en-US" b="1" dirty="0">
                <a:solidFill>
                  <a:srgbClr val="FF0000"/>
                </a:solidFill>
              </a:rPr>
              <a:t>；</a:t>
            </a:r>
          </a:p>
        </p:txBody>
      </p:sp>
      <p:sp>
        <p:nvSpPr>
          <p:cNvPr id="8" name="Rectangle 2">
            <a:extLst>
              <a:ext uri="{FF2B5EF4-FFF2-40B4-BE49-F238E27FC236}">
                <a16:creationId xmlns:a16="http://schemas.microsoft.com/office/drawing/2014/main" id="{8AA15923-E85A-438B-B46E-EA798B92648C}"/>
              </a:ext>
            </a:extLst>
          </p:cNvPr>
          <p:cNvSpPr txBox="1">
            <a:spLocks noChangeArrowheads="1"/>
          </p:cNvSpPr>
          <p:nvPr/>
        </p:nvSpPr>
        <p:spPr>
          <a:xfrm>
            <a:off x="4875884" y="1931440"/>
            <a:ext cx="6804438"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no</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学号</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姓名</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date</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birthday;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出生日期</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score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三门课成绩</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total;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总成绩</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endParaRPr lang="zh-CN" altLang="en-US" b="1" dirty="0">
              <a:solidFill>
                <a:srgbClr val="FF0000"/>
              </a:solidFill>
              <a:latin typeface="Consolas" panose="020B0609020204030204" pitchFamily="49"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FD6B3539-6F2E-4083-8247-E141A9500BC9}"/>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6</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224286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3F0F10C-EADF-466C-8163-16B9E73338F4}"/>
              </a:ext>
            </a:extLst>
          </p:cNvPr>
          <p:cNvSpPr txBox="1"/>
          <p:nvPr/>
        </p:nvSpPr>
        <p:spPr>
          <a:xfrm>
            <a:off x="203083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结构体变量定义</a:t>
            </a:r>
            <a:endParaRPr lang="zh-CN" altLang="en-US" sz="3200" b="1" dirty="0">
              <a:solidFill>
                <a:srgbClr val="200AC4"/>
              </a:solidFill>
              <a:ea typeface="隶书" pitchFamily="49" charset="-122"/>
            </a:endParaRPr>
          </a:p>
        </p:txBody>
      </p:sp>
      <p:sp>
        <p:nvSpPr>
          <p:cNvPr id="4" name="Text Box 88">
            <a:extLst>
              <a:ext uri="{FF2B5EF4-FFF2-40B4-BE49-F238E27FC236}">
                <a16:creationId xmlns:a16="http://schemas.microsoft.com/office/drawing/2014/main" id="{F553C519-7F2B-47D5-9CFE-7692E1B61138}"/>
              </a:ext>
            </a:extLst>
          </p:cNvPr>
          <p:cNvSpPr txBox="1">
            <a:spLocks noChangeArrowheads="1"/>
          </p:cNvSpPr>
          <p:nvPr/>
        </p:nvSpPr>
        <p:spPr bwMode="auto">
          <a:xfrm>
            <a:off x="0" y="545222"/>
            <a:ext cx="12192000" cy="95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dirty="0">
                <a:latin typeface="+mn-ea"/>
                <a:ea typeface="+mn-ea"/>
              </a:rPr>
              <a:t>定义完结构体类型，就可以使用该结构体类型定义变量了，</a:t>
            </a:r>
            <a:r>
              <a:rPr kumimoji="1" lang="en-US" altLang="zh-CN" sz="2800" b="1" dirty="0">
                <a:latin typeface="+mn-ea"/>
                <a:ea typeface="+mn-ea"/>
              </a:rPr>
              <a:t>C</a:t>
            </a:r>
            <a:r>
              <a:rPr kumimoji="1" lang="zh-CN" altLang="en-US" sz="2800" b="1" dirty="0">
                <a:latin typeface="+mn-ea"/>
                <a:ea typeface="+mn-ea"/>
              </a:rPr>
              <a:t>语言规定了三种定义结构体变量的方式：</a:t>
            </a:r>
          </a:p>
        </p:txBody>
      </p:sp>
      <p:sp>
        <p:nvSpPr>
          <p:cNvPr id="5" name="矩形 4">
            <a:extLst>
              <a:ext uri="{FF2B5EF4-FFF2-40B4-BE49-F238E27FC236}">
                <a16:creationId xmlns:a16="http://schemas.microsoft.com/office/drawing/2014/main" id="{16FD1EA9-C952-4BBB-B756-5B7901B148BE}"/>
              </a:ext>
            </a:extLst>
          </p:cNvPr>
          <p:cNvSpPr/>
          <p:nvPr/>
        </p:nvSpPr>
        <p:spPr>
          <a:xfrm>
            <a:off x="0" y="1501510"/>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先定义结构体，再定义结构体变量</a:t>
            </a:r>
            <a:endParaRPr lang="en-US" altLang="zh-CN" sz="3200" b="1" dirty="0">
              <a:latin typeface="隶书" panose="02010509060101010101" pitchFamily="49" charset="-122"/>
              <a:ea typeface="隶书" panose="02010509060101010101" pitchFamily="49" charset="-122"/>
            </a:endParaRPr>
          </a:p>
        </p:txBody>
      </p:sp>
      <p:grpSp>
        <p:nvGrpSpPr>
          <p:cNvPr id="10" name="组合 9">
            <a:extLst>
              <a:ext uri="{FF2B5EF4-FFF2-40B4-BE49-F238E27FC236}">
                <a16:creationId xmlns:a16="http://schemas.microsoft.com/office/drawing/2014/main" id="{94469DC9-3CFE-4A47-982C-D646D0242C11}"/>
              </a:ext>
            </a:extLst>
          </p:cNvPr>
          <p:cNvGrpSpPr/>
          <p:nvPr/>
        </p:nvGrpSpPr>
        <p:grpSpPr>
          <a:xfrm>
            <a:off x="167892" y="2098823"/>
            <a:ext cx="5695026" cy="4091616"/>
            <a:chOff x="167892" y="2098823"/>
            <a:chExt cx="5695026" cy="4091616"/>
          </a:xfrm>
        </p:grpSpPr>
        <p:sp>
          <p:nvSpPr>
            <p:cNvPr id="6" name="矩形 5">
              <a:extLst>
                <a:ext uri="{FF2B5EF4-FFF2-40B4-BE49-F238E27FC236}">
                  <a16:creationId xmlns:a16="http://schemas.microsoft.com/office/drawing/2014/main" id="{F8AAC165-6CD9-4ABD-8CEF-768CE151A30C}"/>
                </a:ext>
              </a:extLst>
            </p:cNvPr>
            <p:cNvSpPr/>
            <p:nvPr/>
          </p:nvSpPr>
          <p:spPr>
            <a:xfrm>
              <a:off x="167893" y="2098823"/>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8" name="Rectangle 2">
              <a:extLst>
                <a:ext uri="{FF2B5EF4-FFF2-40B4-BE49-F238E27FC236}">
                  <a16:creationId xmlns:a16="http://schemas.microsoft.com/office/drawing/2014/main" id="{BE3FF6B9-9C7B-4CEB-BDC1-9184A392802C}"/>
                </a:ext>
              </a:extLst>
            </p:cNvPr>
            <p:cNvSpPr txBox="1">
              <a:spLocks noChangeArrowheads="1"/>
            </p:cNvSpPr>
            <p:nvPr/>
          </p:nvSpPr>
          <p:spPr>
            <a:xfrm>
              <a:off x="167892" y="2651009"/>
              <a:ext cx="5695026"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struct</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结构体名</a:t>
              </a:r>
              <a:endParaRPr lang="en-US" altLang="zh-CN" b="1" dirty="0">
                <a:solidFill>
                  <a:srgbClr val="0070C0"/>
                </a:solidFill>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类型名</a:t>
              </a:r>
              <a:r>
                <a:rPr lang="en-US" altLang="zh-CN" b="1" dirty="0">
                  <a:latin typeface="华文隶书" panose="02010800040101010101" pitchFamily="2" charset="-122"/>
                  <a:ea typeface="华文隶书" panose="02010800040101010101" pitchFamily="2" charset="-122"/>
                </a:rPr>
                <a:t>1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1</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2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2</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en-US" altLang="zh-CN" b="1" dirty="0">
                  <a:latin typeface="华文隶书" panose="02010800040101010101" pitchFamily="2" charset="-122"/>
                  <a:ea typeface="华文隶书" panose="02010800040101010101" pitchFamily="2" charset="-122"/>
                </a:rPr>
                <a:t>        </a:t>
              </a:r>
              <a:r>
                <a:rPr lang="en-US" altLang="zh-CN" b="1" dirty="0">
                  <a:solidFill>
                    <a:srgbClr val="00B05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n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n</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zh-CN" altLang="en-US" b="1" dirty="0">
                  <a:solidFill>
                    <a:srgbClr val="FF0000"/>
                  </a:solidFill>
                </a:rPr>
                <a:t>；</a:t>
              </a: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struct</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结构体名</a:t>
              </a:r>
              <a:r>
                <a:rPr lang="zh-CN" altLang="en-US" b="1" dirty="0">
                  <a:solidFill>
                    <a:srgbClr val="FF0000"/>
                  </a:solidFill>
                </a:rPr>
                <a:t> </a:t>
              </a:r>
              <a:r>
                <a:rPr lang="zh-CN" altLang="en-US" b="1" dirty="0">
                  <a:latin typeface="华文隶书" panose="02010800040101010101" pitchFamily="2" charset="-122"/>
                  <a:ea typeface="华文隶书" panose="02010800040101010101" pitchFamily="2" charset="-122"/>
                </a:rPr>
                <a:t>结构体变量列表</a:t>
              </a:r>
              <a:r>
                <a:rPr lang="zh-CN" altLang="en-US" b="1" dirty="0">
                  <a:solidFill>
                    <a:srgbClr val="FF0000"/>
                  </a:solidFill>
                </a:rPr>
                <a:t>；</a:t>
              </a:r>
              <a:endParaRPr lang="en-US" altLang="zh-CN" b="1" dirty="0">
                <a:solidFill>
                  <a:srgbClr val="FF0000"/>
                </a:solidFill>
              </a:endParaRPr>
            </a:p>
          </p:txBody>
        </p:sp>
      </p:grpSp>
      <p:grpSp>
        <p:nvGrpSpPr>
          <p:cNvPr id="12" name="组合 11">
            <a:extLst>
              <a:ext uri="{FF2B5EF4-FFF2-40B4-BE49-F238E27FC236}">
                <a16:creationId xmlns:a16="http://schemas.microsoft.com/office/drawing/2014/main" id="{D1BC2A73-A29C-48C0-B42F-CB300A03F658}"/>
              </a:ext>
            </a:extLst>
          </p:cNvPr>
          <p:cNvGrpSpPr/>
          <p:nvPr/>
        </p:nvGrpSpPr>
        <p:grpSpPr>
          <a:xfrm>
            <a:off x="6046581" y="2076924"/>
            <a:ext cx="6145419" cy="4115327"/>
            <a:chOff x="6046581" y="2076924"/>
            <a:chExt cx="6145419" cy="4115327"/>
          </a:xfrm>
        </p:grpSpPr>
        <p:sp>
          <p:nvSpPr>
            <p:cNvPr id="9" name="矩形 8">
              <a:extLst>
                <a:ext uri="{FF2B5EF4-FFF2-40B4-BE49-F238E27FC236}">
                  <a16:creationId xmlns:a16="http://schemas.microsoft.com/office/drawing/2014/main" id="{F06A50FE-75A7-458C-8586-532042940E3B}"/>
                </a:ext>
              </a:extLst>
            </p:cNvPr>
            <p:cNvSpPr/>
            <p:nvPr/>
          </p:nvSpPr>
          <p:spPr>
            <a:xfrm>
              <a:off x="6057606" y="2076924"/>
              <a:ext cx="6134393"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11" name="Rectangle 2">
              <a:extLst>
                <a:ext uri="{FF2B5EF4-FFF2-40B4-BE49-F238E27FC236}">
                  <a16:creationId xmlns:a16="http://schemas.microsoft.com/office/drawing/2014/main" id="{0DCE17E9-2774-465A-B6F7-CDEDE6CFB0A5}"/>
                </a:ext>
              </a:extLst>
            </p:cNvPr>
            <p:cNvSpPr txBox="1">
              <a:spLocks noChangeArrowheads="1"/>
            </p:cNvSpPr>
            <p:nvPr/>
          </p:nvSpPr>
          <p:spPr>
            <a:xfrm>
              <a:off x="6046581" y="2622043"/>
              <a:ext cx="6145419" cy="3570208"/>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contacts</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phone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12</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email</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ts val="3600"/>
                </a:spcBef>
                <a:spcAft>
                  <a:spcPts val="3000"/>
                </a:spcAft>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contacts</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ZhaoYi, LiMei</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grpSp>
      <p:sp>
        <p:nvSpPr>
          <p:cNvPr id="2" name="灯片编号占位符 1">
            <a:extLst>
              <a:ext uri="{FF2B5EF4-FFF2-40B4-BE49-F238E27FC236}">
                <a16:creationId xmlns:a16="http://schemas.microsoft.com/office/drawing/2014/main" id="{9FEBE0DF-45B6-4574-9E77-BB03AC7BEB5B}"/>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7</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4289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3F0F10C-EADF-466C-8163-16B9E73338F4}"/>
              </a:ext>
            </a:extLst>
          </p:cNvPr>
          <p:cNvSpPr txBox="1"/>
          <p:nvPr/>
        </p:nvSpPr>
        <p:spPr>
          <a:xfrm>
            <a:off x="203083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结构体变量定义</a:t>
            </a:r>
            <a:endParaRPr lang="zh-CN" altLang="en-US" sz="3200" b="1" dirty="0">
              <a:solidFill>
                <a:srgbClr val="200AC4"/>
              </a:solidFill>
              <a:ea typeface="隶书" pitchFamily="49" charset="-122"/>
            </a:endParaRPr>
          </a:p>
        </p:txBody>
      </p:sp>
      <p:sp>
        <p:nvSpPr>
          <p:cNvPr id="9" name="矩形 8">
            <a:extLst>
              <a:ext uri="{FF2B5EF4-FFF2-40B4-BE49-F238E27FC236}">
                <a16:creationId xmlns:a16="http://schemas.microsoft.com/office/drawing/2014/main" id="{47D27138-9A95-41E0-9632-580583B16B7F}"/>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2. </a:t>
            </a:r>
            <a:r>
              <a:rPr lang="zh-CN" altLang="en-US" sz="2800" b="1" dirty="0">
                <a:solidFill>
                  <a:srgbClr val="00B0F0"/>
                </a:solidFill>
                <a:latin typeface="微软雅黑" panose="020B0503020204020204" pitchFamily="34" charset="-122"/>
                <a:ea typeface="微软雅黑" panose="020B0503020204020204" pitchFamily="34" charset="-122"/>
              </a:rPr>
              <a:t>定义结构体的同时定义结构体变量</a:t>
            </a:r>
            <a:endParaRPr lang="en-US" altLang="zh-CN" sz="3200" b="1" dirty="0">
              <a:latin typeface="隶书" panose="02010509060101010101" pitchFamily="49" charset="-122"/>
              <a:ea typeface="隶书" panose="02010509060101010101" pitchFamily="49" charset="-122"/>
            </a:endParaRPr>
          </a:p>
        </p:txBody>
      </p:sp>
      <p:grpSp>
        <p:nvGrpSpPr>
          <p:cNvPr id="5" name="组合 4">
            <a:extLst>
              <a:ext uri="{FF2B5EF4-FFF2-40B4-BE49-F238E27FC236}">
                <a16:creationId xmlns:a16="http://schemas.microsoft.com/office/drawing/2014/main" id="{EBE470F9-4CBB-41A2-B450-B661EC05DCA0}"/>
              </a:ext>
            </a:extLst>
          </p:cNvPr>
          <p:cNvGrpSpPr/>
          <p:nvPr/>
        </p:nvGrpSpPr>
        <p:grpSpPr>
          <a:xfrm>
            <a:off x="167893" y="1213452"/>
            <a:ext cx="5702036" cy="3631763"/>
            <a:chOff x="167893" y="1213452"/>
            <a:chExt cx="5702036" cy="3631763"/>
          </a:xfrm>
        </p:grpSpPr>
        <p:sp>
          <p:nvSpPr>
            <p:cNvPr id="10" name="矩形 9">
              <a:extLst>
                <a:ext uri="{FF2B5EF4-FFF2-40B4-BE49-F238E27FC236}">
                  <a16:creationId xmlns:a16="http://schemas.microsoft.com/office/drawing/2014/main" id="{56960F15-BEC1-40EB-B570-913A3D733351}"/>
                </a:ext>
              </a:extLst>
            </p:cNvPr>
            <p:cNvSpPr/>
            <p:nvPr/>
          </p:nvSpPr>
          <p:spPr>
            <a:xfrm>
              <a:off x="167893" y="1213452"/>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11" name="Rectangle 2">
              <a:extLst>
                <a:ext uri="{FF2B5EF4-FFF2-40B4-BE49-F238E27FC236}">
                  <a16:creationId xmlns:a16="http://schemas.microsoft.com/office/drawing/2014/main" id="{E733BC87-D3AD-4856-B8C4-AD7572B4770C}"/>
                </a:ext>
              </a:extLst>
            </p:cNvPr>
            <p:cNvSpPr txBox="1">
              <a:spLocks noChangeArrowheads="1"/>
            </p:cNvSpPr>
            <p:nvPr/>
          </p:nvSpPr>
          <p:spPr>
            <a:xfrm>
              <a:off x="174903" y="1736672"/>
              <a:ext cx="5695026"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struct</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结构体名</a:t>
              </a:r>
              <a:endParaRPr lang="en-US" altLang="zh-CN" b="1" dirty="0">
                <a:solidFill>
                  <a:srgbClr val="0070C0"/>
                </a:solidFill>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类型名</a:t>
              </a:r>
              <a:r>
                <a:rPr lang="en-US" altLang="zh-CN" b="1" dirty="0">
                  <a:latin typeface="华文隶书" panose="02010800040101010101" pitchFamily="2" charset="-122"/>
                  <a:ea typeface="华文隶书" panose="02010800040101010101" pitchFamily="2" charset="-122"/>
                </a:rPr>
                <a:t>1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1</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2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2</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en-US" altLang="zh-CN" b="1" dirty="0">
                  <a:latin typeface="华文隶书" panose="02010800040101010101" pitchFamily="2" charset="-122"/>
                  <a:ea typeface="华文隶书" panose="02010800040101010101" pitchFamily="2" charset="-122"/>
                </a:rPr>
                <a:t>        </a:t>
              </a:r>
              <a:r>
                <a:rPr lang="en-US" altLang="zh-CN" b="1" dirty="0">
                  <a:solidFill>
                    <a:srgbClr val="00B05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n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n</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结构体变量列表</a:t>
              </a:r>
              <a:r>
                <a:rPr lang="zh-CN" altLang="en-US" b="1" dirty="0">
                  <a:solidFill>
                    <a:srgbClr val="FF0000"/>
                  </a:solidFill>
                </a:rPr>
                <a:t>；</a:t>
              </a:r>
              <a:endParaRPr lang="en-US" altLang="zh-CN" b="1" dirty="0">
                <a:solidFill>
                  <a:srgbClr val="FF0000"/>
                </a:solidFill>
              </a:endParaRPr>
            </a:p>
          </p:txBody>
        </p:sp>
      </p:grpSp>
      <p:grpSp>
        <p:nvGrpSpPr>
          <p:cNvPr id="6" name="组合 5">
            <a:extLst>
              <a:ext uri="{FF2B5EF4-FFF2-40B4-BE49-F238E27FC236}">
                <a16:creationId xmlns:a16="http://schemas.microsoft.com/office/drawing/2014/main" id="{91ABD312-7F7A-4DBF-BFFE-E7CD69D38C7B}"/>
              </a:ext>
            </a:extLst>
          </p:cNvPr>
          <p:cNvGrpSpPr/>
          <p:nvPr/>
        </p:nvGrpSpPr>
        <p:grpSpPr>
          <a:xfrm>
            <a:off x="6046581" y="1191372"/>
            <a:ext cx="6145419" cy="3653843"/>
            <a:chOff x="6046581" y="1191372"/>
            <a:chExt cx="6145419" cy="3653843"/>
          </a:xfrm>
        </p:grpSpPr>
        <p:sp>
          <p:nvSpPr>
            <p:cNvPr id="12" name="矩形 11">
              <a:extLst>
                <a:ext uri="{FF2B5EF4-FFF2-40B4-BE49-F238E27FC236}">
                  <a16:creationId xmlns:a16="http://schemas.microsoft.com/office/drawing/2014/main" id="{6A6A4446-98BC-4F0E-8BDC-CA7A98ADEE40}"/>
                </a:ext>
              </a:extLst>
            </p:cNvPr>
            <p:cNvSpPr/>
            <p:nvPr/>
          </p:nvSpPr>
          <p:spPr>
            <a:xfrm>
              <a:off x="6046581" y="1191372"/>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13" name="Rectangle 2">
              <a:extLst>
                <a:ext uri="{FF2B5EF4-FFF2-40B4-BE49-F238E27FC236}">
                  <a16:creationId xmlns:a16="http://schemas.microsoft.com/office/drawing/2014/main" id="{E21B0E8D-5F39-4206-8679-6A10D6672F42}"/>
                </a:ext>
              </a:extLst>
            </p:cNvPr>
            <p:cNvSpPr txBox="1">
              <a:spLocks noChangeArrowheads="1"/>
            </p:cNvSpPr>
            <p:nvPr/>
          </p:nvSpPr>
          <p:spPr>
            <a:xfrm>
              <a:off x="6046581" y="1736672"/>
              <a:ext cx="6145419"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contacts</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phone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12</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email</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ZhaoYi, LiMei</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endPar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3B08E802-EE18-409D-B072-FA5FA89C1A4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8</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99151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3F0F10C-EADF-466C-8163-16B9E73338F4}"/>
              </a:ext>
            </a:extLst>
          </p:cNvPr>
          <p:cNvSpPr txBox="1"/>
          <p:nvPr/>
        </p:nvSpPr>
        <p:spPr>
          <a:xfrm>
            <a:off x="203083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结构体变量定义</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38D72763-977D-4B24-B6DF-C9F0088F104A}"/>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3. </a:t>
            </a:r>
            <a:r>
              <a:rPr lang="zh-CN" altLang="en-US" sz="2800" b="1" dirty="0">
                <a:solidFill>
                  <a:srgbClr val="00B0F0"/>
                </a:solidFill>
                <a:latin typeface="微软雅黑" panose="020B0503020204020204" pitchFamily="34" charset="-122"/>
                <a:ea typeface="微软雅黑" panose="020B0503020204020204" pitchFamily="34" charset="-122"/>
              </a:rPr>
              <a:t>定义匿名结构体的同时定义结构体变量</a:t>
            </a:r>
            <a:endParaRPr lang="en-US" altLang="zh-CN" sz="3200" b="1" dirty="0">
              <a:latin typeface="隶书" panose="02010509060101010101" pitchFamily="49" charset="-122"/>
              <a:ea typeface="隶书" panose="02010509060101010101" pitchFamily="49" charset="-122"/>
            </a:endParaRPr>
          </a:p>
        </p:txBody>
      </p:sp>
      <p:sp>
        <p:nvSpPr>
          <p:cNvPr id="5" name="矩形 4">
            <a:extLst>
              <a:ext uri="{FF2B5EF4-FFF2-40B4-BE49-F238E27FC236}">
                <a16:creationId xmlns:a16="http://schemas.microsoft.com/office/drawing/2014/main" id="{B5D38555-0A53-41FD-ACBE-325936AED17B}"/>
              </a:ext>
            </a:extLst>
          </p:cNvPr>
          <p:cNvSpPr/>
          <p:nvPr/>
        </p:nvSpPr>
        <p:spPr>
          <a:xfrm>
            <a:off x="167893" y="1213452"/>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6" name="Rectangle 2">
            <a:extLst>
              <a:ext uri="{FF2B5EF4-FFF2-40B4-BE49-F238E27FC236}">
                <a16:creationId xmlns:a16="http://schemas.microsoft.com/office/drawing/2014/main" id="{6A6E8741-6919-4C68-8EB0-9F593C26ABD6}"/>
              </a:ext>
            </a:extLst>
          </p:cNvPr>
          <p:cNvSpPr txBox="1">
            <a:spLocks noChangeArrowheads="1"/>
          </p:cNvSpPr>
          <p:nvPr/>
        </p:nvSpPr>
        <p:spPr>
          <a:xfrm>
            <a:off x="174903" y="1736672"/>
            <a:ext cx="5695026"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struct</a:t>
            </a:r>
            <a:endParaRPr lang="en-US" altLang="zh-CN" b="1" dirty="0">
              <a:solidFill>
                <a:srgbClr val="0070C0"/>
              </a:solidFill>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类型名</a:t>
            </a:r>
            <a:r>
              <a:rPr lang="en-US" altLang="zh-CN" b="1" dirty="0">
                <a:latin typeface="华文隶书" panose="02010800040101010101" pitchFamily="2" charset="-122"/>
                <a:ea typeface="华文隶书" panose="02010800040101010101" pitchFamily="2" charset="-122"/>
              </a:rPr>
              <a:t>1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1</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2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2</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en-US" altLang="zh-CN" b="1" dirty="0">
                <a:latin typeface="华文隶书" panose="02010800040101010101" pitchFamily="2" charset="-122"/>
                <a:ea typeface="华文隶书" panose="02010800040101010101" pitchFamily="2" charset="-122"/>
              </a:rPr>
              <a:t>        </a:t>
            </a:r>
            <a:r>
              <a:rPr lang="en-US" altLang="zh-CN" b="1" dirty="0">
                <a:solidFill>
                  <a:srgbClr val="00B05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n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n</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结构体变量列表</a:t>
            </a:r>
            <a:r>
              <a:rPr lang="zh-CN" altLang="en-US" b="1" dirty="0">
                <a:solidFill>
                  <a:srgbClr val="FF0000"/>
                </a:solidFill>
              </a:rPr>
              <a:t>；</a:t>
            </a:r>
            <a:endParaRPr lang="en-US" altLang="zh-CN" b="1" dirty="0">
              <a:solidFill>
                <a:srgbClr val="FF0000"/>
              </a:solidFill>
            </a:endParaRPr>
          </a:p>
        </p:txBody>
      </p:sp>
      <p:grpSp>
        <p:nvGrpSpPr>
          <p:cNvPr id="10" name="组合 9">
            <a:extLst>
              <a:ext uri="{FF2B5EF4-FFF2-40B4-BE49-F238E27FC236}">
                <a16:creationId xmlns:a16="http://schemas.microsoft.com/office/drawing/2014/main" id="{105FF1F3-B04F-4737-865F-8BDF9EF70E83}"/>
              </a:ext>
            </a:extLst>
          </p:cNvPr>
          <p:cNvGrpSpPr/>
          <p:nvPr/>
        </p:nvGrpSpPr>
        <p:grpSpPr>
          <a:xfrm>
            <a:off x="6046581" y="1181534"/>
            <a:ext cx="6145419" cy="3663681"/>
            <a:chOff x="6046581" y="1181534"/>
            <a:chExt cx="6145419" cy="3663681"/>
          </a:xfrm>
        </p:grpSpPr>
        <p:sp>
          <p:nvSpPr>
            <p:cNvPr id="7" name="矩形 6">
              <a:extLst>
                <a:ext uri="{FF2B5EF4-FFF2-40B4-BE49-F238E27FC236}">
                  <a16:creationId xmlns:a16="http://schemas.microsoft.com/office/drawing/2014/main" id="{FA2EC42B-CEC2-461E-8338-2B3608C3082C}"/>
                </a:ext>
              </a:extLst>
            </p:cNvPr>
            <p:cNvSpPr/>
            <p:nvPr/>
          </p:nvSpPr>
          <p:spPr>
            <a:xfrm>
              <a:off x="6046581" y="1181534"/>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8" name="Rectangle 2">
              <a:extLst>
                <a:ext uri="{FF2B5EF4-FFF2-40B4-BE49-F238E27FC236}">
                  <a16:creationId xmlns:a16="http://schemas.microsoft.com/office/drawing/2014/main" id="{53F1D286-2982-4E63-AB01-6CFC4E60CF6C}"/>
                </a:ext>
              </a:extLst>
            </p:cNvPr>
            <p:cNvSpPr txBox="1">
              <a:spLocks noChangeArrowheads="1"/>
            </p:cNvSpPr>
            <p:nvPr/>
          </p:nvSpPr>
          <p:spPr>
            <a:xfrm>
              <a:off x="6046581" y="1736672"/>
              <a:ext cx="6145419"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a:t>
              </a:r>
              <a:endPar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phone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12</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email</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ZhaoYi, LiMei</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endPar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21899C27-546B-435D-A72B-454AC97C2FD8}"/>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9</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1639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3F0F10C-EADF-466C-8163-16B9E73338F4}"/>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结构体变量内存分配</a:t>
            </a:r>
            <a:endParaRPr lang="zh-CN" altLang="en-US" sz="3200" b="1" dirty="0">
              <a:solidFill>
                <a:srgbClr val="200AC4"/>
              </a:solidFill>
              <a:ea typeface="隶书" pitchFamily="49" charset="-122"/>
            </a:endParaRPr>
          </a:p>
        </p:txBody>
      </p:sp>
      <p:sp>
        <p:nvSpPr>
          <p:cNvPr id="9" name="Text Box 88">
            <a:extLst>
              <a:ext uri="{FF2B5EF4-FFF2-40B4-BE49-F238E27FC236}">
                <a16:creationId xmlns:a16="http://schemas.microsoft.com/office/drawing/2014/main" id="{90FF0F8C-89BB-496B-A674-2A8FF928AD7F}"/>
              </a:ext>
            </a:extLst>
          </p:cNvPr>
          <p:cNvSpPr txBox="1">
            <a:spLocks noChangeArrowheads="1"/>
          </p:cNvSpPr>
          <p:nvPr/>
        </p:nvSpPr>
        <p:spPr bwMode="auto">
          <a:xfrm>
            <a:off x="0" y="545222"/>
            <a:ext cx="12192000" cy="95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dirty="0">
                <a:latin typeface="+mn-ea"/>
                <a:ea typeface="+mn-ea"/>
              </a:rPr>
              <a:t>结构体变量内存分配方式：各成员按照定义的数据类型及先后顺序占用连续的存储空间。</a:t>
            </a:r>
          </a:p>
        </p:txBody>
      </p:sp>
      <p:sp>
        <p:nvSpPr>
          <p:cNvPr id="10" name="Text Box 88">
            <a:extLst>
              <a:ext uri="{FF2B5EF4-FFF2-40B4-BE49-F238E27FC236}">
                <a16:creationId xmlns:a16="http://schemas.microsoft.com/office/drawing/2014/main" id="{ECEEA8B3-21B0-4BE0-93E8-300F4EA1C404}"/>
              </a:ext>
            </a:extLst>
          </p:cNvPr>
          <p:cNvSpPr txBox="1">
            <a:spLocks noChangeArrowheads="1"/>
          </p:cNvSpPr>
          <p:nvPr/>
        </p:nvSpPr>
        <p:spPr bwMode="auto">
          <a:xfrm>
            <a:off x="3126139" y="1925935"/>
            <a:ext cx="5937394"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dirty="0">
                <a:latin typeface="华文隶书" panose="02010800040101010101" pitchFamily="2" charset="-122"/>
                <a:ea typeface="华文隶书" panose="02010800040101010101" pitchFamily="2" charset="-122"/>
              </a:rPr>
              <a:t>结构体变量</a:t>
            </a:r>
            <a:r>
              <a:rPr kumimoji="1" lang="en-US" altLang="zh-CN" sz="2800" b="1" dirty="0">
                <a:latin typeface="+mn-lt"/>
                <a:ea typeface="华文隶书" panose="02010800040101010101" pitchFamily="2" charset="-122"/>
              </a:rPr>
              <a:t>ZhaoYi</a:t>
            </a:r>
            <a:r>
              <a:rPr kumimoji="1" lang="zh-CN" altLang="en-US" sz="2800" b="1" dirty="0">
                <a:latin typeface="华文隶书" panose="02010800040101010101" pitchFamily="2" charset="-122"/>
                <a:ea typeface="华文隶书" panose="02010800040101010101" pitchFamily="2" charset="-122"/>
              </a:rPr>
              <a:t>的内存分配示意图</a:t>
            </a:r>
          </a:p>
        </p:txBody>
      </p:sp>
      <p:graphicFrame>
        <p:nvGraphicFramePr>
          <p:cNvPr id="11" name="表格 11">
            <a:extLst>
              <a:ext uri="{FF2B5EF4-FFF2-40B4-BE49-F238E27FC236}">
                <a16:creationId xmlns:a16="http://schemas.microsoft.com/office/drawing/2014/main" id="{78D7F934-598D-43FD-8BB3-1C51A878D1D2}"/>
              </a:ext>
            </a:extLst>
          </p:cNvPr>
          <p:cNvGraphicFramePr>
            <a:graphicFrameLocks noGrp="1"/>
          </p:cNvGraphicFramePr>
          <p:nvPr>
            <p:extLst>
              <p:ext uri="{D42A27DB-BD31-4B8C-83A1-F6EECF244321}">
                <p14:modId xmlns:p14="http://schemas.microsoft.com/office/powerpoint/2010/main" val="1684738392"/>
              </p:ext>
            </p:extLst>
          </p:nvPr>
        </p:nvGraphicFramePr>
        <p:xfrm>
          <a:off x="2030837" y="3429000"/>
          <a:ext cx="8127999" cy="551329"/>
        </p:xfrm>
        <a:graphic>
          <a:graphicData uri="http://schemas.openxmlformats.org/drawingml/2006/table">
            <a:tbl>
              <a:tblPr firstRow="1" bandRow="1">
                <a:tableStyleId>{5C22544A-7EE6-4342-B048-85BDC9FD1C3A}</a:tableStyleId>
              </a:tblPr>
              <a:tblGrid>
                <a:gridCol w="2657015">
                  <a:extLst>
                    <a:ext uri="{9D8B030D-6E8A-4147-A177-3AD203B41FA5}">
                      <a16:colId xmlns:a16="http://schemas.microsoft.com/office/drawing/2014/main" val="1863931796"/>
                    </a:ext>
                  </a:extLst>
                </a:gridCol>
                <a:gridCol w="2085328">
                  <a:extLst>
                    <a:ext uri="{9D8B030D-6E8A-4147-A177-3AD203B41FA5}">
                      <a16:colId xmlns:a16="http://schemas.microsoft.com/office/drawing/2014/main" val="4241134164"/>
                    </a:ext>
                  </a:extLst>
                </a:gridCol>
                <a:gridCol w="3385656">
                  <a:extLst>
                    <a:ext uri="{9D8B030D-6E8A-4147-A177-3AD203B41FA5}">
                      <a16:colId xmlns:a16="http://schemas.microsoft.com/office/drawing/2014/main" val="3715881886"/>
                    </a:ext>
                  </a:extLst>
                </a:gridCol>
              </a:tblGrid>
              <a:tr h="551329">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104678"/>
                  </a:ext>
                </a:extLst>
              </a:tr>
            </a:tbl>
          </a:graphicData>
        </a:graphic>
      </p:graphicFrame>
      <p:sp>
        <p:nvSpPr>
          <p:cNvPr id="12" name="文本框 11">
            <a:extLst>
              <a:ext uri="{FF2B5EF4-FFF2-40B4-BE49-F238E27FC236}">
                <a16:creationId xmlns:a16="http://schemas.microsoft.com/office/drawing/2014/main" id="{897005A1-8F82-4BEB-89F9-E7B46C0F3087}"/>
              </a:ext>
            </a:extLst>
          </p:cNvPr>
          <p:cNvSpPr txBox="1"/>
          <p:nvPr/>
        </p:nvSpPr>
        <p:spPr>
          <a:xfrm>
            <a:off x="1161688" y="3519998"/>
            <a:ext cx="907621" cy="369332"/>
          </a:xfrm>
          <a:prstGeom prst="rect">
            <a:avLst/>
          </a:prstGeom>
          <a:noFill/>
        </p:spPr>
        <p:txBody>
          <a:bodyPr wrap="none" rtlCol="0">
            <a:spAutoFit/>
          </a:bodyPr>
          <a:lstStyle/>
          <a:p>
            <a:r>
              <a:rPr lang="en-US" altLang="zh-CN" b="1" dirty="0"/>
              <a:t>ZhaoYi</a:t>
            </a:r>
            <a:endParaRPr lang="zh-CN" altLang="en-US" b="1" dirty="0"/>
          </a:p>
        </p:txBody>
      </p:sp>
      <p:sp>
        <p:nvSpPr>
          <p:cNvPr id="13" name="右大括号 12">
            <a:extLst>
              <a:ext uri="{FF2B5EF4-FFF2-40B4-BE49-F238E27FC236}">
                <a16:creationId xmlns:a16="http://schemas.microsoft.com/office/drawing/2014/main" id="{852AA28C-7920-419C-AA11-B6987E69CC44}"/>
              </a:ext>
            </a:extLst>
          </p:cNvPr>
          <p:cNvSpPr/>
          <p:nvPr/>
        </p:nvSpPr>
        <p:spPr>
          <a:xfrm rot="5400000">
            <a:off x="3216010" y="3073015"/>
            <a:ext cx="273782" cy="2645076"/>
          </a:xfrm>
          <a:prstGeom prst="rightBrace">
            <a:avLst>
              <a:gd name="adj1" fmla="val 46990"/>
              <a:gd name="adj2" fmla="val 50272"/>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右大括号 13">
            <a:extLst>
              <a:ext uri="{FF2B5EF4-FFF2-40B4-BE49-F238E27FC236}">
                <a16:creationId xmlns:a16="http://schemas.microsoft.com/office/drawing/2014/main" id="{A3CBC73D-5F10-4CA4-8FDF-C6B3E7C2BAE4}"/>
              </a:ext>
            </a:extLst>
          </p:cNvPr>
          <p:cNvSpPr/>
          <p:nvPr/>
        </p:nvSpPr>
        <p:spPr>
          <a:xfrm rot="16200000">
            <a:off x="5581212" y="1965795"/>
            <a:ext cx="273782" cy="2085328"/>
          </a:xfrm>
          <a:prstGeom prst="rightBrace">
            <a:avLst>
              <a:gd name="adj1" fmla="val 46990"/>
              <a:gd name="adj2" fmla="val 50272"/>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右大括号 14">
            <a:extLst>
              <a:ext uri="{FF2B5EF4-FFF2-40B4-BE49-F238E27FC236}">
                <a16:creationId xmlns:a16="http://schemas.microsoft.com/office/drawing/2014/main" id="{FA562F45-6ED7-450C-8CAC-1268DA05D49B}"/>
              </a:ext>
            </a:extLst>
          </p:cNvPr>
          <p:cNvSpPr/>
          <p:nvPr/>
        </p:nvSpPr>
        <p:spPr>
          <a:xfrm rot="5400000">
            <a:off x="8327603" y="2675937"/>
            <a:ext cx="273782" cy="3388683"/>
          </a:xfrm>
          <a:prstGeom prst="rightBrace">
            <a:avLst>
              <a:gd name="adj1" fmla="val 46990"/>
              <a:gd name="adj2" fmla="val 50272"/>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AC796228-C11C-4407-B651-AE42B2F233A1}"/>
              </a:ext>
            </a:extLst>
          </p:cNvPr>
          <p:cNvSpPr txBox="1"/>
          <p:nvPr/>
        </p:nvSpPr>
        <p:spPr>
          <a:xfrm>
            <a:off x="1913599" y="3905835"/>
            <a:ext cx="995785" cy="369332"/>
          </a:xfrm>
          <a:prstGeom prst="rect">
            <a:avLst/>
          </a:prstGeom>
          <a:noFill/>
        </p:spPr>
        <p:txBody>
          <a:bodyPr wrap="none" rtlCol="0">
            <a:spAutoFit/>
          </a:bodyPr>
          <a:lstStyle/>
          <a:p>
            <a:pPr algn="ctr"/>
            <a:r>
              <a:rPr lang="en-US" altLang="zh-CN" dirty="0"/>
              <a:t>name[0]</a:t>
            </a:r>
            <a:endParaRPr lang="zh-CN" altLang="en-US" dirty="0"/>
          </a:p>
        </p:txBody>
      </p:sp>
      <p:sp>
        <p:nvSpPr>
          <p:cNvPr id="17" name="文本框 16">
            <a:extLst>
              <a:ext uri="{FF2B5EF4-FFF2-40B4-BE49-F238E27FC236}">
                <a16:creationId xmlns:a16="http://schemas.microsoft.com/office/drawing/2014/main" id="{77BDAA21-01DF-4B3F-A040-2D6167EDAD90}"/>
              </a:ext>
            </a:extLst>
          </p:cNvPr>
          <p:cNvSpPr txBox="1"/>
          <p:nvPr/>
        </p:nvSpPr>
        <p:spPr>
          <a:xfrm>
            <a:off x="4996829" y="2456263"/>
            <a:ext cx="1442547" cy="369332"/>
          </a:xfrm>
          <a:prstGeom prst="rect">
            <a:avLst/>
          </a:prstGeom>
          <a:noFill/>
        </p:spPr>
        <p:txBody>
          <a:bodyPr wrap="square" rtlCol="0">
            <a:spAutoFit/>
          </a:bodyPr>
          <a:lstStyle/>
          <a:p>
            <a:pPr algn="ctr"/>
            <a:r>
              <a:rPr lang="en-US" altLang="zh-CN" b="1" dirty="0"/>
              <a:t>phone[12]</a:t>
            </a:r>
            <a:endParaRPr lang="zh-CN" altLang="en-US" b="1" dirty="0"/>
          </a:p>
        </p:txBody>
      </p:sp>
      <p:sp>
        <p:nvSpPr>
          <p:cNvPr id="18" name="文本框 17">
            <a:extLst>
              <a:ext uri="{FF2B5EF4-FFF2-40B4-BE49-F238E27FC236}">
                <a16:creationId xmlns:a16="http://schemas.microsoft.com/office/drawing/2014/main" id="{6A30C791-27BC-4844-AAD5-A80C423A6D41}"/>
              </a:ext>
            </a:extLst>
          </p:cNvPr>
          <p:cNvSpPr txBox="1"/>
          <p:nvPr/>
        </p:nvSpPr>
        <p:spPr>
          <a:xfrm>
            <a:off x="7881641" y="4505201"/>
            <a:ext cx="1165705" cy="369332"/>
          </a:xfrm>
          <a:prstGeom prst="rect">
            <a:avLst/>
          </a:prstGeom>
          <a:noFill/>
        </p:spPr>
        <p:txBody>
          <a:bodyPr wrap="none" rtlCol="0">
            <a:spAutoFit/>
          </a:bodyPr>
          <a:lstStyle/>
          <a:p>
            <a:pPr algn="ctr"/>
            <a:r>
              <a:rPr lang="en-US" altLang="zh-CN" b="1" dirty="0"/>
              <a:t>email[30]</a:t>
            </a:r>
            <a:endParaRPr lang="zh-CN" altLang="en-US" b="1" dirty="0"/>
          </a:p>
        </p:txBody>
      </p:sp>
      <p:sp>
        <p:nvSpPr>
          <p:cNvPr id="19" name="文本框 18">
            <a:extLst>
              <a:ext uri="{FF2B5EF4-FFF2-40B4-BE49-F238E27FC236}">
                <a16:creationId xmlns:a16="http://schemas.microsoft.com/office/drawing/2014/main" id="{6D8CED39-F8EB-46DC-B4BF-42C321458379}"/>
              </a:ext>
            </a:extLst>
          </p:cNvPr>
          <p:cNvSpPr txBox="1"/>
          <p:nvPr/>
        </p:nvSpPr>
        <p:spPr>
          <a:xfrm>
            <a:off x="3685624" y="3889330"/>
            <a:ext cx="1117615" cy="369332"/>
          </a:xfrm>
          <a:prstGeom prst="rect">
            <a:avLst/>
          </a:prstGeom>
          <a:noFill/>
        </p:spPr>
        <p:txBody>
          <a:bodyPr wrap="none" rtlCol="0">
            <a:spAutoFit/>
          </a:bodyPr>
          <a:lstStyle/>
          <a:p>
            <a:pPr algn="ctr"/>
            <a:r>
              <a:rPr lang="en-US" altLang="zh-CN" dirty="0"/>
              <a:t>name[19]</a:t>
            </a:r>
            <a:endParaRPr lang="zh-CN" altLang="en-US" dirty="0"/>
          </a:p>
        </p:txBody>
      </p:sp>
      <p:sp>
        <p:nvSpPr>
          <p:cNvPr id="20" name="文本框 19">
            <a:extLst>
              <a:ext uri="{FF2B5EF4-FFF2-40B4-BE49-F238E27FC236}">
                <a16:creationId xmlns:a16="http://schemas.microsoft.com/office/drawing/2014/main" id="{0EEBCDBF-B029-48E2-957A-0E6DD39E29C8}"/>
              </a:ext>
            </a:extLst>
          </p:cNvPr>
          <p:cNvSpPr txBox="1"/>
          <p:nvPr/>
        </p:nvSpPr>
        <p:spPr>
          <a:xfrm>
            <a:off x="2763636" y="4522219"/>
            <a:ext cx="1178529" cy="369332"/>
          </a:xfrm>
          <a:prstGeom prst="rect">
            <a:avLst/>
          </a:prstGeom>
          <a:noFill/>
        </p:spPr>
        <p:txBody>
          <a:bodyPr wrap="none" rtlCol="0">
            <a:spAutoFit/>
          </a:bodyPr>
          <a:lstStyle/>
          <a:p>
            <a:pPr algn="ctr"/>
            <a:r>
              <a:rPr lang="en-US" altLang="zh-CN" b="1" dirty="0"/>
              <a:t>name[20]</a:t>
            </a:r>
            <a:endParaRPr lang="zh-CN" altLang="en-US" b="1" dirty="0"/>
          </a:p>
        </p:txBody>
      </p:sp>
      <p:sp>
        <p:nvSpPr>
          <p:cNvPr id="21" name="文本框 20">
            <a:extLst>
              <a:ext uri="{FF2B5EF4-FFF2-40B4-BE49-F238E27FC236}">
                <a16:creationId xmlns:a16="http://schemas.microsoft.com/office/drawing/2014/main" id="{2BDB7BB6-603B-4D57-9842-F561BF36713E}"/>
              </a:ext>
            </a:extLst>
          </p:cNvPr>
          <p:cNvSpPr txBox="1"/>
          <p:nvPr/>
        </p:nvSpPr>
        <p:spPr>
          <a:xfrm>
            <a:off x="4562041" y="3078653"/>
            <a:ext cx="1079142" cy="369332"/>
          </a:xfrm>
          <a:prstGeom prst="rect">
            <a:avLst/>
          </a:prstGeom>
          <a:noFill/>
        </p:spPr>
        <p:txBody>
          <a:bodyPr wrap="none" rtlCol="0">
            <a:spAutoFit/>
          </a:bodyPr>
          <a:lstStyle/>
          <a:p>
            <a:pPr algn="ctr"/>
            <a:r>
              <a:rPr lang="en-US" altLang="zh-CN" dirty="0"/>
              <a:t>phone[0]</a:t>
            </a:r>
            <a:endParaRPr lang="zh-CN" altLang="en-US" dirty="0"/>
          </a:p>
        </p:txBody>
      </p:sp>
      <p:sp>
        <p:nvSpPr>
          <p:cNvPr id="22" name="文本框 21">
            <a:extLst>
              <a:ext uri="{FF2B5EF4-FFF2-40B4-BE49-F238E27FC236}">
                <a16:creationId xmlns:a16="http://schemas.microsoft.com/office/drawing/2014/main" id="{8C7658CC-C1B5-4B26-87EC-8A01107F3F42}"/>
              </a:ext>
            </a:extLst>
          </p:cNvPr>
          <p:cNvSpPr txBox="1"/>
          <p:nvPr/>
        </p:nvSpPr>
        <p:spPr>
          <a:xfrm>
            <a:off x="5688818" y="3078953"/>
            <a:ext cx="1200971" cy="369332"/>
          </a:xfrm>
          <a:prstGeom prst="rect">
            <a:avLst/>
          </a:prstGeom>
          <a:noFill/>
        </p:spPr>
        <p:txBody>
          <a:bodyPr wrap="none" rtlCol="0">
            <a:spAutoFit/>
          </a:bodyPr>
          <a:lstStyle/>
          <a:p>
            <a:pPr algn="ctr"/>
            <a:r>
              <a:rPr lang="en-US" altLang="zh-CN" dirty="0"/>
              <a:t>phone[11]</a:t>
            </a:r>
            <a:endParaRPr lang="zh-CN" altLang="en-US" dirty="0"/>
          </a:p>
        </p:txBody>
      </p:sp>
      <p:sp>
        <p:nvSpPr>
          <p:cNvPr id="23" name="文本框 22">
            <a:extLst>
              <a:ext uri="{FF2B5EF4-FFF2-40B4-BE49-F238E27FC236}">
                <a16:creationId xmlns:a16="http://schemas.microsoft.com/office/drawing/2014/main" id="{9AAD7A0E-3BDE-4835-8FA7-116272D9779C}"/>
              </a:ext>
            </a:extLst>
          </p:cNvPr>
          <p:cNvSpPr txBox="1"/>
          <p:nvPr/>
        </p:nvSpPr>
        <p:spPr>
          <a:xfrm>
            <a:off x="5488510" y="3167390"/>
            <a:ext cx="352982" cy="261610"/>
          </a:xfrm>
          <a:prstGeom prst="rect">
            <a:avLst/>
          </a:prstGeom>
          <a:noFill/>
        </p:spPr>
        <p:txBody>
          <a:bodyPr wrap="none" rtlCol="0">
            <a:spAutoFit/>
          </a:bodyPr>
          <a:lstStyle/>
          <a:p>
            <a:r>
              <a:rPr lang="en-US" altLang="zh-CN" sz="1050" dirty="0">
                <a:latin typeface="等线" panose="02010600030101010101" pitchFamily="2" charset="-122"/>
                <a:ea typeface="等线" panose="02010600030101010101" pitchFamily="2" charset="-122"/>
              </a:rPr>
              <a:t>•••</a:t>
            </a:r>
            <a:endParaRPr lang="zh-CN" altLang="en-US" sz="1050" dirty="0"/>
          </a:p>
        </p:txBody>
      </p:sp>
      <p:grpSp>
        <p:nvGrpSpPr>
          <p:cNvPr id="27" name="组合 26">
            <a:extLst>
              <a:ext uri="{FF2B5EF4-FFF2-40B4-BE49-F238E27FC236}">
                <a16:creationId xmlns:a16="http://schemas.microsoft.com/office/drawing/2014/main" id="{269BAA9C-0A3D-46BD-A561-8FC24FE46396}"/>
              </a:ext>
            </a:extLst>
          </p:cNvPr>
          <p:cNvGrpSpPr/>
          <p:nvPr/>
        </p:nvGrpSpPr>
        <p:grpSpPr>
          <a:xfrm>
            <a:off x="3036973" y="3978330"/>
            <a:ext cx="525335" cy="265330"/>
            <a:chOff x="2780444" y="3978330"/>
            <a:chExt cx="525335" cy="265330"/>
          </a:xfrm>
        </p:grpSpPr>
        <p:sp>
          <p:nvSpPr>
            <p:cNvPr id="24" name="文本框 23">
              <a:extLst>
                <a:ext uri="{FF2B5EF4-FFF2-40B4-BE49-F238E27FC236}">
                  <a16:creationId xmlns:a16="http://schemas.microsoft.com/office/drawing/2014/main" id="{0C3D9935-B325-4A71-BA23-D2ED20A62861}"/>
                </a:ext>
              </a:extLst>
            </p:cNvPr>
            <p:cNvSpPr txBox="1"/>
            <p:nvPr/>
          </p:nvSpPr>
          <p:spPr>
            <a:xfrm>
              <a:off x="2780444" y="3978330"/>
              <a:ext cx="352982" cy="261610"/>
            </a:xfrm>
            <a:prstGeom prst="rect">
              <a:avLst/>
            </a:prstGeom>
            <a:noFill/>
          </p:spPr>
          <p:txBody>
            <a:bodyPr wrap="none" rtlCol="0">
              <a:spAutoFit/>
            </a:bodyPr>
            <a:lstStyle/>
            <a:p>
              <a:r>
                <a:rPr lang="en-US" altLang="zh-CN" sz="1050" dirty="0">
                  <a:latin typeface="等线" panose="02010600030101010101" pitchFamily="2" charset="-122"/>
                  <a:ea typeface="等线" panose="02010600030101010101" pitchFamily="2" charset="-122"/>
                </a:rPr>
                <a:t>•••</a:t>
              </a:r>
              <a:endParaRPr lang="zh-CN" altLang="en-US" sz="1050" dirty="0"/>
            </a:p>
          </p:txBody>
        </p:sp>
        <p:sp>
          <p:nvSpPr>
            <p:cNvPr id="26" name="文本框 25">
              <a:extLst>
                <a:ext uri="{FF2B5EF4-FFF2-40B4-BE49-F238E27FC236}">
                  <a16:creationId xmlns:a16="http://schemas.microsoft.com/office/drawing/2014/main" id="{F566ABD5-244D-48EE-82E9-972D1A0B3E4D}"/>
                </a:ext>
              </a:extLst>
            </p:cNvPr>
            <p:cNvSpPr txBox="1"/>
            <p:nvPr/>
          </p:nvSpPr>
          <p:spPr>
            <a:xfrm>
              <a:off x="2952797" y="3982050"/>
              <a:ext cx="352982" cy="261610"/>
            </a:xfrm>
            <a:prstGeom prst="rect">
              <a:avLst/>
            </a:prstGeom>
            <a:noFill/>
          </p:spPr>
          <p:txBody>
            <a:bodyPr wrap="none" rtlCol="0">
              <a:spAutoFit/>
            </a:bodyPr>
            <a:lstStyle/>
            <a:p>
              <a:r>
                <a:rPr lang="en-US" altLang="zh-CN" sz="1050" dirty="0">
                  <a:latin typeface="等线" panose="02010600030101010101" pitchFamily="2" charset="-122"/>
                  <a:ea typeface="等线" panose="02010600030101010101" pitchFamily="2" charset="-122"/>
                </a:rPr>
                <a:t>•••</a:t>
              </a:r>
              <a:endParaRPr lang="zh-CN" altLang="en-US" sz="1050" dirty="0"/>
            </a:p>
          </p:txBody>
        </p:sp>
      </p:grpSp>
      <p:grpSp>
        <p:nvGrpSpPr>
          <p:cNvPr id="28" name="组合 27">
            <a:extLst>
              <a:ext uri="{FF2B5EF4-FFF2-40B4-BE49-F238E27FC236}">
                <a16:creationId xmlns:a16="http://schemas.microsoft.com/office/drawing/2014/main" id="{A271A3C2-A900-42DA-9B15-5C7211EEB0C1}"/>
              </a:ext>
            </a:extLst>
          </p:cNvPr>
          <p:cNvGrpSpPr/>
          <p:nvPr/>
        </p:nvGrpSpPr>
        <p:grpSpPr>
          <a:xfrm>
            <a:off x="8135631" y="3964337"/>
            <a:ext cx="525335" cy="265330"/>
            <a:chOff x="2780444" y="3978330"/>
            <a:chExt cx="525335" cy="265330"/>
          </a:xfrm>
        </p:grpSpPr>
        <p:sp>
          <p:nvSpPr>
            <p:cNvPr id="29" name="文本框 28">
              <a:extLst>
                <a:ext uri="{FF2B5EF4-FFF2-40B4-BE49-F238E27FC236}">
                  <a16:creationId xmlns:a16="http://schemas.microsoft.com/office/drawing/2014/main" id="{7608BAE5-F872-40A2-8923-11C16C5E16FB}"/>
                </a:ext>
              </a:extLst>
            </p:cNvPr>
            <p:cNvSpPr txBox="1"/>
            <p:nvPr/>
          </p:nvSpPr>
          <p:spPr>
            <a:xfrm>
              <a:off x="2780444" y="3978330"/>
              <a:ext cx="352982" cy="261610"/>
            </a:xfrm>
            <a:prstGeom prst="rect">
              <a:avLst/>
            </a:prstGeom>
            <a:noFill/>
          </p:spPr>
          <p:txBody>
            <a:bodyPr wrap="none" rtlCol="0">
              <a:spAutoFit/>
            </a:bodyPr>
            <a:lstStyle/>
            <a:p>
              <a:r>
                <a:rPr lang="en-US" altLang="zh-CN" sz="1050" dirty="0">
                  <a:latin typeface="等线" panose="02010600030101010101" pitchFamily="2" charset="-122"/>
                  <a:ea typeface="等线" panose="02010600030101010101" pitchFamily="2" charset="-122"/>
                </a:rPr>
                <a:t>•••</a:t>
              </a:r>
              <a:endParaRPr lang="zh-CN" altLang="en-US" sz="1050" dirty="0"/>
            </a:p>
          </p:txBody>
        </p:sp>
        <p:sp>
          <p:nvSpPr>
            <p:cNvPr id="30" name="文本框 29">
              <a:extLst>
                <a:ext uri="{FF2B5EF4-FFF2-40B4-BE49-F238E27FC236}">
                  <a16:creationId xmlns:a16="http://schemas.microsoft.com/office/drawing/2014/main" id="{6BD4DB22-C92A-420E-8F7E-4176861454B4}"/>
                </a:ext>
              </a:extLst>
            </p:cNvPr>
            <p:cNvSpPr txBox="1"/>
            <p:nvPr/>
          </p:nvSpPr>
          <p:spPr>
            <a:xfrm>
              <a:off x="2952797" y="3982050"/>
              <a:ext cx="352982" cy="261610"/>
            </a:xfrm>
            <a:prstGeom prst="rect">
              <a:avLst/>
            </a:prstGeom>
            <a:noFill/>
          </p:spPr>
          <p:txBody>
            <a:bodyPr wrap="none" rtlCol="0">
              <a:spAutoFit/>
            </a:bodyPr>
            <a:lstStyle/>
            <a:p>
              <a:r>
                <a:rPr lang="en-US" altLang="zh-CN" sz="1050" dirty="0">
                  <a:latin typeface="等线" panose="02010600030101010101" pitchFamily="2" charset="-122"/>
                  <a:ea typeface="等线" panose="02010600030101010101" pitchFamily="2" charset="-122"/>
                </a:rPr>
                <a:t>•••</a:t>
              </a:r>
              <a:endParaRPr lang="zh-CN" altLang="en-US" sz="1050" dirty="0"/>
            </a:p>
          </p:txBody>
        </p:sp>
      </p:grpSp>
      <p:sp>
        <p:nvSpPr>
          <p:cNvPr id="31" name="文本框 30">
            <a:extLst>
              <a:ext uri="{FF2B5EF4-FFF2-40B4-BE49-F238E27FC236}">
                <a16:creationId xmlns:a16="http://schemas.microsoft.com/office/drawing/2014/main" id="{DB8EB3A4-C4A8-4E40-8D3B-D4B1D6BAEDBB}"/>
              </a:ext>
            </a:extLst>
          </p:cNvPr>
          <p:cNvSpPr txBox="1"/>
          <p:nvPr/>
        </p:nvSpPr>
        <p:spPr>
          <a:xfrm>
            <a:off x="6642353" y="3897838"/>
            <a:ext cx="971740" cy="369332"/>
          </a:xfrm>
          <a:prstGeom prst="rect">
            <a:avLst/>
          </a:prstGeom>
          <a:noFill/>
        </p:spPr>
        <p:txBody>
          <a:bodyPr wrap="none" rtlCol="0">
            <a:spAutoFit/>
          </a:bodyPr>
          <a:lstStyle/>
          <a:p>
            <a:pPr algn="ctr"/>
            <a:r>
              <a:rPr lang="en-US" altLang="zh-CN" dirty="0"/>
              <a:t>email[0]</a:t>
            </a:r>
            <a:endParaRPr lang="zh-CN" altLang="en-US" dirty="0"/>
          </a:p>
        </p:txBody>
      </p:sp>
      <p:sp>
        <p:nvSpPr>
          <p:cNvPr id="32" name="文本框 31">
            <a:extLst>
              <a:ext uri="{FF2B5EF4-FFF2-40B4-BE49-F238E27FC236}">
                <a16:creationId xmlns:a16="http://schemas.microsoft.com/office/drawing/2014/main" id="{C5D163BF-968B-4D24-BCCC-193E08028586}"/>
              </a:ext>
            </a:extLst>
          </p:cNvPr>
          <p:cNvSpPr txBox="1"/>
          <p:nvPr/>
        </p:nvSpPr>
        <p:spPr>
          <a:xfrm>
            <a:off x="9182505" y="3903975"/>
            <a:ext cx="1093569" cy="369332"/>
          </a:xfrm>
          <a:prstGeom prst="rect">
            <a:avLst/>
          </a:prstGeom>
          <a:noFill/>
        </p:spPr>
        <p:txBody>
          <a:bodyPr wrap="none" rtlCol="0">
            <a:spAutoFit/>
          </a:bodyPr>
          <a:lstStyle/>
          <a:p>
            <a:pPr algn="ctr"/>
            <a:r>
              <a:rPr lang="en-US" altLang="zh-CN" dirty="0"/>
              <a:t>email[29]</a:t>
            </a:r>
            <a:endParaRPr lang="zh-CN" altLang="en-US" dirty="0"/>
          </a:p>
        </p:txBody>
      </p:sp>
      <p:sp>
        <p:nvSpPr>
          <p:cNvPr id="2" name="灯片编号占位符 1">
            <a:extLst>
              <a:ext uri="{FF2B5EF4-FFF2-40B4-BE49-F238E27FC236}">
                <a16:creationId xmlns:a16="http://schemas.microsoft.com/office/drawing/2014/main" id="{036AD357-C5A8-4424-8900-21405CB26E72}"/>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10</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619062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ABEFE90-FAFD-4676-8957-CE5CC2B8B758}"/>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结构体变量初始化</a:t>
            </a:r>
            <a:endParaRPr lang="zh-CN" altLang="en-US" sz="3200" b="1" dirty="0">
              <a:solidFill>
                <a:srgbClr val="200AC4"/>
              </a:solidFill>
              <a:ea typeface="隶书" pitchFamily="49" charset="-122"/>
            </a:endParaRPr>
          </a:p>
        </p:txBody>
      </p:sp>
      <p:sp>
        <p:nvSpPr>
          <p:cNvPr id="4" name="Text Box 88">
            <a:extLst>
              <a:ext uri="{FF2B5EF4-FFF2-40B4-BE49-F238E27FC236}">
                <a16:creationId xmlns:a16="http://schemas.microsoft.com/office/drawing/2014/main" id="{8F0DC386-EE02-4624-A0F0-13FA2FAB9640}"/>
              </a:ext>
            </a:extLst>
          </p:cNvPr>
          <p:cNvSpPr txBox="1">
            <a:spLocks noChangeArrowheads="1"/>
          </p:cNvSpPr>
          <p:nvPr/>
        </p:nvSpPr>
        <p:spPr bwMode="auto">
          <a:xfrm>
            <a:off x="0" y="545222"/>
            <a:ext cx="12192000" cy="95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dirty="0">
                <a:latin typeface="+mn-ea"/>
                <a:ea typeface="+mn-ea"/>
              </a:rPr>
              <a:t>对结构体变量进行初始化时，各成员初始值按照顺序依次放在一对花括号中并用逗号进行分隔。</a:t>
            </a:r>
          </a:p>
        </p:txBody>
      </p:sp>
      <p:sp>
        <p:nvSpPr>
          <p:cNvPr id="5" name="Rectangle 2">
            <a:extLst>
              <a:ext uri="{FF2B5EF4-FFF2-40B4-BE49-F238E27FC236}">
                <a16:creationId xmlns:a16="http://schemas.microsoft.com/office/drawing/2014/main" id="{535C50FB-37D4-4380-9257-EEDF04A0575A}"/>
              </a:ext>
            </a:extLst>
          </p:cNvPr>
          <p:cNvSpPr txBox="1">
            <a:spLocks noChangeArrowheads="1"/>
          </p:cNvSpPr>
          <p:nvPr/>
        </p:nvSpPr>
        <p:spPr>
          <a:xfrm>
            <a:off x="0" y="1542141"/>
            <a:ext cx="12192000" cy="40010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book</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isbn</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title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price;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book</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book1 = </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978-10950-8</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ts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book</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book2 = </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978-02646-2</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C</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语言程序设计</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79.0f}</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sp>
        <p:nvSpPr>
          <p:cNvPr id="2" name="灯片编号占位符 1">
            <a:extLst>
              <a:ext uri="{FF2B5EF4-FFF2-40B4-BE49-F238E27FC236}">
                <a16:creationId xmlns:a16="http://schemas.microsoft.com/office/drawing/2014/main" id="{085987D5-813F-4A56-82CD-608C1FB56AD8}"/>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11</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2458295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animEffect transition="in" filter="fade">
                                      <p:cBhvr>
                                        <p:cTn id="7" dur="1000"/>
                                        <p:tgtEl>
                                          <p:spTgt spid="5">
                                            <p:txEl>
                                              <p:pRg st="6" end="6"/>
                                            </p:txEl>
                                          </p:spTgt>
                                        </p:tgtEl>
                                      </p:cBhvr>
                                    </p:animEffect>
                                    <p:anim calcmode="lin" valueType="num">
                                      <p:cBhvr>
                                        <p:cTn id="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7" end="7"/>
                                            </p:txEl>
                                          </p:spTgt>
                                        </p:tgtEl>
                                        <p:attrNameLst>
                                          <p:attrName>style.visibility</p:attrName>
                                        </p:attrNameLst>
                                      </p:cBhvr>
                                      <p:to>
                                        <p:strVal val="visible"/>
                                      </p:to>
                                    </p:set>
                                    <p:animEffect transition="in" filter="fade">
                                      <p:cBhvr>
                                        <p:cTn id="14" dur="1000"/>
                                        <p:tgtEl>
                                          <p:spTgt spid="5">
                                            <p:txEl>
                                              <p:pRg st="7" end="7"/>
                                            </p:txEl>
                                          </p:spTgt>
                                        </p:tgtEl>
                                      </p:cBhvr>
                                    </p:animEffect>
                                    <p:anim calcmode="lin" valueType="num">
                                      <p:cBhvr>
                                        <p:cTn id="15"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D697BB38-CF5D-47EF-9044-877B2D24A13F}"/>
              </a:ext>
            </a:extLst>
          </p:cNvPr>
          <p:cNvSpPr/>
          <p:nvPr/>
        </p:nvSpPr>
        <p:spPr>
          <a:xfrm>
            <a:off x="16777" y="608437"/>
            <a:ext cx="12175223" cy="830997"/>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7-1</a:t>
            </a:r>
            <a:r>
              <a:rPr lang="en-US" altLang="zh-CN" sz="2400" b="1" dirty="0">
                <a:latin typeface="隶书" pitchFamily="49" charset="-122"/>
              </a:rPr>
              <a:t>】</a:t>
            </a:r>
            <a:r>
              <a:rPr lang="zh-CN" altLang="en-US" sz="2400" b="1" dirty="0">
                <a:latin typeface="隶书" pitchFamily="49" charset="-122"/>
              </a:rPr>
              <a:t>从键盘输入两名学生的信息，输出英语成绩较高的学生信息。每名学生的信息包括学号、姓名、</a:t>
            </a:r>
            <a:r>
              <a:rPr lang="zh-CN" altLang="en-US" sz="2400" b="1" dirty="0">
                <a:solidFill>
                  <a:srgbClr val="7030A0"/>
                </a:solidFill>
                <a:latin typeface="隶书" pitchFamily="49" charset="-122"/>
              </a:rPr>
              <a:t>出生日期</a:t>
            </a:r>
            <a:r>
              <a:rPr lang="zh-CN" altLang="en-US" sz="2400" b="1" dirty="0">
                <a:latin typeface="隶书" pitchFamily="49" charset="-122"/>
              </a:rPr>
              <a:t>、英语成绩。</a:t>
            </a:r>
          </a:p>
        </p:txBody>
      </p:sp>
      <p:sp>
        <p:nvSpPr>
          <p:cNvPr id="7" name="Rectangle 2">
            <a:extLst>
              <a:ext uri="{FF2B5EF4-FFF2-40B4-BE49-F238E27FC236}">
                <a16:creationId xmlns:a16="http://schemas.microsoft.com/office/drawing/2014/main" id="{00149CE3-994F-4481-80BD-97F20C79292F}"/>
              </a:ext>
            </a:extLst>
          </p:cNvPr>
          <p:cNvSpPr txBox="1">
            <a:spLocks noChangeArrowheads="1"/>
          </p:cNvSpPr>
          <p:nvPr/>
        </p:nvSpPr>
        <p:spPr>
          <a:xfrm>
            <a:off x="245683" y="1931441"/>
            <a:ext cx="4578708"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struct</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date</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year;</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month;</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day;</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zh-CN" altLang="en-US" b="1" dirty="0">
                <a:solidFill>
                  <a:srgbClr val="FF0000"/>
                </a:solidFill>
              </a:rPr>
              <a:t>；</a:t>
            </a:r>
          </a:p>
        </p:txBody>
      </p:sp>
      <p:sp>
        <p:nvSpPr>
          <p:cNvPr id="8" name="Rectangle 2">
            <a:extLst>
              <a:ext uri="{FF2B5EF4-FFF2-40B4-BE49-F238E27FC236}">
                <a16:creationId xmlns:a16="http://schemas.microsoft.com/office/drawing/2014/main" id="{85CD46D7-301A-4646-A1DF-239BFDE8E572}"/>
              </a:ext>
            </a:extLst>
          </p:cNvPr>
          <p:cNvSpPr txBox="1">
            <a:spLocks noChangeArrowheads="1"/>
          </p:cNvSpPr>
          <p:nvPr/>
        </p:nvSpPr>
        <p:spPr>
          <a:xfrm>
            <a:off x="4875884" y="1931440"/>
            <a:ext cx="6804438"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no</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学号</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姓名</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date</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birthday;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出生日期</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score;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英语成绩</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endParaRPr lang="zh-CN" altLang="en-US" b="1" dirty="0">
              <a:solidFill>
                <a:srgbClr val="FF0000"/>
              </a:solidFill>
              <a:latin typeface="Consolas" panose="020B0609020204030204" pitchFamily="49" charset="0"/>
              <a:cs typeface="Times New Roman" panose="02020603050405020304" pitchFamily="18" charset="0"/>
            </a:endParaRPr>
          </a:p>
        </p:txBody>
      </p:sp>
      <p:sp>
        <p:nvSpPr>
          <p:cNvPr id="9" name="文本框 8">
            <a:extLst>
              <a:ext uri="{FF2B5EF4-FFF2-40B4-BE49-F238E27FC236}">
                <a16:creationId xmlns:a16="http://schemas.microsoft.com/office/drawing/2014/main" id="{C5088A82-B043-4DB5-9FD0-E889FFDC1D49}"/>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结构体变量引用</a:t>
            </a:r>
            <a:endParaRPr lang="zh-CN" altLang="en-US" sz="3200" b="1" dirty="0">
              <a:solidFill>
                <a:srgbClr val="200AC4"/>
              </a:solidFill>
              <a:ea typeface="隶书" pitchFamily="49" charset="-122"/>
            </a:endParaRPr>
          </a:p>
        </p:txBody>
      </p:sp>
      <p:sp>
        <p:nvSpPr>
          <p:cNvPr id="2" name="灯片编号占位符 1">
            <a:extLst>
              <a:ext uri="{FF2B5EF4-FFF2-40B4-BE49-F238E27FC236}">
                <a16:creationId xmlns:a16="http://schemas.microsoft.com/office/drawing/2014/main" id="{194E4FEB-2D36-4B27-8611-A605EB42858D}"/>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12</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716206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C5088A82-B043-4DB5-9FD0-E889FFDC1D49}"/>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结构体变量引用</a:t>
            </a:r>
            <a:endParaRPr lang="zh-CN" altLang="en-US" sz="3200" b="1" dirty="0">
              <a:solidFill>
                <a:srgbClr val="200AC4"/>
              </a:solidFill>
              <a:ea typeface="隶书" pitchFamily="49" charset="-122"/>
            </a:endParaRPr>
          </a:p>
        </p:txBody>
      </p:sp>
      <p:sp>
        <p:nvSpPr>
          <p:cNvPr id="10" name="Rectangle 2">
            <a:extLst>
              <a:ext uri="{FF2B5EF4-FFF2-40B4-BE49-F238E27FC236}">
                <a16:creationId xmlns:a16="http://schemas.microsoft.com/office/drawing/2014/main" id="{AD7857A5-034D-478C-A29C-39F6301A36C2}"/>
              </a:ext>
            </a:extLst>
          </p:cNvPr>
          <p:cNvSpPr txBox="1">
            <a:spLocks noChangeArrowheads="1"/>
          </p:cNvSpPr>
          <p:nvPr/>
        </p:nvSpPr>
        <p:spPr>
          <a:xfrm>
            <a:off x="4895" y="651605"/>
            <a:ext cx="6027662" cy="378565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Consolas" panose="020B0609020204030204" pitchFamily="49" charset="0"/>
              </a:rPr>
              <a:t>int </a:t>
            </a:r>
            <a:r>
              <a:rPr lang="en-US" altLang="zh-CN" sz="2400" b="1" dirty="0">
                <a:latin typeface="Consolas" panose="020B0609020204030204" pitchFamily="49" charset="0"/>
              </a:rPr>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latin typeface="Consolas" panose="020B0609020204030204" pitchFamily="49" charset="0"/>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Consolas" panose="020B0609020204030204" pitchFamily="49" charset="0"/>
              </a:rPr>
              <a:t>  struct </a:t>
            </a:r>
            <a:r>
              <a:rPr lang="en-US" altLang="zh-CN" sz="2400" b="1" dirty="0">
                <a:solidFill>
                  <a:srgbClr val="0070C0"/>
                </a:solidFill>
                <a:latin typeface="Consolas" panose="020B0609020204030204" pitchFamily="49" charset="0"/>
              </a:rPr>
              <a:t>student</a:t>
            </a:r>
            <a:r>
              <a:rPr lang="en-US" altLang="zh-CN" sz="2400" b="1" dirty="0">
                <a:solidFill>
                  <a:srgbClr val="0000FF"/>
                </a:solidFill>
                <a:latin typeface="Consolas" panose="020B0609020204030204" pitchFamily="49" charset="0"/>
              </a:rPr>
              <a:t> </a:t>
            </a:r>
            <a:r>
              <a:rPr lang="en-US" altLang="zh-CN" sz="2400" b="1" dirty="0">
                <a:latin typeface="Consolas" panose="020B0609020204030204" pitchFamily="49" charset="0"/>
              </a:rPr>
              <a:t>stu1, stu2;</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latin typeface="Consolas" panose="020B0609020204030204" pitchFamily="49" charset="0"/>
              </a:rPr>
              <a:t>  </a:t>
            </a:r>
            <a:r>
              <a:rPr lang="en-US" altLang="zh-CN" sz="2400" b="1" dirty="0">
                <a:latin typeface="Consolas" panose="020B0609020204030204" pitchFamily="49" charset="0"/>
              </a:rPr>
              <a:t>gets(stu1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no); </a:t>
            </a:r>
          </a:p>
          <a:p>
            <a:pPr marL="0" indent="0">
              <a:lnSpc>
                <a:spcPct val="100000"/>
              </a:lnSpc>
              <a:spcBef>
                <a:spcPct val="0"/>
              </a:spcBef>
              <a:buClr>
                <a:schemeClr val="tx2"/>
              </a:buClr>
              <a:buSzPct val="70000"/>
              <a:buFont typeface="Arial" panose="020B0604020202020204" pitchFamily="34" charset="0"/>
              <a:buNone/>
            </a:pPr>
            <a:r>
              <a:rPr lang="en-US" altLang="zh-CN" sz="2400" b="1" dirty="0">
                <a:latin typeface="Consolas" panose="020B0609020204030204" pitchFamily="49" charset="0"/>
              </a:rPr>
              <a:t>  gets(stu1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name);</a:t>
            </a:r>
          </a:p>
          <a:p>
            <a:pPr marL="0" indent="0">
              <a:lnSpc>
                <a:spcPct val="100000"/>
              </a:lnSpc>
              <a:spcBef>
                <a:spcPct val="0"/>
              </a:spcBef>
              <a:buClr>
                <a:schemeClr val="tx2"/>
              </a:buClr>
              <a:buSzPct val="70000"/>
              <a:buFont typeface="Arial" panose="020B0604020202020204" pitchFamily="34" charset="0"/>
              <a:buNone/>
            </a:pPr>
            <a:r>
              <a:rPr lang="en-US" altLang="zh-CN" sz="2400" b="1" dirty="0">
                <a:latin typeface="Consolas" panose="020B0609020204030204" pitchFamily="49" charset="0"/>
              </a:rPr>
              <a:t>  scanf(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%d</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&amp;stu1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birthday</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year);</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scanf(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%d</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&amp;stu1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birthday</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month);</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scanf(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%d</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&amp;stu1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birthday</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day);</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scanf(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%f</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&amp;stu1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score);</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B050"/>
                </a:solidFill>
                <a:latin typeface="Consolas" panose="020B0609020204030204" pitchFamily="49" charset="0"/>
              </a:rPr>
              <a:t>  ……</a:t>
            </a:r>
          </a:p>
        </p:txBody>
      </p:sp>
      <p:sp>
        <p:nvSpPr>
          <p:cNvPr id="11" name="Rectangle 2">
            <a:extLst>
              <a:ext uri="{FF2B5EF4-FFF2-40B4-BE49-F238E27FC236}">
                <a16:creationId xmlns:a16="http://schemas.microsoft.com/office/drawing/2014/main" id="{586D9943-A962-44B7-8EBB-6A156D033C50}"/>
              </a:ext>
            </a:extLst>
          </p:cNvPr>
          <p:cNvSpPr txBox="1">
            <a:spLocks noChangeArrowheads="1"/>
          </p:cNvSpPr>
          <p:nvPr/>
        </p:nvSpPr>
        <p:spPr>
          <a:xfrm>
            <a:off x="6046346" y="1665317"/>
            <a:ext cx="6138755" cy="4893647"/>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t>  </a:t>
            </a:r>
            <a:r>
              <a:rPr lang="en-US" altLang="zh-CN" sz="2400" b="1" dirty="0">
                <a:solidFill>
                  <a:srgbClr val="00B050"/>
                </a:solidFill>
                <a:latin typeface="Consolas" panose="020B0609020204030204" pitchFamily="49" charset="0"/>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Consolas" panose="020B0609020204030204" pitchFamily="49" charset="0"/>
              </a:rPr>
              <a:t> if</a:t>
            </a:r>
            <a:r>
              <a:rPr lang="en-US" altLang="zh-CN" sz="2400" b="1" dirty="0">
                <a:latin typeface="Consolas" panose="020B0609020204030204" pitchFamily="49" charset="0"/>
              </a:rPr>
              <a:t>(stu1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score &gt;= stu2</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score){</a:t>
            </a:r>
          </a:p>
          <a:p>
            <a:pPr marL="0" indent="0">
              <a:lnSpc>
                <a:spcPct val="100000"/>
              </a:lnSpc>
              <a:spcBef>
                <a:spcPct val="0"/>
              </a:spcBef>
              <a:buClr>
                <a:schemeClr val="tx2"/>
              </a:buClr>
              <a:buSzPct val="70000"/>
              <a:buFont typeface="Arial" panose="020B0604020202020204" pitchFamily="34" charset="0"/>
              <a:buNone/>
            </a:pPr>
            <a:r>
              <a:rPr lang="en-US" altLang="zh-CN" sz="2400" b="1" dirty="0">
                <a:latin typeface="Consolas" panose="020B0609020204030204" pitchFamily="49" charset="0"/>
              </a:rPr>
              <a:t>   puts(stu1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no);</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puts(stu1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name);</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printf(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%d-</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birthday</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year);</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printf(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%d-</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,stu1.birthday</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month);</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printf(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%d</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stu1.birthday</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day);</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printf(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%f</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stu1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score);</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}else{</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B050"/>
                </a:solidFill>
                <a:latin typeface="Consolas" panose="020B0609020204030204" pitchFamily="49" charset="0"/>
              </a:rPr>
              <a:t>……</a:t>
            </a:r>
            <a:endParaRPr lang="en-US" altLang="zh-CN" sz="2400" b="1" dirty="0">
              <a:latin typeface="Consolas" panose="020B0609020204030204" pitchFamily="49" charset="0"/>
            </a:endParaRP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p>
          <a:p>
            <a:pPr marL="0" indent="0">
              <a:lnSpc>
                <a:spcPct val="100000"/>
              </a:lnSpc>
              <a:spcBef>
                <a:spcPct val="0"/>
              </a:spcBef>
              <a:buClr>
                <a:schemeClr val="tx2"/>
              </a:buClr>
              <a:buSzPct val="70000"/>
              <a:buNone/>
            </a:pPr>
            <a:r>
              <a:rPr lang="en-US" altLang="zh-CN" sz="2400" b="1" dirty="0">
                <a:solidFill>
                  <a:srgbClr val="00B050"/>
                </a:solidFill>
                <a:latin typeface="Consolas" panose="020B0609020204030204" pitchFamily="49" charset="0"/>
              </a:rPr>
              <a:t> </a:t>
            </a:r>
            <a:r>
              <a:rPr lang="en-US" altLang="zh-CN" sz="2400" b="1" dirty="0">
                <a:solidFill>
                  <a:srgbClr val="0000FF"/>
                </a:solidFill>
                <a:latin typeface="Consolas" panose="020B0609020204030204" pitchFamily="49" charset="0"/>
              </a:rPr>
              <a:t>return</a:t>
            </a:r>
            <a:r>
              <a:rPr lang="en-US" altLang="zh-CN" sz="2400" b="1" dirty="0">
                <a:latin typeface="Consolas" panose="020B0609020204030204" pitchFamily="49" charset="0"/>
              </a:rPr>
              <a:t> 0;</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latin typeface="Consolas" panose="020B0609020204030204" pitchFamily="49" charset="0"/>
              </a:rPr>
              <a:t>}</a:t>
            </a:r>
          </a:p>
        </p:txBody>
      </p:sp>
      <p:sp>
        <p:nvSpPr>
          <p:cNvPr id="2" name="灯片编号占位符 1">
            <a:extLst>
              <a:ext uri="{FF2B5EF4-FFF2-40B4-BE49-F238E27FC236}">
                <a16:creationId xmlns:a16="http://schemas.microsoft.com/office/drawing/2014/main" id="{94C7E35C-A1E3-40B2-8219-28C036DF5912}"/>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13</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133338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5EC24B4-60EE-4AA5-81FD-619D1EFDDF78}"/>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结构体数组定义及初始化</a:t>
            </a:r>
            <a:endParaRPr lang="zh-CN" altLang="en-US" sz="3200" b="1" dirty="0">
              <a:solidFill>
                <a:srgbClr val="200AC4"/>
              </a:solidFill>
              <a:ea typeface="隶书" pitchFamily="49" charset="-122"/>
            </a:endParaRPr>
          </a:p>
        </p:txBody>
      </p:sp>
      <p:sp>
        <p:nvSpPr>
          <p:cNvPr id="4" name="Text Box 88">
            <a:extLst>
              <a:ext uri="{FF2B5EF4-FFF2-40B4-BE49-F238E27FC236}">
                <a16:creationId xmlns:a16="http://schemas.microsoft.com/office/drawing/2014/main" id="{9FDE520D-771A-45BB-B7F5-AADA360965CC}"/>
              </a:ext>
            </a:extLst>
          </p:cNvPr>
          <p:cNvSpPr txBox="1">
            <a:spLocks noChangeArrowheads="1"/>
          </p:cNvSpPr>
          <p:nvPr/>
        </p:nvSpPr>
        <p:spPr bwMode="auto">
          <a:xfrm>
            <a:off x="0" y="545222"/>
            <a:ext cx="1219200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dirty="0">
                <a:latin typeface="+mn-ea"/>
                <a:ea typeface="+mn-ea"/>
              </a:rPr>
              <a:t>要存储表</a:t>
            </a:r>
            <a:r>
              <a:rPr kumimoji="1" lang="en-US" altLang="zh-CN" sz="2800" b="1" dirty="0">
                <a:latin typeface="+mn-ea"/>
                <a:ea typeface="+mn-ea"/>
              </a:rPr>
              <a:t>7-1</a:t>
            </a:r>
            <a:r>
              <a:rPr kumimoji="1" lang="zh-CN" altLang="en-US" sz="2800" b="1" dirty="0">
                <a:latin typeface="+mn-ea"/>
                <a:ea typeface="+mn-ea"/>
              </a:rPr>
              <a:t>中的数据，可以定义学生信息结构体数组。例如：</a:t>
            </a:r>
          </a:p>
        </p:txBody>
      </p:sp>
      <p:sp>
        <p:nvSpPr>
          <p:cNvPr id="5" name="Rectangle 2">
            <a:extLst>
              <a:ext uri="{FF2B5EF4-FFF2-40B4-BE49-F238E27FC236}">
                <a16:creationId xmlns:a16="http://schemas.microsoft.com/office/drawing/2014/main" id="{AFDC0F3A-BEF0-4DE3-A25B-7BDFD06FFD23}"/>
              </a:ext>
            </a:extLst>
          </p:cNvPr>
          <p:cNvSpPr txBox="1">
            <a:spLocks noChangeArrowheads="1"/>
          </p:cNvSpPr>
          <p:nvPr/>
        </p:nvSpPr>
        <p:spPr>
          <a:xfrm>
            <a:off x="111714" y="1120480"/>
            <a:ext cx="12032015"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no</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学号</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姓名</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score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3</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三门课成绩</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total;    </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总成绩</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4</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B10199003</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周高品</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85, 97, 61</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B10199004</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郑丽娜</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76, 82, 64</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B10199005</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周高品</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58, 77, 69</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B10199006</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zh-CN" altLang="en-US"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周高品</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66, 87, 94</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sp>
        <p:nvSpPr>
          <p:cNvPr id="2" name="灯片编号占位符 1">
            <a:extLst>
              <a:ext uri="{FF2B5EF4-FFF2-40B4-BE49-F238E27FC236}">
                <a16:creationId xmlns:a16="http://schemas.microsoft.com/office/drawing/2014/main" id="{96020474-D104-4014-96F4-C245162E63F7}"/>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14</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922558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0657257-8393-4F21-A74A-C3B0CACAA596}"/>
              </a:ext>
            </a:extLst>
          </p:cNvPr>
          <p:cNvSpPr/>
          <p:nvPr/>
        </p:nvSpPr>
        <p:spPr>
          <a:xfrm>
            <a:off x="16777" y="608437"/>
            <a:ext cx="12175223" cy="830997"/>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7-2</a:t>
            </a:r>
            <a:r>
              <a:rPr lang="en-US" altLang="zh-CN" sz="2400" b="1" dirty="0">
                <a:latin typeface="隶书" pitchFamily="49" charset="-122"/>
              </a:rPr>
              <a:t>】</a:t>
            </a:r>
            <a:r>
              <a:rPr lang="zh-CN" altLang="en-US" sz="2400" b="1" dirty="0">
                <a:latin typeface="隶书" pitchFamily="49" charset="-122"/>
              </a:rPr>
              <a:t>对表</a:t>
            </a:r>
            <a:r>
              <a:rPr lang="en-US" altLang="zh-CN" sz="2400" b="1" dirty="0">
                <a:latin typeface="隶书" pitchFamily="49" charset="-122"/>
              </a:rPr>
              <a:t>7-1</a:t>
            </a:r>
            <a:r>
              <a:rPr lang="zh-CN" altLang="en-US" sz="2400" b="1" dirty="0">
                <a:latin typeface="隶书" pitchFamily="49" charset="-122"/>
              </a:rPr>
              <a:t>中的学生成绩按总成绩由高到底排序，若总成绩相等，按英语成绩由调到底排序。</a:t>
            </a:r>
          </a:p>
        </p:txBody>
      </p:sp>
      <p:sp>
        <p:nvSpPr>
          <p:cNvPr id="4" name="文本框 3">
            <a:extLst>
              <a:ext uri="{FF2B5EF4-FFF2-40B4-BE49-F238E27FC236}">
                <a16:creationId xmlns:a16="http://schemas.microsoft.com/office/drawing/2014/main" id="{A0F7694F-1906-4065-842F-158372020E76}"/>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结构体数组应用</a:t>
            </a:r>
            <a:endParaRPr lang="zh-CN" altLang="en-US" sz="3200" b="1" dirty="0">
              <a:solidFill>
                <a:srgbClr val="200AC4"/>
              </a:solidFill>
              <a:ea typeface="隶书" pitchFamily="49" charset="-122"/>
            </a:endParaRPr>
          </a:p>
        </p:txBody>
      </p:sp>
      <p:sp>
        <p:nvSpPr>
          <p:cNvPr id="5" name="Rectangle 2">
            <a:extLst>
              <a:ext uri="{FF2B5EF4-FFF2-40B4-BE49-F238E27FC236}">
                <a16:creationId xmlns:a16="http://schemas.microsoft.com/office/drawing/2014/main" id="{DCFE82CE-5CAF-4F21-9235-D28803A3C66C}"/>
              </a:ext>
            </a:extLst>
          </p:cNvPr>
          <p:cNvSpPr txBox="1">
            <a:spLocks noChangeArrowheads="1"/>
          </p:cNvSpPr>
          <p:nvPr/>
        </p:nvSpPr>
        <p:spPr>
          <a:xfrm>
            <a:off x="37994" y="1444236"/>
            <a:ext cx="4629170"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Consolas" panose="020B0609020204030204" pitchFamily="49" charset="0"/>
              </a:rPr>
              <a:t>#define </a:t>
            </a:r>
            <a:r>
              <a:rPr lang="en-US" altLang="zh-CN" sz="2400" b="1" dirty="0">
                <a:latin typeface="Consolas" panose="020B0609020204030204" pitchFamily="49" charset="0"/>
              </a:rPr>
              <a:t>N</a:t>
            </a:r>
            <a:r>
              <a:rPr lang="en-US" altLang="zh-CN" sz="2400" b="1" dirty="0">
                <a:solidFill>
                  <a:srgbClr val="0000FF"/>
                </a:solidFill>
                <a:latin typeface="Consolas" panose="020B0609020204030204" pitchFamily="49" charset="0"/>
              </a:rPr>
              <a:t> </a:t>
            </a:r>
            <a:r>
              <a:rPr lang="en-US" altLang="zh-CN" sz="2400" b="1" dirty="0">
                <a:latin typeface="Consolas" panose="020B0609020204030204" pitchFamily="49" charset="0"/>
              </a:rPr>
              <a:t>30</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sz="2400"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 </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no</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a:t>
            </a:r>
            <a:endParaRPr lang="en-US" altLang="zh-CN" sz="2400"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20</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a:t>
            </a:r>
            <a:endParaRPr lang="zh-CN" altLang="en-US" sz="2400"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score</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3</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a:t>
            </a:r>
            <a:endParaRPr lang="zh-CN" altLang="en-US" sz="2400"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total;    </a:t>
            </a:r>
            <a:endParaRPr lang="en-US" altLang="zh-CN" sz="2400"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endParaRPr lang="en-US" altLang="zh-CN" sz="2400" b="1" dirty="0">
              <a:latin typeface="Consolas" panose="020B0609020204030204" pitchFamily="49" charset="0"/>
            </a:endParaRP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Consolas" panose="020B0609020204030204" pitchFamily="49" charset="0"/>
              </a:rPr>
              <a:t>int </a:t>
            </a:r>
            <a:r>
              <a:rPr lang="en-US" altLang="zh-CN" sz="2400" b="1" dirty="0">
                <a:latin typeface="Consolas" panose="020B0609020204030204" pitchFamily="49" charset="0"/>
              </a:rPr>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rPr>
              <a:t>   </a:t>
            </a: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sz="2400"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sz="2400" b="1" dirty="0">
                <a:solidFill>
                  <a:srgbClr val="0000FF"/>
                </a:solidFill>
                <a:latin typeface="Consolas" panose="020B0609020204030204" pitchFamily="49" charset="0"/>
              </a:rPr>
              <a:t> </a:t>
            </a:r>
            <a:r>
              <a:rPr lang="en-US" altLang="zh-CN" sz="2400" b="1" dirty="0">
                <a:latin typeface="Consolas" panose="020B0609020204030204" pitchFamily="49" charset="0"/>
              </a:rPr>
              <a:t>stu</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N</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rPr>
              <a:t>   for</a:t>
            </a:r>
            <a:r>
              <a:rPr lang="en-US" altLang="zh-CN" sz="2400" b="1" dirty="0">
                <a:latin typeface="Consolas" panose="020B0609020204030204" pitchFamily="49" charset="0"/>
              </a:rPr>
              <a:t>(</a:t>
            </a:r>
            <a:r>
              <a:rPr lang="en-US" altLang="zh-CN" sz="2400" b="1" dirty="0">
                <a:solidFill>
                  <a:srgbClr val="0000FF"/>
                </a:solidFill>
                <a:latin typeface="Consolas" panose="020B0609020204030204" pitchFamily="49" charset="0"/>
              </a:rPr>
              <a:t>int</a:t>
            </a:r>
            <a:r>
              <a:rPr lang="en-US" altLang="zh-CN" sz="2400" b="1" dirty="0">
                <a:latin typeface="Consolas" panose="020B0609020204030204" pitchFamily="49" charset="0"/>
              </a:rPr>
              <a:t> i=0</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i&lt;N</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i++){</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gets(stu</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i</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.no); </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B050"/>
                </a:solidFill>
                <a:latin typeface="Consolas" panose="020B0609020204030204" pitchFamily="49" charset="0"/>
              </a:rPr>
              <a:t>……</a:t>
            </a:r>
            <a:r>
              <a:rPr lang="en-US" altLang="zh-CN" sz="2400" b="1" dirty="0">
                <a:latin typeface="Consolas" panose="020B0609020204030204" pitchFamily="49" charset="0"/>
              </a:rPr>
              <a:t>  </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p>
        </p:txBody>
      </p:sp>
      <p:sp>
        <p:nvSpPr>
          <p:cNvPr id="6" name="Rectangle 2">
            <a:extLst>
              <a:ext uri="{FF2B5EF4-FFF2-40B4-BE49-F238E27FC236}">
                <a16:creationId xmlns:a16="http://schemas.microsoft.com/office/drawing/2014/main" id="{E398C032-1DE1-4233-BEBC-FF59E415A17C}"/>
              </a:ext>
            </a:extLst>
          </p:cNvPr>
          <p:cNvSpPr txBox="1">
            <a:spLocks noChangeArrowheads="1"/>
          </p:cNvSpPr>
          <p:nvPr/>
        </p:nvSpPr>
        <p:spPr>
          <a:xfrm>
            <a:off x="4688380" y="1060703"/>
            <a:ext cx="7486841" cy="580768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rPr>
              <a:t>  </a:t>
            </a:r>
            <a:r>
              <a:rPr lang="en-US" altLang="zh-CN" sz="2400" b="1" dirty="0">
                <a:solidFill>
                  <a:srgbClr val="0000FF"/>
                </a:solidFill>
                <a:latin typeface="Consolas" panose="020B0609020204030204" pitchFamily="49" charset="0"/>
              </a:rPr>
              <a:t>for</a:t>
            </a:r>
            <a:r>
              <a:rPr lang="en-US" altLang="zh-CN" sz="2400" b="1" dirty="0">
                <a:latin typeface="Consolas" panose="020B0609020204030204" pitchFamily="49" charset="0"/>
              </a:rPr>
              <a:t>(</a:t>
            </a:r>
            <a:r>
              <a:rPr lang="en-US" altLang="zh-CN" sz="2400" b="1" dirty="0">
                <a:solidFill>
                  <a:srgbClr val="0000FF"/>
                </a:solidFill>
                <a:latin typeface="Consolas" panose="020B0609020204030204" pitchFamily="49" charset="0"/>
              </a:rPr>
              <a:t>int</a:t>
            </a:r>
            <a:r>
              <a:rPr lang="en-US" altLang="zh-CN" sz="2400" b="1" dirty="0">
                <a:latin typeface="Consolas" panose="020B0609020204030204" pitchFamily="49" charset="0"/>
              </a:rPr>
              <a:t> i = 0</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i &lt; N-1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i++)</a:t>
            </a:r>
            <a:r>
              <a:rPr lang="en-US" altLang="zh-CN" sz="2400" b="1" dirty="0">
                <a:solidFill>
                  <a:schemeClr val="accent2"/>
                </a:solidFill>
                <a:latin typeface="Consolas" panose="020B0609020204030204" pitchFamily="49" charset="0"/>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latin typeface="Consolas" panose="020B0609020204030204" pitchFamily="49" charset="0"/>
              </a:rPr>
              <a:t>    </a:t>
            </a:r>
            <a:r>
              <a:rPr lang="en-US" altLang="zh-CN" sz="2400" b="1" dirty="0">
                <a:solidFill>
                  <a:srgbClr val="0000FF"/>
                </a:solidFill>
                <a:latin typeface="Consolas" panose="020B0609020204030204" pitchFamily="49" charset="0"/>
              </a:rPr>
              <a:t>int</a:t>
            </a:r>
            <a:r>
              <a:rPr lang="en-US" altLang="zh-CN" sz="2400" b="1" dirty="0">
                <a:latin typeface="Consolas" panose="020B0609020204030204" pitchFamily="49" charset="0"/>
              </a:rPr>
              <a:t> k = i;</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00FF"/>
                </a:solidFill>
                <a:latin typeface="Consolas" panose="020B0609020204030204" pitchFamily="49" charset="0"/>
              </a:rPr>
              <a:t>for</a:t>
            </a:r>
            <a:r>
              <a:rPr lang="en-US" altLang="zh-CN" sz="2400" b="1" dirty="0">
                <a:latin typeface="Consolas" panose="020B0609020204030204" pitchFamily="49" charset="0"/>
              </a:rPr>
              <a:t>(</a:t>
            </a:r>
            <a:r>
              <a:rPr lang="en-US" altLang="zh-CN" sz="2400" b="1" dirty="0">
                <a:solidFill>
                  <a:srgbClr val="0000FF"/>
                </a:solidFill>
                <a:latin typeface="Consolas" panose="020B0609020204030204" pitchFamily="49" charset="0"/>
              </a:rPr>
              <a:t>int</a:t>
            </a:r>
            <a:r>
              <a:rPr lang="en-US" altLang="zh-CN" sz="2400" b="1" dirty="0">
                <a:latin typeface="Consolas" panose="020B0609020204030204" pitchFamily="49" charset="0"/>
              </a:rPr>
              <a:t> j = i+1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j &lt; N</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j++)</a:t>
            </a:r>
            <a:r>
              <a:rPr lang="en-US" altLang="zh-CN" sz="2400" b="1" dirty="0">
                <a:solidFill>
                  <a:srgbClr val="7030A0"/>
                </a:solidFill>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00FF"/>
                </a:solidFill>
                <a:latin typeface="Consolas" panose="020B0609020204030204" pitchFamily="49" charset="0"/>
              </a:rPr>
              <a:t>if</a:t>
            </a:r>
            <a:r>
              <a:rPr lang="en-US" altLang="zh-CN" sz="2400" b="1" dirty="0">
                <a:latin typeface="Consolas" panose="020B0609020204030204" pitchFamily="49" charset="0"/>
              </a:rPr>
              <a:t>(stu</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j</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.total &gt;</a:t>
            </a:r>
            <a:r>
              <a:rPr lang="en-US" altLang="zh-CN" sz="2400" b="1" dirty="0">
                <a:solidFill>
                  <a:srgbClr val="FF0000"/>
                </a:solidFill>
                <a:latin typeface="Consolas" panose="020B0609020204030204" pitchFamily="49" charset="0"/>
              </a:rPr>
              <a:t> </a:t>
            </a:r>
            <a:r>
              <a:rPr lang="en-US" altLang="zh-CN" sz="2400" b="1" dirty="0">
                <a:latin typeface="Consolas" panose="020B0609020204030204" pitchFamily="49" charset="0"/>
              </a:rPr>
              <a:t>stu</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k</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.total) k=j;</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00FF"/>
                </a:solidFill>
                <a:latin typeface="Consolas" panose="020B0609020204030204" pitchFamily="49" charset="0"/>
              </a:rPr>
              <a:t>else</a:t>
            </a:r>
            <a:r>
              <a:rPr lang="en-US" altLang="zh-CN" sz="2400" b="1" dirty="0">
                <a:latin typeface="Consolas" panose="020B0609020204030204" pitchFamily="49" charset="0"/>
              </a:rPr>
              <a:t> </a:t>
            </a:r>
            <a:r>
              <a:rPr lang="en-US" altLang="zh-CN" sz="2400" b="1" dirty="0">
                <a:solidFill>
                  <a:srgbClr val="0000FF"/>
                </a:solidFill>
                <a:latin typeface="Consolas" panose="020B0609020204030204" pitchFamily="49" charset="0"/>
              </a:rPr>
              <a:t>if</a:t>
            </a:r>
            <a:r>
              <a:rPr lang="en-US" altLang="zh-CN" sz="2400" b="1" dirty="0">
                <a:latin typeface="Consolas" panose="020B0609020204030204" pitchFamily="49" charset="0"/>
              </a:rPr>
              <a:t>(stu</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j</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.total==stu</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k</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.total){</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00FF"/>
                </a:solidFill>
                <a:latin typeface="Consolas" panose="020B0609020204030204" pitchFamily="49" charset="0"/>
              </a:rPr>
              <a:t>if</a:t>
            </a:r>
            <a:r>
              <a:rPr lang="en-US" altLang="zh-CN" sz="2400" b="1" dirty="0">
                <a:latin typeface="Consolas" panose="020B0609020204030204" pitchFamily="49" charset="0"/>
              </a:rPr>
              <a:t>(stu</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j</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.score</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2</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&gt;stu</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k</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.score</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2</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k = j;    </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 </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7030A0"/>
                </a:solidFill>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00FF"/>
                </a:solidFill>
                <a:latin typeface="Consolas" panose="020B0609020204030204" pitchFamily="49" charset="0"/>
              </a:rPr>
              <a:t>if</a:t>
            </a:r>
            <a:r>
              <a:rPr lang="en-US" altLang="zh-CN" sz="2400" b="1" dirty="0">
                <a:latin typeface="Consolas" panose="020B0609020204030204" pitchFamily="49" charset="0"/>
              </a:rPr>
              <a:t>(k != i)</a:t>
            </a:r>
            <a:r>
              <a:rPr lang="en-US" altLang="zh-CN" sz="2400" b="1" dirty="0">
                <a:solidFill>
                  <a:schemeClr val="accent6"/>
                </a:solidFill>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sz="2400"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sz="2400" b="1" dirty="0">
                <a:solidFill>
                  <a:srgbClr val="0000FF"/>
                </a:solidFill>
                <a:latin typeface="Consolas" panose="020B0609020204030204" pitchFamily="49" charset="0"/>
              </a:rPr>
              <a:t> </a:t>
            </a:r>
            <a:r>
              <a:rPr lang="en-US" altLang="zh-CN" sz="2400" b="1" dirty="0">
                <a:latin typeface="Consolas" panose="020B0609020204030204" pitchFamily="49" charset="0"/>
              </a:rPr>
              <a:t>temp = stu[i];</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stu[i] = stu[k];</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stu[k] = temp;</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chemeClr val="accent6"/>
                </a:solidFill>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solidFill>
                  <a:schemeClr val="accent6"/>
                </a:solidFill>
                <a:latin typeface="Consolas" panose="020B0609020204030204" pitchFamily="49" charset="0"/>
              </a:rPr>
              <a:t> </a:t>
            </a:r>
            <a:r>
              <a:rPr lang="en-US" altLang="zh-CN" sz="2400" b="1" dirty="0">
                <a:solidFill>
                  <a:schemeClr val="accent2"/>
                </a:solidFill>
                <a:latin typeface="Consolas" panose="020B0609020204030204" pitchFamily="49" charset="0"/>
              </a:rPr>
              <a:t>}</a:t>
            </a:r>
          </a:p>
          <a:p>
            <a:pPr marL="0" indent="0">
              <a:lnSpc>
                <a:spcPts val="1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B050"/>
                </a:solidFill>
                <a:latin typeface="Consolas" panose="020B0609020204030204" pitchFamily="49" charset="0"/>
              </a:rPr>
              <a:t>……</a:t>
            </a:r>
          </a:p>
        </p:txBody>
      </p:sp>
      <p:sp>
        <p:nvSpPr>
          <p:cNvPr id="2" name="灯片编号占位符 1">
            <a:extLst>
              <a:ext uri="{FF2B5EF4-FFF2-40B4-BE49-F238E27FC236}">
                <a16:creationId xmlns:a16="http://schemas.microsoft.com/office/drawing/2014/main" id="{4E5D0272-D72A-4FA1-91E3-1A5F629F5E6E}"/>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15</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79071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AA936E-9D69-408D-9754-69CD8B83DB80}"/>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结构体指针变量</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BB54924A-E8F8-4440-883D-0E298F108F38}"/>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定义指向结构体变量的指针变量</a:t>
            </a:r>
            <a:endParaRPr lang="en-US" altLang="zh-CN" sz="3200" b="1" dirty="0">
              <a:latin typeface="隶书" panose="02010509060101010101" pitchFamily="49" charset="-122"/>
              <a:ea typeface="隶书" panose="02010509060101010101" pitchFamily="49" charset="-122"/>
            </a:endParaRPr>
          </a:p>
        </p:txBody>
      </p:sp>
      <p:grpSp>
        <p:nvGrpSpPr>
          <p:cNvPr id="16" name="组合 15">
            <a:extLst>
              <a:ext uri="{FF2B5EF4-FFF2-40B4-BE49-F238E27FC236}">
                <a16:creationId xmlns:a16="http://schemas.microsoft.com/office/drawing/2014/main" id="{BB3EAD58-107A-45ED-872D-9F5B095E006C}"/>
              </a:ext>
            </a:extLst>
          </p:cNvPr>
          <p:cNvGrpSpPr/>
          <p:nvPr/>
        </p:nvGrpSpPr>
        <p:grpSpPr>
          <a:xfrm>
            <a:off x="174902" y="1118286"/>
            <a:ext cx="5525384" cy="1046440"/>
            <a:chOff x="174902" y="1118286"/>
            <a:chExt cx="5525384" cy="1046440"/>
          </a:xfrm>
        </p:grpSpPr>
        <p:sp>
          <p:nvSpPr>
            <p:cNvPr id="5" name="矩形 4">
              <a:extLst>
                <a:ext uri="{FF2B5EF4-FFF2-40B4-BE49-F238E27FC236}">
                  <a16:creationId xmlns:a16="http://schemas.microsoft.com/office/drawing/2014/main" id="{C22CA407-B552-4B09-A2E4-C81F794CA683}"/>
                </a:ext>
              </a:extLst>
            </p:cNvPr>
            <p:cNvSpPr/>
            <p:nvPr/>
          </p:nvSpPr>
          <p:spPr>
            <a:xfrm>
              <a:off x="174902" y="1118286"/>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6" name="Rectangle 2">
              <a:extLst>
                <a:ext uri="{FF2B5EF4-FFF2-40B4-BE49-F238E27FC236}">
                  <a16:creationId xmlns:a16="http://schemas.microsoft.com/office/drawing/2014/main" id="{BC849033-6D2F-4DE4-8482-9EC269935C60}"/>
                </a:ext>
              </a:extLst>
            </p:cNvPr>
            <p:cNvSpPr txBox="1">
              <a:spLocks noChangeArrowheads="1"/>
            </p:cNvSpPr>
            <p:nvPr/>
          </p:nvSpPr>
          <p:spPr>
            <a:xfrm>
              <a:off x="174903" y="1641506"/>
              <a:ext cx="5456312"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struct</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结构体名 </a:t>
              </a:r>
              <a:r>
                <a:rPr lang="en-US" altLang="zh-CN" b="1" dirty="0">
                  <a:solidFill>
                    <a:srgbClr val="FF0000"/>
                  </a:solidFill>
                  <a:ea typeface="华文中宋" panose="02010600040101010101" pitchFamily="2" charset="-122"/>
                </a:rPr>
                <a:t>*</a:t>
              </a:r>
              <a:r>
                <a:rPr lang="zh-CN" altLang="en-US" b="1" dirty="0">
                  <a:latin typeface="华文隶书" panose="02010800040101010101" pitchFamily="2" charset="-122"/>
                  <a:ea typeface="华文隶书" panose="02010800040101010101" pitchFamily="2" charset="-122"/>
                </a:rPr>
                <a:t>指针变量</a:t>
              </a:r>
              <a:r>
                <a:rPr lang="zh-CN" altLang="en-US" b="1" dirty="0">
                  <a:solidFill>
                    <a:srgbClr val="FF0000"/>
                  </a:solidFill>
                </a:rPr>
                <a:t>；</a:t>
              </a:r>
              <a:endParaRPr lang="en-US" altLang="zh-CN" b="1" dirty="0">
                <a:solidFill>
                  <a:srgbClr val="FF0000"/>
                </a:solidFill>
              </a:endParaRPr>
            </a:p>
          </p:txBody>
        </p:sp>
      </p:grpSp>
      <p:grpSp>
        <p:nvGrpSpPr>
          <p:cNvPr id="17" name="组合 16">
            <a:extLst>
              <a:ext uri="{FF2B5EF4-FFF2-40B4-BE49-F238E27FC236}">
                <a16:creationId xmlns:a16="http://schemas.microsoft.com/office/drawing/2014/main" id="{96427948-CFB3-4B72-9879-F2EF9A250691}"/>
              </a:ext>
            </a:extLst>
          </p:cNvPr>
          <p:cNvGrpSpPr/>
          <p:nvPr/>
        </p:nvGrpSpPr>
        <p:grpSpPr>
          <a:xfrm>
            <a:off x="167894" y="2219342"/>
            <a:ext cx="5532392" cy="4062650"/>
            <a:chOff x="167894" y="2219342"/>
            <a:chExt cx="5532392" cy="4062650"/>
          </a:xfrm>
        </p:grpSpPr>
        <p:sp>
          <p:nvSpPr>
            <p:cNvPr id="7" name="矩形 6">
              <a:extLst>
                <a:ext uri="{FF2B5EF4-FFF2-40B4-BE49-F238E27FC236}">
                  <a16:creationId xmlns:a16="http://schemas.microsoft.com/office/drawing/2014/main" id="{641567A4-4532-4C9C-8D7A-6091D16C1998}"/>
                </a:ext>
              </a:extLst>
            </p:cNvPr>
            <p:cNvSpPr/>
            <p:nvPr/>
          </p:nvSpPr>
          <p:spPr>
            <a:xfrm>
              <a:off x="174902" y="2219342"/>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8" name="Rectangle 2">
              <a:extLst>
                <a:ext uri="{FF2B5EF4-FFF2-40B4-BE49-F238E27FC236}">
                  <a16:creationId xmlns:a16="http://schemas.microsoft.com/office/drawing/2014/main" id="{CD6B7794-A3E1-4FA8-81C9-9FD4F7D347B0}"/>
                </a:ext>
              </a:extLst>
            </p:cNvPr>
            <p:cNvSpPr txBox="1">
              <a:spLocks noChangeArrowheads="1"/>
            </p:cNvSpPr>
            <p:nvPr/>
          </p:nvSpPr>
          <p:spPr>
            <a:xfrm>
              <a:off x="167894" y="2742562"/>
              <a:ext cx="5463322"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15</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 </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 = &amp;stu;</a:t>
              </a:r>
            </a:p>
          </p:txBody>
        </p:sp>
      </p:grpSp>
      <p:sp>
        <p:nvSpPr>
          <p:cNvPr id="9" name="矩形 8">
            <a:extLst>
              <a:ext uri="{FF2B5EF4-FFF2-40B4-BE49-F238E27FC236}">
                <a16:creationId xmlns:a16="http://schemas.microsoft.com/office/drawing/2014/main" id="{1B6470EF-660B-467E-8192-2B535EA2CBB5}"/>
              </a:ext>
            </a:extLst>
          </p:cNvPr>
          <p:cNvSpPr/>
          <p:nvPr/>
        </p:nvSpPr>
        <p:spPr>
          <a:xfrm>
            <a:off x="6095999" y="1052085"/>
            <a:ext cx="6096001"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如何通过指针变量</a:t>
            </a:r>
            <a:r>
              <a:rPr lang="en-US" altLang="zh-CN" sz="2800" b="1" dirty="0">
                <a:latin typeface="Consolas" panose="020B0609020204030204" pitchFamily="49" charset="0"/>
                <a:ea typeface="华文隶书" panose="02010800040101010101" pitchFamily="2" charset="-122"/>
              </a:rPr>
              <a:t>p</a:t>
            </a:r>
            <a:r>
              <a:rPr lang="zh-CN" altLang="en-US" sz="2800" b="1" dirty="0">
                <a:latin typeface="华文隶书" panose="02010800040101010101" pitchFamily="2" charset="-122"/>
                <a:ea typeface="华文隶书" panose="02010800040101010101" pitchFamily="2" charset="-122"/>
              </a:rPr>
              <a:t>访问</a:t>
            </a:r>
            <a:r>
              <a:rPr lang="en-US" altLang="zh-CN" sz="2800" b="1" dirty="0">
                <a:latin typeface="华文隶书" panose="02010800040101010101" pitchFamily="2" charset="-122"/>
                <a:ea typeface="华文隶书" panose="02010800040101010101" pitchFamily="2" charset="-122"/>
              </a:rPr>
              <a:t>stu</a:t>
            </a:r>
            <a:r>
              <a:rPr lang="zh-CN" altLang="en-US" sz="2800" b="1" dirty="0">
                <a:latin typeface="华文隶书" panose="02010800040101010101" pitchFamily="2" charset="-122"/>
                <a:ea typeface="华文隶书" panose="02010800040101010101" pitchFamily="2" charset="-122"/>
              </a:rPr>
              <a:t>成员？</a:t>
            </a:r>
          </a:p>
        </p:txBody>
      </p:sp>
      <p:grpSp>
        <p:nvGrpSpPr>
          <p:cNvPr id="18" name="组合 17">
            <a:extLst>
              <a:ext uri="{FF2B5EF4-FFF2-40B4-BE49-F238E27FC236}">
                <a16:creationId xmlns:a16="http://schemas.microsoft.com/office/drawing/2014/main" id="{C6A5290C-8B13-44E3-9834-A9D440BDCB8A}"/>
              </a:ext>
            </a:extLst>
          </p:cNvPr>
          <p:cNvGrpSpPr/>
          <p:nvPr/>
        </p:nvGrpSpPr>
        <p:grpSpPr>
          <a:xfrm>
            <a:off x="6208300" y="1601024"/>
            <a:ext cx="5983700" cy="1016844"/>
            <a:chOff x="6208300" y="1601024"/>
            <a:chExt cx="5983700" cy="1016844"/>
          </a:xfrm>
        </p:grpSpPr>
        <p:sp>
          <p:nvSpPr>
            <p:cNvPr id="10" name="Rectangle 2">
              <a:extLst>
                <a:ext uri="{FF2B5EF4-FFF2-40B4-BE49-F238E27FC236}">
                  <a16:creationId xmlns:a16="http://schemas.microsoft.com/office/drawing/2014/main" id="{27F7CAD7-E67A-4A54-88BF-28B356216375}"/>
                </a:ext>
              </a:extLst>
            </p:cNvPr>
            <p:cNvSpPr txBox="1">
              <a:spLocks noChangeArrowheads="1"/>
            </p:cNvSpPr>
            <p:nvPr/>
          </p:nvSpPr>
          <p:spPr>
            <a:xfrm>
              <a:off x="6208300" y="2094648"/>
              <a:ext cx="5983700"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B0F0"/>
                  </a:solidFill>
                  <a:ea typeface="华文隶书" panose="02010800040101010101" pitchFamily="2" charset="-122"/>
                </a:rPr>
                <a:t>(</a:t>
              </a:r>
              <a:r>
                <a:rPr lang="en-US" altLang="zh-CN" b="1" dirty="0">
                  <a:solidFill>
                    <a:srgbClr val="FF0000"/>
                  </a:solidFill>
                  <a:ea typeface="华文隶书" panose="02010800040101010101" pitchFamily="2" charset="-122"/>
                </a:rPr>
                <a:t>*</a:t>
              </a:r>
              <a:r>
                <a:rPr lang="zh-CN" altLang="en-US" dirty="0">
                  <a:latin typeface="华文隶书" panose="02010800040101010101" pitchFamily="2" charset="-122"/>
                  <a:ea typeface="华文隶书" panose="02010800040101010101" pitchFamily="2" charset="-122"/>
                </a:rPr>
                <a:t>结构体指针变量</a:t>
              </a:r>
              <a:r>
                <a:rPr lang="en-US" altLang="zh-CN" b="1" dirty="0">
                  <a:solidFill>
                    <a:srgbClr val="00B0F0"/>
                  </a:solidFill>
                  <a:ea typeface="华文隶书" panose="02010800040101010101" pitchFamily="2" charset="-122"/>
                </a:rPr>
                <a: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zh-CN" altLang="en-US" dirty="0">
                  <a:latin typeface="华文隶书" panose="02010800040101010101" pitchFamily="2" charset="-122"/>
                  <a:ea typeface="华文隶书" panose="02010800040101010101" pitchFamily="2" charset="-122"/>
                </a:rPr>
                <a:t>成员名</a:t>
              </a:r>
              <a:endParaRPr lang="en-US" altLang="zh-CN" dirty="0">
                <a:solidFill>
                  <a:srgbClr val="FF0000"/>
                </a:solidFill>
              </a:endParaRPr>
            </a:p>
          </p:txBody>
        </p:sp>
        <p:sp>
          <p:nvSpPr>
            <p:cNvPr id="11" name="文本框 10">
              <a:extLst>
                <a:ext uri="{FF2B5EF4-FFF2-40B4-BE49-F238E27FC236}">
                  <a16:creationId xmlns:a16="http://schemas.microsoft.com/office/drawing/2014/main" id="{AC09CC74-BBBB-4F21-AD7C-C5276D3B8423}"/>
                </a:ext>
              </a:extLst>
            </p:cNvPr>
            <p:cNvSpPr txBox="1"/>
            <p:nvPr/>
          </p:nvSpPr>
          <p:spPr>
            <a:xfrm>
              <a:off x="6208300" y="1601024"/>
              <a:ext cx="5983700" cy="523220"/>
            </a:xfrm>
            <a:prstGeom prst="rect">
              <a:avLst/>
            </a:prstGeom>
            <a:noFill/>
          </p:spPr>
          <p:txBody>
            <a:bodyPr wrap="square" rtlCol="0">
              <a:spAutoFit/>
            </a:bodyPr>
            <a:lstStyle/>
            <a:p>
              <a:pPr marL="514350" indent="-514350">
                <a:buFont typeface="+mj-ea"/>
                <a:buAutoNum type="circleNumDbPlain"/>
              </a:pPr>
              <a:r>
                <a:rPr lang="zh-CN" altLang="en-US" sz="2800" b="1" dirty="0">
                  <a:solidFill>
                    <a:srgbClr val="3333FF"/>
                  </a:solidFill>
                  <a:latin typeface="华文隶书" panose="02010800040101010101" pitchFamily="2" charset="-122"/>
                  <a:ea typeface="华文隶书" panose="02010800040101010101" pitchFamily="2" charset="-122"/>
                </a:rPr>
                <a:t>使用间接寻址运算符</a:t>
              </a:r>
              <a:r>
                <a:rPr lang="en-US" altLang="zh-CN" sz="2800" b="1" dirty="0">
                  <a:solidFill>
                    <a:srgbClr val="FF0000"/>
                  </a:solidFill>
                  <a:ea typeface="华文隶书" panose="02010800040101010101" pitchFamily="2" charset="-122"/>
                </a:rPr>
                <a:t>*</a:t>
              </a:r>
              <a:r>
                <a:rPr lang="zh-CN" altLang="en-US" sz="2800" b="1" dirty="0">
                  <a:solidFill>
                    <a:srgbClr val="3333FF"/>
                  </a:solidFill>
                  <a:latin typeface="华文隶书" panose="02010800040101010101" pitchFamily="2" charset="-122"/>
                  <a:ea typeface="华文隶书" panose="02010800040101010101" pitchFamily="2" charset="-122"/>
                </a:rPr>
                <a:t>：</a:t>
              </a:r>
            </a:p>
          </p:txBody>
        </p:sp>
      </p:grpSp>
      <p:grpSp>
        <p:nvGrpSpPr>
          <p:cNvPr id="15" name="组合 14">
            <a:extLst>
              <a:ext uri="{FF2B5EF4-FFF2-40B4-BE49-F238E27FC236}">
                <a16:creationId xmlns:a16="http://schemas.microsoft.com/office/drawing/2014/main" id="{B6B6B00A-D804-4E87-967E-DF0EBF7E0BA1}"/>
              </a:ext>
            </a:extLst>
          </p:cNvPr>
          <p:cNvGrpSpPr/>
          <p:nvPr/>
        </p:nvGrpSpPr>
        <p:grpSpPr>
          <a:xfrm>
            <a:off x="6166336" y="2765640"/>
            <a:ext cx="6025665" cy="1908215"/>
            <a:chOff x="6296954" y="2905780"/>
            <a:chExt cx="6025665" cy="1908215"/>
          </a:xfrm>
        </p:grpSpPr>
        <p:sp>
          <p:nvSpPr>
            <p:cNvPr id="13" name="矩形 12">
              <a:extLst>
                <a:ext uri="{FF2B5EF4-FFF2-40B4-BE49-F238E27FC236}">
                  <a16:creationId xmlns:a16="http://schemas.microsoft.com/office/drawing/2014/main" id="{05AB8462-1FC6-4BD5-99EC-335A77B6228D}"/>
                </a:ext>
              </a:extLst>
            </p:cNvPr>
            <p:cNvSpPr/>
            <p:nvPr/>
          </p:nvSpPr>
          <p:spPr>
            <a:xfrm>
              <a:off x="6296954" y="2905780"/>
              <a:ext cx="602566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14" name="Rectangle 2">
              <a:extLst>
                <a:ext uri="{FF2B5EF4-FFF2-40B4-BE49-F238E27FC236}">
                  <a16:creationId xmlns:a16="http://schemas.microsoft.com/office/drawing/2014/main" id="{6C651519-7BEA-44E5-A759-DB16E5B46729}"/>
                </a:ext>
              </a:extLst>
            </p:cNvPr>
            <p:cNvSpPr txBox="1">
              <a:spLocks noChangeArrowheads="1"/>
            </p:cNvSpPr>
            <p:nvPr/>
          </p:nvSpPr>
          <p:spPr>
            <a:xfrm>
              <a:off x="6296955" y="3429000"/>
              <a:ext cx="6025664"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a:t>
              </a: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 = 100;</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strcpy(</a:t>
              </a: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a:t>
              </a: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 </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ZhangSan</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a:t>
              </a: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 = 100;</a:t>
              </a:r>
            </a:p>
          </p:txBody>
        </p:sp>
      </p:grpSp>
      <p:sp>
        <p:nvSpPr>
          <p:cNvPr id="2" name="灯片编号占位符 1">
            <a:extLst>
              <a:ext uri="{FF2B5EF4-FFF2-40B4-BE49-F238E27FC236}">
                <a16:creationId xmlns:a16="http://schemas.microsoft.com/office/drawing/2014/main" id="{E98041F0-12EB-42ED-AE65-6F56F9C69A6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16</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940884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AA936E-9D69-408D-9754-69CD8B83DB80}"/>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结构体指针变量</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BB54924A-E8F8-4440-883D-0E298F108F38}"/>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定义指向结构体变量的指针变量</a:t>
            </a:r>
            <a:endParaRPr lang="en-US" altLang="zh-CN" sz="3200" b="1" dirty="0">
              <a:latin typeface="隶书" panose="02010509060101010101" pitchFamily="49" charset="-122"/>
              <a:ea typeface="隶书" panose="02010509060101010101" pitchFamily="49" charset="-122"/>
            </a:endParaRPr>
          </a:p>
        </p:txBody>
      </p:sp>
      <p:sp>
        <p:nvSpPr>
          <p:cNvPr id="5" name="矩形 4">
            <a:extLst>
              <a:ext uri="{FF2B5EF4-FFF2-40B4-BE49-F238E27FC236}">
                <a16:creationId xmlns:a16="http://schemas.microsoft.com/office/drawing/2014/main" id="{C22CA407-B552-4B09-A2E4-C81F794CA683}"/>
              </a:ext>
            </a:extLst>
          </p:cNvPr>
          <p:cNvSpPr/>
          <p:nvPr/>
        </p:nvSpPr>
        <p:spPr>
          <a:xfrm>
            <a:off x="174902" y="1118286"/>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6" name="Rectangle 2">
            <a:extLst>
              <a:ext uri="{FF2B5EF4-FFF2-40B4-BE49-F238E27FC236}">
                <a16:creationId xmlns:a16="http://schemas.microsoft.com/office/drawing/2014/main" id="{BC849033-6D2F-4DE4-8482-9EC269935C60}"/>
              </a:ext>
            </a:extLst>
          </p:cNvPr>
          <p:cNvSpPr txBox="1">
            <a:spLocks noChangeArrowheads="1"/>
          </p:cNvSpPr>
          <p:nvPr/>
        </p:nvSpPr>
        <p:spPr>
          <a:xfrm>
            <a:off x="174903" y="1641506"/>
            <a:ext cx="5456312"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struct</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结构体名 </a:t>
            </a:r>
            <a:r>
              <a:rPr lang="en-US" altLang="zh-CN" b="1" dirty="0">
                <a:solidFill>
                  <a:srgbClr val="FF0000"/>
                </a:solidFill>
                <a:ea typeface="华文中宋" panose="02010600040101010101" pitchFamily="2" charset="-122"/>
              </a:rPr>
              <a:t>*</a:t>
            </a:r>
            <a:r>
              <a:rPr lang="zh-CN" altLang="en-US" b="1" dirty="0">
                <a:latin typeface="华文隶书" panose="02010800040101010101" pitchFamily="2" charset="-122"/>
                <a:ea typeface="华文隶书" panose="02010800040101010101" pitchFamily="2" charset="-122"/>
              </a:rPr>
              <a:t>指针变量</a:t>
            </a:r>
            <a:r>
              <a:rPr lang="zh-CN" altLang="en-US" b="1" dirty="0">
                <a:solidFill>
                  <a:srgbClr val="FF0000"/>
                </a:solidFill>
              </a:rPr>
              <a:t>；</a:t>
            </a:r>
            <a:endParaRPr lang="en-US" altLang="zh-CN" b="1" dirty="0">
              <a:solidFill>
                <a:srgbClr val="FF0000"/>
              </a:solidFill>
            </a:endParaRPr>
          </a:p>
        </p:txBody>
      </p:sp>
      <p:sp>
        <p:nvSpPr>
          <p:cNvPr id="7" name="矩形 6">
            <a:extLst>
              <a:ext uri="{FF2B5EF4-FFF2-40B4-BE49-F238E27FC236}">
                <a16:creationId xmlns:a16="http://schemas.microsoft.com/office/drawing/2014/main" id="{641567A4-4532-4C9C-8D7A-6091D16C1998}"/>
              </a:ext>
            </a:extLst>
          </p:cNvPr>
          <p:cNvSpPr/>
          <p:nvPr/>
        </p:nvSpPr>
        <p:spPr>
          <a:xfrm>
            <a:off x="174902" y="2219342"/>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8" name="Rectangle 2">
            <a:extLst>
              <a:ext uri="{FF2B5EF4-FFF2-40B4-BE49-F238E27FC236}">
                <a16:creationId xmlns:a16="http://schemas.microsoft.com/office/drawing/2014/main" id="{CD6B7794-A3E1-4FA8-81C9-9FD4F7D347B0}"/>
              </a:ext>
            </a:extLst>
          </p:cNvPr>
          <p:cNvSpPr txBox="1">
            <a:spLocks noChangeArrowheads="1"/>
          </p:cNvSpPr>
          <p:nvPr/>
        </p:nvSpPr>
        <p:spPr>
          <a:xfrm>
            <a:off x="167894" y="2742562"/>
            <a:ext cx="5463322"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15</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 </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 = &amp;stu;</a:t>
            </a:r>
          </a:p>
        </p:txBody>
      </p:sp>
      <p:sp>
        <p:nvSpPr>
          <p:cNvPr id="9" name="矩形 8">
            <a:extLst>
              <a:ext uri="{FF2B5EF4-FFF2-40B4-BE49-F238E27FC236}">
                <a16:creationId xmlns:a16="http://schemas.microsoft.com/office/drawing/2014/main" id="{1B6470EF-660B-467E-8192-2B535EA2CBB5}"/>
              </a:ext>
            </a:extLst>
          </p:cNvPr>
          <p:cNvSpPr/>
          <p:nvPr/>
        </p:nvSpPr>
        <p:spPr>
          <a:xfrm>
            <a:off x="6095999" y="1052085"/>
            <a:ext cx="6096001"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如何通过指针变量</a:t>
            </a:r>
            <a:r>
              <a:rPr lang="en-US" altLang="zh-CN" sz="2800" b="1" dirty="0">
                <a:latin typeface="Consolas" panose="020B0609020204030204" pitchFamily="49" charset="0"/>
                <a:ea typeface="华文隶书" panose="02010800040101010101" pitchFamily="2" charset="-122"/>
              </a:rPr>
              <a:t>p</a:t>
            </a:r>
            <a:r>
              <a:rPr lang="zh-CN" altLang="en-US" sz="2800" b="1" dirty="0">
                <a:latin typeface="华文隶书" panose="02010800040101010101" pitchFamily="2" charset="-122"/>
                <a:ea typeface="华文隶书" panose="02010800040101010101" pitchFamily="2" charset="-122"/>
              </a:rPr>
              <a:t>访问</a:t>
            </a:r>
            <a:r>
              <a:rPr lang="en-US" altLang="zh-CN" sz="2800" b="1" dirty="0">
                <a:latin typeface="华文隶书" panose="02010800040101010101" pitchFamily="2" charset="-122"/>
                <a:ea typeface="华文隶书" panose="02010800040101010101" pitchFamily="2" charset="-122"/>
              </a:rPr>
              <a:t>stu</a:t>
            </a:r>
            <a:r>
              <a:rPr lang="zh-CN" altLang="en-US" sz="2800" b="1" dirty="0">
                <a:latin typeface="华文隶书" panose="02010800040101010101" pitchFamily="2" charset="-122"/>
                <a:ea typeface="华文隶书" panose="02010800040101010101" pitchFamily="2" charset="-122"/>
              </a:rPr>
              <a:t>成员？</a:t>
            </a:r>
          </a:p>
        </p:txBody>
      </p:sp>
      <p:grpSp>
        <p:nvGrpSpPr>
          <p:cNvPr id="19" name="组合 18">
            <a:extLst>
              <a:ext uri="{FF2B5EF4-FFF2-40B4-BE49-F238E27FC236}">
                <a16:creationId xmlns:a16="http://schemas.microsoft.com/office/drawing/2014/main" id="{F02FE017-C0B3-4A7B-8EEA-88C81EB10C2C}"/>
              </a:ext>
            </a:extLst>
          </p:cNvPr>
          <p:cNvGrpSpPr/>
          <p:nvPr/>
        </p:nvGrpSpPr>
        <p:grpSpPr>
          <a:xfrm>
            <a:off x="6166334" y="1601024"/>
            <a:ext cx="6025666" cy="1016844"/>
            <a:chOff x="6166334" y="1601024"/>
            <a:chExt cx="6025666" cy="1016844"/>
          </a:xfrm>
        </p:grpSpPr>
        <p:sp>
          <p:nvSpPr>
            <p:cNvPr id="10" name="Rectangle 2">
              <a:extLst>
                <a:ext uri="{FF2B5EF4-FFF2-40B4-BE49-F238E27FC236}">
                  <a16:creationId xmlns:a16="http://schemas.microsoft.com/office/drawing/2014/main" id="{27F7CAD7-E67A-4A54-88BF-28B356216375}"/>
                </a:ext>
              </a:extLst>
            </p:cNvPr>
            <p:cNvSpPr txBox="1">
              <a:spLocks noChangeArrowheads="1"/>
            </p:cNvSpPr>
            <p:nvPr/>
          </p:nvSpPr>
          <p:spPr>
            <a:xfrm>
              <a:off x="6166336" y="2094648"/>
              <a:ext cx="6025664"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zh-CN" altLang="en-US" dirty="0">
                  <a:latin typeface="华文隶书" panose="02010800040101010101" pitchFamily="2" charset="-122"/>
                  <a:ea typeface="华文隶书" panose="02010800040101010101" pitchFamily="2" charset="-122"/>
                </a:rPr>
                <a:t>结构体指针变量</a:t>
              </a:r>
              <a:r>
                <a:rPr lang="en-US" altLang="zh-CN" b="1" dirty="0">
                  <a:solidFill>
                    <a:srgbClr val="FF0000"/>
                  </a:solidFill>
                  <a:latin typeface="Agency FB" panose="020B0503020202020204" pitchFamily="34" charset="0"/>
                  <a:ea typeface="华文隶书" panose="02010800040101010101" pitchFamily="2" charset="-122"/>
                </a:rPr>
                <a:t>-&gt;</a:t>
              </a:r>
              <a:r>
                <a:rPr lang="zh-CN" altLang="en-US" dirty="0">
                  <a:latin typeface="华文隶书" panose="02010800040101010101" pitchFamily="2" charset="-122"/>
                  <a:ea typeface="华文隶书" panose="02010800040101010101" pitchFamily="2" charset="-122"/>
                </a:rPr>
                <a:t>成员名</a:t>
              </a:r>
              <a:endParaRPr lang="en-US" altLang="zh-CN" dirty="0">
                <a:solidFill>
                  <a:srgbClr val="FF0000"/>
                </a:solidFill>
              </a:endParaRPr>
            </a:p>
          </p:txBody>
        </p:sp>
        <p:sp>
          <p:nvSpPr>
            <p:cNvPr id="11" name="文本框 10">
              <a:extLst>
                <a:ext uri="{FF2B5EF4-FFF2-40B4-BE49-F238E27FC236}">
                  <a16:creationId xmlns:a16="http://schemas.microsoft.com/office/drawing/2014/main" id="{AC09CC74-BBBB-4F21-AD7C-C5276D3B8423}"/>
                </a:ext>
              </a:extLst>
            </p:cNvPr>
            <p:cNvSpPr txBox="1"/>
            <p:nvPr/>
          </p:nvSpPr>
          <p:spPr>
            <a:xfrm>
              <a:off x="6166334" y="1601024"/>
              <a:ext cx="6025665" cy="523220"/>
            </a:xfrm>
            <a:prstGeom prst="rect">
              <a:avLst/>
            </a:prstGeom>
            <a:noFill/>
          </p:spPr>
          <p:txBody>
            <a:bodyPr wrap="square" rtlCol="0">
              <a:spAutoFit/>
            </a:bodyPr>
            <a:lstStyle/>
            <a:p>
              <a:pPr marL="514350" indent="-514350">
                <a:buFont typeface="+mj-ea"/>
                <a:buAutoNum type="circleNumDbPlain" startAt="2"/>
              </a:pPr>
              <a:r>
                <a:rPr lang="zh-CN" altLang="en-US" sz="2800" b="1" dirty="0">
                  <a:solidFill>
                    <a:srgbClr val="3333FF"/>
                  </a:solidFill>
                  <a:latin typeface="华文隶书" panose="02010800040101010101" pitchFamily="2" charset="-122"/>
                  <a:ea typeface="华文隶书" panose="02010800040101010101" pitchFamily="2" charset="-122"/>
                </a:rPr>
                <a:t>使用</a:t>
              </a:r>
              <a:r>
                <a:rPr lang="en-US" altLang="zh-CN" sz="2800" b="1" dirty="0">
                  <a:solidFill>
                    <a:srgbClr val="FF0000"/>
                  </a:solidFill>
                  <a:latin typeface="Agency FB" panose="020B0503020202020204" pitchFamily="34" charset="0"/>
                  <a:ea typeface="华文隶书" panose="02010800040101010101" pitchFamily="2" charset="-122"/>
                </a:rPr>
                <a:t>-&gt;</a:t>
              </a:r>
              <a:r>
                <a:rPr lang="zh-CN" altLang="en-US" sz="2800" b="1" dirty="0">
                  <a:solidFill>
                    <a:srgbClr val="3333FF"/>
                  </a:solidFill>
                  <a:latin typeface="华文隶书" panose="02010800040101010101" pitchFamily="2" charset="-122"/>
                  <a:ea typeface="华文隶书" panose="02010800040101010101" pitchFamily="2" charset="-122"/>
                </a:rPr>
                <a:t>运算符：</a:t>
              </a:r>
            </a:p>
          </p:txBody>
        </p:sp>
      </p:grpSp>
      <p:grpSp>
        <p:nvGrpSpPr>
          <p:cNvPr id="15" name="组合 14">
            <a:extLst>
              <a:ext uri="{FF2B5EF4-FFF2-40B4-BE49-F238E27FC236}">
                <a16:creationId xmlns:a16="http://schemas.microsoft.com/office/drawing/2014/main" id="{B6B6B00A-D804-4E87-967E-DF0EBF7E0BA1}"/>
              </a:ext>
            </a:extLst>
          </p:cNvPr>
          <p:cNvGrpSpPr/>
          <p:nvPr/>
        </p:nvGrpSpPr>
        <p:grpSpPr>
          <a:xfrm>
            <a:off x="6166336" y="2739006"/>
            <a:ext cx="6025665" cy="1908215"/>
            <a:chOff x="6296954" y="2905780"/>
            <a:chExt cx="6025665" cy="1908215"/>
          </a:xfrm>
        </p:grpSpPr>
        <p:sp>
          <p:nvSpPr>
            <p:cNvPr id="13" name="矩形 12">
              <a:extLst>
                <a:ext uri="{FF2B5EF4-FFF2-40B4-BE49-F238E27FC236}">
                  <a16:creationId xmlns:a16="http://schemas.microsoft.com/office/drawing/2014/main" id="{05AB8462-1FC6-4BD5-99EC-335A77B6228D}"/>
                </a:ext>
              </a:extLst>
            </p:cNvPr>
            <p:cNvSpPr/>
            <p:nvPr/>
          </p:nvSpPr>
          <p:spPr>
            <a:xfrm>
              <a:off x="6296954" y="2905780"/>
              <a:ext cx="602566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14" name="Rectangle 2">
              <a:extLst>
                <a:ext uri="{FF2B5EF4-FFF2-40B4-BE49-F238E27FC236}">
                  <a16:creationId xmlns:a16="http://schemas.microsoft.com/office/drawing/2014/main" id="{6C651519-7BEA-44E5-A759-DB16E5B46729}"/>
                </a:ext>
              </a:extLst>
            </p:cNvPr>
            <p:cNvSpPr txBox="1">
              <a:spLocks noChangeArrowheads="1"/>
            </p:cNvSpPr>
            <p:nvPr/>
          </p:nvSpPr>
          <p:spPr>
            <a:xfrm>
              <a:off x="6296955" y="3429000"/>
              <a:ext cx="6025664"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p</a:t>
              </a:r>
              <a:r>
                <a:rPr lang="en-US" altLang="zh-CN" sz="2800" b="1" dirty="0">
                  <a:solidFill>
                    <a:srgbClr val="FF0000"/>
                  </a:solidFill>
                  <a:latin typeface="Agency FB" panose="020B0503020202020204" pitchFamily="34" charset="0"/>
                  <a:ea typeface="华文隶书" panose="02010800040101010101" pitchFamily="2" charset="-122"/>
                </a:rPr>
                <a:t> -&gt;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 = 100;</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strcpy(p</a:t>
              </a:r>
              <a:r>
                <a:rPr lang="en-US" altLang="zh-CN" sz="2800" b="1" dirty="0">
                  <a:solidFill>
                    <a:srgbClr val="FF0000"/>
                  </a:solidFill>
                  <a:latin typeface="Agency FB" panose="020B0503020202020204" pitchFamily="34" charset="0"/>
                  <a:ea typeface="华文隶书" panose="02010800040101010101" pitchFamily="2" charset="-122"/>
                </a:rPr>
                <a:t> -&gt;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 </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ZhangSan</a:t>
              </a:r>
              <a:r>
                <a:rPr lang="en-US" altLang="zh-CN" b="1" dirty="0">
                  <a:solidFill>
                    <a:srgbClr val="00B050"/>
                  </a:solidFill>
                  <a:latin typeface="Agency FB" panose="020B0503020202020204" pitchFamily="34"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p</a:t>
              </a:r>
              <a:r>
                <a:rPr lang="en-US" altLang="zh-CN" sz="2800" b="1" dirty="0">
                  <a:solidFill>
                    <a:srgbClr val="FF0000"/>
                  </a:solidFill>
                  <a:latin typeface="Agency FB" panose="020B0503020202020204" pitchFamily="34" charset="0"/>
                  <a:ea typeface="华文隶书" panose="02010800040101010101" pitchFamily="2" charset="-122"/>
                </a:rPr>
                <a:t> -&gt;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 = 100;</a:t>
              </a:r>
            </a:p>
          </p:txBody>
        </p:sp>
      </p:grpSp>
      <p:grpSp>
        <p:nvGrpSpPr>
          <p:cNvPr id="16" name="组合 15">
            <a:extLst>
              <a:ext uri="{FF2B5EF4-FFF2-40B4-BE49-F238E27FC236}">
                <a16:creationId xmlns:a16="http://schemas.microsoft.com/office/drawing/2014/main" id="{F987CAB4-AAAC-44F5-A3C2-0825426CE97B}"/>
              </a:ext>
            </a:extLst>
          </p:cNvPr>
          <p:cNvGrpSpPr/>
          <p:nvPr/>
        </p:nvGrpSpPr>
        <p:grpSpPr>
          <a:xfrm>
            <a:off x="5878672" y="4779285"/>
            <a:ext cx="6281602" cy="525401"/>
            <a:chOff x="753036" y="4694799"/>
            <a:chExt cx="6620090" cy="525401"/>
          </a:xfrm>
        </p:grpSpPr>
        <p:sp>
          <p:nvSpPr>
            <p:cNvPr id="17" name="Text Box 88">
              <a:extLst>
                <a:ext uri="{FF2B5EF4-FFF2-40B4-BE49-F238E27FC236}">
                  <a16:creationId xmlns:a16="http://schemas.microsoft.com/office/drawing/2014/main" id="{2CE231DF-411F-47E2-8DB6-4E52FEDC2A9A}"/>
                </a:ext>
              </a:extLst>
            </p:cNvPr>
            <p:cNvSpPr txBox="1">
              <a:spLocks noChangeArrowheads="1"/>
            </p:cNvSpPr>
            <p:nvPr/>
          </p:nvSpPr>
          <p:spPr bwMode="auto">
            <a:xfrm>
              <a:off x="753036" y="4694799"/>
              <a:ext cx="662009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a:t>
              </a:r>
              <a:r>
                <a:rPr kumimoji="1" lang="zh-CN" altLang="en-US" sz="2800" dirty="0">
                  <a:solidFill>
                    <a:srgbClr val="3333FF"/>
                  </a:solidFill>
                  <a:ea typeface="隶书" pitchFamily="49" charset="-122"/>
                </a:rPr>
                <a:t>访问结构体成员一共有哪几种方式？</a:t>
              </a:r>
              <a:endParaRPr kumimoji="1" lang="en-US" altLang="zh-CN" sz="2400" dirty="0">
                <a:solidFill>
                  <a:srgbClr val="3333FF"/>
                </a:solidFill>
                <a:ea typeface="隶书" pitchFamily="49" charset="-122"/>
              </a:endParaRPr>
            </a:p>
          </p:txBody>
        </p:sp>
        <p:pic>
          <p:nvPicPr>
            <p:cNvPr id="18" name="图片 17">
              <a:extLst>
                <a:ext uri="{FF2B5EF4-FFF2-40B4-BE49-F238E27FC236}">
                  <a16:creationId xmlns:a16="http://schemas.microsoft.com/office/drawing/2014/main" id="{E41192C9-5EC3-450D-98DF-7F630DBC5A7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89420" y="4733248"/>
              <a:ext cx="450993" cy="471124"/>
            </a:xfrm>
            <a:prstGeom prst="rect">
              <a:avLst/>
            </a:prstGeom>
          </p:spPr>
        </p:pic>
      </p:grpSp>
      <p:sp>
        <p:nvSpPr>
          <p:cNvPr id="2" name="灯片编号占位符 1">
            <a:extLst>
              <a:ext uri="{FF2B5EF4-FFF2-40B4-BE49-F238E27FC236}">
                <a16:creationId xmlns:a16="http://schemas.microsoft.com/office/drawing/2014/main" id="{5DB27CED-6736-449B-B9F3-ED4CCDFD5A99}"/>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17</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327548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F629FC3-21DC-435A-9495-35232AF11AA2}"/>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结构体指针变量</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778348A5-D9CF-4DA5-9E47-F98089692691}"/>
              </a:ext>
            </a:extLst>
          </p:cNvPr>
          <p:cNvSpPr/>
          <p:nvPr/>
        </p:nvSpPr>
        <p:spPr>
          <a:xfrm>
            <a:off x="16777" y="608437"/>
            <a:ext cx="12175223"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7-3</a:t>
            </a:r>
            <a:r>
              <a:rPr lang="en-US" altLang="zh-CN" sz="2400" b="1" dirty="0">
                <a:latin typeface="隶书" pitchFamily="49" charset="-122"/>
              </a:rPr>
              <a:t>】</a:t>
            </a:r>
            <a:r>
              <a:rPr lang="zh-CN" altLang="en-US" sz="2400" b="1" dirty="0">
                <a:latin typeface="隶书" pitchFamily="49" charset="-122"/>
              </a:rPr>
              <a:t>从键盘输入年、月、日，计算此日期是该年的第几天。</a:t>
            </a:r>
          </a:p>
        </p:txBody>
      </p:sp>
      <p:sp>
        <p:nvSpPr>
          <p:cNvPr id="5" name="Rectangle 2">
            <a:extLst>
              <a:ext uri="{FF2B5EF4-FFF2-40B4-BE49-F238E27FC236}">
                <a16:creationId xmlns:a16="http://schemas.microsoft.com/office/drawing/2014/main" id="{731CC724-F42D-4E8C-B554-2F9D3C373A42}"/>
              </a:ext>
            </a:extLst>
          </p:cNvPr>
          <p:cNvSpPr txBox="1">
            <a:spLocks noChangeArrowheads="1"/>
          </p:cNvSpPr>
          <p:nvPr/>
        </p:nvSpPr>
        <p:spPr>
          <a:xfrm>
            <a:off x="16777" y="1068543"/>
            <a:ext cx="3296878"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Consolas" panose="020B0609020204030204" pitchFamily="49" charset="0"/>
              </a:rPr>
              <a:t>#define </a:t>
            </a:r>
            <a:r>
              <a:rPr lang="en-US" altLang="zh-CN" sz="2400" b="1" dirty="0">
                <a:latin typeface="Consolas" panose="020B0609020204030204" pitchFamily="49" charset="0"/>
              </a:rPr>
              <a:t>N</a:t>
            </a:r>
            <a:r>
              <a:rPr lang="en-US" altLang="zh-CN" sz="2400" b="1" dirty="0">
                <a:solidFill>
                  <a:srgbClr val="0000FF"/>
                </a:solidFill>
                <a:latin typeface="Consolas" panose="020B0609020204030204" pitchFamily="49" charset="0"/>
              </a:rPr>
              <a:t> </a:t>
            </a:r>
            <a:r>
              <a:rPr lang="en-US" altLang="zh-CN" sz="2400" b="1" dirty="0">
                <a:latin typeface="Consolas" panose="020B0609020204030204" pitchFamily="49" charset="0"/>
              </a:rPr>
              <a:t>30</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rPr>
              <a:t>struct</a:t>
            </a:r>
            <a:r>
              <a:rPr lang="zh-CN" altLang="en-US" sz="2400" b="1" dirty="0">
                <a:solidFill>
                  <a:srgbClr val="0000FF"/>
                </a:solidFill>
                <a:latin typeface="华文隶书" panose="02010800040101010101" pitchFamily="2" charset="-122"/>
                <a:ea typeface="华文隶书" panose="02010800040101010101" pitchFamily="2" charset="-122"/>
              </a:rPr>
              <a:t> </a:t>
            </a:r>
            <a:r>
              <a:rPr lang="en-US" altLang="zh-CN" sz="2400"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date</a:t>
            </a:r>
          </a:p>
          <a:p>
            <a:pPr marL="0" indent="0">
              <a:lnSpc>
                <a:spcPct val="100000"/>
              </a:lnSpc>
              <a:spcBef>
                <a:spcPct val="0"/>
              </a:spcBef>
              <a:buClr>
                <a:schemeClr val="tx2"/>
              </a:buClr>
              <a:buSzPct val="70000"/>
              <a:buNone/>
            </a:pPr>
            <a:r>
              <a:rPr lang="en-US" altLang="zh-CN" sz="2400" b="1" dirty="0">
                <a:solidFill>
                  <a:srgbClr val="FF0000"/>
                </a:solidFill>
              </a:rPr>
              <a:t>{</a:t>
            </a:r>
          </a:p>
          <a:p>
            <a:pPr marL="0" indent="0">
              <a:lnSpc>
                <a:spcPct val="100000"/>
              </a:lnSpc>
              <a:spcBef>
                <a:spcPct val="0"/>
              </a:spcBef>
              <a:buClr>
                <a:schemeClr val="tx2"/>
              </a:buClr>
              <a:buSzPct val="70000"/>
              <a:buNone/>
            </a:pPr>
            <a:r>
              <a:rPr lang="en-US" altLang="zh-CN" sz="2400" b="1" dirty="0">
                <a:solidFill>
                  <a:srgbClr val="FF0000"/>
                </a:solidFill>
              </a:rPr>
              <a:t>      </a:t>
            </a: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year;</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month;</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day;</a:t>
            </a:r>
          </a:p>
          <a:p>
            <a:pPr marL="0" indent="0">
              <a:lnSpc>
                <a:spcPct val="100000"/>
              </a:lnSpc>
              <a:spcBef>
                <a:spcPct val="0"/>
              </a:spcBef>
              <a:buClr>
                <a:schemeClr val="tx2"/>
              </a:buClr>
              <a:buSzPct val="70000"/>
              <a:buNone/>
            </a:pPr>
            <a:r>
              <a:rPr lang="en-US" altLang="zh-CN" sz="2400" b="1" dirty="0">
                <a:solidFill>
                  <a:srgbClr val="FF0000"/>
                </a:solidFill>
              </a:rPr>
              <a:t>}</a:t>
            </a:r>
            <a:r>
              <a:rPr lang="zh-CN" altLang="en-US" sz="2400"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Consolas" panose="020B0609020204030204" pitchFamily="49" charset="0"/>
              </a:rPr>
              <a:t>int </a:t>
            </a:r>
            <a:r>
              <a:rPr lang="en-US" altLang="zh-CN" sz="2400" b="1" dirty="0">
                <a:latin typeface="Consolas" panose="020B0609020204030204" pitchFamily="49" charset="0"/>
              </a:rPr>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rPr>
              <a:t>   </a:t>
            </a: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sz="2400"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date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x</a:t>
            </a:r>
            <a:r>
              <a:rPr lang="en-US" altLang="zh-CN" sz="2400" b="1" dirty="0">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struct </a:t>
            </a:r>
            <a:r>
              <a:rPr lang="en-US" altLang="zh-CN" sz="2400" b="1" dirty="0">
                <a:solidFill>
                  <a:srgbClr val="FF0000"/>
                </a:solidFill>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p = </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&amp;</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x</a:t>
            </a:r>
            <a:r>
              <a:rPr lang="en-US" altLang="zh-CN" sz="2400" b="1" dirty="0">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p>
          <a:p>
            <a:pPr marL="0" indent="0">
              <a:lnSpc>
                <a:spcPct val="100000"/>
              </a:lnSpc>
              <a:spcBef>
                <a:spcPct val="0"/>
              </a:spcBef>
              <a:buClr>
                <a:schemeClr val="tx2"/>
              </a:buClr>
              <a:buSzPct val="70000"/>
              <a:buNone/>
            </a:pPr>
            <a:endParaRPr lang="en-US" altLang="zh-CN" sz="2400" b="1" dirty="0">
              <a:latin typeface="Consolas" panose="020B0609020204030204" pitchFamily="49" charset="0"/>
            </a:endParaRPr>
          </a:p>
          <a:p>
            <a:pPr marL="0" indent="0">
              <a:lnSpc>
                <a:spcPct val="100000"/>
              </a:lnSpc>
              <a:spcBef>
                <a:spcPct val="0"/>
              </a:spcBef>
              <a:buClr>
                <a:schemeClr val="tx2"/>
              </a:buClr>
              <a:buSzPct val="70000"/>
              <a:buNone/>
            </a:pPr>
            <a:endParaRPr lang="en-US" altLang="zh-CN" sz="2400" b="1" dirty="0">
              <a:latin typeface="Consolas" panose="020B0609020204030204" pitchFamily="49" charset="0"/>
            </a:endParaRPr>
          </a:p>
        </p:txBody>
      </p:sp>
      <p:sp>
        <p:nvSpPr>
          <p:cNvPr id="6" name="Rectangle 2">
            <a:extLst>
              <a:ext uri="{FF2B5EF4-FFF2-40B4-BE49-F238E27FC236}">
                <a16:creationId xmlns:a16="http://schemas.microsoft.com/office/drawing/2014/main" id="{62765FE5-51C3-473D-9AC8-80AEF2C29C11}"/>
              </a:ext>
            </a:extLst>
          </p:cNvPr>
          <p:cNvSpPr txBox="1">
            <a:spLocks noChangeArrowheads="1"/>
          </p:cNvSpPr>
          <p:nvPr/>
        </p:nvSpPr>
        <p:spPr>
          <a:xfrm>
            <a:off x="3351422" y="1068983"/>
            <a:ext cx="8823800"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sz="2400" b="1" dirty="0">
                <a:solidFill>
                  <a:srgbClr val="0000FF"/>
                </a:solidFill>
              </a:rPr>
              <a:t> </a:t>
            </a:r>
          </a:p>
          <a:p>
            <a:pPr marL="0" indent="0">
              <a:lnSpc>
                <a:spcPct val="100000"/>
              </a:lnSpc>
              <a:spcBef>
                <a:spcPct val="0"/>
              </a:spcBef>
              <a:buClr>
                <a:schemeClr val="tx2"/>
              </a:buClr>
              <a:buSzPct val="70000"/>
              <a:buNone/>
            </a:pPr>
            <a:endParaRPr lang="en-US" altLang="zh-CN" sz="2400" b="1" dirty="0">
              <a:solidFill>
                <a:srgbClr val="0000FF"/>
              </a:solidFill>
              <a:latin typeface="Consolas" panose="020B0609020204030204" pitchFamily="49" charset="0"/>
            </a:endParaRPr>
          </a:p>
          <a:p>
            <a:pPr marL="0" indent="0">
              <a:lnSpc>
                <a:spcPct val="100000"/>
              </a:lnSpc>
              <a:spcBef>
                <a:spcPct val="0"/>
              </a:spcBef>
              <a:buClr>
                <a:schemeClr val="tx2"/>
              </a:buClr>
              <a:buSzPct val="70000"/>
              <a:buNone/>
            </a:pPr>
            <a:endParaRPr lang="en-US" altLang="zh-CN" sz="2400" b="1" dirty="0">
              <a:solidFill>
                <a:srgbClr val="0000FF"/>
              </a:solidFill>
              <a:latin typeface="Consolas" panose="020B0609020204030204" pitchFamily="49" charset="0"/>
            </a:endParaRP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rPr>
              <a:t> int</a:t>
            </a:r>
            <a:r>
              <a:rPr lang="en-US" altLang="zh-CN" sz="2400" b="1" dirty="0">
                <a:latin typeface="Consolas" panose="020B0609020204030204" pitchFamily="49" charset="0"/>
              </a:rPr>
              <a:t> sum = 0, mdays[] = {0,31,28,</a:t>
            </a:r>
            <a:r>
              <a:rPr lang="en-US" altLang="zh-CN" sz="2400" b="1" dirty="0">
                <a:solidFill>
                  <a:srgbClr val="00B050"/>
                </a:solidFill>
                <a:latin typeface="华文隶书" panose="02010800040101010101" pitchFamily="2" charset="-122"/>
                <a:ea typeface="华文隶书" panose="02010800040101010101" pitchFamily="2" charset="-122"/>
              </a:rPr>
              <a:t>…</a:t>
            </a:r>
            <a:r>
              <a:rPr lang="en-US" altLang="zh-CN" sz="2400" b="1" dirty="0">
                <a:latin typeface="Consolas" panose="020B0609020204030204" pitchFamily="49" charset="0"/>
              </a:rPr>
              <a:t>,31,30};</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scanf(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%d-%d-%d</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a:t>
            </a:r>
            <a:r>
              <a:rPr lang="en-US" altLang="zh-CN" sz="2400" b="1" dirty="0">
                <a:solidFill>
                  <a:srgbClr val="FF0000"/>
                </a:solidFill>
                <a:latin typeface="Consolas" panose="020B0609020204030204" pitchFamily="49" charset="0"/>
              </a:rPr>
              <a:t>&amp;</a:t>
            </a:r>
            <a:r>
              <a:rPr lang="en-US" altLang="zh-CN" sz="2400" b="1" dirty="0">
                <a:latin typeface="Consolas" panose="020B0609020204030204" pitchFamily="49" charset="0"/>
              </a:rPr>
              <a:t>x</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year, </a:t>
            </a:r>
            <a:r>
              <a:rPr lang="en-US" altLang="zh-CN" sz="2400" b="1" dirty="0">
                <a:solidFill>
                  <a:srgbClr val="FF0000"/>
                </a:solidFill>
                <a:latin typeface="Consolas" panose="020B0609020204030204" pitchFamily="49" charset="0"/>
              </a:rPr>
              <a:t>&amp;</a:t>
            </a:r>
            <a:r>
              <a:rPr lang="en-US" altLang="zh-CN" sz="2400" b="1" dirty="0">
                <a:latin typeface="Consolas" panose="020B0609020204030204" pitchFamily="49" charset="0"/>
              </a:rPr>
              <a:t>(</a:t>
            </a:r>
            <a:r>
              <a:rPr lang="en-US" altLang="zh-CN" sz="2400" b="1" dirty="0">
                <a:solidFill>
                  <a:srgbClr val="FF0000"/>
                </a:solidFill>
              </a:rPr>
              <a:t>*</a:t>
            </a:r>
            <a:r>
              <a:rPr lang="en-US" altLang="zh-CN" sz="2400" b="1" dirty="0">
                <a:latin typeface="Consolas" panose="020B0609020204030204" pitchFamily="49" charset="0"/>
              </a:rPr>
              <a:t>p)</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month, </a:t>
            </a:r>
            <a:r>
              <a:rPr lang="en-US" altLang="zh-CN" sz="2400" b="1" dirty="0">
                <a:solidFill>
                  <a:srgbClr val="FF0000"/>
                </a:solidFill>
                <a:latin typeface="Consolas" panose="020B0609020204030204" pitchFamily="49" charset="0"/>
              </a:rPr>
              <a:t>&amp;</a:t>
            </a:r>
            <a:r>
              <a:rPr lang="en-US" altLang="zh-CN" sz="2400" b="1" dirty="0">
                <a:latin typeface="Consolas" panose="020B0609020204030204" pitchFamily="49" charset="0"/>
              </a:rPr>
              <a:t>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day);</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rPr>
              <a:t> for</a:t>
            </a:r>
            <a:r>
              <a:rPr lang="en-US" altLang="zh-CN" sz="2400" b="1" dirty="0">
                <a:latin typeface="Consolas" panose="020B0609020204030204" pitchFamily="49" charset="0"/>
              </a:rPr>
              <a:t>(</a:t>
            </a:r>
            <a:r>
              <a:rPr lang="en-US" altLang="zh-CN" sz="2400" b="1" dirty="0">
                <a:solidFill>
                  <a:srgbClr val="0000FF"/>
                </a:solidFill>
                <a:latin typeface="Consolas" panose="020B0609020204030204" pitchFamily="49" charset="0"/>
              </a:rPr>
              <a:t>int</a:t>
            </a:r>
            <a:r>
              <a:rPr lang="en-US" altLang="zh-CN" sz="2400" b="1" dirty="0">
                <a:latin typeface="Consolas" panose="020B0609020204030204" pitchFamily="49" charset="0"/>
              </a:rPr>
              <a:t> i = 1</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i &lt; x</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month</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i++){</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sum += mdays</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i</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if(x</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year%400==0 || x</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year%100!=0 &amp;&amp; x</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year%4==0)</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sum++;</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sum += x.day;</a:t>
            </a:r>
          </a:p>
          <a:p>
            <a:pPr marL="0" indent="0">
              <a:lnSpc>
                <a:spcPct val="100000"/>
              </a:lnSpc>
              <a:spcBef>
                <a:spcPct val="0"/>
              </a:spcBef>
              <a:buClr>
                <a:schemeClr val="tx2"/>
              </a:buClr>
              <a:buSzPct val="70000"/>
              <a:buNone/>
            </a:pPr>
            <a:r>
              <a:rPr lang="en-US" altLang="zh-CN" sz="2400" b="1" dirty="0">
                <a:solidFill>
                  <a:srgbClr val="00B050"/>
                </a:solidFill>
                <a:latin typeface="Consolas" panose="020B0609020204030204" pitchFamily="49" charset="0"/>
              </a:rPr>
              <a:t> </a:t>
            </a:r>
            <a:r>
              <a:rPr lang="en-US" altLang="zh-CN" sz="2400" b="1" dirty="0">
                <a:latin typeface="Consolas" panose="020B0609020204030204" pitchFamily="49" charset="0"/>
              </a:rPr>
              <a:t>printf(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Number of days is %d</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sum);</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3333FF"/>
                </a:solidFill>
                <a:latin typeface="Consolas" panose="020B0609020204030204" pitchFamily="49" charset="0"/>
              </a:rPr>
              <a:t>return</a:t>
            </a:r>
            <a:r>
              <a:rPr lang="en-US" altLang="zh-CN" sz="2400" b="1" dirty="0">
                <a:latin typeface="Consolas" panose="020B0609020204030204" pitchFamily="49" charset="0"/>
              </a:rPr>
              <a:t> 0;</a:t>
            </a:r>
          </a:p>
          <a:p>
            <a:pPr marL="0" indent="0">
              <a:lnSpc>
                <a:spcPct val="100000"/>
              </a:lnSpc>
              <a:spcBef>
                <a:spcPct val="0"/>
              </a:spcBef>
              <a:buClr>
                <a:schemeClr val="tx2"/>
              </a:buClr>
              <a:buSzPct val="70000"/>
              <a:buNone/>
            </a:pPr>
            <a:r>
              <a:rPr lang="en-US" altLang="zh-CN" sz="2400" b="1" dirty="0">
                <a:solidFill>
                  <a:srgbClr val="FF0000"/>
                </a:solidFill>
                <a:latin typeface="Consolas" panose="020B0609020204030204" pitchFamily="49" charset="0"/>
              </a:rPr>
              <a:t>}</a:t>
            </a:r>
          </a:p>
        </p:txBody>
      </p:sp>
      <p:sp>
        <p:nvSpPr>
          <p:cNvPr id="2" name="灯片编号占位符 1">
            <a:extLst>
              <a:ext uri="{FF2B5EF4-FFF2-40B4-BE49-F238E27FC236}">
                <a16:creationId xmlns:a16="http://schemas.microsoft.com/office/drawing/2014/main" id="{AC7CB24E-7E96-454A-ADEA-644B377C5C31}"/>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18</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4088554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AA936E-9D69-408D-9754-69CD8B83DB80}"/>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结构体指针变量</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8F6E6E82-8E5B-4F89-857E-38E2D86076EC}"/>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2. </a:t>
            </a:r>
            <a:r>
              <a:rPr lang="zh-CN" altLang="en-US" sz="2800" b="1" dirty="0">
                <a:solidFill>
                  <a:srgbClr val="00B0F0"/>
                </a:solidFill>
                <a:latin typeface="微软雅黑" panose="020B0503020204020204" pitchFamily="34" charset="-122"/>
                <a:ea typeface="微软雅黑" panose="020B0503020204020204" pitchFamily="34" charset="-122"/>
              </a:rPr>
              <a:t>定义指向结构体数组元素的指针变量</a:t>
            </a:r>
            <a:endParaRPr lang="en-US" altLang="zh-CN" sz="3200" b="1" dirty="0">
              <a:latin typeface="隶书" panose="02010509060101010101" pitchFamily="49" charset="-122"/>
              <a:ea typeface="隶书" panose="02010509060101010101" pitchFamily="49" charset="-122"/>
            </a:endParaRPr>
          </a:p>
        </p:txBody>
      </p:sp>
      <p:grpSp>
        <p:nvGrpSpPr>
          <p:cNvPr id="6" name="组合 5">
            <a:extLst>
              <a:ext uri="{FF2B5EF4-FFF2-40B4-BE49-F238E27FC236}">
                <a16:creationId xmlns:a16="http://schemas.microsoft.com/office/drawing/2014/main" id="{AC8D9470-E1D5-46E4-81BB-8853868E8F4D}"/>
              </a:ext>
            </a:extLst>
          </p:cNvPr>
          <p:cNvGrpSpPr/>
          <p:nvPr/>
        </p:nvGrpSpPr>
        <p:grpSpPr>
          <a:xfrm>
            <a:off x="174902" y="1118286"/>
            <a:ext cx="5525384" cy="1046440"/>
            <a:chOff x="174902" y="1118286"/>
            <a:chExt cx="5525384" cy="1046440"/>
          </a:xfrm>
        </p:grpSpPr>
        <p:sp>
          <p:nvSpPr>
            <p:cNvPr id="9" name="矩形 8">
              <a:extLst>
                <a:ext uri="{FF2B5EF4-FFF2-40B4-BE49-F238E27FC236}">
                  <a16:creationId xmlns:a16="http://schemas.microsoft.com/office/drawing/2014/main" id="{481E6944-3830-43EB-B585-AEC67955E4C3}"/>
                </a:ext>
              </a:extLst>
            </p:cNvPr>
            <p:cNvSpPr/>
            <p:nvPr/>
          </p:nvSpPr>
          <p:spPr>
            <a:xfrm>
              <a:off x="174902" y="1118286"/>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定义结构体数组一般形式如下：</a:t>
              </a:r>
            </a:p>
          </p:txBody>
        </p:sp>
        <p:sp>
          <p:nvSpPr>
            <p:cNvPr id="10" name="Rectangle 2">
              <a:extLst>
                <a:ext uri="{FF2B5EF4-FFF2-40B4-BE49-F238E27FC236}">
                  <a16:creationId xmlns:a16="http://schemas.microsoft.com/office/drawing/2014/main" id="{7B09E7F4-F650-475F-8F48-9EDC174EE23C}"/>
                </a:ext>
              </a:extLst>
            </p:cNvPr>
            <p:cNvSpPr txBox="1">
              <a:spLocks noChangeArrowheads="1"/>
            </p:cNvSpPr>
            <p:nvPr/>
          </p:nvSpPr>
          <p:spPr>
            <a:xfrm>
              <a:off x="174903" y="1641506"/>
              <a:ext cx="5456313"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zh-CN" altLang="en-US" b="1" dirty="0">
                  <a:solidFill>
                    <a:srgbClr val="0000FF"/>
                  </a:solidFill>
                  <a:latin typeface="Consolas" panose="020B0609020204030204" pitchFamily="49" charset="0"/>
                  <a:ea typeface="华文隶书" panose="02010800040101010101" pitchFamily="2" charset="-122"/>
                </a:rPr>
                <a:t>结构体类型名 </a:t>
              </a:r>
              <a:r>
                <a:rPr lang="zh-CN" altLang="en-US" b="1" dirty="0">
                  <a:solidFill>
                    <a:srgbClr val="0070C0"/>
                  </a:solidFill>
                  <a:latin typeface="华文中宋" panose="02010600040101010101" pitchFamily="2" charset="-122"/>
                  <a:ea typeface="华文中宋" panose="02010600040101010101" pitchFamily="2" charset="-122"/>
                </a:rPr>
                <a:t>结构体数组名 </a:t>
              </a:r>
              <a:r>
                <a:rPr lang="en-US" altLang="zh-CN" b="1" dirty="0">
                  <a:solidFill>
                    <a:srgbClr val="FF0000"/>
                  </a:solidFill>
                  <a:ea typeface="华文中宋" panose="02010600040101010101" pitchFamily="2" charset="-122"/>
                </a:rPr>
                <a:t>[</a:t>
              </a:r>
              <a:r>
                <a:rPr lang="en-US" altLang="zh-CN" b="1" dirty="0">
                  <a:latin typeface="Consolas" panose="020B0609020204030204" pitchFamily="49" charset="0"/>
                  <a:ea typeface="华文隶书" panose="02010800040101010101" pitchFamily="2" charset="-122"/>
                </a:rPr>
                <a:t>N</a:t>
              </a:r>
              <a:r>
                <a:rPr lang="en-US" altLang="zh-CN" b="1" dirty="0">
                  <a:solidFill>
                    <a:srgbClr val="FF0000"/>
                  </a:solidFill>
                  <a:ea typeface="华文隶书" panose="02010800040101010101" pitchFamily="2" charset="-122"/>
                </a:rPr>
                <a:t>]</a:t>
              </a:r>
              <a:r>
                <a:rPr lang="zh-CN" altLang="en-US" b="1" dirty="0"/>
                <a:t>；</a:t>
              </a:r>
              <a:endParaRPr lang="en-US" altLang="zh-CN" b="1" dirty="0"/>
            </a:p>
          </p:txBody>
        </p:sp>
      </p:grpSp>
      <p:grpSp>
        <p:nvGrpSpPr>
          <p:cNvPr id="7" name="组合 6">
            <a:extLst>
              <a:ext uri="{FF2B5EF4-FFF2-40B4-BE49-F238E27FC236}">
                <a16:creationId xmlns:a16="http://schemas.microsoft.com/office/drawing/2014/main" id="{725F34CB-6996-4D17-B4DF-A364D568F918}"/>
              </a:ext>
            </a:extLst>
          </p:cNvPr>
          <p:cNvGrpSpPr/>
          <p:nvPr/>
        </p:nvGrpSpPr>
        <p:grpSpPr>
          <a:xfrm>
            <a:off x="167894" y="2219342"/>
            <a:ext cx="5532392" cy="4062650"/>
            <a:chOff x="167894" y="2219342"/>
            <a:chExt cx="5532392" cy="4062650"/>
          </a:xfrm>
        </p:grpSpPr>
        <p:sp>
          <p:nvSpPr>
            <p:cNvPr id="11" name="矩形 10">
              <a:extLst>
                <a:ext uri="{FF2B5EF4-FFF2-40B4-BE49-F238E27FC236}">
                  <a16:creationId xmlns:a16="http://schemas.microsoft.com/office/drawing/2014/main" id="{D816AC97-D182-4E60-BCA6-6A3782938B75}"/>
                </a:ext>
              </a:extLst>
            </p:cNvPr>
            <p:cNvSpPr/>
            <p:nvPr/>
          </p:nvSpPr>
          <p:spPr>
            <a:xfrm>
              <a:off x="174902" y="2219342"/>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12" name="Rectangle 2">
              <a:extLst>
                <a:ext uri="{FF2B5EF4-FFF2-40B4-BE49-F238E27FC236}">
                  <a16:creationId xmlns:a16="http://schemas.microsoft.com/office/drawing/2014/main" id="{228153D8-C3CA-4800-A590-D8720E61BC36}"/>
                </a:ext>
              </a:extLst>
            </p:cNvPr>
            <p:cNvSpPr txBox="1">
              <a:spLocks noChangeArrowheads="1"/>
            </p:cNvSpPr>
            <p:nvPr/>
          </p:nvSpPr>
          <p:spPr>
            <a:xfrm>
              <a:off x="167894" y="2742562"/>
              <a:ext cx="5463322"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#define </a:t>
              </a: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N</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10</a:t>
              </a:r>
            </a:p>
            <a:p>
              <a:pPr marL="0" indent="0">
                <a:lnSpc>
                  <a:spcPct val="100000"/>
                </a:lnSpc>
                <a:spcBef>
                  <a:spcPts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15</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stus</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N</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p:txBody>
        </p:sp>
      </p:grpSp>
      <p:grpSp>
        <p:nvGrpSpPr>
          <p:cNvPr id="8" name="组合 7">
            <a:extLst>
              <a:ext uri="{FF2B5EF4-FFF2-40B4-BE49-F238E27FC236}">
                <a16:creationId xmlns:a16="http://schemas.microsoft.com/office/drawing/2014/main" id="{3C2D883C-30BD-4F9B-A1AB-6B5F4C81F071}"/>
              </a:ext>
            </a:extLst>
          </p:cNvPr>
          <p:cNvGrpSpPr/>
          <p:nvPr/>
        </p:nvGrpSpPr>
        <p:grpSpPr>
          <a:xfrm>
            <a:off x="5876418" y="1118286"/>
            <a:ext cx="6315582" cy="5150015"/>
            <a:chOff x="5876418" y="1118286"/>
            <a:chExt cx="6315582" cy="5150015"/>
          </a:xfrm>
        </p:grpSpPr>
        <p:sp>
          <p:nvSpPr>
            <p:cNvPr id="13" name="矩形 12">
              <a:extLst>
                <a:ext uri="{FF2B5EF4-FFF2-40B4-BE49-F238E27FC236}">
                  <a16:creationId xmlns:a16="http://schemas.microsoft.com/office/drawing/2014/main" id="{2919E93E-C231-47EC-B2FE-D3E9A2FBD10A}"/>
                </a:ext>
              </a:extLst>
            </p:cNvPr>
            <p:cNvSpPr/>
            <p:nvPr/>
          </p:nvSpPr>
          <p:spPr>
            <a:xfrm>
              <a:off x="5876418" y="1118286"/>
              <a:ext cx="6315582"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利用指针变量访问结构体数组元素：</a:t>
              </a:r>
            </a:p>
          </p:txBody>
        </p:sp>
        <p:sp>
          <p:nvSpPr>
            <p:cNvPr id="16" name="Rectangle 2">
              <a:extLst>
                <a:ext uri="{FF2B5EF4-FFF2-40B4-BE49-F238E27FC236}">
                  <a16:creationId xmlns:a16="http://schemas.microsoft.com/office/drawing/2014/main" id="{D4E5D048-49A0-4D0A-83A4-8B1DEA4D29FD}"/>
                </a:ext>
              </a:extLst>
            </p:cNvPr>
            <p:cNvSpPr txBox="1">
              <a:spLocks noChangeArrowheads="1"/>
            </p:cNvSpPr>
            <p:nvPr/>
          </p:nvSpPr>
          <p:spPr>
            <a:xfrm>
              <a:off x="5876419" y="1636264"/>
              <a:ext cx="6315581" cy="4632037"/>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#define </a:t>
              </a: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N</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10</a:t>
              </a:r>
              <a:endPar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ts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15</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endPar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stus</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N</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ts val="18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 = stus;</a:t>
              </a:r>
            </a:p>
          </p:txBody>
        </p:sp>
      </p:grpSp>
      <p:sp>
        <p:nvSpPr>
          <p:cNvPr id="2" name="灯片编号占位符 1">
            <a:extLst>
              <a:ext uri="{FF2B5EF4-FFF2-40B4-BE49-F238E27FC236}">
                <a16:creationId xmlns:a16="http://schemas.microsoft.com/office/drawing/2014/main" id="{5547C90E-C5D3-4B4F-AD29-9D85FEC60D6D}"/>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19</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219494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AA936E-9D69-408D-9754-69CD8B83DB80}"/>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结构体指针变量</a:t>
            </a:r>
            <a:endParaRPr lang="zh-CN" altLang="en-US" sz="3200" b="1" dirty="0">
              <a:solidFill>
                <a:srgbClr val="200AC4"/>
              </a:solidFill>
              <a:ea typeface="隶书" pitchFamily="49" charset="-122"/>
            </a:endParaRPr>
          </a:p>
        </p:txBody>
      </p:sp>
      <p:sp>
        <p:nvSpPr>
          <p:cNvPr id="10" name="矩形 9">
            <a:extLst>
              <a:ext uri="{FF2B5EF4-FFF2-40B4-BE49-F238E27FC236}">
                <a16:creationId xmlns:a16="http://schemas.microsoft.com/office/drawing/2014/main" id="{9F160728-A340-4D8D-8CB7-2749EA10A1D9}"/>
              </a:ext>
            </a:extLst>
          </p:cNvPr>
          <p:cNvSpPr/>
          <p:nvPr/>
        </p:nvSpPr>
        <p:spPr>
          <a:xfrm>
            <a:off x="16777" y="608437"/>
            <a:ext cx="12175223" cy="830997"/>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7-4</a:t>
            </a:r>
            <a:r>
              <a:rPr lang="en-US" altLang="zh-CN" sz="2400" b="1" dirty="0">
                <a:latin typeface="隶书" pitchFamily="49" charset="-122"/>
              </a:rPr>
              <a:t>】</a:t>
            </a:r>
            <a:r>
              <a:rPr lang="zh-CN" altLang="en-US" sz="2400" b="1" dirty="0">
                <a:latin typeface="隶书" pitchFamily="49" charset="-122"/>
              </a:rPr>
              <a:t>从键盘输入</a:t>
            </a:r>
            <a:r>
              <a:rPr lang="en-US" altLang="zh-CN" sz="2400" b="1" dirty="0">
                <a:latin typeface="隶书" pitchFamily="49" charset="-122"/>
              </a:rPr>
              <a:t>3</a:t>
            </a:r>
            <a:r>
              <a:rPr lang="zh-CN" altLang="en-US" sz="2400" b="1" dirty="0">
                <a:latin typeface="隶书" pitchFamily="49" charset="-122"/>
              </a:rPr>
              <a:t>名学生的信息，每名学生的信息包括学号、姓名、英语成绩、数学成绩、物理成绩，求出每名学生的平均成绩并输出。要求用结构体指针变量实现。</a:t>
            </a:r>
          </a:p>
        </p:txBody>
      </p:sp>
      <p:sp>
        <p:nvSpPr>
          <p:cNvPr id="12" name="Rectangle 2">
            <a:extLst>
              <a:ext uri="{FF2B5EF4-FFF2-40B4-BE49-F238E27FC236}">
                <a16:creationId xmlns:a16="http://schemas.microsoft.com/office/drawing/2014/main" id="{BC5DDD74-F332-4EF6-A708-71A14B64BE9E}"/>
              </a:ext>
            </a:extLst>
          </p:cNvPr>
          <p:cNvSpPr txBox="1">
            <a:spLocks noChangeArrowheads="1"/>
          </p:cNvSpPr>
          <p:nvPr/>
        </p:nvSpPr>
        <p:spPr>
          <a:xfrm>
            <a:off x="4679576" y="1439874"/>
            <a:ext cx="7495645"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rPr>
              <a:t> </a:t>
            </a:r>
          </a:p>
          <a:p>
            <a:pPr marL="0" indent="0">
              <a:lnSpc>
                <a:spcPct val="100000"/>
              </a:lnSpc>
              <a:spcBef>
                <a:spcPct val="0"/>
              </a:spcBef>
              <a:buClr>
                <a:schemeClr val="tx2"/>
              </a:buClr>
              <a:buSzPct val="70000"/>
              <a:buNone/>
            </a:pPr>
            <a:endParaRPr lang="en-US" altLang="zh-CN" sz="2400" b="1" dirty="0">
              <a:latin typeface="Consolas" panose="020B0609020204030204" pitchFamily="49" charset="0"/>
            </a:endParaRP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rPr>
              <a:t> for</a:t>
            </a:r>
            <a:r>
              <a:rPr lang="en-US" altLang="zh-CN" sz="2400" b="1" dirty="0">
                <a:latin typeface="Consolas" panose="020B0609020204030204" pitchFamily="49" charset="0"/>
              </a:rPr>
              <a:t>(</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p &lt; stu + N</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p++){</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gets(p-&gt;name); </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scanf(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%d%f%f</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a:t>
            </a:r>
            <a:r>
              <a:rPr lang="en-US" altLang="zh-CN" sz="2400" b="1" dirty="0">
                <a:solidFill>
                  <a:srgbClr val="FF0000"/>
                </a:solidFill>
                <a:latin typeface="Consolas" panose="020B0609020204030204" pitchFamily="49" charset="0"/>
              </a:rPr>
              <a:t>&amp;</a:t>
            </a:r>
            <a:r>
              <a:rPr lang="en-US" altLang="zh-CN" sz="2400" b="1" dirty="0">
                <a:latin typeface="Consolas" panose="020B0609020204030204" pitchFamily="49" charset="0"/>
              </a:rPr>
              <a:t>(p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no), </a:t>
            </a:r>
            <a:r>
              <a:rPr lang="en-US" altLang="zh-CN" sz="2400" b="1" dirty="0">
                <a:solidFill>
                  <a:srgbClr val="FF0000"/>
                </a:solidFill>
                <a:latin typeface="Consolas" panose="020B0609020204030204" pitchFamily="49" charset="0"/>
              </a:rPr>
              <a:t>&amp;</a:t>
            </a:r>
            <a:r>
              <a:rPr lang="en-US" altLang="zh-CN" sz="2400" b="1" dirty="0">
                <a:latin typeface="Consolas" panose="020B0609020204030204" pitchFamily="49" charset="0"/>
              </a:rPr>
              <a:t>(p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english), </a:t>
            </a:r>
          </a:p>
          <a:p>
            <a:pPr marL="0" indent="0">
              <a:lnSpc>
                <a:spcPct val="100000"/>
              </a:lnSpc>
              <a:spcBef>
                <a:spcPct val="0"/>
              </a:spcBef>
              <a:buClr>
                <a:schemeClr val="tx2"/>
              </a:buClr>
              <a:buSzPct val="70000"/>
              <a:buNone/>
            </a:pPr>
            <a:r>
              <a:rPr lang="en-US" altLang="zh-CN" sz="2400" b="1" dirty="0">
                <a:solidFill>
                  <a:srgbClr val="FF0000"/>
                </a:solidFill>
                <a:latin typeface="Consolas" panose="020B0609020204030204" pitchFamily="49" charset="0"/>
              </a:rPr>
              <a:t>                  &amp;</a:t>
            </a:r>
            <a:r>
              <a:rPr lang="en-US" altLang="zh-CN" sz="2400" b="1" dirty="0">
                <a:latin typeface="Consolas" panose="020B0609020204030204" pitchFamily="49" charset="0"/>
              </a:rPr>
              <a:t>(p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math), </a:t>
            </a:r>
            <a:r>
              <a:rPr lang="en-US" altLang="zh-CN" sz="2400" b="1" dirty="0">
                <a:solidFill>
                  <a:srgbClr val="FF0000"/>
                </a:solidFill>
                <a:latin typeface="Consolas" panose="020B0609020204030204" pitchFamily="49" charset="0"/>
              </a:rPr>
              <a:t>&amp;</a:t>
            </a:r>
            <a:r>
              <a:rPr lang="en-US" altLang="zh-CN" sz="2400" b="1" dirty="0">
                <a:latin typeface="Consolas" panose="020B0609020204030204" pitchFamily="49" charset="0"/>
              </a:rPr>
              <a:t>(p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phy));</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avg=(p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english + 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math + 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phy)/3;</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00FF"/>
                </a:solidFill>
                <a:latin typeface="Consolas" panose="020B0609020204030204" pitchFamily="49" charset="0"/>
              </a:rPr>
              <a:t>for</a:t>
            </a:r>
            <a:r>
              <a:rPr lang="en-US" altLang="zh-CN" sz="2400" b="1" dirty="0">
                <a:latin typeface="Consolas" panose="020B0609020204030204" pitchFamily="49" charset="0"/>
              </a:rPr>
              <a:t>(p = stu</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p &lt; stu + N</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 p++){</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printf(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%s %f\n</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name, p</a:t>
            </a:r>
            <a:r>
              <a:rPr lang="en-US" altLang="zh-CN" sz="2400" b="1" dirty="0">
                <a:solidFill>
                  <a:srgbClr val="FF0000"/>
                </a:solidFill>
                <a:latin typeface="Consolas" panose="020B0609020204030204" pitchFamily="49" charset="0"/>
              </a:rPr>
              <a:t>-&gt;</a:t>
            </a:r>
            <a:r>
              <a:rPr lang="en-US" altLang="zh-CN" sz="2400" b="1" dirty="0">
                <a:latin typeface="Consolas" panose="020B0609020204030204" pitchFamily="49" charset="0"/>
              </a:rPr>
              <a:t>avg);</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3333FF"/>
                </a:solidFill>
                <a:latin typeface="Consolas" panose="020B0609020204030204" pitchFamily="49" charset="0"/>
              </a:rPr>
              <a:t>return</a:t>
            </a:r>
            <a:r>
              <a:rPr lang="en-US" altLang="zh-CN" sz="2400" b="1" dirty="0">
                <a:latin typeface="Consolas" panose="020B0609020204030204" pitchFamily="49" charset="0"/>
              </a:rPr>
              <a:t> 0;</a:t>
            </a:r>
          </a:p>
          <a:p>
            <a:pPr marL="0" indent="0">
              <a:lnSpc>
                <a:spcPct val="100000"/>
              </a:lnSpc>
              <a:spcBef>
                <a:spcPct val="0"/>
              </a:spcBef>
              <a:buClr>
                <a:schemeClr val="tx2"/>
              </a:buClr>
              <a:buSzPct val="70000"/>
              <a:buNone/>
            </a:pPr>
            <a:r>
              <a:rPr lang="en-US" altLang="zh-CN" sz="2400" b="1" dirty="0">
                <a:solidFill>
                  <a:srgbClr val="FF0000"/>
                </a:solidFill>
                <a:latin typeface="Consolas" panose="020B0609020204030204" pitchFamily="49" charset="0"/>
              </a:rPr>
              <a:t>}</a:t>
            </a:r>
          </a:p>
        </p:txBody>
      </p:sp>
      <p:sp>
        <p:nvSpPr>
          <p:cNvPr id="11" name="Rectangle 2">
            <a:extLst>
              <a:ext uri="{FF2B5EF4-FFF2-40B4-BE49-F238E27FC236}">
                <a16:creationId xmlns:a16="http://schemas.microsoft.com/office/drawing/2014/main" id="{DE38A9E8-CF7F-4719-95D1-9C26B5DCDF0C}"/>
              </a:ext>
            </a:extLst>
          </p:cNvPr>
          <p:cNvSpPr txBox="1">
            <a:spLocks noChangeArrowheads="1"/>
          </p:cNvSpPr>
          <p:nvPr/>
        </p:nvSpPr>
        <p:spPr>
          <a:xfrm>
            <a:off x="16775" y="1439434"/>
            <a:ext cx="4613151" cy="526297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Consolas" panose="020B0609020204030204" pitchFamily="49" charset="0"/>
              </a:rPr>
              <a:t>#define </a:t>
            </a:r>
            <a:r>
              <a:rPr lang="en-US" altLang="zh-CN" sz="2400" b="1" dirty="0">
                <a:latin typeface="Consolas" panose="020B0609020204030204" pitchFamily="49" charset="0"/>
              </a:rPr>
              <a:t>N</a:t>
            </a:r>
            <a:r>
              <a:rPr lang="en-US" altLang="zh-CN" sz="2400" b="1" dirty="0">
                <a:solidFill>
                  <a:srgbClr val="0000FF"/>
                </a:solidFill>
                <a:latin typeface="Consolas" panose="020B0609020204030204" pitchFamily="49" charset="0"/>
              </a:rPr>
              <a:t> </a:t>
            </a:r>
            <a:r>
              <a:rPr lang="en-US" altLang="zh-CN" sz="2400" b="1" dirty="0">
                <a:latin typeface="Consolas" panose="020B0609020204030204" pitchFamily="49" charset="0"/>
              </a:rPr>
              <a:t>3</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rPr>
              <a:t>struct</a:t>
            </a:r>
            <a:r>
              <a:rPr lang="zh-CN" altLang="en-US" sz="2400" b="1" dirty="0">
                <a:solidFill>
                  <a:srgbClr val="0000FF"/>
                </a:solidFill>
                <a:latin typeface="华文隶书" panose="02010800040101010101" pitchFamily="2" charset="-122"/>
                <a:ea typeface="华文隶书" panose="02010800040101010101" pitchFamily="2" charset="-122"/>
              </a:rPr>
              <a:t> </a:t>
            </a:r>
            <a:r>
              <a:rPr lang="en-US" altLang="zh-CN" sz="2400"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sz="2400" b="1" dirty="0">
                <a:solidFill>
                  <a:srgbClr val="FF0000"/>
                </a:solidFill>
              </a:rPr>
              <a:t>{</a:t>
            </a:r>
          </a:p>
          <a:p>
            <a:pPr marL="0" indent="0">
              <a:lnSpc>
                <a:spcPct val="100000"/>
              </a:lnSpc>
              <a:spcBef>
                <a:spcPct val="0"/>
              </a:spcBef>
              <a:buClr>
                <a:schemeClr val="tx2"/>
              </a:buClr>
              <a:buSzPct val="70000"/>
              <a:buNone/>
            </a:pPr>
            <a:r>
              <a:rPr lang="en-US" altLang="zh-CN" sz="2400" b="1" dirty="0">
                <a:solidFill>
                  <a:srgbClr val="FF0000"/>
                </a:solidFill>
              </a:rPr>
              <a:t>      </a:t>
            </a: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no;</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name[20];</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english;</a:t>
            </a:r>
          </a:p>
          <a:p>
            <a:pPr marL="0" indent="0">
              <a:lnSpc>
                <a:spcPct val="100000"/>
              </a:lnSpc>
              <a:spcBef>
                <a:spcPct val="0"/>
              </a:spcBef>
              <a:buClr>
                <a:schemeClr val="tx2"/>
              </a:buClr>
              <a:buSzPct val="70000"/>
              <a:buNone/>
            </a:pP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sz="2400" b="1" dirty="0">
                <a:solidFill>
                  <a:srgbClr val="3333FF"/>
                </a:solidFill>
                <a:latin typeface="Consolas" panose="020B0609020204030204" pitchFamily="49" charset="0"/>
                <a:ea typeface="华文隶书" panose="02010800040101010101" pitchFamily="2" charset="-122"/>
                <a:cs typeface="Times New Roman" panose="02020603050405020304" pitchFamily="18" charset="0"/>
              </a:rPr>
              <a:t>float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math;</a:t>
            </a:r>
          </a:p>
          <a:p>
            <a:pPr marL="0" indent="0">
              <a:lnSpc>
                <a:spcPct val="100000"/>
              </a:lnSpc>
              <a:spcBef>
                <a:spcPct val="0"/>
              </a:spcBef>
              <a:buClr>
                <a:schemeClr val="tx2"/>
              </a:buClr>
              <a:buSzPct val="70000"/>
              <a:buNone/>
            </a:pP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sz="2400" b="1" dirty="0">
                <a:solidFill>
                  <a:srgbClr val="3333FF"/>
                </a:solidFill>
                <a:latin typeface="Consolas" panose="020B0609020204030204" pitchFamily="49" charset="0"/>
                <a:ea typeface="华文隶书" panose="02010800040101010101" pitchFamily="2" charset="-122"/>
                <a:cs typeface="Times New Roman" panose="02020603050405020304" pitchFamily="18" charset="0"/>
              </a:rPr>
              <a:t>float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phy;</a:t>
            </a:r>
          </a:p>
          <a:p>
            <a:pPr marL="0" indent="0">
              <a:lnSpc>
                <a:spcPct val="100000"/>
              </a:lnSpc>
              <a:spcBef>
                <a:spcPct val="0"/>
              </a:spcBef>
              <a:buClr>
                <a:schemeClr val="tx2"/>
              </a:buClr>
              <a:buSzPct val="70000"/>
              <a:buNone/>
            </a:pP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sz="2400" b="1" dirty="0">
                <a:solidFill>
                  <a:srgbClr val="3333FF"/>
                </a:solidFill>
                <a:latin typeface="Consolas" panose="020B0609020204030204" pitchFamily="49" charset="0"/>
                <a:ea typeface="华文隶书" panose="02010800040101010101" pitchFamily="2" charset="-122"/>
                <a:cs typeface="Times New Roman" panose="02020603050405020304" pitchFamily="18" charset="0"/>
              </a:rPr>
              <a:t>float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avg;</a:t>
            </a:r>
          </a:p>
          <a:p>
            <a:pPr marL="0" indent="0">
              <a:lnSpc>
                <a:spcPct val="100000"/>
              </a:lnSpc>
              <a:spcBef>
                <a:spcPct val="0"/>
              </a:spcBef>
              <a:buClr>
                <a:schemeClr val="tx2"/>
              </a:buClr>
              <a:buSzPct val="70000"/>
              <a:buNone/>
            </a:pPr>
            <a:r>
              <a:rPr lang="en-US" altLang="zh-CN" sz="2400" b="1" dirty="0">
                <a:solidFill>
                  <a:srgbClr val="FF0000"/>
                </a:solidFill>
              </a:rPr>
              <a:t>}</a:t>
            </a:r>
            <a:r>
              <a:rPr lang="zh-CN" altLang="en-US" sz="2400"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Consolas" panose="020B0609020204030204" pitchFamily="49" charset="0"/>
              </a:rPr>
              <a:t>int </a:t>
            </a:r>
            <a:r>
              <a:rPr lang="en-US" altLang="zh-CN" sz="2400" b="1" dirty="0">
                <a:latin typeface="Consolas" panose="020B0609020204030204" pitchFamily="49" charset="0"/>
              </a:rPr>
              <a:t>main()</a:t>
            </a:r>
          </a:p>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FF0000"/>
                </a:solidFill>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rPr>
              <a:t>   </a:t>
            </a: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sz="2400"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stu</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N</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struct </a:t>
            </a:r>
            <a:r>
              <a:rPr lang="en-US" altLang="zh-CN" sz="2400"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 </a:t>
            </a:r>
            <a:r>
              <a:rPr lang="en-US" altLang="zh-CN" sz="2400" b="1" dirty="0">
                <a:solidFill>
                  <a:srgbClr val="FF0000"/>
                </a:solidFill>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p = stu</a:t>
            </a:r>
            <a:r>
              <a:rPr lang="en-US" altLang="zh-CN" sz="2400" b="1" dirty="0">
                <a:latin typeface="Consolas" panose="020B0609020204030204" pitchFamily="49" charset="0"/>
              </a:rPr>
              <a:t>;   </a:t>
            </a:r>
          </a:p>
        </p:txBody>
      </p:sp>
      <p:sp>
        <p:nvSpPr>
          <p:cNvPr id="2" name="灯片编号占位符 1">
            <a:extLst>
              <a:ext uri="{FF2B5EF4-FFF2-40B4-BE49-F238E27FC236}">
                <a16:creationId xmlns:a16="http://schemas.microsoft.com/office/drawing/2014/main" id="{F5A44B56-16E2-4ECE-8F47-AC1BBDFAC0F9}"/>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20</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93597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AA936E-9D69-408D-9754-69CD8B83DB80}"/>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结构体指针变量</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8F6E6E82-8E5B-4F89-857E-38E2D86076EC}"/>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3. </a:t>
            </a:r>
            <a:r>
              <a:rPr lang="zh-CN" altLang="en-US" sz="2800" b="1" dirty="0">
                <a:solidFill>
                  <a:srgbClr val="00B0F0"/>
                </a:solidFill>
                <a:latin typeface="微软雅黑" panose="020B0503020204020204" pitchFamily="34" charset="-122"/>
                <a:ea typeface="微软雅黑" panose="020B0503020204020204" pitchFamily="34" charset="-122"/>
              </a:rPr>
              <a:t>定义指向结构体数组的指针变量</a:t>
            </a:r>
            <a:endParaRPr lang="en-US" altLang="zh-CN" sz="3200" b="1" dirty="0">
              <a:latin typeface="隶书" panose="02010509060101010101" pitchFamily="49" charset="-122"/>
              <a:ea typeface="隶书" panose="02010509060101010101" pitchFamily="49" charset="-122"/>
            </a:endParaRPr>
          </a:p>
        </p:txBody>
      </p:sp>
      <p:grpSp>
        <p:nvGrpSpPr>
          <p:cNvPr id="6" name="组合 5">
            <a:extLst>
              <a:ext uri="{FF2B5EF4-FFF2-40B4-BE49-F238E27FC236}">
                <a16:creationId xmlns:a16="http://schemas.microsoft.com/office/drawing/2014/main" id="{71580824-4DAF-4ADA-9209-9E2110008B7D}"/>
              </a:ext>
            </a:extLst>
          </p:cNvPr>
          <p:cNvGrpSpPr/>
          <p:nvPr/>
        </p:nvGrpSpPr>
        <p:grpSpPr>
          <a:xfrm>
            <a:off x="2429827" y="1237439"/>
            <a:ext cx="6627278" cy="1046440"/>
            <a:chOff x="2429827" y="1237439"/>
            <a:chExt cx="6627278" cy="1046440"/>
          </a:xfrm>
        </p:grpSpPr>
        <p:sp>
          <p:nvSpPr>
            <p:cNvPr id="13" name="矩形 12">
              <a:extLst>
                <a:ext uri="{FF2B5EF4-FFF2-40B4-BE49-F238E27FC236}">
                  <a16:creationId xmlns:a16="http://schemas.microsoft.com/office/drawing/2014/main" id="{2919E93E-C231-47EC-B2FE-D3E9A2FBD10A}"/>
                </a:ext>
              </a:extLst>
            </p:cNvPr>
            <p:cNvSpPr/>
            <p:nvPr/>
          </p:nvSpPr>
          <p:spPr>
            <a:xfrm>
              <a:off x="2429827" y="1237439"/>
              <a:ext cx="6315582"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定义结构体数组指针变量一般形式如下：</a:t>
              </a:r>
            </a:p>
          </p:txBody>
        </p:sp>
        <p:sp>
          <p:nvSpPr>
            <p:cNvPr id="14" name="Rectangle 2">
              <a:extLst>
                <a:ext uri="{FF2B5EF4-FFF2-40B4-BE49-F238E27FC236}">
                  <a16:creationId xmlns:a16="http://schemas.microsoft.com/office/drawing/2014/main" id="{ED529F0A-F05E-4FC6-BB7A-D11848035613}"/>
                </a:ext>
              </a:extLst>
            </p:cNvPr>
            <p:cNvSpPr txBox="1">
              <a:spLocks noChangeArrowheads="1"/>
            </p:cNvSpPr>
            <p:nvPr/>
          </p:nvSpPr>
          <p:spPr>
            <a:xfrm>
              <a:off x="2429828" y="1760659"/>
              <a:ext cx="6627277"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zh-CN" altLang="en-US" b="1" dirty="0">
                  <a:solidFill>
                    <a:srgbClr val="0000FF"/>
                  </a:solidFill>
                  <a:latin typeface="Consolas" panose="020B0609020204030204" pitchFamily="49" charset="0"/>
                  <a:ea typeface="华文隶书" panose="02010800040101010101" pitchFamily="2" charset="-122"/>
                </a:rPr>
                <a:t>结构体类型名 </a:t>
              </a:r>
              <a:r>
                <a:rPr lang="en-US" altLang="zh-CN" b="1" dirty="0">
                  <a:solidFill>
                    <a:srgbClr val="00B0F0"/>
                  </a:solidFill>
                  <a:latin typeface="华文中宋" panose="02010600040101010101" pitchFamily="2" charset="-122"/>
                  <a:ea typeface="华文中宋" panose="02010600040101010101" pitchFamily="2" charset="-122"/>
                </a:rPr>
                <a:t>(</a:t>
              </a:r>
              <a:r>
                <a:rPr lang="en-US" altLang="zh-CN" b="1" dirty="0">
                  <a:solidFill>
                    <a:srgbClr val="FF0000"/>
                  </a:solidFill>
                  <a:ea typeface="华文中宋" panose="02010600040101010101" pitchFamily="2" charset="-122"/>
                </a:rPr>
                <a:t>*</a:t>
              </a:r>
              <a:r>
                <a:rPr lang="en-US" altLang="zh-CN" b="1" dirty="0">
                  <a:latin typeface="华文中宋" panose="02010600040101010101" pitchFamily="2" charset="-122"/>
                  <a:ea typeface="华文中宋" panose="02010600040101010101" pitchFamily="2" charset="-122"/>
                </a:rPr>
                <a:t>p</a:t>
              </a:r>
              <a:r>
                <a:rPr lang="en-US" altLang="zh-CN" b="1" dirty="0">
                  <a:solidFill>
                    <a:srgbClr val="00B0F0"/>
                  </a:solidFill>
                  <a:latin typeface="华文中宋" panose="02010600040101010101" pitchFamily="2" charset="-122"/>
                  <a:ea typeface="华文中宋" panose="02010600040101010101" pitchFamily="2" charset="-122"/>
                </a:rPr>
                <a:t>)</a:t>
              </a:r>
              <a:r>
                <a:rPr lang="en-US" altLang="zh-CN" b="1" dirty="0">
                  <a:solidFill>
                    <a:srgbClr val="FF0000"/>
                  </a:solidFill>
                  <a:ea typeface="华文中宋" panose="02010600040101010101" pitchFamily="2" charset="-122"/>
                </a:rPr>
                <a:t>[</a:t>
              </a:r>
              <a:r>
                <a:rPr lang="en-US" altLang="zh-CN" b="1" dirty="0">
                  <a:latin typeface="Consolas" panose="020B0609020204030204" pitchFamily="49" charset="0"/>
                  <a:ea typeface="华文隶书" panose="02010800040101010101" pitchFamily="2" charset="-122"/>
                </a:rPr>
                <a:t>N</a:t>
              </a:r>
              <a:r>
                <a:rPr lang="en-US" altLang="zh-CN" b="1" dirty="0">
                  <a:solidFill>
                    <a:srgbClr val="FF0000"/>
                  </a:solidFill>
                  <a:ea typeface="华文隶书" panose="02010800040101010101" pitchFamily="2" charset="-122"/>
                </a:rPr>
                <a:t>]</a:t>
              </a:r>
              <a:r>
                <a:rPr lang="zh-CN" altLang="en-US" b="1" dirty="0"/>
                <a:t>；</a:t>
              </a:r>
              <a:endParaRPr lang="en-US" altLang="zh-CN" b="1" dirty="0"/>
            </a:p>
          </p:txBody>
        </p:sp>
      </p:grpSp>
      <p:grpSp>
        <p:nvGrpSpPr>
          <p:cNvPr id="7" name="组合 6">
            <a:extLst>
              <a:ext uri="{FF2B5EF4-FFF2-40B4-BE49-F238E27FC236}">
                <a16:creationId xmlns:a16="http://schemas.microsoft.com/office/drawing/2014/main" id="{3D69D00F-035F-4139-BA76-83744C035C41}"/>
              </a:ext>
            </a:extLst>
          </p:cNvPr>
          <p:cNvGrpSpPr/>
          <p:nvPr/>
        </p:nvGrpSpPr>
        <p:grpSpPr>
          <a:xfrm>
            <a:off x="2422818" y="2338495"/>
            <a:ext cx="6627277" cy="4062650"/>
            <a:chOff x="2422818" y="2338495"/>
            <a:chExt cx="6627277" cy="4062650"/>
          </a:xfrm>
        </p:grpSpPr>
        <p:sp>
          <p:nvSpPr>
            <p:cNvPr id="15" name="矩形 14">
              <a:extLst>
                <a:ext uri="{FF2B5EF4-FFF2-40B4-BE49-F238E27FC236}">
                  <a16:creationId xmlns:a16="http://schemas.microsoft.com/office/drawing/2014/main" id="{1715607A-89AB-4C32-AF14-EC8A3252117A}"/>
                </a:ext>
              </a:extLst>
            </p:cNvPr>
            <p:cNvSpPr/>
            <p:nvPr/>
          </p:nvSpPr>
          <p:spPr>
            <a:xfrm>
              <a:off x="2429827" y="2338495"/>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16" name="Rectangle 2">
              <a:extLst>
                <a:ext uri="{FF2B5EF4-FFF2-40B4-BE49-F238E27FC236}">
                  <a16:creationId xmlns:a16="http://schemas.microsoft.com/office/drawing/2014/main" id="{D4E5D048-49A0-4D0A-83A4-8B1DEA4D29FD}"/>
                </a:ext>
              </a:extLst>
            </p:cNvPr>
            <p:cNvSpPr txBox="1">
              <a:spLocks noChangeArrowheads="1"/>
            </p:cNvSpPr>
            <p:nvPr/>
          </p:nvSpPr>
          <p:spPr>
            <a:xfrm>
              <a:off x="2422818" y="2861715"/>
              <a:ext cx="6627277"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15</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stus</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a:t>
              </a:r>
              <a:r>
                <a:rPr lang="en-US" altLang="zh-CN" b="1" dirty="0">
                  <a:solidFill>
                    <a:srgbClr val="00B0F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 </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&amp;</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stus;</a:t>
              </a:r>
            </a:p>
          </p:txBody>
        </p:sp>
      </p:grpSp>
      <p:sp>
        <p:nvSpPr>
          <p:cNvPr id="2" name="灯片编号占位符 1">
            <a:extLst>
              <a:ext uri="{FF2B5EF4-FFF2-40B4-BE49-F238E27FC236}">
                <a16:creationId xmlns:a16="http://schemas.microsoft.com/office/drawing/2014/main" id="{F00AF96D-42CD-4FA7-BBCF-150F328DB780}"/>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21</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70772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AA936E-9D69-408D-9754-69CD8B83DB80}"/>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结构体与函数</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CEA7E640-FF96-483B-AD10-8C20ED22C04F}"/>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函数参数为结构体</a:t>
            </a:r>
            <a:endParaRPr lang="en-US" altLang="zh-CN" sz="3200" b="1" dirty="0">
              <a:latin typeface="隶书" panose="02010509060101010101" pitchFamily="49" charset="-122"/>
              <a:ea typeface="隶书" panose="02010509060101010101" pitchFamily="49" charset="-122"/>
            </a:endParaRPr>
          </a:p>
        </p:txBody>
      </p:sp>
      <p:sp>
        <p:nvSpPr>
          <p:cNvPr id="5" name="Rectangle 2">
            <a:extLst>
              <a:ext uri="{FF2B5EF4-FFF2-40B4-BE49-F238E27FC236}">
                <a16:creationId xmlns:a16="http://schemas.microsoft.com/office/drawing/2014/main" id="{1235D9EB-28B8-4FDC-93F8-45ACE8C9DE36}"/>
              </a:ext>
            </a:extLst>
          </p:cNvPr>
          <p:cNvSpPr txBox="1">
            <a:spLocks noChangeArrowheads="1"/>
          </p:cNvSpPr>
          <p:nvPr/>
        </p:nvSpPr>
        <p:spPr>
          <a:xfrm>
            <a:off x="76824" y="1926626"/>
            <a:ext cx="3498026"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15</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sp>
        <p:nvSpPr>
          <p:cNvPr id="6" name="Rectangle 2">
            <a:extLst>
              <a:ext uri="{FF2B5EF4-FFF2-40B4-BE49-F238E27FC236}">
                <a16:creationId xmlns:a16="http://schemas.microsoft.com/office/drawing/2014/main" id="{41C09887-CAE5-41B3-973D-13D261635C50}"/>
              </a:ext>
            </a:extLst>
          </p:cNvPr>
          <p:cNvSpPr txBox="1">
            <a:spLocks noChangeArrowheads="1"/>
          </p:cNvSpPr>
          <p:nvPr/>
        </p:nvSpPr>
        <p:spPr>
          <a:xfrm>
            <a:off x="4374895" y="2471308"/>
            <a:ext cx="7628156"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void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print(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sz="2800" b="1" dirty="0">
                <a:latin typeface="Consolas" panose="020B0609020204030204" pitchFamily="49" charset="0"/>
              </a:rPr>
              <a:t>printf(</a:t>
            </a:r>
            <a:r>
              <a:rPr lang="en-US" altLang="zh-CN" sz="2800" b="1" dirty="0">
                <a:solidFill>
                  <a:srgbClr val="00B050"/>
                </a:solidFill>
                <a:latin typeface="Agency FB" panose="020B0503020202020204" pitchFamily="34" charset="0"/>
              </a:rPr>
              <a:t>“</a:t>
            </a:r>
            <a:r>
              <a:rPr lang="en-US" altLang="zh-CN" sz="2800" b="1" dirty="0">
                <a:solidFill>
                  <a:srgbClr val="00B050"/>
                </a:solidFill>
                <a:latin typeface="Consolas" panose="020B0609020204030204" pitchFamily="49" charset="0"/>
              </a:rPr>
              <a:t>%</a:t>
            </a:r>
            <a:r>
              <a:rPr lang="en-US" altLang="zh-CN" b="1" dirty="0">
                <a:solidFill>
                  <a:srgbClr val="00B050"/>
                </a:solidFill>
                <a:latin typeface="Consolas" panose="020B0609020204030204" pitchFamily="49" charset="0"/>
              </a:rPr>
              <a:t>d %s</a:t>
            </a:r>
            <a:r>
              <a:rPr lang="en-US" altLang="zh-CN" sz="2800" b="1" dirty="0">
                <a:solidFill>
                  <a:srgbClr val="00B050"/>
                </a:solidFill>
                <a:latin typeface="Consolas" panose="020B0609020204030204" pitchFamily="49" charset="0"/>
              </a:rPr>
              <a:t> %d\n</a:t>
            </a:r>
            <a:r>
              <a:rPr lang="en-US" altLang="zh-CN" sz="2800" b="1" dirty="0">
                <a:solidFill>
                  <a:srgbClr val="00B050"/>
                </a:solidFill>
                <a:latin typeface="Agency FB" panose="020B0503020202020204" pitchFamily="34" charset="0"/>
              </a:rPr>
              <a:t>”</a:t>
            </a:r>
            <a:r>
              <a:rPr lang="en-US" altLang="zh-CN" sz="2800" b="1" dirty="0">
                <a:latin typeface="Consolas" panose="020B0609020204030204" pitchFamily="49" charset="0"/>
              </a:rPr>
              <a:t>, s</a:t>
            </a:r>
            <a:r>
              <a:rPr lang="en-US" altLang="zh-CN" sz="2800" b="1" dirty="0">
                <a:solidFill>
                  <a:srgbClr val="FF0000"/>
                </a:solidFill>
                <a:latin typeface="Consolas" panose="020B0609020204030204" pitchFamily="49" charset="0"/>
              </a:rPr>
              <a:t>.</a:t>
            </a:r>
            <a:r>
              <a:rPr lang="en-US" altLang="zh-CN" sz="2800" b="1" dirty="0">
                <a:latin typeface="Consolas" panose="020B0609020204030204" pitchFamily="49" charset="0"/>
              </a:rPr>
              <a:t>num,</a:t>
            </a:r>
          </a:p>
          <a:p>
            <a:pPr marL="0" indent="0">
              <a:lnSpc>
                <a:spcPct val="100000"/>
              </a:lnSpc>
              <a:spcBef>
                <a:spcPct val="0"/>
              </a:spcBef>
              <a:buClr>
                <a:schemeClr val="tx2"/>
              </a:buClr>
              <a:buSzPct val="70000"/>
              <a:buNone/>
            </a:pPr>
            <a:r>
              <a:rPr lang="en-US" altLang="zh-CN" b="1" dirty="0">
                <a:latin typeface="Consolas" panose="020B0609020204030204" pitchFamily="49" charset="0"/>
              </a:rPr>
              <a:t>                      s</a:t>
            </a:r>
            <a:r>
              <a:rPr lang="en-US" altLang="zh-CN" b="1" dirty="0">
                <a:solidFill>
                  <a:srgbClr val="FF0000"/>
                </a:solidFill>
                <a:latin typeface="Consolas" panose="020B0609020204030204" pitchFamily="49" charset="0"/>
              </a:rPr>
              <a:t>.</a:t>
            </a:r>
            <a:r>
              <a:rPr lang="en-US" altLang="zh-CN" b="1" dirty="0">
                <a:latin typeface="Consolas" panose="020B0609020204030204" pitchFamily="49" charset="0"/>
              </a:rPr>
              <a:t>name,</a:t>
            </a:r>
          </a:p>
          <a:p>
            <a:pPr marL="0" indent="0">
              <a:lnSpc>
                <a:spcPct val="100000"/>
              </a:lnSpc>
              <a:spcBef>
                <a:spcPct val="0"/>
              </a:spcBef>
              <a:buClr>
                <a:schemeClr val="tx2"/>
              </a:buClr>
              <a:buSzPct val="70000"/>
              <a:buNone/>
            </a:pPr>
            <a:r>
              <a:rPr lang="en-US" altLang="zh-CN" sz="2800" b="1" dirty="0">
                <a:latin typeface="Consolas" panose="020B0609020204030204" pitchFamily="49" charset="0"/>
              </a:rPr>
              <a:t>                      </a:t>
            </a:r>
            <a:r>
              <a:rPr lang="en-US" altLang="zh-CN" b="1" dirty="0">
                <a:latin typeface="Consolas" panose="020B0609020204030204" pitchFamily="49" charset="0"/>
              </a:rPr>
              <a:t>s</a:t>
            </a:r>
            <a:r>
              <a:rPr lang="en-US" altLang="zh-CN" b="1" dirty="0">
                <a:solidFill>
                  <a:srgbClr val="FF0000"/>
                </a:solidFill>
                <a:latin typeface="Consolas" panose="020B0609020204030204" pitchFamily="49" charset="0"/>
              </a:rPr>
              <a:t>.</a:t>
            </a:r>
            <a:r>
              <a:rPr lang="en-US" altLang="zh-CN" b="1" dirty="0">
                <a:latin typeface="Consolas" panose="020B0609020204030204" pitchFamily="49" charset="0"/>
              </a:rPr>
              <a:t>age</a:t>
            </a:r>
            <a:r>
              <a:rPr lang="en-US" altLang="zh-CN" sz="2800" b="1" dirty="0">
                <a:latin typeface="Consolas" panose="020B0609020204030204" pitchFamily="49" charset="0"/>
              </a:rPr>
              <a:t>);</a:t>
            </a:r>
            <a:endParaRPr lang="en-US" altLang="zh-CN" b="1" dirty="0">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sp>
        <p:nvSpPr>
          <p:cNvPr id="7" name="Rectangle 2">
            <a:extLst>
              <a:ext uri="{FF2B5EF4-FFF2-40B4-BE49-F238E27FC236}">
                <a16:creationId xmlns:a16="http://schemas.microsoft.com/office/drawing/2014/main" id="{1FA8DE20-9B81-4DE7-BE17-954FADEF8F51}"/>
              </a:ext>
            </a:extLst>
          </p:cNvPr>
          <p:cNvSpPr txBox="1">
            <a:spLocks noChangeArrowheads="1"/>
          </p:cNvSpPr>
          <p:nvPr/>
        </p:nvSpPr>
        <p:spPr>
          <a:xfrm>
            <a:off x="4374896" y="1748711"/>
            <a:ext cx="7628155"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void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print(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p:txBody>
      </p:sp>
      <p:sp>
        <p:nvSpPr>
          <p:cNvPr id="2" name="灯片编号占位符 1">
            <a:extLst>
              <a:ext uri="{FF2B5EF4-FFF2-40B4-BE49-F238E27FC236}">
                <a16:creationId xmlns:a16="http://schemas.microsoft.com/office/drawing/2014/main" id="{DBE41A89-9096-4921-99D7-53B3139EE128}"/>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22</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251311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AA936E-9D69-408D-9754-69CD8B83DB80}"/>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结构体函数</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CEA7E640-FF96-483B-AD10-8C20ED22C04F}"/>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函数参数为结构体指针</a:t>
            </a:r>
            <a:endParaRPr lang="en-US" altLang="zh-CN" sz="3200" b="1" dirty="0">
              <a:latin typeface="隶书" panose="02010509060101010101" pitchFamily="49" charset="-122"/>
              <a:ea typeface="隶书" panose="02010509060101010101" pitchFamily="49" charset="-122"/>
            </a:endParaRPr>
          </a:p>
        </p:txBody>
      </p:sp>
      <p:sp>
        <p:nvSpPr>
          <p:cNvPr id="5" name="Rectangle 2">
            <a:extLst>
              <a:ext uri="{FF2B5EF4-FFF2-40B4-BE49-F238E27FC236}">
                <a16:creationId xmlns:a16="http://schemas.microsoft.com/office/drawing/2014/main" id="{1235D9EB-28B8-4FDC-93F8-45ACE8C9DE36}"/>
              </a:ext>
            </a:extLst>
          </p:cNvPr>
          <p:cNvSpPr txBox="1">
            <a:spLocks noChangeArrowheads="1"/>
          </p:cNvSpPr>
          <p:nvPr/>
        </p:nvSpPr>
        <p:spPr>
          <a:xfrm>
            <a:off x="76824" y="1926626"/>
            <a:ext cx="3498026"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15</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sp>
        <p:nvSpPr>
          <p:cNvPr id="6" name="Rectangle 2">
            <a:extLst>
              <a:ext uri="{FF2B5EF4-FFF2-40B4-BE49-F238E27FC236}">
                <a16:creationId xmlns:a16="http://schemas.microsoft.com/office/drawing/2014/main" id="{41C09887-CAE5-41B3-973D-13D261635C50}"/>
              </a:ext>
            </a:extLst>
          </p:cNvPr>
          <p:cNvSpPr txBox="1">
            <a:spLocks noChangeArrowheads="1"/>
          </p:cNvSpPr>
          <p:nvPr/>
        </p:nvSpPr>
        <p:spPr>
          <a:xfrm>
            <a:off x="4362483" y="2392694"/>
            <a:ext cx="7628156"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void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print(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ps)</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sz="2800" b="1" dirty="0">
                <a:latin typeface="Consolas" panose="020B0609020204030204" pitchFamily="49" charset="0"/>
              </a:rPr>
              <a:t>printf(</a:t>
            </a:r>
            <a:r>
              <a:rPr lang="en-US" altLang="zh-CN" sz="2800" b="1" dirty="0">
                <a:solidFill>
                  <a:srgbClr val="00B050"/>
                </a:solidFill>
                <a:latin typeface="Agency FB" panose="020B0503020202020204" pitchFamily="34" charset="0"/>
              </a:rPr>
              <a:t>“</a:t>
            </a:r>
            <a:r>
              <a:rPr lang="en-US" altLang="zh-CN" sz="2800" b="1" dirty="0">
                <a:solidFill>
                  <a:srgbClr val="00B050"/>
                </a:solidFill>
                <a:latin typeface="Consolas" panose="020B0609020204030204" pitchFamily="49" charset="0"/>
              </a:rPr>
              <a:t>%</a:t>
            </a:r>
            <a:r>
              <a:rPr lang="en-US" altLang="zh-CN" b="1" dirty="0">
                <a:solidFill>
                  <a:srgbClr val="00B050"/>
                </a:solidFill>
                <a:latin typeface="Consolas" panose="020B0609020204030204" pitchFamily="49" charset="0"/>
              </a:rPr>
              <a:t>d %s</a:t>
            </a:r>
            <a:r>
              <a:rPr lang="en-US" altLang="zh-CN" sz="2800" b="1" dirty="0">
                <a:solidFill>
                  <a:srgbClr val="00B050"/>
                </a:solidFill>
                <a:latin typeface="Consolas" panose="020B0609020204030204" pitchFamily="49" charset="0"/>
              </a:rPr>
              <a:t> %d\n</a:t>
            </a:r>
            <a:r>
              <a:rPr lang="en-US" altLang="zh-CN" sz="2800" b="1" dirty="0">
                <a:solidFill>
                  <a:srgbClr val="00B050"/>
                </a:solidFill>
                <a:latin typeface="Agency FB" panose="020B0503020202020204" pitchFamily="34" charset="0"/>
              </a:rPr>
              <a:t>”</a:t>
            </a:r>
            <a:r>
              <a:rPr lang="en-US" altLang="zh-CN" sz="2800" b="1" dirty="0">
                <a:latin typeface="Consolas" panose="020B0609020204030204" pitchFamily="49" charset="0"/>
              </a:rPr>
              <a:t>, ps</a:t>
            </a:r>
            <a:r>
              <a:rPr lang="en-US" altLang="zh-CN" sz="2800" b="1" dirty="0">
                <a:solidFill>
                  <a:srgbClr val="FF0000"/>
                </a:solidFill>
                <a:latin typeface="Consolas" panose="020B0609020204030204" pitchFamily="49" charset="0"/>
              </a:rPr>
              <a:t>-&gt;</a:t>
            </a:r>
            <a:r>
              <a:rPr lang="en-US" altLang="zh-CN" sz="2800" b="1" dirty="0">
                <a:latin typeface="Consolas" panose="020B0609020204030204" pitchFamily="49" charset="0"/>
              </a:rPr>
              <a:t>num,</a:t>
            </a:r>
          </a:p>
          <a:p>
            <a:pPr marL="0" indent="0">
              <a:lnSpc>
                <a:spcPct val="100000"/>
              </a:lnSpc>
              <a:spcBef>
                <a:spcPct val="0"/>
              </a:spcBef>
              <a:buClr>
                <a:schemeClr val="tx2"/>
              </a:buClr>
              <a:buSzPct val="70000"/>
              <a:buNone/>
            </a:pPr>
            <a:r>
              <a:rPr lang="en-US" altLang="zh-CN" b="1" dirty="0">
                <a:latin typeface="Consolas" panose="020B0609020204030204" pitchFamily="49" charset="0"/>
              </a:rPr>
              <a:t>                      </a:t>
            </a:r>
            <a:r>
              <a:rPr lang="en-US" altLang="zh-CN" sz="2800" b="1" dirty="0">
                <a:latin typeface="Consolas" panose="020B0609020204030204" pitchFamily="49" charset="0"/>
              </a:rPr>
              <a:t>ps</a:t>
            </a:r>
            <a:r>
              <a:rPr lang="en-US" altLang="zh-CN" sz="2800" b="1" dirty="0">
                <a:solidFill>
                  <a:srgbClr val="FF0000"/>
                </a:solidFill>
                <a:latin typeface="Consolas" panose="020B0609020204030204" pitchFamily="49" charset="0"/>
              </a:rPr>
              <a:t>-&gt;</a:t>
            </a:r>
            <a:r>
              <a:rPr lang="en-US" altLang="zh-CN" sz="2800" b="1" dirty="0">
                <a:latin typeface="Consolas" panose="020B0609020204030204" pitchFamily="49" charset="0"/>
              </a:rPr>
              <a:t>name,</a:t>
            </a:r>
          </a:p>
          <a:p>
            <a:pPr marL="0" indent="0">
              <a:lnSpc>
                <a:spcPct val="100000"/>
              </a:lnSpc>
              <a:spcBef>
                <a:spcPct val="0"/>
              </a:spcBef>
              <a:buClr>
                <a:schemeClr val="tx2"/>
              </a:buClr>
              <a:buSzPct val="70000"/>
              <a:buNone/>
            </a:pPr>
            <a:r>
              <a:rPr lang="en-US" altLang="zh-CN" b="1" dirty="0">
                <a:latin typeface="Consolas" panose="020B0609020204030204" pitchFamily="49" charset="0"/>
              </a:rPr>
              <a:t>                      ps</a:t>
            </a:r>
            <a:r>
              <a:rPr lang="en-US" altLang="zh-CN" sz="2800" b="1" dirty="0">
                <a:solidFill>
                  <a:srgbClr val="FF0000"/>
                </a:solidFill>
                <a:latin typeface="Consolas" panose="020B0609020204030204" pitchFamily="49" charset="0"/>
              </a:rPr>
              <a:t>-&gt;</a:t>
            </a:r>
            <a:r>
              <a:rPr lang="en-US" altLang="zh-CN" b="1" dirty="0">
                <a:latin typeface="Consolas" panose="020B0609020204030204" pitchFamily="49" charset="0"/>
              </a:rPr>
              <a:t>age</a:t>
            </a:r>
            <a:r>
              <a:rPr lang="en-US" altLang="zh-CN" sz="2800" b="1" dirty="0">
                <a:latin typeface="Consolas" panose="020B0609020204030204" pitchFamily="49" charset="0"/>
              </a:rPr>
              <a:t>);</a:t>
            </a:r>
            <a:endParaRPr lang="en-US" altLang="zh-CN" b="1" dirty="0">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sp>
        <p:nvSpPr>
          <p:cNvPr id="7" name="Rectangle 2">
            <a:extLst>
              <a:ext uri="{FF2B5EF4-FFF2-40B4-BE49-F238E27FC236}">
                <a16:creationId xmlns:a16="http://schemas.microsoft.com/office/drawing/2014/main" id="{1FA8DE20-9B81-4DE7-BE17-954FADEF8F51}"/>
              </a:ext>
            </a:extLst>
          </p:cNvPr>
          <p:cNvSpPr txBox="1">
            <a:spLocks noChangeArrowheads="1"/>
          </p:cNvSpPr>
          <p:nvPr/>
        </p:nvSpPr>
        <p:spPr>
          <a:xfrm>
            <a:off x="4362484" y="1670097"/>
            <a:ext cx="7628155"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void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print(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p:txBody>
      </p:sp>
      <p:sp>
        <p:nvSpPr>
          <p:cNvPr id="2" name="灯片编号占位符 1">
            <a:extLst>
              <a:ext uri="{FF2B5EF4-FFF2-40B4-BE49-F238E27FC236}">
                <a16:creationId xmlns:a16="http://schemas.microsoft.com/office/drawing/2014/main" id="{9E47CD23-B8C4-4255-8A64-CDAADCA64C50}"/>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23</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529401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AA936E-9D69-408D-9754-69CD8B83DB80}"/>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结构体函数</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CEA7E640-FF96-483B-AD10-8C20ED22C04F}"/>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函数参数为结构体数组</a:t>
            </a:r>
            <a:endParaRPr lang="en-US" altLang="zh-CN" sz="3200" b="1" dirty="0">
              <a:latin typeface="隶书" panose="02010509060101010101" pitchFamily="49" charset="-122"/>
              <a:ea typeface="隶书" panose="02010509060101010101" pitchFamily="49" charset="-122"/>
            </a:endParaRPr>
          </a:p>
        </p:txBody>
      </p:sp>
      <p:sp>
        <p:nvSpPr>
          <p:cNvPr id="5" name="Rectangle 2">
            <a:extLst>
              <a:ext uri="{FF2B5EF4-FFF2-40B4-BE49-F238E27FC236}">
                <a16:creationId xmlns:a16="http://schemas.microsoft.com/office/drawing/2014/main" id="{1235D9EB-28B8-4FDC-93F8-45ACE8C9DE36}"/>
              </a:ext>
            </a:extLst>
          </p:cNvPr>
          <p:cNvSpPr txBox="1">
            <a:spLocks noChangeArrowheads="1"/>
          </p:cNvSpPr>
          <p:nvPr/>
        </p:nvSpPr>
        <p:spPr>
          <a:xfrm>
            <a:off x="76824" y="1926626"/>
            <a:ext cx="3498026"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15</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sp>
        <p:nvSpPr>
          <p:cNvPr id="6" name="Rectangle 2">
            <a:extLst>
              <a:ext uri="{FF2B5EF4-FFF2-40B4-BE49-F238E27FC236}">
                <a16:creationId xmlns:a16="http://schemas.microsoft.com/office/drawing/2014/main" id="{41C09887-CAE5-41B3-973D-13D261635C50}"/>
              </a:ext>
            </a:extLst>
          </p:cNvPr>
          <p:cNvSpPr txBox="1">
            <a:spLocks noChangeArrowheads="1"/>
          </p:cNvSpPr>
          <p:nvPr/>
        </p:nvSpPr>
        <p:spPr>
          <a:xfrm>
            <a:off x="4362483" y="2392694"/>
            <a:ext cx="7628156"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void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print(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ps, </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n)</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3333FF"/>
                </a:solidFill>
                <a:latin typeface="Consolas" panose="020B0609020204030204" pitchFamily="49" charset="0"/>
                <a:ea typeface="华文隶书" panose="02010800040101010101" pitchFamily="2" charset="-122"/>
                <a:cs typeface="Times New Roman" panose="02020603050405020304" pitchFamily="18" charset="0"/>
              </a:rPr>
              <a:t>for</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 &lt; n</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sz="2800" b="1" dirty="0">
                <a:latin typeface="Consolas" panose="020B0609020204030204" pitchFamily="49" charset="0"/>
              </a:rPr>
              <a:t>printf(</a:t>
            </a:r>
            <a:r>
              <a:rPr lang="en-US" altLang="zh-CN" sz="2800" b="1" dirty="0">
                <a:solidFill>
                  <a:srgbClr val="00B050"/>
                </a:solidFill>
                <a:latin typeface="Agency FB" panose="020B0503020202020204" pitchFamily="34" charset="0"/>
              </a:rPr>
              <a:t>“</a:t>
            </a:r>
            <a:r>
              <a:rPr lang="en-US" altLang="zh-CN" sz="2800" b="1" dirty="0">
                <a:solidFill>
                  <a:srgbClr val="00B050"/>
                </a:solidFill>
                <a:latin typeface="Consolas" panose="020B0609020204030204" pitchFamily="49" charset="0"/>
              </a:rPr>
              <a:t>%</a:t>
            </a:r>
            <a:r>
              <a:rPr lang="en-US" altLang="zh-CN" b="1" dirty="0">
                <a:solidFill>
                  <a:srgbClr val="00B050"/>
                </a:solidFill>
                <a:latin typeface="Consolas" panose="020B0609020204030204" pitchFamily="49" charset="0"/>
              </a:rPr>
              <a:t>d %s</a:t>
            </a:r>
            <a:r>
              <a:rPr lang="en-US" altLang="zh-CN" sz="2800" b="1" dirty="0">
                <a:solidFill>
                  <a:srgbClr val="00B050"/>
                </a:solidFill>
                <a:latin typeface="Consolas" panose="020B0609020204030204" pitchFamily="49" charset="0"/>
              </a:rPr>
              <a:t> %d\n</a:t>
            </a:r>
            <a:r>
              <a:rPr lang="en-US" altLang="zh-CN" sz="2800" b="1" dirty="0">
                <a:solidFill>
                  <a:srgbClr val="00B050"/>
                </a:solidFill>
                <a:latin typeface="Agency FB" panose="020B0503020202020204" pitchFamily="34" charset="0"/>
              </a:rPr>
              <a:t>”</a:t>
            </a:r>
            <a:r>
              <a:rPr lang="en-US" altLang="zh-CN" sz="2800" b="1" dirty="0">
                <a:latin typeface="Consolas" panose="020B0609020204030204" pitchFamily="49" charset="0"/>
              </a:rPr>
              <a:t>, ps[i]</a:t>
            </a:r>
            <a:r>
              <a:rPr lang="en-US" altLang="zh-CN" sz="2800" b="1" dirty="0">
                <a:solidFill>
                  <a:srgbClr val="FF0000"/>
                </a:solidFill>
                <a:latin typeface="Consolas" panose="020B0609020204030204" pitchFamily="49" charset="0"/>
              </a:rPr>
              <a:t>-&gt;</a:t>
            </a:r>
            <a:r>
              <a:rPr lang="en-US" altLang="zh-CN" sz="2800" b="1" dirty="0">
                <a:latin typeface="Consolas" panose="020B0609020204030204" pitchFamily="49" charset="0"/>
              </a:rPr>
              <a:t>num,</a:t>
            </a:r>
          </a:p>
          <a:p>
            <a:pPr marL="0" indent="0">
              <a:lnSpc>
                <a:spcPct val="100000"/>
              </a:lnSpc>
              <a:spcBef>
                <a:spcPct val="0"/>
              </a:spcBef>
              <a:buClr>
                <a:schemeClr val="tx2"/>
              </a:buClr>
              <a:buSzPct val="70000"/>
              <a:buNone/>
            </a:pPr>
            <a:r>
              <a:rPr lang="en-US" altLang="zh-CN" b="1" dirty="0">
                <a:latin typeface="Consolas" panose="020B0609020204030204" pitchFamily="49" charset="0"/>
              </a:rPr>
              <a:t>                        </a:t>
            </a:r>
            <a:r>
              <a:rPr lang="en-US" altLang="zh-CN" sz="2800" b="1" dirty="0">
                <a:latin typeface="Consolas" panose="020B0609020204030204" pitchFamily="49" charset="0"/>
              </a:rPr>
              <a:t>ps[i]</a:t>
            </a:r>
            <a:r>
              <a:rPr lang="en-US" altLang="zh-CN" sz="2800" b="1" dirty="0">
                <a:solidFill>
                  <a:srgbClr val="FF0000"/>
                </a:solidFill>
                <a:latin typeface="Consolas" panose="020B0609020204030204" pitchFamily="49" charset="0"/>
              </a:rPr>
              <a:t>-&gt;</a:t>
            </a:r>
            <a:r>
              <a:rPr lang="en-US" altLang="zh-CN" sz="2800" b="1" dirty="0">
                <a:latin typeface="Consolas" panose="020B0609020204030204" pitchFamily="49" charset="0"/>
              </a:rPr>
              <a:t>name,</a:t>
            </a:r>
          </a:p>
          <a:p>
            <a:pPr marL="0" indent="0">
              <a:lnSpc>
                <a:spcPct val="100000"/>
              </a:lnSpc>
              <a:spcBef>
                <a:spcPct val="0"/>
              </a:spcBef>
              <a:buClr>
                <a:schemeClr val="tx2"/>
              </a:buClr>
              <a:buSzPct val="70000"/>
              <a:buNone/>
            </a:pPr>
            <a:r>
              <a:rPr lang="en-US" altLang="zh-CN" b="1" dirty="0">
                <a:latin typeface="Consolas" panose="020B0609020204030204" pitchFamily="49" charset="0"/>
              </a:rPr>
              <a:t>                        ps[i]</a:t>
            </a:r>
            <a:r>
              <a:rPr lang="en-US" altLang="zh-CN" sz="2800" b="1" dirty="0">
                <a:solidFill>
                  <a:srgbClr val="FF0000"/>
                </a:solidFill>
                <a:latin typeface="Consolas" panose="020B0609020204030204" pitchFamily="49" charset="0"/>
              </a:rPr>
              <a:t>-&gt;</a:t>
            </a:r>
            <a:r>
              <a:rPr lang="en-US" altLang="zh-CN" b="1" dirty="0">
                <a:latin typeface="Consolas" panose="020B0609020204030204" pitchFamily="49" charset="0"/>
              </a:rPr>
              <a:t>age</a:t>
            </a:r>
            <a:r>
              <a:rPr lang="en-US" altLang="zh-CN" sz="2800" b="1" dirty="0">
                <a:latin typeface="Consolas" panose="020B0609020204030204" pitchFamily="49" charset="0"/>
              </a:rPr>
              <a:t>);</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sp>
        <p:nvSpPr>
          <p:cNvPr id="7" name="Rectangle 2">
            <a:extLst>
              <a:ext uri="{FF2B5EF4-FFF2-40B4-BE49-F238E27FC236}">
                <a16:creationId xmlns:a16="http://schemas.microsoft.com/office/drawing/2014/main" id="{1FA8DE20-9B81-4DE7-BE17-954FADEF8F51}"/>
              </a:ext>
            </a:extLst>
          </p:cNvPr>
          <p:cNvSpPr txBox="1">
            <a:spLocks noChangeArrowheads="1"/>
          </p:cNvSpPr>
          <p:nvPr/>
        </p:nvSpPr>
        <p:spPr>
          <a:xfrm>
            <a:off x="4362484" y="1670097"/>
            <a:ext cx="7628155"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void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print(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p:txBody>
      </p:sp>
      <p:sp>
        <p:nvSpPr>
          <p:cNvPr id="2" name="灯片编号占位符 1">
            <a:extLst>
              <a:ext uri="{FF2B5EF4-FFF2-40B4-BE49-F238E27FC236}">
                <a16:creationId xmlns:a16="http://schemas.microsoft.com/office/drawing/2014/main" id="{9F84AC26-72AE-4903-9836-9C2B6BBAE32E}"/>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24</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40624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AA936E-9D69-408D-9754-69CD8B83DB80}"/>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结构体函数</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FDBD12BA-E8EE-48F3-89FA-ACB3A49D9E28}"/>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2. </a:t>
            </a:r>
            <a:r>
              <a:rPr lang="zh-CN" altLang="en-US" sz="2800" b="1" dirty="0">
                <a:solidFill>
                  <a:srgbClr val="00B0F0"/>
                </a:solidFill>
                <a:latin typeface="微软雅黑" panose="020B0503020204020204" pitchFamily="34" charset="-122"/>
                <a:ea typeface="微软雅黑" panose="020B0503020204020204" pitchFamily="34" charset="-122"/>
              </a:rPr>
              <a:t>函数返回值为结构体类型</a:t>
            </a:r>
            <a:endParaRPr lang="en-US" altLang="zh-CN" sz="2800" b="1" dirty="0">
              <a:solidFill>
                <a:srgbClr val="00B0F0"/>
              </a:solidFill>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68601774-BC7F-43A5-98AD-F4D6406BB924}"/>
              </a:ext>
            </a:extLst>
          </p:cNvPr>
          <p:cNvSpPr txBox="1">
            <a:spLocks noChangeArrowheads="1"/>
          </p:cNvSpPr>
          <p:nvPr/>
        </p:nvSpPr>
        <p:spPr>
          <a:xfrm>
            <a:off x="97510" y="1670097"/>
            <a:ext cx="4470351" cy="412420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#define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 10</a:t>
            </a:r>
          </a:p>
          <a:p>
            <a:pPr marL="0" indent="0">
              <a:lnSpc>
                <a:spcPct val="100000"/>
              </a:lnSpc>
              <a:spcBef>
                <a:spcPts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15</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ts val="12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stu[N];</a:t>
            </a:r>
          </a:p>
          <a:p>
            <a:pPr marL="0" indent="0">
              <a:lnSpc>
                <a:spcPct val="100000"/>
              </a:lnSpc>
              <a:spcBef>
                <a:spcPct val="0"/>
              </a:spcBef>
              <a:buClr>
                <a:schemeClr val="tx2"/>
              </a:buClr>
              <a:buSzPct val="70000"/>
              <a:buNone/>
            </a:pPr>
            <a:r>
              <a:rPr lang="en-US" altLang="zh-CN" sz="2800" b="1" dirty="0">
                <a:solidFill>
                  <a:srgbClr val="00B050"/>
                </a:solidFill>
                <a:latin typeface="Consolas" panose="020B0609020204030204" pitchFamily="49" charset="0"/>
              </a:rPr>
              <a:t>……</a:t>
            </a:r>
            <a:endParaRPr lang="en-US" altLang="zh-CN" b="1" dirty="0">
              <a:latin typeface="Consolas" panose="020B0609020204030204" pitchFamily="49" charset="0"/>
              <a:ea typeface="华文隶书" panose="02010800040101010101" pitchFamily="2" charset="-122"/>
              <a:cs typeface="Times New Roman" panose="02020603050405020304" pitchFamily="18" charset="0"/>
            </a:endParaRPr>
          </a:p>
        </p:txBody>
      </p:sp>
      <p:sp>
        <p:nvSpPr>
          <p:cNvPr id="6" name="Rectangle 2">
            <a:extLst>
              <a:ext uri="{FF2B5EF4-FFF2-40B4-BE49-F238E27FC236}">
                <a16:creationId xmlns:a16="http://schemas.microsoft.com/office/drawing/2014/main" id="{98F3319A-A259-4DED-A27D-6C04B09D5FFC}"/>
              </a:ext>
            </a:extLst>
          </p:cNvPr>
          <p:cNvSpPr txBox="1">
            <a:spLocks noChangeArrowheads="1"/>
          </p:cNvSpPr>
          <p:nvPr/>
        </p:nvSpPr>
        <p:spPr>
          <a:xfrm>
            <a:off x="4675439" y="2392694"/>
            <a:ext cx="7315200"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find(</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3333FF"/>
                </a:solidFill>
                <a:latin typeface="Consolas" panose="020B0609020204030204" pitchFamily="49" charset="0"/>
                <a:ea typeface="华文隶书" panose="02010800040101010101" pitchFamily="2" charset="-122"/>
                <a:cs typeface="Times New Roman" panose="02020603050405020304" pitchFamily="18" charset="0"/>
              </a:rPr>
              <a:t>for</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 &lt; N</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3333FF"/>
                </a:solidFill>
                <a:latin typeface="Consolas" panose="020B0609020204030204" pitchFamily="49" charset="0"/>
                <a:ea typeface="华文隶书" panose="02010800040101010101" pitchFamily="2" charset="-122"/>
                <a:cs typeface="Times New Roman" panose="02020603050405020304" pitchFamily="18" charset="0"/>
              </a:rPr>
              <a:t>if</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 = num)</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break</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return</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stu</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sp>
        <p:nvSpPr>
          <p:cNvPr id="7" name="Rectangle 2">
            <a:extLst>
              <a:ext uri="{FF2B5EF4-FFF2-40B4-BE49-F238E27FC236}">
                <a16:creationId xmlns:a16="http://schemas.microsoft.com/office/drawing/2014/main" id="{68973695-EFD1-4065-B1AD-944C98D22034}"/>
              </a:ext>
            </a:extLst>
          </p:cNvPr>
          <p:cNvSpPr txBox="1">
            <a:spLocks noChangeArrowheads="1"/>
          </p:cNvSpPr>
          <p:nvPr/>
        </p:nvSpPr>
        <p:spPr>
          <a:xfrm>
            <a:off x="4675439" y="1670097"/>
            <a:ext cx="7315200"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find(</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p:txBody>
      </p:sp>
      <p:sp>
        <p:nvSpPr>
          <p:cNvPr id="2" name="灯片编号占位符 1">
            <a:extLst>
              <a:ext uri="{FF2B5EF4-FFF2-40B4-BE49-F238E27FC236}">
                <a16:creationId xmlns:a16="http://schemas.microsoft.com/office/drawing/2014/main" id="{669CA3C5-36A3-4D89-BF9D-EFC4DEF5BEC3}"/>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25</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113660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EAA936E-9D69-408D-9754-69CD8B83DB80}"/>
              </a:ext>
            </a:extLst>
          </p:cNvPr>
          <p:cNvSpPr txBox="1"/>
          <p:nvPr/>
        </p:nvSpPr>
        <p:spPr>
          <a:xfrm>
            <a:off x="2030837" y="-30192"/>
            <a:ext cx="589672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结构体函数</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FDBD12BA-E8EE-48F3-89FA-ACB3A49D9E28}"/>
              </a:ext>
            </a:extLst>
          </p:cNvPr>
          <p:cNvSpPr/>
          <p:nvPr/>
        </p:nvSpPr>
        <p:spPr>
          <a:xfrm>
            <a:off x="0" y="616139"/>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2. </a:t>
            </a:r>
            <a:r>
              <a:rPr lang="zh-CN" altLang="en-US" sz="2800" b="1" dirty="0">
                <a:solidFill>
                  <a:srgbClr val="00B0F0"/>
                </a:solidFill>
                <a:latin typeface="微软雅黑" panose="020B0503020204020204" pitchFamily="34" charset="-122"/>
                <a:ea typeface="微软雅黑" panose="020B0503020204020204" pitchFamily="34" charset="-122"/>
              </a:rPr>
              <a:t>函数返回值为结构体指针</a:t>
            </a:r>
            <a:endParaRPr lang="en-US" altLang="zh-CN" sz="2800" b="1" dirty="0">
              <a:solidFill>
                <a:srgbClr val="00B0F0"/>
              </a:solidFill>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68601774-BC7F-43A5-98AD-F4D6406BB924}"/>
              </a:ext>
            </a:extLst>
          </p:cNvPr>
          <p:cNvSpPr txBox="1">
            <a:spLocks noChangeArrowheads="1"/>
          </p:cNvSpPr>
          <p:nvPr/>
        </p:nvSpPr>
        <p:spPr>
          <a:xfrm>
            <a:off x="97510" y="1670097"/>
            <a:ext cx="4470351" cy="412420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#define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 10</a:t>
            </a:r>
          </a:p>
          <a:p>
            <a:pPr marL="0" indent="0">
              <a:lnSpc>
                <a:spcPct val="100000"/>
              </a:lnSpc>
              <a:spcBef>
                <a:spcPts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name</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15</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age;</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ts val="12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stu[N];</a:t>
            </a:r>
          </a:p>
          <a:p>
            <a:pPr marL="0" indent="0">
              <a:lnSpc>
                <a:spcPct val="100000"/>
              </a:lnSpc>
              <a:spcBef>
                <a:spcPct val="0"/>
              </a:spcBef>
              <a:buClr>
                <a:schemeClr val="tx2"/>
              </a:buClr>
              <a:buSzPct val="70000"/>
              <a:buNone/>
            </a:pPr>
            <a:r>
              <a:rPr lang="en-US" altLang="zh-CN" sz="2800" b="1" dirty="0">
                <a:solidFill>
                  <a:srgbClr val="00B050"/>
                </a:solidFill>
                <a:latin typeface="Consolas" panose="020B0609020204030204" pitchFamily="49" charset="0"/>
              </a:rPr>
              <a:t>……</a:t>
            </a:r>
            <a:endParaRPr lang="en-US" altLang="zh-CN" b="1" dirty="0">
              <a:latin typeface="Consolas" panose="020B0609020204030204" pitchFamily="49" charset="0"/>
              <a:ea typeface="华文隶书" panose="02010800040101010101" pitchFamily="2" charset="-122"/>
              <a:cs typeface="Times New Roman" panose="02020603050405020304" pitchFamily="18" charset="0"/>
            </a:endParaRPr>
          </a:p>
        </p:txBody>
      </p:sp>
      <p:sp>
        <p:nvSpPr>
          <p:cNvPr id="6" name="Rectangle 2">
            <a:extLst>
              <a:ext uri="{FF2B5EF4-FFF2-40B4-BE49-F238E27FC236}">
                <a16:creationId xmlns:a16="http://schemas.microsoft.com/office/drawing/2014/main" id="{98F3319A-A259-4DED-A27D-6C04B09D5FFC}"/>
              </a:ext>
            </a:extLst>
          </p:cNvPr>
          <p:cNvSpPr txBox="1">
            <a:spLocks noChangeArrowheads="1"/>
          </p:cNvSpPr>
          <p:nvPr/>
        </p:nvSpPr>
        <p:spPr>
          <a:xfrm>
            <a:off x="4675439" y="2392694"/>
            <a:ext cx="7315200"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find(</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3333FF"/>
                </a:solidFill>
                <a:latin typeface="Consolas" panose="020B0609020204030204" pitchFamily="49" charset="0"/>
                <a:ea typeface="华文隶书" panose="02010800040101010101" pitchFamily="2" charset="-122"/>
                <a:cs typeface="Times New Roman" panose="02020603050405020304" pitchFamily="18" charset="0"/>
              </a:rPr>
              <a:t>for</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 &lt; N</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3333FF"/>
                </a:solidFill>
                <a:latin typeface="Consolas" panose="020B0609020204030204" pitchFamily="49" charset="0"/>
                <a:ea typeface="华文隶书" panose="02010800040101010101" pitchFamily="2" charset="-122"/>
                <a:cs typeface="Times New Roman" panose="02020603050405020304" pitchFamily="18" charset="0"/>
              </a:rPr>
              <a:t>if</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 = num)</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break</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return</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&amp;</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stu</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p:txBody>
      </p:sp>
      <p:sp>
        <p:nvSpPr>
          <p:cNvPr id="7" name="Rectangle 2">
            <a:extLst>
              <a:ext uri="{FF2B5EF4-FFF2-40B4-BE49-F238E27FC236}">
                <a16:creationId xmlns:a16="http://schemas.microsoft.com/office/drawing/2014/main" id="{68973695-EFD1-4065-B1AD-944C98D22034}"/>
              </a:ext>
            </a:extLst>
          </p:cNvPr>
          <p:cNvSpPr txBox="1">
            <a:spLocks noChangeArrowheads="1"/>
          </p:cNvSpPr>
          <p:nvPr/>
        </p:nvSpPr>
        <p:spPr>
          <a:xfrm>
            <a:off x="4675439" y="1670097"/>
            <a:ext cx="7315200"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360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struct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student</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find(</a:t>
            </a: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num);</a:t>
            </a:r>
          </a:p>
        </p:txBody>
      </p:sp>
      <p:sp>
        <p:nvSpPr>
          <p:cNvPr id="2" name="灯片编号占位符 1">
            <a:extLst>
              <a:ext uri="{FF2B5EF4-FFF2-40B4-BE49-F238E27FC236}">
                <a16:creationId xmlns:a16="http://schemas.microsoft.com/office/drawing/2014/main" id="{E89854F0-BB36-4DC8-BF5A-0F3F03DEEB44}"/>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26</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207830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CF16D2FE-7637-46DD-AB1F-451E2F0A6DA9}"/>
              </a:ext>
            </a:extLst>
          </p:cNvPr>
          <p:cNvGrpSpPr/>
          <p:nvPr/>
        </p:nvGrpSpPr>
        <p:grpSpPr>
          <a:xfrm>
            <a:off x="71022" y="696142"/>
            <a:ext cx="5167808" cy="3712764"/>
            <a:chOff x="0" y="545222"/>
            <a:chExt cx="5167808" cy="3712764"/>
          </a:xfrm>
        </p:grpSpPr>
        <p:sp>
          <p:nvSpPr>
            <p:cNvPr id="3" name="Text Box 88">
              <a:extLst>
                <a:ext uri="{FF2B5EF4-FFF2-40B4-BE49-F238E27FC236}">
                  <a16:creationId xmlns:a16="http://schemas.microsoft.com/office/drawing/2014/main" id="{A163A56B-92C8-454A-9099-1999E2CC5FD4}"/>
                </a:ext>
              </a:extLst>
            </p:cNvPr>
            <p:cNvSpPr txBox="1">
              <a:spLocks noChangeArrowheads="1"/>
            </p:cNvSpPr>
            <p:nvPr/>
          </p:nvSpPr>
          <p:spPr bwMode="auto">
            <a:xfrm>
              <a:off x="0" y="545222"/>
              <a:ext cx="5167808"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ea typeface="隶书" pitchFamily="49" charset="-122"/>
                </a:rPr>
                <a:t>共用体定义的一般形式为：</a:t>
              </a:r>
            </a:p>
          </p:txBody>
        </p:sp>
        <p:sp>
          <p:nvSpPr>
            <p:cNvPr id="4" name="Rectangle 2">
              <a:extLst>
                <a:ext uri="{FF2B5EF4-FFF2-40B4-BE49-F238E27FC236}">
                  <a16:creationId xmlns:a16="http://schemas.microsoft.com/office/drawing/2014/main" id="{F5979AE5-AF5F-4D10-9257-940D363191B1}"/>
                </a:ext>
              </a:extLst>
            </p:cNvPr>
            <p:cNvSpPr txBox="1">
              <a:spLocks noChangeArrowheads="1"/>
            </p:cNvSpPr>
            <p:nvPr/>
          </p:nvSpPr>
          <p:spPr>
            <a:xfrm>
              <a:off x="45514" y="1149443"/>
              <a:ext cx="4882316"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union</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共用体名</a:t>
              </a:r>
              <a:endParaRPr lang="en-US" altLang="zh-CN" b="1" dirty="0">
                <a:solidFill>
                  <a:srgbClr val="0070C0"/>
                </a:solidFill>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类型名</a:t>
              </a:r>
              <a:r>
                <a:rPr lang="en-US" altLang="zh-CN" b="1" dirty="0">
                  <a:latin typeface="华文隶书" panose="02010800040101010101" pitchFamily="2" charset="-122"/>
                  <a:ea typeface="华文隶书" panose="02010800040101010101" pitchFamily="2" charset="-122"/>
                </a:rPr>
                <a:t>1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1</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2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2</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en-US" altLang="zh-CN" b="1" dirty="0">
                  <a:latin typeface="华文隶书" panose="02010800040101010101" pitchFamily="2" charset="-122"/>
                  <a:ea typeface="华文隶书" panose="02010800040101010101" pitchFamily="2" charset="-122"/>
                </a:rPr>
                <a:t>        </a:t>
              </a:r>
              <a:r>
                <a:rPr lang="en-US" altLang="zh-CN" b="1" dirty="0">
                  <a:solidFill>
                    <a:srgbClr val="00B05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n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n</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zh-CN" altLang="en-US" b="1" dirty="0">
                  <a:solidFill>
                    <a:srgbClr val="FF0000"/>
                  </a:solidFill>
                </a:rPr>
                <a:t>；</a:t>
              </a:r>
            </a:p>
          </p:txBody>
        </p:sp>
      </p:grpSp>
      <p:grpSp>
        <p:nvGrpSpPr>
          <p:cNvPr id="5" name="组合 4">
            <a:extLst>
              <a:ext uri="{FF2B5EF4-FFF2-40B4-BE49-F238E27FC236}">
                <a16:creationId xmlns:a16="http://schemas.microsoft.com/office/drawing/2014/main" id="{BD26C6EA-EEF9-4ABE-BDFA-E53D72860C4E}"/>
              </a:ext>
            </a:extLst>
          </p:cNvPr>
          <p:cNvGrpSpPr/>
          <p:nvPr/>
        </p:nvGrpSpPr>
        <p:grpSpPr>
          <a:xfrm>
            <a:off x="5387172" y="787859"/>
            <a:ext cx="6617154" cy="3193696"/>
            <a:chOff x="5113089" y="1018418"/>
            <a:chExt cx="6617154" cy="3193696"/>
          </a:xfrm>
        </p:grpSpPr>
        <p:sp>
          <p:nvSpPr>
            <p:cNvPr id="6" name="Text Box 88">
              <a:extLst>
                <a:ext uri="{FF2B5EF4-FFF2-40B4-BE49-F238E27FC236}">
                  <a16:creationId xmlns:a16="http://schemas.microsoft.com/office/drawing/2014/main" id="{05112826-717E-4C86-AA0C-CF2C3002A788}"/>
                </a:ext>
              </a:extLst>
            </p:cNvPr>
            <p:cNvSpPr txBox="1">
              <a:spLocks noChangeArrowheads="1"/>
            </p:cNvSpPr>
            <p:nvPr/>
          </p:nvSpPr>
          <p:spPr bwMode="auto">
            <a:xfrm>
              <a:off x="5113089" y="1018418"/>
              <a:ext cx="6617153"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3200" dirty="0">
                  <a:ea typeface="隶书" pitchFamily="49" charset="-122"/>
                </a:rPr>
                <a:t>例如：</a:t>
              </a:r>
            </a:p>
          </p:txBody>
        </p:sp>
        <p:sp>
          <p:nvSpPr>
            <p:cNvPr id="7" name="Rectangle 2">
              <a:extLst>
                <a:ext uri="{FF2B5EF4-FFF2-40B4-BE49-F238E27FC236}">
                  <a16:creationId xmlns:a16="http://schemas.microsoft.com/office/drawing/2014/main" id="{AE485883-CF8E-44B1-B1C1-5E8F64F7E22D}"/>
                </a:ext>
              </a:extLst>
            </p:cNvPr>
            <p:cNvSpPr txBox="1">
              <a:spLocks noChangeArrowheads="1"/>
            </p:cNvSpPr>
            <p:nvPr/>
          </p:nvSpPr>
          <p:spPr>
            <a:xfrm>
              <a:off x="5113090" y="1534458"/>
              <a:ext cx="6617153" cy="2677656"/>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union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data</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char </a:t>
              </a:r>
              <a:r>
                <a:rPr lang="en-US" altLang="zh-CN" b="1" dirty="0" err="1">
                  <a:latin typeface="Consolas" panose="020B0609020204030204" pitchFamily="49" charset="0"/>
                  <a:ea typeface="华文隶书" panose="02010800040101010101" pitchFamily="2" charset="-122"/>
                  <a:cs typeface="Times New Roman" panose="02020603050405020304" pitchFamily="18" charset="0"/>
                </a:rPr>
                <a:t>ch</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double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d;</a:t>
              </a:r>
              <a:endParaRPr lang="zh-CN" altLang="en-US" b="1" dirty="0">
                <a:solidFill>
                  <a:srgbClr val="00B050"/>
                </a:solidFill>
                <a:latin typeface="Consolas" panose="020B0609020204030204" pitchFamily="49" charset="0"/>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endParaRPr lang="zh-CN" altLang="en-US" b="1" dirty="0">
                <a:solidFill>
                  <a:srgbClr val="FF0000"/>
                </a:solidFill>
                <a:latin typeface="Consolas" panose="020B0609020204030204" pitchFamily="49" charset="0"/>
                <a:cs typeface="Times New Roman" panose="02020603050405020304" pitchFamily="18" charset="0"/>
              </a:endParaRPr>
            </a:p>
          </p:txBody>
        </p:sp>
      </p:grpSp>
      <p:grpSp>
        <p:nvGrpSpPr>
          <p:cNvPr id="8" name="组合 7">
            <a:extLst>
              <a:ext uri="{FF2B5EF4-FFF2-40B4-BE49-F238E27FC236}">
                <a16:creationId xmlns:a16="http://schemas.microsoft.com/office/drawing/2014/main" id="{981BBBE9-D413-4443-9FD1-060B20A51EE0}"/>
              </a:ext>
            </a:extLst>
          </p:cNvPr>
          <p:cNvGrpSpPr/>
          <p:nvPr/>
        </p:nvGrpSpPr>
        <p:grpSpPr>
          <a:xfrm>
            <a:off x="202742" y="4551677"/>
            <a:ext cx="11936850" cy="894733"/>
            <a:chOff x="0" y="4812040"/>
            <a:chExt cx="12192001" cy="894733"/>
          </a:xfrm>
        </p:grpSpPr>
        <p:sp>
          <p:nvSpPr>
            <p:cNvPr id="9" name="Text Box 88">
              <a:extLst>
                <a:ext uri="{FF2B5EF4-FFF2-40B4-BE49-F238E27FC236}">
                  <a16:creationId xmlns:a16="http://schemas.microsoft.com/office/drawing/2014/main" id="{0E118C6C-C5DC-44D2-93F3-17DB2FE9B5AD}"/>
                </a:ext>
              </a:extLst>
            </p:cNvPr>
            <p:cNvSpPr txBox="1">
              <a:spLocks noChangeArrowheads="1"/>
            </p:cNvSpPr>
            <p:nvPr/>
          </p:nvSpPr>
          <p:spPr bwMode="auto">
            <a:xfrm>
              <a:off x="1" y="4812040"/>
              <a:ext cx="12192000" cy="894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r>
                <a:rPr kumimoji="1" lang="en-US" altLang="zh-CN" sz="2400" dirty="0">
                  <a:solidFill>
                    <a:srgbClr val="3333FF"/>
                  </a:solidFill>
                  <a:ea typeface="隶书" pitchFamily="49" charset="-122"/>
                </a:rPr>
                <a:t>: </a:t>
              </a:r>
            </a:p>
            <a:p>
              <a:pPr indent="457200"/>
              <a:r>
                <a:rPr kumimoji="1" lang="zh-CN" altLang="en-US" sz="2400" dirty="0">
                  <a:solidFill>
                    <a:srgbClr val="3333FF"/>
                  </a:solidFill>
                  <a:latin typeface="华文隶书" panose="02010800040101010101" pitchFamily="2" charset="-122"/>
                  <a:ea typeface="华文隶书" panose="02010800040101010101" pitchFamily="2" charset="-122"/>
                </a:rPr>
                <a:t>共用体允许不同类型的数据共用同一块存储空间。</a:t>
              </a:r>
            </a:p>
          </p:txBody>
        </p:sp>
        <p:pic>
          <p:nvPicPr>
            <p:cNvPr id="10" name="图片 9">
              <a:extLst>
                <a:ext uri="{FF2B5EF4-FFF2-40B4-BE49-F238E27FC236}">
                  <a16:creationId xmlns:a16="http://schemas.microsoft.com/office/drawing/2014/main" id="{06D9F077-D624-4AD2-8665-44215414DAE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0" y="4867312"/>
              <a:ext cx="514926" cy="442321"/>
            </a:xfrm>
            <a:prstGeom prst="rect">
              <a:avLst/>
            </a:prstGeom>
          </p:spPr>
        </p:pic>
      </p:grpSp>
      <p:sp>
        <p:nvSpPr>
          <p:cNvPr id="11" name="文本框 10">
            <a:extLst>
              <a:ext uri="{FF2B5EF4-FFF2-40B4-BE49-F238E27FC236}">
                <a16:creationId xmlns:a16="http://schemas.microsoft.com/office/drawing/2014/main" id="{2CBCF2C1-5D6F-4F73-86CF-E4D4BCB2A01A}"/>
              </a:ext>
            </a:extLst>
          </p:cNvPr>
          <p:cNvSpPr txBox="1"/>
          <p:nvPr/>
        </p:nvSpPr>
        <p:spPr>
          <a:xfrm>
            <a:off x="203083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共用体定义</a:t>
            </a:r>
            <a:endParaRPr lang="zh-CN" altLang="en-US" sz="3200" b="1" dirty="0">
              <a:solidFill>
                <a:srgbClr val="200AC4"/>
              </a:solidFill>
              <a:ea typeface="隶书" pitchFamily="49" charset="-122"/>
            </a:endParaRPr>
          </a:p>
        </p:txBody>
      </p:sp>
      <p:sp>
        <p:nvSpPr>
          <p:cNvPr id="2" name="灯片编号占位符 1">
            <a:extLst>
              <a:ext uri="{FF2B5EF4-FFF2-40B4-BE49-F238E27FC236}">
                <a16:creationId xmlns:a16="http://schemas.microsoft.com/office/drawing/2014/main" id="{CB50BB5D-0107-4058-ABD2-907A1C088A5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27</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85971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076C616-C32D-444B-8BE4-D05104AEB3A4}"/>
              </a:ext>
            </a:extLst>
          </p:cNvPr>
          <p:cNvSpPr txBox="1"/>
          <p:nvPr/>
        </p:nvSpPr>
        <p:spPr>
          <a:xfrm>
            <a:off x="203083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共用体变量定义</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A0E24AC6-5E59-47B2-BABC-ABA1CB8F3A2F}"/>
              </a:ext>
            </a:extLst>
          </p:cNvPr>
          <p:cNvSpPr/>
          <p:nvPr/>
        </p:nvSpPr>
        <p:spPr>
          <a:xfrm>
            <a:off x="0" y="611934"/>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先定义共用体，再定义共用体变量</a:t>
            </a:r>
            <a:endParaRPr lang="en-US" altLang="zh-CN" sz="3200" b="1" dirty="0">
              <a:latin typeface="隶书" panose="02010509060101010101" pitchFamily="49" charset="-122"/>
              <a:ea typeface="隶书" panose="02010509060101010101" pitchFamily="49" charset="-122"/>
            </a:endParaRPr>
          </a:p>
        </p:txBody>
      </p:sp>
      <p:grpSp>
        <p:nvGrpSpPr>
          <p:cNvPr id="10" name="组合 9">
            <a:extLst>
              <a:ext uri="{FF2B5EF4-FFF2-40B4-BE49-F238E27FC236}">
                <a16:creationId xmlns:a16="http://schemas.microsoft.com/office/drawing/2014/main" id="{3ADA7276-4061-402B-985C-A0C96E0DE1BD}"/>
              </a:ext>
            </a:extLst>
          </p:cNvPr>
          <p:cNvGrpSpPr/>
          <p:nvPr/>
        </p:nvGrpSpPr>
        <p:grpSpPr>
          <a:xfrm>
            <a:off x="167892" y="1209247"/>
            <a:ext cx="5695026" cy="4091616"/>
            <a:chOff x="167892" y="1209247"/>
            <a:chExt cx="5695026" cy="4091616"/>
          </a:xfrm>
        </p:grpSpPr>
        <p:sp>
          <p:nvSpPr>
            <p:cNvPr id="5" name="矩形 4">
              <a:extLst>
                <a:ext uri="{FF2B5EF4-FFF2-40B4-BE49-F238E27FC236}">
                  <a16:creationId xmlns:a16="http://schemas.microsoft.com/office/drawing/2014/main" id="{C24581D3-BE4D-4960-AAC5-46CAAEFF02B0}"/>
                </a:ext>
              </a:extLst>
            </p:cNvPr>
            <p:cNvSpPr/>
            <p:nvPr/>
          </p:nvSpPr>
          <p:spPr>
            <a:xfrm>
              <a:off x="167893" y="1209247"/>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6" name="Rectangle 2">
              <a:extLst>
                <a:ext uri="{FF2B5EF4-FFF2-40B4-BE49-F238E27FC236}">
                  <a16:creationId xmlns:a16="http://schemas.microsoft.com/office/drawing/2014/main" id="{C73E0451-1BA5-451A-B213-B819C2314F18}"/>
                </a:ext>
              </a:extLst>
            </p:cNvPr>
            <p:cNvSpPr txBox="1">
              <a:spLocks noChangeArrowheads="1"/>
            </p:cNvSpPr>
            <p:nvPr/>
          </p:nvSpPr>
          <p:spPr>
            <a:xfrm>
              <a:off x="167892" y="1761433"/>
              <a:ext cx="5695026"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union</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共用体名</a:t>
              </a:r>
              <a:endParaRPr lang="en-US" altLang="zh-CN" b="1" dirty="0">
                <a:solidFill>
                  <a:srgbClr val="0070C0"/>
                </a:solidFill>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类型名</a:t>
              </a:r>
              <a:r>
                <a:rPr lang="en-US" altLang="zh-CN" b="1" dirty="0">
                  <a:latin typeface="华文隶书" panose="02010800040101010101" pitchFamily="2" charset="-122"/>
                  <a:ea typeface="华文隶书" panose="02010800040101010101" pitchFamily="2" charset="-122"/>
                </a:rPr>
                <a:t>1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1</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2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2</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en-US" altLang="zh-CN" b="1" dirty="0">
                  <a:latin typeface="华文隶书" panose="02010800040101010101" pitchFamily="2" charset="-122"/>
                  <a:ea typeface="华文隶书" panose="02010800040101010101" pitchFamily="2" charset="-122"/>
                </a:rPr>
                <a:t>        </a:t>
              </a:r>
              <a:r>
                <a:rPr lang="en-US" altLang="zh-CN" b="1" dirty="0">
                  <a:solidFill>
                    <a:srgbClr val="00B05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n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n</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zh-CN" altLang="en-US" b="1" dirty="0">
                  <a:solidFill>
                    <a:srgbClr val="FF0000"/>
                  </a:solidFill>
                </a:rPr>
                <a:t>；</a:t>
              </a: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union</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共用体名</a:t>
              </a:r>
              <a:r>
                <a:rPr lang="zh-CN" altLang="en-US" b="1" dirty="0">
                  <a:solidFill>
                    <a:srgbClr val="FF0000"/>
                  </a:solidFill>
                </a:rPr>
                <a:t> </a:t>
              </a:r>
              <a:r>
                <a:rPr lang="zh-CN" altLang="en-US" b="1" dirty="0">
                  <a:latin typeface="华文隶书" panose="02010800040101010101" pitchFamily="2" charset="-122"/>
                  <a:ea typeface="华文隶书" panose="02010800040101010101" pitchFamily="2" charset="-122"/>
                </a:rPr>
                <a:t>共用体变量列表</a:t>
              </a:r>
              <a:r>
                <a:rPr lang="zh-CN" altLang="en-US" b="1" dirty="0">
                  <a:solidFill>
                    <a:srgbClr val="FF0000"/>
                  </a:solidFill>
                </a:rPr>
                <a:t>；</a:t>
              </a:r>
              <a:endParaRPr lang="en-US" altLang="zh-CN" b="1" dirty="0">
                <a:solidFill>
                  <a:srgbClr val="FF0000"/>
                </a:solidFill>
              </a:endParaRPr>
            </a:p>
          </p:txBody>
        </p:sp>
      </p:grpSp>
      <p:grpSp>
        <p:nvGrpSpPr>
          <p:cNvPr id="11" name="组合 10">
            <a:extLst>
              <a:ext uri="{FF2B5EF4-FFF2-40B4-BE49-F238E27FC236}">
                <a16:creationId xmlns:a16="http://schemas.microsoft.com/office/drawing/2014/main" id="{D55FAF38-86DA-41B4-BA75-6195EA802733}"/>
              </a:ext>
            </a:extLst>
          </p:cNvPr>
          <p:cNvGrpSpPr/>
          <p:nvPr/>
        </p:nvGrpSpPr>
        <p:grpSpPr>
          <a:xfrm>
            <a:off x="6046580" y="1187348"/>
            <a:ext cx="6145420" cy="3684440"/>
            <a:chOff x="6046580" y="1187348"/>
            <a:chExt cx="6145420" cy="3684440"/>
          </a:xfrm>
        </p:grpSpPr>
        <p:sp>
          <p:nvSpPr>
            <p:cNvPr id="7" name="矩形 6">
              <a:extLst>
                <a:ext uri="{FF2B5EF4-FFF2-40B4-BE49-F238E27FC236}">
                  <a16:creationId xmlns:a16="http://schemas.microsoft.com/office/drawing/2014/main" id="{B7AD9CA6-AB5E-41AE-86E7-45817440594D}"/>
                </a:ext>
              </a:extLst>
            </p:cNvPr>
            <p:cNvSpPr/>
            <p:nvPr/>
          </p:nvSpPr>
          <p:spPr>
            <a:xfrm>
              <a:off x="6046580" y="1187348"/>
              <a:ext cx="6145419"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8" name="Rectangle 2">
              <a:extLst>
                <a:ext uri="{FF2B5EF4-FFF2-40B4-BE49-F238E27FC236}">
                  <a16:creationId xmlns:a16="http://schemas.microsoft.com/office/drawing/2014/main" id="{FA190FD0-AECB-4A43-9A4E-18834A5AB297}"/>
                </a:ext>
              </a:extLst>
            </p:cNvPr>
            <p:cNvSpPr txBox="1">
              <a:spLocks noChangeArrowheads="1"/>
            </p:cNvSpPr>
            <p:nvPr/>
          </p:nvSpPr>
          <p:spPr>
            <a:xfrm>
              <a:off x="6046581" y="1732467"/>
              <a:ext cx="6145419" cy="3139321"/>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union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exam</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b;</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ts val="3600"/>
                </a:spcBef>
                <a:spcAft>
                  <a:spcPts val="3000"/>
                </a:spcAft>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union</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exam</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 x, </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px, arrx</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p:txBody>
        </p:sp>
      </p:grpSp>
      <p:sp>
        <p:nvSpPr>
          <p:cNvPr id="2" name="灯片编号占位符 1">
            <a:extLst>
              <a:ext uri="{FF2B5EF4-FFF2-40B4-BE49-F238E27FC236}">
                <a16:creationId xmlns:a16="http://schemas.microsoft.com/office/drawing/2014/main" id="{7ED22A92-1953-489D-8694-869DF745536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28</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275175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076C616-C32D-444B-8BE4-D05104AEB3A4}"/>
              </a:ext>
            </a:extLst>
          </p:cNvPr>
          <p:cNvSpPr txBox="1"/>
          <p:nvPr/>
        </p:nvSpPr>
        <p:spPr>
          <a:xfrm>
            <a:off x="203083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共用体变量定义</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A0E24AC6-5E59-47B2-BABC-ABA1CB8F3A2F}"/>
              </a:ext>
            </a:extLst>
          </p:cNvPr>
          <p:cNvSpPr/>
          <p:nvPr/>
        </p:nvSpPr>
        <p:spPr>
          <a:xfrm>
            <a:off x="0" y="611934"/>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2. </a:t>
            </a:r>
            <a:r>
              <a:rPr lang="zh-CN" altLang="en-US" sz="2800" b="1" dirty="0">
                <a:solidFill>
                  <a:srgbClr val="00B0F0"/>
                </a:solidFill>
                <a:latin typeface="微软雅黑" panose="020B0503020204020204" pitchFamily="34" charset="-122"/>
                <a:ea typeface="微软雅黑" panose="020B0503020204020204" pitchFamily="34" charset="-122"/>
              </a:rPr>
              <a:t>定义共用体的同时定义变量</a:t>
            </a:r>
            <a:endParaRPr lang="en-US" altLang="zh-CN" sz="3200" b="1" dirty="0">
              <a:latin typeface="隶书" panose="02010509060101010101" pitchFamily="49" charset="-122"/>
              <a:ea typeface="隶书" panose="02010509060101010101" pitchFamily="49" charset="-122"/>
            </a:endParaRPr>
          </a:p>
        </p:txBody>
      </p:sp>
      <p:grpSp>
        <p:nvGrpSpPr>
          <p:cNvPr id="10" name="组合 9">
            <a:extLst>
              <a:ext uri="{FF2B5EF4-FFF2-40B4-BE49-F238E27FC236}">
                <a16:creationId xmlns:a16="http://schemas.microsoft.com/office/drawing/2014/main" id="{17EB50BF-3A7D-48B9-9D7C-5F06525784F7}"/>
              </a:ext>
            </a:extLst>
          </p:cNvPr>
          <p:cNvGrpSpPr/>
          <p:nvPr/>
        </p:nvGrpSpPr>
        <p:grpSpPr>
          <a:xfrm>
            <a:off x="167892" y="1209247"/>
            <a:ext cx="5695026" cy="3660729"/>
            <a:chOff x="167892" y="1209247"/>
            <a:chExt cx="5695026" cy="3660729"/>
          </a:xfrm>
        </p:grpSpPr>
        <p:sp>
          <p:nvSpPr>
            <p:cNvPr id="5" name="矩形 4">
              <a:extLst>
                <a:ext uri="{FF2B5EF4-FFF2-40B4-BE49-F238E27FC236}">
                  <a16:creationId xmlns:a16="http://schemas.microsoft.com/office/drawing/2014/main" id="{C24581D3-BE4D-4960-AAC5-46CAAEFF02B0}"/>
                </a:ext>
              </a:extLst>
            </p:cNvPr>
            <p:cNvSpPr/>
            <p:nvPr/>
          </p:nvSpPr>
          <p:spPr>
            <a:xfrm>
              <a:off x="167892" y="1209247"/>
              <a:ext cx="5695025"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6" name="Rectangle 2">
              <a:extLst>
                <a:ext uri="{FF2B5EF4-FFF2-40B4-BE49-F238E27FC236}">
                  <a16:creationId xmlns:a16="http://schemas.microsoft.com/office/drawing/2014/main" id="{C73E0451-1BA5-451A-B213-B819C2314F18}"/>
                </a:ext>
              </a:extLst>
            </p:cNvPr>
            <p:cNvSpPr txBox="1">
              <a:spLocks noChangeArrowheads="1"/>
            </p:cNvSpPr>
            <p:nvPr/>
          </p:nvSpPr>
          <p:spPr>
            <a:xfrm>
              <a:off x="167892" y="1761433"/>
              <a:ext cx="5695026"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union</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共用体名</a:t>
              </a:r>
              <a:endParaRPr lang="en-US" altLang="zh-CN" b="1" dirty="0">
                <a:solidFill>
                  <a:srgbClr val="0070C0"/>
                </a:solidFill>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类型名</a:t>
              </a:r>
              <a:r>
                <a:rPr lang="en-US" altLang="zh-CN" b="1" dirty="0">
                  <a:latin typeface="华文隶书" panose="02010800040101010101" pitchFamily="2" charset="-122"/>
                  <a:ea typeface="华文隶书" panose="02010800040101010101" pitchFamily="2" charset="-122"/>
                </a:rPr>
                <a:t>1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1</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2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2</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en-US" altLang="zh-CN" b="1" dirty="0">
                  <a:latin typeface="华文隶书" panose="02010800040101010101" pitchFamily="2" charset="-122"/>
                  <a:ea typeface="华文隶书" panose="02010800040101010101" pitchFamily="2" charset="-122"/>
                </a:rPr>
                <a:t>        </a:t>
              </a:r>
              <a:r>
                <a:rPr lang="en-US" altLang="zh-CN" b="1" dirty="0">
                  <a:solidFill>
                    <a:srgbClr val="00B05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n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n</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zh-CN" altLang="en-US" b="1" dirty="0">
                  <a:solidFill>
                    <a:srgbClr val="FF0000"/>
                  </a:solidFill>
                </a:rPr>
                <a:t> </a:t>
              </a:r>
              <a:r>
                <a:rPr lang="zh-CN" altLang="en-US" b="1" dirty="0">
                  <a:latin typeface="华文隶书" panose="02010800040101010101" pitchFamily="2" charset="-122"/>
                  <a:ea typeface="华文隶书" panose="02010800040101010101" pitchFamily="2" charset="-122"/>
                </a:rPr>
                <a:t>共用体变量列表</a:t>
              </a:r>
              <a:r>
                <a:rPr lang="zh-CN" altLang="en-US" b="1" dirty="0">
                  <a:solidFill>
                    <a:srgbClr val="FF0000"/>
                  </a:solidFill>
                </a:rPr>
                <a:t>；</a:t>
              </a:r>
              <a:endParaRPr lang="en-US" altLang="zh-CN" b="1" dirty="0">
                <a:solidFill>
                  <a:srgbClr val="FF0000"/>
                </a:solidFill>
              </a:endParaRPr>
            </a:p>
          </p:txBody>
        </p:sp>
      </p:grpSp>
      <p:grpSp>
        <p:nvGrpSpPr>
          <p:cNvPr id="11" name="组合 10">
            <a:extLst>
              <a:ext uri="{FF2B5EF4-FFF2-40B4-BE49-F238E27FC236}">
                <a16:creationId xmlns:a16="http://schemas.microsoft.com/office/drawing/2014/main" id="{9843F2D8-C8CB-4898-AED9-4DE68AD32C1C}"/>
              </a:ext>
            </a:extLst>
          </p:cNvPr>
          <p:cNvGrpSpPr/>
          <p:nvPr/>
        </p:nvGrpSpPr>
        <p:grpSpPr>
          <a:xfrm>
            <a:off x="6046580" y="1187348"/>
            <a:ext cx="6145420" cy="2791888"/>
            <a:chOff x="6046580" y="1187348"/>
            <a:chExt cx="6145420" cy="2791888"/>
          </a:xfrm>
        </p:grpSpPr>
        <p:sp>
          <p:nvSpPr>
            <p:cNvPr id="7" name="矩形 6">
              <a:extLst>
                <a:ext uri="{FF2B5EF4-FFF2-40B4-BE49-F238E27FC236}">
                  <a16:creationId xmlns:a16="http://schemas.microsoft.com/office/drawing/2014/main" id="{B7AD9CA6-AB5E-41AE-86E7-45817440594D}"/>
                </a:ext>
              </a:extLst>
            </p:cNvPr>
            <p:cNvSpPr/>
            <p:nvPr/>
          </p:nvSpPr>
          <p:spPr>
            <a:xfrm>
              <a:off x="6046580" y="1187348"/>
              <a:ext cx="6145419"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8" name="Rectangle 2">
              <a:extLst>
                <a:ext uri="{FF2B5EF4-FFF2-40B4-BE49-F238E27FC236}">
                  <a16:creationId xmlns:a16="http://schemas.microsoft.com/office/drawing/2014/main" id="{FA190FD0-AECB-4A43-9A4E-18834A5AB297}"/>
                </a:ext>
              </a:extLst>
            </p:cNvPr>
            <p:cNvSpPr txBox="1">
              <a:spLocks noChangeArrowheads="1"/>
            </p:cNvSpPr>
            <p:nvPr/>
          </p:nvSpPr>
          <p:spPr>
            <a:xfrm>
              <a:off x="6046581" y="1732467"/>
              <a:ext cx="6145419" cy="224676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union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exam</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b;</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x, </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px, arrx</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p:txBody>
        </p:sp>
      </p:grpSp>
      <p:sp>
        <p:nvSpPr>
          <p:cNvPr id="2" name="灯片编号占位符 1">
            <a:extLst>
              <a:ext uri="{FF2B5EF4-FFF2-40B4-BE49-F238E27FC236}">
                <a16:creationId xmlns:a16="http://schemas.microsoft.com/office/drawing/2014/main" id="{8438C385-F3C2-4880-B148-310D5621989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29</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16373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076C616-C32D-444B-8BE4-D05104AEB3A4}"/>
              </a:ext>
            </a:extLst>
          </p:cNvPr>
          <p:cNvSpPr txBox="1"/>
          <p:nvPr/>
        </p:nvSpPr>
        <p:spPr>
          <a:xfrm>
            <a:off x="203083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共用体变量定义</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A0E24AC6-5E59-47B2-BABC-ABA1CB8F3A2F}"/>
              </a:ext>
            </a:extLst>
          </p:cNvPr>
          <p:cNvSpPr/>
          <p:nvPr/>
        </p:nvSpPr>
        <p:spPr>
          <a:xfrm>
            <a:off x="0" y="611934"/>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3. </a:t>
            </a:r>
            <a:r>
              <a:rPr lang="zh-CN" altLang="en-US" sz="2800" b="1" dirty="0">
                <a:solidFill>
                  <a:srgbClr val="00B0F0"/>
                </a:solidFill>
                <a:latin typeface="微软雅黑" panose="020B0503020204020204" pitchFamily="34" charset="-122"/>
                <a:ea typeface="微软雅黑" panose="020B0503020204020204" pitchFamily="34" charset="-122"/>
              </a:rPr>
              <a:t>定义匿名共用体的同时定义变量</a:t>
            </a:r>
            <a:endParaRPr lang="en-US" altLang="zh-CN" sz="3200" b="1" dirty="0">
              <a:latin typeface="隶书" panose="02010509060101010101" pitchFamily="49" charset="-122"/>
              <a:ea typeface="隶书" panose="02010509060101010101" pitchFamily="49" charset="-122"/>
            </a:endParaRPr>
          </a:p>
        </p:txBody>
      </p:sp>
      <p:grpSp>
        <p:nvGrpSpPr>
          <p:cNvPr id="10" name="组合 9">
            <a:extLst>
              <a:ext uri="{FF2B5EF4-FFF2-40B4-BE49-F238E27FC236}">
                <a16:creationId xmlns:a16="http://schemas.microsoft.com/office/drawing/2014/main" id="{3C227350-A64F-4142-91FC-78393068100A}"/>
              </a:ext>
            </a:extLst>
          </p:cNvPr>
          <p:cNvGrpSpPr/>
          <p:nvPr/>
        </p:nvGrpSpPr>
        <p:grpSpPr>
          <a:xfrm>
            <a:off x="167892" y="1209247"/>
            <a:ext cx="5695026" cy="3660729"/>
            <a:chOff x="167892" y="1209247"/>
            <a:chExt cx="5695026" cy="3660729"/>
          </a:xfrm>
        </p:grpSpPr>
        <p:sp>
          <p:nvSpPr>
            <p:cNvPr id="5" name="矩形 4">
              <a:extLst>
                <a:ext uri="{FF2B5EF4-FFF2-40B4-BE49-F238E27FC236}">
                  <a16:creationId xmlns:a16="http://schemas.microsoft.com/office/drawing/2014/main" id="{C24581D3-BE4D-4960-AAC5-46CAAEFF02B0}"/>
                </a:ext>
              </a:extLst>
            </p:cNvPr>
            <p:cNvSpPr/>
            <p:nvPr/>
          </p:nvSpPr>
          <p:spPr>
            <a:xfrm>
              <a:off x="167892" y="1209247"/>
              <a:ext cx="5695025"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6" name="Rectangle 2">
              <a:extLst>
                <a:ext uri="{FF2B5EF4-FFF2-40B4-BE49-F238E27FC236}">
                  <a16:creationId xmlns:a16="http://schemas.microsoft.com/office/drawing/2014/main" id="{C73E0451-1BA5-451A-B213-B819C2314F18}"/>
                </a:ext>
              </a:extLst>
            </p:cNvPr>
            <p:cNvSpPr txBox="1">
              <a:spLocks noChangeArrowheads="1"/>
            </p:cNvSpPr>
            <p:nvPr/>
          </p:nvSpPr>
          <p:spPr>
            <a:xfrm>
              <a:off x="167892" y="1761433"/>
              <a:ext cx="5695026"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0000FF"/>
                  </a:solidFill>
                  <a:latin typeface="Consolas" panose="020B0609020204030204" pitchFamily="49" charset="0"/>
                  <a:ea typeface="华文隶书" panose="02010800040101010101" pitchFamily="2" charset="-122"/>
                </a:rPr>
                <a:t>union</a:t>
              </a:r>
              <a:endParaRPr lang="en-US" altLang="zh-CN" b="1" dirty="0">
                <a:solidFill>
                  <a:srgbClr val="0070C0"/>
                </a:solidFill>
              </a:endParaRP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类型名</a:t>
              </a:r>
              <a:r>
                <a:rPr lang="en-US" altLang="zh-CN" b="1" dirty="0">
                  <a:latin typeface="华文隶书" panose="02010800040101010101" pitchFamily="2" charset="-122"/>
                  <a:ea typeface="华文隶书" panose="02010800040101010101" pitchFamily="2" charset="-122"/>
                </a:rPr>
                <a:t>1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1</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2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2</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en-US" altLang="zh-CN" b="1" dirty="0">
                  <a:latin typeface="华文隶书" panose="02010800040101010101" pitchFamily="2" charset="-122"/>
                  <a:ea typeface="华文隶书" panose="02010800040101010101" pitchFamily="2" charset="-122"/>
                </a:rPr>
                <a:t>        </a:t>
              </a:r>
              <a:r>
                <a:rPr lang="en-US" altLang="zh-CN" b="1" dirty="0">
                  <a:solidFill>
                    <a:srgbClr val="00B05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None/>
              </a:pPr>
              <a:r>
                <a:rPr lang="zh-CN" altLang="en-US" b="1" dirty="0">
                  <a:latin typeface="华文隶书" panose="02010800040101010101" pitchFamily="2" charset="-122"/>
                  <a:ea typeface="华文隶书" panose="02010800040101010101" pitchFamily="2" charset="-122"/>
                </a:rPr>
                <a:t>        类型名</a:t>
              </a:r>
              <a:r>
                <a:rPr lang="en-US" altLang="zh-CN" b="1" dirty="0">
                  <a:latin typeface="华文隶书" panose="02010800040101010101" pitchFamily="2" charset="-122"/>
                  <a:ea typeface="华文隶书" panose="02010800040101010101" pitchFamily="2" charset="-122"/>
                </a:rPr>
                <a:t>n    </a:t>
              </a:r>
              <a:r>
                <a:rPr lang="zh-CN" altLang="en-US" b="1" dirty="0">
                  <a:latin typeface="华文隶书" panose="02010800040101010101" pitchFamily="2" charset="-122"/>
                  <a:ea typeface="华文隶书" panose="02010800040101010101" pitchFamily="2" charset="-122"/>
                </a:rPr>
                <a:t>成员名</a:t>
              </a:r>
              <a:r>
                <a:rPr lang="en-US" altLang="zh-CN" b="1" dirty="0">
                  <a:latin typeface="华文隶书" panose="02010800040101010101" pitchFamily="2" charset="-122"/>
                  <a:ea typeface="华文隶书" panose="02010800040101010101" pitchFamily="2" charset="-122"/>
                </a:rPr>
                <a:t>n</a:t>
              </a:r>
              <a:r>
                <a:rPr lang="en-US" altLang="zh-CN" b="1" dirty="0">
                  <a:solidFill>
                    <a:srgbClr val="FF0000"/>
                  </a:solidFill>
                  <a:latin typeface="华文隶书" panose="02010800040101010101" pitchFamily="2" charset="-122"/>
                  <a:ea typeface="华文隶书" panose="02010800040101010101" pitchFamily="2" charset="-122"/>
                </a:rPr>
                <a:t>;</a:t>
              </a:r>
            </a:p>
            <a:p>
              <a:pPr marL="0" indent="0">
                <a:lnSpc>
                  <a:spcPct val="100000"/>
                </a:lnSpc>
                <a:spcBef>
                  <a:spcPct val="0"/>
                </a:spcBef>
                <a:buClr>
                  <a:schemeClr val="tx2"/>
                </a:buClr>
                <a:buSzPct val="70000"/>
                <a:buFont typeface="Arial" panose="020B0604020202020204" pitchFamily="34" charset="0"/>
                <a:buNone/>
              </a:pPr>
              <a:r>
                <a:rPr lang="en-US" altLang="zh-CN" b="1" dirty="0">
                  <a:solidFill>
                    <a:srgbClr val="FF0000"/>
                  </a:solidFill>
                </a:rPr>
                <a:t>}</a:t>
              </a:r>
              <a:r>
                <a:rPr lang="zh-CN" altLang="en-US" b="1" dirty="0">
                  <a:solidFill>
                    <a:srgbClr val="FF0000"/>
                  </a:solidFill>
                </a:rPr>
                <a:t> </a:t>
              </a:r>
              <a:r>
                <a:rPr lang="zh-CN" altLang="en-US" b="1" dirty="0">
                  <a:latin typeface="华文隶书" panose="02010800040101010101" pitchFamily="2" charset="-122"/>
                  <a:ea typeface="华文隶书" panose="02010800040101010101" pitchFamily="2" charset="-122"/>
                </a:rPr>
                <a:t>共用体变量列表</a:t>
              </a:r>
              <a:r>
                <a:rPr lang="zh-CN" altLang="en-US" b="1" dirty="0">
                  <a:solidFill>
                    <a:srgbClr val="FF0000"/>
                  </a:solidFill>
                </a:rPr>
                <a:t>；</a:t>
              </a:r>
              <a:endParaRPr lang="en-US" altLang="zh-CN" b="1" dirty="0">
                <a:solidFill>
                  <a:srgbClr val="FF0000"/>
                </a:solidFill>
              </a:endParaRPr>
            </a:p>
          </p:txBody>
        </p:sp>
      </p:grpSp>
      <p:grpSp>
        <p:nvGrpSpPr>
          <p:cNvPr id="11" name="组合 10">
            <a:extLst>
              <a:ext uri="{FF2B5EF4-FFF2-40B4-BE49-F238E27FC236}">
                <a16:creationId xmlns:a16="http://schemas.microsoft.com/office/drawing/2014/main" id="{24C36828-F0E4-46B7-BB18-D92D7C2B84F7}"/>
              </a:ext>
            </a:extLst>
          </p:cNvPr>
          <p:cNvGrpSpPr/>
          <p:nvPr/>
        </p:nvGrpSpPr>
        <p:grpSpPr>
          <a:xfrm>
            <a:off x="6046580" y="1187348"/>
            <a:ext cx="6145420" cy="2791888"/>
            <a:chOff x="6046580" y="1187348"/>
            <a:chExt cx="6145420" cy="2791888"/>
          </a:xfrm>
        </p:grpSpPr>
        <p:sp>
          <p:nvSpPr>
            <p:cNvPr id="7" name="矩形 6">
              <a:extLst>
                <a:ext uri="{FF2B5EF4-FFF2-40B4-BE49-F238E27FC236}">
                  <a16:creationId xmlns:a16="http://schemas.microsoft.com/office/drawing/2014/main" id="{B7AD9CA6-AB5E-41AE-86E7-45817440594D}"/>
                </a:ext>
              </a:extLst>
            </p:cNvPr>
            <p:cNvSpPr/>
            <p:nvPr/>
          </p:nvSpPr>
          <p:spPr>
            <a:xfrm>
              <a:off x="6046580" y="1187348"/>
              <a:ext cx="6145419"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8" name="Rectangle 2">
              <a:extLst>
                <a:ext uri="{FF2B5EF4-FFF2-40B4-BE49-F238E27FC236}">
                  <a16:creationId xmlns:a16="http://schemas.microsoft.com/office/drawing/2014/main" id="{FA190FD0-AECB-4A43-9A4E-18834A5AB297}"/>
                </a:ext>
              </a:extLst>
            </p:cNvPr>
            <p:cNvSpPr txBox="1">
              <a:spLocks noChangeArrowheads="1"/>
            </p:cNvSpPr>
            <p:nvPr/>
          </p:nvSpPr>
          <p:spPr>
            <a:xfrm>
              <a:off x="6046581" y="1732467"/>
              <a:ext cx="6145419" cy="2246769"/>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union</a:t>
              </a:r>
              <a:endPar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b;</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x, </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px, arrx</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p>
          </p:txBody>
        </p:sp>
      </p:grpSp>
      <p:sp>
        <p:nvSpPr>
          <p:cNvPr id="2" name="灯片编号占位符 1">
            <a:extLst>
              <a:ext uri="{FF2B5EF4-FFF2-40B4-BE49-F238E27FC236}">
                <a16:creationId xmlns:a16="http://schemas.microsoft.com/office/drawing/2014/main" id="{7785C3C2-F402-43A6-A822-7C58EB44A924}"/>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30</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095665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7001B26-FD2C-4B06-8907-C3DB59037CB4}"/>
              </a:ext>
            </a:extLst>
          </p:cNvPr>
          <p:cNvSpPr txBox="1"/>
          <p:nvPr/>
        </p:nvSpPr>
        <p:spPr>
          <a:xfrm>
            <a:off x="2030837"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共用体变量引用</a:t>
            </a:r>
            <a:endParaRPr lang="zh-CN" altLang="en-US" sz="3200" b="1" dirty="0">
              <a:solidFill>
                <a:srgbClr val="200AC4"/>
              </a:solidFill>
              <a:ea typeface="隶书" pitchFamily="49" charset="-122"/>
            </a:endParaRPr>
          </a:p>
        </p:txBody>
      </p:sp>
      <p:grpSp>
        <p:nvGrpSpPr>
          <p:cNvPr id="14" name="组合 13">
            <a:extLst>
              <a:ext uri="{FF2B5EF4-FFF2-40B4-BE49-F238E27FC236}">
                <a16:creationId xmlns:a16="http://schemas.microsoft.com/office/drawing/2014/main" id="{807DCE74-081C-47C0-96F7-626BEDEAD331}"/>
              </a:ext>
            </a:extLst>
          </p:cNvPr>
          <p:cNvGrpSpPr/>
          <p:nvPr/>
        </p:nvGrpSpPr>
        <p:grpSpPr>
          <a:xfrm>
            <a:off x="200214" y="708603"/>
            <a:ext cx="4669691" cy="3631763"/>
            <a:chOff x="200214" y="708603"/>
            <a:chExt cx="4669691" cy="3631763"/>
          </a:xfrm>
        </p:grpSpPr>
        <p:sp>
          <p:nvSpPr>
            <p:cNvPr id="4" name="Rectangle 2">
              <a:extLst>
                <a:ext uri="{FF2B5EF4-FFF2-40B4-BE49-F238E27FC236}">
                  <a16:creationId xmlns:a16="http://schemas.microsoft.com/office/drawing/2014/main" id="{77A50377-3F82-4A15-B8A1-0D58997363A7}"/>
                </a:ext>
              </a:extLst>
            </p:cNvPr>
            <p:cNvSpPr txBox="1">
              <a:spLocks noChangeArrowheads="1"/>
            </p:cNvSpPr>
            <p:nvPr/>
          </p:nvSpPr>
          <p:spPr>
            <a:xfrm>
              <a:off x="200214" y="1231823"/>
              <a:ext cx="4669691" cy="3108543"/>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union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exam</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int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float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f;</a:t>
              </a:r>
              <a:endParaRPr lang="en-US" altLang="zh-CN"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endParaRP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union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exam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x; </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union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exam </a:t>
              </a: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px = </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&amp;</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x;</a:t>
              </a:r>
            </a:p>
          </p:txBody>
        </p:sp>
        <p:sp>
          <p:nvSpPr>
            <p:cNvPr id="5" name="矩形 4">
              <a:extLst>
                <a:ext uri="{FF2B5EF4-FFF2-40B4-BE49-F238E27FC236}">
                  <a16:creationId xmlns:a16="http://schemas.microsoft.com/office/drawing/2014/main" id="{7D1A1EB2-EE80-4D4D-9DB4-E2EB1580A252}"/>
                </a:ext>
              </a:extLst>
            </p:cNvPr>
            <p:cNvSpPr/>
            <p:nvPr/>
          </p:nvSpPr>
          <p:spPr>
            <a:xfrm>
              <a:off x="200214" y="708603"/>
              <a:ext cx="4669691"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若有定义如下：</a:t>
              </a:r>
            </a:p>
          </p:txBody>
        </p:sp>
      </p:grpSp>
      <p:grpSp>
        <p:nvGrpSpPr>
          <p:cNvPr id="15" name="组合 14">
            <a:extLst>
              <a:ext uri="{FF2B5EF4-FFF2-40B4-BE49-F238E27FC236}">
                <a16:creationId xmlns:a16="http://schemas.microsoft.com/office/drawing/2014/main" id="{9B202038-F7CD-4E02-A306-D0C70076EA0D}"/>
              </a:ext>
            </a:extLst>
          </p:cNvPr>
          <p:cNvGrpSpPr/>
          <p:nvPr/>
        </p:nvGrpSpPr>
        <p:grpSpPr>
          <a:xfrm>
            <a:off x="5281133" y="708603"/>
            <a:ext cx="6444703" cy="1908215"/>
            <a:chOff x="5281133" y="708603"/>
            <a:chExt cx="6444703" cy="1908215"/>
          </a:xfrm>
        </p:grpSpPr>
        <p:sp>
          <p:nvSpPr>
            <p:cNvPr id="6" name="Rectangle 2">
              <a:extLst>
                <a:ext uri="{FF2B5EF4-FFF2-40B4-BE49-F238E27FC236}">
                  <a16:creationId xmlns:a16="http://schemas.microsoft.com/office/drawing/2014/main" id="{05FA9FBE-D55A-44D1-AD7A-1DCC34F383A3}"/>
                </a:ext>
              </a:extLst>
            </p:cNvPr>
            <p:cNvSpPr txBox="1">
              <a:spLocks noChangeArrowheads="1"/>
            </p:cNvSpPr>
            <p:nvPr/>
          </p:nvSpPr>
          <p:spPr>
            <a:xfrm>
              <a:off x="5281133" y="1231823"/>
              <a:ext cx="6444702"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x</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r>
                <a:rPr lang="zh-CN" altLang="en-US"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100; </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px</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-&gt;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 = 100;</a:t>
              </a:r>
            </a:p>
            <a:p>
              <a:pPr marL="0" indent="0">
                <a:lnSpc>
                  <a:spcPct val="100000"/>
                </a:lnSpc>
                <a:spcBef>
                  <a:spcPct val="0"/>
                </a:spcBef>
                <a:buClr>
                  <a:schemeClr val="tx2"/>
                </a:buClr>
                <a:buSzPct val="70000"/>
                <a:buNone/>
              </a:pPr>
              <a:r>
                <a:rPr lang="en-US" altLang="zh-CN" b="1" dirty="0">
                  <a:solidFill>
                    <a:srgbClr val="FF0000"/>
                  </a:solidFill>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(px)</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 = 100</a:t>
              </a:r>
            </a:p>
          </p:txBody>
        </p:sp>
        <p:sp>
          <p:nvSpPr>
            <p:cNvPr id="7" name="矩形 6">
              <a:extLst>
                <a:ext uri="{FF2B5EF4-FFF2-40B4-BE49-F238E27FC236}">
                  <a16:creationId xmlns:a16="http://schemas.microsoft.com/office/drawing/2014/main" id="{3A257333-83D8-4118-A8B2-663F7BC239D2}"/>
                </a:ext>
              </a:extLst>
            </p:cNvPr>
            <p:cNvSpPr/>
            <p:nvPr/>
          </p:nvSpPr>
          <p:spPr>
            <a:xfrm>
              <a:off x="5281134" y="708603"/>
              <a:ext cx="6444702"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共用体成员</a:t>
              </a:r>
              <a:r>
                <a:rPr lang="en-US" altLang="zh-CN" sz="2800" b="1" dirty="0">
                  <a:latin typeface="Consolas" panose="020B0609020204030204" pitchFamily="49" charset="0"/>
                  <a:ea typeface="华文隶书" panose="02010800040101010101" pitchFamily="2" charset="-122"/>
                </a:rPr>
                <a:t>i</a:t>
              </a:r>
              <a:r>
                <a:rPr lang="zh-CN" altLang="en-US" sz="2800" b="1" dirty="0">
                  <a:latin typeface="华文隶书" panose="02010800040101010101" pitchFamily="2" charset="-122"/>
                  <a:ea typeface="华文隶书" panose="02010800040101010101" pitchFamily="2" charset="-122"/>
                </a:rPr>
                <a:t>的引用有以下三种方法：</a:t>
              </a:r>
            </a:p>
          </p:txBody>
        </p:sp>
      </p:grpSp>
      <p:grpSp>
        <p:nvGrpSpPr>
          <p:cNvPr id="16" name="组合 15">
            <a:extLst>
              <a:ext uri="{FF2B5EF4-FFF2-40B4-BE49-F238E27FC236}">
                <a16:creationId xmlns:a16="http://schemas.microsoft.com/office/drawing/2014/main" id="{85B634F8-FC23-4C8B-867A-891964372EF1}"/>
              </a:ext>
            </a:extLst>
          </p:cNvPr>
          <p:cNvGrpSpPr/>
          <p:nvPr/>
        </p:nvGrpSpPr>
        <p:grpSpPr>
          <a:xfrm>
            <a:off x="5254239" y="2786094"/>
            <a:ext cx="6444702" cy="1915948"/>
            <a:chOff x="5254239" y="2786094"/>
            <a:chExt cx="6444702" cy="1915948"/>
          </a:xfrm>
        </p:grpSpPr>
        <p:sp>
          <p:nvSpPr>
            <p:cNvPr id="8" name="矩形 7">
              <a:extLst>
                <a:ext uri="{FF2B5EF4-FFF2-40B4-BE49-F238E27FC236}">
                  <a16:creationId xmlns:a16="http://schemas.microsoft.com/office/drawing/2014/main" id="{9AE5B9AD-074E-4B7C-8E38-637AF0DF3930}"/>
                </a:ext>
              </a:extLst>
            </p:cNvPr>
            <p:cNvSpPr/>
            <p:nvPr/>
          </p:nvSpPr>
          <p:spPr>
            <a:xfrm>
              <a:off x="5254239" y="2786094"/>
              <a:ext cx="6444702"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同类型的共用体变量之间可以相互赋值。</a:t>
              </a:r>
            </a:p>
          </p:txBody>
        </p:sp>
        <p:sp>
          <p:nvSpPr>
            <p:cNvPr id="9" name="Rectangle 2">
              <a:extLst>
                <a:ext uri="{FF2B5EF4-FFF2-40B4-BE49-F238E27FC236}">
                  <a16:creationId xmlns:a16="http://schemas.microsoft.com/office/drawing/2014/main" id="{DED149D1-8157-49E2-8645-7BCFB99D1334}"/>
                </a:ext>
              </a:extLst>
            </p:cNvPr>
            <p:cNvSpPr txBox="1">
              <a:spLocks noChangeArrowheads="1"/>
            </p:cNvSpPr>
            <p:nvPr/>
          </p:nvSpPr>
          <p:spPr>
            <a:xfrm>
              <a:off x="5254239" y="3317047"/>
              <a:ext cx="6444702"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union </a:t>
              </a:r>
              <a:r>
                <a:rPr lang="en-US" altLang="zh-CN" b="1" dirty="0">
                  <a:solidFill>
                    <a:srgbClr val="0070C0"/>
                  </a:solidFill>
                  <a:latin typeface="Consolas" panose="020B0609020204030204" pitchFamily="49" charset="0"/>
                  <a:ea typeface="华文隶书" panose="02010800040101010101" pitchFamily="2" charset="-122"/>
                  <a:cs typeface="Times New Roman" panose="02020603050405020304" pitchFamily="18" charset="0"/>
                </a:rPr>
                <a:t>exam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x,</a:t>
              </a:r>
              <a:r>
                <a:rPr lang="zh-CN" altLang="en-US"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y; </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x</a:t>
              </a:r>
              <a:r>
                <a:rPr lang="en-US" altLang="zh-CN"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i</a:t>
              </a:r>
              <a:r>
                <a:rPr lang="zh-CN" altLang="en-US"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a:t>
              </a:r>
              <a:r>
                <a:rPr lang="zh-CN" altLang="en-US" b="1" dirty="0">
                  <a:latin typeface="Consolas" panose="020B0609020204030204" pitchFamily="49" charset="0"/>
                  <a:ea typeface="华文隶书" panose="02010800040101010101" pitchFamily="2" charset="-122"/>
                  <a:cs typeface="Times New Roman" panose="02020603050405020304" pitchFamily="18" charset="0"/>
                </a:rPr>
                <a:t> </a:t>
              </a:r>
              <a:r>
                <a:rPr lang="en-US" altLang="zh-CN" b="1" dirty="0">
                  <a:latin typeface="Consolas" panose="020B0609020204030204" pitchFamily="49" charset="0"/>
                  <a:ea typeface="华文隶书" panose="02010800040101010101" pitchFamily="2" charset="-122"/>
                  <a:cs typeface="Times New Roman" panose="02020603050405020304" pitchFamily="18" charset="0"/>
                </a:rPr>
                <a:t>100; </a:t>
              </a:r>
            </a:p>
            <a:p>
              <a:pPr marL="0" indent="0">
                <a:lnSpc>
                  <a:spcPct val="100000"/>
                </a:lnSpc>
                <a:spcBef>
                  <a:spcPct val="0"/>
                </a:spcBef>
                <a:buClr>
                  <a:schemeClr val="tx2"/>
                </a:buClr>
                <a:buSzPct val="70000"/>
                <a:buNone/>
              </a:pPr>
              <a:r>
                <a:rPr lang="en-US" altLang="zh-CN" b="1" dirty="0">
                  <a:latin typeface="Consolas" panose="020B0609020204030204" pitchFamily="49" charset="0"/>
                  <a:ea typeface="华文隶书" panose="02010800040101010101" pitchFamily="2" charset="-122"/>
                  <a:cs typeface="Times New Roman" panose="02020603050405020304" pitchFamily="18" charset="0"/>
                </a:rPr>
                <a:t>y = x;</a:t>
              </a:r>
            </a:p>
          </p:txBody>
        </p:sp>
      </p:grpSp>
      <p:grpSp>
        <p:nvGrpSpPr>
          <p:cNvPr id="11" name="组合 10">
            <a:extLst>
              <a:ext uri="{FF2B5EF4-FFF2-40B4-BE49-F238E27FC236}">
                <a16:creationId xmlns:a16="http://schemas.microsoft.com/office/drawing/2014/main" id="{11649709-8705-4A50-BD78-118A8E63CDE4}"/>
              </a:ext>
            </a:extLst>
          </p:cNvPr>
          <p:cNvGrpSpPr/>
          <p:nvPr/>
        </p:nvGrpSpPr>
        <p:grpSpPr>
          <a:xfrm>
            <a:off x="200214" y="4579891"/>
            <a:ext cx="11936850" cy="1633397"/>
            <a:chOff x="0" y="4812040"/>
            <a:chExt cx="12192001" cy="1633397"/>
          </a:xfrm>
        </p:grpSpPr>
        <p:sp>
          <p:nvSpPr>
            <p:cNvPr id="12" name="Text Box 88">
              <a:extLst>
                <a:ext uri="{FF2B5EF4-FFF2-40B4-BE49-F238E27FC236}">
                  <a16:creationId xmlns:a16="http://schemas.microsoft.com/office/drawing/2014/main" id="{AE03574D-DF36-4D06-9EBC-8ADCE13E4BC5}"/>
                </a:ext>
              </a:extLst>
            </p:cNvPr>
            <p:cNvSpPr txBox="1">
              <a:spLocks noChangeArrowheads="1"/>
            </p:cNvSpPr>
            <p:nvPr/>
          </p:nvSpPr>
          <p:spPr bwMode="auto">
            <a:xfrm>
              <a:off x="1" y="4812040"/>
              <a:ext cx="12192000" cy="1633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r>
                <a:rPr kumimoji="1" lang="en-US" altLang="zh-CN" sz="2400" dirty="0">
                  <a:solidFill>
                    <a:srgbClr val="3333FF"/>
                  </a:solidFill>
                  <a:ea typeface="隶书" pitchFamily="49" charset="-122"/>
                </a:rPr>
                <a:t>: </a:t>
              </a:r>
            </a:p>
            <a:p>
              <a:pPr marL="720000" indent="-457200">
                <a:buFont typeface="+mj-ea"/>
                <a:buAutoNum type="circleNumDbPlain"/>
              </a:pPr>
              <a:r>
                <a:rPr kumimoji="1" lang="zh-CN" altLang="en-US" sz="2400" dirty="0">
                  <a:solidFill>
                    <a:srgbClr val="3333FF"/>
                  </a:solidFill>
                  <a:latin typeface="隶书" pitchFamily="49" charset="-122"/>
                  <a:ea typeface="隶书" pitchFamily="49" charset="-122"/>
                </a:rPr>
                <a:t>共用体变量虽然有多个成员，但在某一时刻只能存储一个成员的数据</a:t>
              </a:r>
              <a:r>
                <a:rPr kumimoji="1" lang="zh-CN" altLang="en-US" sz="2400" dirty="0">
                  <a:solidFill>
                    <a:srgbClr val="3333FF"/>
                  </a:solidFill>
                  <a:ea typeface="隶书" pitchFamily="49" charset="-122"/>
                </a:rPr>
                <a:t>。</a:t>
              </a:r>
              <a:endParaRPr kumimoji="1" lang="en-US" altLang="zh-CN" sz="2400" dirty="0">
                <a:solidFill>
                  <a:srgbClr val="3333FF"/>
                </a:solidFill>
                <a:ea typeface="隶书" pitchFamily="49" charset="-122"/>
              </a:endParaRPr>
            </a:p>
            <a:p>
              <a:pPr marL="720000" indent="-457200">
                <a:buFont typeface="+mj-ea"/>
                <a:buAutoNum type="circleNumDbPlain"/>
              </a:pPr>
              <a:r>
                <a:rPr kumimoji="1" lang="zh-CN" altLang="en-US" sz="2400" dirty="0">
                  <a:solidFill>
                    <a:srgbClr val="3333FF"/>
                  </a:solidFill>
                  <a:latin typeface="等线" panose="02010600030101010101" pitchFamily="2" charset="-122"/>
                  <a:ea typeface="隶书" pitchFamily="49" charset="-122"/>
                </a:rPr>
                <a:t>引用共用体变量时只能引用共用体变量的成员。</a:t>
              </a:r>
              <a:endParaRPr kumimoji="1" lang="en-US" altLang="zh-CN" sz="2400" dirty="0">
                <a:solidFill>
                  <a:srgbClr val="3333FF"/>
                </a:solidFill>
                <a:latin typeface="等线" panose="02010600030101010101" pitchFamily="2" charset="-122"/>
                <a:ea typeface="隶书" pitchFamily="49" charset="-122"/>
              </a:endParaRPr>
            </a:p>
            <a:p>
              <a:pPr marL="720000" indent="-457200">
                <a:buFont typeface="+mj-ea"/>
                <a:buAutoNum type="circleNumDbPlain"/>
              </a:pPr>
              <a:r>
                <a:rPr kumimoji="1" lang="zh-CN" altLang="en-US" sz="2400" dirty="0">
                  <a:solidFill>
                    <a:srgbClr val="3333FF"/>
                  </a:solidFill>
                  <a:latin typeface="等线" panose="02010600030101010101" pitchFamily="2" charset="-122"/>
                  <a:ea typeface="隶书" pitchFamily="49" charset="-122"/>
                </a:rPr>
                <a:t>向共用体变量某一个成员赋值会覆盖掉之前保存的成员数据。</a:t>
              </a:r>
              <a:endParaRPr kumimoji="1" lang="en-US" altLang="zh-CN" sz="2400" dirty="0">
                <a:solidFill>
                  <a:srgbClr val="3333FF"/>
                </a:solidFill>
                <a:latin typeface="等线" panose="02010600030101010101" pitchFamily="2" charset="-122"/>
                <a:ea typeface="隶书" pitchFamily="49" charset="-122"/>
              </a:endParaRPr>
            </a:p>
          </p:txBody>
        </p:sp>
        <p:pic>
          <p:nvPicPr>
            <p:cNvPr id="13" name="图片 12">
              <a:extLst>
                <a:ext uri="{FF2B5EF4-FFF2-40B4-BE49-F238E27FC236}">
                  <a16:creationId xmlns:a16="http://schemas.microsoft.com/office/drawing/2014/main" id="{75486211-A373-4DEB-A87B-5F0F90F8F33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0" y="4867312"/>
              <a:ext cx="514926" cy="442321"/>
            </a:xfrm>
            <a:prstGeom prst="rect">
              <a:avLst/>
            </a:prstGeom>
          </p:spPr>
        </p:pic>
      </p:grpSp>
      <p:sp>
        <p:nvSpPr>
          <p:cNvPr id="2" name="灯片编号占位符 1">
            <a:extLst>
              <a:ext uri="{FF2B5EF4-FFF2-40B4-BE49-F238E27FC236}">
                <a16:creationId xmlns:a16="http://schemas.microsoft.com/office/drawing/2014/main" id="{928C031A-D490-445C-9A1D-FA8D780E3D93}"/>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31</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017105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8">
            <a:extLst>
              <a:ext uri="{FF2B5EF4-FFF2-40B4-BE49-F238E27FC236}">
                <a16:creationId xmlns:a16="http://schemas.microsoft.com/office/drawing/2014/main" id="{0E36F05A-3E6A-4295-ACE4-386AC047BBAF}"/>
              </a:ext>
            </a:extLst>
          </p:cNvPr>
          <p:cNvSpPr txBox="1">
            <a:spLocks noChangeArrowheads="1"/>
          </p:cNvSpPr>
          <p:nvPr/>
        </p:nvSpPr>
        <p:spPr bwMode="auto">
          <a:xfrm>
            <a:off x="0" y="599016"/>
            <a:ext cx="12192000" cy="1387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dirty="0">
                <a:latin typeface="+mn-ea"/>
                <a:ea typeface="+mn-ea"/>
              </a:rPr>
              <a:t>在</a:t>
            </a:r>
            <a:r>
              <a:rPr kumimoji="1" lang="en-US" altLang="zh-CN" sz="2800" b="1" dirty="0">
                <a:latin typeface="+mn-ea"/>
                <a:ea typeface="+mn-ea"/>
              </a:rPr>
              <a:t>C</a:t>
            </a:r>
            <a:r>
              <a:rPr kumimoji="1" lang="zh-CN" altLang="en-US" sz="2800" b="1" dirty="0">
                <a:latin typeface="+mn-ea"/>
                <a:ea typeface="+mn-ea"/>
              </a:rPr>
              <a:t>语言中，某些变量可能的取值有限或只有少数的几种可能情况。用数字表示这些数据远不如用具有某种特定意义的名称表示更能让人明白数据的真正含义，对于上述情况，就可以使用枚举类型。</a:t>
            </a:r>
          </a:p>
        </p:txBody>
      </p:sp>
      <p:sp>
        <p:nvSpPr>
          <p:cNvPr id="4" name="文本框 3">
            <a:extLst>
              <a:ext uri="{FF2B5EF4-FFF2-40B4-BE49-F238E27FC236}">
                <a16:creationId xmlns:a16="http://schemas.microsoft.com/office/drawing/2014/main" id="{718ED4B2-6ADA-4062-8ED6-33618FE2C1A3}"/>
              </a:ext>
            </a:extLst>
          </p:cNvPr>
          <p:cNvSpPr txBox="1"/>
          <p:nvPr/>
        </p:nvSpPr>
        <p:spPr>
          <a:xfrm>
            <a:off x="2399085"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枚举类型定义</a:t>
            </a:r>
            <a:endParaRPr lang="zh-CN" altLang="en-US" sz="3200" b="1" dirty="0">
              <a:solidFill>
                <a:srgbClr val="200AC4"/>
              </a:solidFill>
              <a:ea typeface="隶书" pitchFamily="49" charset="-122"/>
            </a:endParaRPr>
          </a:p>
        </p:txBody>
      </p:sp>
      <p:grpSp>
        <p:nvGrpSpPr>
          <p:cNvPr id="13" name="组合 12">
            <a:extLst>
              <a:ext uri="{FF2B5EF4-FFF2-40B4-BE49-F238E27FC236}">
                <a16:creationId xmlns:a16="http://schemas.microsoft.com/office/drawing/2014/main" id="{44D9E00E-06C7-40A5-8181-141314F60F96}"/>
              </a:ext>
            </a:extLst>
          </p:cNvPr>
          <p:cNvGrpSpPr/>
          <p:nvPr/>
        </p:nvGrpSpPr>
        <p:grpSpPr>
          <a:xfrm>
            <a:off x="2105836" y="2073729"/>
            <a:ext cx="5872941" cy="1046440"/>
            <a:chOff x="436834" y="1986192"/>
            <a:chExt cx="5872941" cy="1046440"/>
          </a:xfrm>
        </p:grpSpPr>
        <p:sp>
          <p:nvSpPr>
            <p:cNvPr id="5" name="矩形 4">
              <a:extLst>
                <a:ext uri="{FF2B5EF4-FFF2-40B4-BE49-F238E27FC236}">
                  <a16:creationId xmlns:a16="http://schemas.microsoft.com/office/drawing/2014/main" id="{DE95D115-69AD-4253-85E5-EC7609A3D889}"/>
                </a:ext>
              </a:extLst>
            </p:cNvPr>
            <p:cNvSpPr/>
            <p:nvPr/>
          </p:nvSpPr>
          <p:spPr>
            <a:xfrm>
              <a:off x="436834" y="1986192"/>
              <a:ext cx="5872940"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枚举类型的一般定义形式如下：</a:t>
              </a:r>
            </a:p>
          </p:txBody>
        </p:sp>
        <p:sp>
          <p:nvSpPr>
            <p:cNvPr id="6" name="Rectangle 2">
              <a:extLst>
                <a:ext uri="{FF2B5EF4-FFF2-40B4-BE49-F238E27FC236}">
                  <a16:creationId xmlns:a16="http://schemas.microsoft.com/office/drawing/2014/main" id="{E4348389-C14B-4993-9239-D1519A2998AA}"/>
                </a:ext>
              </a:extLst>
            </p:cNvPr>
            <p:cNvSpPr txBox="1">
              <a:spLocks noChangeArrowheads="1"/>
            </p:cNvSpPr>
            <p:nvPr/>
          </p:nvSpPr>
          <p:spPr>
            <a:xfrm>
              <a:off x="436834" y="2509412"/>
              <a:ext cx="5872941"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enum</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枚举类型名 </a:t>
              </a: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枚举元素列表</a:t>
              </a:r>
              <a:r>
                <a:rPr lang="en-US" altLang="zh-CN" b="1" dirty="0">
                  <a:solidFill>
                    <a:srgbClr val="FF0000"/>
                  </a:solidFill>
                </a:rPr>
                <a:t>}</a:t>
              </a:r>
              <a:r>
                <a:rPr lang="zh-CN" altLang="en-US" b="1" dirty="0">
                  <a:solidFill>
                    <a:srgbClr val="FF0000"/>
                  </a:solidFill>
                </a:rPr>
                <a:t> ；</a:t>
              </a:r>
              <a:endParaRPr lang="en-US" altLang="zh-CN" b="1" dirty="0">
                <a:solidFill>
                  <a:srgbClr val="FF0000"/>
                </a:solidFill>
              </a:endParaRPr>
            </a:p>
          </p:txBody>
        </p:sp>
      </p:grpSp>
      <p:sp>
        <p:nvSpPr>
          <p:cNvPr id="7" name="矩形 6">
            <a:extLst>
              <a:ext uri="{FF2B5EF4-FFF2-40B4-BE49-F238E27FC236}">
                <a16:creationId xmlns:a16="http://schemas.microsoft.com/office/drawing/2014/main" id="{DBA8AD06-345A-4D0B-B810-FD95E3773594}"/>
              </a:ext>
            </a:extLst>
          </p:cNvPr>
          <p:cNvSpPr/>
          <p:nvPr/>
        </p:nvSpPr>
        <p:spPr>
          <a:xfrm>
            <a:off x="436834" y="5098159"/>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8" name="Rectangle 2">
            <a:extLst>
              <a:ext uri="{FF2B5EF4-FFF2-40B4-BE49-F238E27FC236}">
                <a16:creationId xmlns:a16="http://schemas.microsoft.com/office/drawing/2014/main" id="{1C47BEAE-67C4-4176-A083-246309748B05}"/>
              </a:ext>
            </a:extLst>
          </p:cNvPr>
          <p:cNvSpPr txBox="1">
            <a:spLocks noChangeArrowheads="1"/>
          </p:cNvSpPr>
          <p:nvPr/>
        </p:nvSpPr>
        <p:spPr>
          <a:xfrm>
            <a:off x="436834" y="5621379"/>
            <a:ext cx="10767669"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enum</a:t>
            </a:r>
            <a:r>
              <a:rPr lang="zh-CN" altLang="en-US" b="1" dirty="0">
                <a:solidFill>
                  <a:srgbClr val="0000FF"/>
                </a:solidFill>
                <a:latin typeface="Consolas" panose="020B0609020204030204" pitchFamily="49" charset="0"/>
                <a:ea typeface="华文隶书" panose="02010800040101010101" pitchFamily="2" charset="-122"/>
              </a:rPr>
              <a:t> </a:t>
            </a:r>
            <a:r>
              <a:rPr lang="en-US" altLang="zh-CN" b="1" dirty="0">
                <a:solidFill>
                  <a:srgbClr val="0070C0"/>
                </a:solidFill>
                <a:latin typeface="Consolas" panose="020B0609020204030204" pitchFamily="49" charset="0"/>
                <a:ea typeface="华文隶书" panose="02010800040101010101" pitchFamily="2" charset="-122"/>
              </a:rPr>
              <a:t>weekday </a:t>
            </a:r>
            <a:r>
              <a:rPr lang="en-US" altLang="zh-CN" b="1" dirty="0">
                <a:solidFill>
                  <a:srgbClr val="FF0000"/>
                </a:solidFill>
                <a:latin typeface="Consolas" panose="020B0609020204030204" pitchFamily="49" charset="0"/>
              </a:rPr>
              <a:t>{</a:t>
            </a:r>
            <a:r>
              <a:rPr lang="en-US" altLang="zh-CN" b="1" dirty="0">
                <a:latin typeface="Consolas" panose="020B0609020204030204" pitchFamily="49" charset="0"/>
                <a:ea typeface="华文隶书" panose="02010800040101010101" pitchFamily="2" charset="-122"/>
              </a:rPr>
              <a:t>Sun, Mon, Tue, Wed, Thu, Fri, Sat</a:t>
            </a:r>
            <a:r>
              <a:rPr lang="en-US" altLang="zh-CN" b="1" dirty="0">
                <a:solidFill>
                  <a:srgbClr val="FF0000"/>
                </a:solidFill>
                <a:latin typeface="Consolas" panose="020B0609020204030204" pitchFamily="49" charset="0"/>
              </a:rPr>
              <a:t>}</a:t>
            </a:r>
            <a:r>
              <a:rPr lang="zh-CN" altLang="en-US" b="1" dirty="0">
                <a:solidFill>
                  <a:srgbClr val="FF0000"/>
                </a:solidFill>
                <a:latin typeface="Consolas" panose="020B0609020204030204" pitchFamily="49" charset="0"/>
              </a:rPr>
              <a:t> ；</a:t>
            </a:r>
            <a:endParaRPr lang="en-US" altLang="zh-CN" b="1" dirty="0">
              <a:solidFill>
                <a:srgbClr val="FF0000"/>
              </a:solidFill>
              <a:latin typeface="Consolas" panose="020B0609020204030204" pitchFamily="49" charset="0"/>
            </a:endParaRPr>
          </a:p>
        </p:txBody>
      </p:sp>
      <p:grpSp>
        <p:nvGrpSpPr>
          <p:cNvPr id="9" name="组合 8">
            <a:extLst>
              <a:ext uri="{FF2B5EF4-FFF2-40B4-BE49-F238E27FC236}">
                <a16:creationId xmlns:a16="http://schemas.microsoft.com/office/drawing/2014/main" id="{336B14CF-E4B4-449F-ACA5-C9121768D4E8}"/>
              </a:ext>
            </a:extLst>
          </p:cNvPr>
          <p:cNvGrpSpPr/>
          <p:nvPr/>
        </p:nvGrpSpPr>
        <p:grpSpPr>
          <a:xfrm>
            <a:off x="341350" y="3152434"/>
            <a:ext cx="11936850" cy="2002729"/>
            <a:chOff x="0" y="4812040"/>
            <a:chExt cx="12192001" cy="2002729"/>
          </a:xfrm>
        </p:grpSpPr>
        <p:sp>
          <p:nvSpPr>
            <p:cNvPr id="10" name="Text Box 88">
              <a:extLst>
                <a:ext uri="{FF2B5EF4-FFF2-40B4-BE49-F238E27FC236}">
                  <a16:creationId xmlns:a16="http://schemas.microsoft.com/office/drawing/2014/main" id="{753ED655-7029-46B4-A3F1-ED8CEF491605}"/>
                </a:ext>
              </a:extLst>
            </p:cNvPr>
            <p:cNvSpPr txBox="1">
              <a:spLocks noChangeArrowheads="1"/>
            </p:cNvSpPr>
            <p:nvPr/>
          </p:nvSpPr>
          <p:spPr bwMode="auto">
            <a:xfrm>
              <a:off x="1" y="4812040"/>
              <a:ext cx="12192000" cy="2002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r>
                <a:rPr kumimoji="1" lang="en-US" altLang="zh-CN" sz="2400" dirty="0">
                  <a:solidFill>
                    <a:srgbClr val="3333FF"/>
                  </a:solidFill>
                  <a:ea typeface="隶书" pitchFamily="49" charset="-122"/>
                </a:rPr>
                <a:t>: </a:t>
              </a:r>
            </a:p>
            <a:p>
              <a:pPr marL="720000" indent="-457200">
                <a:buFont typeface="+mj-ea"/>
                <a:buAutoNum type="circleNumDbPlain"/>
              </a:pPr>
              <a:r>
                <a:rPr kumimoji="1" lang="zh-CN" altLang="en-US" sz="2400" dirty="0">
                  <a:solidFill>
                    <a:srgbClr val="3333FF"/>
                  </a:solidFill>
                  <a:latin typeface="隶书" pitchFamily="49" charset="-122"/>
                  <a:ea typeface="隶书" pitchFamily="49" charset="-122"/>
                </a:rPr>
                <a:t>“枚举元素列表”中的每个元素均为合法标识符，不能是数字</a:t>
              </a:r>
              <a:r>
                <a:rPr kumimoji="1" lang="zh-CN" altLang="en-US" sz="2400" dirty="0">
                  <a:solidFill>
                    <a:srgbClr val="3333FF"/>
                  </a:solidFill>
                  <a:ea typeface="隶书" pitchFamily="49" charset="-122"/>
                </a:rPr>
                <a:t>。</a:t>
              </a:r>
              <a:endParaRPr kumimoji="1" lang="en-US" altLang="zh-CN" sz="2400" dirty="0">
                <a:solidFill>
                  <a:srgbClr val="3333FF"/>
                </a:solidFill>
                <a:ea typeface="隶书" pitchFamily="49" charset="-122"/>
              </a:endParaRPr>
            </a:p>
            <a:p>
              <a:pPr marL="720000" indent="-457200">
                <a:buFont typeface="+mj-ea"/>
                <a:buAutoNum type="circleNumDbPlain"/>
              </a:pPr>
              <a:r>
                <a:rPr kumimoji="1" lang="zh-CN" altLang="en-US" sz="2400" dirty="0">
                  <a:solidFill>
                    <a:srgbClr val="3333FF"/>
                  </a:solidFill>
                  <a:latin typeface="等线" panose="02010600030101010101" pitchFamily="2" charset="-122"/>
                  <a:ea typeface="隶书" pitchFamily="49" charset="-122"/>
                </a:rPr>
                <a:t>每个枚举元素代表一个枚举变量可能的取值，是常量而不是变量。</a:t>
              </a:r>
              <a:endParaRPr kumimoji="1" lang="en-US" altLang="zh-CN" sz="2400" dirty="0">
                <a:solidFill>
                  <a:srgbClr val="3333FF"/>
                </a:solidFill>
                <a:latin typeface="等线" panose="02010600030101010101" pitchFamily="2" charset="-122"/>
                <a:ea typeface="隶书" pitchFamily="49" charset="-122"/>
              </a:endParaRPr>
            </a:p>
            <a:p>
              <a:pPr marL="720000" indent="-457200">
                <a:buFont typeface="+mj-ea"/>
                <a:buAutoNum type="circleNumDbPlain"/>
              </a:pPr>
              <a:r>
                <a:rPr kumimoji="1" lang="zh-CN" altLang="en-US" sz="2400" dirty="0">
                  <a:solidFill>
                    <a:srgbClr val="3333FF"/>
                  </a:solidFill>
                  <a:latin typeface="等线" panose="02010600030101010101" pitchFamily="2" charset="-122"/>
                  <a:ea typeface="隶书" pitchFamily="49" charset="-122"/>
                </a:rPr>
                <a:t>每个枚举元素代表的常量值从左至右依次等价于</a:t>
              </a:r>
              <a:r>
                <a:rPr kumimoji="1" lang="en-US" altLang="zh-CN" sz="2400" dirty="0">
                  <a:solidFill>
                    <a:srgbClr val="3333FF"/>
                  </a:solidFill>
                  <a:latin typeface="等线" panose="02010600030101010101" pitchFamily="2" charset="-122"/>
                  <a:ea typeface="隶书" pitchFamily="49" charset="-122"/>
                </a:rPr>
                <a:t>0, 1, 2, 3, …</a:t>
              </a:r>
              <a:r>
                <a:rPr kumimoji="1" lang="zh-CN" altLang="en-US" sz="2400" dirty="0">
                  <a:solidFill>
                    <a:srgbClr val="3333FF"/>
                  </a:solidFill>
                  <a:latin typeface="等线" panose="02010600030101010101" pitchFamily="2" charset="-122"/>
                  <a:ea typeface="隶书" pitchFamily="49" charset="-122"/>
                </a:rPr>
                <a:t>。</a:t>
              </a:r>
              <a:endParaRPr kumimoji="1" lang="en-US" altLang="zh-CN" sz="2400" dirty="0">
                <a:solidFill>
                  <a:srgbClr val="3333FF"/>
                </a:solidFill>
                <a:latin typeface="等线" panose="02010600030101010101" pitchFamily="2" charset="-122"/>
                <a:ea typeface="隶书" pitchFamily="49" charset="-122"/>
              </a:endParaRPr>
            </a:p>
            <a:p>
              <a:pPr marL="720000" indent="-457200">
                <a:buFont typeface="+mj-ea"/>
                <a:buAutoNum type="circleNumDbPlain"/>
              </a:pPr>
              <a:r>
                <a:rPr kumimoji="1" lang="zh-CN" altLang="en-US" sz="2400" dirty="0">
                  <a:solidFill>
                    <a:srgbClr val="3333FF"/>
                  </a:solidFill>
                  <a:latin typeface="等线" panose="02010600030101010101" pitchFamily="2" charset="-122"/>
                  <a:ea typeface="隶书" pitchFamily="49" charset="-122"/>
                </a:rPr>
                <a:t>枚举类型是基本数据类型，不是构造数据类型。</a:t>
              </a:r>
              <a:endParaRPr kumimoji="1" lang="en-US" altLang="zh-CN" sz="2400" dirty="0">
                <a:solidFill>
                  <a:srgbClr val="3333FF"/>
                </a:solidFill>
                <a:latin typeface="等线" panose="02010600030101010101" pitchFamily="2" charset="-122"/>
                <a:ea typeface="隶书" pitchFamily="49" charset="-122"/>
              </a:endParaRPr>
            </a:p>
          </p:txBody>
        </p:sp>
        <p:pic>
          <p:nvPicPr>
            <p:cNvPr id="11" name="图片 10">
              <a:extLst>
                <a:ext uri="{FF2B5EF4-FFF2-40B4-BE49-F238E27FC236}">
                  <a16:creationId xmlns:a16="http://schemas.microsoft.com/office/drawing/2014/main" id="{4582E66C-F53A-4BAB-9672-73DE5B946CD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0" y="4867312"/>
              <a:ext cx="514926" cy="442321"/>
            </a:xfrm>
            <a:prstGeom prst="rect">
              <a:avLst/>
            </a:prstGeom>
          </p:spPr>
        </p:pic>
      </p:grpSp>
      <p:sp>
        <p:nvSpPr>
          <p:cNvPr id="2" name="灯片编号占位符 1">
            <a:extLst>
              <a:ext uri="{FF2B5EF4-FFF2-40B4-BE49-F238E27FC236}">
                <a16:creationId xmlns:a16="http://schemas.microsoft.com/office/drawing/2014/main" id="{934D9ECD-40A5-4F19-963B-12F604D7F4FB}"/>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32</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008671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18ED4B2-6ADA-4062-8ED6-33618FE2C1A3}"/>
              </a:ext>
            </a:extLst>
          </p:cNvPr>
          <p:cNvSpPr txBox="1"/>
          <p:nvPr/>
        </p:nvSpPr>
        <p:spPr>
          <a:xfrm>
            <a:off x="2399085"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枚举变量定义</a:t>
            </a:r>
            <a:endParaRPr lang="zh-CN" altLang="en-US" sz="3200" b="1" dirty="0">
              <a:solidFill>
                <a:srgbClr val="200AC4"/>
              </a:solidFill>
              <a:ea typeface="隶书" pitchFamily="49" charset="-122"/>
            </a:endParaRPr>
          </a:p>
        </p:txBody>
      </p:sp>
      <p:sp>
        <p:nvSpPr>
          <p:cNvPr id="5" name="矩形 4">
            <a:extLst>
              <a:ext uri="{FF2B5EF4-FFF2-40B4-BE49-F238E27FC236}">
                <a16:creationId xmlns:a16="http://schemas.microsoft.com/office/drawing/2014/main" id="{3F84B079-BA89-4B4E-8940-A4FF8064DA8F}"/>
              </a:ext>
            </a:extLst>
          </p:cNvPr>
          <p:cNvSpPr/>
          <p:nvPr/>
        </p:nvSpPr>
        <p:spPr>
          <a:xfrm>
            <a:off x="0" y="611934"/>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1. </a:t>
            </a:r>
            <a:r>
              <a:rPr lang="zh-CN" altLang="en-US" sz="2800" b="1" dirty="0">
                <a:solidFill>
                  <a:srgbClr val="00B0F0"/>
                </a:solidFill>
                <a:latin typeface="微软雅黑" panose="020B0503020204020204" pitchFamily="34" charset="-122"/>
                <a:ea typeface="微软雅黑" panose="020B0503020204020204" pitchFamily="34" charset="-122"/>
              </a:rPr>
              <a:t>定义枚举类型后再定义枚举变量</a:t>
            </a:r>
            <a:endParaRPr lang="en-US" altLang="zh-CN" sz="3200" b="1" dirty="0">
              <a:latin typeface="隶书" panose="02010509060101010101" pitchFamily="49" charset="-122"/>
              <a:ea typeface="隶书" panose="02010509060101010101" pitchFamily="49" charset="-122"/>
            </a:endParaRPr>
          </a:p>
        </p:txBody>
      </p:sp>
      <p:sp>
        <p:nvSpPr>
          <p:cNvPr id="6" name="矩形 5">
            <a:extLst>
              <a:ext uri="{FF2B5EF4-FFF2-40B4-BE49-F238E27FC236}">
                <a16:creationId xmlns:a16="http://schemas.microsoft.com/office/drawing/2014/main" id="{20FD8CF3-F5BE-4DCD-BBA9-34BA66B57AF8}"/>
              </a:ext>
            </a:extLst>
          </p:cNvPr>
          <p:cNvSpPr/>
          <p:nvPr/>
        </p:nvSpPr>
        <p:spPr>
          <a:xfrm>
            <a:off x="167893" y="1209247"/>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7" name="Rectangle 2">
            <a:extLst>
              <a:ext uri="{FF2B5EF4-FFF2-40B4-BE49-F238E27FC236}">
                <a16:creationId xmlns:a16="http://schemas.microsoft.com/office/drawing/2014/main" id="{9601FDCB-FD95-485D-9D28-5F2347585C41}"/>
              </a:ext>
            </a:extLst>
          </p:cNvPr>
          <p:cNvSpPr txBox="1">
            <a:spLocks noChangeArrowheads="1"/>
          </p:cNvSpPr>
          <p:nvPr/>
        </p:nvSpPr>
        <p:spPr>
          <a:xfrm>
            <a:off x="167891" y="1754458"/>
            <a:ext cx="10767669" cy="954107"/>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enum</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枚举类型名 </a:t>
            </a: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枚举元素列表 </a:t>
            </a:r>
            <a:r>
              <a:rPr lang="en-US" altLang="zh-CN" b="1" dirty="0">
                <a:solidFill>
                  <a:srgbClr val="FF0000"/>
                </a:solidFill>
              </a:rPr>
              <a:t>}</a:t>
            </a:r>
            <a:r>
              <a:rPr lang="zh-CN" altLang="en-US" b="1" dirty="0">
                <a:solidFill>
                  <a:srgbClr val="FF0000"/>
                </a:solidFill>
              </a:rPr>
              <a:t>；</a:t>
            </a:r>
            <a:endParaRPr lang="en-US" altLang="zh-CN" b="1" dirty="0">
              <a:solidFill>
                <a:srgbClr val="FF0000"/>
              </a:solidFill>
            </a:endParaRP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enum</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枚举类型名</a:t>
            </a:r>
            <a:r>
              <a:rPr lang="zh-CN" altLang="en-US" b="1" dirty="0">
                <a:solidFill>
                  <a:srgbClr val="FF0000"/>
                </a:solidFill>
              </a:rPr>
              <a:t> </a:t>
            </a:r>
            <a:r>
              <a:rPr lang="zh-CN" altLang="en-US" b="1" dirty="0">
                <a:latin typeface="华文隶书" panose="02010800040101010101" pitchFamily="2" charset="-122"/>
                <a:ea typeface="华文隶书" panose="02010800040101010101" pitchFamily="2" charset="-122"/>
              </a:rPr>
              <a:t>枚举变量列表</a:t>
            </a:r>
            <a:r>
              <a:rPr lang="zh-CN" altLang="en-US" b="1" dirty="0">
                <a:solidFill>
                  <a:srgbClr val="FF0000"/>
                </a:solidFill>
              </a:rPr>
              <a:t>；</a:t>
            </a:r>
            <a:endParaRPr lang="en-US" altLang="zh-CN" b="1" dirty="0">
              <a:solidFill>
                <a:srgbClr val="FF0000"/>
              </a:solidFill>
            </a:endParaRPr>
          </a:p>
        </p:txBody>
      </p:sp>
      <p:sp>
        <p:nvSpPr>
          <p:cNvPr id="8" name="矩形 7">
            <a:extLst>
              <a:ext uri="{FF2B5EF4-FFF2-40B4-BE49-F238E27FC236}">
                <a16:creationId xmlns:a16="http://schemas.microsoft.com/office/drawing/2014/main" id="{3C3004AD-27D4-4683-AA38-B9B90BBCC550}"/>
              </a:ext>
            </a:extLst>
          </p:cNvPr>
          <p:cNvSpPr/>
          <p:nvPr/>
        </p:nvSpPr>
        <p:spPr>
          <a:xfrm>
            <a:off x="85142" y="2827481"/>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10" name="Rectangle 2">
            <a:extLst>
              <a:ext uri="{FF2B5EF4-FFF2-40B4-BE49-F238E27FC236}">
                <a16:creationId xmlns:a16="http://schemas.microsoft.com/office/drawing/2014/main" id="{54F6B145-E366-49FE-9472-71343B9B2326}"/>
              </a:ext>
            </a:extLst>
          </p:cNvPr>
          <p:cNvSpPr txBox="1">
            <a:spLocks noChangeArrowheads="1"/>
          </p:cNvSpPr>
          <p:nvPr/>
        </p:nvSpPr>
        <p:spPr>
          <a:xfrm>
            <a:off x="167892" y="3262757"/>
            <a:ext cx="10767669" cy="954107"/>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enum</a:t>
            </a:r>
            <a:r>
              <a:rPr lang="zh-CN" altLang="en-US" b="1" dirty="0">
                <a:solidFill>
                  <a:srgbClr val="0000FF"/>
                </a:solidFill>
                <a:latin typeface="Consolas" panose="020B0609020204030204" pitchFamily="49" charset="0"/>
                <a:ea typeface="华文隶书" panose="02010800040101010101" pitchFamily="2" charset="-122"/>
              </a:rPr>
              <a:t> </a:t>
            </a:r>
            <a:r>
              <a:rPr lang="en-US" altLang="zh-CN" b="1" dirty="0">
                <a:solidFill>
                  <a:srgbClr val="0070C0"/>
                </a:solidFill>
                <a:latin typeface="Consolas" panose="020B0609020204030204" pitchFamily="49" charset="0"/>
                <a:ea typeface="华文隶书" panose="02010800040101010101" pitchFamily="2" charset="-122"/>
              </a:rPr>
              <a:t>weekday </a:t>
            </a:r>
            <a:r>
              <a:rPr lang="en-US" altLang="zh-CN" b="1" dirty="0">
                <a:solidFill>
                  <a:srgbClr val="FF0000"/>
                </a:solidFill>
                <a:latin typeface="Consolas" panose="020B0609020204030204" pitchFamily="49" charset="0"/>
              </a:rPr>
              <a:t>{</a:t>
            </a:r>
            <a:r>
              <a:rPr lang="en-US" altLang="zh-CN" b="1" dirty="0">
                <a:latin typeface="Consolas" panose="020B0609020204030204" pitchFamily="49" charset="0"/>
                <a:ea typeface="华文隶书" panose="02010800040101010101" pitchFamily="2" charset="-122"/>
              </a:rPr>
              <a:t>Sun, Mon, Tue, Wed, Thu, Fri, Sat</a:t>
            </a:r>
            <a:r>
              <a:rPr lang="en-US" altLang="zh-CN" b="1" dirty="0">
                <a:solidFill>
                  <a:srgbClr val="FF0000"/>
                </a:solidFill>
                <a:latin typeface="Consolas" panose="020B0609020204030204" pitchFamily="49" charset="0"/>
              </a:rPr>
              <a:t>}</a:t>
            </a:r>
            <a:r>
              <a:rPr lang="zh-CN" altLang="en-US" b="1" dirty="0">
                <a:solidFill>
                  <a:srgbClr val="FF0000"/>
                </a:solidFill>
                <a:latin typeface="Consolas" panose="020B0609020204030204" pitchFamily="49" charset="0"/>
              </a:rPr>
              <a:t>；</a:t>
            </a:r>
            <a:endParaRPr lang="en-US" altLang="zh-CN" b="1" dirty="0">
              <a:solidFill>
                <a:srgbClr val="FF0000"/>
              </a:solidFill>
              <a:latin typeface="Consolas" panose="020B0609020204030204" pitchFamily="49" charset="0"/>
            </a:endParaRPr>
          </a:p>
          <a:p>
            <a:pPr marL="0" indent="0">
              <a:lnSpc>
                <a:spcPct val="100000"/>
              </a:lnSpc>
              <a:spcBef>
                <a:spcPct val="0"/>
              </a:spcBef>
              <a:buClr>
                <a:schemeClr val="tx2"/>
              </a:buClr>
              <a:buSzPct val="70000"/>
              <a:buNone/>
            </a:pPr>
            <a:r>
              <a:rPr lang="en-US" altLang="zh-CN" b="1" dirty="0">
                <a:solidFill>
                  <a:srgbClr val="3333FF"/>
                </a:solidFill>
                <a:latin typeface="Consolas" panose="020B0609020204030204" pitchFamily="49" charset="0"/>
              </a:rPr>
              <a:t>enum</a:t>
            </a:r>
            <a:r>
              <a:rPr lang="en-US" altLang="zh-CN" b="1" dirty="0">
                <a:solidFill>
                  <a:srgbClr val="FF0000"/>
                </a:solidFill>
                <a:latin typeface="Consolas" panose="020B0609020204030204" pitchFamily="49" charset="0"/>
              </a:rPr>
              <a:t> </a:t>
            </a:r>
            <a:r>
              <a:rPr lang="en-US" altLang="zh-CN" b="1" dirty="0">
                <a:solidFill>
                  <a:srgbClr val="0070C0"/>
                </a:solidFill>
                <a:latin typeface="Consolas" panose="020B0609020204030204" pitchFamily="49" charset="0"/>
              </a:rPr>
              <a:t>weekday</a:t>
            </a:r>
            <a:r>
              <a:rPr lang="en-US" altLang="zh-CN" b="1" dirty="0">
                <a:solidFill>
                  <a:srgbClr val="FF0000"/>
                </a:solidFill>
                <a:latin typeface="Consolas" panose="020B0609020204030204" pitchFamily="49" charset="0"/>
              </a:rPr>
              <a:t> </a:t>
            </a:r>
            <a:r>
              <a:rPr lang="en-US" altLang="zh-CN" b="1" dirty="0">
                <a:latin typeface="Consolas" panose="020B0609020204030204" pitchFamily="49" charset="0"/>
              </a:rPr>
              <a:t>workday;</a:t>
            </a:r>
          </a:p>
        </p:txBody>
      </p:sp>
      <p:sp>
        <p:nvSpPr>
          <p:cNvPr id="2" name="灯片编号占位符 1">
            <a:extLst>
              <a:ext uri="{FF2B5EF4-FFF2-40B4-BE49-F238E27FC236}">
                <a16:creationId xmlns:a16="http://schemas.microsoft.com/office/drawing/2014/main" id="{AEF26A51-C386-4DA6-8633-B944968F333C}"/>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33</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20733863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18ED4B2-6ADA-4062-8ED6-33618FE2C1A3}"/>
              </a:ext>
            </a:extLst>
          </p:cNvPr>
          <p:cNvSpPr txBox="1"/>
          <p:nvPr/>
        </p:nvSpPr>
        <p:spPr>
          <a:xfrm>
            <a:off x="2399085"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枚举变量定义</a:t>
            </a:r>
            <a:endParaRPr lang="zh-CN" altLang="en-US" sz="3200" b="1" dirty="0">
              <a:solidFill>
                <a:srgbClr val="200AC4"/>
              </a:solidFill>
              <a:ea typeface="隶书" pitchFamily="49" charset="-122"/>
            </a:endParaRPr>
          </a:p>
        </p:txBody>
      </p:sp>
      <p:sp>
        <p:nvSpPr>
          <p:cNvPr id="5" name="矩形 4">
            <a:extLst>
              <a:ext uri="{FF2B5EF4-FFF2-40B4-BE49-F238E27FC236}">
                <a16:creationId xmlns:a16="http://schemas.microsoft.com/office/drawing/2014/main" id="{3F84B079-BA89-4B4E-8940-A4FF8064DA8F}"/>
              </a:ext>
            </a:extLst>
          </p:cNvPr>
          <p:cNvSpPr/>
          <p:nvPr/>
        </p:nvSpPr>
        <p:spPr>
          <a:xfrm>
            <a:off x="0" y="611934"/>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2. </a:t>
            </a:r>
            <a:r>
              <a:rPr lang="zh-CN" altLang="en-US" sz="2800" b="1" dirty="0">
                <a:solidFill>
                  <a:srgbClr val="00B0F0"/>
                </a:solidFill>
                <a:latin typeface="微软雅黑" panose="020B0503020204020204" pitchFamily="34" charset="-122"/>
                <a:ea typeface="微软雅黑" panose="020B0503020204020204" pitchFamily="34" charset="-122"/>
              </a:rPr>
              <a:t>定义枚举类型的同时定义枚举变量</a:t>
            </a:r>
            <a:endParaRPr lang="en-US" altLang="zh-CN" sz="3200" b="1" dirty="0">
              <a:latin typeface="隶书" panose="02010509060101010101" pitchFamily="49" charset="-122"/>
              <a:ea typeface="隶书" panose="02010509060101010101" pitchFamily="49" charset="-122"/>
            </a:endParaRPr>
          </a:p>
        </p:txBody>
      </p:sp>
      <p:sp>
        <p:nvSpPr>
          <p:cNvPr id="6" name="矩形 5">
            <a:extLst>
              <a:ext uri="{FF2B5EF4-FFF2-40B4-BE49-F238E27FC236}">
                <a16:creationId xmlns:a16="http://schemas.microsoft.com/office/drawing/2014/main" id="{20FD8CF3-F5BE-4DCD-BBA9-34BA66B57AF8}"/>
              </a:ext>
            </a:extLst>
          </p:cNvPr>
          <p:cNvSpPr/>
          <p:nvPr/>
        </p:nvSpPr>
        <p:spPr>
          <a:xfrm>
            <a:off x="167893" y="1209247"/>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7" name="Rectangle 2">
            <a:extLst>
              <a:ext uri="{FF2B5EF4-FFF2-40B4-BE49-F238E27FC236}">
                <a16:creationId xmlns:a16="http://schemas.microsoft.com/office/drawing/2014/main" id="{9601FDCB-FD95-485D-9D28-5F2347585C41}"/>
              </a:ext>
            </a:extLst>
          </p:cNvPr>
          <p:cNvSpPr txBox="1">
            <a:spLocks noChangeArrowheads="1"/>
          </p:cNvSpPr>
          <p:nvPr/>
        </p:nvSpPr>
        <p:spPr>
          <a:xfrm>
            <a:off x="167891" y="1754458"/>
            <a:ext cx="11363478"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enum</a:t>
            </a:r>
            <a:r>
              <a:rPr lang="zh-CN" altLang="en-US" b="1" dirty="0">
                <a:solidFill>
                  <a:srgbClr val="0000FF"/>
                </a:solidFill>
                <a:latin typeface="华文隶书" panose="02010800040101010101" pitchFamily="2" charset="-122"/>
                <a:ea typeface="华文隶书" panose="02010800040101010101" pitchFamily="2" charset="-122"/>
              </a:rPr>
              <a:t> </a:t>
            </a:r>
            <a:r>
              <a:rPr lang="zh-CN" altLang="en-US" b="1" dirty="0">
                <a:solidFill>
                  <a:srgbClr val="0070C0"/>
                </a:solidFill>
                <a:latin typeface="华文中宋" panose="02010600040101010101" pitchFamily="2" charset="-122"/>
                <a:ea typeface="华文中宋" panose="02010600040101010101" pitchFamily="2" charset="-122"/>
              </a:rPr>
              <a:t>枚举类型名 </a:t>
            </a: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枚举元素列表 </a:t>
            </a: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枚举变量列表</a:t>
            </a:r>
            <a:r>
              <a:rPr lang="zh-CN" altLang="en-US" b="1" dirty="0">
                <a:solidFill>
                  <a:srgbClr val="FF0000"/>
                </a:solidFill>
              </a:rPr>
              <a:t>；</a:t>
            </a:r>
            <a:endParaRPr lang="en-US" altLang="zh-CN" b="1" dirty="0">
              <a:solidFill>
                <a:srgbClr val="FF0000"/>
              </a:solidFill>
            </a:endParaRPr>
          </a:p>
        </p:txBody>
      </p:sp>
      <p:sp>
        <p:nvSpPr>
          <p:cNvPr id="8" name="矩形 7">
            <a:extLst>
              <a:ext uri="{FF2B5EF4-FFF2-40B4-BE49-F238E27FC236}">
                <a16:creationId xmlns:a16="http://schemas.microsoft.com/office/drawing/2014/main" id="{3C3004AD-27D4-4683-AA38-B9B90BBCC550}"/>
              </a:ext>
            </a:extLst>
          </p:cNvPr>
          <p:cNvSpPr/>
          <p:nvPr/>
        </p:nvSpPr>
        <p:spPr>
          <a:xfrm>
            <a:off x="85142" y="2827481"/>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10" name="Rectangle 2">
            <a:extLst>
              <a:ext uri="{FF2B5EF4-FFF2-40B4-BE49-F238E27FC236}">
                <a16:creationId xmlns:a16="http://schemas.microsoft.com/office/drawing/2014/main" id="{54F6B145-E366-49FE-9472-71343B9B2326}"/>
              </a:ext>
            </a:extLst>
          </p:cNvPr>
          <p:cNvSpPr txBox="1">
            <a:spLocks noChangeArrowheads="1"/>
          </p:cNvSpPr>
          <p:nvPr/>
        </p:nvSpPr>
        <p:spPr>
          <a:xfrm>
            <a:off x="167892" y="3262757"/>
            <a:ext cx="11363478"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enum</a:t>
            </a:r>
            <a:r>
              <a:rPr lang="zh-CN" altLang="en-US" b="1" dirty="0">
                <a:solidFill>
                  <a:srgbClr val="0000FF"/>
                </a:solidFill>
                <a:latin typeface="Consolas" panose="020B0609020204030204" pitchFamily="49" charset="0"/>
                <a:ea typeface="华文隶书" panose="02010800040101010101" pitchFamily="2" charset="-122"/>
              </a:rPr>
              <a:t> </a:t>
            </a:r>
            <a:r>
              <a:rPr lang="en-US" altLang="zh-CN" b="1" dirty="0">
                <a:solidFill>
                  <a:srgbClr val="0070C0"/>
                </a:solidFill>
                <a:latin typeface="Consolas" panose="020B0609020204030204" pitchFamily="49" charset="0"/>
                <a:ea typeface="华文隶书" panose="02010800040101010101" pitchFamily="2" charset="-122"/>
              </a:rPr>
              <a:t>weekday </a:t>
            </a:r>
            <a:r>
              <a:rPr lang="en-US" altLang="zh-CN" b="1" dirty="0">
                <a:solidFill>
                  <a:srgbClr val="FF0000"/>
                </a:solidFill>
                <a:latin typeface="Consolas" panose="020B0609020204030204" pitchFamily="49" charset="0"/>
              </a:rPr>
              <a:t>{</a:t>
            </a:r>
            <a:r>
              <a:rPr lang="en-US" altLang="zh-CN" b="1" dirty="0">
                <a:latin typeface="Consolas" panose="020B0609020204030204" pitchFamily="49" charset="0"/>
                <a:ea typeface="华文隶书" panose="02010800040101010101" pitchFamily="2" charset="-122"/>
              </a:rPr>
              <a:t>Sun, Mon, Tue, Wed, Thu, Fri, Sat</a:t>
            </a:r>
            <a:r>
              <a:rPr lang="en-US" altLang="zh-CN" b="1" dirty="0">
                <a:solidFill>
                  <a:srgbClr val="FF0000"/>
                </a:solidFill>
                <a:latin typeface="Consolas" panose="020B0609020204030204" pitchFamily="49" charset="0"/>
              </a:rPr>
              <a:t>} </a:t>
            </a:r>
            <a:r>
              <a:rPr lang="en-US" altLang="zh-CN" b="1" dirty="0">
                <a:latin typeface="Consolas" panose="020B0609020204030204" pitchFamily="49" charset="0"/>
              </a:rPr>
              <a:t>workday;</a:t>
            </a:r>
          </a:p>
        </p:txBody>
      </p:sp>
      <p:sp>
        <p:nvSpPr>
          <p:cNvPr id="2" name="灯片编号占位符 1">
            <a:extLst>
              <a:ext uri="{FF2B5EF4-FFF2-40B4-BE49-F238E27FC236}">
                <a16:creationId xmlns:a16="http://schemas.microsoft.com/office/drawing/2014/main" id="{B0146285-3597-4215-B122-80EB18386656}"/>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34</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6009991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18ED4B2-6ADA-4062-8ED6-33618FE2C1A3}"/>
              </a:ext>
            </a:extLst>
          </p:cNvPr>
          <p:cNvSpPr txBox="1"/>
          <p:nvPr/>
        </p:nvSpPr>
        <p:spPr>
          <a:xfrm>
            <a:off x="2399085"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枚举变量定义</a:t>
            </a:r>
            <a:endParaRPr lang="zh-CN" altLang="en-US" sz="3200" b="1" dirty="0">
              <a:solidFill>
                <a:srgbClr val="200AC4"/>
              </a:solidFill>
              <a:ea typeface="隶书" pitchFamily="49" charset="-122"/>
            </a:endParaRPr>
          </a:p>
        </p:txBody>
      </p:sp>
      <p:sp>
        <p:nvSpPr>
          <p:cNvPr id="5" name="矩形 4">
            <a:extLst>
              <a:ext uri="{FF2B5EF4-FFF2-40B4-BE49-F238E27FC236}">
                <a16:creationId xmlns:a16="http://schemas.microsoft.com/office/drawing/2014/main" id="{3F84B079-BA89-4B4E-8940-A4FF8064DA8F}"/>
              </a:ext>
            </a:extLst>
          </p:cNvPr>
          <p:cNvSpPr/>
          <p:nvPr/>
        </p:nvSpPr>
        <p:spPr>
          <a:xfrm>
            <a:off x="0" y="611934"/>
            <a:ext cx="11709066" cy="523220"/>
          </a:xfrm>
          <a:prstGeom prst="rect">
            <a:avLst/>
          </a:prstGeom>
        </p:spPr>
        <p:txBody>
          <a:bodyPr wrap="square">
            <a:spAutoFit/>
          </a:bodyPr>
          <a:lstStyle/>
          <a:p>
            <a:pPr marL="0" lvl="1"/>
            <a:r>
              <a:rPr lang="en-US" altLang="zh-CN" sz="2800" b="1" dirty="0">
                <a:solidFill>
                  <a:srgbClr val="00B0F0"/>
                </a:solidFill>
                <a:latin typeface="微软雅黑" panose="020B0503020204020204" pitchFamily="34" charset="-122"/>
                <a:ea typeface="微软雅黑" panose="020B0503020204020204" pitchFamily="34" charset="-122"/>
              </a:rPr>
              <a:t>3. </a:t>
            </a:r>
            <a:r>
              <a:rPr lang="zh-CN" altLang="en-US" sz="2800" b="1" dirty="0">
                <a:solidFill>
                  <a:srgbClr val="00B0F0"/>
                </a:solidFill>
                <a:latin typeface="微软雅黑" panose="020B0503020204020204" pitchFamily="34" charset="-122"/>
                <a:ea typeface="微软雅黑" panose="020B0503020204020204" pitchFamily="34" charset="-122"/>
              </a:rPr>
              <a:t>定义匿名枚举类型的同时定义枚举变量</a:t>
            </a:r>
            <a:endParaRPr lang="en-US" altLang="zh-CN" sz="3200" b="1" dirty="0">
              <a:latin typeface="隶书" panose="02010509060101010101" pitchFamily="49" charset="-122"/>
              <a:ea typeface="隶书" panose="02010509060101010101" pitchFamily="49" charset="-122"/>
            </a:endParaRPr>
          </a:p>
        </p:txBody>
      </p:sp>
      <p:sp>
        <p:nvSpPr>
          <p:cNvPr id="6" name="矩形 5">
            <a:extLst>
              <a:ext uri="{FF2B5EF4-FFF2-40B4-BE49-F238E27FC236}">
                <a16:creationId xmlns:a16="http://schemas.microsoft.com/office/drawing/2014/main" id="{20FD8CF3-F5BE-4DCD-BBA9-34BA66B57AF8}"/>
              </a:ext>
            </a:extLst>
          </p:cNvPr>
          <p:cNvSpPr/>
          <p:nvPr/>
        </p:nvSpPr>
        <p:spPr>
          <a:xfrm>
            <a:off x="167893" y="1209247"/>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一般形式如下：</a:t>
            </a:r>
          </a:p>
        </p:txBody>
      </p:sp>
      <p:sp>
        <p:nvSpPr>
          <p:cNvPr id="7" name="Rectangle 2">
            <a:extLst>
              <a:ext uri="{FF2B5EF4-FFF2-40B4-BE49-F238E27FC236}">
                <a16:creationId xmlns:a16="http://schemas.microsoft.com/office/drawing/2014/main" id="{9601FDCB-FD95-485D-9D28-5F2347585C41}"/>
              </a:ext>
            </a:extLst>
          </p:cNvPr>
          <p:cNvSpPr txBox="1">
            <a:spLocks noChangeArrowheads="1"/>
          </p:cNvSpPr>
          <p:nvPr/>
        </p:nvSpPr>
        <p:spPr>
          <a:xfrm>
            <a:off x="167891" y="1754458"/>
            <a:ext cx="11363478"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enum</a:t>
            </a:r>
            <a:r>
              <a:rPr lang="zh-CN" altLang="en-US" b="1" dirty="0">
                <a:solidFill>
                  <a:srgbClr val="0000FF"/>
                </a:solidFill>
                <a:latin typeface="华文隶书" panose="02010800040101010101" pitchFamily="2" charset="-122"/>
                <a:ea typeface="华文隶书" panose="02010800040101010101" pitchFamily="2" charset="-122"/>
              </a:rPr>
              <a:t> </a:t>
            </a:r>
            <a:r>
              <a:rPr lang="en-US" altLang="zh-CN" b="1" dirty="0">
                <a:solidFill>
                  <a:srgbClr val="FF0000"/>
                </a:solidFill>
              </a:rPr>
              <a:t>{</a:t>
            </a:r>
            <a:r>
              <a:rPr lang="zh-CN" altLang="en-US" b="1" dirty="0">
                <a:latin typeface="华文隶书" panose="02010800040101010101" pitchFamily="2" charset="-122"/>
                <a:ea typeface="华文隶书" panose="02010800040101010101" pitchFamily="2" charset="-122"/>
              </a:rPr>
              <a:t>枚举元素列表 </a:t>
            </a:r>
            <a:r>
              <a:rPr lang="en-US" altLang="zh-CN" b="1" dirty="0">
                <a:solidFill>
                  <a:srgbClr val="FF0000"/>
                </a:solidFill>
              </a:rPr>
              <a:t>} </a:t>
            </a:r>
            <a:r>
              <a:rPr lang="zh-CN" altLang="en-US" b="1" dirty="0">
                <a:latin typeface="华文隶书" panose="02010800040101010101" pitchFamily="2" charset="-122"/>
                <a:ea typeface="华文隶书" panose="02010800040101010101" pitchFamily="2" charset="-122"/>
              </a:rPr>
              <a:t>枚举变量列表</a:t>
            </a:r>
            <a:r>
              <a:rPr lang="zh-CN" altLang="en-US" b="1" dirty="0">
                <a:solidFill>
                  <a:srgbClr val="FF0000"/>
                </a:solidFill>
              </a:rPr>
              <a:t>；</a:t>
            </a:r>
            <a:endParaRPr lang="en-US" altLang="zh-CN" b="1" dirty="0">
              <a:solidFill>
                <a:srgbClr val="FF0000"/>
              </a:solidFill>
            </a:endParaRPr>
          </a:p>
        </p:txBody>
      </p:sp>
      <p:sp>
        <p:nvSpPr>
          <p:cNvPr id="8" name="矩形 7">
            <a:extLst>
              <a:ext uri="{FF2B5EF4-FFF2-40B4-BE49-F238E27FC236}">
                <a16:creationId xmlns:a16="http://schemas.microsoft.com/office/drawing/2014/main" id="{3C3004AD-27D4-4683-AA38-B9B90BBCC550}"/>
              </a:ext>
            </a:extLst>
          </p:cNvPr>
          <p:cNvSpPr/>
          <p:nvPr/>
        </p:nvSpPr>
        <p:spPr>
          <a:xfrm>
            <a:off x="85142" y="2827481"/>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10" name="Rectangle 2">
            <a:extLst>
              <a:ext uri="{FF2B5EF4-FFF2-40B4-BE49-F238E27FC236}">
                <a16:creationId xmlns:a16="http://schemas.microsoft.com/office/drawing/2014/main" id="{54F6B145-E366-49FE-9472-71343B9B2326}"/>
              </a:ext>
            </a:extLst>
          </p:cNvPr>
          <p:cNvSpPr txBox="1">
            <a:spLocks noChangeArrowheads="1"/>
          </p:cNvSpPr>
          <p:nvPr/>
        </p:nvSpPr>
        <p:spPr>
          <a:xfrm>
            <a:off x="167892" y="3262757"/>
            <a:ext cx="11363478"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enum</a:t>
            </a:r>
            <a:r>
              <a:rPr lang="zh-CN" altLang="en-US" b="1" dirty="0">
                <a:solidFill>
                  <a:srgbClr val="0000FF"/>
                </a:solidFill>
                <a:latin typeface="Consolas" panose="020B0609020204030204" pitchFamily="49" charset="0"/>
                <a:ea typeface="华文隶书" panose="02010800040101010101" pitchFamily="2" charset="-122"/>
              </a:rPr>
              <a:t> </a:t>
            </a:r>
            <a:r>
              <a:rPr lang="en-US" altLang="zh-CN" b="1" dirty="0">
                <a:solidFill>
                  <a:srgbClr val="FF0000"/>
                </a:solidFill>
                <a:latin typeface="Consolas" panose="020B0609020204030204" pitchFamily="49" charset="0"/>
              </a:rPr>
              <a:t>{</a:t>
            </a:r>
            <a:r>
              <a:rPr lang="en-US" altLang="zh-CN" b="1" dirty="0">
                <a:latin typeface="Consolas" panose="020B0609020204030204" pitchFamily="49" charset="0"/>
                <a:ea typeface="华文隶书" panose="02010800040101010101" pitchFamily="2" charset="-122"/>
              </a:rPr>
              <a:t>Sun, Mon, Tue, Wed, Thu, Fri, Sat</a:t>
            </a:r>
            <a:r>
              <a:rPr lang="en-US" altLang="zh-CN" b="1" dirty="0">
                <a:solidFill>
                  <a:srgbClr val="FF0000"/>
                </a:solidFill>
                <a:latin typeface="Consolas" panose="020B0609020204030204" pitchFamily="49" charset="0"/>
              </a:rPr>
              <a:t>} </a:t>
            </a:r>
            <a:r>
              <a:rPr lang="en-US" altLang="zh-CN" b="1" dirty="0">
                <a:latin typeface="Consolas" panose="020B0609020204030204" pitchFamily="49" charset="0"/>
              </a:rPr>
              <a:t>workday;</a:t>
            </a:r>
          </a:p>
        </p:txBody>
      </p:sp>
      <p:sp>
        <p:nvSpPr>
          <p:cNvPr id="2" name="灯片编号占位符 1">
            <a:extLst>
              <a:ext uri="{FF2B5EF4-FFF2-40B4-BE49-F238E27FC236}">
                <a16:creationId xmlns:a16="http://schemas.microsoft.com/office/drawing/2014/main" id="{32E1F3BD-DA24-480E-B6C4-C9D6BAF415CE}"/>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35</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4066142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18ED4B2-6ADA-4062-8ED6-33618FE2C1A3}"/>
              </a:ext>
            </a:extLst>
          </p:cNvPr>
          <p:cNvSpPr txBox="1"/>
          <p:nvPr/>
        </p:nvSpPr>
        <p:spPr>
          <a:xfrm>
            <a:off x="2399085"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枚举变量引用</a:t>
            </a:r>
            <a:endParaRPr lang="zh-CN" altLang="en-US" sz="3200" b="1" dirty="0">
              <a:solidFill>
                <a:srgbClr val="200AC4"/>
              </a:solidFill>
              <a:ea typeface="隶书" pitchFamily="49" charset="-122"/>
            </a:endParaRPr>
          </a:p>
        </p:txBody>
      </p:sp>
      <p:sp>
        <p:nvSpPr>
          <p:cNvPr id="9" name="Text Box 88">
            <a:extLst>
              <a:ext uri="{FF2B5EF4-FFF2-40B4-BE49-F238E27FC236}">
                <a16:creationId xmlns:a16="http://schemas.microsoft.com/office/drawing/2014/main" id="{78B7FEB0-F296-4C07-9819-9C524AD05FBD}"/>
              </a:ext>
            </a:extLst>
          </p:cNvPr>
          <p:cNvSpPr txBox="1">
            <a:spLocks noChangeArrowheads="1"/>
          </p:cNvSpPr>
          <p:nvPr/>
        </p:nvSpPr>
        <p:spPr bwMode="auto">
          <a:xfrm>
            <a:off x="0" y="616139"/>
            <a:ext cx="1219200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dirty="0">
                <a:latin typeface="+mn-ea"/>
                <a:ea typeface="+mn-ea"/>
              </a:rPr>
              <a:t>定义枚举类型的变量后，就可以对该变量直接赋予枚举元素的值。</a:t>
            </a:r>
          </a:p>
        </p:txBody>
      </p:sp>
      <p:sp>
        <p:nvSpPr>
          <p:cNvPr id="11" name="矩形 10">
            <a:extLst>
              <a:ext uri="{FF2B5EF4-FFF2-40B4-BE49-F238E27FC236}">
                <a16:creationId xmlns:a16="http://schemas.microsoft.com/office/drawing/2014/main" id="{FEC2BD6F-10C8-40B5-B32E-4F9574D04101}"/>
              </a:ext>
            </a:extLst>
          </p:cNvPr>
          <p:cNvSpPr/>
          <p:nvPr/>
        </p:nvSpPr>
        <p:spPr>
          <a:xfrm>
            <a:off x="43767" y="1193146"/>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12" name="Rectangle 2">
            <a:extLst>
              <a:ext uri="{FF2B5EF4-FFF2-40B4-BE49-F238E27FC236}">
                <a16:creationId xmlns:a16="http://schemas.microsoft.com/office/drawing/2014/main" id="{B5F82AFB-A4AF-48D4-AEEF-F17CEFF431EA}"/>
              </a:ext>
            </a:extLst>
          </p:cNvPr>
          <p:cNvSpPr txBox="1">
            <a:spLocks noChangeArrowheads="1"/>
          </p:cNvSpPr>
          <p:nvPr/>
        </p:nvSpPr>
        <p:spPr>
          <a:xfrm>
            <a:off x="126517" y="1628422"/>
            <a:ext cx="9998084" cy="138499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enum</a:t>
            </a:r>
            <a:r>
              <a:rPr lang="zh-CN" altLang="en-US" b="1" dirty="0">
                <a:solidFill>
                  <a:srgbClr val="0000FF"/>
                </a:solidFill>
                <a:latin typeface="Consolas" panose="020B0609020204030204" pitchFamily="49" charset="0"/>
                <a:ea typeface="华文隶书" panose="02010800040101010101" pitchFamily="2" charset="-122"/>
              </a:rPr>
              <a:t> </a:t>
            </a:r>
            <a:r>
              <a:rPr lang="en-US" altLang="zh-CN" b="1" dirty="0">
                <a:solidFill>
                  <a:srgbClr val="0000FF"/>
                </a:solidFill>
                <a:latin typeface="Consolas" panose="020B0609020204030204" pitchFamily="49" charset="0"/>
                <a:ea typeface="华文隶书" panose="02010800040101010101" pitchFamily="2" charset="-122"/>
              </a:rPr>
              <a:t>color</a:t>
            </a:r>
            <a:r>
              <a:rPr lang="en-US" altLang="zh-CN" b="1" dirty="0">
                <a:solidFill>
                  <a:srgbClr val="FF0000"/>
                </a:solidFill>
                <a:latin typeface="Consolas" panose="020B0609020204030204" pitchFamily="49" charset="0"/>
              </a:rPr>
              <a:t>{</a:t>
            </a:r>
            <a:r>
              <a:rPr lang="en-US" altLang="zh-CN" b="1" dirty="0">
                <a:latin typeface="Consolas" panose="020B0609020204030204" pitchFamily="49" charset="0"/>
                <a:ea typeface="华文隶书" panose="02010800040101010101" pitchFamily="2" charset="-122"/>
              </a:rPr>
              <a:t>Red, Green, Blue</a:t>
            </a:r>
            <a:r>
              <a:rPr lang="en-US" altLang="zh-CN" b="1" dirty="0">
                <a:solidFill>
                  <a:srgbClr val="FF0000"/>
                </a:solidFill>
                <a:latin typeface="Consolas" panose="020B0609020204030204" pitchFamily="49" charset="0"/>
              </a:rPr>
              <a:t>} </a:t>
            </a:r>
            <a:r>
              <a:rPr lang="en-US" altLang="zh-CN" b="1" dirty="0">
                <a:latin typeface="Consolas" panose="020B0609020204030204" pitchFamily="49" charset="0"/>
              </a:rPr>
              <a:t>color1, color2;</a:t>
            </a:r>
          </a:p>
          <a:p>
            <a:pPr marL="0" indent="0">
              <a:lnSpc>
                <a:spcPct val="100000"/>
              </a:lnSpc>
              <a:spcBef>
                <a:spcPct val="0"/>
              </a:spcBef>
              <a:buClr>
                <a:schemeClr val="tx2"/>
              </a:buClr>
              <a:buSzPct val="70000"/>
              <a:buNone/>
            </a:pPr>
            <a:r>
              <a:rPr lang="en-US" altLang="zh-CN" b="1" dirty="0">
                <a:latin typeface="Consolas" panose="020B0609020204030204" pitchFamily="49" charset="0"/>
              </a:rPr>
              <a:t>color1 = Blue;</a:t>
            </a:r>
          </a:p>
          <a:p>
            <a:pPr marL="0" indent="0">
              <a:lnSpc>
                <a:spcPct val="100000"/>
              </a:lnSpc>
              <a:spcBef>
                <a:spcPct val="0"/>
              </a:spcBef>
              <a:buClr>
                <a:schemeClr val="tx2"/>
              </a:buClr>
              <a:buSzPct val="70000"/>
              <a:buNone/>
            </a:pPr>
            <a:r>
              <a:rPr lang="en-US" altLang="zh-CN" b="1" dirty="0">
                <a:latin typeface="Consolas" panose="020B0609020204030204" pitchFamily="49" charset="0"/>
              </a:rPr>
              <a:t>color2 = Red;</a:t>
            </a:r>
          </a:p>
        </p:txBody>
      </p:sp>
      <p:grpSp>
        <p:nvGrpSpPr>
          <p:cNvPr id="13" name="组合 12">
            <a:extLst>
              <a:ext uri="{FF2B5EF4-FFF2-40B4-BE49-F238E27FC236}">
                <a16:creationId xmlns:a16="http://schemas.microsoft.com/office/drawing/2014/main" id="{C29A6805-7523-470D-A653-7C27A828B356}"/>
              </a:ext>
            </a:extLst>
          </p:cNvPr>
          <p:cNvGrpSpPr/>
          <p:nvPr/>
        </p:nvGrpSpPr>
        <p:grpSpPr>
          <a:xfrm>
            <a:off x="341350" y="3152434"/>
            <a:ext cx="11756866" cy="2741393"/>
            <a:chOff x="0" y="4812040"/>
            <a:chExt cx="12008170" cy="2741393"/>
          </a:xfrm>
        </p:grpSpPr>
        <p:sp>
          <p:nvSpPr>
            <p:cNvPr id="14" name="Text Box 88">
              <a:extLst>
                <a:ext uri="{FF2B5EF4-FFF2-40B4-BE49-F238E27FC236}">
                  <a16:creationId xmlns:a16="http://schemas.microsoft.com/office/drawing/2014/main" id="{B7A03AC8-C82B-4EC0-A250-42B8BAAEF47E}"/>
                </a:ext>
              </a:extLst>
            </p:cNvPr>
            <p:cNvSpPr txBox="1">
              <a:spLocks noChangeArrowheads="1"/>
            </p:cNvSpPr>
            <p:nvPr/>
          </p:nvSpPr>
          <p:spPr bwMode="auto">
            <a:xfrm>
              <a:off x="2" y="4812040"/>
              <a:ext cx="12008168" cy="2741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使用枚举类型时应注意以下几点</a:t>
              </a:r>
              <a:r>
                <a:rPr kumimoji="1" lang="en-US" altLang="zh-CN" sz="2400" dirty="0">
                  <a:solidFill>
                    <a:srgbClr val="3333FF"/>
                  </a:solidFill>
                  <a:ea typeface="隶书" pitchFamily="49" charset="-122"/>
                </a:rPr>
                <a:t>: </a:t>
              </a:r>
            </a:p>
            <a:p>
              <a:pPr marL="720000" indent="-457200">
                <a:buFont typeface="+mj-ea"/>
                <a:buAutoNum type="circleNumDbPlain"/>
              </a:pPr>
              <a:r>
                <a:rPr kumimoji="1" lang="zh-CN" altLang="en-US" sz="2400" dirty="0">
                  <a:solidFill>
                    <a:srgbClr val="3333FF"/>
                  </a:solidFill>
                  <a:latin typeface="隶书" pitchFamily="49" charset="-122"/>
                  <a:ea typeface="隶书" pitchFamily="49" charset="-122"/>
                </a:rPr>
                <a:t>枚举元素是符号常量，其值不能通过赋值或输入获得，只能在定义枚举类型时指定</a:t>
              </a:r>
              <a:r>
                <a:rPr kumimoji="1" lang="zh-CN" altLang="en-US" sz="2400" dirty="0">
                  <a:solidFill>
                    <a:srgbClr val="3333FF"/>
                  </a:solidFill>
                  <a:ea typeface="隶书" pitchFamily="49" charset="-122"/>
                </a:rPr>
                <a:t>。</a:t>
              </a:r>
              <a:endParaRPr kumimoji="1" lang="en-US" altLang="zh-CN" sz="2400" dirty="0">
                <a:solidFill>
                  <a:srgbClr val="3333FF"/>
                </a:solidFill>
                <a:ea typeface="隶书" pitchFamily="49" charset="-122"/>
              </a:endParaRPr>
            </a:p>
            <a:p>
              <a:pPr marL="720000" indent="-457200">
                <a:buFont typeface="+mj-ea"/>
                <a:buAutoNum type="circleNumDbPlain"/>
              </a:pPr>
              <a:r>
                <a:rPr kumimoji="1" lang="zh-CN" altLang="en-US" sz="2400" dirty="0">
                  <a:solidFill>
                    <a:srgbClr val="3333FF"/>
                  </a:solidFill>
                  <a:latin typeface="等线" panose="02010600030101010101" pitchFamily="2" charset="-122"/>
                  <a:ea typeface="隶书" pitchFamily="49" charset="-122"/>
                </a:rPr>
                <a:t>只能将枚举元素赋值给枚举变量，不能将枚举元素对应的整数值直接赋值给枚举变量。如果需要将整数值赋值给枚举变量，必须使用强制类型转换。</a:t>
              </a:r>
              <a:endParaRPr kumimoji="1" lang="en-US" altLang="zh-CN" sz="2400" dirty="0">
                <a:solidFill>
                  <a:srgbClr val="3333FF"/>
                </a:solidFill>
                <a:latin typeface="等线" panose="02010600030101010101" pitchFamily="2" charset="-122"/>
                <a:ea typeface="隶书" pitchFamily="49" charset="-122"/>
              </a:endParaRPr>
            </a:p>
            <a:p>
              <a:pPr marL="720000" indent="-457200">
                <a:buFont typeface="+mj-ea"/>
                <a:buAutoNum type="circleNumDbPlain"/>
              </a:pPr>
              <a:r>
                <a:rPr kumimoji="1" lang="zh-CN" altLang="en-US" sz="2400" dirty="0">
                  <a:solidFill>
                    <a:srgbClr val="3333FF"/>
                  </a:solidFill>
                  <a:latin typeface="等线" panose="02010600030101010101" pitchFamily="2" charset="-122"/>
                  <a:ea typeface="隶书" pitchFamily="49" charset="-122"/>
                </a:rPr>
                <a:t>枚举变量可以参与算术运算。</a:t>
              </a:r>
              <a:endParaRPr kumimoji="1" lang="en-US" altLang="zh-CN" sz="2400" dirty="0">
                <a:solidFill>
                  <a:srgbClr val="3333FF"/>
                </a:solidFill>
                <a:latin typeface="等线" panose="02010600030101010101" pitchFamily="2" charset="-122"/>
                <a:ea typeface="隶书" pitchFamily="49" charset="-122"/>
              </a:endParaRPr>
            </a:p>
            <a:p>
              <a:pPr marL="720000" indent="-457200">
                <a:buFont typeface="+mj-ea"/>
                <a:buAutoNum type="circleNumDbPlain"/>
              </a:pPr>
              <a:r>
                <a:rPr kumimoji="1" lang="zh-CN" altLang="en-US" sz="2400" dirty="0">
                  <a:solidFill>
                    <a:srgbClr val="3333FF"/>
                  </a:solidFill>
                  <a:latin typeface="等线" panose="02010600030101010101" pitchFamily="2" charset="-122"/>
                  <a:ea typeface="隶书" pitchFamily="49" charset="-122"/>
                </a:rPr>
                <a:t>枚举变量可以与枚举元素、同类型的枚举变量之间进行比较运算。</a:t>
              </a:r>
              <a:endParaRPr kumimoji="1" lang="en-US" altLang="zh-CN" sz="2400" dirty="0">
                <a:solidFill>
                  <a:srgbClr val="3333FF"/>
                </a:solidFill>
                <a:latin typeface="等线" panose="02010600030101010101" pitchFamily="2" charset="-122"/>
                <a:ea typeface="隶书" pitchFamily="49" charset="-122"/>
              </a:endParaRPr>
            </a:p>
          </p:txBody>
        </p:sp>
        <p:pic>
          <p:nvPicPr>
            <p:cNvPr id="15" name="图片 14">
              <a:extLst>
                <a:ext uri="{FF2B5EF4-FFF2-40B4-BE49-F238E27FC236}">
                  <a16:creationId xmlns:a16="http://schemas.microsoft.com/office/drawing/2014/main" id="{09F11B5E-AABF-49B9-9A14-E57E1662796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0" y="4867312"/>
              <a:ext cx="514926" cy="442321"/>
            </a:xfrm>
            <a:prstGeom prst="rect">
              <a:avLst/>
            </a:prstGeom>
          </p:spPr>
        </p:pic>
      </p:grpSp>
      <p:sp>
        <p:nvSpPr>
          <p:cNvPr id="2" name="灯片编号占位符 1">
            <a:extLst>
              <a:ext uri="{FF2B5EF4-FFF2-40B4-BE49-F238E27FC236}">
                <a16:creationId xmlns:a16="http://schemas.microsoft.com/office/drawing/2014/main" id="{4D196B19-61AA-47AA-8DB4-497FC8325F65}"/>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36</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2502490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30669D-5F94-4AC6-B0EA-F334AC089E14}"/>
              </a:ext>
            </a:extLst>
          </p:cNvPr>
          <p:cNvSpPr txBox="1"/>
          <p:nvPr/>
        </p:nvSpPr>
        <p:spPr>
          <a:xfrm>
            <a:off x="2399085" y="-30192"/>
            <a:ext cx="4096871" cy="646331"/>
          </a:xfrm>
          <a:prstGeom prst="rect">
            <a:avLst/>
          </a:prstGeom>
          <a:noFill/>
        </p:spPr>
        <p:txBody>
          <a:bodyPr wrap="square">
            <a:spAutoFit/>
          </a:bodyPr>
          <a:lstStyle/>
          <a:p>
            <a:pPr marL="0" indent="0">
              <a:spcBef>
                <a:spcPct val="0"/>
              </a:spcBef>
              <a:buClr>
                <a:schemeClr val="tx2"/>
              </a:buClr>
              <a:buSzPct val="70000"/>
              <a:buFont typeface="Arial" panose="020B0604020202020204" pitchFamily="34" charset="0"/>
              <a:buNone/>
            </a:pPr>
            <a:r>
              <a:rPr lang="zh-CN" altLang="en-US" sz="3200" b="1" dirty="0">
                <a:solidFill>
                  <a:srgbClr val="200AC4"/>
                </a:solidFill>
                <a:ea typeface="隶书" pitchFamily="49" charset="-122"/>
              </a:rPr>
              <a:t> </a:t>
            </a:r>
            <a:r>
              <a:rPr lang="zh-CN" altLang="en-US" sz="3600" b="1" dirty="0">
                <a:solidFill>
                  <a:srgbClr val="200AC4"/>
                </a:solidFill>
                <a:ea typeface="隶书" pitchFamily="49" charset="-122"/>
              </a:rPr>
              <a:t>枚举变量引用</a:t>
            </a:r>
            <a:endParaRPr lang="zh-CN" altLang="en-US" sz="3200" b="1" dirty="0">
              <a:solidFill>
                <a:srgbClr val="200AC4"/>
              </a:solidFill>
              <a:ea typeface="隶书" pitchFamily="49" charset="-122"/>
            </a:endParaRPr>
          </a:p>
        </p:txBody>
      </p:sp>
      <p:sp>
        <p:nvSpPr>
          <p:cNvPr id="4" name="矩形 3">
            <a:extLst>
              <a:ext uri="{FF2B5EF4-FFF2-40B4-BE49-F238E27FC236}">
                <a16:creationId xmlns:a16="http://schemas.microsoft.com/office/drawing/2014/main" id="{3D5A882E-FC04-44F8-9E7F-DC60B61ACDFD}"/>
              </a:ext>
            </a:extLst>
          </p:cNvPr>
          <p:cNvSpPr/>
          <p:nvPr/>
        </p:nvSpPr>
        <p:spPr>
          <a:xfrm>
            <a:off x="16777" y="608437"/>
            <a:ext cx="12175223" cy="461665"/>
          </a:xfrm>
          <a:prstGeom prst="rect">
            <a:avLst/>
          </a:prstGeom>
        </p:spPr>
        <p:txBody>
          <a:bodyPr wrap="square">
            <a:spAutoFit/>
          </a:bodyPr>
          <a:lstStyle/>
          <a:p>
            <a:pPr marL="0" lvl="1"/>
            <a:r>
              <a:rPr lang="zh-CN" altLang="en-US" sz="2400" b="1" dirty="0">
                <a:latin typeface="隶书" pitchFamily="49" charset="-122"/>
              </a:rPr>
              <a:t>例</a:t>
            </a:r>
            <a:r>
              <a:rPr lang="en-US" altLang="zh-CN" sz="2400" b="1" dirty="0">
                <a:latin typeface="隶书" pitchFamily="49" charset="-122"/>
              </a:rPr>
              <a:t>【</a:t>
            </a:r>
            <a:r>
              <a:rPr lang="en-US" altLang="zh-CN" sz="2400" b="1" dirty="0">
                <a:solidFill>
                  <a:srgbClr val="00B0F0"/>
                </a:solidFill>
                <a:latin typeface="隶书" pitchFamily="49" charset="-122"/>
              </a:rPr>
              <a:t>7-10</a:t>
            </a:r>
            <a:r>
              <a:rPr lang="en-US" altLang="zh-CN" sz="2400" b="1" dirty="0">
                <a:latin typeface="隶书" pitchFamily="49" charset="-122"/>
              </a:rPr>
              <a:t>】</a:t>
            </a:r>
            <a:r>
              <a:rPr lang="zh-CN" altLang="en-US" sz="2400" b="1" dirty="0">
                <a:latin typeface="隶书" pitchFamily="49" charset="-122"/>
              </a:rPr>
              <a:t>枚举类型及函数实现判断一个整数是否是素数。</a:t>
            </a:r>
          </a:p>
        </p:txBody>
      </p:sp>
      <p:sp>
        <p:nvSpPr>
          <p:cNvPr id="5" name="Rectangle 2">
            <a:extLst>
              <a:ext uri="{FF2B5EF4-FFF2-40B4-BE49-F238E27FC236}">
                <a16:creationId xmlns:a16="http://schemas.microsoft.com/office/drawing/2014/main" id="{8FF3C3CD-A28C-47DC-9ECB-96A43CE9D23B}"/>
              </a:ext>
            </a:extLst>
          </p:cNvPr>
          <p:cNvSpPr txBox="1">
            <a:spLocks noChangeArrowheads="1"/>
          </p:cNvSpPr>
          <p:nvPr/>
        </p:nvSpPr>
        <p:spPr>
          <a:xfrm>
            <a:off x="37994" y="1148309"/>
            <a:ext cx="4418154" cy="378565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Font typeface="Arial" panose="020B0604020202020204" pitchFamily="34" charset="0"/>
              <a:buNone/>
            </a:pPr>
            <a:r>
              <a:rPr lang="en-US" altLang="zh-CN" sz="2400" b="1" dirty="0">
                <a:solidFill>
                  <a:srgbClr val="0000FF"/>
                </a:solidFill>
                <a:latin typeface="Consolas" panose="020B0609020204030204" pitchFamily="49" charset="0"/>
              </a:rPr>
              <a:t>enum </a:t>
            </a:r>
            <a:r>
              <a:rPr lang="en-US" altLang="zh-CN" sz="2400" b="1" dirty="0">
                <a:solidFill>
                  <a:srgbClr val="0070C0"/>
                </a:solidFill>
                <a:latin typeface="Consolas" panose="020B0609020204030204" pitchFamily="49" charset="0"/>
              </a:rPr>
              <a:t>BOOL</a:t>
            </a:r>
            <a:r>
              <a:rPr lang="en-US" altLang="zh-CN" sz="2400" b="1" dirty="0">
                <a:latin typeface="Consolas" panose="020B0609020204030204" pitchFamily="49" charset="0"/>
              </a:rPr>
              <a:t> </a:t>
            </a:r>
            <a:r>
              <a:rPr lang="en-US" altLang="zh-CN" sz="2400" b="1" dirty="0">
                <a:solidFill>
                  <a:srgbClr val="FF0000"/>
                </a:solidFill>
                <a:latin typeface="Consolas" panose="020B0609020204030204" pitchFamily="49" charset="0"/>
              </a:rPr>
              <a:t>{</a:t>
            </a:r>
            <a:r>
              <a:rPr lang="en-US" altLang="zh-CN" sz="2400" b="1" dirty="0">
                <a:solidFill>
                  <a:srgbClr val="92D050"/>
                </a:solidFill>
                <a:latin typeface="Consolas" panose="020B0609020204030204" pitchFamily="49" charset="0"/>
              </a:rPr>
              <a:t>True</a:t>
            </a:r>
            <a:r>
              <a:rPr lang="en-US" altLang="zh-CN" sz="2400" b="1" dirty="0">
                <a:latin typeface="Consolas" panose="020B0609020204030204" pitchFamily="49" charset="0"/>
              </a:rPr>
              <a:t>, </a:t>
            </a:r>
            <a:r>
              <a:rPr lang="en-US" altLang="zh-CN" sz="2400" b="1" dirty="0">
                <a:solidFill>
                  <a:srgbClr val="92D050"/>
                </a:solidFill>
                <a:latin typeface="Consolas" panose="020B0609020204030204" pitchFamily="49" charset="0"/>
              </a:rPr>
              <a:t>False</a:t>
            </a:r>
            <a:r>
              <a:rPr lang="en-US" altLang="zh-CN" sz="2400" b="1" dirty="0">
                <a:solidFill>
                  <a:srgbClr val="FF0000"/>
                </a:solidFill>
                <a:latin typeface="Consolas" panose="020B0609020204030204" pitchFamily="49" charset="0"/>
              </a:rPr>
              <a:t>}</a:t>
            </a:r>
            <a:r>
              <a:rPr lang="en-US" altLang="zh-CN" sz="2400" b="1" dirty="0">
                <a:latin typeface="Consolas" panose="020B0609020204030204" pitchFamily="49" charset="0"/>
              </a:rPr>
              <a:t>;</a:t>
            </a:r>
          </a:p>
          <a:p>
            <a:pPr marL="0" indent="0">
              <a:lnSpc>
                <a:spcPct val="100000"/>
              </a:lnSpc>
              <a:spcBef>
                <a:spcPct val="0"/>
              </a:spcBef>
              <a:buClr>
                <a:schemeClr val="tx2"/>
              </a:buClr>
              <a:buSzPct val="70000"/>
              <a:buFont typeface="Arial" panose="020B0604020202020204" pitchFamily="34" charset="0"/>
              <a:buNone/>
            </a:pPr>
            <a:endParaRPr lang="en-US" altLang="zh-CN" sz="2400" b="1" dirty="0">
              <a:latin typeface="Consolas" panose="020B0609020204030204" pitchFamily="49" charset="0"/>
            </a:endParaRP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rPr>
              <a:t>enum </a:t>
            </a:r>
            <a:r>
              <a:rPr lang="en-US" altLang="zh-CN" sz="2400" b="1" dirty="0">
                <a:solidFill>
                  <a:srgbClr val="0070C0"/>
                </a:solidFill>
                <a:latin typeface="Consolas" panose="020B0609020204030204" pitchFamily="49" charset="0"/>
              </a:rPr>
              <a:t>BOOL</a:t>
            </a:r>
            <a:r>
              <a:rPr lang="en-US" altLang="zh-CN" sz="2400" b="1" dirty="0">
                <a:latin typeface="Consolas" panose="020B0609020204030204" pitchFamily="49" charset="0"/>
              </a:rPr>
              <a:t> prime(</a:t>
            </a:r>
            <a:r>
              <a:rPr lang="en-US" altLang="zh-CN" sz="2400" b="1" dirty="0">
                <a:solidFill>
                  <a:srgbClr val="0000FF"/>
                </a:solidFill>
                <a:latin typeface="Consolas" panose="020B0609020204030204" pitchFamily="49" charset="0"/>
              </a:rPr>
              <a:t>int</a:t>
            </a:r>
            <a:r>
              <a:rPr lang="en-US" altLang="zh-CN" sz="2400" b="1" dirty="0">
                <a:latin typeface="Consolas" panose="020B0609020204030204" pitchFamily="49" charset="0"/>
              </a:rPr>
              <a:t> n)</a:t>
            </a:r>
          </a:p>
          <a:p>
            <a:pPr marL="0" indent="0">
              <a:lnSpc>
                <a:spcPct val="100000"/>
              </a:lnSpc>
              <a:spcBef>
                <a:spcPct val="0"/>
              </a:spcBef>
              <a:buClr>
                <a:schemeClr val="tx2"/>
              </a:buClr>
              <a:buSzPct val="70000"/>
              <a:buNone/>
            </a:pP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for</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int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i=2</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i&lt;n</a:t>
            </a: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 i++){</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if</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(n % i == 0)</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return </a:t>
            </a:r>
            <a:r>
              <a:rPr lang="en-US" altLang="zh-CN" sz="2400" b="1" dirty="0">
                <a:solidFill>
                  <a:srgbClr val="92D050"/>
                </a:solidFill>
                <a:latin typeface="Consolas" panose="020B0609020204030204" pitchFamily="49" charset="0"/>
                <a:ea typeface="华文隶书" panose="02010800040101010101" pitchFamily="2" charset="-122"/>
                <a:cs typeface="Times New Roman" panose="02020603050405020304" pitchFamily="18" charset="0"/>
              </a:rPr>
              <a:t>False</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sz="2400"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sz="2400" b="1" dirty="0">
                <a:solidFill>
                  <a:srgbClr val="3333FF"/>
                </a:solidFill>
                <a:latin typeface="Consolas" panose="020B0609020204030204" pitchFamily="49" charset="0"/>
                <a:ea typeface="华文隶书" panose="02010800040101010101" pitchFamily="2" charset="-122"/>
                <a:cs typeface="Times New Roman" panose="02020603050405020304" pitchFamily="18" charset="0"/>
              </a:rPr>
              <a:t>return</a:t>
            </a:r>
            <a:r>
              <a:rPr lang="en-US" altLang="zh-CN" sz="2400" b="1" dirty="0">
                <a:solidFill>
                  <a:srgbClr val="00B050"/>
                </a:solidFill>
                <a:latin typeface="Consolas" panose="020B0609020204030204" pitchFamily="49" charset="0"/>
                <a:ea typeface="华文隶书" panose="02010800040101010101" pitchFamily="2" charset="-122"/>
                <a:cs typeface="Times New Roman" panose="02020603050405020304" pitchFamily="18" charset="0"/>
              </a:rPr>
              <a:t> </a:t>
            </a:r>
            <a:r>
              <a:rPr lang="en-US" altLang="zh-CN" sz="2400" b="1" dirty="0">
                <a:solidFill>
                  <a:srgbClr val="92D050"/>
                </a:solidFill>
                <a:latin typeface="Consolas" panose="020B0609020204030204" pitchFamily="49" charset="0"/>
                <a:ea typeface="华文隶书" panose="02010800040101010101" pitchFamily="2" charset="-122"/>
                <a:cs typeface="Times New Roman" panose="02020603050405020304" pitchFamily="18" charset="0"/>
              </a:rPr>
              <a:t>True</a:t>
            </a:r>
            <a:r>
              <a:rPr lang="en-US" altLang="zh-CN" sz="2400" b="1" dirty="0">
                <a:latin typeface="Consolas" panose="020B0609020204030204" pitchFamily="49" charset="0"/>
                <a:ea typeface="华文隶书" panose="02010800040101010101" pitchFamily="2" charset="-122"/>
                <a:cs typeface="Times New Roman" panose="02020603050405020304" pitchFamily="18" charset="0"/>
              </a:rPr>
              <a:t>;</a:t>
            </a:r>
          </a:p>
          <a:p>
            <a:pPr marL="0" indent="0">
              <a:lnSpc>
                <a:spcPct val="100000"/>
              </a:lnSpc>
              <a:spcBef>
                <a:spcPct val="0"/>
              </a:spcBef>
              <a:buClr>
                <a:schemeClr val="tx2"/>
              </a:buClr>
              <a:buSzPct val="70000"/>
              <a:buNone/>
            </a:pPr>
            <a:r>
              <a:rPr lang="en-US" altLang="zh-CN" sz="2400" b="1" dirty="0">
                <a:solidFill>
                  <a:srgbClr val="FF0000"/>
                </a:solidFill>
                <a:latin typeface="Consolas" panose="020B0609020204030204" pitchFamily="49" charset="0"/>
                <a:ea typeface="华文隶书" panose="02010800040101010101" pitchFamily="2" charset="-122"/>
                <a:cs typeface="Times New Roman" panose="02020603050405020304" pitchFamily="18" charset="0"/>
              </a:rPr>
              <a:t>}</a:t>
            </a:r>
            <a:endParaRPr lang="en-US" altLang="zh-CN" sz="2400" b="1" dirty="0">
              <a:latin typeface="Consolas" panose="020B0609020204030204" pitchFamily="49" charset="0"/>
            </a:endParaRPr>
          </a:p>
        </p:txBody>
      </p:sp>
      <p:sp>
        <p:nvSpPr>
          <p:cNvPr id="6" name="Rectangle 2">
            <a:extLst>
              <a:ext uri="{FF2B5EF4-FFF2-40B4-BE49-F238E27FC236}">
                <a16:creationId xmlns:a16="http://schemas.microsoft.com/office/drawing/2014/main" id="{DD3AC663-7693-4876-BD36-EDA01A6B5C39}"/>
              </a:ext>
            </a:extLst>
          </p:cNvPr>
          <p:cNvSpPr txBox="1">
            <a:spLocks noChangeArrowheads="1"/>
          </p:cNvSpPr>
          <p:nvPr/>
        </p:nvSpPr>
        <p:spPr>
          <a:xfrm>
            <a:off x="4584411" y="1128031"/>
            <a:ext cx="7590812" cy="4524315"/>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sz="2400" b="1" dirty="0">
                <a:solidFill>
                  <a:srgbClr val="0000FF"/>
                </a:solidFill>
                <a:latin typeface="Consolas" panose="020B0609020204030204" pitchFamily="49" charset="0"/>
              </a:rPr>
              <a:t>int </a:t>
            </a:r>
            <a:r>
              <a:rPr lang="en-US" altLang="zh-CN" sz="2400" b="1" dirty="0">
                <a:latin typeface="Consolas" panose="020B0609020204030204" pitchFamily="49" charset="0"/>
              </a:rPr>
              <a:t>main()</a:t>
            </a:r>
          </a:p>
          <a:p>
            <a:pPr marL="0" indent="0">
              <a:lnSpc>
                <a:spcPct val="100000"/>
              </a:lnSpc>
              <a:spcBef>
                <a:spcPct val="0"/>
              </a:spcBef>
              <a:buClr>
                <a:schemeClr val="tx2"/>
              </a:buClr>
              <a:buSzPct val="70000"/>
              <a:buNone/>
            </a:pPr>
            <a:r>
              <a:rPr lang="en-US" altLang="zh-CN" sz="2400" b="1" dirty="0">
                <a:solidFill>
                  <a:srgbClr val="FF0000"/>
                </a:solidFill>
                <a:latin typeface="Consolas" panose="020B0609020204030204" pitchFamily="49" charset="0"/>
              </a:rPr>
              <a:t>{</a:t>
            </a:r>
          </a:p>
          <a:p>
            <a:pPr marL="0" indent="0">
              <a:lnSpc>
                <a:spcPct val="100000"/>
              </a:lnSpc>
              <a:spcBef>
                <a:spcPct val="0"/>
              </a:spcBef>
              <a:buClr>
                <a:schemeClr val="tx2"/>
              </a:buClr>
              <a:buSzPct val="70000"/>
              <a:buNone/>
            </a:pPr>
            <a:r>
              <a:rPr lang="en-US" altLang="zh-CN" sz="2400" b="1" dirty="0">
                <a:solidFill>
                  <a:srgbClr val="FF0000"/>
                </a:solidFill>
                <a:latin typeface="Consolas" panose="020B0609020204030204" pitchFamily="49" charset="0"/>
              </a:rPr>
              <a:t>  </a:t>
            </a:r>
            <a:r>
              <a:rPr lang="en-US" altLang="zh-CN" sz="2400" b="1" dirty="0">
                <a:solidFill>
                  <a:srgbClr val="0000FF"/>
                </a:solidFill>
                <a:latin typeface="Consolas" panose="020B0609020204030204" pitchFamily="49" charset="0"/>
              </a:rPr>
              <a:t>enum</a:t>
            </a:r>
            <a:r>
              <a:rPr lang="en-US" altLang="zh-CN" sz="2400" b="1" dirty="0">
                <a:latin typeface="Consolas" panose="020B0609020204030204" pitchFamily="49" charset="0"/>
              </a:rPr>
              <a:t> </a:t>
            </a:r>
            <a:r>
              <a:rPr lang="en-US" altLang="zh-CN" sz="2400" b="1" dirty="0">
                <a:solidFill>
                  <a:srgbClr val="0070C0"/>
                </a:solidFill>
                <a:latin typeface="Consolas" panose="020B0609020204030204" pitchFamily="49" charset="0"/>
              </a:rPr>
              <a:t>BOOL</a:t>
            </a:r>
            <a:r>
              <a:rPr lang="en-US" altLang="zh-CN" sz="2400" b="1" dirty="0">
                <a:latin typeface="Consolas" panose="020B0609020204030204" pitchFamily="49" charset="0"/>
              </a:rPr>
              <a:t> isPrime;</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0000FF"/>
                </a:solidFill>
                <a:latin typeface="Consolas" panose="020B0609020204030204" pitchFamily="49" charset="0"/>
              </a:rPr>
              <a:t>int</a:t>
            </a:r>
            <a:r>
              <a:rPr lang="en-US" altLang="zh-CN" sz="2400" b="1" dirty="0">
                <a:latin typeface="Consolas" panose="020B0609020204030204" pitchFamily="49" charset="0"/>
              </a:rPr>
              <a:t> i;</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scanf(</a:t>
            </a:r>
            <a:r>
              <a:rPr lang="en-US" altLang="zh-CN" sz="2400" b="1" dirty="0">
                <a:latin typeface="Agency FB" panose="020B0503020202020204" pitchFamily="34" charset="0"/>
              </a:rPr>
              <a:t>“</a:t>
            </a:r>
            <a:r>
              <a:rPr lang="en-US" altLang="zh-CN" sz="2400" b="1" dirty="0">
                <a:latin typeface="Consolas" panose="020B0609020204030204" pitchFamily="49" charset="0"/>
              </a:rPr>
              <a:t>%d</a:t>
            </a:r>
            <a:r>
              <a:rPr lang="en-US" altLang="zh-CN" sz="2400" b="1" dirty="0">
                <a:latin typeface="Agency FB" panose="020B0503020202020204" pitchFamily="34" charset="0"/>
              </a:rPr>
              <a:t>”</a:t>
            </a:r>
            <a:r>
              <a:rPr lang="en-US" altLang="zh-CN" sz="2400" b="1" dirty="0">
                <a:latin typeface="Consolas" panose="020B0609020204030204" pitchFamily="49" charset="0"/>
              </a:rPr>
              <a:t>, &amp;i);</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isPrime = prime(i);</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3333FF"/>
                </a:solidFill>
                <a:latin typeface="Consolas" panose="020B0609020204030204" pitchFamily="49" charset="0"/>
              </a:rPr>
              <a:t>if</a:t>
            </a:r>
            <a:r>
              <a:rPr lang="en-US" altLang="zh-CN" sz="2400" b="1" dirty="0">
                <a:latin typeface="Consolas" panose="020B0609020204030204" pitchFamily="49" charset="0"/>
              </a:rPr>
              <a:t>(isPrime == True)</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printf(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%d is a prime number.</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i);</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3333FF"/>
                </a:solidFill>
                <a:latin typeface="Consolas" panose="020B0609020204030204" pitchFamily="49" charset="0"/>
              </a:rPr>
              <a:t>else</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printf(</a:t>
            </a:r>
            <a:r>
              <a:rPr lang="en-US" altLang="zh-CN" sz="2400" b="1" dirty="0">
                <a:solidFill>
                  <a:srgbClr val="00B050"/>
                </a:solidFill>
                <a:latin typeface="Agency FB" panose="020B0503020202020204" pitchFamily="34" charset="0"/>
              </a:rPr>
              <a:t>“</a:t>
            </a:r>
            <a:r>
              <a:rPr lang="en-US" altLang="zh-CN" sz="2400" b="1" dirty="0">
                <a:solidFill>
                  <a:srgbClr val="00B050"/>
                </a:solidFill>
                <a:latin typeface="Consolas" panose="020B0609020204030204" pitchFamily="49" charset="0"/>
              </a:rPr>
              <a:t>%d is not a prime number.</a:t>
            </a:r>
            <a:r>
              <a:rPr lang="en-US" altLang="zh-CN" sz="2400" b="1" dirty="0">
                <a:solidFill>
                  <a:srgbClr val="00B050"/>
                </a:solidFill>
                <a:latin typeface="Agency FB" panose="020B0503020202020204" pitchFamily="34" charset="0"/>
              </a:rPr>
              <a:t>”</a:t>
            </a:r>
            <a:r>
              <a:rPr lang="en-US" altLang="zh-CN" sz="2400" b="1" dirty="0">
                <a:latin typeface="Consolas" panose="020B0609020204030204" pitchFamily="49" charset="0"/>
              </a:rPr>
              <a:t>, i);</a:t>
            </a:r>
          </a:p>
          <a:p>
            <a:pPr marL="0" indent="0">
              <a:lnSpc>
                <a:spcPct val="100000"/>
              </a:lnSpc>
              <a:spcBef>
                <a:spcPct val="0"/>
              </a:spcBef>
              <a:buClr>
                <a:schemeClr val="tx2"/>
              </a:buClr>
              <a:buSzPct val="70000"/>
              <a:buNone/>
            </a:pPr>
            <a:r>
              <a:rPr lang="en-US" altLang="zh-CN" sz="2400" b="1" dirty="0">
                <a:latin typeface="Consolas" panose="020B0609020204030204" pitchFamily="49" charset="0"/>
              </a:rPr>
              <a:t>  </a:t>
            </a:r>
            <a:r>
              <a:rPr lang="en-US" altLang="zh-CN" sz="2400" b="1" dirty="0">
                <a:solidFill>
                  <a:srgbClr val="3333FF"/>
                </a:solidFill>
                <a:latin typeface="Consolas" panose="020B0609020204030204" pitchFamily="49" charset="0"/>
              </a:rPr>
              <a:t>return</a:t>
            </a:r>
            <a:r>
              <a:rPr lang="en-US" altLang="zh-CN" sz="2400" b="1" dirty="0">
                <a:latin typeface="Consolas" panose="020B0609020204030204" pitchFamily="49" charset="0"/>
              </a:rPr>
              <a:t> 0;</a:t>
            </a:r>
          </a:p>
          <a:p>
            <a:pPr marL="0" indent="0">
              <a:lnSpc>
                <a:spcPct val="100000"/>
              </a:lnSpc>
              <a:spcBef>
                <a:spcPct val="0"/>
              </a:spcBef>
              <a:buClr>
                <a:schemeClr val="tx2"/>
              </a:buClr>
              <a:buSzPct val="70000"/>
              <a:buNone/>
            </a:pPr>
            <a:r>
              <a:rPr lang="en-US" altLang="zh-CN" sz="2400" b="1" dirty="0">
                <a:solidFill>
                  <a:srgbClr val="FF0000"/>
                </a:solidFill>
                <a:latin typeface="Consolas" panose="020B0609020204030204" pitchFamily="49" charset="0"/>
              </a:rPr>
              <a:t>}</a:t>
            </a:r>
          </a:p>
        </p:txBody>
      </p:sp>
      <p:sp>
        <p:nvSpPr>
          <p:cNvPr id="2" name="灯片编号占位符 1">
            <a:extLst>
              <a:ext uri="{FF2B5EF4-FFF2-40B4-BE49-F238E27FC236}">
                <a16:creationId xmlns:a16="http://schemas.microsoft.com/office/drawing/2014/main" id="{C7AF33D1-07DC-4B04-846C-D8EFFA10345B}"/>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37</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71524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8">
            <a:extLst>
              <a:ext uri="{FF2B5EF4-FFF2-40B4-BE49-F238E27FC236}">
                <a16:creationId xmlns:a16="http://schemas.microsoft.com/office/drawing/2014/main" id="{6AACEA00-ACCB-4141-AD4F-E96AF62A9286}"/>
              </a:ext>
            </a:extLst>
          </p:cNvPr>
          <p:cNvSpPr txBox="1">
            <a:spLocks noChangeArrowheads="1"/>
          </p:cNvSpPr>
          <p:nvPr/>
        </p:nvSpPr>
        <p:spPr bwMode="auto">
          <a:xfrm>
            <a:off x="0" y="616139"/>
            <a:ext cx="1219200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en-US" altLang="zh-CN" sz="2800" b="1" dirty="0">
                <a:latin typeface="+mn-ea"/>
                <a:ea typeface="+mn-ea"/>
              </a:rPr>
              <a:t>C</a:t>
            </a:r>
            <a:r>
              <a:rPr kumimoji="1" lang="zh-CN" altLang="en-US" sz="2800" b="1" dirty="0">
                <a:latin typeface="+mn-ea"/>
                <a:ea typeface="+mn-ea"/>
              </a:rPr>
              <a:t>语言允许用户通过类型定义为已有的类型重新定义新的类型名称。</a:t>
            </a:r>
          </a:p>
        </p:txBody>
      </p:sp>
      <p:sp>
        <p:nvSpPr>
          <p:cNvPr id="4" name="矩形 3">
            <a:extLst>
              <a:ext uri="{FF2B5EF4-FFF2-40B4-BE49-F238E27FC236}">
                <a16:creationId xmlns:a16="http://schemas.microsoft.com/office/drawing/2014/main" id="{F12AEEB9-887D-49E0-80C9-5EE02D094A53}"/>
              </a:ext>
            </a:extLst>
          </p:cNvPr>
          <p:cNvSpPr/>
          <p:nvPr/>
        </p:nvSpPr>
        <p:spPr>
          <a:xfrm>
            <a:off x="184443" y="1213383"/>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类型定义的一般形式如下：</a:t>
            </a:r>
          </a:p>
        </p:txBody>
      </p:sp>
      <p:sp>
        <p:nvSpPr>
          <p:cNvPr id="5" name="Rectangle 2">
            <a:extLst>
              <a:ext uri="{FF2B5EF4-FFF2-40B4-BE49-F238E27FC236}">
                <a16:creationId xmlns:a16="http://schemas.microsoft.com/office/drawing/2014/main" id="{721DB1C1-446B-4B92-9976-78940A6840BE}"/>
              </a:ext>
            </a:extLst>
          </p:cNvPr>
          <p:cNvSpPr txBox="1">
            <a:spLocks noChangeArrowheads="1"/>
          </p:cNvSpPr>
          <p:nvPr/>
        </p:nvSpPr>
        <p:spPr>
          <a:xfrm>
            <a:off x="184441" y="1758594"/>
            <a:ext cx="11363478"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typedef</a:t>
            </a:r>
            <a:r>
              <a:rPr lang="zh-CN" altLang="en-US" b="1" dirty="0">
                <a:solidFill>
                  <a:srgbClr val="0000FF"/>
                </a:solidFill>
                <a:latin typeface="华文隶书" panose="02010800040101010101" pitchFamily="2" charset="-122"/>
                <a:ea typeface="华文隶书" panose="02010800040101010101" pitchFamily="2" charset="-122"/>
              </a:rPr>
              <a:t> 类型名</a:t>
            </a:r>
            <a:r>
              <a:rPr lang="en-US" altLang="zh-CN" b="1" dirty="0">
                <a:solidFill>
                  <a:srgbClr val="FF0000"/>
                </a:solidFill>
              </a:rPr>
              <a:t> </a:t>
            </a:r>
            <a:r>
              <a:rPr lang="zh-CN" altLang="en-US" b="1" dirty="0">
                <a:solidFill>
                  <a:srgbClr val="0070C0"/>
                </a:solidFill>
                <a:latin typeface="华文隶书" panose="02010800040101010101" pitchFamily="2" charset="-122"/>
                <a:ea typeface="华文隶书" panose="02010800040101010101" pitchFamily="2" charset="-122"/>
              </a:rPr>
              <a:t>标识符</a:t>
            </a:r>
            <a:r>
              <a:rPr lang="zh-CN" altLang="en-US" b="1" dirty="0">
                <a:solidFill>
                  <a:srgbClr val="FF0000"/>
                </a:solidFill>
              </a:rPr>
              <a:t>；</a:t>
            </a:r>
            <a:endParaRPr lang="en-US" altLang="zh-CN" b="1" dirty="0">
              <a:solidFill>
                <a:srgbClr val="FF0000"/>
              </a:solidFill>
            </a:endParaRPr>
          </a:p>
        </p:txBody>
      </p:sp>
      <p:sp>
        <p:nvSpPr>
          <p:cNvPr id="6" name="矩形 5">
            <a:extLst>
              <a:ext uri="{FF2B5EF4-FFF2-40B4-BE49-F238E27FC236}">
                <a16:creationId xmlns:a16="http://schemas.microsoft.com/office/drawing/2014/main" id="{BDAB4A7D-3081-4697-87D7-B818088D6FE8}"/>
              </a:ext>
            </a:extLst>
          </p:cNvPr>
          <p:cNvSpPr/>
          <p:nvPr/>
        </p:nvSpPr>
        <p:spPr>
          <a:xfrm>
            <a:off x="184441" y="2594483"/>
            <a:ext cx="5525384" cy="523220"/>
          </a:xfrm>
          <a:prstGeom prst="rect">
            <a:avLst/>
          </a:prstGeom>
        </p:spPr>
        <p:txBody>
          <a:bodyPr wrap="square">
            <a:spAutoFit/>
          </a:bodyPr>
          <a:lstStyle/>
          <a:p>
            <a:pPr marL="0" lvl="1"/>
            <a:r>
              <a:rPr lang="zh-CN" altLang="en-US" sz="2800" b="1" dirty="0">
                <a:latin typeface="华文隶书" panose="02010800040101010101" pitchFamily="2" charset="-122"/>
                <a:ea typeface="华文隶书" panose="02010800040101010101" pitchFamily="2" charset="-122"/>
              </a:rPr>
              <a:t>例如：</a:t>
            </a:r>
          </a:p>
        </p:txBody>
      </p:sp>
      <p:sp>
        <p:nvSpPr>
          <p:cNvPr id="7" name="Rectangle 2">
            <a:extLst>
              <a:ext uri="{FF2B5EF4-FFF2-40B4-BE49-F238E27FC236}">
                <a16:creationId xmlns:a16="http://schemas.microsoft.com/office/drawing/2014/main" id="{86321ECA-B5DE-493F-9AA1-59A380DACE6D}"/>
              </a:ext>
            </a:extLst>
          </p:cNvPr>
          <p:cNvSpPr txBox="1">
            <a:spLocks noChangeArrowheads="1"/>
          </p:cNvSpPr>
          <p:nvPr/>
        </p:nvSpPr>
        <p:spPr>
          <a:xfrm>
            <a:off x="184441" y="3029759"/>
            <a:ext cx="11363478" cy="954107"/>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typedef int </a:t>
            </a:r>
            <a:r>
              <a:rPr lang="en-US" altLang="zh-CN" b="1" dirty="0">
                <a:solidFill>
                  <a:srgbClr val="0070C0"/>
                </a:solidFill>
                <a:latin typeface="Consolas" panose="020B0609020204030204" pitchFamily="49" charset="0"/>
                <a:ea typeface="华文隶书" panose="02010800040101010101" pitchFamily="2" charset="-122"/>
              </a:rPr>
              <a:t>INTEGER</a:t>
            </a:r>
            <a:r>
              <a:rPr lang="en-US" altLang="zh-CN" b="1" dirty="0">
                <a:solidFill>
                  <a:srgbClr val="FF0000"/>
                </a:solidFill>
                <a:latin typeface="Consolas" panose="020B0609020204030204" pitchFamily="49" charset="0"/>
                <a:ea typeface="华文隶书" panose="02010800040101010101" pitchFamily="2" charset="-122"/>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typedef char </a:t>
            </a:r>
            <a:r>
              <a:rPr lang="en-US" altLang="zh-CN" b="1" dirty="0">
                <a:solidFill>
                  <a:srgbClr val="0070C0"/>
                </a:solidFill>
                <a:latin typeface="Consolas" panose="020B0609020204030204" pitchFamily="49" charset="0"/>
                <a:ea typeface="华文隶书" panose="02010800040101010101" pitchFamily="2" charset="-122"/>
              </a:rPr>
              <a:t>CHAR</a:t>
            </a:r>
            <a:r>
              <a:rPr lang="en-US" altLang="zh-CN" b="1" dirty="0">
                <a:solidFill>
                  <a:srgbClr val="FF0000"/>
                </a:solidFill>
                <a:latin typeface="Consolas" panose="020B0609020204030204" pitchFamily="49" charset="0"/>
                <a:ea typeface="华文隶书" panose="02010800040101010101" pitchFamily="2" charset="-122"/>
              </a:rPr>
              <a:t>;</a:t>
            </a:r>
            <a:endParaRPr lang="en-US" altLang="zh-CN" b="1" dirty="0">
              <a:solidFill>
                <a:srgbClr val="FF0000"/>
              </a:solidFill>
              <a:latin typeface="Consolas" panose="020B0609020204030204" pitchFamily="49" charset="0"/>
            </a:endParaRPr>
          </a:p>
        </p:txBody>
      </p:sp>
      <p:grpSp>
        <p:nvGrpSpPr>
          <p:cNvPr id="8" name="组合 7">
            <a:extLst>
              <a:ext uri="{FF2B5EF4-FFF2-40B4-BE49-F238E27FC236}">
                <a16:creationId xmlns:a16="http://schemas.microsoft.com/office/drawing/2014/main" id="{8DB38A6F-E86B-4347-BE68-19FD42D5A3B6}"/>
              </a:ext>
            </a:extLst>
          </p:cNvPr>
          <p:cNvGrpSpPr/>
          <p:nvPr/>
        </p:nvGrpSpPr>
        <p:grpSpPr>
          <a:xfrm>
            <a:off x="184441" y="4251958"/>
            <a:ext cx="11936850" cy="2002729"/>
            <a:chOff x="0" y="4812040"/>
            <a:chExt cx="12192001" cy="2002729"/>
          </a:xfrm>
        </p:grpSpPr>
        <p:sp>
          <p:nvSpPr>
            <p:cNvPr id="9" name="Text Box 88">
              <a:extLst>
                <a:ext uri="{FF2B5EF4-FFF2-40B4-BE49-F238E27FC236}">
                  <a16:creationId xmlns:a16="http://schemas.microsoft.com/office/drawing/2014/main" id="{5CE07492-79D3-4B55-B6A8-9DA734C68D8A}"/>
                </a:ext>
              </a:extLst>
            </p:cNvPr>
            <p:cNvSpPr txBox="1">
              <a:spLocks noChangeArrowheads="1"/>
            </p:cNvSpPr>
            <p:nvPr/>
          </p:nvSpPr>
          <p:spPr bwMode="auto">
            <a:xfrm>
              <a:off x="1" y="4812040"/>
              <a:ext cx="12192000" cy="2002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solidFill>
                    <a:srgbClr val="FF3300"/>
                  </a:solidFill>
                  <a:ea typeface="隶书" pitchFamily="49" charset="-122"/>
                </a:rPr>
                <a:t>    注意</a:t>
              </a:r>
              <a:r>
                <a:rPr kumimoji="1" lang="en-US" altLang="zh-CN" sz="2400" dirty="0">
                  <a:solidFill>
                    <a:srgbClr val="3333FF"/>
                  </a:solidFill>
                  <a:ea typeface="隶书" pitchFamily="49" charset="-122"/>
                </a:rPr>
                <a:t>: </a:t>
              </a:r>
            </a:p>
            <a:p>
              <a:pPr marL="720000" indent="-457200">
                <a:buFont typeface="+mj-ea"/>
                <a:buAutoNum type="circleNumDbPlain"/>
              </a:pPr>
              <a:r>
                <a:rPr kumimoji="1" lang="zh-CN" altLang="en-US" sz="2400" dirty="0">
                  <a:solidFill>
                    <a:srgbClr val="3333FF"/>
                  </a:solidFill>
                  <a:latin typeface="隶书" pitchFamily="49" charset="-122"/>
                  <a:ea typeface="隶书" pitchFamily="49" charset="-122"/>
                </a:rPr>
                <a:t>类型定义并不产生新的数据类型，而是已有类型或已定义类型的“别名”</a:t>
              </a:r>
              <a:r>
                <a:rPr kumimoji="1" lang="zh-CN" altLang="en-US" sz="2400" dirty="0">
                  <a:solidFill>
                    <a:srgbClr val="3333FF"/>
                  </a:solidFill>
                  <a:ea typeface="隶书" pitchFamily="49" charset="-122"/>
                </a:rPr>
                <a:t>。</a:t>
              </a:r>
              <a:endParaRPr kumimoji="1" lang="en-US" altLang="zh-CN" sz="2400" dirty="0">
                <a:solidFill>
                  <a:srgbClr val="3333FF"/>
                </a:solidFill>
                <a:ea typeface="隶书" pitchFamily="49" charset="-122"/>
              </a:endParaRPr>
            </a:p>
            <a:p>
              <a:pPr marL="720000" indent="-457200">
                <a:buFont typeface="+mj-ea"/>
                <a:buAutoNum type="circleNumDbPlain"/>
              </a:pPr>
              <a:r>
                <a:rPr kumimoji="1" lang="zh-CN" altLang="en-US" sz="2400" dirty="0">
                  <a:solidFill>
                    <a:srgbClr val="3333FF"/>
                  </a:solidFill>
                  <a:latin typeface="等线" panose="02010600030101010101" pitchFamily="2" charset="-122"/>
                  <a:ea typeface="隶书" pitchFamily="49" charset="-122"/>
                </a:rPr>
                <a:t>新的类型别名与原类型可以等价使用。</a:t>
              </a:r>
              <a:endParaRPr kumimoji="1" lang="en-US" altLang="zh-CN" sz="2400" dirty="0">
                <a:solidFill>
                  <a:srgbClr val="3333FF"/>
                </a:solidFill>
                <a:latin typeface="等线" panose="02010600030101010101" pitchFamily="2" charset="-122"/>
                <a:ea typeface="隶书" pitchFamily="49" charset="-122"/>
              </a:endParaRPr>
            </a:p>
            <a:p>
              <a:pPr marL="720000" indent="-457200">
                <a:buFont typeface="+mj-ea"/>
                <a:buAutoNum type="circleNumDbPlain"/>
              </a:pPr>
              <a:r>
                <a:rPr kumimoji="1" lang="en-US" altLang="zh-CN" sz="2400" dirty="0">
                  <a:solidFill>
                    <a:srgbClr val="3333FF"/>
                  </a:solidFill>
                  <a:latin typeface="等线" panose="02010600030101010101" pitchFamily="2" charset="-122"/>
                  <a:ea typeface="隶书" pitchFamily="49" charset="-122"/>
                </a:rPr>
                <a:t>typedef</a:t>
              </a:r>
              <a:r>
                <a:rPr kumimoji="1" lang="zh-CN" altLang="en-US" sz="2400" dirty="0">
                  <a:solidFill>
                    <a:srgbClr val="3333FF"/>
                  </a:solidFill>
                  <a:latin typeface="等线" panose="02010600030101010101" pitchFamily="2" charset="-122"/>
                  <a:ea typeface="隶书" pitchFamily="49" charset="-122"/>
                </a:rPr>
                <a:t>只能用来定义类型别名，不能用来定义变量。</a:t>
              </a:r>
              <a:endParaRPr kumimoji="1" lang="en-US" altLang="zh-CN" sz="2400" dirty="0">
                <a:solidFill>
                  <a:srgbClr val="3333FF"/>
                </a:solidFill>
                <a:latin typeface="等线" panose="02010600030101010101" pitchFamily="2" charset="-122"/>
                <a:ea typeface="隶书" pitchFamily="49" charset="-122"/>
              </a:endParaRPr>
            </a:p>
            <a:p>
              <a:pPr marL="720000" indent="-457200">
                <a:buFont typeface="+mj-ea"/>
                <a:buAutoNum type="circleNumDbPlain"/>
              </a:pPr>
              <a:r>
                <a:rPr kumimoji="1" lang="zh-CN" altLang="en-US" sz="2400" dirty="0">
                  <a:solidFill>
                    <a:srgbClr val="3333FF"/>
                  </a:solidFill>
                  <a:latin typeface="等线" panose="02010600030101010101" pitchFamily="2" charset="-122"/>
                  <a:ea typeface="隶书" pitchFamily="49" charset="-122"/>
                </a:rPr>
                <a:t>新的类型名称习惯上全部大写以区别于原有的类型名称。</a:t>
              </a:r>
              <a:endParaRPr kumimoji="1" lang="en-US" altLang="zh-CN" sz="2400" dirty="0">
                <a:solidFill>
                  <a:srgbClr val="3333FF"/>
                </a:solidFill>
                <a:latin typeface="等线" panose="02010600030101010101" pitchFamily="2" charset="-122"/>
                <a:ea typeface="隶书" pitchFamily="49" charset="-122"/>
              </a:endParaRPr>
            </a:p>
          </p:txBody>
        </p:sp>
        <p:pic>
          <p:nvPicPr>
            <p:cNvPr id="10" name="图片 9">
              <a:extLst>
                <a:ext uri="{FF2B5EF4-FFF2-40B4-BE49-F238E27FC236}">
                  <a16:creationId xmlns:a16="http://schemas.microsoft.com/office/drawing/2014/main" id="{EBEFC98B-7902-4990-95E9-AC10A196074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0" y="4867312"/>
              <a:ext cx="514926" cy="442321"/>
            </a:xfrm>
            <a:prstGeom prst="rect">
              <a:avLst/>
            </a:prstGeom>
          </p:spPr>
        </p:pic>
      </p:grpSp>
      <p:sp>
        <p:nvSpPr>
          <p:cNvPr id="2" name="灯片编号占位符 1">
            <a:extLst>
              <a:ext uri="{FF2B5EF4-FFF2-40B4-BE49-F238E27FC236}">
                <a16:creationId xmlns:a16="http://schemas.microsoft.com/office/drawing/2014/main" id="{B7F66712-9912-40D0-9CF3-053681348251}"/>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38</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25362020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8">
            <a:extLst>
              <a:ext uri="{FF2B5EF4-FFF2-40B4-BE49-F238E27FC236}">
                <a16:creationId xmlns:a16="http://schemas.microsoft.com/office/drawing/2014/main" id="{F7FC0BFD-3078-41F6-B8BF-2C4B43D15D78}"/>
              </a:ext>
            </a:extLst>
          </p:cNvPr>
          <p:cNvSpPr txBox="1">
            <a:spLocks noChangeArrowheads="1"/>
          </p:cNvSpPr>
          <p:nvPr/>
        </p:nvSpPr>
        <p:spPr bwMode="auto">
          <a:xfrm>
            <a:off x="0" y="616139"/>
            <a:ext cx="1219200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dirty="0">
                <a:latin typeface="+mn-ea"/>
                <a:ea typeface="+mn-ea"/>
              </a:rPr>
              <a:t>类型定义的使用：</a:t>
            </a:r>
          </a:p>
        </p:txBody>
      </p:sp>
      <p:grpSp>
        <p:nvGrpSpPr>
          <p:cNvPr id="6" name="组合 5">
            <a:extLst>
              <a:ext uri="{FF2B5EF4-FFF2-40B4-BE49-F238E27FC236}">
                <a16:creationId xmlns:a16="http://schemas.microsoft.com/office/drawing/2014/main" id="{95B9BA48-E108-489A-B757-3FA468E9B076}"/>
              </a:ext>
            </a:extLst>
          </p:cNvPr>
          <p:cNvGrpSpPr/>
          <p:nvPr/>
        </p:nvGrpSpPr>
        <p:grpSpPr>
          <a:xfrm>
            <a:off x="184441" y="1213383"/>
            <a:ext cx="11363478" cy="1499318"/>
            <a:chOff x="184441" y="1213383"/>
            <a:chExt cx="11363478" cy="1499318"/>
          </a:xfrm>
        </p:grpSpPr>
        <p:sp>
          <p:nvSpPr>
            <p:cNvPr id="4" name="矩形 3">
              <a:extLst>
                <a:ext uri="{FF2B5EF4-FFF2-40B4-BE49-F238E27FC236}">
                  <a16:creationId xmlns:a16="http://schemas.microsoft.com/office/drawing/2014/main" id="{17CD1E81-F86C-4BA7-8D8A-957D1348ECB9}"/>
                </a:ext>
              </a:extLst>
            </p:cNvPr>
            <p:cNvSpPr/>
            <p:nvPr/>
          </p:nvSpPr>
          <p:spPr>
            <a:xfrm>
              <a:off x="184443" y="1213383"/>
              <a:ext cx="5525384" cy="523220"/>
            </a:xfrm>
            <a:prstGeom prst="rect">
              <a:avLst/>
            </a:prstGeom>
          </p:spPr>
          <p:txBody>
            <a:bodyPr wrap="square">
              <a:spAutoFit/>
            </a:bodyPr>
            <a:lstStyle/>
            <a:p>
              <a:pPr marL="514350" lvl="1" indent="-514350">
                <a:buFont typeface="+mj-ea"/>
                <a:buAutoNum type="circleNumDbPlain"/>
              </a:pPr>
              <a:r>
                <a:rPr lang="zh-CN" altLang="en-US" sz="2800" b="1" dirty="0">
                  <a:latin typeface="华文隶书" panose="02010800040101010101" pitchFamily="2" charset="-122"/>
                  <a:ea typeface="华文隶书" panose="02010800040101010101" pitchFamily="2" charset="-122"/>
                </a:rPr>
                <a:t>为基本类型定义新名称：</a:t>
              </a:r>
            </a:p>
          </p:txBody>
        </p:sp>
        <p:sp>
          <p:nvSpPr>
            <p:cNvPr id="5" name="Rectangle 2">
              <a:extLst>
                <a:ext uri="{FF2B5EF4-FFF2-40B4-BE49-F238E27FC236}">
                  <a16:creationId xmlns:a16="http://schemas.microsoft.com/office/drawing/2014/main" id="{A2CC5D30-FC46-4CD4-8484-6CA21EA66302}"/>
                </a:ext>
              </a:extLst>
            </p:cNvPr>
            <p:cNvSpPr txBox="1">
              <a:spLocks noChangeArrowheads="1"/>
            </p:cNvSpPr>
            <p:nvPr/>
          </p:nvSpPr>
          <p:spPr>
            <a:xfrm>
              <a:off x="184441" y="1758594"/>
              <a:ext cx="11363478" cy="954107"/>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typedef</a:t>
              </a:r>
              <a:r>
                <a:rPr lang="zh-CN" altLang="en-US" b="1" dirty="0">
                  <a:solidFill>
                    <a:srgbClr val="0000FF"/>
                  </a:solidFill>
                  <a:latin typeface="Consolas" panose="020B0609020204030204" pitchFamily="49" charset="0"/>
                  <a:ea typeface="华文隶书" panose="02010800040101010101" pitchFamily="2" charset="-122"/>
                </a:rPr>
                <a:t> </a:t>
              </a:r>
              <a:r>
                <a:rPr lang="en-US" altLang="zh-CN" b="1" dirty="0">
                  <a:solidFill>
                    <a:srgbClr val="0000FF"/>
                  </a:solidFill>
                  <a:latin typeface="Consolas" panose="020B0609020204030204" pitchFamily="49" charset="0"/>
                  <a:ea typeface="华文隶书" panose="02010800040101010101" pitchFamily="2" charset="-122"/>
                </a:rPr>
                <a:t>int</a:t>
              </a:r>
              <a:r>
                <a:rPr lang="en-US" altLang="zh-CN" b="1" dirty="0">
                  <a:solidFill>
                    <a:srgbClr val="FF0000"/>
                  </a:solidFill>
                  <a:latin typeface="Consolas" panose="020B0609020204030204" pitchFamily="49" charset="0"/>
                </a:rPr>
                <a:t> </a:t>
              </a:r>
              <a:r>
                <a:rPr lang="en-US" altLang="zh-CN" b="1" dirty="0">
                  <a:solidFill>
                    <a:srgbClr val="0070C0"/>
                  </a:solidFill>
                  <a:latin typeface="Consolas" panose="020B0609020204030204" pitchFamily="49" charset="0"/>
                  <a:ea typeface="华文隶书" panose="02010800040101010101" pitchFamily="2" charset="-122"/>
                </a:rPr>
                <a:t>INTEGER</a:t>
              </a:r>
              <a:r>
                <a:rPr lang="zh-CN" altLang="en-US" b="1" dirty="0">
                  <a:solidFill>
                    <a:srgbClr val="FF0000"/>
                  </a:solidFill>
                  <a:latin typeface="Consolas" panose="020B0609020204030204" pitchFamily="49" charset="0"/>
                </a:rPr>
                <a:t>；</a:t>
              </a:r>
              <a:endParaRPr lang="en-US" altLang="zh-CN" b="1" dirty="0">
                <a:solidFill>
                  <a:srgbClr val="FF0000"/>
                </a:solidFill>
                <a:latin typeface="Consolas" panose="020B0609020204030204" pitchFamily="49" charset="0"/>
              </a:endParaRPr>
            </a:p>
            <a:p>
              <a:pPr marL="0" indent="0">
                <a:lnSpc>
                  <a:spcPct val="100000"/>
                </a:lnSpc>
                <a:spcBef>
                  <a:spcPct val="0"/>
                </a:spcBef>
                <a:buClr>
                  <a:schemeClr val="tx2"/>
                </a:buClr>
                <a:buSzPct val="70000"/>
                <a:buNone/>
              </a:pPr>
              <a:r>
                <a:rPr lang="en-US" altLang="zh-CN" b="1" dirty="0">
                  <a:solidFill>
                    <a:srgbClr val="0070C0"/>
                  </a:solidFill>
                  <a:latin typeface="Consolas" panose="020B0609020204030204" pitchFamily="49" charset="0"/>
                </a:rPr>
                <a:t>INTEGER</a:t>
              </a:r>
              <a:r>
                <a:rPr lang="en-US" altLang="zh-CN" b="1" dirty="0">
                  <a:solidFill>
                    <a:srgbClr val="FF0000"/>
                  </a:solidFill>
                  <a:latin typeface="Consolas" panose="020B0609020204030204" pitchFamily="49" charset="0"/>
                </a:rPr>
                <a:t> </a:t>
              </a:r>
              <a:r>
                <a:rPr lang="en-US" altLang="zh-CN" b="1" dirty="0">
                  <a:latin typeface="Consolas" panose="020B0609020204030204" pitchFamily="49" charset="0"/>
                </a:rPr>
                <a:t>i, j, k</a:t>
              </a:r>
              <a:r>
                <a:rPr lang="en-US" altLang="zh-CN" b="1" dirty="0">
                  <a:solidFill>
                    <a:srgbClr val="FF0000"/>
                  </a:solidFill>
                  <a:latin typeface="Consolas" panose="020B0609020204030204" pitchFamily="49" charset="0"/>
                </a:rPr>
                <a:t>;</a:t>
              </a:r>
            </a:p>
          </p:txBody>
        </p:sp>
      </p:grpSp>
      <p:grpSp>
        <p:nvGrpSpPr>
          <p:cNvPr id="7" name="组合 6">
            <a:extLst>
              <a:ext uri="{FF2B5EF4-FFF2-40B4-BE49-F238E27FC236}">
                <a16:creationId xmlns:a16="http://schemas.microsoft.com/office/drawing/2014/main" id="{7FF70888-F2F2-4866-B15E-9EFE0EF99755}"/>
              </a:ext>
            </a:extLst>
          </p:cNvPr>
          <p:cNvGrpSpPr/>
          <p:nvPr/>
        </p:nvGrpSpPr>
        <p:grpSpPr>
          <a:xfrm>
            <a:off x="184441" y="2880206"/>
            <a:ext cx="11363478" cy="2361093"/>
            <a:chOff x="184441" y="1213383"/>
            <a:chExt cx="11363478" cy="2361093"/>
          </a:xfrm>
        </p:grpSpPr>
        <p:sp>
          <p:nvSpPr>
            <p:cNvPr id="8" name="矩形 7">
              <a:extLst>
                <a:ext uri="{FF2B5EF4-FFF2-40B4-BE49-F238E27FC236}">
                  <a16:creationId xmlns:a16="http://schemas.microsoft.com/office/drawing/2014/main" id="{7B636F3C-7F2C-4D19-96F1-0083612B1DA9}"/>
                </a:ext>
              </a:extLst>
            </p:cNvPr>
            <p:cNvSpPr/>
            <p:nvPr/>
          </p:nvSpPr>
          <p:spPr>
            <a:xfrm>
              <a:off x="184443" y="1213383"/>
              <a:ext cx="5525384" cy="523220"/>
            </a:xfrm>
            <a:prstGeom prst="rect">
              <a:avLst/>
            </a:prstGeom>
          </p:spPr>
          <p:txBody>
            <a:bodyPr wrap="square">
              <a:spAutoFit/>
            </a:bodyPr>
            <a:lstStyle/>
            <a:p>
              <a:pPr marL="514350" lvl="1" indent="-514350">
                <a:buFont typeface="+mj-ea"/>
                <a:buAutoNum type="circleNumDbPlain" startAt="2"/>
              </a:pPr>
              <a:r>
                <a:rPr lang="zh-CN" altLang="en-US" sz="2800" b="1" dirty="0">
                  <a:latin typeface="华文隶书" panose="02010800040101010101" pitchFamily="2" charset="-122"/>
                  <a:ea typeface="华文隶书" panose="02010800040101010101" pitchFamily="2" charset="-122"/>
                </a:rPr>
                <a:t>为数组、指针定义新名称：</a:t>
              </a:r>
            </a:p>
          </p:txBody>
        </p:sp>
        <p:sp>
          <p:nvSpPr>
            <p:cNvPr id="9" name="Rectangle 2">
              <a:extLst>
                <a:ext uri="{FF2B5EF4-FFF2-40B4-BE49-F238E27FC236}">
                  <a16:creationId xmlns:a16="http://schemas.microsoft.com/office/drawing/2014/main" id="{EB820078-0016-4EAE-931A-D4D3423716E7}"/>
                </a:ext>
              </a:extLst>
            </p:cNvPr>
            <p:cNvSpPr txBox="1">
              <a:spLocks noChangeArrowheads="1"/>
            </p:cNvSpPr>
            <p:nvPr/>
          </p:nvSpPr>
          <p:spPr>
            <a:xfrm>
              <a:off x="184441" y="1758594"/>
              <a:ext cx="11363478" cy="1815882"/>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typedef</a:t>
              </a:r>
              <a:r>
                <a:rPr lang="zh-CN" altLang="en-US" b="1" dirty="0">
                  <a:solidFill>
                    <a:srgbClr val="0000FF"/>
                  </a:solidFill>
                  <a:latin typeface="Consolas" panose="020B0609020204030204" pitchFamily="49" charset="0"/>
                  <a:ea typeface="华文隶书" panose="02010800040101010101" pitchFamily="2" charset="-122"/>
                </a:rPr>
                <a:t> </a:t>
              </a:r>
              <a:r>
                <a:rPr lang="en-US" altLang="zh-CN" b="1" dirty="0">
                  <a:solidFill>
                    <a:srgbClr val="0000FF"/>
                  </a:solidFill>
                  <a:latin typeface="Consolas" panose="020B0609020204030204" pitchFamily="49" charset="0"/>
                  <a:ea typeface="华文隶书" panose="02010800040101010101" pitchFamily="2" charset="-122"/>
                </a:rPr>
                <a:t>char</a:t>
              </a:r>
              <a:r>
                <a:rPr lang="en-US" altLang="zh-CN" b="1" dirty="0">
                  <a:solidFill>
                    <a:srgbClr val="FF0000"/>
                  </a:solidFill>
                  <a:latin typeface="Consolas" panose="020B0609020204030204" pitchFamily="49" charset="0"/>
                </a:rPr>
                <a:t> </a:t>
              </a:r>
              <a:r>
                <a:rPr lang="en-US" altLang="zh-CN" b="1" dirty="0">
                  <a:solidFill>
                    <a:srgbClr val="0070C0"/>
                  </a:solidFill>
                  <a:latin typeface="Consolas" panose="020B0609020204030204" pitchFamily="49" charset="0"/>
                  <a:ea typeface="华文隶书" panose="02010800040101010101" pitchFamily="2" charset="-122"/>
                </a:rPr>
                <a:t>STRING</a:t>
              </a:r>
              <a:r>
                <a:rPr lang="en-US" altLang="zh-CN" b="1" dirty="0">
                  <a:solidFill>
                    <a:srgbClr val="FF0000"/>
                  </a:solidFill>
                  <a:latin typeface="Consolas" panose="020B0609020204030204" pitchFamily="49" charset="0"/>
                  <a:ea typeface="华文隶书" panose="02010800040101010101" pitchFamily="2" charset="-122"/>
                </a:rPr>
                <a:t>[</a:t>
              </a:r>
              <a:r>
                <a:rPr lang="en-US" altLang="zh-CN" b="1" dirty="0">
                  <a:latin typeface="Consolas" panose="020B0609020204030204" pitchFamily="49" charset="0"/>
                  <a:ea typeface="华文隶书" panose="02010800040101010101" pitchFamily="2" charset="-122"/>
                </a:rPr>
                <a:t>80</a:t>
              </a:r>
              <a:r>
                <a:rPr lang="en-US" altLang="zh-CN" b="1" dirty="0">
                  <a:solidFill>
                    <a:srgbClr val="FF0000"/>
                  </a:solidFill>
                  <a:latin typeface="Consolas" panose="020B0609020204030204" pitchFamily="49" charset="0"/>
                  <a:ea typeface="华文隶书" panose="02010800040101010101" pitchFamily="2" charset="-122"/>
                </a:rPr>
                <a:t>]</a:t>
              </a:r>
              <a:r>
                <a:rPr lang="zh-CN" altLang="en-US" b="1" dirty="0">
                  <a:solidFill>
                    <a:srgbClr val="FF0000"/>
                  </a:solidFill>
                  <a:latin typeface="Consolas" panose="020B0609020204030204" pitchFamily="49" charset="0"/>
                </a:rPr>
                <a:t>；</a:t>
              </a:r>
              <a:endParaRPr lang="en-US" altLang="zh-CN" b="1" dirty="0">
                <a:solidFill>
                  <a:srgbClr val="FF0000"/>
                </a:solidFill>
                <a:latin typeface="Consolas" panose="020B0609020204030204" pitchFamily="49" charset="0"/>
              </a:endParaRPr>
            </a:p>
            <a:p>
              <a:pPr marL="0" indent="0">
                <a:lnSpc>
                  <a:spcPct val="100000"/>
                </a:lnSpc>
                <a:spcBef>
                  <a:spcPct val="0"/>
                </a:spcBef>
                <a:buClr>
                  <a:schemeClr val="tx2"/>
                </a:buClr>
                <a:buSzPct val="70000"/>
                <a:buNone/>
              </a:pPr>
              <a:r>
                <a:rPr lang="en-US" altLang="zh-CN" b="1" dirty="0">
                  <a:solidFill>
                    <a:srgbClr val="0070C0"/>
                  </a:solidFill>
                  <a:latin typeface="Consolas" panose="020B0609020204030204" pitchFamily="49" charset="0"/>
                  <a:ea typeface="华文隶书" panose="02010800040101010101" pitchFamily="2" charset="-122"/>
                </a:rPr>
                <a:t>STRING </a:t>
              </a:r>
              <a:r>
                <a:rPr lang="en-US" altLang="zh-CN" b="1" dirty="0">
                  <a:latin typeface="Consolas" panose="020B0609020204030204" pitchFamily="49" charset="0"/>
                  <a:ea typeface="华文隶书" panose="02010800040101010101" pitchFamily="2" charset="-122"/>
                </a:rPr>
                <a:t>str</a:t>
              </a:r>
              <a:r>
                <a:rPr lang="en-US" altLang="zh-CN" b="1" dirty="0">
                  <a:solidFill>
                    <a:srgbClr val="FF0000"/>
                  </a:solidFill>
                  <a:latin typeface="Consolas" panose="020B0609020204030204" pitchFamily="49" charset="0"/>
                  <a:ea typeface="华文隶书" panose="02010800040101010101" pitchFamily="2" charset="-122"/>
                </a:rPr>
                <a:t>;   </a:t>
              </a:r>
              <a:r>
                <a:rPr lang="en-US" altLang="zh-CN" b="1" dirty="0">
                  <a:solidFill>
                    <a:srgbClr val="00B050"/>
                  </a:solidFill>
                  <a:latin typeface="Consolas" panose="020B0609020204030204" pitchFamily="49" charset="0"/>
                  <a:ea typeface="华文隶书" panose="02010800040101010101" pitchFamily="2" charset="-122"/>
                </a:rPr>
                <a:t>//</a:t>
              </a:r>
              <a:r>
                <a:rPr lang="zh-CN" altLang="en-US" b="1" dirty="0">
                  <a:solidFill>
                    <a:srgbClr val="00B050"/>
                  </a:solidFill>
                  <a:latin typeface="Consolas" panose="020B0609020204030204" pitchFamily="49" charset="0"/>
                  <a:ea typeface="华文隶书" panose="02010800040101010101" pitchFamily="2" charset="-122"/>
                </a:rPr>
                <a:t>等同于 </a:t>
              </a:r>
              <a:r>
                <a:rPr lang="en-US" altLang="zh-CN" b="1" dirty="0">
                  <a:solidFill>
                    <a:srgbClr val="0000FF"/>
                  </a:solidFill>
                  <a:latin typeface="Consolas" panose="020B0609020204030204" pitchFamily="49" charset="0"/>
                  <a:ea typeface="华文隶书" panose="02010800040101010101" pitchFamily="2" charset="-122"/>
                </a:rPr>
                <a:t>char</a:t>
              </a:r>
              <a:r>
                <a:rPr lang="en-US" altLang="zh-CN" b="1" dirty="0">
                  <a:solidFill>
                    <a:srgbClr val="FF0000"/>
                  </a:solidFill>
                  <a:latin typeface="Consolas" panose="020B0609020204030204" pitchFamily="49" charset="0"/>
                  <a:ea typeface="华文隶书" panose="02010800040101010101" pitchFamily="2" charset="-122"/>
                </a:rPr>
                <a:t> </a:t>
              </a:r>
              <a:r>
                <a:rPr lang="en-US" altLang="zh-CN" b="1" dirty="0">
                  <a:latin typeface="Consolas" panose="020B0609020204030204" pitchFamily="49" charset="0"/>
                  <a:ea typeface="华文隶书" panose="02010800040101010101" pitchFamily="2" charset="-122"/>
                </a:rPr>
                <a:t>str</a:t>
              </a:r>
              <a:r>
                <a:rPr lang="en-US" altLang="zh-CN" b="1" dirty="0">
                  <a:solidFill>
                    <a:srgbClr val="FF0000"/>
                  </a:solidFill>
                  <a:latin typeface="Consolas" panose="020B0609020204030204" pitchFamily="49" charset="0"/>
                  <a:ea typeface="华文隶书" panose="02010800040101010101" pitchFamily="2" charset="-122"/>
                </a:rPr>
                <a:t>[</a:t>
              </a:r>
              <a:r>
                <a:rPr lang="en-US" altLang="zh-CN" b="1" dirty="0">
                  <a:latin typeface="Consolas" panose="020B0609020204030204" pitchFamily="49" charset="0"/>
                  <a:ea typeface="华文隶书" panose="02010800040101010101" pitchFamily="2" charset="-122"/>
                </a:rPr>
                <a:t>80</a:t>
              </a:r>
              <a:r>
                <a:rPr lang="en-US" altLang="zh-CN" b="1" dirty="0">
                  <a:solidFill>
                    <a:srgbClr val="FF0000"/>
                  </a:solidFill>
                  <a:latin typeface="Consolas" panose="020B0609020204030204" pitchFamily="49" charset="0"/>
                  <a:ea typeface="华文隶书" panose="02010800040101010101" pitchFamily="2" charset="-122"/>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typedef</a:t>
              </a:r>
              <a:r>
                <a:rPr lang="zh-CN" altLang="en-US" b="1" dirty="0">
                  <a:solidFill>
                    <a:srgbClr val="0000FF"/>
                  </a:solidFill>
                  <a:latin typeface="Consolas" panose="020B0609020204030204" pitchFamily="49" charset="0"/>
                  <a:ea typeface="华文隶书" panose="02010800040101010101" pitchFamily="2" charset="-122"/>
                </a:rPr>
                <a:t> </a:t>
              </a:r>
              <a:r>
                <a:rPr lang="en-US" altLang="zh-CN" b="1" dirty="0">
                  <a:solidFill>
                    <a:srgbClr val="0000FF"/>
                  </a:solidFill>
                  <a:latin typeface="Consolas" panose="020B0609020204030204" pitchFamily="49" charset="0"/>
                  <a:ea typeface="华文隶书" panose="02010800040101010101" pitchFamily="2" charset="-122"/>
                </a:rPr>
                <a:t>char</a:t>
              </a:r>
              <a:r>
                <a:rPr lang="en-US" altLang="zh-CN" b="1" dirty="0">
                  <a:solidFill>
                    <a:srgbClr val="FF0000"/>
                  </a:solidFill>
                  <a:ea typeface="华文隶书" panose="02010800040101010101" pitchFamily="2" charset="-122"/>
                </a:rPr>
                <a:t>*</a:t>
              </a:r>
              <a:r>
                <a:rPr lang="en-US" altLang="zh-CN" b="1" dirty="0">
                  <a:solidFill>
                    <a:srgbClr val="FF0000"/>
                  </a:solidFill>
                  <a:latin typeface="Consolas" panose="020B0609020204030204" pitchFamily="49" charset="0"/>
                </a:rPr>
                <a:t> </a:t>
              </a:r>
              <a:r>
                <a:rPr lang="en-US" altLang="zh-CN" b="1" dirty="0">
                  <a:solidFill>
                    <a:srgbClr val="0070C0"/>
                  </a:solidFill>
                  <a:latin typeface="Consolas" panose="020B0609020204030204" pitchFamily="49" charset="0"/>
                  <a:ea typeface="华文隶书" panose="02010800040101010101" pitchFamily="2" charset="-122"/>
                </a:rPr>
                <a:t>PCHAR</a:t>
              </a:r>
              <a:r>
                <a:rPr lang="zh-CN" altLang="en-US" b="1" dirty="0">
                  <a:solidFill>
                    <a:srgbClr val="FF0000"/>
                  </a:solidFill>
                  <a:latin typeface="Consolas" panose="020B0609020204030204" pitchFamily="49" charset="0"/>
                </a:rPr>
                <a:t>；</a:t>
              </a:r>
              <a:endParaRPr lang="en-US" altLang="zh-CN" b="1" dirty="0">
                <a:solidFill>
                  <a:srgbClr val="FF0000"/>
                </a:solidFill>
                <a:latin typeface="Consolas" panose="020B0609020204030204" pitchFamily="49" charset="0"/>
              </a:endParaRPr>
            </a:p>
            <a:p>
              <a:pPr marL="0" indent="0">
                <a:lnSpc>
                  <a:spcPct val="100000"/>
                </a:lnSpc>
                <a:spcBef>
                  <a:spcPct val="0"/>
                </a:spcBef>
                <a:buClr>
                  <a:schemeClr val="tx2"/>
                </a:buClr>
                <a:buSzPct val="70000"/>
                <a:buNone/>
              </a:pPr>
              <a:r>
                <a:rPr lang="en-US" altLang="zh-CN" b="1" dirty="0">
                  <a:solidFill>
                    <a:srgbClr val="0070C0"/>
                  </a:solidFill>
                  <a:latin typeface="Consolas" panose="020B0609020204030204" pitchFamily="49" charset="0"/>
                </a:rPr>
                <a:t>PCHAR</a:t>
              </a:r>
              <a:r>
                <a:rPr lang="en-US" altLang="zh-CN" b="1" dirty="0">
                  <a:solidFill>
                    <a:srgbClr val="FF0000"/>
                  </a:solidFill>
                  <a:latin typeface="Consolas" panose="020B0609020204030204" pitchFamily="49" charset="0"/>
                </a:rPr>
                <a:t> </a:t>
              </a:r>
              <a:r>
                <a:rPr lang="en-US" altLang="zh-CN" b="1" dirty="0">
                  <a:latin typeface="Consolas" panose="020B0609020204030204" pitchFamily="49" charset="0"/>
                </a:rPr>
                <a:t>p1, p2</a:t>
              </a:r>
              <a:r>
                <a:rPr lang="en-US" altLang="zh-CN" b="1" dirty="0">
                  <a:solidFill>
                    <a:srgbClr val="FF0000"/>
                  </a:solidFill>
                  <a:latin typeface="Consolas" panose="020B0609020204030204" pitchFamily="49" charset="0"/>
                </a:rPr>
                <a:t>;</a:t>
              </a:r>
              <a:r>
                <a:rPr lang="en-US" altLang="zh-CN" b="1" dirty="0">
                  <a:solidFill>
                    <a:srgbClr val="00B050"/>
                  </a:solidFill>
                  <a:latin typeface="Consolas" panose="020B0609020204030204" pitchFamily="49" charset="0"/>
                  <a:ea typeface="华文隶书" panose="02010800040101010101" pitchFamily="2" charset="-122"/>
                </a:rPr>
                <a:t> //</a:t>
              </a:r>
              <a:r>
                <a:rPr lang="zh-CN" altLang="en-US" b="1" dirty="0">
                  <a:solidFill>
                    <a:srgbClr val="00B050"/>
                  </a:solidFill>
                  <a:latin typeface="Consolas" panose="020B0609020204030204" pitchFamily="49" charset="0"/>
                  <a:ea typeface="华文隶书" panose="02010800040101010101" pitchFamily="2" charset="-122"/>
                </a:rPr>
                <a:t>等同于 </a:t>
              </a:r>
              <a:r>
                <a:rPr lang="en-US" altLang="zh-CN" b="1" dirty="0">
                  <a:solidFill>
                    <a:srgbClr val="0000FF"/>
                  </a:solidFill>
                  <a:latin typeface="Consolas" panose="020B0609020204030204" pitchFamily="49" charset="0"/>
                  <a:ea typeface="华文隶书" panose="02010800040101010101" pitchFamily="2" charset="-122"/>
                </a:rPr>
                <a:t>char</a:t>
              </a:r>
              <a:r>
                <a:rPr lang="en-US" altLang="zh-CN" b="1" dirty="0">
                  <a:solidFill>
                    <a:srgbClr val="FF0000"/>
                  </a:solidFill>
                  <a:latin typeface="Consolas" panose="020B0609020204030204" pitchFamily="49" charset="0"/>
                  <a:ea typeface="华文隶书" panose="02010800040101010101" pitchFamily="2" charset="-122"/>
                </a:rPr>
                <a:t> </a:t>
              </a:r>
              <a:r>
                <a:rPr lang="en-US" altLang="zh-CN" b="1" dirty="0">
                  <a:solidFill>
                    <a:srgbClr val="FF0000"/>
                  </a:solidFill>
                  <a:ea typeface="华文隶书" panose="02010800040101010101" pitchFamily="2" charset="-122"/>
                </a:rPr>
                <a:t>*</a:t>
              </a:r>
              <a:r>
                <a:rPr lang="en-US" altLang="zh-CN" b="1" dirty="0">
                  <a:latin typeface="Consolas" panose="020B0609020204030204" pitchFamily="49" charset="0"/>
                  <a:ea typeface="华文隶书" panose="02010800040101010101" pitchFamily="2" charset="-122"/>
                </a:rPr>
                <a:t>p1,</a:t>
              </a:r>
              <a:r>
                <a:rPr lang="en-US" altLang="zh-CN" b="1" dirty="0">
                  <a:solidFill>
                    <a:srgbClr val="FF0000"/>
                  </a:solidFill>
                  <a:latin typeface="Consolas" panose="020B0609020204030204" pitchFamily="49" charset="0"/>
                  <a:ea typeface="华文隶书" panose="02010800040101010101" pitchFamily="2" charset="-122"/>
                </a:rPr>
                <a:t> </a:t>
              </a:r>
              <a:r>
                <a:rPr lang="en-US" altLang="zh-CN" b="1" dirty="0">
                  <a:solidFill>
                    <a:srgbClr val="FF0000"/>
                  </a:solidFill>
                  <a:ea typeface="华文隶书" panose="02010800040101010101" pitchFamily="2" charset="-122"/>
                </a:rPr>
                <a:t>*</a:t>
              </a:r>
              <a:r>
                <a:rPr lang="en-US" altLang="zh-CN" b="1" dirty="0">
                  <a:latin typeface="Consolas" panose="020B0609020204030204" pitchFamily="49" charset="0"/>
                  <a:ea typeface="华文隶书" panose="02010800040101010101" pitchFamily="2" charset="-122"/>
                </a:rPr>
                <a:t>p2</a:t>
              </a:r>
              <a:r>
                <a:rPr lang="en-US" altLang="zh-CN" b="1" dirty="0">
                  <a:solidFill>
                    <a:srgbClr val="FF0000"/>
                  </a:solidFill>
                  <a:latin typeface="Consolas" panose="020B0609020204030204" pitchFamily="49" charset="0"/>
                  <a:ea typeface="华文隶书" panose="02010800040101010101" pitchFamily="2" charset="-122"/>
                </a:rPr>
                <a:t>;</a:t>
              </a:r>
              <a:endParaRPr lang="en-US" altLang="zh-CN" b="1" dirty="0">
                <a:solidFill>
                  <a:srgbClr val="FF0000"/>
                </a:solidFill>
                <a:latin typeface="Consolas" panose="020B0609020204030204" pitchFamily="49" charset="0"/>
              </a:endParaRPr>
            </a:p>
          </p:txBody>
        </p:sp>
      </p:grpSp>
      <p:sp>
        <p:nvSpPr>
          <p:cNvPr id="2" name="灯片编号占位符 1">
            <a:extLst>
              <a:ext uri="{FF2B5EF4-FFF2-40B4-BE49-F238E27FC236}">
                <a16:creationId xmlns:a16="http://schemas.microsoft.com/office/drawing/2014/main" id="{2CD2FDFE-CEAD-42D8-849E-1DE541771C68}"/>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39</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37652412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6CC6A93A-E017-42CB-AA01-AD7C8657430E}"/>
              </a:ext>
            </a:extLst>
          </p:cNvPr>
          <p:cNvGrpSpPr/>
          <p:nvPr/>
        </p:nvGrpSpPr>
        <p:grpSpPr>
          <a:xfrm>
            <a:off x="217535" y="798645"/>
            <a:ext cx="5666218" cy="4084641"/>
            <a:chOff x="184441" y="1213383"/>
            <a:chExt cx="5525386" cy="4084641"/>
          </a:xfrm>
        </p:grpSpPr>
        <p:sp>
          <p:nvSpPr>
            <p:cNvPr id="4" name="矩形 3">
              <a:extLst>
                <a:ext uri="{FF2B5EF4-FFF2-40B4-BE49-F238E27FC236}">
                  <a16:creationId xmlns:a16="http://schemas.microsoft.com/office/drawing/2014/main" id="{FE31F5FE-FB77-4805-BD43-A8B3197BC22F}"/>
                </a:ext>
              </a:extLst>
            </p:cNvPr>
            <p:cNvSpPr/>
            <p:nvPr/>
          </p:nvSpPr>
          <p:spPr>
            <a:xfrm>
              <a:off x="184443" y="1213383"/>
              <a:ext cx="5525384" cy="523220"/>
            </a:xfrm>
            <a:prstGeom prst="rect">
              <a:avLst/>
            </a:prstGeom>
          </p:spPr>
          <p:txBody>
            <a:bodyPr wrap="square">
              <a:spAutoFit/>
            </a:bodyPr>
            <a:lstStyle/>
            <a:p>
              <a:pPr marL="514350" lvl="1" indent="-514350">
                <a:buFont typeface="+mj-ea"/>
                <a:buAutoNum type="circleNumDbPlain" startAt="3"/>
              </a:pPr>
              <a:r>
                <a:rPr lang="zh-CN" altLang="en-US" sz="2800" b="1" dirty="0">
                  <a:latin typeface="华文隶书" panose="02010800040101010101" pitchFamily="2" charset="-122"/>
                  <a:ea typeface="华文隶书" panose="02010800040101010101" pitchFamily="2" charset="-122"/>
                </a:rPr>
                <a:t>为用户自定义类型定义新名称：</a:t>
              </a:r>
            </a:p>
          </p:txBody>
        </p:sp>
        <p:sp>
          <p:nvSpPr>
            <p:cNvPr id="5" name="Rectangle 2">
              <a:extLst>
                <a:ext uri="{FF2B5EF4-FFF2-40B4-BE49-F238E27FC236}">
                  <a16:creationId xmlns:a16="http://schemas.microsoft.com/office/drawing/2014/main" id="{250D8D41-B338-41F7-9787-DA29CAAA5B41}"/>
                </a:ext>
              </a:extLst>
            </p:cNvPr>
            <p:cNvSpPr txBox="1">
              <a:spLocks noChangeArrowheads="1"/>
            </p:cNvSpPr>
            <p:nvPr/>
          </p:nvSpPr>
          <p:spPr>
            <a:xfrm>
              <a:off x="184441" y="1758594"/>
              <a:ext cx="5525385" cy="353943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typedef</a:t>
              </a:r>
              <a:r>
                <a:rPr lang="zh-CN" altLang="en-US" b="1" dirty="0">
                  <a:solidFill>
                    <a:srgbClr val="0000FF"/>
                  </a:solidFill>
                  <a:latin typeface="Consolas" panose="020B0609020204030204" pitchFamily="49" charset="0"/>
                  <a:ea typeface="华文隶书" panose="02010800040101010101" pitchFamily="2" charset="-122"/>
                </a:rPr>
                <a:t> </a:t>
              </a:r>
              <a:r>
                <a:rPr lang="en-US" altLang="zh-CN" b="1" dirty="0">
                  <a:solidFill>
                    <a:srgbClr val="0000FF"/>
                  </a:solidFill>
                  <a:latin typeface="Consolas" panose="020B0609020204030204" pitchFamily="49" charset="0"/>
                  <a:ea typeface="华文隶书" panose="02010800040101010101" pitchFamily="2" charset="-122"/>
                </a:rPr>
                <a:t>struct</a:t>
              </a:r>
              <a:r>
                <a:rPr lang="en-US" altLang="zh-CN" b="1" dirty="0">
                  <a:solidFill>
                    <a:srgbClr val="FF0000"/>
                  </a:solidFill>
                  <a:latin typeface="Consolas" panose="020B0609020204030204" pitchFamily="49" charset="0"/>
                  <a:ea typeface="华文隶书" panose="02010800040101010101" pitchFamily="2" charset="-122"/>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   int </a:t>
              </a:r>
              <a:r>
                <a:rPr lang="en-US" altLang="zh-CN" b="1" dirty="0">
                  <a:latin typeface="Consolas" panose="020B0609020204030204" pitchFamily="49" charset="0"/>
                  <a:ea typeface="华文隶书" panose="02010800040101010101" pitchFamily="2" charset="-122"/>
                </a:rPr>
                <a:t>num;</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   char </a:t>
              </a:r>
              <a:r>
                <a:rPr lang="en-US" altLang="zh-CN" b="1" dirty="0">
                  <a:latin typeface="Consolas" panose="020B0609020204030204" pitchFamily="49" charset="0"/>
                  <a:ea typeface="华文隶书" panose="02010800040101010101" pitchFamily="2" charset="-122"/>
                </a:rPr>
                <a:t>name</a:t>
              </a:r>
              <a:r>
                <a:rPr lang="en-US" altLang="zh-CN" b="1" dirty="0">
                  <a:solidFill>
                    <a:srgbClr val="FF0000"/>
                  </a:solidFill>
                  <a:latin typeface="Consolas" panose="020B0609020204030204" pitchFamily="49" charset="0"/>
                  <a:ea typeface="华文隶书" panose="02010800040101010101" pitchFamily="2" charset="-122"/>
                </a:rPr>
                <a:t>[</a:t>
              </a:r>
              <a:r>
                <a:rPr lang="en-US" altLang="zh-CN" b="1" dirty="0">
                  <a:solidFill>
                    <a:srgbClr val="0000FF"/>
                  </a:solidFill>
                  <a:latin typeface="Consolas" panose="020B0609020204030204" pitchFamily="49" charset="0"/>
                  <a:ea typeface="华文隶书" panose="02010800040101010101" pitchFamily="2" charset="-122"/>
                </a:rPr>
                <a:t>20</a:t>
              </a:r>
              <a:r>
                <a:rPr lang="en-US" altLang="zh-CN" b="1" dirty="0">
                  <a:solidFill>
                    <a:srgbClr val="FF0000"/>
                  </a:solidFill>
                  <a:latin typeface="Consolas" panose="020B0609020204030204" pitchFamily="49" charset="0"/>
                  <a:ea typeface="华文隶书" panose="02010800040101010101" pitchFamily="2" charset="-122"/>
                </a:rPr>
                <a:t>]</a:t>
              </a:r>
              <a:r>
                <a:rPr lang="en-US" altLang="zh-CN" b="1" dirty="0">
                  <a:latin typeface="Consolas" panose="020B0609020204030204" pitchFamily="49" charset="0"/>
                  <a:ea typeface="华文隶书" panose="02010800040101010101" pitchFamily="2" charset="-122"/>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   char </a:t>
              </a:r>
              <a:r>
                <a:rPr lang="en-US" altLang="zh-CN" b="1" dirty="0">
                  <a:latin typeface="Consolas" panose="020B0609020204030204" pitchFamily="49" charset="0"/>
                  <a:ea typeface="华文隶书" panose="02010800040101010101" pitchFamily="2" charset="-122"/>
                </a:rPr>
                <a:t>address</a:t>
              </a:r>
              <a:r>
                <a:rPr lang="en-US" altLang="zh-CN" b="1" dirty="0">
                  <a:solidFill>
                    <a:srgbClr val="FF0000"/>
                  </a:solidFill>
                  <a:latin typeface="Consolas" panose="020B0609020204030204" pitchFamily="49" charset="0"/>
                  <a:ea typeface="华文隶书" panose="02010800040101010101" pitchFamily="2" charset="-122"/>
                </a:rPr>
                <a:t>[</a:t>
              </a:r>
              <a:r>
                <a:rPr lang="en-US" altLang="zh-CN" b="1" dirty="0">
                  <a:solidFill>
                    <a:srgbClr val="0000FF"/>
                  </a:solidFill>
                  <a:latin typeface="Consolas" panose="020B0609020204030204" pitchFamily="49" charset="0"/>
                  <a:ea typeface="华文隶书" panose="02010800040101010101" pitchFamily="2" charset="-122"/>
                </a:rPr>
                <a:t>50</a:t>
              </a:r>
              <a:r>
                <a:rPr lang="en-US" altLang="zh-CN" b="1" dirty="0">
                  <a:solidFill>
                    <a:srgbClr val="FF0000"/>
                  </a:solidFill>
                  <a:latin typeface="Consolas" panose="020B0609020204030204" pitchFamily="49" charset="0"/>
                  <a:ea typeface="华文隶书" panose="02010800040101010101" pitchFamily="2" charset="-122"/>
                </a:rPr>
                <a:t>]</a:t>
              </a:r>
              <a:r>
                <a:rPr lang="en-US" altLang="zh-CN" b="1" dirty="0">
                  <a:latin typeface="Consolas" panose="020B0609020204030204" pitchFamily="49" charset="0"/>
                  <a:ea typeface="华文隶书" panose="02010800040101010101" pitchFamily="2" charset="-122"/>
                </a:rPr>
                <a:t>;</a:t>
              </a:r>
            </a:p>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   char </a:t>
              </a:r>
              <a:r>
                <a:rPr lang="en-US" altLang="zh-CN" b="1" dirty="0">
                  <a:latin typeface="Consolas" panose="020B0609020204030204" pitchFamily="49" charset="0"/>
                  <a:ea typeface="华文隶书" panose="02010800040101010101" pitchFamily="2" charset="-122"/>
                </a:rPr>
                <a:t>mobile</a:t>
              </a:r>
              <a:r>
                <a:rPr lang="en-US" altLang="zh-CN" b="1" dirty="0">
                  <a:solidFill>
                    <a:srgbClr val="FF0000"/>
                  </a:solidFill>
                  <a:latin typeface="Consolas" panose="020B0609020204030204" pitchFamily="49" charset="0"/>
                  <a:ea typeface="华文隶书" panose="02010800040101010101" pitchFamily="2" charset="-122"/>
                </a:rPr>
                <a:t>[</a:t>
              </a:r>
              <a:r>
                <a:rPr lang="en-US" altLang="zh-CN" b="1" dirty="0">
                  <a:solidFill>
                    <a:srgbClr val="0000FF"/>
                  </a:solidFill>
                  <a:latin typeface="Consolas" panose="020B0609020204030204" pitchFamily="49" charset="0"/>
                  <a:ea typeface="华文隶书" panose="02010800040101010101" pitchFamily="2" charset="-122"/>
                </a:rPr>
                <a:t>12</a:t>
              </a:r>
              <a:r>
                <a:rPr lang="en-US" altLang="zh-CN" b="1" dirty="0">
                  <a:solidFill>
                    <a:srgbClr val="FF0000"/>
                  </a:solidFill>
                  <a:latin typeface="Consolas" panose="020B0609020204030204" pitchFamily="49" charset="0"/>
                  <a:ea typeface="华文隶书" panose="02010800040101010101" pitchFamily="2" charset="-122"/>
                </a:rPr>
                <a:t>]</a:t>
              </a:r>
              <a:r>
                <a:rPr lang="en-US" altLang="zh-CN" b="1" dirty="0">
                  <a:latin typeface="Consolas" panose="020B0609020204030204" pitchFamily="49" charset="0"/>
                  <a:ea typeface="华文隶书" panose="02010800040101010101" pitchFamily="2" charset="-122"/>
                </a:rPr>
                <a:t>;</a:t>
              </a:r>
            </a:p>
            <a:p>
              <a:pPr marL="0" indent="0">
                <a:lnSpc>
                  <a:spcPct val="100000"/>
                </a:lnSpc>
                <a:spcBef>
                  <a:spcPct val="0"/>
                </a:spcBef>
                <a:buClr>
                  <a:schemeClr val="tx2"/>
                </a:buClr>
                <a:buSzPct val="70000"/>
                <a:buNone/>
              </a:pPr>
              <a:r>
                <a:rPr lang="en-US" altLang="zh-CN" b="1" dirty="0">
                  <a:solidFill>
                    <a:srgbClr val="FF0000"/>
                  </a:solidFill>
                  <a:latin typeface="Consolas" panose="020B0609020204030204" pitchFamily="49" charset="0"/>
                  <a:ea typeface="华文隶书" panose="02010800040101010101" pitchFamily="2" charset="-122"/>
                </a:rPr>
                <a:t>}</a:t>
              </a:r>
              <a:r>
                <a:rPr lang="en-US" altLang="zh-CN" b="1" dirty="0">
                  <a:solidFill>
                    <a:srgbClr val="0070C0"/>
                  </a:solidFill>
                  <a:latin typeface="Consolas" panose="020B0609020204030204" pitchFamily="49" charset="0"/>
                  <a:ea typeface="华文隶书" panose="02010800040101010101" pitchFamily="2" charset="-122"/>
                </a:rPr>
                <a:t>MYSTRUCT</a:t>
              </a:r>
              <a:r>
                <a:rPr lang="en-US" altLang="zh-CN" b="1" dirty="0">
                  <a:solidFill>
                    <a:srgbClr val="FF0000"/>
                  </a:solidFill>
                  <a:latin typeface="Consolas" panose="020B0609020204030204" pitchFamily="49" charset="0"/>
                  <a:ea typeface="华文隶书" panose="02010800040101010101" pitchFamily="2" charset="-122"/>
                </a:rPr>
                <a:t>;</a:t>
              </a:r>
            </a:p>
            <a:p>
              <a:pPr marL="0" indent="0">
                <a:lnSpc>
                  <a:spcPct val="100000"/>
                </a:lnSpc>
                <a:spcBef>
                  <a:spcPct val="0"/>
                </a:spcBef>
                <a:buClr>
                  <a:schemeClr val="tx2"/>
                </a:buClr>
                <a:buSzPct val="70000"/>
                <a:buNone/>
              </a:pPr>
              <a:endParaRPr lang="en-US" altLang="zh-CN" b="1" dirty="0">
                <a:solidFill>
                  <a:srgbClr val="FF0000"/>
                </a:solidFill>
                <a:latin typeface="Consolas" panose="020B0609020204030204" pitchFamily="49" charset="0"/>
                <a:ea typeface="华文隶书" panose="02010800040101010101" pitchFamily="2" charset="-122"/>
              </a:endParaRPr>
            </a:p>
            <a:p>
              <a:pPr marL="0" indent="0">
                <a:lnSpc>
                  <a:spcPct val="100000"/>
                </a:lnSpc>
                <a:spcBef>
                  <a:spcPct val="0"/>
                </a:spcBef>
                <a:buClr>
                  <a:schemeClr val="tx2"/>
                </a:buClr>
                <a:buSzPct val="70000"/>
                <a:buNone/>
              </a:pPr>
              <a:r>
                <a:rPr lang="en-US" altLang="zh-CN" b="1" dirty="0">
                  <a:solidFill>
                    <a:srgbClr val="0070C0"/>
                  </a:solidFill>
                  <a:latin typeface="Consolas" panose="020B0609020204030204" pitchFamily="49" charset="0"/>
                  <a:ea typeface="华文隶书" panose="02010800040101010101" pitchFamily="2" charset="-122"/>
                </a:rPr>
                <a:t>MYSTRUCT</a:t>
              </a:r>
              <a:r>
                <a:rPr lang="en-US" altLang="zh-CN" b="1" dirty="0">
                  <a:solidFill>
                    <a:srgbClr val="0000FF"/>
                  </a:solidFill>
                  <a:latin typeface="Consolas" panose="020B0609020204030204" pitchFamily="49" charset="0"/>
                  <a:ea typeface="华文隶书" panose="02010800040101010101" pitchFamily="2" charset="-122"/>
                </a:rPr>
                <a:t> </a:t>
              </a:r>
              <a:r>
                <a:rPr lang="en-US" altLang="zh-CN" b="1" dirty="0">
                  <a:latin typeface="Consolas" panose="020B0609020204030204" pitchFamily="49" charset="0"/>
                  <a:ea typeface="华文隶书" panose="02010800040101010101" pitchFamily="2" charset="-122"/>
                </a:rPr>
                <a:t>stu, </a:t>
              </a:r>
              <a:r>
                <a:rPr lang="en-US" altLang="zh-CN" b="1" dirty="0" err="1">
                  <a:latin typeface="Consolas" panose="020B0609020204030204" pitchFamily="49" charset="0"/>
                  <a:ea typeface="华文隶书" panose="02010800040101010101" pitchFamily="2" charset="-122"/>
                </a:rPr>
                <a:t>stu_arr</a:t>
              </a:r>
              <a:r>
                <a:rPr lang="en-US" altLang="zh-CN" b="1" dirty="0">
                  <a:solidFill>
                    <a:srgbClr val="FF0000"/>
                  </a:solidFill>
                  <a:latin typeface="Consolas" panose="020B0609020204030204" pitchFamily="49" charset="0"/>
                  <a:ea typeface="华文隶书" panose="02010800040101010101" pitchFamily="2" charset="-122"/>
                </a:rPr>
                <a:t>[</a:t>
              </a:r>
              <a:r>
                <a:rPr lang="en-US" altLang="zh-CN" b="1" dirty="0">
                  <a:solidFill>
                    <a:srgbClr val="0000FF"/>
                  </a:solidFill>
                  <a:latin typeface="Consolas" panose="020B0609020204030204" pitchFamily="49" charset="0"/>
                  <a:ea typeface="华文隶书" panose="02010800040101010101" pitchFamily="2" charset="-122"/>
                </a:rPr>
                <a:t>100</a:t>
              </a:r>
              <a:r>
                <a:rPr lang="en-US" altLang="zh-CN" b="1" dirty="0">
                  <a:solidFill>
                    <a:srgbClr val="FF0000"/>
                  </a:solidFill>
                  <a:latin typeface="Consolas" panose="020B0609020204030204" pitchFamily="49" charset="0"/>
                  <a:ea typeface="华文隶书" panose="02010800040101010101" pitchFamily="2" charset="-122"/>
                </a:rPr>
                <a:t>];</a:t>
              </a:r>
            </a:p>
          </p:txBody>
        </p:sp>
      </p:grpSp>
      <p:grpSp>
        <p:nvGrpSpPr>
          <p:cNvPr id="8" name="组合 7">
            <a:extLst>
              <a:ext uri="{FF2B5EF4-FFF2-40B4-BE49-F238E27FC236}">
                <a16:creationId xmlns:a16="http://schemas.microsoft.com/office/drawing/2014/main" id="{C2658E97-0932-4236-AEC7-B1D12595BDFB}"/>
              </a:ext>
            </a:extLst>
          </p:cNvPr>
          <p:cNvGrpSpPr/>
          <p:nvPr/>
        </p:nvGrpSpPr>
        <p:grpSpPr>
          <a:xfrm>
            <a:off x="6033103" y="1188877"/>
            <a:ext cx="6073388" cy="5326716"/>
            <a:chOff x="6033103" y="1188877"/>
            <a:chExt cx="6073388" cy="5326716"/>
          </a:xfrm>
        </p:grpSpPr>
        <p:sp>
          <p:nvSpPr>
            <p:cNvPr id="7" name="Text Box 88">
              <a:extLst>
                <a:ext uri="{FF2B5EF4-FFF2-40B4-BE49-F238E27FC236}">
                  <a16:creationId xmlns:a16="http://schemas.microsoft.com/office/drawing/2014/main" id="{09808045-DAAE-48E8-9F46-000703AE6844}"/>
                </a:ext>
              </a:extLst>
            </p:cNvPr>
            <p:cNvSpPr txBox="1">
              <a:spLocks noChangeArrowheads="1"/>
            </p:cNvSpPr>
            <p:nvPr/>
          </p:nvSpPr>
          <p:spPr bwMode="auto">
            <a:xfrm>
              <a:off x="6033103" y="1188877"/>
              <a:ext cx="6073388" cy="5326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dirty="0">
                  <a:ea typeface="隶书" pitchFamily="49" charset="-122"/>
                </a:rPr>
                <a:t>使用</a:t>
              </a:r>
              <a:r>
                <a:rPr kumimoji="1" lang="en-US" altLang="zh-CN" sz="2800" dirty="0">
                  <a:ea typeface="隶书" pitchFamily="49" charset="-122"/>
                </a:rPr>
                <a:t>typedef</a:t>
              </a:r>
              <a:r>
                <a:rPr kumimoji="1" lang="zh-CN" altLang="en-US" sz="2800" dirty="0">
                  <a:ea typeface="隶书" pitchFamily="49" charset="-122"/>
                </a:rPr>
                <a:t>定义新类型的步骤为</a:t>
              </a:r>
              <a:r>
                <a:rPr kumimoji="1" lang="en-US" altLang="zh-CN" sz="2400" dirty="0">
                  <a:ea typeface="隶书" pitchFamily="49" charset="-122"/>
                </a:rPr>
                <a:t>: </a:t>
              </a:r>
            </a:p>
            <a:p>
              <a:pPr marL="720000" indent="-457200">
                <a:buFont typeface="+mj-ea"/>
                <a:buAutoNum type="circleNumDbPlain"/>
              </a:pPr>
              <a:r>
                <a:rPr kumimoji="1" lang="zh-CN" altLang="en-US" sz="2400" dirty="0">
                  <a:latin typeface="隶书" pitchFamily="49" charset="-122"/>
                  <a:ea typeface="隶书" pitchFamily="49" charset="-122"/>
                </a:rPr>
                <a:t>按照定义变量方法写出定义语句。       </a:t>
              </a:r>
              <a:endParaRPr kumimoji="1" lang="en-US" altLang="zh-CN" sz="2400" dirty="0">
                <a:latin typeface="隶书" pitchFamily="49" charset="-122"/>
                <a:ea typeface="隶书" pitchFamily="49" charset="-122"/>
              </a:endParaRPr>
            </a:p>
            <a:p>
              <a:pPr marL="720000" indent="-457200">
                <a:buFont typeface="+mj-ea"/>
                <a:buAutoNum type="circleNumDbPlain"/>
              </a:pPr>
              <a:endParaRPr kumimoji="1" lang="en-US" altLang="zh-CN" sz="2400" dirty="0">
                <a:latin typeface="隶书" pitchFamily="49" charset="-122"/>
                <a:ea typeface="隶书" pitchFamily="49" charset="-122"/>
              </a:endParaRPr>
            </a:p>
            <a:p>
              <a:pPr marL="720000" indent="-457200">
                <a:buFont typeface="+mj-ea"/>
                <a:buAutoNum type="circleNumDbPlain"/>
              </a:pPr>
              <a:endParaRPr kumimoji="1" lang="en-US" altLang="zh-CN" sz="2400" dirty="0">
                <a:latin typeface="隶书" pitchFamily="49" charset="-122"/>
                <a:ea typeface="隶书" pitchFamily="49" charset="-122"/>
              </a:endParaRPr>
            </a:p>
            <a:p>
              <a:pPr marL="720000" indent="-457200">
                <a:buFont typeface="+mj-ea"/>
                <a:buAutoNum type="circleNumDbPlain"/>
              </a:pPr>
              <a:r>
                <a:rPr kumimoji="1" lang="zh-CN" altLang="en-US" sz="2400" dirty="0">
                  <a:latin typeface="等线" panose="02010600030101010101" pitchFamily="2" charset="-122"/>
                  <a:ea typeface="隶书" pitchFamily="49" charset="-122"/>
                </a:rPr>
                <a:t>将变量名称换成新的类型名称。</a:t>
              </a:r>
              <a:endParaRPr kumimoji="1" lang="en-US" altLang="zh-CN" sz="2400" dirty="0">
                <a:latin typeface="等线" panose="02010600030101010101" pitchFamily="2" charset="-122"/>
                <a:ea typeface="隶书" pitchFamily="49" charset="-122"/>
              </a:endParaRPr>
            </a:p>
            <a:p>
              <a:pPr marL="720000" indent="-457200">
                <a:buFont typeface="+mj-ea"/>
                <a:buAutoNum type="circleNumDbPlain"/>
              </a:pPr>
              <a:endParaRPr kumimoji="1" lang="en-US" altLang="zh-CN" sz="2400" dirty="0">
                <a:latin typeface="等线" panose="02010600030101010101" pitchFamily="2" charset="-122"/>
                <a:ea typeface="隶书" pitchFamily="49" charset="-122"/>
              </a:endParaRPr>
            </a:p>
            <a:p>
              <a:pPr marL="720000" indent="-457200">
                <a:buFont typeface="+mj-ea"/>
                <a:buAutoNum type="circleNumDbPlain"/>
              </a:pPr>
              <a:endParaRPr kumimoji="1" lang="en-US" altLang="zh-CN" sz="2400" dirty="0">
                <a:latin typeface="等线" panose="02010600030101010101" pitchFamily="2" charset="-122"/>
                <a:ea typeface="隶书" pitchFamily="49" charset="-122"/>
              </a:endParaRPr>
            </a:p>
            <a:p>
              <a:pPr marL="720000" indent="-457200">
                <a:buFont typeface="+mj-ea"/>
                <a:buAutoNum type="circleNumDbPlain"/>
              </a:pPr>
              <a:r>
                <a:rPr kumimoji="1" lang="zh-CN" altLang="en-US" sz="2400" dirty="0">
                  <a:latin typeface="等线" panose="02010600030101010101" pitchFamily="2" charset="-122"/>
                  <a:ea typeface="隶书" pitchFamily="49" charset="-122"/>
                </a:rPr>
                <a:t>在最前面加上关键字</a:t>
              </a:r>
              <a:r>
                <a:rPr kumimoji="1" lang="en-US" altLang="zh-CN" sz="2400" dirty="0">
                  <a:latin typeface="等线" panose="02010600030101010101" pitchFamily="2" charset="-122"/>
                  <a:ea typeface="隶书" pitchFamily="49" charset="-122"/>
                </a:rPr>
                <a:t>typedef</a:t>
              </a:r>
              <a:r>
                <a:rPr kumimoji="1" lang="zh-CN" altLang="en-US" sz="2400" dirty="0">
                  <a:latin typeface="等线" panose="02010600030101010101" pitchFamily="2" charset="-122"/>
                  <a:ea typeface="隶书" pitchFamily="49" charset="-122"/>
                </a:rPr>
                <a:t>。</a:t>
              </a:r>
              <a:endParaRPr kumimoji="1" lang="en-US" altLang="zh-CN" sz="2400" dirty="0">
                <a:latin typeface="等线" panose="02010600030101010101" pitchFamily="2" charset="-122"/>
                <a:ea typeface="隶书" pitchFamily="49" charset="-122"/>
              </a:endParaRPr>
            </a:p>
            <a:p>
              <a:pPr marL="720000" indent="-457200">
                <a:buFont typeface="+mj-ea"/>
                <a:buAutoNum type="circleNumDbPlain"/>
              </a:pPr>
              <a:endParaRPr kumimoji="1" lang="en-US" altLang="zh-CN" sz="2400" dirty="0">
                <a:latin typeface="等线" panose="02010600030101010101" pitchFamily="2" charset="-122"/>
                <a:ea typeface="隶书" pitchFamily="49" charset="-122"/>
              </a:endParaRPr>
            </a:p>
            <a:p>
              <a:pPr marL="720000" indent="-457200">
                <a:buFont typeface="+mj-ea"/>
                <a:buAutoNum type="circleNumDbPlain"/>
              </a:pPr>
              <a:endParaRPr kumimoji="1" lang="en-US" altLang="zh-CN" sz="2400" dirty="0">
                <a:latin typeface="等线" panose="02010600030101010101" pitchFamily="2" charset="-122"/>
                <a:ea typeface="隶书" pitchFamily="49" charset="-122"/>
              </a:endParaRPr>
            </a:p>
            <a:p>
              <a:pPr marL="720000" indent="-457200">
                <a:buFont typeface="+mj-ea"/>
                <a:buAutoNum type="circleNumDbPlain"/>
              </a:pPr>
              <a:r>
                <a:rPr kumimoji="1" lang="zh-CN" altLang="en-US" sz="2400" dirty="0">
                  <a:latin typeface="等线" panose="02010600030101010101" pitchFamily="2" charset="-122"/>
                  <a:ea typeface="隶书" pitchFamily="49" charset="-122"/>
                </a:rPr>
                <a:t>使用新的类型名称定义变量、数组、指针等。</a:t>
              </a:r>
              <a:endParaRPr kumimoji="1" lang="en-US" altLang="zh-CN" sz="2400" dirty="0">
                <a:latin typeface="等线" panose="02010600030101010101" pitchFamily="2" charset="-122"/>
                <a:ea typeface="隶书" pitchFamily="49" charset="-122"/>
              </a:endParaRPr>
            </a:p>
            <a:p>
              <a:pPr marL="720000" indent="-457200">
                <a:buFont typeface="+mj-ea"/>
                <a:buAutoNum type="circleNumDbPlain"/>
              </a:pPr>
              <a:endParaRPr kumimoji="1" lang="en-US" altLang="zh-CN" sz="2400" dirty="0">
                <a:latin typeface="等线" panose="02010600030101010101" pitchFamily="2" charset="-122"/>
                <a:ea typeface="隶书" pitchFamily="49" charset="-122"/>
              </a:endParaRPr>
            </a:p>
            <a:p>
              <a:pPr marL="720000" indent="-457200">
                <a:buFont typeface="+mj-ea"/>
                <a:buAutoNum type="circleNumDbPlain"/>
              </a:pPr>
              <a:endParaRPr kumimoji="1" lang="en-US" altLang="zh-CN" sz="2400" dirty="0">
                <a:latin typeface="等线" panose="02010600030101010101" pitchFamily="2" charset="-122"/>
                <a:ea typeface="隶书" pitchFamily="49" charset="-122"/>
              </a:endParaRPr>
            </a:p>
          </p:txBody>
        </p:sp>
        <p:sp>
          <p:nvSpPr>
            <p:cNvPr id="9" name="Rectangle 2">
              <a:extLst>
                <a:ext uri="{FF2B5EF4-FFF2-40B4-BE49-F238E27FC236}">
                  <a16:creationId xmlns:a16="http://schemas.microsoft.com/office/drawing/2014/main" id="{9DED5D8D-F0A9-474D-B74E-3F432C03C8C0}"/>
                </a:ext>
              </a:extLst>
            </p:cNvPr>
            <p:cNvSpPr txBox="1">
              <a:spLocks noChangeArrowheads="1"/>
            </p:cNvSpPr>
            <p:nvPr/>
          </p:nvSpPr>
          <p:spPr>
            <a:xfrm>
              <a:off x="6891420" y="2118561"/>
              <a:ext cx="4023454"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char</a:t>
              </a:r>
              <a:r>
                <a:rPr lang="en-US" altLang="zh-CN" b="1" dirty="0">
                  <a:solidFill>
                    <a:srgbClr val="FF0000"/>
                  </a:solidFill>
                  <a:ea typeface="华文隶书" panose="02010800040101010101" pitchFamily="2" charset="-122"/>
                </a:rPr>
                <a:t>* </a:t>
              </a:r>
              <a:r>
                <a:rPr lang="en-US" altLang="zh-CN" b="1" dirty="0"/>
                <a:t>p</a:t>
              </a:r>
              <a:r>
                <a:rPr lang="zh-CN" altLang="en-US" b="1" dirty="0"/>
                <a:t>；</a:t>
              </a:r>
              <a:endParaRPr lang="en-US" altLang="zh-CN" b="1" dirty="0"/>
            </a:p>
          </p:txBody>
        </p:sp>
        <p:sp>
          <p:nvSpPr>
            <p:cNvPr id="10" name="Rectangle 2">
              <a:extLst>
                <a:ext uri="{FF2B5EF4-FFF2-40B4-BE49-F238E27FC236}">
                  <a16:creationId xmlns:a16="http://schemas.microsoft.com/office/drawing/2014/main" id="{AFADBEE4-3A64-4F57-8794-7FC4017638AA}"/>
                </a:ext>
              </a:extLst>
            </p:cNvPr>
            <p:cNvSpPr txBox="1">
              <a:spLocks noChangeArrowheads="1"/>
            </p:cNvSpPr>
            <p:nvPr/>
          </p:nvSpPr>
          <p:spPr>
            <a:xfrm>
              <a:off x="6891420" y="3198463"/>
              <a:ext cx="4023454"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char</a:t>
              </a:r>
              <a:r>
                <a:rPr lang="en-US" altLang="zh-CN" b="1" dirty="0">
                  <a:solidFill>
                    <a:srgbClr val="FF0000"/>
                  </a:solidFill>
                  <a:ea typeface="华文隶书" panose="02010800040101010101" pitchFamily="2" charset="-122"/>
                </a:rPr>
                <a:t>* </a:t>
              </a:r>
              <a:r>
                <a:rPr lang="en-US" altLang="zh-CN" b="1" dirty="0">
                  <a:solidFill>
                    <a:srgbClr val="0070C0"/>
                  </a:solidFill>
                </a:rPr>
                <a:t>PCHAR</a:t>
              </a:r>
              <a:r>
                <a:rPr lang="zh-CN" altLang="en-US" b="1" dirty="0"/>
                <a:t>；</a:t>
              </a:r>
              <a:endParaRPr lang="en-US" altLang="zh-CN" b="1" dirty="0"/>
            </a:p>
          </p:txBody>
        </p:sp>
        <p:sp>
          <p:nvSpPr>
            <p:cNvPr id="11" name="Rectangle 2">
              <a:extLst>
                <a:ext uri="{FF2B5EF4-FFF2-40B4-BE49-F238E27FC236}">
                  <a16:creationId xmlns:a16="http://schemas.microsoft.com/office/drawing/2014/main" id="{6AE70DF6-5A2C-47B0-851F-A91B6F905014}"/>
                </a:ext>
              </a:extLst>
            </p:cNvPr>
            <p:cNvSpPr txBox="1">
              <a:spLocks noChangeArrowheads="1"/>
            </p:cNvSpPr>
            <p:nvPr/>
          </p:nvSpPr>
          <p:spPr>
            <a:xfrm>
              <a:off x="6891419" y="4301072"/>
              <a:ext cx="4739251"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00FF"/>
                  </a:solidFill>
                  <a:latin typeface="Consolas" panose="020B0609020204030204" pitchFamily="49" charset="0"/>
                  <a:ea typeface="华文隶书" panose="02010800040101010101" pitchFamily="2" charset="-122"/>
                </a:rPr>
                <a:t>typedef char</a:t>
              </a:r>
              <a:r>
                <a:rPr lang="en-US" altLang="zh-CN" b="1" dirty="0">
                  <a:solidFill>
                    <a:srgbClr val="FF0000"/>
                  </a:solidFill>
                  <a:ea typeface="华文隶书" panose="02010800040101010101" pitchFamily="2" charset="-122"/>
                </a:rPr>
                <a:t>* </a:t>
              </a:r>
              <a:r>
                <a:rPr lang="en-US" altLang="zh-CN" b="1" dirty="0">
                  <a:solidFill>
                    <a:srgbClr val="0070C0"/>
                  </a:solidFill>
                </a:rPr>
                <a:t>PCHAR</a:t>
              </a:r>
              <a:r>
                <a:rPr lang="zh-CN" altLang="en-US" b="1" dirty="0"/>
                <a:t>；</a:t>
              </a:r>
              <a:endParaRPr lang="en-US" altLang="zh-CN" b="1" dirty="0"/>
            </a:p>
          </p:txBody>
        </p:sp>
        <p:sp>
          <p:nvSpPr>
            <p:cNvPr id="12" name="Rectangle 2">
              <a:extLst>
                <a:ext uri="{FF2B5EF4-FFF2-40B4-BE49-F238E27FC236}">
                  <a16:creationId xmlns:a16="http://schemas.microsoft.com/office/drawing/2014/main" id="{69B65C74-3104-4F4E-B94B-18DD0B87CB15}"/>
                </a:ext>
              </a:extLst>
            </p:cNvPr>
            <p:cNvSpPr txBox="1">
              <a:spLocks noChangeArrowheads="1"/>
            </p:cNvSpPr>
            <p:nvPr/>
          </p:nvSpPr>
          <p:spPr>
            <a:xfrm>
              <a:off x="6891419" y="5724391"/>
              <a:ext cx="4739251" cy="523220"/>
            </a:xfrm>
            <a:prstGeom prst="rect">
              <a:avLst/>
            </a:prstGeom>
            <a:solidFill>
              <a:schemeClr val="bg2"/>
            </a:solidFill>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buClr>
                  <a:schemeClr val="tx2"/>
                </a:buClr>
                <a:buSzPct val="70000"/>
                <a:buNone/>
              </a:pPr>
              <a:r>
                <a:rPr lang="en-US" altLang="zh-CN" b="1" dirty="0">
                  <a:solidFill>
                    <a:srgbClr val="0070C0"/>
                  </a:solidFill>
                </a:rPr>
                <a:t>PCHAR</a:t>
              </a:r>
              <a:r>
                <a:rPr lang="en-US" altLang="zh-CN" b="1" dirty="0">
                  <a:solidFill>
                    <a:srgbClr val="0070C0"/>
                  </a:solidFill>
                  <a:latin typeface="Consolas" panose="020B0609020204030204" pitchFamily="49" charset="0"/>
                </a:rPr>
                <a:t> </a:t>
              </a:r>
              <a:r>
                <a:rPr lang="en-US" altLang="zh-CN" b="1" dirty="0">
                  <a:latin typeface="Consolas" panose="020B0609020204030204" pitchFamily="49" charset="0"/>
                </a:rPr>
                <a:t>p1, p2</a:t>
              </a:r>
              <a:r>
                <a:rPr lang="zh-CN" altLang="en-US" b="1" dirty="0"/>
                <a:t>；</a:t>
              </a:r>
              <a:endParaRPr lang="en-US" altLang="zh-CN" b="1" dirty="0"/>
            </a:p>
          </p:txBody>
        </p:sp>
      </p:grpSp>
      <p:sp>
        <p:nvSpPr>
          <p:cNvPr id="2" name="灯片编号占位符 1">
            <a:extLst>
              <a:ext uri="{FF2B5EF4-FFF2-40B4-BE49-F238E27FC236}">
                <a16:creationId xmlns:a16="http://schemas.microsoft.com/office/drawing/2014/main" id="{4A2CAB50-7D82-4E67-A464-0CE82F51BF2A}"/>
              </a:ext>
            </a:extLst>
          </p:cNvPr>
          <p:cNvSpPr>
            <a:spLocks noGrp="1"/>
          </p:cNvSpPr>
          <p:nvPr>
            <p:ph type="sldNum" sz="quarter" idx="12"/>
          </p:nvPr>
        </p:nvSpPr>
        <p:spPr/>
        <p:txBody>
          <a:bodyPr/>
          <a:lstStyle/>
          <a:p>
            <a:fld id="{2FA56C3F-F0F5-411B-954C-A2CFDC009DCE}" type="slidenum">
              <a:rPr lang="zh-CN" altLang="en-US" smtClean="0">
                <a:solidFill>
                  <a:prstClr val="black">
                    <a:tint val="75000"/>
                  </a:prstClr>
                </a:solidFill>
              </a:rPr>
              <a:pPr/>
              <a:t>40</a:t>
            </a:fld>
            <a:r>
              <a:rPr lang="en-US" altLang="zh-CN">
                <a:solidFill>
                  <a:prstClr val="black">
                    <a:tint val="75000"/>
                  </a:prstClr>
                </a:solidFill>
              </a:rPr>
              <a:t>/40</a:t>
            </a:r>
            <a:endParaRPr lang="zh-CN" altLang="en-US" dirty="0"/>
          </a:p>
        </p:txBody>
      </p:sp>
    </p:spTree>
    <p:extLst>
      <p:ext uri="{BB962C8B-B14F-4D97-AF65-F5344CB8AC3E}">
        <p14:creationId xmlns:p14="http://schemas.microsoft.com/office/powerpoint/2010/main" val="171657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704843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封面和目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2555</TotalTime>
  <Words>4169</Words>
  <Application>Microsoft Office PowerPoint</Application>
  <PresentationFormat>宽屏</PresentationFormat>
  <Paragraphs>729</Paragraphs>
  <Slides>42</Slides>
  <Notes>3</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42</vt:i4>
      </vt:variant>
    </vt:vector>
  </HeadingPairs>
  <TitlesOfParts>
    <vt:vector size="57" baseType="lpstr">
      <vt:lpstr>等线</vt:lpstr>
      <vt:lpstr>等线 Light</vt:lpstr>
      <vt:lpstr>华文行楷</vt:lpstr>
      <vt:lpstr>华文隶书</vt:lpstr>
      <vt:lpstr>华文中宋</vt:lpstr>
      <vt:lpstr>隶书</vt:lpstr>
      <vt:lpstr>宋体</vt:lpstr>
      <vt:lpstr>微软雅黑</vt:lpstr>
      <vt:lpstr>Agency FB</vt:lpstr>
      <vt:lpstr>Arial</vt:lpstr>
      <vt:lpstr>Calibri</vt:lpstr>
      <vt:lpstr>Consolas</vt:lpstr>
      <vt:lpstr>Times New Roman</vt:lpstr>
      <vt:lpstr>Office 主题​​</vt:lpstr>
      <vt:lpstr>封面和目录​​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WJQ</dc:creator>
  <cp:lastModifiedBy>WJQ</cp:lastModifiedBy>
  <cp:revision>133</cp:revision>
  <dcterms:created xsi:type="dcterms:W3CDTF">2022-05-18T03:53:29Z</dcterms:created>
  <dcterms:modified xsi:type="dcterms:W3CDTF">2023-05-23T10:58:02Z</dcterms:modified>
</cp:coreProperties>
</file>